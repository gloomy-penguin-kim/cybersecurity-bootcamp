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embeddedFontLst>
    <p:embeddedFont>
      <p:font typeface="Roboto"/>
      <p:regular r:id="rId49"/>
      <p:bold r:id="rId50"/>
      <p:italic r:id="rId51"/>
      <p:boldItalic r:id="rId52"/>
    </p:embeddedFont>
    <p:embeddedFont>
      <p:font typeface="Roboto Medium"/>
      <p:regular r:id="rId53"/>
      <p:bold r:id="rId54"/>
      <p:italic r:id="rId55"/>
      <p:boldItalic r:id="rId56"/>
    </p:embeddedFont>
    <p:embeddedFont>
      <p:font typeface="Inconsolata"/>
      <p:regular r:id="rId57"/>
      <p:bold r:id="rId58"/>
    </p:embeddedFont>
    <p:embeddedFont>
      <p:font typeface="Roboto Light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FE6F62-90F6-48C1-9890-7DC9EC35CE3A}">
  <a:tblStyle styleId="{C1FE6F62-90F6-48C1-9890-7DC9EC35CE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obotoLight-boldItalic.fntdata"/><Relationship Id="rId61" Type="http://schemas.openxmlformats.org/officeDocument/2006/relationships/font" Target="fonts/RobotoLight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Light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italic.fntdata"/><Relationship Id="rId50" Type="http://schemas.openxmlformats.org/officeDocument/2006/relationships/font" Target="fonts/Roboto-bold.fntdata"/><Relationship Id="rId53" Type="http://schemas.openxmlformats.org/officeDocument/2006/relationships/font" Target="fonts/RobotoMedium-regular.fntdata"/><Relationship Id="rId52" Type="http://schemas.openxmlformats.org/officeDocument/2006/relationships/font" Target="fonts/Roboto-boldItalic.fntdata"/><Relationship Id="rId11" Type="http://schemas.openxmlformats.org/officeDocument/2006/relationships/slide" Target="slides/slide6.xml"/><Relationship Id="rId55" Type="http://schemas.openxmlformats.org/officeDocument/2006/relationships/font" Target="fonts/RobotoMedium-italic.fntdata"/><Relationship Id="rId10" Type="http://schemas.openxmlformats.org/officeDocument/2006/relationships/slide" Target="slides/slide5.xml"/><Relationship Id="rId54" Type="http://schemas.openxmlformats.org/officeDocument/2006/relationships/font" Target="fonts/RobotoMedium-bold.fntdata"/><Relationship Id="rId13" Type="http://schemas.openxmlformats.org/officeDocument/2006/relationships/slide" Target="slides/slide8.xml"/><Relationship Id="rId57" Type="http://schemas.openxmlformats.org/officeDocument/2006/relationships/font" Target="fonts/Inconsolata-regular.fntdata"/><Relationship Id="rId12" Type="http://schemas.openxmlformats.org/officeDocument/2006/relationships/slide" Target="slides/slide7.xml"/><Relationship Id="rId56" Type="http://schemas.openxmlformats.org/officeDocument/2006/relationships/font" Target="fonts/RobotoMedium-boldItalic.fntdata"/><Relationship Id="rId15" Type="http://schemas.openxmlformats.org/officeDocument/2006/relationships/slide" Target="slides/slide10.xml"/><Relationship Id="rId59" Type="http://schemas.openxmlformats.org/officeDocument/2006/relationships/font" Target="fonts/RobotoLight-regular.fntdata"/><Relationship Id="rId14" Type="http://schemas.openxmlformats.org/officeDocument/2006/relationships/slide" Target="slides/slide9.xml"/><Relationship Id="rId58" Type="http://schemas.openxmlformats.org/officeDocument/2006/relationships/font" Target="fonts/Inconsolata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eb00afe1db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eb00afe1db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ec649b31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2ec649b31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f0136018fe_0_2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f0136018fe_0_2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ec649b311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2ec649b311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f042419d7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f042419d7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f042419d7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2f042419d7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f042419d73_0_1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g2f042419d73_0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f0136018f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f0136018f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f042419d73_0_2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g2f042419d73_0_2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f042419d73_0_30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f042419d73_0_3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shutterstock_399143986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f042419d73_0_4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f042419d73_0_4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shutterstock_1095741245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f042419d73_0_50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2f042419d73_0_5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f042419d73_0_5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2f042419d73_0_5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f042419d73_0_5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2f042419d73_0_5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f042419d73_0_5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2f042419d73_0_5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f042419d73_0_5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g2f042419d73_0_5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f042419d73_0_6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2f042419d73_0_6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ec649b3119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2ec649b3119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f0136018fe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2f0136018fe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f042419d73_0_6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f042419d73_0_6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f042419d73_0_6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2f042419d73_0_6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f042419d73_0_6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2f042419d73_0_6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ec649b3119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2ec649b3119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ec649b3119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2ec649b3119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ec649b3119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2ec649b3119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2ec649b3119_0_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2ec649b3119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2ec649b3119_0_1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2ec649b3119_0_1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2f042419d73_0_6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2f042419d73_0_6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f042419d73_0_6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g2f042419d73_0_6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f042419d73_0_7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" name="Google Shape;621;g2f042419d73_0_7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2f042419d73_0_7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2f042419d73_0_7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Shutterstock_792833623 </a:t>
            </a:r>
            <a:r>
              <a:rPr lang="en"/>
              <a:t>shutterstock_693068344 shutterstock_693068344.png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f042419d73_0_8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2f042419d73_0_8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f042419d73_0_7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g2f042419d73_0_7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f042419d73_0_8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g2f042419d73_0_8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2f042419d73_0_8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2f042419d73_0_8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2f042419d73_0_8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2f042419d73_0_8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2f042419d73_0_9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2f042419d73_0_9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2ec649b3119_0_1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2ec649b3119_0_1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2ec649b3119_0_1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2ec649b3119_0_1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2ec649b3119_0_1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2ec649b3119_0_1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2f042419d73_0_10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2" name="Google Shape;722;g2f042419d73_0_10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f0136018fe_0_2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f0136018fe_0_2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ec649b3119_0_1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2ec649b3119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0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4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7" name="Google Shape;107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9" name="Google Shape;179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6" name="Google Shape;186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2" name="Google Shape;192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3" name="Google Shape;213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9" name="Google Shape;219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2" name="Google Shape;252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3" name="Google Shape;253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3" name="Google Shape;263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0" name="Google Shape;270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1" name="Google Shape;2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3" name="Google Shape;273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0" name="Google Shape;280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1" name="Google Shape;2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3" name="Google Shape;283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2" name="Google Shape;302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5" name="Google Shape;305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3" name="Google Shape;323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" name="Google Shape;33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34" name="Google Shape;33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 1 1 1">
  <p:cSld name="CUSTOM_22_1_1_1"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9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9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8" name="Google Shape;338;p49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9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9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3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5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5" name="Google Shape;345;p50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50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7" name="Google Shape;347;p50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CUSTOM_24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theme" Target="../theme/theme1.xml"/><Relationship Id="rId50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8.jpg"/><Relationship Id="rId4" Type="http://schemas.openxmlformats.org/officeDocument/2006/relationships/image" Target="../media/image5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0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png"/><Relationship Id="rId4" Type="http://schemas.openxmlformats.org/officeDocument/2006/relationships/image" Target="../media/image5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5.png"/><Relationship Id="rId4" Type="http://schemas.openxmlformats.org/officeDocument/2006/relationships/image" Target="../media/image37.png"/><Relationship Id="rId5" Type="http://schemas.openxmlformats.org/officeDocument/2006/relationships/image" Target="../media/image53.png"/><Relationship Id="rId6" Type="http://schemas.openxmlformats.org/officeDocument/2006/relationships/image" Target="../media/image4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4.png"/><Relationship Id="rId4" Type="http://schemas.openxmlformats.org/officeDocument/2006/relationships/image" Target="../media/image50.png"/><Relationship Id="rId5" Type="http://schemas.openxmlformats.org/officeDocument/2006/relationships/image" Target="../media/image4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9.png"/><Relationship Id="rId4" Type="http://schemas.openxmlformats.org/officeDocument/2006/relationships/image" Target="../media/image43.png"/><Relationship Id="rId5" Type="http://schemas.openxmlformats.org/officeDocument/2006/relationships/image" Target="../media/image4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9.png"/><Relationship Id="rId4" Type="http://schemas.openxmlformats.org/officeDocument/2006/relationships/image" Target="../media/image4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Management Basics</a:t>
            </a:r>
            <a:endParaRPr/>
          </a:p>
        </p:txBody>
      </p:sp>
      <p:sp>
        <p:nvSpPr>
          <p:cNvPr id="355" name="Google Shape;355;p5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356" name="Google Shape;356;p52"/>
          <p:cNvSpPr txBox="1"/>
          <p:nvPr>
            <p:ph idx="2" type="subTitle"/>
          </p:nvPr>
        </p:nvSpPr>
        <p:spPr>
          <a:xfrm>
            <a:off x="4570700" y="3689200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4.1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53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53"/>
          <p:cNvSpPr/>
          <p:nvPr/>
        </p:nvSpPr>
        <p:spPr>
          <a:xfrm>
            <a:off x="607675" y="23614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53"/>
          <p:cNvSpPr/>
          <p:nvPr/>
        </p:nvSpPr>
        <p:spPr>
          <a:xfrm>
            <a:off x="607675" y="17517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53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53"/>
          <p:cNvSpPr/>
          <p:nvPr/>
        </p:nvSpPr>
        <p:spPr>
          <a:xfrm>
            <a:off x="457200" y="17518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53"/>
          <p:cNvSpPr/>
          <p:nvPr/>
        </p:nvSpPr>
        <p:spPr>
          <a:xfrm>
            <a:off x="457200" y="23615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5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By the end of today’s class, you will be able to: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69" name="Google Shape;369;p53"/>
          <p:cNvSpPr txBox="1"/>
          <p:nvPr>
            <p:ph idx="4294967295" type="body"/>
          </p:nvPr>
        </p:nvSpPr>
        <p:spPr>
          <a:xfrm>
            <a:off x="914400" y="1189475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700"/>
              <a:t>Manage processes with the </a:t>
            </a:r>
            <a:r>
              <a:rPr b="1" lang="en" sz="1700"/>
              <a:t>top</a:t>
            </a:r>
            <a:r>
              <a:rPr lang="en" sz="1700"/>
              <a:t>, </a:t>
            </a:r>
            <a:r>
              <a:rPr b="1" lang="en" sz="1700"/>
              <a:t>ps</a:t>
            </a:r>
            <a:r>
              <a:rPr lang="en" sz="1700"/>
              <a:t>, and </a:t>
            </a:r>
            <a:r>
              <a:rPr b="1" lang="en" sz="1700"/>
              <a:t>kill</a:t>
            </a:r>
            <a:r>
              <a:rPr lang="en" sz="1700"/>
              <a:t> commands.</a:t>
            </a:r>
            <a:endParaRPr sz="1700"/>
          </a:p>
        </p:txBody>
      </p:sp>
      <p:sp>
        <p:nvSpPr>
          <p:cNvPr id="370" name="Google Shape;370;p53"/>
          <p:cNvSpPr txBox="1"/>
          <p:nvPr>
            <p:ph idx="4294967295" type="body"/>
          </p:nvPr>
        </p:nvSpPr>
        <p:spPr>
          <a:xfrm>
            <a:off x="914400" y="179881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700"/>
              <a:t>Install packages by using </a:t>
            </a:r>
            <a:r>
              <a:rPr b="1" lang="en" sz="1700"/>
              <a:t>apt install</a:t>
            </a:r>
            <a:r>
              <a:rPr lang="en" sz="1700"/>
              <a:t>.</a:t>
            </a:r>
            <a:endParaRPr sz="1700"/>
          </a:p>
        </p:txBody>
      </p:sp>
      <p:sp>
        <p:nvSpPr>
          <p:cNvPr id="371" name="Google Shape;371;p53"/>
          <p:cNvSpPr txBox="1"/>
          <p:nvPr>
            <p:ph idx="4294967295" type="body"/>
          </p:nvPr>
        </p:nvSpPr>
        <p:spPr>
          <a:xfrm>
            <a:off x="914400" y="2408148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700"/>
              <a:t>Use newly installed programs such as terminator as a network professional.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5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Resources and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Processes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1" name="Google Shape;38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2600" y="1609448"/>
            <a:ext cx="1238800" cy="10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6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 and Processes</a:t>
            </a:r>
            <a:endParaRPr/>
          </a:p>
        </p:txBody>
      </p:sp>
      <p:sp>
        <p:nvSpPr>
          <p:cNvPr id="387" name="Google Shape;387;p56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Scripts &amp; Programs</a:t>
            </a:r>
            <a:endParaRPr/>
          </a:p>
        </p:txBody>
      </p:sp>
      <p:sp>
        <p:nvSpPr>
          <p:cNvPr id="388" name="Google Shape;388;p56"/>
          <p:cNvSpPr txBox="1"/>
          <p:nvPr>
            <p:ph idx="3" type="body"/>
          </p:nvPr>
        </p:nvSpPr>
        <p:spPr>
          <a:xfrm>
            <a:off x="457200" y="1785575"/>
            <a:ext cx="5029200" cy="1924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Scripts </a:t>
            </a:r>
            <a:r>
              <a:rPr lang="en"/>
              <a:t>are executable programs that can run a system.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Running programs on a system may: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Process data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Modify file system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9" name="Google Shape;389;p56"/>
          <p:cNvPicPr preferRelativeResize="0"/>
          <p:nvPr/>
        </p:nvPicPr>
        <p:blipFill rotWithShape="1">
          <a:blip r:embed="rId3">
            <a:alphaModFix/>
          </a:blip>
          <a:srcRect b="0" l="25597" r="29312" t="0"/>
          <a:stretch/>
        </p:blipFill>
        <p:spPr>
          <a:xfrm>
            <a:off x="5664374" y="0"/>
            <a:ext cx="347962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7"/>
          <p:cNvSpPr txBox="1"/>
          <p:nvPr/>
        </p:nvSpPr>
        <p:spPr>
          <a:xfrm>
            <a:off x="1927675" y="1039700"/>
            <a:ext cx="52677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b="1"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process </a:t>
            </a: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is a program that is running on the </a:t>
            </a: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system</a:t>
            </a: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i="0" sz="3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8"/>
          <p:cNvSpPr txBox="1"/>
          <p:nvPr/>
        </p:nvSpPr>
        <p:spPr>
          <a:xfrm>
            <a:off x="786000" y="634963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Memory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58"/>
          <p:cNvSpPr txBox="1"/>
          <p:nvPr/>
        </p:nvSpPr>
        <p:spPr>
          <a:xfrm>
            <a:off x="5417850" y="634963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CPU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1" name="Google Shape;401;p58"/>
          <p:cNvCxnSpPr/>
          <p:nvPr/>
        </p:nvCxnSpPr>
        <p:spPr>
          <a:xfrm>
            <a:off x="4569100" y="984175"/>
            <a:ext cx="0" cy="389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58"/>
          <p:cNvSpPr txBox="1"/>
          <p:nvPr>
            <p:ph idx="4294967295" type="subTitle"/>
          </p:nvPr>
        </p:nvSpPr>
        <p:spPr>
          <a:xfrm>
            <a:off x="457200" y="266050"/>
            <a:ext cx="84228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Programs that process, save, and modify data consume a computer's </a:t>
            </a:r>
            <a:r>
              <a:rPr b="1" lang="en"/>
              <a:t>resources</a:t>
            </a:r>
            <a:r>
              <a:rPr lang="en"/>
              <a:t>.</a:t>
            </a:r>
            <a:endParaRPr/>
          </a:p>
        </p:txBody>
      </p:sp>
      <p:pic>
        <p:nvPicPr>
          <p:cNvPr id="403" name="Google Shape;403;p58"/>
          <p:cNvPicPr preferRelativeResize="0"/>
          <p:nvPr/>
        </p:nvPicPr>
        <p:blipFill rotWithShape="1">
          <a:blip r:embed="rId3">
            <a:alphaModFix/>
          </a:blip>
          <a:srcRect b="0" l="4854" r="29802" t="0"/>
          <a:stretch/>
        </p:blipFill>
        <p:spPr>
          <a:xfrm>
            <a:off x="5317375" y="1418700"/>
            <a:ext cx="3200952" cy="326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8"/>
          <p:cNvPicPr preferRelativeResize="0"/>
          <p:nvPr/>
        </p:nvPicPr>
        <p:blipFill rotWithShape="1">
          <a:blip r:embed="rId4">
            <a:alphaModFix/>
          </a:blip>
          <a:srcRect b="0" l="11698" r="23057" t="0"/>
          <a:stretch/>
        </p:blipFill>
        <p:spPr>
          <a:xfrm>
            <a:off x="786000" y="1416188"/>
            <a:ext cx="3200952" cy="326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9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Memory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59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comes in two forms: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59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Random Access Memory (RAM) </a:t>
            </a:r>
            <a:r>
              <a:rPr lang="en"/>
              <a:t>is used to run the program's code.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9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Disk Space</a:t>
            </a:r>
            <a:r>
              <a:rPr lang="en"/>
              <a:t> is used to save data permanently. </a:t>
            </a:r>
            <a:endParaRPr/>
          </a:p>
        </p:txBody>
      </p:sp>
      <p:pic>
        <p:nvPicPr>
          <p:cNvPr id="413" name="Google Shape;413;p59"/>
          <p:cNvPicPr preferRelativeResize="0"/>
          <p:nvPr/>
        </p:nvPicPr>
        <p:blipFill rotWithShape="1">
          <a:blip r:embed="rId3">
            <a:alphaModFix/>
          </a:blip>
          <a:srcRect b="4903" l="7318" r="6273" t="6749"/>
          <a:stretch/>
        </p:blipFill>
        <p:spPr>
          <a:xfrm>
            <a:off x="3972975" y="1167338"/>
            <a:ext cx="4639401" cy="31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60"/>
          <p:cNvSpPr txBox="1"/>
          <p:nvPr/>
        </p:nvSpPr>
        <p:spPr>
          <a:xfrm>
            <a:off x="-27600" y="927100"/>
            <a:ext cx="4308300" cy="44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CPU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acts as the central brain of a system, determining how much work a process has to do and how "difficult" that work is.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difficult task, such as encrypting a large file, will use   a lot of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RAM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and/or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CPU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  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Easier tasks, like executing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ls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will require only minimal RAM and/or CPU. 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60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 Processing Unit (CPU)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1"/>
          <p:cNvSpPr txBox="1"/>
          <p:nvPr>
            <p:ph type="title"/>
          </p:nvPr>
        </p:nvSpPr>
        <p:spPr>
          <a:xfrm>
            <a:off x="311700" y="250700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Targeting 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61"/>
          <p:cNvSpPr txBox="1"/>
          <p:nvPr>
            <p:ph idx="4294967295" type="subTitle"/>
          </p:nvPr>
        </p:nvSpPr>
        <p:spPr>
          <a:xfrm>
            <a:off x="311700" y="787675"/>
            <a:ext cx="8366100" cy="36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Attackers can take advantage of a system’s finite resources.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27" name="Google Shape;427;p61"/>
          <p:cNvSpPr txBox="1"/>
          <p:nvPr>
            <p:ph idx="1" type="body"/>
          </p:nvPr>
        </p:nvSpPr>
        <p:spPr>
          <a:xfrm>
            <a:off x="311700" y="1250450"/>
            <a:ext cx="2772600" cy="331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80340" lvl="0" marL="32004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Attackers can perform </a:t>
            </a:r>
            <a:r>
              <a:rPr b="1" lang="en" sz="1400"/>
              <a:t>denial of service </a:t>
            </a:r>
            <a:r>
              <a:rPr b="1" lang="en" sz="1400"/>
              <a:t>(DoS)</a:t>
            </a:r>
            <a:r>
              <a:rPr b="1" lang="en" sz="1400"/>
              <a:t> </a:t>
            </a:r>
            <a:r>
              <a:rPr lang="en" sz="1400"/>
              <a:t>attacks by launching processes that eat up memory on a target machine. </a:t>
            </a:r>
            <a:endParaRPr sz="1400"/>
          </a:p>
          <a:p>
            <a:pPr indent="-180340" lvl="0" marL="32004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This can slow down or crash the machine, making it unavailable to users, thus denying them service.</a:t>
            </a:r>
            <a:endParaRPr sz="1400"/>
          </a:p>
        </p:txBody>
      </p:sp>
      <p:pic>
        <p:nvPicPr>
          <p:cNvPr id="428" name="Google Shape;42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150" y="1183038"/>
            <a:ext cx="5894257" cy="3502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1375" y="745039"/>
            <a:ext cx="4909348" cy="402717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62"/>
          <p:cNvSpPr txBox="1"/>
          <p:nvPr>
            <p:ph type="title"/>
          </p:nvPr>
        </p:nvSpPr>
        <p:spPr>
          <a:xfrm>
            <a:off x="228600" y="262150"/>
            <a:ext cx="88323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Targeting Resources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5" name="Google Shape;435;p62"/>
          <p:cNvSpPr txBox="1"/>
          <p:nvPr>
            <p:ph idx="1" type="body"/>
          </p:nvPr>
        </p:nvSpPr>
        <p:spPr>
          <a:xfrm>
            <a:off x="311700" y="834850"/>
            <a:ext cx="45141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Attackers can also start malicious processes that don’t use a lot of memory, and are therefore difficult to spot without specifically looking for them. 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One example is a </a:t>
            </a:r>
            <a:r>
              <a:rPr b="1"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backdoor process</a:t>
            </a:r>
            <a:r>
              <a:rPr lang="en" sz="1400">
                <a:solidFill>
                  <a:schemeClr val="lt1"/>
                </a:solidFill>
              </a:rPr>
              <a:t>.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436" name="Google Shape;436;p62"/>
          <p:cNvSpPr/>
          <p:nvPr/>
        </p:nvSpPr>
        <p:spPr>
          <a:xfrm>
            <a:off x="5948475" y="1711975"/>
            <a:ext cx="3030000" cy="2983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62"/>
          <p:cNvSpPr txBox="1"/>
          <p:nvPr/>
        </p:nvSpPr>
        <p:spPr>
          <a:xfrm>
            <a:off x="6292675" y="2277800"/>
            <a:ext cx="2341800" cy="18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This allows attackers</a:t>
            </a:r>
            <a:b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 break into machines undetected.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These don't use much </a:t>
            </a:r>
            <a:br>
              <a:rPr lang="en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memory because they make a network connection to the attacker’s machine, then listen for instructions.</a:t>
            </a:r>
            <a:endParaRPr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3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Processes</a:t>
            </a:r>
            <a:endParaRPr/>
          </a:p>
        </p:txBody>
      </p:sp>
      <p:sp>
        <p:nvSpPr>
          <p:cNvPr id="443" name="Google Shape;443;p6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has several commands for managing processes:</a:t>
            </a:r>
            <a:endParaRPr/>
          </a:p>
        </p:txBody>
      </p:sp>
      <p:grpSp>
        <p:nvGrpSpPr>
          <p:cNvPr id="444" name="Google Shape;444;p63"/>
          <p:cNvGrpSpPr/>
          <p:nvPr/>
        </p:nvGrpSpPr>
        <p:grpSpPr>
          <a:xfrm>
            <a:off x="-3" y="1296817"/>
            <a:ext cx="8686828" cy="400200"/>
            <a:chOff x="-3" y="1885788"/>
            <a:chExt cx="8686828" cy="400200"/>
          </a:xfrm>
        </p:grpSpPr>
        <p:cxnSp>
          <p:nvCxnSpPr>
            <p:cNvPr id="445" name="Google Shape;445;p63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446" name="Google Shape;446;p63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447" name="Google Shape;447;p63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63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63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50" name="Google Shape;450;p63"/>
          <p:cNvGrpSpPr/>
          <p:nvPr/>
        </p:nvGrpSpPr>
        <p:grpSpPr>
          <a:xfrm>
            <a:off x="-3" y="1982559"/>
            <a:ext cx="8686828" cy="400200"/>
            <a:chOff x="-3" y="2566213"/>
            <a:chExt cx="8686828" cy="400200"/>
          </a:xfrm>
        </p:grpSpPr>
        <p:cxnSp>
          <p:nvCxnSpPr>
            <p:cNvPr id="451" name="Google Shape;451;p63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452" name="Google Shape;452;p63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63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63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55" name="Google Shape;455;p63"/>
          <p:cNvGrpSpPr/>
          <p:nvPr/>
        </p:nvGrpSpPr>
        <p:grpSpPr>
          <a:xfrm>
            <a:off x="-3" y="2668301"/>
            <a:ext cx="8684268" cy="402300"/>
            <a:chOff x="-3" y="3236976"/>
            <a:chExt cx="8684268" cy="402300"/>
          </a:xfrm>
        </p:grpSpPr>
        <p:cxnSp>
          <p:nvCxnSpPr>
            <p:cNvPr id="456" name="Google Shape;456;p63"/>
            <p:cNvCxnSpPr/>
            <p:nvPr/>
          </p:nvCxnSpPr>
          <p:spPr>
            <a:xfrm>
              <a:off x="-3" y="3438126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457" name="Google Shape;457;p63"/>
            <p:cNvSpPr/>
            <p:nvPr/>
          </p:nvSpPr>
          <p:spPr>
            <a:xfrm>
              <a:off x="593565" y="3236976"/>
              <a:ext cx="8090700" cy="402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63"/>
            <p:cNvSpPr/>
            <p:nvPr/>
          </p:nvSpPr>
          <p:spPr>
            <a:xfrm>
              <a:off x="511040" y="3275676"/>
              <a:ext cx="323100" cy="3249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63"/>
            <p:cNvSpPr/>
            <p:nvPr/>
          </p:nvSpPr>
          <p:spPr>
            <a:xfrm>
              <a:off x="590840" y="3355926"/>
              <a:ext cx="163500" cy="1644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60" name="Google Shape;460;p63"/>
          <p:cNvSpPr txBox="1"/>
          <p:nvPr/>
        </p:nvSpPr>
        <p:spPr>
          <a:xfrm>
            <a:off x="914400" y="131386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top</a:t>
            </a:r>
            <a:endParaRPr b="1" sz="1800">
              <a:solidFill>
                <a:srgbClr val="082D49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61" name="Google Shape;461;p63"/>
          <p:cNvSpPr txBox="1"/>
          <p:nvPr/>
        </p:nvSpPr>
        <p:spPr>
          <a:xfrm>
            <a:off x="914400" y="1999398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ps</a:t>
            </a:r>
            <a:endParaRPr b="1" sz="1800">
              <a:solidFill>
                <a:srgbClr val="082D49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62" name="Google Shape;462;p63"/>
          <p:cNvSpPr txBox="1"/>
          <p:nvPr/>
        </p:nvSpPr>
        <p:spPr>
          <a:xfrm>
            <a:off x="914400" y="2684935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kill</a:t>
            </a:r>
            <a:endParaRPr b="1" sz="1800">
              <a:solidFill>
                <a:srgbClr val="082D49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463" name="Google Shape;46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516" y="311083"/>
            <a:ext cx="444400" cy="36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278" y="694888"/>
            <a:ext cx="4518401" cy="410617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64"/>
          <p:cNvSpPr txBox="1"/>
          <p:nvPr>
            <p:ph idx="4294967295" type="title"/>
          </p:nvPr>
        </p:nvSpPr>
        <p:spPr>
          <a:xfrm>
            <a:off x="5546225" y="250700"/>
            <a:ext cx="34494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top</a:t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70" name="Google Shape;470;p64"/>
          <p:cNvSpPr txBox="1"/>
          <p:nvPr>
            <p:ph idx="4294967295" type="body"/>
          </p:nvPr>
        </p:nvSpPr>
        <p:spPr>
          <a:xfrm>
            <a:off x="5486400" y="1088825"/>
            <a:ext cx="2772600" cy="331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80340" lvl="0" marL="32004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top </a:t>
            </a:r>
            <a:r>
              <a:rPr lang="en" sz="1400"/>
              <a:t>allows you to observe all the running processes in real time.</a:t>
            </a:r>
            <a:endParaRPr sz="1400"/>
          </a:p>
          <a:p>
            <a:pPr indent="-180340" lvl="0" marL="32004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It is o</a:t>
            </a:r>
            <a:r>
              <a:rPr lang="en" sz="1400"/>
              <a:t>ften used by administrators to get a general idea of how the system is running in real time.</a:t>
            </a:r>
            <a:endParaRPr sz="1400"/>
          </a:p>
        </p:txBody>
      </p:sp>
      <p:cxnSp>
        <p:nvCxnSpPr>
          <p:cNvPr id="471" name="Google Shape;471;p64"/>
          <p:cNvCxnSpPr>
            <a:endCxn id="472" idx="5"/>
          </p:cNvCxnSpPr>
          <p:nvPr/>
        </p:nvCxnSpPr>
        <p:spPr>
          <a:xfrm rot="10800000">
            <a:off x="5357003" y="613051"/>
            <a:ext cx="3813300" cy="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2" name="Google Shape;472;p64"/>
          <p:cNvSpPr/>
          <p:nvPr/>
        </p:nvSpPr>
        <p:spPr>
          <a:xfrm>
            <a:off x="4865100" y="136000"/>
            <a:ext cx="576300" cy="558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3" name="Google Shape;473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8966" y="264775"/>
            <a:ext cx="388559" cy="30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5"/>
          <p:cNvSpPr txBox="1"/>
          <p:nvPr>
            <p:ph idx="4294967295" type="title"/>
          </p:nvPr>
        </p:nvSpPr>
        <p:spPr>
          <a:xfrm>
            <a:off x="5546225" y="250700"/>
            <a:ext cx="34494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ps</a:t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79" name="Google Shape;479;p65"/>
          <p:cNvSpPr txBox="1"/>
          <p:nvPr>
            <p:ph idx="4294967295" type="body"/>
          </p:nvPr>
        </p:nvSpPr>
        <p:spPr>
          <a:xfrm>
            <a:off x="5486400" y="1088825"/>
            <a:ext cx="2772600" cy="331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80340" lvl="0" marL="32004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ps</a:t>
            </a:r>
            <a:r>
              <a:rPr lang="en" sz="1400"/>
              <a:t> allows you to take a snapshot of all the running processes on the system.</a:t>
            </a:r>
            <a:endParaRPr sz="1400"/>
          </a:p>
          <a:p>
            <a:pPr indent="-180340" lvl="0" marL="32004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It is often used with</a:t>
            </a:r>
            <a:r>
              <a:rPr lang="en" sz="1400"/>
              <a:t> different arguments to observe different subsets of processes.</a:t>
            </a:r>
            <a:endParaRPr sz="1400"/>
          </a:p>
        </p:txBody>
      </p:sp>
      <p:cxnSp>
        <p:nvCxnSpPr>
          <p:cNvPr id="480" name="Google Shape;480;p65"/>
          <p:cNvCxnSpPr>
            <a:endCxn id="481" idx="5"/>
          </p:cNvCxnSpPr>
          <p:nvPr/>
        </p:nvCxnSpPr>
        <p:spPr>
          <a:xfrm rot="10800000">
            <a:off x="5357003" y="613051"/>
            <a:ext cx="3813300" cy="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" name="Google Shape;481;p65"/>
          <p:cNvSpPr/>
          <p:nvPr/>
        </p:nvSpPr>
        <p:spPr>
          <a:xfrm>
            <a:off x="4865100" y="136000"/>
            <a:ext cx="576300" cy="558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2" name="Google Shape;48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8966" y="264775"/>
            <a:ext cx="388559" cy="30135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65"/>
          <p:cNvSpPr/>
          <p:nvPr/>
        </p:nvSpPr>
        <p:spPr>
          <a:xfrm>
            <a:off x="308975" y="988675"/>
            <a:ext cx="4331400" cy="29430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65"/>
          <p:cNvSpPr txBox="1"/>
          <p:nvPr/>
        </p:nvSpPr>
        <p:spPr>
          <a:xfrm>
            <a:off x="542450" y="1371600"/>
            <a:ext cx="372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Inconsolata"/>
                <a:ea typeface="Inconsolata"/>
                <a:cs typeface="Inconsolata"/>
                <a:sym typeface="Inconsolata"/>
              </a:rPr>
              <a:t>student:</a:t>
            </a:r>
            <a:r>
              <a:rPr b="1" lang="en" sz="1800">
                <a:solidFill>
                  <a:srgbClr val="FFFF00"/>
                </a:solidFill>
                <a:latin typeface="Inconsolata"/>
                <a:ea typeface="Inconsolata"/>
                <a:cs typeface="Inconsolata"/>
                <a:sym typeface="Inconsolata"/>
              </a:rPr>
              <a:t>~$ </a:t>
            </a:r>
            <a:r>
              <a:rPr b="1" lang="en" sz="1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ps </a:t>
            </a:r>
            <a:endParaRPr b="1" sz="1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85" name="Google Shape;485;p65"/>
          <p:cNvSpPr txBox="1"/>
          <p:nvPr/>
        </p:nvSpPr>
        <p:spPr>
          <a:xfrm>
            <a:off x="332700" y="1879400"/>
            <a:ext cx="4331400" cy="15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6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PID   TTY        TIME      CMD</a:t>
            </a:r>
            <a:endParaRPr b="1" sz="16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6732  ttys002    00:00:00  /bin/bash</a:t>
            </a:r>
            <a:endParaRPr b="1" sz="16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6867  ttys004    00:00:00  /usr/bin/ps</a:t>
            </a:r>
            <a:endParaRPr b="1" sz="16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6897  pts/1      00:00:03  /bin/login -f</a:t>
            </a:r>
            <a:endParaRPr b="1" sz="16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6"/>
          <p:cNvSpPr txBox="1"/>
          <p:nvPr>
            <p:ph idx="4294967295" type="title"/>
          </p:nvPr>
        </p:nvSpPr>
        <p:spPr>
          <a:xfrm>
            <a:off x="5546225" y="250700"/>
            <a:ext cx="34494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kill</a:t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91" name="Google Shape;491;p66"/>
          <p:cNvSpPr txBox="1"/>
          <p:nvPr>
            <p:ph idx="4294967295" type="body"/>
          </p:nvPr>
        </p:nvSpPr>
        <p:spPr>
          <a:xfrm>
            <a:off x="5486400" y="1088825"/>
            <a:ext cx="2772600" cy="1428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80340" lvl="0" marL="32004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kill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1400"/>
              <a:t>is u</a:t>
            </a:r>
            <a:r>
              <a:rPr lang="en" sz="1400"/>
              <a:t>sed to </a:t>
            </a:r>
            <a:r>
              <a:rPr b="1" lang="en" sz="1400"/>
              <a:t>stop</a:t>
            </a:r>
            <a:r>
              <a:rPr lang="en" sz="1400"/>
              <a:t> processes.</a:t>
            </a:r>
            <a:endParaRPr sz="1400"/>
          </a:p>
          <a:p>
            <a:pPr indent="-180340" lvl="0" marL="32004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It a</a:t>
            </a:r>
            <a:r>
              <a:rPr lang="en" sz="1400"/>
              <a:t>ttempts to allow a process to finish what it's doing before it shuts down.</a:t>
            </a:r>
            <a:endParaRPr sz="1400"/>
          </a:p>
        </p:txBody>
      </p:sp>
      <p:cxnSp>
        <p:nvCxnSpPr>
          <p:cNvPr id="492" name="Google Shape;492;p66"/>
          <p:cNvCxnSpPr>
            <a:endCxn id="493" idx="5"/>
          </p:cNvCxnSpPr>
          <p:nvPr/>
        </p:nvCxnSpPr>
        <p:spPr>
          <a:xfrm rot="10800000">
            <a:off x="5357003" y="613051"/>
            <a:ext cx="3813300" cy="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" name="Google Shape;493;p66"/>
          <p:cNvSpPr/>
          <p:nvPr/>
        </p:nvSpPr>
        <p:spPr>
          <a:xfrm>
            <a:off x="4865100" y="136000"/>
            <a:ext cx="576300" cy="558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4" name="Google Shape;49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8966" y="264775"/>
            <a:ext cx="388559" cy="30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188" y="1005251"/>
            <a:ext cx="4189801" cy="306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7"/>
          <p:cNvSpPr txBox="1"/>
          <p:nvPr/>
        </p:nvSpPr>
        <p:spPr>
          <a:xfrm>
            <a:off x="1660225" y="1039700"/>
            <a:ext cx="5938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Dynamic analysis</a:t>
            </a: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is the process of running a potentially malicious script and monitoring its effects. </a:t>
            </a:r>
            <a:endParaRPr i="0" sz="3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8"/>
          <p:cNvSpPr txBox="1"/>
          <p:nvPr>
            <p:ph idx="1" type="body"/>
          </p:nvPr>
        </p:nvSpPr>
        <p:spPr>
          <a:xfrm>
            <a:off x="294250" y="1454113"/>
            <a:ext cx="3702600" cy="3111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We will run the suspicious script we found in the </a:t>
            </a:r>
            <a:r>
              <a:rPr b="1" lang="en" sz="1400"/>
              <a:t>/tmp</a:t>
            </a:r>
            <a:r>
              <a:rPr lang="en" sz="1400"/>
              <a:t> directory during our previous audit.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Use</a:t>
            </a:r>
            <a:r>
              <a:rPr lang="en" sz="1400"/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top </a:t>
            </a:r>
            <a:r>
              <a:rPr lang="en" sz="1400"/>
              <a:t>and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ps </a:t>
            </a:r>
            <a:r>
              <a:rPr lang="en" sz="1400"/>
              <a:t>to understand what it does, and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kill</a:t>
            </a:r>
            <a:r>
              <a:rPr lang="en" sz="1400"/>
              <a:t> the process if needed.</a:t>
            </a:r>
            <a:endParaRPr b="1" sz="14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400"/>
              <a:t>.</a:t>
            </a:r>
            <a:endParaRPr sz="1400"/>
          </a:p>
        </p:txBody>
      </p:sp>
      <p:pic>
        <p:nvPicPr>
          <p:cNvPr id="506" name="Google Shape;506;p68"/>
          <p:cNvPicPr preferRelativeResize="0"/>
          <p:nvPr/>
        </p:nvPicPr>
        <p:blipFill rotWithShape="1">
          <a:blip r:embed="rId3">
            <a:alphaModFix/>
          </a:blip>
          <a:srcRect b="0" l="3165" r="3165" t="0"/>
          <a:stretch/>
        </p:blipFill>
        <p:spPr>
          <a:xfrm>
            <a:off x="4114800" y="1217625"/>
            <a:ext cx="4754877" cy="35845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7" name="Google Shape;507;p68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08" name="Google Shape;508;p68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Scenario</a:t>
            </a:r>
            <a:endParaRPr sz="24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09" name="Google Shape;509;p68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68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11" name="Google Shape;511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9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Demonstration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" name="Google Shape;517;p6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Inspecting Malicious Files</a:t>
            </a:r>
            <a:endParaRPr/>
          </a:p>
        </p:txBody>
      </p:sp>
      <p:pic>
        <p:nvPicPr>
          <p:cNvPr id="518" name="Google Shape;51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100" y="1343674"/>
            <a:ext cx="1468288" cy="94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70"/>
          <p:cNvSpPr txBox="1"/>
          <p:nvPr>
            <p:ph type="title"/>
          </p:nvPr>
        </p:nvSpPr>
        <p:spPr>
          <a:xfrm>
            <a:off x="308250" y="119075"/>
            <a:ext cx="88323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5"/>
                </a:solidFill>
              </a:rPr>
              <a:t>Demo Summary 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70"/>
          <p:cNvSpPr txBox="1"/>
          <p:nvPr>
            <p:ph idx="4294967295" type="subTitle"/>
          </p:nvPr>
        </p:nvSpPr>
        <p:spPr>
          <a:xfrm>
            <a:off x="308250" y="493775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</a:t>
            </a:r>
            <a:r>
              <a:rPr lang="en"/>
              <a:t>Process Commands</a:t>
            </a:r>
            <a:endParaRPr/>
          </a:p>
        </p:txBody>
      </p:sp>
      <p:grpSp>
        <p:nvGrpSpPr>
          <p:cNvPr id="525" name="Google Shape;525;p70"/>
          <p:cNvGrpSpPr/>
          <p:nvPr/>
        </p:nvGrpSpPr>
        <p:grpSpPr>
          <a:xfrm>
            <a:off x="1547320" y="1030076"/>
            <a:ext cx="2764391" cy="3434400"/>
            <a:chOff x="457200" y="1133250"/>
            <a:chExt cx="2439025" cy="3434400"/>
          </a:xfrm>
        </p:grpSpPr>
        <p:sp>
          <p:nvSpPr>
            <p:cNvPr id="526" name="Google Shape;526;p70"/>
            <p:cNvSpPr/>
            <p:nvPr/>
          </p:nvSpPr>
          <p:spPr>
            <a:xfrm flipH="1">
              <a:off x="467725" y="1133250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7" name="Google Shape;527;p70"/>
            <p:cNvSpPr/>
            <p:nvPr/>
          </p:nvSpPr>
          <p:spPr>
            <a:xfrm>
              <a:off x="457200" y="1133250"/>
              <a:ext cx="2438400" cy="707100"/>
            </a:xfrm>
            <a:prstGeom prst="roundRect">
              <a:avLst>
                <a:gd fmla="val 13342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solidFill>
                    <a:srgbClr val="FFFFFF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top</a:t>
              </a:r>
              <a:endParaRPr b="1" i="0" sz="1800" u="none" cap="none" strike="noStrike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</p:txBody>
        </p:sp>
      </p:grpSp>
      <p:grpSp>
        <p:nvGrpSpPr>
          <p:cNvPr id="528" name="Google Shape;528;p70"/>
          <p:cNvGrpSpPr/>
          <p:nvPr/>
        </p:nvGrpSpPr>
        <p:grpSpPr>
          <a:xfrm>
            <a:off x="4836673" y="1030075"/>
            <a:ext cx="2760042" cy="3434400"/>
            <a:chOff x="3399100" y="1133249"/>
            <a:chExt cx="2435188" cy="3434400"/>
          </a:xfrm>
        </p:grpSpPr>
        <p:sp>
          <p:nvSpPr>
            <p:cNvPr id="529" name="Google Shape;529;p70"/>
            <p:cNvSpPr/>
            <p:nvPr/>
          </p:nvSpPr>
          <p:spPr>
            <a:xfrm flipH="1">
              <a:off x="3405788" y="1133249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0" name="Google Shape;530;p70"/>
            <p:cNvSpPr/>
            <p:nvPr/>
          </p:nvSpPr>
          <p:spPr>
            <a:xfrm>
              <a:off x="3399100" y="1133250"/>
              <a:ext cx="2427300" cy="707100"/>
            </a:xfrm>
            <a:prstGeom prst="roundRect">
              <a:avLst>
                <a:gd fmla="val 13342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latin typeface="Inconsolata"/>
                  <a:ea typeface="Inconsolata"/>
                  <a:cs typeface="Inconsolata"/>
                  <a:sym typeface="Inconsolata"/>
                </a:rPr>
                <a:t>ps</a:t>
              </a:r>
              <a:endParaRPr b="1" i="0" sz="1800" u="none" cap="none" strike="noStrike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</p:txBody>
        </p:sp>
      </p:grpSp>
      <p:sp>
        <p:nvSpPr>
          <p:cNvPr id="531" name="Google Shape;531;p70"/>
          <p:cNvSpPr txBox="1"/>
          <p:nvPr/>
        </p:nvSpPr>
        <p:spPr>
          <a:xfrm>
            <a:off x="1547275" y="1737050"/>
            <a:ext cx="28578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Observes all the running processes. Displays information on:</a:t>
            </a:r>
            <a:endParaRPr sz="15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2D49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PID</a:t>
            </a:r>
            <a:endParaRPr sz="15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2D49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USER</a:t>
            </a:r>
            <a:endParaRPr sz="15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2D49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PR</a:t>
            </a:r>
            <a:endParaRPr sz="15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2D49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NI</a:t>
            </a:r>
            <a:endParaRPr sz="15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2D49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Command</a:t>
            </a:r>
            <a:endParaRPr sz="15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2D49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%CPU / %MEM</a:t>
            </a:r>
            <a:endParaRPr sz="15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70"/>
          <p:cNvSpPr txBox="1"/>
          <p:nvPr/>
        </p:nvSpPr>
        <p:spPr>
          <a:xfrm>
            <a:off x="4834858" y="1737050"/>
            <a:ext cx="27525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Takes a snapshot of all the running processes. Run with additional options to show additional information:</a:t>
            </a:r>
            <a:endParaRPr sz="15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2D49"/>
              </a:buClr>
              <a:buSzPts val="1500"/>
              <a:buFont typeface="Inconsolata"/>
              <a:buChar char="●"/>
            </a:pPr>
            <a:r>
              <a:rPr lang="en" sz="15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-a</a:t>
            </a:r>
            <a:endParaRPr sz="1500">
              <a:solidFill>
                <a:srgbClr val="082D49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2D49"/>
              </a:buClr>
              <a:buSzPts val="1500"/>
              <a:buFont typeface="Inconsolata"/>
              <a:buChar char="●"/>
            </a:pPr>
            <a:r>
              <a:rPr lang="en" sz="15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-u</a:t>
            </a:r>
            <a:endParaRPr sz="1500">
              <a:solidFill>
                <a:srgbClr val="082D49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2D49"/>
              </a:buClr>
              <a:buSzPts val="1500"/>
              <a:buFont typeface="Inconsolata"/>
              <a:buChar char="●"/>
            </a:pPr>
            <a:r>
              <a:rPr lang="en" sz="15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-x</a:t>
            </a:r>
            <a:endParaRPr sz="1500">
              <a:solidFill>
                <a:srgbClr val="082D49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533" name="Google Shape;53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0650" y="3902276"/>
            <a:ext cx="510375" cy="49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4238" y="3883554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1"/>
          <p:cNvSpPr txBox="1"/>
          <p:nvPr>
            <p:ph idx="1" type="body"/>
          </p:nvPr>
        </p:nvSpPr>
        <p:spPr>
          <a:xfrm>
            <a:off x="3485325" y="1377600"/>
            <a:ext cx="54141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lang="en"/>
              <a:t>ow that we understand the information report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top</a:t>
            </a:r>
            <a:r>
              <a:rPr lang="en"/>
              <a:t>, we’ll run our potentially malicious script to see if that information changes.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2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Demonstration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72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Executing</a:t>
            </a:r>
            <a:r>
              <a:rPr lang="en"/>
              <a:t> Malicious Files</a:t>
            </a:r>
            <a:endParaRPr/>
          </a:p>
        </p:txBody>
      </p:sp>
      <p:pic>
        <p:nvPicPr>
          <p:cNvPr id="546" name="Google Shape;54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100" y="1343674"/>
            <a:ext cx="1468288" cy="94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3"/>
          <p:cNvSpPr txBox="1"/>
          <p:nvPr>
            <p:ph type="title"/>
          </p:nvPr>
        </p:nvSpPr>
        <p:spPr>
          <a:xfrm>
            <a:off x="308250" y="119075"/>
            <a:ext cx="88323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Demo Summary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73"/>
          <p:cNvSpPr txBox="1"/>
          <p:nvPr>
            <p:ph idx="4294967295" type="subTitle"/>
          </p:nvPr>
        </p:nvSpPr>
        <p:spPr>
          <a:xfrm>
            <a:off x="308250" y="493775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Commands:</a:t>
            </a:r>
            <a:endParaRPr/>
          </a:p>
        </p:txBody>
      </p:sp>
      <p:grpSp>
        <p:nvGrpSpPr>
          <p:cNvPr id="553" name="Google Shape;553;p73"/>
          <p:cNvGrpSpPr/>
          <p:nvPr/>
        </p:nvGrpSpPr>
        <p:grpSpPr>
          <a:xfrm>
            <a:off x="3143145" y="1030089"/>
            <a:ext cx="2764391" cy="3434400"/>
            <a:chOff x="457200" y="1133250"/>
            <a:chExt cx="2439025" cy="3434400"/>
          </a:xfrm>
        </p:grpSpPr>
        <p:sp>
          <p:nvSpPr>
            <p:cNvPr id="554" name="Google Shape;554;p73"/>
            <p:cNvSpPr/>
            <p:nvPr/>
          </p:nvSpPr>
          <p:spPr>
            <a:xfrm flipH="1">
              <a:off x="467725" y="1133250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5" name="Google Shape;555;p73"/>
            <p:cNvSpPr/>
            <p:nvPr/>
          </p:nvSpPr>
          <p:spPr>
            <a:xfrm>
              <a:off x="457200" y="1133250"/>
              <a:ext cx="2438400" cy="707100"/>
            </a:xfrm>
            <a:prstGeom prst="roundRect">
              <a:avLst>
                <a:gd fmla="val 13342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solidFill>
                    <a:srgbClr val="FFFFFF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kill</a:t>
              </a:r>
              <a:endParaRPr b="1" i="0" sz="1800" u="none" cap="none" strike="noStrike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</p:txBody>
        </p:sp>
      </p:grpSp>
      <p:sp>
        <p:nvSpPr>
          <p:cNvPr id="556" name="Google Shape;556;p73"/>
          <p:cNvSpPr txBox="1"/>
          <p:nvPr/>
        </p:nvSpPr>
        <p:spPr>
          <a:xfrm>
            <a:off x="3031200" y="1737075"/>
            <a:ext cx="30303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Used to end processes. Syntax options include</a:t>
            </a:r>
            <a:r>
              <a:rPr lang="en" sz="15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5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2D49"/>
              </a:buClr>
              <a:buSzPts val="1500"/>
              <a:buFont typeface="Inconsolata"/>
              <a:buChar char="●"/>
            </a:pPr>
            <a:r>
              <a:rPr lang="en" sz="15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k</a:t>
            </a:r>
            <a:r>
              <a:rPr lang="en" sz="15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ill &lt;PID&gt;</a:t>
            </a:r>
            <a:endParaRPr sz="1500">
              <a:solidFill>
                <a:srgbClr val="082D49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2D49"/>
              </a:buClr>
              <a:buSzPts val="1500"/>
              <a:buFont typeface="Inconsolata"/>
              <a:buChar char="●"/>
            </a:pPr>
            <a:r>
              <a:rPr lang="en" sz="15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k</a:t>
            </a:r>
            <a:r>
              <a:rPr lang="en" sz="15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illall &lt;process_name&gt;</a:t>
            </a:r>
            <a:endParaRPr sz="1500">
              <a:solidFill>
                <a:srgbClr val="082D49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7" name="Google Shape;557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9002" y="3802188"/>
            <a:ext cx="513675" cy="51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4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</a:t>
            </a:r>
            <a:r>
              <a:rPr lang="en"/>
              <a:t> Minutes</a:t>
            </a:r>
            <a:endParaRPr/>
          </a:p>
        </p:txBody>
      </p:sp>
      <p:sp>
        <p:nvSpPr>
          <p:cNvPr id="563" name="Google Shape;563;p74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Investigation</a:t>
            </a:r>
            <a:endParaRPr/>
          </a:p>
        </p:txBody>
      </p:sp>
      <p:sp>
        <p:nvSpPr>
          <p:cNvPr id="564" name="Google Shape;564;p74"/>
          <p:cNvSpPr txBox="1"/>
          <p:nvPr>
            <p:ph idx="3" type="body"/>
          </p:nvPr>
        </p:nvSpPr>
        <p:spPr>
          <a:xfrm>
            <a:off x="459075" y="1363425"/>
            <a:ext cx="78822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Previously,</a:t>
            </a:r>
            <a:r>
              <a:rPr lang="en"/>
              <a:t> you completed a basic audit of the system and found some malicious script files and a user that was not supposed to be on the system.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</a:t>
            </a:r>
            <a:r>
              <a:rPr lang="en"/>
              <a:t>ou will investigate all the processes running on the system to determine if there are any obvious processes that should not be running.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senior administrator has asked that you record snapshots of processes as well as review the processes in real time for anything suspicious.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find any processes amiss, kill them and add your findings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your report.</a:t>
            </a:r>
            <a:endParaRPr/>
          </a:p>
        </p:txBody>
      </p:sp>
      <p:pic>
        <p:nvPicPr>
          <p:cNvPr id="565" name="Google Shape;565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8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Installing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Packages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83" name="Google Shape;583;p78"/>
          <p:cNvPicPr preferRelativeResize="0"/>
          <p:nvPr/>
        </p:nvPicPr>
        <p:blipFill rotWithShape="1">
          <a:blip r:embed="rId3">
            <a:alphaModFix/>
          </a:blip>
          <a:srcRect b="0" l="-16908" r="-12558" t="0"/>
          <a:stretch/>
        </p:blipFill>
        <p:spPr>
          <a:xfrm>
            <a:off x="3829262" y="1699584"/>
            <a:ext cx="1485476" cy="973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78" title="File:Gnome-system-software-installer.svg - Wikimedia Common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57025" y="1854200"/>
            <a:ext cx="774702" cy="774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Packages</a:t>
            </a:r>
            <a:endParaRPr/>
          </a:p>
        </p:txBody>
      </p:sp>
      <p:sp>
        <p:nvSpPr>
          <p:cNvPr id="590" name="Google Shape;590;p7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Roboto Light"/>
                <a:ea typeface="Roboto Light"/>
                <a:cs typeface="Roboto Light"/>
                <a:sym typeface="Roboto Light"/>
              </a:rPr>
              <a:t>Administrators often install additional software to properly harden the machines they manage.</a:t>
            </a:r>
            <a:endParaRPr sz="14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79"/>
          <p:cNvSpPr txBox="1"/>
          <p:nvPr>
            <p:ph idx="2" type="body"/>
          </p:nvPr>
        </p:nvSpPr>
        <p:spPr>
          <a:xfrm>
            <a:off x="252850" y="1680725"/>
            <a:ext cx="4246500" cy="21345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180340" lvl="0" marL="32004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●"/>
            </a:pPr>
            <a:r>
              <a:rPr lang="en" sz="1400">
                <a:latin typeface="Roboto Light"/>
                <a:ea typeface="Roboto Light"/>
                <a:cs typeface="Roboto Light"/>
                <a:sym typeface="Roboto Light"/>
              </a:rPr>
              <a:t>Linux offers downloadable tools called </a:t>
            </a:r>
            <a:r>
              <a:rPr b="1" lang="en" sz="1400"/>
              <a:t>packages</a:t>
            </a:r>
            <a:r>
              <a:rPr lang="en" sz="1400"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4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-180340" lvl="0" marL="32004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●"/>
            </a:pPr>
            <a:r>
              <a:rPr lang="en" sz="1400">
                <a:latin typeface="Roboto Light"/>
                <a:ea typeface="Roboto Light"/>
                <a:cs typeface="Roboto Light"/>
                <a:sym typeface="Roboto Light"/>
              </a:rPr>
              <a:t>New packages are installed with a tool called </a:t>
            </a:r>
            <a:r>
              <a:rPr b="1" lang="en" sz="1400"/>
              <a:t>package manager</a:t>
            </a:r>
            <a:r>
              <a:rPr lang="en" sz="1400">
                <a:latin typeface="Roboto Light"/>
                <a:ea typeface="Roboto Light"/>
                <a:cs typeface="Roboto Light"/>
                <a:sym typeface="Roboto Light"/>
              </a:rPr>
              <a:t>. </a:t>
            </a:r>
            <a:endParaRPr sz="14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-180340" lvl="0" marL="32004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Roboto Light"/>
              <a:buChar char="●"/>
            </a:pPr>
            <a:r>
              <a:rPr lang="en" sz="1400">
                <a:latin typeface="Roboto Light"/>
                <a:ea typeface="Roboto Light"/>
                <a:cs typeface="Roboto Light"/>
                <a:sym typeface="Roboto Light"/>
              </a:rPr>
              <a:t>We’ll use the Ubuntu package manager, called </a:t>
            </a:r>
            <a:r>
              <a:rPr b="1" lang="en" sz="1400"/>
              <a:t>aptitude</a:t>
            </a:r>
            <a:r>
              <a:rPr lang="en" sz="1400"/>
              <a:t>,</a:t>
            </a:r>
            <a:r>
              <a:rPr lang="en" sz="1400">
                <a:latin typeface="Roboto Light"/>
                <a:ea typeface="Roboto Light"/>
                <a:cs typeface="Roboto Light"/>
                <a:sym typeface="Roboto Light"/>
              </a:rPr>
              <a:t> with the command apt. </a:t>
            </a:r>
            <a:endParaRPr/>
          </a:p>
        </p:txBody>
      </p:sp>
      <p:grpSp>
        <p:nvGrpSpPr>
          <p:cNvPr id="592" name="Google Shape;592;p79"/>
          <p:cNvGrpSpPr/>
          <p:nvPr/>
        </p:nvGrpSpPr>
        <p:grpSpPr>
          <a:xfrm>
            <a:off x="4454464" y="1252972"/>
            <a:ext cx="4305026" cy="3264143"/>
            <a:chOff x="3678753" y="1367473"/>
            <a:chExt cx="5098929" cy="3448645"/>
          </a:xfrm>
        </p:grpSpPr>
        <p:pic>
          <p:nvPicPr>
            <p:cNvPr id="593" name="Google Shape;593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78753" y="1367473"/>
              <a:ext cx="4748946" cy="30823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4" name="Google Shape;594;p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300004">
              <a:off x="4229045" y="3223534"/>
              <a:ext cx="1625611" cy="3667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5" name="Google Shape;595;p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99997">
              <a:off x="6232469" y="3223534"/>
              <a:ext cx="1625611" cy="3667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6" name="Google Shape;596;p7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92043" y="2636231"/>
              <a:ext cx="1885639" cy="217988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97" name="Google Shape;597;p79"/>
          <p:cNvPicPr preferRelativeResize="0"/>
          <p:nvPr/>
        </p:nvPicPr>
        <p:blipFill rotWithShape="1">
          <a:blip r:embed="rId6">
            <a:alphaModFix/>
          </a:blip>
          <a:srcRect b="0" l="79" r="69" t="0"/>
          <a:stretch/>
        </p:blipFill>
        <p:spPr>
          <a:xfrm>
            <a:off x="268236" y="288525"/>
            <a:ext cx="384977" cy="39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80"/>
          <p:cNvSpPr/>
          <p:nvPr/>
        </p:nvSpPr>
        <p:spPr>
          <a:xfrm>
            <a:off x="1243563" y="1271463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80"/>
          <p:cNvSpPr/>
          <p:nvPr/>
        </p:nvSpPr>
        <p:spPr>
          <a:xfrm>
            <a:off x="1243563" y="2646851"/>
            <a:ext cx="7399500" cy="4374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80"/>
          <p:cNvSpPr/>
          <p:nvPr/>
        </p:nvSpPr>
        <p:spPr>
          <a:xfrm>
            <a:off x="1243563" y="1946563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5" name="Google Shape;605;p80"/>
          <p:cNvGrpSpPr/>
          <p:nvPr/>
        </p:nvGrpSpPr>
        <p:grpSpPr>
          <a:xfrm>
            <a:off x="413588" y="1271466"/>
            <a:ext cx="776900" cy="459019"/>
            <a:chOff x="457200" y="1466425"/>
            <a:chExt cx="776900" cy="486300"/>
          </a:xfrm>
        </p:grpSpPr>
        <p:sp>
          <p:nvSpPr>
            <p:cNvPr id="606" name="Google Shape;606;p80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7" name="Google Shape;607;p80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608" name="Google Shape;608;p80"/>
          <p:cNvGrpSpPr/>
          <p:nvPr/>
        </p:nvGrpSpPr>
        <p:grpSpPr>
          <a:xfrm>
            <a:off x="413588" y="1926343"/>
            <a:ext cx="776900" cy="486300"/>
            <a:chOff x="457200" y="1466425"/>
            <a:chExt cx="776900" cy="486300"/>
          </a:xfrm>
        </p:grpSpPr>
        <p:sp>
          <p:nvSpPr>
            <p:cNvPr id="609" name="Google Shape;609;p80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0" name="Google Shape;610;p80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611" name="Google Shape;611;p80"/>
          <p:cNvGrpSpPr/>
          <p:nvPr/>
        </p:nvGrpSpPr>
        <p:grpSpPr>
          <a:xfrm>
            <a:off x="413588" y="2643198"/>
            <a:ext cx="776900" cy="437378"/>
            <a:chOff x="457200" y="1466425"/>
            <a:chExt cx="776900" cy="486300"/>
          </a:xfrm>
        </p:grpSpPr>
        <p:sp>
          <p:nvSpPr>
            <p:cNvPr id="612" name="Google Shape;612;p80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3" name="Google Shape;613;p80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614" name="Google Shape;614;p80"/>
          <p:cNvSpPr txBox="1"/>
          <p:nvPr>
            <p:ph idx="4294967295" type="body"/>
          </p:nvPr>
        </p:nvSpPr>
        <p:spPr>
          <a:xfrm>
            <a:off x="1243638" y="1292838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S</a:t>
            </a:r>
            <a:r>
              <a:rPr lang="en"/>
              <a:t>implify the installation and management of software</a:t>
            </a:r>
            <a:endParaRPr/>
          </a:p>
        </p:txBody>
      </p:sp>
      <p:sp>
        <p:nvSpPr>
          <p:cNvPr id="615" name="Google Shape;615;p80"/>
          <p:cNvSpPr txBox="1"/>
          <p:nvPr>
            <p:ph idx="4294967295" type="body"/>
          </p:nvPr>
        </p:nvSpPr>
        <p:spPr>
          <a:xfrm>
            <a:off x="1243638" y="1968013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Handle software dependencies automatically</a:t>
            </a:r>
            <a:endParaRPr/>
          </a:p>
        </p:txBody>
      </p:sp>
      <p:sp>
        <p:nvSpPr>
          <p:cNvPr id="616" name="Google Shape;616;p80"/>
          <p:cNvSpPr txBox="1"/>
          <p:nvPr>
            <p:ph idx="4294967295" type="body"/>
          </p:nvPr>
        </p:nvSpPr>
        <p:spPr>
          <a:xfrm>
            <a:off x="1243638" y="2651838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C</a:t>
            </a:r>
            <a:r>
              <a:rPr lang="en"/>
              <a:t>entralized system for software updates and security patches</a:t>
            </a:r>
            <a:endParaRPr/>
          </a:p>
        </p:txBody>
      </p:sp>
      <p:sp>
        <p:nvSpPr>
          <p:cNvPr id="617" name="Google Shape;617;p80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Package Managers</a:t>
            </a:r>
            <a:endParaRPr/>
          </a:p>
        </p:txBody>
      </p:sp>
      <p:sp>
        <p:nvSpPr>
          <p:cNvPr id="618" name="Google Shape;618;p80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Utilized</a:t>
            </a:r>
            <a:r>
              <a:rPr lang="en"/>
              <a:t> through the terminal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81"/>
          <p:cNvSpPr txBox="1"/>
          <p:nvPr/>
        </p:nvSpPr>
        <p:spPr>
          <a:xfrm>
            <a:off x="1660225" y="1039700"/>
            <a:ext cx="5938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b="1"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package manager</a:t>
            </a: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is a tool that automates the process of installing, upgrading, configuring, and removing software packages.</a:t>
            </a:r>
            <a:endParaRPr i="0" sz="3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82"/>
          <p:cNvSpPr/>
          <p:nvPr/>
        </p:nvSpPr>
        <p:spPr>
          <a:xfrm flipH="1">
            <a:off x="724275" y="18615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82"/>
          <p:cNvSpPr txBox="1"/>
          <p:nvPr/>
        </p:nvSpPr>
        <p:spPr>
          <a:xfrm>
            <a:off x="724275" y="1861625"/>
            <a:ext cx="24666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Advanced Package Tool (APT)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30" name="Google Shape;630;p82"/>
          <p:cNvGrpSpPr/>
          <p:nvPr/>
        </p:nvGrpSpPr>
        <p:grpSpPr>
          <a:xfrm>
            <a:off x="457181" y="1268903"/>
            <a:ext cx="533372" cy="533480"/>
            <a:chOff x="457200" y="1378813"/>
            <a:chExt cx="695400" cy="695450"/>
          </a:xfrm>
        </p:grpSpPr>
        <p:sp>
          <p:nvSpPr>
            <p:cNvPr id="631" name="Google Shape;631;p8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sz="21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32" name="Google Shape;632;p82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3" name="Google Shape;633;p82"/>
          <p:cNvGrpSpPr/>
          <p:nvPr/>
        </p:nvGrpSpPr>
        <p:grpSpPr>
          <a:xfrm>
            <a:off x="3228956" y="1268903"/>
            <a:ext cx="533372" cy="533480"/>
            <a:chOff x="457200" y="1378813"/>
            <a:chExt cx="695400" cy="695450"/>
          </a:xfrm>
        </p:grpSpPr>
        <p:sp>
          <p:nvSpPr>
            <p:cNvPr id="634" name="Google Shape;634;p8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35" name="Google Shape;635;p82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636" name="Google Shape;636;p82"/>
          <p:cNvSpPr/>
          <p:nvPr/>
        </p:nvSpPr>
        <p:spPr>
          <a:xfrm flipH="1">
            <a:off x="3496050" y="18615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82"/>
          <p:cNvSpPr txBox="1"/>
          <p:nvPr/>
        </p:nvSpPr>
        <p:spPr>
          <a:xfrm>
            <a:off x="3496050" y="1861629"/>
            <a:ext cx="23715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Yellowdog Updater Modified (YUM)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38" name="Google Shape;638;p82"/>
          <p:cNvGrpSpPr/>
          <p:nvPr/>
        </p:nvGrpSpPr>
        <p:grpSpPr>
          <a:xfrm>
            <a:off x="6134081" y="1269653"/>
            <a:ext cx="533372" cy="533480"/>
            <a:chOff x="457200" y="1378813"/>
            <a:chExt cx="695400" cy="695450"/>
          </a:xfrm>
        </p:grpSpPr>
        <p:sp>
          <p:nvSpPr>
            <p:cNvPr id="639" name="Google Shape;639;p8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40" name="Google Shape;640;p82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641" name="Google Shape;641;p82"/>
          <p:cNvSpPr/>
          <p:nvPr/>
        </p:nvSpPr>
        <p:spPr>
          <a:xfrm flipH="1">
            <a:off x="6401175" y="186232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82"/>
          <p:cNvSpPr txBox="1"/>
          <p:nvPr/>
        </p:nvSpPr>
        <p:spPr>
          <a:xfrm>
            <a:off x="6401175" y="1861858"/>
            <a:ext cx="23715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PackageManager (PACMAN)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82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</a:t>
            </a:r>
            <a:r>
              <a:rPr lang="en"/>
              <a:t>Managers</a:t>
            </a:r>
            <a:endParaRPr/>
          </a:p>
        </p:txBody>
      </p:sp>
      <p:sp>
        <p:nvSpPr>
          <p:cNvPr id="644" name="Google Shape;644;p82"/>
          <p:cNvSpPr txBox="1"/>
          <p:nvPr>
            <p:ph idx="1" type="subTitle"/>
          </p:nvPr>
        </p:nvSpPr>
        <p:spPr>
          <a:xfrm>
            <a:off x="0" y="5235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Various </a:t>
            </a:r>
            <a:r>
              <a:rPr lang="en" sz="1400"/>
              <a:t>package</a:t>
            </a:r>
            <a:r>
              <a:rPr lang="en" sz="1400"/>
              <a:t> managers help simplify software management </a:t>
            </a:r>
            <a:endParaRPr sz="1400"/>
          </a:p>
        </p:txBody>
      </p:sp>
      <p:pic>
        <p:nvPicPr>
          <p:cNvPr id="645" name="Google Shape;64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2603" y="2807575"/>
            <a:ext cx="1583750" cy="158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1375" y="2807575"/>
            <a:ext cx="1671899" cy="1703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9349" y="2779887"/>
            <a:ext cx="1465375" cy="141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83"/>
          <p:cNvSpPr txBox="1"/>
          <p:nvPr>
            <p:ph idx="1" type="body"/>
          </p:nvPr>
        </p:nvSpPr>
        <p:spPr>
          <a:xfrm>
            <a:off x="3415475" y="2070675"/>
            <a:ext cx="5484300" cy="2353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Since</a:t>
            </a:r>
            <a:r>
              <a:rPr lang="en"/>
              <a:t> we are using Ubuntu, we will be using </a:t>
            </a:r>
            <a:r>
              <a:rPr b="1" lang="en"/>
              <a:t>apt</a:t>
            </a:r>
            <a:r>
              <a:rPr lang="en"/>
              <a:t> as our package manager.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84"/>
          <p:cNvSpPr txBox="1"/>
          <p:nvPr/>
        </p:nvSpPr>
        <p:spPr>
          <a:xfrm>
            <a:off x="1660225" y="1039700"/>
            <a:ext cx="5938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Repositories (repos)</a:t>
            </a: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are collections of software packages that are available for installation.</a:t>
            </a: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i="0" sz="3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2" name="Google Shape;662;p85"/>
          <p:cNvGrpSpPr/>
          <p:nvPr/>
        </p:nvGrpSpPr>
        <p:grpSpPr>
          <a:xfrm>
            <a:off x="6257800" y="1371600"/>
            <a:ext cx="2429025" cy="3435366"/>
            <a:chOff x="6257775" y="1133250"/>
            <a:chExt cx="2429025" cy="3435366"/>
          </a:xfrm>
        </p:grpSpPr>
        <p:sp>
          <p:nvSpPr>
            <p:cNvPr id="663" name="Google Shape;663;p85"/>
            <p:cNvSpPr/>
            <p:nvPr/>
          </p:nvSpPr>
          <p:spPr>
            <a:xfrm flipH="1">
              <a:off x="6258300" y="1134216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85"/>
            <p:cNvSpPr/>
            <p:nvPr/>
          </p:nvSpPr>
          <p:spPr>
            <a:xfrm>
              <a:off x="6257775" y="1133250"/>
              <a:ext cx="2427300" cy="707100"/>
            </a:xfrm>
            <a:prstGeom prst="roundRect">
              <a:avLst>
                <a:gd fmla="val 13342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Personal Package Archives (PPAs)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65" name="Google Shape;665;p85"/>
          <p:cNvGrpSpPr/>
          <p:nvPr/>
        </p:nvGrpSpPr>
        <p:grpSpPr>
          <a:xfrm>
            <a:off x="457225" y="1371600"/>
            <a:ext cx="2439025" cy="3434400"/>
            <a:chOff x="457200" y="1133250"/>
            <a:chExt cx="2439025" cy="3434400"/>
          </a:xfrm>
        </p:grpSpPr>
        <p:sp>
          <p:nvSpPr>
            <p:cNvPr id="666" name="Google Shape;666;p85"/>
            <p:cNvSpPr/>
            <p:nvPr/>
          </p:nvSpPr>
          <p:spPr>
            <a:xfrm flipH="1">
              <a:off x="467725" y="1133250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7" name="Google Shape;667;p85"/>
            <p:cNvSpPr/>
            <p:nvPr/>
          </p:nvSpPr>
          <p:spPr>
            <a:xfrm>
              <a:off x="457200" y="1133250"/>
              <a:ext cx="2438400" cy="707100"/>
            </a:xfrm>
            <a:prstGeom prst="roundRect">
              <a:avLst>
                <a:gd fmla="val 1334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Official Repositories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68" name="Google Shape;668;p85"/>
          <p:cNvGrpSpPr/>
          <p:nvPr/>
        </p:nvGrpSpPr>
        <p:grpSpPr>
          <a:xfrm>
            <a:off x="3359425" y="1371599"/>
            <a:ext cx="2435188" cy="3434400"/>
            <a:chOff x="3399100" y="1133249"/>
            <a:chExt cx="2435188" cy="3434400"/>
          </a:xfrm>
        </p:grpSpPr>
        <p:sp>
          <p:nvSpPr>
            <p:cNvPr id="669" name="Google Shape;669;p85"/>
            <p:cNvSpPr/>
            <p:nvPr/>
          </p:nvSpPr>
          <p:spPr>
            <a:xfrm flipH="1">
              <a:off x="3405788" y="1133249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0" name="Google Shape;670;p85"/>
            <p:cNvSpPr/>
            <p:nvPr/>
          </p:nvSpPr>
          <p:spPr>
            <a:xfrm>
              <a:off x="3399100" y="1133250"/>
              <a:ext cx="2427300" cy="707100"/>
            </a:xfrm>
            <a:prstGeom prst="roundRect">
              <a:avLst>
                <a:gd fmla="val 13342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Third-Party Repositories</a:t>
              </a:r>
              <a:endParaRPr b="1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71" name="Google Shape;671;p85"/>
          <p:cNvSpPr txBox="1"/>
          <p:nvPr>
            <p:ph idx="4294967295" type="body"/>
          </p:nvPr>
        </p:nvSpPr>
        <p:spPr>
          <a:xfrm>
            <a:off x="457175" y="2078575"/>
            <a:ext cx="25215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Maintained by the Linux distribution. </a:t>
            </a:r>
            <a:endParaRPr sz="1500"/>
          </a:p>
        </p:txBody>
      </p:sp>
      <p:sp>
        <p:nvSpPr>
          <p:cNvPr id="672" name="Google Shape;672;p85"/>
          <p:cNvSpPr txBox="1"/>
          <p:nvPr>
            <p:ph idx="4294967295" type="body"/>
          </p:nvPr>
        </p:nvSpPr>
        <p:spPr>
          <a:xfrm>
            <a:off x="3357750" y="2078575"/>
            <a:ext cx="24285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Maintained by other organizations or individuals.</a:t>
            </a:r>
            <a:endParaRPr sz="1500"/>
          </a:p>
        </p:txBody>
      </p:sp>
      <p:sp>
        <p:nvSpPr>
          <p:cNvPr id="673" name="Google Shape;673;p85"/>
          <p:cNvSpPr txBox="1"/>
          <p:nvPr>
            <p:ph idx="4294967295" type="body"/>
          </p:nvPr>
        </p:nvSpPr>
        <p:spPr>
          <a:xfrm>
            <a:off x="6258325" y="2078575"/>
            <a:ext cx="24285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User-maintained repositories that can be added to the system.</a:t>
            </a:r>
            <a:endParaRPr sz="1400"/>
          </a:p>
        </p:txBody>
      </p:sp>
      <p:sp>
        <p:nvSpPr>
          <p:cNvPr id="674" name="Google Shape;674;p8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Repositories</a:t>
            </a:r>
            <a:endParaRPr/>
          </a:p>
        </p:txBody>
      </p:sp>
      <p:sp>
        <p:nvSpPr>
          <p:cNvPr id="675" name="Google Shape;675;p85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Different types of repositories for installation</a:t>
            </a:r>
            <a:endParaRPr/>
          </a:p>
        </p:txBody>
      </p:sp>
      <p:pic>
        <p:nvPicPr>
          <p:cNvPr id="676" name="Google Shape;67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4417" y="4074062"/>
            <a:ext cx="579700" cy="57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85"/>
          <p:cNvPicPr preferRelativeResize="0"/>
          <p:nvPr/>
        </p:nvPicPr>
        <p:blipFill rotWithShape="1">
          <a:blip r:embed="rId4">
            <a:alphaModFix/>
          </a:blip>
          <a:srcRect b="39" l="0" r="0" t="39"/>
          <a:stretch/>
        </p:blipFill>
        <p:spPr>
          <a:xfrm>
            <a:off x="5050979" y="4074062"/>
            <a:ext cx="579701" cy="579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85"/>
          <p:cNvPicPr preferRelativeResize="0"/>
          <p:nvPr/>
        </p:nvPicPr>
        <p:blipFill rotWithShape="1">
          <a:blip r:embed="rId5">
            <a:alphaModFix/>
          </a:blip>
          <a:srcRect b="1171" l="0" r="0" t="1171"/>
          <a:stretch/>
        </p:blipFill>
        <p:spPr>
          <a:xfrm>
            <a:off x="2165479" y="4074062"/>
            <a:ext cx="579702" cy="57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86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Demonstration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86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apt</a:t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685" name="Google Shape;685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100" y="1343674"/>
            <a:ext cx="1468288" cy="94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87"/>
          <p:cNvSpPr txBox="1"/>
          <p:nvPr>
            <p:ph type="title"/>
          </p:nvPr>
        </p:nvSpPr>
        <p:spPr>
          <a:xfrm>
            <a:off x="178650" y="170850"/>
            <a:ext cx="8786700" cy="4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Demo Review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91" name="Google Shape;691;p87"/>
          <p:cNvSpPr txBox="1"/>
          <p:nvPr>
            <p:ph idx="1" type="body"/>
          </p:nvPr>
        </p:nvSpPr>
        <p:spPr>
          <a:xfrm>
            <a:off x="311700" y="763850"/>
            <a:ext cx="8520600" cy="39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Syntax options for </a:t>
            </a:r>
            <a:r>
              <a:rPr b="1" lang="en" sz="14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apt</a:t>
            </a:r>
            <a:endParaRPr b="1" sz="1400">
              <a:solidFill>
                <a:schemeClr val="dk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692" name="Google Shape;692;p87"/>
          <p:cNvGraphicFramePr/>
          <p:nvPr/>
        </p:nvGraphicFramePr>
        <p:xfrm>
          <a:off x="385925" y="1310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{C1FE6F62-90F6-48C1-9890-7DC9EC35CE3A}</a:tableStyleId>
              </a:tblPr>
              <a:tblGrid>
                <a:gridCol w="2945450"/>
                <a:gridCol w="5192050"/>
              </a:tblGrid>
              <a:tr h="57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s</a:t>
                      </a:r>
                      <a:r>
                        <a:rPr lang="en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udo apt update</a:t>
                      </a:r>
                      <a:endParaRPr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Updates the list of available packages and their versions.</a:t>
                      </a:r>
                      <a:endParaRPr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7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sudo apt upgrade</a:t>
                      </a:r>
                      <a:endParaRPr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Installs the newest versions of all packages currently installed.</a:t>
                      </a:r>
                      <a:endParaRPr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7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sudo apt install </a:t>
                      </a:r>
                      <a:r>
                        <a:rPr lang="en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&lt;</a:t>
                      </a:r>
                      <a:r>
                        <a:rPr lang="en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package&gt;</a:t>
                      </a:r>
                      <a:endParaRPr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Installs a specified package.</a:t>
                      </a:r>
                      <a:endParaRPr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7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sudo apt remove &lt;package&gt;</a:t>
                      </a:r>
                      <a:endParaRPr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Removes a specified package.</a:t>
                      </a:r>
                      <a:endParaRPr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7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sudo apt search &lt;package&gt;</a:t>
                      </a:r>
                      <a:endParaRPr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Searches for a package in the repositories.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7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sudo apt install &lt;package&gt; -y</a:t>
                      </a:r>
                      <a:endParaRPr>
                        <a:solidFill>
                          <a:schemeClr val="lt1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Automatically installs package without confirmation.</a:t>
                      </a:r>
                      <a:endParaRPr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88"/>
          <p:cNvSpPr txBox="1"/>
          <p:nvPr>
            <p:ph idx="1" type="body"/>
          </p:nvPr>
        </p:nvSpPr>
        <p:spPr>
          <a:xfrm>
            <a:off x="311700" y="1044400"/>
            <a:ext cx="3702600" cy="3111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While we have been doing everything in the default terminal window, this is not the only option for command line access in Linux.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Terminal has limited functionality with </a:t>
            </a:r>
            <a:r>
              <a:rPr b="1" lang="en" sz="1400"/>
              <a:t>Single Window</a:t>
            </a:r>
            <a:r>
              <a:rPr lang="en" sz="1400"/>
              <a:t> and </a:t>
            </a:r>
            <a:r>
              <a:rPr b="1" lang="en" sz="1400"/>
              <a:t>Basic Features</a:t>
            </a:r>
            <a:r>
              <a:rPr lang="en" sz="1400"/>
              <a:t>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Terminator</a:t>
            </a:r>
            <a:r>
              <a:rPr lang="en" sz="1400"/>
              <a:t> supports more advanced features: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Multiple planes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Tabs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Customization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Broadcasting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Search</a:t>
            </a:r>
            <a:endParaRPr sz="1400"/>
          </a:p>
          <a:p>
            <a:pPr indent="0" lvl="0" marL="9144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400"/>
          </a:p>
        </p:txBody>
      </p:sp>
      <p:cxnSp>
        <p:nvCxnSpPr>
          <p:cNvPr id="698" name="Google Shape;698;p88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99" name="Google Shape;699;p88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2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F</a:t>
            </a:r>
            <a:r>
              <a:rPr lang="en" sz="2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ollow Along</a:t>
            </a:r>
            <a:endParaRPr sz="24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00" name="Google Shape;700;p88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88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702" name="Google Shape;702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800" y="954150"/>
            <a:ext cx="4876799" cy="396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8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r>
              <a:rPr lang="en"/>
              <a:t> Minutes</a:t>
            </a:r>
            <a:endParaRPr/>
          </a:p>
        </p:txBody>
      </p:sp>
      <p:sp>
        <p:nvSpPr>
          <p:cNvPr id="709" name="Google Shape;709;p8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Installing Packages</a:t>
            </a:r>
            <a:endParaRPr/>
          </a:p>
        </p:txBody>
      </p:sp>
      <p:sp>
        <p:nvSpPr>
          <p:cNvPr id="710" name="Google Shape;710;p89"/>
          <p:cNvSpPr txBox="1"/>
          <p:nvPr>
            <p:ph idx="3" type="body"/>
          </p:nvPr>
        </p:nvSpPr>
        <p:spPr>
          <a:xfrm>
            <a:off x="725700" y="1345775"/>
            <a:ext cx="7692600" cy="2804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that we have stopped a malicious service from running and completed a basic audit, we're going to cover some of the miscellaneous utilities that we can install onto our VMs.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emacs</a:t>
            </a:r>
            <a:r>
              <a:rPr lang="en"/>
              <a:t> is a traditional file editor.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cowsay </a:t>
            </a:r>
            <a:r>
              <a:rPr lang="en"/>
              <a:t>is a utility that takes in input and displays a cow repeating it.</a:t>
            </a:r>
            <a:endParaRPr/>
          </a:p>
        </p:txBody>
      </p:sp>
      <p:pic>
        <p:nvPicPr>
          <p:cNvPr id="711" name="Google Shape;711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92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5" name="Google Shape;725;p92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082D49"/>
            </a:solidFill>
            <a:prstDash val="solid"/>
            <a:round/>
            <a:headEnd len="sm" w="sm" type="none"/>
            <a:tailEnd len="med" w="med" type="oval"/>
          </a:ln>
        </p:spPr>
      </p:cxnSp>
      <p:pic>
        <p:nvPicPr>
          <p:cNvPr id="726" name="Google Shape;726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92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728" name="Google Shape;728;p92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Management Basics</a:t>
            </a:r>
            <a:endParaRPr/>
          </a:p>
        </p:txBody>
      </p:sp>
      <p:sp>
        <p:nvSpPr>
          <p:cNvPr id="729" name="Google Shape;729;p92"/>
          <p:cNvSpPr/>
          <p:nvPr/>
        </p:nvSpPr>
        <p:spPr>
          <a:xfrm>
            <a:off x="1287175" y="1371600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92"/>
          <p:cNvSpPr/>
          <p:nvPr/>
        </p:nvSpPr>
        <p:spPr>
          <a:xfrm>
            <a:off x="1287175" y="3428575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92"/>
          <p:cNvSpPr/>
          <p:nvPr/>
        </p:nvSpPr>
        <p:spPr>
          <a:xfrm>
            <a:off x="1287175" y="2746988"/>
            <a:ext cx="7399500" cy="4374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92"/>
          <p:cNvSpPr/>
          <p:nvPr/>
        </p:nvSpPr>
        <p:spPr>
          <a:xfrm>
            <a:off x="1287175" y="2046700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3" name="Google Shape;733;p92"/>
          <p:cNvGrpSpPr/>
          <p:nvPr/>
        </p:nvGrpSpPr>
        <p:grpSpPr>
          <a:xfrm>
            <a:off x="457200" y="1371604"/>
            <a:ext cx="776900" cy="459019"/>
            <a:chOff x="457200" y="1466425"/>
            <a:chExt cx="776900" cy="486300"/>
          </a:xfrm>
        </p:grpSpPr>
        <p:sp>
          <p:nvSpPr>
            <p:cNvPr id="734" name="Google Shape;734;p9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5" name="Google Shape;735;p9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736" name="Google Shape;736;p92"/>
          <p:cNvGrpSpPr/>
          <p:nvPr/>
        </p:nvGrpSpPr>
        <p:grpSpPr>
          <a:xfrm>
            <a:off x="457200" y="2026480"/>
            <a:ext cx="776900" cy="486300"/>
            <a:chOff x="457200" y="1466425"/>
            <a:chExt cx="776900" cy="486300"/>
          </a:xfrm>
        </p:grpSpPr>
        <p:sp>
          <p:nvSpPr>
            <p:cNvPr id="737" name="Google Shape;737;p9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8" name="Google Shape;738;p9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739" name="Google Shape;739;p92"/>
          <p:cNvGrpSpPr/>
          <p:nvPr/>
        </p:nvGrpSpPr>
        <p:grpSpPr>
          <a:xfrm>
            <a:off x="457200" y="2743336"/>
            <a:ext cx="776900" cy="437378"/>
            <a:chOff x="457200" y="1466425"/>
            <a:chExt cx="776900" cy="486300"/>
          </a:xfrm>
        </p:grpSpPr>
        <p:sp>
          <p:nvSpPr>
            <p:cNvPr id="740" name="Google Shape;740;p9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1" name="Google Shape;741;p9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742" name="Google Shape;742;p92"/>
          <p:cNvGrpSpPr/>
          <p:nvPr/>
        </p:nvGrpSpPr>
        <p:grpSpPr>
          <a:xfrm>
            <a:off x="457200" y="3426804"/>
            <a:ext cx="776900" cy="459019"/>
            <a:chOff x="457200" y="1466425"/>
            <a:chExt cx="776900" cy="486300"/>
          </a:xfrm>
        </p:grpSpPr>
        <p:sp>
          <p:nvSpPr>
            <p:cNvPr id="743" name="Google Shape;743;p9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4" name="Google Shape;744;p9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745" name="Google Shape;745;p92"/>
          <p:cNvSpPr txBox="1"/>
          <p:nvPr/>
        </p:nvSpPr>
        <p:spPr>
          <a:xfrm>
            <a:off x="1287250" y="1392975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Managed processes with the </a:t>
            </a: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top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ps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kill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commands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92"/>
          <p:cNvSpPr txBox="1"/>
          <p:nvPr/>
        </p:nvSpPr>
        <p:spPr>
          <a:xfrm>
            <a:off x="1287250" y="2068150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Explored concepts of RAM and CPU components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7" name="Google Shape;747;p92"/>
          <p:cNvSpPr txBox="1"/>
          <p:nvPr/>
        </p:nvSpPr>
        <p:spPr>
          <a:xfrm>
            <a:off x="1287250" y="2751975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Installed packages using </a:t>
            </a: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apt</a:t>
            </a:r>
            <a:endParaRPr b="1" sz="1800">
              <a:solidFill>
                <a:srgbClr val="082D49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48" name="Google Shape;748;p92"/>
          <p:cNvSpPr txBox="1"/>
          <p:nvPr/>
        </p:nvSpPr>
        <p:spPr>
          <a:xfrm>
            <a:off x="1287250" y="3433675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5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Worked with </a:t>
            </a:r>
            <a:r>
              <a:rPr b="1" lang="en" sz="185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terminator</a:t>
            </a:r>
            <a:r>
              <a:rPr lang="en" sz="185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, utilizing more advanced options</a:t>
            </a:r>
            <a:endParaRPr sz="185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93"/>
          <p:cNvSpPr txBox="1"/>
          <p:nvPr>
            <p:ph idx="1" type="subTitle"/>
          </p:nvPr>
        </p:nvSpPr>
        <p:spPr>
          <a:xfrm>
            <a:off x="41700" y="3746925"/>
            <a:ext cx="9102300" cy="900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Audit passwords, elevate privileges, and user/group management</a:t>
            </a:r>
            <a:endParaRPr baseline="-25000"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