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5143500" cx="9144000"/>
  <p:notesSz cx="6858000" cy="9144000"/>
  <p:embeddedFontLst>
    <p:embeddedFont>
      <p:font typeface="Roboto"/>
      <p:regular r:id="rId57"/>
      <p:bold r:id="rId58"/>
      <p:italic r:id="rId59"/>
      <p:boldItalic r:id="rId60"/>
    </p:embeddedFont>
    <p:embeddedFont>
      <p:font typeface="Roboto Medium"/>
      <p:regular r:id="rId61"/>
      <p:bold r:id="rId62"/>
      <p:italic r:id="rId63"/>
      <p:boldItalic r:id="rId64"/>
    </p:embeddedFont>
    <p:embeddedFont>
      <p:font typeface="Inconsolata"/>
      <p:regular r:id="rId65"/>
      <p:bold r:id="rId66"/>
    </p:embeddedFont>
    <p:embeddedFont>
      <p:font typeface="Roboto Light"/>
      <p:regular r:id="rId67"/>
      <p:bold r:id="rId68"/>
      <p:italic r:id="rId69"/>
      <p:boldItalic r:id="rId70"/>
    </p:embeddedFont>
    <p:embeddedFont>
      <p:font typeface="Inconsolata Medium"/>
      <p:regular r:id="rId71"/>
      <p:bold r:id="rId72"/>
    </p:embeddedFont>
    <p:embeddedFont>
      <p:font typeface="Inconsolata Light"/>
      <p:regular r:id="rId73"/>
      <p:bold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9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B0C505-A1F2-40F6-9898-FC90E366573C}">
  <a:tblStyle styleId="{8DB0C505-A1F2-40F6-9898-FC90E366573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9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consolataLight-regular.fntdata"/><Relationship Id="rId72" Type="http://schemas.openxmlformats.org/officeDocument/2006/relationships/font" Target="fonts/InconsolataMedium-bold.fntdata"/><Relationship Id="rId31" Type="http://schemas.openxmlformats.org/officeDocument/2006/relationships/slide" Target="slides/slide25.xml"/><Relationship Id="rId30" Type="http://schemas.openxmlformats.org/officeDocument/2006/relationships/slide" Target="slides/slide24.xml"/><Relationship Id="rId74" Type="http://schemas.openxmlformats.org/officeDocument/2006/relationships/font" Target="fonts/InconsolataLight-bold.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InconsolataMedium-regular.fntdata"/><Relationship Id="rId70" Type="http://schemas.openxmlformats.org/officeDocument/2006/relationships/font" Target="fonts/RobotoLigh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bold.fntdata"/><Relationship Id="rId61" Type="http://schemas.openxmlformats.org/officeDocument/2006/relationships/font" Target="fonts/RobotoMedium-regular.fntdata"/><Relationship Id="rId20" Type="http://schemas.openxmlformats.org/officeDocument/2006/relationships/slide" Target="slides/slide14.xml"/><Relationship Id="rId64" Type="http://schemas.openxmlformats.org/officeDocument/2006/relationships/font" Target="fonts/RobotoMedium-boldItalic.fntdata"/><Relationship Id="rId63" Type="http://schemas.openxmlformats.org/officeDocument/2006/relationships/font" Target="fonts/RobotoMedium-italic.fntdata"/><Relationship Id="rId22" Type="http://schemas.openxmlformats.org/officeDocument/2006/relationships/slide" Target="slides/slide16.xml"/><Relationship Id="rId66" Type="http://schemas.openxmlformats.org/officeDocument/2006/relationships/font" Target="fonts/Inconsolata-bold.fntdata"/><Relationship Id="rId21" Type="http://schemas.openxmlformats.org/officeDocument/2006/relationships/slide" Target="slides/slide15.xml"/><Relationship Id="rId65" Type="http://schemas.openxmlformats.org/officeDocument/2006/relationships/font" Target="fonts/Inconsolata-regular.fntdata"/><Relationship Id="rId24" Type="http://schemas.openxmlformats.org/officeDocument/2006/relationships/slide" Target="slides/slide18.xml"/><Relationship Id="rId68" Type="http://schemas.openxmlformats.org/officeDocument/2006/relationships/font" Target="fonts/RobotoLight-bold.fntdata"/><Relationship Id="rId23" Type="http://schemas.openxmlformats.org/officeDocument/2006/relationships/slide" Target="slides/slide17.xml"/><Relationship Id="rId67" Type="http://schemas.openxmlformats.org/officeDocument/2006/relationships/font" Target="fonts/RobotoLight-regular.fntdata"/><Relationship Id="rId60" Type="http://schemas.openxmlformats.org/officeDocument/2006/relationships/font" Target="fonts/Roboto-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Light-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italic.fntdata"/><Relationship Id="rId14" Type="http://schemas.openxmlformats.org/officeDocument/2006/relationships/slide" Target="slides/slide8.xml"/><Relationship Id="rId58" Type="http://schemas.openxmlformats.org/officeDocument/2006/relationships/font" Target="fonts/Roboto-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c649b31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g2ec649b311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f0931718ce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g2f0931718ce_0_1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f0931718ce_0_1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g2f0931718ce_0_19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ec649b311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ec649b311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f0931718ce_0_2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2f0931718ce_0_2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f0931718ce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2f0931718ce_0_29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f0931718ce_0_2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f0931718ce_0_2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f0931718ce_0_29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f0931718ce_0_29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f0931718ce_0_2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2f0931718ce_0_2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f0931718ce_0_2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f0931718ce_0_2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f0931718ce_0_2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2f0931718ce_0_2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f0931718ce_0_3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2f0931718ce_0_3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f0931718ce_0_4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2f0931718ce_0_40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shutterstock_1775204195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f0931718ce_0_50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6" name="Google Shape;546;g2f0931718ce_0_50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7fb10d3ce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g27fb10d3ce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7fb10d3ce7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7fb10d3ce7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7fb10d3ce7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7fb10d3ce7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7fb10d3ce7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27fb10d3ce7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27fb10d3ce7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27fb10d3ce7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7fb10d3ce7_0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7fb10d3ce7_0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7fb10d3ce7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7fb10d3ce7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7fb10d3ce7_0_1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27fb10d3ce7_0_1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7fb10d3ce7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7fb10d3ce7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7fb10d3ce7_0_2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7fb10d3ce7_0_2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27fb10d3ce7_0_2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g27fb10d3ce7_0_2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27fb10d3ce7_0_2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27fb10d3ce7_0_2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7fb10d3ce7_0_7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7fb10d3ce7_0_7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2f10a893283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2f10a893283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27fb10d3ce7_0_29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27fb10d3ce7_0_2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27fb10d3ce7_0_2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27fb10d3ce7_0_2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27fb10d3ce7_0_2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27fb10d3ce7_0_2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7fb10d3ce7_0_2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7fb10d3ce7_0_2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7fb10d3ce7_0_2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7fb10d3ce7_0_2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27fb10d3ce7_0_2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27fb10d3ce7_0_2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shutterstock_1849976488</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7fb10d3ce7_0_4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7fb10d3ce7_0_4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7fb10d3ce7_0_4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27fb10d3ce7_0_4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f10a8932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f10a8932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f10a893283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2f10a893283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2f10a893283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2f10a893283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f10a893283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f10a893283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27fb10d3ce7_0_6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27fb10d3ce7_0_6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27fb10d3ce7_0_7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 name="Google Shape;890;g27fb10d3ce7_0_7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ec649b3119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ec649b3119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2ec649b3119_0_7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2ec649b3119_0_7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ec649b3119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ec649b3119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2f042419d73_0_10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g2f042419d73_0_100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0" name="Google Shape;940;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3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4 ">
  <p:cSld name="CUSTOM_21_1_1">
    <p:spTree>
      <p:nvGrpSpPr>
        <p:cNvPr id="350" name="Shape 350"/>
        <p:cNvGrpSpPr/>
        <p:nvPr/>
      </p:nvGrpSpPr>
      <p:grpSpPr>
        <a:xfrm>
          <a:off x="0" y="0"/>
          <a:ext cx="0" cy="0"/>
          <a:chOff x="0" y="0"/>
          <a:chExt cx="0" cy="0"/>
        </a:xfrm>
      </p:grpSpPr>
      <p:cxnSp>
        <p:nvCxnSpPr>
          <p:cNvPr id="351" name="Google Shape;351;p52"/>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352" name="Google Shape;352;p52"/>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2"/>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2"/>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2"/>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2"/>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57" name="Google Shape;357;p52"/>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58" name="Google Shape;358;p52"/>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59" name="Google Shape;359;p52"/>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360" name="Google Shape;360;p52"/>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1" name="Google Shape;361;p52"/>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2" name="Google Shape;362;p52"/>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3" name="Google Shape;363;p52"/>
          <p:cNvSpPr txBox="1"/>
          <p:nvPr>
            <p:ph idx="4" type="subTitle"/>
          </p:nvPr>
        </p:nvSpPr>
        <p:spPr>
          <a:xfrm>
            <a:off x="1224625" y="306352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4" name="Google Shape;364;p52"/>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52"/>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6" name="Google Shape;366;p52"/>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7" name="Google Shape;367;p52"/>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68" name="Shape 368"/>
        <p:cNvGrpSpPr/>
        <p:nvPr/>
      </p:nvGrpSpPr>
      <p:grpSpPr>
        <a:xfrm>
          <a:off x="0" y="0"/>
          <a:ext cx="0" cy="0"/>
          <a:chOff x="0" y="0"/>
          <a:chExt cx="0" cy="0"/>
        </a:xfrm>
      </p:grpSpPr>
      <p:pic>
        <p:nvPicPr>
          <p:cNvPr id="369" name="Google Shape;369;p5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70" name="Google Shape;370;p53"/>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71" name="Google Shape;371;p53"/>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3"/>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4" name="Shape 374"/>
        <p:cNvGrpSpPr/>
        <p:nvPr/>
      </p:nvGrpSpPr>
      <p:grpSpPr>
        <a:xfrm>
          <a:off x="0" y="0"/>
          <a:ext cx="0" cy="0"/>
          <a:chOff x="0" y="0"/>
          <a:chExt cx="0" cy="0"/>
        </a:xfrm>
      </p:grpSpPr>
      <p:sp>
        <p:nvSpPr>
          <p:cNvPr id="375" name="Google Shape;375;p54"/>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4"/>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77" name="Google Shape;377;p54"/>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8" name="Google Shape;378;p54"/>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4"/>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80" name="Google Shape;380;p54"/>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81" name="Google Shape;381;p54"/>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4"/>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83" name="Google Shape;383;p54"/>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384" name="Google Shape;384;p54"/>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385" name="Google Shape;385;p54"/>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386" name="Google Shape;386;p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5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5">
  <p:cSld name="CUSTOM_11_1_2">
    <p:spTree>
      <p:nvGrpSpPr>
        <p:cNvPr id="388" name="Shape 388"/>
        <p:cNvGrpSpPr/>
        <p:nvPr/>
      </p:nvGrpSpPr>
      <p:grpSpPr>
        <a:xfrm>
          <a:off x="0" y="0"/>
          <a:ext cx="0" cy="0"/>
          <a:chOff x="0" y="0"/>
          <a:chExt cx="0" cy="0"/>
        </a:xfrm>
      </p:grpSpPr>
      <p:sp>
        <p:nvSpPr>
          <p:cNvPr id="389" name="Google Shape;389;p55"/>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5"/>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5"/>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5"/>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5"/>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5"/>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95" name="Google Shape;395;p55"/>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96" name="Google Shape;396;p55"/>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97" name="Google Shape;397;p55"/>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398" name="Google Shape;398;p55"/>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399" name="Google Shape;399;p55"/>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0" name="Google Shape;400;p55"/>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1" name="Google Shape;401;p55"/>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2" name="Google Shape;402;p55"/>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3" name="Google Shape;403;p55"/>
          <p:cNvSpPr txBox="1"/>
          <p:nvPr>
            <p:ph idx="5" type="subTitle"/>
          </p:nvPr>
        </p:nvSpPr>
        <p:spPr>
          <a:xfrm>
            <a:off x="1354400" y="370562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4" name="Google Shape;404;p5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5" name="Google Shape;405;p55"/>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theme" Target="../theme/theme2.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3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51.png"/><Relationship Id="rId5" Type="http://schemas.openxmlformats.org/officeDocument/2006/relationships/image" Target="../media/image32.png"/><Relationship Id="rId6"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hyperlink" Target="https://www.security.org/how-secure-is-my-password/" TargetMode="External"/><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5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7.png"/><Relationship Id="rId4" Type="http://schemas.openxmlformats.org/officeDocument/2006/relationships/image" Target="../media/image39.png"/><Relationship Id="rId5" Type="http://schemas.openxmlformats.org/officeDocument/2006/relationships/image" Target="../media/image41.png"/><Relationship Id="rId6"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 Id="rId3" Type="http://schemas.openxmlformats.org/officeDocument/2006/relationships/image" Target="../media/image5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5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6.xml"/><Relationship Id="rId3" Type="http://schemas.openxmlformats.org/officeDocument/2006/relationships/image" Target="../media/image6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9.xml"/><Relationship Id="rId3" Type="http://schemas.openxmlformats.org/officeDocument/2006/relationships/image" Target="../media/image20.png"/><Relationship Id="rId4" Type="http://schemas.openxmlformats.org/officeDocument/2006/relationships/image" Target="../media/image54.png"/><Relationship Id="rId5" Type="http://schemas.openxmlformats.org/officeDocument/2006/relationships/image" Target="../media/image56.png"/><Relationship Id="rId6" Type="http://schemas.openxmlformats.org/officeDocument/2006/relationships/image" Target="../media/image5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image" Target="../media/image56.png"/><Relationship Id="rId5" Type="http://schemas.openxmlformats.org/officeDocument/2006/relationships/image" Target="../media/image64.png"/><Relationship Id="rId6" Type="http://schemas.openxmlformats.org/officeDocument/2006/relationships/image" Target="../media/image60.png"/><Relationship Id="rId7" Type="http://schemas.openxmlformats.org/officeDocument/2006/relationships/image" Target="../media/image63.png"/><Relationship Id="rId8" Type="http://schemas.openxmlformats.org/officeDocument/2006/relationships/image" Target="../media/image5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56.png"/><Relationship Id="rId9" Type="http://schemas.openxmlformats.org/officeDocument/2006/relationships/image" Target="../media/image55.png"/><Relationship Id="rId5" Type="http://schemas.openxmlformats.org/officeDocument/2006/relationships/image" Target="../media/image64.png"/><Relationship Id="rId6" Type="http://schemas.openxmlformats.org/officeDocument/2006/relationships/image" Target="../media/image60.png"/><Relationship Id="rId7" Type="http://schemas.openxmlformats.org/officeDocument/2006/relationships/image" Target="../media/image63.png"/><Relationship Id="rId8"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2.xml"/><Relationship Id="rId3" Type="http://schemas.openxmlformats.org/officeDocument/2006/relationships/image" Target="../media/image20.png"/><Relationship Id="rId4" Type="http://schemas.openxmlformats.org/officeDocument/2006/relationships/image" Target="../media/image55.png"/><Relationship Id="rId5" Type="http://schemas.openxmlformats.org/officeDocument/2006/relationships/image" Target="../media/image54.png"/><Relationship Id="rId6" Type="http://schemas.openxmlformats.org/officeDocument/2006/relationships/image" Target="../media/image62.png"/><Relationship Id="rId7" Type="http://schemas.openxmlformats.org/officeDocument/2006/relationships/image" Target="../media/image6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3.xml"/><Relationship Id="rId3" Type="http://schemas.openxmlformats.org/officeDocument/2006/relationships/image" Target="../media/image54.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Linux Access Controls</a:t>
            </a:r>
            <a:endParaRPr/>
          </a:p>
        </p:txBody>
      </p:sp>
      <p:sp>
        <p:nvSpPr>
          <p:cNvPr id="411" name="Google Shape;411;p56"/>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412" name="Google Shape;412;p56"/>
          <p:cNvSpPr txBox="1"/>
          <p:nvPr>
            <p:ph idx="2" type="subTitle"/>
          </p:nvPr>
        </p:nvSpPr>
        <p:spPr>
          <a:xfrm>
            <a:off x="4570700" y="36892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4.2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57"/>
          <p:cNvPicPr preferRelativeResize="0"/>
          <p:nvPr/>
        </p:nvPicPr>
        <p:blipFill rotWithShape="1">
          <a:blip r:embed="rId3">
            <a:alphaModFix/>
          </a:blip>
          <a:srcRect b="0" l="0" r="0" t="0"/>
          <a:stretch/>
        </p:blipFill>
        <p:spPr>
          <a:xfrm>
            <a:off x="208763" y="235363"/>
            <a:ext cx="496875" cy="496875"/>
          </a:xfrm>
          <a:prstGeom prst="rect">
            <a:avLst/>
          </a:prstGeom>
          <a:noFill/>
          <a:ln>
            <a:noFill/>
          </a:ln>
        </p:spPr>
      </p:pic>
      <p:sp>
        <p:nvSpPr>
          <p:cNvPr id="418" name="Google Shape;418;p57"/>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57"/>
          <p:cNvSpPr/>
          <p:nvPr/>
        </p:nvSpPr>
        <p:spPr>
          <a:xfrm>
            <a:off x="607675" y="23614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57"/>
          <p:cNvSpPr/>
          <p:nvPr/>
        </p:nvSpPr>
        <p:spPr>
          <a:xfrm>
            <a:off x="607675" y="17517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57"/>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422" name="Google Shape;422;p57"/>
          <p:cNvSpPr/>
          <p:nvPr/>
        </p:nvSpPr>
        <p:spPr>
          <a:xfrm>
            <a:off x="457200" y="17518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423" name="Google Shape;423;p57"/>
          <p:cNvSpPr/>
          <p:nvPr/>
        </p:nvSpPr>
        <p:spPr>
          <a:xfrm>
            <a:off x="457200" y="23615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424" name="Google Shape;424;p5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800"/>
              <a:buNone/>
            </a:pPr>
            <a:r>
              <a:rPr lang="en"/>
              <a:t>By the end of today’s class, you will be able to:</a:t>
            </a:r>
            <a:endParaRPr/>
          </a:p>
          <a:p>
            <a:pPr indent="0" lvl="0" marL="0" rtl="0" algn="l">
              <a:lnSpc>
                <a:spcPct val="115000"/>
              </a:lnSpc>
              <a:spcBef>
                <a:spcPts val="1200"/>
              </a:spcBef>
              <a:spcAft>
                <a:spcPts val="1200"/>
              </a:spcAft>
              <a:buSzPts val="1800"/>
              <a:buNone/>
            </a:pPr>
            <a:r>
              <a:t/>
            </a:r>
            <a:endParaRPr/>
          </a:p>
        </p:txBody>
      </p:sp>
      <p:sp>
        <p:nvSpPr>
          <p:cNvPr id="425" name="Google Shape;425;p57"/>
          <p:cNvSpPr txBox="1"/>
          <p:nvPr>
            <p:ph idx="4294967295" type="body"/>
          </p:nvPr>
        </p:nvSpPr>
        <p:spPr>
          <a:xfrm>
            <a:off x="914400" y="1189475"/>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Audit passwords using </a:t>
            </a:r>
            <a:r>
              <a:rPr b="1" lang="en" sz="1700"/>
              <a:t>john</a:t>
            </a:r>
            <a:r>
              <a:rPr lang="en" sz="1700"/>
              <a:t>.</a:t>
            </a:r>
            <a:endParaRPr sz="1700"/>
          </a:p>
        </p:txBody>
      </p:sp>
      <p:sp>
        <p:nvSpPr>
          <p:cNvPr id="426" name="Google Shape;426;p57"/>
          <p:cNvSpPr txBox="1"/>
          <p:nvPr>
            <p:ph idx="4294967295" type="body"/>
          </p:nvPr>
        </p:nvSpPr>
        <p:spPr>
          <a:xfrm>
            <a:off x="914400" y="1798812"/>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Elevate privileges with </a:t>
            </a:r>
            <a:r>
              <a:rPr b="1" lang="en" sz="1700"/>
              <a:t>sudo</a:t>
            </a:r>
            <a:r>
              <a:rPr lang="en" sz="1700"/>
              <a:t> and </a:t>
            </a:r>
            <a:r>
              <a:rPr b="1" lang="en" sz="1700"/>
              <a:t>su</a:t>
            </a:r>
            <a:r>
              <a:rPr lang="en" sz="1700"/>
              <a:t>. </a:t>
            </a:r>
            <a:endParaRPr sz="1700"/>
          </a:p>
        </p:txBody>
      </p:sp>
      <p:sp>
        <p:nvSpPr>
          <p:cNvPr id="427" name="Google Shape;427;p57"/>
          <p:cNvSpPr txBox="1"/>
          <p:nvPr>
            <p:ph idx="4294967295" type="body"/>
          </p:nvPr>
        </p:nvSpPr>
        <p:spPr>
          <a:xfrm>
            <a:off x="914400" y="2408148"/>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t>Create and manage users and groups.</a:t>
            </a:r>
            <a:endParaRPr sz="1700"/>
          </a:p>
        </p:txBody>
      </p:sp>
      <p:sp>
        <p:nvSpPr>
          <p:cNvPr id="428" name="Google Shape;428;p57"/>
          <p:cNvSpPr/>
          <p:nvPr/>
        </p:nvSpPr>
        <p:spPr>
          <a:xfrm>
            <a:off x="607675" y="29712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57"/>
          <p:cNvSpPr/>
          <p:nvPr/>
        </p:nvSpPr>
        <p:spPr>
          <a:xfrm>
            <a:off x="457200" y="2971250"/>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1800">
                <a:solidFill>
                  <a:srgbClr val="082D49"/>
                </a:solidFill>
              </a:rPr>
              <a:t>4</a:t>
            </a:r>
            <a:endParaRPr b="0" i="0" sz="1800" u="none" cap="none" strike="noStrike">
              <a:solidFill>
                <a:srgbClr val="082D49"/>
              </a:solidFill>
              <a:latin typeface="Arial"/>
              <a:ea typeface="Arial"/>
              <a:cs typeface="Arial"/>
              <a:sym typeface="Arial"/>
            </a:endParaRPr>
          </a:p>
        </p:txBody>
      </p:sp>
      <p:sp>
        <p:nvSpPr>
          <p:cNvPr id="430" name="Google Shape;430;p57"/>
          <p:cNvSpPr txBox="1"/>
          <p:nvPr>
            <p:ph idx="4294967295" type="body"/>
          </p:nvPr>
        </p:nvSpPr>
        <p:spPr>
          <a:xfrm>
            <a:off x="914400" y="3017873"/>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Inspect and set file permissions for sensitive files on the system. </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0" name="Google Shape;440;p59"/>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441" name="Google Shape;441;p59"/>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442" name="Google Shape;442;p59"/>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443" name="Google Shape;443;p59"/>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Linux and Command Line</a:t>
            </a:r>
            <a:endParaRPr/>
          </a:p>
        </p:txBody>
      </p:sp>
      <p:sp>
        <p:nvSpPr>
          <p:cNvPr id="444" name="Google Shape;444;p59"/>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9"/>
          <p:cNvSpPr/>
          <p:nvPr/>
        </p:nvSpPr>
        <p:spPr>
          <a:xfrm>
            <a:off x="1287175" y="34285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9"/>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9"/>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8" name="Google Shape;448;p59"/>
          <p:cNvGrpSpPr/>
          <p:nvPr/>
        </p:nvGrpSpPr>
        <p:grpSpPr>
          <a:xfrm>
            <a:off x="457200" y="1371604"/>
            <a:ext cx="776900" cy="459019"/>
            <a:chOff x="457200" y="1466425"/>
            <a:chExt cx="776900" cy="486300"/>
          </a:xfrm>
        </p:grpSpPr>
        <p:sp>
          <p:nvSpPr>
            <p:cNvPr id="449" name="Google Shape;449;p5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450" name="Google Shape;450;p5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1" name="Google Shape;451;p59"/>
          <p:cNvGrpSpPr/>
          <p:nvPr/>
        </p:nvGrpSpPr>
        <p:grpSpPr>
          <a:xfrm>
            <a:off x="457200" y="2026480"/>
            <a:ext cx="776900" cy="486300"/>
            <a:chOff x="457200" y="1466425"/>
            <a:chExt cx="776900" cy="486300"/>
          </a:xfrm>
        </p:grpSpPr>
        <p:sp>
          <p:nvSpPr>
            <p:cNvPr id="452" name="Google Shape;452;p5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453" name="Google Shape;453;p5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4" name="Google Shape;454;p59"/>
          <p:cNvGrpSpPr/>
          <p:nvPr/>
        </p:nvGrpSpPr>
        <p:grpSpPr>
          <a:xfrm>
            <a:off x="457200" y="2743336"/>
            <a:ext cx="776900" cy="437378"/>
            <a:chOff x="457200" y="1466425"/>
            <a:chExt cx="776900" cy="486300"/>
          </a:xfrm>
        </p:grpSpPr>
        <p:sp>
          <p:nvSpPr>
            <p:cNvPr id="455" name="Google Shape;455;p5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456" name="Google Shape;456;p5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7" name="Google Shape;457;p59"/>
          <p:cNvGrpSpPr/>
          <p:nvPr/>
        </p:nvGrpSpPr>
        <p:grpSpPr>
          <a:xfrm>
            <a:off x="457200" y="3426804"/>
            <a:ext cx="776900" cy="459019"/>
            <a:chOff x="457200" y="1466425"/>
            <a:chExt cx="776900" cy="486300"/>
          </a:xfrm>
        </p:grpSpPr>
        <p:sp>
          <p:nvSpPr>
            <p:cNvPr id="458" name="Google Shape;458;p5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459" name="Google Shape;459;p5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460" name="Google Shape;460;p59"/>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Linux history and </a:t>
            </a:r>
            <a:r>
              <a:rPr lang="en" sz="1800">
                <a:solidFill>
                  <a:srgbClr val="082D49"/>
                </a:solidFill>
                <a:latin typeface="Roboto"/>
                <a:ea typeface="Roboto"/>
                <a:cs typeface="Roboto"/>
                <a:sym typeface="Roboto"/>
              </a:rPr>
              <a:t>distributions</a:t>
            </a:r>
            <a:endParaRPr sz="1800">
              <a:solidFill>
                <a:srgbClr val="082D49"/>
              </a:solidFill>
              <a:latin typeface="Roboto"/>
              <a:ea typeface="Roboto"/>
              <a:cs typeface="Roboto"/>
              <a:sym typeface="Roboto"/>
            </a:endParaRPr>
          </a:p>
        </p:txBody>
      </p:sp>
      <p:sp>
        <p:nvSpPr>
          <p:cNvPr id="461" name="Google Shape;461;p59"/>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Navigating file structure with command line</a:t>
            </a:r>
            <a:endParaRPr sz="1800">
              <a:solidFill>
                <a:srgbClr val="082D49"/>
              </a:solidFill>
              <a:latin typeface="Roboto"/>
              <a:ea typeface="Roboto"/>
              <a:cs typeface="Roboto"/>
              <a:sym typeface="Roboto"/>
            </a:endParaRPr>
          </a:p>
        </p:txBody>
      </p:sp>
      <p:sp>
        <p:nvSpPr>
          <p:cNvPr id="462" name="Google Shape;462;p59"/>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Managing processes with </a:t>
            </a:r>
            <a:r>
              <a:rPr b="1" lang="en" sz="1800">
                <a:solidFill>
                  <a:srgbClr val="082D49"/>
                </a:solidFill>
                <a:latin typeface="Inconsolata"/>
                <a:ea typeface="Inconsolata"/>
                <a:cs typeface="Inconsolata"/>
                <a:sym typeface="Inconsolata"/>
              </a:rPr>
              <a:t>top</a:t>
            </a:r>
            <a:r>
              <a:rPr lang="en" sz="1800">
                <a:solidFill>
                  <a:srgbClr val="082D49"/>
                </a:solidFill>
                <a:latin typeface="Roboto"/>
                <a:ea typeface="Roboto"/>
                <a:cs typeface="Roboto"/>
                <a:sym typeface="Roboto"/>
              </a:rPr>
              <a:t>, </a:t>
            </a:r>
            <a:r>
              <a:rPr b="1" lang="en" sz="1800">
                <a:solidFill>
                  <a:srgbClr val="082D49"/>
                </a:solidFill>
                <a:latin typeface="Inconsolata"/>
                <a:ea typeface="Inconsolata"/>
                <a:cs typeface="Inconsolata"/>
                <a:sym typeface="Inconsolata"/>
              </a:rPr>
              <a:t>ps</a:t>
            </a:r>
            <a:r>
              <a:rPr lang="en" sz="1800">
                <a:solidFill>
                  <a:srgbClr val="082D49"/>
                </a:solidFill>
                <a:latin typeface="Roboto"/>
                <a:ea typeface="Roboto"/>
                <a:cs typeface="Roboto"/>
                <a:sym typeface="Roboto"/>
              </a:rPr>
              <a:t>, and</a:t>
            </a:r>
            <a:r>
              <a:rPr b="1" lang="en" sz="1800">
                <a:solidFill>
                  <a:srgbClr val="082D49"/>
                </a:solidFill>
                <a:latin typeface="Inconsolata"/>
                <a:ea typeface="Inconsolata"/>
                <a:cs typeface="Inconsolata"/>
                <a:sym typeface="Inconsolata"/>
              </a:rPr>
              <a:t> kill</a:t>
            </a:r>
            <a:endParaRPr b="1" sz="1800">
              <a:solidFill>
                <a:srgbClr val="082D49"/>
              </a:solidFill>
              <a:latin typeface="Inconsolata"/>
              <a:ea typeface="Inconsolata"/>
              <a:cs typeface="Inconsolata"/>
              <a:sym typeface="Inconsolata"/>
            </a:endParaRPr>
          </a:p>
        </p:txBody>
      </p:sp>
      <p:sp>
        <p:nvSpPr>
          <p:cNvPr id="463" name="Google Shape;463;p59"/>
          <p:cNvSpPr txBox="1"/>
          <p:nvPr/>
        </p:nvSpPr>
        <p:spPr>
          <a:xfrm>
            <a:off x="1287250" y="34336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rgbClr val="082D49"/>
                </a:solidFill>
                <a:latin typeface="Roboto"/>
                <a:ea typeface="Roboto"/>
                <a:cs typeface="Roboto"/>
                <a:sym typeface="Roboto"/>
              </a:rPr>
              <a:t>Installing packages with </a:t>
            </a:r>
            <a:r>
              <a:rPr b="1" lang="en" sz="1850">
                <a:solidFill>
                  <a:srgbClr val="082D49"/>
                </a:solidFill>
                <a:latin typeface="Inconsolata"/>
                <a:ea typeface="Inconsolata"/>
                <a:cs typeface="Inconsolata"/>
                <a:sym typeface="Inconsolata"/>
              </a:rPr>
              <a:t>apt</a:t>
            </a:r>
            <a:endParaRPr b="1" sz="1850">
              <a:solidFill>
                <a:srgbClr val="082D49"/>
              </a:solidFill>
              <a:latin typeface="Inconsolata"/>
              <a:ea typeface="Inconsolata"/>
              <a:cs typeface="Inconsolata"/>
              <a:sym typeface="Inconsolat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0"/>
          <p:cNvSpPr txBox="1"/>
          <p:nvPr/>
        </p:nvSpPr>
        <p:spPr>
          <a:xfrm>
            <a:off x="1581625" y="1039700"/>
            <a:ext cx="5981700" cy="313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 sz="3400">
                <a:solidFill>
                  <a:schemeClr val="dk2"/>
                </a:solidFill>
                <a:latin typeface="Roboto"/>
                <a:ea typeface="Roboto"/>
                <a:cs typeface="Roboto"/>
                <a:sym typeface="Roboto"/>
              </a:rPr>
              <a:t>Access controls</a:t>
            </a:r>
            <a:r>
              <a:rPr lang="en" sz="3400">
                <a:solidFill>
                  <a:schemeClr val="dk2"/>
                </a:solidFill>
                <a:latin typeface="Roboto"/>
                <a:ea typeface="Roboto"/>
                <a:cs typeface="Roboto"/>
                <a:sym typeface="Roboto"/>
              </a:rPr>
              <a:t> refer to regulating </a:t>
            </a:r>
            <a:r>
              <a:rPr lang="en" sz="3400">
                <a:solidFill>
                  <a:schemeClr val="dk2"/>
                </a:solidFill>
                <a:latin typeface="Roboto"/>
                <a:ea typeface="Roboto"/>
                <a:cs typeface="Roboto"/>
                <a:sym typeface="Roboto"/>
              </a:rPr>
              <a:t>what</a:t>
            </a:r>
            <a:r>
              <a:rPr lang="en" sz="3400">
                <a:solidFill>
                  <a:schemeClr val="dk2"/>
                </a:solidFill>
                <a:latin typeface="Roboto"/>
                <a:ea typeface="Roboto"/>
                <a:cs typeface="Roboto"/>
                <a:sym typeface="Roboto"/>
              </a:rPr>
              <a:t> actions </a:t>
            </a:r>
            <a:br>
              <a:rPr lang="en" sz="3400">
                <a:solidFill>
                  <a:schemeClr val="dk2"/>
                </a:solidFill>
                <a:latin typeface="Roboto"/>
                <a:ea typeface="Roboto"/>
                <a:cs typeface="Roboto"/>
                <a:sym typeface="Roboto"/>
              </a:rPr>
            </a:br>
            <a:r>
              <a:rPr lang="en" sz="3400">
                <a:solidFill>
                  <a:schemeClr val="dk2"/>
                </a:solidFill>
                <a:latin typeface="Roboto"/>
                <a:ea typeface="Roboto"/>
                <a:cs typeface="Roboto"/>
                <a:sym typeface="Roboto"/>
              </a:rPr>
              <a:t>users and programs are </a:t>
            </a:r>
            <a:br>
              <a:rPr lang="en" sz="3400">
                <a:solidFill>
                  <a:schemeClr val="dk2"/>
                </a:solidFill>
                <a:latin typeface="Roboto"/>
                <a:ea typeface="Roboto"/>
                <a:cs typeface="Roboto"/>
                <a:sym typeface="Roboto"/>
              </a:rPr>
            </a:br>
            <a:r>
              <a:rPr lang="en" sz="3400">
                <a:solidFill>
                  <a:schemeClr val="dk2"/>
                </a:solidFill>
                <a:latin typeface="Roboto"/>
                <a:ea typeface="Roboto"/>
                <a:cs typeface="Roboto"/>
                <a:sym typeface="Roboto"/>
              </a:rPr>
              <a:t>and are not allowed to take </a:t>
            </a:r>
            <a:br>
              <a:rPr lang="en" sz="3400">
                <a:solidFill>
                  <a:schemeClr val="dk2"/>
                </a:solidFill>
                <a:latin typeface="Roboto"/>
                <a:ea typeface="Roboto"/>
                <a:cs typeface="Roboto"/>
                <a:sym typeface="Roboto"/>
              </a:rPr>
            </a:br>
            <a:r>
              <a:rPr lang="en" sz="3400">
                <a:solidFill>
                  <a:schemeClr val="dk2"/>
                </a:solidFill>
                <a:latin typeface="Roboto"/>
                <a:ea typeface="Roboto"/>
                <a:cs typeface="Roboto"/>
                <a:sym typeface="Roboto"/>
              </a:rPr>
              <a:t>on the system. </a:t>
            </a:r>
            <a:endParaRPr i="0" sz="3400" u="none" cap="none" strike="noStrike">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Users</a:t>
            </a:r>
            <a:r>
              <a:rPr b="0" lang="en">
                <a:latin typeface="Roboto"/>
                <a:ea typeface="Roboto"/>
                <a:cs typeface="Roboto"/>
                <a:sym typeface="Roboto"/>
              </a:rPr>
              <a:t> and </a:t>
            </a:r>
            <a:r>
              <a:rPr lang="en">
                <a:latin typeface="Roboto"/>
                <a:ea typeface="Roboto"/>
                <a:cs typeface="Roboto"/>
                <a:sym typeface="Roboto"/>
              </a:rPr>
              <a:t>Passwords</a:t>
            </a:r>
            <a:endParaRPr>
              <a:latin typeface="Roboto"/>
              <a:ea typeface="Roboto"/>
              <a:cs typeface="Roboto"/>
              <a:sym typeface="Roboto"/>
            </a:endParaRPr>
          </a:p>
        </p:txBody>
      </p:sp>
      <p:pic>
        <p:nvPicPr>
          <p:cNvPr id="474" name="Google Shape;474;p61"/>
          <p:cNvPicPr preferRelativeResize="0"/>
          <p:nvPr/>
        </p:nvPicPr>
        <p:blipFill>
          <a:blip r:embed="rId3">
            <a:alphaModFix/>
          </a:blip>
          <a:stretch>
            <a:fillRect/>
          </a:stretch>
        </p:blipFill>
        <p:spPr>
          <a:xfrm>
            <a:off x="3764150" y="1459623"/>
            <a:ext cx="1369400" cy="1126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2"/>
          <p:cNvSpPr txBox="1"/>
          <p:nvPr/>
        </p:nvSpPr>
        <p:spPr>
          <a:xfrm>
            <a:off x="4227600" y="2254900"/>
            <a:ext cx="4750500" cy="20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We previously examined the </a:t>
            </a:r>
            <a:r>
              <a:rPr b="1" lang="en" sz="1800">
                <a:solidFill>
                  <a:schemeClr val="dk2"/>
                </a:solidFill>
                <a:latin typeface="Roboto"/>
                <a:ea typeface="Roboto"/>
                <a:cs typeface="Roboto"/>
                <a:sym typeface="Roboto"/>
              </a:rPr>
              <a:t>/etc/shadow </a:t>
            </a:r>
            <a:r>
              <a:rPr lang="en" sz="1800">
                <a:solidFill>
                  <a:schemeClr val="dk2"/>
                </a:solidFill>
                <a:latin typeface="Roboto"/>
                <a:ea typeface="Roboto"/>
                <a:cs typeface="Roboto"/>
                <a:sym typeface="Roboto"/>
              </a:rPr>
              <a:t>file, containing the hashes of every user’s password. These are obfuscated with a </a:t>
            </a:r>
            <a:r>
              <a:rPr b="1" lang="en" sz="1800">
                <a:solidFill>
                  <a:schemeClr val="dk2"/>
                </a:solidFill>
                <a:latin typeface="Roboto"/>
                <a:ea typeface="Roboto"/>
                <a:cs typeface="Roboto"/>
                <a:sym typeface="Roboto"/>
              </a:rPr>
              <a:t>hashing</a:t>
            </a:r>
            <a:r>
              <a:rPr lang="en" sz="1800">
                <a:solidFill>
                  <a:schemeClr val="dk2"/>
                </a:solidFill>
                <a:latin typeface="Roboto"/>
                <a:ea typeface="Roboto"/>
                <a:cs typeface="Roboto"/>
                <a:sym typeface="Roboto"/>
              </a:rPr>
              <a:t> function. </a:t>
            </a:r>
            <a:endParaRPr sz="18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3"/>
          <p:cNvSpPr txBox="1"/>
          <p:nvPr/>
        </p:nvSpPr>
        <p:spPr>
          <a:xfrm>
            <a:off x="1642750" y="1039700"/>
            <a:ext cx="5929500" cy="313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lang="en" sz="3400">
                <a:solidFill>
                  <a:schemeClr val="dk2"/>
                </a:solidFill>
                <a:latin typeface="Roboto"/>
                <a:ea typeface="Roboto"/>
                <a:cs typeface="Roboto"/>
                <a:sym typeface="Roboto"/>
              </a:rPr>
              <a:t>A </a:t>
            </a:r>
            <a:r>
              <a:rPr b="1" lang="en" sz="3400">
                <a:solidFill>
                  <a:schemeClr val="dk2"/>
                </a:solidFill>
                <a:latin typeface="Roboto"/>
                <a:ea typeface="Roboto"/>
                <a:cs typeface="Roboto"/>
                <a:sym typeface="Roboto"/>
              </a:rPr>
              <a:t>hash</a:t>
            </a:r>
            <a:r>
              <a:rPr lang="en" sz="3400">
                <a:solidFill>
                  <a:schemeClr val="dk2"/>
                </a:solidFill>
                <a:latin typeface="Roboto"/>
                <a:ea typeface="Roboto"/>
                <a:cs typeface="Roboto"/>
                <a:sym typeface="Roboto"/>
              </a:rPr>
              <a:t> is a cryptographic function that takes data as input and translates it to a string of different data that seems random.</a:t>
            </a:r>
            <a:endParaRPr i="0" sz="3400" u="none" cap="none" strike="noStrike">
              <a:solidFill>
                <a:schemeClr val="dk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4"/>
          <p:cNvSpPr txBox="1"/>
          <p:nvPr>
            <p:ph type="title"/>
          </p:nvPr>
        </p:nvSpPr>
        <p:spPr>
          <a:xfrm>
            <a:off x="813400" y="27435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Password Hashes</a:t>
            </a:r>
            <a:endParaRPr/>
          </a:p>
        </p:txBody>
      </p:sp>
      <p:pic>
        <p:nvPicPr>
          <p:cNvPr id="490" name="Google Shape;490;p64" title="Generic document icon vector clip art | Public domain vectors"/>
          <p:cNvPicPr preferRelativeResize="0"/>
          <p:nvPr/>
        </p:nvPicPr>
        <p:blipFill>
          <a:blip r:embed="rId3">
            <a:alphaModFix/>
          </a:blip>
          <a:stretch>
            <a:fillRect/>
          </a:stretch>
        </p:blipFill>
        <p:spPr>
          <a:xfrm>
            <a:off x="424997" y="1506963"/>
            <a:ext cx="1914352" cy="2284425"/>
          </a:xfrm>
          <a:prstGeom prst="rect">
            <a:avLst/>
          </a:prstGeom>
          <a:noFill/>
          <a:ln>
            <a:noFill/>
          </a:ln>
        </p:spPr>
      </p:pic>
      <p:pic>
        <p:nvPicPr>
          <p:cNvPr id="491" name="Google Shape;491;p64" title="Generic document icon vector clip art | Public domain vectors"/>
          <p:cNvPicPr preferRelativeResize="0"/>
          <p:nvPr/>
        </p:nvPicPr>
        <p:blipFill>
          <a:blip r:embed="rId3">
            <a:alphaModFix/>
          </a:blip>
          <a:stretch>
            <a:fillRect/>
          </a:stretch>
        </p:blipFill>
        <p:spPr>
          <a:xfrm>
            <a:off x="6804672" y="1506963"/>
            <a:ext cx="1914352" cy="2284425"/>
          </a:xfrm>
          <a:prstGeom prst="rect">
            <a:avLst/>
          </a:prstGeom>
          <a:noFill/>
          <a:ln>
            <a:noFill/>
          </a:ln>
        </p:spPr>
      </p:pic>
      <p:pic>
        <p:nvPicPr>
          <p:cNvPr id="492" name="Google Shape;492;p64" title="File:Ic desktop windows 48px.svg - Wikimedia Commons"/>
          <p:cNvPicPr preferRelativeResize="0"/>
          <p:nvPr/>
        </p:nvPicPr>
        <p:blipFill>
          <a:blip r:embed="rId4">
            <a:alphaModFix/>
          </a:blip>
          <a:stretch>
            <a:fillRect/>
          </a:stretch>
        </p:blipFill>
        <p:spPr>
          <a:xfrm>
            <a:off x="3376475" y="1437900"/>
            <a:ext cx="2352876" cy="2353500"/>
          </a:xfrm>
          <a:prstGeom prst="rect">
            <a:avLst/>
          </a:prstGeom>
          <a:noFill/>
          <a:ln>
            <a:noFill/>
          </a:ln>
        </p:spPr>
      </p:pic>
      <p:sp>
        <p:nvSpPr>
          <p:cNvPr id="493" name="Google Shape;493;p64"/>
          <p:cNvSpPr txBox="1"/>
          <p:nvPr>
            <p:ph idx="2" type="body"/>
          </p:nvPr>
        </p:nvSpPr>
        <p:spPr>
          <a:xfrm>
            <a:off x="310425" y="1065000"/>
            <a:ext cx="2143500" cy="29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Plain Text Password</a:t>
            </a:r>
            <a:endParaRPr b="1"/>
          </a:p>
          <a:p>
            <a:pPr indent="0" lvl="0" marL="457200" rtl="0" algn="l">
              <a:spcBef>
                <a:spcPts val="1000"/>
              </a:spcBef>
              <a:spcAft>
                <a:spcPts val="0"/>
              </a:spcAft>
              <a:buNone/>
            </a:pPr>
            <a:r>
              <a:t/>
            </a:r>
            <a:endParaRPr b="1" sz="1400"/>
          </a:p>
        </p:txBody>
      </p:sp>
      <p:sp>
        <p:nvSpPr>
          <p:cNvPr id="494" name="Google Shape;494;p64"/>
          <p:cNvSpPr txBox="1"/>
          <p:nvPr/>
        </p:nvSpPr>
        <p:spPr>
          <a:xfrm>
            <a:off x="598275" y="2582250"/>
            <a:ext cx="14976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P@$$w03d!!</a:t>
            </a:r>
            <a:endParaRPr sz="1800">
              <a:solidFill>
                <a:schemeClr val="dk2"/>
              </a:solidFill>
              <a:latin typeface="Roboto"/>
              <a:ea typeface="Roboto"/>
              <a:cs typeface="Roboto"/>
              <a:sym typeface="Roboto"/>
            </a:endParaRPr>
          </a:p>
        </p:txBody>
      </p:sp>
      <p:cxnSp>
        <p:nvCxnSpPr>
          <p:cNvPr id="495" name="Google Shape;495;p64"/>
          <p:cNvCxnSpPr/>
          <p:nvPr/>
        </p:nvCxnSpPr>
        <p:spPr>
          <a:xfrm>
            <a:off x="2338875" y="2791800"/>
            <a:ext cx="1221600" cy="0"/>
          </a:xfrm>
          <a:prstGeom prst="straightConnector1">
            <a:avLst/>
          </a:prstGeom>
          <a:noFill/>
          <a:ln cap="flat" cmpd="sng" w="38100">
            <a:solidFill>
              <a:schemeClr val="dk2"/>
            </a:solidFill>
            <a:prstDash val="solid"/>
            <a:round/>
            <a:headEnd len="med" w="med" type="none"/>
            <a:tailEnd len="med" w="med" type="triangle"/>
          </a:ln>
        </p:spPr>
      </p:cxnSp>
      <p:cxnSp>
        <p:nvCxnSpPr>
          <p:cNvPr id="496" name="Google Shape;496;p64"/>
          <p:cNvCxnSpPr/>
          <p:nvPr/>
        </p:nvCxnSpPr>
        <p:spPr>
          <a:xfrm>
            <a:off x="5596125" y="2791800"/>
            <a:ext cx="1221600" cy="0"/>
          </a:xfrm>
          <a:prstGeom prst="straightConnector1">
            <a:avLst/>
          </a:prstGeom>
          <a:noFill/>
          <a:ln cap="flat" cmpd="sng" w="38100">
            <a:solidFill>
              <a:schemeClr val="dk2"/>
            </a:solidFill>
            <a:prstDash val="solid"/>
            <a:round/>
            <a:headEnd len="med" w="med" type="none"/>
            <a:tailEnd len="med" w="med" type="triangle"/>
          </a:ln>
        </p:spPr>
      </p:cxnSp>
      <p:sp>
        <p:nvSpPr>
          <p:cNvPr id="497" name="Google Shape;497;p64"/>
          <p:cNvSpPr txBox="1"/>
          <p:nvPr>
            <p:ph idx="2" type="body"/>
          </p:nvPr>
        </p:nvSpPr>
        <p:spPr>
          <a:xfrm>
            <a:off x="3672150" y="1065000"/>
            <a:ext cx="1914300" cy="29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Hashing Function</a:t>
            </a:r>
            <a:endParaRPr b="1"/>
          </a:p>
          <a:p>
            <a:pPr indent="0" lvl="0" marL="457200" rtl="0" algn="l">
              <a:spcBef>
                <a:spcPts val="1000"/>
              </a:spcBef>
              <a:spcAft>
                <a:spcPts val="0"/>
              </a:spcAft>
              <a:buNone/>
            </a:pPr>
            <a:r>
              <a:t/>
            </a:r>
            <a:endParaRPr b="1"/>
          </a:p>
        </p:txBody>
      </p:sp>
      <p:sp>
        <p:nvSpPr>
          <p:cNvPr id="498" name="Google Shape;498;p64"/>
          <p:cNvSpPr txBox="1"/>
          <p:nvPr>
            <p:ph idx="2" type="body"/>
          </p:nvPr>
        </p:nvSpPr>
        <p:spPr>
          <a:xfrm>
            <a:off x="6804675" y="1065000"/>
            <a:ext cx="1914300" cy="2967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Hashed Password</a:t>
            </a:r>
            <a:endParaRPr b="1"/>
          </a:p>
          <a:p>
            <a:pPr indent="0" lvl="0" marL="457200" rtl="0" algn="l">
              <a:spcBef>
                <a:spcPts val="1000"/>
              </a:spcBef>
              <a:spcAft>
                <a:spcPts val="0"/>
              </a:spcAft>
              <a:buNone/>
            </a:pPr>
            <a:r>
              <a:t/>
            </a:r>
            <a:endParaRPr b="1" sz="1400"/>
          </a:p>
        </p:txBody>
      </p:sp>
      <p:sp>
        <p:nvSpPr>
          <p:cNvPr id="499" name="Google Shape;499;p64"/>
          <p:cNvSpPr txBox="1"/>
          <p:nvPr/>
        </p:nvSpPr>
        <p:spPr>
          <a:xfrm>
            <a:off x="6932200" y="2321245"/>
            <a:ext cx="1659300" cy="94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6ee03da581f8108d401562e80cc1710d </a:t>
            </a:r>
            <a:endParaRPr sz="1800">
              <a:solidFill>
                <a:schemeClr val="dk2"/>
              </a:solidFill>
              <a:latin typeface="Roboto"/>
              <a:ea typeface="Roboto"/>
              <a:cs typeface="Roboto"/>
              <a:sym typeface="Roboto"/>
            </a:endParaRPr>
          </a:p>
        </p:txBody>
      </p:sp>
      <p:sp>
        <p:nvSpPr>
          <p:cNvPr id="500" name="Google Shape;500;p64"/>
          <p:cNvSpPr/>
          <p:nvPr/>
        </p:nvSpPr>
        <p:spPr>
          <a:xfrm>
            <a:off x="0" y="4420600"/>
            <a:ext cx="9144000" cy="7230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 sz="1800">
                <a:solidFill>
                  <a:srgbClr val="082D49"/>
                </a:solidFill>
                <a:latin typeface="Roboto"/>
                <a:ea typeface="Roboto"/>
                <a:cs typeface="Roboto"/>
                <a:sym typeface="Roboto"/>
              </a:rPr>
              <a:t>           </a:t>
            </a:r>
            <a:r>
              <a:rPr b="1" lang="en" sz="1800">
                <a:solidFill>
                  <a:srgbClr val="082D49"/>
                </a:solidFill>
                <a:latin typeface="Roboto"/>
                <a:ea typeface="Roboto"/>
                <a:cs typeface="Roboto"/>
                <a:sym typeface="Roboto"/>
              </a:rPr>
              <a:t>Remember</a:t>
            </a:r>
            <a:r>
              <a:rPr b="1" lang="en" sz="1800">
                <a:solidFill>
                  <a:srgbClr val="082D49"/>
                </a:solidFill>
                <a:latin typeface="Roboto"/>
                <a:ea typeface="Roboto"/>
                <a:cs typeface="Roboto"/>
                <a:sym typeface="Roboto"/>
              </a:rPr>
              <a:t>: </a:t>
            </a:r>
            <a:r>
              <a:rPr lang="en" sz="1800">
                <a:solidFill>
                  <a:srgbClr val="082D49"/>
                </a:solidFill>
                <a:latin typeface="Roboto"/>
                <a:ea typeface="Roboto"/>
                <a:cs typeface="Roboto"/>
                <a:sym typeface="Roboto"/>
              </a:rPr>
              <a:t>A hash will always output the same string for the same input data.</a:t>
            </a:r>
            <a:endParaRPr sz="1800">
              <a:solidFill>
                <a:srgbClr val="082D49"/>
              </a:solidFill>
              <a:latin typeface="Roboto"/>
              <a:ea typeface="Roboto"/>
              <a:cs typeface="Roboto"/>
              <a:sym typeface="Roboto"/>
            </a:endParaRPr>
          </a:p>
        </p:txBody>
      </p:sp>
      <p:pic>
        <p:nvPicPr>
          <p:cNvPr id="501" name="Google Shape;501;p64"/>
          <p:cNvPicPr preferRelativeResize="0"/>
          <p:nvPr/>
        </p:nvPicPr>
        <p:blipFill>
          <a:blip r:embed="rId5">
            <a:alphaModFix/>
          </a:blip>
          <a:stretch>
            <a:fillRect/>
          </a:stretch>
        </p:blipFill>
        <p:spPr>
          <a:xfrm>
            <a:off x="144176" y="4485638"/>
            <a:ext cx="626050" cy="592925"/>
          </a:xfrm>
          <a:prstGeom prst="rect">
            <a:avLst/>
          </a:prstGeom>
          <a:noFill/>
          <a:ln>
            <a:noFill/>
          </a:ln>
        </p:spPr>
      </p:pic>
      <p:pic>
        <p:nvPicPr>
          <p:cNvPr id="502" name="Google Shape;502;p64"/>
          <p:cNvPicPr preferRelativeResize="0"/>
          <p:nvPr/>
        </p:nvPicPr>
        <p:blipFill rotWithShape="1">
          <a:blip r:embed="rId6">
            <a:alphaModFix/>
          </a:blip>
          <a:srcRect b="0" l="5508" r="5508" t="0"/>
          <a:stretch/>
        </p:blipFill>
        <p:spPr>
          <a:xfrm>
            <a:off x="269143" y="291488"/>
            <a:ext cx="355965" cy="365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65"/>
          <p:cNvSpPr txBox="1"/>
          <p:nvPr>
            <p:ph type="title"/>
          </p:nvPr>
        </p:nvSpPr>
        <p:spPr>
          <a:xfrm>
            <a:off x="36576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Password Cracking</a:t>
            </a:r>
            <a:endParaRPr/>
          </a:p>
        </p:txBody>
      </p:sp>
      <p:sp>
        <p:nvSpPr>
          <p:cNvPr id="508" name="Google Shape;508;p65"/>
          <p:cNvSpPr txBox="1"/>
          <p:nvPr>
            <p:ph idx="3" type="subTitle"/>
          </p:nvPr>
        </p:nvSpPr>
        <p:spPr>
          <a:xfrm>
            <a:off x="3661286" y="548650"/>
            <a:ext cx="5025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Brute Force Attacks</a:t>
            </a:r>
            <a:endParaRPr/>
          </a:p>
        </p:txBody>
      </p:sp>
      <p:sp>
        <p:nvSpPr>
          <p:cNvPr id="509" name="Google Shape;509;p65"/>
          <p:cNvSpPr txBox="1"/>
          <p:nvPr>
            <p:ph idx="1" type="body"/>
          </p:nvPr>
        </p:nvSpPr>
        <p:spPr>
          <a:xfrm>
            <a:off x="3590125" y="1054550"/>
            <a:ext cx="5318100" cy="34533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C</a:t>
            </a:r>
            <a:r>
              <a:rPr lang="en"/>
              <a:t>racking tools do not reverse a password hash</a:t>
            </a:r>
            <a:endParaRPr/>
          </a:p>
          <a:p>
            <a:pPr indent="-342900" lvl="1" marL="914400" rtl="0" algn="l">
              <a:spcBef>
                <a:spcPts val="0"/>
              </a:spcBef>
              <a:spcAft>
                <a:spcPts val="0"/>
              </a:spcAft>
              <a:buSzPts val="1800"/>
              <a:buChar char="○"/>
            </a:pPr>
            <a:r>
              <a:rPr lang="en"/>
              <a:t>Generate hashes of words/characters</a:t>
            </a:r>
            <a:endParaRPr/>
          </a:p>
          <a:p>
            <a:pPr indent="-342900" lvl="2" marL="1371600" rtl="0" algn="l">
              <a:spcBef>
                <a:spcPts val="0"/>
              </a:spcBef>
              <a:spcAft>
                <a:spcPts val="0"/>
              </a:spcAft>
              <a:buSzPts val="1800"/>
              <a:buChar char="■"/>
            </a:pPr>
            <a:r>
              <a:rPr lang="en"/>
              <a:t>Custom wordlists</a:t>
            </a:r>
            <a:endParaRPr/>
          </a:p>
          <a:p>
            <a:pPr indent="-342900" lvl="2" marL="1371600" rtl="0" algn="l">
              <a:spcBef>
                <a:spcPts val="0"/>
              </a:spcBef>
              <a:spcAft>
                <a:spcPts val="0"/>
              </a:spcAft>
              <a:buSzPts val="1800"/>
              <a:buChar char="■"/>
            </a:pPr>
            <a:r>
              <a:rPr lang="en"/>
              <a:t>Prebuilt popular wordlists</a:t>
            </a:r>
            <a:endParaRPr/>
          </a:p>
          <a:p>
            <a:pPr indent="0" lvl="0" marL="1371600" rtl="0" algn="l">
              <a:spcBef>
                <a:spcPts val="0"/>
              </a:spcBef>
              <a:spcAft>
                <a:spcPts val="0"/>
              </a:spcAft>
              <a:buNone/>
            </a:pPr>
            <a:r>
              <a:t/>
            </a:r>
            <a:endParaRPr/>
          </a:p>
          <a:p>
            <a:pPr indent="-342900" lvl="0" marL="457200" rtl="0" algn="l">
              <a:spcBef>
                <a:spcPts val="0"/>
              </a:spcBef>
              <a:spcAft>
                <a:spcPts val="0"/>
              </a:spcAft>
              <a:buSzPts val="1800"/>
              <a:buChar char="●"/>
            </a:pPr>
            <a:r>
              <a:rPr lang="en"/>
              <a:t>Computed hashes compared to original hash</a:t>
            </a:r>
            <a:endParaRPr/>
          </a:p>
          <a:p>
            <a:pPr indent="-342900" lvl="1" marL="914400" rtl="0" algn="l">
              <a:spcBef>
                <a:spcPts val="0"/>
              </a:spcBef>
              <a:spcAft>
                <a:spcPts val="0"/>
              </a:spcAft>
              <a:buSzPts val="1800"/>
              <a:buChar char="○"/>
            </a:pPr>
            <a:r>
              <a:rPr lang="en"/>
              <a:t>If two match, password has been found</a:t>
            </a:r>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
              <a:t>This is a form of </a:t>
            </a:r>
            <a:r>
              <a:rPr b="1" lang="en"/>
              <a:t>brute force attack</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10" name="Google Shape;510;p65"/>
          <p:cNvPicPr preferRelativeResize="0"/>
          <p:nvPr/>
        </p:nvPicPr>
        <p:blipFill rotWithShape="1">
          <a:blip r:embed="rId3">
            <a:alphaModFix/>
          </a:blip>
          <a:srcRect b="0" l="0" r="0" t="0"/>
          <a:stretch/>
        </p:blipFill>
        <p:spPr>
          <a:xfrm>
            <a:off x="435091" y="1662308"/>
            <a:ext cx="2744515" cy="2153541"/>
          </a:xfrm>
          <a:prstGeom prst="rect">
            <a:avLst/>
          </a:prstGeom>
          <a:noFill/>
          <a:ln>
            <a:noFill/>
          </a:ln>
        </p:spPr>
      </p:pic>
      <p:sp>
        <p:nvSpPr>
          <p:cNvPr id="511" name="Google Shape;511;p65"/>
          <p:cNvSpPr txBox="1"/>
          <p:nvPr>
            <p:ph type="title"/>
          </p:nvPr>
        </p:nvSpPr>
        <p:spPr>
          <a:xfrm>
            <a:off x="435041" y="1168800"/>
            <a:ext cx="2744400" cy="365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800"/>
              <a:t>Password Cracked</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6"/>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makes a stronger password? Its </a:t>
            </a:r>
            <a:r>
              <a:rPr b="1" lang="en"/>
              <a:t>complexity</a:t>
            </a:r>
            <a:r>
              <a:rPr lang="en"/>
              <a:t> or </a:t>
            </a:r>
            <a:r>
              <a:rPr b="1" lang="en"/>
              <a:t>length</a:t>
            </a:r>
            <a:r>
              <a:rPr lang="e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7"/>
          <p:cNvSpPr txBox="1"/>
          <p:nvPr>
            <p:ph idx="1" type="body"/>
          </p:nvPr>
        </p:nvSpPr>
        <p:spPr>
          <a:xfrm>
            <a:off x="3663099" y="1377600"/>
            <a:ext cx="54141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What is the current </a:t>
            </a:r>
            <a:r>
              <a:rPr b="1" lang="en"/>
              <a:t>industry-standard</a:t>
            </a:r>
            <a:r>
              <a:rPr lang="en"/>
              <a:t> length for a password?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8"/>
          <p:cNvSpPr txBox="1"/>
          <p:nvPr>
            <p:ph idx="1" type="body"/>
          </p:nvPr>
        </p:nvSpPr>
        <p:spPr>
          <a:xfrm>
            <a:off x="2418112" y="1377275"/>
            <a:ext cx="5038800" cy="27414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b="1" lang="en"/>
              <a:t>8 Characters</a:t>
            </a:r>
            <a:endParaRPr b="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9"/>
          <p:cNvSpPr txBox="1"/>
          <p:nvPr>
            <p:ph type="title"/>
          </p:nvPr>
        </p:nvSpPr>
        <p:spPr>
          <a:xfrm>
            <a:off x="303250" y="2451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Secure Is My Password?</a:t>
            </a:r>
            <a:endParaRPr/>
          </a:p>
        </p:txBody>
      </p:sp>
      <p:sp>
        <p:nvSpPr>
          <p:cNvPr id="532" name="Google Shape;532;p69"/>
          <p:cNvSpPr txBox="1"/>
          <p:nvPr>
            <p:ph idx="1" type="body"/>
          </p:nvPr>
        </p:nvSpPr>
        <p:spPr>
          <a:xfrm>
            <a:off x="495075" y="1001225"/>
            <a:ext cx="8520600" cy="46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Go to </a:t>
            </a:r>
            <a:r>
              <a:rPr lang="en" u="sng">
                <a:hlinkClick r:id="rId3"/>
              </a:rPr>
              <a:t>How Secure Is My Password? | Password Strength Checker</a:t>
            </a:r>
            <a:endParaRPr/>
          </a:p>
        </p:txBody>
      </p:sp>
      <p:pic>
        <p:nvPicPr>
          <p:cNvPr id="533" name="Google Shape;533;p69"/>
          <p:cNvPicPr preferRelativeResize="0"/>
          <p:nvPr/>
        </p:nvPicPr>
        <p:blipFill>
          <a:blip r:embed="rId4">
            <a:alphaModFix/>
          </a:blip>
          <a:stretch>
            <a:fillRect/>
          </a:stretch>
        </p:blipFill>
        <p:spPr>
          <a:xfrm>
            <a:off x="644650" y="1556550"/>
            <a:ext cx="7854701" cy="2633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0"/>
          <p:cNvSpPr txBox="1"/>
          <p:nvPr>
            <p:ph type="title"/>
          </p:nvPr>
        </p:nvSpPr>
        <p:spPr>
          <a:xfrm>
            <a:off x="301100" y="170850"/>
            <a:ext cx="54864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accent5"/>
                </a:solidFill>
              </a:rPr>
              <a:t>Secure Password Takeaways</a:t>
            </a:r>
            <a:endParaRPr>
              <a:solidFill>
                <a:schemeClr val="accent5"/>
              </a:solidFill>
            </a:endParaRPr>
          </a:p>
          <a:p>
            <a:pPr indent="0" lvl="0" marL="0" rtl="0" algn="l">
              <a:spcBef>
                <a:spcPts val="0"/>
              </a:spcBef>
              <a:spcAft>
                <a:spcPts val="0"/>
              </a:spcAft>
              <a:buNone/>
            </a:pPr>
            <a:r>
              <a:t/>
            </a:r>
            <a:endParaRPr/>
          </a:p>
        </p:txBody>
      </p:sp>
      <p:sp>
        <p:nvSpPr>
          <p:cNvPr id="539" name="Google Shape;539;p70"/>
          <p:cNvSpPr txBox="1"/>
          <p:nvPr>
            <p:ph idx="1" type="body"/>
          </p:nvPr>
        </p:nvSpPr>
        <p:spPr>
          <a:xfrm>
            <a:off x="299475" y="972000"/>
            <a:ext cx="2705400" cy="3694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If a system requires passwords of only 16 characters, the password will be relatively strong, even if it contains words.</a:t>
            </a:r>
            <a:endParaRPr sz="1400"/>
          </a:p>
          <a:p>
            <a:pPr indent="0" lvl="0" marL="0" rtl="0" algn="l">
              <a:spcBef>
                <a:spcPts val="1000"/>
              </a:spcBef>
              <a:spcAft>
                <a:spcPts val="0"/>
              </a:spcAft>
              <a:buNone/>
            </a:pPr>
            <a:r>
              <a:rPr lang="en" sz="1400"/>
              <a:t>Add a few extra characters and it will become exponentially more secure.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contrast, if a password uses all random characters, it still must be at least 10-characters long to be very effective. </a:t>
            </a:r>
            <a:endParaRPr sz="1400"/>
          </a:p>
          <a:p>
            <a:pPr indent="0" lvl="0" marL="0" rtl="0" algn="l">
              <a:spcBef>
                <a:spcPts val="0"/>
              </a:spcBef>
              <a:spcAft>
                <a:spcPts val="0"/>
              </a:spcAft>
              <a:buNone/>
            </a:pPr>
            <a:r>
              <a:t/>
            </a:r>
            <a:endParaRPr sz="1400"/>
          </a:p>
        </p:txBody>
      </p:sp>
      <p:sp>
        <p:nvSpPr>
          <p:cNvPr id="540" name="Google Shape;540;p70"/>
          <p:cNvSpPr/>
          <p:nvPr/>
        </p:nvSpPr>
        <p:spPr>
          <a:xfrm>
            <a:off x="3324225" y="838200"/>
            <a:ext cx="5819700" cy="3962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1" name="Google Shape;541;p70"/>
          <p:cNvPicPr preferRelativeResize="0"/>
          <p:nvPr/>
        </p:nvPicPr>
        <p:blipFill rotWithShape="1">
          <a:blip r:embed="rId3">
            <a:alphaModFix/>
          </a:blip>
          <a:srcRect b="0" l="0" r="0" t="0"/>
          <a:stretch/>
        </p:blipFill>
        <p:spPr>
          <a:xfrm>
            <a:off x="3833913" y="1166937"/>
            <a:ext cx="4800323" cy="3304924"/>
          </a:xfrm>
          <a:prstGeom prst="rect">
            <a:avLst/>
          </a:prstGeom>
          <a:noFill/>
          <a:ln>
            <a:noFill/>
          </a:ln>
        </p:spPr>
      </p:pic>
      <p:sp>
        <p:nvSpPr>
          <p:cNvPr id="542" name="Google Shape;542;p70"/>
          <p:cNvSpPr txBox="1"/>
          <p:nvPr/>
        </p:nvSpPr>
        <p:spPr>
          <a:xfrm>
            <a:off x="4000500" y="1457325"/>
            <a:ext cx="2819400" cy="61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200">
                <a:solidFill>
                  <a:srgbClr val="595959"/>
                </a:solidFill>
                <a:latin typeface="Inconsolata Medium"/>
                <a:ea typeface="Inconsolata Medium"/>
                <a:cs typeface="Inconsolata Medium"/>
                <a:sym typeface="Inconsolata Medium"/>
              </a:rPr>
              <a:t>****</a:t>
            </a:r>
            <a:endParaRPr sz="4200">
              <a:solidFill>
                <a:srgbClr val="595959"/>
              </a:solidFill>
              <a:latin typeface="Inconsolata Medium"/>
              <a:ea typeface="Inconsolata Medium"/>
              <a:cs typeface="Inconsolata Medium"/>
              <a:sym typeface="Inconsolata Medium"/>
            </a:endParaRPr>
          </a:p>
        </p:txBody>
      </p:sp>
      <p:sp>
        <p:nvSpPr>
          <p:cNvPr id="543" name="Google Shape;543;p70"/>
          <p:cNvSpPr txBox="1"/>
          <p:nvPr/>
        </p:nvSpPr>
        <p:spPr>
          <a:xfrm>
            <a:off x="4000500" y="3495675"/>
            <a:ext cx="3724200" cy="666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 sz="4200">
                <a:solidFill>
                  <a:srgbClr val="595959"/>
                </a:solidFill>
                <a:latin typeface="Inconsolata Medium"/>
                <a:ea typeface="Inconsolata Medium"/>
                <a:cs typeface="Inconsolata Medium"/>
                <a:sym typeface="Inconsolata Medium"/>
              </a:rPr>
              <a:t>************</a:t>
            </a:r>
            <a:endParaRPr sz="4800">
              <a:latin typeface="Inconsolata Medium"/>
              <a:ea typeface="Inconsolata Medium"/>
              <a:cs typeface="Inconsolata Medium"/>
              <a:sym typeface="Inconsolata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1"/>
          <p:cNvSpPr/>
          <p:nvPr/>
        </p:nvSpPr>
        <p:spPr>
          <a:xfrm>
            <a:off x="457200" y="1371600"/>
            <a:ext cx="1985400" cy="23010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549" name="Google Shape;549;p71"/>
          <p:cNvSpPr/>
          <p:nvPr/>
        </p:nvSpPr>
        <p:spPr>
          <a:xfrm>
            <a:off x="2528198" y="1371600"/>
            <a:ext cx="1985400" cy="23010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71"/>
          <p:cNvSpPr/>
          <p:nvPr/>
        </p:nvSpPr>
        <p:spPr>
          <a:xfrm>
            <a:off x="4630400" y="1371600"/>
            <a:ext cx="1985400" cy="2301000"/>
          </a:xfrm>
          <a:prstGeom prst="re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71"/>
          <p:cNvSpPr/>
          <p:nvPr/>
        </p:nvSpPr>
        <p:spPr>
          <a:xfrm>
            <a:off x="6732600" y="1371600"/>
            <a:ext cx="1954200" cy="2301000"/>
          </a:xfrm>
          <a:prstGeom prst="rect">
            <a:avLst/>
          </a:prstGeom>
          <a:solidFill>
            <a:srgbClr val="AADC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52" name="Google Shape;552;p71"/>
          <p:cNvGrpSpPr/>
          <p:nvPr/>
        </p:nvGrpSpPr>
        <p:grpSpPr>
          <a:xfrm>
            <a:off x="2252708" y="2292592"/>
            <a:ext cx="459000" cy="459000"/>
            <a:chOff x="4898908" y="4195167"/>
            <a:chExt cx="459000" cy="459000"/>
          </a:xfrm>
        </p:grpSpPr>
        <p:sp>
          <p:nvSpPr>
            <p:cNvPr id="553" name="Google Shape;553;p71"/>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54" name="Google Shape;554;p71"/>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5" name="Google Shape;555;p71"/>
          <p:cNvGrpSpPr/>
          <p:nvPr/>
        </p:nvGrpSpPr>
        <p:grpSpPr>
          <a:xfrm>
            <a:off x="4342508" y="2292592"/>
            <a:ext cx="459000" cy="459000"/>
            <a:chOff x="4898908" y="4195167"/>
            <a:chExt cx="459000" cy="459000"/>
          </a:xfrm>
        </p:grpSpPr>
        <p:sp>
          <p:nvSpPr>
            <p:cNvPr id="556" name="Google Shape;556;p71"/>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57" name="Google Shape;557;p71"/>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8" name="Google Shape;558;p71"/>
          <p:cNvGrpSpPr/>
          <p:nvPr/>
        </p:nvGrpSpPr>
        <p:grpSpPr>
          <a:xfrm>
            <a:off x="6432308" y="2292592"/>
            <a:ext cx="459000" cy="459000"/>
            <a:chOff x="4898908" y="4195167"/>
            <a:chExt cx="459000" cy="459000"/>
          </a:xfrm>
        </p:grpSpPr>
        <p:sp>
          <p:nvSpPr>
            <p:cNvPr id="559" name="Google Shape;559;p71"/>
            <p:cNvSpPr/>
            <p:nvPr/>
          </p:nvSpPr>
          <p:spPr>
            <a:xfrm>
              <a:off x="4898908" y="4195167"/>
              <a:ext cx="459000" cy="459000"/>
            </a:xfrm>
            <a:prstGeom prst="ellipse">
              <a:avLst/>
            </a:prstGeom>
            <a:solidFill>
              <a:srgbClr val="F2F2F2"/>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60" name="Google Shape;560;p71"/>
            <p:cNvSpPr/>
            <p:nvPr/>
          </p:nvSpPr>
          <p:spPr>
            <a:xfrm>
              <a:off x="5101067" y="4330887"/>
              <a:ext cx="93400" cy="187578"/>
            </a:xfrm>
            <a:custGeom>
              <a:rect b="b" l="l" r="r" t="t"/>
              <a:pathLst>
                <a:path extrusionOk="0" fill="none" h="206130" w="102637">
                  <a:moveTo>
                    <a:pt x="0" y="1"/>
                  </a:moveTo>
                  <a:lnTo>
                    <a:pt x="102637" y="103065"/>
                  </a:lnTo>
                  <a:lnTo>
                    <a:pt x="0" y="206129"/>
                  </a:lnTo>
                </a:path>
              </a:pathLst>
            </a:custGeom>
            <a:noFill/>
            <a:ln cap="rnd"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61" name="Google Shape;561;p71"/>
          <p:cNvSpPr txBox="1"/>
          <p:nvPr/>
        </p:nvSpPr>
        <p:spPr>
          <a:xfrm>
            <a:off x="2743200" y="2444415"/>
            <a:ext cx="1670100" cy="109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Hash passwords from a given list</a:t>
            </a:r>
            <a:endParaRPr b="1" i="0" sz="1800" u="none" cap="none" strike="noStrike">
              <a:solidFill>
                <a:schemeClr val="dk2"/>
              </a:solidFill>
              <a:latin typeface="Roboto"/>
              <a:ea typeface="Roboto"/>
              <a:cs typeface="Roboto"/>
              <a:sym typeface="Roboto"/>
            </a:endParaRPr>
          </a:p>
        </p:txBody>
      </p:sp>
      <p:sp>
        <p:nvSpPr>
          <p:cNvPr id="562" name="Google Shape;562;p71"/>
          <p:cNvSpPr txBox="1"/>
          <p:nvPr/>
        </p:nvSpPr>
        <p:spPr>
          <a:xfrm>
            <a:off x="6891300" y="1922240"/>
            <a:ext cx="1795500" cy="1849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Matches indicate password used</a:t>
            </a:r>
            <a:endParaRPr b="1" i="0" sz="1800" u="none" cap="none" strike="noStrike">
              <a:solidFill>
                <a:schemeClr val="dk2"/>
              </a:solidFill>
              <a:latin typeface="Roboto"/>
              <a:ea typeface="Roboto"/>
              <a:cs typeface="Roboto"/>
              <a:sym typeface="Roboto"/>
            </a:endParaRPr>
          </a:p>
        </p:txBody>
      </p:sp>
      <p:sp>
        <p:nvSpPr>
          <p:cNvPr id="563" name="Google Shape;563;p71"/>
          <p:cNvSpPr txBox="1"/>
          <p:nvPr/>
        </p:nvSpPr>
        <p:spPr>
          <a:xfrm>
            <a:off x="4810850" y="2166290"/>
            <a:ext cx="1624500" cy="1537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dk2"/>
                </a:solidFill>
                <a:latin typeface="Roboto"/>
                <a:ea typeface="Roboto"/>
                <a:cs typeface="Roboto"/>
                <a:sym typeface="Roboto"/>
              </a:rPr>
              <a:t>Compare each hash to the list used as input</a:t>
            </a:r>
            <a:endParaRPr b="1" i="0" sz="1800" u="none" cap="none" strike="noStrike">
              <a:solidFill>
                <a:schemeClr val="dk2"/>
              </a:solidFill>
              <a:latin typeface="Roboto"/>
              <a:ea typeface="Roboto"/>
              <a:cs typeface="Roboto"/>
              <a:sym typeface="Roboto"/>
            </a:endParaRPr>
          </a:p>
        </p:txBody>
      </p:sp>
      <p:sp>
        <p:nvSpPr>
          <p:cNvPr id="564" name="Google Shape;564;p71"/>
          <p:cNvSpPr txBox="1"/>
          <p:nvPr/>
        </p:nvSpPr>
        <p:spPr>
          <a:xfrm>
            <a:off x="565650" y="2386040"/>
            <a:ext cx="1611900" cy="1098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lt1"/>
                </a:solidFill>
                <a:latin typeface="Roboto"/>
                <a:ea typeface="Roboto"/>
                <a:cs typeface="Roboto"/>
                <a:sym typeface="Roboto"/>
              </a:rPr>
              <a:t>Take a list of hashes as input</a:t>
            </a:r>
            <a:endParaRPr b="1" i="0" sz="1800" u="none" cap="none" strike="noStrike">
              <a:solidFill>
                <a:schemeClr val="lt1"/>
              </a:solidFill>
              <a:latin typeface="Roboto"/>
              <a:ea typeface="Roboto"/>
              <a:cs typeface="Roboto"/>
              <a:sym typeface="Roboto"/>
            </a:endParaRPr>
          </a:p>
        </p:txBody>
      </p:sp>
      <p:sp>
        <p:nvSpPr>
          <p:cNvPr id="565" name="Google Shape;565;p7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Cracking Passwords</a:t>
            </a:r>
            <a:endParaRPr/>
          </a:p>
        </p:txBody>
      </p:sp>
      <p:sp>
        <p:nvSpPr>
          <p:cNvPr id="566" name="Google Shape;566;p71"/>
          <p:cNvSpPr txBox="1"/>
          <p:nvPr>
            <p:ph idx="1" type="subTitle"/>
          </p:nvPr>
        </p:nvSpPr>
        <p:spPr>
          <a:xfrm>
            <a:off x="457200" y="51200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Modern password cracking software works using the following steps: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pic>
        <p:nvPicPr>
          <p:cNvPr id="567" name="Google Shape;567;p71"/>
          <p:cNvPicPr preferRelativeResize="0"/>
          <p:nvPr/>
        </p:nvPicPr>
        <p:blipFill rotWithShape="1">
          <a:blip r:embed="rId3">
            <a:alphaModFix/>
          </a:blip>
          <a:srcRect b="0" l="99" r="109" t="0"/>
          <a:stretch/>
        </p:blipFill>
        <p:spPr>
          <a:xfrm>
            <a:off x="733274" y="1850350"/>
            <a:ext cx="1433252" cy="344325"/>
          </a:xfrm>
          <a:prstGeom prst="rect">
            <a:avLst/>
          </a:prstGeom>
          <a:noFill/>
          <a:ln>
            <a:noFill/>
          </a:ln>
        </p:spPr>
      </p:pic>
      <p:pic>
        <p:nvPicPr>
          <p:cNvPr id="568" name="Google Shape;568;p71"/>
          <p:cNvPicPr preferRelativeResize="0"/>
          <p:nvPr/>
        </p:nvPicPr>
        <p:blipFill rotWithShape="1">
          <a:blip r:embed="rId4">
            <a:alphaModFix/>
          </a:blip>
          <a:srcRect b="0" l="-8507" r="-4028" t="0"/>
          <a:stretch/>
        </p:blipFill>
        <p:spPr>
          <a:xfrm>
            <a:off x="2763188" y="1517600"/>
            <a:ext cx="1517225" cy="665501"/>
          </a:xfrm>
          <a:prstGeom prst="rect">
            <a:avLst/>
          </a:prstGeom>
          <a:noFill/>
          <a:ln>
            <a:noFill/>
          </a:ln>
        </p:spPr>
      </p:pic>
      <p:pic>
        <p:nvPicPr>
          <p:cNvPr id="569" name="Google Shape;569;p71"/>
          <p:cNvPicPr preferRelativeResize="0"/>
          <p:nvPr/>
        </p:nvPicPr>
        <p:blipFill rotWithShape="1">
          <a:blip r:embed="rId5">
            <a:alphaModFix/>
          </a:blip>
          <a:srcRect b="0" l="-480" r="479" t="0"/>
          <a:stretch/>
        </p:blipFill>
        <p:spPr>
          <a:xfrm>
            <a:off x="4939318" y="1519372"/>
            <a:ext cx="1341711" cy="735714"/>
          </a:xfrm>
          <a:prstGeom prst="rect">
            <a:avLst/>
          </a:prstGeom>
          <a:noFill/>
          <a:ln>
            <a:noFill/>
          </a:ln>
        </p:spPr>
      </p:pic>
      <p:pic>
        <p:nvPicPr>
          <p:cNvPr id="570" name="Google Shape;570;p71"/>
          <p:cNvPicPr preferRelativeResize="0"/>
          <p:nvPr/>
        </p:nvPicPr>
        <p:blipFill rotWithShape="1">
          <a:blip r:embed="rId6">
            <a:alphaModFix/>
          </a:blip>
          <a:srcRect b="0" l="-2555" r="-5272" t="0"/>
          <a:stretch/>
        </p:blipFill>
        <p:spPr>
          <a:xfrm>
            <a:off x="6985958" y="1517600"/>
            <a:ext cx="1453676" cy="665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id="575" name="Google Shape;575;p72"/>
          <p:cNvPicPr preferRelativeResize="0"/>
          <p:nvPr/>
        </p:nvPicPr>
        <p:blipFill rotWithShape="1">
          <a:blip r:embed="rId3">
            <a:alphaModFix/>
          </a:blip>
          <a:srcRect b="0" l="-6582" r="-4233" t="0"/>
          <a:stretch/>
        </p:blipFill>
        <p:spPr>
          <a:xfrm>
            <a:off x="4668225" y="1292225"/>
            <a:ext cx="3921577" cy="2776800"/>
          </a:xfrm>
          <a:prstGeom prst="rect">
            <a:avLst/>
          </a:prstGeom>
          <a:noFill/>
          <a:ln>
            <a:noFill/>
          </a:ln>
        </p:spPr>
      </p:pic>
      <p:sp>
        <p:nvSpPr>
          <p:cNvPr id="576" name="Google Shape;576;p72"/>
          <p:cNvSpPr txBox="1"/>
          <p:nvPr/>
        </p:nvSpPr>
        <p:spPr>
          <a:xfrm>
            <a:off x="0" y="1454850"/>
            <a:ext cx="4314300" cy="1662300"/>
          </a:xfrm>
          <a:prstGeom prst="rect">
            <a:avLst/>
          </a:prstGeom>
          <a:noFill/>
          <a:ln>
            <a:noFill/>
          </a:ln>
        </p:spPr>
        <p:txBody>
          <a:bodyPr anchorCtr="0" anchor="t" bIns="91425" lIns="457200"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Two-step process:</a:t>
            </a:r>
            <a:endParaRPr b="1" sz="24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sz="2400">
              <a:solidFill>
                <a:schemeClr val="dk2"/>
              </a:solidFill>
              <a:latin typeface="Roboto"/>
              <a:ea typeface="Roboto"/>
              <a:cs typeface="Roboto"/>
              <a:sym typeface="Roboto"/>
            </a:endParaRPr>
          </a:p>
          <a:p>
            <a:pPr indent="-381000" lvl="0" marL="457200" marR="0" rtl="0" algn="l">
              <a:lnSpc>
                <a:spcPct val="100000"/>
              </a:lnSpc>
              <a:spcBef>
                <a:spcPts val="0"/>
              </a:spcBef>
              <a:spcAft>
                <a:spcPts val="0"/>
              </a:spcAft>
              <a:buClr>
                <a:schemeClr val="dk2"/>
              </a:buClr>
              <a:buSzPts val="2400"/>
              <a:buFont typeface="Roboto"/>
              <a:buAutoNum type="arabicPeriod"/>
            </a:pPr>
            <a:r>
              <a:rPr lang="en" sz="2400">
                <a:solidFill>
                  <a:schemeClr val="dk2"/>
                </a:solidFill>
                <a:latin typeface="Roboto"/>
                <a:ea typeface="Roboto"/>
                <a:cs typeface="Roboto"/>
                <a:sym typeface="Roboto"/>
              </a:rPr>
              <a:t>Create a hashlist</a:t>
            </a:r>
            <a:endParaRPr sz="2400">
              <a:solidFill>
                <a:schemeClr val="dk2"/>
              </a:solidFill>
              <a:latin typeface="Roboto"/>
              <a:ea typeface="Roboto"/>
              <a:cs typeface="Roboto"/>
              <a:sym typeface="Roboto"/>
            </a:endParaRPr>
          </a:p>
          <a:p>
            <a:pPr indent="-381000" lvl="0" marL="457200" marR="0" rtl="0" algn="l">
              <a:lnSpc>
                <a:spcPct val="100000"/>
              </a:lnSpc>
              <a:spcBef>
                <a:spcPts val="0"/>
              </a:spcBef>
              <a:spcAft>
                <a:spcPts val="0"/>
              </a:spcAft>
              <a:buClr>
                <a:schemeClr val="dk2"/>
              </a:buClr>
              <a:buSzPts val="2400"/>
              <a:buFont typeface="Roboto"/>
              <a:buAutoNum type="arabicPeriod"/>
            </a:pPr>
            <a:r>
              <a:rPr lang="en" sz="2400">
                <a:solidFill>
                  <a:schemeClr val="dk2"/>
                </a:solidFill>
                <a:latin typeface="Roboto"/>
                <a:ea typeface="Roboto"/>
                <a:cs typeface="Roboto"/>
                <a:sym typeface="Roboto"/>
              </a:rPr>
              <a:t>Run John the Ripper</a:t>
            </a:r>
            <a:endParaRPr sz="2400">
              <a:solidFill>
                <a:schemeClr val="dk2"/>
              </a:solidFill>
              <a:latin typeface="Roboto"/>
              <a:ea typeface="Roboto"/>
              <a:cs typeface="Roboto"/>
              <a:sym typeface="Roboto"/>
            </a:endParaRPr>
          </a:p>
        </p:txBody>
      </p:sp>
      <p:sp>
        <p:nvSpPr>
          <p:cNvPr id="577" name="Google Shape;577;p72"/>
          <p:cNvSpPr txBox="1"/>
          <p:nvPr>
            <p:ph idx="4294967295" type="title"/>
          </p:nvPr>
        </p:nvSpPr>
        <p:spPr>
          <a:xfrm>
            <a:off x="457200" y="146300"/>
            <a:ext cx="82296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John the Ripper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3"/>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John the Ripper</a:t>
            </a:r>
            <a:endParaRPr/>
          </a:p>
        </p:txBody>
      </p:sp>
      <p:sp>
        <p:nvSpPr>
          <p:cNvPr id="583" name="Google Shape;583;p73"/>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Creating the Hashlist	</a:t>
            </a:r>
            <a:endParaRPr/>
          </a:p>
        </p:txBody>
      </p:sp>
      <p:sp>
        <p:nvSpPr>
          <p:cNvPr id="584" name="Google Shape;584;p73"/>
          <p:cNvSpPr txBox="1"/>
          <p:nvPr>
            <p:ph idx="2" type="body"/>
          </p:nvPr>
        </p:nvSpPr>
        <p:spPr>
          <a:xfrm>
            <a:off x="461225" y="1063525"/>
            <a:ext cx="82296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John can take an input file containing:</a:t>
            </a:r>
            <a:endParaRPr/>
          </a:p>
          <a:p>
            <a:pPr indent="-342900" lvl="0" marL="457200" rtl="0" algn="l">
              <a:spcBef>
                <a:spcPts val="0"/>
              </a:spcBef>
              <a:spcAft>
                <a:spcPts val="0"/>
              </a:spcAft>
              <a:buSzPts val="1800"/>
              <a:buChar char="●"/>
            </a:pPr>
            <a:r>
              <a:rPr lang="en"/>
              <a:t>Usernames</a:t>
            </a:r>
            <a:endParaRPr/>
          </a:p>
          <a:p>
            <a:pPr indent="-342900" lvl="0" marL="457200" rtl="0" algn="l">
              <a:spcBef>
                <a:spcPts val="0"/>
              </a:spcBef>
              <a:spcAft>
                <a:spcPts val="0"/>
              </a:spcAft>
              <a:buSzPts val="1800"/>
              <a:buChar char="●"/>
            </a:pPr>
            <a:r>
              <a:rPr lang="en"/>
              <a:t>Password hashes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John requires files to adhere to specific format: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85" name="Google Shape;585;p73"/>
          <p:cNvPicPr preferRelativeResize="0"/>
          <p:nvPr/>
        </p:nvPicPr>
        <p:blipFill rotWithShape="1">
          <a:blip r:embed="rId3">
            <a:alphaModFix/>
          </a:blip>
          <a:srcRect b="-9815" l="0" r="0" t="-12419"/>
          <a:stretch/>
        </p:blipFill>
        <p:spPr>
          <a:xfrm>
            <a:off x="316679" y="254607"/>
            <a:ext cx="318576" cy="448274"/>
          </a:xfrm>
          <a:prstGeom prst="rect">
            <a:avLst/>
          </a:prstGeom>
          <a:noFill/>
          <a:ln>
            <a:noFill/>
          </a:ln>
        </p:spPr>
      </p:pic>
      <p:sp>
        <p:nvSpPr>
          <p:cNvPr id="586" name="Google Shape;586;p73"/>
          <p:cNvSpPr txBox="1"/>
          <p:nvPr/>
        </p:nvSpPr>
        <p:spPr>
          <a:xfrm>
            <a:off x="1460600" y="3976125"/>
            <a:ext cx="1073700" cy="274200"/>
          </a:xfrm>
          <a:prstGeom prst="rect">
            <a:avLst/>
          </a:prstGeom>
          <a:noFill/>
          <a:ln>
            <a:noFill/>
          </a:ln>
        </p:spPr>
        <p:txBody>
          <a:bodyPr anchorCtr="0" anchor="t" bIns="91425" lIns="0" spcFirstLastPara="1" rIns="0" wrap="square" tIns="0">
            <a:noAutofit/>
          </a:bodyPr>
          <a:lstStyle/>
          <a:p>
            <a:pPr indent="0" lvl="0" marL="0" rtl="0" algn="ctr">
              <a:lnSpc>
                <a:spcPct val="115000"/>
              </a:lnSpc>
              <a:spcBef>
                <a:spcPts val="0"/>
              </a:spcBef>
              <a:spcAft>
                <a:spcPts val="1200"/>
              </a:spcAft>
              <a:buNone/>
            </a:pPr>
            <a:r>
              <a:rPr lang="en">
                <a:solidFill>
                  <a:srgbClr val="082D49"/>
                </a:solidFill>
                <a:latin typeface="Roboto"/>
                <a:ea typeface="Roboto"/>
                <a:cs typeface="Roboto"/>
                <a:sym typeface="Roboto"/>
              </a:rPr>
              <a:t>Username</a:t>
            </a:r>
            <a:endParaRPr>
              <a:solidFill>
                <a:srgbClr val="082D49"/>
              </a:solidFill>
              <a:latin typeface="Roboto"/>
              <a:ea typeface="Roboto"/>
              <a:cs typeface="Roboto"/>
              <a:sym typeface="Roboto"/>
            </a:endParaRPr>
          </a:p>
        </p:txBody>
      </p:sp>
      <p:sp>
        <p:nvSpPr>
          <p:cNvPr id="587" name="Google Shape;587;p73"/>
          <p:cNvSpPr txBox="1"/>
          <p:nvPr/>
        </p:nvSpPr>
        <p:spPr>
          <a:xfrm>
            <a:off x="457200" y="2930850"/>
            <a:ext cx="7971900" cy="765300"/>
          </a:xfrm>
          <a:prstGeom prst="rect">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300">
                <a:solidFill>
                  <a:schemeClr val="accent1"/>
                </a:solidFill>
                <a:latin typeface="Inconsolata"/>
                <a:ea typeface="Inconsolata"/>
                <a:cs typeface="Inconsolata"/>
                <a:sym typeface="Inconsolata"/>
              </a:rPr>
              <a:t>admin</a:t>
            </a:r>
            <a:r>
              <a:rPr lang="en" sz="2300">
                <a:solidFill>
                  <a:srgbClr val="FFFFFF"/>
                </a:solidFill>
                <a:latin typeface="Inconsolata"/>
                <a:ea typeface="Inconsolata"/>
                <a:cs typeface="Inconsolata"/>
                <a:sym typeface="Inconsolata"/>
              </a:rPr>
              <a:t>:</a:t>
            </a:r>
            <a:r>
              <a:rPr lang="en" sz="2300">
                <a:solidFill>
                  <a:schemeClr val="accent4"/>
                </a:solidFill>
                <a:latin typeface="Inconsolata"/>
                <a:ea typeface="Inconsolata"/>
                <a:cs typeface="Inconsolata"/>
                <a:sym typeface="Inconsolata"/>
              </a:rPr>
              <a:t>e08e4506d2e3f370a5e8ab79647df309</a:t>
            </a:r>
            <a:endParaRPr sz="2300">
              <a:solidFill>
                <a:schemeClr val="accent4"/>
              </a:solidFill>
              <a:latin typeface="Inconsolata"/>
              <a:ea typeface="Inconsolata"/>
              <a:cs typeface="Inconsolata"/>
              <a:sym typeface="Inconsolata"/>
            </a:endParaRPr>
          </a:p>
        </p:txBody>
      </p:sp>
      <p:sp>
        <p:nvSpPr>
          <p:cNvPr id="588" name="Google Shape;588;p73"/>
          <p:cNvSpPr/>
          <p:nvPr/>
        </p:nvSpPr>
        <p:spPr>
          <a:xfrm flipH="1" rot="5400000">
            <a:off x="4868200" y="1547325"/>
            <a:ext cx="96600" cy="4404600"/>
          </a:xfrm>
          <a:prstGeom prst="leftBrace">
            <a:avLst>
              <a:gd fmla="val 50000" name="adj1"/>
              <a:gd fmla="val 50000" name="adj2"/>
            </a:avLst>
          </a:prstGeom>
          <a:noFill/>
          <a:ln cap="flat"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endParaRPr>
          </a:p>
        </p:txBody>
      </p:sp>
      <p:sp>
        <p:nvSpPr>
          <p:cNvPr id="589" name="Google Shape;589;p73"/>
          <p:cNvSpPr/>
          <p:nvPr/>
        </p:nvSpPr>
        <p:spPr>
          <a:xfrm flipH="1" rot="5400000">
            <a:off x="1949150" y="3338925"/>
            <a:ext cx="96600" cy="821400"/>
          </a:xfrm>
          <a:prstGeom prst="leftBrace">
            <a:avLst>
              <a:gd fmla="val 50000" name="adj1"/>
              <a:gd fmla="val 50000" name="adj2"/>
            </a:avLst>
          </a:prstGeom>
          <a:noFill/>
          <a:ln cap="flat" cmpd="sng" w="19050">
            <a:solidFill>
              <a:srgbClr val="082D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endParaRPr>
          </a:p>
        </p:txBody>
      </p:sp>
      <p:sp>
        <p:nvSpPr>
          <p:cNvPr id="590" name="Google Shape;590;p73"/>
          <p:cNvSpPr txBox="1"/>
          <p:nvPr/>
        </p:nvSpPr>
        <p:spPr>
          <a:xfrm>
            <a:off x="4164250" y="3976125"/>
            <a:ext cx="1504500" cy="274200"/>
          </a:xfrm>
          <a:prstGeom prst="rect">
            <a:avLst/>
          </a:prstGeom>
          <a:noFill/>
          <a:ln>
            <a:noFill/>
          </a:ln>
        </p:spPr>
        <p:txBody>
          <a:bodyPr anchorCtr="0" anchor="t" bIns="91425" lIns="0" spcFirstLastPara="1" rIns="0" wrap="square" tIns="0">
            <a:noAutofit/>
          </a:bodyPr>
          <a:lstStyle/>
          <a:p>
            <a:pPr indent="0" lvl="0" marL="0" rtl="0" algn="ctr">
              <a:lnSpc>
                <a:spcPct val="115000"/>
              </a:lnSpc>
              <a:spcBef>
                <a:spcPts val="0"/>
              </a:spcBef>
              <a:spcAft>
                <a:spcPts val="1200"/>
              </a:spcAft>
              <a:buNone/>
            </a:pPr>
            <a:r>
              <a:rPr lang="en">
                <a:solidFill>
                  <a:srgbClr val="082D49"/>
                </a:solidFill>
                <a:latin typeface="Roboto"/>
                <a:ea typeface="Roboto"/>
                <a:cs typeface="Roboto"/>
                <a:sym typeface="Roboto"/>
              </a:rPr>
              <a:t>Password Hash</a:t>
            </a:r>
            <a:endParaRPr>
              <a:solidFill>
                <a:srgbClr val="082D49"/>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Syntax Options</a:t>
            </a:r>
            <a:endParaRPr/>
          </a:p>
        </p:txBody>
      </p:sp>
      <p:sp>
        <p:nvSpPr>
          <p:cNvPr id="596" name="Google Shape;596;p7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Running John the Ripper</a:t>
            </a:r>
            <a:endParaRPr/>
          </a:p>
        </p:txBody>
      </p:sp>
      <p:pic>
        <p:nvPicPr>
          <p:cNvPr id="597" name="Google Shape;597;p74"/>
          <p:cNvPicPr preferRelativeResize="0"/>
          <p:nvPr/>
        </p:nvPicPr>
        <p:blipFill>
          <a:blip r:embed="rId3">
            <a:alphaModFix/>
          </a:blip>
          <a:stretch>
            <a:fillRect/>
          </a:stretch>
        </p:blipFill>
        <p:spPr>
          <a:xfrm>
            <a:off x="280434" y="320099"/>
            <a:ext cx="353529" cy="274200"/>
          </a:xfrm>
          <a:prstGeom prst="rect">
            <a:avLst/>
          </a:prstGeom>
          <a:noFill/>
          <a:ln>
            <a:noFill/>
          </a:ln>
        </p:spPr>
      </p:pic>
      <p:sp>
        <p:nvSpPr>
          <p:cNvPr id="598" name="Google Shape;598;p74"/>
          <p:cNvSpPr txBox="1"/>
          <p:nvPr/>
        </p:nvSpPr>
        <p:spPr>
          <a:xfrm>
            <a:off x="181950" y="927100"/>
            <a:ext cx="8780100" cy="2780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800">
                <a:solidFill>
                  <a:schemeClr val="dk2"/>
                </a:solidFill>
                <a:latin typeface="Roboto"/>
                <a:ea typeface="Roboto"/>
                <a:cs typeface="Roboto"/>
                <a:sym typeface="Roboto"/>
              </a:rPr>
              <a:t>Basic Usage</a:t>
            </a:r>
            <a:endParaRPr sz="1800">
              <a:solidFill>
                <a:schemeClr val="dk2"/>
              </a:solidFill>
              <a:latin typeface="Roboto"/>
              <a:ea typeface="Roboto"/>
              <a:cs typeface="Roboto"/>
              <a:sym typeface="Roboto"/>
            </a:endParaRPr>
          </a:p>
          <a:p>
            <a:pPr indent="0" lvl="0" marL="457200" rtl="0" algn="ctr">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chemeClr val="dk2"/>
                </a:solidFill>
                <a:latin typeface="Roboto"/>
                <a:ea typeface="Roboto"/>
                <a:cs typeface="Roboto"/>
                <a:sym typeface="Roboto"/>
              </a:rPr>
              <a:t>Pre-defined wordlist</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rPr lang="en" sz="2300">
                <a:solidFill>
                  <a:srgbClr val="FFFFFF"/>
                </a:solidFill>
                <a:latin typeface="Inconsolata"/>
                <a:ea typeface="Inconsolata"/>
                <a:cs typeface="Inconsolata"/>
                <a:sym typeface="Inconsolata"/>
              </a:rPr>
              <a:t>john &lt;hashlist&gt;</a:t>
            </a:r>
            <a:endParaRPr sz="2300">
              <a:solidFill>
                <a:srgbClr val="FCB912"/>
              </a:solidFill>
              <a:latin typeface="Inconsolata"/>
              <a:ea typeface="Inconsolata"/>
              <a:cs typeface="Inconsolata"/>
              <a:sym typeface="Inconsolata"/>
            </a:endParaRPr>
          </a:p>
          <a:p>
            <a:pPr indent="0" lvl="0" marL="0" rtl="0" algn="ctr">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rPr lang="en" sz="1800">
                <a:solidFill>
                  <a:schemeClr val="dk2"/>
                </a:solidFill>
                <a:latin typeface="Roboto"/>
                <a:ea typeface="Roboto"/>
                <a:cs typeface="Roboto"/>
                <a:sym typeface="Roboto"/>
              </a:rPr>
              <a:t>Cracked hashes</a:t>
            </a:r>
            <a:endParaRPr sz="1800">
              <a:solidFill>
                <a:schemeClr val="dk2"/>
              </a:solidFill>
              <a:latin typeface="Roboto"/>
              <a:ea typeface="Roboto"/>
              <a:cs typeface="Roboto"/>
              <a:sym typeface="Roboto"/>
            </a:endParaRPr>
          </a:p>
          <a:p>
            <a:pPr indent="0" lvl="0" marL="0" rtl="0" algn="ctr">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sp>
        <p:nvSpPr>
          <p:cNvPr id="599" name="Google Shape;599;p74"/>
          <p:cNvSpPr txBox="1"/>
          <p:nvPr/>
        </p:nvSpPr>
        <p:spPr>
          <a:xfrm>
            <a:off x="586050" y="1290125"/>
            <a:ext cx="7971900" cy="528600"/>
          </a:xfrm>
          <a:prstGeom prst="rect">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300">
                <a:solidFill>
                  <a:srgbClr val="FFFFFF"/>
                </a:solidFill>
                <a:latin typeface="Inconsolata"/>
                <a:ea typeface="Inconsolata"/>
                <a:cs typeface="Inconsolata"/>
                <a:sym typeface="Inconsolata"/>
              </a:rPr>
              <a:t>j</a:t>
            </a:r>
            <a:r>
              <a:rPr lang="en" sz="2300">
                <a:solidFill>
                  <a:srgbClr val="FFFFFF"/>
                </a:solidFill>
                <a:latin typeface="Inconsolata"/>
                <a:ea typeface="Inconsolata"/>
                <a:cs typeface="Inconsolata"/>
                <a:sym typeface="Inconsolata"/>
              </a:rPr>
              <a:t>ohn &lt;hashlist&gt;</a:t>
            </a:r>
            <a:endParaRPr sz="2300">
              <a:solidFill>
                <a:srgbClr val="FCB912"/>
              </a:solidFill>
              <a:latin typeface="Inconsolata"/>
              <a:ea typeface="Inconsolata"/>
              <a:cs typeface="Inconsolata"/>
              <a:sym typeface="Inconsolata"/>
            </a:endParaRPr>
          </a:p>
        </p:txBody>
      </p:sp>
      <p:sp>
        <p:nvSpPr>
          <p:cNvPr id="600" name="Google Shape;600;p74"/>
          <p:cNvSpPr txBox="1"/>
          <p:nvPr/>
        </p:nvSpPr>
        <p:spPr>
          <a:xfrm>
            <a:off x="586050" y="2280963"/>
            <a:ext cx="7971900" cy="528600"/>
          </a:xfrm>
          <a:prstGeom prst="rect">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300">
                <a:solidFill>
                  <a:srgbClr val="FFFFFF"/>
                </a:solidFill>
                <a:latin typeface="Inconsolata"/>
                <a:ea typeface="Inconsolata"/>
                <a:cs typeface="Inconsolata"/>
                <a:sym typeface="Inconsolata"/>
              </a:rPr>
              <a:t>john &lt;hashlist&gt; </a:t>
            </a:r>
            <a:r>
              <a:rPr lang="en" sz="2300">
                <a:solidFill>
                  <a:srgbClr val="FFFFFF"/>
                </a:solidFill>
                <a:latin typeface="Inconsolata"/>
                <a:ea typeface="Inconsolata"/>
                <a:cs typeface="Inconsolata"/>
                <a:sym typeface="Inconsolata"/>
              </a:rPr>
              <a:t>--wordlist=/path/to/wordlist</a:t>
            </a:r>
            <a:endParaRPr sz="2300">
              <a:solidFill>
                <a:srgbClr val="FCB912"/>
              </a:solidFill>
              <a:latin typeface="Inconsolata"/>
              <a:ea typeface="Inconsolata"/>
              <a:cs typeface="Inconsolata"/>
              <a:sym typeface="Inconsolata"/>
            </a:endParaRPr>
          </a:p>
        </p:txBody>
      </p:sp>
      <p:sp>
        <p:nvSpPr>
          <p:cNvPr id="601" name="Google Shape;601;p74"/>
          <p:cNvSpPr txBox="1"/>
          <p:nvPr/>
        </p:nvSpPr>
        <p:spPr>
          <a:xfrm>
            <a:off x="586050" y="3271825"/>
            <a:ext cx="7971900" cy="528600"/>
          </a:xfrm>
          <a:prstGeom prst="rect">
            <a:avLst/>
          </a:pr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300">
                <a:solidFill>
                  <a:srgbClr val="FFFFFF"/>
                </a:solidFill>
                <a:latin typeface="Inconsolata"/>
                <a:ea typeface="Inconsolata"/>
                <a:cs typeface="Inconsolata"/>
                <a:sym typeface="Inconsolata"/>
              </a:rPr>
              <a:t>john --show </a:t>
            </a:r>
            <a:r>
              <a:rPr lang="en" sz="2300">
                <a:solidFill>
                  <a:schemeClr val="lt1"/>
                </a:solidFill>
                <a:latin typeface="Inconsolata"/>
                <a:ea typeface="Inconsolata"/>
                <a:cs typeface="Inconsolata"/>
                <a:sym typeface="Inconsolata"/>
              </a:rPr>
              <a:t>&lt;hashlist&gt;</a:t>
            </a:r>
            <a:endParaRPr sz="2300">
              <a:solidFill>
                <a:srgbClr val="FCB912"/>
              </a:solidFill>
              <a:latin typeface="Inconsolata"/>
              <a:ea typeface="Inconsolata"/>
              <a:cs typeface="Inconsolata"/>
              <a:sym typeface="Inconsolat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5"/>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607" name="Google Shape;607;p75"/>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Talk to John</a:t>
            </a:r>
            <a:endParaRPr/>
          </a:p>
        </p:txBody>
      </p:sp>
      <p:sp>
        <p:nvSpPr>
          <p:cNvPr id="608" name="Google Shape;608;p75"/>
          <p:cNvSpPr txBox="1"/>
          <p:nvPr>
            <p:ph idx="3" type="body"/>
          </p:nvPr>
        </p:nvSpPr>
        <p:spPr>
          <a:xfrm>
            <a:off x="459075" y="1363425"/>
            <a:ext cx="78822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your role as a junior administrator auditing the system. Now, the focus will be on passwords.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use john, which we installed in the previous class, to crack the password hashes for several of the users on our system.</a:t>
            </a:r>
            <a:endParaRPr/>
          </a:p>
        </p:txBody>
      </p:sp>
      <p:pic>
        <p:nvPicPr>
          <p:cNvPr id="609" name="Google Shape;609;p75"/>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8"/>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Privileges, </a:t>
            </a:r>
            <a:r>
              <a:rPr lang="en">
                <a:latin typeface="Inconsolata"/>
                <a:ea typeface="Inconsolata"/>
                <a:cs typeface="Inconsolata"/>
                <a:sym typeface="Inconsolata"/>
              </a:rPr>
              <a:t>root</a:t>
            </a:r>
            <a:r>
              <a:rPr b="0" lang="en">
                <a:latin typeface="Roboto"/>
                <a:ea typeface="Roboto"/>
                <a:cs typeface="Roboto"/>
                <a:sym typeface="Roboto"/>
              </a:rPr>
              <a:t>, </a:t>
            </a:r>
            <a:r>
              <a:rPr lang="en">
                <a:latin typeface="Inconsolata"/>
                <a:ea typeface="Inconsolata"/>
                <a:cs typeface="Inconsolata"/>
                <a:sym typeface="Inconsolata"/>
              </a:rPr>
              <a:t>sudo</a:t>
            </a:r>
            <a:r>
              <a:rPr b="0" lang="en">
                <a:latin typeface="Roboto"/>
                <a:ea typeface="Roboto"/>
                <a:cs typeface="Roboto"/>
                <a:sym typeface="Roboto"/>
              </a:rPr>
              <a:t>, and</a:t>
            </a:r>
            <a:r>
              <a:rPr lang="en">
                <a:latin typeface="Inconsolata"/>
                <a:ea typeface="Inconsolata"/>
                <a:cs typeface="Inconsolata"/>
                <a:sym typeface="Inconsolata"/>
              </a:rPr>
              <a:t> su</a:t>
            </a:r>
            <a:endParaRPr>
              <a:latin typeface="Inconsolata"/>
              <a:ea typeface="Inconsolata"/>
              <a:cs typeface="Inconsolata"/>
              <a:sym typeface="Inconsolata"/>
            </a:endParaRPr>
          </a:p>
        </p:txBody>
      </p:sp>
      <p:pic>
        <p:nvPicPr>
          <p:cNvPr id="623" name="Google Shape;623;p78"/>
          <p:cNvPicPr preferRelativeResize="0"/>
          <p:nvPr/>
        </p:nvPicPr>
        <p:blipFill>
          <a:blip r:embed="rId3">
            <a:alphaModFix/>
          </a:blip>
          <a:stretch>
            <a:fillRect/>
          </a:stretch>
        </p:blipFill>
        <p:spPr>
          <a:xfrm>
            <a:off x="3783825" y="1666125"/>
            <a:ext cx="1101350" cy="1081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9"/>
          <p:cNvSpPr txBox="1"/>
          <p:nvPr>
            <p:ph idx="1" type="body"/>
          </p:nvPr>
        </p:nvSpPr>
        <p:spPr>
          <a:xfrm>
            <a:off x="3657600" y="927100"/>
            <a:ext cx="4841400" cy="41511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000"/>
              <a:t>We’ve used </a:t>
            </a:r>
            <a:r>
              <a:rPr b="1" lang="en" sz="3000">
                <a:latin typeface="Inconsolata"/>
                <a:ea typeface="Inconsolata"/>
                <a:cs typeface="Inconsolata"/>
                <a:sym typeface="Inconsolata"/>
              </a:rPr>
              <a:t>sudo </a:t>
            </a:r>
            <a:r>
              <a:rPr lang="en" sz="3000"/>
              <a:t>for several commands in this unit.</a:t>
            </a:r>
            <a:br>
              <a:rPr lang="en" sz="3000"/>
            </a:br>
            <a:endParaRPr sz="3000"/>
          </a:p>
          <a:p>
            <a:pPr indent="0" lvl="0" marL="0" rtl="0" algn="l">
              <a:spcBef>
                <a:spcPts val="0"/>
              </a:spcBef>
              <a:spcAft>
                <a:spcPts val="0"/>
              </a:spcAft>
              <a:buNone/>
            </a:pPr>
            <a:r>
              <a:rPr lang="en" sz="3000"/>
              <a:t>Why do you think some commands require </a:t>
            </a:r>
            <a:r>
              <a:rPr b="1" lang="en" sz="3000">
                <a:latin typeface="Inconsolata"/>
                <a:ea typeface="Inconsolata"/>
                <a:cs typeface="Inconsolata"/>
                <a:sym typeface="Inconsolata"/>
              </a:rPr>
              <a:t>sudo </a:t>
            </a:r>
            <a:r>
              <a:rPr lang="en" sz="3000"/>
              <a:t>and others don’t?  </a:t>
            </a:r>
            <a:endParaRPr sz="3000"/>
          </a:p>
          <a:p>
            <a:pPr indent="0" lvl="0" marL="0" rtl="0" algn="l">
              <a:spcBef>
                <a:spcPts val="0"/>
              </a:spcBef>
              <a:spcAft>
                <a:spcPts val="0"/>
              </a:spcAft>
              <a:buNone/>
            </a:pPr>
            <a:r>
              <a:t/>
            </a:r>
            <a:endParaRPr sz="3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0"/>
          <p:cNvSpPr txBox="1"/>
          <p:nvPr>
            <p:ph type="title"/>
          </p:nvPr>
        </p:nvSpPr>
        <p:spPr>
          <a:xfrm>
            <a:off x="8050" y="218850"/>
            <a:ext cx="9144000" cy="4767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5"/>
                </a:solidFill>
              </a:rPr>
              <a:t>Privileges and Users</a:t>
            </a:r>
            <a:endParaRPr>
              <a:solidFill>
                <a:schemeClr val="accent5"/>
              </a:solidFill>
            </a:endParaRPr>
          </a:p>
        </p:txBody>
      </p:sp>
      <p:sp>
        <p:nvSpPr>
          <p:cNvPr id="634" name="Google Shape;634;p80"/>
          <p:cNvSpPr txBox="1"/>
          <p:nvPr>
            <p:ph idx="4294967295" type="subTitle"/>
          </p:nvPr>
        </p:nvSpPr>
        <p:spPr>
          <a:xfrm>
            <a:off x="573775" y="1937825"/>
            <a:ext cx="2137500" cy="26628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sz="1400"/>
              <a:t>Every file and program on a Linux system has permissions. </a:t>
            </a:r>
            <a:endParaRPr sz="1400"/>
          </a:p>
          <a:p>
            <a:pPr indent="0" lvl="0" marL="0" rtl="0" algn="l">
              <a:spcBef>
                <a:spcPts val="1000"/>
              </a:spcBef>
              <a:spcAft>
                <a:spcPts val="1000"/>
              </a:spcAft>
              <a:buNone/>
            </a:pPr>
            <a:r>
              <a:rPr lang="en" sz="1400"/>
              <a:t>These permissions tell the system which users can access a file or run a program. </a:t>
            </a:r>
            <a:endParaRPr sz="1400"/>
          </a:p>
        </p:txBody>
      </p:sp>
      <p:sp>
        <p:nvSpPr>
          <p:cNvPr id="635" name="Google Shape;635;p80"/>
          <p:cNvSpPr txBox="1"/>
          <p:nvPr>
            <p:ph idx="4294967295" type="subTitle"/>
          </p:nvPr>
        </p:nvSpPr>
        <p:spPr>
          <a:xfrm>
            <a:off x="3511300" y="1937825"/>
            <a:ext cx="2137500" cy="2662800"/>
          </a:xfrm>
          <a:prstGeom prst="rect">
            <a:avLst/>
          </a:prstGeom>
        </p:spPr>
        <p:txBody>
          <a:bodyPr anchorCtr="0" anchor="t" bIns="91425" lIns="0" spcFirstLastPara="1" rIns="91425" wrap="square" tIns="0">
            <a:noAutofit/>
          </a:bodyPr>
          <a:lstStyle/>
          <a:p>
            <a:pPr indent="0" lvl="0" marL="0" rtl="0" algn="l">
              <a:spcBef>
                <a:spcPts val="0"/>
              </a:spcBef>
              <a:spcAft>
                <a:spcPts val="1000"/>
              </a:spcAft>
              <a:buNone/>
            </a:pPr>
            <a:r>
              <a:rPr lang="en" sz="1400"/>
              <a:t>Users can be placed in groups, which can have their own permissions. </a:t>
            </a:r>
            <a:endParaRPr sz="1400"/>
          </a:p>
        </p:txBody>
      </p:sp>
      <p:sp>
        <p:nvSpPr>
          <p:cNvPr id="636" name="Google Shape;636;p80"/>
          <p:cNvSpPr txBox="1"/>
          <p:nvPr>
            <p:ph idx="4294967295" type="subTitle"/>
          </p:nvPr>
        </p:nvSpPr>
        <p:spPr>
          <a:xfrm>
            <a:off x="6448825" y="1937825"/>
            <a:ext cx="2185500" cy="26628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chemeClr val="dk1"/>
              </a:buClr>
              <a:buSzPts val="1100"/>
              <a:buFont typeface="Arial"/>
              <a:buNone/>
            </a:pPr>
            <a:r>
              <a:rPr lang="en" sz="1400"/>
              <a:t>File and program permissions apply to all users </a:t>
            </a:r>
            <a:r>
              <a:rPr b="1" lang="en" sz="1400">
                <a:latin typeface="Roboto"/>
                <a:ea typeface="Roboto"/>
                <a:cs typeface="Roboto"/>
                <a:sym typeface="Roboto"/>
              </a:rPr>
              <a:t>except </a:t>
            </a:r>
            <a:r>
              <a:rPr lang="en" sz="1400"/>
              <a:t>the root. </a:t>
            </a:r>
            <a:endParaRPr sz="1400"/>
          </a:p>
          <a:p>
            <a:pPr indent="0" lvl="0" marL="0" rtl="0" algn="l">
              <a:spcBef>
                <a:spcPts val="1000"/>
              </a:spcBef>
              <a:spcAft>
                <a:spcPts val="1000"/>
              </a:spcAft>
              <a:buNone/>
            </a:pPr>
            <a:r>
              <a:rPr lang="en" sz="1400"/>
              <a:t>The root user (or super user) has complete access to the system and can perform any task. </a:t>
            </a:r>
            <a:endParaRPr sz="1400"/>
          </a:p>
        </p:txBody>
      </p:sp>
      <p:sp>
        <p:nvSpPr>
          <p:cNvPr id="637" name="Google Shape;637;p80"/>
          <p:cNvSpPr txBox="1"/>
          <p:nvPr>
            <p:ph idx="4294967295" type="subTitle"/>
          </p:nvPr>
        </p:nvSpPr>
        <p:spPr>
          <a:xfrm>
            <a:off x="573775" y="1345000"/>
            <a:ext cx="2068800" cy="476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solidFill>
                  <a:schemeClr val="lt1"/>
                </a:solidFill>
              </a:rPr>
              <a:t>Users</a:t>
            </a:r>
            <a:endParaRPr sz="1800">
              <a:solidFill>
                <a:schemeClr val="lt1"/>
              </a:solidFill>
            </a:endParaRPr>
          </a:p>
        </p:txBody>
      </p:sp>
      <p:sp>
        <p:nvSpPr>
          <p:cNvPr id="638" name="Google Shape;638;p80"/>
          <p:cNvSpPr txBox="1"/>
          <p:nvPr>
            <p:ph idx="4294967295" type="subTitle"/>
          </p:nvPr>
        </p:nvSpPr>
        <p:spPr>
          <a:xfrm>
            <a:off x="3526700" y="1345000"/>
            <a:ext cx="2068800" cy="476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solidFill>
                  <a:schemeClr val="dk2"/>
                </a:solidFill>
              </a:rPr>
              <a:t>Groups</a:t>
            </a:r>
            <a:endParaRPr sz="1800">
              <a:solidFill>
                <a:schemeClr val="dk2"/>
              </a:solidFill>
            </a:endParaRPr>
          </a:p>
        </p:txBody>
      </p:sp>
      <p:sp>
        <p:nvSpPr>
          <p:cNvPr id="639" name="Google Shape;639;p80"/>
          <p:cNvSpPr txBox="1"/>
          <p:nvPr>
            <p:ph idx="4294967295" type="subTitle"/>
          </p:nvPr>
        </p:nvSpPr>
        <p:spPr>
          <a:xfrm>
            <a:off x="6479500" y="1345000"/>
            <a:ext cx="2068800" cy="4767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sz="1800">
                <a:solidFill>
                  <a:schemeClr val="lt1"/>
                </a:solidFill>
              </a:rPr>
              <a:t>Root</a:t>
            </a:r>
            <a:endParaRPr sz="1800">
              <a:solidFill>
                <a:schemeClr val="lt1"/>
              </a:solidFill>
            </a:endParaRPr>
          </a:p>
        </p:txBody>
      </p:sp>
      <p:sp>
        <p:nvSpPr>
          <p:cNvPr id="640" name="Google Shape;640;p80"/>
          <p:cNvSpPr txBox="1"/>
          <p:nvPr>
            <p:ph idx="2" type="title"/>
          </p:nvPr>
        </p:nvSpPr>
        <p:spPr>
          <a:xfrm>
            <a:off x="-4250" y="604000"/>
            <a:ext cx="9168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sz="1700">
                <a:latin typeface="Roboto"/>
                <a:ea typeface="Roboto"/>
                <a:cs typeface="Roboto"/>
                <a:sym typeface="Roboto"/>
              </a:rPr>
              <a:t>Why do we need to use sudo for some commands, and not others? </a:t>
            </a:r>
            <a:endParaRPr sz="1700">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1"/>
          <p:cNvSpPr txBox="1"/>
          <p:nvPr>
            <p:ph type="title"/>
          </p:nvPr>
        </p:nvSpPr>
        <p:spPr>
          <a:xfrm>
            <a:off x="38862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Switching Users</a:t>
            </a:r>
            <a:endParaRPr/>
          </a:p>
        </p:txBody>
      </p:sp>
      <p:sp>
        <p:nvSpPr>
          <p:cNvPr id="646" name="Google Shape;646;p81"/>
          <p:cNvSpPr txBox="1"/>
          <p:nvPr>
            <p:ph idx="1" type="body"/>
          </p:nvPr>
        </p:nvSpPr>
        <p:spPr>
          <a:xfrm>
            <a:off x="3886200" y="1054550"/>
            <a:ext cx="5025600" cy="34533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Linux, you can access different users with </a:t>
            </a:r>
            <a:r>
              <a:rPr b="1" lang="en">
                <a:latin typeface="Inconsolata"/>
                <a:ea typeface="Inconsolata"/>
                <a:cs typeface="Inconsolata"/>
                <a:sym typeface="Inconsolata"/>
              </a:rPr>
              <a:t>su</a:t>
            </a:r>
            <a:endParaRPr b="1">
              <a:latin typeface="Inconsolata"/>
              <a:ea typeface="Inconsolata"/>
              <a:cs typeface="Inconsolata"/>
              <a:sym typeface="Inconsolata"/>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“Switch User”</a:t>
            </a:r>
            <a:endParaRPr/>
          </a:p>
          <a:p>
            <a:pPr indent="-342900" lvl="0" marL="457200" rtl="0" algn="l">
              <a:spcBef>
                <a:spcPts val="0"/>
              </a:spcBef>
              <a:spcAft>
                <a:spcPts val="0"/>
              </a:spcAft>
              <a:buSzPts val="1800"/>
              <a:buFont typeface="Inconsolata"/>
              <a:buChar char="●"/>
            </a:pPr>
            <a:r>
              <a:rPr b="1" lang="en">
                <a:latin typeface="Inconsolata"/>
                <a:ea typeface="Inconsolata"/>
                <a:cs typeface="Inconsolata"/>
                <a:sym typeface="Inconsolata"/>
              </a:rPr>
              <a:t>s</a:t>
            </a:r>
            <a:r>
              <a:rPr b="1" lang="en">
                <a:latin typeface="Inconsolata"/>
                <a:ea typeface="Inconsolata"/>
                <a:cs typeface="Inconsolata"/>
                <a:sym typeface="Inconsolata"/>
              </a:rPr>
              <a:t>u &lt;username&gt;</a:t>
            </a:r>
            <a:endParaRPr b="1">
              <a:latin typeface="Inconsolata"/>
              <a:ea typeface="Inconsolata"/>
              <a:cs typeface="Inconsolata"/>
              <a:sym typeface="Inconsolata"/>
            </a:endParaRPr>
          </a:p>
          <a:p>
            <a:pPr indent="-342900" lvl="0" marL="457200" rtl="0" algn="l">
              <a:spcBef>
                <a:spcPts val="0"/>
              </a:spcBef>
              <a:spcAft>
                <a:spcPts val="0"/>
              </a:spcAft>
              <a:buSzPts val="1800"/>
              <a:buChar char="●"/>
            </a:pPr>
            <a:r>
              <a:rPr lang="en"/>
              <a:t>Helpful for troubleshooting</a:t>
            </a:r>
            <a:endParaRPr/>
          </a:p>
          <a:p>
            <a:pPr indent="-342900" lvl="0" marL="457200" rtl="0" algn="l">
              <a:spcBef>
                <a:spcPts val="0"/>
              </a:spcBef>
              <a:spcAft>
                <a:spcPts val="0"/>
              </a:spcAft>
              <a:buSzPts val="1800"/>
              <a:buChar char="●"/>
            </a:pPr>
            <a:r>
              <a:rPr lang="en"/>
              <a:t>Imitate the user</a:t>
            </a:r>
            <a:endParaRPr/>
          </a:p>
        </p:txBody>
      </p:sp>
      <p:sp>
        <p:nvSpPr>
          <p:cNvPr id="647" name="Google Shape;647;p81"/>
          <p:cNvSpPr txBox="1"/>
          <p:nvPr>
            <p:ph idx="3" type="subTitle"/>
          </p:nvPr>
        </p:nvSpPr>
        <p:spPr>
          <a:xfrm>
            <a:off x="3889886" y="548650"/>
            <a:ext cx="50256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Elevating Privileges</a:t>
            </a:r>
            <a:endParaRPr/>
          </a:p>
        </p:txBody>
      </p:sp>
      <p:pic>
        <p:nvPicPr>
          <p:cNvPr id="648" name="Google Shape;648;p81"/>
          <p:cNvPicPr preferRelativeResize="0"/>
          <p:nvPr/>
        </p:nvPicPr>
        <p:blipFill rotWithShape="1">
          <a:blip r:embed="rId3">
            <a:alphaModFix/>
          </a:blip>
          <a:srcRect b="0" l="-812" r="-1983" t="0"/>
          <a:stretch/>
        </p:blipFill>
        <p:spPr>
          <a:xfrm>
            <a:off x="524725" y="589200"/>
            <a:ext cx="2659437" cy="402017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grpSp>
        <p:nvGrpSpPr>
          <p:cNvPr id="653" name="Google Shape;653;p82"/>
          <p:cNvGrpSpPr/>
          <p:nvPr/>
        </p:nvGrpSpPr>
        <p:grpSpPr>
          <a:xfrm>
            <a:off x="-3" y="1068217"/>
            <a:ext cx="8686828" cy="400200"/>
            <a:chOff x="-3" y="1885788"/>
            <a:chExt cx="8686828" cy="400200"/>
          </a:xfrm>
        </p:grpSpPr>
        <p:cxnSp>
          <p:nvCxnSpPr>
            <p:cNvPr id="654" name="Google Shape;654;p82"/>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655" name="Google Shape;655;p82"/>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656" name="Google Shape;656;p82"/>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82"/>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58" name="Google Shape;658;p82"/>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659" name="Google Shape;659;p82"/>
          <p:cNvGrpSpPr/>
          <p:nvPr/>
        </p:nvGrpSpPr>
        <p:grpSpPr>
          <a:xfrm>
            <a:off x="-3" y="1753959"/>
            <a:ext cx="8686828" cy="400200"/>
            <a:chOff x="-3" y="2566213"/>
            <a:chExt cx="8686828" cy="400200"/>
          </a:xfrm>
        </p:grpSpPr>
        <p:cxnSp>
          <p:nvCxnSpPr>
            <p:cNvPr id="660" name="Google Shape;660;p82"/>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661" name="Google Shape;661;p82"/>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82"/>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63" name="Google Shape;663;p82"/>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664" name="Google Shape;664;p82"/>
          <p:cNvGrpSpPr/>
          <p:nvPr/>
        </p:nvGrpSpPr>
        <p:grpSpPr>
          <a:xfrm>
            <a:off x="-3" y="2439701"/>
            <a:ext cx="8684268" cy="402300"/>
            <a:chOff x="-3" y="3236976"/>
            <a:chExt cx="8684268" cy="402300"/>
          </a:xfrm>
        </p:grpSpPr>
        <p:cxnSp>
          <p:nvCxnSpPr>
            <p:cNvPr id="665" name="Google Shape;665;p82"/>
            <p:cNvCxnSpPr/>
            <p:nvPr/>
          </p:nvCxnSpPr>
          <p:spPr>
            <a:xfrm>
              <a:off x="-3" y="3438126"/>
              <a:ext cx="686400" cy="0"/>
            </a:xfrm>
            <a:prstGeom prst="straightConnector1">
              <a:avLst/>
            </a:prstGeom>
            <a:noFill/>
            <a:ln cap="flat" cmpd="sng" w="19050">
              <a:solidFill>
                <a:schemeClr val="accent6"/>
              </a:solidFill>
              <a:prstDash val="solid"/>
              <a:round/>
              <a:headEnd len="sm" w="sm" type="none"/>
              <a:tailEnd len="med" w="med" type="oval"/>
            </a:ln>
          </p:spPr>
        </p:cxnSp>
        <p:sp>
          <p:nvSpPr>
            <p:cNvPr id="666" name="Google Shape;666;p82"/>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82"/>
            <p:cNvSpPr/>
            <p:nvPr/>
          </p:nvSpPr>
          <p:spPr>
            <a:xfrm>
              <a:off x="511040" y="3275676"/>
              <a:ext cx="323100" cy="3249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68" name="Google Shape;668;p82"/>
            <p:cNvSpPr/>
            <p:nvPr/>
          </p:nvSpPr>
          <p:spPr>
            <a:xfrm>
              <a:off x="590840" y="3355926"/>
              <a:ext cx="163500" cy="164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669" name="Google Shape;669;p82"/>
          <p:cNvGrpSpPr/>
          <p:nvPr/>
        </p:nvGrpSpPr>
        <p:grpSpPr>
          <a:xfrm>
            <a:off x="-3" y="3124622"/>
            <a:ext cx="8686828" cy="400200"/>
            <a:chOff x="-3" y="2566213"/>
            <a:chExt cx="8686828" cy="400200"/>
          </a:xfrm>
        </p:grpSpPr>
        <p:cxnSp>
          <p:nvCxnSpPr>
            <p:cNvPr id="670" name="Google Shape;670;p82"/>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671" name="Google Shape;671;p82"/>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82"/>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73" name="Google Shape;673;p82"/>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674" name="Google Shape;674;p82"/>
          <p:cNvSpPr txBox="1"/>
          <p:nvPr>
            <p:ph idx="4294967295" type="body"/>
          </p:nvPr>
        </p:nvSpPr>
        <p:spPr>
          <a:xfrm>
            <a:off x="914400" y="1009045"/>
            <a:ext cx="7772400" cy="57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Properly secured Linux systems do not allow anyone to </a:t>
            </a:r>
            <a:r>
              <a:rPr lang="en"/>
              <a:t>login</a:t>
            </a:r>
            <a:r>
              <a:rPr lang="en"/>
              <a:t> as </a:t>
            </a:r>
            <a:r>
              <a:rPr b="1" lang="en">
                <a:latin typeface="Inconsolata"/>
                <a:ea typeface="Inconsolata"/>
                <a:cs typeface="Inconsolata"/>
                <a:sym typeface="Inconsolata"/>
              </a:rPr>
              <a:t>root</a:t>
            </a:r>
            <a:endParaRPr b="1">
              <a:latin typeface="Inconsolata"/>
              <a:ea typeface="Inconsolata"/>
              <a:cs typeface="Inconsolata"/>
              <a:sym typeface="Inconsolata"/>
            </a:endParaRPr>
          </a:p>
        </p:txBody>
      </p:sp>
      <p:sp>
        <p:nvSpPr>
          <p:cNvPr id="675" name="Google Shape;675;p82"/>
          <p:cNvSpPr txBox="1"/>
          <p:nvPr>
            <p:ph idx="4294967295" type="body"/>
          </p:nvPr>
        </p:nvSpPr>
        <p:spPr>
          <a:xfrm>
            <a:off x="914400" y="177079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latin typeface="Inconsolata"/>
                <a:ea typeface="Inconsolata"/>
                <a:cs typeface="Inconsolata"/>
                <a:sym typeface="Inconsolata"/>
              </a:rPr>
              <a:t>s</a:t>
            </a:r>
            <a:r>
              <a:rPr b="1" lang="en">
                <a:latin typeface="Inconsolata"/>
                <a:ea typeface="Inconsolata"/>
                <a:cs typeface="Inconsolata"/>
                <a:sym typeface="Inconsolata"/>
              </a:rPr>
              <a:t>udo </a:t>
            </a:r>
            <a:r>
              <a:rPr lang="en"/>
              <a:t>stands for </a:t>
            </a:r>
            <a:r>
              <a:rPr b="1" lang="en"/>
              <a:t>“superuser do</a:t>
            </a:r>
            <a:r>
              <a:rPr lang="en"/>
              <a:t>”</a:t>
            </a:r>
            <a:endParaRPr/>
          </a:p>
        </p:txBody>
      </p:sp>
      <p:sp>
        <p:nvSpPr>
          <p:cNvPr id="676" name="Google Shape;676;p82"/>
          <p:cNvSpPr txBox="1"/>
          <p:nvPr>
            <p:ph idx="4294967295" type="body"/>
          </p:nvPr>
        </p:nvSpPr>
        <p:spPr>
          <a:xfrm>
            <a:off x="914400" y="2456335"/>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a:t>After the </a:t>
            </a:r>
            <a:r>
              <a:rPr b="1" lang="en">
                <a:latin typeface="Inconsolata"/>
                <a:ea typeface="Inconsolata"/>
                <a:cs typeface="Inconsolata"/>
                <a:sym typeface="Inconsolata"/>
              </a:rPr>
              <a:t>sudo </a:t>
            </a:r>
            <a:r>
              <a:rPr lang="en"/>
              <a:t>command is run,</a:t>
            </a:r>
            <a:r>
              <a:rPr lang="en"/>
              <a:t> users are reverted to their usual access</a:t>
            </a:r>
            <a:endParaRPr/>
          </a:p>
        </p:txBody>
      </p:sp>
      <p:sp>
        <p:nvSpPr>
          <p:cNvPr id="677" name="Google Shape;677;p82"/>
          <p:cNvSpPr txBox="1"/>
          <p:nvPr>
            <p:ph idx="4294967295" type="body"/>
          </p:nvPr>
        </p:nvSpPr>
        <p:spPr>
          <a:xfrm>
            <a:off x="822975" y="3141872"/>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a:latin typeface="Inconsolata"/>
                <a:ea typeface="Inconsolata"/>
                <a:cs typeface="Inconsolata"/>
                <a:sym typeface="Inconsolata"/>
              </a:rPr>
              <a:t>sudo</a:t>
            </a:r>
            <a:r>
              <a:rPr lang="en"/>
              <a:t> can also control which commands the user can run as root. </a:t>
            </a:r>
            <a:endParaRPr/>
          </a:p>
        </p:txBody>
      </p:sp>
      <p:sp>
        <p:nvSpPr>
          <p:cNvPr id="678" name="Google Shape;678;p8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600"/>
              <a:buNone/>
            </a:pPr>
            <a:r>
              <a:rPr lang="en">
                <a:solidFill>
                  <a:schemeClr val="dk2"/>
                </a:solidFill>
              </a:rPr>
              <a:t>Root Access</a:t>
            </a:r>
            <a:endParaRPr>
              <a:solidFill>
                <a:schemeClr val="dk2"/>
              </a:solidFill>
            </a:endParaRPr>
          </a:p>
          <a:p>
            <a:pPr indent="0" lvl="0" marL="0" rtl="0" algn="l">
              <a:lnSpc>
                <a:spcPct val="100000"/>
              </a:lnSpc>
              <a:spcBef>
                <a:spcPts val="0"/>
              </a:spcBef>
              <a:spcAft>
                <a:spcPts val="0"/>
              </a:spcAft>
              <a:buSzPts val="26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82" name="Shape 682"/>
        <p:cNvGrpSpPr/>
        <p:nvPr/>
      </p:nvGrpSpPr>
      <p:grpSpPr>
        <a:xfrm>
          <a:off x="0" y="0"/>
          <a:ext cx="0" cy="0"/>
          <a:chOff x="0" y="0"/>
          <a:chExt cx="0" cy="0"/>
        </a:xfrm>
      </p:grpSpPr>
      <p:sp>
        <p:nvSpPr>
          <p:cNvPr id="683" name="Google Shape;683;p83"/>
          <p:cNvSpPr txBox="1"/>
          <p:nvPr>
            <p:ph idx="1" type="body"/>
          </p:nvPr>
        </p:nvSpPr>
        <p:spPr>
          <a:xfrm>
            <a:off x="434700" y="1192163"/>
            <a:ext cx="37026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500">
                <a:solidFill>
                  <a:schemeClr val="accent5"/>
                </a:solidFill>
              </a:rPr>
              <a:t>We will attempt to update all of our existing software packages.</a:t>
            </a:r>
            <a:endParaRPr sz="1500">
              <a:solidFill>
                <a:schemeClr val="accent5"/>
              </a:solidFill>
            </a:endParaRPr>
          </a:p>
          <a:p>
            <a:pPr indent="0" lvl="0" marL="0" rtl="0" algn="l">
              <a:spcBef>
                <a:spcPts val="0"/>
              </a:spcBef>
              <a:spcAft>
                <a:spcPts val="0"/>
              </a:spcAft>
              <a:buNone/>
            </a:pPr>
            <a:r>
              <a:t/>
            </a:r>
            <a:endParaRPr sz="1500">
              <a:solidFill>
                <a:schemeClr val="accent5"/>
              </a:solidFill>
            </a:endParaRPr>
          </a:p>
          <a:p>
            <a:pPr indent="-323850" lvl="0" marL="457200" rtl="0" algn="l">
              <a:spcBef>
                <a:spcPts val="0"/>
              </a:spcBef>
              <a:spcAft>
                <a:spcPts val="0"/>
              </a:spcAft>
              <a:buClr>
                <a:schemeClr val="accent5"/>
              </a:buClr>
              <a:buSzPts val="1500"/>
              <a:buChar char="●"/>
            </a:pPr>
            <a:r>
              <a:rPr lang="en" sz="1500">
                <a:solidFill>
                  <a:schemeClr val="accent5"/>
                </a:solidFill>
              </a:rPr>
              <a:t>If our privileges do not allow us to do so, we will first use </a:t>
            </a:r>
            <a:r>
              <a:rPr b="1" lang="en" sz="1500">
                <a:solidFill>
                  <a:schemeClr val="accent5"/>
                </a:solidFill>
                <a:latin typeface="Inconsolata"/>
                <a:ea typeface="Inconsolata"/>
                <a:cs typeface="Inconsolata"/>
                <a:sym typeface="Inconsolata"/>
              </a:rPr>
              <a:t>su</a:t>
            </a:r>
            <a:r>
              <a:rPr lang="en" sz="1500">
                <a:solidFill>
                  <a:schemeClr val="accent5"/>
                </a:solidFill>
              </a:rPr>
              <a:t> to switch directly to the root user.</a:t>
            </a:r>
            <a:endParaRPr sz="1500">
              <a:solidFill>
                <a:schemeClr val="accent5"/>
              </a:solidFill>
            </a:endParaRPr>
          </a:p>
          <a:p>
            <a:pPr indent="-323850" lvl="0" marL="457200" rtl="0" algn="l">
              <a:spcBef>
                <a:spcPts val="1000"/>
              </a:spcBef>
              <a:spcAft>
                <a:spcPts val="0"/>
              </a:spcAft>
              <a:buClr>
                <a:schemeClr val="accent5"/>
              </a:buClr>
              <a:buSzPts val="1500"/>
              <a:buChar char="●"/>
            </a:pPr>
            <a:r>
              <a:rPr lang="en" sz="1500">
                <a:solidFill>
                  <a:schemeClr val="accent5"/>
                </a:solidFill>
              </a:rPr>
              <a:t>We'll then demonstrate the dangers of working directly as the root user.</a:t>
            </a:r>
            <a:endParaRPr sz="1500">
              <a:solidFill>
                <a:schemeClr val="accent5"/>
              </a:solidFill>
            </a:endParaRPr>
          </a:p>
          <a:p>
            <a:pPr indent="-323850" lvl="0" marL="457200" rtl="0" algn="l">
              <a:spcBef>
                <a:spcPts val="1000"/>
              </a:spcBef>
              <a:spcAft>
                <a:spcPts val="0"/>
              </a:spcAft>
              <a:buClr>
                <a:schemeClr val="accent5"/>
              </a:buClr>
              <a:buSzPts val="1500"/>
              <a:buChar char="●"/>
            </a:pPr>
            <a:r>
              <a:rPr lang="en" sz="1500">
                <a:solidFill>
                  <a:schemeClr val="accent5"/>
                </a:solidFill>
              </a:rPr>
              <a:t>We'll then do the same updates by using </a:t>
            </a:r>
            <a:r>
              <a:rPr b="1" lang="en" sz="1500">
                <a:solidFill>
                  <a:schemeClr val="accent5"/>
                </a:solidFill>
                <a:latin typeface="Inconsolata"/>
                <a:ea typeface="Inconsolata"/>
                <a:cs typeface="Inconsolata"/>
                <a:sym typeface="Inconsolata"/>
              </a:rPr>
              <a:t>sudo</a:t>
            </a:r>
            <a:r>
              <a:rPr lang="en" sz="1500">
                <a:solidFill>
                  <a:schemeClr val="accent5"/>
                </a:solidFill>
              </a:rPr>
              <a:t> instead and demonstrate why this is the more secure option.</a:t>
            </a:r>
            <a:endParaRPr sz="1500">
              <a:solidFill>
                <a:schemeClr val="accent5"/>
              </a:solidFill>
            </a:endParaRPr>
          </a:p>
          <a:p>
            <a:pPr indent="0" lvl="0" marL="457200" rtl="0" algn="l">
              <a:spcBef>
                <a:spcPts val="1000"/>
              </a:spcBef>
              <a:spcAft>
                <a:spcPts val="0"/>
              </a:spcAft>
              <a:buNone/>
            </a:pPr>
            <a:r>
              <a:t/>
            </a:r>
            <a:endParaRPr sz="1400"/>
          </a:p>
          <a:p>
            <a:pPr indent="0" lvl="0" marL="457200" rtl="0" algn="l">
              <a:spcBef>
                <a:spcPts val="1000"/>
              </a:spcBef>
              <a:spcAft>
                <a:spcPts val="1000"/>
              </a:spcAft>
              <a:buNone/>
            </a:pPr>
            <a:r>
              <a:rPr lang="en" sz="1400"/>
              <a:t>.</a:t>
            </a:r>
            <a:endParaRPr sz="1400"/>
          </a:p>
        </p:txBody>
      </p:sp>
      <p:cxnSp>
        <p:nvCxnSpPr>
          <p:cNvPr id="684" name="Google Shape;684;p83"/>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685" name="Google Shape;685;p83"/>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686" name="Google Shape;686;p83"/>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83"/>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688" name="Google Shape;688;p83"/>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689" name="Google Shape;689;p83"/>
          <p:cNvPicPr preferRelativeResize="0"/>
          <p:nvPr/>
        </p:nvPicPr>
        <p:blipFill rotWithShape="1">
          <a:blip r:embed="rId4">
            <a:alphaModFix/>
          </a:blip>
          <a:srcRect b="-6765" l="0" r="0" t="-5253"/>
          <a:stretch/>
        </p:blipFill>
        <p:spPr>
          <a:xfrm>
            <a:off x="5174234" y="1537942"/>
            <a:ext cx="3163551" cy="27792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84"/>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Inconsolata"/>
                <a:ea typeface="Inconsolata"/>
                <a:cs typeface="Inconsolata"/>
                <a:sym typeface="Inconsolata"/>
              </a:rPr>
              <a:t>su</a:t>
            </a:r>
            <a:r>
              <a:rPr lang="en"/>
              <a:t> vs </a:t>
            </a:r>
            <a:r>
              <a:rPr lang="en">
                <a:latin typeface="Inconsolata"/>
                <a:ea typeface="Inconsolata"/>
                <a:cs typeface="Inconsolata"/>
                <a:sym typeface="Inconsolata"/>
              </a:rPr>
              <a:t>sudo</a:t>
            </a:r>
            <a:endParaRPr>
              <a:latin typeface="Inconsolata"/>
              <a:ea typeface="Inconsolata"/>
              <a:cs typeface="Inconsolata"/>
              <a:sym typeface="Inconsolata"/>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Demo Summary</a:t>
            </a:r>
            <a:endParaRPr/>
          </a:p>
        </p:txBody>
      </p:sp>
      <p:sp>
        <p:nvSpPr>
          <p:cNvPr id="700" name="Google Shape;700;p8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Let’s Recap</a:t>
            </a:r>
            <a:endParaRPr/>
          </a:p>
        </p:txBody>
      </p:sp>
      <p:pic>
        <p:nvPicPr>
          <p:cNvPr id="701" name="Google Shape;701;p85"/>
          <p:cNvPicPr preferRelativeResize="0"/>
          <p:nvPr/>
        </p:nvPicPr>
        <p:blipFill>
          <a:blip r:embed="rId3">
            <a:alphaModFix/>
          </a:blip>
          <a:stretch>
            <a:fillRect/>
          </a:stretch>
        </p:blipFill>
        <p:spPr>
          <a:xfrm>
            <a:off x="255532" y="295336"/>
            <a:ext cx="427575" cy="420000"/>
          </a:xfrm>
          <a:prstGeom prst="rect">
            <a:avLst/>
          </a:prstGeom>
          <a:noFill/>
          <a:ln>
            <a:noFill/>
          </a:ln>
        </p:spPr>
      </p:pic>
      <p:grpSp>
        <p:nvGrpSpPr>
          <p:cNvPr id="702" name="Google Shape;702;p85"/>
          <p:cNvGrpSpPr/>
          <p:nvPr/>
        </p:nvGrpSpPr>
        <p:grpSpPr>
          <a:xfrm>
            <a:off x="-3" y="1068217"/>
            <a:ext cx="8686828" cy="400200"/>
            <a:chOff x="-3" y="1885788"/>
            <a:chExt cx="8686828" cy="400200"/>
          </a:xfrm>
        </p:grpSpPr>
        <p:cxnSp>
          <p:nvCxnSpPr>
            <p:cNvPr id="703" name="Google Shape;703;p85"/>
            <p:cNvCxnSpPr/>
            <p:nvPr/>
          </p:nvCxnSpPr>
          <p:spPr>
            <a:xfrm>
              <a:off x="-3" y="2085888"/>
              <a:ext cx="662400" cy="0"/>
            </a:xfrm>
            <a:prstGeom prst="straightConnector1">
              <a:avLst/>
            </a:prstGeom>
            <a:noFill/>
            <a:ln cap="flat" cmpd="sng" w="19050">
              <a:solidFill>
                <a:srgbClr val="2E5E73"/>
              </a:solidFill>
              <a:prstDash val="solid"/>
              <a:round/>
              <a:headEnd len="sm" w="sm" type="none"/>
              <a:tailEnd len="med" w="med" type="oval"/>
            </a:ln>
          </p:spPr>
        </p:cxnSp>
        <p:cxnSp>
          <p:nvCxnSpPr>
            <p:cNvPr id="704" name="Google Shape;704;p85"/>
            <p:cNvCxnSpPr/>
            <p:nvPr/>
          </p:nvCxnSpPr>
          <p:spPr>
            <a:xfrm>
              <a:off x="-3" y="2085888"/>
              <a:ext cx="672900" cy="0"/>
            </a:xfrm>
            <a:prstGeom prst="straightConnector1">
              <a:avLst/>
            </a:prstGeom>
            <a:noFill/>
            <a:ln cap="flat" cmpd="sng" w="19050">
              <a:solidFill>
                <a:srgbClr val="2E5E73"/>
              </a:solidFill>
              <a:prstDash val="solid"/>
              <a:round/>
              <a:headEnd len="sm" w="sm" type="none"/>
              <a:tailEnd len="med" w="med" type="oval"/>
            </a:ln>
          </p:spPr>
        </p:cxnSp>
        <p:sp>
          <p:nvSpPr>
            <p:cNvPr id="705" name="Google Shape;705;p85"/>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85"/>
            <p:cNvSpPr/>
            <p:nvPr/>
          </p:nvSpPr>
          <p:spPr>
            <a:xfrm>
              <a:off x="513600" y="1924338"/>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07" name="Google Shape;707;p85"/>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08" name="Google Shape;708;p85"/>
          <p:cNvGrpSpPr/>
          <p:nvPr/>
        </p:nvGrpSpPr>
        <p:grpSpPr>
          <a:xfrm>
            <a:off x="-3" y="1753959"/>
            <a:ext cx="8686828" cy="400200"/>
            <a:chOff x="-3" y="2566213"/>
            <a:chExt cx="8686828" cy="400200"/>
          </a:xfrm>
        </p:grpSpPr>
        <p:cxnSp>
          <p:nvCxnSpPr>
            <p:cNvPr id="709" name="Google Shape;709;p85"/>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710" name="Google Shape;710;p85"/>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85"/>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12" name="Google Shape;712;p85"/>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13" name="Google Shape;713;p85"/>
          <p:cNvGrpSpPr/>
          <p:nvPr/>
        </p:nvGrpSpPr>
        <p:grpSpPr>
          <a:xfrm>
            <a:off x="-3" y="2439701"/>
            <a:ext cx="8684268" cy="402300"/>
            <a:chOff x="-3" y="3236976"/>
            <a:chExt cx="8684268" cy="402300"/>
          </a:xfrm>
        </p:grpSpPr>
        <p:cxnSp>
          <p:nvCxnSpPr>
            <p:cNvPr id="714" name="Google Shape;714;p85"/>
            <p:cNvCxnSpPr/>
            <p:nvPr/>
          </p:nvCxnSpPr>
          <p:spPr>
            <a:xfrm>
              <a:off x="-3" y="3438126"/>
              <a:ext cx="686400" cy="0"/>
            </a:xfrm>
            <a:prstGeom prst="straightConnector1">
              <a:avLst/>
            </a:prstGeom>
            <a:noFill/>
            <a:ln cap="flat" cmpd="sng" w="19050">
              <a:solidFill>
                <a:srgbClr val="2E5E73"/>
              </a:solidFill>
              <a:prstDash val="solid"/>
              <a:round/>
              <a:headEnd len="sm" w="sm" type="none"/>
              <a:tailEnd len="med" w="med" type="oval"/>
            </a:ln>
          </p:spPr>
        </p:cxnSp>
        <p:sp>
          <p:nvSpPr>
            <p:cNvPr id="715" name="Google Shape;715;p85"/>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6" name="Google Shape;716;p85"/>
            <p:cNvSpPr/>
            <p:nvPr/>
          </p:nvSpPr>
          <p:spPr>
            <a:xfrm>
              <a:off x="511040" y="3275676"/>
              <a:ext cx="323100" cy="3249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17" name="Google Shape;717;p85"/>
            <p:cNvSpPr/>
            <p:nvPr/>
          </p:nvSpPr>
          <p:spPr>
            <a:xfrm>
              <a:off x="590840" y="3355926"/>
              <a:ext cx="163500" cy="164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18" name="Google Shape;718;p85"/>
          <p:cNvGrpSpPr/>
          <p:nvPr/>
        </p:nvGrpSpPr>
        <p:grpSpPr>
          <a:xfrm>
            <a:off x="-3" y="3124622"/>
            <a:ext cx="8686828" cy="400200"/>
            <a:chOff x="-3" y="2566213"/>
            <a:chExt cx="8686828" cy="400200"/>
          </a:xfrm>
        </p:grpSpPr>
        <p:cxnSp>
          <p:nvCxnSpPr>
            <p:cNvPr id="719" name="Google Shape;719;p85"/>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720" name="Google Shape;720;p85"/>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85"/>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22" name="Google Shape;722;p85"/>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23" name="Google Shape;723;p85"/>
          <p:cNvSpPr txBox="1"/>
          <p:nvPr/>
        </p:nvSpPr>
        <p:spPr>
          <a:xfrm>
            <a:off x="914400" y="1009045"/>
            <a:ext cx="7772400" cy="57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whoami</a:t>
            </a:r>
            <a:endParaRPr b="1" sz="1800">
              <a:solidFill>
                <a:srgbClr val="082D49"/>
              </a:solidFill>
              <a:latin typeface="Inconsolata"/>
              <a:ea typeface="Inconsolata"/>
              <a:cs typeface="Inconsolata"/>
              <a:sym typeface="Inconsolata"/>
            </a:endParaRPr>
          </a:p>
        </p:txBody>
      </p:sp>
      <p:sp>
        <p:nvSpPr>
          <p:cNvPr id="724" name="Google Shape;724;p85"/>
          <p:cNvSpPr txBox="1"/>
          <p:nvPr/>
        </p:nvSpPr>
        <p:spPr>
          <a:xfrm>
            <a:off x="914400" y="177080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sudo</a:t>
            </a:r>
            <a:endParaRPr sz="1800">
              <a:solidFill>
                <a:srgbClr val="082D49"/>
              </a:solidFill>
              <a:latin typeface="Roboto"/>
              <a:ea typeface="Roboto"/>
              <a:cs typeface="Roboto"/>
              <a:sym typeface="Roboto"/>
            </a:endParaRPr>
          </a:p>
        </p:txBody>
      </p:sp>
      <p:sp>
        <p:nvSpPr>
          <p:cNvPr id="725" name="Google Shape;725;p85"/>
          <p:cNvSpPr txBox="1"/>
          <p:nvPr/>
        </p:nvSpPr>
        <p:spPr>
          <a:xfrm>
            <a:off x="914400" y="245633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su</a:t>
            </a:r>
            <a:endParaRPr sz="1800">
              <a:solidFill>
                <a:srgbClr val="082D49"/>
              </a:solidFill>
              <a:latin typeface="Roboto"/>
              <a:ea typeface="Roboto"/>
              <a:cs typeface="Roboto"/>
              <a:sym typeface="Roboto"/>
            </a:endParaRPr>
          </a:p>
        </p:txBody>
      </p:sp>
      <p:sp>
        <p:nvSpPr>
          <p:cNvPr id="726" name="Google Shape;726;p85"/>
          <p:cNvSpPr txBox="1"/>
          <p:nvPr/>
        </p:nvSpPr>
        <p:spPr>
          <a:xfrm>
            <a:off x="914400" y="3141875"/>
            <a:ext cx="76809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sudo -l</a:t>
            </a:r>
            <a:endParaRPr sz="1800">
              <a:solidFill>
                <a:srgbClr val="082D49"/>
              </a:solidFill>
              <a:latin typeface="Roboto"/>
              <a:ea typeface="Roboto"/>
              <a:cs typeface="Roboto"/>
              <a:sym typeface="Roboto"/>
            </a:endParaRPr>
          </a:p>
        </p:txBody>
      </p:sp>
      <p:grpSp>
        <p:nvGrpSpPr>
          <p:cNvPr id="727" name="Google Shape;727;p85"/>
          <p:cNvGrpSpPr/>
          <p:nvPr/>
        </p:nvGrpSpPr>
        <p:grpSpPr>
          <a:xfrm>
            <a:off x="-3" y="3770147"/>
            <a:ext cx="8686828" cy="400200"/>
            <a:chOff x="-3" y="2566213"/>
            <a:chExt cx="8686828" cy="400200"/>
          </a:xfrm>
        </p:grpSpPr>
        <p:cxnSp>
          <p:nvCxnSpPr>
            <p:cNvPr id="728" name="Google Shape;728;p85"/>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729" name="Google Shape;729;p85"/>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85"/>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31" name="Google Shape;731;p85"/>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32" name="Google Shape;732;p85"/>
          <p:cNvSpPr txBox="1"/>
          <p:nvPr/>
        </p:nvSpPr>
        <p:spPr>
          <a:xfrm>
            <a:off x="914475" y="3787400"/>
            <a:ext cx="76809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visudo</a:t>
            </a:r>
            <a:endParaRPr b="1" sz="1800">
              <a:solidFill>
                <a:srgbClr val="082D49"/>
              </a:solidFill>
              <a:latin typeface="Inconsolata"/>
              <a:ea typeface="Inconsolata"/>
              <a:cs typeface="Inconsolata"/>
              <a:sym typeface="Inconsolat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86"/>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Minutes</a:t>
            </a:r>
            <a:endParaRPr/>
          </a:p>
        </p:txBody>
      </p:sp>
      <p:sp>
        <p:nvSpPr>
          <p:cNvPr id="738" name="Google Shape;738;p86"/>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latin typeface="Inconsolata"/>
                <a:ea typeface="Inconsolata"/>
                <a:cs typeface="Inconsolata"/>
                <a:sym typeface="Inconsolata"/>
              </a:rPr>
              <a:t>s</a:t>
            </a:r>
            <a:r>
              <a:rPr b="1" lang="en">
                <a:latin typeface="Inconsolata"/>
                <a:ea typeface="Inconsolata"/>
                <a:cs typeface="Inconsolata"/>
                <a:sym typeface="Inconsolata"/>
              </a:rPr>
              <a:t>udo</a:t>
            </a:r>
            <a:r>
              <a:rPr lang="en"/>
              <a:t> Wrestling</a:t>
            </a:r>
            <a:endParaRPr/>
          </a:p>
        </p:txBody>
      </p:sp>
      <p:sp>
        <p:nvSpPr>
          <p:cNvPr id="739" name="Google Shape;739;p86"/>
          <p:cNvSpPr txBox="1"/>
          <p:nvPr>
            <p:ph idx="3" type="body"/>
          </p:nvPr>
        </p:nvSpPr>
        <p:spPr>
          <a:xfrm>
            <a:off x="459075" y="1363425"/>
            <a:ext cx="78822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So far, we have been using administrator privileges to stop processes, install software, copy sensitive files, run programs, and edit configuration files.</a:t>
            </a:r>
            <a:endParaRPr/>
          </a:p>
          <a:p>
            <a:pPr indent="-342900" lvl="0" marL="457200" rtl="0" algn="l">
              <a:spcBef>
                <a:spcPts val="0"/>
              </a:spcBef>
              <a:spcAft>
                <a:spcPts val="0"/>
              </a:spcAft>
              <a:buSzPts val="1800"/>
              <a:buChar char="●"/>
            </a:pPr>
            <a:r>
              <a:rPr lang="en"/>
              <a:t>The senior administrator has asked that you audit the system for </a:t>
            </a:r>
            <a:r>
              <a:rPr b="1" lang="en">
                <a:latin typeface="Inconsolata"/>
                <a:ea typeface="Inconsolata"/>
                <a:cs typeface="Inconsolata"/>
                <a:sym typeface="Inconsolata"/>
              </a:rPr>
              <a:t>sudo</a:t>
            </a:r>
            <a:r>
              <a:rPr lang="en"/>
              <a:t> and </a:t>
            </a:r>
            <a:r>
              <a:rPr b="1" lang="en">
                <a:latin typeface="Inconsolata"/>
                <a:ea typeface="Inconsolata"/>
                <a:cs typeface="Inconsolata"/>
                <a:sym typeface="Inconsolata"/>
              </a:rPr>
              <a:t>root</a:t>
            </a:r>
            <a:r>
              <a:rPr lang="en"/>
              <a:t> access, making sure that no users other than the admin user have access to any </a:t>
            </a:r>
            <a:r>
              <a:rPr b="1" lang="en">
                <a:latin typeface="Inconsolata"/>
                <a:ea typeface="Inconsolata"/>
                <a:cs typeface="Inconsolata"/>
                <a:sym typeface="Inconsolata"/>
              </a:rPr>
              <a:t>sudo</a:t>
            </a:r>
            <a:r>
              <a:rPr lang="en"/>
              <a:t> use.</a:t>
            </a:r>
            <a:endParaRPr/>
          </a:p>
          <a:p>
            <a:pPr indent="-342900" lvl="0" marL="457200" rtl="0" algn="l">
              <a:spcBef>
                <a:spcPts val="0"/>
              </a:spcBef>
              <a:spcAft>
                <a:spcPts val="0"/>
              </a:spcAft>
              <a:buSzPts val="1800"/>
              <a:buChar char="●"/>
            </a:pPr>
            <a:r>
              <a:rPr lang="en"/>
              <a:t>Lock</a:t>
            </a:r>
            <a:r>
              <a:rPr lang="en"/>
              <a:t> access to the compromised system, including </a:t>
            </a:r>
            <a:r>
              <a:rPr b="1" lang="en">
                <a:latin typeface="Inconsolata"/>
                <a:ea typeface="Inconsolata"/>
                <a:cs typeface="Inconsolata"/>
                <a:sym typeface="Inconsolata"/>
              </a:rPr>
              <a:t>sudo </a:t>
            </a:r>
            <a:r>
              <a:rPr lang="en"/>
              <a:t>access.</a:t>
            </a:r>
            <a:endParaRPr/>
          </a:p>
        </p:txBody>
      </p:sp>
      <p:pic>
        <p:nvPicPr>
          <p:cNvPr id="740" name="Google Shape;740;p86"/>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90"/>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Users </a:t>
            </a:r>
            <a:r>
              <a:rPr b="0" lang="en">
                <a:latin typeface="Roboto"/>
                <a:ea typeface="Roboto"/>
                <a:cs typeface="Roboto"/>
                <a:sym typeface="Roboto"/>
              </a:rPr>
              <a:t>and </a:t>
            </a:r>
            <a:r>
              <a:rPr lang="en">
                <a:latin typeface="Roboto"/>
                <a:ea typeface="Roboto"/>
                <a:cs typeface="Roboto"/>
                <a:sym typeface="Roboto"/>
              </a:rPr>
              <a:t>Groups</a:t>
            </a:r>
            <a:endParaRPr>
              <a:latin typeface="Roboto"/>
              <a:ea typeface="Roboto"/>
              <a:cs typeface="Roboto"/>
              <a:sym typeface="Roboto"/>
            </a:endParaRPr>
          </a:p>
        </p:txBody>
      </p:sp>
      <p:pic>
        <p:nvPicPr>
          <p:cNvPr id="758" name="Google Shape;758;p90"/>
          <p:cNvPicPr preferRelativeResize="0"/>
          <p:nvPr/>
        </p:nvPicPr>
        <p:blipFill>
          <a:blip r:embed="rId3">
            <a:alphaModFix/>
          </a:blip>
          <a:stretch>
            <a:fillRect/>
          </a:stretch>
        </p:blipFill>
        <p:spPr>
          <a:xfrm>
            <a:off x="4110350" y="1684425"/>
            <a:ext cx="923300" cy="9233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pic>
        <p:nvPicPr>
          <p:cNvPr id="763" name="Google Shape;763;p91"/>
          <p:cNvPicPr preferRelativeResize="0"/>
          <p:nvPr/>
        </p:nvPicPr>
        <p:blipFill>
          <a:blip r:embed="rId3">
            <a:alphaModFix/>
          </a:blip>
          <a:stretch>
            <a:fillRect/>
          </a:stretch>
        </p:blipFill>
        <p:spPr>
          <a:xfrm>
            <a:off x="2822175" y="1183050"/>
            <a:ext cx="6523474" cy="3908351"/>
          </a:xfrm>
          <a:prstGeom prst="rect">
            <a:avLst/>
          </a:prstGeom>
          <a:noFill/>
          <a:ln>
            <a:noFill/>
          </a:ln>
        </p:spPr>
      </p:pic>
      <p:sp>
        <p:nvSpPr>
          <p:cNvPr id="764" name="Google Shape;764;p91"/>
          <p:cNvSpPr txBox="1"/>
          <p:nvPr>
            <p:ph idx="1" type="body"/>
          </p:nvPr>
        </p:nvSpPr>
        <p:spPr>
          <a:xfrm>
            <a:off x="311700" y="1605900"/>
            <a:ext cx="2913900" cy="19317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400"/>
              <a:t>If a company has different departments, like sales, accounting, and marketing, a Linux admin can create a group for</a:t>
            </a:r>
            <a:endParaRPr sz="1400"/>
          </a:p>
          <a:p>
            <a:pPr indent="0" lvl="0" marL="0" rtl="0" algn="l">
              <a:lnSpc>
                <a:spcPct val="115000"/>
              </a:lnSpc>
              <a:spcBef>
                <a:spcPts val="0"/>
              </a:spcBef>
              <a:spcAft>
                <a:spcPts val="0"/>
              </a:spcAft>
              <a:buNone/>
            </a:pPr>
            <a:r>
              <a:rPr lang="en" sz="1400"/>
              <a:t>each department. </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b="1" lang="en" sz="1400">
                <a:latin typeface="Roboto"/>
                <a:ea typeface="Roboto"/>
                <a:cs typeface="Roboto"/>
                <a:sym typeface="Roboto"/>
              </a:rPr>
              <a:t>Only users in each group can </a:t>
            </a:r>
            <a:br>
              <a:rPr b="1" lang="en" sz="1400">
                <a:latin typeface="Roboto"/>
                <a:ea typeface="Roboto"/>
                <a:cs typeface="Roboto"/>
                <a:sym typeface="Roboto"/>
              </a:rPr>
            </a:br>
            <a:r>
              <a:rPr b="1" lang="en" sz="1400">
                <a:latin typeface="Roboto"/>
                <a:ea typeface="Roboto"/>
                <a:cs typeface="Roboto"/>
                <a:sym typeface="Roboto"/>
              </a:rPr>
              <a:t>access files owned by the group.</a:t>
            </a:r>
            <a:endParaRPr b="1" sz="1400">
              <a:latin typeface="Roboto"/>
              <a:ea typeface="Roboto"/>
              <a:cs typeface="Roboto"/>
              <a:sym typeface="Roboto"/>
            </a:endParaRPr>
          </a:p>
        </p:txBody>
      </p:sp>
      <p:sp>
        <p:nvSpPr>
          <p:cNvPr id="765" name="Google Shape;765;p91"/>
          <p:cNvSpPr txBox="1"/>
          <p:nvPr>
            <p:ph type="title"/>
          </p:nvPr>
        </p:nvSpPr>
        <p:spPr>
          <a:xfrm>
            <a:off x="155850" y="21497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accent5"/>
                </a:solidFill>
              </a:rPr>
              <a:t>Users and Groups</a:t>
            </a:r>
            <a:endParaRPr>
              <a:solidFill>
                <a:schemeClr val="accent5"/>
              </a:solidFill>
            </a:endParaRPr>
          </a:p>
          <a:p>
            <a:pPr indent="0" lvl="0" marL="0" rtl="0" algn="l">
              <a:spcBef>
                <a:spcPts val="0"/>
              </a:spcBef>
              <a:spcAft>
                <a:spcPts val="0"/>
              </a:spcAft>
              <a:buNone/>
            </a:pPr>
            <a:r>
              <a:t/>
            </a:r>
            <a:endParaRPr/>
          </a:p>
        </p:txBody>
      </p:sp>
      <p:sp>
        <p:nvSpPr>
          <p:cNvPr id="766" name="Google Shape;766;p91"/>
          <p:cNvSpPr txBox="1"/>
          <p:nvPr>
            <p:ph idx="4294967295" type="subTitle"/>
          </p:nvPr>
        </p:nvSpPr>
        <p:spPr>
          <a:xfrm>
            <a:off x="311700" y="787675"/>
            <a:ext cx="8520600" cy="645600"/>
          </a:xfrm>
          <a:prstGeom prst="rect">
            <a:avLst/>
          </a:prstGeom>
        </p:spPr>
        <p:txBody>
          <a:bodyPr anchorCtr="0" anchor="t" bIns="91425" lIns="0" spcFirstLastPara="1" rIns="91425" wrap="square" tIns="0">
            <a:noAutofit/>
          </a:bodyPr>
          <a:lstStyle/>
          <a:p>
            <a:pPr indent="0" lvl="0" marL="0" rtl="0" algn="l">
              <a:spcBef>
                <a:spcPts val="0"/>
              </a:spcBef>
              <a:spcAft>
                <a:spcPts val="1200"/>
              </a:spcAft>
              <a:buNone/>
            </a:pPr>
            <a:r>
              <a:rPr lang="en" sz="1400"/>
              <a:t>Users on a Linux system can be added to groups. Linux has the ability to create groups of users for functions like file and service sharing. </a:t>
            </a:r>
            <a:endParaRPr sz="1400"/>
          </a:p>
        </p:txBody>
      </p:sp>
      <p:sp>
        <p:nvSpPr>
          <p:cNvPr id="767" name="Google Shape;767;p91"/>
          <p:cNvSpPr txBox="1"/>
          <p:nvPr/>
        </p:nvSpPr>
        <p:spPr>
          <a:xfrm>
            <a:off x="4057175" y="2525075"/>
            <a:ext cx="1890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Roboto"/>
                <a:ea typeface="Roboto"/>
                <a:cs typeface="Roboto"/>
                <a:sym typeface="Roboto"/>
              </a:rPr>
              <a:t>Linux	 Admin</a:t>
            </a:r>
            <a:endParaRPr>
              <a:solidFill>
                <a:schemeClr val="lt1"/>
              </a:solidFill>
              <a:latin typeface="Roboto"/>
              <a:ea typeface="Roboto"/>
              <a:cs typeface="Roboto"/>
              <a:sym typeface="Roboto"/>
            </a:endParaRPr>
          </a:p>
        </p:txBody>
      </p:sp>
      <p:sp>
        <p:nvSpPr>
          <p:cNvPr id="768" name="Google Shape;768;p91"/>
          <p:cNvSpPr txBox="1"/>
          <p:nvPr/>
        </p:nvSpPr>
        <p:spPr>
          <a:xfrm>
            <a:off x="6206575" y="2525075"/>
            <a:ext cx="1890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Roboto"/>
                <a:ea typeface="Roboto"/>
                <a:cs typeface="Roboto"/>
                <a:sym typeface="Roboto"/>
              </a:rPr>
              <a:t>Sales</a:t>
            </a:r>
            <a:endParaRPr>
              <a:solidFill>
                <a:schemeClr val="lt1"/>
              </a:solidFill>
              <a:latin typeface="Roboto"/>
              <a:ea typeface="Roboto"/>
              <a:cs typeface="Roboto"/>
              <a:sym typeface="Roboto"/>
            </a:endParaRPr>
          </a:p>
        </p:txBody>
      </p:sp>
      <p:sp>
        <p:nvSpPr>
          <p:cNvPr id="769" name="Google Shape;769;p91"/>
          <p:cNvSpPr txBox="1"/>
          <p:nvPr/>
        </p:nvSpPr>
        <p:spPr>
          <a:xfrm>
            <a:off x="4057175" y="3704325"/>
            <a:ext cx="1890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Roboto"/>
                <a:ea typeface="Roboto"/>
                <a:cs typeface="Roboto"/>
                <a:sym typeface="Roboto"/>
              </a:rPr>
              <a:t>Accounting</a:t>
            </a:r>
            <a:endParaRPr>
              <a:solidFill>
                <a:schemeClr val="lt1"/>
              </a:solidFill>
              <a:latin typeface="Roboto"/>
              <a:ea typeface="Roboto"/>
              <a:cs typeface="Roboto"/>
              <a:sym typeface="Roboto"/>
            </a:endParaRPr>
          </a:p>
        </p:txBody>
      </p:sp>
      <p:sp>
        <p:nvSpPr>
          <p:cNvPr id="770" name="Google Shape;770;p91"/>
          <p:cNvSpPr txBox="1"/>
          <p:nvPr/>
        </p:nvSpPr>
        <p:spPr>
          <a:xfrm>
            <a:off x="6206575" y="3704325"/>
            <a:ext cx="1890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Roboto"/>
                <a:ea typeface="Roboto"/>
                <a:cs typeface="Roboto"/>
                <a:sym typeface="Roboto"/>
              </a:rPr>
              <a:t>Marketing</a:t>
            </a:r>
            <a:endParaRPr>
              <a:solidFill>
                <a:schemeClr val="lt1"/>
              </a:solidFill>
              <a:latin typeface="Roboto"/>
              <a:ea typeface="Roboto"/>
              <a:cs typeface="Roboto"/>
              <a:sym typeface="Roboto"/>
            </a:endParaRPr>
          </a:p>
        </p:txBody>
      </p:sp>
      <p:sp>
        <p:nvSpPr>
          <p:cNvPr id="771" name="Google Shape;771;p91"/>
          <p:cNvSpPr/>
          <p:nvPr/>
        </p:nvSpPr>
        <p:spPr>
          <a:xfrm>
            <a:off x="4021875" y="1806500"/>
            <a:ext cx="1925700" cy="1085700"/>
          </a:xfrm>
          <a:prstGeom prst="rect">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2"/>
          <p:cNvSpPr txBox="1"/>
          <p:nvPr>
            <p:ph idx="1" type="body"/>
          </p:nvPr>
        </p:nvSpPr>
        <p:spPr>
          <a:xfrm>
            <a:off x="4047750" y="1377600"/>
            <a:ext cx="46623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000"/>
              <a:t>S</a:t>
            </a:r>
            <a:r>
              <a:rPr lang="en" sz="3000"/>
              <a:t>ystem administrators need to know how to manage </a:t>
            </a:r>
            <a:r>
              <a:rPr b="1" lang="en" sz="3000"/>
              <a:t>users</a:t>
            </a:r>
            <a:r>
              <a:rPr lang="en" sz="3000"/>
              <a:t> and </a:t>
            </a:r>
            <a:r>
              <a:rPr b="1" lang="en" sz="3000"/>
              <a:t>groups</a:t>
            </a:r>
            <a:r>
              <a:rPr lang="en" sz="3000"/>
              <a:t>. </a:t>
            </a:r>
            <a:endParaRPr sz="3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solidFill>
                  <a:schemeClr val="accent5"/>
                </a:solidFill>
                <a:latin typeface="Inconsolata"/>
                <a:ea typeface="Inconsolata"/>
                <a:cs typeface="Inconsolata"/>
                <a:sym typeface="Inconsolata"/>
              </a:rPr>
              <a:t>id </a:t>
            </a:r>
            <a:r>
              <a:rPr lang="en">
                <a:solidFill>
                  <a:schemeClr val="accent5"/>
                </a:solidFill>
              </a:rPr>
              <a:t>C</a:t>
            </a:r>
            <a:r>
              <a:rPr lang="en">
                <a:solidFill>
                  <a:schemeClr val="accent5"/>
                </a:solidFill>
              </a:rPr>
              <a:t>ommand</a:t>
            </a:r>
            <a:endParaRPr>
              <a:solidFill>
                <a:schemeClr val="accent5"/>
              </a:solidFill>
            </a:endParaRPr>
          </a:p>
        </p:txBody>
      </p:sp>
      <p:sp>
        <p:nvSpPr>
          <p:cNvPr id="782" name="Google Shape;782;p93"/>
          <p:cNvSpPr txBox="1"/>
          <p:nvPr>
            <p:ph idx="1" type="subTitle"/>
          </p:nvPr>
        </p:nvSpPr>
        <p:spPr>
          <a:xfrm>
            <a:off x="1371600" y="1184208"/>
            <a:ext cx="71160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Linux associates a specific number with each user, known as the </a:t>
            </a:r>
            <a:r>
              <a:rPr b="1" lang="en">
                <a:latin typeface="Roboto"/>
                <a:ea typeface="Roboto"/>
                <a:cs typeface="Roboto"/>
                <a:sym typeface="Roboto"/>
              </a:rPr>
              <a:t>user ID (UID)</a:t>
            </a:r>
            <a:r>
              <a:rPr lang="en"/>
              <a:t>.</a:t>
            </a:r>
            <a:endParaRPr/>
          </a:p>
        </p:txBody>
      </p:sp>
      <p:sp>
        <p:nvSpPr>
          <p:cNvPr id="783" name="Google Shape;783;p93"/>
          <p:cNvSpPr txBox="1"/>
          <p:nvPr>
            <p:ph idx="2" type="subTitle"/>
          </p:nvPr>
        </p:nvSpPr>
        <p:spPr>
          <a:xfrm>
            <a:off x="1371600" y="1826671"/>
            <a:ext cx="71160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Linux uses the </a:t>
            </a:r>
            <a:r>
              <a:rPr b="1" lang="en"/>
              <a:t>UID</a:t>
            </a:r>
            <a:r>
              <a:rPr lang="en"/>
              <a:t>, not the username. </a:t>
            </a:r>
            <a:endParaRPr/>
          </a:p>
        </p:txBody>
      </p:sp>
      <p:sp>
        <p:nvSpPr>
          <p:cNvPr id="784" name="Google Shape;784;p93"/>
          <p:cNvSpPr txBox="1"/>
          <p:nvPr>
            <p:ph idx="4" type="subTitle"/>
          </p:nvPr>
        </p:nvSpPr>
        <p:spPr>
          <a:xfrm>
            <a:off x="1371600" y="3118246"/>
            <a:ext cx="71160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Standard users have a UID that is </a:t>
            </a:r>
            <a:r>
              <a:rPr b="1" lang="en">
                <a:latin typeface="Roboto"/>
                <a:ea typeface="Roboto"/>
                <a:cs typeface="Roboto"/>
                <a:sym typeface="Roboto"/>
              </a:rPr>
              <a:t>greater than 1,000</a:t>
            </a:r>
            <a:r>
              <a:rPr lang="en"/>
              <a:t>.</a:t>
            </a:r>
            <a:r>
              <a:rPr b="1" lang="en"/>
              <a:t> </a:t>
            </a:r>
            <a:endParaRPr b="1"/>
          </a:p>
        </p:txBody>
      </p:sp>
      <p:sp>
        <p:nvSpPr>
          <p:cNvPr id="785" name="Google Shape;785;p93"/>
          <p:cNvSpPr txBox="1"/>
          <p:nvPr>
            <p:ph idx="3" type="subTitle"/>
          </p:nvPr>
        </p:nvSpPr>
        <p:spPr>
          <a:xfrm>
            <a:off x="1371600" y="2472458"/>
            <a:ext cx="7116000" cy="400200"/>
          </a:xfrm>
          <a:prstGeom prst="rect">
            <a:avLst/>
          </a:prstGeom>
        </p:spPr>
        <p:txBody>
          <a:bodyPr anchorCtr="0" anchor="ctr" bIns="91425" lIns="0" spcFirstLastPara="1" rIns="91425" wrap="square" tIns="0">
            <a:noAutofit/>
          </a:bodyPr>
          <a:lstStyle/>
          <a:p>
            <a:pPr indent="0" lvl="0" marL="0" rtl="0" algn="l">
              <a:spcBef>
                <a:spcPts val="0"/>
              </a:spcBef>
              <a:spcAft>
                <a:spcPts val="0"/>
              </a:spcAft>
              <a:buNone/>
            </a:pPr>
            <a:r>
              <a:rPr lang="en"/>
              <a:t>System users have a UID that is </a:t>
            </a:r>
            <a:r>
              <a:rPr b="1" lang="en">
                <a:latin typeface="Roboto"/>
                <a:ea typeface="Roboto"/>
                <a:cs typeface="Roboto"/>
                <a:sym typeface="Roboto"/>
              </a:rPr>
              <a:t>less than 1,000</a:t>
            </a:r>
            <a:r>
              <a:rPr lang="en"/>
              <a:t>.  </a:t>
            </a:r>
            <a:endParaRPr/>
          </a:p>
        </p:txBody>
      </p:sp>
      <p:sp>
        <p:nvSpPr>
          <p:cNvPr id="786" name="Google Shape;786;p93"/>
          <p:cNvSpPr txBox="1"/>
          <p:nvPr>
            <p:ph idx="5" type="subTitle"/>
          </p:nvPr>
        </p:nvSpPr>
        <p:spPr>
          <a:xfrm>
            <a:off x="1371600" y="3760658"/>
            <a:ext cx="7116000" cy="400200"/>
          </a:xfrm>
          <a:prstGeom prst="rect">
            <a:avLst/>
          </a:prstGeom>
        </p:spPr>
        <p:txBody>
          <a:bodyPr anchorCtr="0" anchor="ctr" bIns="91425" lIns="0" spcFirstLastPara="1" rIns="91425" wrap="square" tIns="0">
            <a:noAutofit/>
          </a:bodyPr>
          <a:lstStyle/>
          <a:p>
            <a:pPr indent="0" lvl="0" marL="0" rtl="0" algn="l">
              <a:lnSpc>
                <a:spcPct val="114000"/>
              </a:lnSpc>
              <a:spcBef>
                <a:spcPts val="0"/>
              </a:spcBef>
              <a:spcAft>
                <a:spcPts val="0"/>
              </a:spcAft>
              <a:buClr>
                <a:schemeClr val="dk1"/>
              </a:buClr>
              <a:buSzPts val="1100"/>
              <a:buFont typeface="Arial"/>
              <a:buNone/>
            </a:pPr>
            <a:r>
              <a:rPr lang="en">
                <a:solidFill>
                  <a:schemeClr val="dk1"/>
                </a:solidFill>
              </a:rPr>
              <a:t>The root user always has the UID of </a:t>
            </a:r>
            <a:r>
              <a:rPr b="1" lang="en">
                <a:solidFill>
                  <a:schemeClr val="dk1"/>
                </a:solidFill>
                <a:latin typeface="Roboto"/>
                <a:ea typeface="Roboto"/>
                <a:cs typeface="Roboto"/>
                <a:sym typeface="Roboto"/>
              </a:rPr>
              <a:t>0</a:t>
            </a:r>
            <a:r>
              <a:rPr lang="en">
                <a:solidFill>
                  <a:schemeClr val="dk1"/>
                </a:solidFill>
              </a:rPr>
              <a:t>. </a:t>
            </a:r>
            <a:endParaRPr/>
          </a:p>
        </p:txBody>
      </p:sp>
      <p:sp>
        <p:nvSpPr>
          <p:cNvPr id="787" name="Google Shape;787;p93"/>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Linux identifies users and groups in the system using the </a:t>
            </a:r>
            <a:r>
              <a:rPr b="1" lang="en">
                <a:latin typeface="Inconsolata"/>
                <a:ea typeface="Inconsolata"/>
                <a:cs typeface="Inconsolata"/>
                <a:sym typeface="Inconsolata"/>
              </a:rPr>
              <a:t>id</a:t>
            </a:r>
            <a:r>
              <a:rPr lang="en"/>
              <a:t> command: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91" name="Shape 791"/>
        <p:cNvGrpSpPr/>
        <p:nvPr/>
      </p:nvGrpSpPr>
      <p:grpSpPr>
        <a:xfrm>
          <a:off x="0" y="0"/>
          <a:ext cx="0" cy="0"/>
          <a:chOff x="0" y="0"/>
          <a:chExt cx="0" cy="0"/>
        </a:xfrm>
      </p:grpSpPr>
      <p:cxnSp>
        <p:nvCxnSpPr>
          <p:cNvPr id="792" name="Google Shape;792;p94"/>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793" name="Google Shape;793;p94"/>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Demonstration</a:t>
            </a:r>
            <a:r>
              <a:rPr lang="en" sz="2600">
                <a:solidFill>
                  <a:schemeClr val="dk2"/>
                </a:solidFill>
                <a:latin typeface="Roboto Light"/>
                <a:ea typeface="Roboto Light"/>
                <a:cs typeface="Roboto Light"/>
                <a:sym typeface="Roboto Light"/>
              </a:rPr>
              <a:t> Scenario</a:t>
            </a:r>
            <a:endParaRPr sz="2600">
              <a:solidFill>
                <a:schemeClr val="dk2"/>
              </a:solidFill>
              <a:latin typeface="Roboto Light"/>
              <a:ea typeface="Roboto Light"/>
              <a:cs typeface="Roboto Light"/>
              <a:sym typeface="Roboto Light"/>
            </a:endParaRPr>
          </a:p>
        </p:txBody>
      </p:sp>
      <p:sp>
        <p:nvSpPr>
          <p:cNvPr id="794" name="Google Shape;794;p94"/>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94"/>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796" name="Google Shape;796;p94"/>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797" name="Google Shape;797;p94"/>
          <p:cNvSpPr txBox="1"/>
          <p:nvPr>
            <p:ph idx="1" type="body"/>
          </p:nvPr>
        </p:nvSpPr>
        <p:spPr>
          <a:xfrm>
            <a:off x="678550" y="1019525"/>
            <a:ext cx="7295400" cy="1158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400"/>
              <a:t>In the upcoming demo, we’ll dive into more actions for user and group management using the following scenario:</a:t>
            </a:r>
            <a:endParaRPr sz="1400"/>
          </a:p>
          <a:p>
            <a:pPr indent="0" lvl="0" marL="0" rtl="0" algn="l">
              <a:spcBef>
                <a:spcPts val="0"/>
              </a:spcBef>
              <a:spcAft>
                <a:spcPts val="0"/>
              </a:spcAft>
              <a:buClr>
                <a:schemeClr val="dk1"/>
              </a:buClr>
              <a:buSzPts val="1100"/>
              <a:buFont typeface="Arial"/>
              <a:buNone/>
            </a:pPr>
            <a:r>
              <a:rPr b="1" lang="en" sz="1400">
                <a:latin typeface="Roboto"/>
                <a:ea typeface="Roboto"/>
                <a:cs typeface="Roboto"/>
                <a:sym typeface="Roboto"/>
              </a:rPr>
              <a:t>Your company recently made changes to the developer team.  </a:t>
            </a:r>
            <a:endParaRPr b="1" sz="1400">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id="798" name="Google Shape;798;p94"/>
          <p:cNvPicPr preferRelativeResize="0"/>
          <p:nvPr/>
        </p:nvPicPr>
        <p:blipFill>
          <a:blip r:embed="rId4">
            <a:alphaModFix/>
          </a:blip>
          <a:stretch>
            <a:fillRect/>
          </a:stretch>
        </p:blipFill>
        <p:spPr>
          <a:xfrm>
            <a:off x="6395375" y="2581200"/>
            <a:ext cx="1349549" cy="1306014"/>
          </a:xfrm>
          <a:prstGeom prst="rect">
            <a:avLst/>
          </a:prstGeom>
          <a:noFill/>
          <a:ln>
            <a:noFill/>
          </a:ln>
        </p:spPr>
      </p:pic>
      <p:pic>
        <p:nvPicPr>
          <p:cNvPr id="799" name="Google Shape;799;p94"/>
          <p:cNvPicPr preferRelativeResize="0"/>
          <p:nvPr/>
        </p:nvPicPr>
        <p:blipFill>
          <a:blip r:embed="rId5">
            <a:alphaModFix/>
          </a:blip>
          <a:stretch>
            <a:fillRect/>
          </a:stretch>
        </p:blipFill>
        <p:spPr>
          <a:xfrm>
            <a:off x="1950400" y="2542150"/>
            <a:ext cx="1349550" cy="1345076"/>
          </a:xfrm>
          <a:prstGeom prst="rect">
            <a:avLst/>
          </a:prstGeom>
          <a:noFill/>
          <a:ln>
            <a:noFill/>
          </a:ln>
        </p:spPr>
      </p:pic>
      <p:pic>
        <p:nvPicPr>
          <p:cNvPr id="800" name="Google Shape;800;p94"/>
          <p:cNvPicPr preferRelativeResize="0"/>
          <p:nvPr/>
        </p:nvPicPr>
        <p:blipFill>
          <a:blip r:embed="rId6">
            <a:alphaModFix/>
          </a:blip>
          <a:stretch>
            <a:fillRect/>
          </a:stretch>
        </p:blipFill>
        <p:spPr>
          <a:xfrm>
            <a:off x="4653125" y="2161775"/>
            <a:ext cx="827450" cy="2839825"/>
          </a:xfrm>
          <a:prstGeom prst="rect">
            <a:avLst/>
          </a:prstGeom>
          <a:noFill/>
          <a:ln>
            <a:noFill/>
          </a:ln>
        </p:spPr>
      </p:pic>
      <p:sp>
        <p:nvSpPr>
          <p:cNvPr id="801" name="Google Shape;801;p94"/>
          <p:cNvSpPr txBox="1"/>
          <p:nvPr/>
        </p:nvSpPr>
        <p:spPr>
          <a:xfrm>
            <a:off x="1229875" y="4035650"/>
            <a:ext cx="2790600" cy="76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1400"/>
              </a:spcAft>
              <a:buNone/>
            </a:pPr>
            <a:r>
              <a:rPr lang="en">
                <a:solidFill>
                  <a:schemeClr val="dk2"/>
                </a:solidFill>
                <a:latin typeface="Roboto"/>
                <a:ea typeface="Roboto"/>
                <a:cs typeface="Roboto"/>
                <a:sym typeface="Roboto"/>
              </a:rPr>
              <a:t>Mike, a lead developer, has left the company.</a:t>
            </a:r>
            <a:endParaRPr>
              <a:solidFill>
                <a:schemeClr val="dk2"/>
              </a:solidFill>
              <a:latin typeface="Roboto"/>
              <a:ea typeface="Roboto"/>
              <a:cs typeface="Roboto"/>
              <a:sym typeface="Roboto"/>
            </a:endParaRPr>
          </a:p>
        </p:txBody>
      </p:sp>
      <p:sp>
        <p:nvSpPr>
          <p:cNvPr id="802" name="Google Shape;802;p94"/>
          <p:cNvSpPr txBox="1"/>
          <p:nvPr/>
        </p:nvSpPr>
        <p:spPr>
          <a:xfrm>
            <a:off x="5674850" y="4035647"/>
            <a:ext cx="2790600" cy="7641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Joseph has joined as a new junior developer.</a:t>
            </a:r>
            <a:endParaRPr>
              <a:solidFill>
                <a:schemeClr val="dk2"/>
              </a:solidFill>
              <a:latin typeface="Roboto"/>
              <a:ea typeface="Roboto"/>
              <a:cs typeface="Roboto"/>
              <a:sym typeface="Roboto"/>
            </a:endParaRPr>
          </a:p>
          <a:p>
            <a:pPr indent="0" lvl="0" marL="0" rtl="0" algn="l">
              <a:lnSpc>
                <a:spcPct val="112000"/>
              </a:lnSpc>
              <a:spcBef>
                <a:spcPts val="1400"/>
              </a:spcBef>
              <a:spcAft>
                <a:spcPts val="0"/>
              </a:spcAft>
              <a:buClr>
                <a:schemeClr val="dk1"/>
              </a:buClr>
              <a:buSzPts val="1100"/>
              <a:buFont typeface="Arial"/>
              <a:buNone/>
            </a:pPr>
            <a:r>
              <a:t/>
            </a:r>
            <a:endParaRPr sz="1800">
              <a:solidFill>
                <a:schemeClr val="dk2"/>
              </a:solidFill>
              <a:latin typeface="Roboto"/>
              <a:ea typeface="Roboto"/>
              <a:cs typeface="Roboto"/>
              <a:sym typeface="Roboto"/>
            </a:endParaRPr>
          </a:p>
          <a:p>
            <a:pPr indent="0" lvl="0" marL="0" rtl="0" algn="l">
              <a:lnSpc>
                <a:spcPct val="112000"/>
              </a:lnSpc>
              <a:spcBef>
                <a:spcPts val="1400"/>
              </a:spcBef>
              <a:spcAft>
                <a:spcPts val="140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06" name="Shape 806"/>
        <p:cNvGrpSpPr/>
        <p:nvPr/>
      </p:nvGrpSpPr>
      <p:grpSpPr>
        <a:xfrm>
          <a:off x="0" y="0"/>
          <a:ext cx="0" cy="0"/>
          <a:chOff x="0" y="0"/>
          <a:chExt cx="0" cy="0"/>
        </a:xfrm>
      </p:grpSpPr>
      <p:cxnSp>
        <p:nvCxnSpPr>
          <p:cNvPr id="807" name="Google Shape;807;p95"/>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808" name="Google Shape;808;p95"/>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Demonstration</a:t>
            </a:r>
            <a:r>
              <a:rPr lang="en" sz="2600">
                <a:solidFill>
                  <a:schemeClr val="dk2"/>
                </a:solidFill>
                <a:latin typeface="Roboto Light"/>
                <a:ea typeface="Roboto Light"/>
                <a:cs typeface="Roboto Light"/>
                <a:sym typeface="Roboto Light"/>
              </a:rPr>
              <a:t> Scenario</a:t>
            </a:r>
            <a:endParaRPr sz="2600">
              <a:solidFill>
                <a:schemeClr val="dk2"/>
              </a:solidFill>
              <a:latin typeface="Roboto Light"/>
              <a:ea typeface="Roboto Light"/>
              <a:cs typeface="Roboto Light"/>
              <a:sym typeface="Roboto Light"/>
            </a:endParaRPr>
          </a:p>
        </p:txBody>
      </p:sp>
      <p:sp>
        <p:nvSpPr>
          <p:cNvPr id="809" name="Google Shape;809;p95"/>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95"/>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811" name="Google Shape;811;p95"/>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812" name="Google Shape;812;p95"/>
          <p:cNvSpPr/>
          <p:nvPr/>
        </p:nvSpPr>
        <p:spPr>
          <a:xfrm>
            <a:off x="1661850" y="2310800"/>
            <a:ext cx="6006900" cy="2435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95"/>
          <p:cNvSpPr/>
          <p:nvPr/>
        </p:nvSpPr>
        <p:spPr>
          <a:xfrm>
            <a:off x="3785425" y="2918588"/>
            <a:ext cx="1562700" cy="156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95"/>
          <p:cNvSpPr txBox="1"/>
          <p:nvPr>
            <p:ph idx="1" type="body"/>
          </p:nvPr>
        </p:nvSpPr>
        <p:spPr>
          <a:xfrm>
            <a:off x="525750" y="1110200"/>
            <a:ext cx="8092500" cy="725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400"/>
              <a:t>The company’s Linux system has never been set up properly with a </a:t>
            </a:r>
            <a:r>
              <a:rPr lang="en" sz="1400">
                <a:latin typeface="Inconsolata Light"/>
                <a:ea typeface="Inconsolata Light"/>
                <a:cs typeface="Inconsolata Light"/>
                <a:sym typeface="Inconsolata Light"/>
              </a:rPr>
              <a:t>developers</a:t>
            </a:r>
            <a:r>
              <a:rPr lang="en" sz="1400"/>
              <a:t> group. </a:t>
            </a:r>
            <a:endParaRPr sz="1400"/>
          </a:p>
          <a:p>
            <a:pPr indent="0" lvl="0" marL="0" rtl="0" algn="l">
              <a:lnSpc>
                <a:spcPct val="115000"/>
              </a:lnSpc>
              <a:spcBef>
                <a:spcPts val="0"/>
              </a:spcBef>
              <a:spcAft>
                <a:spcPts val="0"/>
              </a:spcAft>
              <a:buClr>
                <a:schemeClr val="dk1"/>
              </a:buClr>
              <a:buSzPts val="1100"/>
              <a:buFont typeface="Arial"/>
              <a:buNone/>
            </a:pPr>
            <a:r>
              <a:rPr lang="en" sz="1400"/>
              <a:t>Instead, </a:t>
            </a:r>
            <a:r>
              <a:rPr b="1" lang="en" sz="1400">
                <a:latin typeface="Roboto"/>
                <a:ea typeface="Roboto"/>
                <a:cs typeface="Roboto"/>
                <a:sym typeface="Roboto"/>
              </a:rPr>
              <a:t>Mik</a:t>
            </a:r>
            <a:r>
              <a:rPr b="1" lang="en" sz="1400">
                <a:latin typeface="Roboto"/>
                <a:ea typeface="Roboto"/>
                <a:cs typeface="Roboto"/>
                <a:sym typeface="Roboto"/>
              </a:rPr>
              <a:t>e was part of the </a:t>
            </a:r>
            <a:r>
              <a:rPr b="1" lang="en" sz="1400">
                <a:latin typeface="Inconsolata"/>
                <a:ea typeface="Inconsolata"/>
                <a:cs typeface="Inconsolata"/>
                <a:sym typeface="Inconsolata"/>
              </a:rPr>
              <a:t>general</a:t>
            </a:r>
            <a:r>
              <a:rPr b="1" lang="en" sz="1400">
                <a:latin typeface="Roboto"/>
                <a:ea typeface="Roboto"/>
                <a:cs typeface="Roboto"/>
                <a:sym typeface="Roboto"/>
              </a:rPr>
              <a:t> group</a:t>
            </a:r>
            <a:r>
              <a:rPr lang="en" sz="1400"/>
              <a:t>.</a:t>
            </a:r>
            <a:endParaRPr/>
          </a:p>
          <a:p>
            <a:pPr indent="0" lvl="0" marL="0" rtl="0" algn="l">
              <a:spcBef>
                <a:spcPts val="0"/>
              </a:spcBef>
              <a:spcAft>
                <a:spcPts val="0"/>
              </a:spcAft>
              <a:buNone/>
            </a:pPr>
            <a:r>
              <a:t/>
            </a:r>
            <a:endParaRPr/>
          </a:p>
        </p:txBody>
      </p:sp>
      <p:pic>
        <p:nvPicPr>
          <p:cNvPr id="815" name="Google Shape;815;p95"/>
          <p:cNvPicPr preferRelativeResize="0"/>
          <p:nvPr/>
        </p:nvPicPr>
        <p:blipFill>
          <a:blip r:embed="rId4">
            <a:alphaModFix/>
          </a:blip>
          <a:stretch>
            <a:fillRect/>
          </a:stretch>
        </p:blipFill>
        <p:spPr>
          <a:xfrm>
            <a:off x="4069450" y="3204272"/>
            <a:ext cx="994650" cy="991353"/>
          </a:xfrm>
          <a:prstGeom prst="rect">
            <a:avLst/>
          </a:prstGeom>
          <a:noFill/>
          <a:ln>
            <a:noFill/>
          </a:ln>
        </p:spPr>
      </p:pic>
      <p:pic>
        <p:nvPicPr>
          <p:cNvPr id="816" name="Google Shape;816;p95"/>
          <p:cNvPicPr preferRelativeResize="0"/>
          <p:nvPr/>
        </p:nvPicPr>
        <p:blipFill>
          <a:blip r:embed="rId5">
            <a:alphaModFix/>
          </a:blip>
          <a:stretch>
            <a:fillRect/>
          </a:stretch>
        </p:blipFill>
        <p:spPr>
          <a:xfrm>
            <a:off x="5348125" y="3121787"/>
            <a:ext cx="913542" cy="1050375"/>
          </a:xfrm>
          <a:prstGeom prst="rect">
            <a:avLst/>
          </a:prstGeom>
          <a:noFill/>
          <a:ln>
            <a:noFill/>
          </a:ln>
        </p:spPr>
      </p:pic>
      <p:pic>
        <p:nvPicPr>
          <p:cNvPr id="817" name="Google Shape;817;p95"/>
          <p:cNvPicPr preferRelativeResize="0"/>
          <p:nvPr/>
        </p:nvPicPr>
        <p:blipFill>
          <a:blip r:embed="rId6">
            <a:alphaModFix/>
          </a:blip>
          <a:stretch>
            <a:fillRect/>
          </a:stretch>
        </p:blipFill>
        <p:spPr>
          <a:xfrm>
            <a:off x="2730625" y="3215525"/>
            <a:ext cx="994651" cy="968825"/>
          </a:xfrm>
          <a:prstGeom prst="rect">
            <a:avLst/>
          </a:prstGeom>
          <a:noFill/>
          <a:ln>
            <a:noFill/>
          </a:ln>
        </p:spPr>
      </p:pic>
      <p:pic>
        <p:nvPicPr>
          <p:cNvPr id="818" name="Google Shape;818;p95"/>
          <p:cNvPicPr preferRelativeResize="0"/>
          <p:nvPr/>
        </p:nvPicPr>
        <p:blipFill>
          <a:blip r:embed="rId7">
            <a:alphaModFix/>
          </a:blip>
          <a:stretch>
            <a:fillRect/>
          </a:stretch>
        </p:blipFill>
        <p:spPr>
          <a:xfrm>
            <a:off x="1871550" y="3193000"/>
            <a:ext cx="736895" cy="991350"/>
          </a:xfrm>
          <a:prstGeom prst="rect">
            <a:avLst/>
          </a:prstGeom>
          <a:noFill/>
          <a:ln>
            <a:noFill/>
          </a:ln>
        </p:spPr>
      </p:pic>
      <p:sp>
        <p:nvSpPr>
          <p:cNvPr id="819" name="Google Shape;819;p95"/>
          <p:cNvSpPr txBox="1"/>
          <p:nvPr/>
        </p:nvSpPr>
        <p:spPr>
          <a:xfrm>
            <a:off x="1799875" y="2380275"/>
            <a:ext cx="5533800" cy="53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Roboto"/>
                <a:ea typeface="Roboto"/>
                <a:cs typeface="Roboto"/>
                <a:sym typeface="Roboto"/>
              </a:rPr>
              <a:t>General group</a:t>
            </a:r>
            <a:endParaRPr b="1" sz="2000">
              <a:solidFill>
                <a:schemeClr val="dk2"/>
              </a:solidFill>
              <a:latin typeface="Roboto"/>
              <a:ea typeface="Roboto"/>
              <a:cs typeface="Roboto"/>
              <a:sym typeface="Roboto"/>
            </a:endParaRPr>
          </a:p>
        </p:txBody>
      </p:sp>
      <p:pic>
        <p:nvPicPr>
          <p:cNvPr id="820" name="Google Shape;820;p95"/>
          <p:cNvPicPr preferRelativeResize="0"/>
          <p:nvPr/>
        </p:nvPicPr>
        <p:blipFill>
          <a:blip r:embed="rId8">
            <a:alphaModFix/>
          </a:blip>
          <a:stretch>
            <a:fillRect/>
          </a:stretch>
        </p:blipFill>
        <p:spPr>
          <a:xfrm>
            <a:off x="6388700" y="3218660"/>
            <a:ext cx="994651" cy="96256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24" name="Shape 824"/>
        <p:cNvGrpSpPr/>
        <p:nvPr/>
      </p:nvGrpSpPr>
      <p:grpSpPr>
        <a:xfrm>
          <a:off x="0" y="0"/>
          <a:ext cx="0" cy="0"/>
          <a:chOff x="0" y="0"/>
          <a:chExt cx="0" cy="0"/>
        </a:xfrm>
      </p:grpSpPr>
      <p:cxnSp>
        <p:nvCxnSpPr>
          <p:cNvPr id="825" name="Google Shape;825;p96"/>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826" name="Google Shape;826;p96"/>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Demonstration</a:t>
            </a:r>
            <a:r>
              <a:rPr lang="en" sz="2600">
                <a:solidFill>
                  <a:schemeClr val="dk2"/>
                </a:solidFill>
                <a:latin typeface="Roboto Light"/>
                <a:ea typeface="Roboto Light"/>
                <a:cs typeface="Roboto Light"/>
                <a:sym typeface="Roboto Light"/>
              </a:rPr>
              <a:t> Scenario</a:t>
            </a:r>
            <a:endParaRPr sz="2600">
              <a:solidFill>
                <a:schemeClr val="dk2"/>
              </a:solidFill>
              <a:latin typeface="Roboto Light"/>
              <a:ea typeface="Roboto Light"/>
              <a:cs typeface="Roboto Light"/>
              <a:sym typeface="Roboto Light"/>
            </a:endParaRPr>
          </a:p>
        </p:txBody>
      </p:sp>
      <p:sp>
        <p:nvSpPr>
          <p:cNvPr id="827" name="Google Shape;827;p96"/>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96"/>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829" name="Google Shape;829;p96"/>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830" name="Google Shape;830;p96"/>
          <p:cNvSpPr/>
          <p:nvPr/>
        </p:nvSpPr>
        <p:spPr>
          <a:xfrm>
            <a:off x="3896975" y="2338700"/>
            <a:ext cx="4806900" cy="19491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96"/>
          <p:cNvSpPr/>
          <p:nvPr/>
        </p:nvSpPr>
        <p:spPr>
          <a:xfrm>
            <a:off x="5589425" y="2793775"/>
            <a:ext cx="1349700" cy="13494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96"/>
          <p:cNvSpPr txBox="1"/>
          <p:nvPr>
            <p:ph idx="1" type="body"/>
          </p:nvPr>
        </p:nvSpPr>
        <p:spPr>
          <a:xfrm>
            <a:off x="294150" y="1019525"/>
            <a:ext cx="8555700" cy="6648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400"/>
              <a:t>As the sysadmin for this system, you need to remove </a:t>
            </a:r>
            <a:r>
              <a:rPr lang="en" sz="1400"/>
              <a:t>Mike</a:t>
            </a:r>
            <a:r>
              <a:rPr lang="en" sz="1400"/>
              <a:t> from the general group, remove the general group, and delete Mike from the system. </a:t>
            </a:r>
            <a:endParaRPr sz="1400"/>
          </a:p>
        </p:txBody>
      </p:sp>
      <p:pic>
        <p:nvPicPr>
          <p:cNvPr id="833" name="Google Shape;833;p96"/>
          <p:cNvPicPr preferRelativeResize="0"/>
          <p:nvPr/>
        </p:nvPicPr>
        <p:blipFill>
          <a:blip r:embed="rId4">
            <a:alphaModFix/>
          </a:blip>
          <a:stretch>
            <a:fillRect/>
          </a:stretch>
        </p:blipFill>
        <p:spPr>
          <a:xfrm>
            <a:off x="5866156" y="3114222"/>
            <a:ext cx="795970" cy="793332"/>
          </a:xfrm>
          <a:prstGeom prst="rect">
            <a:avLst/>
          </a:prstGeom>
          <a:noFill/>
          <a:ln>
            <a:noFill/>
          </a:ln>
        </p:spPr>
      </p:pic>
      <p:pic>
        <p:nvPicPr>
          <p:cNvPr id="834" name="Google Shape;834;p96"/>
          <p:cNvPicPr preferRelativeResize="0"/>
          <p:nvPr/>
        </p:nvPicPr>
        <p:blipFill>
          <a:blip r:embed="rId5">
            <a:alphaModFix/>
          </a:blip>
          <a:stretch>
            <a:fillRect/>
          </a:stretch>
        </p:blipFill>
        <p:spPr>
          <a:xfrm>
            <a:off x="6889419" y="3048214"/>
            <a:ext cx="731065" cy="840566"/>
          </a:xfrm>
          <a:prstGeom prst="rect">
            <a:avLst/>
          </a:prstGeom>
          <a:noFill/>
          <a:ln>
            <a:noFill/>
          </a:ln>
        </p:spPr>
      </p:pic>
      <p:pic>
        <p:nvPicPr>
          <p:cNvPr id="835" name="Google Shape;835;p96"/>
          <p:cNvPicPr preferRelativeResize="0"/>
          <p:nvPr/>
        </p:nvPicPr>
        <p:blipFill>
          <a:blip r:embed="rId6">
            <a:alphaModFix/>
          </a:blip>
          <a:stretch>
            <a:fillRect/>
          </a:stretch>
        </p:blipFill>
        <p:spPr>
          <a:xfrm>
            <a:off x="4794758" y="3123228"/>
            <a:ext cx="795972" cy="775303"/>
          </a:xfrm>
          <a:prstGeom prst="rect">
            <a:avLst/>
          </a:prstGeom>
          <a:noFill/>
          <a:ln>
            <a:noFill/>
          </a:ln>
        </p:spPr>
      </p:pic>
      <p:pic>
        <p:nvPicPr>
          <p:cNvPr id="836" name="Google Shape;836;p96"/>
          <p:cNvPicPr preferRelativeResize="0"/>
          <p:nvPr/>
        </p:nvPicPr>
        <p:blipFill>
          <a:blip r:embed="rId7">
            <a:alphaModFix/>
          </a:blip>
          <a:stretch>
            <a:fillRect/>
          </a:stretch>
        </p:blipFill>
        <p:spPr>
          <a:xfrm>
            <a:off x="4107281" y="3105202"/>
            <a:ext cx="589701" cy="793331"/>
          </a:xfrm>
          <a:prstGeom prst="rect">
            <a:avLst/>
          </a:prstGeom>
          <a:noFill/>
          <a:ln>
            <a:noFill/>
          </a:ln>
        </p:spPr>
      </p:pic>
      <p:sp>
        <p:nvSpPr>
          <p:cNvPr id="837" name="Google Shape;837;p96"/>
          <p:cNvSpPr txBox="1"/>
          <p:nvPr/>
        </p:nvSpPr>
        <p:spPr>
          <a:xfrm>
            <a:off x="4049986" y="2338704"/>
            <a:ext cx="4428300" cy="42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Roboto"/>
                <a:ea typeface="Roboto"/>
                <a:cs typeface="Roboto"/>
                <a:sym typeface="Roboto"/>
              </a:rPr>
              <a:t>General group</a:t>
            </a:r>
            <a:endParaRPr b="1" sz="2000">
              <a:solidFill>
                <a:schemeClr val="dk2"/>
              </a:solidFill>
              <a:latin typeface="Roboto"/>
              <a:ea typeface="Roboto"/>
              <a:cs typeface="Roboto"/>
              <a:sym typeface="Roboto"/>
            </a:endParaRPr>
          </a:p>
        </p:txBody>
      </p:sp>
      <p:pic>
        <p:nvPicPr>
          <p:cNvPr id="838" name="Google Shape;838;p96"/>
          <p:cNvPicPr preferRelativeResize="0"/>
          <p:nvPr/>
        </p:nvPicPr>
        <p:blipFill>
          <a:blip r:embed="rId8">
            <a:alphaModFix/>
          </a:blip>
          <a:stretch>
            <a:fillRect/>
          </a:stretch>
        </p:blipFill>
        <p:spPr>
          <a:xfrm>
            <a:off x="7722142" y="3125737"/>
            <a:ext cx="795971" cy="770295"/>
          </a:xfrm>
          <a:prstGeom prst="rect">
            <a:avLst/>
          </a:prstGeom>
          <a:noFill/>
          <a:ln>
            <a:noFill/>
          </a:ln>
        </p:spPr>
      </p:pic>
      <p:pic>
        <p:nvPicPr>
          <p:cNvPr id="839" name="Google Shape;839;p96"/>
          <p:cNvPicPr preferRelativeResize="0"/>
          <p:nvPr/>
        </p:nvPicPr>
        <p:blipFill>
          <a:blip r:embed="rId9">
            <a:alphaModFix/>
          </a:blip>
          <a:stretch>
            <a:fillRect/>
          </a:stretch>
        </p:blipFill>
        <p:spPr>
          <a:xfrm>
            <a:off x="3069525" y="2048600"/>
            <a:ext cx="827450" cy="2839825"/>
          </a:xfrm>
          <a:prstGeom prst="rect">
            <a:avLst/>
          </a:prstGeom>
          <a:noFill/>
          <a:ln>
            <a:noFill/>
          </a:ln>
        </p:spPr>
      </p:pic>
      <p:pic>
        <p:nvPicPr>
          <p:cNvPr id="840" name="Google Shape;840;p96"/>
          <p:cNvPicPr preferRelativeResize="0"/>
          <p:nvPr/>
        </p:nvPicPr>
        <p:blipFill>
          <a:blip r:embed="rId4">
            <a:alphaModFix/>
          </a:blip>
          <a:stretch>
            <a:fillRect/>
          </a:stretch>
        </p:blipFill>
        <p:spPr>
          <a:xfrm>
            <a:off x="1091900" y="2490850"/>
            <a:ext cx="1349550" cy="1345076"/>
          </a:xfrm>
          <a:prstGeom prst="rect">
            <a:avLst/>
          </a:prstGeom>
          <a:noFill/>
          <a:ln>
            <a:noFill/>
          </a:ln>
        </p:spPr>
      </p:pic>
      <p:sp>
        <p:nvSpPr>
          <p:cNvPr id="841" name="Google Shape;841;p96"/>
          <p:cNvSpPr txBox="1"/>
          <p:nvPr/>
        </p:nvSpPr>
        <p:spPr>
          <a:xfrm>
            <a:off x="524950" y="4002300"/>
            <a:ext cx="2790600" cy="7227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1400"/>
              </a:spcAft>
              <a:buNone/>
            </a:pPr>
            <a:r>
              <a:rPr lang="en">
                <a:solidFill>
                  <a:schemeClr val="dk2"/>
                </a:solidFill>
                <a:latin typeface="Roboto"/>
                <a:ea typeface="Roboto"/>
                <a:cs typeface="Roboto"/>
                <a:sym typeface="Roboto"/>
              </a:rPr>
              <a:t>Mike, a lead developer, has left the company.</a:t>
            </a:r>
            <a:endParaRPr>
              <a:solidFill>
                <a:schemeClr val="dk2"/>
              </a:solidFill>
              <a:latin typeface="Roboto"/>
              <a:ea typeface="Roboto"/>
              <a:cs typeface="Roboto"/>
              <a:sym typeface="Roboto"/>
            </a:endParaRPr>
          </a:p>
        </p:txBody>
      </p:sp>
      <p:grpSp>
        <p:nvGrpSpPr>
          <p:cNvPr id="842" name="Google Shape;842;p96"/>
          <p:cNvGrpSpPr/>
          <p:nvPr/>
        </p:nvGrpSpPr>
        <p:grpSpPr>
          <a:xfrm>
            <a:off x="2316798" y="2178526"/>
            <a:ext cx="664775" cy="664775"/>
            <a:chOff x="1190625" y="238125"/>
            <a:chExt cx="5213925" cy="5213925"/>
          </a:xfrm>
        </p:grpSpPr>
        <p:sp>
          <p:nvSpPr>
            <p:cNvPr id="843" name="Google Shape;843;p96"/>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6"/>
            <p:cNvSpPr/>
            <p:nvPr/>
          </p:nvSpPr>
          <p:spPr>
            <a:xfrm>
              <a:off x="2521400" y="1613950"/>
              <a:ext cx="2552375" cy="2462975"/>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 name="Google Shape;845;p96"/>
          <p:cNvGrpSpPr/>
          <p:nvPr/>
        </p:nvGrpSpPr>
        <p:grpSpPr>
          <a:xfrm>
            <a:off x="8179573" y="2178526"/>
            <a:ext cx="664775" cy="664775"/>
            <a:chOff x="1190625" y="238125"/>
            <a:chExt cx="5213925" cy="5213925"/>
          </a:xfrm>
        </p:grpSpPr>
        <p:sp>
          <p:nvSpPr>
            <p:cNvPr id="846" name="Google Shape;846;p96"/>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96"/>
            <p:cNvSpPr/>
            <p:nvPr/>
          </p:nvSpPr>
          <p:spPr>
            <a:xfrm>
              <a:off x="2521400" y="1613950"/>
              <a:ext cx="2552375" cy="2462975"/>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51" name="Shape 851"/>
        <p:cNvGrpSpPr/>
        <p:nvPr/>
      </p:nvGrpSpPr>
      <p:grpSpPr>
        <a:xfrm>
          <a:off x="0" y="0"/>
          <a:ext cx="0" cy="0"/>
          <a:chOff x="0" y="0"/>
          <a:chExt cx="0" cy="0"/>
        </a:xfrm>
      </p:grpSpPr>
      <p:cxnSp>
        <p:nvCxnSpPr>
          <p:cNvPr id="852" name="Google Shape;852;p97"/>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853" name="Google Shape;853;p97"/>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dk2"/>
                </a:solidFill>
                <a:latin typeface="Roboto"/>
                <a:ea typeface="Roboto"/>
                <a:cs typeface="Roboto"/>
                <a:sym typeface="Roboto"/>
              </a:rPr>
              <a:t>Demonstration</a:t>
            </a:r>
            <a:r>
              <a:rPr lang="en" sz="2600">
                <a:solidFill>
                  <a:schemeClr val="dk2"/>
                </a:solidFill>
                <a:latin typeface="Roboto Light"/>
                <a:ea typeface="Roboto Light"/>
                <a:cs typeface="Roboto Light"/>
                <a:sym typeface="Roboto Light"/>
              </a:rPr>
              <a:t> Scenario</a:t>
            </a:r>
            <a:endParaRPr sz="2600">
              <a:solidFill>
                <a:schemeClr val="dk2"/>
              </a:solidFill>
              <a:latin typeface="Roboto Light"/>
              <a:ea typeface="Roboto Light"/>
              <a:cs typeface="Roboto Light"/>
              <a:sym typeface="Roboto Light"/>
            </a:endParaRPr>
          </a:p>
        </p:txBody>
      </p:sp>
      <p:sp>
        <p:nvSpPr>
          <p:cNvPr id="854" name="Google Shape;854;p97"/>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97"/>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856" name="Google Shape;856;p97"/>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857" name="Google Shape;857;p97"/>
          <p:cNvSpPr/>
          <p:nvPr/>
        </p:nvSpPr>
        <p:spPr>
          <a:xfrm>
            <a:off x="3862338" y="2281575"/>
            <a:ext cx="4806900" cy="1949100"/>
          </a:xfrm>
          <a:prstGeom prst="roundRect">
            <a:avLst>
              <a:gd fmla="val 16667" name="adj"/>
            </a:avLst>
          </a:prstGeom>
          <a:solidFill>
            <a:srgbClr val="EBED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97"/>
          <p:cNvSpPr/>
          <p:nvPr/>
        </p:nvSpPr>
        <p:spPr>
          <a:xfrm>
            <a:off x="5536150" y="2736688"/>
            <a:ext cx="1349700" cy="1349400"/>
          </a:xfrm>
          <a:prstGeom prst="ellipse">
            <a:avLst/>
          </a:prstGeom>
          <a:solidFill>
            <a:srgbClr val="00C7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97"/>
          <p:cNvSpPr txBox="1"/>
          <p:nvPr>
            <p:ph idx="1" type="body"/>
          </p:nvPr>
        </p:nvSpPr>
        <p:spPr>
          <a:xfrm>
            <a:off x="277063" y="1019525"/>
            <a:ext cx="8555700" cy="4272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None/>
            </a:pPr>
            <a:r>
              <a:rPr lang="en" sz="1400"/>
              <a:t>Then, you need to add </a:t>
            </a:r>
            <a:r>
              <a:rPr lang="en" sz="1400"/>
              <a:t>Joseph</a:t>
            </a:r>
            <a:r>
              <a:rPr lang="en" sz="1400"/>
              <a:t> to the system, create a developers group, and add Joseph to this group.</a:t>
            </a:r>
            <a:endParaRPr sz="1400"/>
          </a:p>
        </p:txBody>
      </p:sp>
      <p:sp>
        <p:nvSpPr>
          <p:cNvPr id="860" name="Google Shape;860;p97"/>
          <p:cNvSpPr txBox="1"/>
          <p:nvPr/>
        </p:nvSpPr>
        <p:spPr>
          <a:xfrm>
            <a:off x="4015411" y="2281579"/>
            <a:ext cx="4428300" cy="42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chemeClr val="dk2"/>
                </a:solidFill>
                <a:latin typeface="Roboto"/>
                <a:ea typeface="Roboto"/>
                <a:cs typeface="Roboto"/>
                <a:sym typeface="Roboto"/>
              </a:rPr>
              <a:t>Developers group</a:t>
            </a:r>
            <a:endParaRPr b="1" sz="2000">
              <a:solidFill>
                <a:schemeClr val="dk2"/>
              </a:solidFill>
              <a:latin typeface="Roboto"/>
              <a:ea typeface="Roboto"/>
              <a:cs typeface="Roboto"/>
              <a:sym typeface="Roboto"/>
            </a:endParaRPr>
          </a:p>
        </p:txBody>
      </p:sp>
      <p:pic>
        <p:nvPicPr>
          <p:cNvPr id="861" name="Google Shape;861;p97"/>
          <p:cNvPicPr preferRelativeResize="0"/>
          <p:nvPr/>
        </p:nvPicPr>
        <p:blipFill>
          <a:blip r:embed="rId4">
            <a:alphaModFix/>
          </a:blip>
          <a:stretch>
            <a:fillRect/>
          </a:stretch>
        </p:blipFill>
        <p:spPr>
          <a:xfrm>
            <a:off x="3034888" y="1991475"/>
            <a:ext cx="827450" cy="2839825"/>
          </a:xfrm>
          <a:prstGeom prst="rect">
            <a:avLst/>
          </a:prstGeom>
          <a:noFill/>
          <a:ln>
            <a:noFill/>
          </a:ln>
        </p:spPr>
      </p:pic>
      <p:pic>
        <p:nvPicPr>
          <p:cNvPr id="862" name="Google Shape;862;p97"/>
          <p:cNvPicPr preferRelativeResize="0"/>
          <p:nvPr/>
        </p:nvPicPr>
        <p:blipFill>
          <a:blip r:embed="rId5">
            <a:alphaModFix/>
          </a:blip>
          <a:stretch>
            <a:fillRect/>
          </a:stretch>
        </p:blipFill>
        <p:spPr>
          <a:xfrm>
            <a:off x="1057262" y="2453250"/>
            <a:ext cx="1349549" cy="1306014"/>
          </a:xfrm>
          <a:prstGeom prst="rect">
            <a:avLst/>
          </a:prstGeom>
          <a:noFill/>
          <a:ln>
            <a:noFill/>
          </a:ln>
        </p:spPr>
      </p:pic>
      <p:sp>
        <p:nvSpPr>
          <p:cNvPr id="863" name="Google Shape;863;p97"/>
          <p:cNvSpPr txBox="1"/>
          <p:nvPr/>
        </p:nvSpPr>
        <p:spPr>
          <a:xfrm>
            <a:off x="513163" y="3933897"/>
            <a:ext cx="2790600" cy="7686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Joseph has joined as a new junior developer.</a:t>
            </a:r>
            <a:endParaRPr>
              <a:solidFill>
                <a:schemeClr val="dk2"/>
              </a:solidFill>
              <a:latin typeface="Roboto"/>
              <a:ea typeface="Roboto"/>
              <a:cs typeface="Roboto"/>
              <a:sym typeface="Roboto"/>
            </a:endParaRPr>
          </a:p>
          <a:p>
            <a:pPr indent="0" lvl="0" marL="0" rtl="0" algn="l">
              <a:lnSpc>
                <a:spcPct val="112000"/>
              </a:lnSpc>
              <a:spcBef>
                <a:spcPts val="1400"/>
              </a:spcBef>
              <a:spcAft>
                <a:spcPts val="1400"/>
              </a:spcAft>
              <a:buNone/>
            </a:pPr>
            <a:r>
              <a:t/>
            </a:r>
            <a:endParaRPr sz="1800">
              <a:solidFill>
                <a:schemeClr val="dk2"/>
              </a:solidFill>
              <a:latin typeface="Roboto"/>
              <a:ea typeface="Roboto"/>
              <a:cs typeface="Roboto"/>
              <a:sym typeface="Roboto"/>
            </a:endParaRPr>
          </a:p>
        </p:txBody>
      </p:sp>
      <p:pic>
        <p:nvPicPr>
          <p:cNvPr id="864" name="Google Shape;864;p97"/>
          <p:cNvPicPr preferRelativeResize="0"/>
          <p:nvPr/>
        </p:nvPicPr>
        <p:blipFill>
          <a:blip r:embed="rId5">
            <a:alphaModFix/>
          </a:blip>
          <a:stretch>
            <a:fillRect/>
          </a:stretch>
        </p:blipFill>
        <p:spPr>
          <a:xfrm>
            <a:off x="5739538" y="2906212"/>
            <a:ext cx="931800" cy="901731"/>
          </a:xfrm>
          <a:prstGeom prst="rect">
            <a:avLst/>
          </a:prstGeom>
          <a:noFill/>
          <a:ln>
            <a:noFill/>
          </a:ln>
        </p:spPr>
      </p:pic>
      <p:pic>
        <p:nvPicPr>
          <p:cNvPr id="865" name="Google Shape;865;p97"/>
          <p:cNvPicPr preferRelativeResize="0"/>
          <p:nvPr/>
        </p:nvPicPr>
        <p:blipFill>
          <a:blip r:embed="rId6">
            <a:alphaModFix/>
          </a:blip>
          <a:stretch>
            <a:fillRect/>
          </a:stretch>
        </p:blipFill>
        <p:spPr>
          <a:xfrm>
            <a:off x="6999790" y="2751940"/>
            <a:ext cx="827450" cy="1086360"/>
          </a:xfrm>
          <a:prstGeom prst="rect">
            <a:avLst/>
          </a:prstGeom>
          <a:noFill/>
          <a:ln>
            <a:noFill/>
          </a:ln>
        </p:spPr>
      </p:pic>
      <p:pic>
        <p:nvPicPr>
          <p:cNvPr id="866" name="Google Shape;866;p97"/>
          <p:cNvPicPr preferRelativeResize="0"/>
          <p:nvPr/>
        </p:nvPicPr>
        <p:blipFill>
          <a:blip r:embed="rId7">
            <a:alphaModFix/>
          </a:blip>
          <a:stretch>
            <a:fillRect/>
          </a:stretch>
        </p:blipFill>
        <p:spPr>
          <a:xfrm>
            <a:off x="4490410" y="2847908"/>
            <a:ext cx="931800" cy="1018341"/>
          </a:xfrm>
          <a:prstGeom prst="rect">
            <a:avLst/>
          </a:prstGeom>
          <a:noFill/>
          <a:ln>
            <a:noFill/>
          </a:ln>
        </p:spPr>
      </p:pic>
      <p:grpSp>
        <p:nvGrpSpPr>
          <p:cNvPr id="867" name="Google Shape;867;p97"/>
          <p:cNvGrpSpPr/>
          <p:nvPr/>
        </p:nvGrpSpPr>
        <p:grpSpPr>
          <a:xfrm>
            <a:off x="2309760" y="2121401"/>
            <a:ext cx="664775" cy="664775"/>
            <a:chOff x="1190625" y="238125"/>
            <a:chExt cx="5213925" cy="5213925"/>
          </a:xfrm>
        </p:grpSpPr>
        <p:sp>
          <p:nvSpPr>
            <p:cNvPr id="868" name="Google Shape;868;p97"/>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39C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97"/>
            <p:cNvSpPr/>
            <p:nvPr/>
          </p:nvSpPr>
          <p:spPr>
            <a:xfrm rot="2700000">
              <a:off x="2521412" y="1613945"/>
              <a:ext cx="2552351" cy="246295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97"/>
          <p:cNvGrpSpPr/>
          <p:nvPr/>
        </p:nvGrpSpPr>
        <p:grpSpPr>
          <a:xfrm>
            <a:off x="8202160" y="2121401"/>
            <a:ext cx="664775" cy="664775"/>
            <a:chOff x="1190625" y="238125"/>
            <a:chExt cx="5213925" cy="5213925"/>
          </a:xfrm>
        </p:grpSpPr>
        <p:sp>
          <p:nvSpPr>
            <p:cNvPr id="871" name="Google Shape;871;p97"/>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39C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97"/>
            <p:cNvSpPr/>
            <p:nvPr/>
          </p:nvSpPr>
          <p:spPr>
            <a:xfrm rot="2700000">
              <a:off x="2521412" y="1613945"/>
              <a:ext cx="2552351" cy="246295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98"/>
          <p:cNvSpPr txBox="1"/>
          <p:nvPr>
            <p:ph type="title"/>
          </p:nvPr>
        </p:nvSpPr>
        <p:spPr>
          <a:xfrm>
            <a:off x="155850" y="1708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Users and Groups </a:t>
            </a:r>
            <a:r>
              <a:rPr lang="en"/>
              <a:t>Scenario</a:t>
            </a:r>
            <a:endParaRPr/>
          </a:p>
          <a:p>
            <a:pPr indent="0" lvl="0" marL="0" rtl="0" algn="l">
              <a:spcBef>
                <a:spcPts val="0"/>
              </a:spcBef>
              <a:spcAft>
                <a:spcPts val="0"/>
              </a:spcAft>
              <a:buNone/>
            </a:pPr>
            <a:r>
              <a:t/>
            </a:r>
            <a:endParaRPr/>
          </a:p>
        </p:txBody>
      </p:sp>
      <p:sp>
        <p:nvSpPr>
          <p:cNvPr id="878" name="Google Shape;878;p98"/>
          <p:cNvSpPr txBox="1"/>
          <p:nvPr>
            <p:ph idx="1" type="body"/>
          </p:nvPr>
        </p:nvSpPr>
        <p:spPr>
          <a:xfrm>
            <a:off x="155850" y="562000"/>
            <a:ext cx="8520600" cy="3651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To accomplish these tasks, we will use the following commands:</a:t>
            </a:r>
            <a:endParaRPr/>
          </a:p>
        </p:txBody>
      </p:sp>
      <p:graphicFrame>
        <p:nvGraphicFramePr>
          <p:cNvPr id="879" name="Google Shape;879;p98"/>
          <p:cNvGraphicFramePr/>
          <p:nvPr/>
        </p:nvGraphicFramePr>
        <p:xfrm>
          <a:off x="442875" y="1258638"/>
          <a:ext cx="3000000" cy="3000000"/>
        </p:xfrm>
        <a:graphic>
          <a:graphicData uri="http://schemas.openxmlformats.org/drawingml/2006/table">
            <a:tbl>
              <a:tblPr>
                <a:noFill/>
                <a:tableStyleId>{8DB0C505-A1F2-40F6-9898-FC90E366573C}</a:tableStyleId>
              </a:tblPr>
              <a:tblGrid>
                <a:gridCol w="2361450"/>
                <a:gridCol w="5896800"/>
              </a:tblGrid>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groups</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Get group info for the user</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mike</a:t>
                      </a:r>
                      <a:r>
                        <a:rPr lang="en">
                          <a:solidFill>
                            <a:schemeClr val="dk2"/>
                          </a:solidFill>
                          <a:latin typeface="Roboto Light"/>
                          <a:ea typeface="Roboto Light"/>
                          <a:cs typeface="Roboto Light"/>
                          <a:sym typeface="Roboto Light"/>
                        </a:rPr>
                        <a:t>.</a:t>
                      </a:r>
                      <a:endParaRPr>
                        <a:solidFill>
                          <a:schemeClr val="dk2"/>
                        </a:solidFill>
                        <a:latin typeface="Roboto Light"/>
                        <a:ea typeface="Roboto Light"/>
                        <a:cs typeface="Roboto Light"/>
                        <a:sym typeface="Roboto Light"/>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469950">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usermod</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Lock Mike’s account to prevent him from logging in.</a:t>
                      </a:r>
                      <a:endParaRPr>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usermod</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Remove the user</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mike</a:t>
                      </a:r>
                      <a:r>
                        <a:rPr lang="en">
                          <a:solidFill>
                            <a:schemeClr val="dk2"/>
                          </a:solidFill>
                          <a:latin typeface="Roboto Light"/>
                          <a:ea typeface="Roboto Light"/>
                          <a:cs typeface="Roboto Light"/>
                          <a:sym typeface="Roboto Light"/>
                        </a:rPr>
                        <a:t> </a:t>
                      </a:r>
                      <a:r>
                        <a:rPr lang="en">
                          <a:solidFill>
                            <a:schemeClr val="dk2"/>
                          </a:solidFill>
                          <a:latin typeface="Roboto"/>
                          <a:ea typeface="Roboto"/>
                          <a:cs typeface="Roboto"/>
                          <a:sym typeface="Roboto"/>
                        </a:rPr>
                        <a:t>from the</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general</a:t>
                      </a:r>
                      <a:r>
                        <a:rPr lang="en">
                          <a:solidFill>
                            <a:schemeClr val="dk2"/>
                          </a:solidFill>
                          <a:latin typeface="Roboto Light"/>
                          <a:ea typeface="Roboto Light"/>
                          <a:cs typeface="Roboto Light"/>
                          <a:sym typeface="Roboto Light"/>
                        </a:rPr>
                        <a:t> </a:t>
                      </a:r>
                      <a:r>
                        <a:rPr lang="en">
                          <a:solidFill>
                            <a:schemeClr val="dk2"/>
                          </a:solidFill>
                          <a:latin typeface="Roboto"/>
                          <a:ea typeface="Roboto"/>
                          <a:cs typeface="Roboto"/>
                          <a:sym typeface="Roboto"/>
                        </a:rPr>
                        <a:t>group.</a:t>
                      </a:r>
                      <a:endParaRPr>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deluser --remove-home </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Delete the user</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mike</a:t>
                      </a:r>
                      <a:r>
                        <a:rPr lang="en">
                          <a:solidFill>
                            <a:schemeClr val="dk2"/>
                          </a:solidFill>
                          <a:latin typeface="Roboto Light"/>
                          <a:ea typeface="Roboto Light"/>
                          <a:cs typeface="Roboto Light"/>
                          <a:sym typeface="Roboto Light"/>
                        </a:rPr>
                        <a:t>.</a:t>
                      </a:r>
                      <a:endParaRPr>
                        <a:solidFill>
                          <a:schemeClr val="dk2"/>
                        </a:solidFill>
                        <a:latin typeface="Roboto Light"/>
                        <a:ea typeface="Roboto Light"/>
                        <a:cs typeface="Roboto Light"/>
                        <a:sym typeface="Roboto Light"/>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delgroup</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Delete the</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general </a:t>
                      </a:r>
                      <a:r>
                        <a:rPr lang="en">
                          <a:solidFill>
                            <a:schemeClr val="dk2"/>
                          </a:solidFill>
                          <a:latin typeface="Roboto"/>
                          <a:ea typeface="Roboto"/>
                          <a:cs typeface="Roboto"/>
                          <a:sym typeface="Roboto"/>
                        </a:rPr>
                        <a:t>group</a:t>
                      </a:r>
                      <a:r>
                        <a:rPr lang="en">
                          <a:solidFill>
                            <a:schemeClr val="dk2"/>
                          </a:solidFill>
                          <a:latin typeface="Roboto Light"/>
                          <a:ea typeface="Roboto Light"/>
                          <a:cs typeface="Roboto Light"/>
                          <a:sym typeface="Roboto Light"/>
                        </a:rPr>
                        <a:t>.</a:t>
                      </a:r>
                      <a:endParaRPr>
                        <a:solidFill>
                          <a:schemeClr val="dk2"/>
                        </a:solidFill>
                        <a:latin typeface="Roboto Light"/>
                        <a:ea typeface="Roboto Light"/>
                        <a:cs typeface="Roboto Light"/>
                        <a:sym typeface="Roboto Light"/>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adduser</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Create the user </a:t>
                      </a:r>
                      <a:r>
                        <a:rPr b="1" lang="en">
                          <a:solidFill>
                            <a:schemeClr val="dk2"/>
                          </a:solidFill>
                          <a:latin typeface="Inconsolata"/>
                          <a:ea typeface="Inconsolata"/>
                          <a:cs typeface="Inconsolata"/>
                          <a:sym typeface="Inconsolata"/>
                        </a:rPr>
                        <a:t>joseph.</a:t>
                      </a:r>
                      <a:endParaRPr b="1">
                        <a:solidFill>
                          <a:schemeClr val="dk2"/>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addgroup</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Create a</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developer</a:t>
                      </a:r>
                      <a:r>
                        <a:rPr lang="en">
                          <a:solidFill>
                            <a:schemeClr val="dk2"/>
                          </a:solidFill>
                          <a:latin typeface="Roboto"/>
                          <a:ea typeface="Roboto"/>
                          <a:cs typeface="Roboto"/>
                          <a:sym typeface="Roboto"/>
                        </a:rPr>
                        <a:t> group.</a:t>
                      </a:r>
                      <a:endParaRPr>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2"/>
                    </a:solidFill>
                  </a:tcPr>
                </a:tc>
              </a:tr>
              <a:tr h="452925">
                <a:tc>
                  <a:txBody>
                    <a:bodyPr/>
                    <a:lstStyle/>
                    <a:p>
                      <a:pPr indent="0" lvl="0" marL="0" rtl="0" algn="r">
                        <a:spcBef>
                          <a:spcPts val="0"/>
                        </a:spcBef>
                        <a:spcAft>
                          <a:spcPts val="0"/>
                        </a:spcAft>
                        <a:buNone/>
                      </a:pPr>
                      <a:r>
                        <a:rPr lang="en">
                          <a:solidFill>
                            <a:srgbClr val="FFFFFF"/>
                          </a:solidFill>
                          <a:latin typeface="Inconsolata"/>
                          <a:ea typeface="Inconsolata"/>
                          <a:cs typeface="Inconsolata"/>
                          <a:sym typeface="Inconsolata"/>
                        </a:rPr>
                        <a:t>Usermod </a:t>
                      </a:r>
                      <a:endParaRPr>
                        <a:solidFill>
                          <a:srgbClr val="FFFFFF"/>
                        </a:solidFill>
                        <a:latin typeface="Inconsolata"/>
                        <a:ea typeface="Inconsolata"/>
                        <a:cs typeface="Inconsolata"/>
                        <a:sym typeface="Inconsolata"/>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solidFill>
                            <a:schemeClr val="dk2"/>
                          </a:solidFill>
                          <a:latin typeface="Roboto"/>
                          <a:ea typeface="Roboto"/>
                          <a:cs typeface="Roboto"/>
                          <a:sym typeface="Roboto"/>
                        </a:rPr>
                        <a:t>Add the user</a:t>
                      </a:r>
                      <a:r>
                        <a:rPr b="1" lang="en">
                          <a:solidFill>
                            <a:schemeClr val="dk2"/>
                          </a:solidFill>
                          <a:latin typeface="Inconsolata"/>
                          <a:ea typeface="Inconsolata"/>
                          <a:cs typeface="Inconsolata"/>
                          <a:sym typeface="Inconsolata"/>
                        </a:rPr>
                        <a:t> joseph</a:t>
                      </a:r>
                      <a:r>
                        <a:rPr lang="en">
                          <a:solidFill>
                            <a:schemeClr val="dk2"/>
                          </a:solidFill>
                          <a:latin typeface="Roboto Light"/>
                          <a:ea typeface="Roboto Light"/>
                          <a:cs typeface="Roboto Light"/>
                          <a:sym typeface="Roboto Light"/>
                        </a:rPr>
                        <a:t> </a:t>
                      </a:r>
                      <a:r>
                        <a:rPr lang="en">
                          <a:solidFill>
                            <a:schemeClr val="dk2"/>
                          </a:solidFill>
                          <a:latin typeface="Roboto"/>
                          <a:ea typeface="Roboto"/>
                          <a:cs typeface="Roboto"/>
                          <a:sym typeface="Roboto"/>
                        </a:rPr>
                        <a:t>to the</a:t>
                      </a:r>
                      <a:r>
                        <a:rPr lang="en">
                          <a:solidFill>
                            <a:schemeClr val="dk2"/>
                          </a:solidFill>
                          <a:latin typeface="Roboto Light"/>
                          <a:ea typeface="Roboto Light"/>
                          <a:cs typeface="Roboto Light"/>
                          <a:sym typeface="Roboto Light"/>
                        </a:rPr>
                        <a:t> </a:t>
                      </a:r>
                      <a:r>
                        <a:rPr b="1" lang="en">
                          <a:solidFill>
                            <a:schemeClr val="dk2"/>
                          </a:solidFill>
                          <a:latin typeface="Inconsolata"/>
                          <a:ea typeface="Inconsolata"/>
                          <a:cs typeface="Inconsolata"/>
                          <a:sym typeface="Inconsolata"/>
                        </a:rPr>
                        <a:t>developer</a:t>
                      </a:r>
                      <a:r>
                        <a:rPr lang="en">
                          <a:solidFill>
                            <a:schemeClr val="dk2"/>
                          </a:solidFill>
                          <a:latin typeface="Roboto Light"/>
                          <a:ea typeface="Roboto Light"/>
                          <a:cs typeface="Roboto Light"/>
                          <a:sym typeface="Roboto Light"/>
                        </a:rPr>
                        <a:t> </a:t>
                      </a:r>
                      <a:r>
                        <a:rPr lang="en">
                          <a:solidFill>
                            <a:schemeClr val="dk2"/>
                          </a:solidFill>
                          <a:latin typeface="Roboto"/>
                          <a:ea typeface="Roboto"/>
                          <a:cs typeface="Roboto"/>
                          <a:sym typeface="Roboto"/>
                        </a:rPr>
                        <a:t>group.</a:t>
                      </a:r>
                      <a:endParaRPr>
                        <a:solidFill>
                          <a:schemeClr val="dk2"/>
                        </a:solidFill>
                        <a:latin typeface="Roboto"/>
                        <a:ea typeface="Roboto"/>
                        <a:cs typeface="Roboto"/>
                        <a:sym typeface="Roboto"/>
                      </a:endParaRPr>
                    </a:p>
                  </a:txBody>
                  <a:tcPr marT="91425" marB="91425" marR="182875" marL="18287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bl>
          </a:graphicData>
        </a:graphic>
      </p:graphicFrame>
      <p:pic>
        <p:nvPicPr>
          <p:cNvPr id="880" name="Google Shape;880;p98"/>
          <p:cNvPicPr preferRelativeResize="0"/>
          <p:nvPr/>
        </p:nvPicPr>
        <p:blipFill>
          <a:blip r:embed="rId3">
            <a:alphaModFix/>
          </a:blip>
          <a:stretch>
            <a:fillRect/>
          </a:stretch>
        </p:blipFill>
        <p:spPr>
          <a:xfrm>
            <a:off x="5323775" y="3548608"/>
            <a:ext cx="459425" cy="444617"/>
          </a:xfrm>
          <a:prstGeom prst="rect">
            <a:avLst/>
          </a:prstGeom>
          <a:noFill/>
          <a:ln>
            <a:noFill/>
          </a:ln>
        </p:spPr>
      </p:pic>
      <p:pic>
        <p:nvPicPr>
          <p:cNvPr id="881" name="Google Shape;881;p98"/>
          <p:cNvPicPr preferRelativeResize="0"/>
          <p:nvPr/>
        </p:nvPicPr>
        <p:blipFill>
          <a:blip r:embed="rId4">
            <a:alphaModFix/>
          </a:blip>
          <a:stretch>
            <a:fillRect/>
          </a:stretch>
        </p:blipFill>
        <p:spPr>
          <a:xfrm>
            <a:off x="5114909" y="2634450"/>
            <a:ext cx="459416" cy="457875"/>
          </a:xfrm>
          <a:prstGeom prst="rect">
            <a:avLst/>
          </a:prstGeom>
          <a:noFill/>
          <a:ln>
            <a:noFill/>
          </a:ln>
        </p:spPr>
      </p:pic>
      <p:grpSp>
        <p:nvGrpSpPr>
          <p:cNvPr id="882" name="Google Shape;882;p98"/>
          <p:cNvGrpSpPr/>
          <p:nvPr/>
        </p:nvGrpSpPr>
        <p:grpSpPr>
          <a:xfrm>
            <a:off x="5574336" y="2714792"/>
            <a:ext cx="294065" cy="297194"/>
            <a:chOff x="1190625" y="238125"/>
            <a:chExt cx="5213925" cy="5213925"/>
          </a:xfrm>
        </p:grpSpPr>
        <p:sp>
          <p:nvSpPr>
            <p:cNvPr id="883" name="Google Shape;883;p98"/>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98"/>
            <p:cNvSpPr/>
            <p:nvPr/>
          </p:nvSpPr>
          <p:spPr>
            <a:xfrm>
              <a:off x="2521400" y="1613950"/>
              <a:ext cx="2552375" cy="2462975"/>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5" name="Google Shape;885;p98"/>
          <p:cNvGrpSpPr/>
          <p:nvPr/>
        </p:nvGrpSpPr>
        <p:grpSpPr>
          <a:xfrm>
            <a:off x="5783198" y="3622313"/>
            <a:ext cx="294065" cy="297194"/>
            <a:chOff x="1190625" y="238125"/>
            <a:chExt cx="5213925" cy="5213925"/>
          </a:xfrm>
        </p:grpSpPr>
        <p:sp>
          <p:nvSpPr>
            <p:cNvPr id="886" name="Google Shape;886;p98"/>
            <p:cNvSpPr/>
            <p:nvPr/>
          </p:nvSpPr>
          <p:spPr>
            <a:xfrm>
              <a:off x="1190625" y="238125"/>
              <a:ext cx="5213925" cy="5213925"/>
            </a:xfrm>
            <a:custGeom>
              <a:rect b="b" l="l" r="r" t="t"/>
              <a:pathLst>
                <a:path extrusionOk="0" h="208557" w="208557">
                  <a:moveTo>
                    <a:pt x="104278" y="0"/>
                  </a:moveTo>
                  <a:cubicBezTo>
                    <a:pt x="46677" y="0"/>
                    <a:pt x="0" y="46677"/>
                    <a:pt x="0" y="104278"/>
                  </a:cubicBezTo>
                  <a:cubicBezTo>
                    <a:pt x="0" y="161880"/>
                    <a:pt x="46677" y="208557"/>
                    <a:pt x="104278" y="208557"/>
                  </a:cubicBezTo>
                  <a:cubicBezTo>
                    <a:pt x="161880" y="208557"/>
                    <a:pt x="208557" y="161880"/>
                    <a:pt x="208557" y="104278"/>
                  </a:cubicBezTo>
                  <a:cubicBezTo>
                    <a:pt x="208557" y="46677"/>
                    <a:pt x="161880" y="0"/>
                    <a:pt x="104278" y="0"/>
                  </a:cubicBezTo>
                  <a:close/>
                </a:path>
              </a:pathLst>
            </a:custGeom>
            <a:solidFill>
              <a:srgbClr val="39C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98"/>
            <p:cNvSpPr/>
            <p:nvPr/>
          </p:nvSpPr>
          <p:spPr>
            <a:xfrm rot="2700000">
              <a:off x="2521412" y="1613945"/>
              <a:ext cx="2552351" cy="2462951"/>
            </a:xfrm>
            <a:custGeom>
              <a:rect b="b" l="l" r="r" t="t"/>
              <a:pathLst>
                <a:path extrusionOk="0" h="98519" w="102095">
                  <a:moveTo>
                    <a:pt x="15470" y="0"/>
                  </a:moveTo>
                  <a:cubicBezTo>
                    <a:pt x="11814" y="0"/>
                    <a:pt x="8305" y="1282"/>
                    <a:pt x="5695" y="3893"/>
                  </a:cubicBezTo>
                  <a:cubicBezTo>
                    <a:pt x="1" y="9620"/>
                    <a:pt x="630" y="19551"/>
                    <a:pt x="7085" y="26039"/>
                  </a:cubicBezTo>
                  <a:lnTo>
                    <a:pt x="30324" y="49245"/>
                  </a:lnTo>
                  <a:lnTo>
                    <a:pt x="7085" y="72485"/>
                  </a:lnTo>
                  <a:cubicBezTo>
                    <a:pt x="630" y="78940"/>
                    <a:pt x="1" y="88904"/>
                    <a:pt x="5695" y="94598"/>
                  </a:cubicBezTo>
                  <a:cubicBezTo>
                    <a:pt x="8310" y="97229"/>
                    <a:pt x="11826" y="98518"/>
                    <a:pt x="15489" y="98518"/>
                  </a:cubicBezTo>
                  <a:cubicBezTo>
                    <a:pt x="19802" y="98518"/>
                    <a:pt x="24318" y="96731"/>
                    <a:pt x="27808" y="93241"/>
                  </a:cubicBezTo>
                  <a:lnTo>
                    <a:pt x="51047" y="70002"/>
                  </a:lnTo>
                  <a:lnTo>
                    <a:pt x="74287" y="93241"/>
                  </a:lnTo>
                  <a:cubicBezTo>
                    <a:pt x="77777" y="96731"/>
                    <a:pt x="82293" y="98518"/>
                    <a:pt x="86605" y="98518"/>
                  </a:cubicBezTo>
                  <a:cubicBezTo>
                    <a:pt x="90269" y="98518"/>
                    <a:pt x="93785" y="97229"/>
                    <a:pt x="96400" y="94598"/>
                  </a:cubicBezTo>
                  <a:cubicBezTo>
                    <a:pt x="102094" y="88904"/>
                    <a:pt x="101498" y="78940"/>
                    <a:pt x="95010" y="72485"/>
                  </a:cubicBezTo>
                  <a:lnTo>
                    <a:pt x="71804" y="49245"/>
                  </a:lnTo>
                  <a:lnTo>
                    <a:pt x="95010" y="26039"/>
                  </a:lnTo>
                  <a:cubicBezTo>
                    <a:pt x="101465" y="19584"/>
                    <a:pt x="102094" y="9620"/>
                    <a:pt x="96400" y="3926"/>
                  </a:cubicBezTo>
                  <a:cubicBezTo>
                    <a:pt x="93785" y="1295"/>
                    <a:pt x="90269" y="6"/>
                    <a:pt x="86605" y="6"/>
                  </a:cubicBezTo>
                  <a:cubicBezTo>
                    <a:pt x="82293" y="6"/>
                    <a:pt x="77777" y="1793"/>
                    <a:pt x="74287" y="5283"/>
                  </a:cubicBezTo>
                  <a:lnTo>
                    <a:pt x="51047" y="28522"/>
                  </a:lnTo>
                  <a:lnTo>
                    <a:pt x="27808" y="5283"/>
                  </a:lnTo>
                  <a:cubicBezTo>
                    <a:pt x="24313" y="1788"/>
                    <a:pt x="19788" y="0"/>
                    <a:pt x="154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9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Users</a:t>
            </a:r>
            <a:r>
              <a:rPr b="0" lang="en">
                <a:latin typeface="Roboto"/>
                <a:ea typeface="Roboto"/>
                <a:cs typeface="Roboto"/>
                <a:sym typeface="Roboto"/>
              </a:rPr>
              <a:t> and </a:t>
            </a:r>
            <a:r>
              <a:rPr lang="en">
                <a:latin typeface="Roboto"/>
                <a:ea typeface="Roboto"/>
                <a:cs typeface="Roboto"/>
                <a:sym typeface="Roboto"/>
              </a:rPr>
              <a:t>Groups</a:t>
            </a:r>
            <a:endParaRPr>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00"/>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a:t>
            </a:r>
            <a:r>
              <a:rPr lang="en"/>
              <a:t> Minutes</a:t>
            </a:r>
            <a:endParaRPr/>
          </a:p>
        </p:txBody>
      </p:sp>
      <p:sp>
        <p:nvSpPr>
          <p:cNvPr id="898" name="Google Shape;898;p100"/>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Users and Groups</a:t>
            </a:r>
            <a:endParaRPr/>
          </a:p>
        </p:txBody>
      </p:sp>
      <p:sp>
        <p:nvSpPr>
          <p:cNvPr id="899" name="Google Shape;899;p100"/>
          <p:cNvSpPr txBox="1"/>
          <p:nvPr>
            <p:ph idx="3" type="body"/>
          </p:nvPr>
        </p:nvSpPr>
        <p:spPr>
          <a:xfrm>
            <a:off x="457200" y="1273050"/>
            <a:ext cx="78822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T</a:t>
            </a:r>
            <a:r>
              <a:rPr lang="en"/>
              <a:t>he administrator has asked that you audit all the users and groups on the system.</a:t>
            </a:r>
            <a:endParaRPr/>
          </a:p>
          <a:p>
            <a:pPr indent="-342900" lvl="0" marL="457200" rtl="0" algn="l">
              <a:spcBef>
                <a:spcPts val="0"/>
              </a:spcBef>
              <a:spcAft>
                <a:spcPts val="0"/>
              </a:spcAft>
              <a:buSzPts val="1800"/>
              <a:buChar char="●"/>
            </a:pPr>
            <a:r>
              <a:rPr lang="en"/>
              <a:t>You will create a new group for the standard users and remove users from the </a:t>
            </a:r>
            <a:r>
              <a:rPr b="1" lang="en">
                <a:latin typeface="Inconsolata"/>
                <a:ea typeface="Inconsolata"/>
                <a:cs typeface="Inconsolata"/>
                <a:sym typeface="Inconsolata"/>
              </a:rPr>
              <a:t>sudo</a:t>
            </a:r>
            <a:r>
              <a:rPr lang="en"/>
              <a:t> group.</a:t>
            </a:r>
            <a:endParaRPr/>
          </a:p>
          <a:p>
            <a:pPr indent="-342900" lvl="0" marL="457200" rtl="0" algn="l">
              <a:spcBef>
                <a:spcPts val="0"/>
              </a:spcBef>
              <a:spcAft>
                <a:spcPts val="0"/>
              </a:spcAft>
              <a:buSzPts val="1800"/>
              <a:buChar char="●"/>
            </a:pPr>
            <a:r>
              <a:rPr lang="en"/>
              <a:t>In the previous activities, you found some malicious users. Now you will remove them from the system entirely.</a:t>
            </a:r>
            <a:endParaRPr/>
          </a:p>
          <a:p>
            <a:pPr indent="-342900" lvl="0" marL="457200" rtl="0" algn="l">
              <a:spcBef>
                <a:spcPts val="0"/>
              </a:spcBef>
              <a:spcAft>
                <a:spcPts val="0"/>
              </a:spcAft>
              <a:buSzPts val="1800"/>
              <a:buChar char="●"/>
            </a:pPr>
            <a:r>
              <a:rPr lang="en"/>
              <a:t>Being able to manage users and groups is an essential skill of a system administrator. Here, we will follow the principle of least privilege to make sure that the users on the system only have the access we want them to have and are only members of the correct groups.</a:t>
            </a:r>
            <a:endParaRPr/>
          </a:p>
        </p:txBody>
      </p:sp>
      <p:pic>
        <p:nvPicPr>
          <p:cNvPr id="900" name="Google Shape;900;p100"/>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0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14" name="Google Shape;914;p103"/>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915" name="Google Shape;915;p103"/>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916" name="Google Shape;916;p10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917" name="Google Shape;917;p10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Linux Access Controls</a:t>
            </a:r>
            <a:endParaRPr/>
          </a:p>
        </p:txBody>
      </p:sp>
      <p:sp>
        <p:nvSpPr>
          <p:cNvPr id="918" name="Google Shape;918;p103"/>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03"/>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03"/>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21" name="Google Shape;921;p103"/>
          <p:cNvGrpSpPr/>
          <p:nvPr/>
        </p:nvGrpSpPr>
        <p:grpSpPr>
          <a:xfrm>
            <a:off x="457200" y="1371604"/>
            <a:ext cx="776900" cy="459019"/>
            <a:chOff x="457200" y="1466425"/>
            <a:chExt cx="776900" cy="486300"/>
          </a:xfrm>
        </p:grpSpPr>
        <p:sp>
          <p:nvSpPr>
            <p:cNvPr id="922" name="Google Shape;922;p10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923" name="Google Shape;923;p10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24" name="Google Shape;924;p103"/>
          <p:cNvGrpSpPr/>
          <p:nvPr/>
        </p:nvGrpSpPr>
        <p:grpSpPr>
          <a:xfrm>
            <a:off x="457200" y="2026480"/>
            <a:ext cx="776900" cy="486300"/>
            <a:chOff x="457200" y="1466425"/>
            <a:chExt cx="776900" cy="486300"/>
          </a:xfrm>
        </p:grpSpPr>
        <p:sp>
          <p:nvSpPr>
            <p:cNvPr id="925" name="Google Shape;925;p10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926" name="Google Shape;926;p10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27" name="Google Shape;927;p103"/>
          <p:cNvGrpSpPr/>
          <p:nvPr/>
        </p:nvGrpSpPr>
        <p:grpSpPr>
          <a:xfrm>
            <a:off x="457200" y="2743336"/>
            <a:ext cx="776900" cy="437378"/>
            <a:chOff x="457200" y="1466425"/>
            <a:chExt cx="776900" cy="486300"/>
          </a:xfrm>
        </p:grpSpPr>
        <p:sp>
          <p:nvSpPr>
            <p:cNvPr id="928" name="Google Shape;928;p10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929" name="Google Shape;929;p10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930" name="Google Shape;930;p103"/>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Cracked password hashes with </a:t>
            </a:r>
            <a:r>
              <a:rPr b="1" lang="en" sz="1800">
                <a:solidFill>
                  <a:srgbClr val="082D49"/>
                </a:solidFill>
                <a:latin typeface="Roboto"/>
                <a:ea typeface="Roboto"/>
                <a:cs typeface="Roboto"/>
                <a:sym typeface="Roboto"/>
              </a:rPr>
              <a:t>john</a:t>
            </a:r>
            <a:endParaRPr b="1" sz="1800">
              <a:solidFill>
                <a:srgbClr val="082D49"/>
              </a:solidFill>
              <a:latin typeface="Roboto"/>
              <a:ea typeface="Roboto"/>
              <a:cs typeface="Roboto"/>
              <a:sym typeface="Roboto"/>
            </a:endParaRPr>
          </a:p>
        </p:txBody>
      </p:sp>
      <p:sp>
        <p:nvSpPr>
          <p:cNvPr id="931" name="Google Shape;931;p103"/>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Escalated</a:t>
            </a:r>
            <a:r>
              <a:rPr lang="en" sz="1800">
                <a:solidFill>
                  <a:srgbClr val="082D49"/>
                </a:solidFill>
                <a:latin typeface="Roboto"/>
                <a:ea typeface="Roboto"/>
                <a:cs typeface="Roboto"/>
                <a:sym typeface="Roboto"/>
              </a:rPr>
              <a:t> privileges with </a:t>
            </a:r>
            <a:r>
              <a:rPr b="1" lang="en" sz="1800">
                <a:solidFill>
                  <a:srgbClr val="082D49"/>
                </a:solidFill>
                <a:latin typeface="Roboto"/>
                <a:ea typeface="Roboto"/>
                <a:cs typeface="Roboto"/>
                <a:sym typeface="Roboto"/>
              </a:rPr>
              <a:t>su</a:t>
            </a:r>
            <a:r>
              <a:rPr lang="en" sz="1800">
                <a:solidFill>
                  <a:srgbClr val="082D49"/>
                </a:solidFill>
                <a:latin typeface="Roboto"/>
                <a:ea typeface="Roboto"/>
                <a:cs typeface="Roboto"/>
                <a:sym typeface="Roboto"/>
              </a:rPr>
              <a:t> and </a:t>
            </a:r>
            <a:r>
              <a:rPr b="1" lang="en" sz="1800">
                <a:solidFill>
                  <a:srgbClr val="082D49"/>
                </a:solidFill>
                <a:latin typeface="Roboto"/>
                <a:ea typeface="Roboto"/>
                <a:cs typeface="Roboto"/>
                <a:sym typeface="Roboto"/>
              </a:rPr>
              <a:t>sudo</a:t>
            </a:r>
            <a:endParaRPr b="1" sz="1800">
              <a:solidFill>
                <a:srgbClr val="082D49"/>
              </a:solidFill>
              <a:latin typeface="Roboto"/>
              <a:ea typeface="Roboto"/>
              <a:cs typeface="Roboto"/>
              <a:sym typeface="Roboto"/>
            </a:endParaRPr>
          </a:p>
        </p:txBody>
      </p:sp>
      <p:sp>
        <p:nvSpPr>
          <p:cNvPr id="932" name="Google Shape;932;p103"/>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Managed</a:t>
            </a:r>
            <a:r>
              <a:rPr lang="en" sz="1800">
                <a:solidFill>
                  <a:srgbClr val="082D49"/>
                </a:solidFill>
                <a:latin typeface="Roboto"/>
                <a:ea typeface="Roboto"/>
                <a:cs typeface="Roboto"/>
                <a:sym typeface="Roboto"/>
              </a:rPr>
              <a:t> users and groups</a:t>
            </a:r>
            <a:endParaRPr sz="1800">
              <a:solidFill>
                <a:srgbClr val="082D49"/>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04"/>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1800"/>
              <a:t>Inspect and set file permissions, monitor services, and assign users for services</a:t>
            </a:r>
            <a:endParaRPr baseline="-25000" sz="18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