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Roboto"/>
      <p:regular r:id="rId56"/>
      <p:bold r:id="rId57"/>
      <p:italic r:id="rId58"/>
      <p:boldItalic r:id="rId59"/>
    </p:embeddedFont>
    <p:embeddedFont>
      <p:font typeface="Roboto Medium"/>
      <p:regular r:id="rId60"/>
      <p:bold r:id="rId61"/>
      <p:italic r:id="rId62"/>
      <p:boldItalic r:id="rId63"/>
    </p:embeddedFont>
    <p:embeddedFont>
      <p:font typeface="Inconsolata"/>
      <p:regular r:id="rId64"/>
      <p:bold r:id="rId65"/>
    </p:embeddedFont>
    <p:embeddedFont>
      <p:font typeface="Roboto Light"/>
      <p:regular r:id="rId66"/>
      <p:bold r:id="rId67"/>
      <p:italic r:id="rId68"/>
      <p:boldItalic r:id="rId69"/>
    </p:embeddedFont>
    <p:embeddedFont>
      <p:font typeface="Roboto Mono"/>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233">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B70123-C99C-4558-A20F-81A9325B1E0B}">
  <a:tblStyle styleId="{4FB70123-C99C-4558-A20F-81A9325B1E0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3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Mono-boldItalic.fntdata"/><Relationship Id="rId72" Type="http://schemas.openxmlformats.org/officeDocument/2006/relationships/font" Target="fonts/RobotoMono-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Mono-bold.fntdata"/><Relationship Id="rId70" Type="http://schemas.openxmlformats.org/officeDocument/2006/relationships/font" Target="fonts/RobotoMono-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edium-italic.fntdata"/><Relationship Id="rId61" Type="http://schemas.openxmlformats.org/officeDocument/2006/relationships/font" Target="fonts/RobotoMedium-bold.fntdata"/><Relationship Id="rId20" Type="http://schemas.openxmlformats.org/officeDocument/2006/relationships/slide" Target="slides/slide14.xml"/><Relationship Id="rId64" Type="http://schemas.openxmlformats.org/officeDocument/2006/relationships/font" Target="fonts/Inconsolata-regular.fntdata"/><Relationship Id="rId63" Type="http://schemas.openxmlformats.org/officeDocument/2006/relationships/font" Target="fonts/RobotoMedium-boldItalic.fntdata"/><Relationship Id="rId22" Type="http://schemas.openxmlformats.org/officeDocument/2006/relationships/slide" Target="slides/slide16.xml"/><Relationship Id="rId66" Type="http://schemas.openxmlformats.org/officeDocument/2006/relationships/font" Target="fonts/RobotoLight-regular.fntdata"/><Relationship Id="rId21" Type="http://schemas.openxmlformats.org/officeDocument/2006/relationships/slide" Target="slides/slide15.xml"/><Relationship Id="rId65" Type="http://schemas.openxmlformats.org/officeDocument/2006/relationships/font" Target="fonts/Inconsolata-bold.fntdata"/><Relationship Id="rId24" Type="http://schemas.openxmlformats.org/officeDocument/2006/relationships/slide" Target="slides/slide18.xml"/><Relationship Id="rId68" Type="http://schemas.openxmlformats.org/officeDocument/2006/relationships/font" Target="fonts/RobotoLight-italic.fntdata"/><Relationship Id="rId23" Type="http://schemas.openxmlformats.org/officeDocument/2006/relationships/slide" Target="slides/slide17.xml"/><Relationship Id="rId67" Type="http://schemas.openxmlformats.org/officeDocument/2006/relationships/font" Target="fonts/RobotoLight-bold.fntdata"/><Relationship Id="rId60" Type="http://schemas.openxmlformats.org/officeDocument/2006/relationships/font" Target="fonts/RobotoMedium-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Light-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Roboto-bold.fntdata"/><Relationship Id="rId12" Type="http://schemas.openxmlformats.org/officeDocument/2006/relationships/slide" Target="slides/slide6.xml"/><Relationship Id="rId56" Type="http://schemas.openxmlformats.org/officeDocument/2006/relationships/font" Target="fonts/Roboto-regular.fntdata"/><Relationship Id="rId15" Type="http://schemas.openxmlformats.org/officeDocument/2006/relationships/slide" Target="slides/slide9.xml"/><Relationship Id="rId59" Type="http://schemas.openxmlformats.org/officeDocument/2006/relationships/font" Target="fonts/Roboto-boldItalic.fntdata"/><Relationship Id="rId14" Type="http://schemas.openxmlformats.org/officeDocument/2006/relationships/slide" Target="slides/slide8.xml"/><Relationship Id="rId58" Type="http://schemas.openxmlformats.org/officeDocument/2006/relationships/font" Target="fonts/Roboto-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eb00afe1db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eb00afe1db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ec649b31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g2ec649b311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2f0136018fe_0_2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2f0136018fe_0_2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2f0931718ce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2f0931718ce_0_10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ec649b311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ec649b311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2f109b5ae5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2f109b5ae5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f109b5ae59_0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f109b5ae59_0_1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f109b5ae59_0_10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f109b5ae59_0_10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2f109b5ae59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2f109b5ae59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f109b5ae59_0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f109b5ae59_0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f109b5ae59_0_1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g2f109b5ae59_0_15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f149bbe48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g2f149bbe48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2f0931718ce_0_2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g2f0931718ce_0_29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f149bbe48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2f149bbe48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2f149bbe48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2f149bbe48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f149bbe48f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2f149bbe48f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2f149bbe48f_0_1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2f149bbe48f_0_14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f149bbe48f_0_14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2f149bbe48f_0_14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f149bbe48f_0_1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2f149bbe48f_0_1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2f149bbe48f_0_3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g2f149bbe48f_0_35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2f149bbe48f_0_4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2f149bbe48f_0_4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f149bbe48f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f149bbe48f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7fb10d3ce7_0_1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27fb10d3ce7_0_1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27fb10d3ce7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27fb10d3ce7_0_1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27fb10d3ce7_0_1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27fb10d3ce7_0_1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2f16e7e149e_0_2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2f16e7e149e_0_2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7fb10d3ce7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27fb10d3ce7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f16e7e149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8" name="Google Shape;748;g2f16e7e149e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2f16e7e149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2f16e7e149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shutterstock_160754045</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f16e7e149e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f16e7e149e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f16e7e149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f16e7e149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f16e7e149e_0_20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f16e7e149e_0_2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2f16e7e149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2f16e7e149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f16e7e149e_0_2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2f16e7e149e_0_2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27fb10d3ce7_0_2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27fb10d3ce7_0_2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27fb10d3ce7_0_2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27fb10d3ce7_0_2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7fb10d3ce7_0_2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7fb10d3ce7_0_2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f16e7e149e_0_20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2f16e7e149e_0_20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f16e7e149e_0_2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f16e7e149e_0_2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2f16e7e149e_0_3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2f16e7e149e_0_3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shutterstock_105536243</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2f16e7e149e_0_4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2f16e7e149e_0_4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2f16e7e149e_0_40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2f16e7e149e_0_40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shutterstock_1888488028</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2f16e7e149e_0_4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2" name="Google Shape;862;g2f16e7e149e_0_4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2f16e7e149e_0_4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2f16e7e149e_0_4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2f16e7e149e_0_4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2f16e7e149e_0_4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2ec649b3119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2ec649b3119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2f042419d73_0_10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2" name="Google Shape;882;g2f042419d73_0_100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g2f0136018fe_0_2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6" name="Google Shape;906;g2f0136018fe_0_2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2ec649b3119_0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2ec649b3119_0_1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7.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1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1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7.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2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1.png"/><Relationship Id="rId3" Type="http://schemas.openxmlformats.org/officeDocument/2006/relationships/image" Target="../media/image1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p2"/>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p2"/>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p2"/>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p3"/>
          <p:cNvSpPr/>
          <p:nvPr>
            <p:ph idx="2" type="pic"/>
          </p:nvPr>
        </p:nvSpPr>
        <p:spPr>
          <a:xfrm>
            <a:off x="5943725" y="150"/>
            <a:ext cx="3200100" cy="5143500"/>
          </a:xfrm>
          <a:prstGeom prst="rect">
            <a:avLst/>
          </a:prstGeom>
          <a:noFill/>
          <a:ln>
            <a:noFill/>
          </a:ln>
        </p:spPr>
      </p:sp>
      <p:sp>
        <p:nvSpPr>
          <p:cNvPr id="15" name="Google Shape;15;p3"/>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p3"/>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p4"/>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p4"/>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p4"/>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p4"/>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p4"/>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p5"/>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p5"/>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p5"/>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p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p5"/>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p5"/>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p6"/>
          <p:cNvSpPr/>
          <p:nvPr>
            <p:ph idx="2" type="pic"/>
          </p:nvPr>
        </p:nvSpPr>
        <p:spPr>
          <a:xfrm>
            <a:off x="0" y="150"/>
            <a:ext cx="3220500" cy="5143500"/>
          </a:xfrm>
          <a:prstGeom prst="rect">
            <a:avLst/>
          </a:prstGeom>
          <a:noFill/>
          <a:ln>
            <a:noFill/>
          </a:ln>
        </p:spPr>
      </p:sp>
      <p:sp>
        <p:nvSpPr>
          <p:cNvPr id="35" name="Google Shape;35;p6"/>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p6"/>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p6"/>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p7"/>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p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p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p7"/>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p8"/>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p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8"/>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8"/>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8"/>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p8"/>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p8"/>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p8"/>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p8"/>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p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p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p8"/>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p8"/>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p8"/>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p8"/>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p8"/>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p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9"/>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p9"/>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p9"/>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p10"/>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0"/>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0"/>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0"/>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p10"/>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p10"/>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p10"/>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p10"/>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p10"/>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p10"/>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p10"/>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p10"/>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p10"/>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p1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p10"/>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p1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p11"/>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p12"/>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p12"/>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p12"/>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p12"/>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p12"/>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p13"/>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p13"/>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p13"/>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p13"/>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p13"/>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p13"/>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p1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p14"/>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p14"/>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4"/>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p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p15"/>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5"/>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p15"/>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p1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p1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p1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p1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p1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p1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p1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p1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7"/>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p18"/>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p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p18"/>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p18"/>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p19"/>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p19"/>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p20"/>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p20"/>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p21"/>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p21"/>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p22"/>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p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p22"/>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p23"/>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p23"/>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p23"/>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p24"/>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p24"/>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p2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p26"/>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p26"/>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p27"/>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p27"/>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p2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p2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p2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p28"/>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p29"/>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p29"/>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p30"/>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p30"/>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p30"/>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p30"/>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p30"/>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p30"/>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p30"/>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p30"/>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p30"/>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p31"/>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31"/>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p31"/>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p32"/>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p3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p3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p33"/>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p3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p3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p34"/>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p34"/>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p34"/>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p34"/>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p34"/>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34"/>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4"/>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4"/>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4"/>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4"/>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p34"/>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p34"/>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p34"/>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p34"/>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p34"/>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p34"/>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p34"/>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p34"/>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p34"/>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p34"/>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p35"/>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p35"/>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35"/>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p35"/>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p35"/>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p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p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p36"/>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p3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3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3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6"/>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p36"/>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p36"/>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p36"/>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p36"/>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p3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p3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p3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p3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p3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p3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p36"/>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p37"/>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37"/>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p37"/>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p37"/>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p37"/>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p37"/>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p37"/>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p37"/>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p37"/>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p37"/>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p37"/>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p37"/>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p37"/>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p37"/>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p37"/>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p37"/>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p37"/>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p37"/>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p37"/>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p37"/>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p37"/>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p37"/>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p37"/>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p37"/>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p37"/>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p3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3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p3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p3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p3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p3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p3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p3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p38"/>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p3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39"/>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p39"/>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p39"/>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p3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p39"/>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p3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p39"/>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p39"/>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p40"/>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40"/>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p40"/>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288" name="Google Shape;288;p40"/>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p4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p4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p4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p4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p42"/>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p42"/>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297" name="Google Shape;297;p42"/>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p42"/>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p43"/>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p43"/>
          <p:cNvGrpSpPr/>
          <p:nvPr/>
        </p:nvGrpSpPr>
        <p:grpSpPr>
          <a:xfrm>
            <a:off x="1074625" y="2258150"/>
            <a:ext cx="1473491" cy="980288"/>
            <a:chOff x="1074625" y="2258150"/>
            <a:chExt cx="1473491" cy="980288"/>
          </a:xfrm>
        </p:grpSpPr>
        <p:sp>
          <p:nvSpPr>
            <p:cNvPr id="302" name="Google Shape;302;p43"/>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p43"/>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p43"/>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sp>
        <p:nvSpPr>
          <p:cNvPr id="306" name="Google Shape;306;p43"/>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p44"/>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p44"/>
          <p:cNvPicPr preferRelativeResize="0"/>
          <p:nvPr/>
        </p:nvPicPr>
        <p:blipFill rotWithShape="1">
          <a:blip r:embed="rId2">
            <a:alphaModFix amt="7000"/>
          </a:blip>
          <a:srcRect b="0" l="0" r="0" t="0"/>
          <a:stretch/>
        </p:blipFill>
        <p:spPr>
          <a:xfrm>
            <a:off x="5484975" y="2744075"/>
            <a:ext cx="4044600" cy="2622600"/>
          </a:xfrm>
          <a:prstGeom prst="rect">
            <a:avLst/>
          </a:prstGeom>
          <a:noFill/>
          <a:ln>
            <a:noFill/>
          </a:ln>
        </p:spPr>
      </p:pic>
      <p:pic>
        <p:nvPicPr>
          <p:cNvPr id="310" name="Google Shape;310;p44"/>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p4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p45"/>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45"/>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45"/>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45"/>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p45"/>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p45"/>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p46"/>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p46"/>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p46"/>
          <p:cNvGrpSpPr/>
          <p:nvPr/>
        </p:nvGrpSpPr>
        <p:grpSpPr>
          <a:xfrm>
            <a:off x="3972318" y="1206125"/>
            <a:ext cx="1051285" cy="920372"/>
            <a:chOff x="587700" y="-13400"/>
            <a:chExt cx="5735325" cy="5021125"/>
          </a:xfrm>
        </p:grpSpPr>
        <p:sp>
          <p:nvSpPr>
            <p:cNvPr id="323" name="Google Shape;323;p46"/>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6"/>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6"/>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6"/>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6"/>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p46"/>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p46"/>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331" name="Shape 331"/>
        <p:cNvGrpSpPr/>
        <p:nvPr/>
      </p:nvGrpSpPr>
      <p:grpSpPr>
        <a:xfrm>
          <a:off x="0" y="0"/>
          <a:ext cx="0" cy="0"/>
          <a:chOff x="0" y="0"/>
          <a:chExt cx="0" cy="0"/>
        </a:xfrm>
      </p:grpSpPr>
      <p:sp>
        <p:nvSpPr>
          <p:cNvPr id="332" name="Google Shape;332;p48"/>
          <p:cNvSpPr txBox="1"/>
          <p:nvPr>
            <p:ph type="title"/>
          </p:nvPr>
        </p:nvSpPr>
        <p:spPr>
          <a:xfrm>
            <a:off x="311700" y="445025"/>
            <a:ext cx="8520600" cy="572700"/>
          </a:xfrm>
          <a:prstGeom prst="rect">
            <a:avLst/>
          </a:prstGeom>
        </p:spPr>
        <p:txBody>
          <a:bodyPr anchorCtr="0" anchor="t"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3" name="Google Shape;333;p48"/>
          <p:cNvSpPr txBox="1"/>
          <p:nvPr>
            <p:ph idx="1" type="body"/>
          </p:nvPr>
        </p:nvSpPr>
        <p:spPr>
          <a:xfrm>
            <a:off x="311700" y="1152475"/>
            <a:ext cx="8520600" cy="3416400"/>
          </a:xfrm>
          <a:prstGeom prst="rect">
            <a:avLst/>
          </a:prstGeom>
        </p:spPr>
        <p:txBody>
          <a:bodyPr anchorCtr="0" anchor="t" bIns="91425" lIns="0" spcFirstLastPara="1" rIns="91425"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334" name="Google Shape;33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1">
  <p:cSld name="CUSTOM_22_1_1_1">
    <p:bg>
      <p:bgPr>
        <a:solidFill>
          <a:schemeClr val="lt2"/>
        </a:solidFill>
      </p:bgPr>
    </p:bg>
    <p:spTree>
      <p:nvGrpSpPr>
        <p:cNvPr id="335" name="Shape 335"/>
        <p:cNvGrpSpPr/>
        <p:nvPr/>
      </p:nvGrpSpPr>
      <p:grpSpPr>
        <a:xfrm>
          <a:off x="0" y="0"/>
          <a:ext cx="0" cy="0"/>
          <a:chOff x="0" y="0"/>
          <a:chExt cx="0" cy="0"/>
        </a:xfrm>
      </p:grpSpPr>
      <p:pic>
        <p:nvPicPr>
          <p:cNvPr id="336" name="Google Shape;336;p4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37" name="Google Shape;337;p49"/>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38" name="Google Shape;338;p49"/>
          <p:cNvSpPr/>
          <p:nvPr/>
        </p:nvSpPr>
        <p:spPr>
          <a:xfrm flipH="1" rot="10800000">
            <a:off x="688800" y="692100"/>
            <a:ext cx="7766400" cy="3759300"/>
          </a:xfrm>
          <a:prstGeom prst="bracePair">
            <a:avLst/>
          </a:prstGeom>
          <a:noFill/>
          <a:ln cap="flat" cmpd="sng" w="762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39" name="Google Shape;339;p49"/>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9"/>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Clr>
                <a:schemeClr val="dk2"/>
              </a:buClr>
              <a:buSzPts val="3400"/>
              <a:buNone/>
              <a:defRPr sz="34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41" name="Shape 341"/>
        <p:cNvGrpSpPr/>
        <p:nvPr/>
      </p:nvGrpSpPr>
      <p:grpSpPr>
        <a:xfrm>
          <a:off x="0" y="0"/>
          <a:ext cx="0" cy="0"/>
          <a:chOff x="0" y="0"/>
          <a:chExt cx="0" cy="0"/>
        </a:xfrm>
      </p:grpSpPr>
      <p:sp>
        <p:nvSpPr>
          <p:cNvPr id="342" name="Google Shape;342;p50"/>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3" name="Google Shape;343;p50"/>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4" name="Google Shape;344;p50"/>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45" name="Google Shape;345;p50"/>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46" name="Google Shape;346;p50"/>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47" name="Google Shape;347;p50"/>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348" name="Shape 348"/>
        <p:cNvGrpSpPr/>
        <p:nvPr/>
      </p:nvGrpSpPr>
      <p:grpSpPr>
        <a:xfrm>
          <a:off x="0" y="0"/>
          <a:ext cx="0" cy="0"/>
          <a:chOff x="0" y="0"/>
          <a:chExt cx="0" cy="0"/>
        </a:xfrm>
      </p:grpSpPr>
      <p:sp>
        <p:nvSpPr>
          <p:cNvPr id="349" name="Google Shape;349;p5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ives slide - 1-4 ">
  <p:cSld name="CUSTOM_21_1_1">
    <p:spTree>
      <p:nvGrpSpPr>
        <p:cNvPr id="350" name="Shape 350"/>
        <p:cNvGrpSpPr/>
        <p:nvPr/>
      </p:nvGrpSpPr>
      <p:grpSpPr>
        <a:xfrm>
          <a:off x="0" y="0"/>
          <a:ext cx="0" cy="0"/>
          <a:chOff x="0" y="0"/>
          <a:chExt cx="0" cy="0"/>
        </a:xfrm>
      </p:grpSpPr>
      <p:cxnSp>
        <p:nvCxnSpPr>
          <p:cNvPr id="351" name="Google Shape;351;p52"/>
          <p:cNvCxnSpPr/>
          <p:nvPr/>
        </p:nvCxnSpPr>
        <p:spPr>
          <a:xfrm>
            <a:off x="-9375" y="929900"/>
            <a:ext cx="7346700" cy="0"/>
          </a:xfrm>
          <a:prstGeom prst="straightConnector1">
            <a:avLst/>
          </a:prstGeom>
          <a:noFill/>
          <a:ln cap="flat" cmpd="sng" w="19050">
            <a:solidFill>
              <a:srgbClr val="2E5E73"/>
            </a:solidFill>
            <a:prstDash val="solid"/>
            <a:round/>
            <a:headEnd len="med" w="med" type="none"/>
            <a:tailEnd len="med" w="med" type="oval"/>
          </a:ln>
        </p:spPr>
      </p:cxnSp>
      <p:sp>
        <p:nvSpPr>
          <p:cNvPr id="352" name="Google Shape;352;p52"/>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2"/>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2"/>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2"/>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52"/>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357" name="Google Shape;357;p52"/>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358" name="Google Shape;358;p52"/>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359" name="Google Shape;359;p52"/>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360" name="Google Shape;360;p52"/>
          <p:cNvSpPr txBox="1"/>
          <p:nvPr>
            <p:ph idx="1" type="subTitle"/>
          </p:nvPr>
        </p:nvSpPr>
        <p:spPr>
          <a:xfrm>
            <a:off x="1224625" y="112917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1" name="Google Shape;361;p52"/>
          <p:cNvSpPr txBox="1"/>
          <p:nvPr>
            <p:ph idx="2" type="subTitle"/>
          </p:nvPr>
        </p:nvSpPr>
        <p:spPr>
          <a:xfrm>
            <a:off x="1224625" y="17936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2" name="Google Shape;362;p52"/>
          <p:cNvSpPr txBox="1"/>
          <p:nvPr>
            <p:ph idx="3" type="subTitle"/>
          </p:nvPr>
        </p:nvSpPr>
        <p:spPr>
          <a:xfrm>
            <a:off x="1224625" y="2435788"/>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3" name="Google Shape;363;p52"/>
          <p:cNvSpPr txBox="1"/>
          <p:nvPr>
            <p:ph idx="4" type="subTitle"/>
          </p:nvPr>
        </p:nvSpPr>
        <p:spPr>
          <a:xfrm>
            <a:off x="1224625" y="3063525"/>
            <a:ext cx="71103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364" name="Google Shape;364;p52"/>
          <p:cNvSpPr txBox="1"/>
          <p:nvPr>
            <p:ph type="title"/>
          </p:nvPr>
        </p:nvSpPr>
        <p:spPr>
          <a:xfrm>
            <a:off x="50" y="127400"/>
            <a:ext cx="9144000" cy="393600"/>
          </a:xfrm>
          <a:prstGeom prst="rect">
            <a:avLst/>
          </a:prstGeom>
        </p:spPr>
        <p:txBody>
          <a:bodyPr anchorCtr="0" anchor="t" bIns="91425" lIns="8229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52"/>
          <p:cNvSpPr txBox="1"/>
          <p:nvPr>
            <p:ph idx="5" type="title"/>
          </p:nvPr>
        </p:nvSpPr>
        <p:spPr>
          <a:xfrm>
            <a:off x="-6000" y="478650"/>
            <a:ext cx="9168600" cy="323100"/>
          </a:xfrm>
          <a:prstGeom prst="rect">
            <a:avLst/>
          </a:prstGeom>
        </p:spPr>
        <p:txBody>
          <a:bodyPr anchorCtr="0" anchor="t" bIns="91425" lIns="8229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6" name="Google Shape;366;p52"/>
          <p:cNvSpPr/>
          <p:nvPr/>
        </p:nvSpPr>
        <p:spPr>
          <a:xfrm>
            <a:off x="136025" y="23362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7" name="Google Shape;367;p52"/>
          <p:cNvPicPr preferRelativeResize="0"/>
          <p:nvPr/>
        </p:nvPicPr>
        <p:blipFill>
          <a:blip r:embed="rId2">
            <a:alphaModFix/>
          </a:blip>
          <a:stretch>
            <a:fillRect/>
          </a:stretch>
        </p:blipFill>
        <p:spPr>
          <a:xfrm>
            <a:off x="173938" y="271538"/>
            <a:ext cx="496875" cy="496875"/>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68" name="Shape 368"/>
        <p:cNvGrpSpPr/>
        <p:nvPr/>
      </p:nvGrpSpPr>
      <p:grpSpPr>
        <a:xfrm>
          <a:off x="0" y="0"/>
          <a:ext cx="0" cy="0"/>
          <a:chOff x="0" y="0"/>
          <a:chExt cx="0" cy="0"/>
        </a:xfrm>
      </p:grpSpPr>
      <p:pic>
        <p:nvPicPr>
          <p:cNvPr id="369" name="Google Shape;369;p53"/>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70" name="Google Shape;370;p53"/>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71" name="Google Shape;371;p53"/>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53"/>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53"/>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27">
    <p:bg>
      <p:bgPr>
        <a:solidFill>
          <a:srgbClr val="FFFFFF"/>
        </a:solidFill>
      </p:bgPr>
    </p:bg>
    <p:spTree>
      <p:nvGrpSpPr>
        <p:cNvPr id="374" name="Shape 374"/>
        <p:cNvGrpSpPr/>
        <p:nvPr/>
      </p:nvGrpSpPr>
      <p:grpSpPr>
        <a:xfrm>
          <a:off x="0" y="0"/>
          <a:ext cx="0" cy="0"/>
          <a:chOff x="0" y="0"/>
          <a:chExt cx="0" cy="0"/>
        </a:xfrm>
      </p:grpSpPr>
      <p:sp>
        <p:nvSpPr>
          <p:cNvPr id="375" name="Google Shape;375;p54"/>
          <p:cNvSpPr/>
          <p:nvPr/>
        </p:nvSpPr>
        <p:spPr>
          <a:xfrm flipH="1">
            <a:off x="6333225" y="1422943"/>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54"/>
          <p:cNvSpPr txBox="1"/>
          <p:nvPr/>
        </p:nvSpPr>
        <p:spPr>
          <a:xfrm>
            <a:off x="6359750" y="1907245"/>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77" name="Google Shape;377;p54"/>
          <p:cNvSpPr/>
          <p:nvPr/>
        </p:nvSpPr>
        <p:spPr>
          <a:xfrm>
            <a:off x="6332699" y="1345100"/>
            <a:ext cx="2427300" cy="476700"/>
          </a:xfrm>
          <a:prstGeom prst="roundRect">
            <a:avLst>
              <a:gd fmla="val 13342" name="adj"/>
            </a:avLst>
          </a:prstGeom>
          <a:solidFill>
            <a:srgbClr val="0434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378" name="Google Shape;378;p54"/>
          <p:cNvSpPr/>
          <p:nvPr/>
        </p:nvSpPr>
        <p:spPr>
          <a:xfrm flipH="1">
            <a:off x="467725"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54"/>
          <p:cNvSpPr txBox="1"/>
          <p:nvPr/>
        </p:nvSpPr>
        <p:spPr>
          <a:xfrm>
            <a:off x="494250" y="1906474"/>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80" name="Google Shape;380;p54"/>
          <p:cNvSpPr/>
          <p:nvPr/>
        </p:nvSpPr>
        <p:spPr>
          <a:xfrm>
            <a:off x="468324" y="1345100"/>
            <a:ext cx="2427300" cy="476700"/>
          </a:xfrm>
          <a:prstGeom prst="roundRect">
            <a:avLst>
              <a:gd fmla="val 13342" name="adj"/>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chemeClr val="lt1"/>
              </a:solidFill>
              <a:latin typeface="Roboto"/>
              <a:ea typeface="Roboto"/>
              <a:cs typeface="Roboto"/>
              <a:sym typeface="Roboto"/>
            </a:endParaRPr>
          </a:p>
        </p:txBody>
      </p:sp>
      <p:sp>
        <p:nvSpPr>
          <p:cNvPr id="381" name="Google Shape;381;p54"/>
          <p:cNvSpPr/>
          <p:nvPr/>
        </p:nvSpPr>
        <p:spPr>
          <a:xfrm flipH="1">
            <a:off x="3405788" y="1422048"/>
            <a:ext cx="2428500" cy="31785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54"/>
          <p:cNvSpPr txBox="1"/>
          <p:nvPr/>
        </p:nvSpPr>
        <p:spPr>
          <a:xfrm>
            <a:off x="3432313" y="1906486"/>
            <a:ext cx="2371500" cy="26943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t/>
            </a:r>
            <a:endParaRPr>
              <a:latin typeface="Roboto Light"/>
              <a:ea typeface="Roboto Light"/>
              <a:cs typeface="Roboto Light"/>
              <a:sym typeface="Roboto Light"/>
            </a:endParaRPr>
          </a:p>
        </p:txBody>
      </p:sp>
      <p:sp>
        <p:nvSpPr>
          <p:cNvPr id="383" name="Google Shape;383;p54"/>
          <p:cNvSpPr txBox="1"/>
          <p:nvPr/>
        </p:nvSpPr>
        <p:spPr>
          <a:xfrm>
            <a:off x="3366713" y="1345000"/>
            <a:ext cx="23424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rgbClr val="28363B"/>
              </a:solidFill>
              <a:latin typeface="Roboto Medium"/>
              <a:ea typeface="Roboto Medium"/>
              <a:cs typeface="Roboto Medium"/>
              <a:sym typeface="Roboto Medium"/>
            </a:endParaRPr>
          </a:p>
        </p:txBody>
      </p:sp>
      <p:sp>
        <p:nvSpPr>
          <p:cNvPr id="384" name="Google Shape;384;p54"/>
          <p:cNvSpPr txBox="1"/>
          <p:nvPr/>
        </p:nvSpPr>
        <p:spPr>
          <a:xfrm>
            <a:off x="6304775" y="1345000"/>
            <a:ext cx="2323800" cy="476700"/>
          </a:xfrm>
          <a:prstGeom prst="rect">
            <a:avLst/>
          </a:prstGeom>
          <a:noFill/>
          <a:ln>
            <a:noFill/>
          </a:ln>
        </p:spPr>
        <p:txBody>
          <a:bodyPr anchorCtr="0" anchor="t" bIns="91425" lIns="137150" spcFirstLastPara="1" rIns="91425" wrap="square" tIns="91425">
            <a:noAutofit/>
          </a:bodyPr>
          <a:lstStyle/>
          <a:p>
            <a:pPr indent="0" lvl="0" marL="0" rtl="0" algn="l">
              <a:spcBef>
                <a:spcPts val="0"/>
              </a:spcBef>
              <a:spcAft>
                <a:spcPts val="0"/>
              </a:spcAft>
              <a:buNone/>
            </a:pPr>
            <a:r>
              <a:t/>
            </a:r>
            <a:endParaRPr>
              <a:solidFill>
                <a:schemeClr val="lt1"/>
              </a:solidFill>
              <a:latin typeface="Roboto"/>
              <a:ea typeface="Roboto"/>
              <a:cs typeface="Roboto"/>
              <a:sym typeface="Roboto"/>
            </a:endParaRPr>
          </a:p>
        </p:txBody>
      </p:sp>
      <p:sp>
        <p:nvSpPr>
          <p:cNvPr id="385" name="Google Shape;385;p54"/>
          <p:cNvSpPr/>
          <p:nvPr/>
        </p:nvSpPr>
        <p:spPr>
          <a:xfrm>
            <a:off x="3399112" y="1345100"/>
            <a:ext cx="2427300" cy="4767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t/>
            </a:r>
            <a:endParaRPr i="0" sz="2100" u="none" cap="none" strike="noStrike">
              <a:solidFill>
                <a:srgbClr val="000000"/>
              </a:solidFill>
              <a:latin typeface="Roboto"/>
              <a:ea typeface="Roboto"/>
              <a:cs typeface="Roboto"/>
              <a:sym typeface="Roboto"/>
            </a:endParaRPr>
          </a:p>
        </p:txBody>
      </p:sp>
      <p:sp>
        <p:nvSpPr>
          <p:cNvPr id="386" name="Google Shape;386;p54"/>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54"/>
          <p:cNvSpPr txBox="1"/>
          <p:nvPr>
            <p:ph idx="2" type="title"/>
          </p:nvPr>
        </p:nvSpPr>
        <p:spPr>
          <a:xfrm>
            <a:off x="-6000" y="515275"/>
            <a:ext cx="9168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ed Slide 1-5">
  <p:cSld name="CUSTOM_11_1_2">
    <p:spTree>
      <p:nvGrpSpPr>
        <p:cNvPr id="388" name="Shape 388"/>
        <p:cNvGrpSpPr/>
        <p:nvPr/>
      </p:nvGrpSpPr>
      <p:grpSpPr>
        <a:xfrm>
          <a:off x="0" y="0"/>
          <a:ext cx="0" cy="0"/>
          <a:chOff x="0" y="0"/>
          <a:chExt cx="0" cy="0"/>
        </a:xfrm>
      </p:grpSpPr>
      <p:sp>
        <p:nvSpPr>
          <p:cNvPr id="389" name="Google Shape;389;p55"/>
          <p:cNvSpPr/>
          <p:nvPr/>
        </p:nvSpPr>
        <p:spPr>
          <a:xfrm>
            <a:off x="953325" y="177866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5"/>
          <p:cNvSpPr/>
          <p:nvPr/>
        </p:nvSpPr>
        <p:spPr>
          <a:xfrm>
            <a:off x="953325" y="2421088"/>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55"/>
          <p:cNvSpPr/>
          <p:nvPr/>
        </p:nvSpPr>
        <p:spPr>
          <a:xfrm>
            <a:off x="953325" y="306352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55"/>
          <p:cNvSpPr/>
          <p:nvPr/>
        </p:nvSpPr>
        <p:spPr>
          <a:xfrm>
            <a:off x="953325" y="3705313"/>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5"/>
          <p:cNvSpPr/>
          <p:nvPr/>
        </p:nvSpPr>
        <p:spPr>
          <a:xfrm>
            <a:off x="953325" y="1136875"/>
            <a:ext cx="75171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55"/>
          <p:cNvSpPr/>
          <p:nvPr/>
        </p:nvSpPr>
        <p:spPr>
          <a:xfrm>
            <a:off x="802850" y="110747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1</a:t>
            </a:r>
            <a:endParaRPr>
              <a:solidFill>
                <a:srgbClr val="082D49"/>
              </a:solidFill>
            </a:endParaRPr>
          </a:p>
        </p:txBody>
      </p:sp>
      <p:sp>
        <p:nvSpPr>
          <p:cNvPr id="395" name="Google Shape;395;p55"/>
          <p:cNvSpPr/>
          <p:nvPr/>
        </p:nvSpPr>
        <p:spPr>
          <a:xfrm>
            <a:off x="802850" y="17492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2</a:t>
            </a:r>
            <a:endParaRPr>
              <a:solidFill>
                <a:srgbClr val="082D49"/>
              </a:solidFill>
            </a:endParaRPr>
          </a:p>
        </p:txBody>
      </p:sp>
      <p:sp>
        <p:nvSpPr>
          <p:cNvPr id="396" name="Google Shape;396;p55"/>
          <p:cNvSpPr/>
          <p:nvPr/>
        </p:nvSpPr>
        <p:spPr>
          <a:xfrm>
            <a:off x="802850" y="239169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3</a:t>
            </a:r>
            <a:endParaRPr>
              <a:solidFill>
                <a:srgbClr val="082D49"/>
              </a:solidFill>
            </a:endParaRPr>
          </a:p>
        </p:txBody>
      </p:sp>
      <p:sp>
        <p:nvSpPr>
          <p:cNvPr id="397" name="Google Shape;397;p55"/>
          <p:cNvSpPr/>
          <p:nvPr/>
        </p:nvSpPr>
        <p:spPr>
          <a:xfrm>
            <a:off x="802850" y="302686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4</a:t>
            </a:r>
            <a:endParaRPr>
              <a:solidFill>
                <a:srgbClr val="082D49"/>
              </a:solidFill>
            </a:endParaRPr>
          </a:p>
        </p:txBody>
      </p:sp>
      <p:sp>
        <p:nvSpPr>
          <p:cNvPr id="398" name="Google Shape;398;p55"/>
          <p:cNvSpPr/>
          <p:nvPr/>
        </p:nvSpPr>
        <p:spPr>
          <a:xfrm>
            <a:off x="802850" y="366204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82D49"/>
                </a:solidFill>
              </a:rPr>
              <a:t>5</a:t>
            </a:r>
            <a:endParaRPr>
              <a:solidFill>
                <a:srgbClr val="082D49"/>
              </a:solidFill>
            </a:endParaRPr>
          </a:p>
        </p:txBody>
      </p:sp>
      <p:sp>
        <p:nvSpPr>
          <p:cNvPr id="399" name="Google Shape;399;p55"/>
          <p:cNvSpPr txBox="1"/>
          <p:nvPr>
            <p:ph idx="1" type="subTitle"/>
          </p:nvPr>
        </p:nvSpPr>
        <p:spPr>
          <a:xfrm>
            <a:off x="1354400" y="1129175"/>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0" name="Google Shape;400;p55"/>
          <p:cNvSpPr txBox="1"/>
          <p:nvPr>
            <p:ph idx="2" type="subTitle"/>
          </p:nvPr>
        </p:nvSpPr>
        <p:spPr>
          <a:xfrm>
            <a:off x="1354400" y="1771638"/>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1" name="Google Shape;401;p55"/>
          <p:cNvSpPr txBox="1"/>
          <p:nvPr>
            <p:ph idx="3" type="subTitle"/>
          </p:nvPr>
        </p:nvSpPr>
        <p:spPr>
          <a:xfrm>
            <a:off x="1354400" y="2417425"/>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2" name="Google Shape;402;p55"/>
          <p:cNvSpPr txBox="1"/>
          <p:nvPr>
            <p:ph idx="4" type="subTitle"/>
          </p:nvPr>
        </p:nvSpPr>
        <p:spPr>
          <a:xfrm>
            <a:off x="1354400" y="3063213"/>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3" name="Google Shape;403;p55"/>
          <p:cNvSpPr txBox="1"/>
          <p:nvPr>
            <p:ph idx="5" type="subTitle"/>
          </p:nvPr>
        </p:nvSpPr>
        <p:spPr>
          <a:xfrm>
            <a:off x="1354400" y="3705625"/>
            <a:ext cx="7116000" cy="400200"/>
          </a:xfrm>
          <a:prstGeom prst="rect">
            <a:avLst/>
          </a:prstGeom>
        </p:spPr>
        <p:txBody>
          <a:bodyPr anchorCtr="0" anchor="t" bIns="91425" lIns="0" spcFirstLastPara="1" rIns="91425" wrap="square" tIns="0">
            <a:noAutofit/>
          </a:bodyPr>
          <a:lstStyle>
            <a:lvl1pPr lvl="0" rtl="0">
              <a:spcBef>
                <a:spcPts val="0"/>
              </a:spcBef>
              <a:spcAft>
                <a:spcPts val="0"/>
              </a:spcAft>
              <a:buSzPts val="1400"/>
              <a:buNone/>
              <a:defRPr sz="1400"/>
            </a:lvl1pPr>
            <a:lvl2pPr lvl="1" rtl="0">
              <a:spcBef>
                <a:spcPts val="0"/>
              </a:spcBef>
              <a:spcAft>
                <a:spcPts val="0"/>
              </a:spcAft>
              <a:buSzPts val="1800"/>
              <a:buNone/>
              <a:defRPr/>
            </a:lvl2pPr>
            <a:lvl3pPr lvl="2" rtl="0">
              <a:spcBef>
                <a:spcPts val="0"/>
              </a:spcBef>
              <a:spcAft>
                <a:spcPts val="0"/>
              </a:spcAft>
              <a:buSzPts val="1800"/>
              <a:buNone/>
              <a:defRPr/>
            </a:lvl3pPr>
            <a:lvl4pPr lvl="3" rtl="0">
              <a:spcBef>
                <a:spcPts val="0"/>
              </a:spcBef>
              <a:spcAft>
                <a:spcPts val="0"/>
              </a:spcAft>
              <a:buSzPts val="1800"/>
              <a:buNone/>
              <a:defRPr/>
            </a:lvl4pPr>
            <a:lvl5pPr lvl="4" rtl="0">
              <a:spcBef>
                <a:spcPts val="0"/>
              </a:spcBef>
              <a:spcAft>
                <a:spcPts val="0"/>
              </a:spcAft>
              <a:buSzPts val="1800"/>
              <a:buNone/>
              <a:defRPr/>
            </a:lvl5pPr>
            <a:lvl6pPr lvl="5" rtl="0">
              <a:spcBef>
                <a:spcPts val="0"/>
              </a:spcBef>
              <a:spcAft>
                <a:spcPts val="0"/>
              </a:spcAft>
              <a:buSzPts val="1800"/>
              <a:buNone/>
              <a:defRPr/>
            </a:lvl6pPr>
            <a:lvl7pPr lvl="6" rtl="0">
              <a:spcBef>
                <a:spcPts val="0"/>
              </a:spcBef>
              <a:spcAft>
                <a:spcPts val="0"/>
              </a:spcAft>
              <a:buSzPts val="1800"/>
              <a:buNone/>
              <a:defRPr/>
            </a:lvl7pPr>
            <a:lvl8pPr lvl="7" rtl="0">
              <a:spcBef>
                <a:spcPts val="0"/>
              </a:spcBef>
              <a:spcAft>
                <a:spcPts val="0"/>
              </a:spcAft>
              <a:buSzPts val="1800"/>
              <a:buNone/>
              <a:defRPr/>
            </a:lvl8pPr>
            <a:lvl9pPr lvl="8" rtl="0">
              <a:spcBef>
                <a:spcPts val="0"/>
              </a:spcBef>
              <a:spcAft>
                <a:spcPts val="0"/>
              </a:spcAft>
              <a:buSzPts val="1800"/>
              <a:buNone/>
              <a:defRPr/>
            </a:lvl9pPr>
          </a:lstStyle>
          <a:p/>
        </p:txBody>
      </p:sp>
      <p:sp>
        <p:nvSpPr>
          <p:cNvPr id="404" name="Google Shape;404;p55"/>
          <p:cNvSpPr txBox="1"/>
          <p:nvPr>
            <p:ph type="title"/>
          </p:nvPr>
        </p:nvSpPr>
        <p:spPr>
          <a:xfrm>
            <a:off x="50" y="127400"/>
            <a:ext cx="9144000" cy="393600"/>
          </a:xfrm>
          <a:prstGeom prst="rect">
            <a:avLst/>
          </a:prstGeom>
        </p:spPr>
        <p:txBody>
          <a:bodyPr anchorCtr="0" anchor="t" bIns="91425" lIns="365750" spcFirstLastPara="1" rIns="91425" wrap="square" tIns="91425">
            <a:noAutofit/>
          </a:bodyPr>
          <a:lstStyle>
            <a:lvl1pPr lvl="0" rtl="0">
              <a:spcBef>
                <a:spcPts val="0"/>
              </a:spcBef>
              <a:spcAft>
                <a:spcPts val="0"/>
              </a:spcAft>
              <a:buSzPts val="2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5" name="Google Shape;405;p55"/>
          <p:cNvSpPr txBox="1"/>
          <p:nvPr>
            <p:ph idx="6" type="title"/>
          </p:nvPr>
        </p:nvSpPr>
        <p:spPr>
          <a:xfrm>
            <a:off x="-6000" y="515275"/>
            <a:ext cx="9192600" cy="323100"/>
          </a:xfrm>
          <a:prstGeom prst="rect">
            <a:avLst/>
          </a:prstGeom>
        </p:spPr>
        <p:txBody>
          <a:bodyPr anchorCtr="0" anchor="t" bIns="91425" lIns="365750" spcFirstLastPara="1" rIns="91425" wrap="square" tIns="91425">
            <a:noAutofit/>
          </a:bodyPr>
          <a:lstStyle>
            <a:lvl1pPr lvl="0" rtl="0">
              <a:spcBef>
                <a:spcPts val="0"/>
              </a:spcBef>
              <a:spcAft>
                <a:spcPts val="0"/>
              </a:spcAft>
              <a:buSzPts val="1400"/>
              <a:buFont typeface="Roboto Light"/>
              <a:buNone/>
              <a:defRPr b="0" sz="1400">
                <a:latin typeface="Roboto Light"/>
                <a:ea typeface="Roboto Light"/>
                <a:cs typeface="Roboto Light"/>
                <a:sym typeface="Roboto Ligh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406" name="Shape 406"/>
        <p:cNvGrpSpPr/>
        <p:nvPr/>
      </p:nvGrpSpPr>
      <p:grpSpPr>
        <a:xfrm>
          <a:off x="0" y="0"/>
          <a:ext cx="0" cy="0"/>
          <a:chOff x="0" y="0"/>
          <a:chExt cx="0" cy="0"/>
        </a:xfrm>
      </p:grpSpPr>
      <p:sp>
        <p:nvSpPr>
          <p:cNvPr id="407" name="Google Shape;407;p56"/>
          <p:cNvSpPr txBox="1"/>
          <p:nvPr>
            <p:ph idx="1" type="body"/>
          </p:nvPr>
        </p:nvSpPr>
        <p:spPr>
          <a:xfrm>
            <a:off x="590350" y="1121725"/>
            <a:ext cx="7933800" cy="3386100"/>
          </a:xfrm>
          <a:prstGeom prst="rect">
            <a:avLst/>
          </a:prstGeom>
          <a:noFill/>
          <a:ln>
            <a:noFill/>
          </a:ln>
        </p:spPr>
        <p:txBody>
          <a:bodyPr anchorCtr="0" anchor="t" bIns="91425" lIns="91425" spcFirstLastPara="1" rIns="91425" wrap="square" tIns="91425">
            <a:noAutofit/>
          </a:bodyPr>
          <a:lstStyle>
            <a:lvl1pPr indent="-317500" lvl="0" marL="457200" rtl="0" algn="l">
              <a:lnSpc>
                <a:spcPct val="115000"/>
              </a:lnSpc>
              <a:spcBef>
                <a:spcPts val="0"/>
              </a:spcBef>
              <a:spcAft>
                <a:spcPts val="0"/>
              </a:spcAft>
              <a:buSzPts val="1400"/>
              <a:buChar char="●"/>
              <a:defRPr sz="1400"/>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408" name="Google Shape;408;p56"/>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409" name="Google Shape;409;p56"/>
          <p:cNvSpPr txBox="1"/>
          <p:nvPr>
            <p:ph type="title"/>
          </p:nvPr>
        </p:nvSpPr>
        <p:spPr>
          <a:xfrm>
            <a:off x="50" y="127400"/>
            <a:ext cx="9144000" cy="3936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10" name="Google Shape;410;p56"/>
          <p:cNvSpPr txBox="1"/>
          <p:nvPr>
            <p:ph idx="2" type="title"/>
          </p:nvPr>
        </p:nvSpPr>
        <p:spPr>
          <a:xfrm>
            <a:off x="-6000" y="515275"/>
            <a:ext cx="9168600" cy="3231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1400"/>
              <a:buNone/>
              <a:defRPr b="0" sz="1400"/>
            </a:lvl1pPr>
            <a:lvl2pPr lvl="1" rtl="0" algn="l">
              <a:lnSpc>
                <a:spcPct val="100000"/>
              </a:lnSpc>
              <a:spcBef>
                <a:spcPts val="0"/>
              </a:spcBef>
              <a:spcAft>
                <a:spcPts val="0"/>
              </a:spcAft>
              <a:buSzPts val="2800"/>
              <a:buFont typeface="Roboto"/>
              <a:buNone/>
              <a:defRPr>
                <a:latin typeface="Roboto"/>
                <a:ea typeface="Roboto"/>
                <a:cs typeface="Roboto"/>
                <a:sym typeface="Roboto"/>
              </a:defRPr>
            </a:lvl2pPr>
            <a:lvl3pPr lvl="2" rtl="0" algn="l">
              <a:lnSpc>
                <a:spcPct val="100000"/>
              </a:lnSpc>
              <a:spcBef>
                <a:spcPts val="0"/>
              </a:spcBef>
              <a:spcAft>
                <a:spcPts val="0"/>
              </a:spcAft>
              <a:buSzPts val="2800"/>
              <a:buFont typeface="Roboto"/>
              <a:buNone/>
              <a:defRPr>
                <a:latin typeface="Roboto"/>
                <a:ea typeface="Roboto"/>
                <a:cs typeface="Roboto"/>
                <a:sym typeface="Roboto"/>
              </a:defRPr>
            </a:lvl3pPr>
            <a:lvl4pPr lvl="3" rtl="0" algn="l">
              <a:lnSpc>
                <a:spcPct val="100000"/>
              </a:lnSpc>
              <a:spcBef>
                <a:spcPts val="0"/>
              </a:spcBef>
              <a:spcAft>
                <a:spcPts val="0"/>
              </a:spcAft>
              <a:buSzPts val="2800"/>
              <a:buFont typeface="Roboto"/>
              <a:buNone/>
              <a:defRPr>
                <a:latin typeface="Roboto"/>
                <a:ea typeface="Roboto"/>
                <a:cs typeface="Roboto"/>
                <a:sym typeface="Roboto"/>
              </a:defRPr>
            </a:lvl4pPr>
            <a:lvl5pPr lvl="4" rtl="0" algn="l">
              <a:lnSpc>
                <a:spcPct val="100000"/>
              </a:lnSpc>
              <a:spcBef>
                <a:spcPts val="0"/>
              </a:spcBef>
              <a:spcAft>
                <a:spcPts val="0"/>
              </a:spcAft>
              <a:buSzPts val="2800"/>
              <a:buFont typeface="Roboto"/>
              <a:buNone/>
              <a:defRPr>
                <a:latin typeface="Roboto"/>
                <a:ea typeface="Roboto"/>
                <a:cs typeface="Roboto"/>
                <a:sym typeface="Roboto"/>
              </a:defRPr>
            </a:lvl5pPr>
            <a:lvl6pPr lvl="5" rtl="0" algn="l">
              <a:lnSpc>
                <a:spcPct val="100000"/>
              </a:lnSpc>
              <a:spcBef>
                <a:spcPts val="0"/>
              </a:spcBef>
              <a:spcAft>
                <a:spcPts val="0"/>
              </a:spcAft>
              <a:buSzPts val="2800"/>
              <a:buFont typeface="Roboto"/>
              <a:buNone/>
              <a:defRPr>
                <a:latin typeface="Roboto"/>
                <a:ea typeface="Roboto"/>
                <a:cs typeface="Roboto"/>
                <a:sym typeface="Roboto"/>
              </a:defRPr>
            </a:lvl6pPr>
            <a:lvl7pPr lvl="6" rtl="0" algn="l">
              <a:lnSpc>
                <a:spcPct val="100000"/>
              </a:lnSpc>
              <a:spcBef>
                <a:spcPts val="0"/>
              </a:spcBef>
              <a:spcAft>
                <a:spcPts val="0"/>
              </a:spcAft>
              <a:buSzPts val="2800"/>
              <a:buFont typeface="Roboto"/>
              <a:buNone/>
              <a:defRPr>
                <a:latin typeface="Roboto"/>
                <a:ea typeface="Roboto"/>
                <a:cs typeface="Roboto"/>
                <a:sym typeface="Roboto"/>
              </a:defRPr>
            </a:lvl7pPr>
            <a:lvl8pPr lvl="7" rtl="0" algn="l">
              <a:lnSpc>
                <a:spcPct val="100000"/>
              </a:lnSpc>
              <a:spcBef>
                <a:spcPts val="0"/>
              </a:spcBef>
              <a:spcAft>
                <a:spcPts val="0"/>
              </a:spcAft>
              <a:buSzPts val="2800"/>
              <a:buFont typeface="Roboto"/>
              <a:buNone/>
              <a:defRPr>
                <a:latin typeface="Roboto"/>
                <a:ea typeface="Roboto"/>
                <a:cs typeface="Roboto"/>
                <a:sym typeface="Roboto"/>
              </a:defRPr>
            </a:lvl8pPr>
            <a:lvl9pPr lvl="8" rtl="0" algn="l">
              <a:lnSpc>
                <a:spcPct val="100000"/>
              </a:lnSpc>
              <a:spcBef>
                <a:spcPts val="0"/>
              </a:spcBef>
              <a:spcAft>
                <a:spcPts val="0"/>
              </a:spcAft>
              <a:buSzPts val="2800"/>
              <a:buFont typeface="Roboto"/>
              <a:buNone/>
              <a:defRPr>
                <a:latin typeface="Roboto"/>
                <a:ea typeface="Roboto"/>
                <a:cs typeface="Roboto"/>
                <a:sym typeface="Robot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56"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p1"/>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 Id="rId3" Type="http://schemas.openxmlformats.org/officeDocument/2006/relationships/image" Target="../media/image31.png"/><Relationship Id="rId4"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5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42.png"/><Relationship Id="rId5" Type="http://schemas.openxmlformats.org/officeDocument/2006/relationships/image" Target="../media/image46.png"/><Relationship Id="rId6"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35.png"/><Relationship Id="rId5" Type="http://schemas.openxmlformats.org/officeDocument/2006/relationships/image" Target="../media/image5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0.xml"/><Relationship Id="rId3" Type="http://schemas.openxmlformats.org/officeDocument/2006/relationships/image" Target="../media/image49.png"/><Relationship Id="rId4" Type="http://schemas.openxmlformats.org/officeDocument/2006/relationships/image" Target="../media/image40.png"/><Relationship Id="rId9" Type="http://schemas.openxmlformats.org/officeDocument/2006/relationships/image" Target="../media/image47.png"/><Relationship Id="rId5" Type="http://schemas.openxmlformats.org/officeDocument/2006/relationships/image" Target="../media/image36.png"/><Relationship Id="rId6" Type="http://schemas.openxmlformats.org/officeDocument/2006/relationships/image" Target="../media/image62.png"/><Relationship Id="rId7" Type="http://schemas.openxmlformats.org/officeDocument/2006/relationships/image" Target="../media/image41.png"/><Relationship Id="rId8"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9.xml"/><Relationship Id="rId3" Type="http://schemas.openxmlformats.org/officeDocument/2006/relationships/image" Target="../media/image6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0.xml"/><Relationship Id="rId3" Type="http://schemas.openxmlformats.org/officeDocument/2006/relationships/hyperlink" Target="https://www.tripwire.com/" TargetMode="External"/><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54.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hyperlink" Target="https://www.fosslinux.com/39230/what-is-uid-in-linux-and-how-to-find-and-change-it.htm" TargetMode="External"/><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1.xml"/><Relationship Id="rId3" Type="http://schemas.openxmlformats.org/officeDocument/2006/relationships/image" Target="../media/image14.png"/><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2.xml"/><Relationship Id="rId3" Type="http://schemas.openxmlformats.org/officeDocument/2006/relationships/image" Target="../media/image14.png"/><Relationship Id="rId4" Type="http://schemas.openxmlformats.org/officeDocument/2006/relationships/image" Target="../media/image61.jpg"/><Relationship Id="rId5" Type="http://schemas.openxmlformats.org/officeDocument/2006/relationships/image" Target="../media/image6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7.xml"/><Relationship Id="rId3"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7"/>
          <p:cNvSpPr txBox="1"/>
          <p:nvPr>
            <p:ph type="title"/>
          </p:nvPr>
        </p:nvSpPr>
        <p:spPr>
          <a:xfrm>
            <a:off x="4570700" y="1804650"/>
            <a:ext cx="4557900" cy="1215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Managing Permissions </a:t>
            </a:r>
            <a:br>
              <a:rPr lang="en"/>
            </a:br>
            <a:r>
              <a:rPr lang="en"/>
              <a:t>and Services</a:t>
            </a:r>
            <a:endParaRPr/>
          </a:p>
        </p:txBody>
      </p:sp>
      <p:sp>
        <p:nvSpPr>
          <p:cNvPr id="416" name="Google Shape;416;p57"/>
          <p:cNvSpPr txBox="1"/>
          <p:nvPr>
            <p:ph idx="1" type="subTitle"/>
          </p:nvPr>
        </p:nvSpPr>
        <p:spPr>
          <a:xfrm>
            <a:off x="4572000" y="1127800"/>
            <a:ext cx="4572000" cy="185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Cybersecurity</a:t>
            </a:r>
            <a:endParaRPr/>
          </a:p>
        </p:txBody>
      </p:sp>
      <p:sp>
        <p:nvSpPr>
          <p:cNvPr id="417" name="Google Shape;417;p57"/>
          <p:cNvSpPr txBox="1"/>
          <p:nvPr>
            <p:ph idx="2" type="subTitle"/>
          </p:nvPr>
        </p:nvSpPr>
        <p:spPr>
          <a:xfrm>
            <a:off x="4570700" y="3841600"/>
            <a:ext cx="4557900" cy="244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Lesson 4.3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58"/>
          <p:cNvPicPr preferRelativeResize="0"/>
          <p:nvPr/>
        </p:nvPicPr>
        <p:blipFill rotWithShape="1">
          <a:blip r:embed="rId3">
            <a:alphaModFix/>
          </a:blip>
          <a:srcRect b="0" l="0" r="0" t="0"/>
          <a:stretch/>
        </p:blipFill>
        <p:spPr>
          <a:xfrm>
            <a:off x="208763" y="235363"/>
            <a:ext cx="496875" cy="496875"/>
          </a:xfrm>
          <a:prstGeom prst="rect">
            <a:avLst/>
          </a:prstGeom>
          <a:noFill/>
          <a:ln>
            <a:noFill/>
          </a:ln>
        </p:spPr>
      </p:pic>
      <p:sp>
        <p:nvSpPr>
          <p:cNvPr id="423" name="Google Shape;423;p58"/>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58"/>
          <p:cNvSpPr/>
          <p:nvPr/>
        </p:nvSpPr>
        <p:spPr>
          <a:xfrm>
            <a:off x="607675" y="23614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58"/>
          <p:cNvSpPr/>
          <p:nvPr/>
        </p:nvSpPr>
        <p:spPr>
          <a:xfrm>
            <a:off x="607675" y="17517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58"/>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427" name="Google Shape;427;p58"/>
          <p:cNvSpPr/>
          <p:nvPr/>
        </p:nvSpPr>
        <p:spPr>
          <a:xfrm>
            <a:off x="457200" y="17518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428" name="Google Shape;428;p58"/>
          <p:cNvSpPr/>
          <p:nvPr/>
        </p:nvSpPr>
        <p:spPr>
          <a:xfrm>
            <a:off x="457200" y="23615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429" name="Google Shape;429;p58"/>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1800"/>
              <a:buNone/>
            </a:pPr>
            <a:r>
              <a:rPr lang="en"/>
              <a:t>By the end of today’s class, you will be able to:</a:t>
            </a:r>
            <a:endParaRPr/>
          </a:p>
          <a:p>
            <a:pPr indent="0" lvl="0" marL="0" rtl="0" algn="l">
              <a:lnSpc>
                <a:spcPct val="115000"/>
              </a:lnSpc>
              <a:spcBef>
                <a:spcPts val="1200"/>
              </a:spcBef>
              <a:spcAft>
                <a:spcPts val="1200"/>
              </a:spcAft>
              <a:buSzPts val="1800"/>
              <a:buNone/>
            </a:pPr>
            <a:r>
              <a:t/>
            </a:r>
            <a:endParaRPr/>
          </a:p>
        </p:txBody>
      </p:sp>
      <p:sp>
        <p:nvSpPr>
          <p:cNvPr id="430" name="Google Shape;430;p58"/>
          <p:cNvSpPr txBox="1"/>
          <p:nvPr>
            <p:ph idx="4294967295" type="body"/>
          </p:nvPr>
        </p:nvSpPr>
        <p:spPr>
          <a:xfrm>
            <a:off x="914400" y="1189475"/>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Inspect and set file permissions for sensitive files on the system.</a:t>
            </a:r>
            <a:endParaRPr sz="1700"/>
          </a:p>
        </p:txBody>
      </p:sp>
      <p:sp>
        <p:nvSpPr>
          <p:cNvPr id="431" name="Google Shape;431;p58"/>
          <p:cNvSpPr txBox="1"/>
          <p:nvPr>
            <p:ph idx="4294967295" type="body"/>
          </p:nvPr>
        </p:nvSpPr>
        <p:spPr>
          <a:xfrm>
            <a:off x="914400" y="1798812"/>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lang="en" sz="1700"/>
              <a:t>Manage and monitor services on the system.</a:t>
            </a:r>
            <a:endParaRPr sz="1700"/>
          </a:p>
        </p:txBody>
      </p:sp>
      <p:sp>
        <p:nvSpPr>
          <p:cNvPr id="432" name="Google Shape;432;p58"/>
          <p:cNvSpPr txBox="1"/>
          <p:nvPr>
            <p:ph idx="4294967295" type="body"/>
          </p:nvPr>
        </p:nvSpPr>
        <p:spPr>
          <a:xfrm>
            <a:off x="914400" y="2408148"/>
            <a:ext cx="7772400" cy="365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t>Create and assign users for services.</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2" name="Google Shape;442;p60"/>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443" name="Google Shape;443;p60"/>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444" name="Google Shape;444;p60"/>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445" name="Google Shape;445;p60"/>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Linux Access Controls</a:t>
            </a:r>
            <a:endParaRPr/>
          </a:p>
        </p:txBody>
      </p:sp>
      <p:sp>
        <p:nvSpPr>
          <p:cNvPr id="446" name="Google Shape;446;p60"/>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60"/>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60"/>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9" name="Google Shape;449;p60"/>
          <p:cNvGrpSpPr/>
          <p:nvPr/>
        </p:nvGrpSpPr>
        <p:grpSpPr>
          <a:xfrm>
            <a:off x="457200" y="1371604"/>
            <a:ext cx="776900" cy="459019"/>
            <a:chOff x="457200" y="1466425"/>
            <a:chExt cx="776900" cy="486300"/>
          </a:xfrm>
        </p:grpSpPr>
        <p:sp>
          <p:nvSpPr>
            <p:cNvPr id="450" name="Google Shape;450;p60"/>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451" name="Google Shape;451;p60"/>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52" name="Google Shape;452;p60"/>
          <p:cNvGrpSpPr/>
          <p:nvPr/>
        </p:nvGrpSpPr>
        <p:grpSpPr>
          <a:xfrm>
            <a:off x="457200" y="2026480"/>
            <a:ext cx="776900" cy="486300"/>
            <a:chOff x="457200" y="1466425"/>
            <a:chExt cx="776900" cy="486300"/>
          </a:xfrm>
        </p:grpSpPr>
        <p:sp>
          <p:nvSpPr>
            <p:cNvPr id="453" name="Google Shape;453;p60"/>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454" name="Google Shape;454;p60"/>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455" name="Google Shape;455;p60"/>
          <p:cNvGrpSpPr/>
          <p:nvPr/>
        </p:nvGrpSpPr>
        <p:grpSpPr>
          <a:xfrm>
            <a:off x="457200" y="2743336"/>
            <a:ext cx="776900" cy="437378"/>
            <a:chOff x="457200" y="1466425"/>
            <a:chExt cx="776900" cy="486300"/>
          </a:xfrm>
        </p:grpSpPr>
        <p:sp>
          <p:nvSpPr>
            <p:cNvPr id="456" name="Google Shape;456;p60"/>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457" name="Google Shape;457;p60"/>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458" name="Google Shape;458;p60"/>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Audit passwords using </a:t>
            </a:r>
            <a:r>
              <a:rPr b="1" lang="en" sz="1800">
                <a:solidFill>
                  <a:srgbClr val="082D49"/>
                </a:solidFill>
                <a:latin typeface="Inconsolata"/>
                <a:ea typeface="Inconsolata"/>
                <a:cs typeface="Inconsolata"/>
                <a:sym typeface="Inconsolata"/>
              </a:rPr>
              <a:t>john</a:t>
            </a:r>
            <a:endParaRPr b="1" sz="1800">
              <a:solidFill>
                <a:srgbClr val="082D49"/>
              </a:solidFill>
              <a:latin typeface="Inconsolata"/>
              <a:ea typeface="Inconsolata"/>
              <a:cs typeface="Inconsolata"/>
              <a:sym typeface="Inconsolata"/>
            </a:endParaRPr>
          </a:p>
        </p:txBody>
      </p:sp>
      <p:sp>
        <p:nvSpPr>
          <p:cNvPr id="459" name="Google Shape;459;p60"/>
          <p:cNvSpPr txBox="1"/>
          <p:nvPr/>
        </p:nvSpPr>
        <p:spPr>
          <a:xfrm>
            <a:off x="12872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Elevate privileges with </a:t>
            </a:r>
            <a:r>
              <a:rPr b="1" lang="en" sz="1800">
                <a:solidFill>
                  <a:srgbClr val="082D49"/>
                </a:solidFill>
                <a:latin typeface="Inconsolata"/>
                <a:ea typeface="Inconsolata"/>
                <a:cs typeface="Inconsolata"/>
                <a:sym typeface="Inconsolata"/>
              </a:rPr>
              <a:t>sudo</a:t>
            </a:r>
            <a:r>
              <a:rPr lang="en" sz="1800">
                <a:solidFill>
                  <a:srgbClr val="082D49"/>
                </a:solidFill>
                <a:latin typeface="Roboto"/>
                <a:ea typeface="Roboto"/>
                <a:cs typeface="Roboto"/>
                <a:sym typeface="Roboto"/>
              </a:rPr>
              <a:t> and </a:t>
            </a:r>
            <a:r>
              <a:rPr b="1" lang="en" sz="1800">
                <a:solidFill>
                  <a:srgbClr val="082D49"/>
                </a:solidFill>
                <a:latin typeface="Inconsolata"/>
                <a:ea typeface="Inconsolata"/>
                <a:cs typeface="Inconsolata"/>
                <a:sym typeface="Inconsolata"/>
              </a:rPr>
              <a:t>su</a:t>
            </a:r>
            <a:endParaRPr b="1" sz="1800">
              <a:solidFill>
                <a:srgbClr val="082D49"/>
              </a:solidFill>
              <a:latin typeface="Inconsolata"/>
              <a:ea typeface="Inconsolata"/>
              <a:cs typeface="Inconsolata"/>
              <a:sym typeface="Inconsolata"/>
            </a:endParaRPr>
          </a:p>
        </p:txBody>
      </p:sp>
      <p:sp>
        <p:nvSpPr>
          <p:cNvPr id="460" name="Google Shape;460;p60"/>
          <p:cNvSpPr txBox="1"/>
          <p:nvPr/>
        </p:nvSpPr>
        <p:spPr>
          <a:xfrm>
            <a:off x="1287250" y="2751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Create and manage users and groups</a:t>
            </a:r>
            <a:endParaRPr b="1" sz="1800">
              <a:solidFill>
                <a:srgbClr val="082D49"/>
              </a:solidFill>
              <a:latin typeface="Inconsolata"/>
              <a:ea typeface="Inconsolata"/>
              <a:cs typeface="Inconsolata"/>
              <a:sym typeface="Inconsolat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1"/>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b="0" lang="en">
                <a:latin typeface="Roboto"/>
                <a:ea typeface="Roboto"/>
                <a:cs typeface="Roboto"/>
                <a:sym typeface="Roboto"/>
              </a:rPr>
              <a:t>Access </a:t>
            </a:r>
            <a:r>
              <a:rPr lang="en">
                <a:latin typeface="Roboto"/>
                <a:ea typeface="Roboto"/>
                <a:cs typeface="Roboto"/>
                <a:sym typeface="Roboto"/>
              </a:rPr>
              <a:t>Controls</a:t>
            </a:r>
            <a:r>
              <a:rPr b="0" lang="en">
                <a:latin typeface="Roboto"/>
                <a:ea typeface="Roboto"/>
                <a:cs typeface="Roboto"/>
                <a:sym typeface="Roboto"/>
              </a:rPr>
              <a:t> and Permissions</a:t>
            </a:r>
            <a:endParaRPr b="0">
              <a:latin typeface="Roboto"/>
              <a:ea typeface="Roboto"/>
              <a:cs typeface="Roboto"/>
              <a:sym typeface="Roboto"/>
            </a:endParaRPr>
          </a:p>
        </p:txBody>
      </p:sp>
      <p:pic>
        <p:nvPicPr>
          <p:cNvPr id="466" name="Google Shape;466;p61"/>
          <p:cNvPicPr preferRelativeResize="0"/>
          <p:nvPr/>
        </p:nvPicPr>
        <p:blipFill rotWithShape="1">
          <a:blip r:embed="rId3">
            <a:alphaModFix/>
          </a:blip>
          <a:srcRect b="0" l="0" r="0" t="0"/>
          <a:stretch/>
        </p:blipFill>
        <p:spPr>
          <a:xfrm>
            <a:off x="4270638" y="5330375"/>
            <a:ext cx="602725" cy="602725"/>
          </a:xfrm>
          <a:prstGeom prst="rect">
            <a:avLst/>
          </a:prstGeom>
          <a:noFill/>
          <a:ln>
            <a:noFill/>
          </a:ln>
        </p:spPr>
      </p:pic>
      <p:pic>
        <p:nvPicPr>
          <p:cNvPr id="467" name="Google Shape;467;p61"/>
          <p:cNvPicPr preferRelativeResize="0"/>
          <p:nvPr/>
        </p:nvPicPr>
        <p:blipFill>
          <a:blip r:embed="rId4">
            <a:alphaModFix/>
          </a:blip>
          <a:stretch>
            <a:fillRect/>
          </a:stretch>
        </p:blipFill>
        <p:spPr>
          <a:xfrm>
            <a:off x="3972588" y="1578899"/>
            <a:ext cx="1198825" cy="915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2"/>
          <p:cNvSpPr txBox="1"/>
          <p:nvPr>
            <p:ph idx="1" type="body"/>
          </p:nvPr>
        </p:nvSpPr>
        <p:spPr>
          <a:xfrm>
            <a:off x="3424200" y="865025"/>
            <a:ext cx="5466300" cy="376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Like Google Docs, Linux has </a:t>
            </a:r>
            <a:r>
              <a:rPr b="1" lang="en"/>
              <a:t>access controls</a:t>
            </a:r>
            <a:r>
              <a:rPr lang="en"/>
              <a:t> that grant permission</a:t>
            </a:r>
            <a:endParaRPr/>
          </a:p>
          <a:p>
            <a:pPr indent="0" lvl="0" marL="0" rtl="0" algn="l">
              <a:spcBef>
                <a:spcPts val="0"/>
              </a:spcBef>
              <a:spcAft>
                <a:spcPts val="0"/>
              </a:spcAft>
              <a:buNone/>
            </a:pPr>
            <a:r>
              <a:rPr lang="en"/>
              <a:t>to access documents</a:t>
            </a:r>
            <a:endParaRPr/>
          </a:p>
          <a:p>
            <a:pPr indent="0" lvl="0" marL="0" rtl="0" algn="l">
              <a:spcBef>
                <a:spcPts val="0"/>
              </a:spcBef>
              <a:spcAft>
                <a:spcPts val="0"/>
              </a:spcAft>
              <a:buNone/>
            </a:pPr>
            <a:r>
              <a:rPr lang="en"/>
              <a:t>and files on a host.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3"/>
          <p:cNvSpPr txBox="1"/>
          <p:nvPr>
            <p:ph type="title"/>
          </p:nvPr>
        </p:nvSpPr>
        <p:spPr>
          <a:xfrm>
            <a:off x="457200" y="146300"/>
            <a:ext cx="5486400" cy="365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Access Controls and Permissions</a:t>
            </a:r>
            <a:endParaRPr/>
          </a:p>
        </p:txBody>
      </p:sp>
      <p:sp>
        <p:nvSpPr>
          <p:cNvPr id="478" name="Google Shape;478;p63"/>
          <p:cNvSpPr txBox="1"/>
          <p:nvPr>
            <p:ph idx="3" type="body"/>
          </p:nvPr>
        </p:nvSpPr>
        <p:spPr>
          <a:xfrm>
            <a:off x="476912" y="987575"/>
            <a:ext cx="50292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t>Access controls</a:t>
            </a:r>
            <a:r>
              <a:rPr lang="en"/>
              <a:t> allow actions on a file to include:</a:t>
            </a:r>
            <a:endParaRPr/>
          </a:p>
          <a:p>
            <a:pPr indent="-342900" lvl="0" marL="457200" rtl="0" algn="l">
              <a:spcBef>
                <a:spcPts val="0"/>
              </a:spcBef>
              <a:spcAft>
                <a:spcPts val="0"/>
              </a:spcAft>
              <a:buSzPts val="1800"/>
              <a:buChar char="●"/>
            </a:pPr>
            <a:r>
              <a:rPr lang="en"/>
              <a:t>Read</a:t>
            </a:r>
            <a:endParaRPr/>
          </a:p>
          <a:p>
            <a:pPr indent="-342900" lvl="0" marL="457200" rtl="0" algn="l">
              <a:spcBef>
                <a:spcPts val="0"/>
              </a:spcBef>
              <a:spcAft>
                <a:spcPts val="0"/>
              </a:spcAft>
              <a:buSzPts val="1800"/>
              <a:buChar char="●"/>
            </a:pPr>
            <a:r>
              <a:rPr lang="en"/>
              <a:t>Write</a:t>
            </a:r>
            <a:endParaRPr/>
          </a:p>
          <a:p>
            <a:pPr indent="-342900" lvl="0" marL="457200" rtl="0" algn="l">
              <a:spcBef>
                <a:spcPts val="0"/>
              </a:spcBef>
              <a:spcAft>
                <a:spcPts val="0"/>
              </a:spcAft>
              <a:buSzPts val="1800"/>
              <a:buChar char="●"/>
            </a:pPr>
            <a:r>
              <a:rPr lang="en"/>
              <a:t>Execute</a:t>
            </a:r>
            <a:endParaRPr/>
          </a:p>
          <a:p>
            <a:pPr indent="-342900" lvl="0" marL="457200" rtl="0" algn="l">
              <a:spcBef>
                <a:spcPts val="0"/>
              </a:spcBef>
              <a:spcAft>
                <a:spcPts val="0"/>
              </a:spcAft>
              <a:buSzPts val="1800"/>
              <a:buChar char="●"/>
            </a:pPr>
            <a:r>
              <a:rPr lang="en"/>
              <a:t>Delete</a:t>
            </a:r>
            <a:endParaRPr/>
          </a:p>
          <a:p>
            <a:pPr indent="-342900" lvl="0" marL="457200" rtl="0" algn="l">
              <a:spcBef>
                <a:spcPts val="0"/>
              </a:spcBef>
              <a:spcAft>
                <a:spcPts val="0"/>
              </a:spcAft>
              <a:buSzPts val="1800"/>
              <a:buChar char="●"/>
            </a:pPr>
            <a:r>
              <a:rPr lang="en"/>
              <a:t>Rename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Permissions</a:t>
            </a:r>
            <a:r>
              <a:rPr lang="en"/>
              <a:t> regulate who can take which action.</a:t>
            </a:r>
            <a:endParaRPr/>
          </a:p>
        </p:txBody>
      </p:sp>
      <p:pic>
        <p:nvPicPr>
          <p:cNvPr id="479" name="Google Shape;479;p63"/>
          <p:cNvPicPr preferRelativeResize="0"/>
          <p:nvPr/>
        </p:nvPicPr>
        <p:blipFill>
          <a:blip r:embed="rId3">
            <a:alphaModFix/>
          </a:blip>
          <a:stretch>
            <a:fillRect/>
          </a:stretch>
        </p:blipFill>
        <p:spPr>
          <a:xfrm>
            <a:off x="5779399" y="1330000"/>
            <a:ext cx="3124198" cy="248349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64"/>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Managing Access Controls in Linux</a:t>
            </a:r>
            <a:endParaRPr/>
          </a:p>
          <a:p>
            <a:pPr indent="0" lvl="0" marL="0" rtl="0" algn="l">
              <a:spcBef>
                <a:spcPts val="0"/>
              </a:spcBef>
              <a:spcAft>
                <a:spcPts val="0"/>
              </a:spcAft>
              <a:buNone/>
            </a:pPr>
            <a:r>
              <a:t/>
            </a:r>
            <a:endParaRPr/>
          </a:p>
        </p:txBody>
      </p:sp>
      <p:sp>
        <p:nvSpPr>
          <p:cNvPr id="485" name="Google Shape;485;p64"/>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Setting Permissions</a:t>
            </a:r>
            <a:endParaRPr/>
          </a:p>
        </p:txBody>
      </p:sp>
      <p:sp>
        <p:nvSpPr>
          <p:cNvPr id="486" name="Google Shape;486;p64"/>
          <p:cNvSpPr txBox="1"/>
          <p:nvPr>
            <p:ph idx="2" type="body"/>
          </p:nvPr>
        </p:nvSpPr>
        <p:spPr>
          <a:xfrm>
            <a:off x="461225" y="1063525"/>
            <a:ext cx="8229600" cy="4752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Linux categorizes files, programs, and directories as</a:t>
            </a:r>
            <a:r>
              <a:rPr b="1" lang="en"/>
              <a:t> items</a:t>
            </a:r>
            <a:r>
              <a:rPr lang="en"/>
              <a:t>.</a:t>
            </a:r>
            <a:endParaRPr/>
          </a:p>
        </p:txBody>
      </p:sp>
      <p:cxnSp>
        <p:nvCxnSpPr>
          <p:cNvPr id="487" name="Google Shape;487;p64"/>
          <p:cNvCxnSpPr/>
          <p:nvPr/>
        </p:nvCxnSpPr>
        <p:spPr>
          <a:xfrm>
            <a:off x="1548600" y="3659350"/>
            <a:ext cx="1871100" cy="1006500"/>
          </a:xfrm>
          <a:prstGeom prst="straightConnector1">
            <a:avLst/>
          </a:prstGeom>
          <a:noFill/>
          <a:ln cap="flat" cmpd="sng" w="19050">
            <a:solidFill>
              <a:schemeClr val="dk2"/>
            </a:solidFill>
            <a:prstDash val="solid"/>
            <a:round/>
            <a:headEnd len="med" w="med" type="none"/>
            <a:tailEnd len="med" w="med" type="none"/>
          </a:ln>
        </p:spPr>
      </p:cxnSp>
      <p:cxnSp>
        <p:nvCxnSpPr>
          <p:cNvPr id="488" name="Google Shape;488;p64"/>
          <p:cNvCxnSpPr>
            <a:endCxn id="489" idx="0"/>
          </p:cNvCxnSpPr>
          <p:nvPr/>
        </p:nvCxnSpPr>
        <p:spPr>
          <a:xfrm>
            <a:off x="4568100" y="3652300"/>
            <a:ext cx="3900" cy="611100"/>
          </a:xfrm>
          <a:prstGeom prst="straightConnector1">
            <a:avLst/>
          </a:prstGeom>
          <a:noFill/>
          <a:ln cap="flat" cmpd="sng" w="19050">
            <a:solidFill>
              <a:schemeClr val="dk2"/>
            </a:solidFill>
            <a:prstDash val="solid"/>
            <a:round/>
            <a:headEnd len="med" w="med" type="none"/>
            <a:tailEnd len="med" w="med" type="none"/>
          </a:ln>
        </p:spPr>
      </p:cxnSp>
      <p:cxnSp>
        <p:nvCxnSpPr>
          <p:cNvPr id="490" name="Google Shape;490;p64"/>
          <p:cNvCxnSpPr/>
          <p:nvPr/>
        </p:nvCxnSpPr>
        <p:spPr>
          <a:xfrm flipH="1">
            <a:off x="5720550" y="3660050"/>
            <a:ext cx="1595700" cy="1010100"/>
          </a:xfrm>
          <a:prstGeom prst="straightConnector1">
            <a:avLst/>
          </a:prstGeom>
          <a:noFill/>
          <a:ln cap="flat" cmpd="sng" w="19050">
            <a:solidFill>
              <a:schemeClr val="dk2"/>
            </a:solidFill>
            <a:prstDash val="solid"/>
            <a:round/>
            <a:headEnd len="med" w="med" type="none"/>
            <a:tailEnd len="med" w="med" type="none"/>
          </a:ln>
        </p:spPr>
      </p:cxnSp>
      <p:pic>
        <p:nvPicPr>
          <p:cNvPr id="491" name="Google Shape;491;p64"/>
          <p:cNvPicPr preferRelativeResize="0"/>
          <p:nvPr/>
        </p:nvPicPr>
        <p:blipFill rotWithShape="1">
          <a:blip r:embed="rId3">
            <a:alphaModFix/>
          </a:blip>
          <a:srcRect b="0" l="0" r="0" t="0"/>
          <a:stretch/>
        </p:blipFill>
        <p:spPr>
          <a:xfrm>
            <a:off x="234225" y="277500"/>
            <a:ext cx="445950" cy="445950"/>
          </a:xfrm>
          <a:prstGeom prst="rect">
            <a:avLst/>
          </a:prstGeom>
          <a:noFill/>
          <a:ln>
            <a:noFill/>
          </a:ln>
        </p:spPr>
      </p:pic>
      <p:pic>
        <p:nvPicPr>
          <p:cNvPr id="492" name="Google Shape;492;p64"/>
          <p:cNvPicPr preferRelativeResize="0"/>
          <p:nvPr/>
        </p:nvPicPr>
        <p:blipFill>
          <a:blip r:embed="rId4">
            <a:alphaModFix/>
          </a:blip>
          <a:stretch>
            <a:fillRect/>
          </a:stretch>
        </p:blipFill>
        <p:spPr>
          <a:xfrm>
            <a:off x="820951" y="1917312"/>
            <a:ext cx="1242200" cy="1508925"/>
          </a:xfrm>
          <a:prstGeom prst="rect">
            <a:avLst/>
          </a:prstGeom>
          <a:noFill/>
          <a:ln>
            <a:noFill/>
          </a:ln>
        </p:spPr>
      </p:pic>
      <p:pic>
        <p:nvPicPr>
          <p:cNvPr id="493" name="Google Shape;493;p64"/>
          <p:cNvPicPr preferRelativeResize="0"/>
          <p:nvPr/>
        </p:nvPicPr>
        <p:blipFill rotWithShape="1">
          <a:blip r:embed="rId5">
            <a:alphaModFix/>
          </a:blip>
          <a:srcRect b="0" l="-2814" r="-3387" t="0"/>
          <a:stretch/>
        </p:blipFill>
        <p:spPr>
          <a:xfrm>
            <a:off x="6561725" y="1879619"/>
            <a:ext cx="1885799" cy="1508951"/>
          </a:xfrm>
          <a:prstGeom prst="rect">
            <a:avLst/>
          </a:prstGeom>
          <a:noFill/>
          <a:ln>
            <a:noFill/>
          </a:ln>
        </p:spPr>
      </p:pic>
      <p:pic>
        <p:nvPicPr>
          <p:cNvPr id="494" name="Google Shape;494;p64"/>
          <p:cNvPicPr preferRelativeResize="0"/>
          <p:nvPr/>
        </p:nvPicPr>
        <p:blipFill>
          <a:blip r:embed="rId6">
            <a:alphaModFix/>
          </a:blip>
          <a:stretch>
            <a:fillRect/>
          </a:stretch>
        </p:blipFill>
        <p:spPr>
          <a:xfrm>
            <a:off x="3554121" y="1868118"/>
            <a:ext cx="2031879" cy="1595101"/>
          </a:xfrm>
          <a:prstGeom prst="rect">
            <a:avLst/>
          </a:prstGeom>
          <a:noFill/>
          <a:ln>
            <a:noFill/>
          </a:ln>
        </p:spPr>
      </p:pic>
      <p:sp>
        <p:nvSpPr>
          <p:cNvPr id="495" name="Google Shape;495;p64"/>
          <p:cNvSpPr/>
          <p:nvPr/>
        </p:nvSpPr>
        <p:spPr>
          <a:xfrm>
            <a:off x="1482574" y="3601150"/>
            <a:ext cx="116100" cy="116100"/>
          </a:xfrm>
          <a:prstGeom prst="ellipse">
            <a:avLst/>
          </a:prstGeom>
          <a:solidFill>
            <a:schemeClr val="accent1"/>
          </a:solidFill>
          <a:ln cap="flat" cmpd="sng" w="952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6" name="Google Shape;496;p64"/>
          <p:cNvSpPr/>
          <p:nvPr/>
        </p:nvSpPr>
        <p:spPr>
          <a:xfrm>
            <a:off x="4512074" y="3601150"/>
            <a:ext cx="116100" cy="116100"/>
          </a:xfrm>
          <a:prstGeom prst="ellipse">
            <a:avLst/>
          </a:prstGeom>
          <a:solidFill>
            <a:schemeClr val="accent1"/>
          </a:solidFill>
          <a:ln cap="flat" cmpd="sng" w="952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7" name="Google Shape;497;p64"/>
          <p:cNvSpPr/>
          <p:nvPr/>
        </p:nvSpPr>
        <p:spPr>
          <a:xfrm>
            <a:off x="7257149" y="3601150"/>
            <a:ext cx="116100" cy="116100"/>
          </a:xfrm>
          <a:prstGeom prst="ellipse">
            <a:avLst/>
          </a:prstGeom>
          <a:solidFill>
            <a:schemeClr val="accent1"/>
          </a:solidFill>
          <a:ln cap="flat" cmpd="sng" w="9525">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9" name="Google Shape;489;p64"/>
          <p:cNvSpPr/>
          <p:nvPr/>
        </p:nvSpPr>
        <p:spPr>
          <a:xfrm>
            <a:off x="3423600" y="4263400"/>
            <a:ext cx="2296800" cy="716100"/>
          </a:xfrm>
          <a:prstGeom prst="rect">
            <a:avLst/>
          </a:prstGeom>
          <a:solidFill>
            <a:schemeClr val="accen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Inconsolata"/>
                <a:ea typeface="Inconsolata"/>
                <a:cs typeface="Inconsolata"/>
                <a:sym typeface="Inconsolata"/>
              </a:rPr>
              <a:t>Item</a:t>
            </a:r>
            <a:endParaRPr b="1">
              <a:latin typeface="Inconsolata"/>
              <a:ea typeface="Inconsolata"/>
              <a:cs typeface="Inconsolata"/>
              <a:sym typeface="Inconsolat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Managing Access Controls in Linux</a:t>
            </a:r>
            <a:endParaRPr/>
          </a:p>
          <a:p>
            <a:pPr indent="0" lvl="0" marL="0" rtl="0" algn="l">
              <a:spcBef>
                <a:spcPts val="0"/>
              </a:spcBef>
              <a:spcAft>
                <a:spcPts val="0"/>
              </a:spcAft>
              <a:buNone/>
            </a:pPr>
            <a:r>
              <a:t/>
            </a:r>
            <a:endParaRPr/>
          </a:p>
        </p:txBody>
      </p:sp>
      <p:sp>
        <p:nvSpPr>
          <p:cNvPr id="503" name="Google Shape;503;p6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Setting Permissions</a:t>
            </a:r>
            <a:endParaRPr/>
          </a:p>
        </p:txBody>
      </p:sp>
      <p:sp>
        <p:nvSpPr>
          <p:cNvPr id="504" name="Google Shape;504;p65"/>
          <p:cNvSpPr txBox="1"/>
          <p:nvPr>
            <p:ph idx="2" type="body"/>
          </p:nvPr>
        </p:nvSpPr>
        <p:spPr>
          <a:xfrm>
            <a:off x="306650" y="987575"/>
            <a:ext cx="8523000" cy="5772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Each item specifies access controls for the </a:t>
            </a:r>
            <a:r>
              <a:rPr b="1" lang="en"/>
              <a:t>owner</a:t>
            </a:r>
            <a:r>
              <a:rPr lang="en"/>
              <a:t>, the </a:t>
            </a:r>
            <a:r>
              <a:rPr b="1" lang="en"/>
              <a:t>group</a:t>
            </a:r>
            <a:r>
              <a:rPr lang="en"/>
              <a:t>, and </a:t>
            </a:r>
            <a:r>
              <a:rPr b="1" lang="en"/>
              <a:t>others</a:t>
            </a:r>
            <a:r>
              <a:rPr lang="en"/>
              <a:t>.</a:t>
            </a:r>
            <a:endParaRPr/>
          </a:p>
        </p:txBody>
      </p:sp>
      <p:pic>
        <p:nvPicPr>
          <p:cNvPr id="505" name="Google Shape;505;p65"/>
          <p:cNvPicPr preferRelativeResize="0"/>
          <p:nvPr/>
        </p:nvPicPr>
        <p:blipFill rotWithShape="1">
          <a:blip r:embed="rId3">
            <a:alphaModFix/>
          </a:blip>
          <a:srcRect b="0" l="0" r="0" t="0"/>
          <a:stretch/>
        </p:blipFill>
        <p:spPr>
          <a:xfrm>
            <a:off x="234225" y="277500"/>
            <a:ext cx="445950" cy="445950"/>
          </a:xfrm>
          <a:prstGeom prst="rect">
            <a:avLst/>
          </a:prstGeom>
          <a:noFill/>
          <a:ln>
            <a:noFill/>
          </a:ln>
        </p:spPr>
      </p:pic>
      <p:sp>
        <p:nvSpPr>
          <p:cNvPr id="506" name="Google Shape;506;p65"/>
          <p:cNvSpPr/>
          <p:nvPr/>
        </p:nvSpPr>
        <p:spPr>
          <a:xfrm flipH="1" rot="5400000">
            <a:off x="4256900" y="2620475"/>
            <a:ext cx="270300" cy="1798800"/>
          </a:xfrm>
          <a:prstGeom prst="rightBrace">
            <a:avLst>
              <a:gd fmla="val 8333" name="adj1"/>
              <a:gd fmla="val 5202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endParaRPr>
          </a:p>
        </p:txBody>
      </p:sp>
      <p:sp>
        <p:nvSpPr>
          <p:cNvPr id="507" name="Google Shape;507;p65"/>
          <p:cNvSpPr/>
          <p:nvPr/>
        </p:nvSpPr>
        <p:spPr>
          <a:xfrm>
            <a:off x="3491127" y="3687125"/>
            <a:ext cx="1800300" cy="9432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600">
                <a:solidFill>
                  <a:schemeClr val="dk2"/>
                </a:solidFill>
                <a:latin typeface="Inconsolata"/>
                <a:ea typeface="Inconsolata"/>
                <a:cs typeface="Inconsolata"/>
                <a:sym typeface="Inconsolata"/>
              </a:rPr>
              <a:t>rwx</a:t>
            </a:r>
            <a:endParaRPr>
              <a:solidFill>
                <a:schemeClr val="dk2"/>
              </a:solidFill>
              <a:latin typeface="Roboto"/>
              <a:ea typeface="Roboto"/>
              <a:cs typeface="Roboto"/>
              <a:sym typeface="Roboto"/>
            </a:endParaRPr>
          </a:p>
        </p:txBody>
      </p:sp>
      <p:grpSp>
        <p:nvGrpSpPr>
          <p:cNvPr id="508" name="Google Shape;508;p65"/>
          <p:cNvGrpSpPr/>
          <p:nvPr/>
        </p:nvGrpSpPr>
        <p:grpSpPr>
          <a:xfrm>
            <a:off x="1967700" y="1791009"/>
            <a:ext cx="4751400" cy="1409100"/>
            <a:chOff x="1737781" y="1867209"/>
            <a:chExt cx="4751400" cy="1409100"/>
          </a:xfrm>
        </p:grpSpPr>
        <p:sp>
          <p:nvSpPr>
            <p:cNvPr id="509" name="Google Shape;509;p65"/>
            <p:cNvSpPr/>
            <p:nvPr/>
          </p:nvSpPr>
          <p:spPr>
            <a:xfrm>
              <a:off x="1737781" y="1867209"/>
              <a:ext cx="4751400" cy="14091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Inconsolata"/>
                  <a:ea typeface="Inconsolata"/>
                  <a:cs typeface="Inconsolata"/>
                  <a:sym typeface="Inconsolata"/>
                </a:rPr>
                <a:t>Item</a:t>
              </a:r>
              <a:endParaRPr b="1">
                <a:latin typeface="Inconsolata"/>
                <a:ea typeface="Inconsolata"/>
                <a:cs typeface="Inconsolata"/>
                <a:sym typeface="Inconsolata"/>
              </a:endParaRPr>
            </a:p>
          </p:txBody>
        </p:sp>
        <p:pic>
          <p:nvPicPr>
            <p:cNvPr id="510" name="Google Shape;510;p65"/>
            <p:cNvPicPr preferRelativeResize="0"/>
            <p:nvPr/>
          </p:nvPicPr>
          <p:blipFill>
            <a:blip r:embed="rId4">
              <a:alphaModFix/>
            </a:blip>
            <a:stretch>
              <a:fillRect/>
            </a:stretch>
          </p:blipFill>
          <p:spPr>
            <a:xfrm>
              <a:off x="2151310" y="2368002"/>
              <a:ext cx="595832" cy="723762"/>
            </a:xfrm>
            <a:prstGeom prst="rect">
              <a:avLst/>
            </a:prstGeom>
            <a:noFill/>
            <a:ln>
              <a:noFill/>
            </a:ln>
          </p:spPr>
        </p:pic>
        <p:pic>
          <p:nvPicPr>
            <p:cNvPr id="511" name="Google Shape;511;p65"/>
            <p:cNvPicPr preferRelativeResize="0"/>
            <p:nvPr/>
          </p:nvPicPr>
          <p:blipFill rotWithShape="1">
            <a:blip r:embed="rId5">
              <a:alphaModFix/>
            </a:blip>
            <a:srcRect b="0" l="-2814" r="-3387" t="0"/>
            <a:stretch/>
          </p:blipFill>
          <p:spPr>
            <a:xfrm>
              <a:off x="5378470" y="2349923"/>
              <a:ext cx="904544" cy="723770"/>
            </a:xfrm>
            <a:prstGeom prst="rect">
              <a:avLst/>
            </a:prstGeom>
            <a:noFill/>
            <a:ln>
              <a:noFill/>
            </a:ln>
          </p:spPr>
        </p:pic>
        <p:pic>
          <p:nvPicPr>
            <p:cNvPr id="512" name="Google Shape;512;p65"/>
            <p:cNvPicPr preferRelativeResize="0"/>
            <p:nvPr/>
          </p:nvPicPr>
          <p:blipFill rotWithShape="1">
            <a:blip r:embed="rId6">
              <a:alphaModFix/>
            </a:blip>
            <a:srcRect b="0" l="0" r="0" t="0"/>
            <a:stretch/>
          </p:blipFill>
          <p:spPr>
            <a:xfrm>
              <a:off x="3652761" y="2344406"/>
              <a:ext cx="974604" cy="765091"/>
            </a:xfrm>
            <a:prstGeom prst="rect">
              <a:avLst/>
            </a:prstGeom>
            <a:noFill/>
            <a:ln>
              <a:noFill/>
            </a:ln>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6"/>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Managing Access Controls in Linux</a:t>
            </a:r>
            <a:endParaRPr>
              <a:solidFill>
                <a:schemeClr val="dk2"/>
              </a:solidFill>
            </a:endParaRPr>
          </a:p>
          <a:p>
            <a:pPr indent="0" lvl="0" marL="0" rtl="0" algn="l">
              <a:spcBef>
                <a:spcPts val="0"/>
              </a:spcBef>
              <a:spcAft>
                <a:spcPts val="0"/>
              </a:spcAft>
              <a:buNone/>
            </a:pPr>
            <a:r>
              <a:t/>
            </a:r>
            <a:endParaRPr/>
          </a:p>
        </p:txBody>
      </p:sp>
      <p:sp>
        <p:nvSpPr>
          <p:cNvPr id="518" name="Google Shape;518;p66"/>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Setting Permissions</a:t>
            </a:r>
            <a:endParaRPr/>
          </a:p>
        </p:txBody>
      </p:sp>
      <p:sp>
        <p:nvSpPr>
          <p:cNvPr id="519" name="Google Shape;519;p66"/>
          <p:cNvSpPr txBox="1"/>
          <p:nvPr>
            <p:ph idx="2" type="body"/>
          </p:nvPr>
        </p:nvSpPr>
        <p:spPr>
          <a:xfrm>
            <a:off x="306650" y="987575"/>
            <a:ext cx="8523000" cy="5685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Each item specifies access controls for the </a:t>
            </a:r>
            <a:r>
              <a:rPr b="1" lang="en"/>
              <a:t>owner</a:t>
            </a:r>
            <a:r>
              <a:rPr lang="en"/>
              <a:t>, the </a:t>
            </a:r>
            <a:r>
              <a:rPr b="1" lang="en"/>
              <a:t>group</a:t>
            </a:r>
            <a:r>
              <a:rPr lang="en"/>
              <a:t>, and </a:t>
            </a:r>
            <a:r>
              <a:rPr b="1" lang="en"/>
              <a:t>others</a:t>
            </a:r>
            <a:r>
              <a:rPr lang="en"/>
              <a:t>.</a:t>
            </a:r>
            <a:endParaRPr/>
          </a:p>
        </p:txBody>
      </p:sp>
      <p:pic>
        <p:nvPicPr>
          <p:cNvPr id="520" name="Google Shape;520;p66"/>
          <p:cNvPicPr preferRelativeResize="0"/>
          <p:nvPr/>
        </p:nvPicPr>
        <p:blipFill rotWithShape="1">
          <a:blip r:embed="rId3">
            <a:alphaModFix/>
          </a:blip>
          <a:srcRect b="0" l="0" r="0" t="0"/>
          <a:stretch/>
        </p:blipFill>
        <p:spPr>
          <a:xfrm>
            <a:off x="234225" y="277500"/>
            <a:ext cx="445950" cy="445950"/>
          </a:xfrm>
          <a:prstGeom prst="rect">
            <a:avLst/>
          </a:prstGeom>
          <a:noFill/>
          <a:ln>
            <a:noFill/>
          </a:ln>
        </p:spPr>
      </p:pic>
      <p:sp>
        <p:nvSpPr>
          <p:cNvPr id="521" name="Google Shape;521;p66"/>
          <p:cNvSpPr/>
          <p:nvPr/>
        </p:nvSpPr>
        <p:spPr>
          <a:xfrm flipH="1" rot="5400000">
            <a:off x="4304488" y="210213"/>
            <a:ext cx="349200" cy="6174000"/>
          </a:xfrm>
          <a:prstGeom prst="rightBrace">
            <a:avLst>
              <a:gd fmla="val 35571" name="adj1"/>
              <a:gd fmla="val 52029" name="adj2"/>
            </a:avLst>
          </a:prstGeom>
          <a:noFill/>
          <a:ln cap="flat" cmpd="sng" w="1905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522" name="Google Shape;522;p66"/>
          <p:cNvSpPr/>
          <p:nvPr/>
        </p:nvSpPr>
        <p:spPr>
          <a:xfrm>
            <a:off x="471438" y="3759000"/>
            <a:ext cx="1800300" cy="9432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600">
                <a:solidFill>
                  <a:schemeClr val="accent5"/>
                </a:solidFill>
                <a:latin typeface="Inconsolata"/>
                <a:ea typeface="Inconsolata"/>
                <a:cs typeface="Inconsolata"/>
                <a:sym typeface="Inconsolata"/>
              </a:rPr>
              <a:t>rwx</a:t>
            </a:r>
            <a:endParaRPr>
              <a:solidFill>
                <a:schemeClr val="accent5"/>
              </a:solidFill>
              <a:latin typeface="Roboto"/>
              <a:ea typeface="Roboto"/>
              <a:cs typeface="Roboto"/>
              <a:sym typeface="Roboto"/>
            </a:endParaRPr>
          </a:p>
        </p:txBody>
      </p:sp>
      <p:sp>
        <p:nvSpPr>
          <p:cNvPr id="523" name="Google Shape;523;p66"/>
          <p:cNvSpPr/>
          <p:nvPr/>
        </p:nvSpPr>
        <p:spPr>
          <a:xfrm>
            <a:off x="891288" y="3471825"/>
            <a:ext cx="960600" cy="3657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Roboto"/>
                <a:ea typeface="Roboto"/>
                <a:cs typeface="Roboto"/>
                <a:sym typeface="Roboto"/>
              </a:rPr>
              <a:t>Owner</a:t>
            </a:r>
            <a:endParaRPr b="1">
              <a:solidFill>
                <a:schemeClr val="accent5"/>
              </a:solidFill>
              <a:latin typeface="Roboto"/>
              <a:ea typeface="Roboto"/>
              <a:cs typeface="Roboto"/>
              <a:sym typeface="Roboto"/>
            </a:endParaRPr>
          </a:p>
        </p:txBody>
      </p:sp>
      <p:sp>
        <p:nvSpPr>
          <p:cNvPr id="524" name="Google Shape;524;p66"/>
          <p:cNvSpPr/>
          <p:nvPr/>
        </p:nvSpPr>
        <p:spPr>
          <a:xfrm>
            <a:off x="3442313" y="3752075"/>
            <a:ext cx="1800300" cy="9432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600">
                <a:solidFill>
                  <a:schemeClr val="accent5"/>
                </a:solidFill>
                <a:latin typeface="Inconsolata"/>
                <a:ea typeface="Inconsolata"/>
                <a:cs typeface="Inconsolata"/>
                <a:sym typeface="Inconsolata"/>
              </a:rPr>
              <a:t>rwx</a:t>
            </a:r>
            <a:endParaRPr>
              <a:solidFill>
                <a:schemeClr val="accent5"/>
              </a:solidFill>
              <a:latin typeface="Roboto"/>
              <a:ea typeface="Roboto"/>
              <a:cs typeface="Roboto"/>
              <a:sym typeface="Roboto"/>
            </a:endParaRPr>
          </a:p>
        </p:txBody>
      </p:sp>
      <p:sp>
        <p:nvSpPr>
          <p:cNvPr id="525" name="Google Shape;525;p66"/>
          <p:cNvSpPr/>
          <p:nvPr/>
        </p:nvSpPr>
        <p:spPr>
          <a:xfrm>
            <a:off x="3862163" y="3471825"/>
            <a:ext cx="960600" cy="3657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Roboto"/>
                <a:ea typeface="Roboto"/>
                <a:cs typeface="Roboto"/>
                <a:sym typeface="Roboto"/>
              </a:rPr>
              <a:t>Group</a:t>
            </a:r>
            <a:endParaRPr b="1">
              <a:solidFill>
                <a:schemeClr val="accent5"/>
              </a:solidFill>
              <a:latin typeface="Roboto"/>
              <a:ea typeface="Roboto"/>
              <a:cs typeface="Roboto"/>
              <a:sym typeface="Roboto"/>
            </a:endParaRPr>
          </a:p>
        </p:txBody>
      </p:sp>
      <p:sp>
        <p:nvSpPr>
          <p:cNvPr id="526" name="Google Shape;526;p66"/>
          <p:cNvSpPr/>
          <p:nvPr/>
        </p:nvSpPr>
        <p:spPr>
          <a:xfrm>
            <a:off x="6718163" y="3752063"/>
            <a:ext cx="1800300" cy="9432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600">
                <a:solidFill>
                  <a:schemeClr val="accent5"/>
                </a:solidFill>
                <a:latin typeface="Inconsolata"/>
                <a:ea typeface="Inconsolata"/>
                <a:cs typeface="Inconsolata"/>
                <a:sym typeface="Inconsolata"/>
              </a:rPr>
              <a:t>rwx</a:t>
            </a:r>
            <a:endParaRPr>
              <a:solidFill>
                <a:schemeClr val="accent5"/>
              </a:solidFill>
              <a:latin typeface="Roboto"/>
              <a:ea typeface="Roboto"/>
              <a:cs typeface="Roboto"/>
              <a:sym typeface="Roboto"/>
            </a:endParaRPr>
          </a:p>
        </p:txBody>
      </p:sp>
      <p:sp>
        <p:nvSpPr>
          <p:cNvPr id="527" name="Google Shape;527;p66"/>
          <p:cNvSpPr/>
          <p:nvPr/>
        </p:nvSpPr>
        <p:spPr>
          <a:xfrm>
            <a:off x="7093238" y="3471813"/>
            <a:ext cx="960600" cy="3657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5"/>
                </a:solidFill>
                <a:latin typeface="Roboto"/>
                <a:ea typeface="Roboto"/>
                <a:cs typeface="Roboto"/>
                <a:sym typeface="Roboto"/>
              </a:rPr>
              <a:t>Other</a:t>
            </a:r>
            <a:endParaRPr b="1">
              <a:solidFill>
                <a:schemeClr val="accent5"/>
              </a:solidFill>
              <a:latin typeface="Roboto"/>
              <a:ea typeface="Roboto"/>
              <a:cs typeface="Roboto"/>
              <a:sym typeface="Roboto"/>
            </a:endParaRPr>
          </a:p>
        </p:txBody>
      </p:sp>
      <p:sp>
        <p:nvSpPr>
          <p:cNvPr id="528" name="Google Shape;528;p66"/>
          <p:cNvSpPr/>
          <p:nvPr/>
        </p:nvSpPr>
        <p:spPr>
          <a:xfrm>
            <a:off x="1966779" y="1564059"/>
            <a:ext cx="4751400" cy="14091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Inconsolata"/>
                <a:ea typeface="Inconsolata"/>
                <a:cs typeface="Inconsolata"/>
                <a:sym typeface="Inconsolata"/>
              </a:rPr>
              <a:t>Item</a:t>
            </a:r>
            <a:endParaRPr b="1">
              <a:solidFill>
                <a:schemeClr val="dk2"/>
              </a:solidFill>
              <a:latin typeface="Inconsolata"/>
              <a:ea typeface="Inconsolata"/>
              <a:cs typeface="Inconsolata"/>
              <a:sym typeface="Inconsolata"/>
            </a:endParaRPr>
          </a:p>
        </p:txBody>
      </p:sp>
      <p:pic>
        <p:nvPicPr>
          <p:cNvPr id="529" name="Google Shape;529;p66"/>
          <p:cNvPicPr preferRelativeResize="0"/>
          <p:nvPr/>
        </p:nvPicPr>
        <p:blipFill>
          <a:blip r:embed="rId4">
            <a:alphaModFix/>
          </a:blip>
          <a:stretch>
            <a:fillRect/>
          </a:stretch>
        </p:blipFill>
        <p:spPr>
          <a:xfrm>
            <a:off x="2380308" y="2064852"/>
            <a:ext cx="595832" cy="723762"/>
          </a:xfrm>
          <a:prstGeom prst="rect">
            <a:avLst/>
          </a:prstGeom>
          <a:noFill/>
          <a:ln>
            <a:noFill/>
          </a:ln>
        </p:spPr>
      </p:pic>
      <p:pic>
        <p:nvPicPr>
          <p:cNvPr id="530" name="Google Shape;530;p66"/>
          <p:cNvPicPr preferRelativeResize="0"/>
          <p:nvPr/>
        </p:nvPicPr>
        <p:blipFill rotWithShape="1">
          <a:blip r:embed="rId5">
            <a:alphaModFix/>
          </a:blip>
          <a:srcRect b="0" l="-2814" r="-3387" t="0"/>
          <a:stretch/>
        </p:blipFill>
        <p:spPr>
          <a:xfrm>
            <a:off x="5607468" y="2046773"/>
            <a:ext cx="904544" cy="723770"/>
          </a:xfrm>
          <a:prstGeom prst="rect">
            <a:avLst/>
          </a:prstGeom>
          <a:noFill/>
          <a:ln>
            <a:noFill/>
          </a:ln>
        </p:spPr>
      </p:pic>
      <p:pic>
        <p:nvPicPr>
          <p:cNvPr id="531" name="Google Shape;531;p66"/>
          <p:cNvPicPr preferRelativeResize="0"/>
          <p:nvPr/>
        </p:nvPicPr>
        <p:blipFill rotWithShape="1">
          <a:blip r:embed="rId6">
            <a:alphaModFix/>
          </a:blip>
          <a:srcRect b="0" l="0" r="0" t="0"/>
          <a:stretch/>
        </p:blipFill>
        <p:spPr>
          <a:xfrm>
            <a:off x="3881759" y="2041256"/>
            <a:ext cx="974604" cy="76509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p67"/>
          <p:cNvGrpSpPr/>
          <p:nvPr/>
        </p:nvGrpSpPr>
        <p:grpSpPr>
          <a:xfrm>
            <a:off x="6257800" y="1371600"/>
            <a:ext cx="2429025" cy="3435366"/>
            <a:chOff x="6257775" y="1133250"/>
            <a:chExt cx="2429025" cy="3435366"/>
          </a:xfrm>
        </p:grpSpPr>
        <p:sp>
          <p:nvSpPr>
            <p:cNvPr id="537" name="Google Shape;537;p67"/>
            <p:cNvSpPr/>
            <p:nvPr/>
          </p:nvSpPr>
          <p:spPr>
            <a:xfrm flipH="1">
              <a:off x="6258300" y="1134216"/>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67"/>
            <p:cNvSpPr/>
            <p:nvPr/>
          </p:nvSpPr>
          <p:spPr>
            <a:xfrm>
              <a:off x="6257775" y="1133250"/>
              <a:ext cx="2427300" cy="707100"/>
            </a:xfrm>
            <a:prstGeom prst="roundRect">
              <a:avLst>
                <a:gd fmla="val 13342"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solidFill>
                    <a:schemeClr val="lt1"/>
                  </a:solidFill>
                  <a:latin typeface="Roboto"/>
                  <a:ea typeface="Roboto"/>
                  <a:cs typeface="Roboto"/>
                  <a:sym typeface="Roboto"/>
                </a:rPr>
                <a:t>Other</a:t>
              </a:r>
              <a:endParaRPr b="1" i="0" sz="1800" u="none" cap="none" strike="noStrike">
                <a:solidFill>
                  <a:schemeClr val="lt1"/>
                </a:solidFill>
                <a:latin typeface="Roboto"/>
                <a:ea typeface="Roboto"/>
                <a:cs typeface="Roboto"/>
                <a:sym typeface="Roboto"/>
              </a:endParaRPr>
            </a:p>
          </p:txBody>
        </p:sp>
      </p:grpSp>
      <p:grpSp>
        <p:nvGrpSpPr>
          <p:cNvPr id="539" name="Google Shape;539;p67"/>
          <p:cNvGrpSpPr/>
          <p:nvPr/>
        </p:nvGrpSpPr>
        <p:grpSpPr>
          <a:xfrm>
            <a:off x="457225" y="1371600"/>
            <a:ext cx="2439025" cy="3434400"/>
            <a:chOff x="457200" y="1133250"/>
            <a:chExt cx="2439025" cy="3434400"/>
          </a:xfrm>
        </p:grpSpPr>
        <p:sp>
          <p:nvSpPr>
            <p:cNvPr id="540" name="Google Shape;540;p67"/>
            <p:cNvSpPr/>
            <p:nvPr/>
          </p:nvSpPr>
          <p:spPr>
            <a:xfrm flipH="1">
              <a:off x="467725" y="1133250"/>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541" name="Google Shape;541;p67"/>
            <p:cNvSpPr/>
            <p:nvPr/>
          </p:nvSpPr>
          <p:spPr>
            <a:xfrm>
              <a:off x="457200" y="1133250"/>
              <a:ext cx="2438400" cy="707100"/>
            </a:xfrm>
            <a:prstGeom prst="roundRect">
              <a:avLst>
                <a:gd fmla="val 13342"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solidFill>
                    <a:schemeClr val="lt1"/>
                  </a:solidFill>
                  <a:latin typeface="Roboto"/>
                  <a:ea typeface="Roboto"/>
                  <a:cs typeface="Roboto"/>
                  <a:sym typeface="Roboto"/>
                </a:rPr>
                <a:t>Owner</a:t>
              </a:r>
              <a:endParaRPr b="1" i="0" sz="1800" u="none" cap="none" strike="noStrike">
                <a:solidFill>
                  <a:schemeClr val="lt1"/>
                </a:solidFill>
                <a:latin typeface="Roboto"/>
                <a:ea typeface="Roboto"/>
                <a:cs typeface="Roboto"/>
                <a:sym typeface="Roboto"/>
              </a:endParaRPr>
            </a:p>
          </p:txBody>
        </p:sp>
      </p:grpSp>
      <p:grpSp>
        <p:nvGrpSpPr>
          <p:cNvPr id="542" name="Google Shape;542;p67"/>
          <p:cNvGrpSpPr/>
          <p:nvPr/>
        </p:nvGrpSpPr>
        <p:grpSpPr>
          <a:xfrm>
            <a:off x="3359425" y="1371599"/>
            <a:ext cx="2435188" cy="3434400"/>
            <a:chOff x="3399100" y="1133249"/>
            <a:chExt cx="2435188" cy="3434400"/>
          </a:xfrm>
        </p:grpSpPr>
        <p:sp>
          <p:nvSpPr>
            <p:cNvPr id="543" name="Google Shape;543;p67"/>
            <p:cNvSpPr/>
            <p:nvPr/>
          </p:nvSpPr>
          <p:spPr>
            <a:xfrm flipH="1">
              <a:off x="3405788" y="1133249"/>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544" name="Google Shape;544;p67"/>
            <p:cNvSpPr/>
            <p:nvPr/>
          </p:nvSpPr>
          <p:spPr>
            <a:xfrm>
              <a:off x="3399100" y="1133250"/>
              <a:ext cx="2427300" cy="707100"/>
            </a:xfrm>
            <a:prstGeom prst="roundRect">
              <a:avLst>
                <a:gd fmla="val 13342" name="adj"/>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solidFill>
                    <a:schemeClr val="dk2"/>
                  </a:solidFill>
                  <a:latin typeface="Roboto"/>
                  <a:ea typeface="Roboto"/>
                  <a:cs typeface="Roboto"/>
                  <a:sym typeface="Roboto"/>
                </a:rPr>
                <a:t>Group</a:t>
              </a:r>
              <a:endParaRPr b="1" i="0" sz="1800" u="none" cap="none" strike="noStrike">
                <a:solidFill>
                  <a:schemeClr val="dk2"/>
                </a:solidFill>
                <a:latin typeface="Roboto"/>
                <a:ea typeface="Roboto"/>
                <a:cs typeface="Roboto"/>
                <a:sym typeface="Roboto"/>
              </a:endParaRPr>
            </a:p>
          </p:txBody>
        </p:sp>
      </p:grpSp>
      <p:sp>
        <p:nvSpPr>
          <p:cNvPr id="545" name="Google Shape;545;p67"/>
          <p:cNvSpPr txBox="1"/>
          <p:nvPr>
            <p:ph idx="4294967295" type="body"/>
          </p:nvPr>
        </p:nvSpPr>
        <p:spPr>
          <a:xfrm>
            <a:off x="457175" y="2078575"/>
            <a:ext cx="25215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t>User that created the item.</a:t>
            </a:r>
            <a:endParaRPr/>
          </a:p>
        </p:txBody>
      </p:sp>
      <p:sp>
        <p:nvSpPr>
          <p:cNvPr id="546" name="Google Shape;546;p67"/>
          <p:cNvSpPr txBox="1"/>
          <p:nvPr>
            <p:ph idx="4294967295" type="body"/>
          </p:nvPr>
        </p:nvSpPr>
        <p:spPr>
          <a:xfrm>
            <a:off x="3357750" y="2078575"/>
            <a:ext cx="24285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t>Primary group of the owner.</a:t>
            </a:r>
            <a:endParaRPr/>
          </a:p>
        </p:txBody>
      </p:sp>
      <p:sp>
        <p:nvSpPr>
          <p:cNvPr id="547" name="Google Shape;547;p67"/>
          <p:cNvSpPr txBox="1"/>
          <p:nvPr>
            <p:ph idx="4294967295" type="body"/>
          </p:nvPr>
        </p:nvSpPr>
        <p:spPr>
          <a:xfrm>
            <a:off x="6258325" y="2078575"/>
            <a:ext cx="24285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t>Everyone who is </a:t>
            </a:r>
            <a:r>
              <a:rPr b="1" lang="en"/>
              <a:t>not </a:t>
            </a:r>
            <a:r>
              <a:rPr lang="en"/>
              <a:t>the owner or not in the group.</a:t>
            </a:r>
            <a:endParaRPr/>
          </a:p>
        </p:txBody>
      </p:sp>
      <p:sp>
        <p:nvSpPr>
          <p:cNvPr id="548" name="Google Shape;548;p67"/>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Access</a:t>
            </a:r>
            <a:r>
              <a:rPr lang="en"/>
              <a:t> Controls and Permissions</a:t>
            </a:r>
            <a:endParaRPr/>
          </a:p>
        </p:txBody>
      </p:sp>
      <p:sp>
        <p:nvSpPr>
          <p:cNvPr id="549" name="Google Shape;549;p67"/>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Linux Filesystem Permissions </a:t>
            </a:r>
            <a:endParaRPr/>
          </a:p>
        </p:txBody>
      </p:sp>
      <p:pic>
        <p:nvPicPr>
          <p:cNvPr id="550" name="Google Shape;550;p67"/>
          <p:cNvPicPr preferRelativeResize="0"/>
          <p:nvPr/>
        </p:nvPicPr>
        <p:blipFill rotWithShape="1">
          <a:blip r:embed="rId3">
            <a:alphaModFix/>
          </a:blip>
          <a:srcRect b="0" l="0" r="0" t="0"/>
          <a:stretch/>
        </p:blipFill>
        <p:spPr>
          <a:xfrm>
            <a:off x="2239374" y="4189376"/>
            <a:ext cx="503825" cy="503825"/>
          </a:xfrm>
          <a:prstGeom prst="rect">
            <a:avLst/>
          </a:prstGeom>
          <a:noFill/>
          <a:ln>
            <a:noFill/>
          </a:ln>
        </p:spPr>
      </p:pic>
      <p:pic>
        <p:nvPicPr>
          <p:cNvPr id="551" name="Google Shape;551;p67"/>
          <p:cNvPicPr preferRelativeResize="0"/>
          <p:nvPr/>
        </p:nvPicPr>
        <p:blipFill rotWithShape="1">
          <a:blip r:embed="rId4">
            <a:alphaModFix/>
          </a:blip>
          <a:srcRect b="39" l="0" r="0" t="39"/>
          <a:stretch/>
        </p:blipFill>
        <p:spPr>
          <a:xfrm>
            <a:off x="5130891" y="4189376"/>
            <a:ext cx="503827" cy="503822"/>
          </a:xfrm>
          <a:prstGeom prst="rect">
            <a:avLst/>
          </a:prstGeom>
          <a:noFill/>
          <a:ln>
            <a:noFill/>
          </a:ln>
        </p:spPr>
      </p:pic>
      <p:pic>
        <p:nvPicPr>
          <p:cNvPr id="552" name="Google Shape;552;p67"/>
          <p:cNvPicPr preferRelativeResize="0"/>
          <p:nvPr/>
        </p:nvPicPr>
        <p:blipFill rotWithShape="1">
          <a:blip r:embed="rId5">
            <a:alphaModFix/>
          </a:blip>
          <a:srcRect b="0" l="0" r="0" t="0"/>
          <a:stretch/>
        </p:blipFill>
        <p:spPr>
          <a:xfrm>
            <a:off x="8074623" y="4189376"/>
            <a:ext cx="503828" cy="5038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grpSp>
        <p:nvGrpSpPr>
          <p:cNvPr id="557" name="Google Shape;557;p68"/>
          <p:cNvGrpSpPr/>
          <p:nvPr/>
        </p:nvGrpSpPr>
        <p:grpSpPr>
          <a:xfrm>
            <a:off x="6257800" y="1371600"/>
            <a:ext cx="2429025" cy="3435366"/>
            <a:chOff x="6257775" y="1133250"/>
            <a:chExt cx="2429025" cy="3435366"/>
          </a:xfrm>
        </p:grpSpPr>
        <p:sp>
          <p:nvSpPr>
            <p:cNvPr id="558" name="Google Shape;558;p68"/>
            <p:cNvSpPr/>
            <p:nvPr/>
          </p:nvSpPr>
          <p:spPr>
            <a:xfrm flipH="1">
              <a:off x="6258300" y="1134216"/>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68"/>
            <p:cNvSpPr/>
            <p:nvPr/>
          </p:nvSpPr>
          <p:spPr>
            <a:xfrm>
              <a:off x="6257775" y="1133250"/>
              <a:ext cx="2427300" cy="707100"/>
            </a:xfrm>
            <a:prstGeom prst="roundRect">
              <a:avLst>
                <a:gd fmla="val 13342" name="adj"/>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solidFill>
                    <a:schemeClr val="dk2"/>
                  </a:solidFill>
                  <a:latin typeface="Roboto"/>
                  <a:ea typeface="Roboto"/>
                  <a:cs typeface="Roboto"/>
                  <a:sym typeface="Roboto"/>
                </a:rPr>
                <a:t>Execute</a:t>
              </a:r>
              <a:endParaRPr b="1" i="0" sz="1800" u="none" cap="none" strike="noStrike">
                <a:solidFill>
                  <a:schemeClr val="dk2"/>
                </a:solidFill>
                <a:latin typeface="Roboto"/>
                <a:ea typeface="Roboto"/>
                <a:cs typeface="Roboto"/>
                <a:sym typeface="Roboto"/>
              </a:endParaRPr>
            </a:p>
          </p:txBody>
        </p:sp>
      </p:grpSp>
      <p:grpSp>
        <p:nvGrpSpPr>
          <p:cNvPr id="560" name="Google Shape;560;p68"/>
          <p:cNvGrpSpPr/>
          <p:nvPr/>
        </p:nvGrpSpPr>
        <p:grpSpPr>
          <a:xfrm>
            <a:off x="457225" y="1371600"/>
            <a:ext cx="2439025" cy="3434400"/>
            <a:chOff x="457200" y="1133250"/>
            <a:chExt cx="2439025" cy="3434400"/>
          </a:xfrm>
        </p:grpSpPr>
        <p:sp>
          <p:nvSpPr>
            <p:cNvPr id="561" name="Google Shape;561;p68"/>
            <p:cNvSpPr/>
            <p:nvPr/>
          </p:nvSpPr>
          <p:spPr>
            <a:xfrm flipH="1">
              <a:off x="467725" y="1133250"/>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562" name="Google Shape;562;p68"/>
            <p:cNvSpPr/>
            <p:nvPr/>
          </p:nvSpPr>
          <p:spPr>
            <a:xfrm>
              <a:off x="457200" y="1133250"/>
              <a:ext cx="2438400" cy="707100"/>
            </a:xfrm>
            <a:prstGeom prst="roundRect">
              <a:avLst>
                <a:gd fmla="val 13342"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solidFill>
                    <a:schemeClr val="lt1"/>
                  </a:solidFill>
                  <a:latin typeface="Roboto"/>
                  <a:ea typeface="Roboto"/>
                  <a:cs typeface="Roboto"/>
                  <a:sym typeface="Roboto"/>
                </a:rPr>
                <a:t>Read</a:t>
              </a:r>
              <a:endParaRPr b="1" i="0" sz="1800" u="none" cap="none" strike="noStrike">
                <a:solidFill>
                  <a:schemeClr val="lt1"/>
                </a:solidFill>
                <a:latin typeface="Roboto"/>
                <a:ea typeface="Roboto"/>
                <a:cs typeface="Roboto"/>
                <a:sym typeface="Roboto"/>
              </a:endParaRPr>
            </a:p>
          </p:txBody>
        </p:sp>
      </p:grpSp>
      <p:grpSp>
        <p:nvGrpSpPr>
          <p:cNvPr id="563" name="Google Shape;563;p68"/>
          <p:cNvGrpSpPr/>
          <p:nvPr/>
        </p:nvGrpSpPr>
        <p:grpSpPr>
          <a:xfrm>
            <a:off x="3359425" y="1371599"/>
            <a:ext cx="2435188" cy="3434400"/>
            <a:chOff x="3399100" y="1133249"/>
            <a:chExt cx="2435188" cy="3434400"/>
          </a:xfrm>
        </p:grpSpPr>
        <p:sp>
          <p:nvSpPr>
            <p:cNvPr id="564" name="Google Shape;564;p68"/>
            <p:cNvSpPr/>
            <p:nvPr/>
          </p:nvSpPr>
          <p:spPr>
            <a:xfrm flipH="1">
              <a:off x="3405788" y="1133249"/>
              <a:ext cx="2428500" cy="34344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565" name="Google Shape;565;p68"/>
            <p:cNvSpPr/>
            <p:nvPr/>
          </p:nvSpPr>
          <p:spPr>
            <a:xfrm>
              <a:off x="3399100" y="1133250"/>
              <a:ext cx="2427300" cy="707100"/>
            </a:xfrm>
            <a:prstGeom prst="roundRect">
              <a:avLst>
                <a:gd fmla="val 13342"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lang="en" sz="1800">
                  <a:solidFill>
                    <a:schemeClr val="lt1"/>
                  </a:solidFill>
                  <a:latin typeface="Roboto"/>
                  <a:ea typeface="Roboto"/>
                  <a:cs typeface="Roboto"/>
                  <a:sym typeface="Roboto"/>
                </a:rPr>
                <a:t>Write</a:t>
              </a:r>
              <a:r>
                <a:rPr b="1" lang="en" sz="1800">
                  <a:latin typeface="Roboto"/>
                  <a:ea typeface="Roboto"/>
                  <a:cs typeface="Roboto"/>
                  <a:sym typeface="Roboto"/>
                </a:rPr>
                <a:t> </a:t>
              </a:r>
              <a:endParaRPr b="1" i="0" sz="1800" u="none" cap="none" strike="noStrike">
                <a:solidFill>
                  <a:srgbClr val="000000"/>
                </a:solidFill>
                <a:latin typeface="Roboto"/>
                <a:ea typeface="Roboto"/>
                <a:cs typeface="Roboto"/>
                <a:sym typeface="Roboto"/>
              </a:endParaRPr>
            </a:p>
          </p:txBody>
        </p:sp>
      </p:grpSp>
      <p:sp>
        <p:nvSpPr>
          <p:cNvPr id="566" name="Google Shape;566;p68"/>
          <p:cNvSpPr txBox="1"/>
          <p:nvPr>
            <p:ph idx="4294967295" type="body"/>
          </p:nvPr>
        </p:nvSpPr>
        <p:spPr>
          <a:xfrm>
            <a:off x="457175" y="2078575"/>
            <a:ext cx="2521500" cy="9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700"/>
              <a:t>Determines if the item can be read or viewed.</a:t>
            </a:r>
            <a:endParaRPr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t/>
            </a:r>
            <a:endParaRPr sz="1700"/>
          </a:p>
        </p:txBody>
      </p:sp>
      <p:sp>
        <p:nvSpPr>
          <p:cNvPr id="567" name="Google Shape;567;p68"/>
          <p:cNvSpPr txBox="1"/>
          <p:nvPr>
            <p:ph idx="4294967295" type="body"/>
          </p:nvPr>
        </p:nvSpPr>
        <p:spPr>
          <a:xfrm>
            <a:off x="3357750" y="2078575"/>
            <a:ext cx="24285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sz="1700"/>
              <a:t>Determines if the item can be written to or modified.</a:t>
            </a:r>
            <a:endParaRPr sz="1700"/>
          </a:p>
        </p:txBody>
      </p:sp>
      <p:sp>
        <p:nvSpPr>
          <p:cNvPr id="568" name="Google Shape;568;p68"/>
          <p:cNvSpPr txBox="1"/>
          <p:nvPr>
            <p:ph idx="4294967295" type="body"/>
          </p:nvPr>
        </p:nvSpPr>
        <p:spPr>
          <a:xfrm>
            <a:off x="6258325" y="2078575"/>
            <a:ext cx="2428500" cy="2728800"/>
          </a:xfrm>
          <a:prstGeom prst="rect">
            <a:avLst/>
          </a:prstGeom>
          <a:noFill/>
          <a:ln>
            <a:noFill/>
          </a:ln>
        </p:spPr>
        <p:txBody>
          <a:bodyPr anchorCtr="0" anchor="t" bIns="182875" lIns="182875" spcFirstLastPara="1" rIns="182875" wrap="square" tIns="182875">
            <a:noAutofit/>
          </a:bodyPr>
          <a:lstStyle/>
          <a:p>
            <a:pPr indent="0" lvl="0" marL="0" rtl="0" algn="l">
              <a:lnSpc>
                <a:spcPct val="115000"/>
              </a:lnSpc>
              <a:spcBef>
                <a:spcPts val="0"/>
              </a:spcBef>
              <a:spcAft>
                <a:spcPts val="0"/>
              </a:spcAft>
              <a:buNone/>
            </a:pPr>
            <a:r>
              <a:rPr lang="en"/>
              <a:t>Determines if the item can be executed.</a:t>
            </a:r>
            <a:endParaRPr sz="1600"/>
          </a:p>
        </p:txBody>
      </p:sp>
      <p:sp>
        <p:nvSpPr>
          <p:cNvPr id="569" name="Google Shape;569;p68"/>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Access Controls and Permissions</a:t>
            </a:r>
            <a:endParaRPr/>
          </a:p>
        </p:txBody>
      </p:sp>
      <p:sp>
        <p:nvSpPr>
          <p:cNvPr id="570" name="Google Shape;570;p68"/>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Options for Owner, Group, and Other</a:t>
            </a:r>
            <a:endParaRPr/>
          </a:p>
        </p:txBody>
      </p:sp>
      <p:sp>
        <p:nvSpPr>
          <p:cNvPr id="571" name="Google Shape;571;p68"/>
          <p:cNvSpPr txBox="1"/>
          <p:nvPr/>
        </p:nvSpPr>
        <p:spPr>
          <a:xfrm>
            <a:off x="1218338" y="3007375"/>
            <a:ext cx="916800" cy="11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600">
                <a:solidFill>
                  <a:schemeClr val="accent5"/>
                </a:solidFill>
                <a:latin typeface="Inconsolata"/>
                <a:ea typeface="Inconsolata"/>
                <a:cs typeface="Inconsolata"/>
                <a:sym typeface="Inconsolata"/>
              </a:rPr>
              <a:t>r</a:t>
            </a:r>
            <a:endParaRPr b="1" sz="7600">
              <a:solidFill>
                <a:schemeClr val="accent5"/>
              </a:solidFill>
              <a:latin typeface="Inconsolata"/>
              <a:ea typeface="Inconsolata"/>
              <a:cs typeface="Inconsolata"/>
              <a:sym typeface="Inconsolata"/>
            </a:endParaRPr>
          </a:p>
        </p:txBody>
      </p:sp>
      <p:sp>
        <p:nvSpPr>
          <p:cNvPr id="572" name="Google Shape;572;p68"/>
          <p:cNvSpPr txBox="1"/>
          <p:nvPr/>
        </p:nvSpPr>
        <p:spPr>
          <a:xfrm>
            <a:off x="4118613" y="3007375"/>
            <a:ext cx="916800" cy="11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600">
                <a:solidFill>
                  <a:schemeClr val="dk2"/>
                </a:solidFill>
                <a:latin typeface="Inconsolata"/>
                <a:ea typeface="Inconsolata"/>
                <a:cs typeface="Inconsolata"/>
                <a:sym typeface="Inconsolata"/>
              </a:rPr>
              <a:t>w</a:t>
            </a:r>
            <a:endParaRPr b="1" sz="7600">
              <a:solidFill>
                <a:schemeClr val="dk2"/>
              </a:solidFill>
              <a:latin typeface="Inconsolata"/>
              <a:ea typeface="Inconsolata"/>
              <a:cs typeface="Inconsolata"/>
              <a:sym typeface="Inconsolata"/>
            </a:endParaRPr>
          </a:p>
        </p:txBody>
      </p:sp>
      <p:sp>
        <p:nvSpPr>
          <p:cNvPr id="573" name="Google Shape;573;p68"/>
          <p:cNvSpPr txBox="1"/>
          <p:nvPr/>
        </p:nvSpPr>
        <p:spPr>
          <a:xfrm>
            <a:off x="7018888" y="3007375"/>
            <a:ext cx="916800" cy="11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600">
                <a:solidFill>
                  <a:schemeClr val="dk2"/>
                </a:solidFill>
                <a:latin typeface="Inconsolata"/>
                <a:ea typeface="Inconsolata"/>
                <a:cs typeface="Inconsolata"/>
                <a:sym typeface="Inconsolata"/>
              </a:rPr>
              <a:t>x</a:t>
            </a:r>
            <a:endParaRPr b="1" sz="7600">
              <a:solidFill>
                <a:schemeClr val="dk2"/>
              </a:solidFill>
              <a:latin typeface="Inconsolata"/>
              <a:ea typeface="Inconsolata"/>
              <a:cs typeface="Inconsolata"/>
              <a:sym typeface="Inconsolat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9"/>
          <p:cNvSpPr txBox="1"/>
          <p:nvPr/>
        </p:nvSpPr>
        <p:spPr>
          <a:xfrm>
            <a:off x="1642750" y="1039700"/>
            <a:ext cx="5929500" cy="3131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lang="en" sz="3400">
                <a:solidFill>
                  <a:schemeClr val="dk2"/>
                </a:solidFill>
                <a:latin typeface="Roboto"/>
                <a:ea typeface="Roboto"/>
                <a:cs typeface="Roboto"/>
                <a:sym typeface="Roboto"/>
              </a:rPr>
              <a:t>With items we can specify if owners, groups, and others are allowed to </a:t>
            </a:r>
            <a:r>
              <a:rPr b="1" lang="en" sz="3400">
                <a:solidFill>
                  <a:schemeClr val="dk2"/>
                </a:solidFill>
                <a:latin typeface="Roboto"/>
                <a:ea typeface="Roboto"/>
                <a:cs typeface="Roboto"/>
                <a:sym typeface="Roboto"/>
              </a:rPr>
              <a:t>rwx</a:t>
            </a:r>
            <a:r>
              <a:rPr lang="en" sz="3400">
                <a:solidFill>
                  <a:schemeClr val="dk2"/>
                </a:solidFill>
                <a:latin typeface="Roboto"/>
                <a:ea typeface="Roboto"/>
                <a:cs typeface="Roboto"/>
                <a:sym typeface="Roboto"/>
              </a:rPr>
              <a:t>. This is known as</a:t>
            </a:r>
            <a:r>
              <a:rPr b="1" lang="en" sz="3400">
                <a:solidFill>
                  <a:schemeClr val="dk2"/>
                </a:solidFill>
                <a:latin typeface="Roboto"/>
                <a:ea typeface="Roboto"/>
                <a:cs typeface="Roboto"/>
                <a:sym typeface="Roboto"/>
              </a:rPr>
              <a:t> Discretionary Access Control (DAC)</a:t>
            </a:r>
            <a:r>
              <a:rPr lang="en" sz="3400">
                <a:solidFill>
                  <a:schemeClr val="dk2"/>
                </a:solidFill>
                <a:latin typeface="Roboto"/>
                <a:ea typeface="Roboto"/>
                <a:cs typeface="Roboto"/>
                <a:sym typeface="Roboto"/>
              </a:rPr>
              <a:t>. </a:t>
            </a:r>
            <a:endParaRPr i="0" sz="3400" u="none" cap="none" strike="noStrike">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582" name="Shape 582"/>
        <p:cNvGrpSpPr/>
        <p:nvPr/>
      </p:nvGrpSpPr>
      <p:grpSpPr>
        <a:xfrm>
          <a:off x="0" y="0"/>
          <a:ext cx="0" cy="0"/>
          <a:chOff x="0" y="0"/>
          <a:chExt cx="0" cy="0"/>
        </a:xfrm>
      </p:grpSpPr>
      <p:sp>
        <p:nvSpPr>
          <p:cNvPr id="583" name="Google Shape;583;p70"/>
          <p:cNvSpPr txBox="1"/>
          <p:nvPr>
            <p:ph idx="1" type="body"/>
          </p:nvPr>
        </p:nvSpPr>
        <p:spPr>
          <a:xfrm>
            <a:off x="320450" y="1217625"/>
            <a:ext cx="3907200" cy="3111600"/>
          </a:xfrm>
          <a:prstGeom prst="rect">
            <a:avLst/>
          </a:prstGeom>
        </p:spPr>
        <p:txBody>
          <a:bodyPr anchorCtr="0" anchor="t" bIns="91425" lIns="0" spcFirstLastPara="1" rIns="91425" wrap="square" tIns="0">
            <a:noAutofit/>
          </a:bodyPr>
          <a:lstStyle/>
          <a:p>
            <a:pPr indent="-336550" lvl="0" marL="457200" rtl="0" algn="l">
              <a:lnSpc>
                <a:spcPct val="100000"/>
              </a:lnSpc>
              <a:spcBef>
                <a:spcPts val="0"/>
              </a:spcBef>
              <a:spcAft>
                <a:spcPts val="0"/>
              </a:spcAft>
              <a:buClr>
                <a:schemeClr val="accent5"/>
              </a:buClr>
              <a:buSzPts val="1700"/>
              <a:buChar char="●"/>
            </a:pPr>
            <a:r>
              <a:rPr lang="en" sz="1700">
                <a:solidFill>
                  <a:schemeClr val="accent5"/>
                </a:solidFill>
              </a:rPr>
              <a:t>We will create a file and a directory, and examine the default permissions. </a:t>
            </a:r>
            <a:endParaRPr sz="1700">
              <a:solidFill>
                <a:schemeClr val="accent5"/>
              </a:solidFill>
            </a:endParaRPr>
          </a:p>
          <a:p>
            <a:pPr indent="0" lvl="0" marL="0" rtl="0" algn="l">
              <a:lnSpc>
                <a:spcPct val="100000"/>
              </a:lnSpc>
              <a:spcBef>
                <a:spcPts val="0"/>
              </a:spcBef>
              <a:spcAft>
                <a:spcPts val="0"/>
              </a:spcAft>
              <a:buNone/>
            </a:pPr>
            <a:r>
              <a:t/>
            </a:r>
            <a:endParaRPr sz="1700">
              <a:solidFill>
                <a:schemeClr val="accent5"/>
              </a:solidFill>
            </a:endParaRPr>
          </a:p>
          <a:p>
            <a:pPr indent="-336550" lvl="0" marL="457200" rtl="0" algn="l">
              <a:lnSpc>
                <a:spcPct val="100000"/>
              </a:lnSpc>
              <a:spcBef>
                <a:spcPts val="0"/>
              </a:spcBef>
              <a:spcAft>
                <a:spcPts val="0"/>
              </a:spcAft>
              <a:buClr>
                <a:schemeClr val="accent5"/>
              </a:buClr>
              <a:buSzPts val="1700"/>
              <a:buChar char="●"/>
            </a:pPr>
            <a:r>
              <a:rPr lang="en" sz="1700">
                <a:solidFill>
                  <a:schemeClr val="accent5"/>
                </a:solidFill>
              </a:rPr>
              <a:t>W</a:t>
            </a:r>
            <a:r>
              <a:rPr lang="en" sz="1700">
                <a:solidFill>
                  <a:schemeClr val="accent5"/>
                </a:solidFill>
              </a:rPr>
              <a:t>e will </a:t>
            </a:r>
            <a:r>
              <a:rPr lang="en" sz="1700"/>
              <a:t>also </a:t>
            </a:r>
            <a:r>
              <a:rPr lang="en" sz="1700">
                <a:solidFill>
                  <a:schemeClr val="accent5"/>
                </a:solidFill>
              </a:rPr>
              <a:t>need to change these permissions to deny particular users and groups access.</a:t>
            </a:r>
            <a:endParaRPr sz="1700">
              <a:solidFill>
                <a:schemeClr val="accent5"/>
              </a:solidFill>
            </a:endParaRPr>
          </a:p>
          <a:p>
            <a:pPr indent="-336550" lvl="0" marL="457200" rtl="0" algn="l">
              <a:lnSpc>
                <a:spcPct val="100000"/>
              </a:lnSpc>
              <a:spcBef>
                <a:spcPts val="1000"/>
              </a:spcBef>
              <a:spcAft>
                <a:spcPts val="0"/>
              </a:spcAft>
              <a:buClr>
                <a:schemeClr val="accent5"/>
              </a:buClr>
              <a:buSzPts val="1700"/>
              <a:buChar char="●"/>
            </a:pPr>
            <a:r>
              <a:rPr lang="en" sz="1700">
                <a:solidFill>
                  <a:schemeClr val="accent5"/>
                </a:solidFill>
              </a:rPr>
              <a:t>Commands used:</a:t>
            </a:r>
            <a:endParaRPr sz="1700">
              <a:solidFill>
                <a:schemeClr val="accent5"/>
              </a:solidFill>
            </a:endParaRPr>
          </a:p>
          <a:p>
            <a:pPr indent="-336550" lvl="1" marL="914400" rtl="0" algn="l">
              <a:lnSpc>
                <a:spcPct val="100000"/>
              </a:lnSpc>
              <a:spcBef>
                <a:spcPts val="1000"/>
              </a:spcBef>
              <a:spcAft>
                <a:spcPts val="0"/>
              </a:spcAft>
              <a:buClr>
                <a:schemeClr val="accent5"/>
              </a:buClr>
              <a:buSzPts val="1700"/>
              <a:buFont typeface="Inconsolata"/>
              <a:buChar char="○"/>
            </a:pPr>
            <a:r>
              <a:rPr b="1" lang="en" sz="1700">
                <a:solidFill>
                  <a:schemeClr val="accent5"/>
                </a:solidFill>
                <a:latin typeface="Inconsolata"/>
                <a:ea typeface="Inconsolata"/>
                <a:cs typeface="Inconsolata"/>
                <a:sym typeface="Inconsolata"/>
              </a:rPr>
              <a:t>ls -l</a:t>
            </a:r>
            <a:endParaRPr b="1" sz="1700">
              <a:solidFill>
                <a:schemeClr val="accent5"/>
              </a:solidFill>
              <a:latin typeface="Inconsolata"/>
              <a:ea typeface="Inconsolata"/>
              <a:cs typeface="Inconsolata"/>
              <a:sym typeface="Inconsolata"/>
            </a:endParaRPr>
          </a:p>
          <a:p>
            <a:pPr indent="-336550" lvl="1" marL="914400" rtl="0" algn="l">
              <a:lnSpc>
                <a:spcPct val="100000"/>
              </a:lnSpc>
              <a:spcBef>
                <a:spcPts val="1000"/>
              </a:spcBef>
              <a:spcAft>
                <a:spcPts val="0"/>
              </a:spcAft>
              <a:buClr>
                <a:schemeClr val="accent5"/>
              </a:buClr>
              <a:buSzPts val="1700"/>
              <a:buFont typeface="Inconsolata"/>
              <a:buChar char="○"/>
            </a:pPr>
            <a:r>
              <a:rPr b="1" lang="en" sz="1700">
                <a:solidFill>
                  <a:schemeClr val="accent5"/>
                </a:solidFill>
                <a:latin typeface="Inconsolata"/>
                <a:ea typeface="Inconsolata"/>
                <a:cs typeface="Inconsolata"/>
                <a:sym typeface="Inconsolata"/>
              </a:rPr>
              <a:t>chmod </a:t>
            </a:r>
            <a:endParaRPr b="1" sz="1700">
              <a:solidFill>
                <a:schemeClr val="accent5"/>
              </a:solidFill>
              <a:latin typeface="Inconsolata"/>
              <a:ea typeface="Inconsolata"/>
              <a:cs typeface="Inconsolata"/>
              <a:sym typeface="Inconsolata"/>
            </a:endParaRPr>
          </a:p>
          <a:p>
            <a:pPr indent="-336550" lvl="1" marL="914400" rtl="0" algn="l">
              <a:lnSpc>
                <a:spcPct val="100000"/>
              </a:lnSpc>
              <a:spcBef>
                <a:spcPts val="1000"/>
              </a:spcBef>
              <a:spcAft>
                <a:spcPts val="0"/>
              </a:spcAft>
              <a:buClr>
                <a:schemeClr val="accent5"/>
              </a:buClr>
              <a:buSzPts val="1700"/>
              <a:buFont typeface="Inconsolata"/>
              <a:buChar char="○"/>
            </a:pPr>
            <a:r>
              <a:rPr b="1" lang="en" sz="1700">
                <a:solidFill>
                  <a:schemeClr val="accent5"/>
                </a:solidFill>
                <a:latin typeface="Inconsolata"/>
                <a:ea typeface="Inconsolata"/>
                <a:cs typeface="Inconsolata"/>
                <a:sym typeface="Inconsolata"/>
              </a:rPr>
              <a:t>chown</a:t>
            </a:r>
            <a:endParaRPr b="1" sz="1700">
              <a:solidFill>
                <a:schemeClr val="accent5"/>
              </a:solidFill>
              <a:latin typeface="Inconsolata"/>
              <a:ea typeface="Inconsolata"/>
              <a:cs typeface="Inconsolata"/>
              <a:sym typeface="Inconsolata"/>
            </a:endParaRPr>
          </a:p>
          <a:p>
            <a:pPr indent="0" lvl="0" marL="457200" rtl="0" algn="l">
              <a:spcBef>
                <a:spcPts val="1000"/>
              </a:spcBef>
              <a:spcAft>
                <a:spcPts val="0"/>
              </a:spcAft>
              <a:buNone/>
            </a:pPr>
            <a:r>
              <a:t/>
            </a:r>
            <a:endParaRPr sz="1400"/>
          </a:p>
          <a:p>
            <a:pPr indent="0" lvl="0" marL="457200" rtl="0" algn="l">
              <a:spcBef>
                <a:spcPts val="1000"/>
              </a:spcBef>
              <a:spcAft>
                <a:spcPts val="1000"/>
              </a:spcAft>
              <a:buNone/>
            </a:pPr>
            <a:r>
              <a:rPr lang="en" sz="1400"/>
              <a:t>.</a:t>
            </a:r>
            <a:endParaRPr sz="1400"/>
          </a:p>
        </p:txBody>
      </p:sp>
      <p:cxnSp>
        <p:nvCxnSpPr>
          <p:cNvPr id="584" name="Google Shape;584;p70"/>
          <p:cNvCxnSpPr/>
          <p:nvPr/>
        </p:nvCxnSpPr>
        <p:spPr>
          <a:xfrm>
            <a:off x="-9375" y="853700"/>
            <a:ext cx="7346700" cy="0"/>
          </a:xfrm>
          <a:prstGeom prst="straightConnector1">
            <a:avLst/>
          </a:prstGeom>
          <a:noFill/>
          <a:ln cap="flat" cmpd="sng" w="19050">
            <a:solidFill>
              <a:srgbClr val="2E5E73"/>
            </a:solidFill>
            <a:prstDash val="solid"/>
            <a:round/>
            <a:headEnd len="med" w="med" type="none"/>
            <a:tailEnd len="med" w="med" type="oval"/>
          </a:ln>
        </p:spPr>
      </p:cxnSp>
      <p:sp>
        <p:nvSpPr>
          <p:cNvPr id="585" name="Google Shape;585;p70"/>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Scenario</a:t>
            </a:r>
            <a:endParaRPr sz="2600">
              <a:solidFill>
                <a:schemeClr val="accent5"/>
              </a:solidFill>
              <a:latin typeface="Roboto Light"/>
              <a:ea typeface="Roboto Light"/>
              <a:cs typeface="Roboto Light"/>
              <a:sym typeface="Roboto Light"/>
            </a:endParaRPr>
          </a:p>
        </p:txBody>
      </p:sp>
      <p:sp>
        <p:nvSpPr>
          <p:cNvPr id="586" name="Google Shape;586;p70"/>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70"/>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588" name="Google Shape;588;p70"/>
          <p:cNvPicPr preferRelativeResize="0"/>
          <p:nvPr/>
        </p:nvPicPr>
        <p:blipFill>
          <a:blip r:embed="rId3">
            <a:alphaModFix/>
          </a:blip>
          <a:stretch>
            <a:fillRect/>
          </a:stretch>
        </p:blipFill>
        <p:spPr>
          <a:xfrm>
            <a:off x="222825" y="203600"/>
            <a:ext cx="399097" cy="393600"/>
          </a:xfrm>
          <a:prstGeom prst="rect">
            <a:avLst/>
          </a:prstGeom>
          <a:noFill/>
          <a:ln>
            <a:noFill/>
          </a:ln>
        </p:spPr>
      </p:pic>
      <p:pic>
        <p:nvPicPr>
          <p:cNvPr id="589" name="Google Shape;589;p70"/>
          <p:cNvPicPr preferRelativeResize="0"/>
          <p:nvPr/>
        </p:nvPicPr>
        <p:blipFill>
          <a:blip r:embed="rId4">
            <a:alphaModFix/>
          </a:blip>
          <a:stretch>
            <a:fillRect/>
          </a:stretch>
        </p:blipFill>
        <p:spPr>
          <a:xfrm>
            <a:off x="4913175" y="1697650"/>
            <a:ext cx="3371049" cy="2654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71"/>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Permissions</a:t>
            </a:r>
            <a:r>
              <a:rPr b="0" lang="en">
                <a:latin typeface="Roboto"/>
                <a:ea typeface="Roboto"/>
                <a:cs typeface="Roboto"/>
                <a:sym typeface="Roboto"/>
              </a:rPr>
              <a:t> </a:t>
            </a:r>
            <a:endParaRPr b="0">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2"/>
          <p:cNvSpPr txBox="1"/>
          <p:nvPr>
            <p:ph type="title"/>
          </p:nvPr>
        </p:nvSpPr>
        <p:spPr>
          <a:xfrm>
            <a:off x="308250" y="1157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Inspecting File Permissions</a:t>
            </a:r>
            <a:endParaRPr/>
          </a:p>
        </p:txBody>
      </p:sp>
      <p:sp>
        <p:nvSpPr>
          <p:cNvPr id="600" name="Google Shape;600;p72"/>
          <p:cNvSpPr txBox="1"/>
          <p:nvPr/>
        </p:nvSpPr>
        <p:spPr>
          <a:xfrm>
            <a:off x="1617150" y="863075"/>
            <a:ext cx="5909700" cy="11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accent5"/>
                </a:solidFill>
                <a:latin typeface="Roboto Mono"/>
                <a:ea typeface="Roboto Mono"/>
                <a:cs typeface="Roboto Mono"/>
                <a:sym typeface="Roboto Mono"/>
              </a:rPr>
              <a:t>-rw-r--r--</a:t>
            </a:r>
            <a:endParaRPr sz="7200">
              <a:solidFill>
                <a:schemeClr val="accent5"/>
              </a:solidFill>
              <a:latin typeface="Roboto Mono"/>
              <a:ea typeface="Roboto Mono"/>
              <a:cs typeface="Roboto Mono"/>
              <a:sym typeface="Roboto Mono"/>
            </a:endParaRPr>
          </a:p>
        </p:txBody>
      </p:sp>
      <p:sp>
        <p:nvSpPr>
          <p:cNvPr id="601" name="Google Shape;601;p72"/>
          <p:cNvSpPr txBox="1"/>
          <p:nvPr/>
        </p:nvSpPr>
        <p:spPr>
          <a:xfrm>
            <a:off x="2104600" y="4145375"/>
            <a:ext cx="5422200" cy="479400"/>
          </a:xfrm>
          <a:prstGeom prst="rect">
            <a:avLst/>
          </a:prstGeom>
          <a:solidFill>
            <a:schemeClr val="accen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oboto"/>
                <a:ea typeface="Roboto"/>
                <a:cs typeface="Roboto"/>
                <a:sym typeface="Roboto"/>
              </a:rPr>
              <a:t>Item type (- for file, d for directory)</a:t>
            </a:r>
            <a:endParaRPr b="1">
              <a:solidFill>
                <a:schemeClr val="dk2"/>
              </a:solidFill>
              <a:latin typeface="Roboto"/>
              <a:ea typeface="Roboto"/>
              <a:cs typeface="Roboto"/>
              <a:sym typeface="Roboto"/>
            </a:endParaRPr>
          </a:p>
        </p:txBody>
      </p:sp>
      <p:sp>
        <p:nvSpPr>
          <p:cNvPr id="602" name="Google Shape;602;p72"/>
          <p:cNvSpPr/>
          <p:nvPr/>
        </p:nvSpPr>
        <p:spPr>
          <a:xfrm>
            <a:off x="1746550" y="1224625"/>
            <a:ext cx="716100" cy="803700"/>
          </a:xfrm>
          <a:prstGeom prst="rect">
            <a:avLst/>
          </a:prstGeom>
          <a:no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3" name="Google Shape;603;p72"/>
          <p:cNvCxnSpPr/>
          <p:nvPr/>
        </p:nvCxnSpPr>
        <p:spPr>
          <a:xfrm flipH="1" rot="10800000">
            <a:off x="2104600" y="2044675"/>
            <a:ext cx="2700" cy="2100600"/>
          </a:xfrm>
          <a:prstGeom prst="straightConnector1">
            <a:avLst/>
          </a:prstGeom>
          <a:noFill/>
          <a:ln cap="flat" cmpd="sng" w="28575">
            <a:solidFill>
              <a:schemeClr val="accent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3"/>
          <p:cNvSpPr txBox="1"/>
          <p:nvPr>
            <p:ph type="title"/>
          </p:nvPr>
        </p:nvSpPr>
        <p:spPr>
          <a:xfrm>
            <a:off x="308250" y="1184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Inspecting File Permissions</a:t>
            </a:r>
            <a:endParaRPr/>
          </a:p>
        </p:txBody>
      </p:sp>
      <p:sp>
        <p:nvSpPr>
          <p:cNvPr id="609" name="Google Shape;609;p73"/>
          <p:cNvSpPr txBox="1"/>
          <p:nvPr/>
        </p:nvSpPr>
        <p:spPr>
          <a:xfrm>
            <a:off x="1617150" y="863075"/>
            <a:ext cx="5909700" cy="11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accent5"/>
                </a:solidFill>
                <a:latin typeface="Roboto Mono"/>
                <a:ea typeface="Roboto Mono"/>
                <a:cs typeface="Roboto Mono"/>
                <a:sym typeface="Roboto Mono"/>
              </a:rPr>
              <a:t>-rw-r--r--</a:t>
            </a:r>
            <a:endParaRPr sz="7200">
              <a:solidFill>
                <a:schemeClr val="accent5"/>
              </a:solidFill>
              <a:latin typeface="Roboto Mono"/>
              <a:ea typeface="Roboto Mono"/>
              <a:cs typeface="Roboto Mono"/>
              <a:sym typeface="Roboto Mono"/>
            </a:endParaRPr>
          </a:p>
        </p:txBody>
      </p:sp>
      <p:sp>
        <p:nvSpPr>
          <p:cNvPr id="610" name="Google Shape;610;p73"/>
          <p:cNvSpPr txBox="1"/>
          <p:nvPr/>
        </p:nvSpPr>
        <p:spPr>
          <a:xfrm>
            <a:off x="2104600" y="4145375"/>
            <a:ext cx="5422200" cy="479400"/>
          </a:xfrm>
          <a:prstGeom prst="rect">
            <a:avLst/>
          </a:prstGeom>
          <a:solidFill>
            <a:schemeClr val="accen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Item type </a:t>
            </a:r>
            <a:endParaRPr>
              <a:solidFill>
                <a:schemeClr val="dk2"/>
              </a:solidFill>
              <a:latin typeface="Roboto"/>
              <a:ea typeface="Roboto"/>
              <a:cs typeface="Roboto"/>
              <a:sym typeface="Roboto"/>
            </a:endParaRPr>
          </a:p>
        </p:txBody>
      </p:sp>
      <p:sp>
        <p:nvSpPr>
          <p:cNvPr id="611" name="Google Shape;611;p73"/>
          <p:cNvSpPr/>
          <p:nvPr/>
        </p:nvSpPr>
        <p:spPr>
          <a:xfrm>
            <a:off x="2445775" y="1104650"/>
            <a:ext cx="1532700" cy="9237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73"/>
          <p:cNvSpPr/>
          <p:nvPr/>
        </p:nvSpPr>
        <p:spPr>
          <a:xfrm>
            <a:off x="3212125" y="3560700"/>
            <a:ext cx="4325400" cy="479400"/>
          </a:xfrm>
          <a:prstGeom prst="rect">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Roboto"/>
                <a:ea typeface="Roboto"/>
                <a:cs typeface="Roboto"/>
                <a:sym typeface="Roboto"/>
              </a:rPr>
              <a:t>Owner permission</a:t>
            </a:r>
            <a:r>
              <a:rPr lang="en">
                <a:solidFill>
                  <a:schemeClr val="dk2"/>
                </a:solidFill>
                <a:latin typeface="Roboto Light"/>
                <a:ea typeface="Roboto Light"/>
                <a:cs typeface="Roboto Light"/>
                <a:sym typeface="Roboto Light"/>
              </a:rPr>
              <a:t> (in this case, </a:t>
            </a:r>
            <a:r>
              <a:rPr b="1" lang="en">
                <a:solidFill>
                  <a:schemeClr val="dk2"/>
                </a:solidFill>
                <a:latin typeface="Roboto"/>
                <a:ea typeface="Roboto"/>
                <a:cs typeface="Roboto"/>
                <a:sym typeface="Roboto"/>
              </a:rPr>
              <a:t>read</a:t>
            </a:r>
            <a:r>
              <a:rPr lang="en">
                <a:solidFill>
                  <a:schemeClr val="dk2"/>
                </a:solidFill>
                <a:latin typeface="Roboto Light"/>
                <a:ea typeface="Roboto Light"/>
                <a:cs typeface="Roboto Light"/>
                <a:sym typeface="Roboto Light"/>
              </a:rPr>
              <a:t> and </a:t>
            </a:r>
            <a:r>
              <a:rPr b="1" lang="en">
                <a:solidFill>
                  <a:schemeClr val="dk2"/>
                </a:solidFill>
                <a:latin typeface="Roboto"/>
                <a:ea typeface="Roboto"/>
                <a:cs typeface="Roboto"/>
                <a:sym typeface="Roboto"/>
              </a:rPr>
              <a:t>write</a:t>
            </a:r>
            <a:r>
              <a:rPr lang="en">
                <a:solidFill>
                  <a:schemeClr val="dk2"/>
                </a:solidFill>
                <a:latin typeface="Roboto Light"/>
                <a:ea typeface="Roboto Light"/>
                <a:cs typeface="Roboto Light"/>
                <a:sym typeface="Roboto Light"/>
              </a:rPr>
              <a:t>)</a:t>
            </a:r>
            <a:endParaRPr>
              <a:solidFill>
                <a:schemeClr val="dk2"/>
              </a:solidFill>
              <a:latin typeface="Roboto Light"/>
              <a:ea typeface="Roboto Light"/>
              <a:cs typeface="Roboto Light"/>
              <a:sym typeface="Roboto Light"/>
            </a:endParaRPr>
          </a:p>
        </p:txBody>
      </p:sp>
      <p:cxnSp>
        <p:nvCxnSpPr>
          <p:cNvPr id="613" name="Google Shape;613;p73"/>
          <p:cNvCxnSpPr/>
          <p:nvPr/>
        </p:nvCxnSpPr>
        <p:spPr>
          <a:xfrm rot="10800000">
            <a:off x="3212125" y="2028350"/>
            <a:ext cx="0" cy="1625100"/>
          </a:xfrm>
          <a:prstGeom prst="straightConnector1">
            <a:avLst/>
          </a:prstGeom>
          <a:noFill/>
          <a:ln cap="flat" cmpd="sng" w="28575">
            <a:solidFill>
              <a:schemeClr val="accent2"/>
            </a:solidFill>
            <a:prstDash val="solid"/>
            <a:round/>
            <a:headEnd len="med" w="med" type="none"/>
            <a:tailEnd len="med" w="med" type="triangle"/>
          </a:ln>
        </p:spPr>
      </p:cxnSp>
      <p:cxnSp>
        <p:nvCxnSpPr>
          <p:cNvPr id="614" name="Google Shape;614;p73"/>
          <p:cNvCxnSpPr/>
          <p:nvPr/>
        </p:nvCxnSpPr>
        <p:spPr>
          <a:xfrm flipH="1" rot="10800000">
            <a:off x="2104600" y="2044675"/>
            <a:ext cx="2700" cy="2100600"/>
          </a:xfrm>
          <a:prstGeom prst="straightConnector1">
            <a:avLst/>
          </a:prstGeom>
          <a:noFill/>
          <a:ln cap="flat" cmpd="sng" w="28575">
            <a:solidFill>
              <a:schemeClr val="accent1"/>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74"/>
          <p:cNvSpPr txBox="1"/>
          <p:nvPr>
            <p:ph type="title"/>
          </p:nvPr>
        </p:nvSpPr>
        <p:spPr>
          <a:xfrm>
            <a:off x="308250" y="1069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Inspecting File Permissions</a:t>
            </a:r>
            <a:endParaRPr/>
          </a:p>
        </p:txBody>
      </p:sp>
      <p:sp>
        <p:nvSpPr>
          <p:cNvPr id="620" name="Google Shape;620;p74"/>
          <p:cNvSpPr txBox="1"/>
          <p:nvPr/>
        </p:nvSpPr>
        <p:spPr>
          <a:xfrm>
            <a:off x="1617150" y="863075"/>
            <a:ext cx="5909700" cy="11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accent5"/>
                </a:solidFill>
                <a:latin typeface="Roboto Mono"/>
                <a:ea typeface="Roboto Mono"/>
                <a:cs typeface="Roboto Mono"/>
                <a:sym typeface="Roboto Mono"/>
              </a:rPr>
              <a:t>-rw-r--r--</a:t>
            </a:r>
            <a:endParaRPr sz="7200">
              <a:solidFill>
                <a:schemeClr val="accent5"/>
              </a:solidFill>
              <a:latin typeface="Roboto Mono"/>
              <a:ea typeface="Roboto Mono"/>
              <a:cs typeface="Roboto Mono"/>
              <a:sym typeface="Roboto Mono"/>
            </a:endParaRPr>
          </a:p>
        </p:txBody>
      </p:sp>
      <p:sp>
        <p:nvSpPr>
          <p:cNvPr id="621" name="Google Shape;621;p74"/>
          <p:cNvSpPr txBox="1"/>
          <p:nvPr/>
        </p:nvSpPr>
        <p:spPr>
          <a:xfrm>
            <a:off x="2104600" y="4145375"/>
            <a:ext cx="5422200" cy="479400"/>
          </a:xfrm>
          <a:prstGeom prst="rect">
            <a:avLst/>
          </a:prstGeom>
          <a:solidFill>
            <a:schemeClr val="accen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Item type </a:t>
            </a:r>
            <a:endParaRPr>
              <a:solidFill>
                <a:schemeClr val="dk2"/>
              </a:solidFill>
              <a:latin typeface="Roboto"/>
              <a:ea typeface="Roboto"/>
              <a:cs typeface="Roboto"/>
              <a:sym typeface="Roboto"/>
            </a:endParaRPr>
          </a:p>
        </p:txBody>
      </p:sp>
      <p:sp>
        <p:nvSpPr>
          <p:cNvPr id="622" name="Google Shape;622;p74"/>
          <p:cNvSpPr/>
          <p:nvPr/>
        </p:nvSpPr>
        <p:spPr>
          <a:xfrm>
            <a:off x="4049350" y="1062575"/>
            <a:ext cx="1532700" cy="923700"/>
          </a:xfrm>
          <a:prstGeom prst="rect">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74"/>
          <p:cNvSpPr/>
          <p:nvPr/>
        </p:nvSpPr>
        <p:spPr>
          <a:xfrm>
            <a:off x="3212125" y="3560700"/>
            <a:ext cx="4325400" cy="479400"/>
          </a:xfrm>
          <a:prstGeom prst="rect">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Owner permission (in this case, </a:t>
            </a:r>
            <a:r>
              <a:rPr b="1" lang="en">
                <a:solidFill>
                  <a:schemeClr val="dk2"/>
                </a:solidFill>
                <a:latin typeface="Roboto"/>
                <a:ea typeface="Roboto"/>
                <a:cs typeface="Roboto"/>
                <a:sym typeface="Roboto"/>
              </a:rPr>
              <a:t>read</a:t>
            </a:r>
            <a:r>
              <a:rPr lang="en">
                <a:solidFill>
                  <a:schemeClr val="dk2"/>
                </a:solidFill>
                <a:latin typeface="Roboto"/>
                <a:ea typeface="Roboto"/>
                <a:cs typeface="Roboto"/>
                <a:sym typeface="Roboto"/>
              </a:rPr>
              <a:t> and </a:t>
            </a:r>
            <a:r>
              <a:rPr b="1" lang="en">
                <a:solidFill>
                  <a:schemeClr val="dk2"/>
                </a:solidFill>
                <a:latin typeface="Roboto"/>
                <a:ea typeface="Roboto"/>
                <a:cs typeface="Roboto"/>
                <a:sym typeface="Roboto"/>
              </a:rPr>
              <a:t>write</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p:txBody>
      </p:sp>
      <p:cxnSp>
        <p:nvCxnSpPr>
          <p:cNvPr id="624" name="Google Shape;624;p74"/>
          <p:cNvCxnSpPr/>
          <p:nvPr/>
        </p:nvCxnSpPr>
        <p:spPr>
          <a:xfrm rot="10800000">
            <a:off x="3212125" y="2028350"/>
            <a:ext cx="0" cy="1625100"/>
          </a:xfrm>
          <a:prstGeom prst="straightConnector1">
            <a:avLst/>
          </a:prstGeom>
          <a:noFill/>
          <a:ln cap="flat" cmpd="sng" w="28575">
            <a:solidFill>
              <a:schemeClr val="accent2"/>
            </a:solidFill>
            <a:prstDash val="solid"/>
            <a:round/>
            <a:headEnd len="med" w="med" type="none"/>
            <a:tailEnd len="med" w="med" type="triangle"/>
          </a:ln>
        </p:spPr>
      </p:cxnSp>
      <p:sp>
        <p:nvSpPr>
          <p:cNvPr id="625" name="Google Shape;625;p74"/>
          <p:cNvSpPr/>
          <p:nvPr/>
        </p:nvSpPr>
        <p:spPr>
          <a:xfrm>
            <a:off x="4815700" y="2972975"/>
            <a:ext cx="2711100" cy="479400"/>
          </a:xfrm>
          <a:prstGeom prst="rect">
            <a:avLst/>
          </a:prstGeom>
          <a:solidFill>
            <a:schemeClr val="accent3"/>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Roboto"/>
                <a:ea typeface="Roboto"/>
                <a:cs typeface="Roboto"/>
                <a:sym typeface="Roboto"/>
              </a:rPr>
              <a:t>Group permission</a:t>
            </a:r>
            <a:r>
              <a:rPr lang="en">
                <a:solidFill>
                  <a:schemeClr val="lt1"/>
                </a:solidFill>
                <a:latin typeface="Roboto Light"/>
                <a:ea typeface="Roboto Light"/>
                <a:cs typeface="Roboto Light"/>
                <a:sym typeface="Roboto Light"/>
              </a:rPr>
              <a:t> (</a:t>
            </a:r>
            <a:r>
              <a:rPr b="1" lang="en">
                <a:solidFill>
                  <a:schemeClr val="lt1"/>
                </a:solidFill>
                <a:latin typeface="Roboto"/>
                <a:ea typeface="Roboto"/>
                <a:cs typeface="Roboto"/>
                <a:sym typeface="Roboto"/>
              </a:rPr>
              <a:t>read</a:t>
            </a:r>
            <a:r>
              <a:rPr lang="en">
                <a:solidFill>
                  <a:schemeClr val="lt1"/>
                </a:solidFill>
                <a:latin typeface="Roboto Light"/>
                <a:ea typeface="Roboto Light"/>
                <a:cs typeface="Roboto Light"/>
                <a:sym typeface="Roboto Light"/>
              </a:rPr>
              <a:t>)</a:t>
            </a:r>
            <a:endParaRPr>
              <a:solidFill>
                <a:schemeClr val="lt1"/>
              </a:solidFill>
              <a:latin typeface="Roboto Light"/>
              <a:ea typeface="Roboto Light"/>
              <a:cs typeface="Roboto Light"/>
              <a:sym typeface="Roboto Light"/>
            </a:endParaRPr>
          </a:p>
        </p:txBody>
      </p:sp>
      <p:cxnSp>
        <p:nvCxnSpPr>
          <p:cNvPr id="626" name="Google Shape;626;p74"/>
          <p:cNvCxnSpPr/>
          <p:nvPr/>
        </p:nvCxnSpPr>
        <p:spPr>
          <a:xfrm rot="10800000">
            <a:off x="4815700" y="2028350"/>
            <a:ext cx="0" cy="1152900"/>
          </a:xfrm>
          <a:prstGeom prst="straightConnector1">
            <a:avLst/>
          </a:prstGeom>
          <a:noFill/>
          <a:ln cap="flat" cmpd="sng" w="28575">
            <a:solidFill>
              <a:schemeClr val="accent3"/>
            </a:solidFill>
            <a:prstDash val="solid"/>
            <a:round/>
            <a:headEnd len="med" w="med" type="none"/>
            <a:tailEnd len="med" w="med" type="triangle"/>
          </a:ln>
        </p:spPr>
      </p:cxnSp>
      <p:cxnSp>
        <p:nvCxnSpPr>
          <p:cNvPr id="627" name="Google Shape;627;p74"/>
          <p:cNvCxnSpPr/>
          <p:nvPr/>
        </p:nvCxnSpPr>
        <p:spPr>
          <a:xfrm flipH="1" rot="10800000">
            <a:off x="2104600" y="2044675"/>
            <a:ext cx="2700" cy="2100600"/>
          </a:xfrm>
          <a:prstGeom prst="straightConnector1">
            <a:avLst/>
          </a:prstGeom>
          <a:noFill/>
          <a:ln cap="flat" cmpd="sng" w="28575">
            <a:solidFill>
              <a:schemeClr val="accent1"/>
            </a:solidFill>
            <a:prstDash val="solid"/>
            <a:round/>
            <a:headEnd len="med" w="med"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5"/>
          <p:cNvSpPr txBox="1"/>
          <p:nvPr>
            <p:ph type="title"/>
          </p:nvPr>
        </p:nvSpPr>
        <p:spPr>
          <a:xfrm>
            <a:off x="308250" y="909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Inspecting File Permissions</a:t>
            </a:r>
            <a:endParaRPr/>
          </a:p>
        </p:txBody>
      </p:sp>
      <p:sp>
        <p:nvSpPr>
          <p:cNvPr id="633" name="Google Shape;633;p75"/>
          <p:cNvSpPr txBox="1"/>
          <p:nvPr/>
        </p:nvSpPr>
        <p:spPr>
          <a:xfrm>
            <a:off x="1617150" y="863075"/>
            <a:ext cx="5909700" cy="1123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200">
                <a:solidFill>
                  <a:schemeClr val="accent5"/>
                </a:solidFill>
                <a:latin typeface="Roboto Mono"/>
                <a:ea typeface="Roboto Mono"/>
                <a:cs typeface="Roboto Mono"/>
                <a:sym typeface="Roboto Mono"/>
              </a:rPr>
              <a:t>-rw-r--r--</a:t>
            </a:r>
            <a:endParaRPr sz="7200">
              <a:solidFill>
                <a:schemeClr val="accent5"/>
              </a:solidFill>
              <a:latin typeface="Roboto Mono"/>
              <a:ea typeface="Roboto Mono"/>
              <a:cs typeface="Roboto Mono"/>
              <a:sym typeface="Roboto Mono"/>
            </a:endParaRPr>
          </a:p>
        </p:txBody>
      </p:sp>
      <p:sp>
        <p:nvSpPr>
          <p:cNvPr id="634" name="Google Shape;634;p75"/>
          <p:cNvSpPr txBox="1"/>
          <p:nvPr/>
        </p:nvSpPr>
        <p:spPr>
          <a:xfrm>
            <a:off x="2104600" y="4145375"/>
            <a:ext cx="5422200" cy="479400"/>
          </a:xfrm>
          <a:prstGeom prst="rect">
            <a:avLst/>
          </a:prstGeom>
          <a:solidFill>
            <a:schemeClr val="accent1"/>
          </a:solidFill>
          <a:ln cap="flat" cmpd="sng" w="285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2"/>
                </a:solidFill>
                <a:latin typeface="Roboto"/>
                <a:ea typeface="Roboto"/>
                <a:cs typeface="Roboto"/>
                <a:sym typeface="Roboto"/>
              </a:rPr>
              <a:t>Item type</a:t>
            </a:r>
            <a:endParaRPr>
              <a:solidFill>
                <a:schemeClr val="dk2"/>
              </a:solidFill>
              <a:latin typeface="Roboto"/>
              <a:ea typeface="Roboto"/>
              <a:cs typeface="Roboto"/>
              <a:sym typeface="Roboto"/>
            </a:endParaRPr>
          </a:p>
        </p:txBody>
      </p:sp>
      <p:sp>
        <p:nvSpPr>
          <p:cNvPr id="635" name="Google Shape;635;p75"/>
          <p:cNvSpPr/>
          <p:nvPr/>
        </p:nvSpPr>
        <p:spPr>
          <a:xfrm>
            <a:off x="5760350" y="1062575"/>
            <a:ext cx="1532700" cy="923700"/>
          </a:xfrm>
          <a:prstGeom prst="rect">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75"/>
          <p:cNvSpPr/>
          <p:nvPr/>
        </p:nvSpPr>
        <p:spPr>
          <a:xfrm>
            <a:off x="3212125" y="3560700"/>
            <a:ext cx="4325400" cy="479400"/>
          </a:xfrm>
          <a:prstGeom prst="rect">
            <a:avLst/>
          </a:prstGeom>
          <a:solidFill>
            <a:schemeClr val="accent2"/>
          </a:solid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latin typeface="Roboto"/>
                <a:ea typeface="Roboto"/>
                <a:cs typeface="Roboto"/>
                <a:sym typeface="Roboto"/>
              </a:rPr>
              <a:t>Owner permission (in this case, </a:t>
            </a:r>
            <a:r>
              <a:rPr b="1" lang="en">
                <a:solidFill>
                  <a:schemeClr val="dk2"/>
                </a:solidFill>
                <a:latin typeface="Roboto"/>
                <a:ea typeface="Roboto"/>
                <a:cs typeface="Roboto"/>
                <a:sym typeface="Roboto"/>
              </a:rPr>
              <a:t>read</a:t>
            </a:r>
            <a:r>
              <a:rPr lang="en">
                <a:solidFill>
                  <a:schemeClr val="dk2"/>
                </a:solidFill>
                <a:latin typeface="Roboto"/>
                <a:ea typeface="Roboto"/>
                <a:cs typeface="Roboto"/>
                <a:sym typeface="Roboto"/>
              </a:rPr>
              <a:t> and </a:t>
            </a:r>
            <a:r>
              <a:rPr b="1" lang="en">
                <a:solidFill>
                  <a:schemeClr val="dk2"/>
                </a:solidFill>
                <a:latin typeface="Roboto"/>
                <a:ea typeface="Roboto"/>
                <a:cs typeface="Roboto"/>
                <a:sym typeface="Roboto"/>
              </a:rPr>
              <a:t>write</a:t>
            </a:r>
            <a:r>
              <a:rPr lang="en">
                <a:solidFill>
                  <a:schemeClr val="dk2"/>
                </a:solidFill>
                <a:latin typeface="Roboto"/>
                <a:ea typeface="Roboto"/>
                <a:cs typeface="Roboto"/>
                <a:sym typeface="Roboto"/>
              </a:rPr>
              <a:t>)</a:t>
            </a:r>
            <a:endParaRPr>
              <a:solidFill>
                <a:schemeClr val="dk2"/>
              </a:solidFill>
              <a:latin typeface="Roboto"/>
              <a:ea typeface="Roboto"/>
              <a:cs typeface="Roboto"/>
              <a:sym typeface="Roboto"/>
            </a:endParaRPr>
          </a:p>
        </p:txBody>
      </p:sp>
      <p:cxnSp>
        <p:nvCxnSpPr>
          <p:cNvPr id="637" name="Google Shape;637;p75"/>
          <p:cNvCxnSpPr/>
          <p:nvPr/>
        </p:nvCxnSpPr>
        <p:spPr>
          <a:xfrm rot="10800000">
            <a:off x="3212125" y="2028350"/>
            <a:ext cx="0" cy="1625100"/>
          </a:xfrm>
          <a:prstGeom prst="straightConnector1">
            <a:avLst/>
          </a:prstGeom>
          <a:noFill/>
          <a:ln cap="flat" cmpd="sng" w="28575">
            <a:solidFill>
              <a:schemeClr val="accent2"/>
            </a:solidFill>
            <a:prstDash val="solid"/>
            <a:round/>
            <a:headEnd len="med" w="med" type="none"/>
            <a:tailEnd len="med" w="med" type="triangle"/>
          </a:ln>
        </p:spPr>
      </p:cxnSp>
      <p:sp>
        <p:nvSpPr>
          <p:cNvPr id="638" name="Google Shape;638;p75"/>
          <p:cNvSpPr/>
          <p:nvPr/>
        </p:nvSpPr>
        <p:spPr>
          <a:xfrm>
            <a:off x="4815700" y="2972975"/>
            <a:ext cx="2711100" cy="479400"/>
          </a:xfrm>
          <a:prstGeom prst="rect">
            <a:avLst/>
          </a:prstGeom>
          <a:solidFill>
            <a:schemeClr val="accent3"/>
          </a:solid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latin typeface="Roboto"/>
                <a:ea typeface="Roboto"/>
                <a:cs typeface="Roboto"/>
                <a:sym typeface="Roboto"/>
              </a:rPr>
              <a:t>Group permission (</a:t>
            </a:r>
            <a:r>
              <a:rPr b="1" lang="en">
                <a:solidFill>
                  <a:schemeClr val="lt1"/>
                </a:solidFill>
                <a:latin typeface="Roboto"/>
                <a:ea typeface="Roboto"/>
                <a:cs typeface="Roboto"/>
                <a:sym typeface="Roboto"/>
              </a:rPr>
              <a:t>read</a:t>
            </a:r>
            <a:r>
              <a:rPr i="1" lang="en">
                <a:solidFill>
                  <a:schemeClr val="lt1"/>
                </a:solidFill>
                <a:latin typeface="Roboto"/>
                <a:ea typeface="Roboto"/>
                <a:cs typeface="Roboto"/>
                <a:sym typeface="Roboto"/>
              </a:rPr>
              <a:t>)</a:t>
            </a:r>
            <a:endParaRPr i="1">
              <a:solidFill>
                <a:schemeClr val="lt1"/>
              </a:solidFill>
              <a:latin typeface="Roboto"/>
              <a:ea typeface="Roboto"/>
              <a:cs typeface="Roboto"/>
              <a:sym typeface="Roboto"/>
            </a:endParaRPr>
          </a:p>
        </p:txBody>
      </p:sp>
      <p:cxnSp>
        <p:nvCxnSpPr>
          <p:cNvPr id="639" name="Google Shape;639;p75"/>
          <p:cNvCxnSpPr/>
          <p:nvPr/>
        </p:nvCxnSpPr>
        <p:spPr>
          <a:xfrm rot="10800000">
            <a:off x="4815700" y="2028400"/>
            <a:ext cx="0" cy="1011600"/>
          </a:xfrm>
          <a:prstGeom prst="straightConnector1">
            <a:avLst/>
          </a:prstGeom>
          <a:noFill/>
          <a:ln cap="flat" cmpd="sng" w="28575">
            <a:solidFill>
              <a:schemeClr val="accent3"/>
            </a:solidFill>
            <a:prstDash val="solid"/>
            <a:round/>
            <a:headEnd len="med" w="med" type="none"/>
            <a:tailEnd len="med" w="med" type="triangle"/>
          </a:ln>
        </p:spPr>
      </p:cxnSp>
      <p:sp>
        <p:nvSpPr>
          <p:cNvPr id="640" name="Google Shape;640;p75"/>
          <p:cNvSpPr/>
          <p:nvPr/>
        </p:nvSpPr>
        <p:spPr>
          <a:xfrm>
            <a:off x="5588450" y="2385250"/>
            <a:ext cx="1949100" cy="479400"/>
          </a:xfrm>
          <a:prstGeom prst="rect">
            <a:avLst/>
          </a:prstGeom>
          <a:solidFill>
            <a:schemeClr val="accent4"/>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latin typeface="Roboto"/>
                <a:ea typeface="Roboto"/>
                <a:cs typeface="Roboto"/>
                <a:sym typeface="Roboto"/>
              </a:rPr>
              <a:t>Other / world permission</a:t>
            </a:r>
            <a:r>
              <a:rPr lang="en">
                <a:latin typeface="Roboto Light"/>
                <a:ea typeface="Roboto Light"/>
                <a:cs typeface="Roboto Light"/>
                <a:sym typeface="Roboto Light"/>
              </a:rPr>
              <a:t> (</a:t>
            </a:r>
            <a:r>
              <a:rPr b="1" lang="en">
                <a:latin typeface="Roboto"/>
                <a:ea typeface="Roboto"/>
                <a:cs typeface="Roboto"/>
                <a:sym typeface="Roboto"/>
              </a:rPr>
              <a:t>read)</a:t>
            </a:r>
            <a:endParaRPr b="1">
              <a:latin typeface="Roboto"/>
              <a:ea typeface="Roboto"/>
              <a:cs typeface="Roboto"/>
              <a:sym typeface="Roboto"/>
            </a:endParaRPr>
          </a:p>
        </p:txBody>
      </p:sp>
      <p:cxnSp>
        <p:nvCxnSpPr>
          <p:cNvPr id="641" name="Google Shape;641;p75"/>
          <p:cNvCxnSpPr/>
          <p:nvPr/>
        </p:nvCxnSpPr>
        <p:spPr>
          <a:xfrm rot="10800000">
            <a:off x="6526100" y="1975825"/>
            <a:ext cx="1200" cy="402900"/>
          </a:xfrm>
          <a:prstGeom prst="straightConnector1">
            <a:avLst/>
          </a:prstGeom>
          <a:noFill/>
          <a:ln cap="flat" cmpd="sng" w="28575">
            <a:solidFill>
              <a:schemeClr val="accent4"/>
            </a:solidFill>
            <a:prstDash val="solid"/>
            <a:round/>
            <a:headEnd len="med" w="med" type="none"/>
            <a:tailEnd len="med" w="med" type="triangle"/>
          </a:ln>
        </p:spPr>
      </p:cxnSp>
      <p:cxnSp>
        <p:nvCxnSpPr>
          <p:cNvPr id="642" name="Google Shape;642;p75"/>
          <p:cNvCxnSpPr/>
          <p:nvPr/>
        </p:nvCxnSpPr>
        <p:spPr>
          <a:xfrm flipH="1" rot="10800000">
            <a:off x="2104600" y="2044675"/>
            <a:ext cx="2700" cy="2100600"/>
          </a:xfrm>
          <a:prstGeom prst="straightConnector1">
            <a:avLst/>
          </a:prstGeom>
          <a:noFill/>
          <a:ln cap="flat" cmpd="sng" w="28575">
            <a:solidFill>
              <a:schemeClr val="accent1"/>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76"/>
          <p:cNvSpPr txBox="1"/>
          <p:nvPr/>
        </p:nvSpPr>
        <p:spPr>
          <a:xfrm>
            <a:off x="50" y="2385600"/>
            <a:ext cx="4707600" cy="2373600"/>
          </a:xfrm>
          <a:prstGeom prst="rect">
            <a:avLst/>
          </a:prstGeom>
          <a:noFill/>
          <a:ln>
            <a:noFill/>
          </a:ln>
        </p:spPr>
        <p:txBody>
          <a:bodyPr anchorCtr="0" anchor="t" bIns="91425" lIns="457200"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lang="en" sz="1800">
                <a:solidFill>
                  <a:schemeClr val="dk2"/>
                </a:solidFill>
                <a:latin typeface="Roboto"/>
                <a:ea typeface="Roboto"/>
                <a:cs typeface="Roboto"/>
                <a:sym typeface="Roboto"/>
              </a:rPr>
              <a:t>Symbolic Notation</a:t>
            </a:r>
            <a:endParaRPr b="1" sz="1800">
              <a:solidFill>
                <a:schemeClr val="dk2"/>
              </a:solidFill>
              <a:latin typeface="Roboto"/>
              <a:ea typeface="Roboto"/>
              <a:cs typeface="Roboto"/>
              <a:sym typeface="Roboto"/>
            </a:endParaRPr>
          </a:p>
          <a:p>
            <a:pPr indent="0" lvl="0" marL="0" marR="0" rtl="0" algn="l">
              <a:lnSpc>
                <a:spcPct val="115000"/>
              </a:lnSpc>
              <a:spcBef>
                <a:spcPts val="0"/>
              </a:spcBef>
              <a:spcAft>
                <a:spcPts val="0"/>
              </a:spcAft>
              <a:buNone/>
            </a:pPr>
            <a:r>
              <a:rPr lang="en" sz="1800">
                <a:solidFill>
                  <a:schemeClr val="accent5"/>
                </a:solidFill>
                <a:latin typeface="Roboto"/>
                <a:ea typeface="Roboto"/>
                <a:cs typeface="Roboto"/>
                <a:sym typeface="Roboto"/>
              </a:rPr>
              <a:t>Uses letters to set permissions</a:t>
            </a:r>
            <a:endParaRPr sz="1800">
              <a:solidFill>
                <a:schemeClr val="accent5"/>
              </a:solidFill>
              <a:latin typeface="Roboto"/>
              <a:ea typeface="Roboto"/>
              <a:cs typeface="Roboto"/>
              <a:sym typeface="Roboto"/>
            </a:endParaRPr>
          </a:p>
          <a:p>
            <a:pPr indent="0" lvl="0" marL="0" marR="0" rtl="0" algn="l">
              <a:lnSpc>
                <a:spcPct val="115000"/>
              </a:lnSpc>
              <a:spcBef>
                <a:spcPts val="0"/>
              </a:spcBef>
              <a:spcAft>
                <a:spcPts val="0"/>
              </a:spcAft>
              <a:buNone/>
            </a:pPr>
            <a:r>
              <a:t/>
            </a:r>
            <a:endParaRPr sz="1800">
              <a:solidFill>
                <a:schemeClr val="accent5"/>
              </a:solidFill>
              <a:latin typeface="Roboto"/>
              <a:ea typeface="Roboto"/>
              <a:cs typeface="Roboto"/>
              <a:sym typeface="Roboto"/>
            </a:endParaRPr>
          </a:p>
          <a:p>
            <a:pPr indent="-342900" lvl="0" marL="457200" marR="0" rtl="0" algn="l">
              <a:lnSpc>
                <a:spcPct val="115000"/>
              </a:lnSpc>
              <a:spcBef>
                <a:spcPts val="0"/>
              </a:spcBef>
              <a:spcAft>
                <a:spcPts val="0"/>
              </a:spcAft>
              <a:buClr>
                <a:schemeClr val="accent5"/>
              </a:buClr>
              <a:buSzPts val="1800"/>
              <a:buFont typeface="Inconsolata"/>
              <a:buChar char="●"/>
            </a:pPr>
            <a:r>
              <a:rPr b="1" lang="en" sz="1800">
                <a:solidFill>
                  <a:schemeClr val="accent5"/>
                </a:solidFill>
                <a:latin typeface="Inconsolata"/>
                <a:ea typeface="Inconsolata"/>
                <a:cs typeface="Inconsolata"/>
                <a:sym typeface="Inconsolata"/>
              </a:rPr>
              <a:t>r</a:t>
            </a:r>
            <a:endParaRPr b="1" sz="1800">
              <a:solidFill>
                <a:schemeClr val="accent5"/>
              </a:solidFill>
              <a:latin typeface="Inconsolata"/>
              <a:ea typeface="Inconsolata"/>
              <a:cs typeface="Inconsolata"/>
              <a:sym typeface="Inconsolata"/>
            </a:endParaRPr>
          </a:p>
          <a:p>
            <a:pPr indent="-342900" lvl="0" marL="457200" marR="0" rtl="0" algn="l">
              <a:lnSpc>
                <a:spcPct val="115000"/>
              </a:lnSpc>
              <a:spcBef>
                <a:spcPts val="0"/>
              </a:spcBef>
              <a:spcAft>
                <a:spcPts val="0"/>
              </a:spcAft>
              <a:buClr>
                <a:schemeClr val="accent5"/>
              </a:buClr>
              <a:buSzPts val="1800"/>
              <a:buFont typeface="Inconsolata"/>
              <a:buChar char="●"/>
            </a:pPr>
            <a:r>
              <a:rPr b="1" lang="en" sz="1800">
                <a:solidFill>
                  <a:schemeClr val="accent5"/>
                </a:solidFill>
                <a:latin typeface="Inconsolata"/>
                <a:ea typeface="Inconsolata"/>
                <a:cs typeface="Inconsolata"/>
                <a:sym typeface="Inconsolata"/>
              </a:rPr>
              <a:t>w</a:t>
            </a:r>
            <a:endParaRPr b="1" sz="1800">
              <a:solidFill>
                <a:schemeClr val="accent5"/>
              </a:solidFill>
              <a:latin typeface="Inconsolata"/>
              <a:ea typeface="Inconsolata"/>
              <a:cs typeface="Inconsolata"/>
              <a:sym typeface="Inconsolata"/>
            </a:endParaRPr>
          </a:p>
          <a:p>
            <a:pPr indent="-342900" lvl="0" marL="457200" marR="0" rtl="0" algn="l">
              <a:lnSpc>
                <a:spcPct val="115000"/>
              </a:lnSpc>
              <a:spcBef>
                <a:spcPts val="0"/>
              </a:spcBef>
              <a:spcAft>
                <a:spcPts val="0"/>
              </a:spcAft>
              <a:buClr>
                <a:schemeClr val="accent5"/>
              </a:buClr>
              <a:buSzPts val="1800"/>
              <a:buFont typeface="Inconsolata"/>
              <a:buChar char="●"/>
            </a:pPr>
            <a:r>
              <a:rPr b="1" lang="en" sz="1800">
                <a:solidFill>
                  <a:schemeClr val="accent5"/>
                </a:solidFill>
                <a:latin typeface="Inconsolata"/>
                <a:ea typeface="Inconsolata"/>
                <a:cs typeface="Inconsolata"/>
                <a:sym typeface="Inconsolata"/>
              </a:rPr>
              <a:t>x</a:t>
            </a:r>
            <a:endParaRPr b="1" sz="1800">
              <a:solidFill>
                <a:schemeClr val="accent5"/>
              </a:solidFill>
              <a:latin typeface="Inconsolata"/>
              <a:ea typeface="Inconsolata"/>
              <a:cs typeface="Inconsolata"/>
              <a:sym typeface="Inconsolata"/>
            </a:endParaRPr>
          </a:p>
          <a:p>
            <a:pPr indent="0" lvl="0" marL="457200" marR="0" rtl="0" algn="l">
              <a:lnSpc>
                <a:spcPct val="115000"/>
              </a:lnSpc>
              <a:spcBef>
                <a:spcPts val="0"/>
              </a:spcBef>
              <a:spcAft>
                <a:spcPts val="0"/>
              </a:spcAft>
              <a:buNone/>
            </a:pPr>
            <a:r>
              <a:t/>
            </a:r>
            <a:endParaRPr sz="1800">
              <a:solidFill>
                <a:schemeClr val="dk2"/>
              </a:solidFill>
              <a:latin typeface="Roboto"/>
              <a:ea typeface="Roboto"/>
              <a:cs typeface="Roboto"/>
              <a:sym typeface="Roboto"/>
            </a:endParaRPr>
          </a:p>
        </p:txBody>
      </p:sp>
      <p:cxnSp>
        <p:nvCxnSpPr>
          <p:cNvPr id="648" name="Google Shape;648;p76"/>
          <p:cNvCxnSpPr/>
          <p:nvPr/>
        </p:nvCxnSpPr>
        <p:spPr>
          <a:xfrm>
            <a:off x="4385450" y="1619650"/>
            <a:ext cx="0" cy="2471700"/>
          </a:xfrm>
          <a:prstGeom prst="straightConnector1">
            <a:avLst/>
          </a:prstGeom>
          <a:noFill/>
          <a:ln cap="flat" cmpd="sng" w="19050">
            <a:solidFill>
              <a:srgbClr val="2E5E73"/>
            </a:solidFill>
            <a:prstDash val="solid"/>
            <a:round/>
            <a:headEnd len="sm" w="sm" type="none"/>
            <a:tailEnd len="sm" w="sm" type="none"/>
          </a:ln>
        </p:spPr>
      </p:cxnSp>
      <p:sp>
        <p:nvSpPr>
          <p:cNvPr id="649" name="Google Shape;649;p76"/>
          <p:cNvSpPr txBox="1"/>
          <p:nvPr/>
        </p:nvSpPr>
        <p:spPr>
          <a:xfrm>
            <a:off x="4293000" y="2385600"/>
            <a:ext cx="4825200" cy="2055000"/>
          </a:xfrm>
          <a:prstGeom prst="rect">
            <a:avLst/>
          </a:prstGeom>
          <a:noFill/>
          <a:ln>
            <a:noFill/>
          </a:ln>
        </p:spPr>
        <p:txBody>
          <a:bodyPr anchorCtr="0" anchor="t" bIns="91425" lIns="457200"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lang="en" sz="1800">
                <a:solidFill>
                  <a:schemeClr val="dk2"/>
                </a:solidFill>
                <a:latin typeface="Roboto"/>
                <a:ea typeface="Roboto"/>
                <a:cs typeface="Roboto"/>
                <a:sym typeface="Roboto"/>
              </a:rPr>
              <a:t>Octal Notation</a:t>
            </a:r>
            <a:endParaRPr b="1" i="0" sz="180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rPr lang="en" sz="1800">
                <a:solidFill>
                  <a:schemeClr val="dk2"/>
                </a:solidFill>
                <a:latin typeface="Roboto"/>
                <a:ea typeface="Roboto"/>
                <a:cs typeface="Roboto"/>
                <a:sym typeface="Roboto"/>
              </a:rPr>
              <a:t>Uses base-8 numbers to set permissions</a:t>
            </a:r>
            <a:endParaRPr sz="1800">
              <a:solidFill>
                <a:schemeClr val="dk2"/>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1800"/>
              <a:buFont typeface="Arial"/>
              <a:buNone/>
            </a:pPr>
            <a:r>
              <a:t/>
            </a:r>
            <a:endParaRPr sz="1800">
              <a:solidFill>
                <a:schemeClr val="dk2"/>
              </a:solidFill>
              <a:latin typeface="Roboto"/>
              <a:ea typeface="Roboto"/>
              <a:cs typeface="Roboto"/>
              <a:sym typeface="Roboto"/>
            </a:endParaRPr>
          </a:p>
          <a:p>
            <a:pPr indent="-342900" lvl="0" marL="457200" marR="0" rtl="0" algn="l">
              <a:lnSpc>
                <a:spcPct val="115000"/>
              </a:lnSpc>
              <a:spcBef>
                <a:spcPts val="0"/>
              </a:spcBef>
              <a:spcAft>
                <a:spcPts val="0"/>
              </a:spcAft>
              <a:buClr>
                <a:schemeClr val="dk2"/>
              </a:buClr>
              <a:buSzPts val="1800"/>
              <a:buFont typeface="Roboto"/>
              <a:buChar char="●"/>
            </a:pPr>
            <a:r>
              <a:rPr b="1" lang="en" sz="1800">
                <a:solidFill>
                  <a:schemeClr val="dk2"/>
                </a:solidFill>
                <a:latin typeface="Inconsolata"/>
                <a:ea typeface="Inconsolata"/>
                <a:cs typeface="Inconsolata"/>
                <a:sym typeface="Inconsolata"/>
              </a:rPr>
              <a:t>rwx </a:t>
            </a:r>
            <a:r>
              <a:rPr lang="en" sz="1800">
                <a:solidFill>
                  <a:schemeClr val="dk2"/>
                </a:solidFill>
                <a:latin typeface="Roboto"/>
                <a:ea typeface="Roboto"/>
                <a:cs typeface="Roboto"/>
                <a:sym typeface="Roboto"/>
              </a:rPr>
              <a:t>= 7</a:t>
            </a:r>
            <a:endParaRPr sz="1800">
              <a:solidFill>
                <a:schemeClr val="dk2"/>
              </a:solidFill>
              <a:latin typeface="Roboto"/>
              <a:ea typeface="Roboto"/>
              <a:cs typeface="Roboto"/>
              <a:sym typeface="Roboto"/>
            </a:endParaRPr>
          </a:p>
          <a:p>
            <a:pPr indent="-342900" lvl="0" marL="457200" marR="0" rtl="0" algn="l">
              <a:lnSpc>
                <a:spcPct val="115000"/>
              </a:lnSpc>
              <a:spcBef>
                <a:spcPts val="0"/>
              </a:spcBef>
              <a:spcAft>
                <a:spcPts val="0"/>
              </a:spcAft>
              <a:buClr>
                <a:schemeClr val="dk2"/>
              </a:buClr>
              <a:buSzPts val="1800"/>
              <a:buFont typeface="Roboto"/>
              <a:buChar char="●"/>
            </a:pPr>
            <a:r>
              <a:rPr b="1" lang="en" sz="1800">
                <a:solidFill>
                  <a:schemeClr val="dk2"/>
                </a:solidFill>
                <a:latin typeface="Inconsolata"/>
                <a:ea typeface="Inconsolata"/>
                <a:cs typeface="Inconsolata"/>
                <a:sym typeface="Inconsolata"/>
              </a:rPr>
              <a:t>rw-</a:t>
            </a:r>
            <a:r>
              <a:rPr lang="en" sz="1800">
                <a:solidFill>
                  <a:schemeClr val="dk2"/>
                </a:solidFill>
                <a:latin typeface="Roboto"/>
                <a:ea typeface="Roboto"/>
                <a:cs typeface="Roboto"/>
                <a:sym typeface="Roboto"/>
              </a:rPr>
              <a:t>  = 6</a:t>
            </a:r>
            <a:endParaRPr sz="1800">
              <a:solidFill>
                <a:schemeClr val="dk2"/>
              </a:solidFill>
              <a:latin typeface="Roboto"/>
              <a:ea typeface="Roboto"/>
              <a:cs typeface="Roboto"/>
              <a:sym typeface="Roboto"/>
            </a:endParaRPr>
          </a:p>
          <a:p>
            <a:pPr indent="-342900" lvl="0" marL="457200" marR="0" rtl="0" algn="l">
              <a:lnSpc>
                <a:spcPct val="115000"/>
              </a:lnSpc>
              <a:spcBef>
                <a:spcPts val="0"/>
              </a:spcBef>
              <a:spcAft>
                <a:spcPts val="0"/>
              </a:spcAft>
              <a:buClr>
                <a:schemeClr val="dk2"/>
              </a:buClr>
              <a:buSzPts val="1800"/>
              <a:buFont typeface="Roboto"/>
              <a:buChar char="●"/>
            </a:pPr>
            <a:r>
              <a:rPr b="1" lang="en" sz="1800">
                <a:solidFill>
                  <a:schemeClr val="dk2"/>
                </a:solidFill>
                <a:latin typeface="Inconsolata"/>
                <a:ea typeface="Inconsolata"/>
                <a:cs typeface="Inconsolata"/>
                <a:sym typeface="Inconsolata"/>
              </a:rPr>
              <a:t>r-x</a:t>
            </a:r>
            <a:r>
              <a:rPr lang="en" sz="1800">
                <a:solidFill>
                  <a:schemeClr val="dk2"/>
                </a:solidFill>
                <a:latin typeface="Roboto"/>
                <a:ea typeface="Roboto"/>
                <a:cs typeface="Roboto"/>
                <a:sym typeface="Roboto"/>
              </a:rPr>
              <a:t>   = 5</a:t>
            </a:r>
            <a:endParaRPr sz="1800">
              <a:solidFill>
                <a:schemeClr val="dk2"/>
              </a:solidFill>
              <a:latin typeface="Roboto"/>
              <a:ea typeface="Roboto"/>
              <a:cs typeface="Roboto"/>
              <a:sym typeface="Roboto"/>
            </a:endParaRPr>
          </a:p>
        </p:txBody>
      </p:sp>
      <p:sp>
        <p:nvSpPr>
          <p:cNvPr id="650" name="Google Shape;650;p76"/>
          <p:cNvSpPr txBox="1"/>
          <p:nvPr>
            <p:ph type="title"/>
          </p:nvPr>
        </p:nvSpPr>
        <p:spPr>
          <a:xfrm>
            <a:off x="-153200" y="63600"/>
            <a:ext cx="9144000" cy="393600"/>
          </a:xfrm>
          <a:prstGeom prst="rect">
            <a:avLst/>
          </a:prstGeom>
          <a:noFill/>
          <a:ln>
            <a:noFill/>
          </a:ln>
        </p:spPr>
        <p:txBody>
          <a:bodyPr anchorCtr="0" anchor="t" bIns="91425" lIns="457200" spcFirstLastPara="1" rIns="91425" wrap="square" tIns="91425">
            <a:noAutofit/>
          </a:bodyPr>
          <a:lstStyle/>
          <a:p>
            <a:pPr indent="0" lvl="0" marL="0" rtl="0" algn="l">
              <a:lnSpc>
                <a:spcPct val="100000"/>
              </a:lnSpc>
              <a:spcBef>
                <a:spcPts val="0"/>
              </a:spcBef>
              <a:spcAft>
                <a:spcPts val="0"/>
              </a:spcAft>
              <a:buSzPts val="2400"/>
              <a:buNone/>
            </a:pPr>
            <a:r>
              <a:rPr lang="en"/>
              <a:t>Changing Permissions</a:t>
            </a:r>
            <a:endParaRPr sz="2600">
              <a:solidFill>
                <a:schemeClr val="dk2"/>
              </a:solidFill>
            </a:endParaRPr>
          </a:p>
        </p:txBody>
      </p:sp>
      <p:pic>
        <p:nvPicPr>
          <p:cNvPr id="651" name="Google Shape;651;p76"/>
          <p:cNvPicPr preferRelativeResize="0"/>
          <p:nvPr/>
        </p:nvPicPr>
        <p:blipFill rotWithShape="1">
          <a:blip r:embed="rId3">
            <a:alphaModFix/>
          </a:blip>
          <a:srcRect b="49" l="0" r="0" t="49"/>
          <a:stretch/>
        </p:blipFill>
        <p:spPr>
          <a:xfrm>
            <a:off x="1371602" y="1399913"/>
            <a:ext cx="914399" cy="898203"/>
          </a:xfrm>
          <a:prstGeom prst="rect">
            <a:avLst/>
          </a:prstGeom>
          <a:noFill/>
          <a:ln>
            <a:noFill/>
          </a:ln>
        </p:spPr>
      </p:pic>
      <p:pic>
        <p:nvPicPr>
          <p:cNvPr id="652" name="Google Shape;652;p76"/>
          <p:cNvPicPr preferRelativeResize="0"/>
          <p:nvPr/>
        </p:nvPicPr>
        <p:blipFill rotWithShape="1">
          <a:blip r:embed="rId4">
            <a:alphaModFix/>
          </a:blip>
          <a:srcRect b="0" l="0" r="0" t="0"/>
          <a:stretch/>
        </p:blipFill>
        <p:spPr>
          <a:xfrm>
            <a:off x="963250" y="1123450"/>
            <a:ext cx="358050" cy="358050"/>
          </a:xfrm>
          <a:prstGeom prst="rect">
            <a:avLst/>
          </a:prstGeom>
          <a:noFill/>
          <a:ln>
            <a:noFill/>
          </a:ln>
        </p:spPr>
      </p:pic>
      <p:pic>
        <p:nvPicPr>
          <p:cNvPr id="653" name="Google Shape;653;p76"/>
          <p:cNvPicPr preferRelativeResize="0"/>
          <p:nvPr/>
        </p:nvPicPr>
        <p:blipFill rotWithShape="1">
          <a:blip r:embed="rId3">
            <a:alphaModFix/>
          </a:blip>
          <a:srcRect b="49" l="0" r="0" t="49"/>
          <a:stretch/>
        </p:blipFill>
        <p:spPr>
          <a:xfrm>
            <a:off x="6400802" y="1399913"/>
            <a:ext cx="914399" cy="898203"/>
          </a:xfrm>
          <a:prstGeom prst="rect">
            <a:avLst/>
          </a:prstGeom>
          <a:noFill/>
          <a:ln>
            <a:noFill/>
          </a:ln>
        </p:spPr>
      </p:pic>
      <p:pic>
        <p:nvPicPr>
          <p:cNvPr id="654" name="Google Shape;654;p76"/>
          <p:cNvPicPr preferRelativeResize="0"/>
          <p:nvPr/>
        </p:nvPicPr>
        <p:blipFill rotWithShape="1">
          <a:blip r:embed="rId5">
            <a:alphaModFix/>
          </a:blip>
          <a:srcRect b="845" l="0" r="0" t="845"/>
          <a:stretch/>
        </p:blipFill>
        <p:spPr>
          <a:xfrm>
            <a:off x="5146811" y="1459233"/>
            <a:ext cx="919528" cy="294550"/>
          </a:xfrm>
          <a:prstGeom prst="rect">
            <a:avLst/>
          </a:prstGeom>
          <a:noFill/>
          <a:ln>
            <a:noFill/>
          </a:ln>
        </p:spPr>
      </p:pic>
      <p:pic>
        <p:nvPicPr>
          <p:cNvPr id="655" name="Google Shape;655;p76"/>
          <p:cNvPicPr preferRelativeResize="0"/>
          <p:nvPr/>
        </p:nvPicPr>
        <p:blipFill rotWithShape="1">
          <a:blip r:embed="rId6">
            <a:alphaModFix/>
          </a:blip>
          <a:srcRect b="149" l="0" r="0" t="159"/>
          <a:stretch/>
        </p:blipFill>
        <p:spPr>
          <a:xfrm>
            <a:off x="1620475" y="895550"/>
            <a:ext cx="358050" cy="358050"/>
          </a:xfrm>
          <a:prstGeom prst="rect">
            <a:avLst/>
          </a:prstGeom>
          <a:noFill/>
          <a:ln>
            <a:noFill/>
          </a:ln>
        </p:spPr>
      </p:pic>
      <p:pic>
        <p:nvPicPr>
          <p:cNvPr id="656" name="Google Shape;656;p76"/>
          <p:cNvPicPr preferRelativeResize="0"/>
          <p:nvPr/>
        </p:nvPicPr>
        <p:blipFill rotWithShape="1">
          <a:blip r:embed="rId7">
            <a:alphaModFix/>
          </a:blip>
          <a:srcRect b="0" l="0" r="0" t="0"/>
          <a:stretch/>
        </p:blipFill>
        <p:spPr>
          <a:xfrm>
            <a:off x="2246925" y="1123450"/>
            <a:ext cx="358050" cy="358050"/>
          </a:xfrm>
          <a:prstGeom prst="rect">
            <a:avLst/>
          </a:prstGeom>
          <a:noFill/>
          <a:ln>
            <a:noFill/>
          </a:ln>
        </p:spPr>
      </p:pic>
      <p:pic>
        <p:nvPicPr>
          <p:cNvPr id="657" name="Google Shape;657;p76"/>
          <p:cNvPicPr preferRelativeResize="0"/>
          <p:nvPr/>
        </p:nvPicPr>
        <p:blipFill rotWithShape="1">
          <a:blip r:embed="rId8">
            <a:alphaModFix/>
          </a:blip>
          <a:srcRect b="1037" l="0" r="0" t="1047"/>
          <a:stretch/>
        </p:blipFill>
        <p:spPr>
          <a:xfrm>
            <a:off x="6324299" y="993250"/>
            <a:ext cx="919528" cy="294550"/>
          </a:xfrm>
          <a:prstGeom prst="rect">
            <a:avLst/>
          </a:prstGeom>
          <a:noFill/>
          <a:ln>
            <a:noFill/>
          </a:ln>
        </p:spPr>
      </p:pic>
      <p:pic>
        <p:nvPicPr>
          <p:cNvPr id="658" name="Google Shape;658;p76"/>
          <p:cNvPicPr preferRelativeResize="0"/>
          <p:nvPr/>
        </p:nvPicPr>
        <p:blipFill rotWithShape="1">
          <a:blip r:embed="rId9">
            <a:alphaModFix/>
          </a:blip>
          <a:srcRect b="1037" l="0" r="0" t="1047"/>
          <a:stretch/>
        </p:blipFill>
        <p:spPr>
          <a:xfrm>
            <a:off x="7497261" y="1459233"/>
            <a:ext cx="919528" cy="294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77"/>
          <p:cNvSpPr txBox="1"/>
          <p:nvPr>
            <p:ph type="title"/>
          </p:nvPr>
        </p:nvSpPr>
        <p:spPr>
          <a:xfrm>
            <a:off x="308250" y="81025"/>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Changing File Permissions</a:t>
            </a:r>
            <a:endParaRPr/>
          </a:p>
        </p:txBody>
      </p:sp>
      <p:sp>
        <p:nvSpPr>
          <p:cNvPr id="664" name="Google Shape;664;p77"/>
          <p:cNvSpPr txBox="1"/>
          <p:nvPr>
            <p:ph idx="1" type="body"/>
          </p:nvPr>
        </p:nvSpPr>
        <p:spPr>
          <a:xfrm>
            <a:off x="385500" y="492450"/>
            <a:ext cx="8520600" cy="3195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Symbolic and Octal Notation</a:t>
            </a:r>
            <a:endParaRPr/>
          </a:p>
        </p:txBody>
      </p:sp>
      <p:graphicFrame>
        <p:nvGraphicFramePr>
          <p:cNvPr id="665" name="Google Shape;665;p77"/>
          <p:cNvGraphicFramePr/>
          <p:nvPr/>
        </p:nvGraphicFramePr>
        <p:xfrm>
          <a:off x="393425" y="1429622"/>
          <a:ext cx="3000000" cy="3000000"/>
        </p:xfrm>
        <a:graphic>
          <a:graphicData uri="http://schemas.openxmlformats.org/drawingml/2006/table">
            <a:tbl>
              <a:tblPr>
                <a:noFill/>
                <a:tableStyleId>{4FB70123-C99C-4558-A20F-81A9325B1E0B}</a:tableStyleId>
              </a:tblPr>
              <a:tblGrid>
                <a:gridCol w="382850"/>
                <a:gridCol w="382850"/>
                <a:gridCol w="382850"/>
                <a:gridCol w="382850"/>
                <a:gridCol w="2474550"/>
              </a:tblGrid>
              <a:tr h="281025">
                <a:tc>
                  <a:txBody>
                    <a:bodyPr/>
                    <a:lstStyle/>
                    <a:p>
                      <a:pPr indent="0" lvl="0" marL="0" rtl="0" algn="l">
                        <a:spcBef>
                          <a:spcPts val="0"/>
                        </a:spcBef>
                        <a:spcAft>
                          <a:spcPts val="0"/>
                        </a:spcAft>
                        <a:buNone/>
                      </a:pPr>
                      <a:r>
                        <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4</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2</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1</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2"/>
                    </a:solidFill>
                  </a:tcPr>
                </a:tc>
              </a:tr>
              <a:tr h="317325">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0</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No permission</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17325">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1</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x</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Only execute</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17325">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2</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w</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Only write</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17325">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3</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w</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x</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Write and execute</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0400">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4</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r</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Only read</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20400">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5</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r</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x</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Read and execute</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17325">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6</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r</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w</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Read and write</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317325">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7</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r</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w</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x</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2"/>
                    </a:solidFill>
                  </a:tcPr>
                </a:tc>
                <a:tc>
                  <a:txBody>
                    <a:bodyPr/>
                    <a:lstStyle/>
                    <a:p>
                      <a:pPr indent="0" lvl="0" marL="0" rtl="0" algn="l">
                        <a:spcBef>
                          <a:spcPts val="0"/>
                        </a:spcBef>
                        <a:spcAft>
                          <a:spcPts val="0"/>
                        </a:spcAft>
                        <a:buNone/>
                      </a:pPr>
                      <a:r>
                        <a:rPr b="1" lang="en" sz="1300">
                          <a:solidFill>
                            <a:schemeClr val="accent5"/>
                          </a:solidFill>
                          <a:latin typeface="Inconsolata"/>
                          <a:ea typeface="Inconsolata"/>
                          <a:cs typeface="Inconsolata"/>
                          <a:sym typeface="Inconsolata"/>
                        </a:rPr>
                        <a:t>Read, write, and execute</a:t>
                      </a:r>
                      <a:endParaRPr b="1" sz="1300">
                        <a:solidFill>
                          <a:schemeClr val="accent5"/>
                        </a:solidFill>
                        <a:latin typeface="Inconsolata"/>
                        <a:ea typeface="Inconsolata"/>
                        <a:cs typeface="Inconsolata"/>
                        <a:sym typeface="Inconsolat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
        <p:nvSpPr>
          <p:cNvPr id="666" name="Google Shape;666;p77"/>
          <p:cNvSpPr txBox="1"/>
          <p:nvPr/>
        </p:nvSpPr>
        <p:spPr>
          <a:xfrm>
            <a:off x="4867800" y="1340550"/>
            <a:ext cx="3477300" cy="6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accent5"/>
                </a:solidFill>
                <a:latin typeface="Roboto"/>
                <a:ea typeface="Roboto"/>
                <a:cs typeface="Roboto"/>
                <a:sym typeface="Roboto"/>
              </a:rPr>
              <a:t>rwx       rw-       r--</a:t>
            </a:r>
            <a:endParaRPr b="1" sz="3000">
              <a:solidFill>
                <a:schemeClr val="accent5"/>
              </a:solidFill>
              <a:latin typeface="Roboto"/>
              <a:ea typeface="Roboto"/>
              <a:cs typeface="Roboto"/>
              <a:sym typeface="Roboto"/>
            </a:endParaRPr>
          </a:p>
        </p:txBody>
      </p:sp>
      <p:sp>
        <p:nvSpPr>
          <p:cNvPr id="667" name="Google Shape;667;p77"/>
          <p:cNvSpPr/>
          <p:nvPr/>
        </p:nvSpPr>
        <p:spPr>
          <a:xfrm rot="-5400000">
            <a:off x="5197225" y="1607825"/>
            <a:ext cx="241500" cy="774300"/>
          </a:xfrm>
          <a:prstGeom prst="leftBrace">
            <a:avLst>
              <a:gd fmla="val 8333" name="adj1"/>
              <a:gd fmla="val 5000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68" name="Google Shape;668;p77"/>
          <p:cNvSpPr/>
          <p:nvPr/>
        </p:nvSpPr>
        <p:spPr>
          <a:xfrm rot="-5400000">
            <a:off x="6340671" y="1607825"/>
            <a:ext cx="241500" cy="774300"/>
          </a:xfrm>
          <a:prstGeom prst="leftBrace">
            <a:avLst>
              <a:gd fmla="val 8333" name="adj1"/>
              <a:gd fmla="val 5000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69" name="Google Shape;669;p77"/>
          <p:cNvSpPr/>
          <p:nvPr/>
        </p:nvSpPr>
        <p:spPr>
          <a:xfrm rot="-5400000">
            <a:off x="7484117" y="1607825"/>
            <a:ext cx="241500" cy="774300"/>
          </a:xfrm>
          <a:prstGeom prst="leftBrace">
            <a:avLst>
              <a:gd fmla="val 8333" name="adj1"/>
              <a:gd fmla="val 5000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70" name="Google Shape;670;p77"/>
          <p:cNvSpPr txBox="1"/>
          <p:nvPr/>
        </p:nvSpPr>
        <p:spPr>
          <a:xfrm>
            <a:off x="4599500" y="4234800"/>
            <a:ext cx="1466700" cy="48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User can read, write, and execute</a:t>
            </a:r>
            <a:endParaRPr sz="1200">
              <a:solidFill>
                <a:schemeClr val="dk2"/>
              </a:solidFill>
              <a:latin typeface="Roboto"/>
              <a:ea typeface="Roboto"/>
              <a:cs typeface="Roboto"/>
              <a:sym typeface="Roboto"/>
            </a:endParaRPr>
          </a:p>
        </p:txBody>
      </p:sp>
      <p:sp>
        <p:nvSpPr>
          <p:cNvPr id="671" name="Google Shape;671;p77"/>
          <p:cNvSpPr txBox="1"/>
          <p:nvPr/>
        </p:nvSpPr>
        <p:spPr>
          <a:xfrm>
            <a:off x="5889700" y="4266300"/>
            <a:ext cx="1158600" cy="41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Group can read and write </a:t>
            </a:r>
            <a:endParaRPr sz="1200">
              <a:solidFill>
                <a:schemeClr val="dk2"/>
              </a:solidFill>
              <a:latin typeface="Roboto"/>
              <a:ea typeface="Roboto"/>
              <a:cs typeface="Roboto"/>
              <a:sym typeface="Roboto"/>
            </a:endParaRPr>
          </a:p>
        </p:txBody>
      </p:sp>
      <p:sp>
        <p:nvSpPr>
          <p:cNvPr id="672" name="Google Shape;672;p77"/>
          <p:cNvSpPr txBox="1"/>
          <p:nvPr/>
        </p:nvSpPr>
        <p:spPr>
          <a:xfrm>
            <a:off x="7171750" y="4292850"/>
            <a:ext cx="13194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latin typeface="Roboto"/>
                <a:ea typeface="Roboto"/>
                <a:cs typeface="Roboto"/>
                <a:sym typeface="Roboto"/>
              </a:rPr>
              <a:t>Others can read </a:t>
            </a:r>
            <a:endParaRPr sz="1200">
              <a:solidFill>
                <a:schemeClr val="dk2"/>
              </a:solidFill>
              <a:latin typeface="Roboto"/>
              <a:ea typeface="Roboto"/>
              <a:cs typeface="Roboto"/>
              <a:sym typeface="Roboto"/>
            </a:endParaRPr>
          </a:p>
        </p:txBody>
      </p:sp>
      <p:sp>
        <p:nvSpPr>
          <p:cNvPr id="673" name="Google Shape;673;p77"/>
          <p:cNvSpPr txBox="1"/>
          <p:nvPr/>
        </p:nvSpPr>
        <p:spPr>
          <a:xfrm>
            <a:off x="4819375" y="2220925"/>
            <a:ext cx="997200" cy="28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4 + 2 + 1</a:t>
            </a:r>
            <a:endParaRPr>
              <a:solidFill>
                <a:schemeClr val="dk2"/>
              </a:solidFill>
              <a:latin typeface="Roboto"/>
              <a:ea typeface="Roboto"/>
              <a:cs typeface="Roboto"/>
              <a:sym typeface="Roboto"/>
            </a:endParaRPr>
          </a:p>
        </p:txBody>
      </p:sp>
      <p:sp>
        <p:nvSpPr>
          <p:cNvPr id="674" name="Google Shape;674;p77"/>
          <p:cNvSpPr txBox="1"/>
          <p:nvPr/>
        </p:nvSpPr>
        <p:spPr>
          <a:xfrm>
            <a:off x="5993750" y="2239325"/>
            <a:ext cx="997200" cy="24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4 + 2 + 0</a:t>
            </a:r>
            <a:endParaRPr>
              <a:solidFill>
                <a:schemeClr val="dk2"/>
              </a:solidFill>
              <a:latin typeface="Roboto"/>
              <a:ea typeface="Roboto"/>
              <a:cs typeface="Roboto"/>
              <a:sym typeface="Roboto"/>
            </a:endParaRPr>
          </a:p>
        </p:txBody>
      </p:sp>
      <p:sp>
        <p:nvSpPr>
          <p:cNvPr id="675" name="Google Shape;675;p77"/>
          <p:cNvSpPr txBox="1"/>
          <p:nvPr/>
        </p:nvSpPr>
        <p:spPr>
          <a:xfrm>
            <a:off x="7217725" y="2246675"/>
            <a:ext cx="902700" cy="226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4 + 0 + 0 </a:t>
            </a:r>
            <a:endParaRPr>
              <a:solidFill>
                <a:schemeClr val="dk2"/>
              </a:solidFill>
              <a:latin typeface="Roboto"/>
              <a:ea typeface="Roboto"/>
              <a:cs typeface="Roboto"/>
              <a:sym typeface="Roboto"/>
            </a:endParaRPr>
          </a:p>
        </p:txBody>
      </p:sp>
      <p:sp>
        <p:nvSpPr>
          <p:cNvPr id="676" name="Google Shape;676;p77"/>
          <p:cNvSpPr/>
          <p:nvPr/>
        </p:nvSpPr>
        <p:spPr>
          <a:xfrm rot="-5400000">
            <a:off x="5197225" y="2243075"/>
            <a:ext cx="241500" cy="774300"/>
          </a:xfrm>
          <a:prstGeom prst="leftBrace">
            <a:avLst>
              <a:gd fmla="val 8333" name="adj1"/>
              <a:gd fmla="val 5000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77" name="Google Shape;677;p77"/>
          <p:cNvSpPr/>
          <p:nvPr/>
        </p:nvSpPr>
        <p:spPr>
          <a:xfrm rot="-5400000">
            <a:off x="6355850" y="2178875"/>
            <a:ext cx="241500" cy="902700"/>
          </a:xfrm>
          <a:prstGeom prst="leftBrace">
            <a:avLst>
              <a:gd fmla="val 8333" name="adj1"/>
              <a:gd fmla="val 5000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78" name="Google Shape;678;p77"/>
          <p:cNvSpPr/>
          <p:nvPr/>
        </p:nvSpPr>
        <p:spPr>
          <a:xfrm rot="-5400000">
            <a:off x="7557975" y="2208450"/>
            <a:ext cx="240600" cy="860400"/>
          </a:xfrm>
          <a:prstGeom prst="leftBrace">
            <a:avLst>
              <a:gd fmla="val 8333" name="adj1"/>
              <a:gd fmla="val 5000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79" name="Google Shape;679;p77"/>
          <p:cNvSpPr txBox="1"/>
          <p:nvPr/>
        </p:nvSpPr>
        <p:spPr>
          <a:xfrm>
            <a:off x="4944050" y="2949175"/>
            <a:ext cx="774300" cy="41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7</a:t>
            </a:r>
            <a:endParaRPr>
              <a:solidFill>
                <a:schemeClr val="dk2"/>
              </a:solidFill>
              <a:latin typeface="Roboto"/>
              <a:ea typeface="Roboto"/>
              <a:cs typeface="Roboto"/>
              <a:sym typeface="Roboto"/>
            </a:endParaRPr>
          </a:p>
        </p:txBody>
      </p:sp>
      <p:sp>
        <p:nvSpPr>
          <p:cNvPr id="680" name="Google Shape;680;p77"/>
          <p:cNvSpPr txBox="1"/>
          <p:nvPr/>
        </p:nvSpPr>
        <p:spPr>
          <a:xfrm>
            <a:off x="6081850" y="2924213"/>
            <a:ext cx="774300" cy="41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6</a:t>
            </a:r>
            <a:endParaRPr>
              <a:solidFill>
                <a:schemeClr val="dk2"/>
              </a:solidFill>
              <a:latin typeface="Roboto"/>
              <a:ea typeface="Roboto"/>
              <a:cs typeface="Roboto"/>
              <a:sym typeface="Roboto"/>
            </a:endParaRPr>
          </a:p>
        </p:txBody>
      </p:sp>
      <p:sp>
        <p:nvSpPr>
          <p:cNvPr id="681" name="Google Shape;681;p77"/>
          <p:cNvSpPr txBox="1"/>
          <p:nvPr/>
        </p:nvSpPr>
        <p:spPr>
          <a:xfrm>
            <a:off x="7219650" y="2924225"/>
            <a:ext cx="774300" cy="41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4</a:t>
            </a:r>
            <a:endParaRPr>
              <a:solidFill>
                <a:schemeClr val="dk2"/>
              </a:solidFill>
              <a:latin typeface="Roboto"/>
              <a:ea typeface="Roboto"/>
              <a:cs typeface="Roboto"/>
              <a:sym typeface="Roboto"/>
            </a:endParaRPr>
          </a:p>
        </p:txBody>
      </p:sp>
      <p:sp>
        <p:nvSpPr>
          <p:cNvPr id="682" name="Google Shape;682;p77"/>
          <p:cNvSpPr/>
          <p:nvPr/>
        </p:nvSpPr>
        <p:spPr>
          <a:xfrm rot="5400000">
            <a:off x="6321625" y="1770775"/>
            <a:ext cx="441000" cy="3222600"/>
          </a:xfrm>
          <a:prstGeom prst="rightBrace">
            <a:avLst>
              <a:gd fmla="val 8333" name="adj1"/>
              <a:gd fmla="val 5206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83" name="Google Shape;683;p77"/>
          <p:cNvSpPr txBox="1"/>
          <p:nvPr/>
        </p:nvSpPr>
        <p:spPr>
          <a:xfrm>
            <a:off x="5303800" y="3642588"/>
            <a:ext cx="2330400" cy="28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2"/>
                </a:solidFill>
                <a:latin typeface="Roboto"/>
                <a:ea typeface="Roboto"/>
                <a:cs typeface="Roboto"/>
                <a:sym typeface="Roboto"/>
              </a:rPr>
              <a:t>764</a:t>
            </a:r>
            <a:endParaRPr sz="1800">
              <a:solidFill>
                <a:schemeClr val="dk2"/>
              </a:solidFill>
              <a:latin typeface="Roboto"/>
              <a:ea typeface="Roboto"/>
              <a:cs typeface="Roboto"/>
              <a:sym typeface="Roboto"/>
            </a:endParaRPr>
          </a:p>
        </p:txBody>
      </p:sp>
      <p:cxnSp>
        <p:nvCxnSpPr>
          <p:cNvPr id="684" name="Google Shape;684;p77"/>
          <p:cNvCxnSpPr>
            <a:endCxn id="670" idx="0"/>
          </p:cNvCxnSpPr>
          <p:nvPr/>
        </p:nvCxnSpPr>
        <p:spPr>
          <a:xfrm flipH="1">
            <a:off x="5332850" y="3971100"/>
            <a:ext cx="887400" cy="263700"/>
          </a:xfrm>
          <a:prstGeom prst="straightConnector1">
            <a:avLst/>
          </a:prstGeom>
          <a:noFill/>
          <a:ln cap="flat" cmpd="sng" w="9525">
            <a:solidFill>
              <a:schemeClr val="accent5"/>
            </a:solidFill>
            <a:prstDash val="dash"/>
            <a:round/>
            <a:headEnd len="med" w="med" type="none"/>
            <a:tailEnd len="med" w="med" type="none"/>
          </a:ln>
        </p:spPr>
      </p:cxnSp>
      <p:cxnSp>
        <p:nvCxnSpPr>
          <p:cNvPr id="685" name="Google Shape;685;p77"/>
          <p:cNvCxnSpPr/>
          <p:nvPr/>
        </p:nvCxnSpPr>
        <p:spPr>
          <a:xfrm flipH="1">
            <a:off x="6468850" y="4004025"/>
            <a:ext cx="1200" cy="330600"/>
          </a:xfrm>
          <a:prstGeom prst="straightConnector1">
            <a:avLst/>
          </a:prstGeom>
          <a:noFill/>
          <a:ln cap="flat" cmpd="sng" w="9525">
            <a:solidFill>
              <a:schemeClr val="accent5"/>
            </a:solidFill>
            <a:prstDash val="dash"/>
            <a:round/>
            <a:headEnd len="med" w="med" type="none"/>
            <a:tailEnd len="med" w="med" type="none"/>
          </a:ln>
        </p:spPr>
      </p:cxnSp>
      <p:cxnSp>
        <p:nvCxnSpPr>
          <p:cNvPr id="686" name="Google Shape;686;p77"/>
          <p:cNvCxnSpPr>
            <a:endCxn id="672" idx="0"/>
          </p:cNvCxnSpPr>
          <p:nvPr/>
        </p:nvCxnSpPr>
        <p:spPr>
          <a:xfrm>
            <a:off x="6720250" y="3973350"/>
            <a:ext cx="1111200" cy="319500"/>
          </a:xfrm>
          <a:prstGeom prst="straightConnector1">
            <a:avLst/>
          </a:prstGeom>
          <a:noFill/>
          <a:ln cap="flat" cmpd="sng" w="9525">
            <a:solidFill>
              <a:schemeClr val="accent5"/>
            </a:solidFill>
            <a:prstDash val="dash"/>
            <a:round/>
            <a:headEnd len="med" w="med" type="none"/>
            <a:tailEnd len="med" w="med" type="none"/>
          </a:ln>
        </p:spPr>
      </p:cxnSp>
      <p:sp>
        <p:nvSpPr>
          <p:cNvPr id="687" name="Google Shape;687;p77"/>
          <p:cNvSpPr txBox="1"/>
          <p:nvPr/>
        </p:nvSpPr>
        <p:spPr>
          <a:xfrm>
            <a:off x="393450" y="1141025"/>
            <a:ext cx="4005900" cy="2886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Roboto"/>
                <a:ea typeface="Roboto"/>
                <a:cs typeface="Roboto"/>
                <a:sym typeface="Roboto"/>
              </a:rPr>
              <a:t>Octal Notation</a:t>
            </a:r>
            <a:endParaRPr>
              <a:solidFill>
                <a:schemeClr val="lt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78"/>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Demo Summary</a:t>
            </a:r>
            <a:endParaRPr/>
          </a:p>
        </p:txBody>
      </p:sp>
      <p:sp>
        <p:nvSpPr>
          <p:cNvPr id="693" name="Google Shape;693;p78"/>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Let’s Recap</a:t>
            </a:r>
            <a:endParaRPr/>
          </a:p>
        </p:txBody>
      </p:sp>
      <p:pic>
        <p:nvPicPr>
          <p:cNvPr id="694" name="Google Shape;694;p78"/>
          <p:cNvPicPr preferRelativeResize="0"/>
          <p:nvPr/>
        </p:nvPicPr>
        <p:blipFill>
          <a:blip r:embed="rId3">
            <a:alphaModFix/>
          </a:blip>
          <a:stretch>
            <a:fillRect/>
          </a:stretch>
        </p:blipFill>
        <p:spPr>
          <a:xfrm>
            <a:off x="233072" y="281426"/>
            <a:ext cx="448267" cy="440325"/>
          </a:xfrm>
          <a:prstGeom prst="rect">
            <a:avLst/>
          </a:prstGeom>
          <a:noFill/>
          <a:ln>
            <a:noFill/>
          </a:ln>
        </p:spPr>
      </p:pic>
      <p:grpSp>
        <p:nvGrpSpPr>
          <p:cNvPr id="695" name="Google Shape;695;p78"/>
          <p:cNvGrpSpPr/>
          <p:nvPr/>
        </p:nvGrpSpPr>
        <p:grpSpPr>
          <a:xfrm>
            <a:off x="-3" y="1068217"/>
            <a:ext cx="8686828" cy="400200"/>
            <a:chOff x="-3" y="1885788"/>
            <a:chExt cx="8686828" cy="400200"/>
          </a:xfrm>
        </p:grpSpPr>
        <p:cxnSp>
          <p:nvCxnSpPr>
            <p:cNvPr id="696" name="Google Shape;696;p78"/>
            <p:cNvCxnSpPr/>
            <p:nvPr/>
          </p:nvCxnSpPr>
          <p:spPr>
            <a:xfrm>
              <a:off x="-3" y="2085888"/>
              <a:ext cx="662400" cy="0"/>
            </a:xfrm>
            <a:prstGeom prst="straightConnector1">
              <a:avLst/>
            </a:prstGeom>
            <a:noFill/>
            <a:ln cap="flat" cmpd="sng" w="19050">
              <a:solidFill>
                <a:srgbClr val="2E5E73"/>
              </a:solidFill>
              <a:prstDash val="solid"/>
              <a:round/>
              <a:headEnd len="sm" w="sm" type="none"/>
              <a:tailEnd len="med" w="med" type="oval"/>
            </a:ln>
          </p:spPr>
        </p:cxnSp>
        <p:cxnSp>
          <p:nvCxnSpPr>
            <p:cNvPr id="697" name="Google Shape;697;p78"/>
            <p:cNvCxnSpPr/>
            <p:nvPr/>
          </p:nvCxnSpPr>
          <p:spPr>
            <a:xfrm>
              <a:off x="-3" y="2085888"/>
              <a:ext cx="672900" cy="0"/>
            </a:xfrm>
            <a:prstGeom prst="straightConnector1">
              <a:avLst/>
            </a:prstGeom>
            <a:noFill/>
            <a:ln cap="flat" cmpd="sng" w="19050">
              <a:solidFill>
                <a:srgbClr val="2E5E73"/>
              </a:solidFill>
              <a:prstDash val="solid"/>
              <a:round/>
              <a:headEnd len="sm" w="sm" type="none"/>
              <a:tailEnd len="med" w="med" type="oval"/>
            </a:ln>
          </p:spPr>
        </p:cxnSp>
        <p:sp>
          <p:nvSpPr>
            <p:cNvPr id="698" name="Google Shape;698;p78"/>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78"/>
            <p:cNvSpPr/>
            <p:nvPr/>
          </p:nvSpPr>
          <p:spPr>
            <a:xfrm>
              <a:off x="513600" y="1924338"/>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00" name="Google Shape;700;p78"/>
            <p:cNvSpPr/>
            <p:nvPr/>
          </p:nvSpPr>
          <p:spPr>
            <a:xfrm>
              <a:off x="593400" y="2004138"/>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01" name="Google Shape;701;p78"/>
          <p:cNvGrpSpPr/>
          <p:nvPr/>
        </p:nvGrpSpPr>
        <p:grpSpPr>
          <a:xfrm>
            <a:off x="-3" y="1753959"/>
            <a:ext cx="8686828" cy="400200"/>
            <a:chOff x="-3" y="2566213"/>
            <a:chExt cx="8686828" cy="400200"/>
          </a:xfrm>
        </p:grpSpPr>
        <p:cxnSp>
          <p:nvCxnSpPr>
            <p:cNvPr id="702" name="Google Shape;702;p78"/>
            <p:cNvCxnSpPr/>
            <p:nvPr/>
          </p:nvCxnSpPr>
          <p:spPr>
            <a:xfrm>
              <a:off x="-3" y="2766313"/>
              <a:ext cx="666300" cy="0"/>
            </a:xfrm>
            <a:prstGeom prst="straightConnector1">
              <a:avLst/>
            </a:prstGeom>
            <a:noFill/>
            <a:ln cap="flat" cmpd="sng" w="19050">
              <a:solidFill>
                <a:srgbClr val="2E5E73"/>
              </a:solidFill>
              <a:prstDash val="solid"/>
              <a:round/>
              <a:headEnd len="sm" w="sm" type="none"/>
              <a:tailEnd len="med" w="med" type="oval"/>
            </a:ln>
          </p:spPr>
        </p:cxnSp>
        <p:sp>
          <p:nvSpPr>
            <p:cNvPr id="703" name="Google Shape;703;p78"/>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p78"/>
            <p:cNvSpPr/>
            <p:nvPr/>
          </p:nvSpPr>
          <p:spPr>
            <a:xfrm>
              <a:off x="513600" y="2604763"/>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05" name="Google Shape;705;p78"/>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06" name="Google Shape;706;p78"/>
          <p:cNvGrpSpPr/>
          <p:nvPr/>
        </p:nvGrpSpPr>
        <p:grpSpPr>
          <a:xfrm>
            <a:off x="-3" y="2439701"/>
            <a:ext cx="8684268" cy="402300"/>
            <a:chOff x="-3" y="3236976"/>
            <a:chExt cx="8684268" cy="402300"/>
          </a:xfrm>
        </p:grpSpPr>
        <p:cxnSp>
          <p:nvCxnSpPr>
            <p:cNvPr id="707" name="Google Shape;707;p78"/>
            <p:cNvCxnSpPr/>
            <p:nvPr/>
          </p:nvCxnSpPr>
          <p:spPr>
            <a:xfrm>
              <a:off x="-3" y="3438126"/>
              <a:ext cx="686400" cy="0"/>
            </a:xfrm>
            <a:prstGeom prst="straightConnector1">
              <a:avLst/>
            </a:prstGeom>
            <a:noFill/>
            <a:ln cap="flat" cmpd="sng" w="19050">
              <a:solidFill>
                <a:srgbClr val="2E5E73"/>
              </a:solidFill>
              <a:prstDash val="solid"/>
              <a:round/>
              <a:headEnd len="sm" w="sm" type="none"/>
              <a:tailEnd len="med" w="med" type="oval"/>
            </a:ln>
          </p:spPr>
        </p:cxnSp>
        <p:sp>
          <p:nvSpPr>
            <p:cNvPr id="708" name="Google Shape;708;p78"/>
            <p:cNvSpPr/>
            <p:nvPr/>
          </p:nvSpPr>
          <p:spPr>
            <a:xfrm>
              <a:off x="593565" y="3236976"/>
              <a:ext cx="8090700" cy="40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78"/>
            <p:cNvSpPr/>
            <p:nvPr/>
          </p:nvSpPr>
          <p:spPr>
            <a:xfrm>
              <a:off x="511040" y="3275676"/>
              <a:ext cx="323100" cy="3249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10" name="Google Shape;710;p78"/>
            <p:cNvSpPr/>
            <p:nvPr/>
          </p:nvSpPr>
          <p:spPr>
            <a:xfrm>
              <a:off x="590840" y="3355926"/>
              <a:ext cx="163500" cy="164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11" name="Google Shape;711;p78"/>
          <p:cNvGrpSpPr/>
          <p:nvPr/>
        </p:nvGrpSpPr>
        <p:grpSpPr>
          <a:xfrm>
            <a:off x="-3" y="3124622"/>
            <a:ext cx="8686828" cy="400200"/>
            <a:chOff x="-3" y="2566213"/>
            <a:chExt cx="8686828" cy="400200"/>
          </a:xfrm>
        </p:grpSpPr>
        <p:cxnSp>
          <p:nvCxnSpPr>
            <p:cNvPr id="712" name="Google Shape;712;p78"/>
            <p:cNvCxnSpPr/>
            <p:nvPr/>
          </p:nvCxnSpPr>
          <p:spPr>
            <a:xfrm>
              <a:off x="-3" y="2766313"/>
              <a:ext cx="666300" cy="0"/>
            </a:xfrm>
            <a:prstGeom prst="straightConnector1">
              <a:avLst/>
            </a:prstGeom>
            <a:noFill/>
            <a:ln cap="flat" cmpd="sng" w="19050">
              <a:solidFill>
                <a:srgbClr val="2E5E73"/>
              </a:solidFill>
              <a:prstDash val="solid"/>
              <a:round/>
              <a:headEnd len="sm" w="sm" type="none"/>
              <a:tailEnd len="med" w="med" type="oval"/>
            </a:ln>
          </p:spPr>
        </p:cxnSp>
        <p:sp>
          <p:nvSpPr>
            <p:cNvPr id="713" name="Google Shape;713;p78"/>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78"/>
            <p:cNvSpPr/>
            <p:nvPr/>
          </p:nvSpPr>
          <p:spPr>
            <a:xfrm>
              <a:off x="513600" y="2604763"/>
              <a:ext cx="323100" cy="323100"/>
            </a:xfrm>
            <a:prstGeom prst="ellipse">
              <a:avLst/>
            </a:prstGeom>
            <a:solidFill>
              <a:srgbClr val="F2F2F2"/>
            </a:solidFill>
            <a:ln cap="flat" cmpd="sng" w="76200">
              <a:solidFill>
                <a:srgbClr val="2E5E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15" name="Google Shape;715;p78"/>
            <p:cNvSpPr/>
            <p:nvPr/>
          </p:nvSpPr>
          <p:spPr>
            <a:xfrm>
              <a:off x="593400" y="2684563"/>
              <a:ext cx="163500" cy="1635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716" name="Google Shape;716;p78"/>
          <p:cNvSpPr txBox="1"/>
          <p:nvPr/>
        </p:nvSpPr>
        <p:spPr>
          <a:xfrm>
            <a:off x="914400" y="1009045"/>
            <a:ext cx="7772400" cy="57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l</a:t>
            </a:r>
            <a:r>
              <a:rPr b="1" lang="en" sz="1800">
                <a:solidFill>
                  <a:srgbClr val="082D49"/>
                </a:solidFill>
                <a:latin typeface="Inconsolata"/>
                <a:ea typeface="Inconsolata"/>
                <a:cs typeface="Inconsolata"/>
                <a:sym typeface="Inconsolata"/>
              </a:rPr>
              <a:t>s -l</a:t>
            </a:r>
            <a:endParaRPr b="1" sz="1800">
              <a:solidFill>
                <a:srgbClr val="082D49"/>
              </a:solidFill>
              <a:latin typeface="Inconsolata"/>
              <a:ea typeface="Inconsolata"/>
              <a:cs typeface="Inconsolata"/>
              <a:sym typeface="Inconsolata"/>
            </a:endParaRPr>
          </a:p>
        </p:txBody>
      </p:sp>
      <p:sp>
        <p:nvSpPr>
          <p:cNvPr id="717" name="Google Shape;717;p78"/>
          <p:cNvSpPr txBox="1"/>
          <p:nvPr/>
        </p:nvSpPr>
        <p:spPr>
          <a:xfrm>
            <a:off x="914400" y="177080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c</a:t>
            </a:r>
            <a:r>
              <a:rPr b="1" lang="en" sz="1800">
                <a:solidFill>
                  <a:srgbClr val="082D49"/>
                </a:solidFill>
                <a:latin typeface="Inconsolata"/>
                <a:ea typeface="Inconsolata"/>
                <a:cs typeface="Inconsolata"/>
                <a:sym typeface="Inconsolata"/>
              </a:rPr>
              <a:t>hown user:group</a:t>
            </a:r>
            <a:endParaRPr sz="1800">
              <a:solidFill>
                <a:srgbClr val="082D49"/>
              </a:solidFill>
              <a:latin typeface="Roboto"/>
              <a:ea typeface="Roboto"/>
              <a:cs typeface="Roboto"/>
              <a:sym typeface="Roboto"/>
            </a:endParaRPr>
          </a:p>
        </p:txBody>
      </p:sp>
      <p:sp>
        <p:nvSpPr>
          <p:cNvPr id="718" name="Google Shape;718;p78"/>
          <p:cNvSpPr txBox="1"/>
          <p:nvPr/>
        </p:nvSpPr>
        <p:spPr>
          <a:xfrm>
            <a:off x="914400" y="245633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b="1" lang="en" sz="1800">
                <a:solidFill>
                  <a:srgbClr val="082D49"/>
                </a:solidFill>
                <a:latin typeface="Inconsolata"/>
                <a:ea typeface="Inconsolata"/>
                <a:cs typeface="Inconsolata"/>
                <a:sym typeface="Inconsolata"/>
              </a:rPr>
              <a:t>c</a:t>
            </a:r>
            <a:r>
              <a:rPr b="1" lang="en" sz="1800">
                <a:solidFill>
                  <a:srgbClr val="082D49"/>
                </a:solidFill>
                <a:latin typeface="Inconsolata"/>
                <a:ea typeface="Inconsolata"/>
                <a:cs typeface="Inconsolata"/>
                <a:sym typeface="Inconsolata"/>
              </a:rPr>
              <a:t>hmod </a:t>
            </a:r>
            <a:endParaRPr sz="1800">
              <a:solidFill>
                <a:srgbClr val="082D49"/>
              </a:solidFill>
              <a:latin typeface="Roboto"/>
              <a:ea typeface="Roboto"/>
              <a:cs typeface="Roboto"/>
              <a:sym typeface="Roboto"/>
            </a:endParaRPr>
          </a:p>
        </p:txBody>
      </p:sp>
      <p:sp>
        <p:nvSpPr>
          <p:cNvPr id="719" name="Google Shape;719;p78"/>
          <p:cNvSpPr txBox="1"/>
          <p:nvPr/>
        </p:nvSpPr>
        <p:spPr>
          <a:xfrm>
            <a:off x="914400" y="3141875"/>
            <a:ext cx="76809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Symbolic &amp; octal notation</a:t>
            </a:r>
            <a:endParaRPr sz="1800">
              <a:solidFill>
                <a:srgbClr val="082D49"/>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79"/>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25 </a:t>
            </a:r>
            <a:r>
              <a:rPr lang="en"/>
              <a:t>Minutes</a:t>
            </a:r>
            <a:endParaRPr/>
          </a:p>
        </p:txBody>
      </p:sp>
      <p:sp>
        <p:nvSpPr>
          <p:cNvPr id="725" name="Google Shape;725;p79"/>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Access Controls and Permissions</a:t>
            </a:r>
            <a:endParaRPr/>
          </a:p>
        </p:txBody>
      </p:sp>
      <p:sp>
        <p:nvSpPr>
          <p:cNvPr id="726" name="Google Shape;726;p79"/>
          <p:cNvSpPr txBox="1"/>
          <p:nvPr>
            <p:ph idx="3" type="body"/>
          </p:nvPr>
        </p:nvSpPr>
        <p:spPr>
          <a:xfrm>
            <a:off x="459075" y="1363425"/>
            <a:ext cx="78822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inspect and set file permissions on some of the most sensitive files on the Linux system.</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The senior administrator would like you to make sure a few important files and directories are secure by checking and modifying their permissions.</a:t>
            </a:r>
            <a:endParaRPr/>
          </a:p>
        </p:txBody>
      </p:sp>
      <p:pic>
        <p:nvPicPr>
          <p:cNvPr id="727" name="Google Shape;727;p79"/>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8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Managing</a:t>
            </a:r>
            <a:r>
              <a:rPr b="0" lang="en">
                <a:latin typeface="Roboto"/>
                <a:ea typeface="Roboto"/>
                <a:cs typeface="Roboto"/>
                <a:sym typeface="Roboto"/>
              </a:rPr>
              <a:t> Services</a:t>
            </a:r>
            <a:endParaRPr>
              <a:latin typeface="Inconsolata"/>
              <a:ea typeface="Inconsolata"/>
              <a:cs typeface="Inconsolata"/>
              <a:sym typeface="Inconsolata"/>
            </a:endParaRPr>
          </a:p>
        </p:txBody>
      </p:sp>
      <p:pic>
        <p:nvPicPr>
          <p:cNvPr id="745" name="Google Shape;745;p83"/>
          <p:cNvPicPr preferRelativeResize="0"/>
          <p:nvPr/>
        </p:nvPicPr>
        <p:blipFill>
          <a:blip r:embed="rId3">
            <a:alphaModFix/>
          </a:blip>
          <a:stretch>
            <a:fillRect/>
          </a:stretch>
        </p:blipFill>
        <p:spPr>
          <a:xfrm>
            <a:off x="4134720" y="1946850"/>
            <a:ext cx="874555" cy="6783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84"/>
          <p:cNvSpPr txBox="1"/>
          <p:nvPr/>
        </p:nvSpPr>
        <p:spPr>
          <a:xfrm>
            <a:off x="1642750" y="1039700"/>
            <a:ext cx="5929500" cy="3131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 sz="3400">
                <a:solidFill>
                  <a:schemeClr val="dk2"/>
                </a:solidFill>
                <a:latin typeface="Roboto"/>
                <a:ea typeface="Roboto"/>
                <a:cs typeface="Roboto"/>
                <a:sym typeface="Roboto"/>
              </a:rPr>
              <a:t>Servers</a:t>
            </a:r>
            <a:r>
              <a:rPr lang="en" sz="3400">
                <a:solidFill>
                  <a:schemeClr val="dk2"/>
                </a:solidFill>
                <a:latin typeface="Roboto"/>
                <a:ea typeface="Roboto"/>
                <a:cs typeface="Roboto"/>
                <a:sym typeface="Roboto"/>
              </a:rPr>
              <a:t> are just computers that offer services to other computers.</a:t>
            </a:r>
            <a:endParaRPr i="0" sz="3400" u="none" cap="none" strike="noStrike">
              <a:solidFill>
                <a:schemeClr val="dk2"/>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pic>
        <p:nvPicPr>
          <p:cNvPr id="755" name="Google Shape;755;p85"/>
          <p:cNvPicPr preferRelativeResize="0"/>
          <p:nvPr/>
        </p:nvPicPr>
        <p:blipFill>
          <a:blip r:embed="rId3">
            <a:alphaModFix/>
          </a:blip>
          <a:stretch>
            <a:fillRect/>
          </a:stretch>
        </p:blipFill>
        <p:spPr>
          <a:xfrm>
            <a:off x="0" y="0"/>
            <a:ext cx="9144000" cy="5143500"/>
          </a:xfrm>
          <a:prstGeom prst="rect">
            <a:avLst/>
          </a:prstGeom>
          <a:noFill/>
          <a:ln>
            <a:noFill/>
          </a:ln>
        </p:spPr>
      </p:pic>
      <p:sp>
        <p:nvSpPr>
          <p:cNvPr id="756" name="Google Shape;756;p85"/>
          <p:cNvSpPr txBox="1"/>
          <p:nvPr>
            <p:ph type="title"/>
          </p:nvPr>
        </p:nvSpPr>
        <p:spPr>
          <a:xfrm>
            <a:off x="257200" y="17085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solidFill>
                  <a:schemeClr val="dk2"/>
                </a:solidFill>
              </a:rPr>
              <a:t>Managing Services</a:t>
            </a:r>
            <a:endParaRPr>
              <a:solidFill>
                <a:schemeClr val="dk2"/>
              </a:solidFill>
            </a:endParaRPr>
          </a:p>
        </p:txBody>
      </p:sp>
      <p:sp>
        <p:nvSpPr>
          <p:cNvPr id="757" name="Google Shape;757;p85"/>
          <p:cNvSpPr txBox="1"/>
          <p:nvPr>
            <p:ph idx="1" type="body"/>
          </p:nvPr>
        </p:nvSpPr>
        <p:spPr>
          <a:xfrm>
            <a:off x="408450" y="950775"/>
            <a:ext cx="4143900" cy="2980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solidFill>
                  <a:schemeClr val="dk2"/>
                </a:solidFill>
              </a:rPr>
              <a:t>A </a:t>
            </a:r>
            <a:r>
              <a:rPr b="1" lang="en">
                <a:solidFill>
                  <a:schemeClr val="dk2"/>
                </a:solidFill>
              </a:rPr>
              <a:t>service</a:t>
            </a:r>
            <a:r>
              <a:rPr lang="en">
                <a:solidFill>
                  <a:schemeClr val="dk2"/>
                </a:solidFill>
              </a:rPr>
              <a:t> is a function or capability that a machine makes available to another. </a:t>
            </a:r>
            <a:endParaRPr>
              <a:solidFill>
                <a:schemeClr val="dk2"/>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2"/>
                </a:solidFill>
              </a:rPr>
              <a:t>For example, file-sharing services allow computers to send and receive data.</a:t>
            </a:r>
            <a:endParaRPr>
              <a:solidFill>
                <a:schemeClr val="dk2"/>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86"/>
          <p:cNvSpPr txBox="1"/>
          <p:nvPr>
            <p:ph type="title"/>
          </p:nvPr>
        </p:nvSpPr>
        <p:spPr>
          <a:xfrm>
            <a:off x="308250" y="93100"/>
            <a:ext cx="8832300" cy="572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solidFill>
                  <a:schemeClr val="accent5"/>
                </a:solidFill>
              </a:rPr>
              <a:t>Managing Services</a:t>
            </a:r>
            <a:endParaRPr>
              <a:solidFill>
                <a:schemeClr val="accent5"/>
              </a:solidFill>
            </a:endParaRPr>
          </a:p>
          <a:p>
            <a:pPr indent="0" lvl="0" marL="0" rtl="0" algn="l">
              <a:spcBef>
                <a:spcPts val="0"/>
              </a:spcBef>
              <a:spcAft>
                <a:spcPts val="0"/>
              </a:spcAft>
              <a:buNone/>
            </a:pPr>
            <a:r>
              <a:t/>
            </a:r>
            <a:endParaRPr/>
          </a:p>
        </p:txBody>
      </p:sp>
      <p:sp>
        <p:nvSpPr>
          <p:cNvPr id="763" name="Google Shape;763;p86"/>
          <p:cNvSpPr txBox="1"/>
          <p:nvPr>
            <p:ph idx="1" type="body"/>
          </p:nvPr>
        </p:nvSpPr>
        <p:spPr>
          <a:xfrm>
            <a:off x="375025" y="666075"/>
            <a:ext cx="8520600" cy="861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solidFill>
                  <a:schemeClr val="accent5"/>
                </a:solidFill>
              </a:rPr>
              <a:t>Some services, like Tripwire, are only run locally on the server and are not provided to other computers. These services are packages that can be installed and removed just like other programs.</a:t>
            </a:r>
            <a:endParaRPr>
              <a:solidFill>
                <a:schemeClr val="accent5"/>
              </a:solidFill>
            </a:endParaRPr>
          </a:p>
        </p:txBody>
      </p:sp>
      <p:sp>
        <p:nvSpPr>
          <p:cNvPr id="764" name="Google Shape;764;p86"/>
          <p:cNvSpPr txBox="1"/>
          <p:nvPr>
            <p:ph idx="4294967295" type="subTitle"/>
          </p:nvPr>
        </p:nvSpPr>
        <p:spPr>
          <a:xfrm>
            <a:off x="1172100" y="4825550"/>
            <a:ext cx="7971900" cy="226800"/>
          </a:xfrm>
          <a:prstGeom prst="rect">
            <a:avLst/>
          </a:prstGeom>
        </p:spPr>
        <p:txBody>
          <a:bodyPr anchorCtr="0" anchor="t" bIns="91425" lIns="0" spcFirstLastPara="1" rIns="91425" wrap="square" tIns="0">
            <a:noAutofit/>
          </a:bodyPr>
          <a:lstStyle/>
          <a:p>
            <a:pPr indent="0" lvl="0" marL="0" rtl="0" algn="r">
              <a:spcBef>
                <a:spcPts val="0"/>
              </a:spcBef>
              <a:spcAft>
                <a:spcPts val="0"/>
              </a:spcAft>
              <a:buNone/>
            </a:pPr>
            <a:r>
              <a:rPr lang="en" sz="1000" u="sng">
                <a:solidFill>
                  <a:schemeClr val="hlink"/>
                </a:solidFill>
                <a:hlinkClick r:id="rId3"/>
              </a:rPr>
              <a:t>tripwire.com</a:t>
            </a:r>
            <a:endParaRPr sz="1000"/>
          </a:p>
        </p:txBody>
      </p:sp>
      <p:pic>
        <p:nvPicPr>
          <p:cNvPr id="765" name="Google Shape;765;p86"/>
          <p:cNvPicPr preferRelativeResize="0"/>
          <p:nvPr/>
        </p:nvPicPr>
        <p:blipFill>
          <a:blip r:embed="rId4">
            <a:alphaModFix/>
          </a:blip>
          <a:stretch>
            <a:fillRect/>
          </a:stretch>
        </p:blipFill>
        <p:spPr>
          <a:xfrm>
            <a:off x="937350" y="1708575"/>
            <a:ext cx="7269290" cy="29314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87"/>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SMB</a:t>
            </a:r>
            <a:endParaRPr/>
          </a:p>
        </p:txBody>
      </p:sp>
      <p:sp>
        <p:nvSpPr>
          <p:cNvPr id="771" name="Google Shape;771;p87"/>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Server Message Block</a:t>
            </a:r>
            <a:endParaRPr/>
          </a:p>
        </p:txBody>
      </p:sp>
      <p:sp>
        <p:nvSpPr>
          <p:cNvPr id="772" name="Google Shape;772;p87"/>
          <p:cNvSpPr txBox="1"/>
          <p:nvPr>
            <p:ph idx="2" type="body"/>
          </p:nvPr>
        </p:nvSpPr>
        <p:spPr>
          <a:xfrm>
            <a:off x="281700" y="1063525"/>
            <a:ext cx="4290300" cy="3520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t>Server Message Block (SMB):</a:t>
            </a:r>
            <a:endParaRPr b="1"/>
          </a:p>
          <a:p>
            <a:pPr indent="0" lvl="0" marL="0" rtl="0" algn="l">
              <a:spcBef>
                <a:spcPts val="0"/>
              </a:spcBef>
              <a:spcAft>
                <a:spcPts val="0"/>
              </a:spcAft>
              <a:buNone/>
            </a:pPr>
            <a:r>
              <a:t/>
            </a:r>
            <a:endParaRPr b="1"/>
          </a:p>
          <a:p>
            <a:pPr indent="-342900" lvl="0" marL="457200" rtl="0" algn="l">
              <a:lnSpc>
                <a:spcPct val="150000"/>
              </a:lnSpc>
              <a:spcBef>
                <a:spcPts val="0"/>
              </a:spcBef>
              <a:spcAft>
                <a:spcPts val="0"/>
              </a:spcAft>
              <a:buSzPts val="1800"/>
              <a:buChar char="●"/>
            </a:pPr>
            <a:r>
              <a:rPr lang="en"/>
              <a:t>File sharing protocol</a:t>
            </a:r>
            <a:endParaRPr/>
          </a:p>
          <a:p>
            <a:pPr indent="-342900" lvl="0" marL="457200" rtl="0" algn="l">
              <a:lnSpc>
                <a:spcPct val="150000"/>
              </a:lnSpc>
              <a:spcBef>
                <a:spcPts val="0"/>
              </a:spcBef>
              <a:spcAft>
                <a:spcPts val="0"/>
              </a:spcAft>
              <a:buSzPts val="1800"/>
              <a:buChar char="●"/>
            </a:pPr>
            <a:r>
              <a:rPr lang="en"/>
              <a:t>Windows devices</a:t>
            </a:r>
            <a:endParaRPr/>
          </a:p>
          <a:p>
            <a:pPr indent="-342900" lvl="0" marL="457200" rtl="0" algn="l">
              <a:lnSpc>
                <a:spcPct val="150000"/>
              </a:lnSpc>
              <a:spcBef>
                <a:spcPts val="0"/>
              </a:spcBef>
              <a:spcAft>
                <a:spcPts val="0"/>
              </a:spcAft>
              <a:buSzPts val="1800"/>
              <a:buChar char="●"/>
            </a:pPr>
            <a:r>
              <a:rPr lang="en"/>
              <a:t>Open-source version is Samba</a:t>
            </a:r>
            <a:endParaRPr/>
          </a:p>
          <a:p>
            <a:pPr indent="-342900" lvl="0" marL="457200" rtl="0" algn="l">
              <a:lnSpc>
                <a:spcPct val="150000"/>
              </a:lnSpc>
              <a:spcBef>
                <a:spcPts val="0"/>
              </a:spcBef>
              <a:spcAft>
                <a:spcPts val="0"/>
              </a:spcAft>
              <a:buSzPts val="1800"/>
              <a:buChar char="●"/>
            </a:pPr>
            <a:r>
              <a:rPr lang="en"/>
              <a:t>Useful, but risky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773" name="Google Shape;773;p87"/>
          <p:cNvPicPr preferRelativeResize="0"/>
          <p:nvPr/>
        </p:nvPicPr>
        <p:blipFill rotWithShape="1">
          <a:blip r:embed="rId3">
            <a:alphaModFix/>
          </a:blip>
          <a:srcRect b="0" l="10000" r="10000" t="0"/>
          <a:stretch/>
        </p:blipFill>
        <p:spPr>
          <a:xfrm>
            <a:off x="310919" y="274350"/>
            <a:ext cx="292567" cy="365701"/>
          </a:xfrm>
          <a:prstGeom prst="rect">
            <a:avLst/>
          </a:prstGeom>
          <a:noFill/>
          <a:ln>
            <a:noFill/>
          </a:ln>
        </p:spPr>
      </p:pic>
      <p:pic>
        <p:nvPicPr>
          <p:cNvPr id="774" name="Google Shape;774;p87"/>
          <p:cNvPicPr preferRelativeResize="0"/>
          <p:nvPr/>
        </p:nvPicPr>
        <p:blipFill>
          <a:blip r:embed="rId4">
            <a:alphaModFix/>
          </a:blip>
          <a:stretch>
            <a:fillRect/>
          </a:stretch>
        </p:blipFill>
        <p:spPr>
          <a:xfrm>
            <a:off x="4619175" y="1665925"/>
            <a:ext cx="4109952" cy="27453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778" name="Shape 778"/>
        <p:cNvGrpSpPr/>
        <p:nvPr/>
      </p:nvGrpSpPr>
      <p:grpSpPr>
        <a:xfrm>
          <a:off x="0" y="0"/>
          <a:ext cx="0" cy="0"/>
          <a:chOff x="0" y="0"/>
          <a:chExt cx="0" cy="0"/>
        </a:xfrm>
      </p:grpSpPr>
      <p:cxnSp>
        <p:nvCxnSpPr>
          <p:cNvPr id="779" name="Google Shape;779;p88"/>
          <p:cNvCxnSpPr/>
          <p:nvPr/>
        </p:nvCxnSpPr>
        <p:spPr>
          <a:xfrm>
            <a:off x="-9375" y="853700"/>
            <a:ext cx="7346700" cy="0"/>
          </a:xfrm>
          <a:prstGeom prst="straightConnector1">
            <a:avLst/>
          </a:prstGeom>
          <a:noFill/>
          <a:ln cap="flat" cmpd="sng" w="19050">
            <a:solidFill>
              <a:srgbClr val="2E5E73"/>
            </a:solidFill>
            <a:prstDash val="solid"/>
            <a:round/>
            <a:headEnd len="med" w="med" type="none"/>
            <a:tailEnd len="med" w="med" type="oval"/>
          </a:ln>
        </p:spPr>
      </p:cxnSp>
      <p:sp>
        <p:nvSpPr>
          <p:cNvPr id="780" name="Google Shape;780;p88"/>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Scenario</a:t>
            </a:r>
            <a:endParaRPr sz="2600">
              <a:solidFill>
                <a:schemeClr val="accent5"/>
              </a:solidFill>
              <a:latin typeface="Roboto Light"/>
              <a:ea typeface="Roboto Light"/>
              <a:cs typeface="Roboto Light"/>
              <a:sym typeface="Roboto Light"/>
            </a:endParaRPr>
          </a:p>
        </p:txBody>
      </p:sp>
      <p:sp>
        <p:nvSpPr>
          <p:cNvPr id="781" name="Google Shape;781;p88"/>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88"/>
          <p:cNvSpPr txBox="1"/>
          <p:nvPr/>
        </p:nvSpPr>
        <p:spPr>
          <a:xfrm>
            <a:off x="724200" y="47865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2E5E73"/>
              </a:solidFill>
              <a:latin typeface="Roboto Light"/>
              <a:ea typeface="Roboto Light"/>
              <a:cs typeface="Roboto Light"/>
              <a:sym typeface="Roboto Light"/>
            </a:endParaRPr>
          </a:p>
        </p:txBody>
      </p:sp>
      <p:pic>
        <p:nvPicPr>
          <p:cNvPr id="783" name="Google Shape;783;p88"/>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784" name="Google Shape;784;p88"/>
          <p:cNvSpPr txBox="1"/>
          <p:nvPr>
            <p:ph idx="1" type="body"/>
          </p:nvPr>
        </p:nvSpPr>
        <p:spPr>
          <a:xfrm>
            <a:off x="320450" y="1019525"/>
            <a:ext cx="5094900" cy="39249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sz="1500">
                <a:solidFill>
                  <a:schemeClr val="accent5"/>
                </a:solidFill>
              </a:rPr>
              <a:t>The server has already been </a:t>
            </a:r>
            <a:r>
              <a:rPr b="1" lang="en" sz="1500">
                <a:solidFill>
                  <a:schemeClr val="accent5"/>
                </a:solidFill>
              </a:rPr>
              <a:t>compromised</a:t>
            </a:r>
            <a:r>
              <a:rPr lang="en" sz="1500">
                <a:solidFill>
                  <a:schemeClr val="accent5"/>
                </a:solidFill>
              </a:rPr>
              <a:t>, and you will proceed by stopping the SMB service, and then uninstalling it from the system. </a:t>
            </a:r>
            <a:endParaRPr sz="1500">
              <a:solidFill>
                <a:schemeClr val="accent5"/>
              </a:solidFill>
            </a:endParaRPr>
          </a:p>
          <a:p>
            <a:pPr indent="0" lvl="0" marL="457200" rtl="0" algn="l">
              <a:lnSpc>
                <a:spcPct val="100000"/>
              </a:lnSpc>
              <a:spcBef>
                <a:spcPts val="0"/>
              </a:spcBef>
              <a:spcAft>
                <a:spcPts val="0"/>
              </a:spcAft>
              <a:buNone/>
            </a:pPr>
            <a:r>
              <a:t/>
            </a:r>
            <a:endParaRPr sz="1500">
              <a:solidFill>
                <a:schemeClr val="accent5"/>
              </a:solidFill>
            </a:endParaRPr>
          </a:p>
          <a:p>
            <a:pPr indent="-323850" lvl="0" marL="457200" rtl="0" algn="l">
              <a:lnSpc>
                <a:spcPct val="100000"/>
              </a:lnSpc>
              <a:spcBef>
                <a:spcPts val="0"/>
              </a:spcBef>
              <a:spcAft>
                <a:spcPts val="0"/>
              </a:spcAft>
              <a:buClr>
                <a:schemeClr val="accent5"/>
              </a:buClr>
              <a:buSzPts val="1500"/>
              <a:buChar char="●"/>
            </a:pPr>
            <a:r>
              <a:rPr lang="en" sz="1500">
                <a:solidFill>
                  <a:schemeClr val="accent5"/>
                </a:solidFill>
              </a:rPr>
              <a:t>Steps required:</a:t>
            </a:r>
            <a:endParaRPr sz="1500">
              <a:solidFill>
                <a:schemeClr val="accent5"/>
              </a:solidFill>
            </a:endParaRPr>
          </a:p>
          <a:p>
            <a:pPr indent="-323850" lvl="1" marL="914400" rtl="0" algn="l">
              <a:lnSpc>
                <a:spcPct val="100000"/>
              </a:lnSpc>
              <a:spcBef>
                <a:spcPts val="1000"/>
              </a:spcBef>
              <a:spcAft>
                <a:spcPts val="0"/>
              </a:spcAft>
              <a:buClr>
                <a:schemeClr val="accent5"/>
              </a:buClr>
              <a:buSzPts val="1500"/>
              <a:buAutoNum type="alphaLcPeriod"/>
            </a:pPr>
            <a:r>
              <a:rPr lang="en" sz="1500">
                <a:solidFill>
                  <a:schemeClr val="accent5"/>
                </a:solidFill>
              </a:rPr>
              <a:t>List all running services.</a:t>
            </a:r>
            <a:endParaRPr sz="1500">
              <a:solidFill>
                <a:schemeClr val="accent5"/>
              </a:solidFill>
            </a:endParaRPr>
          </a:p>
          <a:p>
            <a:pPr indent="-323850" lvl="1" marL="914400" rtl="0" algn="l">
              <a:lnSpc>
                <a:spcPct val="100000"/>
              </a:lnSpc>
              <a:spcBef>
                <a:spcPts val="1000"/>
              </a:spcBef>
              <a:spcAft>
                <a:spcPts val="0"/>
              </a:spcAft>
              <a:buClr>
                <a:schemeClr val="accent5"/>
              </a:buClr>
              <a:buSzPts val="1500"/>
              <a:buAutoNum type="alphaLcPeriod"/>
            </a:pPr>
            <a:r>
              <a:rPr lang="en" sz="1500">
                <a:solidFill>
                  <a:schemeClr val="accent5"/>
                </a:solidFill>
              </a:rPr>
              <a:t>Identify the Samba service in the list to verify that it's running, then stop it.</a:t>
            </a:r>
            <a:endParaRPr sz="1500">
              <a:solidFill>
                <a:schemeClr val="accent5"/>
              </a:solidFill>
            </a:endParaRPr>
          </a:p>
          <a:p>
            <a:pPr indent="-323850" lvl="1" marL="914400" rtl="0" algn="l">
              <a:lnSpc>
                <a:spcPct val="100000"/>
              </a:lnSpc>
              <a:spcBef>
                <a:spcPts val="1000"/>
              </a:spcBef>
              <a:spcAft>
                <a:spcPts val="0"/>
              </a:spcAft>
              <a:buClr>
                <a:schemeClr val="accent5"/>
              </a:buClr>
              <a:buSzPts val="1500"/>
              <a:buAutoNum type="alphaLcPeriod"/>
            </a:pPr>
            <a:r>
              <a:rPr lang="en" sz="1500">
                <a:solidFill>
                  <a:schemeClr val="accent5"/>
                </a:solidFill>
              </a:rPr>
              <a:t>Ensure that Samba doesn't start when the machine is started up.</a:t>
            </a:r>
            <a:endParaRPr sz="1500">
              <a:solidFill>
                <a:schemeClr val="accent5"/>
              </a:solidFill>
            </a:endParaRPr>
          </a:p>
          <a:p>
            <a:pPr indent="-323850" lvl="1" marL="914400" rtl="0" algn="l">
              <a:lnSpc>
                <a:spcPct val="100000"/>
              </a:lnSpc>
              <a:spcBef>
                <a:spcPts val="1000"/>
              </a:spcBef>
              <a:spcAft>
                <a:spcPts val="0"/>
              </a:spcAft>
              <a:buClr>
                <a:schemeClr val="accent5"/>
              </a:buClr>
              <a:buSzPts val="1500"/>
              <a:buAutoNum type="alphaLcPeriod"/>
            </a:pPr>
            <a:r>
              <a:rPr lang="en" sz="1500">
                <a:solidFill>
                  <a:schemeClr val="accent5"/>
                </a:solidFill>
              </a:rPr>
              <a:t>Ensure that Samba is no longer running.</a:t>
            </a:r>
            <a:endParaRPr sz="1500">
              <a:solidFill>
                <a:schemeClr val="accent5"/>
              </a:solidFill>
            </a:endParaRPr>
          </a:p>
          <a:p>
            <a:pPr indent="-323850" lvl="1" marL="914400" rtl="0" algn="l">
              <a:lnSpc>
                <a:spcPct val="100000"/>
              </a:lnSpc>
              <a:spcBef>
                <a:spcPts val="1000"/>
              </a:spcBef>
              <a:spcAft>
                <a:spcPts val="0"/>
              </a:spcAft>
              <a:buClr>
                <a:schemeClr val="accent5"/>
              </a:buClr>
              <a:buSzPts val="1500"/>
              <a:buAutoNum type="alphaLcPeriod"/>
            </a:pPr>
            <a:r>
              <a:rPr lang="en" sz="1500">
                <a:solidFill>
                  <a:schemeClr val="accent5"/>
                </a:solidFill>
              </a:rPr>
              <a:t>Uninstall the Samba service completely.</a:t>
            </a:r>
            <a:endParaRPr sz="1500">
              <a:solidFill>
                <a:schemeClr val="accent5"/>
              </a:solidFill>
            </a:endParaRPr>
          </a:p>
          <a:p>
            <a:pPr indent="0" lvl="0" marL="914400" rtl="0" algn="l">
              <a:lnSpc>
                <a:spcPct val="100000"/>
              </a:lnSpc>
              <a:spcBef>
                <a:spcPts val="1000"/>
              </a:spcBef>
              <a:spcAft>
                <a:spcPts val="0"/>
              </a:spcAft>
              <a:buNone/>
            </a:pPr>
            <a:r>
              <a:t/>
            </a:r>
            <a:endParaRPr sz="1200">
              <a:solidFill>
                <a:schemeClr val="accent5"/>
              </a:solidFill>
            </a:endParaRPr>
          </a:p>
          <a:p>
            <a:pPr indent="0" lvl="0" marL="457200" rtl="0" algn="l">
              <a:spcBef>
                <a:spcPts val="1000"/>
              </a:spcBef>
              <a:spcAft>
                <a:spcPts val="0"/>
              </a:spcAft>
              <a:buNone/>
            </a:pPr>
            <a:r>
              <a:t/>
            </a:r>
            <a:endParaRPr sz="1200"/>
          </a:p>
          <a:p>
            <a:pPr indent="0" lvl="0" marL="457200" rtl="0" algn="l">
              <a:spcBef>
                <a:spcPts val="1000"/>
              </a:spcBef>
              <a:spcAft>
                <a:spcPts val="1000"/>
              </a:spcAft>
              <a:buNone/>
            </a:pPr>
            <a:r>
              <a:rPr lang="en" sz="1200"/>
              <a:t>.</a:t>
            </a:r>
            <a:endParaRPr sz="1200"/>
          </a:p>
        </p:txBody>
      </p:sp>
      <p:pic>
        <p:nvPicPr>
          <p:cNvPr id="785" name="Google Shape;785;p88"/>
          <p:cNvPicPr preferRelativeResize="0"/>
          <p:nvPr/>
        </p:nvPicPr>
        <p:blipFill>
          <a:blip r:embed="rId4">
            <a:alphaModFix/>
          </a:blip>
          <a:stretch>
            <a:fillRect/>
          </a:stretch>
        </p:blipFill>
        <p:spPr>
          <a:xfrm>
            <a:off x="5665750" y="1901250"/>
            <a:ext cx="3235850" cy="21614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89"/>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Finding and Stopping </a:t>
            </a:r>
            <a:r>
              <a:rPr lang="en">
                <a:latin typeface="Roboto"/>
                <a:ea typeface="Roboto"/>
                <a:cs typeface="Roboto"/>
                <a:sym typeface="Roboto"/>
              </a:rPr>
              <a:t>SMB</a:t>
            </a:r>
            <a:endParaRPr>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90"/>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25 Minutes</a:t>
            </a:r>
            <a:endParaRPr/>
          </a:p>
        </p:txBody>
      </p:sp>
      <p:sp>
        <p:nvSpPr>
          <p:cNvPr id="796" name="Google Shape;796;p90"/>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Managing Services</a:t>
            </a:r>
            <a:endParaRPr/>
          </a:p>
        </p:txBody>
      </p:sp>
      <p:sp>
        <p:nvSpPr>
          <p:cNvPr id="797" name="Google Shape;797;p90"/>
          <p:cNvSpPr txBox="1"/>
          <p:nvPr>
            <p:ph idx="3" type="body"/>
          </p:nvPr>
        </p:nvSpPr>
        <p:spPr>
          <a:xfrm>
            <a:off x="903300" y="1273050"/>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auditing the services running on this server.</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Your senior administrator wants you to audit the services being run on the server and shut down old and unused services. They have provided a list of services to check.</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lang="en"/>
              <a:t>You will check for this list of services and shut down and remove any old service that you find.</a:t>
            </a:r>
            <a:endParaRPr/>
          </a:p>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93"/>
          <p:cNvSpPr txBox="1"/>
          <p:nvPr>
            <p:ph type="title"/>
          </p:nvPr>
        </p:nvSpPr>
        <p:spPr>
          <a:xfrm>
            <a:off x="0" y="2628900"/>
            <a:ext cx="9144000" cy="806400"/>
          </a:xfrm>
          <a:prstGeom prst="rect">
            <a:avLst/>
          </a:prstGeom>
        </p:spPr>
        <p:txBody>
          <a:bodyPr anchorCtr="0" anchor="t" bIns="91425" lIns="0" spcFirstLastPara="1" rIns="0" wrap="square" tIns="91425">
            <a:noAutofit/>
          </a:bodyPr>
          <a:lstStyle/>
          <a:p>
            <a:pPr indent="0" lvl="0" marL="0" rtl="0" algn="ctr">
              <a:spcBef>
                <a:spcPts val="0"/>
              </a:spcBef>
              <a:spcAft>
                <a:spcPts val="0"/>
              </a:spcAft>
              <a:buNone/>
            </a:pPr>
            <a:r>
              <a:rPr lang="en">
                <a:latin typeface="Roboto"/>
                <a:ea typeface="Roboto"/>
                <a:cs typeface="Roboto"/>
                <a:sym typeface="Roboto"/>
              </a:rPr>
              <a:t>Service </a:t>
            </a:r>
            <a:r>
              <a:rPr b="0" lang="en">
                <a:latin typeface="Roboto"/>
                <a:ea typeface="Roboto"/>
                <a:cs typeface="Roboto"/>
                <a:sym typeface="Roboto"/>
              </a:rPr>
              <a:t>Users</a:t>
            </a:r>
            <a:endParaRPr b="0">
              <a:latin typeface="Roboto"/>
              <a:ea typeface="Roboto"/>
              <a:cs typeface="Roboto"/>
              <a:sym typeface="Roboto"/>
            </a:endParaRPr>
          </a:p>
        </p:txBody>
      </p:sp>
      <p:pic>
        <p:nvPicPr>
          <p:cNvPr id="811" name="Google Shape;811;p93"/>
          <p:cNvPicPr preferRelativeResize="0"/>
          <p:nvPr/>
        </p:nvPicPr>
        <p:blipFill rotWithShape="1">
          <a:blip r:embed="rId3">
            <a:alphaModFix/>
          </a:blip>
          <a:srcRect b="0" l="0" r="0" t="0"/>
          <a:stretch/>
        </p:blipFill>
        <p:spPr>
          <a:xfrm>
            <a:off x="4146725" y="1792700"/>
            <a:ext cx="850550" cy="8505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94"/>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a:t>Services</a:t>
            </a:r>
            <a:r>
              <a:rPr lang="en"/>
              <a:t> should be run by a user dedicated to running that service.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5"/>
          <p:cNvSpPr txBox="1"/>
          <p:nvPr>
            <p:ph idx="4294967295" type="subTitle"/>
          </p:nvPr>
        </p:nvSpPr>
        <p:spPr>
          <a:xfrm>
            <a:off x="63900" y="4916650"/>
            <a:ext cx="7971900" cy="2268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sz="1000" u="sng">
                <a:solidFill>
                  <a:schemeClr val="hlink"/>
                </a:solidFill>
                <a:hlinkClick r:id="rId3"/>
              </a:rPr>
              <a:t>https://www.fosslinux.com</a:t>
            </a:r>
            <a:endParaRPr sz="1000"/>
          </a:p>
        </p:txBody>
      </p:sp>
      <p:sp>
        <p:nvSpPr>
          <p:cNvPr id="822" name="Google Shape;822;p95"/>
          <p:cNvSpPr txBox="1"/>
          <p:nvPr>
            <p:ph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Service Users</a:t>
            </a:r>
            <a:endParaRPr/>
          </a:p>
        </p:txBody>
      </p:sp>
      <p:sp>
        <p:nvSpPr>
          <p:cNvPr id="823" name="Google Shape;823;p95"/>
          <p:cNvSpPr txBox="1"/>
          <p:nvPr>
            <p:ph idx="2" type="body"/>
          </p:nvPr>
        </p:nvSpPr>
        <p:spPr>
          <a:xfrm>
            <a:off x="457200" y="1217775"/>
            <a:ext cx="8229600" cy="7248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solidFill>
                  <a:schemeClr val="accent5"/>
                </a:solidFill>
              </a:rPr>
              <a:t>A service user usually has a system UID less than 1000 and cannot log in to use a shell.</a:t>
            </a:r>
            <a:endParaRPr>
              <a:solidFill>
                <a:schemeClr val="accent5"/>
              </a:solidFill>
            </a:endParaRPr>
          </a:p>
        </p:txBody>
      </p:sp>
      <p:sp>
        <p:nvSpPr>
          <p:cNvPr id="824" name="Google Shape;824;p95"/>
          <p:cNvSpPr txBox="1"/>
          <p:nvPr/>
        </p:nvSpPr>
        <p:spPr>
          <a:xfrm>
            <a:off x="420250" y="2965238"/>
            <a:ext cx="8449500" cy="769500"/>
          </a:xfrm>
          <a:prstGeom prst="rect">
            <a:avLst/>
          </a:prstGeom>
          <a:solidFill>
            <a:srgbClr val="000000"/>
          </a:solidFill>
          <a:ln>
            <a:noFill/>
          </a:ln>
        </p:spPr>
        <p:txBody>
          <a:bodyPr anchorCtr="0" anchor="t" bIns="91425" lIns="274300" spcFirstLastPara="1" rIns="91425" wrap="square" tIns="91425">
            <a:spAutoFit/>
          </a:bodyPr>
          <a:lstStyle/>
          <a:p>
            <a:pPr indent="0" lvl="0" marL="0" rtl="0" algn="l">
              <a:spcBef>
                <a:spcPts val="0"/>
              </a:spcBef>
              <a:spcAft>
                <a:spcPts val="0"/>
              </a:spcAft>
              <a:buNone/>
            </a:pPr>
            <a:r>
              <a:rPr lang="en" sz="3800">
                <a:solidFill>
                  <a:schemeClr val="lt1"/>
                </a:solidFill>
                <a:latin typeface="Inconsolata"/>
                <a:ea typeface="Inconsolata"/>
                <a:cs typeface="Inconsolata"/>
                <a:sym typeface="Inconsolata"/>
              </a:rPr>
              <a:t>root</a:t>
            </a:r>
            <a:r>
              <a:rPr lang="en" sz="3800">
                <a:solidFill>
                  <a:schemeClr val="lt1"/>
                </a:solidFill>
                <a:latin typeface="Inconsolata"/>
                <a:ea typeface="Inconsolata"/>
                <a:cs typeface="Inconsolata"/>
                <a:sym typeface="Inconsolata"/>
              </a:rPr>
              <a:t>:x:0:0:root:/root:/bin/bash</a:t>
            </a:r>
            <a:endParaRPr sz="3800">
              <a:solidFill>
                <a:schemeClr val="lt1"/>
              </a:solidFill>
            </a:endParaRPr>
          </a:p>
        </p:txBody>
      </p:sp>
      <p:sp>
        <p:nvSpPr>
          <p:cNvPr id="825" name="Google Shape;825;p95"/>
          <p:cNvSpPr/>
          <p:nvPr/>
        </p:nvSpPr>
        <p:spPr>
          <a:xfrm>
            <a:off x="2322875" y="2967388"/>
            <a:ext cx="348300" cy="769500"/>
          </a:xfrm>
          <a:prstGeom prst="rect">
            <a:avLst/>
          </a:prstGeom>
          <a:noFill/>
          <a:ln cap="flat" cmpd="sng" w="762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95"/>
          <p:cNvSpPr/>
          <p:nvPr/>
        </p:nvSpPr>
        <p:spPr>
          <a:xfrm rot="5400000">
            <a:off x="2290025" y="2581113"/>
            <a:ext cx="414000" cy="274500"/>
          </a:xfrm>
          <a:prstGeom prst="homePlate">
            <a:avLst>
              <a:gd fmla="val 44822" name="adj"/>
            </a:avLst>
          </a:prstGeom>
          <a:solidFill>
            <a:schemeClr val="accent1"/>
          </a:solidFill>
          <a:ln cap="flat" cmpd="sng" w="9525">
            <a:solidFill>
              <a:schemeClr val="accen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95"/>
          <p:cNvSpPr/>
          <p:nvPr/>
        </p:nvSpPr>
        <p:spPr>
          <a:xfrm>
            <a:off x="1634025" y="1771563"/>
            <a:ext cx="1685400" cy="724800"/>
          </a:xfrm>
          <a:prstGeom prst="roundRect">
            <a:avLst>
              <a:gd fmla="val 16667" name="adj"/>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800">
                <a:solidFill>
                  <a:schemeClr val="dk2"/>
                </a:solidFill>
                <a:latin typeface="Roboto"/>
                <a:ea typeface="Roboto"/>
                <a:cs typeface="Roboto"/>
                <a:sym typeface="Roboto"/>
              </a:rPr>
              <a:t>UID</a:t>
            </a:r>
            <a:endParaRPr b="1" sz="2800">
              <a:solidFill>
                <a:schemeClr val="dk2"/>
              </a:solidFill>
              <a:latin typeface="Roboto"/>
              <a:ea typeface="Roboto"/>
              <a:cs typeface="Roboto"/>
              <a:sym typeface="Roboto"/>
            </a:endParaRPr>
          </a:p>
        </p:txBody>
      </p:sp>
      <p:sp>
        <p:nvSpPr>
          <p:cNvPr id="828" name="Google Shape;828;p95"/>
          <p:cNvSpPr txBox="1"/>
          <p:nvPr>
            <p:ph idx="1"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User ID</a:t>
            </a:r>
            <a:endParaRPr/>
          </a:p>
        </p:txBody>
      </p:sp>
      <p:pic>
        <p:nvPicPr>
          <p:cNvPr id="829" name="Google Shape;829;p95"/>
          <p:cNvPicPr preferRelativeResize="0"/>
          <p:nvPr/>
        </p:nvPicPr>
        <p:blipFill rotWithShape="1">
          <a:blip r:embed="rId4">
            <a:alphaModFix/>
          </a:blip>
          <a:srcRect b="0" l="0" r="0" t="0"/>
          <a:stretch/>
        </p:blipFill>
        <p:spPr>
          <a:xfrm>
            <a:off x="274350" y="283300"/>
            <a:ext cx="365700" cy="3657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96"/>
          <p:cNvSpPr txBox="1"/>
          <p:nvPr>
            <p:ph type="title"/>
          </p:nvPr>
        </p:nvSpPr>
        <p:spPr>
          <a:xfrm>
            <a:off x="3657601" y="146300"/>
            <a:ext cx="5029200" cy="365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Service Users</a:t>
            </a:r>
            <a:endParaRPr/>
          </a:p>
          <a:p>
            <a:pPr indent="0" lvl="0" marL="0" rtl="0" algn="l">
              <a:spcBef>
                <a:spcPts val="0"/>
              </a:spcBef>
              <a:spcAft>
                <a:spcPts val="0"/>
              </a:spcAft>
              <a:buNone/>
            </a:pPr>
            <a:r>
              <a:t/>
            </a:r>
            <a:endParaRPr/>
          </a:p>
        </p:txBody>
      </p:sp>
      <p:sp>
        <p:nvSpPr>
          <p:cNvPr id="835" name="Google Shape;835;p96"/>
          <p:cNvSpPr txBox="1"/>
          <p:nvPr>
            <p:ph idx="1" type="body"/>
          </p:nvPr>
        </p:nvSpPr>
        <p:spPr>
          <a:xfrm>
            <a:off x="3657600" y="1054550"/>
            <a:ext cx="5268000" cy="3453300"/>
          </a:xfrm>
          <a:prstGeom prst="rect">
            <a:avLst/>
          </a:prstGeom>
        </p:spPr>
        <p:txBody>
          <a:bodyPr anchorCtr="0" anchor="t" bIns="0" lIns="0" spcFirstLastPara="1" rIns="0" wrap="square" tIns="91425">
            <a:noAutofit/>
          </a:bodyPr>
          <a:lstStyle/>
          <a:p>
            <a:pPr indent="0" lvl="0" marL="0" rtl="0" algn="l">
              <a:lnSpc>
                <a:spcPct val="115000"/>
              </a:lnSpc>
              <a:spcBef>
                <a:spcPts val="0"/>
              </a:spcBef>
              <a:spcAft>
                <a:spcPts val="0"/>
              </a:spcAft>
              <a:buNone/>
            </a:pPr>
            <a:r>
              <a:rPr lang="en"/>
              <a:t>Since service users aren’t humans who need to log into and interact with the machine, it’s best practice to ensure that users cannot log into an interactive shell using a service username.</a:t>
            </a:r>
            <a:endParaRPr/>
          </a:p>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Font typeface="Inconsolata"/>
              <a:buChar char="●"/>
            </a:pPr>
            <a:r>
              <a:rPr b="1" lang="en">
                <a:latin typeface="Inconsolata"/>
                <a:ea typeface="Inconsolata"/>
                <a:cs typeface="Inconsolata"/>
                <a:sym typeface="Inconsolata"/>
              </a:rPr>
              <a:t>f</a:t>
            </a:r>
            <a:r>
              <a:rPr b="1" lang="en">
                <a:latin typeface="Inconsolata"/>
                <a:ea typeface="Inconsolata"/>
                <a:cs typeface="Inconsolata"/>
                <a:sym typeface="Inconsolata"/>
              </a:rPr>
              <a:t>tp </a:t>
            </a:r>
            <a:r>
              <a:rPr lang="en"/>
              <a:t>user unable to login to a bash session</a:t>
            </a:r>
            <a:endParaRPr/>
          </a:p>
          <a:p>
            <a:pPr indent="0" lvl="0" marL="45720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en"/>
              <a:t>Reduces attack surface</a:t>
            </a:r>
            <a:endParaRPr/>
          </a:p>
          <a:p>
            <a:pPr indent="0" lvl="0" marL="0" rtl="0" algn="l">
              <a:lnSpc>
                <a:spcPct val="115000"/>
              </a:lnSpc>
              <a:spcBef>
                <a:spcPts val="0"/>
              </a:spcBef>
              <a:spcAft>
                <a:spcPts val="0"/>
              </a:spcAft>
              <a:buNone/>
            </a:pPr>
            <a:r>
              <a:t/>
            </a:r>
            <a:endParaRPr/>
          </a:p>
        </p:txBody>
      </p:sp>
      <p:pic>
        <p:nvPicPr>
          <p:cNvPr id="836" name="Google Shape;836;p96"/>
          <p:cNvPicPr preferRelativeResize="0"/>
          <p:nvPr/>
        </p:nvPicPr>
        <p:blipFill rotWithShape="1">
          <a:blip r:embed="rId3">
            <a:alphaModFix/>
          </a:blip>
          <a:srcRect b="0" l="0" r="0" t="0"/>
          <a:stretch/>
        </p:blipFill>
        <p:spPr>
          <a:xfrm>
            <a:off x="0" y="512000"/>
            <a:ext cx="3822575" cy="38658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40" name="Shape 840"/>
        <p:cNvGrpSpPr/>
        <p:nvPr/>
      </p:nvGrpSpPr>
      <p:grpSpPr>
        <a:xfrm>
          <a:off x="0" y="0"/>
          <a:ext cx="0" cy="0"/>
          <a:chOff x="0" y="0"/>
          <a:chExt cx="0" cy="0"/>
        </a:xfrm>
      </p:grpSpPr>
      <p:cxnSp>
        <p:nvCxnSpPr>
          <p:cNvPr id="841" name="Google Shape;841;p97"/>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842" name="Google Shape;842;p97"/>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Scenario</a:t>
            </a:r>
            <a:endParaRPr sz="2600">
              <a:solidFill>
                <a:schemeClr val="accent5"/>
              </a:solidFill>
              <a:latin typeface="Roboto Light"/>
              <a:ea typeface="Roboto Light"/>
              <a:cs typeface="Roboto Light"/>
              <a:sym typeface="Roboto Light"/>
            </a:endParaRPr>
          </a:p>
        </p:txBody>
      </p:sp>
      <p:sp>
        <p:nvSpPr>
          <p:cNvPr id="843" name="Google Shape;843;p97"/>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97"/>
          <p:cNvSpPr txBox="1"/>
          <p:nvPr/>
        </p:nvSpPr>
        <p:spPr>
          <a:xfrm>
            <a:off x="724200" y="53060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accent5"/>
                </a:solidFill>
                <a:latin typeface="Roboto"/>
                <a:ea typeface="Roboto"/>
                <a:cs typeface="Roboto"/>
                <a:sym typeface="Roboto"/>
              </a:rPr>
              <a:t>Setup, Removing, and Adding Service</a:t>
            </a:r>
            <a:endParaRPr>
              <a:solidFill>
                <a:schemeClr val="accent5"/>
              </a:solidFill>
              <a:latin typeface="Roboto"/>
              <a:ea typeface="Roboto"/>
              <a:cs typeface="Roboto"/>
              <a:sym typeface="Roboto"/>
            </a:endParaRPr>
          </a:p>
        </p:txBody>
      </p:sp>
      <p:pic>
        <p:nvPicPr>
          <p:cNvPr id="845" name="Google Shape;845;p97"/>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846" name="Google Shape;846;p97"/>
          <p:cNvSpPr txBox="1"/>
          <p:nvPr>
            <p:ph idx="1" type="body"/>
          </p:nvPr>
        </p:nvSpPr>
        <p:spPr>
          <a:xfrm>
            <a:off x="320450" y="1019525"/>
            <a:ext cx="5166000" cy="39249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None/>
            </a:pPr>
            <a:r>
              <a:rPr lang="en">
                <a:solidFill>
                  <a:schemeClr val="accent5"/>
                </a:solidFill>
              </a:rPr>
              <a:t>Your senior administrator has asked you to follow up on uninstalling unused services.</a:t>
            </a:r>
            <a:endParaRPr>
              <a:solidFill>
                <a:schemeClr val="accent5"/>
              </a:solidFill>
            </a:endParaRPr>
          </a:p>
          <a:p>
            <a:pPr indent="0" lvl="0" marL="0" rtl="0" algn="l">
              <a:lnSpc>
                <a:spcPct val="100000"/>
              </a:lnSpc>
              <a:spcBef>
                <a:spcPts val="0"/>
              </a:spcBef>
              <a:spcAft>
                <a:spcPts val="0"/>
              </a:spcAft>
              <a:buNone/>
            </a:pPr>
            <a:r>
              <a:t/>
            </a:r>
            <a:endParaRPr>
              <a:solidFill>
                <a:schemeClr val="accent5"/>
              </a:solidFill>
            </a:endParaRPr>
          </a:p>
          <a:p>
            <a:pPr indent="0" lvl="0" marL="0" rtl="0" algn="l">
              <a:spcBef>
                <a:spcPts val="0"/>
              </a:spcBef>
              <a:spcAft>
                <a:spcPts val="0"/>
              </a:spcAft>
              <a:buNone/>
            </a:pPr>
            <a:r>
              <a:rPr lang="en">
                <a:solidFill>
                  <a:schemeClr val="accent5"/>
                </a:solidFill>
              </a:rPr>
              <a:t>You must now ensure the services’ corresponding users have also been removed from the system. </a:t>
            </a:r>
            <a:endParaRPr>
              <a:solidFill>
                <a:schemeClr val="accent5"/>
              </a:solidFill>
            </a:endParaRPr>
          </a:p>
          <a:p>
            <a:pPr indent="0" lvl="0" marL="0" rtl="0" algn="l">
              <a:spcBef>
                <a:spcPts val="0"/>
              </a:spcBef>
              <a:spcAft>
                <a:spcPts val="0"/>
              </a:spcAft>
              <a:buNone/>
            </a:pPr>
            <a:r>
              <a:t/>
            </a:r>
            <a:endParaRPr>
              <a:solidFill>
                <a:schemeClr val="accent5"/>
              </a:solidFill>
            </a:endParaRPr>
          </a:p>
          <a:p>
            <a:pPr indent="0" lvl="0" marL="0" rtl="0" algn="l">
              <a:spcBef>
                <a:spcPts val="0"/>
              </a:spcBef>
              <a:spcAft>
                <a:spcPts val="0"/>
              </a:spcAft>
              <a:buNone/>
            </a:pPr>
            <a:r>
              <a:rPr lang="en">
                <a:solidFill>
                  <a:schemeClr val="accent5"/>
                </a:solidFill>
              </a:rPr>
              <a:t>Previously, you disabled </a:t>
            </a:r>
            <a:r>
              <a:rPr b="1" lang="en">
                <a:solidFill>
                  <a:schemeClr val="accent5"/>
                </a:solidFill>
                <a:latin typeface="Inconsolata"/>
                <a:ea typeface="Inconsolata"/>
                <a:cs typeface="Inconsolata"/>
                <a:sym typeface="Inconsolata"/>
              </a:rPr>
              <a:t>vsftpd</a:t>
            </a:r>
            <a:r>
              <a:rPr lang="en">
                <a:solidFill>
                  <a:schemeClr val="accent5"/>
                </a:solidFill>
              </a:rPr>
              <a:t>, but its service user, </a:t>
            </a:r>
            <a:r>
              <a:rPr b="1" lang="en">
                <a:solidFill>
                  <a:schemeClr val="accent5"/>
                </a:solidFill>
                <a:latin typeface="Inconsolata"/>
                <a:ea typeface="Inconsolata"/>
                <a:cs typeface="Inconsolata"/>
                <a:sym typeface="Inconsolata"/>
              </a:rPr>
              <a:t>ftp</a:t>
            </a:r>
            <a:r>
              <a:rPr lang="en">
                <a:solidFill>
                  <a:schemeClr val="accent5"/>
                </a:solidFill>
              </a:rPr>
              <a:t>, still exists.</a:t>
            </a:r>
            <a:endParaRPr>
              <a:solidFill>
                <a:schemeClr val="accent5"/>
              </a:solidFill>
            </a:endParaRPr>
          </a:p>
          <a:p>
            <a:pPr indent="0" lvl="0" marL="457200" rtl="0" algn="l">
              <a:lnSpc>
                <a:spcPct val="100000"/>
              </a:lnSpc>
              <a:spcBef>
                <a:spcPts val="0"/>
              </a:spcBef>
              <a:spcAft>
                <a:spcPts val="0"/>
              </a:spcAft>
              <a:buNone/>
            </a:pPr>
            <a:r>
              <a:t/>
            </a:r>
            <a:endParaRPr sz="1500">
              <a:solidFill>
                <a:schemeClr val="accent5"/>
              </a:solidFill>
            </a:endParaRPr>
          </a:p>
          <a:p>
            <a:pPr indent="0" lvl="0" marL="0" rtl="0" algn="l">
              <a:lnSpc>
                <a:spcPct val="100000"/>
              </a:lnSpc>
              <a:spcBef>
                <a:spcPts val="0"/>
              </a:spcBef>
              <a:spcAft>
                <a:spcPts val="0"/>
              </a:spcAft>
              <a:buNone/>
            </a:pPr>
            <a:r>
              <a:t/>
            </a:r>
            <a:endParaRPr sz="1200">
              <a:solidFill>
                <a:schemeClr val="accent5"/>
              </a:solidFill>
            </a:endParaRPr>
          </a:p>
          <a:p>
            <a:pPr indent="0" lvl="0" marL="457200" rtl="0" algn="l">
              <a:spcBef>
                <a:spcPts val="1000"/>
              </a:spcBef>
              <a:spcAft>
                <a:spcPts val="0"/>
              </a:spcAft>
              <a:buNone/>
            </a:pPr>
            <a:r>
              <a:t/>
            </a:r>
            <a:endParaRPr sz="1200"/>
          </a:p>
          <a:p>
            <a:pPr indent="0" lvl="0" marL="457200" rtl="0" algn="l">
              <a:spcBef>
                <a:spcPts val="1000"/>
              </a:spcBef>
              <a:spcAft>
                <a:spcPts val="1000"/>
              </a:spcAft>
              <a:buNone/>
            </a:pPr>
            <a:r>
              <a:rPr lang="en" sz="1200"/>
              <a:t>.</a:t>
            </a:r>
            <a:endParaRPr sz="1200"/>
          </a:p>
        </p:txBody>
      </p:sp>
      <p:pic>
        <p:nvPicPr>
          <p:cNvPr id="847" name="Google Shape;847;p97"/>
          <p:cNvPicPr preferRelativeResize="0"/>
          <p:nvPr/>
        </p:nvPicPr>
        <p:blipFill>
          <a:blip r:embed="rId4">
            <a:alphaModFix/>
          </a:blip>
          <a:stretch>
            <a:fillRect/>
          </a:stretch>
        </p:blipFill>
        <p:spPr>
          <a:xfrm>
            <a:off x="5665750" y="1901250"/>
            <a:ext cx="3235850" cy="2161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851" name="Shape 851"/>
        <p:cNvGrpSpPr/>
        <p:nvPr/>
      </p:nvGrpSpPr>
      <p:grpSpPr>
        <a:xfrm>
          <a:off x="0" y="0"/>
          <a:ext cx="0" cy="0"/>
          <a:chOff x="0" y="0"/>
          <a:chExt cx="0" cy="0"/>
        </a:xfrm>
      </p:grpSpPr>
      <p:cxnSp>
        <p:nvCxnSpPr>
          <p:cNvPr id="852" name="Google Shape;852;p98"/>
          <p:cNvCxnSpPr/>
          <p:nvPr/>
        </p:nvCxnSpPr>
        <p:spPr>
          <a:xfrm>
            <a:off x="-9375" y="853700"/>
            <a:ext cx="7346700" cy="0"/>
          </a:xfrm>
          <a:prstGeom prst="straightConnector1">
            <a:avLst/>
          </a:prstGeom>
          <a:noFill/>
          <a:ln cap="flat" cmpd="sng" w="19050">
            <a:solidFill>
              <a:schemeClr val="dk2"/>
            </a:solidFill>
            <a:prstDash val="solid"/>
            <a:round/>
            <a:headEnd len="med" w="med" type="none"/>
            <a:tailEnd len="med" w="med" type="oval"/>
          </a:ln>
        </p:spPr>
      </p:cxnSp>
      <p:sp>
        <p:nvSpPr>
          <p:cNvPr id="853" name="Google Shape;853;p98"/>
          <p:cNvSpPr txBox="1"/>
          <p:nvPr/>
        </p:nvSpPr>
        <p:spPr>
          <a:xfrm>
            <a:off x="724200" y="203600"/>
            <a:ext cx="56850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chemeClr val="accent5"/>
                </a:solidFill>
                <a:latin typeface="Roboto"/>
                <a:ea typeface="Roboto"/>
                <a:cs typeface="Roboto"/>
                <a:sym typeface="Roboto"/>
              </a:rPr>
              <a:t>Demonstration</a:t>
            </a:r>
            <a:r>
              <a:rPr lang="en" sz="2600">
                <a:solidFill>
                  <a:schemeClr val="accent5"/>
                </a:solidFill>
                <a:latin typeface="Roboto Light"/>
                <a:ea typeface="Roboto Light"/>
                <a:cs typeface="Roboto Light"/>
                <a:sym typeface="Roboto Light"/>
              </a:rPr>
              <a:t> Scenario</a:t>
            </a:r>
            <a:endParaRPr sz="2600">
              <a:solidFill>
                <a:schemeClr val="accent5"/>
              </a:solidFill>
              <a:latin typeface="Roboto Light"/>
              <a:ea typeface="Roboto Light"/>
              <a:cs typeface="Roboto Light"/>
              <a:sym typeface="Roboto Light"/>
            </a:endParaRPr>
          </a:p>
        </p:txBody>
      </p:sp>
      <p:sp>
        <p:nvSpPr>
          <p:cNvPr id="854" name="Google Shape;854;p98"/>
          <p:cNvSpPr/>
          <p:nvPr/>
        </p:nvSpPr>
        <p:spPr>
          <a:xfrm>
            <a:off x="136025" y="115175"/>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98"/>
          <p:cNvSpPr txBox="1"/>
          <p:nvPr/>
        </p:nvSpPr>
        <p:spPr>
          <a:xfrm>
            <a:off x="724200" y="530600"/>
            <a:ext cx="6613200" cy="323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accent5"/>
                </a:solidFill>
                <a:latin typeface="Roboto"/>
                <a:ea typeface="Roboto"/>
                <a:cs typeface="Roboto"/>
                <a:sym typeface="Roboto"/>
              </a:rPr>
              <a:t>Splunk Service Account</a:t>
            </a:r>
            <a:endParaRPr sz="1800">
              <a:solidFill>
                <a:schemeClr val="accent5"/>
              </a:solidFill>
              <a:latin typeface="Roboto"/>
              <a:ea typeface="Roboto"/>
              <a:cs typeface="Roboto"/>
              <a:sym typeface="Roboto"/>
            </a:endParaRPr>
          </a:p>
        </p:txBody>
      </p:sp>
      <p:pic>
        <p:nvPicPr>
          <p:cNvPr id="856" name="Google Shape;856;p98"/>
          <p:cNvPicPr preferRelativeResize="0"/>
          <p:nvPr/>
        </p:nvPicPr>
        <p:blipFill>
          <a:blip r:embed="rId3">
            <a:alphaModFix/>
          </a:blip>
          <a:stretch>
            <a:fillRect/>
          </a:stretch>
        </p:blipFill>
        <p:spPr>
          <a:xfrm>
            <a:off x="222825" y="203600"/>
            <a:ext cx="399097" cy="393600"/>
          </a:xfrm>
          <a:prstGeom prst="rect">
            <a:avLst/>
          </a:prstGeom>
          <a:noFill/>
          <a:ln>
            <a:noFill/>
          </a:ln>
        </p:spPr>
      </p:pic>
      <p:sp>
        <p:nvSpPr>
          <p:cNvPr id="857" name="Google Shape;857;p98"/>
          <p:cNvSpPr txBox="1"/>
          <p:nvPr>
            <p:ph idx="1" type="body"/>
          </p:nvPr>
        </p:nvSpPr>
        <p:spPr>
          <a:xfrm>
            <a:off x="320450" y="1019525"/>
            <a:ext cx="4679400" cy="39249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solidFill>
                  <a:schemeClr val="accent5"/>
                </a:solidFill>
              </a:rPr>
              <a:t>Additionally, your senior administrator plans to install Splunk.</a:t>
            </a:r>
            <a:endParaRPr>
              <a:solidFill>
                <a:schemeClr val="accent5"/>
              </a:solidFill>
            </a:endParaRPr>
          </a:p>
          <a:p>
            <a:pPr indent="0" lvl="0" marL="457200" rtl="0" algn="l">
              <a:lnSpc>
                <a:spcPct val="100000"/>
              </a:lnSpc>
              <a:spcBef>
                <a:spcPts val="0"/>
              </a:spcBef>
              <a:spcAft>
                <a:spcPts val="0"/>
              </a:spcAft>
              <a:buNone/>
            </a:pPr>
            <a:r>
              <a:t/>
            </a:r>
            <a:endParaRPr sz="1500">
              <a:solidFill>
                <a:schemeClr val="accent5"/>
              </a:solidFill>
            </a:endParaRPr>
          </a:p>
          <a:p>
            <a:pPr indent="0" lvl="0" marL="457200" rtl="0" algn="l">
              <a:lnSpc>
                <a:spcPct val="100000"/>
              </a:lnSpc>
              <a:spcBef>
                <a:spcPts val="0"/>
              </a:spcBef>
              <a:spcAft>
                <a:spcPts val="0"/>
              </a:spcAft>
              <a:buNone/>
            </a:pPr>
            <a:r>
              <a:t/>
            </a:r>
            <a:endParaRPr sz="1500">
              <a:solidFill>
                <a:schemeClr val="accent5"/>
              </a:solidFill>
            </a:endParaRPr>
          </a:p>
          <a:p>
            <a:pPr indent="0" lvl="0" marL="0" rtl="0" algn="l">
              <a:lnSpc>
                <a:spcPct val="100000"/>
              </a:lnSpc>
              <a:spcBef>
                <a:spcPts val="0"/>
              </a:spcBef>
              <a:spcAft>
                <a:spcPts val="0"/>
              </a:spcAft>
              <a:buNone/>
            </a:pPr>
            <a:r>
              <a:rPr lang="en">
                <a:solidFill>
                  <a:schemeClr val="accent5"/>
                </a:solidFill>
              </a:rPr>
              <a:t>They've informed you that they'll handle the installation, but have requested that you create a </a:t>
            </a:r>
            <a:r>
              <a:rPr b="1" lang="en">
                <a:solidFill>
                  <a:schemeClr val="accent5"/>
                </a:solidFill>
              </a:rPr>
              <a:t>service user</a:t>
            </a:r>
            <a:r>
              <a:rPr lang="en">
                <a:solidFill>
                  <a:schemeClr val="accent5"/>
                </a:solidFill>
              </a:rPr>
              <a:t>.</a:t>
            </a:r>
            <a:endParaRPr>
              <a:solidFill>
                <a:schemeClr val="accent5"/>
              </a:solidFill>
            </a:endParaRPr>
          </a:p>
          <a:p>
            <a:pPr indent="0" lvl="0" marL="457200" rtl="0" algn="l">
              <a:spcBef>
                <a:spcPts val="1000"/>
              </a:spcBef>
              <a:spcAft>
                <a:spcPts val="0"/>
              </a:spcAft>
              <a:buNone/>
            </a:pPr>
            <a:r>
              <a:t/>
            </a:r>
            <a:endParaRPr sz="1200"/>
          </a:p>
          <a:p>
            <a:pPr indent="0" lvl="0" marL="457200" rtl="0" algn="l">
              <a:spcBef>
                <a:spcPts val="1000"/>
              </a:spcBef>
              <a:spcAft>
                <a:spcPts val="1000"/>
              </a:spcAft>
              <a:buNone/>
            </a:pPr>
            <a:r>
              <a:rPr lang="en" sz="1200"/>
              <a:t>.</a:t>
            </a:r>
            <a:endParaRPr sz="1200"/>
          </a:p>
        </p:txBody>
      </p:sp>
      <p:pic>
        <p:nvPicPr>
          <p:cNvPr id="858" name="Google Shape;858;p98" title="Fichier:Splunk-Logo.jpg — Wikipédia"/>
          <p:cNvPicPr preferRelativeResize="0"/>
          <p:nvPr/>
        </p:nvPicPr>
        <p:blipFill>
          <a:blip r:embed="rId4">
            <a:alphaModFix/>
          </a:blip>
          <a:stretch>
            <a:fillRect/>
          </a:stretch>
        </p:blipFill>
        <p:spPr>
          <a:xfrm>
            <a:off x="6164110" y="3721422"/>
            <a:ext cx="2293377" cy="900228"/>
          </a:xfrm>
          <a:prstGeom prst="rect">
            <a:avLst/>
          </a:prstGeom>
          <a:noFill/>
          <a:ln>
            <a:noFill/>
          </a:ln>
        </p:spPr>
      </p:pic>
      <p:pic>
        <p:nvPicPr>
          <p:cNvPr id="859" name="Google Shape;859;p98"/>
          <p:cNvPicPr preferRelativeResize="0"/>
          <p:nvPr/>
        </p:nvPicPr>
        <p:blipFill>
          <a:blip r:embed="rId5">
            <a:alphaModFix/>
          </a:blip>
          <a:stretch>
            <a:fillRect/>
          </a:stretch>
        </p:blipFill>
        <p:spPr>
          <a:xfrm>
            <a:off x="5976887" y="1512050"/>
            <a:ext cx="2591124" cy="220937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99"/>
          <p:cNvSpPr txBox="1"/>
          <p:nvPr>
            <p:ph type="title"/>
          </p:nvPr>
        </p:nvSpPr>
        <p:spPr>
          <a:xfrm>
            <a:off x="0" y="3772475"/>
            <a:ext cx="9144000" cy="461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Set Up, Removing, and Adding </a:t>
            </a:r>
            <a:r>
              <a:rPr lang="en">
                <a:latin typeface="Roboto"/>
                <a:ea typeface="Roboto"/>
                <a:cs typeface="Roboto"/>
                <a:sym typeface="Roboto"/>
              </a:rPr>
              <a:t>Service</a:t>
            </a:r>
            <a:r>
              <a:rPr lang="en"/>
              <a:t> Users</a:t>
            </a:r>
            <a:endParaRPr>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100"/>
          <p:cNvSpPr txBox="1"/>
          <p:nvPr>
            <p:ph idx="1" type="subTitle"/>
          </p:nvPr>
        </p:nvSpPr>
        <p:spPr>
          <a:xfrm>
            <a:off x="0" y="4568875"/>
            <a:ext cx="9144000" cy="323100"/>
          </a:xfrm>
          <a:prstGeom prst="rect">
            <a:avLst/>
          </a:prstGeom>
        </p:spPr>
        <p:txBody>
          <a:bodyPr anchorCtr="0" anchor="t" bIns="91425" lIns="91425" spcFirstLastPara="1" rIns="457200" wrap="square" tIns="91425">
            <a:noAutofit/>
          </a:bodyPr>
          <a:lstStyle/>
          <a:p>
            <a:pPr indent="0" lvl="0" marL="0" rtl="0" algn="r">
              <a:spcBef>
                <a:spcPts val="0"/>
              </a:spcBef>
              <a:spcAft>
                <a:spcPts val="0"/>
              </a:spcAft>
              <a:buNone/>
            </a:pPr>
            <a:r>
              <a:rPr lang="en"/>
              <a:t>25 Minutes</a:t>
            </a:r>
            <a:endParaRPr/>
          </a:p>
        </p:txBody>
      </p:sp>
      <p:sp>
        <p:nvSpPr>
          <p:cNvPr id="870" name="Google Shape;870;p100"/>
          <p:cNvSpPr txBox="1"/>
          <p:nvPr>
            <p:ph idx="2" type="subTitle"/>
          </p:nvPr>
        </p:nvSpPr>
        <p:spPr>
          <a:xfrm>
            <a:off x="914400" y="548650"/>
            <a:ext cx="7772400" cy="27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Service Users</a:t>
            </a:r>
            <a:endParaRPr/>
          </a:p>
        </p:txBody>
      </p:sp>
      <p:sp>
        <p:nvSpPr>
          <p:cNvPr id="871" name="Google Shape;871;p100"/>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a:t>In this activity, you will continue with auditing the same server for your senior administrator.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senior administrator would like to remove any old service users from the system and create a new user that will be dedicated to running the Tripwire program.</a:t>
            </a:r>
            <a:endParaRPr/>
          </a:p>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0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85" name="Google Shape;885;p103"/>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886" name="Google Shape;886;p103"/>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887" name="Google Shape;887;p103"/>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888" name="Google Shape;888;p103"/>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Managing Permissions and Services</a:t>
            </a:r>
            <a:endParaRPr/>
          </a:p>
        </p:txBody>
      </p:sp>
      <p:sp>
        <p:nvSpPr>
          <p:cNvPr id="889" name="Google Shape;889;p103"/>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0" name="Google Shape;890;p103"/>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103"/>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2" name="Google Shape;892;p103"/>
          <p:cNvGrpSpPr/>
          <p:nvPr/>
        </p:nvGrpSpPr>
        <p:grpSpPr>
          <a:xfrm>
            <a:off x="457200" y="1371604"/>
            <a:ext cx="776900" cy="459019"/>
            <a:chOff x="457200" y="1466425"/>
            <a:chExt cx="776900" cy="486300"/>
          </a:xfrm>
        </p:grpSpPr>
        <p:sp>
          <p:nvSpPr>
            <p:cNvPr id="893" name="Google Shape;893;p103"/>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894" name="Google Shape;894;p103"/>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95" name="Google Shape;895;p103"/>
          <p:cNvGrpSpPr/>
          <p:nvPr/>
        </p:nvGrpSpPr>
        <p:grpSpPr>
          <a:xfrm>
            <a:off x="457200" y="2026480"/>
            <a:ext cx="776900" cy="486300"/>
            <a:chOff x="457200" y="1466425"/>
            <a:chExt cx="776900" cy="486300"/>
          </a:xfrm>
        </p:grpSpPr>
        <p:sp>
          <p:nvSpPr>
            <p:cNvPr id="896" name="Google Shape;896;p103"/>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897" name="Google Shape;897;p103"/>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98" name="Google Shape;898;p103"/>
          <p:cNvGrpSpPr/>
          <p:nvPr/>
        </p:nvGrpSpPr>
        <p:grpSpPr>
          <a:xfrm>
            <a:off x="457200" y="2743336"/>
            <a:ext cx="776900" cy="437378"/>
            <a:chOff x="457200" y="1466425"/>
            <a:chExt cx="776900" cy="486300"/>
          </a:xfrm>
        </p:grpSpPr>
        <p:sp>
          <p:nvSpPr>
            <p:cNvPr id="899" name="Google Shape;899;p103"/>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900" name="Google Shape;900;p103"/>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901" name="Google Shape;901;p103"/>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Set file permissions for sensitive files on the system.</a:t>
            </a:r>
            <a:endParaRPr b="1" sz="1800">
              <a:solidFill>
                <a:srgbClr val="082D49"/>
              </a:solidFill>
              <a:latin typeface="Roboto"/>
              <a:ea typeface="Roboto"/>
              <a:cs typeface="Roboto"/>
              <a:sym typeface="Roboto"/>
            </a:endParaRPr>
          </a:p>
        </p:txBody>
      </p:sp>
      <p:sp>
        <p:nvSpPr>
          <p:cNvPr id="902" name="Google Shape;902;p103"/>
          <p:cNvSpPr txBox="1"/>
          <p:nvPr/>
        </p:nvSpPr>
        <p:spPr>
          <a:xfrm>
            <a:off x="1287250" y="2068150"/>
            <a:ext cx="72978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Managed and monitored services on the system, removing unused.</a:t>
            </a:r>
            <a:endParaRPr b="1" sz="1800">
              <a:solidFill>
                <a:srgbClr val="082D49"/>
              </a:solidFill>
              <a:latin typeface="Roboto"/>
              <a:ea typeface="Roboto"/>
              <a:cs typeface="Roboto"/>
              <a:sym typeface="Roboto"/>
            </a:endParaRPr>
          </a:p>
        </p:txBody>
      </p:sp>
      <p:sp>
        <p:nvSpPr>
          <p:cNvPr id="903" name="Google Shape;903;p103"/>
          <p:cNvSpPr txBox="1"/>
          <p:nvPr/>
        </p:nvSpPr>
        <p:spPr>
          <a:xfrm>
            <a:off x="1287250" y="2751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Assigned users for services. </a:t>
            </a:r>
            <a:endParaRPr sz="1800">
              <a:solidFill>
                <a:srgbClr val="082D49"/>
              </a:solidFill>
              <a:latin typeface="Roboto"/>
              <a:ea typeface="Roboto"/>
              <a:cs typeface="Roboto"/>
              <a:sym typeface="Robot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04"/>
          <p:cNvSpPr txBox="1"/>
          <p:nvPr>
            <p:ph idx="1" type="subTitle"/>
          </p:nvPr>
        </p:nvSpPr>
        <p:spPr>
          <a:xfrm>
            <a:off x="41700" y="3746925"/>
            <a:ext cx="9102300" cy="900600"/>
          </a:xfrm>
          <a:prstGeom prst="rect">
            <a:avLst/>
          </a:prstGeom>
        </p:spPr>
        <p:txBody>
          <a:bodyPr anchorCtr="0" anchor="ctr" bIns="91425" lIns="0" spcFirstLastPara="1" rIns="91425" wrap="square" tIns="0">
            <a:noAutofit/>
          </a:bodyPr>
          <a:lstStyle/>
          <a:p>
            <a:pPr indent="0" lvl="0" marL="0" rtl="0" algn="ctr">
              <a:spcBef>
                <a:spcPts val="0"/>
              </a:spcBef>
              <a:spcAft>
                <a:spcPts val="0"/>
              </a:spcAft>
              <a:buNone/>
            </a:pPr>
            <a:r>
              <a:rPr lang="en" sz="1800"/>
              <a:t>Create backups and restore data</a:t>
            </a:r>
            <a:endParaRPr baseline="-25000" sz="18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