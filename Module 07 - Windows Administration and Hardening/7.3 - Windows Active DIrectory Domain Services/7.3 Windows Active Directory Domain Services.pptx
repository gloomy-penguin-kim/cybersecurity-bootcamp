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</p:sldIdLst>
  <p:sldSz cy="5143500" cx="9144000"/>
  <p:notesSz cx="6858000" cy="9144000"/>
  <p:embeddedFontLst>
    <p:embeddedFont>
      <p:font typeface="Roboto"/>
      <p:regular r:id="rId59"/>
      <p:bold r:id="rId60"/>
      <p:italic r:id="rId61"/>
      <p:boldItalic r:id="rId62"/>
    </p:embeddedFont>
    <p:embeddedFont>
      <p:font typeface="Roboto Medium"/>
      <p:regular r:id="rId63"/>
      <p:bold r:id="rId64"/>
      <p:italic r:id="rId65"/>
      <p:boldItalic r:id="rId66"/>
    </p:embeddedFont>
    <p:embeddedFont>
      <p:font typeface="Inconsolata"/>
      <p:regular r:id="rId67"/>
      <p:bold r:id="rId68"/>
    </p:embeddedFont>
    <p:embeddedFont>
      <p:font typeface="Roboto Light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2" Type="http://schemas.openxmlformats.org/officeDocument/2006/relationships/font" Target="fonts/RobotoLight-boldItalic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RobotoLight-italic.fntdata"/><Relationship Id="rId70" Type="http://schemas.openxmlformats.org/officeDocument/2006/relationships/font" Target="fonts/RobotoLight-bold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6.xml"/><Relationship Id="rId64" Type="http://schemas.openxmlformats.org/officeDocument/2006/relationships/font" Target="fonts/RobotoMedium-bold.fntdata"/><Relationship Id="rId63" Type="http://schemas.openxmlformats.org/officeDocument/2006/relationships/font" Target="fonts/RobotoMedium-regular.fntdata"/><Relationship Id="rId22" Type="http://schemas.openxmlformats.org/officeDocument/2006/relationships/slide" Target="slides/slide18.xml"/><Relationship Id="rId66" Type="http://schemas.openxmlformats.org/officeDocument/2006/relationships/font" Target="fonts/RobotoMedium-boldItalic.fntdata"/><Relationship Id="rId21" Type="http://schemas.openxmlformats.org/officeDocument/2006/relationships/slide" Target="slides/slide17.xml"/><Relationship Id="rId65" Type="http://schemas.openxmlformats.org/officeDocument/2006/relationships/font" Target="fonts/RobotoMedium-italic.fntdata"/><Relationship Id="rId24" Type="http://schemas.openxmlformats.org/officeDocument/2006/relationships/slide" Target="slides/slide20.xml"/><Relationship Id="rId68" Type="http://schemas.openxmlformats.org/officeDocument/2006/relationships/font" Target="fonts/Inconsolata-bold.fntdata"/><Relationship Id="rId23" Type="http://schemas.openxmlformats.org/officeDocument/2006/relationships/slide" Target="slides/slide19.xml"/><Relationship Id="rId67" Type="http://schemas.openxmlformats.org/officeDocument/2006/relationships/font" Target="fonts/Inconsolata-regular.fntdata"/><Relationship Id="rId60" Type="http://schemas.openxmlformats.org/officeDocument/2006/relationships/font" Target="fonts/Roboto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RobotoLight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font" Target="fonts/Roboto-regular.fntdata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f3b1f220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f3b1f220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f4c1ab28c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2f4c1ab28c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f4c1ab28c7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f4c1ab28c7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f4c1ab28c7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f4c1ab28c7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f4c1ab28c7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2f4c1ab28c7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shutterstock_1538502431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f4c1ab28c7_0_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f4c1ab28c7_0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f3b1f22086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f3b1f22086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f4c1ab28c7_0_4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2f4c1ab28c7_0_4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Avatar: shutterstock_1383859511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sources: shutterstock_149136494 (computer, switch, router, printer); shutterstock_400856290 (shield/lock)shutterstock_396885847 (network access icon)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f4c1ab28c7_0_5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2f4c1ab28c7_0_5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Avatar: shutterstock_1383859511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Icons: shutterstock_149136494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f4c1ab28c7_0_8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2f4c1ab28c7_0_8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Avatar: shutterstock_1383859511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Icons: shutterstock_149136494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f4c1ab28c7_0_6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f4c1ab28c7_0_6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4c1ab28c7_0_6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2f4c1ab28c7_0_6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f4c1ab28c7_0_7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f4c1ab28c7_0_7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f4c1ab28c7_0_7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2f4c1ab28c7_0_7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f4c1ab28c7_0_9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f4c1ab28c7_0_9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f4c1ab28c7_0_9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f4c1ab28c7_0_9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f4c1ab28c7_0_9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f4c1ab28c7_0_9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f4c1ab28c7_0_9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f4c1ab28c7_0_9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f4c1ab28c7_0_9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f4c1ab28c7_0_9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f4c1ab28c7_0_15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2f4c1ab28c7_0_15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f4c1ab28c7_0_15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2f4c1ab28c7_0_15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f4c1ab28c7_0_10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2f4c1ab28c7_0_10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f4c1ab28c7_0_1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g2f4c1ab28c7_0_1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Image source: shutterstock_1367319962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f4c1ab28c7_0_13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2f4c1ab28c7_0_13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4c1ab28c7_0_14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2f4c1ab28c7_0_14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f464e0c414_0_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f464e0c414_0_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f4c1ab28c7_0_15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f4c1ab28c7_0_15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f3b1f22086_1_3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2f3b1f22086_1_3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f464e0c414_0_5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f464e0c414_0_5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f4c1ab28c7_0_15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f4c1ab28c7_0_15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f4c1ab28c7_0_15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f4c1ab28c7_0_15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f4c1ab28c7_0_15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f4c1ab28c7_0_15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f4c1ab28c7_0_15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f4c1ab28c7_0_15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f464e0c414_0_5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f464e0c414_0_5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f4c1ab28c7_0_15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2f4c1ab28c7_0_15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f4c1ab28c7_0_16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f4c1ab28c7_0_16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f4c1ab28c7_0_16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g2f4c1ab28c7_0_16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f464e0c414_0_5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f464e0c414_0_5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f4c1ab28c7_0_18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f4c1ab28c7_0_18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f4c1ab28c7_0_18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f4c1ab28c7_0_18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4c1ab28c7_0_18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f4c1ab28c7_0_18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f4c1ab28c7_0_18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f4c1ab28c7_0_18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f3c77fc7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f3c77fc7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f4c1ab28c7_0_18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f4c1ab28c7_0_18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f4c1ab28c7_0_18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f4c1ab28c7_0_18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f4c1ab28c7_0_18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f4c1ab28c7_0_18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f4f9d1ec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f4f9d1ec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f4f9d1ec3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g2f4f9d1ec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f4f9d1ec39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g2f4f9d1ec39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f464e0c414_0_8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f464e0c414_0_8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81.png"/><Relationship Id="rId6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40.jpg"/><Relationship Id="rId5" Type="http://schemas.openxmlformats.org/officeDocument/2006/relationships/image" Target="../media/image74.jpg"/><Relationship Id="rId6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Relationship Id="rId4" Type="http://schemas.openxmlformats.org/officeDocument/2006/relationships/image" Target="../media/image57.png"/><Relationship Id="rId5" Type="http://schemas.openxmlformats.org/officeDocument/2006/relationships/image" Target="../media/image39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Relationship Id="rId4" Type="http://schemas.openxmlformats.org/officeDocument/2006/relationships/image" Target="../media/image86.png"/><Relationship Id="rId5" Type="http://schemas.openxmlformats.org/officeDocument/2006/relationships/image" Target="../media/image44.png"/><Relationship Id="rId6" Type="http://schemas.openxmlformats.org/officeDocument/2006/relationships/image" Target="../media/image47.png"/><Relationship Id="rId7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5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microsoft.com/en-us/windows-server/identity/ad-ds/plan/using-the-organizational-domain-forest-model" TargetMode="External"/><Relationship Id="rId4" Type="http://schemas.openxmlformats.org/officeDocument/2006/relationships/image" Target="../media/image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0.png"/><Relationship Id="rId4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Relationship Id="rId4" Type="http://schemas.openxmlformats.org/officeDocument/2006/relationships/image" Target="../media/image6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8.png"/><Relationship Id="rId4" Type="http://schemas.openxmlformats.org/officeDocument/2006/relationships/image" Target="../media/image8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png"/><Relationship Id="rId4" Type="http://schemas.openxmlformats.org/officeDocument/2006/relationships/image" Target="../media/image77.png"/><Relationship Id="rId9" Type="http://schemas.openxmlformats.org/officeDocument/2006/relationships/image" Target="../media/image71.jp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7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5" Type="http://schemas.openxmlformats.org/officeDocument/2006/relationships/image" Target="../media/image78.png"/><Relationship Id="rId6" Type="http://schemas.openxmlformats.org/officeDocument/2006/relationships/image" Target="../media/image68.png"/><Relationship Id="rId7" Type="http://schemas.openxmlformats.org/officeDocument/2006/relationships/image" Target="../media/image82.png"/><Relationship Id="rId8" Type="http://schemas.openxmlformats.org/officeDocument/2006/relationships/image" Target="../media/image8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6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8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Active Directory Domain Services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12" name="Google Shape;412;p58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13" name="Google Shape;413;p58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9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419" name="Google Shape;419;p59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59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421" name="Google Shape;421;p59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2" name="Google Shape;422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3" name="Google Shape;423;p59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24" name="Google Shape;424;p59"/>
          <p:cNvSpPr/>
          <p:nvPr/>
        </p:nvSpPr>
        <p:spPr>
          <a:xfrm>
            <a:off x="543450" y="12181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59"/>
          <p:cNvSpPr/>
          <p:nvPr/>
        </p:nvSpPr>
        <p:spPr>
          <a:xfrm>
            <a:off x="543450" y="19319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9"/>
          <p:cNvSpPr/>
          <p:nvPr/>
        </p:nvSpPr>
        <p:spPr>
          <a:xfrm>
            <a:off x="467250" y="12321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59"/>
          <p:cNvSpPr/>
          <p:nvPr/>
        </p:nvSpPr>
        <p:spPr>
          <a:xfrm>
            <a:off x="467250" y="19232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9"/>
          <p:cNvSpPr txBox="1"/>
          <p:nvPr/>
        </p:nvSpPr>
        <p:spPr>
          <a:xfrm>
            <a:off x="970350" y="12594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Explain how Active Directory is used to manage enterprise-scale environments.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9"/>
          <p:cNvSpPr txBox="1"/>
          <p:nvPr/>
        </p:nvSpPr>
        <p:spPr>
          <a:xfrm>
            <a:off x="970350" y="19526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Define domain controllers as servers that manage AD authentication and authorization.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59"/>
          <p:cNvSpPr/>
          <p:nvPr/>
        </p:nvSpPr>
        <p:spPr>
          <a:xfrm>
            <a:off x="543450" y="25717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59"/>
          <p:cNvSpPr/>
          <p:nvPr/>
        </p:nvSpPr>
        <p:spPr>
          <a:xfrm>
            <a:off x="543450" y="32855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59"/>
          <p:cNvSpPr/>
          <p:nvPr/>
        </p:nvSpPr>
        <p:spPr>
          <a:xfrm>
            <a:off x="467250" y="25857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59"/>
          <p:cNvSpPr/>
          <p:nvPr/>
        </p:nvSpPr>
        <p:spPr>
          <a:xfrm>
            <a:off x="467250" y="32768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59"/>
          <p:cNvSpPr txBox="1"/>
          <p:nvPr/>
        </p:nvSpPr>
        <p:spPr>
          <a:xfrm>
            <a:off x="970350" y="26130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Active Directory tools to create organizational units, users, and groups.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59"/>
          <p:cNvSpPr txBox="1"/>
          <p:nvPr/>
        </p:nvSpPr>
        <p:spPr>
          <a:xfrm>
            <a:off x="970350" y="33062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and link Group Policy Objects that enforce domain-hardening policies.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6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446" name="Google Shape;44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1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448" name="Google Shape;448;p61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Scripting</a:t>
            </a:r>
            <a:endParaRPr/>
          </a:p>
        </p:txBody>
      </p:sp>
      <p:sp>
        <p:nvSpPr>
          <p:cNvPr id="449" name="Google Shape;449;p61"/>
          <p:cNvSpPr/>
          <p:nvPr/>
        </p:nvSpPr>
        <p:spPr>
          <a:xfrm>
            <a:off x="1287175" y="13716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1"/>
          <p:cNvSpPr/>
          <p:nvPr/>
        </p:nvSpPr>
        <p:spPr>
          <a:xfrm>
            <a:off x="1287175" y="2746988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1"/>
          <p:cNvSpPr/>
          <p:nvPr/>
        </p:nvSpPr>
        <p:spPr>
          <a:xfrm>
            <a:off x="1287175" y="20467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p61"/>
          <p:cNvGrpSpPr/>
          <p:nvPr/>
        </p:nvGrpSpPr>
        <p:grpSpPr>
          <a:xfrm>
            <a:off x="457200" y="1371604"/>
            <a:ext cx="776900" cy="459019"/>
            <a:chOff x="457200" y="1466425"/>
            <a:chExt cx="776900" cy="486300"/>
          </a:xfrm>
        </p:grpSpPr>
        <p:sp>
          <p:nvSpPr>
            <p:cNvPr id="453" name="Google Shape;453;p6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4" name="Google Shape;454;p6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55" name="Google Shape;455;p61"/>
          <p:cNvGrpSpPr/>
          <p:nvPr/>
        </p:nvGrpSpPr>
        <p:grpSpPr>
          <a:xfrm>
            <a:off x="457200" y="2026480"/>
            <a:ext cx="776900" cy="486300"/>
            <a:chOff x="457200" y="1466425"/>
            <a:chExt cx="776900" cy="486300"/>
          </a:xfrm>
        </p:grpSpPr>
        <p:sp>
          <p:nvSpPr>
            <p:cNvPr id="456" name="Google Shape;456;p6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7" name="Google Shape;457;p6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58" name="Google Shape;458;p61"/>
          <p:cNvGrpSpPr/>
          <p:nvPr/>
        </p:nvGrpSpPr>
        <p:grpSpPr>
          <a:xfrm>
            <a:off x="457200" y="2743336"/>
            <a:ext cx="776900" cy="437378"/>
            <a:chOff x="457200" y="1466425"/>
            <a:chExt cx="776900" cy="486300"/>
          </a:xfrm>
        </p:grpSpPr>
        <p:sp>
          <p:nvSpPr>
            <p:cNvPr id="459" name="Google Shape;459;p6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0" name="Google Shape;460;p6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61" name="Google Shape;461;p61"/>
          <p:cNvSpPr txBox="1"/>
          <p:nvPr/>
        </p:nvSpPr>
        <p:spPr>
          <a:xfrm>
            <a:off x="1287250" y="13929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Used PowerShell to navigate system directories.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1"/>
          <p:cNvSpPr txBox="1"/>
          <p:nvPr/>
        </p:nvSpPr>
        <p:spPr>
          <a:xfrm>
            <a:off x="1287250" y="206815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Created event logs with pipes and parameters.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61"/>
          <p:cNvSpPr txBox="1"/>
          <p:nvPr/>
        </p:nvSpPr>
        <p:spPr>
          <a:xfrm>
            <a:off x="1287250" y="27519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Created script to remove Windows packages.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2"/>
          <p:cNvSpPr/>
          <p:nvPr/>
        </p:nvSpPr>
        <p:spPr>
          <a:xfrm>
            <a:off x="1025" y="0"/>
            <a:ext cx="4025700" cy="5154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9" name="Google Shape;46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50" y="507013"/>
            <a:ext cx="3539740" cy="199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010" y="2663649"/>
            <a:ext cx="3539740" cy="199111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2"/>
          <p:cNvSpPr txBox="1"/>
          <p:nvPr/>
        </p:nvSpPr>
        <p:spPr>
          <a:xfrm>
            <a:off x="4297475" y="1486425"/>
            <a:ext cx="4306500" cy="24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Today, we're going to learn how to manage Active Directory Domain Services.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Active Directory Domain Services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Active Directory (AD)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3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Active Directory </a:t>
            </a:r>
            <a:r>
              <a:rPr lang="en"/>
              <a:t>is the central databasing and management system for enterprise-scale Windows environments.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9525" y="40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64"/>
          <p:cNvSpPr/>
          <p:nvPr/>
        </p:nvSpPr>
        <p:spPr>
          <a:xfrm>
            <a:off x="23825" y="7950"/>
            <a:ext cx="4631400" cy="513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64"/>
          <p:cNvSpPr/>
          <p:nvPr/>
        </p:nvSpPr>
        <p:spPr>
          <a:xfrm>
            <a:off x="0" y="-3900"/>
            <a:ext cx="46551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64"/>
          <p:cNvSpPr txBox="1"/>
          <p:nvPr/>
        </p:nvSpPr>
        <p:spPr>
          <a:xfrm>
            <a:off x="253400" y="0"/>
            <a:ext cx="4296600" cy="51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Having a strong understanding of </a:t>
            </a:r>
            <a:r>
              <a:rPr b="1"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Active Directory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crucial for anyone working in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Windows-based system administration and security.</a:t>
            </a:r>
            <a:endParaRPr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Directory</a:t>
            </a:r>
            <a:endParaRPr/>
          </a:p>
        </p:txBody>
      </p:sp>
      <p:sp>
        <p:nvSpPr>
          <p:cNvPr id="491" name="Google Shape;491;p6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majority of roles in security fields interact with Active Directory.</a:t>
            </a:r>
            <a:endParaRPr/>
          </a:p>
        </p:txBody>
      </p:sp>
      <p:sp>
        <p:nvSpPr>
          <p:cNvPr id="492" name="Google Shape;492;p65"/>
          <p:cNvSpPr txBox="1"/>
          <p:nvPr>
            <p:ph idx="2" type="body"/>
          </p:nvPr>
        </p:nvSpPr>
        <p:spPr>
          <a:xfrm>
            <a:off x="274350" y="1063525"/>
            <a:ext cx="44334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Common knowledge and understanding by: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analysts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hunters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Forensics experts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Incidence responders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Leverage vulnerabilities and exploits: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Penetration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intelligence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Malware reverse engineering</a:t>
            </a:r>
            <a:endParaRPr/>
          </a:p>
        </p:txBody>
      </p:sp>
      <p:pic>
        <p:nvPicPr>
          <p:cNvPr id="493" name="Google Shape;493;p65"/>
          <p:cNvPicPr preferRelativeResize="0"/>
          <p:nvPr/>
        </p:nvPicPr>
        <p:blipFill rotWithShape="1">
          <a:blip r:embed="rId3">
            <a:alphaModFix/>
          </a:blip>
          <a:srcRect b="0" l="-2962" r="-3989" t="0"/>
          <a:stretch/>
        </p:blipFill>
        <p:spPr>
          <a:xfrm>
            <a:off x="277191" y="312450"/>
            <a:ext cx="380801" cy="3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61775" y="2318738"/>
            <a:ext cx="4921175" cy="268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5" title="File:Microsoft Azure.svg - Wikipedi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77000" y="274350"/>
            <a:ext cx="365700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1000" y="1548125"/>
            <a:ext cx="4131451" cy="2888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Workgroups &amp;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Active Directory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2" name="Google Shape;502;p66"/>
          <p:cNvPicPr preferRelativeResize="0"/>
          <p:nvPr/>
        </p:nvPicPr>
        <p:blipFill rotWithShape="1">
          <a:blip r:embed="rId3">
            <a:alphaModFix/>
          </a:blip>
          <a:srcRect b="-5330" l="0" r="0" t="-8577"/>
          <a:stretch/>
        </p:blipFill>
        <p:spPr>
          <a:xfrm>
            <a:off x="3806475" y="1565025"/>
            <a:ext cx="1168726" cy="10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7"/>
          <p:cNvSpPr txBox="1"/>
          <p:nvPr>
            <p:ph idx="4294967295" type="subTitle"/>
          </p:nvPr>
        </p:nvSpPr>
        <p:spPr>
          <a:xfrm>
            <a:off x="34950" y="1170888"/>
            <a:ext cx="37212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0" i="0" lang="en" sz="1600" u="none" cap="none" strike="noStrike">
                <a:latin typeface="Roboto Medium"/>
                <a:ea typeface="Roboto Medium"/>
                <a:cs typeface="Roboto Medium"/>
                <a:sym typeface="Roboto Medium"/>
              </a:rPr>
              <a:t>Suppose a small startup with </a:t>
            </a:r>
            <a:br>
              <a:rPr b="0" i="0" lang="en" sz="1600" u="none" cap="none" strike="noStrike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0" i="0" lang="en" sz="1600" u="none" cap="none" strike="noStrike">
                <a:latin typeface="Roboto Medium"/>
                <a:ea typeface="Roboto Medium"/>
                <a:cs typeface="Roboto Medium"/>
                <a:sym typeface="Roboto Medium"/>
              </a:rPr>
              <a:t>20 employees receives a large amount of funding and adds 100 more employees to the company</a:t>
            </a:r>
            <a:r>
              <a:rPr b="0" i="0" lang="en" sz="1600" u="none" cap="none" strike="noStrike">
                <a:solidFill>
                  <a:srgbClr val="2E5E73"/>
                </a:solidFill>
                <a:latin typeface="Roboto Medium"/>
                <a:ea typeface="Roboto Medium"/>
                <a:cs typeface="Roboto Medium"/>
                <a:sym typeface="Roboto Medium"/>
              </a:rPr>
              <a:t>. </a:t>
            </a:r>
            <a:endParaRPr b="0" i="0" sz="1600" u="none" cap="none" strike="noStrike">
              <a:solidFill>
                <a:srgbClr val="2E5E7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8" name="Google Shape;508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67"/>
          <p:cNvSpPr txBox="1"/>
          <p:nvPr/>
        </p:nvSpPr>
        <p:spPr>
          <a:xfrm>
            <a:off x="380960" y="127400"/>
            <a:ext cx="635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Workgroups &amp; AD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0" name="Google Shape;51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0950" y="36324"/>
            <a:ext cx="5371799" cy="507087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7"/>
          <p:cNvSpPr txBox="1"/>
          <p:nvPr/>
        </p:nvSpPr>
        <p:spPr>
          <a:xfrm>
            <a:off x="380950" y="3253025"/>
            <a:ext cx="28986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Everyone shared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resources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but now the company needs to restrict access.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8"/>
          <p:cNvSpPr txBox="1"/>
          <p:nvPr>
            <p:ph idx="4294967295" type="subTitle"/>
          </p:nvPr>
        </p:nvSpPr>
        <p:spPr>
          <a:xfrm>
            <a:off x="68750" y="2874525"/>
            <a:ext cx="34731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1" i="0" lang="en" sz="1600" u="none" cap="none" strike="noStrike">
                <a:solidFill>
                  <a:schemeClr val="accent5"/>
                </a:solidFill>
              </a:rPr>
              <a:t>Resources </a:t>
            </a:r>
            <a:r>
              <a:rPr i="0" lang="en" sz="1600" u="none" cap="none" strike="noStrike">
                <a:solidFill>
                  <a:schemeClr val="accent5"/>
                </a:solidFill>
              </a:rPr>
              <a:t>are</a:t>
            </a:r>
            <a:r>
              <a:rPr b="1" i="0" lang="en" sz="1600" u="none" cap="none" strike="noStrike">
                <a:solidFill>
                  <a:schemeClr val="accent5"/>
                </a:solidFill>
              </a:rPr>
              <a:t> </a:t>
            </a:r>
            <a:r>
              <a:rPr i="0" lang="en" sz="1600" u="none" cap="none" strike="noStrike">
                <a:solidFill>
                  <a:schemeClr val="accent5"/>
                </a:solidFill>
              </a:rPr>
              <a:t>files, networking components, and printers that users need permission to access. </a:t>
            </a:r>
            <a:endParaRPr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517" name="Google Shape;517;p68"/>
          <p:cNvSpPr txBox="1"/>
          <p:nvPr>
            <p:ph idx="1" type="body"/>
          </p:nvPr>
        </p:nvSpPr>
        <p:spPr>
          <a:xfrm>
            <a:off x="104150" y="787700"/>
            <a:ext cx="3402300" cy="13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600">
                <a:solidFill>
                  <a:schemeClr val="accent5"/>
                </a:solidFill>
              </a:rPr>
              <a:t>Security principals </a:t>
            </a:r>
            <a:br>
              <a:rPr lang="en" sz="1600">
                <a:solidFill>
                  <a:schemeClr val="accent5"/>
                </a:solidFill>
              </a:rPr>
            </a:br>
            <a:r>
              <a:rPr lang="en" sz="1600">
                <a:solidFill>
                  <a:schemeClr val="accent5"/>
                </a:solidFill>
              </a:rPr>
              <a:t>are AD objects that can be authenticated, such as users and groups. 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518" name="Google Shape;518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‹#›</a:t>
            </a:fld>
            <a:endParaRPr sz="13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9" name="Google Shape;519;p68"/>
          <p:cNvSpPr txBox="1"/>
          <p:nvPr/>
        </p:nvSpPr>
        <p:spPr>
          <a:xfrm>
            <a:off x="380960" y="127400"/>
            <a:ext cx="635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Workgroups &amp; AD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0" name="Google Shape;52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0950" y="36295"/>
            <a:ext cx="5371799" cy="5070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9"/>
          <p:cNvSpPr txBox="1"/>
          <p:nvPr>
            <p:ph idx="1" type="body"/>
          </p:nvPr>
        </p:nvSpPr>
        <p:spPr>
          <a:xfrm>
            <a:off x="104150" y="787700"/>
            <a:ext cx="39051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Currently, the company is set up in a </a:t>
            </a:r>
            <a:r>
              <a:rPr b="1" lang="en" sz="1600">
                <a:solidFill>
                  <a:schemeClr val="accent5"/>
                </a:solidFill>
              </a:rPr>
              <a:t>Windows Workgroup</a:t>
            </a: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 Medium"/>
              <a:buChar char="●"/>
            </a:pP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Simple setup</a:t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 Medium"/>
              <a:buChar char="●"/>
            </a:pP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Peer-to-peer</a:t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 Medium"/>
              <a:buChar char="●"/>
            </a:pP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Individual security</a:t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 Medium"/>
              <a:buChar char="●"/>
            </a:pP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Local authentication</a:t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26" name="Google Shape;526;p69"/>
          <p:cNvSpPr txBox="1"/>
          <p:nvPr/>
        </p:nvSpPr>
        <p:spPr>
          <a:xfrm>
            <a:off x="380960" y="127400"/>
            <a:ext cx="635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Workgroups &amp; AD</a:t>
            </a:r>
            <a:endParaRPr b="1" i="0" sz="2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7" name="Google Shape;52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3500" y="1282550"/>
            <a:ext cx="3547776" cy="2896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0"/>
          <p:cNvSpPr txBox="1"/>
          <p:nvPr>
            <p:ph idx="1" type="body"/>
          </p:nvPr>
        </p:nvSpPr>
        <p:spPr>
          <a:xfrm>
            <a:off x="3502800" y="1377600"/>
            <a:ext cx="52659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Active Directory</a:t>
            </a:r>
            <a:r>
              <a:rPr lang="en" sz="3300"/>
              <a:t> helps us manage these resources and security principals by enforcing </a:t>
            </a:r>
            <a:r>
              <a:rPr b="1" lang="en" sz="3300"/>
              <a:t>authentication</a:t>
            </a:r>
            <a:r>
              <a:rPr lang="en" sz="3300"/>
              <a:t> and </a:t>
            </a:r>
            <a:r>
              <a:rPr b="1" lang="en" sz="3300"/>
              <a:t>authorization</a:t>
            </a:r>
            <a:r>
              <a:rPr lang="en" sz="3300"/>
              <a:t>.</a:t>
            </a:r>
            <a:endParaRPr sz="3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1"/>
          <p:cNvSpPr txBox="1"/>
          <p:nvPr/>
        </p:nvSpPr>
        <p:spPr>
          <a:xfrm>
            <a:off x="518388" y="923038"/>
            <a:ext cx="3711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Allows users to prove their identity using a password, token, or biometric key.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71"/>
          <p:cNvSpPr txBox="1"/>
          <p:nvPr/>
        </p:nvSpPr>
        <p:spPr>
          <a:xfrm>
            <a:off x="874200" y="3435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Authentication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1"/>
          <p:cNvSpPr txBox="1"/>
          <p:nvPr/>
        </p:nvSpPr>
        <p:spPr>
          <a:xfrm>
            <a:off x="5226325" y="3435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Authorization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0" name="Google Shape;540;p71"/>
          <p:cNvPicPr preferRelativeResize="0"/>
          <p:nvPr/>
        </p:nvPicPr>
        <p:blipFill rotWithShape="1">
          <a:blip r:embed="rId3">
            <a:alphaModFix/>
          </a:blip>
          <a:srcRect b="0" l="0" r="-2207" t="0"/>
          <a:stretch/>
        </p:blipFill>
        <p:spPr>
          <a:xfrm>
            <a:off x="1018800" y="2286009"/>
            <a:ext cx="2856001" cy="219169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71"/>
          <p:cNvSpPr txBox="1"/>
          <p:nvPr/>
        </p:nvSpPr>
        <p:spPr>
          <a:xfrm>
            <a:off x="4870525" y="923050"/>
            <a:ext cx="37116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Provides or denies users permission to material.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2" name="Google Shape;542;p71"/>
          <p:cNvCxnSpPr/>
          <p:nvPr/>
        </p:nvCxnSpPr>
        <p:spPr>
          <a:xfrm>
            <a:off x="4569100" y="679375"/>
            <a:ext cx="0" cy="38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3" name="Google Shape;543;p71"/>
          <p:cNvPicPr preferRelativeResize="0"/>
          <p:nvPr/>
        </p:nvPicPr>
        <p:blipFill rotWithShape="1">
          <a:blip r:embed="rId4">
            <a:alphaModFix/>
          </a:blip>
          <a:srcRect b="4495" l="0" r="0" t="4504"/>
          <a:stretch/>
        </p:blipFill>
        <p:spPr>
          <a:xfrm>
            <a:off x="1018800" y="5610813"/>
            <a:ext cx="2713054" cy="246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71"/>
          <p:cNvPicPr preferRelativeResize="0"/>
          <p:nvPr/>
        </p:nvPicPr>
        <p:blipFill rotWithShape="1">
          <a:blip r:embed="rId5">
            <a:alphaModFix/>
          </a:blip>
          <a:srcRect b="3165" l="0" r="0" t="3165"/>
          <a:stretch/>
        </p:blipFill>
        <p:spPr>
          <a:xfrm>
            <a:off x="5447125" y="5521938"/>
            <a:ext cx="2635816" cy="2468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71"/>
          <p:cNvPicPr preferRelativeResize="0"/>
          <p:nvPr/>
        </p:nvPicPr>
        <p:blipFill rotWithShape="1">
          <a:blip r:embed="rId6">
            <a:alphaModFix/>
          </a:blip>
          <a:srcRect b="0" l="0" r="-1030" t="0"/>
          <a:stretch/>
        </p:blipFill>
        <p:spPr>
          <a:xfrm>
            <a:off x="5373600" y="2299075"/>
            <a:ext cx="2856001" cy="221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2"/>
          <p:cNvSpPr txBox="1"/>
          <p:nvPr/>
        </p:nvSpPr>
        <p:spPr>
          <a:xfrm>
            <a:off x="4210150" y="2420825"/>
            <a:ext cx="4628400" cy="23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3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principle of least privilege</a:t>
            </a:r>
            <a:r>
              <a:rPr lang="en" sz="3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from the Linux sysadmin units?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3"/>
          <p:cNvSpPr txBox="1"/>
          <p:nvPr/>
        </p:nvSpPr>
        <p:spPr>
          <a:xfrm>
            <a:off x="0" y="521000"/>
            <a:ext cx="79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Also helpful in the following areas: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3"/>
          <p:cNvSpPr txBox="1"/>
          <p:nvPr/>
        </p:nvSpPr>
        <p:spPr>
          <a:xfrm>
            <a:off x="553050" y="1970275"/>
            <a:ext cx="2342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Implementing controls, which are crucial for passing security audits.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3"/>
          <p:cNvSpPr txBox="1"/>
          <p:nvPr/>
        </p:nvSpPr>
        <p:spPr>
          <a:xfrm>
            <a:off x="3537549" y="1956475"/>
            <a:ext cx="22353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Can tie directly to business functions, such as finance, and external parties.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3"/>
          <p:cNvSpPr txBox="1"/>
          <p:nvPr/>
        </p:nvSpPr>
        <p:spPr>
          <a:xfrm>
            <a:off x="6434951" y="1970275"/>
            <a:ext cx="22353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ACLs use security identifiers to manage which principals can access which resources.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3"/>
          <p:cNvSpPr txBox="1"/>
          <p:nvPr/>
        </p:nvSpPr>
        <p:spPr>
          <a:xfrm>
            <a:off x="465975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Compliance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3"/>
          <p:cNvSpPr txBox="1"/>
          <p:nvPr/>
        </p:nvSpPr>
        <p:spPr>
          <a:xfrm>
            <a:off x="3429000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Risk Management</a:t>
            </a:r>
            <a:endParaRPr b="0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73"/>
          <p:cNvSpPr txBox="1"/>
          <p:nvPr/>
        </p:nvSpPr>
        <p:spPr>
          <a:xfrm>
            <a:off x="6343875" y="1345100"/>
            <a:ext cx="2461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Access Control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Active Directory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563" name="Google Shape;563;p73"/>
          <p:cNvPicPr preferRelativeResize="0"/>
          <p:nvPr/>
        </p:nvPicPr>
        <p:blipFill rotWithShape="1">
          <a:blip r:embed="rId3">
            <a:alphaModFix/>
          </a:blip>
          <a:srcRect b="0" l="89" r="79" t="0"/>
          <a:stretch/>
        </p:blipFill>
        <p:spPr>
          <a:xfrm>
            <a:off x="2286002" y="3908034"/>
            <a:ext cx="485038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2" y="5589100"/>
            <a:ext cx="485038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5641" y="5589090"/>
            <a:ext cx="644635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6301" y="5653951"/>
            <a:ext cx="493949" cy="49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73"/>
          <p:cNvPicPr preferRelativeResize="0"/>
          <p:nvPr/>
        </p:nvPicPr>
        <p:blipFill rotWithShape="1">
          <a:blip r:embed="rId7">
            <a:alphaModFix/>
          </a:blip>
          <a:srcRect b="0" l="0" r="-15287" t="0"/>
          <a:stretch/>
        </p:blipFill>
        <p:spPr>
          <a:xfrm>
            <a:off x="5107800" y="3972659"/>
            <a:ext cx="644624" cy="4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2871" y="3918560"/>
            <a:ext cx="440803" cy="55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4"/>
          <p:cNvSpPr txBox="1"/>
          <p:nvPr>
            <p:ph idx="1" type="body"/>
          </p:nvPr>
        </p:nvSpPr>
        <p:spPr>
          <a:xfrm>
            <a:off x="3389275" y="1377600"/>
            <a:ext cx="54405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Active Directory understands an organization’s resources and security principals as </a:t>
            </a:r>
            <a:r>
              <a:rPr b="1" lang="en" sz="3300"/>
              <a:t>objects</a:t>
            </a:r>
            <a:r>
              <a:rPr lang="en" sz="3300"/>
              <a:t>.</a:t>
            </a:r>
            <a:endParaRPr sz="3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5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Objects </a:t>
            </a:r>
            <a:r>
              <a:rPr lang="en"/>
              <a:t>are the users, groups, and computers, as well as the file shares, network printers, and other resources that users need to access.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6"/>
          <p:cNvSpPr txBox="1"/>
          <p:nvPr>
            <p:ph idx="1" type="body"/>
          </p:nvPr>
        </p:nvSpPr>
        <p:spPr>
          <a:xfrm>
            <a:off x="3684900" y="1377600"/>
            <a:ext cx="5431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Before we can understand how AD works, let's discuss what a </a:t>
            </a:r>
            <a:r>
              <a:rPr b="1" lang="en" sz="3200"/>
              <a:t>Windows Server Domain</a:t>
            </a:r>
            <a:r>
              <a:rPr lang="en" sz="3200"/>
              <a:t> is.</a:t>
            </a:r>
            <a:endParaRPr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7"/>
          <p:cNvSpPr txBox="1"/>
          <p:nvPr>
            <p:ph idx="1" type="body"/>
          </p:nvPr>
        </p:nvSpPr>
        <p:spPr>
          <a:xfrm>
            <a:off x="1206125" y="1039700"/>
            <a:ext cx="66021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A </a:t>
            </a:r>
            <a:r>
              <a:rPr b="1" lang="en" sz="3000"/>
              <a:t>Windows Server Domain</a:t>
            </a:r>
            <a:r>
              <a:rPr lang="en" sz="3000"/>
              <a:t> is a digital grouping of all object types, such as the users, computers, network resources, and security principals in an enterprise.</a:t>
            </a:r>
            <a:endParaRPr sz="3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4999" r="9780" t="0"/>
          <a:stretch/>
        </p:blipFill>
        <p:spPr>
          <a:xfrm>
            <a:off x="0" y="150"/>
            <a:ext cx="3220500" cy="5143499"/>
          </a:xfrm>
          <a:prstGeom prst="rect">
            <a:avLst/>
          </a:prstGeom>
        </p:spPr>
      </p:pic>
      <p:sp>
        <p:nvSpPr>
          <p:cNvPr id="594" name="Google Shape;594;p78"/>
          <p:cNvSpPr txBox="1"/>
          <p:nvPr>
            <p:ph idx="1" type="body"/>
          </p:nvPr>
        </p:nvSpPr>
        <p:spPr>
          <a:xfrm>
            <a:off x="3657600" y="1054550"/>
            <a:ext cx="5025600" cy="2361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Domain Controller (DC)</a:t>
            </a:r>
            <a:r>
              <a:rPr lang="en"/>
              <a:t> is a server that manages access to all the domain resources.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Runs Active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Handles </a:t>
            </a:r>
            <a:r>
              <a:rPr lang="en"/>
              <a:t>authentication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Verifies database for requests</a:t>
            </a:r>
            <a:endParaRPr/>
          </a:p>
        </p:txBody>
      </p:sp>
      <p:sp>
        <p:nvSpPr>
          <p:cNvPr id="595" name="Google Shape;595;p78"/>
          <p:cNvSpPr txBox="1"/>
          <p:nvPr>
            <p:ph type="title"/>
          </p:nvPr>
        </p:nvSpPr>
        <p:spPr>
          <a:xfrm>
            <a:off x="3363050" y="146300"/>
            <a:ext cx="57024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Domains and Domain Controllers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p79"/>
          <p:cNvGrpSpPr/>
          <p:nvPr/>
        </p:nvGrpSpPr>
        <p:grpSpPr>
          <a:xfrm>
            <a:off x="6257800" y="1066800"/>
            <a:ext cx="2429025" cy="3435366"/>
            <a:chOff x="6257775" y="1133250"/>
            <a:chExt cx="2429025" cy="3435366"/>
          </a:xfrm>
        </p:grpSpPr>
        <p:sp>
          <p:nvSpPr>
            <p:cNvPr id="601" name="Google Shape;601;p79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79"/>
            <p:cNvSpPr/>
            <p:nvPr/>
          </p:nvSpPr>
          <p:spPr>
            <a:xfrm>
              <a:off x="6257775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Groups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3" name="Google Shape;603;p79"/>
          <p:cNvGrpSpPr/>
          <p:nvPr/>
        </p:nvGrpSpPr>
        <p:grpSpPr>
          <a:xfrm>
            <a:off x="457225" y="1066800"/>
            <a:ext cx="2439025" cy="3434400"/>
            <a:chOff x="457200" y="1133250"/>
            <a:chExt cx="2439025" cy="3434400"/>
          </a:xfrm>
        </p:grpSpPr>
        <p:sp>
          <p:nvSpPr>
            <p:cNvPr id="604" name="Google Shape;604;p79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5" name="Google Shape;605;p79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Containers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6" name="Google Shape;606;p79"/>
          <p:cNvGrpSpPr/>
          <p:nvPr/>
        </p:nvGrpSpPr>
        <p:grpSpPr>
          <a:xfrm>
            <a:off x="3359425" y="1066799"/>
            <a:ext cx="2435188" cy="3434400"/>
            <a:chOff x="3399100" y="1133249"/>
            <a:chExt cx="2435188" cy="3434400"/>
          </a:xfrm>
        </p:grpSpPr>
        <p:sp>
          <p:nvSpPr>
            <p:cNvPr id="607" name="Google Shape;607;p79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8" name="Google Shape;608;p79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Organizational Units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(OU)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9" name="Google Shape;609;p79"/>
          <p:cNvSpPr txBox="1"/>
          <p:nvPr>
            <p:ph idx="4294967295" type="body"/>
          </p:nvPr>
        </p:nvSpPr>
        <p:spPr>
          <a:xfrm>
            <a:off x="457175" y="1773775"/>
            <a:ext cx="2521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Virtual collections of objects.</a:t>
            </a:r>
            <a:endParaRPr sz="1500"/>
          </a:p>
        </p:txBody>
      </p:sp>
      <p:sp>
        <p:nvSpPr>
          <p:cNvPr id="610" name="Google Shape;610;p79"/>
          <p:cNvSpPr txBox="1"/>
          <p:nvPr>
            <p:ph idx="4294967295" type="body"/>
          </p:nvPr>
        </p:nvSpPr>
        <p:spPr>
          <a:xfrm>
            <a:off x="3357750" y="17737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Collections of objects that have policies applied to them.</a:t>
            </a:r>
            <a:endParaRPr sz="1500"/>
          </a:p>
        </p:txBody>
      </p:sp>
      <p:sp>
        <p:nvSpPr>
          <p:cNvPr id="611" name="Google Shape;611;p79"/>
          <p:cNvSpPr txBox="1"/>
          <p:nvPr>
            <p:ph idx="4294967295" type="body"/>
          </p:nvPr>
        </p:nvSpPr>
        <p:spPr>
          <a:xfrm>
            <a:off x="6258325" y="17737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Used to manage identical permissions and access controls for security purposes.</a:t>
            </a:r>
            <a:br>
              <a:rPr lang="en" sz="1600"/>
            </a:br>
            <a:br>
              <a:rPr lang="en" sz="1600"/>
            </a:br>
            <a:r>
              <a:rPr b="1" lang="en" sz="1600"/>
              <a:t>-Distribution </a:t>
            </a:r>
            <a:r>
              <a:rPr b="1" lang="en" sz="1600"/>
              <a:t>G</a:t>
            </a:r>
            <a:r>
              <a:rPr b="1" lang="en" sz="1600"/>
              <a:t>roups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-Security Groups</a:t>
            </a:r>
            <a:endParaRPr b="1" sz="1600"/>
          </a:p>
        </p:txBody>
      </p:sp>
      <p:sp>
        <p:nvSpPr>
          <p:cNvPr id="612" name="Google Shape;612;p7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AD Architecture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613" name="Google Shape;613;p79"/>
          <p:cNvPicPr preferRelativeResize="0"/>
          <p:nvPr/>
        </p:nvPicPr>
        <p:blipFill rotWithShape="1">
          <a:blip r:embed="rId3">
            <a:alphaModFix/>
          </a:blip>
          <a:srcRect b="-5841" l="0" r="0" t="-1535"/>
          <a:stretch/>
        </p:blipFill>
        <p:spPr>
          <a:xfrm>
            <a:off x="2103050" y="3917425"/>
            <a:ext cx="579700" cy="51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79"/>
          <p:cNvPicPr preferRelativeResize="0"/>
          <p:nvPr/>
        </p:nvPicPr>
        <p:blipFill rotWithShape="1">
          <a:blip r:embed="rId4">
            <a:alphaModFix/>
          </a:blip>
          <a:srcRect b="39" l="0" r="0" t="39"/>
          <a:stretch/>
        </p:blipFill>
        <p:spPr>
          <a:xfrm>
            <a:off x="8025399" y="3907053"/>
            <a:ext cx="516701" cy="516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9"/>
          <p:cNvSpPr txBox="1"/>
          <p:nvPr/>
        </p:nvSpPr>
        <p:spPr>
          <a:xfrm>
            <a:off x="368850" y="512000"/>
            <a:ext cx="82296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Active Directory framework has multiple levels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6" name="Google Shape;616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3050" y="5916521"/>
            <a:ext cx="579700" cy="466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7642" y="5920038"/>
            <a:ext cx="450300" cy="459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79"/>
          <p:cNvPicPr preferRelativeResize="0"/>
          <p:nvPr/>
        </p:nvPicPr>
        <p:blipFill rotWithShape="1">
          <a:blip r:embed="rId7">
            <a:alphaModFix/>
          </a:blip>
          <a:srcRect b="0" l="-3440" r="-14804" t="0"/>
          <a:stretch/>
        </p:blipFill>
        <p:spPr>
          <a:xfrm>
            <a:off x="5050225" y="3917425"/>
            <a:ext cx="736026" cy="51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80"/>
          <p:cNvGrpSpPr/>
          <p:nvPr/>
        </p:nvGrpSpPr>
        <p:grpSpPr>
          <a:xfrm>
            <a:off x="1903325" y="1030088"/>
            <a:ext cx="2439025" cy="3434400"/>
            <a:chOff x="457200" y="1133250"/>
            <a:chExt cx="2439025" cy="3434400"/>
          </a:xfrm>
        </p:grpSpPr>
        <p:sp>
          <p:nvSpPr>
            <p:cNvPr id="624" name="Google Shape;624;p80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5" name="Google Shape;625;p80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Containers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6" name="Google Shape;626;p80"/>
          <p:cNvGrpSpPr/>
          <p:nvPr/>
        </p:nvGrpSpPr>
        <p:grpSpPr>
          <a:xfrm>
            <a:off x="4805525" y="1030086"/>
            <a:ext cx="2435188" cy="3434400"/>
            <a:chOff x="3399100" y="1133249"/>
            <a:chExt cx="2435188" cy="3434400"/>
          </a:xfrm>
        </p:grpSpPr>
        <p:sp>
          <p:nvSpPr>
            <p:cNvPr id="627" name="Google Shape;627;p80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8" name="Google Shape;628;p80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Organizational Units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(OU)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9" name="Google Shape;629;p80"/>
          <p:cNvSpPr txBox="1"/>
          <p:nvPr>
            <p:ph idx="4294967295" type="body"/>
          </p:nvPr>
        </p:nvSpPr>
        <p:spPr>
          <a:xfrm>
            <a:off x="1903275" y="1737063"/>
            <a:ext cx="2521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Collections of one or more domains and domain trees.</a:t>
            </a:r>
            <a:endParaRPr sz="1500"/>
          </a:p>
        </p:txBody>
      </p:sp>
      <p:sp>
        <p:nvSpPr>
          <p:cNvPr id="630" name="Google Shape;630;p80"/>
          <p:cNvSpPr txBox="1"/>
          <p:nvPr>
            <p:ph idx="4294967295" type="body"/>
          </p:nvPr>
        </p:nvSpPr>
        <p:spPr>
          <a:xfrm>
            <a:off x="4803850" y="1737063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Two or more trees that are part of the same AD configuration.</a:t>
            </a:r>
            <a:endParaRPr sz="1500"/>
          </a:p>
        </p:txBody>
      </p:sp>
      <p:sp>
        <p:nvSpPr>
          <p:cNvPr id="631" name="Google Shape;631;p8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dk2"/>
                </a:solidFill>
              </a:rPr>
              <a:t>AD Architecture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632" name="Google Shape;632;p80"/>
          <p:cNvPicPr preferRelativeResize="0"/>
          <p:nvPr/>
        </p:nvPicPr>
        <p:blipFill rotWithShape="1">
          <a:blip r:embed="rId3">
            <a:alphaModFix/>
          </a:blip>
          <a:srcRect b="-6738" l="0" r="0" t="-13584"/>
          <a:stretch/>
        </p:blipFill>
        <p:spPr>
          <a:xfrm>
            <a:off x="3657600" y="3596523"/>
            <a:ext cx="340950" cy="7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80"/>
          <p:cNvSpPr txBox="1"/>
          <p:nvPr/>
        </p:nvSpPr>
        <p:spPr>
          <a:xfrm>
            <a:off x="368850" y="512000"/>
            <a:ext cx="82296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Active Directory framework has multiple levels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4" name="Google Shape;634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9150" y="5355934"/>
            <a:ext cx="579700" cy="466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3742" y="5359450"/>
            <a:ext cx="450300" cy="459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80"/>
          <p:cNvPicPr preferRelativeResize="0"/>
          <p:nvPr/>
        </p:nvPicPr>
        <p:blipFill rotWithShape="1">
          <a:blip r:embed="rId6">
            <a:alphaModFix/>
          </a:blip>
          <a:srcRect b="0" l="-6942" r="-6128" t="0"/>
          <a:stretch/>
        </p:blipFill>
        <p:spPr>
          <a:xfrm>
            <a:off x="6308225" y="3659200"/>
            <a:ext cx="745825" cy="6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1"/>
          <p:cNvSpPr/>
          <p:nvPr/>
        </p:nvSpPr>
        <p:spPr>
          <a:xfrm>
            <a:off x="179650" y="4797500"/>
            <a:ext cx="8765700" cy="1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81"/>
          <p:cNvSpPr/>
          <p:nvPr/>
        </p:nvSpPr>
        <p:spPr>
          <a:xfrm>
            <a:off x="166700" y="460375"/>
            <a:ext cx="8818500" cy="3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81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https://docs.microsoft.com</a:t>
            </a:r>
            <a:endParaRPr/>
          </a:p>
        </p:txBody>
      </p:sp>
      <p:sp>
        <p:nvSpPr>
          <p:cNvPr id="644" name="Google Shape;644;p81"/>
          <p:cNvSpPr txBox="1"/>
          <p:nvPr/>
        </p:nvSpPr>
        <p:spPr>
          <a:xfrm>
            <a:off x="-45910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AD Architecture</a:t>
            </a:r>
            <a:endParaRPr b="1" i="0" sz="2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81"/>
          <p:cNvSpPr txBox="1"/>
          <p:nvPr/>
        </p:nvSpPr>
        <p:spPr>
          <a:xfrm>
            <a:off x="-519125" y="928425"/>
            <a:ext cx="3103800" cy="3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Active Directory has a hierarchical structure of organizational units, users,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i="0" lang="en" sz="18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achines, groups, domains, trees, and forests.</a:t>
            </a:r>
            <a:endParaRPr i="0" sz="18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6" name="Google Shape;646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2350" y="748250"/>
            <a:ext cx="6682925" cy="377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81"/>
          <p:cNvSpPr txBox="1"/>
          <p:nvPr/>
        </p:nvSpPr>
        <p:spPr>
          <a:xfrm>
            <a:off x="456850" y="625675"/>
            <a:ext cx="228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2"/>
          <p:cNvSpPr/>
          <p:nvPr/>
        </p:nvSpPr>
        <p:spPr>
          <a:xfrm>
            <a:off x="423125" y="1200100"/>
            <a:ext cx="2675400" cy="102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82"/>
          <p:cNvSpPr/>
          <p:nvPr/>
        </p:nvSpPr>
        <p:spPr>
          <a:xfrm>
            <a:off x="3266725" y="1200100"/>
            <a:ext cx="2675400" cy="10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82"/>
          <p:cNvSpPr/>
          <p:nvPr/>
        </p:nvSpPr>
        <p:spPr>
          <a:xfrm>
            <a:off x="6110325" y="1200100"/>
            <a:ext cx="2675400" cy="102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‹#›</a:t>
            </a:fld>
            <a:endParaRPr sz="13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6" name="Google Shape;656;p82"/>
          <p:cNvSpPr txBox="1"/>
          <p:nvPr/>
        </p:nvSpPr>
        <p:spPr>
          <a:xfrm>
            <a:off x="3479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 Authentication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82"/>
          <p:cNvSpPr/>
          <p:nvPr/>
        </p:nvSpPr>
        <p:spPr>
          <a:xfrm>
            <a:off x="423125" y="2221000"/>
            <a:ext cx="2675400" cy="2298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82"/>
          <p:cNvSpPr/>
          <p:nvPr/>
        </p:nvSpPr>
        <p:spPr>
          <a:xfrm>
            <a:off x="3266725" y="2221000"/>
            <a:ext cx="2675400" cy="2298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82"/>
          <p:cNvSpPr/>
          <p:nvPr/>
        </p:nvSpPr>
        <p:spPr>
          <a:xfrm>
            <a:off x="6110325" y="2221000"/>
            <a:ext cx="2675400" cy="22980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82"/>
          <p:cNvSpPr txBox="1"/>
          <p:nvPr/>
        </p:nvSpPr>
        <p:spPr>
          <a:xfrm>
            <a:off x="615900" y="2365744"/>
            <a:ext cx="2338500" cy="1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standardized protocol for adding, deleting, and editing objects. </a:t>
            </a:r>
            <a:endParaRPr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82"/>
          <p:cNvSpPr txBox="1"/>
          <p:nvPr/>
        </p:nvSpPr>
        <p:spPr>
          <a:xfrm>
            <a:off x="3435175" y="2365746"/>
            <a:ext cx="2338500" cy="2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 ticket-based authentication protocol, now the default authentication protocol for Windows Server domains. </a:t>
            </a:r>
            <a:br>
              <a:rPr b="0" i="0" lang="en" sz="14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b="0" i="0" sz="1400" u="none" cap="none" strike="noStrike">
              <a:solidFill>
                <a:srgbClr val="082D4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2" name="Google Shape;662;p82"/>
          <p:cNvSpPr txBox="1"/>
          <p:nvPr/>
        </p:nvSpPr>
        <p:spPr>
          <a:xfrm>
            <a:off x="6278775" y="2365744"/>
            <a:ext cx="2338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4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An authentication protocol that has become outdated because of </a:t>
            </a:r>
            <a:r>
              <a:rPr b="1" i="0" lang="en" sz="14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pass-the-hash attacks.</a:t>
            </a:r>
            <a:endParaRPr b="1" i="0" sz="14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82"/>
          <p:cNvSpPr txBox="1"/>
          <p:nvPr/>
        </p:nvSpPr>
        <p:spPr>
          <a:xfrm>
            <a:off x="-395200" y="554850"/>
            <a:ext cx="91686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AD uses the following authentication protocols:</a:t>
            </a:r>
            <a:endParaRPr i="0" sz="18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82"/>
          <p:cNvSpPr txBox="1"/>
          <p:nvPr/>
        </p:nvSpPr>
        <p:spPr>
          <a:xfrm>
            <a:off x="615900" y="1340125"/>
            <a:ext cx="24162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LDAP</a:t>
            </a:r>
            <a:r>
              <a:rPr b="0" i="0" lang="en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br>
              <a:rPr b="0" i="0" lang="en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(Lightweight Directory </a:t>
            </a:r>
            <a:br>
              <a:rPr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Access Protocol)</a:t>
            </a:r>
            <a:endParaRPr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82"/>
          <p:cNvSpPr txBox="1"/>
          <p:nvPr/>
        </p:nvSpPr>
        <p:spPr>
          <a:xfrm>
            <a:off x="3396325" y="1340125"/>
            <a:ext cx="24162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Kerberos</a:t>
            </a:r>
            <a:endParaRPr b="0" i="0" sz="20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6" name="Google Shape;666;p82"/>
          <p:cNvSpPr txBox="1"/>
          <p:nvPr/>
        </p:nvSpPr>
        <p:spPr>
          <a:xfrm>
            <a:off x="6239925" y="1340125"/>
            <a:ext cx="24162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NTLM </a:t>
            </a:r>
            <a:br>
              <a:rPr b="0" i="0" lang="en" sz="2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(New Technology LAN Manager)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5E7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3"/>
          <p:cNvSpPr/>
          <p:nvPr/>
        </p:nvSpPr>
        <p:spPr>
          <a:xfrm>
            <a:off x="1500" y="1055475"/>
            <a:ext cx="9168600" cy="152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83"/>
          <p:cNvSpPr/>
          <p:nvPr/>
        </p:nvSpPr>
        <p:spPr>
          <a:xfrm>
            <a:off x="191475" y="313300"/>
            <a:ext cx="8772600" cy="44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8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83"/>
          <p:cNvSpPr txBox="1"/>
          <p:nvPr/>
        </p:nvSpPr>
        <p:spPr>
          <a:xfrm>
            <a:off x="318350" y="3346150"/>
            <a:ext cx="22161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Bob’s Windows 10 machine sends a request to authenticate the 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Key Distribution Center (KDC)</a:t>
            </a: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seeking a 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Ticket</a:t>
            </a:r>
            <a:r>
              <a:rPr b="1" lang="en" sz="11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Granting Ticket (TGT)</a:t>
            </a: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b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KDC has a database of </a:t>
            </a:r>
            <a:b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valid credentials, an 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Authentication Server</a:t>
            </a: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and a 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Ticket</a:t>
            </a:r>
            <a:r>
              <a:rPr b="1" lang="en" sz="11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Granting Server.</a:t>
            </a: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sz="11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83"/>
          <p:cNvSpPr txBox="1"/>
          <p:nvPr/>
        </p:nvSpPr>
        <p:spPr>
          <a:xfrm>
            <a:off x="2787725" y="3346150"/>
            <a:ext cx="17937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Once his credentials are verified, Bob receives a TGT that allows him to request access to resources. </a:t>
            </a:r>
            <a:b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That TGT is cached and permits him to request </a:t>
            </a:r>
            <a:b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more tickets for the current domain session. </a:t>
            </a:r>
            <a:endParaRPr i="0" sz="11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6" name="Google Shape;676;p83"/>
          <p:cNvCxnSpPr/>
          <p:nvPr/>
        </p:nvCxnSpPr>
        <p:spPr>
          <a:xfrm>
            <a:off x="2595000" y="2899125"/>
            <a:ext cx="0" cy="20478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77" name="Google Shape;677;p83"/>
          <p:cNvSpPr txBox="1"/>
          <p:nvPr/>
        </p:nvSpPr>
        <p:spPr>
          <a:xfrm>
            <a:off x="4890075" y="3346150"/>
            <a:ext cx="150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When Bob attempts to access the file server, he sends the TGT to the Ticket</a:t>
            </a:r>
            <a:r>
              <a:rPr lang="en" sz="11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Granting Server, requesting access to the file server. </a:t>
            </a:r>
            <a:endParaRPr i="0" sz="11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8" name="Google Shape;678;p83"/>
          <p:cNvCxnSpPr/>
          <p:nvPr/>
        </p:nvCxnSpPr>
        <p:spPr>
          <a:xfrm>
            <a:off x="4697350" y="2899125"/>
            <a:ext cx="0" cy="20478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79" name="Google Shape;679;p83"/>
          <p:cNvSpPr txBox="1"/>
          <p:nvPr/>
        </p:nvSpPr>
        <p:spPr>
          <a:xfrm>
            <a:off x="6758575" y="3346150"/>
            <a:ext cx="22161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KDC checks if the file server exists and whether the TGT is valid. If it is, the KDC sends Bob an encrypted 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service ticket </a:t>
            </a: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containing info he authenticated earlier, and a </a:t>
            </a:r>
            <a:r>
              <a:rPr b="1"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session key</a:t>
            </a:r>
            <a:r>
              <a:rPr i="0" lang="en" sz="1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 Bob is then sent the encrypted service ticket and a copy of the session key.</a:t>
            </a:r>
            <a:r>
              <a:rPr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0" name="Google Shape;680;p83"/>
          <p:cNvCxnSpPr/>
          <p:nvPr/>
        </p:nvCxnSpPr>
        <p:spPr>
          <a:xfrm>
            <a:off x="6522375" y="2899125"/>
            <a:ext cx="0" cy="20478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81" name="Google Shape;681;p83"/>
          <p:cNvSpPr txBox="1"/>
          <p:nvPr/>
        </p:nvSpPr>
        <p:spPr>
          <a:xfrm>
            <a:off x="-38290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Kerberos Overview</a:t>
            </a:r>
            <a:endParaRPr b="1" i="0" sz="2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83"/>
          <p:cNvSpPr txBox="1"/>
          <p:nvPr/>
        </p:nvSpPr>
        <p:spPr>
          <a:xfrm>
            <a:off x="-395200" y="5548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Bob is attempting to access a networked file server:</a:t>
            </a:r>
            <a:endParaRPr i="0" sz="18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3" name="Google Shape;68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332" y="1019325"/>
            <a:ext cx="7157335" cy="15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83"/>
          <p:cNvSpPr/>
          <p:nvPr/>
        </p:nvSpPr>
        <p:spPr>
          <a:xfrm>
            <a:off x="234975" y="4891100"/>
            <a:ext cx="8772600" cy="2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83"/>
          <p:cNvSpPr/>
          <p:nvPr/>
        </p:nvSpPr>
        <p:spPr>
          <a:xfrm>
            <a:off x="447725" y="2880938"/>
            <a:ext cx="393600" cy="393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83"/>
          <p:cNvSpPr txBox="1"/>
          <p:nvPr/>
        </p:nvSpPr>
        <p:spPr>
          <a:xfrm>
            <a:off x="458225" y="2877638"/>
            <a:ext cx="3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14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7" name="Google Shape;687;p83"/>
          <p:cNvSpPr/>
          <p:nvPr/>
        </p:nvSpPr>
        <p:spPr>
          <a:xfrm>
            <a:off x="2787725" y="2880938"/>
            <a:ext cx="393600" cy="393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83"/>
          <p:cNvSpPr txBox="1"/>
          <p:nvPr/>
        </p:nvSpPr>
        <p:spPr>
          <a:xfrm>
            <a:off x="2798225" y="2877638"/>
            <a:ext cx="3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9" name="Google Shape;689;p83"/>
          <p:cNvSpPr/>
          <p:nvPr/>
        </p:nvSpPr>
        <p:spPr>
          <a:xfrm>
            <a:off x="4890075" y="2880938"/>
            <a:ext cx="393600" cy="39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83"/>
          <p:cNvSpPr txBox="1"/>
          <p:nvPr/>
        </p:nvSpPr>
        <p:spPr>
          <a:xfrm>
            <a:off x="4900575" y="2877638"/>
            <a:ext cx="3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14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1" name="Google Shape;691;p83"/>
          <p:cNvSpPr/>
          <p:nvPr/>
        </p:nvSpPr>
        <p:spPr>
          <a:xfrm>
            <a:off x="6758575" y="2880938"/>
            <a:ext cx="393600" cy="393600"/>
          </a:xfrm>
          <a:prstGeom prst="ellipse">
            <a:avLst/>
          </a:prstGeom>
          <a:solidFill>
            <a:srgbClr val="E51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83"/>
          <p:cNvSpPr txBox="1"/>
          <p:nvPr/>
        </p:nvSpPr>
        <p:spPr>
          <a:xfrm>
            <a:off x="6769075" y="2877638"/>
            <a:ext cx="3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4"/>
          <p:cNvSpPr/>
          <p:nvPr/>
        </p:nvSpPr>
        <p:spPr>
          <a:xfrm>
            <a:off x="1500" y="1055475"/>
            <a:ext cx="9168600" cy="152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84"/>
          <p:cNvSpPr/>
          <p:nvPr/>
        </p:nvSpPr>
        <p:spPr>
          <a:xfrm>
            <a:off x="191475" y="313300"/>
            <a:ext cx="8772600" cy="44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8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00" name="Google Shape;700;p84"/>
          <p:cNvCxnSpPr/>
          <p:nvPr/>
        </p:nvCxnSpPr>
        <p:spPr>
          <a:xfrm>
            <a:off x="3204600" y="2899125"/>
            <a:ext cx="0" cy="20478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1" name="Google Shape;701;p84"/>
          <p:cNvCxnSpPr/>
          <p:nvPr/>
        </p:nvCxnSpPr>
        <p:spPr>
          <a:xfrm>
            <a:off x="5840350" y="2899125"/>
            <a:ext cx="0" cy="20478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02" name="Google Shape;702;p84"/>
          <p:cNvSpPr txBox="1"/>
          <p:nvPr/>
        </p:nvSpPr>
        <p:spPr>
          <a:xfrm>
            <a:off x="-38290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Kerberos Overview</a:t>
            </a:r>
            <a:endParaRPr b="1" i="0" sz="2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84"/>
          <p:cNvSpPr txBox="1"/>
          <p:nvPr/>
        </p:nvSpPr>
        <p:spPr>
          <a:xfrm>
            <a:off x="-395200" y="5548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Bob is attempting to access a networked file server:</a:t>
            </a:r>
            <a:endParaRPr i="0" sz="18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4" name="Google Shape;70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332" y="1019325"/>
            <a:ext cx="7157335" cy="15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84"/>
          <p:cNvSpPr/>
          <p:nvPr/>
        </p:nvSpPr>
        <p:spPr>
          <a:xfrm>
            <a:off x="234975" y="4891100"/>
            <a:ext cx="8772600" cy="2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84"/>
          <p:cNvSpPr/>
          <p:nvPr/>
        </p:nvSpPr>
        <p:spPr>
          <a:xfrm>
            <a:off x="447725" y="2880938"/>
            <a:ext cx="393600" cy="393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84"/>
          <p:cNvSpPr txBox="1"/>
          <p:nvPr/>
        </p:nvSpPr>
        <p:spPr>
          <a:xfrm>
            <a:off x="458225" y="2877638"/>
            <a:ext cx="3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5</a:t>
            </a:r>
            <a:endParaRPr b="0" i="0" sz="14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8" name="Google Shape;708;p84"/>
          <p:cNvSpPr/>
          <p:nvPr/>
        </p:nvSpPr>
        <p:spPr>
          <a:xfrm>
            <a:off x="3397325" y="2880938"/>
            <a:ext cx="393600" cy="393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84"/>
          <p:cNvSpPr txBox="1"/>
          <p:nvPr/>
        </p:nvSpPr>
        <p:spPr>
          <a:xfrm>
            <a:off x="3407825" y="2877638"/>
            <a:ext cx="3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6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0" name="Google Shape;710;p84"/>
          <p:cNvSpPr/>
          <p:nvPr/>
        </p:nvSpPr>
        <p:spPr>
          <a:xfrm>
            <a:off x="6033075" y="2880938"/>
            <a:ext cx="393600" cy="39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84"/>
          <p:cNvSpPr txBox="1"/>
          <p:nvPr/>
        </p:nvSpPr>
        <p:spPr>
          <a:xfrm>
            <a:off x="6043575" y="2877638"/>
            <a:ext cx="3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7</a:t>
            </a:r>
            <a:endParaRPr b="0" i="0" sz="14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2" name="Google Shape;712;p84"/>
          <p:cNvSpPr txBox="1"/>
          <p:nvPr/>
        </p:nvSpPr>
        <p:spPr>
          <a:xfrm>
            <a:off x="447725" y="3346150"/>
            <a:ext cx="2493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Bob then uses the session key to encrypt a new message containing his current information and send that, along with the service ticket, to the file server. </a:t>
            </a:r>
            <a:endParaRPr b="0" i="0" sz="1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84"/>
          <p:cNvSpPr txBox="1"/>
          <p:nvPr/>
        </p:nvSpPr>
        <p:spPr>
          <a:xfrm>
            <a:off x="3397325" y="3346150"/>
            <a:ext cx="2159400" cy="17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file server then decrypts the service ticket containing the session key, and uses that session key to decrypt the message from Bob that contains his current information. 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84"/>
          <p:cNvSpPr txBox="1"/>
          <p:nvPr/>
        </p:nvSpPr>
        <p:spPr>
          <a:xfrm>
            <a:off x="6033075" y="3346150"/>
            <a:ext cx="27279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Finally, the file server uses the session key to encrypt a new message to be sent to Bob containing information about the file server.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Bob’s existing copy of the session key properly decrypts the message, the file server is verified.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5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Creating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OUs, Users, and Groups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0" name="Google Shape;720;p85"/>
          <p:cNvPicPr preferRelativeResize="0"/>
          <p:nvPr/>
        </p:nvPicPr>
        <p:blipFill rotWithShape="1">
          <a:blip r:embed="rId3">
            <a:alphaModFix/>
          </a:blip>
          <a:srcRect b="39" l="0" r="0" t="39"/>
          <a:stretch/>
        </p:blipFill>
        <p:spPr>
          <a:xfrm>
            <a:off x="4114797" y="1828780"/>
            <a:ext cx="914400" cy="914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5" name="Google Shape;725;p86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26" name="Google Shape;726;p86"/>
          <p:cNvSpPr txBox="1"/>
          <p:nvPr/>
        </p:nvSpPr>
        <p:spPr>
          <a:xfrm>
            <a:off x="708725" y="115175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7" name="Google Shape;727;p86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8" name="Google Shape;72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2700" y="1665200"/>
            <a:ext cx="3450584" cy="229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86"/>
          <p:cNvSpPr txBox="1"/>
          <p:nvPr>
            <p:ph idx="1" type="body"/>
          </p:nvPr>
        </p:nvSpPr>
        <p:spPr>
          <a:xfrm>
            <a:off x="457200" y="1019525"/>
            <a:ext cx="4474800" cy="38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continue our system administration tasks and set up users in </a:t>
            </a:r>
            <a:r>
              <a:rPr b="1" lang="en"/>
              <a:t>Active Directory </a:t>
            </a:r>
            <a:r>
              <a:rPr lang="en"/>
              <a:t>so they have accounts that are logically assigned to organization units and groups.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set up marketing associate, Caroline, as a new user in Active Directory.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do this, we will need to</a:t>
            </a:r>
            <a:r>
              <a:rPr b="1" lang="en"/>
              <a:t> create organizational units (OUs), users,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and groups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31" name="Google Shape;731;p86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Creating Organizational Units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7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Creating Organizational Units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9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746" name="Google Shape;746;p8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Domain OUs, Users, and Groups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7" name="Google Shape;747;p89"/>
          <p:cNvSpPr txBox="1"/>
          <p:nvPr>
            <p:ph idx="3" type="body"/>
          </p:nvPr>
        </p:nvSpPr>
        <p:spPr>
          <a:xfrm>
            <a:off x="457200" y="1052288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are tasked with setting up users, groups, and organizational units for your domain.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scenario, your company needs you to set up the domain accounts for the people who will be using the Windows workstations.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need to set up two users: </a:t>
            </a:r>
            <a:r>
              <a:rPr b="1" lang="en"/>
              <a:t>Andrew</a:t>
            </a:r>
            <a:r>
              <a:rPr lang="en"/>
              <a:t> and </a:t>
            </a:r>
            <a:r>
              <a:rPr b="1" lang="en"/>
              <a:t>Bob</a:t>
            </a:r>
            <a:r>
              <a:rPr lang="en"/>
              <a:t>. Andrew is in the development department and Bob is in the sales department.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8" name="Google Shape;748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3"/>
          <p:cNvSpPr txBox="1"/>
          <p:nvPr>
            <p:ph type="title"/>
          </p:nvPr>
        </p:nvSpPr>
        <p:spPr>
          <a:xfrm>
            <a:off x="0" y="2800375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Group Policy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Objects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6" name="Google Shape;76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0663" y="1842713"/>
            <a:ext cx="902675" cy="8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4"/>
          <p:cNvSpPr txBox="1"/>
          <p:nvPr>
            <p:ph idx="1" type="body"/>
          </p:nvPr>
        </p:nvSpPr>
        <p:spPr>
          <a:xfrm>
            <a:off x="344550" y="578900"/>
            <a:ext cx="7933800" cy="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5"/>
                </a:solidFill>
              </a:rPr>
              <a:t>Now that we have OUs, groups, and users, we can create Group Policies that enforce the principle of least privilege.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72" name="Google Shape;772;p94"/>
          <p:cNvGrpSpPr/>
          <p:nvPr/>
        </p:nvGrpSpPr>
        <p:grpSpPr>
          <a:xfrm>
            <a:off x="782650" y="1457125"/>
            <a:ext cx="7444777" cy="3292725"/>
            <a:chOff x="782650" y="1530125"/>
            <a:chExt cx="7444777" cy="3292725"/>
          </a:xfrm>
        </p:grpSpPr>
        <p:pic>
          <p:nvPicPr>
            <p:cNvPr id="773" name="Google Shape;773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2650" y="1530125"/>
              <a:ext cx="7444777" cy="3169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4" name="Google Shape;774;p94"/>
            <p:cNvSpPr/>
            <p:nvPr/>
          </p:nvSpPr>
          <p:spPr>
            <a:xfrm>
              <a:off x="2516125" y="3582825"/>
              <a:ext cx="13908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75" name="Google Shape;775;p94"/>
            <p:cNvSpPr txBox="1"/>
            <p:nvPr/>
          </p:nvSpPr>
          <p:spPr>
            <a:xfrm>
              <a:off x="2459977" y="3546601"/>
              <a:ext cx="153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Active Directory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6" name="Google Shape;776;p94"/>
            <p:cNvSpPr/>
            <p:nvPr/>
          </p:nvSpPr>
          <p:spPr>
            <a:xfrm>
              <a:off x="838800" y="3582825"/>
              <a:ext cx="13908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77" name="Google Shape;777;p94"/>
            <p:cNvSpPr txBox="1"/>
            <p:nvPr/>
          </p:nvSpPr>
          <p:spPr>
            <a:xfrm>
              <a:off x="838802" y="3546601"/>
              <a:ext cx="153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Administrator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8" name="Google Shape;778;p94"/>
            <p:cNvSpPr/>
            <p:nvPr/>
          </p:nvSpPr>
          <p:spPr>
            <a:xfrm>
              <a:off x="5609175" y="2712250"/>
              <a:ext cx="13908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79" name="Google Shape;779;p94"/>
            <p:cNvSpPr txBox="1"/>
            <p:nvPr/>
          </p:nvSpPr>
          <p:spPr>
            <a:xfrm>
              <a:off x="5537477" y="2676026"/>
              <a:ext cx="153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Computers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0" name="Google Shape;780;p94"/>
            <p:cNvSpPr/>
            <p:nvPr/>
          </p:nvSpPr>
          <p:spPr>
            <a:xfrm>
              <a:off x="5609175" y="4422650"/>
              <a:ext cx="13908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81" name="Google Shape;781;p94"/>
            <p:cNvSpPr txBox="1"/>
            <p:nvPr/>
          </p:nvSpPr>
          <p:spPr>
            <a:xfrm>
              <a:off x="5537477" y="4386426"/>
              <a:ext cx="153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5"/>
          <p:cNvSpPr txBox="1"/>
          <p:nvPr>
            <p:ph idx="1" type="body"/>
          </p:nvPr>
        </p:nvSpPr>
        <p:spPr>
          <a:xfrm>
            <a:off x="1270950" y="1983350"/>
            <a:ext cx="6602100" cy="21882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Group Policy Objects (GPOs)</a:t>
            </a:r>
            <a:r>
              <a:rPr lang="en" sz="3200"/>
              <a:t> are packages of policy settings that contain one or more group policies. 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325" y="1249450"/>
            <a:ext cx="5047351" cy="2644601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96"/>
          <p:cNvSpPr txBox="1"/>
          <p:nvPr/>
        </p:nvSpPr>
        <p:spPr>
          <a:xfrm>
            <a:off x="2400024" y="1761797"/>
            <a:ext cx="20751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Implement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password complexity requirements </a:t>
            </a:r>
            <a:b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for accountants.</a:t>
            </a:r>
            <a:endParaRPr b="0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3" name="Google Shape;793;p96"/>
          <p:cNvSpPr txBox="1"/>
          <p:nvPr/>
        </p:nvSpPr>
        <p:spPr>
          <a:xfrm>
            <a:off x="4687520" y="1761797"/>
            <a:ext cx="20751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Deploy</a:t>
            </a: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some form </a:t>
            </a:r>
            <a:b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of anti-malware software when </a:t>
            </a:r>
            <a:b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they next log on.</a:t>
            </a:r>
            <a:endParaRPr b="0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4" name="Google Shape;794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Group Policy Objects</a:t>
            </a:r>
            <a:endParaRPr/>
          </a:p>
        </p:txBody>
      </p:sp>
      <p:sp>
        <p:nvSpPr>
          <p:cNvPr id="795" name="Google Shape;795;p96"/>
          <p:cNvSpPr txBox="1"/>
          <p:nvPr>
            <p:ph idx="4294967295" type="subTitle"/>
          </p:nvPr>
        </p:nvSpPr>
        <p:spPr>
          <a:xfrm>
            <a:off x="0" y="675975"/>
            <a:ext cx="9144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800" u="none" cap="none" strike="noStrike">
                <a:solidFill>
                  <a:schemeClr val="accent5"/>
                </a:solidFill>
              </a:rPr>
              <a:t>GPOs are the basis of AD’s policy management. For example, if we want to:</a:t>
            </a:r>
            <a:endParaRPr i="0" sz="1800" u="none" cap="none" strike="noStrike">
              <a:solidFill>
                <a:schemeClr val="accent5"/>
              </a:solidFill>
            </a:endParaRPr>
          </a:p>
        </p:txBody>
      </p:sp>
      <p:sp>
        <p:nvSpPr>
          <p:cNvPr id="796" name="Google Shape;796;p96"/>
          <p:cNvSpPr txBox="1"/>
          <p:nvPr>
            <p:ph idx="1" type="body"/>
          </p:nvPr>
        </p:nvSpPr>
        <p:spPr>
          <a:xfrm>
            <a:off x="0" y="4137063"/>
            <a:ext cx="9144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800" u="none" cap="none" strike="noStrike"/>
              <a:t>We can combine these two policies into one GPO called </a:t>
            </a:r>
            <a:r>
              <a:rPr b="1" i="0" lang="en" sz="1800" u="none" cap="none" strike="noStrike"/>
              <a:t>Better Password </a:t>
            </a:r>
            <a:br>
              <a:rPr b="1" i="0" lang="en" sz="1800" u="none" cap="none" strike="noStrike"/>
            </a:br>
            <a:r>
              <a:rPr b="1" i="0" lang="en" sz="1800" u="none" cap="none" strike="noStrike"/>
              <a:t>and Anti-Malware Setup</a:t>
            </a:r>
            <a:r>
              <a:rPr i="0" lang="en" sz="1800" u="none" cap="none" strike="noStrike"/>
              <a:t> and apply it to all accountants in the OU.</a:t>
            </a:r>
            <a:endParaRPr i="0" sz="1800" u="none" cap="none" strike="noStrike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1" name="Google Shape;801;p97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2" name="Google Shape;802;p97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3" name="Google Shape;803;p97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97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Creating Group Policy with Group Policy Objects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5" name="Google Shape;80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97"/>
          <p:cNvSpPr txBox="1"/>
          <p:nvPr>
            <p:ph idx="1" type="body"/>
          </p:nvPr>
        </p:nvSpPr>
        <p:spPr>
          <a:xfrm>
            <a:off x="364625" y="1044400"/>
            <a:ext cx="4199100" cy="38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want our Sales team to have limited access to Windows Control Panel.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In order to do this, we will need to: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Create a Group Policy Object.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Edit the individual policies for our Group Policy Object.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Link the Group Policy Object to an organizational unit.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Pull the latest Active Directory changes in the </a:t>
            </a:r>
            <a:r>
              <a:rPr lang="en" sz="1500"/>
              <a:t>W</a:t>
            </a:r>
            <a:r>
              <a:rPr lang="en" sz="1500"/>
              <a:t>indows 10 machine.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Check if the GPO worked.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7" name="Google Shape;807;p97"/>
          <p:cNvPicPr preferRelativeResize="0"/>
          <p:nvPr/>
        </p:nvPicPr>
        <p:blipFill rotWithShape="1">
          <a:blip r:embed="rId4">
            <a:alphaModFix/>
          </a:blip>
          <a:srcRect b="0" l="-1398" r="-704" t="0"/>
          <a:stretch/>
        </p:blipFill>
        <p:spPr>
          <a:xfrm>
            <a:off x="5117388" y="1647363"/>
            <a:ext cx="3481224" cy="26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8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Create New Group Policy Object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99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 Minutes</a:t>
            </a:r>
            <a:endParaRPr/>
          </a:p>
        </p:txBody>
      </p:sp>
      <p:sp>
        <p:nvSpPr>
          <p:cNvPr id="818" name="Google Shape;818;p9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Group Policy with Group Policy Objects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9" name="Google Shape;819;p99"/>
          <p:cNvSpPr txBox="1"/>
          <p:nvPr>
            <p:ph idx="3" type="body"/>
          </p:nvPr>
        </p:nvSpPr>
        <p:spPr>
          <a:xfrm>
            <a:off x="457200" y="1371588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activity, you are continuing your role as a Windows system administrator managing Active Directory for Good Corp, Inc.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 to create Group Policy Objects to enforce policies for users.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creating a Group Policy Object for the Sales OU that will limit the options it has in Windows Settings.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0" name="Google Shape;82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Windows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Defender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4" name="Google Shape;834;p102"/>
          <p:cNvPicPr preferRelativeResize="0"/>
          <p:nvPr/>
        </p:nvPicPr>
        <p:blipFill rotWithShape="1">
          <a:blip r:embed="rId3">
            <a:alphaModFix/>
          </a:blip>
          <a:srcRect b="-5274" l="0" r="0" t="-10653"/>
          <a:stretch/>
        </p:blipFill>
        <p:spPr>
          <a:xfrm>
            <a:off x="4114800" y="1524323"/>
            <a:ext cx="814549" cy="1104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102"/>
          <p:cNvPicPr preferRelativeResize="0"/>
          <p:nvPr/>
        </p:nvPicPr>
        <p:blipFill rotWithShape="1">
          <a:blip r:embed="rId4">
            <a:alphaModFix/>
          </a:blip>
          <a:srcRect b="1427" l="0" r="0" t="1437"/>
          <a:stretch/>
        </p:blipFill>
        <p:spPr>
          <a:xfrm>
            <a:off x="4214638" y="-1067900"/>
            <a:ext cx="714724" cy="7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0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Defender</a:t>
            </a:r>
            <a:endParaRPr/>
          </a:p>
        </p:txBody>
      </p:sp>
      <p:sp>
        <p:nvSpPr>
          <p:cNvPr id="841" name="Google Shape;841;p10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Microsoft's built-in anti-malware solution</a:t>
            </a:r>
            <a:endParaRPr/>
          </a:p>
        </p:txBody>
      </p:sp>
      <p:sp>
        <p:nvSpPr>
          <p:cNvPr id="842" name="Google Shape;842;p103"/>
          <p:cNvSpPr txBox="1"/>
          <p:nvPr>
            <p:ph idx="2" type="body"/>
          </p:nvPr>
        </p:nvSpPr>
        <p:spPr>
          <a:xfrm>
            <a:off x="4647000" y="1063525"/>
            <a:ext cx="40437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Windows Defender</a:t>
            </a:r>
            <a:r>
              <a:rPr lang="en"/>
              <a:t> can work to secure workstations via: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Real-time protection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Scheduled scans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Exclusions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 at First Sight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Tamper protection</a:t>
            </a:r>
            <a:endParaRPr/>
          </a:p>
        </p:txBody>
      </p:sp>
      <p:pic>
        <p:nvPicPr>
          <p:cNvPr id="843" name="Google Shape;843;p103"/>
          <p:cNvPicPr preferRelativeResize="0"/>
          <p:nvPr/>
        </p:nvPicPr>
        <p:blipFill rotWithShape="1">
          <a:blip r:embed="rId3">
            <a:alphaModFix/>
          </a:blip>
          <a:srcRect b="-4770" l="0" r="0" t="-7740"/>
          <a:stretch/>
        </p:blipFill>
        <p:spPr>
          <a:xfrm>
            <a:off x="897475" y="1134663"/>
            <a:ext cx="2777051" cy="36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103"/>
          <p:cNvPicPr preferRelativeResize="0"/>
          <p:nvPr/>
        </p:nvPicPr>
        <p:blipFill rotWithShape="1">
          <a:blip r:embed="rId4">
            <a:alphaModFix/>
          </a:blip>
          <a:srcRect b="-5274" l="0" r="0" t="-10653"/>
          <a:stretch/>
        </p:blipFill>
        <p:spPr>
          <a:xfrm>
            <a:off x="265725" y="218752"/>
            <a:ext cx="382951" cy="5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Defender</a:t>
            </a:r>
            <a:endParaRPr/>
          </a:p>
        </p:txBody>
      </p:sp>
      <p:sp>
        <p:nvSpPr>
          <p:cNvPr id="850" name="Google Shape;850;p10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851" name="Google Shape;851;p104"/>
          <p:cNvSpPr/>
          <p:nvPr/>
        </p:nvSpPr>
        <p:spPr>
          <a:xfrm flipH="1">
            <a:off x="652850" y="20742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04"/>
          <p:cNvSpPr txBox="1"/>
          <p:nvPr/>
        </p:nvSpPr>
        <p:spPr>
          <a:xfrm>
            <a:off x="652850" y="2074250"/>
            <a:ext cx="2466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2D49"/>
                </a:solidFill>
              </a:rPr>
              <a:t>Cloud-delivered protection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53" name="Google Shape;853;p104"/>
          <p:cNvGrpSpPr/>
          <p:nvPr/>
        </p:nvGrpSpPr>
        <p:grpSpPr>
          <a:xfrm>
            <a:off x="385756" y="1481528"/>
            <a:ext cx="533372" cy="533480"/>
            <a:chOff x="457200" y="1378813"/>
            <a:chExt cx="695400" cy="695450"/>
          </a:xfrm>
        </p:grpSpPr>
        <p:sp>
          <p:nvSpPr>
            <p:cNvPr id="854" name="Google Shape;854;p104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sz="2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5" name="Google Shape;855;p10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6" name="Google Shape;856;p104"/>
          <p:cNvGrpSpPr/>
          <p:nvPr/>
        </p:nvGrpSpPr>
        <p:grpSpPr>
          <a:xfrm>
            <a:off x="3157531" y="1481528"/>
            <a:ext cx="533372" cy="533480"/>
            <a:chOff x="457200" y="1378813"/>
            <a:chExt cx="695400" cy="695450"/>
          </a:xfrm>
        </p:grpSpPr>
        <p:sp>
          <p:nvSpPr>
            <p:cNvPr id="857" name="Google Shape;857;p104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8" name="Google Shape;858;p10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59" name="Google Shape;859;p104"/>
          <p:cNvSpPr/>
          <p:nvPr/>
        </p:nvSpPr>
        <p:spPr>
          <a:xfrm flipH="1">
            <a:off x="3424625" y="20742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04"/>
          <p:cNvSpPr txBox="1"/>
          <p:nvPr/>
        </p:nvSpPr>
        <p:spPr>
          <a:xfrm>
            <a:off x="3424625" y="2074254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82D49"/>
                </a:solidFill>
              </a:rPr>
              <a:t>Family options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61" name="Google Shape;861;p104"/>
          <p:cNvGrpSpPr/>
          <p:nvPr/>
        </p:nvGrpSpPr>
        <p:grpSpPr>
          <a:xfrm>
            <a:off x="6062656" y="1482278"/>
            <a:ext cx="533372" cy="533480"/>
            <a:chOff x="457200" y="1378813"/>
            <a:chExt cx="695400" cy="695450"/>
          </a:xfrm>
        </p:grpSpPr>
        <p:sp>
          <p:nvSpPr>
            <p:cNvPr id="862" name="Google Shape;862;p104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3" name="Google Shape;863;p10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64" name="Google Shape;864;p104"/>
          <p:cNvSpPr/>
          <p:nvPr/>
        </p:nvSpPr>
        <p:spPr>
          <a:xfrm flipH="1">
            <a:off x="6329750" y="20749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04"/>
          <p:cNvSpPr txBox="1"/>
          <p:nvPr/>
        </p:nvSpPr>
        <p:spPr>
          <a:xfrm>
            <a:off x="6329750" y="2074483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82D49"/>
                </a:solidFill>
              </a:rPr>
              <a:t>Ransomware protection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6" name="Google Shape;866;p104"/>
          <p:cNvPicPr preferRelativeResize="0"/>
          <p:nvPr/>
        </p:nvPicPr>
        <p:blipFill rotWithShape="1">
          <a:blip r:embed="rId3">
            <a:alphaModFix/>
          </a:blip>
          <a:srcRect b="0" l="-1330" r="-1815" t="0"/>
          <a:stretch/>
        </p:blipFill>
        <p:spPr>
          <a:xfrm>
            <a:off x="3863163" y="3069715"/>
            <a:ext cx="1551425" cy="117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104"/>
          <p:cNvPicPr preferRelativeResize="0"/>
          <p:nvPr/>
        </p:nvPicPr>
        <p:blipFill rotWithShape="1">
          <a:blip r:embed="rId4">
            <a:alphaModFix/>
          </a:blip>
          <a:srcRect b="0" l="-1454" r="-952" t="0"/>
          <a:stretch/>
        </p:blipFill>
        <p:spPr>
          <a:xfrm>
            <a:off x="1119800" y="3266875"/>
            <a:ext cx="1490201" cy="9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104"/>
          <p:cNvPicPr preferRelativeResize="0"/>
          <p:nvPr/>
        </p:nvPicPr>
        <p:blipFill rotWithShape="1">
          <a:blip r:embed="rId5">
            <a:alphaModFix/>
          </a:blip>
          <a:srcRect b="-1526" l="0" r="0" t="-2999"/>
          <a:stretch/>
        </p:blipFill>
        <p:spPr>
          <a:xfrm>
            <a:off x="7018700" y="3069725"/>
            <a:ext cx="1104300" cy="129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104"/>
          <p:cNvPicPr preferRelativeResize="0"/>
          <p:nvPr/>
        </p:nvPicPr>
        <p:blipFill rotWithShape="1">
          <a:blip r:embed="rId6">
            <a:alphaModFix/>
          </a:blip>
          <a:srcRect b="-5274" l="0" r="0" t="-10653"/>
          <a:stretch/>
        </p:blipFill>
        <p:spPr>
          <a:xfrm>
            <a:off x="265725" y="218752"/>
            <a:ext cx="382951" cy="5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104"/>
          <p:cNvPicPr preferRelativeResize="0"/>
          <p:nvPr/>
        </p:nvPicPr>
        <p:blipFill rotWithShape="1">
          <a:blip r:embed="rId7">
            <a:alphaModFix/>
          </a:blip>
          <a:srcRect b="0" l="7891" r="7883" t="0"/>
          <a:stretch/>
        </p:blipFill>
        <p:spPr>
          <a:xfrm>
            <a:off x="3971925" y="5453311"/>
            <a:ext cx="1333901" cy="158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104"/>
          <p:cNvPicPr preferRelativeResize="0"/>
          <p:nvPr/>
        </p:nvPicPr>
        <p:blipFill rotWithShape="1">
          <a:blip r:embed="rId8">
            <a:alphaModFix/>
          </a:blip>
          <a:srcRect b="7770" l="0" r="0" t="7762"/>
          <a:stretch/>
        </p:blipFill>
        <p:spPr>
          <a:xfrm>
            <a:off x="1033225" y="5400600"/>
            <a:ext cx="1874926" cy="15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104"/>
          <p:cNvPicPr preferRelativeResize="0"/>
          <p:nvPr/>
        </p:nvPicPr>
        <p:blipFill rotWithShape="1">
          <a:blip r:embed="rId9">
            <a:alphaModFix/>
          </a:blip>
          <a:srcRect b="12211" l="0" r="0" t="12219"/>
          <a:stretch/>
        </p:blipFill>
        <p:spPr>
          <a:xfrm>
            <a:off x="6606525" y="5567500"/>
            <a:ext cx="1874925" cy="141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0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Defender</a:t>
            </a:r>
            <a:endParaRPr/>
          </a:p>
        </p:txBody>
      </p:sp>
      <p:sp>
        <p:nvSpPr>
          <p:cNvPr id="878" name="Google Shape;878;p10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879" name="Google Shape;879;p105"/>
          <p:cNvSpPr/>
          <p:nvPr/>
        </p:nvSpPr>
        <p:spPr>
          <a:xfrm flipH="1">
            <a:off x="652850" y="20742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05"/>
          <p:cNvSpPr txBox="1"/>
          <p:nvPr/>
        </p:nvSpPr>
        <p:spPr>
          <a:xfrm>
            <a:off x="652850" y="2074250"/>
            <a:ext cx="2466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2D49"/>
                </a:solidFill>
              </a:rPr>
              <a:t>Browser integration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81" name="Google Shape;881;p105"/>
          <p:cNvGrpSpPr/>
          <p:nvPr/>
        </p:nvGrpSpPr>
        <p:grpSpPr>
          <a:xfrm>
            <a:off x="385756" y="1481528"/>
            <a:ext cx="533372" cy="533480"/>
            <a:chOff x="457200" y="1378813"/>
            <a:chExt cx="695400" cy="695450"/>
          </a:xfrm>
        </p:grpSpPr>
        <p:sp>
          <p:nvSpPr>
            <p:cNvPr id="882" name="Google Shape;882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sz="2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3" name="Google Shape;883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4" name="Google Shape;884;p105"/>
          <p:cNvGrpSpPr/>
          <p:nvPr/>
        </p:nvGrpSpPr>
        <p:grpSpPr>
          <a:xfrm>
            <a:off x="3157531" y="1481528"/>
            <a:ext cx="533372" cy="533480"/>
            <a:chOff x="457200" y="1378813"/>
            <a:chExt cx="695400" cy="695450"/>
          </a:xfrm>
        </p:grpSpPr>
        <p:sp>
          <p:nvSpPr>
            <p:cNvPr id="885" name="Google Shape;885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sz="2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6" name="Google Shape;886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7" name="Google Shape;887;p105"/>
          <p:cNvSpPr/>
          <p:nvPr/>
        </p:nvSpPr>
        <p:spPr>
          <a:xfrm flipH="1">
            <a:off x="3424625" y="20742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05"/>
          <p:cNvSpPr txBox="1"/>
          <p:nvPr/>
        </p:nvSpPr>
        <p:spPr>
          <a:xfrm>
            <a:off x="3424625" y="2074254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82D49"/>
                </a:solidFill>
              </a:rPr>
              <a:t>Exploit protection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89" name="Google Shape;889;p105"/>
          <p:cNvGrpSpPr/>
          <p:nvPr/>
        </p:nvGrpSpPr>
        <p:grpSpPr>
          <a:xfrm>
            <a:off x="6062656" y="1482278"/>
            <a:ext cx="533372" cy="533480"/>
            <a:chOff x="457200" y="1378813"/>
            <a:chExt cx="695400" cy="695450"/>
          </a:xfrm>
        </p:grpSpPr>
        <p:sp>
          <p:nvSpPr>
            <p:cNvPr id="890" name="Google Shape;890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sz="2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1" name="Google Shape;891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92" name="Google Shape;892;p105"/>
          <p:cNvSpPr/>
          <p:nvPr/>
        </p:nvSpPr>
        <p:spPr>
          <a:xfrm flipH="1">
            <a:off x="6329750" y="20749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05"/>
          <p:cNvSpPr txBox="1"/>
          <p:nvPr/>
        </p:nvSpPr>
        <p:spPr>
          <a:xfrm>
            <a:off x="6329750" y="2074483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82D49"/>
                </a:solidFill>
              </a:rPr>
              <a:t>Offline scanning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4" name="Google Shape;894;p105"/>
          <p:cNvPicPr preferRelativeResize="0"/>
          <p:nvPr/>
        </p:nvPicPr>
        <p:blipFill rotWithShape="1">
          <a:blip r:embed="rId3">
            <a:alphaModFix/>
          </a:blip>
          <a:srcRect b="0" l="-2141" r="-2823" t="0"/>
          <a:stretch/>
        </p:blipFill>
        <p:spPr>
          <a:xfrm>
            <a:off x="3798100" y="3009677"/>
            <a:ext cx="1681525" cy="125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105"/>
          <p:cNvPicPr preferRelativeResize="0"/>
          <p:nvPr/>
        </p:nvPicPr>
        <p:blipFill rotWithShape="1">
          <a:blip r:embed="rId4">
            <a:alphaModFix/>
          </a:blip>
          <a:srcRect b="-1618" l="0" r="0" t="-2158"/>
          <a:stretch/>
        </p:blipFill>
        <p:spPr>
          <a:xfrm>
            <a:off x="1261875" y="3029250"/>
            <a:ext cx="1133826" cy="11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105"/>
          <p:cNvPicPr preferRelativeResize="0"/>
          <p:nvPr/>
        </p:nvPicPr>
        <p:blipFill rotWithShape="1">
          <a:blip r:embed="rId5">
            <a:alphaModFix/>
          </a:blip>
          <a:srcRect b="-3441" l="0" r="0" t="-3430"/>
          <a:stretch/>
        </p:blipFill>
        <p:spPr>
          <a:xfrm>
            <a:off x="6825050" y="2921200"/>
            <a:ext cx="1482150" cy="138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105"/>
          <p:cNvPicPr preferRelativeResize="0"/>
          <p:nvPr/>
        </p:nvPicPr>
        <p:blipFill rotWithShape="1">
          <a:blip r:embed="rId6">
            <a:alphaModFix/>
          </a:blip>
          <a:srcRect b="-5274" l="0" r="0" t="-10653"/>
          <a:stretch/>
        </p:blipFill>
        <p:spPr>
          <a:xfrm>
            <a:off x="265725" y="218752"/>
            <a:ext cx="382951" cy="5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105"/>
          <p:cNvPicPr preferRelativeResize="0"/>
          <p:nvPr/>
        </p:nvPicPr>
        <p:blipFill rotWithShape="1">
          <a:blip r:embed="rId7">
            <a:alphaModFix/>
          </a:blip>
          <a:srcRect b="0" l="7891" r="7883" t="0"/>
          <a:stretch/>
        </p:blipFill>
        <p:spPr>
          <a:xfrm>
            <a:off x="3971925" y="5453311"/>
            <a:ext cx="1333901" cy="158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105"/>
          <p:cNvPicPr preferRelativeResize="0"/>
          <p:nvPr/>
        </p:nvPicPr>
        <p:blipFill rotWithShape="1">
          <a:blip r:embed="rId8">
            <a:alphaModFix/>
          </a:blip>
          <a:srcRect b="0" l="5602" r="5611" t="0"/>
          <a:stretch/>
        </p:blipFill>
        <p:spPr>
          <a:xfrm>
            <a:off x="1033225" y="5400600"/>
            <a:ext cx="1874922" cy="158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105"/>
          <p:cNvPicPr preferRelativeResize="0"/>
          <p:nvPr/>
        </p:nvPicPr>
        <p:blipFill rotWithShape="1">
          <a:blip r:embed="rId9">
            <a:alphaModFix/>
          </a:blip>
          <a:srcRect b="12211" l="0" r="0" t="12219"/>
          <a:stretch/>
        </p:blipFill>
        <p:spPr>
          <a:xfrm>
            <a:off x="6606525" y="5567500"/>
            <a:ext cx="1874925" cy="14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06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Defender Policies</a:t>
            </a:r>
            <a:endParaRPr/>
          </a:p>
        </p:txBody>
      </p:sp>
      <p:sp>
        <p:nvSpPr>
          <p:cNvPr id="906" name="Google Shape;906;p106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Defender itself can have policies.</a:t>
            </a:r>
            <a:endParaRPr/>
          </a:p>
        </p:txBody>
      </p:sp>
      <p:sp>
        <p:nvSpPr>
          <p:cNvPr id="907" name="Google Shape;907;p106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</a:t>
            </a:r>
            <a:r>
              <a:rPr b="1" lang="en"/>
              <a:t>olicies</a:t>
            </a:r>
            <a:r>
              <a:rPr lang="en"/>
              <a:t> can ensure that the security measures are uniformly applied across all workstations and servers, and they can </a:t>
            </a:r>
            <a:r>
              <a:rPr b="1" lang="en"/>
              <a:t>tailor the functionality</a:t>
            </a:r>
            <a:r>
              <a:rPr lang="en"/>
              <a:t> of Windows Defender.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Scan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Signature updates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Exclusions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Firewall settings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Sensitive folder protection</a:t>
            </a:r>
            <a:endParaRPr/>
          </a:p>
        </p:txBody>
      </p:sp>
      <p:pic>
        <p:nvPicPr>
          <p:cNvPr id="908" name="Google Shape;90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713" y="1818901"/>
            <a:ext cx="3084974" cy="201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14" name="Google Shape;914;p1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15" name="Google Shape;915;p107"/>
          <p:cNvPicPr preferRelativeResize="0"/>
          <p:nvPr/>
        </p:nvPicPr>
        <p:blipFill rotWithShape="1">
          <a:blip r:embed="rId3">
            <a:alphaModFix/>
          </a:blip>
          <a:srcRect b="0" l="-1980" r="1979" t="0"/>
          <a:stretch/>
        </p:blipFill>
        <p:spPr>
          <a:xfrm>
            <a:off x="1426894" y="-1"/>
            <a:ext cx="771710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107"/>
          <p:cNvSpPr/>
          <p:nvPr/>
        </p:nvSpPr>
        <p:spPr>
          <a:xfrm>
            <a:off x="0" y="0"/>
            <a:ext cx="1991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07"/>
          <p:cNvSpPr/>
          <p:nvPr/>
        </p:nvSpPr>
        <p:spPr>
          <a:xfrm>
            <a:off x="1833050" y="1811825"/>
            <a:ext cx="7353425" cy="3382975"/>
          </a:xfrm>
          <a:custGeom>
            <a:rect b="b" l="l" r="r" t="t"/>
            <a:pathLst>
              <a:path extrusionOk="0" h="135319" w="294137">
                <a:moveTo>
                  <a:pt x="294137" y="0"/>
                </a:moveTo>
                <a:lnTo>
                  <a:pt x="0" y="135319"/>
                </a:lnTo>
                <a:lnTo>
                  <a:pt x="294137" y="133904"/>
                </a:lnTo>
                <a:close/>
              </a:path>
            </a:pathLst>
          </a:custGeom>
          <a:solidFill>
            <a:srgbClr val="2E5E73">
              <a:alpha val="80000"/>
            </a:srgbClr>
          </a:solidFill>
          <a:ln>
            <a:noFill/>
          </a:ln>
        </p:spPr>
      </p:sp>
      <p:sp>
        <p:nvSpPr>
          <p:cNvPr id="918" name="Google Shape;918;p107"/>
          <p:cNvSpPr txBox="1"/>
          <p:nvPr/>
        </p:nvSpPr>
        <p:spPr>
          <a:xfrm>
            <a:off x="0" y="583749"/>
            <a:ext cx="55503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Designing </a:t>
            </a: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Active Directory</a:t>
            </a: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</a:t>
            </a: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nfrastructure</a:t>
            </a: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</a:t>
            </a: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critical</a:t>
            </a: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task.</a:t>
            </a: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some </a:t>
            </a: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best practices</a:t>
            </a: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ensure efficiency and security.</a:t>
            </a: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108"/>
          <p:cNvGrpSpPr/>
          <p:nvPr/>
        </p:nvGrpSpPr>
        <p:grpSpPr>
          <a:xfrm>
            <a:off x="-3" y="992017"/>
            <a:ext cx="8686828" cy="400200"/>
            <a:chOff x="-3" y="1885788"/>
            <a:chExt cx="8686828" cy="400200"/>
          </a:xfrm>
        </p:grpSpPr>
        <p:cxnSp>
          <p:nvCxnSpPr>
            <p:cNvPr id="924" name="Google Shape;924;p108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925" name="Google Shape;925;p108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26" name="Google Shape;926;p108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08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08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9" name="Google Shape;929;p108"/>
          <p:cNvGrpSpPr/>
          <p:nvPr/>
        </p:nvGrpSpPr>
        <p:grpSpPr>
          <a:xfrm>
            <a:off x="-3" y="1677759"/>
            <a:ext cx="8686828" cy="400200"/>
            <a:chOff x="-3" y="2566213"/>
            <a:chExt cx="8686828" cy="400200"/>
          </a:xfrm>
        </p:grpSpPr>
        <p:cxnSp>
          <p:nvCxnSpPr>
            <p:cNvPr id="930" name="Google Shape;930;p108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31" name="Google Shape;931;p108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08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08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4" name="Google Shape;934;p108"/>
          <p:cNvGrpSpPr/>
          <p:nvPr/>
        </p:nvGrpSpPr>
        <p:grpSpPr>
          <a:xfrm>
            <a:off x="-3" y="2363501"/>
            <a:ext cx="8684268" cy="402300"/>
            <a:chOff x="-3" y="3236976"/>
            <a:chExt cx="8684268" cy="402300"/>
          </a:xfrm>
        </p:grpSpPr>
        <p:cxnSp>
          <p:nvCxnSpPr>
            <p:cNvPr id="935" name="Google Shape;935;p108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36" name="Google Shape;936;p108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08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08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9" name="Google Shape;939;p108"/>
          <p:cNvGrpSpPr/>
          <p:nvPr/>
        </p:nvGrpSpPr>
        <p:grpSpPr>
          <a:xfrm>
            <a:off x="-3" y="3048422"/>
            <a:ext cx="8686828" cy="400200"/>
            <a:chOff x="-3" y="2566213"/>
            <a:chExt cx="8686828" cy="400200"/>
          </a:xfrm>
        </p:grpSpPr>
        <p:cxnSp>
          <p:nvCxnSpPr>
            <p:cNvPr id="940" name="Google Shape;940;p108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41" name="Google Shape;941;p108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08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08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44" name="Google Shape;944;p108"/>
          <p:cNvSpPr txBox="1"/>
          <p:nvPr>
            <p:ph idx="4294967295" type="body"/>
          </p:nvPr>
        </p:nvSpPr>
        <p:spPr>
          <a:xfrm>
            <a:off x="914400" y="1009050"/>
            <a:ext cx="723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F</a:t>
            </a:r>
            <a:r>
              <a:rPr lang="en"/>
              <a:t>ully understand the organizational structure and potential growth</a:t>
            </a:r>
            <a:endParaRPr/>
          </a:p>
        </p:txBody>
      </p:sp>
      <p:sp>
        <p:nvSpPr>
          <p:cNvPr id="945" name="Google Shape;945;p108"/>
          <p:cNvSpPr txBox="1"/>
          <p:nvPr>
            <p:ph idx="4294967295" type="body"/>
          </p:nvPr>
        </p:nvSpPr>
        <p:spPr>
          <a:xfrm>
            <a:off x="914400" y="16945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O</a:t>
            </a:r>
            <a:r>
              <a:rPr lang="en"/>
              <a:t>pt for a simpler design</a:t>
            </a:r>
            <a:endParaRPr/>
          </a:p>
        </p:txBody>
      </p:sp>
      <p:sp>
        <p:nvSpPr>
          <p:cNvPr id="946" name="Google Shape;946;p108"/>
          <p:cNvSpPr txBox="1"/>
          <p:nvPr>
            <p:ph idx="4294967295" type="body"/>
          </p:nvPr>
        </p:nvSpPr>
        <p:spPr>
          <a:xfrm>
            <a:off x="914400" y="23801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</a:t>
            </a:r>
            <a:r>
              <a:rPr lang="en"/>
              <a:t>esign the AD infrastructure to scale with growth</a:t>
            </a:r>
            <a:endParaRPr/>
          </a:p>
        </p:txBody>
      </p:sp>
      <p:sp>
        <p:nvSpPr>
          <p:cNvPr id="947" name="Google Shape;947;p108"/>
          <p:cNvSpPr txBox="1"/>
          <p:nvPr>
            <p:ph idx="4294967295" type="body"/>
          </p:nvPr>
        </p:nvSpPr>
        <p:spPr>
          <a:xfrm>
            <a:off x="914400" y="30656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Test all GPOs in a lab or staging environment before deploying</a:t>
            </a:r>
            <a:endParaRPr/>
          </a:p>
        </p:txBody>
      </p:sp>
      <p:sp>
        <p:nvSpPr>
          <p:cNvPr id="948" name="Google Shape;948;p108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AD Best Practices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grpSp>
        <p:nvGrpSpPr>
          <p:cNvPr id="949" name="Google Shape;949;p108"/>
          <p:cNvGrpSpPr/>
          <p:nvPr/>
        </p:nvGrpSpPr>
        <p:grpSpPr>
          <a:xfrm>
            <a:off x="-3" y="3731242"/>
            <a:ext cx="8686828" cy="400200"/>
            <a:chOff x="-3" y="1885788"/>
            <a:chExt cx="8686828" cy="400200"/>
          </a:xfrm>
        </p:grpSpPr>
        <p:cxnSp>
          <p:nvCxnSpPr>
            <p:cNvPr id="950" name="Google Shape;950;p108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951" name="Google Shape;951;p108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52" name="Google Shape;952;p108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08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08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55" name="Google Shape;955;p108"/>
          <p:cNvSpPr txBox="1"/>
          <p:nvPr>
            <p:ph idx="4294967295" type="body"/>
          </p:nvPr>
        </p:nvSpPr>
        <p:spPr>
          <a:xfrm>
            <a:off x="914400" y="3748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Document the AD structure, policies, permissions, and any changes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10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Windows Active Directory Certificate Services</a:t>
            </a:r>
            <a:endParaRPr baseline="-25000" sz="2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