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Roboto Medium"/>
      <p:regular r:id="rId48"/>
      <p:bold r:id="rId49"/>
      <p:italic r:id="rId50"/>
      <p:boldItalic r:id="rId51"/>
    </p:embeddedFont>
    <p:embeddedFont>
      <p:font typeface="Inconsolata"/>
      <p:regular r:id="rId52"/>
      <p:bold r:id="rId53"/>
    </p:embeddedFont>
    <p:embeddedFont>
      <p:font typeface="Roboto Light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Roboto-regular.fntdata"/><Relationship Id="rId43" Type="http://schemas.openxmlformats.org/officeDocument/2006/relationships/slide" Target="slides/slide39.xml"/><Relationship Id="rId46" Type="http://schemas.openxmlformats.org/officeDocument/2006/relationships/font" Target="fonts/Roboto-italic.fntdata"/><Relationship Id="rId45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Medium-regular.fntdata"/><Relationship Id="rId47" Type="http://schemas.openxmlformats.org/officeDocument/2006/relationships/font" Target="fonts/Roboto-boldItalic.fntdata"/><Relationship Id="rId49" Type="http://schemas.openxmlformats.org/officeDocument/2006/relationships/font" Target="fonts/Roboto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RobotoMedium-boldItalic.fntdata"/><Relationship Id="rId50" Type="http://schemas.openxmlformats.org/officeDocument/2006/relationships/font" Target="fonts/RobotoMedium-italic.fntdata"/><Relationship Id="rId53" Type="http://schemas.openxmlformats.org/officeDocument/2006/relationships/font" Target="fonts/Inconsolata-bold.fntdata"/><Relationship Id="rId52" Type="http://schemas.openxmlformats.org/officeDocument/2006/relationships/font" Target="fonts/Inconsolata-regular.fntdata"/><Relationship Id="rId11" Type="http://schemas.openxmlformats.org/officeDocument/2006/relationships/slide" Target="slides/slide7.xml"/><Relationship Id="rId55" Type="http://schemas.openxmlformats.org/officeDocument/2006/relationships/font" Target="fonts/RobotoLight-bold.fntdata"/><Relationship Id="rId10" Type="http://schemas.openxmlformats.org/officeDocument/2006/relationships/slide" Target="slides/slide6.xml"/><Relationship Id="rId54" Type="http://schemas.openxmlformats.org/officeDocument/2006/relationships/font" Target="fonts/RobotoLight-regular.fntdata"/><Relationship Id="rId13" Type="http://schemas.openxmlformats.org/officeDocument/2006/relationships/slide" Target="slides/slide9.xml"/><Relationship Id="rId57" Type="http://schemas.openxmlformats.org/officeDocument/2006/relationships/font" Target="fonts/RobotoLight-boldItalic.fntdata"/><Relationship Id="rId12" Type="http://schemas.openxmlformats.org/officeDocument/2006/relationships/slide" Target="slides/slide8.xml"/><Relationship Id="rId56" Type="http://schemas.openxmlformats.org/officeDocument/2006/relationships/font" Target="fonts/RobotoLight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f3b1f2208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f3b1f2208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f4c1ab28c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2f4c1ab28c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17389de018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17389de018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17389de018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17389de018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f51929366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f51929366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f51929366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f51929366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17389de018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17389de018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17389de018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317389de018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17389de018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17389de018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17389de0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17389de0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17389de01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17389de01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2f51929366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g2f51929366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17389de01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17389de01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17389de01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17389de01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f51929366c_0_10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2f51929366c_0_10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17389de018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17389de018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17389de01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17389de01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17389de01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17389de01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17389de01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17389de01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17389de01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317389de01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17389de01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17389de01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17389de01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17389de01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17389de018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17389de018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17389de01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17389de01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17389de01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17389de01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17389de01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17389de01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17389de01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17389de01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17389de01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317389de01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17389de01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17389de01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17389de01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17389de01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17389de018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17389de018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17389de018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17389de018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17389de018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17389de018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17389de018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17389de018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17389de018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17389de018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17389de018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17389de018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17389de01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17389de01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1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2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 slide 1 1 1">
  <p:cSld name="CUSTOM_22_1_1_1">
    <p:bg>
      <p:bgPr>
        <a:solidFill>
          <a:schemeClr val="lt2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49"/>
          <p:cNvSpPr txBox="1"/>
          <p:nvPr>
            <p:ph type="title"/>
          </p:nvPr>
        </p:nvSpPr>
        <p:spPr>
          <a:xfrm>
            <a:off x="1959725" y="16412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38" name="Google Shape;338;p4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9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3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400"/>
              <a:buNone/>
              <a:defRPr sz="34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3" name="Google Shape;343;p50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4" name="Google Shape;344;p50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5" name="Google Shape;345;p50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50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7" name="Google Shape;347;p50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 2">
  <p:cSld name="CUSTOM_2_7_2_5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53" name="Google Shape;353;p52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52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5" name="Google Shape;355;p52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" name="Google Shape;356;p52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57" name="Google Shape;357;p52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 Text Only">
  <p:cSld name="CUSTOM_2_7_2_6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3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61" name="Google Shape;361;p53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53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3" name="Google Shape;363;p53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53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65" name="Google Shape;365;p53"/>
          <p:cNvSpPr txBox="1"/>
          <p:nvPr>
            <p:ph idx="3" type="body"/>
          </p:nvPr>
        </p:nvSpPr>
        <p:spPr>
          <a:xfrm>
            <a:off x="175" y="1284250"/>
            <a:ext cx="9144000" cy="34074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5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5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0" name="Google Shape;370;p5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27">
    <p:bg>
      <p:bgPr>
        <a:solidFill>
          <a:srgbClr val="FFFFFF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5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4" name="Google Shape;374;p55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5" name="Google Shape;375;p55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77" name="Google Shape;377;p55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8" name="Google Shape;378;p55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80" name="Google Shape;380;p55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1" name="Google Shape;381;p55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55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55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55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. Text Only">
  <p:cSld name="CUSTOM_2_7_2_3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6"/>
          <p:cNvSpPr txBox="1"/>
          <p:nvPr>
            <p:ph type="title"/>
          </p:nvPr>
        </p:nvSpPr>
        <p:spPr>
          <a:xfrm>
            <a:off x="-12300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87" name="Google Shape;387;p56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388" name="Google Shape;388;p56"/>
          <p:cNvCxnSpPr/>
          <p:nvPr/>
        </p:nvCxnSpPr>
        <p:spPr>
          <a:xfrm>
            <a:off x="274375" y="640080"/>
            <a:ext cx="85956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9" name="Google Shape;389;p56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90" name="Google Shape;390;p56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56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2" name="Google Shape;392;p56"/>
          <p:cNvSpPr txBox="1"/>
          <p:nvPr>
            <p:ph idx="3" type="body"/>
          </p:nvPr>
        </p:nvSpPr>
        <p:spPr>
          <a:xfrm>
            <a:off x="175" y="1284250"/>
            <a:ext cx="9144000" cy="34491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27_1"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7"/>
          <p:cNvSpPr/>
          <p:nvPr/>
        </p:nvSpPr>
        <p:spPr>
          <a:xfrm flipH="1">
            <a:off x="6333225" y="1422943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7"/>
          <p:cNvSpPr txBox="1"/>
          <p:nvPr/>
        </p:nvSpPr>
        <p:spPr>
          <a:xfrm>
            <a:off x="6359750" y="1907245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6" name="Google Shape;396;p57"/>
          <p:cNvSpPr/>
          <p:nvPr/>
        </p:nvSpPr>
        <p:spPr>
          <a:xfrm>
            <a:off x="6332699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0434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7" name="Google Shape;397;p57"/>
          <p:cNvSpPr/>
          <p:nvPr/>
        </p:nvSpPr>
        <p:spPr>
          <a:xfrm flipH="1">
            <a:off x="467725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7"/>
          <p:cNvSpPr txBox="1"/>
          <p:nvPr/>
        </p:nvSpPr>
        <p:spPr>
          <a:xfrm>
            <a:off x="494250" y="1906474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399" name="Google Shape;399;p57"/>
          <p:cNvSpPr/>
          <p:nvPr/>
        </p:nvSpPr>
        <p:spPr>
          <a:xfrm>
            <a:off x="468324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57"/>
          <p:cNvSpPr/>
          <p:nvPr/>
        </p:nvSpPr>
        <p:spPr>
          <a:xfrm flipH="1">
            <a:off x="3405788" y="1422048"/>
            <a:ext cx="2428500" cy="31785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7"/>
          <p:cNvSpPr txBox="1"/>
          <p:nvPr/>
        </p:nvSpPr>
        <p:spPr>
          <a:xfrm>
            <a:off x="3432313" y="1906486"/>
            <a:ext cx="2371500" cy="26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/>
        </p:nvSpPr>
        <p:spPr>
          <a:xfrm>
            <a:off x="3366713" y="1345000"/>
            <a:ext cx="23424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8363B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03" name="Google Shape;403;p57"/>
          <p:cNvSpPr txBox="1"/>
          <p:nvPr/>
        </p:nvSpPr>
        <p:spPr>
          <a:xfrm>
            <a:off x="6304775" y="1345000"/>
            <a:ext cx="2323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57"/>
          <p:cNvSpPr/>
          <p:nvPr/>
        </p:nvSpPr>
        <p:spPr>
          <a:xfrm>
            <a:off x="3399112" y="1345100"/>
            <a:ext cx="2427300" cy="476700"/>
          </a:xfrm>
          <a:prstGeom prst="roundRect">
            <a:avLst>
              <a:gd fmla="val 13342" name="adj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57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57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 b="0" sz="1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Relationship Id="rId4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8"/>
          <p:cNvSpPr txBox="1"/>
          <p:nvPr>
            <p:ph type="title"/>
          </p:nvPr>
        </p:nvSpPr>
        <p:spPr>
          <a:xfrm>
            <a:off x="4449575" y="1804650"/>
            <a:ext cx="4679100" cy="196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Server Services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12" name="Google Shape;412;p58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413" name="Google Shape;413;p58"/>
          <p:cNvSpPr txBox="1"/>
          <p:nvPr>
            <p:ph idx="2" type="subTitle"/>
          </p:nvPr>
        </p:nvSpPr>
        <p:spPr>
          <a:xfrm>
            <a:off x="4570700" y="376540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7.4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9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Objectives</a:t>
            </a:r>
            <a:endParaRPr/>
          </a:p>
        </p:txBody>
      </p:sp>
      <p:sp>
        <p:nvSpPr>
          <p:cNvPr id="419" name="Google Shape;419;p59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0" name="Google Shape;420;p59"/>
          <p:cNvGrpSpPr/>
          <p:nvPr/>
        </p:nvGrpSpPr>
        <p:grpSpPr>
          <a:xfrm>
            <a:off x="162900" y="173561"/>
            <a:ext cx="588600" cy="567300"/>
            <a:chOff x="914400" y="200161"/>
            <a:chExt cx="588600" cy="567300"/>
          </a:xfrm>
        </p:grpSpPr>
        <p:sp>
          <p:nvSpPr>
            <p:cNvPr id="421" name="Google Shape;421;p59"/>
            <p:cNvSpPr/>
            <p:nvPr/>
          </p:nvSpPr>
          <p:spPr>
            <a:xfrm>
              <a:off x="914400" y="200161"/>
              <a:ext cx="588600" cy="567300"/>
            </a:xfrm>
            <a:prstGeom prst="ellipse">
              <a:avLst/>
            </a:prstGeom>
            <a:solidFill>
              <a:schemeClr val="accen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422" name="Google Shape;422;p5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0251" y="235363"/>
              <a:ext cx="496875" cy="4968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423" name="Google Shape;423;p59"/>
          <p:cNvCxnSpPr/>
          <p:nvPr/>
        </p:nvCxnSpPr>
        <p:spPr>
          <a:xfrm>
            <a:off x="9750" y="968825"/>
            <a:ext cx="72918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24" name="Google Shape;424;p59"/>
          <p:cNvSpPr/>
          <p:nvPr/>
        </p:nvSpPr>
        <p:spPr>
          <a:xfrm>
            <a:off x="543450" y="1218125"/>
            <a:ext cx="8057100" cy="49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59"/>
          <p:cNvSpPr/>
          <p:nvPr/>
        </p:nvSpPr>
        <p:spPr>
          <a:xfrm>
            <a:off x="543450" y="1931975"/>
            <a:ext cx="8057100" cy="419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59"/>
          <p:cNvSpPr/>
          <p:nvPr/>
        </p:nvSpPr>
        <p:spPr>
          <a:xfrm>
            <a:off x="467250" y="123215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1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59"/>
          <p:cNvSpPr/>
          <p:nvPr/>
        </p:nvSpPr>
        <p:spPr>
          <a:xfrm>
            <a:off x="467250" y="1923275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2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59"/>
          <p:cNvSpPr txBox="1"/>
          <p:nvPr/>
        </p:nvSpPr>
        <p:spPr>
          <a:xfrm>
            <a:off x="970350" y="12594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Understand Task Scheduling in a Windows Environment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9" name="Google Shape;429;p59"/>
          <p:cNvSpPr txBox="1"/>
          <p:nvPr/>
        </p:nvSpPr>
        <p:spPr>
          <a:xfrm>
            <a:off x="970350" y="1915563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Configure Windows Update on Windows Computers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0" name="Google Shape;430;p59"/>
          <p:cNvSpPr/>
          <p:nvPr/>
        </p:nvSpPr>
        <p:spPr>
          <a:xfrm>
            <a:off x="543450" y="2571725"/>
            <a:ext cx="8057100" cy="49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59"/>
          <p:cNvSpPr/>
          <p:nvPr/>
        </p:nvSpPr>
        <p:spPr>
          <a:xfrm>
            <a:off x="467250" y="2585750"/>
            <a:ext cx="457200" cy="4365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3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59"/>
          <p:cNvSpPr txBox="1"/>
          <p:nvPr/>
        </p:nvSpPr>
        <p:spPr>
          <a:xfrm>
            <a:off x="970350" y="2613000"/>
            <a:ext cx="7630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Understand the Windows Attack Space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61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61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443" name="Google Shape;44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1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445" name="Google Shape;445;p61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Administration and Hardening</a:t>
            </a:r>
            <a:endParaRPr/>
          </a:p>
        </p:txBody>
      </p:sp>
      <p:sp>
        <p:nvSpPr>
          <p:cNvPr id="446" name="Google Shape;446;p61"/>
          <p:cNvSpPr txBox="1"/>
          <p:nvPr/>
        </p:nvSpPr>
        <p:spPr>
          <a:xfrm>
            <a:off x="3205675" y="2455800"/>
            <a:ext cx="26769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We secured our domain using group policy.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61"/>
          <p:cNvSpPr txBox="1"/>
          <p:nvPr/>
        </p:nvSpPr>
        <p:spPr>
          <a:xfrm>
            <a:off x="6459729" y="2229123"/>
            <a:ext cx="173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61"/>
          <p:cNvSpPr txBox="1"/>
          <p:nvPr/>
        </p:nvSpPr>
        <p:spPr>
          <a:xfrm>
            <a:off x="5907999" y="2502550"/>
            <a:ext cx="2772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We deployed Windows Defender to secure against malware threats.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61"/>
          <p:cNvSpPr/>
          <p:nvPr/>
        </p:nvSpPr>
        <p:spPr>
          <a:xfrm>
            <a:off x="457200" y="2323906"/>
            <a:ext cx="2745900" cy="1656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61"/>
          <p:cNvSpPr/>
          <p:nvPr/>
        </p:nvSpPr>
        <p:spPr>
          <a:xfrm>
            <a:off x="3198677" y="2323906"/>
            <a:ext cx="2745900" cy="165600"/>
          </a:xfrm>
          <a:prstGeom prst="rect">
            <a:avLst/>
          </a:prstGeom>
          <a:solidFill>
            <a:srgbClr val="0077D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61"/>
          <p:cNvSpPr/>
          <p:nvPr/>
        </p:nvSpPr>
        <p:spPr>
          <a:xfrm>
            <a:off x="5933720" y="2323906"/>
            <a:ext cx="2745900" cy="1656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61"/>
          <p:cNvCxnSpPr/>
          <p:nvPr/>
        </p:nvCxnSpPr>
        <p:spPr>
          <a:xfrm>
            <a:off x="463445" y="1838874"/>
            <a:ext cx="0" cy="66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sp>
        <p:nvSpPr>
          <p:cNvPr id="453" name="Google Shape;453;p61"/>
          <p:cNvSpPr txBox="1"/>
          <p:nvPr/>
        </p:nvSpPr>
        <p:spPr>
          <a:xfrm>
            <a:off x="542099" y="1708270"/>
            <a:ext cx="261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Day 1</a:t>
            </a:r>
            <a:endParaRPr b="1" i="0" sz="25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1"/>
          <p:cNvSpPr txBox="1"/>
          <p:nvPr/>
        </p:nvSpPr>
        <p:spPr>
          <a:xfrm>
            <a:off x="3296282" y="1695879"/>
            <a:ext cx="24465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Day 2</a:t>
            </a:r>
            <a:endParaRPr b="1" i="0" sz="25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1"/>
          <p:cNvSpPr txBox="1"/>
          <p:nvPr/>
        </p:nvSpPr>
        <p:spPr>
          <a:xfrm>
            <a:off x="6068394" y="1715042"/>
            <a:ext cx="2612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lang="en" sz="25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Day 3</a:t>
            </a:r>
            <a:endParaRPr b="1" i="0" sz="25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61"/>
          <p:cNvSpPr txBox="1"/>
          <p:nvPr/>
        </p:nvSpPr>
        <p:spPr>
          <a:xfrm>
            <a:off x="478600" y="2501650"/>
            <a:ext cx="2676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We used PowerShell to navigate and manage the Windows system directories and files.</a:t>
            </a:r>
            <a:endParaRPr b="0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57" name="Google Shape;457;p61"/>
          <p:cNvCxnSpPr/>
          <p:nvPr/>
        </p:nvCxnSpPr>
        <p:spPr>
          <a:xfrm>
            <a:off x="3198671" y="1814543"/>
            <a:ext cx="0" cy="68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  <p:cxnSp>
        <p:nvCxnSpPr>
          <p:cNvPr id="458" name="Google Shape;458;p61"/>
          <p:cNvCxnSpPr/>
          <p:nvPr/>
        </p:nvCxnSpPr>
        <p:spPr>
          <a:xfrm>
            <a:off x="5933708" y="1814543"/>
            <a:ext cx="0" cy="68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oval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3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</p:spPr>
        <p:txBody>
          <a:bodyPr anchorCtr="0" anchor="t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of previous class</a:t>
            </a:r>
            <a:endParaRPr/>
          </a:p>
        </p:txBody>
      </p:sp>
      <p:sp>
        <p:nvSpPr>
          <p:cNvPr id="468" name="Google Shape;468;p63"/>
          <p:cNvSpPr txBox="1"/>
          <p:nvPr/>
        </p:nvSpPr>
        <p:spPr>
          <a:xfrm>
            <a:off x="615275" y="1921575"/>
            <a:ext cx="2214900" cy="23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used Powershell to navigate and manage the Windows system directories and files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63"/>
          <p:cNvSpPr txBox="1"/>
          <p:nvPr/>
        </p:nvSpPr>
        <p:spPr>
          <a:xfrm>
            <a:off x="3521300" y="1949975"/>
            <a:ext cx="2243400" cy="22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secured our domain using group policy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63"/>
          <p:cNvSpPr txBox="1"/>
          <p:nvPr/>
        </p:nvSpPr>
        <p:spPr>
          <a:xfrm>
            <a:off x="6474625" y="1931025"/>
            <a:ext cx="2167800" cy="18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deployed Windows Defender to secure against malware threats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64"/>
          <p:cNvSpPr txBox="1"/>
          <p:nvPr>
            <p:ph idx="1" type="body"/>
          </p:nvPr>
        </p:nvSpPr>
        <p:spPr>
          <a:xfrm>
            <a:off x="3405300" y="1377600"/>
            <a:ext cx="54951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oday, we're going to learn how to </a:t>
            </a:r>
            <a:r>
              <a:rPr b="1" lang="en"/>
              <a:t>Protect Windows Services</a:t>
            </a:r>
            <a:r>
              <a:rPr lang="en"/>
              <a:t> and </a:t>
            </a:r>
            <a:r>
              <a:rPr b="1" lang="en"/>
              <a:t>Schedule Tasks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65"/>
          <p:cNvSpPr txBox="1"/>
          <p:nvPr>
            <p:ph idx="2" type="title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Task Scheduler </a:t>
            </a:r>
            <a:r>
              <a:rPr lang="en" sz="3000"/>
              <a:t>is a GUI tool to automate scripts and applications in a Windows environment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4847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7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Tasks are similar to cron jobs in Linux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8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 Tasks</a:t>
            </a:r>
            <a:endParaRPr/>
          </a:p>
        </p:txBody>
      </p:sp>
      <p:sp>
        <p:nvSpPr>
          <p:cNvPr id="496" name="Google Shape;496;p68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the following scenario: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CEO wants to schedule reports to be created daily.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systems isn’t remotely managed at this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use the Task Scheduler to create a task that will do this.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68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</p:spPr>
      </p:sp>
      <p:pic>
        <p:nvPicPr>
          <p:cNvPr id="498" name="Google Shape;49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663" y="38825"/>
            <a:ext cx="29382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9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Scheduling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0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509" name="Google Shape;509;p70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Scheduling</a:t>
            </a:r>
            <a:endParaRPr/>
          </a:p>
        </p:txBody>
      </p:sp>
      <p:sp>
        <p:nvSpPr>
          <p:cNvPr id="510" name="Google Shape;510;p70"/>
          <p:cNvSpPr txBox="1"/>
          <p:nvPr>
            <p:ph idx="3" type="body"/>
          </p:nvPr>
        </p:nvSpPr>
        <p:spPr>
          <a:xfrm>
            <a:off x="912725" y="1516225"/>
            <a:ext cx="1288200" cy="207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71"/>
          <p:cNvSpPr txBox="1"/>
          <p:nvPr>
            <p:ph idx="4294967295"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Public Key Infrastructure (PKI)</a:t>
            </a:r>
            <a:endParaRPr sz="2600">
              <a:solidFill>
                <a:schemeClr val="dk2"/>
              </a:solidFill>
            </a:endParaRPr>
          </a:p>
        </p:txBody>
      </p:sp>
      <p:pic>
        <p:nvPicPr>
          <p:cNvPr id="516" name="Google Shape;51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7727" y="3762330"/>
            <a:ext cx="706371" cy="6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3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Updates and Enterprise Management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4"/>
          <p:cNvSpPr txBox="1"/>
          <p:nvPr>
            <p:ph idx="2" type="title"/>
          </p:nvPr>
        </p:nvSpPr>
        <p:spPr>
          <a:xfrm>
            <a:off x="1450375" y="12683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Updates </a:t>
            </a:r>
            <a:r>
              <a:rPr lang="en" sz="3000">
                <a:latin typeface="Roboto"/>
                <a:ea typeface="Roboto"/>
                <a:cs typeface="Roboto"/>
                <a:sym typeface="Roboto"/>
              </a:rPr>
              <a:t>are the backbone of a secure and reliable IT environment.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Roboto"/>
                <a:ea typeface="Roboto"/>
                <a:cs typeface="Roboto"/>
                <a:sym typeface="Roboto"/>
              </a:rPr>
              <a:t>Updates </a:t>
            </a:r>
            <a:r>
              <a:rPr lang="en" sz="3000">
                <a:latin typeface="Roboto"/>
                <a:ea typeface="Roboto"/>
                <a:cs typeface="Roboto"/>
                <a:sym typeface="Roboto"/>
              </a:rPr>
              <a:t>provide critical patches against vulnerabilities and performance improvements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75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But… p</a:t>
            </a:r>
            <a:r>
              <a:rPr lang="en"/>
              <a:t>atches</a:t>
            </a:r>
            <a:r>
              <a:rPr lang="en"/>
              <a:t> often go ignored.  Why?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reasons for ignoring updates</a:t>
            </a:r>
            <a:endParaRPr/>
          </a:p>
        </p:txBody>
      </p:sp>
      <p:sp>
        <p:nvSpPr>
          <p:cNvPr id="541" name="Google Shape;541;p76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Time</a:t>
            </a:r>
            <a:r>
              <a:rPr lang="en"/>
              <a:t> - Systems are expected to up continuously, but </a:t>
            </a:r>
            <a:r>
              <a:rPr lang="en"/>
              <a:t>patches</a:t>
            </a:r>
            <a:r>
              <a:rPr lang="en"/>
              <a:t> often require rebooting.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Compatibility</a:t>
            </a:r>
            <a:r>
              <a:rPr lang="en"/>
              <a:t> - Many services on a Windows </a:t>
            </a:r>
            <a:r>
              <a:rPr lang="en"/>
              <a:t>server</a:t>
            </a:r>
            <a:r>
              <a:rPr lang="en"/>
              <a:t> are highly-dependent on other sources. Updating one can affect others.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Broken Patches</a:t>
            </a:r>
            <a:r>
              <a:rPr lang="en"/>
              <a:t> - Even though patches are tested extensively, there are many variations in hardware and software that can cause issues that may be unnoticed until the patches go to production machines.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Limited Resources</a:t>
            </a:r>
            <a:r>
              <a:rPr lang="en"/>
              <a:t> - Even if the patch is critical, if the system currently works, techs might delay its deployment.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7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SCCM</a:t>
            </a:r>
            <a:r>
              <a:rPr lang="en"/>
              <a:t> and </a:t>
            </a:r>
            <a:r>
              <a:rPr b="1" lang="en"/>
              <a:t>BCM</a:t>
            </a:r>
            <a:r>
              <a:rPr lang="en"/>
              <a:t> to the rescue!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78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System Center </a:t>
            </a:r>
            <a:r>
              <a:rPr b="1" lang="en"/>
              <a:t>Configuration</a:t>
            </a:r>
            <a:r>
              <a:rPr b="1" lang="en"/>
              <a:t> Manager (SCCM) </a:t>
            </a:r>
            <a:r>
              <a:rPr lang="en"/>
              <a:t>is the cornerstone of enterprise IT by automating and customizing updates and monitoring compliance across the network.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9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Business Continuity </a:t>
            </a:r>
            <a:r>
              <a:rPr b="1" lang="en"/>
              <a:t>Management</a:t>
            </a:r>
            <a:r>
              <a:rPr b="1" lang="en"/>
              <a:t> (BCM)</a:t>
            </a:r>
            <a:r>
              <a:rPr lang="en"/>
              <a:t>  focuses on maintaining operations during disruptions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80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</p:spPr>
      </p:sp>
      <p:sp>
        <p:nvSpPr>
          <p:cNvPr id="562" name="Google Shape;562;p80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Occurring</a:t>
            </a:r>
            <a:r>
              <a:rPr lang="en"/>
              <a:t> on the second Tuesday of each month, Microsoft releases patches for vulnerability and performance enhancements.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While this schedule provides </a:t>
            </a:r>
            <a:r>
              <a:rPr lang="en"/>
              <a:t>predictability</a:t>
            </a:r>
            <a:r>
              <a:rPr lang="en"/>
              <a:t>, allowing for organizations to prepare in advance, </a:t>
            </a:r>
            <a:r>
              <a:rPr b="1" lang="en"/>
              <a:t>Patch Tuesday</a:t>
            </a:r>
            <a:r>
              <a:rPr lang="en"/>
              <a:t> also underscores the </a:t>
            </a:r>
            <a:r>
              <a:rPr lang="en"/>
              <a:t>importance</a:t>
            </a:r>
            <a:r>
              <a:rPr lang="en"/>
              <a:t> of staying current.</a:t>
            </a:r>
            <a:endParaRPr/>
          </a:p>
        </p:txBody>
      </p:sp>
      <p:sp>
        <p:nvSpPr>
          <p:cNvPr id="563" name="Google Shape;563;p80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Patch Tuesday</a:t>
            </a:r>
            <a:endParaRPr/>
          </a:p>
        </p:txBody>
      </p:sp>
      <p:pic>
        <p:nvPicPr>
          <p:cNvPr id="564" name="Google Shape;56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38" y="150"/>
            <a:ext cx="29382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8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Windows Updates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8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Managing Updates with SCCM</a:t>
            </a:r>
            <a:endParaRPr/>
          </a:p>
        </p:txBody>
      </p:sp>
      <p:sp>
        <p:nvSpPr>
          <p:cNvPr id="575" name="Google Shape;575;p82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 new Software Update Group</a:t>
            </a:r>
            <a:endParaRPr/>
          </a:p>
        </p:txBody>
      </p:sp>
      <p:sp>
        <p:nvSpPr>
          <p:cNvPr id="576" name="Google Shape;576;p82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updates from the catalog </a:t>
            </a:r>
            <a:r>
              <a:rPr lang="en"/>
              <a:t>aligned</a:t>
            </a:r>
            <a:r>
              <a:rPr lang="en"/>
              <a:t> with compliance policies</a:t>
            </a:r>
            <a:endParaRPr/>
          </a:p>
        </p:txBody>
      </p:sp>
      <p:sp>
        <p:nvSpPr>
          <p:cNvPr id="577" name="Google Shape;577;p82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 updates to test environment</a:t>
            </a:r>
            <a:endParaRPr/>
          </a:p>
        </p:txBody>
      </p:sp>
      <p:sp>
        <p:nvSpPr>
          <p:cNvPr id="578" name="Google Shape;578;p82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deployment to live environment</a:t>
            </a:r>
            <a:endParaRPr/>
          </a:p>
        </p:txBody>
      </p:sp>
      <p:sp>
        <p:nvSpPr>
          <p:cNvPr id="579" name="Google Shape;579;p82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Monitor compliance using SCCM reporting features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83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585" name="Google Shape;585;p8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Automatically Applying Patches</a:t>
            </a:r>
            <a:endParaRPr/>
          </a:p>
        </p:txBody>
      </p:sp>
      <p:sp>
        <p:nvSpPr>
          <p:cNvPr id="586" name="Google Shape;586;p83"/>
          <p:cNvSpPr txBox="1"/>
          <p:nvPr>
            <p:ph idx="3" type="body"/>
          </p:nvPr>
        </p:nvSpPr>
        <p:spPr>
          <a:xfrm>
            <a:off x="912725" y="1516225"/>
            <a:ext cx="1074600" cy="274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87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Windows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Attack Vectors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8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Attack Vectors</a:t>
            </a:r>
            <a:endParaRPr/>
          </a:p>
        </p:txBody>
      </p:sp>
      <p:sp>
        <p:nvSpPr>
          <p:cNvPr id="609" name="Google Shape;609;p88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</p:spPr>
      </p:sp>
      <p:sp>
        <p:nvSpPr>
          <p:cNvPr id="610" name="Google Shape;610;p88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Windows</a:t>
            </a:r>
            <a:r>
              <a:rPr lang="en"/>
              <a:t> is a target-rich environment for attackers.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Users</a:t>
            </a:r>
            <a:r>
              <a:rPr lang="en"/>
              <a:t>, by necessity, often have access to critical files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Attackers </a:t>
            </a:r>
            <a:r>
              <a:rPr lang="en"/>
              <a:t> exploit this by blending in with legitimate processes, hiding in common locations, and leveraging elevated privileges</a:t>
            </a:r>
            <a:endParaRPr/>
          </a:p>
        </p:txBody>
      </p:sp>
      <p:pic>
        <p:nvPicPr>
          <p:cNvPr id="611" name="Google Shape;61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88" y="150"/>
            <a:ext cx="29382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89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</p:spPr>
      </p:sp>
      <p:sp>
        <p:nvSpPr>
          <p:cNvPr id="617" name="Google Shape;617;p89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starts with a </a:t>
            </a:r>
            <a:r>
              <a:rPr lang="en"/>
              <a:t>phishing email, but that can lead to opening the floodgates to a full-blown breach!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Attackers rely on error or oversight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Embedding payloads in temp folders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Scheduled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Hidden AppData directories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blending in with the environment, malware remains undetected</a:t>
            </a:r>
            <a:endParaRPr/>
          </a:p>
        </p:txBody>
      </p:sp>
      <p:sp>
        <p:nvSpPr>
          <p:cNvPr id="618" name="Google Shape;618;p89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User with Local Admin</a:t>
            </a:r>
            <a:endParaRPr/>
          </a:p>
        </p:txBody>
      </p:sp>
      <p:pic>
        <p:nvPicPr>
          <p:cNvPr id="619" name="Google Shape;61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6862" y="1010988"/>
            <a:ext cx="3121825" cy="31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0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</p:spPr>
      </p:sp>
      <p:sp>
        <p:nvSpPr>
          <p:cNvPr id="625" name="Google Shape;625;p90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 time, </a:t>
            </a:r>
            <a:r>
              <a:rPr lang="en"/>
              <a:t>developers</a:t>
            </a:r>
            <a:r>
              <a:rPr lang="en"/>
              <a:t> have become adept at disguising their creations by naming malicious processes to blend 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90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Malware Developers</a:t>
            </a:r>
            <a:endParaRPr/>
          </a:p>
        </p:txBody>
      </p:sp>
      <p:pic>
        <p:nvPicPr>
          <p:cNvPr id="627" name="Google Shape;62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663" y="67225"/>
            <a:ext cx="29382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0650" y="2747975"/>
            <a:ext cx="2962275" cy="15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9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Space Attacks</a:t>
            </a:r>
            <a:endParaRPr/>
          </a:p>
        </p:txBody>
      </p:sp>
      <p:sp>
        <p:nvSpPr>
          <p:cNvPr id="634" name="Google Shape;634;p91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a scenario where a seemingly </a:t>
            </a:r>
            <a:r>
              <a:rPr lang="en"/>
              <a:t>legitimate</a:t>
            </a:r>
            <a:r>
              <a:rPr lang="en"/>
              <a:t> service is consuming unusually high CPU cycles.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first glance, the process name suggests that it is a system service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uncover this hidden threat.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92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Space Attacks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93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45" name="Google Shape;645;p93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Minutes</a:t>
            </a:r>
            <a:endParaRPr/>
          </a:p>
        </p:txBody>
      </p:sp>
      <p:sp>
        <p:nvSpPr>
          <p:cNvPr id="646" name="Google Shape;646;p9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Investigating User Spaces and Services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