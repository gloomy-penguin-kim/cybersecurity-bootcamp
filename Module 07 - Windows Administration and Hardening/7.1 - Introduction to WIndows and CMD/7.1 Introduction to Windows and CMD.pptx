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</p:sldIdLst>
  <p:sldSz cy="5143500" cx="9144000"/>
  <p:notesSz cx="6858000" cy="9144000"/>
  <p:embeddedFontLst>
    <p:embeddedFont>
      <p:font typeface="Roboto"/>
      <p:regular r:id="rId84"/>
      <p:bold r:id="rId85"/>
      <p:italic r:id="rId86"/>
      <p:boldItalic r:id="rId87"/>
    </p:embeddedFont>
    <p:embeddedFont>
      <p:font typeface="Roboto Medium"/>
      <p:regular r:id="rId88"/>
      <p:bold r:id="rId89"/>
      <p:italic r:id="rId90"/>
      <p:boldItalic r:id="rId91"/>
    </p:embeddedFont>
    <p:embeddedFont>
      <p:font typeface="Inconsolata"/>
      <p:regular r:id="rId92"/>
      <p:bold r:id="rId93"/>
    </p:embeddedFont>
    <p:embeddedFont>
      <p:font typeface="Inconsolata SemiBold"/>
      <p:regular r:id="rId94"/>
      <p:bold r:id="rId95"/>
    </p:embeddedFont>
    <p:embeddedFont>
      <p:font typeface="Roboto Light"/>
      <p:regular r:id="rId96"/>
      <p:bold r:id="rId97"/>
      <p:italic r:id="rId98"/>
      <p:boldItalic r:id="rId99"/>
    </p:embeddedFont>
    <p:embeddedFont>
      <p:font typeface="Inconsolata Medium"/>
      <p:regular r:id="rId100"/>
      <p:bold r:id="rId10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0793B88-0835-421B-B88A-A213F10EF89B}">
  <a:tblStyle styleId="{20793B88-0835-421B-B88A-A213F10EF89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1" Type="http://schemas.openxmlformats.org/officeDocument/2006/relationships/font" Target="fonts/InconsolataMedium-bold.fntdata"/><Relationship Id="rId100" Type="http://schemas.openxmlformats.org/officeDocument/2006/relationships/font" Target="fonts/InconsolataMedium-regular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font" Target="fonts/InconsolataSemiBold-bold.fntdata"/><Relationship Id="rId94" Type="http://schemas.openxmlformats.org/officeDocument/2006/relationships/font" Target="fonts/InconsolataSemiBold-regular.fntdata"/><Relationship Id="rId97" Type="http://schemas.openxmlformats.org/officeDocument/2006/relationships/font" Target="fonts/RobotoLight-bold.fntdata"/><Relationship Id="rId96" Type="http://schemas.openxmlformats.org/officeDocument/2006/relationships/font" Target="fonts/RobotoLight-regular.fntdata"/><Relationship Id="rId11" Type="http://schemas.openxmlformats.org/officeDocument/2006/relationships/slide" Target="slides/slide6.xml"/><Relationship Id="rId99" Type="http://schemas.openxmlformats.org/officeDocument/2006/relationships/font" Target="fonts/RobotoLight-boldItalic.fntdata"/><Relationship Id="rId10" Type="http://schemas.openxmlformats.org/officeDocument/2006/relationships/slide" Target="slides/slide5.xml"/><Relationship Id="rId98" Type="http://schemas.openxmlformats.org/officeDocument/2006/relationships/font" Target="fonts/RobotoLight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font" Target="fonts/RobotoMedium-boldItalic.fntdata"/><Relationship Id="rId90" Type="http://schemas.openxmlformats.org/officeDocument/2006/relationships/font" Target="fonts/RobotoMedium-italic.fntdata"/><Relationship Id="rId93" Type="http://schemas.openxmlformats.org/officeDocument/2006/relationships/font" Target="fonts/Inconsolata-bold.fntdata"/><Relationship Id="rId92" Type="http://schemas.openxmlformats.org/officeDocument/2006/relationships/font" Target="fonts/Inconsolata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84" Type="http://schemas.openxmlformats.org/officeDocument/2006/relationships/font" Target="fonts/Roboto-regular.fntdata"/><Relationship Id="rId83" Type="http://schemas.openxmlformats.org/officeDocument/2006/relationships/slide" Target="slides/slide78.xml"/><Relationship Id="rId86" Type="http://schemas.openxmlformats.org/officeDocument/2006/relationships/font" Target="fonts/Roboto-italic.fntdata"/><Relationship Id="rId85" Type="http://schemas.openxmlformats.org/officeDocument/2006/relationships/font" Target="fonts/Roboto-bold.fntdata"/><Relationship Id="rId88" Type="http://schemas.openxmlformats.org/officeDocument/2006/relationships/font" Target="fonts/RobotoMedium-regular.fntdata"/><Relationship Id="rId87" Type="http://schemas.openxmlformats.org/officeDocument/2006/relationships/font" Target="fonts/Roboto-boldItalic.fntdata"/><Relationship Id="rId89" Type="http://schemas.openxmlformats.org/officeDocument/2006/relationships/font" Target="fonts/RobotoMedium-bold.fntdata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eb00afe1db_6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2eb00afe1db_6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2f3b1f2208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2f3b1f2208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f0136018fe_0_2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2f0136018fe_0_2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2f3b1f22086_0_10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2f3b1f22086_0_10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f3b1f22086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2f3b1f22086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2f3b1f22086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g2f3b1f22086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f3b1f22086_0_10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g2f3b1f22086_0_10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2f3b1f2208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g2f3b1f2208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2f3b1f22086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g2f3b1f22086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2f3b1f22086_1_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2f3b1f22086_1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2f3b1f22086_1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0" name="Google Shape;540;g2f3b1f22086_1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2f3b1f22086_1_16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2f3b1f22086_1_1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2f3b1f22086_1_1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1" name="Google Shape;551;g2f3b1f22086_1_1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shutterstock_1229109085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2f2c586782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2f2c586782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2f3b1f22086_1_28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2f3b1f22086_1_28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2f3b1f22086_1_2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2f3b1f22086_1_2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2f3b1f22086_1_28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2f3b1f22086_1_28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2f3b1f22086_1_3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2f3b1f22086_1_3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2f3b1f22086_1_3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g2f3b1f22086_1_3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2f3c77fc73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2f3c77fc73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2f3c77fc73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2f3c77fc73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2f3c77fc737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2f3c77fc737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2f3c77fc73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2f3c77fc73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2f3c77fc737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2f3c77fc737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021390fad0_1_2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3021390fad0_1_2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021390fad0_1_1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0" name="Google Shape;690;g3021390fad0_1_1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021390fad0_1_2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3021390fad0_1_2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3021390fad0_1_2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3021390fad0_1_2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2f3c77fc737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4" name="Google Shape;894;g2f3c77fc737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2f3c77fc737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2f3c77fc737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2f3c77fc737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2f3c77fc737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2f3c77fc737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2f3c77fc737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2f3c77fc737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2f3c77fc737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2f3c77fc737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2f3c77fc737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f3c77fc737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f3c77fc737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2f3c77fc737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4" name="Google Shape;954;g2f3c77fc737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2f3c77fc737_0_6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2f3c77fc737_0_6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2f3c77fc737_0_6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2f3c77fc737_0_6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g2ec649b3119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6" name="Google Shape;1026;g2ec649b311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2f2ee463b77_0_8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g2f2ee463b77_0_8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2f3c77fc737_0_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2f3c77fc737_0_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2f3c77fc737_0_7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2f3c77fc737_0_7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2f3c77fc737_0_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4" name="Google Shape;1054;g2f3c77fc737_0_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2f3c77fc737_0_7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9" name="Google Shape;1059;g2f3c77fc737_0_7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2f3c77fc737_0_19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7" name="Google Shape;1067;g2f3c77fc737_0_19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2f3c77fc737_0_30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8" name="Google Shape;1078;g2f3c77fc737_0_30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2f3c77fc737_0_4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9" name="Google Shape;1089;g2f3c77fc737_0_4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2f3c77fc737_0_5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" name="Google Shape;1099;g2f3c77fc737_0_5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2f3c77fc737_0_5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4" name="Google Shape;1104;g2f3c77fc737_0_5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g2f2ee463b77_0_7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g2f2ee463b77_0_7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2f2ee463b77_0_7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5" name="Google Shape;1115;g2f2ee463b77_0_7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2f303d877e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9" name="Google Shape;1119;g2f303d877e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2f2ee463b77_0_7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2f2ee463b77_0_7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2f303d877e8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2f303d877e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2f3c77fc737_0_5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4" name="Google Shape;1134;g2f3c77fc737_0_5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2f3c77fc737_0_6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6" name="Google Shape;1146;g2f3c77fc737_0_6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2f3c77fc737_0_66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2f3c77fc737_0_6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shutterstock_1888488028</a:t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2f3c77fc737_0_70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8" name="Google Shape;1168;g2f3c77fc737_0_70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2f303d877e8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2f303d877e8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2f303d877e8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1" name="Google Shape;1181;g2f303d877e8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2f303d877e8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5" name="Google Shape;1185;g2f303d877e8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2f3c77fc737_0_70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9" name="Google Shape;1189;g2f3c77fc737_0_70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g2f3c77fc737_0_70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5" name="Google Shape;1195;g2f3c77fc737_0_70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2f3c77fc737_0_7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0" name="Google Shape;1200;g2f3c77fc737_0_7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shutterstock_1888488028</a:t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g2f3c77fc737_0_7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4" name="Google Shape;1214;g2f3c77fc737_0_7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g2f3c77fc737_0_7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9" name="Google Shape;1219;g2f3c77fc737_0_7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2f3c77fc737_0_7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7" name="Google Shape;1227;g2f3c77fc737_0_7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2f3c77fc737_0_7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2f3c77fc737_0_7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g2f3c77fc737_0_7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g2f3c77fc737_0_7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2f3c77fc737_0_7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1" name="Google Shape;1241;g2f3c77fc737_0_7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g2f3c77fc737_0_7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6" name="Google Shape;1246;g2f3c77fc737_0_7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2f3c77fc737_0_87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3" name="Google Shape;1253;g2f3c77fc737_0_87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g2f3c77fc737_0_9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6" name="Google Shape;1276;g2f3c77fc737_0_9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shutterstock_1888488028</a:t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2f3c77fc737_0_9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2f3c77fc737_0_9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2f3c77fc737_0_9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2" name="Google Shape;1292;g2f3c77fc737_0_9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g2f3c77fc737_0_9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6" name="Google Shape;1296;g2f3c77fc737_0_9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g2f0136018fe_0_2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0" name="Google Shape;1300;g2f0136018fe_0_2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2ec649b3119_0_1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5" name="Google Shape;1305;g2ec649b3119_0_1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5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6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6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19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20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2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19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s + Body text">
  <p:cSld name="CUSTOM_1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Right image layout">
  <p:cSld name="CUSTOM_6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>
            <p:ph idx="2" type="pic"/>
          </p:nvPr>
        </p:nvSpPr>
        <p:spPr>
          <a:xfrm>
            <a:off x="5943725" y="150"/>
            <a:ext cx="3200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3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right text layout">
  <p:cSld name="CUSTOM_3_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5943650" y="0"/>
            <a:ext cx="31965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6400800" y="725688"/>
            <a:ext cx="2286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6400800" y="1600088"/>
            <a:ext cx="2349300" cy="29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3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4"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image insert">
  <p:cSld name="CUSTOM_8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 rot="10800000">
            <a:off x="3453900" y="1729748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27" name="Google Shape;27;p5"/>
          <p:cNvCxnSpPr/>
          <p:nvPr/>
        </p:nvCxnSpPr>
        <p:spPr>
          <a:xfrm rot="10800000">
            <a:off x="3453900" y="3524825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" name="Google Shape;28;p5"/>
          <p:cNvSpPr/>
          <p:nvPr>
            <p:ph idx="2" type="pic"/>
          </p:nvPr>
        </p:nvSpPr>
        <p:spPr>
          <a:xfrm>
            <a:off x="3657600" y="1371600"/>
            <a:ext cx="5029200" cy="2742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463231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3" type="body"/>
          </p:nvPr>
        </p:nvSpPr>
        <p:spPr>
          <a:xfrm>
            <a:off x="457200" y="1592650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4" type="body"/>
          </p:nvPr>
        </p:nvSpPr>
        <p:spPr>
          <a:xfrm>
            <a:off x="457200" y="3413275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Left image layout">
  <p:cSld name="CUSTOM_7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>
            <p:ph idx="2" type="pic"/>
          </p:nvPr>
        </p:nvSpPr>
        <p:spPr>
          <a:xfrm>
            <a:off x="0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657600" y="1054550"/>
            <a:ext cx="50256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657601" y="146300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3" type="subTitle"/>
          </p:nvPr>
        </p:nvSpPr>
        <p:spPr>
          <a:xfrm>
            <a:off x="3661286" y="548650"/>
            <a:ext cx="502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 + Subheading blank">
  <p:cSld name="CUSTOM_21_2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0" name="Google Shape;40;p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 line (with bullets)">
  <p:cSld name="CUSTOM_2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6" name="Google Shape;46;p8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8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8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8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8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8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8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8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body"/>
          </p:nvPr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body"/>
          </p:nvPr>
        </p:nvSpPr>
        <p:spPr>
          <a:xfrm>
            <a:off x="914400" y="1874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body"/>
          </p:nvPr>
        </p:nvSpPr>
        <p:spPr>
          <a:xfrm>
            <a:off x="914400" y="25598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5" type="body"/>
          </p:nvPr>
        </p:nvSpPr>
        <p:spPr>
          <a:xfrm>
            <a:off x="914400" y="324536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6" type="body"/>
          </p:nvPr>
        </p:nvSpPr>
        <p:spPr>
          <a:xfrm>
            <a:off x="914400" y="393089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blank)">
  <p:cSld name="CUSTOM_21_2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With bullets)">
  <p:cSld name="CUSTOM_21_1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0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0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0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0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6" name="Google Shape;76;p10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7" name="Google Shape;77;p10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" name="Google Shape;78;p10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" name="Google Shape;80;p10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0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0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 + Subheading blank">
  <p:cSld name="CUSTOM_1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Longer title" type="secHead">
  <p:cSld name="SECTION_HEADER">
    <p:bg>
      <p:bgPr>
        <a:solidFill>
          <a:schemeClr val="dk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2"/>
          <p:cNvCxnSpPr/>
          <p:nvPr/>
        </p:nvCxnSpPr>
        <p:spPr>
          <a:xfrm>
            <a:off x="4580627" y="16187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93" name="Google Shape;93;p12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4" name="Google Shape;94;p12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5" name="Google Shape;95;p12"/>
          <p:cNvSpPr txBox="1"/>
          <p:nvPr>
            <p:ph idx="2" type="subTitle"/>
          </p:nvPr>
        </p:nvSpPr>
        <p:spPr>
          <a:xfrm>
            <a:off x="4572000" y="3203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12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6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Shorter title">
  <p:cSld name="SECTION_HEADER_1_1">
    <p:bg>
      <p:bgPr>
        <a:solidFill>
          <a:schemeClr val="dk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Google Shape;98;p13"/>
          <p:cNvCxnSpPr/>
          <p:nvPr/>
        </p:nvCxnSpPr>
        <p:spPr>
          <a:xfrm>
            <a:off x="4570695" y="1823650"/>
            <a:ext cx="9207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cxnSp>
        <p:nvCxnSpPr>
          <p:cNvPr id="99" name="Google Shape;99;p13"/>
          <p:cNvCxnSpPr/>
          <p:nvPr/>
        </p:nvCxnSpPr>
        <p:spPr>
          <a:xfrm>
            <a:off x="4580627" y="18235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100" name="Google Shape;100;p13"/>
          <p:cNvSpPr txBox="1"/>
          <p:nvPr>
            <p:ph type="title"/>
          </p:nvPr>
        </p:nvSpPr>
        <p:spPr>
          <a:xfrm>
            <a:off x="4570700" y="2028900"/>
            <a:ext cx="4557900" cy="719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1" type="subTitle"/>
          </p:nvPr>
        </p:nvSpPr>
        <p:spPr>
          <a:xfrm>
            <a:off x="4572000" y="1533250"/>
            <a:ext cx="4572000" cy="18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idx="2" type="subTitle"/>
          </p:nvPr>
        </p:nvSpPr>
        <p:spPr>
          <a:xfrm>
            <a:off x="4572000" y="28820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3"/>
          <p:cNvSpPr txBox="1"/>
          <p:nvPr/>
        </p:nvSpPr>
        <p:spPr>
          <a:xfrm>
            <a:off x="6058325" y="3097550"/>
            <a:ext cx="309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Blank">
  <p:cSld name="CUSTOM_26_1">
    <p:bg>
      <p:bgPr>
        <a:solidFill>
          <a:schemeClr val="dk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07" name="Google Shape;107;p14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4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Next class">
  <p:cSld name="CUSTOM_10_1_1_1_2_2_1">
    <p:bg>
      <p:bgPr>
        <a:solidFill>
          <a:schemeClr val="dk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Next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lass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4429130" y="1541930"/>
            <a:ext cx="285844" cy="574072"/>
          </a:xfrm>
          <a:custGeom>
            <a:rect b="b" l="l" r="r" t="t"/>
            <a:pathLst>
              <a:path extrusionOk="0" fill="none" h="206130" w="102637">
                <a:moveTo>
                  <a:pt x="0" y="1"/>
                </a:moveTo>
                <a:lnTo>
                  <a:pt x="102637" y="103065"/>
                </a:lnTo>
                <a:lnTo>
                  <a:pt x="0" y="206129"/>
                </a:lnTo>
              </a:path>
            </a:pathLst>
          </a:custGeom>
          <a:solidFill>
            <a:srgbClr val="FFFFFF"/>
          </a:solidFill>
          <a:ln cap="rnd" cmpd="sng" w="28575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Time to Code">
  <p:cSld name="CUSTOM_10_1_1_1_2_2_1_1">
    <p:bg>
      <p:bgPr>
        <a:solidFill>
          <a:schemeClr val="dk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/>
        </p:nvSpPr>
        <p:spPr>
          <a:xfrm>
            <a:off x="5901175" y="3977950"/>
            <a:ext cx="2785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0" y="3086100"/>
            <a:ext cx="91440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to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ode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36576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94290" y="1424853"/>
            <a:ext cx="1155368" cy="81814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>
            <p:ph idx="1" type="subTitle"/>
          </p:nvPr>
        </p:nvSpPr>
        <p:spPr>
          <a:xfrm>
            <a:off x="5029200" y="4245725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hallenge">
  <p:cSld name="CUSTOM_10_1_1_1_2_1_1">
    <p:bg>
      <p:bgPr>
        <a:solidFill>
          <a:schemeClr val="dk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Challenge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2" name="Google Shape;122;p1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17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72546" y="1094559"/>
            <a:ext cx="1390807" cy="1212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ourse overview">
  <p:cSld name="CUSTOM_10_1_1_1_2_1_1_1">
    <p:bg>
      <p:bgPr>
        <a:solidFill>
          <a:schemeClr val="dk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ourse overview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7" name="Google Shape;127;p1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18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6605" y="1339647"/>
            <a:ext cx="950800" cy="9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lank slide">
  <p:cSld name="CUSTOM_26_1_1">
    <p:bg>
      <p:bgPr>
        <a:solidFill>
          <a:schemeClr val="dk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0" y="3072384"/>
            <a:ext cx="91440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Welcome page">
  <p:cSld name="CUSTOM_26_1_1_1">
    <p:bg>
      <p:bgPr>
        <a:solidFill>
          <a:schemeClr val="dk2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Welcome</a:t>
            </a:r>
            <a:endParaRPr b="1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5" name="Google Shape;13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84112" y="1371590"/>
            <a:ext cx="1776025" cy="1324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Conclusion">
  <p:cSld name="CUSTOM_26_1_1_1_1">
    <p:bg>
      <p:bgPr>
        <a:solidFill>
          <a:schemeClr val="dk2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Conclusion</a:t>
            </a:r>
            <a:endParaRPr b="1" sz="4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8" name="Google Shape;13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275" y="1452275"/>
            <a:ext cx="1047450" cy="120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's up! Let's review">
  <p:cSld name="CUSTOM_10_2_1_1_1">
    <p:bg>
      <p:bgPr>
        <a:solidFill>
          <a:schemeClr val="dk2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56863" y="1371602"/>
            <a:ext cx="1430525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Time’s up!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review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reak">
  <p:cSld name="CUSTOM_10_1">
    <p:bg>
      <p:bgPr>
        <a:solidFill>
          <a:schemeClr val="dk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61200" y="1371599"/>
            <a:ext cx="1421602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Break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 mins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 for a quick review">
  <p:cSld name="CUSTOM_10_1_1_2">
    <p:bg>
      <p:bgPr>
        <a:solidFill>
          <a:schemeClr val="dk2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2162" y="1448847"/>
            <a:ext cx="1699675" cy="1224853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4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for a quick video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Peer review">
  <p:cSld name="CUSTOM_10_1_1_1_3">
    <p:bg>
      <p:bgPr>
        <a:solidFill>
          <a:schemeClr val="dk2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53000"/>
            <a:ext cx="1291550" cy="129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Peer review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Let's recap">
  <p:cSld name="CUSTOM_10_1_1_1_2">
    <p:bg>
      <p:bgPr>
        <a:solidFill>
          <a:schemeClr val="dk2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35359"/>
            <a:ext cx="1291550" cy="132683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6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recap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Office hours">
  <p:cSld name="CUSTOM_10_1_1_1_2_3_2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92850" y="1583850"/>
            <a:ext cx="2158300" cy="11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7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Office hours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Slack slide">
  <p:cSld name="CUSTOM_10_1_1_1_2_3_1">
    <p:bg>
      <p:bgPr>
        <a:solidFill>
          <a:schemeClr val="dk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Class Slack Channel: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63" name="Google Shape;163;p28"/>
          <p:cNvPicPr preferRelativeResize="0"/>
          <p:nvPr/>
        </p:nvPicPr>
        <p:blipFill rotWithShape="1">
          <a:blip r:embed="rId2">
            <a:alphaModFix/>
          </a:blip>
          <a:srcRect b="24412" l="9534" r="69121" t="23790"/>
          <a:stretch/>
        </p:blipFill>
        <p:spPr>
          <a:xfrm>
            <a:off x="3876275" y="1390350"/>
            <a:ext cx="1391451" cy="138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hank you">
  <p:cSld name="CUSTOM_10_1_1_1_2_1_2">
    <p:bg>
      <p:bgPr>
        <a:solidFill>
          <a:schemeClr val="dk2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/>
        </p:nvSpPr>
        <p:spPr>
          <a:xfrm>
            <a:off x="0" y="3073400"/>
            <a:ext cx="9144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6" name="Google Shape;16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3775" y="1371600"/>
            <a:ext cx="1376700" cy="13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Questions">
  <p:cSld name="CUSTOM_10_1_1_1_1_2">
    <p:bg>
      <p:bgPr>
        <a:solidFill>
          <a:schemeClr val="dk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/>
        </p:nvSpPr>
        <p:spPr>
          <a:xfrm>
            <a:off x="0" y="305495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6873" y="1589513"/>
            <a:ext cx="1690255" cy="13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653025" y="4126875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0"/>
          <p:cNvPicPr preferRelativeResize="0"/>
          <p:nvPr/>
        </p:nvPicPr>
        <p:blipFill rotWithShape="1">
          <a:blip r:embed="rId3">
            <a:alphaModFix/>
          </a:blip>
          <a:srcRect b="19664" l="0" r="0" t="0"/>
          <a:stretch/>
        </p:blipFill>
        <p:spPr>
          <a:xfrm flipH="1">
            <a:off x="1651350" y="4364000"/>
            <a:ext cx="783075" cy="9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0"/>
          <p:cNvPicPr preferRelativeResize="0"/>
          <p:nvPr/>
        </p:nvPicPr>
        <p:blipFill rotWithShape="1">
          <a:blip r:embed="rId3">
            <a:alphaModFix/>
          </a:blip>
          <a:srcRect b="30598" l="0" r="0" t="0"/>
          <a:stretch/>
        </p:blipFill>
        <p:spPr>
          <a:xfrm flipH="1">
            <a:off x="3638200" y="4387525"/>
            <a:ext cx="712575" cy="7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2655487" y="3973275"/>
            <a:ext cx="982713" cy="13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4517888" y="4134937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0"/>
          <p:cNvPicPr preferRelativeResize="0"/>
          <p:nvPr/>
        </p:nvPicPr>
        <p:blipFill rotWithShape="1">
          <a:blip r:embed="rId3">
            <a:alphaModFix/>
          </a:blip>
          <a:srcRect b="5686" l="0" r="0" t="0"/>
          <a:stretch/>
        </p:blipFill>
        <p:spPr>
          <a:xfrm flipH="1">
            <a:off x="5979175" y="4168652"/>
            <a:ext cx="783075" cy="11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650" y="3973275"/>
            <a:ext cx="870750" cy="1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C - Instructor Demonstration">
  <p:cSld name="CUSTOM_10_2">
    <p:bg>
      <p:bgPr>
        <a:solidFill>
          <a:schemeClr val="dk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79" name="Google Shape;179;p31"/>
          <p:cNvSpPr/>
          <p:nvPr/>
        </p:nvSpPr>
        <p:spPr>
          <a:xfrm>
            <a:off x="3657600" y="919500"/>
            <a:ext cx="1828800" cy="182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1"/>
          <p:cNvSpPr txBox="1"/>
          <p:nvPr/>
        </p:nvSpPr>
        <p:spPr>
          <a:xfrm>
            <a:off x="311700" y="3073125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Instructor</a:t>
            </a:r>
            <a:r>
              <a:rPr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Demonstration</a:t>
            </a:r>
            <a:endParaRPr i="0" sz="24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81" name="Google Shape;181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34596" y="1424818"/>
            <a:ext cx="1274808" cy="818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D - Blank chapter title slide">
  <p:cSld name="CUSTOM_26_2">
    <p:bg>
      <p:bgPr>
        <a:solidFill>
          <a:schemeClr val="accent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blank)">
  <p:cSld name="CUSTOM_21_2_2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5" name="Google Shape;185;p33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86" name="Google Shape;186;p33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89" name="Google Shape;189;p33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with bullets)">
  <p:cSld name="CUSTOM_21_2_3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1" name="Google Shape;191;p34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92" name="Google Shape;192;p34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4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34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4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4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4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4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4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1" name="Google Shape;201;p34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2" name="Google Shape;202;p34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3" name="Google Shape;203;p34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4" name="Google Shape;204;p34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5" name="Google Shape;205;p34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4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4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4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4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4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blank)">
  <p:cSld name="CUSTOM_21_2_2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2" name="Google Shape;212;p35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3" name="Google Shape;213;p35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5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3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with bullets)">
  <p:cSld name="CUSTOM_21_2_2_1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8" name="Google Shape;218;p36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9" name="Google Shape;219;p36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6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6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6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6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6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6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7" name="Google Shape;227;p36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36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9" name="Google Shape;229;p36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0" name="Google Shape;230;p36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1" name="Google Shape;231;p36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6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6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6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6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6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36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7"/>
          <p:cNvSpPr txBox="1"/>
          <p:nvPr/>
        </p:nvSpPr>
        <p:spPr>
          <a:xfrm>
            <a:off x="4572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01.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37"/>
          <p:cNvSpPr txBox="1"/>
          <p:nvPr/>
        </p:nvSpPr>
        <p:spPr>
          <a:xfrm>
            <a:off x="457197" y="206217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02.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37"/>
          <p:cNvSpPr txBox="1"/>
          <p:nvPr/>
        </p:nvSpPr>
        <p:spPr>
          <a:xfrm>
            <a:off x="457204" y="253925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03.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37"/>
          <p:cNvSpPr txBox="1"/>
          <p:nvPr/>
        </p:nvSpPr>
        <p:spPr>
          <a:xfrm>
            <a:off x="457197" y="298165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04.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37"/>
          <p:cNvSpPr txBox="1"/>
          <p:nvPr/>
        </p:nvSpPr>
        <p:spPr>
          <a:xfrm>
            <a:off x="457200" y="344330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05.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37"/>
          <p:cNvSpPr txBox="1"/>
          <p:nvPr/>
        </p:nvSpPr>
        <p:spPr>
          <a:xfrm>
            <a:off x="45638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06.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37"/>
          <p:cNvSpPr txBox="1"/>
          <p:nvPr/>
        </p:nvSpPr>
        <p:spPr>
          <a:xfrm>
            <a:off x="4563800" y="206488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07.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37"/>
          <p:cNvSpPr txBox="1"/>
          <p:nvPr/>
        </p:nvSpPr>
        <p:spPr>
          <a:xfrm>
            <a:off x="4563800" y="2529587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08.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37"/>
          <p:cNvSpPr txBox="1"/>
          <p:nvPr/>
        </p:nvSpPr>
        <p:spPr>
          <a:xfrm>
            <a:off x="4563800" y="298162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09.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37"/>
          <p:cNvSpPr txBox="1"/>
          <p:nvPr/>
        </p:nvSpPr>
        <p:spPr>
          <a:xfrm>
            <a:off x="4563800" y="344473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0" name="Google Shape;250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425" y="301475"/>
            <a:ext cx="287550" cy="36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1" name="Google Shape;251;p37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52" name="Google Shape;252;p3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53" name="Google Shape;253;p37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Table of Contents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37"/>
          <p:cNvSpPr txBox="1"/>
          <p:nvPr>
            <p:ph idx="2" type="body"/>
          </p:nvPr>
        </p:nvSpPr>
        <p:spPr>
          <a:xfrm>
            <a:off x="914400" y="160934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5" name="Google Shape;255;p37"/>
          <p:cNvSpPr txBox="1"/>
          <p:nvPr>
            <p:ph idx="3" type="body"/>
          </p:nvPr>
        </p:nvSpPr>
        <p:spPr>
          <a:xfrm>
            <a:off x="914400" y="343556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6" name="Google Shape;256;p37"/>
          <p:cNvSpPr txBox="1"/>
          <p:nvPr>
            <p:ph idx="4" type="body"/>
          </p:nvPr>
        </p:nvSpPr>
        <p:spPr>
          <a:xfrm>
            <a:off x="914400" y="206590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7" name="Google Shape;257;p37"/>
          <p:cNvSpPr txBox="1"/>
          <p:nvPr>
            <p:ph idx="5" type="body"/>
          </p:nvPr>
        </p:nvSpPr>
        <p:spPr>
          <a:xfrm>
            <a:off x="914400" y="2522456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8" name="Google Shape;258;p37"/>
          <p:cNvSpPr txBox="1"/>
          <p:nvPr>
            <p:ph idx="6" type="body"/>
          </p:nvPr>
        </p:nvSpPr>
        <p:spPr>
          <a:xfrm>
            <a:off x="914400" y="297900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9" name="Google Shape;259;p37"/>
          <p:cNvSpPr txBox="1"/>
          <p:nvPr>
            <p:ph idx="7" type="body"/>
          </p:nvPr>
        </p:nvSpPr>
        <p:spPr>
          <a:xfrm>
            <a:off x="5029200" y="16093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0" name="Google Shape;260;p37"/>
          <p:cNvSpPr txBox="1"/>
          <p:nvPr>
            <p:ph idx="8" type="body"/>
          </p:nvPr>
        </p:nvSpPr>
        <p:spPr>
          <a:xfrm>
            <a:off x="5029200" y="34355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1" name="Google Shape;261;p37"/>
          <p:cNvSpPr txBox="1"/>
          <p:nvPr>
            <p:ph idx="9" type="body"/>
          </p:nvPr>
        </p:nvSpPr>
        <p:spPr>
          <a:xfrm>
            <a:off x="5029200" y="20659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2" name="Google Shape;262;p37"/>
          <p:cNvSpPr txBox="1"/>
          <p:nvPr>
            <p:ph idx="13" type="body"/>
          </p:nvPr>
        </p:nvSpPr>
        <p:spPr>
          <a:xfrm>
            <a:off x="5029200" y="2522451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3" name="Google Shape;263;p37"/>
          <p:cNvSpPr txBox="1"/>
          <p:nvPr>
            <p:ph idx="14" type="body"/>
          </p:nvPr>
        </p:nvSpPr>
        <p:spPr>
          <a:xfrm>
            <a:off x="5029200" y="29790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72">
          <p15:clr>
            <a:srgbClr val="E46962"/>
          </p15:clr>
        </p15:guide>
        <p15:guide id="2" pos="2884">
          <p15:clr>
            <a:srgbClr val="E46962"/>
          </p15:clr>
        </p15:guide>
        <p15:guide id="3" pos="3168">
          <p15:clr>
            <a:srgbClr val="E46962"/>
          </p15:clr>
        </p15:guide>
        <p15:guide id="4" orient="horz" pos="288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">
  <p:cSld name="CUSTOM_23">
    <p:bg>
      <p:bgPr>
        <a:solidFill>
          <a:srgbClr val="F2F2F2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8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38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8" name="Google Shape;268;p38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38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70" name="Google Shape;270;p38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71" name="Google Shape;27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8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73" name="Google Shape;273;p38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(Class activity)">
  <p:cSld name="CUSTOM_23_2">
    <p:bg>
      <p:bgPr>
        <a:solidFill>
          <a:srgbClr val="F2F2F2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9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Class </a:t>
            </a: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39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8" name="Google Shape;278;p39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9" name="Google Shape;279;p39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0" name="Google Shape;280;p39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81" name="Google Shape;28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9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83" name="Google Shape;283;p39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s">
  <p:cSld name="CUSTOM_22_1_1">
    <p:bg>
      <p:bgPr>
        <a:solidFill>
          <a:schemeClr val="lt2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0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40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40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40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>
            <a:lvl1pPr indent="-444500" lvl="0" marL="4572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1pPr>
            <a:lvl2pPr indent="-444500" lvl="1" marL="9144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2pPr>
            <a:lvl3pPr indent="-444500" lvl="2" marL="13716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3pPr>
            <a:lvl4pPr indent="-444500" lvl="3" marL="18288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4pPr>
            <a:lvl5pPr indent="-444500" lvl="4" marL="22860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5pPr>
            <a:lvl6pPr indent="-444500" lvl="5" marL="27432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6pPr>
            <a:lvl7pPr indent="-444500" lvl="6" marL="32004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7pPr>
            <a:lvl8pPr indent="-444500" lvl="7" marL="36576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8pPr>
            <a:lvl9pPr indent="-444500" lvl="8" marL="41148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Key Idea">
  <p:cSld name="CUSTOM_4">
    <p:bg>
      <p:bgPr>
        <a:solidFill>
          <a:schemeClr val="lt2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1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0550" y="18616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1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1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estion">
  <p:cSld name="CUSTOM_4_1_2_1">
    <p:bg>
      <p:bgPr>
        <a:solidFill>
          <a:schemeClr val="lt2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2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p42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7875" y="2012779"/>
            <a:ext cx="1003696" cy="1489696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2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otation">
  <p:cSld name="CUSTOM_4_1_1">
    <p:bg>
      <p:bgPr>
        <a:solidFill>
          <a:schemeClr val="lt2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3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1" name="Google Shape;301;p43"/>
          <p:cNvGrpSpPr/>
          <p:nvPr/>
        </p:nvGrpSpPr>
        <p:grpSpPr>
          <a:xfrm>
            <a:off x="1074625" y="2258150"/>
            <a:ext cx="1473491" cy="980288"/>
            <a:chOff x="1074625" y="2258150"/>
            <a:chExt cx="1473491" cy="980288"/>
          </a:xfrm>
        </p:grpSpPr>
        <p:sp>
          <p:nvSpPr>
            <p:cNvPr id="302" name="Google Shape;302;p43"/>
            <p:cNvSpPr/>
            <p:nvPr/>
          </p:nvSpPr>
          <p:spPr>
            <a:xfrm>
              <a:off x="1074625" y="2258150"/>
              <a:ext cx="704970" cy="980288"/>
            </a:xfrm>
            <a:custGeom>
              <a:rect b="b" l="l" r="r" t="t"/>
              <a:pathLst>
                <a:path extrusionOk="0" fill="none" h="79682" w="57303">
                  <a:moveTo>
                    <a:pt x="12677" y="79681"/>
                  </a:moveTo>
                  <a:lnTo>
                    <a:pt x="12677" y="79681"/>
                  </a:lnTo>
                  <a:lnTo>
                    <a:pt x="15652" y="75283"/>
                  </a:lnTo>
                  <a:lnTo>
                    <a:pt x="17980" y="71403"/>
                  </a:lnTo>
                  <a:lnTo>
                    <a:pt x="19920" y="67910"/>
                  </a:lnTo>
                  <a:lnTo>
                    <a:pt x="21343" y="64806"/>
                  </a:lnTo>
                  <a:lnTo>
                    <a:pt x="22378" y="62090"/>
                  </a:lnTo>
                  <a:lnTo>
                    <a:pt x="23025" y="59891"/>
                  </a:lnTo>
                  <a:lnTo>
                    <a:pt x="23413" y="58080"/>
                  </a:lnTo>
                  <a:lnTo>
                    <a:pt x="23542" y="56786"/>
                  </a:lnTo>
                  <a:lnTo>
                    <a:pt x="23542" y="56786"/>
                  </a:lnTo>
                  <a:lnTo>
                    <a:pt x="21084" y="56139"/>
                  </a:lnTo>
                  <a:lnTo>
                    <a:pt x="18627" y="55363"/>
                  </a:lnTo>
                  <a:lnTo>
                    <a:pt x="16428" y="54458"/>
                  </a:lnTo>
                  <a:lnTo>
                    <a:pt x="14229" y="53294"/>
                  </a:lnTo>
                  <a:lnTo>
                    <a:pt x="12159" y="52000"/>
                  </a:lnTo>
                  <a:lnTo>
                    <a:pt x="10219" y="50448"/>
                  </a:lnTo>
                  <a:lnTo>
                    <a:pt x="8408" y="48896"/>
                  </a:lnTo>
                  <a:lnTo>
                    <a:pt x="6726" y="47085"/>
                  </a:lnTo>
                  <a:lnTo>
                    <a:pt x="5304" y="45144"/>
                  </a:lnTo>
                  <a:lnTo>
                    <a:pt x="4010" y="43075"/>
                  </a:lnTo>
                  <a:lnTo>
                    <a:pt x="2846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518" y="33761"/>
                  </a:lnTo>
                  <a:lnTo>
                    <a:pt x="129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259" y="25742"/>
                  </a:lnTo>
                  <a:lnTo>
                    <a:pt x="647" y="22896"/>
                  </a:lnTo>
                  <a:lnTo>
                    <a:pt x="1294" y="20050"/>
                  </a:lnTo>
                  <a:lnTo>
                    <a:pt x="2328" y="17463"/>
                  </a:lnTo>
                  <a:lnTo>
                    <a:pt x="3493" y="15005"/>
                  </a:lnTo>
                  <a:lnTo>
                    <a:pt x="4915" y="12677"/>
                  </a:lnTo>
                  <a:lnTo>
                    <a:pt x="6597" y="10478"/>
                  </a:lnTo>
                  <a:lnTo>
                    <a:pt x="8408" y="8409"/>
                  </a:lnTo>
                  <a:lnTo>
                    <a:pt x="10478" y="6598"/>
                  </a:lnTo>
                  <a:lnTo>
                    <a:pt x="12677" y="4916"/>
                  </a:lnTo>
                  <a:lnTo>
                    <a:pt x="15005" y="3493"/>
                  </a:lnTo>
                  <a:lnTo>
                    <a:pt x="17592" y="2200"/>
                  </a:lnTo>
                  <a:lnTo>
                    <a:pt x="20179" y="1294"/>
                  </a:lnTo>
                  <a:lnTo>
                    <a:pt x="22895" y="647"/>
                  </a:lnTo>
                  <a:lnTo>
                    <a:pt x="25741" y="130"/>
                  </a:lnTo>
                  <a:lnTo>
                    <a:pt x="28716" y="1"/>
                  </a:lnTo>
                  <a:lnTo>
                    <a:pt x="28716" y="1"/>
                  </a:lnTo>
                  <a:lnTo>
                    <a:pt x="31562" y="130"/>
                  </a:lnTo>
                  <a:lnTo>
                    <a:pt x="34408" y="647"/>
                  </a:lnTo>
                  <a:lnTo>
                    <a:pt x="37124" y="1294"/>
                  </a:lnTo>
                  <a:lnTo>
                    <a:pt x="39840" y="2200"/>
                  </a:lnTo>
                  <a:lnTo>
                    <a:pt x="42298" y="3493"/>
                  </a:lnTo>
                  <a:lnTo>
                    <a:pt x="44626" y="4916"/>
                  </a:lnTo>
                  <a:lnTo>
                    <a:pt x="46825" y="6598"/>
                  </a:lnTo>
                  <a:lnTo>
                    <a:pt x="48895" y="8409"/>
                  </a:lnTo>
                  <a:lnTo>
                    <a:pt x="50706" y="10478"/>
                  </a:lnTo>
                  <a:lnTo>
                    <a:pt x="52388" y="12677"/>
                  </a:lnTo>
                  <a:lnTo>
                    <a:pt x="53810" y="15005"/>
                  </a:lnTo>
                  <a:lnTo>
                    <a:pt x="54975" y="17463"/>
                  </a:lnTo>
                  <a:lnTo>
                    <a:pt x="56009" y="20050"/>
                  </a:lnTo>
                  <a:lnTo>
                    <a:pt x="56656" y="22896"/>
                  </a:lnTo>
                  <a:lnTo>
                    <a:pt x="57174" y="25742"/>
                  </a:lnTo>
                  <a:lnTo>
                    <a:pt x="57303" y="28587"/>
                  </a:lnTo>
                  <a:lnTo>
                    <a:pt x="57303" y="28587"/>
                  </a:lnTo>
                  <a:lnTo>
                    <a:pt x="57174" y="31562"/>
                  </a:lnTo>
                  <a:lnTo>
                    <a:pt x="56915" y="34279"/>
                  </a:lnTo>
                  <a:lnTo>
                    <a:pt x="56398" y="37125"/>
                  </a:lnTo>
                  <a:lnTo>
                    <a:pt x="55751" y="39712"/>
                  </a:lnTo>
                  <a:lnTo>
                    <a:pt x="54845" y="42299"/>
                  </a:lnTo>
                  <a:lnTo>
                    <a:pt x="53940" y="44886"/>
                  </a:lnTo>
                  <a:lnTo>
                    <a:pt x="52776" y="47214"/>
                  </a:lnTo>
                  <a:lnTo>
                    <a:pt x="51611" y="49542"/>
                  </a:lnTo>
                  <a:lnTo>
                    <a:pt x="50189" y="51871"/>
                  </a:lnTo>
                  <a:lnTo>
                    <a:pt x="48766" y="54070"/>
                  </a:lnTo>
                  <a:lnTo>
                    <a:pt x="47214" y="56139"/>
                  </a:lnTo>
                  <a:lnTo>
                    <a:pt x="45532" y="58209"/>
                  </a:lnTo>
                  <a:lnTo>
                    <a:pt x="43850" y="60020"/>
                  </a:lnTo>
                  <a:lnTo>
                    <a:pt x="42039" y="61960"/>
                  </a:lnTo>
                  <a:lnTo>
                    <a:pt x="40229" y="63642"/>
                  </a:lnTo>
                  <a:lnTo>
                    <a:pt x="38288" y="65323"/>
                  </a:lnTo>
                  <a:lnTo>
                    <a:pt x="36477" y="66876"/>
                  </a:lnTo>
                  <a:lnTo>
                    <a:pt x="34537" y="68428"/>
                  </a:lnTo>
                  <a:lnTo>
                    <a:pt x="30786" y="71144"/>
                  </a:lnTo>
                  <a:lnTo>
                    <a:pt x="27035" y="73472"/>
                  </a:lnTo>
                  <a:lnTo>
                    <a:pt x="23413" y="75413"/>
                  </a:lnTo>
                  <a:lnTo>
                    <a:pt x="20050" y="77094"/>
                  </a:lnTo>
                  <a:lnTo>
                    <a:pt x="17204" y="78388"/>
                  </a:lnTo>
                  <a:lnTo>
                    <a:pt x="14617" y="79164"/>
                  </a:lnTo>
                  <a:lnTo>
                    <a:pt x="12677" y="79681"/>
                  </a:lnTo>
                  <a:lnTo>
                    <a:pt x="12677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43"/>
            <p:cNvSpPr/>
            <p:nvPr/>
          </p:nvSpPr>
          <p:spPr>
            <a:xfrm>
              <a:off x="1844733" y="2258150"/>
              <a:ext cx="703383" cy="980288"/>
            </a:xfrm>
            <a:custGeom>
              <a:rect b="b" l="l" r="r" t="t"/>
              <a:pathLst>
                <a:path extrusionOk="0" fill="none" h="79682" w="57174">
                  <a:moveTo>
                    <a:pt x="12548" y="79681"/>
                  </a:moveTo>
                  <a:lnTo>
                    <a:pt x="12548" y="79681"/>
                  </a:lnTo>
                  <a:lnTo>
                    <a:pt x="15523" y="75283"/>
                  </a:lnTo>
                  <a:lnTo>
                    <a:pt x="17980" y="71403"/>
                  </a:lnTo>
                  <a:lnTo>
                    <a:pt x="19791" y="67910"/>
                  </a:lnTo>
                  <a:lnTo>
                    <a:pt x="21214" y="64806"/>
                  </a:lnTo>
                  <a:lnTo>
                    <a:pt x="22249" y="62090"/>
                  </a:lnTo>
                  <a:lnTo>
                    <a:pt x="22896" y="59891"/>
                  </a:lnTo>
                  <a:lnTo>
                    <a:pt x="23284" y="58080"/>
                  </a:lnTo>
                  <a:lnTo>
                    <a:pt x="23413" y="56786"/>
                  </a:lnTo>
                  <a:lnTo>
                    <a:pt x="23413" y="56786"/>
                  </a:lnTo>
                  <a:lnTo>
                    <a:pt x="20955" y="56139"/>
                  </a:lnTo>
                  <a:lnTo>
                    <a:pt x="18498" y="55363"/>
                  </a:lnTo>
                  <a:lnTo>
                    <a:pt x="16299" y="54458"/>
                  </a:lnTo>
                  <a:lnTo>
                    <a:pt x="14100" y="53294"/>
                  </a:lnTo>
                  <a:lnTo>
                    <a:pt x="12030" y="52000"/>
                  </a:lnTo>
                  <a:lnTo>
                    <a:pt x="10090" y="50448"/>
                  </a:lnTo>
                  <a:lnTo>
                    <a:pt x="8279" y="48896"/>
                  </a:lnTo>
                  <a:lnTo>
                    <a:pt x="6727" y="47085"/>
                  </a:lnTo>
                  <a:lnTo>
                    <a:pt x="5174" y="45144"/>
                  </a:lnTo>
                  <a:lnTo>
                    <a:pt x="3881" y="43075"/>
                  </a:lnTo>
                  <a:lnTo>
                    <a:pt x="2717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388" y="33761"/>
                  </a:lnTo>
                  <a:lnTo>
                    <a:pt x="130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130" y="25742"/>
                  </a:lnTo>
                  <a:lnTo>
                    <a:pt x="518" y="22896"/>
                  </a:lnTo>
                  <a:lnTo>
                    <a:pt x="1294" y="20050"/>
                  </a:lnTo>
                  <a:lnTo>
                    <a:pt x="2199" y="17463"/>
                  </a:lnTo>
                  <a:lnTo>
                    <a:pt x="3364" y="15005"/>
                  </a:lnTo>
                  <a:lnTo>
                    <a:pt x="4786" y="12677"/>
                  </a:lnTo>
                  <a:lnTo>
                    <a:pt x="6468" y="10478"/>
                  </a:lnTo>
                  <a:lnTo>
                    <a:pt x="8279" y="8409"/>
                  </a:lnTo>
                  <a:lnTo>
                    <a:pt x="10349" y="6598"/>
                  </a:lnTo>
                  <a:lnTo>
                    <a:pt x="12548" y="4916"/>
                  </a:lnTo>
                  <a:lnTo>
                    <a:pt x="14876" y="3493"/>
                  </a:lnTo>
                  <a:lnTo>
                    <a:pt x="17463" y="2200"/>
                  </a:lnTo>
                  <a:lnTo>
                    <a:pt x="20050" y="1294"/>
                  </a:lnTo>
                  <a:lnTo>
                    <a:pt x="22766" y="647"/>
                  </a:lnTo>
                  <a:lnTo>
                    <a:pt x="25612" y="130"/>
                  </a:lnTo>
                  <a:lnTo>
                    <a:pt x="28587" y="1"/>
                  </a:lnTo>
                  <a:lnTo>
                    <a:pt x="28587" y="1"/>
                  </a:lnTo>
                  <a:lnTo>
                    <a:pt x="31433" y="130"/>
                  </a:lnTo>
                  <a:lnTo>
                    <a:pt x="34279" y="647"/>
                  </a:lnTo>
                  <a:lnTo>
                    <a:pt x="37124" y="1294"/>
                  </a:lnTo>
                  <a:lnTo>
                    <a:pt x="39711" y="2200"/>
                  </a:lnTo>
                  <a:lnTo>
                    <a:pt x="42169" y="3493"/>
                  </a:lnTo>
                  <a:lnTo>
                    <a:pt x="44627" y="4916"/>
                  </a:lnTo>
                  <a:lnTo>
                    <a:pt x="46826" y="6598"/>
                  </a:lnTo>
                  <a:lnTo>
                    <a:pt x="48766" y="8409"/>
                  </a:lnTo>
                  <a:lnTo>
                    <a:pt x="50706" y="10478"/>
                  </a:lnTo>
                  <a:lnTo>
                    <a:pt x="52259" y="12677"/>
                  </a:lnTo>
                  <a:lnTo>
                    <a:pt x="53681" y="15005"/>
                  </a:lnTo>
                  <a:lnTo>
                    <a:pt x="54975" y="17463"/>
                  </a:lnTo>
                  <a:lnTo>
                    <a:pt x="55880" y="20050"/>
                  </a:lnTo>
                  <a:lnTo>
                    <a:pt x="56657" y="22896"/>
                  </a:lnTo>
                  <a:lnTo>
                    <a:pt x="57045" y="25742"/>
                  </a:lnTo>
                  <a:lnTo>
                    <a:pt x="57174" y="28587"/>
                  </a:lnTo>
                  <a:lnTo>
                    <a:pt x="57174" y="28587"/>
                  </a:lnTo>
                  <a:lnTo>
                    <a:pt x="57045" y="31562"/>
                  </a:lnTo>
                  <a:lnTo>
                    <a:pt x="56786" y="34279"/>
                  </a:lnTo>
                  <a:lnTo>
                    <a:pt x="56268" y="37125"/>
                  </a:lnTo>
                  <a:lnTo>
                    <a:pt x="55622" y="39712"/>
                  </a:lnTo>
                  <a:lnTo>
                    <a:pt x="54846" y="42299"/>
                  </a:lnTo>
                  <a:lnTo>
                    <a:pt x="53811" y="44886"/>
                  </a:lnTo>
                  <a:lnTo>
                    <a:pt x="52776" y="47214"/>
                  </a:lnTo>
                  <a:lnTo>
                    <a:pt x="51482" y="49542"/>
                  </a:lnTo>
                  <a:lnTo>
                    <a:pt x="50060" y="51871"/>
                  </a:lnTo>
                  <a:lnTo>
                    <a:pt x="48637" y="54070"/>
                  </a:lnTo>
                  <a:lnTo>
                    <a:pt x="47084" y="56139"/>
                  </a:lnTo>
                  <a:lnTo>
                    <a:pt x="45403" y="58209"/>
                  </a:lnTo>
                  <a:lnTo>
                    <a:pt x="43721" y="60020"/>
                  </a:lnTo>
                  <a:lnTo>
                    <a:pt x="41910" y="61960"/>
                  </a:lnTo>
                  <a:lnTo>
                    <a:pt x="40099" y="63642"/>
                  </a:lnTo>
                  <a:lnTo>
                    <a:pt x="38289" y="65323"/>
                  </a:lnTo>
                  <a:lnTo>
                    <a:pt x="36348" y="66876"/>
                  </a:lnTo>
                  <a:lnTo>
                    <a:pt x="34408" y="68428"/>
                  </a:lnTo>
                  <a:lnTo>
                    <a:pt x="30657" y="71144"/>
                  </a:lnTo>
                  <a:lnTo>
                    <a:pt x="26906" y="73472"/>
                  </a:lnTo>
                  <a:lnTo>
                    <a:pt x="23284" y="75413"/>
                  </a:lnTo>
                  <a:lnTo>
                    <a:pt x="20050" y="77094"/>
                  </a:lnTo>
                  <a:lnTo>
                    <a:pt x="17075" y="78388"/>
                  </a:lnTo>
                  <a:lnTo>
                    <a:pt x="14488" y="79164"/>
                  </a:lnTo>
                  <a:lnTo>
                    <a:pt x="12548" y="79681"/>
                  </a:lnTo>
                  <a:lnTo>
                    <a:pt x="12548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4" name="Google Shape;304;p43"/>
          <p:cNvSpPr txBox="1"/>
          <p:nvPr>
            <p:ph idx="1" type="subTitle"/>
          </p:nvPr>
        </p:nvSpPr>
        <p:spPr>
          <a:xfrm>
            <a:off x="459100" y="4189950"/>
            <a:ext cx="27414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05" name="Google Shape;305;p43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3"/>
          <p:cNvSpPr txBox="1"/>
          <p:nvPr>
            <p:ph idx="2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Tip or Answer">
  <p:cSld name="CUSTOM_4_1_1_1">
    <p:bg>
      <p:bgPr>
        <a:solidFill>
          <a:schemeClr val="lt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4"/>
          <p:cNvSpPr/>
          <p:nvPr/>
        </p:nvSpPr>
        <p:spPr>
          <a:xfrm>
            <a:off x="459100" y="1380744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p44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670" y="1896525"/>
            <a:ext cx="1724260" cy="162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4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are Your Answers">
  <p:cSld name="CUSTOM_10_1_1_1_1_1_2">
    <p:bg>
      <p:bgPr>
        <a:solidFill>
          <a:srgbClr val="F2F2F2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5"/>
          <p:cNvSpPr/>
          <p:nvPr/>
        </p:nvSpPr>
        <p:spPr>
          <a:xfrm flipH="1">
            <a:off x="1251238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5"/>
          <p:cNvSpPr/>
          <p:nvPr/>
        </p:nvSpPr>
        <p:spPr>
          <a:xfrm>
            <a:off x="5449563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5"/>
          <p:cNvSpPr/>
          <p:nvPr/>
        </p:nvSpPr>
        <p:spPr>
          <a:xfrm>
            <a:off x="3586938" y="1399275"/>
            <a:ext cx="1994400" cy="19947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5"/>
          <p:cNvSpPr txBox="1"/>
          <p:nvPr/>
        </p:nvSpPr>
        <p:spPr>
          <a:xfrm>
            <a:off x="14183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Share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45"/>
          <p:cNvSpPr txBox="1"/>
          <p:nvPr/>
        </p:nvSpPr>
        <p:spPr>
          <a:xfrm>
            <a:off x="35296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Your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45"/>
          <p:cNvSpPr txBox="1"/>
          <p:nvPr/>
        </p:nvSpPr>
        <p:spPr>
          <a:xfrm>
            <a:off x="5469363" y="2020425"/>
            <a:ext cx="2403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Answers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member">
  <p:cSld name="CUSTOM_10_1_1_1_1_1_1">
    <p:bg>
      <p:bgPr>
        <a:solidFill>
          <a:srgbClr val="F2F2F2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6"/>
          <p:cNvSpPr txBox="1"/>
          <p:nvPr/>
        </p:nvSpPr>
        <p:spPr>
          <a:xfrm>
            <a:off x="4869500" y="1501000"/>
            <a:ext cx="39012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" sz="4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Remember, </a:t>
            </a:r>
            <a:endParaRPr b="1" i="0" sz="4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1" name="Google Shape;321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556324" y="1502075"/>
            <a:ext cx="5962899" cy="2537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2" name="Google Shape;322;p46"/>
          <p:cNvGrpSpPr/>
          <p:nvPr/>
        </p:nvGrpSpPr>
        <p:grpSpPr>
          <a:xfrm>
            <a:off x="3972318" y="1206125"/>
            <a:ext cx="1051285" cy="920372"/>
            <a:chOff x="587700" y="-13400"/>
            <a:chExt cx="5735325" cy="5021125"/>
          </a:xfrm>
        </p:grpSpPr>
        <p:sp>
          <p:nvSpPr>
            <p:cNvPr id="323" name="Google Shape;323;p46"/>
            <p:cNvSpPr/>
            <p:nvPr/>
          </p:nvSpPr>
          <p:spPr>
            <a:xfrm>
              <a:off x="3126550" y="3129550"/>
              <a:ext cx="449525" cy="1850775"/>
            </a:xfrm>
            <a:custGeom>
              <a:rect b="b" l="l" r="r" t="t"/>
              <a:pathLst>
                <a:path extrusionOk="0" fill="none" h="74031" w="17981">
                  <a:moveTo>
                    <a:pt x="1" y="68541"/>
                  </a:moveTo>
                  <a:cubicBezTo>
                    <a:pt x="7486" y="74031"/>
                    <a:pt x="17981" y="42278"/>
                    <a:pt x="5491" y="0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6"/>
            <p:cNvSpPr/>
            <p:nvPr/>
          </p:nvSpPr>
          <p:spPr>
            <a:xfrm>
              <a:off x="3253475" y="3038050"/>
              <a:ext cx="1008375" cy="1969675"/>
            </a:xfrm>
            <a:custGeom>
              <a:rect b="b" l="l" r="r" t="t"/>
              <a:pathLst>
                <a:path extrusionOk="0" fill="none" h="78787" w="40335">
                  <a:moveTo>
                    <a:pt x="0" y="69792"/>
                  </a:moveTo>
                  <a:cubicBezTo>
                    <a:pt x="16481" y="78787"/>
                    <a:pt x="40334" y="34844"/>
                    <a:pt x="28206" y="11125"/>
                  </a:cubicBezTo>
                  <a:cubicBezTo>
                    <a:pt x="22519" y="0"/>
                    <a:pt x="1541" y="5118"/>
                    <a:pt x="1913" y="9099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6"/>
            <p:cNvSpPr/>
            <p:nvPr/>
          </p:nvSpPr>
          <p:spPr>
            <a:xfrm>
              <a:off x="587700" y="131875"/>
              <a:ext cx="2878775" cy="2997700"/>
            </a:xfrm>
            <a:custGeom>
              <a:rect b="b" l="l" r="r" t="t"/>
              <a:pathLst>
                <a:path extrusionOk="0" fill="none" h="119908" w="115151">
                  <a:moveTo>
                    <a:pt x="115151" y="119907"/>
                  </a:moveTo>
                  <a:cubicBezTo>
                    <a:pt x="50602" y="114789"/>
                    <a:pt x="1" y="75106"/>
                    <a:pt x="30926" y="48761"/>
                  </a:cubicBezTo>
                  <a:cubicBezTo>
                    <a:pt x="88165" y="0"/>
                    <a:pt x="115151" y="119907"/>
                    <a:pt x="115151" y="119907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6"/>
            <p:cNvSpPr/>
            <p:nvPr/>
          </p:nvSpPr>
          <p:spPr>
            <a:xfrm>
              <a:off x="3408550" y="-13400"/>
              <a:ext cx="1796500" cy="3142975"/>
            </a:xfrm>
            <a:custGeom>
              <a:rect b="b" l="l" r="r" t="t"/>
              <a:pathLst>
                <a:path extrusionOk="0" fill="none" h="125719" w="71860">
                  <a:moveTo>
                    <a:pt x="2317" y="125718"/>
                  </a:moveTo>
                  <a:cubicBezTo>
                    <a:pt x="1" y="63568"/>
                    <a:pt x="64974" y="1"/>
                    <a:pt x="69492" y="63568"/>
                  </a:cubicBezTo>
                  <a:cubicBezTo>
                    <a:pt x="71860" y="96850"/>
                    <a:pt x="2317" y="125718"/>
                    <a:pt x="2317" y="125718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46"/>
            <p:cNvSpPr/>
            <p:nvPr/>
          </p:nvSpPr>
          <p:spPr>
            <a:xfrm>
              <a:off x="3466450" y="2580250"/>
              <a:ext cx="2856575" cy="1271275"/>
            </a:xfrm>
            <a:custGeom>
              <a:rect b="b" l="l" r="r" t="t"/>
              <a:pathLst>
                <a:path extrusionOk="0" fill="none" h="50851" w="114263">
                  <a:moveTo>
                    <a:pt x="1" y="21972"/>
                  </a:moveTo>
                  <a:cubicBezTo>
                    <a:pt x="52732" y="1"/>
                    <a:pt x="75965" y="50850"/>
                    <a:pt x="114262" y="13184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8" name="Google Shape;328;p46"/>
          <p:cNvSpPr txBox="1"/>
          <p:nvPr/>
        </p:nvSpPr>
        <p:spPr>
          <a:xfrm>
            <a:off x="5345350" y="2338950"/>
            <a:ext cx="3524400" cy="2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9" name="Google Shape;329;p46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3" name="Google Shape;333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34" name="Google Shape;334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 slide 1 1 1">
  <p:cSld name="CUSTOM_22_1_1_1">
    <p:bg>
      <p:bgPr>
        <a:solidFill>
          <a:schemeClr val="lt2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9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9"/>
          <p:cNvSpPr txBox="1"/>
          <p:nvPr>
            <p:ph type="title"/>
          </p:nvPr>
        </p:nvSpPr>
        <p:spPr>
          <a:xfrm>
            <a:off x="1959725" y="1641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38" name="Google Shape;338;p49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9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9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 sz="34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. Text Only">
  <p:cSld name="CUSTOM_2_7_2_2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0"/>
          <p:cNvSpPr txBox="1"/>
          <p:nvPr>
            <p:ph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3" name="Google Shape;343;p50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4" name="Google Shape;344;p50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45" name="Google Shape;345;p50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" name="Google Shape;346;p50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7" name="Google Shape;347;p50"/>
          <p:cNvSpPr txBox="1"/>
          <p:nvPr>
            <p:ph idx="3" type="body"/>
          </p:nvPr>
        </p:nvSpPr>
        <p:spPr>
          <a:xfrm>
            <a:off x="175" y="1284250"/>
            <a:ext cx="9144000" cy="36222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1">
  <p:cSld name="CUSTOM_24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 2">
  <p:cSld name="CUSTOM_2_7_2_5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2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2" name="Google Shape;352;p52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53" name="Google Shape;353;p52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4" name="Google Shape;354;p52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55" name="Google Shape;355;p52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6" name="Google Shape;356;p52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7" name="Google Shape;357;p52"/>
          <p:cNvSpPr txBox="1"/>
          <p:nvPr>
            <p:ph idx="3" type="body"/>
          </p:nvPr>
        </p:nvSpPr>
        <p:spPr>
          <a:xfrm>
            <a:off x="175" y="1284250"/>
            <a:ext cx="9144000" cy="34491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 Text Only">
  <p:cSld name="CUSTOM_2_7_2_6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3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60" name="Google Shape;360;p53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61" name="Google Shape;361;p53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53"/>
          <p:cNvSpPr txBox="1"/>
          <p:nvPr>
            <p:ph idx="2" type="body"/>
          </p:nvPr>
        </p:nvSpPr>
        <p:spPr>
          <a:xfrm>
            <a:off x="175" y="1284250"/>
            <a:ext cx="9144000" cy="34074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4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5" name="Google Shape;365;p5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6" name="Google Shape;366;p5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7" name="Google Shape;367;p54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27">
    <p:bg>
      <p:bgPr>
        <a:solidFill>
          <a:srgbClr val="FFFFFF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5"/>
          <p:cNvSpPr/>
          <p:nvPr/>
        </p:nvSpPr>
        <p:spPr>
          <a:xfrm flipH="1">
            <a:off x="6333225" y="1422943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55"/>
          <p:cNvSpPr txBox="1"/>
          <p:nvPr/>
        </p:nvSpPr>
        <p:spPr>
          <a:xfrm>
            <a:off x="6359750" y="19072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1" name="Google Shape;371;p55"/>
          <p:cNvSpPr/>
          <p:nvPr/>
        </p:nvSpPr>
        <p:spPr>
          <a:xfrm>
            <a:off x="6332699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2" name="Google Shape;372;p55"/>
          <p:cNvSpPr/>
          <p:nvPr/>
        </p:nvSpPr>
        <p:spPr>
          <a:xfrm flipH="1">
            <a:off x="467725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55"/>
          <p:cNvSpPr txBox="1"/>
          <p:nvPr/>
        </p:nvSpPr>
        <p:spPr>
          <a:xfrm>
            <a:off x="494250" y="1906474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4" name="Google Shape;374;p55"/>
          <p:cNvSpPr/>
          <p:nvPr/>
        </p:nvSpPr>
        <p:spPr>
          <a:xfrm>
            <a:off x="468324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p55"/>
          <p:cNvSpPr/>
          <p:nvPr/>
        </p:nvSpPr>
        <p:spPr>
          <a:xfrm flipH="1">
            <a:off x="3405788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55"/>
          <p:cNvSpPr txBox="1"/>
          <p:nvPr/>
        </p:nvSpPr>
        <p:spPr>
          <a:xfrm>
            <a:off x="3432313" y="1906486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7" name="Google Shape;377;p55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78" name="Google Shape;378;p55"/>
          <p:cNvSpPr txBox="1"/>
          <p:nvPr/>
        </p:nvSpPr>
        <p:spPr>
          <a:xfrm>
            <a:off x="6304775" y="13450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" name="Google Shape;379;p55"/>
          <p:cNvSpPr/>
          <p:nvPr/>
        </p:nvSpPr>
        <p:spPr>
          <a:xfrm>
            <a:off x="3399112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" name="Google Shape;380;p5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1" name="Google Shape;381;p55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">
  <p:cSld name="CUSTOM_2_7_2_3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6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84" name="Google Shape;384;p56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85" name="Google Shape;385;p56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6" name="Google Shape;386;p56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87" name="Google Shape;387;p56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8" name="Google Shape;388;p56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89" name="Google Shape;389;p56"/>
          <p:cNvSpPr txBox="1"/>
          <p:nvPr>
            <p:ph idx="3" type="body"/>
          </p:nvPr>
        </p:nvSpPr>
        <p:spPr>
          <a:xfrm>
            <a:off x="175" y="1284250"/>
            <a:ext cx="9144000" cy="34491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">
  <p:cSld name="CUSTOM_27_1">
    <p:bg>
      <p:bgPr>
        <a:solidFill>
          <a:srgbClr val="FFFFFF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7"/>
          <p:cNvSpPr/>
          <p:nvPr/>
        </p:nvSpPr>
        <p:spPr>
          <a:xfrm flipH="1">
            <a:off x="6333225" y="1422943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57"/>
          <p:cNvSpPr txBox="1"/>
          <p:nvPr/>
        </p:nvSpPr>
        <p:spPr>
          <a:xfrm>
            <a:off x="6359750" y="19072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3" name="Google Shape;393;p57"/>
          <p:cNvSpPr/>
          <p:nvPr/>
        </p:nvSpPr>
        <p:spPr>
          <a:xfrm>
            <a:off x="6332699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4" name="Google Shape;394;p57"/>
          <p:cNvSpPr/>
          <p:nvPr/>
        </p:nvSpPr>
        <p:spPr>
          <a:xfrm flipH="1">
            <a:off x="467725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57"/>
          <p:cNvSpPr txBox="1"/>
          <p:nvPr/>
        </p:nvSpPr>
        <p:spPr>
          <a:xfrm>
            <a:off x="494250" y="1906474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6" name="Google Shape;396;p57"/>
          <p:cNvSpPr/>
          <p:nvPr/>
        </p:nvSpPr>
        <p:spPr>
          <a:xfrm>
            <a:off x="468324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" name="Google Shape;397;p57"/>
          <p:cNvSpPr/>
          <p:nvPr/>
        </p:nvSpPr>
        <p:spPr>
          <a:xfrm flipH="1">
            <a:off x="3405788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57"/>
          <p:cNvSpPr txBox="1"/>
          <p:nvPr/>
        </p:nvSpPr>
        <p:spPr>
          <a:xfrm>
            <a:off x="3432313" y="1906486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9" name="Google Shape;399;p57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00" name="Google Shape;400;p57"/>
          <p:cNvSpPr txBox="1"/>
          <p:nvPr/>
        </p:nvSpPr>
        <p:spPr>
          <a:xfrm>
            <a:off x="6304775" y="13450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" name="Google Shape;401;p57"/>
          <p:cNvSpPr/>
          <p:nvPr/>
        </p:nvSpPr>
        <p:spPr>
          <a:xfrm>
            <a:off x="3399112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5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57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640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  <a:defRPr b="1" i="0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125" y="1143000"/>
            <a:ext cx="8229600" cy="3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title"/>
          </p:nvPr>
        </p:nvSpPr>
        <p:spPr>
          <a:xfrm>
            <a:off x="457200" y="4572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pos="5472">
          <p15:clr>
            <a:srgbClr val="E46962"/>
          </p15:clr>
        </p15:guide>
        <p15:guide id="4" orient="horz" pos="287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576">
          <p15:clr>
            <a:srgbClr val="E46962"/>
          </p15:clr>
        </p15:guide>
        <p15:guide id="7" pos="864">
          <p15:clr>
            <a:srgbClr val="E46962"/>
          </p15:clr>
        </p15:guide>
        <p15:guide id="8" pos="1152">
          <p15:clr>
            <a:srgbClr val="E46962"/>
          </p15:clr>
        </p15:guide>
        <p15:guide id="9" pos="1440">
          <p15:clr>
            <a:srgbClr val="E46962"/>
          </p15:clr>
        </p15:guide>
        <p15:guide id="10" pos="1728">
          <p15:clr>
            <a:srgbClr val="E46962"/>
          </p15:clr>
        </p15:guide>
        <p15:guide id="11" pos="2016">
          <p15:clr>
            <a:srgbClr val="E46962"/>
          </p15:clr>
        </p15:guide>
        <p15:guide id="12" pos="2304">
          <p15:clr>
            <a:srgbClr val="E46962"/>
          </p15:clr>
        </p15:guide>
        <p15:guide id="13" pos="2592">
          <p15:clr>
            <a:srgbClr val="E46962"/>
          </p15:clr>
        </p15:guide>
        <p15:guide id="14" pos="2880">
          <p15:clr>
            <a:srgbClr val="E46962"/>
          </p15:clr>
        </p15:guide>
        <p15:guide id="15" pos="3168">
          <p15:clr>
            <a:srgbClr val="E46962"/>
          </p15:clr>
        </p15:guide>
        <p15:guide id="16" pos="3456">
          <p15:clr>
            <a:srgbClr val="E46962"/>
          </p15:clr>
        </p15:guide>
        <p15:guide id="17" pos="3744">
          <p15:clr>
            <a:srgbClr val="E46962"/>
          </p15:clr>
        </p15:guide>
        <p15:guide id="18" pos="4032">
          <p15:clr>
            <a:srgbClr val="E46962"/>
          </p15:clr>
        </p15:guide>
        <p15:guide id="19" pos="4320">
          <p15:clr>
            <a:srgbClr val="E46962"/>
          </p15:clr>
        </p15:guide>
        <p15:guide id="20" pos="4608">
          <p15:clr>
            <a:srgbClr val="E46962"/>
          </p15:clr>
        </p15:guide>
        <p15:guide id="21" pos="4896">
          <p15:clr>
            <a:srgbClr val="E46962"/>
          </p15:clr>
        </p15:guide>
        <p15:guide id="22" pos="5184">
          <p15:clr>
            <a:srgbClr val="E46962"/>
          </p15:clr>
        </p15:guide>
        <p15:guide id="23" orient="horz" pos="584">
          <p15:clr>
            <a:srgbClr val="E46962"/>
          </p15:clr>
        </p15:guide>
        <p15:guide id="24" orient="horz" pos="1152">
          <p15:clr>
            <a:srgbClr val="E46962"/>
          </p15:clr>
        </p15:guide>
        <p15:guide id="25" orient="horz" pos="1440">
          <p15:clr>
            <a:srgbClr val="E46962"/>
          </p15:clr>
        </p15:guide>
        <p15:guide id="26" orient="horz" pos="1731">
          <p15:clr>
            <a:srgbClr val="E46962"/>
          </p15:clr>
        </p15:guide>
        <p15:guide id="27" orient="horz" pos="2018">
          <p15:clr>
            <a:srgbClr val="E46962"/>
          </p15:clr>
        </p15:guide>
        <p15:guide id="28" orient="horz" pos="2305">
          <p15:clr>
            <a:srgbClr val="E46962"/>
          </p15:clr>
        </p15:guide>
        <p15:guide id="29" orient="horz" pos="259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6.png"/><Relationship Id="rId4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7.jpg"/><Relationship Id="rId4" Type="http://schemas.openxmlformats.org/officeDocument/2006/relationships/image" Target="../media/image5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8.png"/><Relationship Id="rId4" Type="http://schemas.openxmlformats.org/officeDocument/2006/relationships/image" Target="../media/image30.png"/><Relationship Id="rId5" Type="http://schemas.openxmlformats.org/officeDocument/2006/relationships/image" Target="../media/image78.jpg"/><Relationship Id="rId6" Type="http://schemas.openxmlformats.org/officeDocument/2006/relationships/image" Target="../media/image6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9.jpg"/><Relationship Id="rId4" Type="http://schemas.openxmlformats.org/officeDocument/2006/relationships/image" Target="../media/image83.jpg"/><Relationship Id="rId5" Type="http://schemas.openxmlformats.org/officeDocument/2006/relationships/image" Target="../media/image34.png"/><Relationship Id="rId6" Type="http://schemas.openxmlformats.org/officeDocument/2006/relationships/image" Target="../media/image3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3.png"/><Relationship Id="rId4" Type="http://schemas.openxmlformats.org/officeDocument/2006/relationships/image" Target="../media/image3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2.png"/><Relationship Id="rId4" Type="http://schemas.openxmlformats.org/officeDocument/2006/relationships/image" Target="../media/image85.png"/><Relationship Id="rId9" Type="http://schemas.openxmlformats.org/officeDocument/2006/relationships/image" Target="../media/image65.png"/><Relationship Id="rId5" Type="http://schemas.openxmlformats.org/officeDocument/2006/relationships/image" Target="../media/image84.png"/><Relationship Id="rId6" Type="http://schemas.openxmlformats.org/officeDocument/2006/relationships/image" Target="../media/image82.png"/><Relationship Id="rId7" Type="http://schemas.openxmlformats.org/officeDocument/2006/relationships/image" Target="../media/image59.png"/><Relationship Id="rId8" Type="http://schemas.openxmlformats.org/officeDocument/2006/relationships/image" Target="../media/image4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2.png"/><Relationship Id="rId4" Type="http://schemas.openxmlformats.org/officeDocument/2006/relationships/image" Target="../media/image5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7.png"/><Relationship Id="rId4" Type="http://schemas.openxmlformats.org/officeDocument/2006/relationships/image" Target="../media/image8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5.png"/><Relationship Id="rId4" Type="http://schemas.openxmlformats.org/officeDocument/2006/relationships/image" Target="../media/image5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8.png"/><Relationship Id="rId4" Type="http://schemas.openxmlformats.org/officeDocument/2006/relationships/image" Target="../media/image50.png"/><Relationship Id="rId5" Type="http://schemas.openxmlformats.org/officeDocument/2006/relationships/image" Target="../media/image5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0.png"/><Relationship Id="rId4" Type="http://schemas.openxmlformats.org/officeDocument/2006/relationships/image" Target="../media/image66.png"/><Relationship Id="rId5" Type="http://schemas.openxmlformats.org/officeDocument/2006/relationships/image" Target="../media/image6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2.gif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60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72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6.png"/><Relationship Id="rId4" Type="http://schemas.openxmlformats.org/officeDocument/2006/relationships/image" Target="../media/image73.png"/><Relationship Id="rId5" Type="http://schemas.openxmlformats.org/officeDocument/2006/relationships/image" Target="../media/image75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6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0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6.png"/><Relationship Id="rId4" Type="http://schemas.openxmlformats.org/officeDocument/2006/relationships/image" Target="../media/image77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6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0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9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80.png"/><Relationship Id="rId4" Type="http://schemas.openxmlformats.org/officeDocument/2006/relationships/image" Target="../media/image71.png"/><Relationship Id="rId5" Type="http://schemas.openxmlformats.org/officeDocument/2006/relationships/image" Target="../media/image69.png"/><Relationship Id="rId6" Type="http://schemas.openxmlformats.org/officeDocument/2006/relationships/image" Target="../media/image74.png"/><Relationship Id="rId7" Type="http://schemas.openxmlformats.org/officeDocument/2006/relationships/image" Target="../media/image70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6.jpg"/><Relationship Id="rId4" Type="http://schemas.openxmlformats.org/officeDocument/2006/relationships/image" Target="../media/image16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7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8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Windows and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CMD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409" name="Google Shape;409;p58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</a:t>
            </a:r>
            <a:endParaRPr/>
          </a:p>
        </p:txBody>
      </p:sp>
      <p:sp>
        <p:nvSpPr>
          <p:cNvPr id="410" name="Google Shape;410;p58"/>
          <p:cNvSpPr txBox="1"/>
          <p:nvPr>
            <p:ph idx="2" type="subTitle"/>
          </p:nvPr>
        </p:nvSpPr>
        <p:spPr>
          <a:xfrm>
            <a:off x="4570700" y="3689200"/>
            <a:ext cx="4557900" cy="24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7.1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9"/>
          <p:cNvSpPr txBox="1"/>
          <p:nvPr>
            <p:ph idx="4294967295"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Objectives</a:t>
            </a:r>
            <a:endParaRPr/>
          </a:p>
        </p:txBody>
      </p:sp>
      <p:sp>
        <p:nvSpPr>
          <p:cNvPr id="416" name="Google Shape;416;p59"/>
          <p:cNvSpPr txBox="1"/>
          <p:nvPr>
            <p:ph idx="4294967295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/>
              <a:t>By the end of today’s class, you will be able to: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7" name="Google Shape;417;p59"/>
          <p:cNvGrpSpPr/>
          <p:nvPr/>
        </p:nvGrpSpPr>
        <p:grpSpPr>
          <a:xfrm>
            <a:off x="162900" y="173561"/>
            <a:ext cx="588600" cy="567300"/>
            <a:chOff x="914400" y="200161"/>
            <a:chExt cx="588600" cy="567300"/>
          </a:xfrm>
        </p:grpSpPr>
        <p:sp>
          <p:nvSpPr>
            <p:cNvPr id="418" name="Google Shape;418;p59"/>
            <p:cNvSpPr/>
            <p:nvPr/>
          </p:nvSpPr>
          <p:spPr>
            <a:xfrm>
              <a:off x="914400" y="200161"/>
              <a:ext cx="588600" cy="5673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19" name="Google Shape;419;p5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0251" y="235363"/>
              <a:ext cx="496875" cy="4968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20" name="Google Shape;420;p59"/>
          <p:cNvCxnSpPr/>
          <p:nvPr/>
        </p:nvCxnSpPr>
        <p:spPr>
          <a:xfrm>
            <a:off x="9750" y="968825"/>
            <a:ext cx="7291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21" name="Google Shape;421;p59"/>
          <p:cNvSpPr/>
          <p:nvPr/>
        </p:nvSpPr>
        <p:spPr>
          <a:xfrm>
            <a:off x="543450" y="1218125"/>
            <a:ext cx="8057100" cy="493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" name="Google Shape;422;p59"/>
          <p:cNvSpPr/>
          <p:nvPr/>
        </p:nvSpPr>
        <p:spPr>
          <a:xfrm>
            <a:off x="543450" y="1931975"/>
            <a:ext cx="8057100" cy="419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3" name="Google Shape;423;p59"/>
          <p:cNvSpPr/>
          <p:nvPr/>
        </p:nvSpPr>
        <p:spPr>
          <a:xfrm>
            <a:off x="543450" y="2645825"/>
            <a:ext cx="8057100" cy="419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" name="Google Shape;424;p59"/>
          <p:cNvSpPr/>
          <p:nvPr/>
        </p:nvSpPr>
        <p:spPr>
          <a:xfrm>
            <a:off x="543450" y="3359675"/>
            <a:ext cx="8057100" cy="419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" name="Google Shape;425;p59"/>
          <p:cNvSpPr/>
          <p:nvPr/>
        </p:nvSpPr>
        <p:spPr>
          <a:xfrm>
            <a:off x="543450" y="4073525"/>
            <a:ext cx="8057100" cy="419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p59"/>
          <p:cNvSpPr/>
          <p:nvPr/>
        </p:nvSpPr>
        <p:spPr>
          <a:xfrm>
            <a:off x="467250" y="1232150"/>
            <a:ext cx="457200" cy="436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p59"/>
          <p:cNvSpPr/>
          <p:nvPr/>
        </p:nvSpPr>
        <p:spPr>
          <a:xfrm>
            <a:off x="467250" y="1923275"/>
            <a:ext cx="457200" cy="436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" name="Google Shape;428;p59"/>
          <p:cNvSpPr/>
          <p:nvPr/>
        </p:nvSpPr>
        <p:spPr>
          <a:xfrm>
            <a:off x="482300" y="2637125"/>
            <a:ext cx="457200" cy="436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59"/>
          <p:cNvSpPr/>
          <p:nvPr/>
        </p:nvSpPr>
        <p:spPr>
          <a:xfrm>
            <a:off x="482300" y="3350975"/>
            <a:ext cx="457200" cy="436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" name="Google Shape;430;p59"/>
          <p:cNvSpPr/>
          <p:nvPr/>
        </p:nvSpPr>
        <p:spPr>
          <a:xfrm>
            <a:off x="482300" y="4064825"/>
            <a:ext cx="457200" cy="436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1" name="Google Shape;431;p59"/>
          <p:cNvSpPr txBox="1"/>
          <p:nvPr/>
        </p:nvSpPr>
        <p:spPr>
          <a:xfrm>
            <a:off x="970350" y="1259400"/>
            <a:ext cx="7630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Leverage the Windows Command Prompt (</a:t>
            </a:r>
            <a:r>
              <a:rPr b="1" lang="en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CMD</a:t>
            </a: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) to navigate and manage directories and files.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2" name="Google Shape;432;p59"/>
          <p:cNvSpPr txBox="1"/>
          <p:nvPr/>
        </p:nvSpPr>
        <p:spPr>
          <a:xfrm>
            <a:off x="970350" y="1952600"/>
            <a:ext cx="7630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Explain how Windows stores files.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" name="Google Shape;433;p59"/>
          <p:cNvSpPr txBox="1"/>
          <p:nvPr/>
        </p:nvSpPr>
        <p:spPr>
          <a:xfrm>
            <a:off x="970350" y="2645825"/>
            <a:ext cx="7630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Create, manage, and view user information using the command-line tool </a:t>
            </a:r>
            <a:r>
              <a:rPr b="1" lang="en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net</a:t>
            </a: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" name="Google Shape;434;p59"/>
          <p:cNvSpPr txBox="1"/>
          <p:nvPr/>
        </p:nvSpPr>
        <p:spPr>
          <a:xfrm>
            <a:off x="970350" y="3359675"/>
            <a:ext cx="7630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Manage password policies using </a:t>
            </a:r>
            <a:r>
              <a:rPr b="1" lang="en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gpedit</a:t>
            </a: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" name="Google Shape;435;p59"/>
          <p:cNvSpPr txBox="1"/>
          <p:nvPr/>
        </p:nvSpPr>
        <p:spPr>
          <a:xfrm>
            <a:off x="970350" y="4073525"/>
            <a:ext cx="7630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Optionally, schedule tasks using Task Scheduler.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1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Windows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45" name="Google Shape;445;p61" title="File:Windows logo - 2012.svg - Wikimedia Common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46175" y="1882800"/>
            <a:ext cx="806400" cy="80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61"/>
          <p:cNvPicPr preferRelativeResize="0"/>
          <p:nvPr/>
        </p:nvPicPr>
        <p:blipFill rotWithShape="1">
          <a:blip r:embed="rId4">
            <a:alphaModFix/>
          </a:blip>
          <a:srcRect b="0" l="39" r="49" t="0"/>
          <a:stretch/>
        </p:blipFill>
        <p:spPr>
          <a:xfrm>
            <a:off x="3914921" y="1585876"/>
            <a:ext cx="1045425" cy="1068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62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Welcome to Windows</a:t>
            </a:r>
            <a:endParaRPr/>
          </a:p>
        </p:txBody>
      </p:sp>
      <p:sp>
        <p:nvSpPr>
          <p:cNvPr id="452" name="Google Shape;452;p62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Windows is the leader for desktop operating systems.</a:t>
            </a:r>
            <a:endParaRPr/>
          </a:p>
        </p:txBody>
      </p:sp>
      <p:pic>
        <p:nvPicPr>
          <p:cNvPr id="453" name="Google Shape;453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78774" y="1389275"/>
            <a:ext cx="2164202" cy="2584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721" y="1654237"/>
            <a:ext cx="2407579" cy="231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9650" y="1521750"/>
            <a:ext cx="2235999" cy="2584925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62"/>
          <p:cNvSpPr/>
          <p:nvPr/>
        </p:nvSpPr>
        <p:spPr>
          <a:xfrm>
            <a:off x="5982100" y="1464225"/>
            <a:ext cx="2590761" cy="2591486"/>
          </a:xfrm>
          <a:custGeom>
            <a:rect b="b" l="l" r="r" t="t"/>
            <a:pathLst>
              <a:path extrusionOk="0" h="125117" w="125082">
                <a:moveTo>
                  <a:pt x="62468" y="14931"/>
                </a:moveTo>
                <a:cubicBezTo>
                  <a:pt x="72203" y="14931"/>
                  <a:pt x="81885" y="17921"/>
                  <a:pt x="90096" y="23804"/>
                </a:cubicBezTo>
                <a:lnTo>
                  <a:pt x="62541" y="51360"/>
                </a:lnTo>
                <a:lnTo>
                  <a:pt x="23769" y="90132"/>
                </a:lnTo>
                <a:cubicBezTo>
                  <a:pt x="17998" y="82089"/>
                  <a:pt x="14897" y="72459"/>
                  <a:pt x="14897" y="62577"/>
                </a:cubicBezTo>
                <a:cubicBezTo>
                  <a:pt x="14861" y="44723"/>
                  <a:pt x="24815" y="28385"/>
                  <a:pt x="40649" y="20234"/>
                </a:cubicBezTo>
                <a:cubicBezTo>
                  <a:pt x="47530" y="16684"/>
                  <a:pt x="55015" y="14931"/>
                  <a:pt x="62468" y="14931"/>
                </a:cubicBezTo>
                <a:close/>
                <a:moveTo>
                  <a:pt x="101313" y="35021"/>
                </a:moveTo>
                <a:cubicBezTo>
                  <a:pt x="105064" y="40251"/>
                  <a:pt x="107733" y="46238"/>
                  <a:pt x="109104" y="52550"/>
                </a:cubicBezTo>
                <a:cubicBezTo>
                  <a:pt x="109176" y="52838"/>
                  <a:pt x="109248" y="53127"/>
                  <a:pt x="109284" y="53452"/>
                </a:cubicBezTo>
                <a:cubicBezTo>
                  <a:pt x="109428" y="54029"/>
                  <a:pt x="109537" y="54642"/>
                  <a:pt x="109609" y="55255"/>
                </a:cubicBezTo>
                <a:cubicBezTo>
                  <a:pt x="109789" y="56445"/>
                  <a:pt x="109933" y="57671"/>
                  <a:pt x="110042" y="58898"/>
                </a:cubicBezTo>
                <a:cubicBezTo>
                  <a:pt x="110078" y="59475"/>
                  <a:pt x="110114" y="60088"/>
                  <a:pt x="110150" y="60737"/>
                </a:cubicBezTo>
                <a:cubicBezTo>
                  <a:pt x="110150" y="61350"/>
                  <a:pt x="110186" y="61963"/>
                  <a:pt x="110186" y="62577"/>
                </a:cubicBezTo>
                <a:cubicBezTo>
                  <a:pt x="110114" y="88870"/>
                  <a:pt x="88834" y="110149"/>
                  <a:pt x="62541" y="110185"/>
                </a:cubicBezTo>
                <a:cubicBezTo>
                  <a:pt x="52659" y="110185"/>
                  <a:pt x="43029" y="107120"/>
                  <a:pt x="34986" y="101349"/>
                </a:cubicBezTo>
                <a:lnTo>
                  <a:pt x="62541" y="73793"/>
                </a:lnTo>
                <a:lnTo>
                  <a:pt x="101313" y="35021"/>
                </a:lnTo>
                <a:close/>
                <a:moveTo>
                  <a:pt x="62541" y="0"/>
                </a:moveTo>
                <a:cubicBezTo>
                  <a:pt x="28169" y="0"/>
                  <a:pt x="1" y="28169"/>
                  <a:pt x="1" y="62577"/>
                </a:cubicBezTo>
                <a:cubicBezTo>
                  <a:pt x="1" y="96949"/>
                  <a:pt x="28169" y="125117"/>
                  <a:pt x="62541" y="125117"/>
                </a:cubicBezTo>
                <a:cubicBezTo>
                  <a:pt x="96913" y="125117"/>
                  <a:pt x="125081" y="96949"/>
                  <a:pt x="125081" y="62577"/>
                </a:cubicBezTo>
                <a:cubicBezTo>
                  <a:pt x="125081" y="28205"/>
                  <a:pt x="96913" y="0"/>
                  <a:pt x="62541" y="0"/>
                </a:cubicBezTo>
                <a:close/>
              </a:path>
            </a:pathLst>
          </a:custGeom>
          <a:solidFill>
            <a:srgbClr val="F4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62"/>
          <p:cNvSpPr/>
          <p:nvPr/>
        </p:nvSpPr>
        <p:spPr>
          <a:xfrm>
            <a:off x="3133826" y="1464225"/>
            <a:ext cx="2590761" cy="2591486"/>
          </a:xfrm>
          <a:custGeom>
            <a:rect b="b" l="l" r="r" t="t"/>
            <a:pathLst>
              <a:path extrusionOk="0" h="125117" w="125082">
                <a:moveTo>
                  <a:pt x="62468" y="14931"/>
                </a:moveTo>
                <a:cubicBezTo>
                  <a:pt x="72203" y="14931"/>
                  <a:pt x="81885" y="17921"/>
                  <a:pt x="90096" y="23804"/>
                </a:cubicBezTo>
                <a:lnTo>
                  <a:pt x="62541" y="51360"/>
                </a:lnTo>
                <a:lnTo>
                  <a:pt x="23769" y="90132"/>
                </a:lnTo>
                <a:cubicBezTo>
                  <a:pt x="17998" y="82089"/>
                  <a:pt x="14897" y="72459"/>
                  <a:pt x="14897" y="62577"/>
                </a:cubicBezTo>
                <a:cubicBezTo>
                  <a:pt x="14861" y="44723"/>
                  <a:pt x="24815" y="28385"/>
                  <a:pt x="40649" y="20234"/>
                </a:cubicBezTo>
                <a:cubicBezTo>
                  <a:pt x="47530" y="16684"/>
                  <a:pt x="55015" y="14931"/>
                  <a:pt x="62468" y="14931"/>
                </a:cubicBezTo>
                <a:close/>
                <a:moveTo>
                  <a:pt x="101313" y="35021"/>
                </a:moveTo>
                <a:cubicBezTo>
                  <a:pt x="105064" y="40251"/>
                  <a:pt x="107733" y="46238"/>
                  <a:pt x="109104" y="52550"/>
                </a:cubicBezTo>
                <a:cubicBezTo>
                  <a:pt x="109176" y="52838"/>
                  <a:pt x="109248" y="53127"/>
                  <a:pt x="109284" y="53452"/>
                </a:cubicBezTo>
                <a:cubicBezTo>
                  <a:pt x="109428" y="54029"/>
                  <a:pt x="109537" y="54642"/>
                  <a:pt x="109609" y="55255"/>
                </a:cubicBezTo>
                <a:cubicBezTo>
                  <a:pt x="109789" y="56445"/>
                  <a:pt x="109933" y="57671"/>
                  <a:pt x="110042" y="58898"/>
                </a:cubicBezTo>
                <a:cubicBezTo>
                  <a:pt x="110078" y="59475"/>
                  <a:pt x="110114" y="60088"/>
                  <a:pt x="110150" y="60737"/>
                </a:cubicBezTo>
                <a:cubicBezTo>
                  <a:pt x="110150" y="61350"/>
                  <a:pt x="110186" y="61963"/>
                  <a:pt x="110186" y="62577"/>
                </a:cubicBezTo>
                <a:cubicBezTo>
                  <a:pt x="110114" y="88870"/>
                  <a:pt x="88834" y="110149"/>
                  <a:pt x="62541" y="110185"/>
                </a:cubicBezTo>
                <a:cubicBezTo>
                  <a:pt x="52659" y="110185"/>
                  <a:pt x="43029" y="107120"/>
                  <a:pt x="34986" y="101349"/>
                </a:cubicBezTo>
                <a:lnTo>
                  <a:pt x="62541" y="73793"/>
                </a:lnTo>
                <a:lnTo>
                  <a:pt x="101313" y="35021"/>
                </a:lnTo>
                <a:close/>
                <a:moveTo>
                  <a:pt x="62541" y="0"/>
                </a:moveTo>
                <a:cubicBezTo>
                  <a:pt x="28169" y="0"/>
                  <a:pt x="1" y="28169"/>
                  <a:pt x="1" y="62577"/>
                </a:cubicBezTo>
                <a:cubicBezTo>
                  <a:pt x="1" y="96949"/>
                  <a:pt x="28169" y="125117"/>
                  <a:pt x="62541" y="125117"/>
                </a:cubicBezTo>
                <a:cubicBezTo>
                  <a:pt x="96913" y="125117"/>
                  <a:pt x="125081" y="96949"/>
                  <a:pt x="125081" y="62577"/>
                </a:cubicBezTo>
                <a:cubicBezTo>
                  <a:pt x="125081" y="28205"/>
                  <a:pt x="96913" y="0"/>
                  <a:pt x="62541" y="0"/>
                </a:cubicBezTo>
                <a:close/>
              </a:path>
            </a:pathLst>
          </a:custGeom>
          <a:solidFill>
            <a:srgbClr val="F4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8" name="Google Shape;458;p62"/>
          <p:cNvPicPr preferRelativeResize="0"/>
          <p:nvPr/>
        </p:nvPicPr>
        <p:blipFill rotWithShape="1">
          <a:blip r:embed="rId6">
            <a:alphaModFix/>
          </a:blip>
          <a:srcRect b="0" l="39" r="49" t="0"/>
          <a:stretch/>
        </p:blipFill>
        <p:spPr>
          <a:xfrm>
            <a:off x="236950" y="284250"/>
            <a:ext cx="397201" cy="406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3"/>
          <p:cNvSpPr txBox="1"/>
          <p:nvPr/>
        </p:nvSpPr>
        <p:spPr>
          <a:xfrm>
            <a:off x="0" y="1740600"/>
            <a:ext cx="43143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popularity of Windows machines make them the </a:t>
            </a:r>
            <a:r>
              <a:rPr b="1" lang="en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most common target</a:t>
            </a:r>
            <a:r>
              <a:rPr lang="en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lang="en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endParaRPr i="0" sz="2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4" name="Google Shape;464;p63"/>
          <p:cNvPicPr preferRelativeResize="0"/>
          <p:nvPr/>
        </p:nvPicPr>
        <p:blipFill rotWithShape="1">
          <a:blip r:embed="rId3">
            <a:alphaModFix/>
          </a:blip>
          <a:srcRect b="3138" l="3138" r="7695" t="7695"/>
          <a:stretch/>
        </p:blipFill>
        <p:spPr>
          <a:xfrm>
            <a:off x="4070425" y="0"/>
            <a:ext cx="5073577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63"/>
          <p:cNvPicPr preferRelativeResize="0"/>
          <p:nvPr/>
        </p:nvPicPr>
        <p:blipFill rotWithShape="1">
          <a:blip r:embed="rId4">
            <a:alphaModFix/>
          </a:blip>
          <a:srcRect b="1821" l="0" r="0" t="1821"/>
          <a:stretch/>
        </p:blipFill>
        <p:spPr>
          <a:xfrm rot="-634698">
            <a:off x="5917375" y="707547"/>
            <a:ext cx="1156848" cy="1114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4"/>
          <p:cNvSpPr txBox="1"/>
          <p:nvPr/>
        </p:nvSpPr>
        <p:spPr>
          <a:xfrm>
            <a:off x="518388" y="1227838"/>
            <a:ext cx="37116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SOC analysts must monitor and detect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suspicious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activity on Windows devices. 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1" name="Google Shape;471;p64"/>
          <p:cNvSpPr txBox="1"/>
          <p:nvPr/>
        </p:nvSpPr>
        <p:spPr>
          <a:xfrm>
            <a:off x="874200" y="724588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SOC Analyst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2" name="Google Shape;472;p64"/>
          <p:cNvSpPr txBox="1"/>
          <p:nvPr/>
        </p:nvSpPr>
        <p:spPr>
          <a:xfrm>
            <a:off x="5153250" y="724600"/>
            <a:ext cx="3533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System Administrator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73" name="Google Shape;473;p64"/>
          <p:cNvPicPr preferRelativeResize="0"/>
          <p:nvPr/>
        </p:nvPicPr>
        <p:blipFill rotWithShape="1">
          <a:blip r:embed="rId3">
            <a:alphaModFix/>
          </a:blip>
          <a:srcRect b="-2485" l="0" r="0" t="-3289"/>
          <a:stretch/>
        </p:blipFill>
        <p:spPr>
          <a:xfrm>
            <a:off x="1034738" y="2755538"/>
            <a:ext cx="2502522" cy="1899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64"/>
          <p:cNvPicPr preferRelativeResize="0"/>
          <p:nvPr/>
        </p:nvPicPr>
        <p:blipFill rotWithShape="1">
          <a:blip r:embed="rId4">
            <a:alphaModFix/>
          </a:blip>
          <a:srcRect b="0" l="-3662" r="-2494" t="0"/>
          <a:stretch/>
        </p:blipFill>
        <p:spPr>
          <a:xfrm>
            <a:off x="5184686" y="2603013"/>
            <a:ext cx="3346616" cy="2204224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64"/>
          <p:cNvSpPr txBox="1"/>
          <p:nvPr/>
        </p:nvSpPr>
        <p:spPr>
          <a:xfrm>
            <a:off x="4870525" y="1227850"/>
            <a:ext cx="37116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Most system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administrators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work with one or more Microsoft products and/or services. 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6" name="Google Shape;476;p64"/>
          <p:cNvCxnSpPr/>
          <p:nvPr/>
        </p:nvCxnSpPr>
        <p:spPr>
          <a:xfrm>
            <a:off x="4569100" y="1060375"/>
            <a:ext cx="0" cy="389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7" name="Google Shape;477;p64"/>
          <p:cNvSpPr txBox="1"/>
          <p:nvPr>
            <p:ph type="title"/>
          </p:nvPr>
        </p:nvSpPr>
        <p:spPr>
          <a:xfrm>
            <a:off x="518400" y="16375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Windows knowledge is essential in many roles:</a:t>
            </a:r>
            <a:endParaRPr/>
          </a:p>
        </p:txBody>
      </p:sp>
      <p:pic>
        <p:nvPicPr>
          <p:cNvPr id="478" name="Google Shape;478;p64"/>
          <p:cNvPicPr preferRelativeResize="0"/>
          <p:nvPr/>
        </p:nvPicPr>
        <p:blipFill rotWithShape="1">
          <a:blip r:embed="rId5">
            <a:alphaModFix/>
          </a:blip>
          <a:srcRect b="0" l="11999" r="12006" t="0"/>
          <a:stretch/>
        </p:blipFill>
        <p:spPr>
          <a:xfrm>
            <a:off x="1018800" y="5525825"/>
            <a:ext cx="2713049" cy="23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64"/>
          <p:cNvPicPr preferRelativeResize="0"/>
          <p:nvPr/>
        </p:nvPicPr>
        <p:blipFill rotWithShape="1">
          <a:blip r:embed="rId6">
            <a:alphaModFix/>
          </a:blip>
          <a:srcRect b="0" l="11836" r="11844" t="0"/>
          <a:stretch/>
        </p:blipFill>
        <p:spPr>
          <a:xfrm>
            <a:off x="5447125" y="5436938"/>
            <a:ext cx="2635814" cy="2468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5"/>
          <p:cNvSpPr txBox="1"/>
          <p:nvPr/>
        </p:nvSpPr>
        <p:spPr>
          <a:xfrm>
            <a:off x="518388" y="1304038"/>
            <a:ext cx="37116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Penetration testers need to know how to exploit Windows and Microsoft-related products.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5" name="Google Shape;485;p65"/>
          <p:cNvSpPr txBox="1"/>
          <p:nvPr/>
        </p:nvSpPr>
        <p:spPr>
          <a:xfrm>
            <a:off x="874200" y="724588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Penetration Tester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65"/>
          <p:cNvSpPr txBox="1"/>
          <p:nvPr/>
        </p:nvSpPr>
        <p:spPr>
          <a:xfrm>
            <a:off x="5153250" y="724600"/>
            <a:ext cx="3533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Endpoint Forensics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65"/>
          <p:cNvSpPr txBox="1"/>
          <p:nvPr/>
        </p:nvSpPr>
        <p:spPr>
          <a:xfrm>
            <a:off x="4870525" y="1304050"/>
            <a:ext cx="37116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Forensics investigators have to have a detailed understanding of how Windows works.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8" name="Google Shape;488;p65"/>
          <p:cNvCxnSpPr/>
          <p:nvPr/>
        </p:nvCxnSpPr>
        <p:spPr>
          <a:xfrm>
            <a:off x="4569100" y="1060375"/>
            <a:ext cx="0" cy="389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9" name="Google Shape;489;p65"/>
          <p:cNvSpPr txBox="1"/>
          <p:nvPr>
            <p:ph type="title"/>
          </p:nvPr>
        </p:nvSpPr>
        <p:spPr>
          <a:xfrm>
            <a:off x="518400" y="16375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Windows knowledge is essential in many roles:</a:t>
            </a:r>
            <a:endParaRPr/>
          </a:p>
        </p:txBody>
      </p:sp>
      <p:pic>
        <p:nvPicPr>
          <p:cNvPr id="490" name="Google Shape;490;p65"/>
          <p:cNvPicPr preferRelativeResize="0"/>
          <p:nvPr/>
        </p:nvPicPr>
        <p:blipFill rotWithShape="1">
          <a:blip r:embed="rId3">
            <a:alphaModFix/>
          </a:blip>
          <a:srcRect b="6132" l="0" r="0" t="6140"/>
          <a:stretch/>
        </p:blipFill>
        <p:spPr>
          <a:xfrm>
            <a:off x="1018800" y="5465325"/>
            <a:ext cx="2713049" cy="237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65"/>
          <p:cNvPicPr preferRelativeResize="0"/>
          <p:nvPr/>
        </p:nvPicPr>
        <p:blipFill rotWithShape="1">
          <a:blip r:embed="rId4">
            <a:alphaModFix/>
          </a:blip>
          <a:srcRect b="0" l="12914" r="12907" t="0"/>
          <a:stretch/>
        </p:blipFill>
        <p:spPr>
          <a:xfrm>
            <a:off x="5447125" y="5376438"/>
            <a:ext cx="2635814" cy="2468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65"/>
          <p:cNvPicPr preferRelativeResize="0"/>
          <p:nvPr/>
        </p:nvPicPr>
        <p:blipFill rotWithShape="1">
          <a:blip r:embed="rId5">
            <a:alphaModFix/>
          </a:blip>
          <a:srcRect b="-2779" l="0" r="0" t="-2917"/>
          <a:stretch/>
        </p:blipFill>
        <p:spPr>
          <a:xfrm>
            <a:off x="1122950" y="2665675"/>
            <a:ext cx="2502499" cy="207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65"/>
          <p:cNvPicPr preferRelativeResize="0"/>
          <p:nvPr/>
        </p:nvPicPr>
        <p:blipFill rotWithShape="1">
          <a:blip r:embed="rId6">
            <a:alphaModFix/>
          </a:blip>
          <a:srcRect b="0" l="-6164" r="-6333" t="0"/>
          <a:stretch/>
        </p:blipFill>
        <p:spPr>
          <a:xfrm>
            <a:off x="5363862" y="2716043"/>
            <a:ext cx="2802375" cy="1955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8" name="Google Shape;498;p66"/>
          <p:cNvGrpSpPr/>
          <p:nvPr/>
        </p:nvGrpSpPr>
        <p:grpSpPr>
          <a:xfrm>
            <a:off x="-3" y="1296817"/>
            <a:ext cx="8686828" cy="400200"/>
            <a:chOff x="-3" y="1885788"/>
            <a:chExt cx="8686828" cy="400200"/>
          </a:xfrm>
        </p:grpSpPr>
        <p:cxnSp>
          <p:nvCxnSpPr>
            <p:cNvPr id="499" name="Google Shape;499;p66"/>
            <p:cNvCxnSpPr/>
            <p:nvPr/>
          </p:nvCxnSpPr>
          <p:spPr>
            <a:xfrm>
              <a:off x="-3" y="2085888"/>
              <a:ext cx="66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500" name="Google Shape;500;p66"/>
            <p:cNvCxnSpPr/>
            <p:nvPr/>
          </p:nvCxnSpPr>
          <p:spPr>
            <a:xfrm>
              <a:off x="-3" y="2085888"/>
              <a:ext cx="672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501" name="Google Shape;501;p66"/>
            <p:cNvSpPr/>
            <p:nvPr/>
          </p:nvSpPr>
          <p:spPr>
            <a:xfrm>
              <a:off x="596125" y="1885788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66"/>
            <p:cNvSpPr/>
            <p:nvPr/>
          </p:nvSpPr>
          <p:spPr>
            <a:xfrm>
              <a:off x="513600" y="1924338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66"/>
            <p:cNvSpPr/>
            <p:nvPr/>
          </p:nvSpPr>
          <p:spPr>
            <a:xfrm>
              <a:off x="593400" y="2004138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04" name="Google Shape;504;p66"/>
          <p:cNvGrpSpPr/>
          <p:nvPr/>
        </p:nvGrpSpPr>
        <p:grpSpPr>
          <a:xfrm>
            <a:off x="-3" y="1982559"/>
            <a:ext cx="8686828" cy="400200"/>
            <a:chOff x="-3" y="2566213"/>
            <a:chExt cx="8686828" cy="400200"/>
          </a:xfrm>
        </p:grpSpPr>
        <p:cxnSp>
          <p:nvCxnSpPr>
            <p:cNvPr id="505" name="Google Shape;505;p66"/>
            <p:cNvCxnSpPr/>
            <p:nvPr/>
          </p:nvCxnSpPr>
          <p:spPr>
            <a:xfrm>
              <a:off x="-3" y="2766313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506" name="Google Shape;506;p66"/>
            <p:cNvSpPr/>
            <p:nvPr/>
          </p:nvSpPr>
          <p:spPr>
            <a:xfrm>
              <a:off x="596125" y="2566213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66"/>
            <p:cNvSpPr/>
            <p:nvPr/>
          </p:nvSpPr>
          <p:spPr>
            <a:xfrm>
              <a:off x="513600" y="2604763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66"/>
            <p:cNvSpPr/>
            <p:nvPr/>
          </p:nvSpPr>
          <p:spPr>
            <a:xfrm>
              <a:off x="593400" y="2684563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09" name="Google Shape;509;p66"/>
          <p:cNvGrpSpPr/>
          <p:nvPr/>
        </p:nvGrpSpPr>
        <p:grpSpPr>
          <a:xfrm>
            <a:off x="-3" y="2668301"/>
            <a:ext cx="8684268" cy="402300"/>
            <a:chOff x="-3" y="3236976"/>
            <a:chExt cx="8684268" cy="402300"/>
          </a:xfrm>
        </p:grpSpPr>
        <p:cxnSp>
          <p:nvCxnSpPr>
            <p:cNvPr id="510" name="Google Shape;510;p66"/>
            <p:cNvCxnSpPr/>
            <p:nvPr/>
          </p:nvCxnSpPr>
          <p:spPr>
            <a:xfrm>
              <a:off x="-3" y="3438126"/>
              <a:ext cx="686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511" name="Google Shape;511;p66"/>
            <p:cNvSpPr/>
            <p:nvPr/>
          </p:nvSpPr>
          <p:spPr>
            <a:xfrm>
              <a:off x="593565" y="3236976"/>
              <a:ext cx="8090700" cy="4023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66"/>
            <p:cNvSpPr/>
            <p:nvPr/>
          </p:nvSpPr>
          <p:spPr>
            <a:xfrm>
              <a:off x="511040" y="3275676"/>
              <a:ext cx="323100" cy="3249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66"/>
            <p:cNvSpPr/>
            <p:nvPr/>
          </p:nvSpPr>
          <p:spPr>
            <a:xfrm>
              <a:off x="590840" y="3355926"/>
              <a:ext cx="163500" cy="1644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14" name="Google Shape;514;p66"/>
          <p:cNvGrpSpPr/>
          <p:nvPr/>
        </p:nvGrpSpPr>
        <p:grpSpPr>
          <a:xfrm>
            <a:off x="-3" y="3353222"/>
            <a:ext cx="8686828" cy="400200"/>
            <a:chOff x="-3" y="2566213"/>
            <a:chExt cx="8686828" cy="400200"/>
          </a:xfrm>
        </p:grpSpPr>
        <p:cxnSp>
          <p:nvCxnSpPr>
            <p:cNvPr id="515" name="Google Shape;515;p66"/>
            <p:cNvCxnSpPr/>
            <p:nvPr/>
          </p:nvCxnSpPr>
          <p:spPr>
            <a:xfrm>
              <a:off x="-3" y="2766313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516" name="Google Shape;516;p66"/>
            <p:cNvSpPr/>
            <p:nvPr/>
          </p:nvSpPr>
          <p:spPr>
            <a:xfrm>
              <a:off x="596125" y="2566213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66"/>
            <p:cNvSpPr/>
            <p:nvPr/>
          </p:nvSpPr>
          <p:spPr>
            <a:xfrm>
              <a:off x="513600" y="2604763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66"/>
            <p:cNvSpPr/>
            <p:nvPr/>
          </p:nvSpPr>
          <p:spPr>
            <a:xfrm>
              <a:off x="593400" y="2684563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19" name="Google Shape;519;p66"/>
          <p:cNvSpPr txBox="1"/>
          <p:nvPr>
            <p:ph idx="4294967295" type="body"/>
          </p:nvPr>
        </p:nvSpPr>
        <p:spPr>
          <a:xfrm>
            <a:off x="914400" y="1313862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Audit processes with Task Manager.</a:t>
            </a:r>
            <a:endParaRPr/>
          </a:p>
        </p:txBody>
      </p:sp>
      <p:sp>
        <p:nvSpPr>
          <p:cNvPr id="520" name="Google Shape;520;p66"/>
          <p:cNvSpPr txBox="1"/>
          <p:nvPr>
            <p:ph idx="4294967295" type="body"/>
          </p:nvPr>
        </p:nvSpPr>
        <p:spPr>
          <a:xfrm>
            <a:off x="914400" y="1999398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Use the command line to gather information and create files.</a:t>
            </a:r>
            <a:endParaRPr/>
          </a:p>
        </p:txBody>
      </p:sp>
      <p:sp>
        <p:nvSpPr>
          <p:cNvPr id="521" name="Google Shape;521;p66"/>
          <p:cNvSpPr txBox="1"/>
          <p:nvPr>
            <p:ph idx="4294967295" type="body"/>
          </p:nvPr>
        </p:nvSpPr>
        <p:spPr>
          <a:xfrm>
            <a:off x="914400" y="2684935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Enforce password policies.</a:t>
            </a:r>
            <a:endParaRPr/>
          </a:p>
        </p:txBody>
      </p:sp>
      <p:sp>
        <p:nvSpPr>
          <p:cNvPr id="522" name="Google Shape;522;p66"/>
          <p:cNvSpPr txBox="1"/>
          <p:nvPr>
            <p:ph idx="4294967295" type="body"/>
          </p:nvPr>
        </p:nvSpPr>
        <p:spPr>
          <a:xfrm>
            <a:off x="914400" y="3370472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Manage users.</a:t>
            </a:r>
            <a:endParaRPr/>
          </a:p>
        </p:txBody>
      </p:sp>
      <p:sp>
        <p:nvSpPr>
          <p:cNvPr id="523" name="Google Shape;523;p66"/>
          <p:cNvSpPr txBox="1"/>
          <p:nvPr>
            <p:ph type="title"/>
          </p:nvPr>
        </p:nvSpPr>
        <p:spPr>
          <a:xfrm>
            <a:off x="508400" y="18295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>
                <a:solidFill>
                  <a:schemeClr val="dk2"/>
                </a:solidFill>
              </a:rPr>
              <a:t>Windows System Administrator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524" name="Google Shape;524;p66"/>
          <p:cNvSpPr txBox="1"/>
          <p:nvPr>
            <p:ph idx="1" type="subTitle"/>
          </p:nvPr>
        </p:nvSpPr>
        <p:spPr>
          <a:xfrm>
            <a:off x="463225" y="548650"/>
            <a:ext cx="82296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 Today's activities will cover common system administration tasks:</a:t>
            </a:r>
            <a:endParaRPr/>
          </a:p>
        </p:txBody>
      </p:sp>
      <p:grpSp>
        <p:nvGrpSpPr>
          <p:cNvPr id="525" name="Google Shape;525;p66"/>
          <p:cNvGrpSpPr/>
          <p:nvPr/>
        </p:nvGrpSpPr>
        <p:grpSpPr>
          <a:xfrm>
            <a:off x="-3" y="4036042"/>
            <a:ext cx="8686828" cy="400200"/>
            <a:chOff x="-3" y="1885788"/>
            <a:chExt cx="8686828" cy="400200"/>
          </a:xfrm>
        </p:grpSpPr>
        <p:cxnSp>
          <p:nvCxnSpPr>
            <p:cNvPr id="526" name="Google Shape;526;p66"/>
            <p:cNvCxnSpPr/>
            <p:nvPr/>
          </p:nvCxnSpPr>
          <p:spPr>
            <a:xfrm>
              <a:off x="-3" y="2085888"/>
              <a:ext cx="66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527" name="Google Shape;527;p66"/>
            <p:cNvCxnSpPr/>
            <p:nvPr/>
          </p:nvCxnSpPr>
          <p:spPr>
            <a:xfrm>
              <a:off x="-3" y="2085888"/>
              <a:ext cx="672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528" name="Google Shape;528;p66"/>
            <p:cNvSpPr/>
            <p:nvPr/>
          </p:nvSpPr>
          <p:spPr>
            <a:xfrm>
              <a:off x="596125" y="1885788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66"/>
            <p:cNvSpPr/>
            <p:nvPr/>
          </p:nvSpPr>
          <p:spPr>
            <a:xfrm>
              <a:off x="513600" y="1924338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66"/>
            <p:cNvSpPr/>
            <p:nvPr/>
          </p:nvSpPr>
          <p:spPr>
            <a:xfrm>
              <a:off x="593400" y="2004138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31" name="Google Shape;531;p66"/>
          <p:cNvSpPr txBox="1"/>
          <p:nvPr>
            <p:ph idx="4294967295" type="body"/>
          </p:nvPr>
        </p:nvSpPr>
        <p:spPr>
          <a:xfrm>
            <a:off x="914400" y="40530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Automate tasks.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67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Launching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 Your Windows Lab</a:t>
            </a:r>
            <a:endParaRPr b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37" name="Google Shape;537;p67"/>
          <p:cNvPicPr preferRelativeResize="0"/>
          <p:nvPr/>
        </p:nvPicPr>
        <p:blipFill rotWithShape="1">
          <a:blip r:embed="rId3">
            <a:alphaModFix/>
          </a:blip>
          <a:srcRect b="0" l="39" r="49" t="0"/>
          <a:stretch/>
        </p:blipFill>
        <p:spPr>
          <a:xfrm>
            <a:off x="3914921" y="1585876"/>
            <a:ext cx="1045425" cy="1068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68"/>
          <p:cNvSpPr txBox="1"/>
          <p:nvPr>
            <p:ph idx="4294967295" type="subTitle"/>
          </p:nvPr>
        </p:nvSpPr>
        <p:spPr>
          <a:xfrm>
            <a:off x="213575" y="512800"/>
            <a:ext cx="9144000" cy="82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3900">
                <a:solidFill>
                  <a:schemeClr val="accent5"/>
                </a:solidFill>
              </a:rPr>
              <a:t>Before we get started, let’s log into, and launch our</a:t>
            </a:r>
            <a:r>
              <a:rPr lang="en" sz="3900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1" lang="en" sz="3900">
                <a:solidFill>
                  <a:schemeClr val="accent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Lab environment</a:t>
            </a:r>
            <a:r>
              <a:rPr lang="en" sz="3900">
                <a:solidFill>
                  <a:schemeClr val="accent5"/>
                </a:solidFill>
                <a:highlight>
                  <a:schemeClr val="lt1"/>
                </a:highlight>
              </a:rPr>
              <a:t>.</a:t>
            </a:r>
            <a:endParaRPr sz="3900">
              <a:solidFill>
                <a:schemeClr val="accent5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9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Introduction to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Task Manager</a:t>
            </a:r>
            <a:endParaRPr b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48" name="Google Shape;54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1600" y="1931388"/>
            <a:ext cx="914400" cy="709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70"/>
          <p:cNvSpPr txBox="1"/>
          <p:nvPr>
            <p:ph idx="4294967295" type="subTitle"/>
          </p:nvPr>
        </p:nvSpPr>
        <p:spPr>
          <a:xfrm>
            <a:off x="4604450" y="1400175"/>
            <a:ext cx="43170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" sz="2000"/>
              <a:t>Did you notice the</a:t>
            </a:r>
            <a:r>
              <a:rPr lang="en" sz="2000"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b="1" lang="en" sz="2000">
                <a:highlight>
                  <a:srgbClr val="FECF48"/>
                </a:highlight>
                <a:latin typeface="Roboto"/>
                <a:ea typeface="Roboto"/>
                <a:cs typeface="Roboto"/>
                <a:sym typeface="Roboto"/>
              </a:rPr>
              <a:t>excessive number of processes</a:t>
            </a:r>
            <a:r>
              <a:rPr lang="en" sz="2000"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" sz="2000"/>
              <a:t>that started up when you logged into the Windows  VM?</a:t>
            </a:r>
            <a:endParaRPr sz="2000"/>
          </a:p>
        </p:txBody>
      </p:sp>
      <p:pic>
        <p:nvPicPr>
          <p:cNvPr id="554" name="Google Shape;554;p70"/>
          <p:cNvPicPr preferRelativeResize="0"/>
          <p:nvPr/>
        </p:nvPicPr>
        <p:blipFill rotWithShape="1">
          <a:blip r:embed="rId3">
            <a:alphaModFix/>
          </a:blip>
          <a:srcRect b="0" l="7278" r="0" t="8642"/>
          <a:stretch/>
        </p:blipFill>
        <p:spPr>
          <a:xfrm>
            <a:off x="0" y="0"/>
            <a:ext cx="4604449" cy="46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70"/>
          <p:cNvSpPr txBox="1"/>
          <p:nvPr>
            <p:ph idx="4294967295" type="subTitle"/>
          </p:nvPr>
        </p:nvSpPr>
        <p:spPr>
          <a:xfrm>
            <a:off x="4604450" y="3009900"/>
            <a:ext cx="4539600" cy="1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accent5"/>
                </a:solidFill>
              </a:rPr>
              <a:t>This is what a Windows workstation </a:t>
            </a:r>
            <a:br>
              <a:rPr lang="en" sz="1600">
                <a:solidFill>
                  <a:schemeClr val="accent5"/>
                </a:solidFill>
              </a:rPr>
            </a:br>
            <a:r>
              <a:rPr lang="en" sz="1600">
                <a:solidFill>
                  <a:schemeClr val="accent5"/>
                </a:solidFill>
              </a:rPr>
              <a:t>can be like if not maintained by an organization’s system administrator. </a:t>
            </a:r>
            <a:endParaRPr sz="16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71"/>
          <p:cNvSpPr txBox="1"/>
          <p:nvPr/>
        </p:nvSpPr>
        <p:spPr>
          <a:xfrm>
            <a:off x="4114800" y="2403350"/>
            <a:ext cx="4740900" cy="21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During our Linux modules, we used </a:t>
            </a: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top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to enumerate running processes. </a:t>
            </a:r>
            <a:b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 Windows, we utilize different tools to inspect processes.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72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Manager</a:t>
            </a:r>
            <a:endParaRPr/>
          </a:p>
        </p:txBody>
      </p:sp>
      <p:sp>
        <p:nvSpPr>
          <p:cNvPr id="566" name="Google Shape;566;p72"/>
          <p:cNvSpPr txBox="1"/>
          <p:nvPr>
            <p:ph idx="1" type="subTitle"/>
          </p:nvPr>
        </p:nvSpPr>
        <p:spPr>
          <a:xfrm>
            <a:off x="463231" y="548650"/>
            <a:ext cx="82236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Windows tool that allows:</a:t>
            </a:r>
            <a:endParaRPr/>
          </a:p>
        </p:txBody>
      </p:sp>
      <p:sp>
        <p:nvSpPr>
          <p:cNvPr id="567" name="Google Shape;567;p72"/>
          <p:cNvSpPr txBox="1"/>
          <p:nvPr>
            <p:ph idx="3" type="body"/>
          </p:nvPr>
        </p:nvSpPr>
        <p:spPr>
          <a:xfrm>
            <a:off x="457200" y="1292825"/>
            <a:ext cx="3013200" cy="115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Auditing and managing processes to identify errant or </a:t>
            </a:r>
            <a:r>
              <a:rPr lang="en"/>
              <a:t>malicious</a:t>
            </a:r>
            <a:r>
              <a:rPr lang="en"/>
              <a:t> actions</a:t>
            </a:r>
            <a:endParaRPr/>
          </a:p>
        </p:txBody>
      </p:sp>
      <p:sp>
        <p:nvSpPr>
          <p:cNvPr id="568" name="Google Shape;568;p72"/>
          <p:cNvSpPr txBox="1"/>
          <p:nvPr>
            <p:ph idx="4" type="body"/>
          </p:nvPr>
        </p:nvSpPr>
        <p:spPr>
          <a:xfrm>
            <a:off x="457200" y="3298700"/>
            <a:ext cx="3013200" cy="115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Inspection of PIDs and startup processes</a:t>
            </a:r>
            <a:endParaRPr b="1"/>
          </a:p>
        </p:txBody>
      </p:sp>
      <p:grpSp>
        <p:nvGrpSpPr>
          <p:cNvPr id="569" name="Google Shape;569;p72"/>
          <p:cNvGrpSpPr/>
          <p:nvPr/>
        </p:nvGrpSpPr>
        <p:grpSpPr>
          <a:xfrm>
            <a:off x="3473079" y="725472"/>
            <a:ext cx="5813146" cy="3940020"/>
            <a:chOff x="4009550" y="1356750"/>
            <a:chExt cx="5222952" cy="3540000"/>
          </a:xfrm>
        </p:grpSpPr>
        <p:pic>
          <p:nvPicPr>
            <p:cNvPr id="570" name="Google Shape;570;p72"/>
            <p:cNvPicPr preferRelativeResize="0"/>
            <p:nvPr/>
          </p:nvPicPr>
          <p:blipFill rotWithShape="1">
            <a:blip r:embed="rId3">
              <a:alphaModFix/>
            </a:blip>
            <a:srcRect b="0" l="8414" r="8597" t="0"/>
            <a:stretch/>
          </p:blipFill>
          <p:spPr>
            <a:xfrm>
              <a:off x="4009550" y="1356750"/>
              <a:ext cx="5222952" cy="354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1" name="Google Shape;571;p7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27269" y="1650598"/>
              <a:ext cx="2235692" cy="198108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73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Manager</a:t>
            </a:r>
            <a:endParaRPr/>
          </a:p>
        </p:txBody>
      </p:sp>
      <p:sp>
        <p:nvSpPr>
          <p:cNvPr id="577" name="Google Shape;577;p73"/>
          <p:cNvSpPr txBox="1"/>
          <p:nvPr>
            <p:ph idx="1" type="subTitle"/>
          </p:nvPr>
        </p:nvSpPr>
        <p:spPr>
          <a:xfrm>
            <a:off x="463231" y="548650"/>
            <a:ext cx="82236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 uses for processes</a:t>
            </a:r>
            <a:endParaRPr/>
          </a:p>
        </p:txBody>
      </p:sp>
      <p:sp>
        <p:nvSpPr>
          <p:cNvPr id="578" name="Google Shape;578;p73"/>
          <p:cNvSpPr txBox="1"/>
          <p:nvPr>
            <p:ph idx="3" type="body"/>
          </p:nvPr>
        </p:nvSpPr>
        <p:spPr>
          <a:xfrm>
            <a:off x="457200" y="1251000"/>
            <a:ext cx="2823600" cy="115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Chrome, which is well-known for high memory usage</a:t>
            </a:r>
            <a:endParaRPr/>
          </a:p>
        </p:txBody>
      </p:sp>
      <p:sp>
        <p:nvSpPr>
          <p:cNvPr id="579" name="Google Shape;579;p73"/>
          <p:cNvSpPr txBox="1"/>
          <p:nvPr>
            <p:ph idx="4" type="body"/>
          </p:nvPr>
        </p:nvSpPr>
        <p:spPr>
          <a:xfrm>
            <a:off x="457200" y="3284375"/>
            <a:ext cx="3013200" cy="115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RDP applications leaving systems vulnerable</a:t>
            </a:r>
            <a:endParaRPr b="1"/>
          </a:p>
        </p:txBody>
      </p:sp>
      <p:pic>
        <p:nvPicPr>
          <p:cNvPr id="580" name="Google Shape;580;p73"/>
          <p:cNvPicPr preferRelativeResize="0"/>
          <p:nvPr/>
        </p:nvPicPr>
        <p:blipFill rotWithShape="1">
          <a:blip r:embed="rId3">
            <a:alphaModFix/>
          </a:blip>
          <a:srcRect b="0" l="8414" r="8597" t="0"/>
          <a:stretch/>
        </p:blipFill>
        <p:spPr>
          <a:xfrm>
            <a:off x="3473079" y="725472"/>
            <a:ext cx="5813146" cy="3940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4975" y="787825"/>
            <a:ext cx="4272875" cy="287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74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Task Manager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74"/>
          <p:cNvSpPr txBox="1"/>
          <p:nvPr>
            <p:ph idx="1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Blue Screen of Death</a:t>
            </a:r>
            <a:endParaRPr/>
          </a:p>
        </p:txBody>
      </p:sp>
      <p:sp>
        <p:nvSpPr>
          <p:cNvPr id="588" name="Google Shape;588;p74"/>
          <p:cNvSpPr txBox="1"/>
          <p:nvPr>
            <p:ph idx="3" type="body"/>
          </p:nvPr>
        </p:nvSpPr>
        <p:spPr>
          <a:xfrm>
            <a:off x="457200" y="1063525"/>
            <a:ext cx="38751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processes can cause: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Memory leaks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System i</a:t>
            </a:r>
            <a:r>
              <a:rPr lang="en"/>
              <a:t>nstability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System crashes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Blue Screen of Death</a:t>
            </a:r>
            <a:endParaRPr b="1"/>
          </a:p>
        </p:txBody>
      </p:sp>
      <p:pic>
        <p:nvPicPr>
          <p:cNvPr id="589" name="Google Shape;589;p74"/>
          <p:cNvPicPr preferRelativeResize="0"/>
          <p:nvPr/>
        </p:nvPicPr>
        <p:blipFill rotWithShape="1">
          <a:blip r:embed="rId3">
            <a:alphaModFix/>
          </a:blip>
          <a:srcRect b="0" l="8414" r="8597" t="0"/>
          <a:stretch/>
        </p:blipFill>
        <p:spPr>
          <a:xfrm>
            <a:off x="3473079" y="725472"/>
            <a:ext cx="5813146" cy="39400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75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Task Manager 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Overview</a:t>
            </a:r>
            <a:endParaRPr b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9" name="Google Shape;599;p76"/>
          <p:cNvGrpSpPr/>
          <p:nvPr/>
        </p:nvGrpSpPr>
        <p:grpSpPr>
          <a:xfrm>
            <a:off x="-3" y="1144417"/>
            <a:ext cx="8686828" cy="400200"/>
            <a:chOff x="-3" y="1885788"/>
            <a:chExt cx="8686828" cy="400200"/>
          </a:xfrm>
        </p:grpSpPr>
        <p:cxnSp>
          <p:nvCxnSpPr>
            <p:cNvPr id="600" name="Google Shape;600;p76"/>
            <p:cNvCxnSpPr/>
            <p:nvPr/>
          </p:nvCxnSpPr>
          <p:spPr>
            <a:xfrm>
              <a:off x="-3" y="2085888"/>
              <a:ext cx="66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601" name="Google Shape;601;p76"/>
            <p:cNvCxnSpPr/>
            <p:nvPr/>
          </p:nvCxnSpPr>
          <p:spPr>
            <a:xfrm>
              <a:off x="-3" y="2085888"/>
              <a:ext cx="672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602" name="Google Shape;602;p76"/>
            <p:cNvSpPr/>
            <p:nvPr/>
          </p:nvSpPr>
          <p:spPr>
            <a:xfrm>
              <a:off x="596125" y="1885788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76"/>
            <p:cNvSpPr/>
            <p:nvPr/>
          </p:nvSpPr>
          <p:spPr>
            <a:xfrm>
              <a:off x="513600" y="1924338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76"/>
            <p:cNvSpPr/>
            <p:nvPr/>
          </p:nvSpPr>
          <p:spPr>
            <a:xfrm>
              <a:off x="593400" y="2004138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05" name="Google Shape;605;p76"/>
          <p:cNvGrpSpPr/>
          <p:nvPr/>
        </p:nvGrpSpPr>
        <p:grpSpPr>
          <a:xfrm>
            <a:off x="-3" y="1830159"/>
            <a:ext cx="8686828" cy="400200"/>
            <a:chOff x="-3" y="2566213"/>
            <a:chExt cx="8686828" cy="400200"/>
          </a:xfrm>
        </p:grpSpPr>
        <p:cxnSp>
          <p:nvCxnSpPr>
            <p:cNvPr id="606" name="Google Shape;606;p76"/>
            <p:cNvCxnSpPr/>
            <p:nvPr/>
          </p:nvCxnSpPr>
          <p:spPr>
            <a:xfrm>
              <a:off x="-3" y="2766313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607" name="Google Shape;607;p76"/>
            <p:cNvSpPr/>
            <p:nvPr/>
          </p:nvSpPr>
          <p:spPr>
            <a:xfrm>
              <a:off x="596125" y="2566213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76"/>
            <p:cNvSpPr/>
            <p:nvPr/>
          </p:nvSpPr>
          <p:spPr>
            <a:xfrm>
              <a:off x="513600" y="2604763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76"/>
            <p:cNvSpPr/>
            <p:nvPr/>
          </p:nvSpPr>
          <p:spPr>
            <a:xfrm>
              <a:off x="593400" y="2684563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10" name="Google Shape;610;p76"/>
          <p:cNvGrpSpPr/>
          <p:nvPr/>
        </p:nvGrpSpPr>
        <p:grpSpPr>
          <a:xfrm>
            <a:off x="-3" y="2515901"/>
            <a:ext cx="8684268" cy="402300"/>
            <a:chOff x="-3" y="3236976"/>
            <a:chExt cx="8684268" cy="402300"/>
          </a:xfrm>
        </p:grpSpPr>
        <p:cxnSp>
          <p:nvCxnSpPr>
            <p:cNvPr id="611" name="Google Shape;611;p76"/>
            <p:cNvCxnSpPr/>
            <p:nvPr/>
          </p:nvCxnSpPr>
          <p:spPr>
            <a:xfrm>
              <a:off x="-3" y="3438126"/>
              <a:ext cx="686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612" name="Google Shape;612;p76"/>
            <p:cNvSpPr/>
            <p:nvPr/>
          </p:nvSpPr>
          <p:spPr>
            <a:xfrm>
              <a:off x="593565" y="3236976"/>
              <a:ext cx="8090700" cy="4023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76"/>
            <p:cNvSpPr/>
            <p:nvPr/>
          </p:nvSpPr>
          <p:spPr>
            <a:xfrm>
              <a:off x="511040" y="3275676"/>
              <a:ext cx="323100" cy="3249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76"/>
            <p:cNvSpPr/>
            <p:nvPr/>
          </p:nvSpPr>
          <p:spPr>
            <a:xfrm>
              <a:off x="590840" y="3355926"/>
              <a:ext cx="163500" cy="1644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15" name="Google Shape;615;p76"/>
          <p:cNvGrpSpPr/>
          <p:nvPr/>
        </p:nvGrpSpPr>
        <p:grpSpPr>
          <a:xfrm>
            <a:off x="-3" y="3200822"/>
            <a:ext cx="8686828" cy="400200"/>
            <a:chOff x="-3" y="2566213"/>
            <a:chExt cx="8686828" cy="400200"/>
          </a:xfrm>
        </p:grpSpPr>
        <p:cxnSp>
          <p:nvCxnSpPr>
            <p:cNvPr id="616" name="Google Shape;616;p76"/>
            <p:cNvCxnSpPr/>
            <p:nvPr/>
          </p:nvCxnSpPr>
          <p:spPr>
            <a:xfrm>
              <a:off x="-3" y="2766313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617" name="Google Shape;617;p76"/>
            <p:cNvSpPr/>
            <p:nvPr/>
          </p:nvSpPr>
          <p:spPr>
            <a:xfrm>
              <a:off x="596125" y="2566213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76"/>
            <p:cNvSpPr/>
            <p:nvPr/>
          </p:nvSpPr>
          <p:spPr>
            <a:xfrm>
              <a:off x="513600" y="2604763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76"/>
            <p:cNvSpPr/>
            <p:nvPr/>
          </p:nvSpPr>
          <p:spPr>
            <a:xfrm>
              <a:off x="593400" y="2684563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20" name="Google Shape;620;p76"/>
          <p:cNvSpPr txBox="1"/>
          <p:nvPr>
            <p:ph idx="4294967295" type="body"/>
          </p:nvPr>
        </p:nvSpPr>
        <p:spPr>
          <a:xfrm>
            <a:off x="914400" y="1846998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Excessive resource usage</a:t>
            </a:r>
            <a:endParaRPr/>
          </a:p>
        </p:txBody>
      </p:sp>
      <p:sp>
        <p:nvSpPr>
          <p:cNvPr id="621" name="Google Shape;621;p76"/>
          <p:cNvSpPr txBox="1"/>
          <p:nvPr>
            <p:ph idx="4294967295" type="body"/>
          </p:nvPr>
        </p:nvSpPr>
        <p:spPr>
          <a:xfrm>
            <a:off x="914400" y="2532535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Network bandwidth allocation</a:t>
            </a:r>
            <a:endParaRPr/>
          </a:p>
        </p:txBody>
      </p:sp>
      <p:sp>
        <p:nvSpPr>
          <p:cNvPr id="622" name="Google Shape;622;p76"/>
          <p:cNvSpPr txBox="1"/>
          <p:nvPr>
            <p:ph idx="4294967295" type="body"/>
          </p:nvPr>
        </p:nvSpPr>
        <p:spPr>
          <a:xfrm>
            <a:off x="914400" y="3218072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Applications may require special permissions</a:t>
            </a:r>
            <a:endParaRPr/>
          </a:p>
        </p:txBody>
      </p:sp>
      <p:sp>
        <p:nvSpPr>
          <p:cNvPr id="623" name="Google Shape;623;p76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>
                <a:solidFill>
                  <a:schemeClr val="dk2"/>
                </a:solidFill>
              </a:rPr>
              <a:t>Managing Startup Applications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624" name="Google Shape;624;p76"/>
          <p:cNvSpPr txBox="1"/>
          <p:nvPr>
            <p:ph idx="4294967295" type="body"/>
          </p:nvPr>
        </p:nvSpPr>
        <p:spPr>
          <a:xfrm>
            <a:off x="914400" y="1178898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Slow boot times</a:t>
            </a:r>
            <a:endParaRPr/>
          </a:p>
        </p:txBody>
      </p:sp>
      <p:sp>
        <p:nvSpPr>
          <p:cNvPr id="625" name="Google Shape;625;p76"/>
          <p:cNvSpPr txBox="1"/>
          <p:nvPr/>
        </p:nvSpPr>
        <p:spPr>
          <a:xfrm>
            <a:off x="481325" y="586975"/>
            <a:ext cx="68901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77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Windows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File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 Structure</a:t>
            </a:r>
            <a:endParaRPr b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31" name="Google Shape;631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8631" y="1788600"/>
            <a:ext cx="637747" cy="8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78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Windows File Structure</a:t>
            </a:r>
            <a:endParaRPr/>
          </a:p>
        </p:txBody>
      </p:sp>
      <p:sp>
        <p:nvSpPr>
          <p:cNvPr id="637" name="Google Shape;637;p78"/>
          <p:cNvSpPr txBox="1"/>
          <p:nvPr>
            <p:ph idx="1" type="subTitle"/>
          </p:nvPr>
        </p:nvSpPr>
        <p:spPr>
          <a:xfrm>
            <a:off x="914400" y="548650"/>
            <a:ext cx="80901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Similar to </a:t>
            </a:r>
            <a:r>
              <a:rPr b="1" lang="en"/>
              <a:t>Linux</a:t>
            </a:r>
            <a:r>
              <a:rPr lang="en"/>
              <a:t>, </a:t>
            </a:r>
            <a:r>
              <a:rPr b="1" lang="en"/>
              <a:t>Windows</a:t>
            </a:r>
            <a:r>
              <a:rPr lang="en"/>
              <a:t> uses a folder system on a drive with subdirectories</a:t>
            </a:r>
            <a:endParaRPr/>
          </a:p>
        </p:txBody>
      </p:sp>
      <p:sp>
        <p:nvSpPr>
          <p:cNvPr id="638" name="Google Shape;638;p78"/>
          <p:cNvSpPr txBox="1"/>
          <p:nvPr>
            <p:ph idx="2" type="body"/>
          </p:nvPr>
        </p:nvSpPr>
        <p:spPr>
          <a:xfrm>
            <a:off x="294900" y="1646900"/>
            <a:ext cx="3067800" cy="1914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 devices are represented by drive letters.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Primary Drive often holds the OS, typically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C:\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.</a:t>
            </a:r>
            <a:endParaRPr/>
          </a:p>
        </p:txBody>
      </p:sp>
      <p:pic>
        <p:nvPicPr>
          <p:cNvPr id="639" name="Google Shape;639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600" y="1049800"/>
            <a:ext cx="5281600" cy="3108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592" y="274350"/>
            <a:ext cx="289217" cy="36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7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Windows File Structure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7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Directories and Special Folders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79"/>
          <p:cNvSpPr txBox="1"/>
          <p:nvPr>
            <p:ph idx="2" type="body"/>
          </p:nvPr>
        </p:nvSpPr>
        <p:spPr>
          <a:xfrm>
            <a:off x="461225" y="1063525"/>
            <a:ext cx="32949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Primary Drive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 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Inconsolata"/>
              <a:buChar char="●"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C:\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\ “root” drive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Special folders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Specific purpose folders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Documents</a:t>
            </a:r>
            <a:r>
              <a:rPr lang="en"/>
              <a:t>,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Pictures</a:t>
            </a:r>
            <a:r>
              <a:rPr lang="en"/>
              <a:t>, etc.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endParaRPr/>
          </a:p>
        </p:txBody>
      </p:sp>
      <p:pic>
        <p:nvPicPr>
          <p:cNvPr id="648" name="Google Shape;648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592" y="274350"/>
            <a:ext cx="289217" cy="36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7600" y="1071074"/>
            <a:ext cx="5281600" cy="3063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0" name="Google Shape;650;p79"/>
          <p:cNvCxnSpPr/>
          <p:nvPr/>
        </p:nvCxnSpPr>
        <p:spPr>
          <a:xfrm>
            <a:off x="2042075" y="1294375"/>
            <a:ext cx="1580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1" name="Google Shape;651;p79"/>
          <p:cNvCxnSpPr/>
          <p:nvPr/>
        </p:nvCxnSpPr>
        <p:spPr>
          <a:xfrm>
            <a:off x="2042075" y="2589775"/>
            <a:ext cx="1580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80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Windows File Structure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80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Attributes, Extensions, and NTFS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8" name="Google Shape;658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592" y="274350"/>
            <a:ext cx="289217" cy="365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9" name="Google Shape;659;p80"/>
          <p:cNvGrpSpPr/>
          <p:nvPr/>
        </p:nvGrpSpPr>
        <p:grpSpPr>
          <a:xfrm>
            <a:off x="6257800" y="1371600"/>
            <a:ext cx="2429025" cy="3435366"/>
            <a:chOff x="6257775" y="1133250"/>
            <a:chExt cx="2429025" cy="3435366"/>
          </a:xfrm>
        </p:grpSpPr>
        <p:sp>
          <p:nvSpPr>
            <p:cNvPr id="660" name="Google Shape;660;p80"/>
            <p:cNvSpPr/>
            <p:nvPr/>
          </p:nvSpPr>
          <p:spPr>
            <a:xfrm flipH="1">
              <a:off x="6258300" y="1134216"/>
              <a:ext cx="2428500" cy="34344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80"/>
            <p:cNvSpPr/>
            <p:nvPr/>
          </p:nvSpPr>
          <p:spPr>
            <a:xfrm>
              <a:off x="6257775" y="1133250"/>
              <a:ext cx="2427300" cy="707100"/>
            </a:xfrm>
            <a:prstGeom prst="roundRect">
              <a:avLst>
                <a:gd fmla="val 13342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lang="en" sz="1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File System</a:t>
              </a:r>
              <a:endParaRPr b="1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62" name="Google Shape;662;p80"/>
          <p:cNvGrpSpPr/>
          <p:nvPr/>
        </p:nvGrpSpPr>
        <p:grpSpPr>
          <a:xfrm>
            <a:off x="457225" y="1371600"/>
            <a:ext cx="2439025" cy="3434400"/>
            <a:chOff x="457200" y="1133250"/>
            <a:chExt cx="2439025" cy="3434400"/>
          </a:xfrm>
        </p:grpSpPr>
        <p:sp>
          <p:nvSpPr>
            <p:cNvPr id="663" name="Google Shape;663;p80"/>
            <p:cNvSpPr/>
            <p:nvPr/>
          </p:nvSpPr>
          <p:spPr>
            <a:xfrm flipH="1">
              <a:off x="467725" y="1133250"/>
              <a:ext cx="2428500" cy="34344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64" name="Google Shape;664;p80"/>
            <p:cNvSpPr/>
            <p:nvPr/>
          </p:nvSpPr>
          <p:spPr>
            <a:xfrm>
              <a:off x="457200" y="1133250"/>
              <a:ext cx="2438400" cy="707100"/>
            </a:xfrm>
            <a:prstGeom prst="roundRect">
              <a:avLst>
                <a:gd fmla="val 13342" name="adj"/>
              </a:avLst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lang="en" sz="1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File Attributes</a:t>
              </a:r>
              <a:endParaRPr b="1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65" name="Google Shape;665;p80"/>
          <p:cNvGrpSpPr/>
          <p:nvPr/>
        </p:nvGrpSpPr>
        <p:grpSpPr>
          <a:xfrm>
            <a:off x="3359425" y="1371599"/>
            <a:ext cx="2435188" cy="3434400"/>
            <a:chOff x="3399100" y="1133249"/>
            <a:chExt cx="2435188" cy="3434400"/>
          </a:xfrm>
        </p:grpSpPr>
        <p:sp>
          <p:nvSpPr>
            <p:cNvPr id="666" name="Google Shape;666;p80"/>
            <p:cNvSpPr/>
            <p:nvPr/>
          </p:nvSpPr>
          <p:spPr>
            <a:xfrm flipH="1">
              <a:off x="3405788" y="1133249"/>
              <a:ext cx="2428500" cy="34344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67" name="Google Shape;667;p80"/>
            <p:cNvSpPr/>
            <p:nvPr/>
          </p:nvSpPr>
          <p:spPr>
            <a:xfrm>
              <a:off x="3399100" y="1133250"/>
              <a:ext cx="2427300" cy="707100"/>
            </a:xfrm>
            <a:prstGeom prst="roundRect">
              <a:avLst>
                <a:gd fmla="val 13342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File Extensions</a:t>
              </a:r>
              <a:endParaRPr b="1" i="0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68" name="Google Shape;668;p80"/>
          <p:cNvSpPr txBox="1"/>
          <p:nvPr/>
        </p:nvSpPr>
        <p:spPr>
          <a:xfrm>
            <a:off x="457175" y="2078575"/>
            <a:ext cx="2521500" cy="27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-Read-only</a:t>
            </a:r>
            <a:endParaRPr sz="15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-Hidden</a:t>
            </a:r>
            <a:endParaRPr sz="15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-System</a:t>
            </a:r>
            <a:endParaRPr sz="15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-Applications</a:t>
            </a:r>
            <a:endParaRPr sz="15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9" name="Google Shape;669;p80"/>
          <p:cNvSpPr txBox="1"/>
          <p:nvPr/>
        </p:nvSpPr>
        <p:spPr>
          <a:xfrm>
            <a:off x="3510150" y="2078575"/>
            <a:ext cx="2428500" cy="27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Identify the type of files and associate the applications</a:t>
            </a:r>
            <a:endParaRPr sz="15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0" name="Google Shape;670;p80"/>
          <p:cNvSpPr txBox="1"/>
          <p:nvPr/>
        </p:nvSpPr>
        <p:spPr>
          <a:xfrm>
            <a:off x="6258325" y="2078575"/>
            <a:ext cx="2428500" cy="27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New Technology File System (NTFS)</a:t>
            </a:r>
            <a:endParaRPr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71" name="Google Shape;671;p80"/>
          <p:cNvPicPr preferRelativeResize="0"/>
          <p:nvPr/>
        </p:nvPicPr>
        <p:blipFill rotWithShape="1">
          <a:blip r:embed="rId4">
            <a:alphaModFix/>
          </a:blip>
          <a:srcRect b="9761" l="0" r="0" t="9761"/>
          <a:stretch/>
        </p:blipFill>
        <p:spPr>
          <a:xfrm>
            <a:off x="2103050" y="5342196"/>
            <a:ext cx="579702" cy="466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80"/>
          <p:cNvPicPr preferRelativeResize="0"/>
          <p:nvPr/>
        </p:nvPicPr>
        <p:blipFill rotWithShape="1">
          <a:blip r:embed="rId5">
            <a:alphaModFix/>
          </a:blip>
          <a:srcRect b="0" l="999" r="999" t="0"/>
          <a:stretch/>
        </p:blipFill>
        <p:spPr>
          <a:xfrm>
            <a:off x="5157642" y="5345713"/>
            <a:ext cx="450299" cy="459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19900" y="5294670"/>
            <a:ext cx="450300" cy="562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80"/>
          <p:cNvPicPr preferRelativeResize="0"/>
          <p:nvPr/>
        </p:nvPicPr>
        <p:blipFill rotWithShape="1">
          <a:blip r:embed="rId7">
            <a:alphaModFix/>
          </a:blip>
          <a:srcRect b="0" l="0" r="0" t="-9781"/>
          <a:stretch/>
        </p:blipFill>
        <p:spPr>
          <a:xfrm>
            <a:off x="2267575" y="3994534"/>
            <a:ext cx="374376" cy="638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80"/>
          <p:cNvPicPr preferRelativeResize="0"/>
          <p:nvPr/>
        </p:nvPicPr>
        <p:blipFill rotWithShape="1">
          <a:blip r:embed="rId8">
            <a:alphaModFix/>
          </a:blip>
          <a:srcRect b="-9975" l="0" r="0" t="-7519"/>
          <a:stretch/>
        </p:blipFill>
        <p:spPr>
          <a:xfrm>
            <a:off x="5175100" y="3959766"/>
            <a:ext cx="450300" cy="812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p80"/>
          <p:cNvPicPr preferRelativeResize="0"/>
          <p:nvPr/>
        </p:nvPicPr>
        <p:blipFill rotWithShape="1">
          <a:blip r:embed="rId9">
            <a:alphaModFix/>
          </a:blip>
          <a:srcRect b="0" l="-16395" r="-13829" t="0"/>
          <a:stretch/>
        </p:blipFill>
        <p:spPr>
          <a:xfrm>
            <a:off x="7919500" y="4027250"/>
            <a:ext cx="650700" cy="605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81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Windows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OS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 Folders</a:t>
            </a:r>
            <a:endParaRPr b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2" name="Google Shape;682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7924" y="1813587"/>
            <a:ext cx="1417702" cy="84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82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we did into the OS folders, we need to know the differences in </a:t>
            </a:r>
            <a:r>
              <a:rPr b="1" lang="en"/>
              <a:t>processor architecture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83"/>
          <p:cNvSpPr txBox="1"/>
          <p:nvPr/>
        </p:nvSpPr>
        <p:spPr>
          <a:xfrm>
            <a:off x="0" y="2385600"/>
            <a:ext cx="47076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32-Bit (x86) Processors</a:t>
            </a:r>
            <a:endParaRPr b="1"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Memory up to 4GB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64-bit Applications won’t work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System cache 1GB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x86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93" name="Google Shape;693;p83"/>
          <p:cNvCxnSpPr/>
          <p:nvPr/>
        </p:nvCxnSpPr>
        <p:spPr>
          <a:xfrm>
            <a:off x="4537850" y="1619650"/>
            <a:ext cx="0" cy="247170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4" name="Google Shape;694;p83"/>
          <p:cNvSpPr txBox="1"/>
          <p:nvPr/>
        </p:nvSpPr>
        <p:spPr>
          <a:xfrm>
            <a:off x="4537850" y="2385600"/>
            <a:ext cx="4825200" cy="29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64-Bit (x64) Processors</a:t>
            </a:r>
            <a:endParaRPr b="1"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Memory up to 16TB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Runs 64-bit </a:t>
            </a:r>
            <a:r>
              <a:rPr b="1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and </a:t>
            </a: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32-bit applications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System cache 1TB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x64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5" name="Google Shape;695;p8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32-bit vs 64-bit Processors</a:t>
            </a:r>
            <a:endParaRPr sz="2600">
              <a:solidFill>
                <a:schemeClr val="dk2"/>
              </a:solidFill>
            </a:endParaRPr>
          </a:p>
        </p:txBody>
      </p:sp>
      <p:grpSp>
        <p:nvGrpSpPr>
          <p:cNvPr id="696" name="Google Shape;696;p83"/>
          <p:cNvGrpSpPr/>
          <p:nvPr/>
        </p:nvGrpSpPr>
        <p:grpSpPr>
          <a:xfrm>
            <a:off x="907738" y="803560"/>
            <a:ext cx="1842132" cy="1582027"/>
            <a:chOff x="332825" y="927048"/>
            <a:chExt cx="1842132" cy="1582027"/>
          </a:xfrm>
        </p:grpSpPr>
        <p:sp>
          <p:nvSpPr>
            <p:cNvPr id="697" name="Google Shape;697;p83"/>
            <p:cNvSpPr/>
            <p:nvPr/>
          </p:nvSpPr>
          <p:spPr>
            <a:xfrm>
              <a:off x="603289" y="1157148"/>
              <a:ext cx="1301100" cy="1135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98" name="Google Shape;698;p83"/>
            <p:cNvSpPr/>
            <p:nvPr/>
          </p:nvSpPr>
          <p:spPr>
            <a:xfrm>
              <a:off x="728512" y="1275618"/>
              <a:ext cx="1050600" cy="885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699" name="Google Shape;699;p83"/>
            <p:cNvCxnSpPr/>
            <p:nvPr/>
          </p:nvCxnSpPr>
          <p:spPr>
            <a:xfrm rot="10800000">
              <a:off x="772396" y="927048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0" name="Google Shape;700;p83"/>
            <p:cNvCxnSpPr/>
            <p:nvPr/>
          </p:nvCxnSpPr>
          <p:spPr>
            <a:xfrm rot="10800000">
              <a:off x="876145" y="927048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1" name="Google Shape;701;p83"/>
            <p:cNvCxnSpPr/>
            <p:nvPr/>
          </p:nvCxnSpPr>
          <p:spPr>
            <a:xfrm rot="10800000">
              <a:off x="987594" y="927048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2" name="Google Shape;702;p83"/>
            <p:cNvCxnSpPr/>
            <p:nvPr/>
          </p:nvCxnSpPr>
          <p:spPr>
            <a:xfrm rot="10800000">
              <a:off x="1091322" y="927048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3" name="Google Shape;703;p83"/>
            <p:cNvCxnSpPr/>
            <p:nvPr/>
          </p:nvCxnSpPr>
          <p:spPr>
            <a:xfrm rot="10800000">
              <a:off x="1199691" y="927048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4" name="Google Shape;704;p83"/>
            <p:cNvCxnSpPr/>
            <p:nvPr/>
          </p:nvCxnSpPr>
          <p:spPr>
            <a:xfrm rot="10800000">
              <a:off x="1308059" y="927048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5" name="Google Shape;705;p83"/>
            <p:cNvCxnSpPr/>
            <p:nvPr/>
          </p:nvCxnSpPr>
          <p:spPr>
            <a:xfrm rot="10800000">
              <a:off x="1411809" y="927048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6" name="Google Shape;706;p83"/>
            <p:cNvCxnSpPr/>
            <p:nvPr/>
          </p:nvCxnSpPr>
          <p:spPr>
            <a:xfrm rot="10800000">
              <a:off x="1523257" y="927048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7" name="Google Shape;707;p83"/>
            <p:cNvCxnSpPr/>
            <p:nvPr/>
          </p:nvCxnSpPr>
          <p:spPr>
            <a:xfrm rot="10800000">
              <a:off x="1626985" y="927048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8" name="Google Shape;708;p83"/>
            <p:cNvCxnSpPr/>
            <p:nvPr/>
          </p:nvCxnSpPr>
          <p:spPr>
            <a:xfrm rot="10800000">
              <a:off x="1735354" y="927048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09" name="Google Shape;709;p83"/>
            <p:cNvGrpSpPr/>
            <p:nvPr/>
          </p:nvGrpSpPr>
          <p:grpSpPr>
            <a:xfrm rot="5400000">
              <a:off x="1612099" y="1591095"/>
              <a:ext cx="871530" cy="254184"/>
              <a:chOff x="2500650" y="1306300"/>
              <a:chExt cx="1156950" cy="305400"/>
            </a:xfrm>
          </p:grpSpPr>
          <p:cxnSp>
            <p:nvCxnSpPr>
              <p:cNvPr id="710" name="Google Shape;710;p83"/>
              <p:cNvCxnSpPr/>
              <p:nvPr/>
            </p:nvCxnSpPr>
            <p:spPr>
              <a:xfrm rot="10800000">
                <a:off x="2500650" y="1306300"/>
                <a:ext cx="0" cy="305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1" name="Google Shape;711;p83"/>
              <p:cNvCxnSpPr/>
              <p:nvPr/>
            </p:nvCxnSpPr>
            <p:spPr>
              <a:xfrm rot="10800000">
                <a:off x="2625300" y="1306300"/>
                <a:ext cx="0" cy="305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2" name="Google Shape;712;p83"/>
              <p:cNvCxnSpPr/>
              <p:nvPr/>
            </p:nvCxnSpPr>
            <p:spPr>
              <a:xfrm rot="10800000">
                <a:off x="2759200" y="1306300"/>
                <a:ext cx="0" cy="305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3" name="Google Shape;713;p83"/>
              <p:cNvCxnSpPr/>
              <p:nvPr/>
            </p:nvCxnSpPr>
            <p:spPr>
              <a:xfrm rot="10800000">
                <a:off x="2883825" y="1306300"/>
                <a:ext cx="0" cy="305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4" name="Google Shape;714;p83"/>
              <p:cNvCxnSpPr/>
              <p:nvPr/>
            </p:nvCxnSpPr>
            <p:spPr>
              <a:xfrm rot="10800000">
                <a:off x="3014025" y="1306300"/>
                <a:ext cx="0" cy="305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5" name="Google Shape;715;p83"/>
              <p:cNvCxnSpPr/>
              <p:nvPr/>
            </p:nvCxnSpPr>
            <p:spPr>
              <a:xfrm rot="10800000">
                <a:off x="3144225" y="1306300"/>
                <a:ext cx="0" cy="305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6" name="Google Shape;716;p83"/>
              <p:cNvCxnSpPr/>
              <p:nvPr/>
            </p:nvCxnSpPr>
            <p:spPr>
              <a:xfrm rot="10800000">
                <a:off x="3268875" y="1306300"/>
                <a:ext cx="0" cy="305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7" name="Google Shape;717;p83"/>
              <p:cNvCxnSpPr/>
              <p:nvPr/>
            </p:nvCxnSpPr>
            <p:spPr>
              <a:xfrm rot="10800000">
                <a:off x="3402775" y="1306300"/>
                <a:ext cx="0" cy="305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8" name="Google Shape;718;p83"/>
              <p:cNvCxnSpPr/>
              <p:nvPr/>
            </p:nvCxnSpPr>
            <p:spPr>
              <a:xfrm rot="10800000">
                <a:off x="3527400" y="1306300"/>
                <a:ext cx="0" cy="305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9" name="Google Shape;719;p83"/>
              <p:cNvCxnSpPr/>
              <p:nvPr/>
            </p:nvCxnSpPr>
            <p:spPr>
              <a:xfrm rot="10800000">
                <a:off x="3657600" y="1306300"/>
                <a:ext cx="0" cy="305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720" name="Google Shape;720;p83"/>
            <p:cNvCxnSpPr/>
            <p:nvPr/>
          </p:nvCxnSpPr>
          <p:spPr>
            <a:xfrm rot="10800000">
              <a:off x="772396" y="2278975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1" name="Google Shape;721;p83"/>
            <p:cNvCxnSpPr/>
            <p:nvPr/>
          </p:nvCxnSpPr>
          <p:spPr>
            <a:xfrm rot="10800000">
              <a:off x="876145" y="2278975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2" name="Google Shape;722;p83"/>
            <p:cNvCxnSpPr/>
            <p:nvPr/>
          </p:nvCxnSpPr>
          <p:spPr>
            <a:xfrm rot="10800000">
              <a:off x="987594" y="2278975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3" name="Google Shape;723;p83"/>
            <p:cNvCxnSpPr/>
            <p:nvPr/>
          </p:nvCxnSpPr>
          <p:spPr>
            <a:xfrm rot="10800000">
              <a:off x="1091322" y="2278975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4" name="Google Shape;724;p83"/>
            <p:cNvCxnSpPr/>
            <p:nvPr/>
          </p:nvCxnSpPr>
          <p:spPr>
            <a:xfrm rot="10800000">
              <a:off x="1199691" y="2278975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5" name="Google Shape;725;p83"/>
            <p:cNvCxnSpPr/>
            <p:nvPr/>
          </p:nvCxnSpPr>
          <p:spPr>
            <a:xfrm rot="10800000">
              <a:off x="1308059" y="2278975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6" name="Google Shape;726;p83"/>
            <p:cNvCxnSpPr/>
            <p:nvPr/>
          </p:nvCxnSpPr>
          <p:spPr>
            <a:xfrm rot="10800000">
              <a:off x="1411809" y="2278975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7" name="Google Shape;727;p83"/>
            <p:cNvCxnSpPr/>
            <p:nvPr/>
          </p:nvCxnSpPr>
          <p:spPr>
            <a:xfrm rot="10800000">
              <a:off x="1523257" y="2278975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8" name="Google Shape;728;p83"/>
            <p:cNvCxnSpPr/>
            <p:nvPr/>
          </p:nvCxnSpPr>
          <p:spPr>
            <a:xfrm rot="10800000">
              <a:off x="1626985" y="2278975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9" name="Google Shape;729;p83"/>
            <p:cNvCxnSpPr/>
            <p:nvPr/>
          </p:nvCxnSpPr>
          <p:spPr>
            <a:xfrm rot="10800000">
              <a:off x="1735354" y="2278975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0" name="Google Shape;730;p83"/>
            <p:cNvCxnSpPr/>
            <p:nvPr/>
          </p:nvCxnSpPr>
          <p:spPr>
            <a:xfrm rot="10800000">
              <a:off x="459875" y="1162240"/>
              <a:ext cx="0" cy="254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1" name="Google Shape;731;p83"/>
            <p:cNvCxnSpPr/>
            <p:nvPr/>
          </p:nvCxnSpPr>
          <p:spPr>
            <a:xfrm rot="10800000">
              <a:off x="459875" y="1256135"/>
              <a:ext cx="0" cy="254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2" name="Google Shape;732;p83"/>
            <p:cNvCxnSpPr/>
            <p:nvPr/>
          </p:nvCxnSpPr>
          <p:spPr>
            <a:xfrm rot="10800000">
              <a:off x="459875" y="1356997"/>
              <a:ext cx="0" cy="254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3" name="Google Shape;733;p83"/>
            <p:cNvCxnSpPr/>
            <p:nvPr/>
          </p:nvCxnSpPr>
          <p:spPr>
            <a:xfrm rot="10800000">
              <a:off x="459875" y="1450873"/>
              <a:ext cx="0" cy="254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4" name="Google Shape;734;p83"/>
            <p:cNvCxnSpPr/>
            <p:nvPr/>
          </p:nvCxnSpPr>
          <p:spPr>
            <a:xfrm rot="10800000">
              <a:off x="459875" y="1548949"/>
              <a:ext cx="0" cy="254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5" name="Google Shape;735;p83"/>
            <p:cNvCxnSpPr/>
            <p:nvPr/>
          </p:nvCxnSpPr>
          <p:spPr>
            <a:xfrm rot="10800000">
              <a:off x="459875" y="1647024"/>
              <a:ext cx="0" cy="254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6" name="Google Shape;736;p83"/>
            <p:cNvCxnSpPr/>
            <p:nvPr/>
          </p:nvCxnSpPr>
          <p:spPr>
            <a:xfrm rot="10800000">
              <a:off x="459875" y="1740919"/>
              <a:ext cx="0" cy="254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7" name="Google Shape;737;p83"/>
            <p:cNvCxnSpPr/>
            <p:nvPr/>
          </p:nvCxnSpPr>
          <p:spPr>
            <a:xfrm rot="10800000">
              <a:off x="459875" y="1841781"/>
              <a:ext cx="0" cy="254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8" name="Google Shape;738;p83"/>
            <p:cNvCxnSpPr/>
            <p:nvPr/>
          </p:nvCxnSpPr>
          <p:spPr>
            <a:xfrm rot="10800000">
              <a:off x="459875" y="1935657"/>
              <a:ext cx="0" cy="254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9" name="Google Shape;739;p83"/>
            <p:cNvCxnSpPr/>
            <p:nvPr/>
          </p:nvCxnSpPr>
          <p:spPr>
            <a:xfrm rot="10800000">
              <a:off x="459875" y="2033733"/>
              <a:ext cx="0" cy="254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40" name="Google Shape;740;p83"/>
            <p:cNvSpPr txBox="1"/>
            <p:nvPr/>
          </p:nvSpPr>
          <p:spPr>
            <a:xfrm>
              <a:off x="829650" y="1471759"/>
              <a:ext cx="848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32</a:t>
              </a:r>
              <a:endParaRPr b="1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41" name="Google Shape;741;p83"/>
          <p:cNvGrpSpPr/>
          <p:nvPr/>
        </p:nvGrpSpPr>
        <p:grpSpPr>
          <a:xfrm>
            <a:off x="5936925" y="803560"/>
            <a:ext cx="1842132" cy="1582027"/>
            <a:chOff x="6313275" y="710923"/>
            <a:chExt cx="1842132" cy="1582027"/>
          </a:xfrm>
        </p:grpSpPr>
        <p:sp>
          <p:nvSpPr>
            <p:cNvPr id="742" name="Google Shape;742;p83"/>
            <p:cNvSpPr/>
            <p:nvPr/>
          </p:nvSpPr>
          <p:spPr>
            <a:xfrm>
              <a:off x="6583739" y="941023"/>
              <a:ext cx="1301100" cy="1135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43" name="Google Shape;743;p83"/>
            <p:cNvSpPr/>
            <p:nvPr/>
          </p:nvSpPr>
          <p:spPr>
            <a:xfrm>
              <a:off x="6708962" y="1059493"/>
              <a:ext cx="1050600" cy="885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44" name="Google Shape;744;p83"/>
            <p:cNvCxnSpPr/>
            <p:nvPr/>
          </p:nvCxnSpPr>
          <p:spPr>
            <a:xfrm rot="10800000">
              <a:off x="6752846" y="710923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5" name="Google Shape;745;p83"/>
            <p:cNvCxnSpPr/>
            <p:nvPr/>
          </p:nvCxnSpPr>
          <p:spPr>
            <a:xfrm rot="10800000">
              <a:off x="6856595" y="710923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6" name="Google Shape;746;p83"/>
            <p:cNvCxnSpPr/>
            <p:nvPr/>
          </p:nvCxnSpPr>
          <p:spPr>
            <a:xfrm rot="10800000">
              <a:off x="6968044" y="710923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7" name="Google Shape;747;p83"/>
            <p:cNvCxnSpPr/>
            <p:nvPr/>
          </p:nvCxnSpPr>
          <p:spPr>
            <a:xfrm rot="10800000">
              <a:off x="7071772" y="710923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8" name="Google Shape;748;p83"/>
            <p:cNvCxnSpPr/>
            <p:nvPr/>
          </p:nvCxnSpPr>
          <p:spPr>
            <a:xfrm rot="10800000">
              <a:off x="7180141" y="710923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9" name="Google Shape;749;p83"/>
            <p:cNvCxnSpPr/>
            <p:nvPr/>
          </p:nvCxnSpPr>
          <p:spPr>
            <a:xfrm rot="10800000">
              <a:off x="7288509" y="710923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0" name="Google Shape;750;p83"/>
            <p:cNvCxnSpPr/>
            <p:nvPr/>
          </p:nvCxnSpPr>
          <p:spPr>
            <a:xfrm rot="10800000">
              <a:off x="7392259" y="710923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1" name="Google Shape;751;p83"/>
            <p:cNvCxnSpPr/>
            <p:nvPr/>
          </p:nvCxnSpPr>
          <p:spPr>
            <a:xfrm rot="10800000">
              <a:off x="7503707" y="710923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2" name="Google Shape;752;p83"/>
            <p:cNvCxnSpPr/>
            <p:nvPr/>
          </p:nvCxnSpPr>
          <p:spPr>
            <a:xfrm rot="10800000">
              <a:off x="7607435" y="710923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3" name="Google Shape;753;p83"/>
            <p:cNvCxnSpPr/>
            <p:nvPr/>
          </p:nvCxnSpPr>
          <p:spPr>
            <a:xfrm rot="10800000">
              <a:off x="7715804" y="710923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54" name="Google Shape;754;p83"/>
            <p:cNvGrpSpPr/>
            <p:nvPr/>
          </p:nvGrpSpPr>
          <p:grpSpPr>
            <a:xfrm rot="5400000">
              <a:off x="7592549" y="1374970"/>
              <a:ext cx="871530" cy="254184"/>
              <a:chOff x="2500650" y="1306300"/>
              <a:chExt cx="1156950" cy="305400"/>
            </a:xfrm>
          </p:grpSpPr>
          <p:cxnSp>
            <p:nvCxnSpPr>
              <p:cNvPr id="755" name="Google Shape;755;p83"/>
              <p:cNvCxnSpPr/>
              <p:nvPr/>
            </p:nvCxnSpPr>
            <p:spPr>
              <a:xfrm rot="10800000">
                <a:off x="2500650" y="1306300"/>
                <a:ext cx="0" cy="305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6" name="Google Shape;756;p83"/>
              <p:cNvCxnSpPr/>
              <p:nvPr/>
            </p:nvCxnSpPr>
            <p:spPr>
              <a:xfrm rot="10800000">
                <a:off x="2625300" y="1306300"/>
                <a:ext cx="0" cy="305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7" name="Google Shape;757;p83"/>
              <p:cNvCxnSpPr/>
              <p:nvPr/>
            </p:nvCxnSpPr>
            <p:spPr>
              <a:xfrm rot="10800000">
                <a:off x="2759200" y="1306300"/>
                <a:ext cx="0" cy="305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8" name="Google Shape;758;p83"/>
              <p:cNvCxnSpPr/>
              <p:nvPr/>
            </p:nvCxnSpPr>
            <p:spPr>
              <a:xfrm rot="10800000">
                <a:off x="2883825" y="1306300"/>
                <a:ext cx="0" cy="305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9" name="Google Shape;759;p83"/>
              <p:cNvCxnSpPr/>
              <p:nvPr/>
            </p:nvCxnSpPr>
            <p:spPr>
              <a:xfrm rot="10800000">
                <a:off x="3014025" y="1306300"/>
                <a:ext cx="0" cy="305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0" name="Google Shape;760;p83"/>
              <p:cNvCxnSpPr/>
              <p:nvPr/>
            </p:nvCxnSpPr>
            <p:spPr>
              <a:xfrm rot="10800000">
                <a:off x="3144225" y="1306300"/>
                <a:ext cx="0" cy="305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1" name="Google Shape;761;p83"/>
              <p:cNvCxnSpPr/>
              <p:nvPr/>
            </p:nvCxnSpPr>
            <p:spPr>
              <a:xfrm rot="10800000">
                <a:off x="3268875" y="1306300"/>
                <a:ext cx="0" cy="305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2" name="Google Shape;762;p83"/>
              <p:cNvCxnSpPr/>
              <p:nvPr/>
            </p:nvCxnSpPr>
            <p:spPr>
              <a:xfrm rot="10800000">
                <a:off x="3402775" y="1306300"/>
                <a:ext cx="0" cy="305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3" name="Google Shape;763;p83"/>
              <p:cNvCxnSpPr/>
              <p:nvPr/>
            </p:nvCxnSpPr>
            <p:spPr>
              <a:xfrm rot="10800000">
                <a:off x="3527400" y="1306300"/>
                <a:ext cx="0" cy="305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4" name="Google Shape;764;p83"/>
              <p:cNvCxnSpPr/>
              <p:nvPr/>
            </p:nvCxnSpPr>
            <p:spPr>
              <a:xfrm rot="10800000">
                <a:off x="3657600" y="1306300"/>
                <a:ext cx="0" cy="305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765" name="Google Shape;765;p83"/>
            <p:cNvCxnSpPr/>
            <p:nvPr/>
          </p:nvCxnSpPr>
          <p:spPr>
            <a:xfrm rot="10800000">
              <a:off x="6752846" y="2062850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6" name="Google Shape;766;p83"/>
            <p:cNvCxnSpPr/>
            <p:nvPr/>
          </p:nvCxnSpPr>
          <p:spPr>
            <a:xfrm rot="10800000">
              <a:off x="6856595" y="2062850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7" name="Google Shape;767;p83"/>
            <p:cNvCxnSpPr/>
            <p:nvPr/>
          </p:nvCxnSpPr>
          <p:spPr>
            <a:xfrm rot="10800000">
              <a:off x="6968044" y="2062850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8" name="Google Shape;768;p83"/>
            <p:cNvCxnSpPr/>
            <p:nvPr/>
          </p:nvCxnSpPr>
          <p:spPr>
            <a:xfrm rot="10800000">
              <a:off x="7071772" y="2062850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9" name="Google Shape;769;p83"/>
            <p:cNvCxnSpPr/>
            <p:nvPr/>
          </p:nvCxnSpPr>
          <p:spPr>
            <a:xfrm rot="10800000">
              <a:off x="7180141" y="2062850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0" name="Google Shape;770;p83"/>
            <p:cNvCxnSpPr/>
            <p:nvPr/>
          </p:nvCxnSpPr>
          <p:spPr>
            <a:xfrm rot="10800000">
              <a:off x="7288509" y="2062850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1" name="Google Shape;771;p83"/>
            <p:cNvCxnSpPr/>
            <p:nvPr/>
          </p:nvCxnSpPr>
          <p:spPr>
            <a:xfrm rot="10800000">
              <a:off x="7392259" y="2062850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2" name="Google Shape;772;p83"/>
            <p:cNvCxnSpPr/>
            <p:nvPr/>
          </p:nvCxnSpPr>
          <p:spPr>
            <a:xfrm rot="10800000">
              <a:off x="7503707" y="2062850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3" name="Google Shape;773;p83"/>
            <p:cNvCxnSpPr/>
            <p:nvPr/>
          </p:nvCxnSpPr>
          <p:spPr>
            <a:xfrm rot="10800000">
              <a:off x="7607435" y="2062850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4" name="Google Shape;774;p83"/>
            <p:cNvCxnSpPr/>
            <p:nvPr/>
          </p:nvCxnSpPr>
          <p:spPr>
            <a:xfrm rot="10800000">
              <a:off x="7715804" y="2062850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5" name="Google Shape;775;p83"/>
            <p:cNvCxnSpPr/>
            <p:nvPr/>
          </p:nvCxnSpPr>
          <p:spPr>
            <a:xfrm rot="10800000">
              <a:off x="6440325" y="946115"/>
              <a:ext cx="0" cy="254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6" name="Google Shape;776;p83"/>
            <p:cNvCxnSpPr/>
            <p:nvPr/>
          </p:nvCxnSpPr>
          <p:spPr>
            <a:xfrm rot="10800000">
              <a:off x="6440325" y="1040010"/>
              <a:ext cx="0" cy="254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7" name="Google Shape;777;p83"/>
            <p:cNvCxnSpPr/>
            <p:nvPr/>
          </p:nvCxnSpPr>
          <p:spPr>
            <a:xfrm rot="10800000">
              <a:off x="6440325" y="1140872"/>
              <a:ext cx="0" cy="254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8" name="Google Shape;778;p83"/>
            <p:cNvCxnSpPr/>
            <p:nvPr/>
          </p:nvCxnSpPr>
          <p:spPr>
            <a:xfrm rot="10800000">
              <a:off x="6440325" y="1234748"/>
              <a:ext cx="0" cy="254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9" name="Google Shape;779;p83"/>
            <p:cNvCxnSpPr/>
            <p:nvPr/>
          </p:nvCxnSpPr>
          <p:spPr>
            <a:xfrm rot="10800000">
              <a:off x="6440325" y="1332824"/>
              <a:ext cx="0" cy="254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0" name="Google Shape;780;p83"/>
            <p:cNvCxnSpPr/>
            <p:nvPr/>
          </p:nvCxnSpPr>
          <p:spPr>
            <a:xfrm rot="10800000">
              <a:off x="6440325" y="1430899"/>
              <a:ext cx="0" cy="254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1" name="Google Shape;781;p83"/>
            <p:cNvCxnSpPr/>
            <p:nvPr/>
          </p:nvCxnSpPr>
          <p:spPr>
            <a:xfrm rot="10800000">
              <a:off x="6440325" y="1524794"/>
              <a:ext cx="0" cy="254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2" name="Google Shape;782;p83"/>
            <p:cNvCxnSpPr/>
            <p:nvPr/>
          </p:nvCxnSpPr>
          <p:spPr>
            <a:xfrm rot="10800000">
              <a:off x="6440325" y="1625656"/>
              <a:ext cx="0" cy="254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3" name="Google Shape;783;p83"/>
            <p:cNvCxnSpPr/>
            <p:nvPr/>
          </p:nvCxnSpPr>
          <p:spPr>
            <a:xfrm rot="10800000">
              <a:off x="6440325" y="1719532"/>
              <a:ext cx="0" cy="254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4" name="Google Shape;784;p83"/>
            <p:cNvCxnSpPr/>
            <p:nvPr/>
          </p:nvCxnSpPr>
          <p:spPr>
            <a:xfrm rot="10800000">
              <a:off x="6440325" y="1817608"/>
              <a:ext cx="0" cy="254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85" name="Google Shape;785;p83"/>
            <p:cNvSpPr txBox="1"/>
            <p:nvPr/>
          </p:nvSpPr>
          <p:spPr>
            <a:xfrm>
              <a:off x="6810100" y="1255634"/>
              <a:ext cx="848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64</a:t>
              </a:r>
              <a:endParaRPr b="1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8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32-bit Operating Systems</a:t>
            </a:r>
            <a:endParaRPr sz="2600">
              <a:solidFill>
                <a:schemeClr val="dk2"/>
              </a:solidFill>
            </a:endParaRPr>
          </a:p>
        </p:txBody>
      </p:sp>
      <p:grpSp>
        <p:nvGrpSpPr>
          <p:cNvPr id="791" name="Google Shape;791;p84"/>
          <p:cNvGrpSpPr/>
          <p:nvPr/>
        </p:nvGrpSpPr>
        <p:grpSpPr>
          <a:xfrm>
            <a:off x="3650988" y="784935"/>
            <a:ext cx="1842132" cy="1582027"/>
            <a:chOff x="332825" y="927048"/>
            <a:chExt cx="1842132" cy="1582027"/>
          </a:xfrm>
        </p:grpSpPr>
        <p:sp>
          <p:nvSpPr>
            <p:cNvPr id="792" name="Google Shape;792;p84"/>
            <p:cNvSpPr/>
            <p:nvPr/>
          </p:nvSpPr>
          <p:spPr>
            <a:xfrm>
              <a:off x="603289" y="1157148"/>
              <a:ext cx="1301100" cy="1135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93" name="Google Shape;793;p84"/>
            <p:cNvSpPr/>
            <p:nvPr/>
          </p:nvSpPr>
          <p:spPr>
            <a:xfrm>
              <a:off x="728512" y="1275618"/>
              <a:ext cx="1050600" cy="885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94" name="Google Shape;794;p84"/>
            <p:cNvCxnSpPr/>
            <p:nvPr/>
          </p:nvCxnSpPr>
          <p:spPr>
            <a:xfrm rot="10800000">
              <a:off x="772396" y="927048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5" name="Google Shape;795;p84"/>
            <p:cNvCxnSpPr/>
            <p:nvPr/>
          </p:nvCxnSpPr>
          <p:spPr>
            <a:xfrm rot="10800000">
              <a:off x="876145" y="927048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6" name="Google Shape;796;p84"/>
            <p:cNvCxnSpPr/>
            <p:nvPr/>
          </p:nvCxnSpPr>
          <p:spPr>
            <a:xfrm rot="10800000">
              <a:off x="987594" y="927048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7" name="Google Shape;797;p84"/>
            <p:cNvCxnSpPr/>
            <p:nvPr/>
          </p:nvCxnSpPr>
          <p:spPr>
            <a:xfrm rot="10800000">
              <a:off x="1091322" y="927048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8" name="Google Shape;798;p84"/>
            <p:cNvCxnSpPr/>
            <p:nvPr/>
          </p:nvCxnSpPr>
          <p:spPr>
            <a:xfrm rot="10800000">
              <a:off x="1199691" y="927048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9" name="Google Shape;799;p84"/>
            <p:cNvCxnSpPr/>
            <p:nvPr/>
          </p:nvCxnSpPr>
          <p:spPr>
            <a:xfrm rot="10800000">
              <a:off x="1308059" y="927048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0" name="Google Shape;800;p84"/>
            <p:cNvCxnSpPr/>
            <p:nvPr/>
          </p:nvCxnSpPr>
          <p:spPr>
            <a:xfrm rot="10800000">
              <a:off x="1411809" y="927048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" name="Google Shape;801;p84"/>
            <p:cNvCxnSpPr/>
            <p:nvPr/>
          </p:nvCxnSpPr>
          <p:spPr>
            <a:xfrm rot="10800000">
              <a:off x="1523257" y="927048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" name="Google Shape;802;p84"/>
            <p:cNvCxnSpPr/>
            <p:nvPr/>
          </p:nvCxnSpPr>
          <p:spPr>
            <a:xfrm rot="10800000">
              <a:off x="1626985" y="927048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3" name="Google Shape;803;p84"/>
            <p:cNvCxnSpPr/>
            <p:nvPr/>
          </p:nvCxnSpPr>
          <p:spPr>
            <a:xfrm rot="10800000">
              <a:off x="1735354" y="927048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804" name="Google Shape;804;p84"/>
            <p:cNvGrpSpPr/>
            <p:nvPr/>
          </p:nvGrpSpPr>
          <p:grpSpPr>
            <a:xfrm rot="5400000">
              <a:off x="1612099" y="1591095"/>
              <a:ext cx="871530" cy="254184"/>
              <a:chOff x="2500650" y="1306300"/>
              <a:chExt cx="1156950" cy="305400"/>
            </a:xfrm>
          </p:grpSpPr>
          <p:cxnSp>
            <p:nvCxnSpPr>
              <p:cNvPr id="805" name="Google Shape;805;p84"/>
              <p:cNvCxnSpPr/>
              <p:nvPr/>
            </p:nvCxnSpPr>
            <p:spPr>
              <a:xfrm rot="10800000">
                <a:off x="2500650" y="1306300"/>
                <a:ext cx="0" cy="305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6" name="Google Shape;806;p84"/>
              <p:cNvCxnSpPr/>
              <p:nvPr/>
            </p:nvCxnSpPr>
            <p:spPr>
              <a:xfrm rot="10800000">
                <a:off x="2625300" y="1306300"/>
                <a:ext cx="0" cy="305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7" name="Google Shape;807;p84"/>
              <p:cNvCxnSpPr/>
              <p:nvPr/>
            </p:nvCxnSpPr>
            <p:spPr>
              <a:xfrm rot="10800000">
                <a:off x="2759200" y="1306300"/>
                <a:ext cx="0" cy="305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8" name="Google Shape;808;p84"/>
              <p:cNvCxnSpPr/>
              <p:nvPr/>
            </p:nvCxnSpPr>
            <p:spPr>
              <a:xfrm rot="10800000">
                <a:off x="2883825" y="1306300"/>
                <a:ext cx="0" cy="305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9" name="Google Shape;809;p84"/>
              <p:cNvCxnSpPr/>
              <p:nvPr/>
            </p:nvCxnSpPr>
            <p:spPr>
              <a:xfrm rot="10800000">
                <a:off x="3014025" y="1306300"/>
                <a:ext cx="0" cy="305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0" name="Google Shape;810;p84"/>
              <p:cNvCxnSpPr/>
              <p:nvPr/>
            </p:nvCxnSpPr>
            <p:spPr>
              <a:xfrm rot="10800000">
                <a:off x="3144225" y="1306300"/>
                <a:ext cx="0" cy="305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1" name="Google Shape;811;p84"/>
              <p:cNvCxnSpPr/>
              <p:nvPr/>
            </p:nvCxnSpPr>
            <p:spPr>
              <a:xfrm rot="10800000">
                <a:off x="3268875" y="1306300"/>
                <a:ext cx="0" cy="305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2" name="Google Shape;812;p84"/>
              <p:cNvCxnSpPr/>
              <p:nvPr/>
            </p:nvCxnSpPr>
            <p:spPr>
              <a:xfrm rot="10800000">
                <a:off x="3402775" y="1306300"/>
                <a:ext cx="0" cy="305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3" name="Google Shape;813;p84"/>
              <p:cNvCxnSpPr/>
              <p:nvPr/>
            </p:nvCxnSpPr>
            <p:spPr>
              <a:xfrm rot="10800000">
                <a:off x="3527400" y="1306300"/>
                <a:ext cx="0" cy="305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4" name="Google Shape;814;p84"/>
              <p:cNvCxnSpPr/>
              <p:nvPr/>
            </p:nvCxnSpPr>
            <p:spPr>
              <a:xfrm rot="10800000">
                <a:off x="3657600" y="1306300"/>
                <a:ext cx="0" cy="305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815" name="Google Shape;815;p84"/>
            <p:cNvCxnSpPr/>
            <p:nvPr/>
          </p:nvCxnSpPr>
          <p:spPr>
            <a:xfrm rot="10800000">
              <a:off x="772396" y="2278975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6" name="Google Shape;816;p84"/>
            <p:cNvCxnSpPr/>
            <p:nvPr/>
          </p:nvCxnSpPr>
          <p:spPr>
            <a:xfrm rot="10800000">
              <a:off x="876145" y="2278975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7" name="Google Shape;817;p84"/>
            <p:cNvCxnSpPr/>
            <p:nvPr/>
          </p:nvCxnSpPr>
          <p:spPr>
            <a:xfrm rot="10800000">
              <a:off x="987594" y="2278975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8" name="Google Shape;818;p84"/>
            <p:cNvCxnSpPr/>
            <p:nvPr/>
          </p:nvCxnSpPr>
          <p:spPr>
            <a:xfrm rot="10800000">
              <a:off x="1091322" y="2278975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9" name="Google Shape;819;p84"/>
            <p:cNvCxnSpPr/>
            <p:nvPr/>
          </p:nvCxnSpPr>
          <p:spPr>
            <a:xfrm rot="10800000">
              <a:off x="1199691" y="2278975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0" name="Google Shape;820;p84"/>
            <p:cNvCxnSpPr/>
            <p:nvPr/>
          </p:nvCxnSpPr>
          <p:spPr>
            <a:xfrm rot="10800000">
              <a:off x="1308059" y="2278975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1" name="Google Shape;821;p84"/>
            <p:cNvCxnSpPr/>
            <p:nvPr/>
          </p:nvCxnSpPr>
          <p:spPr>
            <a:xfrm rot="10800000">
              <a:off x="1411809" y="2278975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2" name="Google Shape;822;p84"/>
            <p:cNvCxnSpPr/>
            <p:nvPr/>
          </p:nvCxnSpPr>
          <p:spPr>
            <a:xfrm rot="10800000">
              <a:off x="1523257" y="2278975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3" name="Google Shape;823;p84"/>
            <p:cNvCxnSpPr/>
            <p:nvPr/>
          </p:nvCxnSpPr>
          <p:spPr>
            <a:xfrm rot="10800000">
              <a:off x="1626985" y="2278975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4" name="Google Shape;824;p84"/>
            <p:cNvCxnSpPr/>
            <p:nvPr/>
          </p:nvCxnSpPr>
          <p:spPr>
            <a:xfrm rot="10800000">
              <a:off x="1735354" y="2278975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5" name="Google Shape;825;p84"/>
            <p:cNvCxnSpPr/>
            <p:nvPr/>
          </p:nvCxnSpPr>
          <p:spPr>
            <a:xfrm rot="10800000">
              <a:off x="459875" y="1162240"/>
              <a:ext cx="0" cy="254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6" name="Google Shape;826;p84"/>
            <p:cNvCxnSpPr/>
            <p:nvPr/>
          </p:nvCxnSpPr>
          <p:spPr>
            <a:xfrm rot="10800000">
              <a:off x="459875" y="1256135"/>
              <a:ext cx="0" cy="254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7" name="Google Shape;827;p84"/>
            <p:cNvCxnSpPr/>
            <p:nvPr/>
          </p:nvCxnSpPr>
          <p:spPr>
            <a:xfrm rot="10800000">
              <a:off x="459875" y="1356997"/>
              <a:ext cx="0" cy="254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8" name="Google Shape;828;p84"/>
            <p:cNvCxnSpPr/>
            <p:nvPr/>
          </p:nvCxnSpPr>
          <p:spPr>
            <a:xfrm rot="10800000">
              <a:off x="459875" y="1450873"/>
              <a:ext cx="0" cy="254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9" name="Google Shape;829;p84"/>
            <p:cNvCxnSpPr/>
            <p:nvPr/>
          </p:nvCxnSpPr>
          <p:spPr>
            <a:xfrm rot="10800000">
              <a:off x="459875" y="1548949"/>
              <a:ext cx="0" cy="254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0" name="Google Shape;830;p84"/>
            <p:cNvCxnSpPr/>
            <p:nvPr/>
          </p:nvCxnSpPr>
          <p:spPr>
            <a:xfrm rot="10800000">
              <a:off x="459875" y="1647024"/>
              <a:ext cx="0" cy="254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1" name="Google Shape;831;p84"/>
            <p:cNvCxnSpPr/>
            <p:nvPr/>
          </p:nvCxnSpPr>
          <p:spPr>
            <a:xfrm rot="10800000">
              <a:off x="459875" y="1740919"/>
              <a:ext cx="0" cy="254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2" name="Google Shape;832;p84"/>
            <p:cNvCxnSpPr/>
            <p:nvPr/>
          </p:nvCxnSpPr>
          <p:spPr>
            <a:xfrm rot="10800000">
              <a:off x="459875" y="1841781"/>
              <a:ext cx="0" cy="254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3" name="Google Shape;833;p84"/>
            <p:cNvCxnSpPr/>
            <p:nvPr/>
          </p:nvCxnSpPr>
          <p:spPr>
            <a:xfrm rot="10800000">
              <a:off x="459875" y="1935657"/>
              <a:ext cx="0" cy="254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4" name="Google Shape;834;p84"/>
            <p:cNvCxnSpPr/>
            <p:nvPr/>
          </p:nvCxnSpPr>
          <p:spPr>
            <a:xfrm rot="10800000">
              <a:off x="459875" y="2033733"/>
              <a:ext cx="0" cy="254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35" name="Google Shape;835;p84"/>
            <p:cNvSpPr txBox="1"/>
            <p:nvPr/>
          </p:nvSpPr>
          <p:spPr>
            <a:xfrm>
              <a:off x="829650" y="1471759"/>
              <a:ext cx="848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32</a:t>
              </a:r>
              <a:endParaRPr b="1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836" name="Google Shape;836;p84"/>
          <p:cNvSpPr/>
          <p:nvPr/>
        </p:nvSpPr>
        <p:spPr>
          <a:xfrm>
            <a:off x="428850" y="2366975"/>
            <a:ext cx="8324100" cy="2418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7" name="Google Shape;837;p84"/>
          <p:cNvSpPr txBox="1"/>
          <p:nvPr/>
        </p:nvSpPr>
        <p:spPr>
          <a:xfrm>
            <a:off x="591125" y="2366800"/>
            <a:ext cx="4047900" cy="24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System Folder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C:\Windows\System32</a:t>
            </a:r>
            <a:endParaRPr b="1" sz="1800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Contains 32-bit system binaries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8" name="Google Shape;838;p84"/>
          <p:cNvSpPr txBox="1"/>
          <p:nvPr/>
        </p:nvSpPr>
        <p:spPr>
          <a:xfrm>
            <a:off x="4639000" y="2366875"/>
            <a:ext cx="4047900" cy="24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Program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Folder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C:\Program Files</a:t>
            </a:r>
            <a:b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</a:b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Contains 32-bit programs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8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64-bit Operating Systems</a:t>
            </a:r>
            <a:endParaRPr sz="2600">
              <a:solidFill>
                <a:schemeClr val="dk2"/>
              </a:solidFill>
            </a:endParaRPr>
          </a:p>
        </p:txBody>
      </p:sp>
      <p:grpSp>
        <p:nvGrpSpPr>
          <p:cNvPr id="844" name="Google Shape;844;p85"/>
          <p:cNvGrpSpPr/>
          <p:nvPr/>
        </p:nvGrpSpPr>
        <p:grpSpPr>
          <a:xfrm>
            <a:off x="3650988" y="784935"/>
            <a:ext cx="1842132" cy="1582027"/>
            <a:chOff x="332825" y="927048"/>
            <a:chExt cx="1842132" cy="1582027"/>
          </a:xfrm>
        </p:grpSpPr>
        <p:sp>
          <p:nvSpPr>
            <p:cNvPr id="845" name="Google Shape;845;p85"/>
            <p:cNvSpPr/>
            <p:nvPr/>
          </p:nvSpPr>
          <p:spPr>
            <a:xfrm>
              <a:off x="603289" y="1157148"/>
              <a:ext cx="1301100" cy="1135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46" name="Google Shape;846;p85"/>
            <p:cNvSpPr/>
            <p:nvPr/>
          </p:nvSpPr>
          <p:spPr>
            <a:xfrm>
              <a:off x="728512" y="1275618"/>
              <a:ext cx="1050600" cy="885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847" name="Google Shape;847;p85"/>
            <p:cNvCxnSpPr/>
            <p:nvPr/>
          </p:nvCxnSpPr>
          <p:spPr>
            <a:xfrm rot="10800000">
              <a:off x="772396" y="927048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8" name="Google Shape;848;p85"/>
            <p:cNvCxnSpPr/>
            <p:nvPr/>
          </p:nvCxnSpPr>
          <p:spPr>
            <a:xfrm rot="10800000">
              <a:off x="876145" y="927048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9" name="Google Shape;849;p85"/>
            <p:cNvCxnSpPr/>
            <p:nvPr/>
          </p:nvCxnSpPr>
          <p:spPr>
            <a:xfrm rot="10800000">
              <a:off x="987594" y="927048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0" name="Google Shape;850;p85"/>
            <p:cNvCxnSpPr/>
            <p:nvPr/>
          </p:nvCxnSpPr>
          <p:spPr>
            <a:xfrm rot="10800000">
              <a:off x="1091322" y="927048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1" name="Google Shape;851;p85"/>
            <p:cNvCxnSpPr/>
            <p:nvPr/>
          </p:nvCxnSpPr>
          <p:spPr>
            <a:xfrm rot="10800000">
              <a:off x="1199691" y="927048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2" name="Google Shape;852;p85"/>
            <p:cNvCxnSpPr/>
            <p:nvPr/>
          </p:nvCxnSpPr>
          <p:spPr>
            <a:xfrm rot="10800000">
              <a:off x="1308059" y="927048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3" name="Google Shape;853;p85"/>
            <p:cNvCxnSpPr/>
            <p:nvPr/>
          </p:nvCxnSpPr>
          <p:spPr>
            <a:xfrm rot="10800000">
              <a:off x="1411809" y="927048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4" name="Google Shape;854;p85"/>
            <p:cNvCxnSpPr/>
            <p:nvPr/>
          </p:nvCxnSpPr>
          <p:spPr>
            <a:xfrm rot="10800000">
              <a:off x="1523257" y="927048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5" name="Google Shape;855;p85"/>
            <p:cNvCxnSpPr/>
            <p:nvPr/>
          </p:nvCxnSpPr>
          <p:spPr>
            <a:xfrm rot="10800000">
              <a:off x="1626985" y="927048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6" name="Google Shape;856;p85"/>
            <p:cNvCxnSpPr/>
            <p:nvPr/>
          </p:nvCxnSpPr>
          <p:spPr>
            <a:xfrm rot="10800000">
              <a:off x="1735354" y="927048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857" name="Google Shape;857;p85"/>
            <p:cNvGrpSpPr/>
            <p:nvPr/>
          </p:nvGrpSpPr>
          <p:grpSpPr>
            <a:xfrm rot="5400000">
              <a:off x="1612099" y="1591095"/>
              <a:ext cx="871530" cy="254184"/>
              <a:chOff x="2500650" y="1306300"/>
              <a:chExt cx="1156950" cy="305400"/>
            </a:xfrm>
          </p:grpSpPr>
          <p:cxnSp>
            <p:nvCxnSpPr>
              <p:cNvPr id="858" name="Google Shape;858;p85"/>
              <p:cNvCxnSpPr/>
              <p:nvPr/>
            </p:nvCxnSpPr>
            <p:spPr>
              <a:xfrm rot="10800000">
                <a:off x="2500650" y="1306300"/>
                <a:ext cx="0" cy="305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9" name="Google Shape;859;p85"/>
              <p:cNvCxnSpPr/>
              <p:nvPr/>
            </p:nvCxnSpPr>
            <p:spPr>
              <a:xfrm rot="10800000">
                <a:off x="2625300" y="1306300"/>
                <a:ext cx="0" cy="305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0" name="Google Shape;860;p85"/>
              <p:cNvCxnSpPr/>
              <p:nvPr/>
            </p:nvCxnSpPr>
            <p:spPr>
              <a:xfrm rot="10800000">
                <a:off x="2759200" y="1306300"/>
                <a:ext cx="0" cy="305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1" name="Google Shape;861;p85"/>
              <p:cNvCxnSpPr/>
              <p:nvPr/>
            </p:nvCxnSpPr>
            <p:spPr>
              <a:xfrm rot="10800000">
                <a:off x="2883825" y="1306300"/>
                <a:ext cx="0" cy="305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2" name="Google Shape;862;p85"/>
              <p:cNvCxnSpPr/>
              <p:nvPr/>
            </p:nvCxnSpPr>
            <p:spPr>
              <a:xfrm rot="10800000">
                <a:off x="3014025" y="1306300"/>
                <a:ext cx="0" cy="305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3" name="Google Shape;863;p85"/>
              <p:cNvCxnSpPr/>
              <p:nvPr/>
            </p:nvCxnSpPr>
            <p:spPr>
              <a:xfrm rot="10800000">
                <a:off x="3144225" y="1306300"/>
                <a:ext cx="0" cy="305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4" name="Google Shape;864;p85"/>
              <p:cNvCxnSpPr/>
              <p:nvPr/>
            </p:nvCxnSpPr>
            <p:spPr>
              <a:xfrm rot="10800000">
                <a:off x="3268875" y="1306300"/>
                <a:ext cx="0" cy="305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5" name="Google Shape;865;p85"/>
              <p:cNvCxnSpPr/>
              <p:nvPr/>
            </p:nvCxnSpPr>
            <p:spPr>
              <a:xfrm rot="10800000">
                <a:off x="3402775" y="1306300"/>
                <a:ext cx="0" cy="305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6" name="Google Shape;866;p85"/>
              <p:cNvCxnSpPr/>
              <p:nvPr/>
            </p:nvCxnSpPr>
            <p:spPr>
              <a:xfrm rot="10800000">
                <a:off x="3527400" y="1306300"/>
                <a:ext cx="0" cy="305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7" name="Google Shape;867;p85"/>
              <p:cNvCxnSpPr/>
              <p:nvPr/>
            </p:nvCxnSpPr>
            <p:spPr>
              <a:xfrm rot="10800000">
                <a:off x="3657600" y="1306300"/>
                <a:ext cx="0" cy="305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868" name="Google Shape;868;p85"/>
            <p:cNvCxnSpPr/>
            <p:nvPr/>
          </p:nvCxnSpPr>
          <p:spPr>
            <a:xfrm rot="10800000">
              <a:off x="772396" y="2278975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9" name="Google Shape;869;p85"/>
            <p:cNvCxnSpPr/>
            <p:nvPr/>
          </p:nvCxnSpPr>
          <p:spPr>
            <a:xfrm rot="10800000">
              <a:off x="876145" y="2278975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0" name="Google Shape;870;p85"/>
            <p:cNvCxnSpPr/>
            <p:nvPr/>
          </p:nvCxnSpPr>
          <p:spPr>
            <a:xfrm rot="10800000">
              <a:off x="987594" y="2278975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1" name="Google Shape;871;p85"/>
            <p:cNvCxnSpPr/>
            <p:nvPr/>
          </p:nvCxnSpPr>
          <p:spPr>
            <a:xfrm rot="10800000">
              <a:off x="1091322" y="2278975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2" name="Google Shape;872;p85"/>
            <p:cNvCxnSpPr/>
            <p:nvPr/>
          </p:nvCxnSpPr>
          <p:spPr>
            <a:xfrm rot="10800000">
              <a:off x="1199691" y="2278975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3" name="Google Shape;873;p85"/>
            <p:cNvCxnSpPr/>
            <p:nvPr/>
          </p:nvCxnSpPr>
          <p:spPr>
            <a:xfrm rot="10800000">
              <a:off x="1308059" y="2278975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4" name="Google Shape;874;p85"/>
            <p:cNvCxnSpPr/>
            <p:nvPr/>
          </p:nvCxnSpPr>
          <p:spPr>
            <a:xfrm rot="10800000">
              <a:off x="1411809" y="2278975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5" name="Google Shape;875;p85"/>
            <p:cNvCxnSpPr/>
            <p:nvPr/>
          </p:nvCxnSpPr>
          <p:spPr>
            <a:xfrm rot="10800000">
              <a:off x="1523257" y="2278975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6" name="Google Shape;876;p85"/>
            <p:cNvCxnSpPr/>
            <p:nvPr/>
          </p:nvCxnSpPr>
          <p:spPr>
            <a:xfrm rot="10800000">
              <a:off x="1626985" y="2278975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7" name="Google Shape;877;p85"/>
            <p:cNvCxnSpPr/>
            <p:nvPr/>
          </p:nvCxnSpPr>
          <p:spPr>
            <a:xfrm rot="10800000">
              <a:off x="1735354" y="2278975"/>
              <a:ext cx="0" cy="230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8" name="Google Shape;878;p85"/>
            <p:cNvCxnSpPr/>
            <p:nvPr/>
          </p:nvCxnSpPr>
          <p:spPr>
            <a:xfrm rot="10800000">
              <a:off x="459875" y="1162240"/>
              <a:ext cx="0" cy="254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9" name="Google Shape;879;p85"/>
            <p:cNvCxnSpPr/>
            <p:nvPr/>
          </p:nvCxnSpPr>
          <p:spPr>
            <a:xfrm rot="10800000">
              <a:off x="459875" y="1256135"/>
              <a:ext cx="0" cy="254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0" name="Google Shape;880;p85"/>
            <p:cNvCxnSpPr/>
            <p:nvPr/>
          </p:nvCxnSpPr>
          <p:spPr>
            <a:xfrm rot="10800000">
              <a:off x="459875" y="1356997"/>
              <a:ext cx="0" cy="254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1" name="Google Shape;881;p85"/>
            <p:cNvCxnSpPr/>
            <p:nvPr/>
          </p:nvCxnSpPr>
          <p:spPr>
            <a:xfrm rot="10800000">
              <a:off x="459875" y="1450873"/>
              <a:ext cx="0" cy="254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2" name="Google Shape;882;p85"/>
            <p:cNvCxnSpPr/>
            <p:nvPr/>
          </p:nvCxnSpPr>
          <p:spPr>
            <a:xfrm rot="10800000">
              <a:off x="459875" y="1548949"/>
              <a:ext cx="0" cy="254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3" name="Google Shape;883;p85"/>
            <p:cNvCxnSpPr/>
            <p:nvPr/>
          </p:nvCxnSpPr>
          <p:spPr>
            <a:xfrm rot="10800000">
              <a:off x="459875" y="1647024"/>
              <a:ext cx="0" cy="254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4" name="Google Shape;884;p85"/>
            <p:cNvCxnSpPr/>
            <p:nvPr/>
          </p:nvCxnSpPr>
          <p:spPr>
            <a:xfrm rot="10800000">
              <a:off x="459875" y="1740919"/>
              <a:ext cx="0" cy="254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5" name="Google Shape;885;p85"/>
            <p:cNvCxnSpPr/>
            <p:nvPr/>
          </p:nvCxnSpPr>
          <p:spPr>
            <a:xfrm rot="10800000">
              <a:off x="459875" y="1841781"/>
              <a:ext cx="0" cy="254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6" name="Google Shape;886;p85"/>
            <p:cNvCxnSpPr/>
            <p:nvPr/>
          </p:nvCxnSpPr>
          <p:spPr>
            <a:xfrm rot="10800000">
              <a:off x="459875" y="1935657"/>
              <a:ext cx="0" cy="254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7" name="Google Shape;887;p85"/>
            <p:cNvCxnSpPr/>
            <p:nvPr/>
          </p:nvCxnSpPr>
          <p:spPr>
            <a:xfrm rot="10800000">
              <a:off x="459875" y="2033733"/>
              <a:ext cx="0" cy="254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88" name="Google Shape;888;p85"/>
            <p:cNvSpPr txBox="1"/>
            <p:nvPr/>
          </p:nvSpPr>
          <p:spPr>
            <a:xfrm>
              <a:off x="829650" y="1471759"/>
              <a:ext cx="848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64</a:t>
              </a:r>
              <a:endParaRPr b="1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889" name="Google Shape;889;p85"/>
          <p:cNvSpPr/>
          <p:nvPr/>
        </p:nvSpPr>
        <p:spPr>
          <a:xfrm>
            <a:off x="428850" y="2366975"/>
            <a:ext cx="8324100" cy="2418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0" name="Google Shape;890;p85"/>
          <p:cNvSpPr txBox="1"/>
          <p:nvPr/>
        </p:nvSpPr>
        <p:spPr>
          <a:xfrm>
            <a:off x="591125" y="2366800"/>
            <a:ext cx="4047900" cy="24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System Folder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C:\Windows\System32</a:t>
            </a:r>
            <a:endParaRPr b="1" sz="1800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Contains 64-bit system binaries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C:\Windows\SysWOW64</a:t>
            </a:r>
            <a:endParaRPr b="1" sz="1800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Contains 32-bit system binaries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1" name="Google Shape;891;p85"/>
          <p:cNvSpPr txBox="1"/>
          <p:nvPr/>
        </p:nvSpPr>
        <p:spPr>
          <a:xfrm>
            <a:off x="4639000" y="2366875"/>
            <a:ext cx="4047900" cy="24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Program Folder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C:\Program Files</a:t>
            </a:r>
            <a:b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</a:b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Contains 64-bit programs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C:\Program Files (x86)</a:t>
            </a:r>
            <a:b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</a:b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Contains 32-bit programs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86"/>
          <p:cNvSpPr txBox="1"/>
          <p:nvPr>
            <p:ph type="title"/>
          </p:nvPr>
        </p:nvSpPr>
        <p:spPr>
          <a:xfrm>
            <a:off x="533400" y="146300"/>
            <a:ext cx="5486400" cy="365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System32 Folder</a:t>
            </a:r>
            <a:endParaRPr/>
          </a:p>
        </p:txBody>
      </p:sp>
      <p:sp>
        <p:nvSpPr>
          <p:cNvPr id="897" name="Google Shape;897;p86"/>
          <p:cNvSpPr txBox="1"/>
          <p:nvPr>
            <p:ph idx="1" type="subTitle"/>
          </p:nvPr>
        </p:nvSpPr>
        <p:spPr>
          <a:xfrm>
            <a:off x="537420" y="548650"/>
            <a:ext cx="5482500" cy="274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System32 is a critical Windows directory</a:t>
            </a:r>
            <a:endParaRPr/>
          </a:p>
        </p:txBody>
      </p:sp>
      <p:sp>
        <p:nvSpPr>
          <p:cNvPr id="898" name="Google Shape;898;p86"/>
          <p:cNvSpPr txBox="1"/>
          <p:nvPr>
            <p:ph idx="3" type="body"/>
          </p:nvPr>
        </p:nvSpPr>
        <p:spPr>
          <a:xfrm>
            <a:off x="533400" y="827763"/>
            <a:ext cx="50292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System Files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Dynamic link libraries (DLLs)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Executables (EXE)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Device drivers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System U</a:t>
            </a:r>
            <a:r>
              <a:rPr b="1" lang="en"/>
              <a:t>tilities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Inconsolata"/>
              <a:buChar char="●"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cmd.exe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Inconsolata"/>
              <a:buChar char="●"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taskmgr.exe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Inconsolata"/>
              <a:buChar char="●"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regedit.exe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64-bit System Files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64-bit location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SysWOW64 stores 32-bit</a:t>
            </a:r>
            <a:endParaRPr/>
          </a:p>
        </p:txBody>
      </p:sp>
      <p:pic>
        <p:nvPicPr>
          <p:cNvPr id="899" name="Google Shape;899;p86"/>
          <p:cNvPicPr preferRelativeResize="0"/>
          <p:nvPr/>
        </p:nvPicPr>
        <p:blipFill rotWithShape="1">
          <a:blip r:embed="rId3">
            <a:alphaModFix/>
          </a:blip>
          <a:srcRect b="0" l="-2039" r="-3635" t="0"/>
          <a:stretch/>
        </p:blipFill>
        <p:spPr>
          <a:xfrm>
            <a:off x="4856925" y="1292125"/>
            <a:ext cx="3952300" cy="3063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12275" y="1063525"/>
            <a:ext cx="4123151" cy="3520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87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 Files </a:t>
            </a:r>
            <a:r>
              <a:rPr lang="en"/>
              <a:t>Folder</a:t>
            </a:r>
            <a:endParaRPr/>
          </a:p>
        </p:txBody>
      </p:sp>
      <p:sp>
        <p:nvSpPr>
          <p:cNvPr id="906" name="Google Shape;906;p87"/>
          <p:cNvSpPr txBox="1"/>
          <p:nvPr>
            <p:ph idx="1" type="subTitle"/>
          </p:nvPr>
        </p:nvSpPr>
        <p:spPr>
          <a:xfrm>
            <a:off x="461228" y="548650"/>
            <a:ext cx="8490600" cy="274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C:\Program Files </a:t>
            </a:r>
            <a:r>
              <a:rPr lang="en"/>
              <a:t> and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C:\Program Files (x86)</a:t>
            </a:r>
            <a:r>
              <a:rPr lang="en"/>
              <a:t> </a:t>
            </a:r>
            <a:endParaRPr/>
          </a:p>
        </p:txBody>
      </p:sp>
      <p:sp>
        <p:nvSpPr>
          <p:cNvPr id="907" name="Google Shape;907;p87"/>
          <p:cNvSpPr txBox="1"/>
          <p:nvPr>
            <p:ph idx="3" type="body"/>
          </p:nvPr>
        </p:nvSpPr>
        <p:spPr>
          <a:xfrm>
            <a:off x="4934950" y="987575"/>
            <a:ext cx="40170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Application Installations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Default directory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Program Data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files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Configuration files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Documentation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User Account Control (UAC)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Protects modification or deletion</a:t>
            </a:r>
            <a:endParaRPr/>
          </a:p>
        </p:txBody>
      </p:sp>
      <p:pic>
        <p:nvPicPr>
          <p:cNvPr id="908" name="Google Shape;908;p87"/>
          <p:cNvPicPr preferRelativeResize="0"/>
          <p:nvPr/>
        </p:nvPicPr>
        <p:blipFill rotWithShape="1">
          <a:blip r:embed="rId3">
            <a:alphaModFix/>
          </a:blip>
          <a:srcRect b="0" l="-2789" r="-4082" t="0"/>
          <a:stretch/>
        </p:blipFill>
        <p:spPr>
          <a:xfrm>
            <a:off x="461225" y="1713238"/>
            <a:ext cx="3864448" cy="2415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87"/>
          <p:cNvPicPr preferRelativeResize="0"/>
          <p:nvPr/>
        </p:nvPicPr>
        <p:blipFill rotWithShape="1">
          <a:blip r:embed="rId4">
            <a:alphaModFix/>
          </a:blip>
          <a:srcRect b="0" l="7440" r="7431" t="0"/>
          <a:stretch/>
        </p:blipFill>
        <p:spPr>
          <a:xfrm>
            <a:off x="331875" y="5329725"/>
            <a:ext cx="4123151" cy="3520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88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Hidden</a:t>
            </a:r>
            <a:r>
              <a:rPr lang="en"/>
              <a:t> Folders</a:t>
            </a:r>
            <a:endParaRPr/>
          </a:p>
        </p:txBody>
      </p:sp>
      <p:sp>
        <p:nvSpPr>
          <p:cNvPr id="915" name="Google Shape;915;p88"/>
          <p:cNvSpPr txBox="1"/>
          <p:nvPr>
            <p:ph idx="1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Folder and directories in disguise</a:t>
            </a:r>
            <a:endParaRPr/>
          </a:p>
        </p:txBody>
      </p:sp>
      <p:sp>
        <p:nvSpPr>
          <p:cNvPr id="916" name="Google Shape;916;p88"/>
          <p:cNvSpPr txBox="1"/>
          <p:nvPr>
            <p:ph idx="3" type="body"/>
          </p:nvPr>
        </p:nvSpPr>
        <p:spPr>
          <a:xfrm>
            <a:off x="381000" y="911125"/>
            <a:ext cx="44154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Visibility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Accidental deletion or modification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AppData</a:t>
            </a:r>
            <a:r>
              <a:rPr lang="en"/>
              <a:t>,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ProgramData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Configuration Files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Application settings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Temporary files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Viewing Hidden Folders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 visible by default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Show hidden files, folders, and drives</a:t>
            </a:r>
            <a:r>
              <a:rPr lang="en"/>
              <a:t>”</a:t>
            </a:r>
            <a:endParaRPr/>
          </a:p>
        </p:txBody>
      </p:sp>
      <p:pic>
        <p:nvPicPr>
          <p:cNvPr id="917" name="Google Shape;917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13250" y="1063525"/>
            <a:ext cx="4123151" cy="350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88"/>
          <p:cNvPicPr preferRelativeResize="0"/>
          <p:nvPr/>
        </p:nvPicPr>
        <p:blipFill rotWithShape="1">
          <a:blip r:embed="rId4">
            <a:alphaModFix/>
          </a:blip>
          <a:srcRect b="-4827" l="0" r="0" t="-1509"/>
          <a:stretch/>
        </p:blipFill>
        <p:spPr>
          <a:xfrm>
            <a:off x="5114150" y="1469875"/>
            <a:ext cx="3689425" cy="277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89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Windows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Users</a:t>
            </a:r>
            <a:endParaRPr b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24" name="Google Shape;924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0" y="1828800"/>
            <a:ext cx="854875" cy="85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90"/>
          <p:cNvSpPr txBox="1"/>
          <p:nvPr/>
        </p:nvSpPr>
        <p:spPr>
          <a:xfrm>
            <a:off x="4271275" y="2377150"/>
            <a:ext cx="4619700" cy="25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Linux uses different account types within the OS.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Windows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also allows for different accounts and assigns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various privileges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to them.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91"/>
          <p:cNvSpPr txBox="1"/>
          <p:nvPr>
            <p:ph idx="2" type="title"/>
          </p:nvPr>
        </p:nvSpPr>
        <p:spPr>
          <a:xfrm>
            <a:off x="1450375" y="1039700"/>
            <a:ext cx="61131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Security Identifier (SID)</a:t>
            </a:r>
            <a:r>
              <a:rPr lang="en"/>
              <a:t> is a unique alphanumeric string assigned to each security principal (user, group, or computer) in Windows.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92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Windows Users</a:t>
            </a:r>
            <a:endParaRPr/>
          </a:p>
        </p:txBody>
      </p:sp>
      <p:sp>
        <p:nvSpPr>
          <p:cNvPr id="940" name="Google Shape;940;p92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Identifier (SID)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92"/>
          <p:cNvSpPr txBox="1"/>
          <p:nvPr>
            <p:ph idx="2" type="body"/>
          </p:nvPr>
        </p:nvSpPr>
        <p:spPr>
          <a:xfrm>
            <a:off x="341600" y="1063525"/>
            <a:ext cx="38685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Revision Number: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Revision level of SID, typically “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S-1</a:t>
            </a:r>
            <a:r>
              <a:rPr lang="en"/>
              <a:t>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Identifier: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Authority issued to SID, in Windows always “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5</a:t>
            </a:r>
            <a:r>
              <a:rPr lang="en"/>
              <a:t>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Sub-Authorities: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 number identifies SID within a domain or local system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2" name="Google Shape;942;p92"/>
          <p:cNvPicPr preferRelativeResize="0"/>
          <p:nvPr/>
        </p:nvPicPr>
        <p:blipFill rotWithShape="1">
          <a:blip r:embed="rId3">
            <a:alphaModFix/>
          </a:blip>
          <a:srcRect b="0" l="-2760" r="-2193" t="0"/>
          <a:stretch/>
        </p:blipFill>
        <p:spPr>
          <a:xfrm>
            <a:off x="4114800" y="1517762"/>
            <a:ext cx="4993400" cy="3084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" name="Google Shape;943;p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6523" y="308198"/>
            <a:ext cx="361350" cy="4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92"/>
          <p:cNvSpPr txBox="1"/>
          <p:nvPr/>
        </p:nvSpPr>
        <p:spPr>
          <a:xfrm>
            <a:off x="4427567" y="2946037"/>
            <a:ext cx="4506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1"/>
                </a:solidFill>
                <a:latin typeface="Inconsolata"/>
                <a:ea typeface="Inconsolata"/>
                <a:cs typeface="Inconsolata"/>
                <a:sym typeface="Inconsolata"/>
              </a:rPr>
              <a:t>S-1-5-21-3623811015-3361044348-30300820-1013</a:t>
            </a:r>
            <a:endParaRPr b="1" sz="1500">
              <a:solidFill>
                <a:schemeClr val="accen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945" name="Google Shape;945;p92"/>
          <p:cNvSpPr txBox="1"/>
          <p:nvPr/>
        </p:nvSpPr>
        <p:spPr>
          <a:xfrm>
            <a:off x="4386292" y="3400362"/>
            <a:ext cx="9168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Revision Number</a:t>
            </a:r>
            <a:endParaRPr b="1"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6" name="Google Shape;946;p92"/>
          <p:cNvSpPr txBox="1"/>
          <p:nvPr/>
        </p:nvSpPr>
        <p:spPr>
          <a:xfrm>
            <a:off x="4534992" y="2541512"/>
            <a:ext cx="916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Identifier</a:t>
            </a:r>
            <a:endParaRPr b="1"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7" name="Google Shape;947;p92"/>
          <p:cNvSpPr/>
          <p:nvPr/>
        </p:nvSpPr>
        <p:spPr>
          <a:xfrm flipH="1" rot="-5400000">
            <a:off x="6545567" y="1895837"/>
            <a:ext cx="270300" cy="2969100"/>
          </a:xfrm>
          <a:prstGeom prst="rightBrace">
            <a:avLst>
              <a:gd fmla="val 8333" name="adj1"/>
              <a:gd fmla="val 50310" name="adj2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  <a:highlight>
                <a:schemeClr val="lt1"/>
              </a:highlight>
            </a:endParaRPr>
          </a:p>
        </p:txBody>
      </p:sp>
      <p:sp>
        <p:nvSpPr>
          <p:cNvPr id="948" name="Google Shape;948;p92"/>
          <p:cNvSpPr/>
          <p:nvPr/>
        </p:nvSpPr>
        <p:spPr>
          <a:xfrm flipH="1" rot="-5400000">
            <a:off x="4490742" y="3290687"/>
            <a:ext cx="270300" cy="179400"/>
          </a:xfrm>
          <a:prstGeom prst="rightBrace">
            <a:avLst>
              <a:gd fmla="val 8333" name="adj1"/>
              <a:gd fmla="val 50310" name="adj2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  <a:highlight>
                <a:schemeClr val="lt1"/>
              </a:highlight>
            </a:endParaRPr>
          </a:p>
        </p:txBody>
      </p:sp>
      <p:sp>
        <p:nvSpPr>
          <p:cNvPr id="949" name="Google Shape;949;p92"/>
          <p:cNvSpPr/>
          <p:nvPr/>
        </p:nvSpPr>
        <p:spPr>
          <a:xfrm flipH="1" rot="5400000">
            <a:off x="4817892" y="2932612"/>
            <a:ext cx="270300" cy="135000"/>
          </a:xfrm>
          <a:prstGeom prst="rightBrace">
            <a:avLst>
              <a:gd fmla="val 8333" name="adj1"/>
              <a:gd fmla="val 50310" name="adj2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  <a:highlight>
                <a:schemeClr val="lt1"/>
              </a:highlight>
            </a:endParaRPr>
          </a:p>
        </p:txBody>
      </p:sp>
      <p:sp>
        <p:nvSpPr>
          <p:cNvPr id="950" name="Google Shape;950;p92"/>
          <p:cNvSpPr txBox="1"/>
          <p:nvPr/>
        </p:nvSpPr>
        <p:spPr>
          <a:xfrm>
            <a:off x="6135642" y="3476712"/>
            <a:ext cx="137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Sub-Authorities</a:t>
            </a:r>
            <a:endParaRPr b="1"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51" name="Google Shape;951;p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62813" y="548650"/>
            <a:ext cx="5578387" cy="4571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6" name="Google Shape;956;p93"/>
          <p:cNvGrpSpPr/>
          <p:nvPr/>
        </p:nvGrpSpPr>
        <p:grpSpPr>
          <a:xfrm>
            <a:off x="-3" y="1296817"/>
            <a:ext cx="8686828" cy="400200"/>
            <a:chOff x="-3" y="1885788"/>
            <a:chExt cx="8686828" cy="400200"/>
          </a:xfrm>
        </p:grpSpPr>
        <p:cxnSp>
          <p:nvCxnSpPr>
            <p:cNvPr id="957" name="Google Shape;957;p93"/>
            <p:cNvCxnSpPr/>
            <p:nvPr/>
          </p:nvCxnSpPr>
          <p:spPr>
            <a:xfrm>
              <a:off x="-3" y="2085888"/>
              <a:ext cx="66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958" name="Google Shape;958;p93"/>
            <p:cNvCxnSpPr/>
            <p:nvPr/>
          </p:nvCxnSpPr>
          <p:spPr>
            <a:xfrm>
              <a:off x="-3" y="2085888"/>
              <a:ext cx="672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959" name="Google Shape;959;p93"/>
            <p:cNvSpPr/>
            <p:nvPr/>
          </p:nvSpPr>
          <p:spPr>
            <a:xfrm>
              <a:off x="596125" y="1885788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93"/>
            <p:cNvSpPr/>
            <p:nvPr/>
          </p:nvSpPr>
          <p:spPr>
            <a:xfrm>
              <a:off x="513600" y="1924338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93"/>
            <p:cNvSpPr/>
            <p:nvPr/>
          </p:nvSpPr>
          <p:spPr>
            <a:xfrm>
              <a:off x="593400" y="2004138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62" name="Google Shape;962;p93"/>
          <p:cNvGrpSpPr/>
          <p:nvPr/>
        </p:nvGrpSpPr>
        <p:grpSpPr>
          <a:xfrm>
            <a:off x="-3" y="1982559"/>
            <a:ext cx="8686828" cy="400200"/>
            <a:chOff x="-3" y="2566213"/>
            <a:chExt cx="8686828" cy="400200"/>
          </a:xfrm>
        </p:grpSpPr>
        <p:cxnSp>
          <p:nvCxnSpPr>
            <p:cNvPr id="963" name="Google Shape;963;p93"/>
            <p:cNvCxnSpPr/>
            <p:nvPr/>
          </p:nvCxnSpPr>
          <p:spPr>
            <a:xfrm>
              <a:off x="-3" y="2766313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964" name="Google Shape;964;p93"/>
            <p:cNvSpPr/>
            <p:nvPr/>
          </p:nvSpPr>
          <p:spPr>
            <a:xfrm>
              <a:off x="596125" y="2566213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93"/>
            <p:cNvSpPr/>
            <p:nvPr/>
          </p:nvSpPr>
          <p:spPr>
            <a:xfrm>
              <a:off x="513600" y="2604763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93"/>
            <p:cNvSpPr/>
            <p:nvPr/>
          </p:nvSpPr>
          <p:spPr>
            <a:xfrm>
              <a:off x="593400" y="2684563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67" name="Google Shape;967;p93"/>
          <p:cNvGrpSpPr/>
          <p:nvPr/>
        </p:nvGrpSpPr>
        <p:grpSpPr>
          <a:xfrm>
            <a:off x="-3" y="2668301"/>
            <a:ext cx="8684268" cy="402300"/>
            <a:chOff x="-3" y="3236976"/>
            <a:chExt cx="8684268" cy="402300"/>
          </a:xfrm>
        </p:grpSpPr>
        <p:cxnSp>
          <p:nvCxnSpPr>
            <p:cNvPr id="968" name="Google Shape;968;p93"/>
            <p:cNvCxnSpPr/>
            <p:nvPr/>
          </p:nvCxnSpPr>
          <p:spPr>
            <a:xfrm>
              <a:off x="-3" y="3438126"/>
              <a:ext cx="686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969" name="Google Shape;969;p93"/>
            <p:cNvSpPr/>
            <p:nvPr/>
          </p:nvSpPr>
          <p:spPr>
            <a:xfrm>
              <a:off x="593565" y="3236976"/>
              <a:ext cx="8090700" cy="4023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93"/>
            <p:cNvSpPr/>
            <p:nvPr/>
          </p:nvSpPr>
          <p:spPr>
            <a:xfrm>
              <a:off x="511040" y="3275676"/>
              <a:ext cx="323100" cy="3249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93"/>
            <p:cNvSpPr/>
            <p:nvPr/>
          </p:nvSpPr>
          <p:spPr>
            <a:xfrm>
              <a:off x="590840" y="3355926"/>
              <a:ext cx="163500" cy="1644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72" name="Google Shape;972;p93"/>
          <p:cNvGrpSpPr/>
          <p:nvPr/>
        </p:nvGrpSpPr>
        <p:grpSpPr>
          <a:xfrm>
            <a:off x="-3" y="3353222"/>
            <a:ext cx="8686828" cy="400200"/>
            <a:chOff x="-3" y="2566213"/>
            <a:chExt cx="8686828" cy="400200"/>
          </a:xfrm>
        </p:grpSpPr>
        <p:cxnSp>
          <p:nvCxnSpPr>
            <p:cNvPr id="973" name="Google Shape;973;p93"/>
            <p:cNvCxnSpPr/>
            <p:nvPr/>
          </p:nvCxnSpPr>
          <p:spPr>
            <a:xfrm>
              <a:off x="-3" y="2766313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974" name="Google Shape;974;p93"/>
            <p:cNvSpPr/>
            <p:nvPr/>
          </p:nvSpPr>
          <p:spPr>
            <a:xfrm>
              <a:off x="596125" y="2566213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93"/>
            <p:cNvSpPr/>
            <p:nvPr/>
          </p:nvSpPr>
          <p:spPr>
            <a:xfrm>
              <a:off x="513600" y="2604763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93"/>
            <p:cNvSpPr/>
            <p:nvPr/>
          </p:nvSpPr>
          <p:spPr>
            <a:xfrm>
              <a:off x="593400" y="2684563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977" name="Google Shape;977;p93"/>
          <p:cNvSpPr txBox="1"/>
          <p:nvPr>
            <p:ph idx="4294967295" type="body"/>
          </p:nvPr>
        </p:nvSpPr>
        <p:spPr>
          <a:xfrm>
            <a:off x="914400" y="1313862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 Used extensively in access control lists (ACLs) to define permissions</a:t>
            </a:r>
            <a:endParaRPr/>
          </a:p>
        </p:txBody>
      </p:sp>
      <p:sp>
        <p:nvSpPr>
          <p:cNvPr id="978" name="Google Shape;978;p93"/>
          <p:cNvSpPr txBox="1"/>
          <p:nvPr>
            <p:ph idx="4294967295" type="body"/>
          </p:nvPr>
        </p:nvSpPr>
        <p:spPr>
          <a:xfrm>
            <a:off x="914400" y="1999398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 Identify domain user accounts </a:t>
            </a:r>
            <a:endParaRPr/>
          </a:p>
        </p:txBody>
      </p:sp>
      <p:sp>
        <p:nvSpPr>
          <p:cNvPr id="979" name="Google Shape;979;p93"/>
          <p:cNvSpPr txBox="1"/>
          <p:nvPr>
            <p:ph idx="4294967295" type="body"/>
          </p:nvPr>
        </p:nvSpPr>
        <p:spPr>
          <a:xfrm>
            <a:off x="914400" y="2684935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 </a:t>
            </a:r>
            <a:r>
              <a:rPr lang="en"/>
              <a:t>SIDs determine user authorization level and access rights</a:t>
            </a:r>
            <a:endParaRPr/>
          </a:p>
        </p:txBody>
      </p:sp>
      <p:sp>
        <p:nvSpPr>
          <p:cNvPr id="980" name="Google Shape;980;p93"/>
          <p:cNvSpPr txBox="1"/>
          <p:nvPr>
            <p:ph idx="4294967295" type="body"/>
          </p:nvPr>
        </p:nvSpPr>
        <p:spPr>
          <a:xfrm>
            <a:off x="914400" y="3370472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 Identify members of security groups</a:t>
            </a:r>
            <a:endParaRPr/>
          </a:p>
        </p:txBody>
      </p:sp>
      <p:sp>
        <p:nvSpPr>
          <p:cNvPr id="981" name="Google Shape;981;p93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Windows Users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982" name="Google Shape;982;p93"/>
          <p:cNvSpPr txBox="1"/>
          <p:nvPr>
            <p:ph idx="1" type="subTitle"/>
          </p:nvPr>
        </p:nvSpPr>
        <p:spPr>
          <a:xfrm>
            <a:off x="463225" y="548650"/>
            <a:ext cx="82296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Additional SID properties in networked environments: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94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Windows Users</a:t>
            </a:r>
            <a:endParaRPr/>
          </a:p>
        </p:txBody>
      </p:sp>
      <p:sp>
        <p:nvSpPr>
          <p:cNvPr id="988" name="Google Shape;988;p94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Well-known SIDS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9" name="Google Shape;989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6523" y="308198"/>
            <a:ext cx="361350" cy="402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0" name="Google Shape;990;p94"/>
          <p:cNvGrpSpPr/>
          <p:nvPr/>
        </p:nvGrpSpPr>
        <p:grpSpPr>
          <a:xfrm>
            <a:off x="457200" y="1381425"/>
            <a:ext cx="8229550" cy="586875"/>
            <a:chOff x="457200" y="1305225"/>
            <a:chExt cx="8229550" cy="586875"/>
          </a:xfrm>
        </p:grpSpPr>
        <p:sp>
          <p:nvSpPr>
            <p:cNvPr id="991" name="Google Shape;991;p94"/>
            <p:cNvSpPr/>
            <p:nvPr/>
          </p:nvSpPr>
          <p:spPr>
            <a:xfrm>
              <a:off x="1287175" y="1305225"/>
              <a:ext cx="7399500" cy="5868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92" name="Google Shape;992;p94"/>
            <p:cNvGrpSpPr/>
            <p:nvPr/>
          </p:nvGrpSpPr>
          <p:grpSpPr>
            <a:xfrm>
              <a:off x="457200" y="1381429"/>
              <a:ext cx="776900" cy="459019"/>
              <a:chOff x="457200" y="1466425"/>
              <a:chExt cx="776900" cy="486300"/>
            </a:xfrm>
          </p:grpSpPr>
          <p:sp>
            <p:nvSpPr>
              <p:cNvPr id="993" name="Google Shape;993;p94"/>
              <p:cNvSpPr/>
              <p:nvPr/>
            </p:nvSpPr>
            <p:spPr>
              <a:xfrm>
                <a:off x="457200" y="1466425"/>
                <a:ext cx="695400" cy="486300"/>
              </a:xfrm>
              <a:prstGeom prst="roundRect">
                <a:avLst>
                  <a:gd fmla="val 16667" name="adj"/>
                </a:avLst>
              </a:prstGeom>
              <a:solidFill>
                <a:srgbClr val="FCB91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000"/>
                  <a:buFont typeface="Arial"/>
                  <a:buNone/>
                </a:pPr>
                <a:r>
                  <a:rPr b="0" i="0" lang="en" sz="3000" u="none" cap="none" strike="noStrike">
                    <a:solidFill>
                      <a:srgbClr val="082D49"/>
                    </a:solidFill>
                    <a:latin typeface="Roboto"/>
                    <a:ea typeface="Roboto"/>
                    <a:cs typeface="Roboto"/>
                    <a:sym typeface="Roboto"/>
                  </a:rPr>
                  <a:t>01</a:t>
                </a:r>
                <a:endParaRPr b="0" i="0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994" name="Google Shape;994;p94"/>
              <p:cNvSpPr/>
              <p:nvPr/>
            </p:nvSpPr>
            <p:spPr>
              <a:xfrm rot="5400000">
                <a:off x="973100" y="1624950"/>
                <a:ext cx="333375" cy="188625"/>
              </a:xfrm>
              <a:prstGeom prst="flowChartExtract">
                <a:avLst/>
              </a:prstGeom>
              <a:solidFill>
                <a:srgbClr val="FCB91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</p:grpSp>
        <p:sp>
          <p:nvSpPr>
            <p:cNvPr id="995" name="Google Shape;995;p94"/>
            <p:cNvSpPr txBox="1"/>
            <p:nvPr/>
          </p:nvSpPr>
          <p:spPr>
            <a:xfrm>
              <a:off x="1287250" y="1326600"/>
              <a:ext cx="7399500" cy="56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1" lang="en" sz="1800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Everyone:</a:t>
              </a:r>
              <a:r>
                <a:rPr lang="en" sz="1800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 S-1-1-0 represents all users and groups, including anonymous users.</a:t>
              </a:r>
              <a:endParaRPr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96" name="Google Shape;996;p94"/>
          <p:cNvGrpSpPr/>
          <p:nvPr/>
        </p:nvGrpSpPr>
        <p:grpSpPr>
          <a:xfrm>
            <a:off x="457200" y="2105076"/>
            <a:ext cx="8229550" cy="565500"/>
            <a:chOff x="457200" y="2056525"/>
            <a:chExt cx="8229550" cy="565500"/>
          </a:xfrm>
        </p:grpSpPr>
        <p:sp>
          <p:nvSpPr>
            <p:cNvPr id="997" name="Google Shape;997;p94"/>
            <p:cNvSpPr/>
            <p:nvPr/>
          </p:nvSpPr>
          <p:spPr>
            <a:xfrm>
              <a:off x="1287175" y="2056525"/>
              <a:ext cx="7399500" cy="5655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98" name="Google Shape;998;p94"/>
            <p:cNvGrpSpPr/>
            <p:nvPr/>
          </p:nvGrpSpPr>
          <p:grpSpPr>
            <a:xfrm>
              <a:off x="457200" y="2112505"/>
              <a:ext cx="776900" cy="486300"/>
              <a:chOff x="457200" y="1542625"/>
              <a:chExt cx="776900" cy="486300"/>
            </a:xfrm>
          </p:grpSpPr>
          <p:sp>
            <p:nvSpPr>
              <p:cNvPr id="999" name="Google Shape;999;p94"/>
              <p:cNvSpPr/>
              <p:nvPr/>
            </p:nvSpPr>
            <p:spPr>
              <a:xfrm>
                <a:off x="457200" y="1542625"/>
                <a:ext cx="695400" cy="486300"/>
              </a:xfrm>
              <a:prstGeom prst="roundRect">
                <a:avLst>
                  <a:gd fmla="val 16667" name="adj"/>
                </a:avLst>
              </a:prstGeom>
              <a:solidFill>
                <a:srgbClr val="082D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000"/>
                  <a:buFont typeface="Arial"/>
                  <a:buNone/>
                </a:pPr>
                <a:r>
                  <a:rPr b="0" i="0" lang="en" sz="3000" u="none" cap="none" strike="noStrik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02</a:t>
                </a:r>
                <a:endParaRPr b="0" i="0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000" name="Google Shape;1000;p94"/>
              <p:cNvSpPr/>
              <p:nvPr/>
            </p:nvSpPr>
            <p:spPr>
              <a:xfrm rot="5400000">
                <a:off x="973100" y="1701150"/>
                <a:ext cx="333375" cy="188625"/>
              </a:xfrm>
              <a:prstGeom prst="flowChartExtract">
                <a:avLst/>
              </a:prstGeom>
              <a:solidFill>
                <a:srgbClr val="082D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</p:grpSp>
        <p:sp>
          <p:nvSpPr>
            <p:cNvPr id="1001" name="Google Shape;1001;p94"/>
            <p:cNvSpPr txBox="1"/>
            <p:nvPr/>
          </p:nvSpPr>
          <p:spPr>
            <a:xfrm>
              <a:off x="1287250" y="2077974"/>
              <a:ext cx="7399500" cy="48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1" lang="en" sz="1800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Authenticated Users:</a:t>
              </a:r>
              <a:r>
                <a:rPr lang="en" sz="1800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 S-1-5-11 represents all users who have authenticated to the local or a trusted domain.</a:t>
              </a:r>
              <a:endParaRPr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02" name="Google Shape;1002;p94"/>
          <p:cNvGrpSpPr/>
          <p:nvPr/>
        </p:nvGrpSpPr>
        <p:grpSpPr>
          <a:xfrm>
            <a:off x="457200" y="2807352"/>
            <a:ext cx="8229550" cy="570473"/>
            <a:chOff x="457200" y="2756828"/>
            <a:chExt cx="8229550" cy="570473"/>
          </a:xfrm>
        </p:grpSpPr>
        <p:sp>
          <p:nvSpPr>
            <p:cNvPr id="1003" name="Google Shape;1003;p94"/>
            <p:cNvSpPr/>
            <p:nvPr/>
          </p:nvSpPr>
          <p:spPr>
            <a:xfrm>
              <a:off x="1287175" y="2756828"/>
              <a:ext cx="7399500" cy="5655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04" name="Google Shape;1004;p94"/>
            <p:cNvGrpSpPr/>
            <p:nvPr/>
          </p:nvGrpSpPr>
          <p:grpSpPr>
            <a:xfrm>
              <a:off x="457200" y="2829361"/>
              <a:ext cx="776900" cy="437378"/>
              <a:chOff x="457200" y="1466425"/>
              <a:chExt cx="776900" cy="486300"/>
            </a:xfrm>
          </p:grpSpPr>
          <p:sp>
            <p:nvSpPr>
              <p:cNvPr id="1005" name="Google Shape;1005;p94"/>
              <p:cNvSpPr/>
              <p:nvPr/>
            </p:nvSpPr>
            <p:spPr>
              <a:xfrm>
                <a:off x="457200" y="1466425"/>
                <a:ext cx="695400" cy="486300"/>
              </a:xfrm>
              <a:prstGeom prst="roundRect">
                <a:avLst>
                  <a:gd fmla="val 16667" name="adj"/>
                </a:avLst>
              </a:prstGeom>
              <a:solidFill>
                <a:srgbClr val="0077D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000"/>
                  <a:buFont typeface="Arial"/>
                  <a:buNone/>
                </a:pPr>
                <a:r>
                  <a:rPr b="0" i="0" lang="en" sz="3000" u="none" cap="none" strike="noStrik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03</a:t>
                </a:r>
                <a:endParaRPr b="0" i="0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006" name="Google Shape;1006;p94"/>
              <p:cNvSpPr/>
              <p:nvPr/>
            </p:nvSpPr>
            <p:spPr>
              <a:xfrm rot="5400000">
                <a:off x="973100" y="1624950"/>
                <a:ext cx="333375" cy="188625"/>
              </a:xfrm>
              <a:prstGeom prst="flowChartExtract">
                <a:avLst/>
              </a:prstGeom>
              <a:solidFill>
                <a:srgbClr val="0077D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</p:grpSp>
        <p:sp>
          <p:nvSpPr>
            <p:cNvPr id="1007" name="Google Shape;1007;p94"/>
            <p:cNvSpPr txBox="1"/>
            <p:nvPr/>
          </p:nvSpPr>
          <p:spPr>
            <a:xfrm>
              <a:off x="1287250" y="2761801"/>
              <a:ext cx="7399500" cy="56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1" lang="en" sz="1800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Local System:</a:t>
              </a:r>
              <a:r>
                <a:rPr lang="en" sz="1800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 S-1-5-18 represents the built-in SYSTEM account with full system privileges.</a:t>
              </a:r>
              <a:endParaRPr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08" name="Google Shape;1008;p94"/>
          <p:cNvGrpSpPr/>
          <p:nvPr/>
        </p:nvGrpSpPr>
        <p:grpSpPr>
          <a:xfrm>
            <a:off x="457200" y="3514600"/>
            <a:ext cx="8229550" cy="591900"/>
            <a:chOff x="457200" y="3438400"/>
            <a:chExt cx="8229550" cy="591900"/>
          </a:xfrm>
        </p:grpSpPr>
        <p:sp>
          <p:nvSpPr>
            <p:cNvPr id="1009" name="Google Shape;1009;p94"/>
            <p:cNvSpPr/>
            <p:nvPr/>
          </p:nvSpPr>
          <p:spPr>
            <a:xfrm>
              <a:off x="1287175" y="3438400"/>
              <a:ext cx="7399500" cy="5868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10" name="Google Shape;1010;p94"/>
            <p:cNvGrpSpPr/>
            <p:nvPr/>
          </p:nvGrpSpPr>
          <p:grpSpPr>
            <a:xfrm>
              <a:off x="457200" y="3512829"/>
              <a:ext cx="776900" cy="459019"/>
              <a:chOff x="457200" y="1466425"/>
              <a:chExt cx="776900" cy="486300"/>
            </a:xfrm>
          </p:grpSpPr>
          <p:sp>
            <p:nvSpPr>
              <p:cNvPr id="1011" name="Google Shape;1011;p94"/>
              <p:cNvSpPr/>
              <p:nvPr/>
            </p:nvSpPr>
            <p:spPr>
              <a:xfrm>
                <a:off x="457200" y="1466425"/>
                <a:ext cx="695400" cy="486300"/>
              </a:xfrm>
              <a:prstGeom prst="roundRect">
                <a:avLst>
                  <a:gd fmla="val 16667" name="adj"/>
                </a:avLst>
              </a:prstGeom>
              <a:solidFill>
                <a:srgbClr val="00C7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000"/>
                  <a:buFont typeface="Arial"/>
                  <a:buNone/>
                </a:pPr>
                <a:r>
                  <a:rPr b="0" i="0" lang="en" sz="3000" u="none" cap="none" strike="noStrike">
                    <a:solidFill>
                      <a:srgbClr val="082D49"/>
                    </a:solidFill>
                    <a:latin typeface="Roboto"/>
                    <a:ea typeface="Roboto"/>
                    <a:cs typeface="Roboto"/>
                    <a:sym typeface="Roboto"/>
                  </a:rPr>
                  <a:t>04</a:t>
                </a:r>
                <a:endParaRPr b="0" i="0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012" name="Google Shape;1012;p94"/>
              <p:cNvSpPr/>
              <p:nvPr/>
            </p:nvSpPr>
            <p:spPr>
              <a:xfrm rot="5400000">
                <a:off x="973100" y="1624950"/>
                <a:ext cx="333375" cy="188625"/>
              </a:xfrm>
              <a:prstGeom prst="flowChartExtract">
                <a:avLst/>
              </a:prstGeom>
              <a:solidFill>
                <a:srgbClr val="00C7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</p:grpSp>
        <p:sp>
          <p:nvSpPr>
            <p:cNvPr id="1013" name="Google Shape;1013;p94"/>
            <p:cNvSpPr txBox="1"/>
            <p:nvPr/>
          </p:nvSpPr>
          <p:spPr>
            <a:xfrm>
              <a:off x="1287250" y="3443500"/>
              <a:ext cx="7399500" cy="58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1" lang="en" sz="1850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Administrators:</a:t>
              </a:r>
              <a:r>
                <a:rPr lang="en" sz="1850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 S-1-5-32-544 represents the built-in Administrators group.</a:t>
              </a:r>
              <a:endParaRPr sz="185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95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Windows Users</a:t>
            </a:r>
            <a:endParaRPr/>
          </a:p>
        </p:txBody>
      </p:sp>
      <p:sp>
        <p:nvSpPr>
          <p:cNvPr id="1019" name="Google Shape;1019;p9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0" name="Google Shape;1020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113" y="285795"/>
            <a:ext cx="404175" cy="40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1" name="Google Shape;1021;p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3676" y="1325751"/>
            <a:ext cx="3717473" cy="319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2" name="Google Shape;1022;p95"/>
          <p:cNvSpPr txBox="1"/>
          <p:nvPr/>
        </p:nvSpPr>
        <p:spPr>
          <a:xfrm>
            <a:off x="166950" y="1250650"/>
            <a:ext cx="48624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Similar to Linux’s </a:t>
            </a: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root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Windows uses the </a:t>
            </a: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SYSTEM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account.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Used by OS itself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Highest level of privileges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Essential for core services and processes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Runs critical services, drivers, and processes for: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Managing hardware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Kernel interactions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Executing operations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3" name="Google Shape;1023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58550" y="1045100"/>
            <a:ext cx="4015851" cy="4015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96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Introduction to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Command Prompt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9" name="Google Shape;1029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800" y="1931388"/>
            <a:ext cx="914400" cy="709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97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he Windows </a:t>
            </a:r>
            <a:r>
              <a:rPr b="1" lang="en"/>
              <a:t>Command Prompt</a:t>
            </a:r>
            <a:r>
              <a:rPr lang="en"/>
              <a:t>, also referred to as </a:t>
            </a:r>
            <a:r>
              <a:rPr b="1" lang="en"/>
              <a:t>CMD</a:t>
            </a:r>
            <a:r>
              <a:rPr lang="en"/>
              <a:t> or </a:t>
            </a:r>
            <a:r>
              <a:rPr b="1" lang="en"/>
              <a:t>cmd.exe</a:t>
            </a:r>
            <a:r>
              <a:rPr lang="en"/>
              <a:t>, is the command-line interface for Windows.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98"/>
          <p:cNvSpPr txBox="1"/>
          <p:nvPr>
            <p:ph idx="1" type="body"/>
          </p:nvPr>
        </p:nvSpPr>
        <p:spPr>
          <a:xfrm>
            <a:off x="3657600" y="1269225"/>
            <a:ext cx="5038800" cy="284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Remember environment variables from the </a:t>
            </a:r>
            <a:r>
              <a:rPr b="1" lang="en" sz="3200"/>
              <a:t>Bash programming</a:t>
            </a:r>
            <a:r>
              <a:rPr lang="en" sz="3200"/>
              <a:t> unit?</a:t>
            </a:r>
            <a:endParaRPr sz="32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99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CMD</a:t>
            </a:r>
            <a:r>
              <a:rPr lang="en"/>
              <a:t> and Environment Variables </a:t>
            </a:r>
            <a:endParaRPr/>
          </a:p>
        </p:txBody>
      </p:sp>
      <p:sp>
        <p:nvSpPr>
          <p:cNvPr id="1045" name="Google Shape;1045;p99"/>
          <p:cNvSpPr txBox="1"/>
          <p:nvPr/>
        </p:nvSpPr>
        <p:spPr>
          <a:xfrm>
            <a:off x="394000" y="664025"/>
            <a:ext cx="81912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 Windows, they work the same way—they’re preset by the system and usable in the command line and scripts.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46" name="Google Shape;1046;p99"/>
          <p:cNvGrpSpPr/>
          <p:nvPr/>
        </p:nvGrpSpPr>
        <p:grpSpPr>
          <a:xfrm>
            <a:off x="2175752" y="1659854"/>
            <a:ext cx="5326135" cy="214187"/>
            <a:chOff x="283441" y="1680659"/>
            <a:chExt cx="4879200" cy="200100"/>
          </a:xfrm>
        </p:grpSpPr>
        <p:sp>
          <p:nvSpPr>
            <p:cNvPr id="1047" name="Google Shape;1047;p99"/>
            <p:cNvSpPr/>
            <p:nvPr/>
          </p:nvSpPr>
          <p:spPr>
            <a:xfrm>
              <a:off x="283441" y="1680659"/>
              <a:ext cx="4879200" cy="2001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99"/>
            <p:cNvSpPr/>
            <p:nvPr/>
          </p:nvSpPr>
          <p:spPr>
            <a:xfrm>
              <a:off x="350750" y="1739300"/>
              <a:ext cx="82800" cy="82800"/>
            </a:xfrm>
            <a:prstGeom prst="ellipse">
              <a:avLst/>
            </a:prstGeom>
            <a:solidFill>
              <a:srgbClr val="FF0000">
                <a:alpha val="715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99"/>
            <p:cNvSpPr/>
            <p:nvPr/>
          </p:nvSpPr>
          <p:spPr>
            <a:xfrm>
              <a:off x="462575" y="1739300"/>
              <a:ext cx="82800" cy="828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99"/>
            <p:cNvSpPr/>
            <p:nvPr/>
          </p:nvSpPr>
          <p:spPr>
            <a:xfrm>
              <a:off x="574400" y="1739300"/>
              <a:ext cx="82800" cy="82800"/>
            </a:xfrm>
            <a:prstGeom prst="ellipse">
              <a:avLst/>
            </a:prstGeom>
            <a:solidFill>
              <a:srgbClr val="4FA7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1" name="Google Shape;1051;p99"/>
          <p:cNvSpPr/>
          <p:nvPr/>
        </p:nvSpPr>
        <p:spPr>
          <a:xfrm>
            <a:off x="2175750" y="1873974"/>
            <a:ext cx="5326200" cy="2793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#!/bin/bash</a:t>
            </a:r>
            <a:endParaRPr sz="1800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# set the STRING VARIABLE</a:t>
            </a:r>
            <a:endParaRPr sz="1800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STRING=</a:t>
            </a:r>
            <a:r>
              <a:rPr lang="en" sz="1800">
                <a:solidFill>
                  <a:srgbClr val="FCB91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"Hello World!"</a:t>
            </a:r>
            <a:endParaRPr i="0" sz="1800" u="none" cap="none" strike="noStrike">
              <a:solidFill>
                <a:srgbClr val="FCB912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152400" marR="1524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# </a:t>
            </a:r>
            <a:r>
              <a:rPr lang="en" sz="18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print</a:t>
            </a:r>
            <a:r>
              <a:rPr lang="en" sz="18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 the content of the variable on </a:t>
            </a:r>
            <a:r>
              <a:rPr lang="en" sz="18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screen</a:t>
            </a:r>
            <a:endParaRPr sz="1800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152400" marR="1524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Echo</a:t>
            </a:r>
            <a:r>
              <a:rPr lang="en" sz="1800">
                <a:solidFill>
                  <a:srgbClr val="51D2E8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 </a:t>
            </a:r>
            <a:r>
              <a:rPr lang="en" sz="1800">
                <a:solidFill>
                  <a:srgbClr val="FF0000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$STRING</a:t>
            </a:r>
            <a:r>
              <a:rPr lang="en" sz="18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_</a:t>
            </a:r>
            <a:endParaRPr sz="1800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100"/>
          <p:cNvSpPr txBox="1"/>
          <p:nvPr>
            <p:ph idx="1" type="body"/>
          </p:nvPr>
        </p:nvSpPr>
        <p:spPr>
          <a:xfrm>
            <a:off x="1468100" y="1618425"/>
            <a:ext cx="6339900" cy="25659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/>
              <a:t>Environment variables (envvars)</a:t>
            </a:r>
            <a:r>
              <a:rPr lang="en" sz="2800"/>
              <a:t> 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are special values that contain information about the system, 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such as the user’s home directory or the system's program files directory.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101"/>
          <p:cNvSpPr txBox="1"/>
          <p:nvPr>
            <p:ph idx="4294967295"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>
                <a:solidFill>
                  <a:schemeClr val="accent5"/>
                </a:solidFill>
              </a:rPr>
              <a:t>Common ENV Variables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062" name="Google Shape;1062;p101"/>
          <p:cNvSpPr txBox="1"/>
          <p:nvPr>
            <p:ph idx="4294967295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Envvars can be used for the following:</a:t>
            </a:r>
            <a:endParaRPr/>
          </a:p>
        </p:txBody>
      </p:sp>
      <p:graphicFrame>
        <p:nvGraphicFramePr>
          <p:cNvPr id="1063" name="Google Shape;1063;p101"/>
          <p:cNvGraphicFramePr/>
          <p:nvPr/>
        </p:nvGraphicFramePr>
        <p:xfrm>
          <a:off x="4026625" y="1302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{20793B88-0835-421B-B88A-A213F10EF89B}</a:tableStyleId>
              </a:tblPr>
              <a:tblGrid>
                <a:gridCol w="2339650"/>
                <a:gridCol w="2503400"/>
              </a:tblGrid>
              <a:tr h="43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Environment Variables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3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Default Value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3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2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%CD%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91425" marL="13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Current directory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45700" marB="45700" marR="91425" marL="13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%DATE%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91425" marL="13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Current date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45700" marB="45700" marR="91425" marL="13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2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%OS%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91425" marL="13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Windows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45700" marB="45700" marR="91425" marL="13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%ProgramFiles%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91425" marL="13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C:\Program Files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91425" marL="13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2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%ProgramFiles(x86)%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91425" marL="13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C:\Program Files (x86)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91425" marL="13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%TIME%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91425" marL="13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Current time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45700" marB="45700" marR="91425" marL="13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2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%USERPROFILE%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91425" marL="13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C:\Users\{username}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91425" marL="13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%SYSTEMDRIVE%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91425" marL="13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C:\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91425" marL="13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2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%SYSTEMROOT%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91425" marL="13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C:\Windows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91425" marL="13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64" name="Google Shape;1064;p101"/>
          <p:cNvSpPr txBox="1"/>
          <p:nvPr>
            <p:ph idx="4294967295" type="body"/>
          </p:nvPr>
        </p:nvSpPr>
        <p:spPr>
          <a:xfrm>
            <a:off x="-47400" y="1302625"/>
            <a:ext cx="4162200" cy="17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-2057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Shortening long directory paths</a:t>
            </a:r>
            <a:endParaRPr/>
          </a:p>
          <a:p>
            <a:pPr indent="-205740" lvl="0" marL="32004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Grabbing the current time</a:t>
            </a:r>
            <a:endParaRPr/>
          </a:p>
          <a:p>
            <a:pPr indent="-205740" lvl="0" marL="32004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Finding the location of system files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102"/>
          <p:cNvSpPr txBox="1"/>
          <p:nvPr>
            <p:ph idx="4294967295"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Common ENV Variables</a:t>
            </a:r>
            <a:endParaRPr/>
          </a:p>
        </p:txBody>
      </p:sp>
      <p:sp>
        <p:nvSpPr>
          <p:cNvPr id="1070" name="Google Shape;1070;p102"/>
          <p:cNvSpPr txBox="1"/>
          <p:nvPr>
            <p:ph idx="4294967295" type="subTitle"/>
          </p:nvPr>
        </p:nvSpPr>
        <p:spPr>
          <a:xfrm>
            <a:off x="175" y="533700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Linux variables are designated with a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$</a:t>
            </a:r>
            <a:r>
              <a:rPr lang="en"/>
              <a:t>, while Windows ENV variables </a:t>
            </a:r>
            <a:br>
              <a:rPr lang="en"/>
            </a:br>
            <a:r>
              <a:rPr lang="en"/>
              <a:t>are enclosed with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%</a:t>
            </a:r>
            <a:r>
              <a:rPr lang="en"/>
              <a:t> signs. </a:t>
            </a:r>
            <a:endParaRPr/>
          </a:p>
        </p:txBody>
      </p:sp>
      <p:sp>
        <p:nvSpPr>
          <p:cNvPr id="1071" name="Google Shape;1071;p102"/>
          <p:cNvSpPr txBox="1"/>
          <p:nvPr>
            <p:ph idx="4294967295" type="body"/>
          </p:nvPr>
        </p:nvSpPr>
        <p:spPr>
          <a:xfrm>
            <a:off x="175" y="1609475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r>
              <a:rPr lang="en"/>
              <a:t>For example, to navigate to the 64-bit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Program Files</a:t>
            </a:r>
            <a:r>
              <a:rPr lang="en"/>
              <a:t> folder, we run:</a:t>
            </a:r>
            <a:endParaRPr/>
          </a:p>
        </p:txBody>
      </p:sp>
      <p:sp>
        <p:nvSpPr>
          <p:cNvPr id="1072" name="Google Shape;1072;p102"/>
          <p:cNvSpPr/>
          <p:nvPr/>
        </p:nvSpPr>
        <p:spPr>
          <a:xfrm>
            <a:off x="457200" y="1980900"/>
            <a:ext cx="8412600" cy="648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37150" lIns="457200" spcFirstLastPara="1" rIns="91425" wrap="square" tIns="91425">
            <a:noAutofit/>
          </a:bodyPr>
          <a:lstStyle/>
          <a:p>
            <a:pPr indent="0" lvl="0" marL="0" marR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300" u="none" cap="none" strike="noStrike">
                <a:solidFill>
                  <a:schemeClr val="lt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cd %ProgramFiles%</a:t>
            </a:r>
            <a:endParaRPr b="0" i="0" sz="2300" u="none" cap="none" strike="noStrike">
              <a:solidFill>
                <a:schemeClr val="lt1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  <p:sp>
        <p:nvSpPr>
          <p:cNvPr id="1073" name="Google Shape;1073;p102"/>
          <p:cNvSpPr/>
          <p:nvPr/>
        </p:nvSpPr>
        <p:spPr>
          <a:xfrm>
            <a:off x="457200" y="3269675"/>
            <a:ext cx="8412600" cy="648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457200" spcFirstLastPara="1" rIns="91425" wrap="square" tIns="91425">
            <a:noAutofit/>
          </a:bodyPr>
          <a:lstStyle/>
          <a:p>
            <a:pPr indent="0" lvl="0" marL="0" marR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300" u="none" cap="none" strike="noStrike">
                <a:solidFill>
                  <a:schemeClr val="lt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cd %USERPROFILE%\Desktop</a:t>
            </a:r>
            <a:endParaRPr b="0" i="0" sz="2300" u="none" cap="none" strike="noStrike">
              <a:solidFill>
                <a:schemeClr val="lt1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  <p:sp>
        <p:nvSpPr>
          <p:cNvPr id="1074" name="Google Shape;1074;p102"/>
          <p:cNvSpPr txBox="1"/>
          <p:nvPr>
            <p:ph idx="4294967295" type="body"/>
          </p:nvPr>
        </p:nvSpPr>
        <p:spPr>
          <a:xfrm>
            <a:off x="175" y="2904875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r>
              <a:rPr lang="en" sz="1900">
                <a:solidFill>
                  <a:schemeClr val="accent5"/>
                </a:solidFill>
              </a:rPr>
              <a:t>We can combine ENV variables with regular directory names:</a:t>
            </a:r>
            <a:endParaRPr sz="1900">
              <a:solidFill>
                <a:schemeClr val="accent5"/>
              </a:solidFill>
            </a:endParaRPr>
          </a:p>
        </p:txBody>
      </p:sp>
      <p:sp>
        <p:nvSpPr>
          <p:cNvPr id="1075" name="Google Shape;1075;p102"/>
          <p:cNvSpPr txBox="1"/>
          <p:nvPr>
            <p:ph idx="4294967295" type="body"/>
          </p:nvPr>
        </p:nvSpPr>
        <p:spPr>
          <a:xfrm>
            <a:off x="175" y="4200275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r>
              <a:rPr lang="en">
                <a:solidFill>
                  <a:schemeClr val="accent5"/>
                </a:solidFill>
              </a:rPr>
              <a:t>This would send us to the desktop of the current user. 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103"/>
          <p:cNvSpPr txBox="1"/>
          <p:nvPr>
            <p:ph idx="4294967295"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Common ENV Variables</a:t>
            </a:r>
            <a:endParaRPr/>
          </a:p>
        </p:txBody>
      </p:sp>
      <p:sp>
        <p:nvSpPr>
          <p:cNvPr id="1081" name="Google Shape;1081;p103"/>
          <p:cNvSpPr txBox="1"/>
          <p:nvPr>
            <p:ph idx="4294967295" type="subTitle"/>
          </p:nvPr>
        </p:nvSpPr>
        <p:spPr>
          <a:xfrm>
            <a:off x="0" y="533700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accent5"/>
                </a:solidFill>
              </a:rPr>
              <a:t>We can combine environment variables with regular directory names: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082" name="Google Shape;1082;p103"/>
          <p:cNvSpPr/>
          <p:nvPr/>
        </p:nvSpPr>
        <p:spPr>
          <a:xfrm>
            <a:off x="457200" y="1323675"/>
            <a:ext cx="8412600" cy="648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37150" lIns="457200" spcFirstLastPara="1" rIns="91425" wrap="square" tIns="91425">
            <a:noAutofit/>
          </a:bodyPr>
          <a:lstStyle/>
          <a:p>
            <a:pPr indent="0" lvl="0" marL="0" marR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300" u="none" cap="none" strike="noStrike">
                <a:solidFill>
                  <a:schemeClr val="lt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cd %USERPROFILE%\Desktop </a:t>
            </a:r>
            <a:endParaRPr b="0" i="0" sz="2300" u="none" cap="none" strike="noStrike">
              <a:solidFill>
                <a:schemeClr val="lt1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  <p:sp>
        <p:nvSpPr>
          <p:cNvPr id="1083" name="Google Shape;1083;p103"/>
          <p:cNvSpPr txBox="1"/>
          <p:nvPr>
            <p:ph idx="4294967295" type="body"/>
          </p:nvPr>
        </p:nvSpPr>
        <p:spPr>
          <a:xfrm>
            <a:off x="1006000" y="2452575"/>
            <a:ext cx="56940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rPr lang="en">
                <a:solidFill>
                  <a:schemeClr val="lt1"/>
                </a:solidFill>
                <a:highlight>
                  <a:srgbClr val="000000"/>
                </a:highlight>
                <a:latin typeface="Inconsolata SemiBold"/>
                <a:ea typeface="Inconsolata SemiBold"/>
                <a:cs typeface="Inconsolata SemiBold"/>
                <a:sym typeface="Inconsolata SemiBold"/>
              </a:rPr>
              <a:t>%USERPROFILE%</a:t>
            </a:r>
            <a:r>
              <a:rPr lang="en"/>
              <a:t> is a variable assigned to the value of the current user’s home directory. </a:t>
            </a:r>
            <a:endParaRPr/>
          </a:p>
        </p:txBody>
      </p:sp>
      <p:sp>
        <p:nvSpPr>
          <p:cNvPr id="1084" name="Google Shape;1084;p103"/>
          <p:cNvSpPr/>
          <p:nvPr/>
        </p:nvSpPr>
        <p:spPr>
          <a:xfrm flipH="1" rot="5400000">
            <a:off x="2308725" y="1201575"/>
            <a:ext cx="261900" cy="2035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103"/>
          <p:cNvSpPr/>
          <p:nvPr/>
        </p:nvSpPr>
        <p:spPr>
          <a:xfrm>
            <a:off x="4373000" y="3641075"/>
            <a:ext cx="4450800" cy="621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5486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This is the same as </a:t>
            </a:r>
            <a:r>
              <a:rPr b="1" i="0" lang="en" sz="19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$HOME</a:t>
            </a:r>
            <a:r>
              <a:rPr b="0" i="0" lang="en" sz="1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in Linux.</a:t>
            </a:r>
            <a:endParaRPr b="0" i="0" sz="17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86" name="Google Shape;1086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0" y="3203575"/>
            <a:ext cx="1294325" cy="1496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104"/>
          <p:cNvSpPr txBox="1"/>
          <p:nvPr>
            <p:ph idx="4294967295"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Command Prompt (CMD) </a:t>
            </a:r>
            <a:endParaRPr/>
          </a:p>
        </p:txBody>
      </p:sp>
      <p:sp>
        <p:nvSpPr>
          <p:cNvPr id="1092" name="Google Shape;1092;p104"/>
          <p:cNvSpPr txBox="1"/>
          <p:nvPr>
            <p:ph idx="4294967295" type="subTitle"/>
          </p:nvPr>
        </p:nvSpPr>
        <p:spPr>
          <a:xfrm>
            <a:off x="0" y="573550"/>
            <a:ext cx="88698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5"/>
                </a:solidFill>
              </a:rPr>
              <a:t>Windows Command Prompt (</a:t>
            </a:r>
            <a:r>
              <a:rPr b="1" lang="en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CMD </a:t>
            </a:r>
            <a:r>
              <a:rPr lang="en">
                <a:solidFill>
                  <a:schemeClr val="accent5"/>
                </a:solidFill>
              </a:rPr>
              <a:t>or </a:t>
            </a:r>
            <a:r>
              <a:rPr b="1" lang="en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cmd.exe</a:t>
            </a:r>
            <a:r>
              <a:rPr lang="en">
                <a:solidFill>
                  <a:schemeClr val="accent5"/>
                </a:solidFill>
              </a:rPr>
              <a:t>), is the command-line interface for Windows, comparable to a Unix shell, such as Bash for Linux.</a:t>
            </a:r>
            <a:endParaRPr>
              <a:solidFill>
                <a:schemeClr val="accent5"/>
              </a:solidFill>
            </a:endParaRPr>
          </a:p>
        </p:txBody>
      </p:sp>
      <p:graphicFrame>
        <p:nvGraphicFramePr>
          <p:cNvPr id="1093" name="Google Shape;1093;p104"/>
          <p:cNvGraphicFramePr/>
          <p:nvPr/>
        </p:nvGraphicFramePr>
        <p:xfrm>
          <a:off x="484225" y="1457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{20793B88-0835-421B-B88A-A213F10EF89B}</a:tableStyleId>
              </a:tblPr>
              <a:tblGrid>
                <a:gridCol w="1643250"/>
                <a:gridCol w="2921025"/>
                <a:gridCol w="1951200"/>
              </a:tblGrid>
              <a:tr h="28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lt1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CMD</a:t>
                      </a:r>
                      <a:r>
                        <a:rPr lang="en" sz="16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Command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828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Action 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828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Linux Counterpart 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828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28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u="none" cap="none" strike="noStrike">
                          <a:solidFill>
                            <a:schemeClr val="dk2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cd </a:t>
                      </a:r>
                      <a:r>
                        <a:rPr lang="en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or</a:t>
                      </a:r>
                      <a:r>
                        <a:rPr b="1" lang="en" u="none" cap="none" strike="noStrike">
                          <a:solidFill>
                            <a:schemeClr val="dk2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 chdir</a:t>
                      </a:r>
                      <a:endParaRPr b="1" u="none" cap="none" strike="noStrike">
                        <a:solidFill>
                          <a:schemeClr val="dk2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45700" marB="45700" marR="91425" marL="1828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Change directory</a:t>
                      </a:r>
                      <a:endParaRPr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1828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u="none" cap="none" strike="noStrike">
                          <a:solidFill>
                            <a:schemeClr val="dk2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cd</a:t>
                      </a:r>
                      <a:endParaRPr b="1" u="none" cap="none" strike="noStrike">
                        <a:solidFill>
                          <a:schemeClr val="dk2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45700" marB="45700" marR="91425" marL="1828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u="none" cap="none" strike="noStrike">
                          <a:solidFill>
                            <a:schemeClr val="dk2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dir </a:t>
                      </a:r>
                      <a:endParaRPr b="1" u="none" cap="none" strike="noStrike">
                        <a:solidFill>
                          <a:schemeClr val="dk2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45700" marB="45700" marR="91425" marL="1828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List contents of directory</a:t>
                      </a:r>
                      <a:endParaRPr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1828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u="none" cap="none" strike="noStrike">
                          <a:solidFill>
                            <a:schemeClr val="dk2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ls</a:t>
                      </a:r>
                      <a:endParaRPr b="1" u="none" cap="none" strike="noStrike">
                        <a:solidFill>
                          <a:schemeClr val="dk2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45700" marB="45700" marR="91425" marL="1828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8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u="none" cap="none" strike="noStrike">
                          <a:solidFill>
                            <a:schemeClr val="dk2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md </a:t>
                      </a:r>
                      <a:r>
                        <a:rPr lang="en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or</a:t>
                      </a:r>
                      <a:r>
                        <a:rPr b="1" lang="en" u="none" cap="none" strike="noStrike">
                          <a:solidFill>
                            <a:schemeClr val="dk2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 mkdir</a:t>
                      </a:r>
                      <a:endParaRPr b="1" u="none" cap="none" strike="noStrike">
                        <a:solidFill>
                          <a:schemeClr val="dk2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45700" marB="45700" marR="91425" marL="1828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Create directory</a:t>
                      </a:r>
                      <a:endParaRPr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1828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u="none" cap="none" strike="noStrike">
                        <a:solidFill>
                          <a:schemeClr val="dk2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45700" marB="45700" marR="91425" marL="1828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u="none" cap="none" strike="noStrike">
                          <a:solidFill>
                            <a:schemeClr val="dk2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copy</a:t>
                      </a:r>
                      <a:endParaRPr b="1" u="none" cap="none" strike="noStrike">
                        <a:solidFill>
                          <a:schemeClr val="dk2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45700" marB="45700" marR="91425" marL="1828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Copy file</a:t>
                      </a:r>
                      <a:endParaRPr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1828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u="none" cap="none" strike="noStrike">
                          <a:solidFill>
                            <a:schemeClr val="dk2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cp</a:t>
                      </a:r>
                      <a:endParaRPr b="1" u="none" cap="none" strike="noStrike">
                        <a:solidFill>
                          <a:schemeClr val="dk2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45700" marB="45700" marR="91425" marL="1828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8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u="none" cap="none" strike="noStrike">
                          <a:solidFill>
                            <a:schemeClr val="dk2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move</a:t>
                      </a:r>
                      <a:endParaRPr b="1" u="none" cap="none" strike="noStrike">
                        <a:solidFill>
                          <a:schemeClr val="dk2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45700" marB="45700" marR="91425" marL="1828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Move (cut and paste) files</a:t>
                      </a:r>
                      <a:endParaRPr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1828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u="none" cap="none" strike="noStrike">
                          <a:solidFill>
                            <a:schemeClr val="dk2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mv</a:t>
                      </a:r>
                      <a:endParaRPr b="1" u="none" cap="none" strike="noStrike">
                        <a:solidFill>
                          <a:schemeClr val="dk2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45700" marB="45700" marR="91425" marL="1828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u="none" cap="none" strike="noStrike">
                          <a:solidFill>
                            <a:schemeClr val="dk2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del </a:t>
                      </a:r>
                      <a:r>
                        <a:rPr lang="en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or</a:t>
                      </a:r>
                      <a:r>
                        <a:rPr b="1" lang="en" u="none" cap="none" strike="noStrike">
                          <a:solidFill>
                            <a:schemeClr val="dk2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 erase</a:t>
                      </a:r>
                      <a:endParaRPr b="1" u="none" cap="none" strike="noStrike">
                        <a:solidFill>
                          <a:schemeClr val="dk2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45700" marB="45700" marR="91425" marL="1828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Delete files and directories</a:t>
                      </a:r>
                      <a:endParaRPr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1828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u="none" cap="none" strike="noStrike">
                        <a:solidFill>
                          <a:schemeClr val="dk2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45700" marB="45700" marR="91425" marL="1828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8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u="none" cap="none" strike="noStrike">
                          <a:solidFill>
                            <a:schemeClr val="dk2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rd </a:t>
                      </a:r>
                      <a:r>
                        <a:rPr lang="en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or</a:t>
                      </a:r>
                      <a:r>
                        <a:rPr b="1" lang="en" u="none" cap="none" strike="noStrike">
                          <a:solidFill>
                            <a:schemeClr val="dk2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 rmdir</a:t>
                      </a:r>
                      <a:endParaRPr b="1" u="none" cap="none" strike="noStrike">
                        <a:solidFill>
                          <a:schemeClr val="dk2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45700" marB="45700" marR="91425" marL="1828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Remove a directory if empty</a:t>
                      </a:r>
                      <a:endParaRPr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1828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u="none" cap="none" strike="noStrike">
                        <a:solidFill>
                          <a:schemeClr val="dk2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45700" marB="45700" marR="91425" marL="1828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u="none" cap="none" strike="noStrike">
                          <a:solidFill>
                            <a:schemeClr val="dk2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find </a:t>
                      </a:r>
                      <a:endParaRPr b="1" u="none" cap="none" strike="noStrike">
                        <a:solidFill>
                          <a:schemeClr val="dk2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45700" marB="45700" marR="91425" marL="1828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Search a file for specified string</a:t>
                      </a:r>
                      <a:endParaRPr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1828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u="none" cap="none" strike="noStrike">
                        <a:solidFill>
                          <a:schemeClr val="dk2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45700" marB="45700" marR="91425" marL="1828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8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u="none" cap="none" strike="noStrike">
                          <a:solidFill>
                            <a:schemeClr val="dk2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exit</a:t>
                      </a:r>
                      <a:endParaRPr b="1" u="none" cap="none" strike="noStrike">
                        <a:solidFill>
                          <a:schemeClr val="dk2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45700" marB="45700" marR="91425" marL="1828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Close CMD</a:t>
                      </a:r>
                      <a:endParaRPr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1828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u="none" cap="none" strike="noStrike">
                        <a:solidFill>
                          <a:schemeClr val="dk2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45700" marB="45700" marR="91425" marL="1828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u="none" cap="none" strike="noStrike">
                          <a:solidFill>
                            <a:schemeClr val="dk2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type </a:t>
                      </a:r>
                      <a:endParaRPr b="1" u="none" cap="none" strike="noStrike">
                        <a:solidFill>
                          <a:schemeClr val="dk2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45700" marB="45700" marR="91425" marL="1828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Show contents of specified file</a:t>
                      </a:r>
                      <a:endParaRPr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1828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u="none" cap="none" strike="noStrike">
                          <a:solidFill>
                            <a:schemeClr val="dk2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cat</a:t>
                      </a:r>
                      <a:endParaRPr b="1" u="none" cap="none" strike="noStrike">
                        <a:solidFill>
                          <a:schemeClr val="dk2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45700" marB="45700" marR="91425" marL="18287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1094" name="Google Shape;1094;p104"/>
          <p:cNvSpPr txBox="1"/>
          <p:nvPr/>
        </p:nvSpPr>
        <p:spPr>
          <a:xfrm>
            <a:off x="7231363" y="1465563"/>
            <a:ext cx="1766400" cy="27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4572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NOTE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104"/>
          <p:cNvSpPr txBox="1"/>
          <p:nvPr/>
        </p:nvSpPr>
        <p:spPr>
          <a:xfrm>
            <a:off x="7231375" y="1732475"/>
            <a:ext cx="1766400" cy="341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Command prompts are not case-sensitive with files and directories. </a:t>
            </a:r>
            <a:endParaRPr i="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u="none" cap="none" strike="noStrike">
                <a:solidFill>
                  <a:schemeClr val="dk2"/>
                </a:solidFill>
                <a:latin typeface="Inconsolata SemiBold"/>
                <a:ea typeface="Inconsolata SemiBold"/>
                <a:cs typeface="Inconsolata SemiBold"/>
                <a:sym typeface="Inconsolata SemiBold"/>
              </a:rPr>
              <a:t>cd “Program files”</a:t>
            </a:r>
            <a:r>
              <a:rPr b="0" i="0" lang="en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en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is the same as </a:t>
            </a:r>
            <a:r>
              <a:rPr b="0" i="0" lang="en" u="none" cap="none" strike="noStrike">
                <a:solidFill>
                  <a:schemeClr val="dk2"/>
                </a:solidFill>
                <a:latin typeface="Inconsolata SemiBold"/>
                <a:ea typeface="Inconsolata SemiBold"/>
                <a:cs typeface="Inconsolata SemiBold"/>
                <a:sym typeface="Inconsolata SemiBold"/>
              </a:rPr>
              <a:t>cd “PROGRAM FILES”.</a:t>
            </a:r>
            <a:endParaRPr b="0" i="0" u="none" cap="none" strike="noStrike">
              <a:solidFill>
                <a:schemeClr val="dk2"/>
              </a:solidFill>
              <a:latin typeface="Inconsolata SemiBold"/>
              <a:ea typeface="Inconsolata SemiBold"/>
              <a:cs typeface="Inconsolata SemiBold"/>
              <a:sym typeface="Inconsolat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Use quotes around </a:t>
            </a:r>
            <a:br>
              <a:rPr i="0" lang="en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name of a file </a:t>
            </a:r>
            <a:br>
              <a:rPr i="0" lang="en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or directory that contains spaces. </a:t>
            </a:r>
            <a:endParaRPr i="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96" name="Google Shape;1096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7325" y="885876"/>
            <a:ext cx="928274" cy="928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105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CMD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Parameters and To-Do List</a:t>
            </a:r>
            <a:endParaRPr b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106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 minutes</a:t>
            </a:r>
            <a:endParaRPr/>
          </a:p>
        </p:txBody>
      </p:sp>
      <p:sp>
        <p:nvSpPr>
          <p:cNvPr id="1107" name="Google Shape;1107;p106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to Task Manager and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CMD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108" name="Google Shape;1108;p106"/>
          <p:cNvSpPr txBox="1"/>
          <p:nvPr>
            <p:ph idx="3" type="body"/>
          </p:nvPr>
        </p:nvSpPr>
        <p:spPr>
          <a:xfrm>
            <a:off x="362575" y="1061800"/>
            <a:ext cx="83241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In this activity, you will play the role of a junior systems administrator at Good Corp, Inc.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Your CIO has requested that you start a baseline report about a Windows machine. In an upcoming lesson, this Windows workstation will be joined to an Active Directory Domain Controller.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Your CIO has requested that you do the following on the Windows workstation: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Use Task Manager to clean up running and startup processes.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Use </a:t>
            </a:r>
            <a:r>
              <a:rPr b="1" lang="en" sz="1600">
                <a:latin typeface="Inconsolata"/>
                <a:ea typeface="Inconsolata"/>
                <a:cs typeface="Inconsolata"/>
                <a:sym typeface="Inconsolata"/>
              </a:rPr>
              <a:t>CMD</a:t>
            </a:r>
            <a:r>
              <a:rPr lang="en" sz="1600"/>
              <a:t> to create a simple text file in the current user's Desktop directory called </a:t>
            </a:r>
            <a:r>
              <a:rPr b="1" lang="en" sz="1600"/>
              <a:t>report.txt</a:t>
            </a:r>
            <a:r>
              <a:rPr lang="en" sz="1600"/>
              <a:t>. You will later append Windows system information to it.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10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800">
                <a:latin typeface="Roboto"/>
                <a:ea typeface="Roboto"/>
                <a:cs typeface="Roboto"/>
                <a:sym typeface="Roboto"/>
              </a:rPr>
              <a:t>Users, Groups, and Password </a:t>
            </a:r>
            <a:r>
              <a:rPr lang="en" sz="3800">
                <a:latin typeface="Roboto"/>
                <a:ea typeface="Roboto"/>
                <a:cs typeface="Roboto"/>
                <a:sym typeface="Roboto"/>
              </a:rPr>
              <a:t>Policies</a:t>
            </a:r>
            <a:endParaRPr sz="3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26" name="Google Shape;1126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5650" y="1896675"/>
            <a:ext cx="792700" cy="7786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111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Next, we’ll use the command-line tool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net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manage user accounts, groups, and password policies.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112"/>
          <p:cNvSpPr txBox="1"/>
          <p:nvPr>
            <p:ph idx="4294967295" type="subTitle"/>
          </p:nvPr>
        </p:nvSpPr>
        <p:spPr>
          <a:xfrm>
            <a:off x="467725" y="1937825"/>
            <a:ext cx="2426700" cy="26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For adding, removing, and managing users.</a:t>
            </a:r>
            <a:endParaRPr/>
          </a:p>
        </p:txBody>
      </p:sp>
      <p:sp>
        <p:nvSpPr>
          <p:cNvPr id="1137" name="Google Shape;1137;p112"/>
          <p:cNvSpPr txBox="1"/>
          <p:nvPr>
            <p:ph idx="4294967295" type="subTitle"/>
          </p:nvPr>
        </p:nvSpPr>
        <p:spPr>
          <a:xfrm>
            <a:off x="3418425" y="1937825"/>
            <a:ext cx="2371500" cy="26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For adding, removing, and managing local groups.</a:t>
            </a:r>
            <a:endParaRPr/>
          </a:p>
        </p:txBody>
      </p:sp>
      <p:sp>
        <p:nvSpPr>
          <p:cNvPr id="1138" name="Google Shape;1138;p112"/>
          <p:cNvSpPr txBox="1"/>
          <p:nvPr>
            <p:ph idx="4294967295" type="subTitle"/>
          </p:nvPr>
        </p:nvSpPr>
        <p:spPr>
          <a:xfrm>
            <a:off x="6345975" y="1938575"/>
            <a:ext cx="2426700" cy="26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For viewing password and logon requirements for users to enforce password security policies.</a:t>
            </a:r>
            <a:endParaRPr/>
          </a:p>
        </p:txBody>
      </p:sp>
      <p:sp>
        <p:nvSpPr>
          <p:cNvPr id="1139" name="Google Shape;1139;p112"/>
          <p:cNvSpPr txBox="1"/>
          <p:nvPr>
            <p:ph idx="4294967295" type="subTitle"/>
          </p:nvPr>
        </p:nvSpPr>
        <p:spPr>
          <a:xfrm>
            <a:off x="467725" y="1345000"/>
            <a:ext cx="21855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000">
                <a:solidFill>
                  <a:schemeClr val="lt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net user</a:t>
            </a:r>
            <a:endParaRPr sz="2000">
              <a:solidFill>
                <a:schemeClr val="lt1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  <p:sp>
        <p:nvSpPr>
          <p:cNvPr id="1140" name="Google Shape;1140;p112"/>
          <p:cNvSpPr txBox="1"/>
          <p:nvPr>
            <p:ph idx="4294967295" type="subTitle"/>
          </p:nvPr>
        </p:nvSpPr>
        <p:spPr>
          <a:xfrm>
            <a:off x="3418425" y="1345000"/>
            <a:ext cx="23715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000">
                <a:latin typeface="Inconsolata Medium"/>
                <a:ea typeface="Inconsolata Medium"/>
                <a:cs typeface="Inconsolata Medium"/>
                <a:sym typeface="Inconsolata Medium"/>
              </a:rPr>
              <a:t>net localgroup</a:t>
            </a:r>
            <a:endParaRPr sz="2000"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  <p:sp>
        <p:nvSpPr>
          <p:cNvPr id="1141" name="Google Shape;1141;p112"/>
          <p:cNvSpPr txBox="1"/>
          <p:nvPr>
            <p:ph idx="4294967295" type="subTitle"/>
          </p:nvPr>
        </p:nvSpPr>
        <p:spPr>
          <a:xfrm>
            <a:off x="6345950" y="1345000"/>
            <a:ext cx="24267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000">
                <a:solidFill>
                  <a:schemeClr val="lt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net accounts</a:t>
            </a:r>
            <a:endParaRPr sz="2000">
              <a:solidFill>
                <a:schemeClr val="lt1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  <p:sp>
        <p:nvSpPr>
          <p:cNvPr id="1142" name="Google Shape;1142;p112"/>
          <p:cNvSpPr txBox="1"/>
          <p:nvPr>
            <p:ph idx="2" type="title"/>
          </p:nvPr>
        </p:nvSpPr>
        <p:spPr>
          <a:xfrm>
            <a:off x="-6000" y="5914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We’ll be using the following </a:t>
            </a:r>
            <a:r>
              <a:rPr b="1" lang="en" sz="1800">
                <a:latin typeface="Inconsolata"/>
                <a:ea typeface="Inconsolata"/>
                <a:cs typeface="Inconsolata"/>
                <a:sym typeface="Inconsolata"/>
              </a:rPr>
              <a:t>net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utilities: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3" name="Google Shape;1143;p11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net</a:t>
            </a:r>
            <a:endParaRPr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113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net</a:t>
            </a:r>
            <a:endParaRPr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149" name="Google Shape;1149;p11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n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et </a:t>
            </a:r>
            <a:r>
              <a:rPr lang="en"/>
              <a:t>can be used to set password policies</a:t>
            </a:r>
            <a:endParaRPr/>
          </a:p>
        </p:txBody>
      </p:sp>
      <p:sp>
        <p:nvSpPr>
          <p:cNvPr id="1150" name="Google Shape;1150;p113"/>
          <p:cNvSpPr txBox="1"/>
          <p:nvPr>
            <p:ph idx="2" type="body"/>
          </p:nvPr>
        </p:nvSpPr>
        <p:spPr>
          <a:xfrm>
            <a:off x="461225" y="1063525"/>
            <a:ext cx="47007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minimum number of characters required for a password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amount of time before passwords expire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minimum number of days before a password can be changed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number of times a password must be unique before it can be reused again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1" name="Google Shape;1151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044" y="310675"/>
            <a:ext cx="372306" cy="36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2" name="Google Shape;1152;p113"/>
          <p:cNvPicPr preferRelativeResize="0"/>
          <p:nvPr/>
        </p:nvPicPr>
        <p:blipFill rotWithShape="1">
          <a:blip r:embed="rId4">
            <a:alphaModFix/>
          </a:blip>
          <a:srcRect b="0" l="-1760" r="0" t="0"/>
          <a:stretch/>
        </p:blipFill>
        <p:spPr>
          <a:xfrm>
            <a:off x="5598825" y="1941060"/>
            <a:ext cx="3125726" cy="2001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3" name="Google Shape;1153;p1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23050" y="5537425"/>
            <a:ext cx="3677276" cy="3677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114"/>
          <p:cNvSpPr txBox="1"/>
          <p:nvPr>
            <p:ph idx="1" type="body"/>
          </p:nvPr>
        </p:nvSpPr>
        <p:spPr>
          <a:xfrm>
            <a:off x="4751575" y="1015950"/>
            <a:ext cx="4173900" cy="3111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Your CIO was curious about the groups and password policies on the Windows workstation. You are to retrieve more information from this Windows workstation using the </a:t>
            </a:r>
            <a:r>
              <a:rPr b="1" lang="en" sz="1600">
                <a:latin typeface="Inconsolata"/>
                <a:ea typeface="Inconsolata"/>
                <a:cs typeface="Inconsolata"/>
                <a:sym typeface="Inconsolata"/>
              </a:rPr>
              <a:t>net</a:t>
            </a:r>
            <a:r>
              <a:rPr lang="en" sz="1600"/>
              <a:t> command-line utility.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Use </a:t>
            </a:r>
            <a:r>
              <a:rPr b="1" lang="en" sz="1600">
                <a:latin typeface="Inconsolata"/>
                <a:ea typeface="Inconsolata"/>
                <a:cs typeface="Inconsolata"/>
                <a:sym typeface="Inconsolata"/>
              </a:rPr>
              <a:t>net</a:t>
            </a:r>
            <a:r>
              <a:rPr lang="en" sz="1600"/>
              <a:t> to: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Enumerate users to see </a:t>
            </a:r>
            <a:r>
              <a:rPr b="1" lang="en" sz="1600">
                <a:latin typeface="Inconsolata"/>
                <a:ea typeface="Inconsolata"/>
                <a:cs typeface="Inconsolata"/>
                <a:sym typeface="Inconsolata"/>
              </a:rPr>
              <a:t>net </a:t>
            </a:r>
            <a:r>
              <a:rPr lang="en" sz="1600"/>
              <a:t>output.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Enumerate </a:t>
            </a:r>
            <a:r>
              <a:rPr b="1" lang="en" sz="1600">
                <a:latin typeface="Inconsolata"/>
                <a:ea typeface="Inconsolata"/>
                <a:cs typeface="Inconsolata"/>
                <a:sym typeface="Inconsolata"/>
              </a:rPr>
              <a:t>azadmins </a:t>
            </a:r>
            <a:r>
              <a:rPr lang="en" sz="1600"/>
              <a:t>group and password policies.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Enumerate local groups.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Enumerate Windows workstation current password policies.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cxnSp>
        <p:nvCxnSpPr>
          <p:cNvPr id="1159" name="Google Shape;1159;p114"/>
          <p:cNvCxnSpPr/>
          <p:nvPr/>
        </p:nvCxnSpPr>
        <p:spPr>
          <a:xfrm>
            <a:off x="-9375" y="8537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160" name="Google Shape;1160;p114"/>
          <p:cNvSpPr txBox="1"/>
          <p:nvPr/>
        </p:nvSpPr>
        <p:spPr>
          <a:xfrm>
            <a:off x="724200" y="203600"/>
            <a:ext cx="568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Demonstration</a:t>
            </a:r>
            <a:r>
              <a:rPr lang="en" sz="2600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rPr>
              <a:t> Scenario</a:t>
            </a:r>
            <a:endParaRPr sz="2600">
              <a:solidFill>
                <a:schemeClr val="accent5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61" name="Google Shape;1161;p114"/>
          <p:cNvSpPr/>
          <p:nvPr/>
        </p:nvSpPr>
        <p:spPr>
          <a:xfrm>
            <a:off x="136025" y="11517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114"/>
          <p:cNvSpPr txBox="1"/>
          <p:nvPr/>
        </p:nvSpPr>
        <p:spPr>
          <a:xfrm>
            <a:off x="724200" y="478650"/>
            <a:ext cx="66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163" name="Google Shape;1163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25" y="203600"/>
            <a:ext cx="399097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4" name="Google Shape;1164;p1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2475" y="2036475"/>
            <a:ext cx="3287048" cy="1751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5" name="Google Shape;1165;p1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4778175" y="954150"/>
            <a:ext cx="4446774" cy="3553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115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net</a:t>
            </a:r>
            <a:endParaRPr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116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r>
              <a:rPr lang="en"/>
              <a:t>0 minutes</a:t>
            </a:r>
            <a:endParaRPr/>
          </a:p>
        </p:txBody>
      </p:sp>
      <p:sp>
        <p:nvSpPr>
          <p:cNvPr id="1176" name="Google Shape;1176;p116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Users, Groups, and Password Policies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177" name="Google Shape;1177;p116"/>
          <p:cNvSpPr txBox="1"/>
          <p:nvPr>
            <p:ph idx="3" type="body"/>
          </p:nvPr>
        </p:nvSpPr>
        <p:spPr>
          <a:xfrm>
            <a:off x="457200" y="1508309"/>
            <a:ext cx="7882200" cy="23751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CIO is curious about what groups and password policies are on the Windows workstation.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are tasked with retrieving more information from this Windows workstation using the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net</a:t>
            </a:r>
            <a:r>
              <a:rPr lang="en"/>
              <a:t> command-line utility.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78" name="Google Shape;1178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119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Creating 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Users and Setting</a:t>
            </a:r>
            <a:endParaRPr b="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Password Policies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92" name="Google Shape;1192;p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7750" y="1691623"/>
            <a:ext cx="1001450" cy="98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120"/>
          <p:cNvSpPr txBox="1"/>
          <p:nvPr/>
        </p:nvSpPr>
        <p:spPr>
          <a:xfrm>
            <a:off x="4271275" y="2403350"/>
            <a:ext cx="4575900" cy="23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We’ve discussed the importance of password policies in earlier Linux units.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Now we'll demonstrate applying similar concepts in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Windows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121"/>
          <p:cNvSpPr txBox="1"/>
          <p:nvPr>
            <p:ph idx="1" type="body"/>
          </p:nvPr>
        </p:nvSpPr>
        <p:spPr>
          <a:xfrm>
            <a:off x="311700" y="1044400"/>
            <a:ext cx="4474800" cy="3882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we saw at the end of the previous activity, there wasn't a minimum password length set. Every organization should have a minimum password length policy.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We'll use the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net user</a:t>
            </a:r>
            <a:r>
              <a:rPr lang="en"/>
              <a:t> utility to create Windows user accounts for  two new users: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Senior Developer, </a:t>
            </a:r>
            <a:r>
              <a:rPr b="1" lang="en"/>
              <a:t>Andrea</a:t>
            </a:r>
            <a:endParaRPr b="1"/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SzPts val="1800"/>
              <a:buChar char="○"/>
            </a:pPr>
            <a:r>
              <a:rPr lang="en"/>
              <a:t>Sales Representative, </a:t>
            </a:r>
            <a:r>
              <a:rPr b="1" lang="en"/>
              <a:t>Barbara</a:t>
            </a:r>
            <a:endParaRPr/>
          </a:p>
        </p:txBody>
      </p:sp>
      <p:cxnSp>
        <p:nvCxnSpPr>
          <p:cNvPr id="1203" name="Google Shape;1203;p121"/>
          <p:cNvCxnSpPr/>
          <p:nvPr/>
        </p:nvCxnSpPr>
        <p:spPr>
          <a:xfrm>
            <a:off x="-9375" y="8537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204" name="Google Shape;1204;p121"/>
          <p:cNvSpPr txBox="1"/>
          <p:nvPr/>
        </p:nvSpPr>
        <p:spPr>
          <a:xfrm>
            <a:off x="724200" y="203600"/>
            <a:ext cx="568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Demonstration</a:t>
            </a:r>
            <a:r>
              <a:rPr lang="en" sz="2600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rPr>
              <a:t> Scenario</a:t>
            </a:r>
            <a:endParaRPr sz="2600">
              <a:solidFill>
                <a:schemeClr val="accent5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05" name="Google Shape;1205;p121"/>
          <p:cNvSpPr/>
          <p:nvPr/>
        </p:nvSpPr>
        <p:spPr>
          <a:xfrm>
            <a:off x="136025" y="11517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121"/>
          <p:cNvSpPr txBox="1"/>
          <p:nvPr/>
        </p:nvSpPr>
        <p:spPr>
          <a:xfrm>
            <a:off x="724200" y="478650"/>
            <a:ext cx="66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207" name="Google Shape;1207;p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25" y="203600"/>
            <a:ext cx="399097" cy="393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8" name="Google Shape;1208;p121"/>
          <p:cNvGrpSpPr/>
          <p:nvPr/>
        </p:nvGrpSpPr>
        <p:grpSpPr>
          <a:xfrm>
            <a:off x="4571998" y="1669574"/>
            <a:ext cx="4474772" cy="2869229"/>
            <a:chOff x="3744100" y="1183050"/>
            <a:chExt cx="5523727" cy="3309375"/>
          </a:xfrm>
        </p:grpSpPr>
        <p:pic>
          <p:nvPicPr>
            <p:cNvPr id="1209" name="Google Shape;1209;p1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44100" y="1183050"/>
              <a:ext cx="5523727" cy="3309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0" name="Google Shape;1210;p121"/>
            <p:cNvSpPr txBox="1"/>
            <p:nvPr/>
          </p:nvSpPr>
          <p:spPr>
            <a:xfrm>
              <a:off x="6773966" y="1874101"/>
              <a:ext cx="1276500" cy="53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" sz="1800" u="none" cap="none" strike="noStrike">
                  <a:solidFill>
                    <a:schemeClr val="dk2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Barbara</a:t>
              </a:r>
              <a:endParaRPr b="0" i="0" sz="18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1211" name="Google Shape;1211;p121"/>
            <p:cNvSpPr txBox="1"/>
            <p:nvPr/>
          </p:nvSpPr>
          <p:spPr>
            <a:xfrm>
              <a:off x="5039270" y="1874101"/>
              <a:ext cx="1276500" cy="53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" sz="1800" u="none" cap="none" strike="noStrike">
                  <a:solidFill>
                    <a:schemeClr val="dk2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Andrea</a:t>
              </a:r>
              <a:endParaRPr b="0" i="0" sz="18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122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Adding Users and Setting Password Policies</a:t>
            </a:r>
            <a:endParaRPr b="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123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 Minutes</a:t>
            </a:r>
            <a:endParaRPr/>
          </a:p>
        </p:txBody>
      </p:sp>
      <p:sp>
        <p:nvSpPr>
          <p:cNvPr id="1222" name="Google Shape;1222;p123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Users, Groups, and Password Policies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223" name="Google Shape;1223;p123"/>
          <p:cNvSpPr txBox="1"/>
          <p:nvPr>
            <p:ph idx="3" type="body"/>
          </p:nvPr>
        </p:nvSpPr>
        <p:spPr>
          <a:xfrm>
            <a:off x="457200" y="1371588"/>
            <a:ext cx="7882200" cy="3144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the last activity, your CIO had you use the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net</a:t>
            </a:r>
            <a:r>
              <a:rPr lang="en"/>
              <a:t> command-line tool to find various types of information, such as the local groups on the machine and the existing password policy, with accounts.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Your CIO noticed that the previous password policies were not very strict, and wants to enforce new password policies on this Windows workstation for the next two new users: Senior </a:t>
            </a:r>
            <a:r>
              <a:rPr lang="en"/>
              <a:t>Developer,</a:t>
            </a:r>
            <a:r>
              <a:rPr lang="en"/>
              <a:t> </a:t>
            </a:r>
            <a:r>
              <a:rPr b="1" lang="en"/>
              <a:t>Andrew</a:t>
            </a:r>
            <a:r>
              <a:rPr lang="en"/>
              <a:t>, and Sales Representative, </a:t>
            </a:r>
            <a:r>
              <a:rPr b="1" lang="en"/>
              <a:t>Bob</a:t>
            </a:r>
            <a:r>
              <a:rPr lang="en"/>
              <a:t>.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24" name="Google Shape;1224;p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126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Task Scheduling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b="0" lang="en">
                <a:latin typeface="Roboto"/>
                <a:ea typeface="Roboto"/>
                <a:cs typeface="Roboto"/>
                <a:sym typeface="Roboto"/>
              </a:rPr>
              <a:t>(Optional/Time Permitting)</a:t>
            </a:r>
            <a:endParaRPr b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38" name="Google Shape;1238;p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7750" y="1691623"/>
            <a:ext cx="1001450" cy="98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127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/>
              <a:t>Task Scheduler </a:t>
            </a:r>
            <a:r>
              <a:rPr lang="en" sz="3100"/>
              <a:t>is a GUI tool that allows system administrators </a:t>
            </a:r>
            <a:endParaRPr sz="3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to automate the execution of scripts and applications on a Windows system.</a:t>
            </a:r>
            <a:endParaRPr sz="31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128"/>
          <p:cNvSpPr txBox="1"/>
          <p:nvPr>
            <p:ph idx="4294967295" type="subTitle"/>
          </p:nvPr>
        </p:nvSpPr>
        <p:spPr>
          <a:xfrm>
            <a:off x="0" y="1228725"/>
            <a:ext cx="38085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548625" spcFirstLastPara="1" rIns="36575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600">
                <a:solidFill>
                  <a:schemeClr val="accent5"/>
                </a:solidFill>
              </a:rPr>
              <a:t>Similar to </a:t>
            </a:r>
            <a:r>
              <a:rPr b="1" lang="en" sz="26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cronjobs</a:t>
            </a:r>
            <a:r>
              <a:rPr lang="en" sz="2600">
                <a:solidFill>
                  <a:schemeClr val="accent5"/>
                </a:solidFill>
              </a:rPr>
              <a:t>, tasks can be set to execute at specific times, or a certain amount of time after a user logs in.</a:t>
            </a:r>
            <a:endParaRPr sz="2600">
              <a:solidFill>
                <a:schemeClr val="accent5"/>
              </a:solidFill>
            </a:endParaRPr>
          </a:p>
        </p:txBody>
      </p:sp>
      <p:sp>
        <p:nvSpPr>
          <p:cNvPr id="1249" name="Google Shape;1249;p128"/>
          <p:cNvSpPr/>
          <p:nvPr/>
        </p:nvSpPr>
        <p:spPr>
          <a:xfrm>
            <a:off x="161925" y="504825"/>
            <a:ext cx="8791500" cy="22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0" name="Google Shape;1250;p128"/>
          <p:cNvPicPr preferRelativeResize="0"/>
          <p:nvPr/>
        </p:nvPicPr>
        <p:blipFill rotWithShape="1">
          <a:blip r:embed="rId3">
            <a:alphaModFix/>
          </a:blip>
          <a:srcRect b="0" l="15013" r="16210" t="0"/>
          <a:stretch/>
        </p:blipFill>
        <p:spPr>
          <a:xfrm>
            <a:off x="3195600" y="361950"/>
            <a:ext cx="5569301" cy="455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129"/>
          <p:cNvSpPr/>
          <p:nvPr/>
        </p:nvSpPr>
        <p:spPr>
          <a:xfrm>
            <a:off x="1197873" y="1594775"/>
            <a:ext cx="1985400" cy="2301000"/>
          </a:xfrm>
          <a:prstGeom prst="rect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p129"/>
          <p:cNvSpPr/>
          <p:nvPr/>
        </p:nvSpPr>
        <p:spPr>
          <a:xfrm>
            <a:off x="3300075" y="1594775"/>
            <a:ext cx="1985400" cy="2301000"/>
          </a:xfrm>
          <a:prstGeom prst="rect">
            <a:avLst/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129"/>
          <p:cNvSpPr/>
          <p:nvPr/>
        </p:nvSpPr>
        <p:spPr>
          <a:xfrm>
            <a:off x="5402275" y="1594775"/>
            <a:ext cx="1954200" cy="2301000"/>
          </a:xfrm>
          <a:prstGeom prst="rect">
            <a:avLst/>
          </a:prstGeom>
          <a:solidFill>
            <a:srgbClr val="AAD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8" name="Google Shape;1258;p129"/>
          <p:cNvGrpSpPr/>
          <p:nvPr/>
        </p:nvGrpSpPr>
        <p:grpSpPr>
          <a:xfrm>
            <a:off x="3012183" y="2515767"/>
            <a:ext cx="459000" cy="459000"/>
            <a:chOff x="4898908" y="4195167"/>
            <a:chExt cx="459000" cy="459000"/>
          </a:xfrm>
        </p:grpSpPr>
        <p:sp>
          <p:nvSpPr>
            <p:cNvPr id="1259" name="Google Shape;1259;p129"/>
            <p:cNvSpPr/>
            <p:nvPr/>
          </p:nvSpPr>
          <p:spPr>
            <a:xfrm>
              <a:off x="4898908" y="4195167"/>
              <a:ext cx="459000" cy="459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129"/>
            <p:cNvSpPr/>
            <p:nvPr/>
          </p:nvSpPr>
          <p:spPr>
            <a:xfrm>
              <a:off x="5101067" y="4330887"/>
              <a:ext cx="93400" cy="187578"/>
            </a:xfrm>
            <a:custGeom>
              <a:rect b="b" l="l" r="r" t="t"/>
              <a:pathLst>
                <a:path extrusionOk="0" fill="none" h="206130" w="102637">
                  <a:moveTo>
                    <a:pt x="0" y="1"/>
                  </a:moveTo>
                  <a:lnTo>
                    <a:pt x="102637" y="103065"/>
                  </a:lnTo>
                  <a:lnTo>
                    <a:pt x="0" y="206129"/>
                  </a:lnTo>
                </a:path>
              </a:pathLst>
            </a:custGeom>
            <a:noFill/>
            <a:ln cap="rnd" cmpd="sng" w="19050">
              <a:solidFill>
                <a:srgbClr val="082D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1" name="Google Shape;1261;p129"/>
          <p:cNvGrpSpPr/>
          <p:nvPr/>
        </p:nvGrpSpPr>
        <p:grpSpPr>
          <a:xfrm>
            <a:off x="5101983" y="2515767"/>
            <a:ext cx="459000" cy="459000"/>
            <a:chOff x="4898908" y="4195167"/>
            <a:chExt cx="459000" cy="459000"/>
          </a:xfrm>
        </p:grpSpPr>
        <p:sp>
          <p:nvSpPr>
            <p:cNvPr id="1262" name="Google Shape;1262;p129"/>
            <p:cNvSpPr/>
            <p:nvPr/>
          </p:nvSpPr>
          <p:spPr>
            <a:xfrm>
              <a:off x="4898908" y="4195167"/>
              <a:ext cx="459000" cy="459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129"/>
            <p:cNvSpPr/>
            <p:nvPr/>
          </p:nvSpPr>
          <p:spPr>
            <a:xfrm>
              <a:off x="5101067" y="4330887"/>
              <a:ext cx="93400" cy="187578"/>
            </a:xfrm>
            <a:custGeom>
              <a:rect b="b" l="l" r="r" t="t"/>
              <a:pathLst>
                <a:path extrusionOk="0" fill="none" h="206130" w="102637">
                  <a:moveTo>
                    <a:pt x="0" y="1"/>
                  </a:moveTo>
                  <a:lnTo>
                    <a:pt x="102637" y="103065"/>
                  </a:lnTo>
                  <a:lnTo>
                    <a:pt x="0" y="206129"/>
                  </a:lnTo>
                </a:path>
              </a:pathLst>
            </a:custGeom>
            <a:noFill/>
            <a:ln cap="rnd" cmpd="sng" w="19050">
              <a:solidFill>
                <a:srgbClr val="082D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4" name="Google Shape;1264;p129"/>
          <p:cNvSpPr txBox="1"/>
          <p:nvPr/>
        </p:nvSpPr>
        <p:spPr>
          <a:xfrm>
            <a:off x="1310925" y="2310850"/>
            <a:ext cx="1682400" cy="15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Checking for updates for endpoint security software</a:t>
            </a:r>
            <a:endParaRPr b="1"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5" name="Google Shape;1265;p129"/>
          <p:cNvSpPr txBox="1"/>
          <p:nvPr/>
        </p:nvSpPr>
        <p:spPr>
          <a:xfrm>
            <a:off x="5560975" y="2747975"/>
            <a:ext cx="1795500" cy="11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Scheduling system maintenance scripts</a:t>
            </a:r>
            <a:endParaRPr b="1"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6" name="Google Shape;1266;p129"/>
          <p:cNvSpPr txBox="1"/>
          <p:nvPr/>
        </p:nvSpPr>
        <p:spPr>
          <a:xfrm>
            <a:off x="3471175" y="2700275"/>
            <a:ext cx="1624500" cy="120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Sending important logs </a:t>
            </a:r>
            <a:endParaRPr b="1"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 systems such as SIEM</a:t>
            </a:r>
            <a:endParaRPr b="1"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7" name="Google Shape;1267;p12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Scheduling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pic>
        <p:nvPicPr>
          <p:cNvPr id="1268" name="Google Shape;1268;p1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9038" y="1777271"/>
            <a:ext cx="967475" cy="6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9" name="Google Shape;1269;p1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73208" y="1810500"/>
            <a:ext cx="634726" cy="70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0" name="Google Shape;1270;p1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99475" y="1827398"/>
            <a:ext cx="731669" cy="58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1" name="Google Shape;1271;p12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Automating security and system administration</a:t>
            </a:r>
            <a:endParaRPr/>
          </a:p>
        </p:txBody>
      </p:sp>
      <p:pic>
        <p:nvPicPr>
          <p:cNvPr id="1272" name="Google Shape;1272;p1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0247" y="299514"/>
            <a:ext cx="317656" cy="36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3" name="Google Shape;1273;p1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53147" y="1802349"/>
            <a:ext cx="776441" cy="63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78" name="Google Shape;1278;p130"/>
          <p:cNvCxnSpPr/>
          <p:nvPr/>
        </p:nvCxnSpPr>
        <p:spPr>
          <a:xfrm>
            <a:off x="-9375" y="8537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279" name="Google Shape;1279;p130"/>
          <p:cNvSpPr txBox="1"/>
          <p:nvPr/>
        </p:nvSpPr>
        <p:spPr>
          <a:xfrm>
            <a:off x="724200" y="203600"/>
            <a:ext cx="568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Demonstration</a:t>
            </a:r>
            <a:r>
              <a:rPr lang="en" sz="2600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rPr>
              <a:t> Scenario</a:t>
            </a:r>
            <a:endParaRPr sz="2600">
              <a:solidFill>
                <a:schemeClr val="accent5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80" name="Google Shape;1280;p130"/>
          <p:cNvSpPr/>
          <p:nvPr/>
        </p:nvSpPr>
        <p:spPr>
          <a:xfrm>
            <a:off x="136025" y="11517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130"/>
          <p:cNvSpPr txBox="1"/>
          <p:nvPr/>
        </p:nvSpPr>
        <p:spPr>
          <a:xfrm>
            <a:off x="724200" y="478650"/>
            <a:ext cx="66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282" name="Google Shape;1282;p130"/>
          <p:cNvPicPr preferRelativeResize="0"/>
          <p:nvPr/>
        </p:nvPicPr>
        <p:blipFill rotWithShape="1">
          <a:blip r:embed="rId3">
            <a:alphaModFix/>
          </a:blip>
          <a:srcRect b="14290" l="0" r="0" t="14290"/>
          <a:stretch/>
        </p:blipFill>
        <p:spPr>
          <a:xfrm>
            <a:off x="4571998" y="1387765"/>
            <a:ext cx="4474772" cy="3195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3" name="Google Shape;1283;p1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825" y="203600"/>
            <a:ext cx="39909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4" name="Google Shape;1284;p130"/>
          <p:cNvSpPr txBox="1"/>
          <p:nvPr>
            <p:ph idx="1" type="body"/>
          </p:nvPr>
        </p:nvSpPr>
        <p:spPr>
          <a:xfrm>
            <a:off x="311700" y="1044400"/>
            <a:ext cx="4474800" cy="3882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Your CIO wants to schedule reports to be created on a daily basis. This system isn't remotely managed at the moment, and with a new developer coming in, huge changes might be made to the machine's configuration.</a:t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/>
              <a:t>This will help reduce workstation development drift for any new users for the Windows environment, and for this specific developer position and project.</a:t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/>
              <a:t>Your CIO has asked you to use the GUI tool </a:t>
            </a:r>
            <a:r>
              <a:rPr b="1" lang="en" sz="1500"/>
              <a:t>Task Scheduler</a:t>
            </a:r>
            <a:r>
              <a:rPr lang="en" sz="1500"/>
              <a:t> to create a task that will run each day.</a:t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131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Task Scheduling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134"/>
          <p:cNvSpPr txBox="1"/>
          <p:nvPr>
            <p:ph idx="1" type="subTitle"/>
          </p:nvPr>
        </p:nvSpPr>
        <p:spPr>
          <a:xfrm>
            <a:off x="41700" y="3746925"/>
            <a:ext cx="9102300" cy="9006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Inconsolata"/>
                <a:ea typeface="Inconsolata"/>
                <a:cs typeface="Inconsolata"/>
                <a:sym typeface="Inconsolata"/>
              </a:rPr>
              <a:t>PowerShell </a:t>
            </a:r>
            <a:r>
              <a:rPr lang="en" sz="1800"/>
              <a:t>Scripting</a:t>
            </a:r>
            <a:endParaRPr baseline="-25000" sz="180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ootcamp Slides New Theme - July 2024">
  <a:themeElements>
    <a:clrScheme name="Simple Light">
      <a:dk1>
        <a:srgbClr val="2E5E73"/>
      </a:dk1>
      <a:lt1>
        <a:srgbClr val="FFFFFF"/>
      </a:lt1>
      <a:dk2>
        <a:srgbClr val="082D49"/>
      </a:dk2>
      <a:lt2>
        <a:srgbClr val="F2F2F2"/>
      </a:lt2>
      <a:accent1>
        <a:srgbClr val="FCB912"/>
      </a:accent1>
      <a:accent2>
        <a:srgbClr val="AADCF2"/>
      </a:accent2>
      <a:accent3>
        <a:srgbClr val="1475D4"/>
      </a:accent3>
      <a:accent4>
        <a:srgbClr val="00C7CC"/>
      </a:accent4>
      <a:accent5>
        <a:srgbClr val="082D49"/>
      </a:accent5>
      <a:accent6>
        <a:srgbClr val="2E5E73"/>
      </a:accent6>
      <a:hlink>
        <a:srgbClr val="2E5E7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