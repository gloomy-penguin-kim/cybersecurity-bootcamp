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5143500" cx="9144000"/>
  <p:notesSz cx="6858000" cy="9144000"/>
  <p:embeddedFontLst>
    <p:embeddedFont>
      <p:font typeface="Roboto"/>
      <p:regular r:id="rId71"/>
      <p:bold r:id="rId72"/>
      <p:italic r:id="rId73"/>
      <p:boldItalic r:id="rId74"/>
    </p:embeddedFont>
    <p:embeddedFont>
      <p:font typeface="Roboto Medium"/>
      <p:regular r:id="rId75"/>
      <p:bold r:id="rId76"/>
      <p:italic r:id="rId77"/>
      <p:boldItalic r:id="rId78"/>
    </p:embeddedFont>
    <p:embeddedFont>
      <p:font typeface="Inconsolata"/>
      <p:regular r:id="rId79"/>
      <p:bold r:id="rId80"/>
    </p:embeddedFont>
    <p:embeddedFont>
      <p:font typeface="Roboto Light"/>
      <p:regular r:id="rId81"/>
      <p:bold r:id="rId82"/>
      <p:italic r:id="rId83"/>
      <p:boldItalic r:id="rId84"/>
    </p:embeddedFont>
    <p:embeddedFont>
      <p:font typeface="Inconsolata Medium"/>
      <p:regular r:id="rId85"/>
      <p:bold r:id="rId8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FEE6B5-A4B5-43B3-9A72-CDE6AC6ED0CC}">
  <a:tblStyle styleId="{70FEE6B5-A4B5-43B3-9A72-CDE6AC6ED0C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82D6396A-3EBE-4302-BA59-3D02AE3A1C1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RobotoLight-boldItalic.fntdata"/><Relationship Id="rId83" Type="http://schemas.openxmlformats.org/officeDocument/2006/relationships/font" Target="fonts/RobotoLight-italic.fntdata"/><Relationship Id="rId42" Type="http://schemas.openxmlformats.org/officeDocument/2006/relationships/slide" Target="slides/slide37.xml"/><Relationship Id="rId86" Type="http://schemas.openxmlformats.org/officeDocument/2006/relationships/font" Target="fonts/InconsolataMedium-bold.fntdata"/><Relationship Id="rId41" Type="http://schemas.openxmlformats.org/officeDocument/2006/relationships/slide" Target="slides/slide36.xml"/><Relationship Id="rId85" Type="http://schemas.openxmlformats.org/officeDocument/2006/relationships/font" Target="fonts/InconsolataMedium-regular.fntdata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font" Target="fonts/Inconsolata-bold.fntdata"/><Relationship Id="rId82" Type="http://schemas.openxmlformats.org/officeDocument/2006/relationships/font" Target="fonts/RobotoLight-bold.fntdata"/><Relationship Id="rId81" Type="http://schemas.openxmlformats.org/officeDocument/2006/relationships/font" Target="fonts/RobotoLigh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Roboto-italic.fntdata"/><Relationship Id="rId72" Type="http://schemas.openxmlformats.org/officeDocument/2006/relationships/font" Target="fonts/Roboto-bold.fntdata"/><Relationship Id="rId31" Type="http://schemas.openxmlformats.org/officeDocument/2006/relationships/slide" Target="slides/slide26.xml"/><Relationship Id="rId75" Type="http://schemas.openxmlformats.org/officeDocument/2006/relationships/font" Target="fonts/RobotoMedium-regular.fntdata"/><Relationship Id="rId30" Type="http://schemas.openxmlformats.org/officeDocument/2006/relationships/slide" Target="slides/slide25.xml"/><Relationship Id="rId74" Type="http://schemas.openxmlformats.org/officeDocument/2006/relationships/font" Target="fonts/Roboto-boldItalic.fntdata"/><Relationship Id="rId33" Type="http://schemas.openxmlformats.org/officeDocument/2006/relationships/slide" Target="slides/slide28.xml"/><Relationship Id="rId77" Type="http://schemas.openxmlformats.org/officeDocument/2006/relationships/font" Target="fonts/RobotoMedium-italic.fntdata"/><Relationship Id="rId32" Type="http://schemas.openxmlformats.org/officeDocument/2006/relationships/slide" Target="slides/slide27.xml"/><Relationship Id="rId76" Type="http://schemas.openxmlformats.org/officeDocument/2006/relationships/font" Target="fonts/RobotoMedium-bold.fntdata"/><Relationship Id="rId35" Type="http://schemas.openxmlformats.org/officeDocument/2006/relationships/slide" Target="slides/slide30.xml"/><Relationship Id="rId79" Type="http://schemas.openxmlformats.org/officeDocument/2006/relationships/font" Target="fonts/Inconsolata-regular.fntdata"/><Relationship Id="rId34" Type="http://schemas.openxmlformats.org/officeDocument/2006/relationships/slide" Target="slides/slide29.xml"/><Relationship Id="rId78" Type="http://schemas.openxmlformats.org/officeDocument/2006/relationships/font" Target="fonts/RobotoMedium-boldItalic.fntdata"/><Relationship Id="rId71" Type="http://schemas.openxmlformats.org/officeDocument/2006/relationships/font" Target="fonts/Roboto-regular.fntdata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f3b1f2208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f3b1f2208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f0136018fe_0_2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f0136018fe_0_2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f464e0c41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2f464e0c41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f3b1f22086_0_1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2f3b1f22086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f464e0c414_0_2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2f464e0c414_0_2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f464e0c414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g2f464e0c414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f464e0c414_0_1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f464e0c414_0_1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f464e0c414_0_2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2f464e0c414_0_2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f464e0c414_0_2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2f464e0c414_0_2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f464e0c414_0_3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2f464e0c414_0_3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f464e0c414_0_3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f464e0c414_0_3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2f464e0c414_0_2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2f464e0c414_0_2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f464e0c414_0_4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2f464e0c414_0_4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f464e0c414_0_4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f464e0c414_0_4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2f464e0c414_0_4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2f464e0c414_0_4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f464e0c414_0_4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2f464e0c414_0_4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f464e0c414_0_5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2f464e0c414_0_5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f464e0c414_0_5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g2f464e0c414_0_5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f3b1f22086_1_3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2f3b1f22086_1_3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f464e0c414_0_5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2f464e0c414_0_5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f464e0c414_0_5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f464e0c414_0_5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2f464e0c414_0_5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2f464e0c414_0_5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2f464e0c414_0_5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2f464e0c414_0_5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f464e0c414_0_7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f464e0c414_0_7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f464e0c414_0_6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2f464e0c414_0_6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2f464e0c414_0_7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2f464e0c414_0_7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f464e0c414_0_7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2f464e0c414_0_7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2f464e0c414_0_7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2f464e0c414_0_7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2f464e0c414_0_8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2f464e0c414_0_8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2f464e0c414_0_8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2f464e0c414_0_8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2f464e0c414_0_8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2f464e0c414_0_8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2f464e0c414_0_8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2f464e0c414_0_8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f3c77fc7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2f3c77fc7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f464e0c414_0_8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2f464e0c414_0_8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2f464e0c414_0_8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2f464e0c414_0_8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f464e0c414_0_8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2f464e0c414_0_8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2f464e0c414_0_8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2f464e0c414_0_8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2f464e0c414_0_8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2f464e0c414_0_8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f2ee463b77_0_7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f2ee463b77_0_7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f464e0c414_0_8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f464e0c414_0_8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f303d877e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f303d877e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f464e0c414_0_8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f464e0c414_0_8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f464e0c414_0_8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f464e0c414_0_8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f2ee463b77_0_7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f2ee463b77_0_7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f464e0c414_0_8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f464e0c414_0_8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f464e0c414_0_9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2f464e0c414_0_9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f464e0c414_0_9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g2f464e0c414_0_9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f464e0c414_0_9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2f464e0c414_0_9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2f4a0853312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2f4a0853312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f4a0853312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f4a0853312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f4a0853312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f4a0853312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2f4a0853312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2f4a0853312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2f4a0853312_0_1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0" name="Google Shape;880;g2f4a0853312_0_1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f4a0853312_0_1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f4a0853312_0_1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2f4a0853312_0_1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2f4a0853312_0_1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2f4a0853312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2f4a0853312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2f4a0853312_0_2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2f4a0853312_0_2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2f4a0853312_0_3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2f4a0853312_0_3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f4a0853312_0_3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f4a0853312_0_3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f303d877e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f303d877e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2f303d877e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2f303d877e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2f303d877e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f303d877e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2f0136018fe_0_2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2f0136018fe_0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2ec649b3119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2ec649b3119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9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4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2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38" name="Google Shape;38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4" name="Google Shape;44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" name="Google Shape;75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1" name="Google Shape;91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2" name="Google Shape;92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3" name="Google Shape;93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Google Shape;96;p13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7" name="Google Shape;97;p13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8" name="Google Shape;98;p13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9" name="Google Shape;99;p13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13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5" name="Google Shape;105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0" name="Google Shape;120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5" name="Google Shape;125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3" name="Google Shape;13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1" name="Google Shape;161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4" name="Google Shape;16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7" name="Google Shape;177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" name="Google Shape;183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4" name="Google Shape;184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7" name="Google Shape;187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0" name="Google Shape;190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9" name="Google Shape;199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0" name="Google Shape;200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Google Shape;210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1" name="Google Shape;211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6" name="Google Shape;216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7" name="Google Shape;217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5" name="Google Shape;225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8" name="Google Shape;24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0" name="Google Shape;250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3" name="Google Shape;253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4" name="Google Shape;254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6" name="Google Shape;266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7" name="Google Shape;267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68" name="Google Shape;268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69" name="Google Shape;26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1" name="Google Shape;271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6" name="Google Shape;276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9" name="Google Shape;2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9" name="Google Shape;299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0" name="Google Shape;300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3" name="Google Shape;303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9" name="Google Shape;319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0" name="Google Shape;320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1" name="Google Shape;321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7" name="Google Shape;327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1" name="Google Shape;331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2" name="Google Shape;33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 1 1 1">
  <p:cSld name="CUSTOM_22_1_1_1">
    <p:bg>
      <p:bgPr>
        <a:solidFill>
          <a:schemeClr val="lt2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49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9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6" name="Google Shape;336;p49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9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9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1" name="Google Shape;341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2" name="Google Shape;342;p5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3" name="Google Shape;343;p5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3" type="body"/>
          </p:nvPr>
        </p:nvSpPr>
        <p:spPr>
          <a:xfrm>
            <a:off x="175" y="1162513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2">
  <p:cSld name="CUSTOM_2_7_2_5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9" name="Google Shape;349;p5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50" name="Google Shape;350;p52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5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2" name="Google Shape;352;p52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" name="Google Shape;353;p5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4" name="Google Shape;354;p52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Text Only">
  <p:cSld name="CUSTOM_2_7_2_6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3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7" name="Google Shape;357;p5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58" name="Google Shape;358;p53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" name="Google Shape;359;p5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0" name="Google Shape;360;p53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53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2" name="Google Shape;362;p53"/>
          <p:cNvSpPr txBox="1"/>
          <p:nvPr>
            <p:ph idx="3" type="body"/>
          </p:nvPr>
        </p:nvSpPr>
        <p:spPr>
          <a:xfrm>
            <a:off x="175" y="1284250"/>
            <a:ext cx="9144000" cy="34074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5" name="Google Shape;365;p5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5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7" name="Google Shape;367;p5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"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5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55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1" name="Google Shape;371;p55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2" name="Google Shape;372;p55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5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4" name="Google Shape;374;p55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55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5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7" name="Google Shape;377;p55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78" name="Google Shape;378;p55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55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5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1" name="Google Shape;381;p5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6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4" name="Google Shape;384;p56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85" name="Google Shape;385;p56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56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87" name="Google Shape;387;p56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" name="Google Shape;388;p56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9" name="Google Shape;389;p56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7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7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3" name="Google Shape;393;p57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4" name="Google Shape;394;p57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7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6" name="Google Shape;396;p57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57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7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9" name="Google Shape;399;p57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00" name="Google Shape;400;p57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57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5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57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Relationship Id="rId4" Type="http://schemas.openxmlformats.org/officeDocument/2006/relationships/image" Target="../media/image28.png"/><Relationship Id="rId5" Type="http://schemas.openxmlformats.org/officeDocument/2006/relationships/image" Target="../media/image4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8.png"/><Relationship Id="rId4" Type="http://schemas.openxmlformats.org/officeDocument/2006/relationships/image" Target="../media/image28.png"/><Relationship Id="rId5" Type="http://schemas.openxmlformats.org/officeDocument/2006/relationships/image" Target="../media/image6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2.png"/><Relationship Id="rId4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37.jpg"/><Relationship Id="rId5" Type="http://schemas.openxmlformats.org/officeDocument/2006/relationships/image" Target="../media/image4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0.png"/><Relationship Id="rId4" Type="http://schemas.openxmlformats.org/officeDocument/2006/relationships/image" Target="../media/image1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9.png"/><Relationship Id="rId4" Type="http://schemas.openxmlformats.org/officeDocument/2006/relationships/image" Target="../media/image61.png"/><Relationship Id="rId5" Type="http://schemas.openxmlformats.org/officeDocument/2006/relationships/image" Target="../media/image49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7.png"/><Relationship Id="rId4" Type="http://schemas.openxmlformats.org/officeDocument/2006/relationships/image" Target="../media/image1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1.png"/><Relationship Id="rId4" Type="http://schemas.openxmlformats.org/officeDocument/2006/relationships/image" Target="../media/image5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1.png"/><Relationship Id="rId4" Type="http://schemas.openxmlformats.org/officeDocument/2006/relationships/image" Target="../media/image52.png"/><Relationship Id="rId5" Type="http://schemas.openxmlformats.org/officeDocument/2006/relationships/image" Target="../media/image58.png"/><Relationship Id="rId6" Type="http://schemas.openxmlformats.org/officeDocument/2006/relationships/image" Target="../media/image2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8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PowerShell Scripting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09" name="Google Shape;409;p58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410" name="Google Shape;410;p58"/>
          <p:cNvSpPr txBox="1"/>
          <p:nvPr>
            <p:ph idx="2" type="subTitle"/>
          </p:nvPr>
        </p:nvSpPr>
        <p:spPr>
          <a:xfrm>
            <a:off x="4570700" y="368920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7.2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9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Objectives</a:t>
            </a:r>
            <a:endParaRPr/>
          </a:p>
        </p:txBody>
      </p:sp>
      <p:sp>
        <p:nvSpPr>
          <p:cNvPr id="416" name="Google Shape;416;p59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By the end of today’s class, you will be able 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7" name="Google Shape;417;p59"/>
          <p:cNvGrpSpPr/>
          <p:nvPr/>
        </p:nvGrpSpPr>
        <p:grpSpPr>
          <a:xfrm>
            <a:off x="162900" y="173561"/>
            <a:ext cx="588600" cy="567300"/>
            <a:chOff x="914400" y="200161"/>
            <a:chExt cx="588600" cy="567300"/>
          </a:xfrm>
        </p:grpSpPr>
        <p:sp>
          <p:nvSpPr>
            <p:cNvPr id="418" name="Google Shape;418;p59"/>
            <p:cNvSpPr/>
            <p:nvPr/>
          </p:nvSpPr>
          <p:spPr>
            <a:xfrm>
              <a:off x="914400" y="200161"/>
              <a:ext cx="588600" cy="567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19" name="Google Shape;419;p5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0251" y="235363"/>
              <a:ext cx="496875" cy="496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20" name="Google Shape;420;p59"/>
          <p:cNvCxnSpPr/>
          <p:nvPr/>
        </p:nvCxnSpPr>
        <p:spPr>
          <a:xfrm>
            <a:off x="9750" y="968825"/>
            <a:ext cx="7291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21" name="Google Shape;421;p59"/>
          <p:cNvSpPr/>
          <p:nvPr/>
        </p:nvSpPr>
        <p:spPr>
          <a:xfrm>
            <a:off x="543450" y="1218125"/>
            <a:ext cx="8057100" cy="49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59"/>
          <p:cNvSpPr/>
          <p:nvPr/>
        </p:nvSpPr>
        <p:spPr>
          <a:xfrm>
            <a:off x="543450" y="1931975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" name="Google Shape;423;p59"/>
          <p:cNvSpPr/>
          <p:nvPr/>
        </p:nvSpPr>
        <p:spPr>
          <a:xfrm>
            <a:off x="543450" y="2645825"/>
            <a:ext cx="8057100" cy="630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59"/>
          <p:cNvSpPr/>
          <p:nvPr/>
        </p:nvSpPr>
        <p:spPr>
          <a:xfrm>
            <a:off x="467250" y="1232150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59"/>
          <p:cNvSpPr/>
          <p:nvPr/>
        </p:nvSpPr>
        <p:spPr>
          <a:xfrm>
            <a:off x="467250" y="1923275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59"/>
          <p:cNvSpPr/>
          <p:nvPr/>
        </p:nvSpPr>
        <p:spPr>
          <a:xfrm>
            <a:off x="482300" y="2713325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59"/>
          <p:cNvSpPr txBox="1"/>
          <p:nvPr/>
        </p:nvSpPr>
        <p:spPr>
          <a:xfrm>
            <a:off x="970350" y="1259400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 basic PowerShell cmdlets to navigate Windows and manage directories and files.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59"/>
          <p:cNvSpPr txBox="1"/>
          <p:nvPr/>
        </p:nvSpPr>
        <p:spPr>
          <a:xfrm>
            <a:off x="970350" y="1952600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 PowerShell pipelines to retrieve Windows system event logs.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59"/>
          <p:cNvSpPr txBox="1"/>
          <p:nvPr/>
        </p:nvSpPr>
        <p:spPr>
          <a:xfrm>
            <a:off x="970350" y="2645825"/>
            <a:ext cx="7630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Combine various shell-scripting concepts such as cmdlets, parameters, conditions, and importing files with defined data structures.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1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439" name="Google Shape;439;p61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In the last class, we discussed: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0" name="Google Shape;440;p61"/>
          <p:cNvCxnSpPr/>
          <p:nvPr/>
        </p:nvCxnSpPr>
        <p:spPr>
          <a:xfrm>
            <a:off x="9750" y="968825"/>
            <a:ext cx="7291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41" name="Google Shape;441;p61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2" name="Google Shape;44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3" name="Google Shape;443;p61"/>
          <p:cNvGrpSpPr/>
          <p:nvPr/>
        </p:nvGrpSpPr>
        <p:grpSpPr>
          <a:xfrm>
            <a:off x="429150" y="1211113"/>
            <a:ext cx="7486225" cy="457538"/>
            <a:chOff x="467250" y="1211113"/>
            <a:chExt cx="7486225" cy="457538"/>
          </a:xfrm>
        </p:grpSpPr>
        <p:grpSp>
          <p:nvGrpSpPr>
            <p:cNvPr id="444" name="Google Shape;444;p61"/>
            <p:cNvGrpSpPr/>
            <p:nvPr/>
          </p:nvGrpSpPr>
          <p:grpSpPr>
            <a:xfrm>
              <a:off x="467250" y="1218125"/>
              <a:ext cx="3318025" cy="450525"/>
              <a:chOff x="467250" y="1218125"/>
              <a:chExt cx="3318025" cy="450525"/>
            </a:xfrm>
          </p:grpSpPr>
          <p:sp>
            <p:nvSpPr>
              <p:cNvPr id="445" name="Google Shape;445;p61"/>
              <p:cNvSpPr/>
              <p:nvPr/>
            </p:nvSpPr>
            <p:spPr>
              <a:xfrm>
                <a:off x="543450" y="1218125"/>
                <a:ext cx="3029100" cy="4365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46" name="Google Shape;446;p61"/>
              <p:cNvSpPr/>
              <p:nvPr/>
            </p:nvSpPr>
            <p:spPr>
              <a:xfrm>
                <a:off x="467250" y="1232150"/>
                <a:ext cx="457200" cy="4365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47" name="Google Shape;447;p61"/>
              <p:cNvSpPr txBox="1"/>
              <p:nvPr/>
            </p:nvSpPr>
            <p:spPr>
              <a:xfrm>
                <a:off x="939475" y="1259400"/>
                <a:ext cx="28458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2"/>
                    </a:solidFill>
                    <a:latin typeface="Roboto"/>
                    <a:ea typeface="Roboto"/>
                    <a:cs typeface="Roboto"/>
                    <a:sym typeface="Roboto"/>
                  </a:rPr>
                  <a:t>Auditing processes </a:t>
                </a:r>
                <a:endParaRPr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48" name="Google Shape;448;p61"/>
            <p:cNvSpPr/>
            <p:nvPr/>
          </p:nvSpPr>
          <p:spPr>
            <a:xfrm>
              <a:off x="4924325" y="1211113"/>
              <a:ext cx="3029100" cy="436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9" name="Google Shape;449;p61"/>
            <p:cNvSpPr/>
            <p:nvPr/>
          </p:nvSpPr>
          <p:spPr>
            <a:xfrm>
              <a:off x="4848125" y="1225138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0" name="Google Shape;450;p61"/>
            <p:cNvSpPr txBox="1"/>
            <p:nvPr/>
          </p:nvSpPr>
          <p:spPr>
            <a:xfrm>
              <a:off x="5320375" y="1252388"/>
              <a:ext cx="26331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Enumerating</a:t>
              </a: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 local policies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51" name="Google Shape;451;p61"/>
          <p:cNvGrpSpPr/>
          <p:nvPr/>
        </p:nvGrpSpPr>
        <p:grpSpPr>
          <a:xfrm>
            <a:off x="429150" y="1924650"/>
            <a:ext cx="7486225" cy="457538"/>
            <a:chOff x="467250" y="1896913"/>
            <a:chExt cx="7486225" cy="457538"/>
          </a:xfrm>
        </p:grpSpPr>
        <p:sp>
          <p:nvSpPr>
            <p:cNvPr id="452" name="Google Shape;452;p61"/>
            <p:cNvSpPr/>
            <p:nvPr/>
          </p:nvSpPr>
          <p:spPr>
            <a:xfrm>
              <a:off x="543450" y="1903925"/>
              <a:ext cx="3029100" cy="436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3" name="Google Shape;453;p61"/>
            <p:cNvSpPr/>
            <p:nvPr/>
          </p:nvSpPr>
          <p:spPr>
            <a:xfrm>
              <a:off x="467250" y="1917950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4" name="Google Shape;454;p61"/>
            <p:cNvSpPr txBox="1"/>
            <p:nvPr/>
          </p:nvSpPr>
          <p:spPr>
            <a:xfrm>
              <a:off x="939500" y="1945200"/>
              <a:ext cx="26331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Using CMD to create files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5" name="Google Shape;455;p61"/>
            <p:cNvSpPr/>
            <p:nvPr/>
          </p:nvSpPr>
          <p:spPr>
            <a:xfrm>
              <a:off x="4924325" y="1896913"/>
              <a:ext cx="3029100" cy="436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6" name="Google Shape;456;p61"/>
            <p:cNvSpPr/>
            <p:nvPr/>
          </p:nvSpPr>
          <p:spPr>
            <a:xfrm>
              <a:off x="4848125" y="1910938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7" name="Google Shape;457;p61"/>
            <p:cNvSpPr txBox="1"/>
            <p:nvPr/>
          </p:nvSpPr>
          <p:spPr>
            <a:xfrm>
              <a:off x="5320375" y="1938188"/>
              <a:ext cx="26331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Creating users with policies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58" name="Google Shape;458;p61"/>
          <p:cNvGrpSpPr/>
          <p:nvPr/>
        </p:nvGrpSpPr>
        <p:grpSpPr>
          <a:xfrm>
            <a:off x="429150" y="2638188"/>
            <a:ext cx="7486225" cy="457538"/>
            <a:chOff x="467250" y="2658913"/>
            <a:chExt cx="7486225" cy="457538"/>
          </a:xfrm>
        </p:grpSpPr>
        <p:sp>
          <p:nvSpPr>
            <p:cNvPr id="459" name="Google Shape;459;p61"/>
            <p:cNvSpPr/>
            <p:nvPr/>
          </p:nvSpPr>
          <p:spPr>
            <a:xfrm>
              <a:off x="543450" y="2665925"/>
              <a:ext cx="3029100" cy="436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0" name="Google Shape;460;p61"/>
            <p:cNvSpPr/>
            <p:nvPr/>
          </p:nvSpPr>
          <p:spPr>
            <a:xfrm>
              <a:off x="467250" y="2679950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1" name="Google Shape;461;p61"/>
            <p:cNvSpPr txBox="1"/>
            <p:nvPr/>
          </p:nvSpPr>
          <p:spPr>
            <a:xfrm>
              <a:off x="939500" y="2707200"/>
              <a:ext cx="26331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Windows Users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2" name="Google Shape;462;p61"/>
            <p:cNvSpPr/>
            <p:nvPr/>
          </p:nvSpPr>
          <p:spPr>
            <a:xfrm>
              <a:off x="4924325" y="2658913"/>
              <a:ext cx="3029100" cy="436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3" name="Google Shape;463;p61"/>
            <p:cNvSpPr/>
            <p:nvPr/>
          </p:nvSpPr>
          <p:spPr>
            <a:xfrm>
              <a:off x="4848125" y="2672938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4" name="Google Shape;464;p61"/>
            <p:cNvSpPr txBox="1"/>
            <p:nvPr/>
          </p:nvSpPr>
          <p:spPr>
            <a:xfrm>
              <a:off x="5320375" y="2700188"/>
              <a:ext cx="26331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Task Scheduler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65" name="Google Shape;465;p61"/>
          <p:cNvGrpSpPr/>
          <p:nvPr/>
        </p:nvGrpSpPr>
        <p:grpSpPr>
          <a:xfrm>
            <a:off x="409788" y="3351725"/>
            <a:ext cx="3105350" cy="450525"/>
            <a:chOff x="391050" y="3351725"/>
            <a:chExt cx="3105350" cy="450525"/>
          </a:xfrm>
        </p:grpSpPr>
        <p:sp>
          <p:nvSpPr>
            <p:cNvPr id="466" name="Google Shape;466;p61"/>
            <p:cNvSpPr/>
            <p:nvPr/>
          </p:nvSpPr>
          <p:spPr>
            <a:xfrm>
              <a:off x="467250" y="3351725"/>
              <a:ext cx="3029100" cy="436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7" name="Google Shape;467;p61"/>
            <p:cNvSpPr/>
            <p:nvPr/>
          </p:nvSpPr>
          <p:spPr>
            <a:xfrm>
              <a:off x="391050" y="3365750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8" name="Google Shape;468;p61"/>
            <p:cNvSpPr txBox="1"/>
            <p:nvPr/>
          </p:nvSpPr>
          <p:spPr>
            <a:xfrm>
              <a:off x="863300" y="3393000"/>
              <a:ext cx="26331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Auditing unwanted apps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PowerShell?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4" name="Google Shape;474;p62"/>
          <p:cNvPicPr preferRelativeResize="0"/>
          <p:nvPr/>
        </p:nvPicPr>
        <p:blipFill rotWithShape="1">
          <a:blip r:embed="rId3">
            <a:alphaModFix/>
          </a:blip>
          <a:srcRect b="-5330" l="0" r="0" t="-8577"/>
          <a:stretch/>
        </p:blipFill>
        <p:spPr>
          <a:xfrm>
            <a:off x="3864875" y="1714375"/>
            <a:ext cx="1051924" cy="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3"/>
          <p:cNvSpPr txBox="1"/>
          <p:nvPr/>
        </p:nvSpPr>
        <p:spPr>
          <a:xfrm>
            <a:off x="1696148" y="1554300"/>
            <a:ext cx="60462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PowerShell</a:t>
            </a:r>
            <a:r>
              <a:rPr lang="en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is a powerful scripting language we can use to locally and remotely manage Microsoft’s line of products.</a:t>
            </a:r>
            <a:endParaRPr sz="3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4"/>
          <p:cNvSpPr txBox="1"/>
          <p:nvPr/>
        </p:nvSpPr>
        <p:spPr>
          <a:xfrm>
            <a:off x="518388" y="923038"/>
            <a:ext cx="3711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Commands are short and simple, designed for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repeatable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tasks.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64"/>
          <p:cNvSpPr txBox="1"/>
          <p:nvPr/>
        </p:nvSpPr>
        <p:spPr>
          <a:xfrm>
            <a:off x="874200" y="343588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CMD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4"/>
          <p:cNvSpPr txBox="1"/>
          <p:nvPr/>
        </p:nvSpPr>
        <p:spPr>
          <a:xfrm>
            <a:off x="5226325" y="343588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PowerShell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64"/>
          <p:cNvSpPr txBox="1"/>
          <p:nvPr/>
        </p:nvSpPr>
        <p:spPr>
          <a:xfrm>
            <a:off x="4870525" y="923050"/>
            <a:ext cx="3711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Powerful language used to execute, automate, and customize tasks.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8" name="Google Shape;488;p64"/>
          <p:cNvCxnSpPr/>
          <p:nvPr/>
        </p:nvCxnSpPr>
        <p:spPr>
          <a:xfrm>
            <a:off x="4569100" y="679375"/>
            <a:ext cx="0" cy="389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89" name="Google Shape;48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350" y="2299625"/>
            <a:ext cx="3712925" cy="190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5175" y="2030900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5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PowerShell in System Administration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6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PowerShell can be used to manage everything in a Microsoft environment.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65"/>
          <p:cNvSpPr txBox="1"/>
          <p:nvPr/>
        </p:nvSpPr>
        <p:spPr>
          <a:xfrm>
            <a:off x="339650" y="1894400"/>
            <a:ext cx="38616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Windows Server: 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Microsoft’s central server for domain and networking services.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65"/>
          <p:cNvSpPr txBox="1"/>
          <p:nvPr/>
        </p:nvSpPr>
        <p:spPr>
          <a:xfrm>
            <a:off x="339650" y="3990875"/>
            <a:ext cx="38616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Office365: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Microsoft's line of subscription office services, such as Microsoft Word or Excel.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9" name="Google Shape;499;p65"/>
          <p:cNvPicPr preferRelativeResize="0"/>
          <p:nvPr/>
        </p:nvPicPr>
        <p:blipFill rotWithShape="1">
          <a:blip r:embed="rId3">
            <a:alphaModFix/>
          </a:blip>
          <a:srcRect b="39159" l="0" r="0" t="38140"/>
          <a:stretch/>
        </p:blipFill>
        <p:spPr>
          <a:xfrm>
            <a:off x="4780006" y="1180000"/>
            <a:ext cx="3051614" cy="69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65"/>
          <p:cNvPicPr preferRelativeResize="0"/>
          <p:nvPr/>
        </p:nvPicPr>
        <p:blipFill rotWithShape="1">
          <a:blip r:embed="rId4">
            <a:alphaModFix/>
          </a:blip>
          <a:srcRect b="0" l="0" r="20031" t="0"/>
          <a:stretch/>
        </p:blipFill>
        <p:spPr>
          <a:xfrm>
            <a:off x="471000" y="1278200"/>
            <a:ext cx="3847149" cy="5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49739" y="3306176"/>
            <a:ext cx="572677" cy="572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4224" y="3345925"/>
            <a:ext cx="3234534" cy="5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65"/>
          <p:cNvSpPr txBox="1"/>
          <p:nvPr/>
        </p:nvSpPr>
        <p:spPr>
          <a:xfrm>
            <a:off x="4780000" y="1894400"/>
            <a:ext cx="39786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Windows 10: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Microsoft’s personal and professional computer operating system, the operating system used by most people and within many large enterprise environments.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65"/>
          <p:cNvSpPr txBox="1"/>
          <p:nvPr/>
        </p:nvSpPr>
        <p:spPr>
          <a:xfrm>
            <a:off x="4896900" y="3990875"/>
            <a:ext cx="38616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Azure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: Microsoft’s cloud services, such as virtual private clouds and cloud-based VMs. 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5" name="Google Shape;505;p65"/>
          <p:cNvCxnSpPr/>
          <p:nvPr/>
        </p:nvCxnSpPr>
        <p:spPr>
          <a:xfrm>
            <a:off x="9750" y="892625"/>
            <a:ext cx="7291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pic>
        <p:nvPicPr>
          <p:cNvPr id="506" name="Google Shape;506;p65"/>
          <p:cNvPicPr preferRelativeResize="0"/>
          <p:nvPr/>
        </p:nvPicPr>
        <p:blipFill rotWithShape="1">
          <a:blip r:embed="rId7">
            <a:alphaModFix/>
          </a:blip>
          <a:srcRect b="-5330" l="0" r="0" t="-8577"/>
          <a:stretch/>
        </p:blipFill>
        <p:spPr>
          <a:xfrm>
            <a:off x="260767" y="315300"/>
            <a:ext cx="378151" cy="32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6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PowerShell in Cybersecurity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66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Defensive Cybersecurity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3" name="Google Shape;513;p66"/>
          <p:cNvCxnSpPr/>
          <p:nvPr/>
        </p:nvCxnSpPr>
        <p:spPr>
          <a:xfrm>
            <a:off x="9750" y="892625"/>
            <a:ext cx="7291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14" name="Google Shape;514;p66"/>
          <p:cNvSpPr txBox="1"/>
          <p:nvPr/>
        </p:nvSpPr>
        <p:spPr>
          <a:xfrm>
            <a:off x="245700" y="1504500"/>
            <a:ext cx="4104000" cy="15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Manage and audit logs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Harden hosts and servers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Extended module and script functionality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5" name="Google Shape;515;p66"/>
          <p:cNvPicPr preferRelativeResize="0"/>
          <p:nvPr/>
        </p:nvPicPr>
        <p:blipFill rotWithShape="1">
          <a:blip r:embed="rId3">
            <a:alphaModFix/>
          </a:blip>
          <a:srcRect b="0" l="-4213" r="-1931" t="0"/>
          <a:stretch/>
        </p:blipFill>
        <p:spPr>
          <a:xfrm>
            <a:off x="4945651" y="1707725"/>
            <a:ext cx="3590324" cy="265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66"/>
          <p:cNvPicPr preferRelativeResize="0"/>
          <p:nvPr/>
        </p:nvPicPr>
        <p:blipFill rotWithShape="1">
          <a:blip r:embed="rId4">
            <a:alphaModFix/>
          </a:blip>
          <a:srcRect b="-5330" l="0" r="0" t="-8577"/>
          <a:stretch/>
        </p:blipFill>
        <p:spPr>
          <a:xfrm>
            <a:off x="260767" y="315300"/>
            <a:ext cx="378151" cy="32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34300" y="1273262"/>
            <a:ext cx="4039226" cy="335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PowerShell in Cybersecurity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6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Offensive </a:t>
            </a:r>
            <a:r>
              <a:rPr lang="en"/>
              <a:t>Cybersecurity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4" name="Google Shape;524;p67"/>
          <p:cNvCxnSpPr/>
          <p:nvPr/>
        </p:nvCxnSpPr>
        <p:spPr>
          <a:xfrm>
            <a:off x="9750" y="892625"/>
            <a:ext cx="7291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25" name="Google Shape;525;p67"/>
          <p:cNvSpPr txBox="1"/>
          <p:nvPr/>
        </p:nvSpPr>
        <p:spPr>
          <a:xfrm>
            <a:off x="245700" y="1504500"/>
            <a:ext cx="4104000" cy="15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“Living off the land” tool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Enumerate systems on a network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Access other network machines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6" name="Google Shape;526;p67"/>
          <p:cNvPicPr preferRelativeResize="0"/>
          <p:nvPr/>
        </p:nvPicPr>
        <p:blipFill rotWithShape="1">
          <a:blip r:embed="rId3">
            <a:alphaModFix/>
          </a:blip>
          <a:srcRect b="-2690" l="0" r="0" t="-1999"/>
          <a:stretch/>
        </p:blipFill>
        <p:spPr>
          <a:xfrm>
            <a:off x="5526400" y="1424075"/>
            <a:ext cx="2512376" cy="329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67"/>
          <p:cNvPicPr preferRelativeResize="0"/>
          <p:nvPr/>
        </p:nvPicPr>
        <p:blipFill rotWithShape="1">
          <a:blip r:embed="rId4">
            <a:alphaModFix/>
          </a:blip>
          <a:srcRect b="-5330" l="0" r="0" t="-8577"/>
          <a:stretch/>
        </p:blipFill>
        <p:spPr>
          <a:xfrm>
            <a:off x="260767" y="315300"/>
            <a:ext cx="378151" cy="32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67"/>
          <p:cNvPicPr preferRelativeResize="0"/>
          <p:nvPr/>
        </p:nvPicPr>
        <p:blipFill rotWithShape="1">
          <a:blip r:embed="rId5">
            <a:alphaModFix/>
          </a:blip>
          <a:srcRect b="0" l="15593" r="15593" t="0"/>
          <a:stretch/>
        </p:blipFill>
        <p:spPr>
          <a:xfrm>
            <a:off x="10685450" y="1273262"/>
            <a:ext cx="4039226" cy="33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8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PowerShell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vs.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CMD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534" name="Google Shape;53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0" y="1828788"/>
            <a:ext cx="914400" cy="709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9"/>
          <p:cNvSpPr txBox="1"/>
          <p:nvPr>
            <p:ph type="title"/>
          </p:nvPr>
        </p:nvSpPr>
        <p:spPr>
          <a:xfrm>
            <a:off x="457206" y="130206"/>
            <a:ext cx="8520600" cy="5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PowerShell vs. CMD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Inconsolata"/>
                <a:ea typeface="Inconsolata"/>
                <a:cs typeface="Inconsolata"/>
                <a:sym typeface="Inconsolata"/>
              </a:rPr>
              <a:t>CMD’s </a:t>
            </a:r>
            <a:r>
              <a:rPr b="0" lang="en" sz="1800"/>
              <a:t>functionality is limited.</a:t>
            </a:r>
            <a:endParaRPr b="0" sz="1800"/>
          </a:p>
        </p:txBody>
      </p:sp>
      <p:grpSp>
        <p:nvGrpSpPr>
          <p:cNvPr id="540" name="Google Shape;540;p69"/>
          <p:cNvGrpSpPr/>
          <p:nvPr/>
        </p:nvGrpSpPr>
        <p:grpSpPr>
          <a:xfrm>
            <a:off x="257325" y="1256991"/>
            <a:ext cx="8629349" cy="759793"/>
            <a:chOff x="257225" y="1472150"/>
            <a:chExt cx="3444163" cy="777600"/>
          </a:xfrm>
        </p:grpSpPr>
        <p:sp>
          <p:nvSpPr>
            <p:cNvPr id="541" name="Google Shape;541;p69"/>
            <p:cNvSpPr/>
            <p:nvPr/>
          </p:nvSpPr>
          <p:spPr>
            <a:xfrm>
              <a:off x="257225" y="1472150"/>
              <a:ext cx="1707600" cy="777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69"/>
            <p:cNvSpPr/>
            <p:nvPr/>
          </p:nvSpPr>
          <p:spPr>
            <a:xfrm>
              <a:off x="1993788" y="1472150"/>
              <a:ext cx="1707600" cy="7776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3" name="Google Shape;543;p69"/>
          <p:cNvGrpSpPr/>
          <p:nvPr/>
        </p:nvGrpSpPr>
        <p:grpSpPr>
          <a:xfrm>
            <a:off x="257325" y="2097185"/>
            <a:ext cx="8629349" cy="2377434"/>
            <a:chOff x="257225" y="1472150"/>
            <a:chExt cx="3444163" cy="777600"/>
          </a:xfrm>
        </p:grpSpPr>
        <p:sp>
          <p:nvSpPr>
            <p:cNvPr id="544" name="Google Shape;544;p69"/>
            <p:cNvSpPr/>
            <p:nvPr/>
          </p:nvSpPr>
          <p:spPr>
            <a:xfrm>
              <a:off x="257225" y="1472150"/>
              <a:ext cx="1707600" cy="777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69"/>
            <p:cNvSpPr/>
            <p:nvPr/>
          </p:nvSpPr>
          <p:spPr>
            <a:xfrm>
              <a:off x="1993788" y="1472150"/>
              <a:ext cx="1707600" cy="777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6" name="Google Shape;546;p69"/>
          <p:cNvSpPr txBox="1"/>
          <p:nvPr/>
        </p:nvSpPr>
        <p:spPr>
          <a:xfrm>
            <a:off x="632850" y="2087375"/>
            <a:ext cx="35568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CMD command flags can be ambiguous, confusing, and specific to each command:</a:t>
            </a:r>
            <a:endParaRPr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69"/>
          <p:cNvSpPr txBox="1"/>
          <p:nvPr/>
        </p:nvSpPr>
        <p:spPr>
          <a:xfrm>
            <a:off x="632875" y="1252425"/>
            <a:ext cx="3556800" cy="7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CMD output is only available in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simple text format.</a:t>
            </a:r>
            <a:endParaRPr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69"/>
          <p:cNvSpPr txBox="1"/>
          <p:nvPr/>
        </p:nvSpPr>
        <p:spPr>
          <a:xfrm>
            <a:off x="4740275" y="1252425"/>
            <a:ext cx="3931200" cy="7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For unsupported file formats, we need to edit the output with meticulous character replacing.</a:t>
            </a:r>
            <a:endParaRPr i="0" sz="1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69"/>
          <p:cNvSpPr txBox="1"/>
          <p:nvPr/>
        </p:nvSpPr>
        <p:spPr>
          <a:xfrm>
            <a:off x="4962751" y="2087375"/>
            <a:ext cx="37674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12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/s </a:t>
            </a:r>
            <a:r>
              <a:rPr lang="en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flags:</a:t>
            </a:r>
            <a:endParaRPr sz="12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67640" lvl="0" marL="32004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chemeClr val="lt1"/>
                </a:solidFill>
                <a:highlight>
                  <a:schemeClr val="dk1"/>
                </a:highlight>
                <a:latin typeface="Inconsolata"/>
                <a:ea typeface="Inconsolata"/>
                <a:cs typeface="Inconsolata"/>
                <a:sym typeface="Inconsolata"/>
              </a:rPr>
              <a:t>shutdown /s</a:t>
            </a:r>
            <a:r>
              <a:rPr lang="en" sz="120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shuts down a computer.</a:t>
            </a:r>
            <a:endParaRPr sz="12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67640" lvl="0" marL="32004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chemeClr val="lt1"/>
                </a:solidFill>
                <a:highlight>
                  <a:schemeClr val="dk1"/>
                </a:highlight>
                <a:latin typeface="Inconsolata"/>
                <a:ea typeface="Inconsolata"/>
                <a:cs typeface="Inconsolata"/>
                <a:sym typeface="Inconsolata"/>
              </a:rPr>
              <a:t>freedisk /s</a:t>
            </a:r>
            <a:r>
              <a:rPr lang="en" sz="120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specifies the name of an IP or remote computer to check disk space.</a:t>
            </a:r>
            <a:endParaRPr sz="12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12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/d</a:t>
            </a:r>
            <a:r>
              <a:rPr lang="en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flags:</a:t>
            </a:r>
            <a:endParaRPr sz="12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67640" lvl="0" marL="32004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  <a:highlight>
                  <a:schemeClr val="dk1"/>
                </a:highlight>
                <a:latin typeface="Inconsolata"/>
                <a:ea typeface="Inconsolata"/>
                <a:cs typeface="Inconsolata"/>
                <a:sym typeface="Inconsolata"/>
              </a:rPr>
              <a:t>shutdown /d</a:t>
            </a:r>
            <a:r>
              <a:rPr lang="en" sz="120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specifies a reason for shut down.</a:t>
            </a:r>
            <a:endParaRPr sz="12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67640" lvl="0" marL="32004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  <a:highlight>
                  <a:schemeClr val="dk1"/>
                </a:highlight>
                <a:latin typeface="Inconsolata"/>
                <a:ea typeface="Inconsolata"/>
                <a:cs typeface="Inconsolata"/>
                <a:sym typeface="Inconsolata"/>
              </a:rPr>
              <a:t>freedisk /d</a:t>
            </a:r>
            <a:r>
              <a:rPr lang="en" sz="1200">
                <a:solidFill>
                  <a:srgbClr val="2429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specifies which disk drive to check.</a:t>
            </a:r>
            <a:endParaRPr sz="12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0"/>
          <p:cNvSpPr txBox="1"/>
          <p:nvPr>
            <p:ph idx="1" type="body"/>
          </p:nvPr>
        </p:nvSpPr>
        <p:spPr>
          <a:xfrm>
            <a:off x="3657600" y="1295850"/>
            <a:ext cx="5623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PowerShell </a:t>
            </a:r>
            <a:r>
              <a:rPr lang="en" sz="3200"/>
              <a:t>provides </a:t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clearly defined, universal parameters for commands.</a:t>
            </a:r>
            <a:endParaRPr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1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PowerShell vs. </a:t>
            </a:r>
            <a:r>
              <a:rPr lang="en" sz="2600">
                <a:latin typeface="Inconsolata"/>
                <a:ea typeface="Inconsolata"/>
                <a:cs typeface="Inconsolata"/>
                <a:sym typeface="Inconsolata"/>
              </a:rPr>
              <a:t>CMD</a:t>
            </a:r>
            <a:endParaRPr sz="26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560" name="Google Shape;560;p71"/>
          <p:cNvSpPr txBox="1"/>
          <p:nvPr>
            <p:ph idx="1" type="subTitle"/>
          </p:nvPr>
        </p:nvSpPr>
        <p:spPr>
          <a:xfrm>
            <a:off x="0" y="5235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Based on the language used in the following commands,</a:t>
            </a:r>
            <a:r>
              <a:rPr b="1" lang="en" sz="1600"/>
              <a:t> what do you think they will do?</a:t>
            </a:r>
            <a:endParaRPr b="1" sz="1600"/>
          </a:p>
        </p:txBody>
      </p:sp>
      <p:sp>
        <p:nvSpPr>
          <p:cNvPr id="561" name="Google Shape;561;p71"/>
          <p:cNvSpPr/>
          <p:nvPr/>
        </p:nvSpPr>
        <p:spPr>
          <a:xfrm>
            <a:off x="490050" y="1608700"/>
            <a:ext cx="8313600" cy="296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71"/>
          <p:cNvSpPr txBox="1"/>
          <p:nvPr/>
        </p:nvSpPr>
        <p:spPr>
          <a:xfrm>
            <a:off x="551175" y="1722225"/>
            <a:ext cx="8016600" cy="26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PS C:\Users\administrator&gt; Stop-Computer</a:t>
            </a:r>
            <a:r>
              <a:rPr lang="en" sz="1800">
                <a:solidFill>
                  <a:srgbClr val="FFFF00"/>
                </a:solidFill>
                <a:latin typeface="Inconsolata"/>
                <a:ea typeface="Inconsolata"/>
                <a:cs typeface="Inconsolata"/>
                <a:sym typeface="Inconsolata"/>
              </a:rPr>
              <a:t> -Confirm</a:t>
            </a:r>
            <a:endParaRPr sz="1800">
              <a:solidFill>
                <a:srgbClr val="FFFF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PS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C:\Users\administrator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&gt; Stop-Computer </a:t>
            </a:r>
            <a:r>
              <a:rPr lang="en" sz="1800">
                <a:solidFill>
                  <a:srgbClr val="FFFF00"/>
                </a:solidFill>
                <a:latin typeface="Inconsolata"/>
                <a:ea typeface="Inconsolata"/>
                <a:cs typeface="Inconsolata"/>
                <a:sym typeface="Inconsolata"/>
              </a:rPr>
              <a:t>-Force</a:t>
            </a:r>
            <a:endParaRPr sz="1800">
              <a:solidFill>
                <a:srgbClr val="FFFF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2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PowerShell Integrated Scripting Environment (ISE)</a:t>
            </a:r>
            <a:endParaRPr sz="2600"/>
          </a:p>
        </p:txBody>
      </p:sp>
      <p:grpSp>
        <p:nvGrpSpPr>
          <p:cNvPr id="568" name="Google Shape;568;p72"/>
          <p:cNvGrpSpPr/>
          <p:nvPr/>
        </p:nvGrpSpPr>
        <p:grpSpPr>
          <a:xfrm>
            <a:off x="0" y="1200035"/>
            <a:ext cx="9321096" cy="3535907"/>
            <a:chOff x="152400" y="1329250"/>
            <a:chExt cx="9004150" cy="3458100"/>
          </a:xfrm>
        </p:grpSpPr>
        <p:pic>
          <p:nvPicPr>
            <p:cNvPr id="569" name="Google Shape;569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329250"/>
              <a:ext cx="8839201" cy="345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0" name="Google Shape;570;p72"/>
            <p:cNvSpPr txBox="1"/>
            <p:nvPr/>
          </p:nvSpPr>
          <p:spPr>
            <a:xfrm>
              <a:off x="798800" y="2692450"/>
              <a:ext cx="3003900" cy="18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429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"/>
                <a:buChar char="●"/>
              </a:pPr>
              <a:r>
                <a:rPr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Script editor</a:t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429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"/>
                <a:buChar char="●"/>
              </a:pPr>
              <a:r>
                <a:rPr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Syntax </a:t>
              </a:r>
              <a:r>
                <a:rPr lang="en" sz="1800">
                  <a:solidFill>
                    <a:srgbClr val="FECF48"/>
                  </a:solidFill>
                  <a:latin typeface="Roboto"/>
                  <a:ea typeface="Roboto"/>
                  <a:cs typeface="Roboto"/>
                  <a:sym typeface="Roboto"/>
                </a:rPr>
                <a:t>coloring</a:t>
              </a:r>
              <a:endParaRPr sz="1800">
                <a:solidFill>
                  <a:srgbClr val="FECF4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429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"/>
                <a:buChar char="●"/>
              </a:pPr>
              <a:r>
                <a:rPr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Integrated help</a:t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429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"/>
                <a:buChar char="●"/>
              </a:pPr>
              <a:r>
                <a:rPr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Add-ons</a:t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1" name="Google Shape;571;p72"/>
            <p:cNvSpPr txBox="1"/>
            <p:nvPr/>
          </p:nvSpPr>
          <p:spPr>
            <a:xfrm>
              <a:off x="5415250" y="2692450"/>
              <a:ext cx="3741300" cy="18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42900" lvl="0" marL="457200" rtl="0" algn="l">
                <a:spcBef>
                  <a:spcPts val="0"/>
                </a:spcBef>
                <a:spcAft>
                  <a:spcPts val="0"/>
                </a:spcAft>
                <a:buSzPts val="1800"/>
                <a:buFont typeface="Roboto"/>
                <a:buChar char="●"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Command pane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  <a:p>
              <a:pPr indent="-342900" lvl="0" marL="457200" rtl="0" algn="l">
                <a:spcBef>
                  <a:spcPts val="0"/>
                </a:spcBef>
                <a:spcAft>
                  <a:spcPts val="0"/>
                </a:spcAft>
                <a:buSzPts val="1800"/>
                <a:buFont typeface="Roboto"/>
                <a:buChar char="●"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Tab completion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  <a:p>
              <a:pPr indent="-342900" lvl="0" marL="457200" rtl="0" algn="l">
                <a:spcBef>
                  <a:spcPts val="0"/>
                </a:spcBef>
                <a:spcAft>
                  <a:spcPts val="0"/>
                </a:spcAft>
                <a:buSzPts val="1800"/>
                <a:buFont typeface="Roboto"/>
                <a:buChar char="●"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Debugging tools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72" name="Google Shape;572;p72"/>
          <p:cNvSpPr txBox="1"/>
          <p:nvPr/>
        </p:nvSpPr>
        <p:spPr>
          <a:xfrm>
            <a:off x="359850" y="533700"/>
            <a:ext cx="75099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Graphical host application for PowerShell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73"/>
          <p:cNvSpPr txBox="1"/>
          <p:nvPr>
            <p:ph idx="1" type="body"/>
          </p:nvPr>
        </p:nvSpPr>
        <p:spPr>
          <a:xfrm>
            <a:off x="3694050" y="1312475"/>
            <a:ext cx="52449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We can use PowerShell </a:t>
            </a:r>
            <a:r>
              <a:rPr b="1" lang="en" sz="3200"/>
              <a:t>piping</a:t>
            </a:r>
            <a:r>
              <a:rPr lang="en" sz="3200"/>
              <a:t> for operations that </a:t>
            </a:r>
            <a:r>
              <a:rPr b="1" lang="en" sz="3200">
                <a:latin typeface="Inconsolata"/>
                <a:ea typeface="Inconsolata"/>
                <a:cs typeface="Inconsolata"/>
                <a:sym typeface="Inconsolata"/>
              </a:rPr>
              <a:t>CMD </a:t>
            </a:r>
            <a:r>
              <a:rPr b="1" lang="en" sz="3200"/>
              <a:t>doesn’t support</a:t>
            </a:r>
            <a:r>
              <a:rPr lang="en" sz="3200"/>
              <a:t>.</a:t>
            </a:r>
            <a:endParaRPr sz="3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4"/>
          <p:cNvSpPr txBox="1"/>
          <p:nvPr/>
        </p:nvSpPr>
        <p:spPr>
          <a:xfrm>
            <a:off x="457200" y="118850"/>
            <a:ext cx="815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PowerShell Piping for CMD’s Unsupported Operations</a:t>
            </a:r>
            <a:endParaRPr b="1" i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To find the file sizes of subdirectories in </a:t>
            </a:r>
            <a:r>
              <a:rPr b="1" lang="en" sz="16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C:\Windows\Systems</a:t>
            </a:r>
            <a:r>
              <a:rPr lang="en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in </a:t>
            </a:r>
            <a:r>
              <a:rPr b="1" lang="en" sz="16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CMD</a:t>
            </a:r>
            <a:r>
              <a:rPr lang="en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, we must use a complex batch file consisting of the following:</a:t>
            </a:r>
            <a:r>
              <a:rPr lang="en" sz="16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rPr>
              <a:t>  </a:t>
            </a:r>
            <a:endParaRPr sz="1600"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3" name="Google Shape;583;p74"/>
          <p:cNvSpPr txBox="1"/>
          <p:nvPr/>
        </p:nvSpPr>
        <p:spPr>
          <a:xfrm>
            <a:off x="0" y="2791325"/>
            <a:ext cx="91440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PowerShell can do this with a simple pipe ( </a:t>
            </a:r>
            <a:r>
              <a:rPr b="1" lang="en" sz="16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|</a:t>
            </a:r>
            <a:r>
              <a:rPr lang="en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):</a:t>
            </a:r>
            <a:endParaRPr sz="1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" name="Google Shape;584;p74"/>
          <p:cNvSpPr txBox="1"/>
          <p:nvPr/>
        </p:nvSpPr>
        <p:spPr>
          <a:xfrm>
            <a:off x="0" y="1125450"/>
            <a:ext cx="9144000" cy="14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74"/>
          <p:cNvSpPr/>
          <p:nvPr/>
        </p:nvSpPr>
        <p:spPr>
          <a:xfrm>
            <a:off x="379050" y="1271300"/>
            <a:ext cx="8385900" cy="109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u="none" cap="none" strike="noStrike">
                <a:solidFill>
                  <a:srgbClr val="FF0000"/>
                </a:solidFill>
                <a:latin typeface="Inconsolata"/>
                <a:ea typeface="Inconsolata"/>
                <a:cs typeface="Inconsolata"/>
                <a:sym typeface="Inconsolata"/>
              </a:rPr>
              <a:t>@echo off</a:t>
            </a:r>
            <a:endParaRPr b="1" i="0" u="none" cap="none" strike="noStrike">
              <a:solidFill>
                <a:srgbClr val="FF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u="none" cap="none" strike="noStrike">
                <a:solidFill>
                  <a:srgbClr val="FF0000"/>
                </a:solidFill>
                <a:latin typeface="Inconsolata"/>
                <a:ea typeface="Inconsolata"/>
                <a:cs typeface="Inconsolata"/>
                <a:sym typeface="Inconsolata"/>
              </a:rPr>
              <a:t>set</a:t>
            </a:r>
            <a:r>
              <a:rPr b="1" i="0" lang="en" u="none" cap="none" strike="noStrike">
                <a:solidFill>
                  <a:srgbClr val="24292E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i="0" lang="en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size</a:t>
            </a:r>
            <a:r>
              <a:rPr b="1" i="0" lang="en" u="none" cap="none" strike="noStrike">
                <a:solidFill>
                  <a:srgbClr val="FF0000"/>
                </a:solidFill>
                <a:latin typeface="Inconsolata"/>
                <a:ea typeface="Inconsolata"/>
                <a:cs typeface="Inconsolata"/>
                <a:sym typeface="Inconsolata"/>
              </a:rPr>
              <a:t>=</a:t>
            </a:r>
            <a:r>
              <a:rPr b="1" i="0" lang="en" u="none" cap="none" strike="noStrike">
                <a:solidFill>
                  <a:srgbClr val="0000FF"/>
                </a:solidFill>
                <a:latin typeface="Inconsolata"/>
                <a:ea typeface="Inconsolata"/>
                <a:cs typeface="Inconsolata"/>
                <a:sym typeface="Inconsolata"/>
              </a:rPr>
              <a:t>0</a:t>
            </a:r>
            <a:endParaRPr b="1" i="0" u="none" cap="none" strike="noStrike">
              <a:solidFill>
                <a:srgbClr val="0000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u="none" cap="none" strike="noStrike">
                <a:solidFill>
                  <a:srgbClr val="FF0000"/>
                </a:solidFill>
                <a:latin typeface="Inconsolata"/>
                <a:ea typeface="Inconsolata"/>
                <a:cs typeface="Inconsolata"/>
                <a:sym typeface="Inconsolata"/>
              </a:rPr>
              <a:t>for</a:t>
            </a:r>
            <a:r>
              <a:rPr b="1" i="0" lang="en" u="none" cap="none" strike="noStrike">
                <a:solidFill>
                  <a:srgbClr val="24292E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i="0" lang="en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/r %%x in (System\*) do</a:t>
            </a:r>
            <a:r>
              <a:rPr b="1" i="0" lang="en" u="none" cap="none" strike="noStrike">
                <a:solidFill>
                  <a:srgbClr val="24292E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i="0" lang="en" u="none" cap="none" strike="noStrike">
                <a:solidFill>
                  <a:srgbClr val="FF0000"/>
                </a:solidFill>
                <a:latin typeface="Inconsolata"/>
                <a:ea typeface="Inconsolata"/>
                <a:cs typeface="Inconsolata"/>
                <a:sym typeface="Inconsolata"/>
              </a:rPr>
              <a:t>set</a:t>
            </a:r>
            <a:r>
              <a:rPr b="1" i="0" lang="en" u="none" cap="none" strike="noStrike">
                <a:solidFill>
                  <a:srgbClr val="24292E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i="0" lang="en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/a size</a:t>
            </a:r>
            <a:r>
              <a:rPr b="1" i="0" lang="en" u="none" cap="none" strike="noStrike">
                <a:solidFill>
                  <a:srgbClr val="FF0000"/>
                </a:solidFill>
                <a:latin typeface="Inconsolata"/>
                <a:ea typeface="Inconsolata"/>
                <a:cs typeface="Inconsolata"/>
                <a:sym typeface="Inconsolata"/>
              </a:rPr>
              <a:t>+=%%~</a:t>
            </a:r>
            <a:r>
              <a:rPr b="1" i="0" lang="en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zx</a:t>
            </a:r>
            <a:endParaRPr b="1" i="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u="none" cap="none" strike="noStrike">
                <a:solidFill>
                  <a:srgbClr val="FF0000"/>
                </a:solidFill>
                <a:latin typeface="Inconsolata"/>
                <a:ea typeface="Inconsolata"/>
                <a:cs typeface="Inconsolata"/>
                <a:sym typeface="Inconsolata"/>
              </a:rPr>
              <a:t>echo</a:t>
            </a:r>
            <a:r>
              <a:rPr b="1" i="0" lang="en" u="none" cap="none" strike="noStrike">
                <a:solidFill>
                  <a:srgbClr val="24292E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i="0" lang="en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%size% Bytes</a:t>
            </a:r>
            <a:endParaRPr b="1" i="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586" name="Google Shape;586;p74"/>
          <p:cNvSpPr txBox="1"/>
          <p:nvPr/>
        </p:nvSpPr>
        <p:spPr>
          <a:xfrm>
            <a:off x="0" y="3148500"/>
            <a:ext cx="9144000" cy="14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74"/>
          <p:cNvSpPr/>
          <p:nvPr/>
        </p:nvSpPr>
        <p:spPr>
          <a:xfrm>
            <a:off x="379050" y="3115763"/>
            <a:ext cx="83859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dir </a:t>
            </a:r>
            <a:r>
              <a:rPr lang="en">
                <a:solidFill>
                  <a:srgbClr val="FF00FF"/>
                </a:solidFill>
                <a:latin typeface="Inconsolata"/>
                <a:ea typeface="Inconsolata"/>
                <a:cs typeface="Inconsolata"/>
                <a:sym typeface="Inconsolata"/>
              </a:rPr>
              <a:t>C:\Windows\System</a:t>
            </a:r>
            <a:r>
              <a:rPr lang="en">
                <a:solidFill>
                  <a:schemeClr val="accent4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>
                <a:solidFill>
                  <a:srgbClr val="FFFF00"/>
                </a:solidFill>
                <a:latin typeface="Inconsolata"/>
                <a:ea typeface="Inconsolata"/>
                <a:cs typeface="Inconsolata"/>
                <a:sym typeface="Inconsolata"/>
              </a:rPr>
              <a:t>-Recurse</a:t>
            </a:r>
            <a:r>
              <a:rPr lang="en">
                <a:solidFill>
                  <a:schemeClr val="accent4"/>
                </a:solidFill>
                <a:latin typeface="Inconsolata"/>
                <a:ea typeface="Inconsolata"/>
                <a:cs typeface="Inconsolata"/>
                <a:sym typeface="Inconsolata"/>
              </a:rPr>
              <a:t> | </a:t>
            </a:r>
            <a:r>
              <a:rPr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Measure-Object</a:t>
            </a:r>
            <a:r>
              <a:rPr lang="en">
                <a:solidFill>
                  <a:schemeClr val="accent4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>
                <a:solidFill>
                  <a:srgbClr val="FFFF00"/>
                </a:solidFill>
                <a:latin typeface="Inconsolata"/>
                <a:ea typeface="Inconsolata"/>
                <a:cs typeface="Inconsolata"/>
                <a:sym typeface="Inconsolata"/>
              </a:rPr>
              <a:t>-Sum</a:t>
            </a:r>
            <a:r>
              <a:rPr lang="en">
                <a:solidFill>
                  <a:schemeClr val="accent4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>
                <a:solidFill>
                  <a:srgbClr val="FF00FF"/>
                </a:solidFill>
                <a:latin typeface="Inconsolata"/>
                <a:ea typeface="Inconsolata"/>
                <a:cs typeface="Inconsolata"/>
                <a:sym typeface="Inconsolata"/>
              </a:rPr>
              <a:t>Length</a:t>
            </a:r>
            <a:endParaRPr sz="1200">
              <a:solidFill>
                <a:srgbClr val="FF00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588" name="Google Shape;588;p74"/>
          <p:cNvSpPr/>
          <p:nvPr/>
        </p:nvSpPr>
        <p:spPr>
          <a:xfrm rot="-5400000">
            <a:off x="4961925" y="2507375"/>
            <a:ext cx="126900" cy="2681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74"/>
          <p:cNvSpPr/>
          <p:nvPr/>
        </p:nvSpPr>
        <p:spPr>
          <a:xfrm rot="-5400000">
            <a:off x="1951950" y="2507375"/>
            <a:ext cx="126900" cy="2681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74"/>
          <p:cNvSpPr txBox="1"/>
          <p:nvPr/>
        </p:nvSpPr>
        <p:spPr>
          <a:xfrm>
            <a:off x="3320475" y="4082225"/>
            <a:ext cx="34098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output is piped into this command, which measures files.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74"/>
          <p:cNvSpPr txBox="1"/>
          <p:nvPr/>
        </p:nvSpPr>
        <p:spPr>
          <a:xfrm>
            <a:off x="379050" y="4096500"/>
            <a:ext cx="31500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Grabs all the current directory and subdirectory contents.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5"/>
          <p:cNvSpPr txBox="1"/>
          <p:nvPr/>
        </p:nvSpPr>
        <p:spPr>
          <a:xfrm>
            <a:off x="457200" y="127400"/>
            <a:ext cx="815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PowerShell Piping for CMD’s Unsupported Operations</a:t>
            </a:r>
            <a:endParaRPr b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To find the file sizes of subdirectories in </a:t>
            </a:r>
            <a:r>
              <a:rPr b="1" lang="en" sz="16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C:\Windows\Systems</a:t>
            </a:r>
            <a:r>
              <a:rPr lang="en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in </a:t>
            </a:r>
            <a:r>
              <a:rPr b="1" lang="en" sz="16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CMD</a:t>
            </a:r>
            <a:r>
              <a:rPr lang="en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, we must use a complex batch file consisting of the following:</a:t>
            </a:r>
            <a:r>
              <a:rPr lang="en" sz="16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rPr>
              <a:t>  </a:t>
            </a:r>
            <a:endParaRPr sz="1600"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97" name="Google Shape;597;p75"/>
          <p:cNvSpPr txBox="1"/>
          <p:nvPr/>
        </p:nvSpPr>
        <p:spPr>
          <a:xfrm>
            <a:off x="0" y="2791325"/>
            <a:ext cx="91440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PowerShell can do this with a simple pipe ( </a:t>
            </a:r>
            <a:r>
              <a:rPr b="1" lang="en" sz="16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|</a:t>
            </a:r>
            <a:r>
              <a:rPr lang="en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):</a:t>
            </a:r>
            <a:endParaRPr sz="1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75"/>
          <p:cNvSpPr txBox="1"/>
          <p:nvPr/>
        </p:nvSpPr>
        <p:spPr>
          <a:xfrm>
            <a:off x="0" y="1125450"/>
            <a:ext cx="9144000" cy="14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75"/>
          <p:cNvSpPr/>
          <p:nvPr/>
        </p:nvSpPr>
        <p:spPr>
          <a:xfrm>
            <a:off x="379050" y="1271300"/>
            <a:ext cx="8385900" cy="109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u="none" cap="none" strike="noStrike">
                <a:solidFill>
                  <a:srgbClr val="FF0000"/>
                </a:solidFill>
                <a:latin typeface="Inconsolata"/>
                <a:ea typeface="Inconsolata"/>
                <a:cs typeface="Inconsolata"/>
                <a:sym typeface="Inconsolata"/>
              </a:rPr>
              <a:t>@echo off</a:t>
            </a:r>
            <a:endParaRPr b="1" i="0" u="none" cap="none" strike="noStrike">
              <a:solidFill>
                <a:srgbClr val="FF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u="none" cap="none" strike="noStrike">
                <a:solidFill>
                  <a:srgbClr val="FF0000"/>
                </a:solidFill>
                <a:latin typeface="Inconsolata"/>
                <a:ea typeface="Inconsolata"/>
                <a:cs typeface="Inconsolata"/>
                <a:sym typeface="Inconsolata"/>
              </a:rPr>
              <a:t>set</a:t>
            </a:r>
            <a:r>
              <a:rPr b="1" i="0" lang="en" u="none" cap="none" strike="noStrike">
                <a:solidFill>
                  <a:srgbClr val="24292E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i="0" lang="en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size</a:t>
            </a:r>
            <a:r>
              <a:rPr b="1" i="0" lang="en" u="none" cap="none" strike="noStrike">
                <a:solidFill>
                  <a:srgbClr val="FF0000"/>
                </a:solidFill>
                <a:latin typeface="Inconsolata"/>
                <a:ea typeface="Inconsolata"/>
                <a:cs typeface="Inconsolata"/>
                <a:sym typeface="Inconsolata"/>
              </a:rPr>
              <a:t>=</a:t>
            </a:r>
            <a:r>
              <a:rPr b="1" i="0" lang="en" u="none" cap="none" strike="noStrike">
                <a:solidFill>
                  <a:srgbClr val="0000FF"/>
                </a:solidFill>
                <a:latin typeface="Inconsolata"/>
                <a:ea typeface="Inconsolata"/>
                <a:cs typeface="Inconsolata"/>
                <a:sym typeface="Inconsolata"/>
              </a:rPr>
              <a:t>0</a:t>
            </a:r>
            <a:endParaRPr b="1" i="0" u="none" cap="none" strike="noStrike">
              <a:solidFill>
                <a:srgbClr val="0000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u="none" cap="none" strike="noStrike">
                <a:solidFill>
                  <a:srgbClr val="FF0000"/>
                </a:solidFill>
                <a:latin typeface="Inconsolata"/>
                <a:ea typeface="Inconsolata"/>
                <a:cs typeface="Inconsolata"/>
                <a:sym typeface="Inconsolata"/>
              </a:rPr>
              <a:t>for</a:t>
            </a:r>
            <a:r>
              <a:rPr b="1" i="0" lang="en" u="none" cap="none" strike="noStrike">
                <a:solidFill>
                  <a:srgbClr val="24292E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i="0" lang="en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/r %%x in (System\*) do</a:t>
            </a:r>
            <a:r>
              <a:rPr b="1" i="0" lang="en" u="none" cap="none" strike="noStrike">
                <a:solidFill>
                  <a:srgbClr val="24292E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i="0" lang="en" u="none" cap="none" strike="noStrike">
                <a:solidFill>
                  <a:srgbClr val="FF0000"/>
                </a:solidFill>
                <a:latin typeface="Inconsolata"/>
                <a:ea typeface="Inconsolata"/>
                <a:cs typeface="Inconsolata"/>
                <a:sym typeface="Inconsolata"/>
              </a:rPr>
              <a:t>set</a:t>
            </a:r>
            <a:r>
              <a:rPr b="1" i="0" lang="en" u="none" cap="none" strike="noStrike">
                <a:solidFill>
                  <a:srgbClr val="24292E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i="0" lang="en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/a size</a:t>
            </a:r>
            <a:r>
              <a:rPr b="1" i="0" lang="en" u="none" cap="none" strike="noStrike">
                <a:solidFill>
                  <a:srgbClr val="FF0000"/>
                </a:solidFill>
                <a:latin typeface="Inconsolata"/>
                <a:ea typeface="Inconsolata"/>
                <a:cs typeface="Inconsolata"/>
                <a:sym typeface="Inconsolata"/>
              </a:rPr>
              <a:t>+=%%~</a:t>
            </a:r>
            <a:r>
              <a:rPr b="1" i="0" lang="en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zx</a:t>
            </a:r>
            <a:endParaRPr b="1" i="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u="none" cap="none" strike="noStrike">
                <a:solidFill>
                  <a:srgbClr val="FF0000"/>
                </a:solidFill>
                <a:latin typeface="Inconsolata"/>
                <a:ea typeface="Inconsolata"/>
                <a:cs typeface="Inconsolata"/>
                <a:sym typeface="Inconsolata"/>
              </a:rPr>
              <a:t>echo</a:t>
            </a:r>
            <a:r>
              <a:rPr b="1" i="0" lang="en" u="none" cap="none" strike="noStrike">
                <a:solidFill>
                  <a:srgbClr val="24292E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i="0" lang="en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%size% Bytes</a:t>
            </a:r>
            <a:endParaRPr b="1" i="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00" name="Google Shape;600;p75"/>
          <p:cNvSpPr txBox="1"/>
          <p:nvPr/>
        </p:nvSpPr>
        <p:spPr>
          <a:xfrm>
            <a:off x="0" y="3148500"/>
            <a:ext cx="9144000" cy="14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75"/>
          <p:cNvSpPr/>
          <p:nvPr/>
        </p:nvSpPr>
        <p:spPr>
          <a:xfrm>
            <a:off x="379050" y="3115763"/>
            <a:ext cx="83859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dir </a:t>
            </a:r>
            <a:r>
              <a:rPr lang="en">
                <a:solidFill>
                  <a:srgbClr val="FF00FF"/>
                </a:solidFill>
                <a:latin typeface="Inconsolata"/>
                <a:ea typeface="Inconsolata"/>
                <a:cs typeface="Inconsolata"/>
                <a:sym typeface="Inconsolata"/>
              </a:rPr>
              <a:t>C:\Windows\System</a:t>
            </a:r>
            <a:r>
              <a:rPr lang="en">
                <a:solidFill>
                  <a:schemeClr val="accent4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>
                <a:solidFill>
                  <a:srgbClr val="FFFF00"/>
                </a:solidFill>
                <a:latin typeface="Inconsolata"/>
                <a:ea typeface="Inconsolata"/>
                <a:cs typeface="Inconsolata"/>
                <a:sym typeface="Inconsolata"/>
              </a:rPr>
              <a:t>-Recurse</a:t>
            </a:r>
            <a:r>
              <a:rPr lang="en">
                <a:solidFill>
                  <a:schemeClr val="accent4"/>
                </a:solidFill>
                <a:latin typeface="Inconsolata"/>
                <a:ea typeface="Inconsolata"/>
                <a:cs typeface="Inconsolata"/>
                <a:sym typeface="Inconsolata"/>
              </a:rPr>
              <a:t> | </a:t>
            </a:r>
            <a:r>
              <a:rPr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Measure-</a:t>
            </a:r>
            <a:r>
              <a:rPr b="1" lang="en">
                <a:solidFill>
                  <a:srgbClr val="082D49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Object</a:t>
            </a:r>
            <a:r>
              <a:rPr lang="en">
                <a:solidFill>
                  <a:schemeClr val="accent4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>
                <a:solidFill>
                  <a:srgbClr val="FFFF00"/>
                </a:solidFill>
                <a:latin typeface="Inconsolata"/>
                <a:ea typeface="Inconsolata"/>
                <a:cs typeface="Inconsolata"/>
                <a:sym typeface="Inconsolata"/>
              </a:rPr>
              <a:t>-Sum</a:t>
            </a:r>
            <a:r>
              <a:rPr lang="en">
                <a:solidFill>
                  <a:schemeClr val="accent4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>
                <a:solidFill>
                  <a:srgbClr val="FF00FF"/>
                </a:solidFill>
                <a:latin typeface="Inconsolata"/>
                <a:ea typeface="Inconsolata"/>
                <a:cs typeface="Inconsolata"/>
                <a:sym typeface="Inconsolata"/>
              </a:rPr>
              <a:t>Length</a:t>
            </a:r>
            <a:endParaRPr sz="1200">
              <a:solidFill>
                <a:srgbClr val="FF00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02" name="Google Shape;602;p75"/>
          <p:cNvSpPr/>
          <p:nvPr/>
        </p:nvSpPr>
        <p:spPr>
          <a:xfrm>
            <a:off x="5159700" y="2979250"/>
            <a:ext cx="2155500" cy="1442400"/>
          </a:xfrm>
          <a:prstGeom prst="wedgeRoundRectCallout">
            <a:avLst>
              <a:gd fmla="val -58710" name="adj1"/>
              <a:gd fmla="val -20471" name="adj2"/>
              <a:gd fmla="val 0" name="adj3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Objects</a:t>
            </a:r>
            <a:r>
              <a:rPr lang="en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are a very important PowerShell concept. We’ll look at them next.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6"/>
          <p:cNvSpPr txBox="1"/>
          <p:nvPr/>
        </p:nvSpPr>
        <p:spPr>
          <a:xfrm>
            <a:off x="1696148" y="1554300"/>
            <a:ext cx="60462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“Objects” </a:t>
            </a:r>
            <a:r>
              <a:rPr lang="en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are Microsoft’s </a:t>
            </a:r>
            <a:endParaRPr sz="3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name for every component </a:t>
            </a:r>
            <a:endParaRPr sz="3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a system that PowerShell recognizes and interacts with.</a:t>
            </a:r>
            <a:r>
              <a:rPr b="1" lang="en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3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7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PowerShell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and Objects Demo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79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</a:t>
            </a:r>
            <a:r>
              <a:rPr lang="en"/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PowerShell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2" name="Google Shape;622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8150" y="1882800"/>
            <a:ext cx="806400" cy="8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79"/>
          <p:cNvPicPr preferRelativeResize="0"/>
          <p:nvPr/>
        </p:nvPicPr>
        <p:blipFill rotWithShape="1">
          <a:blip r:embed="rId4">
            <a:alphaModFix/>
          </a:blip>
          <a:srcRect b="-5330" l="0" r="0" t="-8577"/>
          <a:stretch/>
        </p:blipFill>
        <p:spPr>
          <a:xfrm>
            <a:off x="3806475" y="1565025"/>
            <a:ext cx="1168726" cy="101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8" name="Google Shape;628;p80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29" name="Google Shape;629;p80"/>
          <p:cNvSpPr txBox="1"/>
          <p:nvPr/>
        </p:nvSpPr>
        <p:spPr>
          <a:xfrm>
            <a:off x="724200" y="1274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Scenario</a:t>
            </a:r>
            <a:endParaRPr sz="26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30" name="Google Shape;630;p80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80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Let’s continue our scenario from the previous lesson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2" name="Google Shape;63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80"/>
          <p:cNvSpPr txBox="1"/>
          <p:nvPr>
            <p:ph idx="1" type="body"/>
          </p:nvPr>
        </p:nvSpPr>
        <p:spPr>
          <a:xfrm>
            <a:off x="457200" y="1044400"/>
            <a:ext cx="4253100" cy="3882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Throughout today’s lesson, we will be working with PowerShell to complete the following activities for our CIO: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Navigate Windows with the PowerShell command line.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Create logs with PowerShell.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Create scripts with PowerShell.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634" name="Google Shape;634;p80"/>
          <p:cNvPicPr preferRelativeResize="0"/>
          <p:nvPr/>
        </p:nvPicPr>
        <p:blipFill rotWithShape="1">
          <a:blip r:embed="rId4">
            <a:alphaModFix/>
          </a:blip>
          <a:srcRect b="14290" l="0" r="0" t="14290"/>
          <a:stretch/>
        </p:blipFill>
        <p:spPr>
          <a:xfrm>
            <a:off x="10265250" y="1387775"/>
            <a:ext cx="4382549" cy="319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80"/>
          <p:cNvPicPr preferRelativeResize="0"/>
          <p:nvPr/>
        </p:nvPicPr>
        <p:blipFill rotWithShape="1">
          <a:blip r:embed="rId5">
            <a:alphaModFix/>
          </a:blip>
          <a:srcRect b="-2579" l="0" r="0" t="-2286"/>
          <a:stretch/>
        </p:blipFill>
        <p:spPr>
          <a:xfrm>
            <a:off x="5029200" y="1556675"/>
            <a:ext cx="3481200" cy="286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81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PowerShell Syntax</a:t>
            </a:r>
            <a:endParaRPr/>
          </a:p>
        </p:txBody>
      </p:sp>
      <p:sp>
        <p:nvSpPr>
          <p:cNvPr id="641" name="Google Shape;641;p8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mdlets 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42" name="Google Shape;642;p81"/>
          <p:cNvSpPr/>
          <p:nvPr/>
        </p:nvSpPr>
        <p:spPr>
          <a:xfrm>
            <a:off x="379050" y="2201363"/>
            <a:ext cx="83859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ctr">
              <a:spcBef>
                <a:spcPts val="16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34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Measure</a:t>
            </a:r>
            <a:r>
              <a:rPr lang="en" sz="34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-</a:t>
            </a:r>
            <a:r>
              <a:rPr lang="en" sz="3400">
                <a:solidFill>
                  <a:schemeClr val="accent4"/>
                </a:solidFill>
                <a:latin typeface="Inconsolata"/>
                <a:ea typeface="Inconsolata"/>
                <a:cs typeface="Inconsolata"/>
                <a:sym typeface="Inconsolata"/>
              </a:rPr>
              <a:t>Object</a:t>
            </a:r>
            <a:endParaRPr sz="3400">
              <a:solidFill>
                <a:schemeClr val="accent4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43" name="Google Shape;643;p81"/>
          <p:cNvSpPr/>
          <p:nvPr/>
        </p:nvSpPr>
        <p:spPr>
          <a:xfrm rot="-5400000">
            <a:off x="5510025" y="2257500"/>
            <a:ext cx="126900" cy="1238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81"/>
          <p:cNvSpPr/>
          <p:nvPr/>
        </p:nvSpPr>
        <p:spPr>
          <a:xfrm rot="-5400000">
            <a:off x="3881250" y="2111550"/>
            <a:ext cx="126900" cy="1530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81"/>
          <p:cNvSpPr txBox="1"/>
          <p:nvPr/>
        </p:nvSpPr>
        <p:spPr>
          <a:xfrm>
            <a:off x="4857825" y="3014575"/>
            <a:ext cx="14313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Noun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81"/>
          <p:cNvSpPr txBox="1"/>
          <p:nvPr/>
        </p:nvSpPr>
        <p:spPr>
          <a:xfrm>
            <a:off x="3071400" y="3014575"/>
            <a:ext cx="1746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Verb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81"/>
          <p:cNvSpPr txBox="1"/>
          <p:nvPr>
            <p:ph idx="2" type="body"/>
          </p:nvPr>
        </p:nvSpPr>
        <p:spPr>
          <a:xfrm>
            <a:off x="379050" y="1187050"/>
            <a:ext cx="8229600" cy="646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PowerShell uses commands known as </a:t>
            </a:r>
            <a:r>
              <a:rPr b="1" lang="en"/>
              <a:t>cmdlets</a:t>
            </a:r>
            <a:r>
              <a:rPr lang="en"/>
              <a:t> (“command-lets”)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Combination of </a:t>
            </a:r>
            <a:r>
              <a:rPr b="1" lang="en"/>
              <a:t>verbs</a:t>
            </a:r>
            <a:r>
              <a:rPr lang="en"/>
              <a:t> and </a:t>
            </a:r>
            <a:r>
              <a:rPr b="1" lang="en"/>
              <a:t>nouns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8" name="Google Shape;64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34" y="320099"/>
            <a:ext cx="353529" cy="27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82"/>
          <p:cNvSpPr txBox="1"/>
          <p:nvPr>
            <p:ph type="title"/>
          </p:nvPr>
        </p:nvSpPr>
        <p:spPr>
          <a:xfrm>
            <a:off x="838200" y="3048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PowerShell Commands </a:t>
            </a:r>
            <a:endParaRPr i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4" name="Google Shape;65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34" y="320099"/>
            <a:ext cx="353529" cy="274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5" name="Google Shape;655;p82"/>
          <p:cNvGraphicFramePr/>
          <p:nvPr/>
        </p:nvGraphicFramePr>
        <p:xfrm>
          <a:off x="-12" y="87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{70FEE6B5-A4B5-43B3-9A72-CDE6AC6ED0CC}</a:tableStyleId>
              </a:tblPr>
              <a:tblGrid>
                <a:gridCol w="1767475"/>
                <a:gridCol w="4111100"/>
                <a:gridCol w="3265425"/>
              </a:tblGrid>
              <a:tr h="50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cmdlet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7150" marB="137150" marR="0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Function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7150" marB="137150" marR="0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Equivalent Command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7150" marB="137150" marR="0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Set-Location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Changes to specified directory</a:t>
                      </a:r>
                      <a:endParaRPr sz="1100" u="none" cap="none" strike="noStrike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cd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Get-ChildItem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Returns current directory contents</a:t>
                      </a:r>
                      <a:endParaRPr sz="1100" u="none" cap="none" strike="noStrike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ls, dir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New-Item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Makes new file or directory</a:t>
                      </a:r>
                      <a:endParaRPr sz="1100" u="none" cap="none" strike="noStrike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mkdir, touch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Remove-Item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Deletes file or directory</a:t>
                      </a:r>
                      <a:endParaRPr sz="1100" u="none" cap="none" strike="noStrike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rm, rmdir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Get-Location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Retrieves path to current directory</a:t>
                      </a:r>
                      <a:endParaRPr sz="1100" u="none" cap="none" strike="noStrike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pwd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Get-Content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Returns file content</a:t>
                      </a:r>
                      <a:endParaRPr sz="1100" u="none" cap="none" strike="noStrike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cat, type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Copy-Item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Copies a file from one location to another</a:t>
                      </a:r>
                      <a:endParaRPr sz="1100" u="none" cap="none" strike="noStrike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cp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Move-Item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Moves item from one location to another</a:t>
                      </a:r>
                      <a:endParaRPr sz="1100" u="none" cap="none" strike="noStrike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mv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Write-Output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Prints output</a:t>
                      </a:r>
                      <a:endParaRPr sz="1100" u="none" cap="none" strike="noStrike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echo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Get-Alias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Shows aliases from the current session</a:t>
                      </a:r>
                      <a:endParaRPr sz="1100" u="none" cap="none" strike="noStrike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alias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Get-Help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Retrieves information about command</a:t>
                      </a:r>
                      <a:endParaRPr sz="1100" u="none" cap="none" strike="noStrike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man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Get-Process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Retrieves processes running on machine</a:t>
                      </a:r>
                      <a:endParaRPr sz="1100" u="none" cap="none" strike="noStrike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ps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Stop-Process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Stops specific process</a:t>
                      </a:r>
                      <a:endParaRPr sz="1100" u="none" cap="none" strike="noStrike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kill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Get-Service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Retrieves list of services</a:t>
                      </a:r>
                      <a:endParaRPr sz="1100" u="none" cap="none" strike="noStrike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accent5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service --status-all</a:t>
                      </a:r>
                      <a:endParaRPr sz="1200" u="none" cap="none" strike="noStrike">
                        <a:solidFill>
                          <a:schemeClr val="accent5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83"/>
          <p:cNvSpPr txBox="1"/>
          <p:nvPr>
            <p:ph type="title"/>
          </p:nvPr>
        </p:nvSpPr>
        <p:spPr>
          <a:xfrm>
            <a:off x="365956" y="130206"/>
            <a:ext cx="8520600" cy="5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50">
                <a:solidFill>
                  <a:schemeClr val="accent5"/>
                </a:solidFill>
              </a:rPr>
              <a:t>Verbs-Nouns</a:t>
            </a:r>
            <a:endParaRPr i="1" sz="265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/>
              <a:t>Consider the following scenario: </a:t>
            </a:r>
            <a:endParaRPr b="0" sz="1800"/>
          </a:p>
        </p:txBody>
      </p:sp>
      <p:sp>
        <p:nvSpPr>
          <p:cNvPr id="661" name="Google Shape;661;p83"/>
          <p:cNvSpPr txBox="1"/>
          <p:nvPr/>
        </p:nvSpPr>
        <p:spPr>
          <a:xfrm>
            <a:off x="175" y="1216250"/>
            <a:ext cx="7288500" cy="20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-180340" lvl="0" marL="5486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User Alex left the company.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0340" lvl="0" marL="5486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We want to remove their user account from the system, but we want to keep the reports they were working on.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0340" lvl="0" marL="5486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We need to move the reports’ files from their user desktop directory to </a:t>
            </a:r>
            <a:b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 directory outside of the user.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0340" lvl="0" marL="5486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Along the way, we'll explore some other useful PowerShell commands.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	</a:t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62" name="Google Shape;662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3650" y="746225"/>
            <a:ext cx="2039100" cy="8014699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83"/>
          <p:cNvSpPr txBox="1"/>
          <p:nvPr/>
        </p:nvSpPr>
        <p:spPr>
          <a:xfrm>
            <a:off x="175" y="3684300"/>
            <a:ext cx="8169900" cy="1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We’ll use the following commands: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Set-Location   Move-Item   Get-ChildItem   New-Item   Remove-Item</a:t>
            </a:r>
            <a:endParaRPr sz="1600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84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PowerShell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Verb-Noun Demo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5"/>
          <p:cNvSpPr txBox="1"/>
          <p:nvPr>
            <p:ph idx="1" type="body"/>
          </p:nvPr>
        </p:nvSpPr>
        <p:spPr>
          <a:xfrm>
            <a:off x="3657600" y="1377600"/>
            <a:ext cx="54141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Now, we’ll use </a:t>
            </a:r>
            <a:r>
              <a:rPr b="1" lang="en" sz="3200"/>
              <a:t>parameters</a:t>
            </a:r>
            <a:r>
              <a:rPr lang="en" sz="3200"/>
              <a:t> </a:t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to customize the commands.</a:t>
            </a:r>
            <a:endParaRPr sz="3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86"/>
          <p:cNvSpPr txBox="1"/>
          <p:nvPr>
            <p:ph type="title"/>
          </p:nvPr>
        </p:nvSpPr>
        <p:spPr>
          <a:xfrm>
            <a:off x="457200" y="130221"/>
            <a:ext cx="8520600" cy="914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5"/>
                </a:solidFill>
              </a:rPr>
              <a:t>Parameters</a:t>
            </a:r>
            <a:endParaRPr i="1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chemeClr val="accent5"/>
                </a:solidFill>
              </a:rPr>
              <a:t>Instead of using </a:t>
            </a:r>
            <a:r>
              <a:rPr lang="en" sz="17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New-Item</a:t>
            </a:r>
            <a:r>
              <a:rPr b="0" lang="en" sz="1700">
                <a:solidFill>
                  <a:schemeClr val="accent5"/>
                </a:solidFill>
              </a:rPr>
              <a:t> to create another file, we can add parameters to the </a:t>
            </a:r>
            <a:r>
              <a:rPr lang="en" sz="17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New-Item</a:t>
            </a:r>
            <a:r>
              <a:rPr b="0" lang="en" sz="1700">
                <a:solidFill>
                  <a:schemeClr val="accent5"/>
                </a:solidFill>
              </a:rPr>
              <a:t> command and create a directory, with a specific name and location:</a:t>
            </a:r>
            <a:endParaRPr b="0" sz="1700">
              <a:solidFill>
                <a:schemeClr val="accent5"/>
              </a:solidFill>
            </a:endParaRPr>
          </a:p>
        </p:txBody>
      </p:sp>
      <p:sp>
        <p:nvSpPr>
          <p:cNvPr id="679" name="Google Shape;679;p86"/>
          <p:cNvSpPr/>
          <p:nvPr/>
        </p:nvSpPr>
        <p:spPr>
          <a:xfrm>
            <a:off x="311700" y="1787550"/>
            <a:ext cx="8268900" cy="62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52400" marR="152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New-Item </a:t>
            </a:r>
            <a:r>
              <a:rPr lang="en" sz="1700">
                <a:solidFill>
                  <a:schemeClr val="dk2"/>
                </a:solidFill>
                <a:highlight>
                  <a:schemeClr val="accent1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-Path</a:t>
            </a:r>
            <a:r>
              <a:rPr lang="en" sz="1700">
                <a:solidFill>
                  <a:schemeClr val="lt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</a:t>
            </a:r>
            <a:r>
              <a:rPr lang="en" sz="1700">
                <a:solidFill>
                  <a:srgbClr val="FF00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"C:\"</a:t>
            </a:r>
            <a:r>
              <a:rPr lang="en" sz="1700">
                <a:solidFill>
                  <a:schemeClr val="lt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</a:t>
            </a:r>
            <a:r>
              <a:rPr lang="en" sz="1700">
                <a:solidFill>
                  <a:schemeClr val="dk2"/>
                </a:solidFill>
                <a:highlight>
                  <a:schemeClr val="accent1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-Name</a:t>
            </a:r>
            <a:r>
              <a:rPr lang="en" sz="1700">
                <a:solidFill>
                  <a:schemeClr val="lt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</a:t>
            </a:r>
            <a:r>
              <a:rPr lang="en" sz="1700">
                <a:solidFill>
                  <a:srgbClr val="FF00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"Logs"</a:t>
            </a:r>
            <a:r>
              <a:rPr lang="en" sz="1700">
                <a:solidFill>
                  <a:schemeClr val="lt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</a:t>
            </a:r>
            <a:r>
              <a:rPr lang="en" sz="1700">
                <a:solidFill>
                  <a:schemeClr val="dk2"/>
                </a:solidFill>
                <a:highlight>
                  <a:schemeClr val="accent1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-ItemType</a:t>
            </a:r>
            <a:r>
              <a:rPr lang="en" sz="1700">
                <a:solidFill>
                  <a:schemeClr val="lt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</a:t>
            </a:r>
            <a:r>
              <a:rPr lang="en" sz="1700">
                <a:solidFill>
                  <a:srgbClr val="FF00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"Directory"</a:t>
            </a:r>
            <a:endParaRPr sz="1300">
              <a:solidFill>
                <a:srgbClr val="FF00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80" name="Google Shape;680;p86"/>
          <p:cNvSpPr txBox="1"/>
          <p:nvPr>
            <p:ph idx="1" type="body"/>
          </p:nvPr>
        </p:nvSpPr>
        <p:spPr>
          <a:xfrm>
            <a:off x="457200" y="1294125"/>
            <a:ext cx="8520600" cy="447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We can use a</a:t>
            </a:r>
            <a:r>
              <a:rPr b="1" lang="en" sz="1600">
                <a:latin typeface="Inconsolata"/>
                <a:ea typeface="Inconsolata"/>
                <a:cs typeface="Inconsolata"/>
                <a:sym typeface="Inconsolata"/>
              </a:rPr>
              <a:t> pipe </a:t>
            </a:r>
            <a:r>
              <a:rPr lang="en" sz="1600"/>
              <a:t>to retrieve only objects containing the word “system”:</a:t>
            </a:r>
            <a:endParaRPr sz="1600"/>
          </a:p>
        </p:txBody>
      </p:sp>
      <p:sp>
        <p:nvSpPr>
          <p:cNvPr id="681" name="Google Shape;681;p86"/>
          <p:cNvSpPr txBox="1"/>
          <p:nvPr>
            <p:ph idx="1" type="body"/>
          </p:nvPr>
        </p:nvSpPr>
        <p:spPr>
          <a:xfrm>
            <a:off x="457200" y="2580875"/>
            <a:ext cx="8520600" cy="572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-Path</a:t>
            </a:r>
            <a:r>
              <a:rPr lang="en" sz="1600"/>
              <a:t>: Parameter specifying the location of this new directory.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82" name="Google Shape;682;p86"/>
          <p:cNvSpPr txBox="1"/>
          <p:nvPr>
            <p:ph idx="1" type="body"/>
          </p:nvPr>
        </p:nvSpPr>
        <p:spPr>
          <a:xfrm>
            <a:off x="457200" y="3153563"/>
            <a:ext cx="8520600" cy="26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-Name</a:t>
            </a:r>
            <a:r>
              <a:rPr lang="en" sz="1600"/>
              <a:t>: Parameter specifying the directory’s name.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83" name="Google Shape;683;p86"/>
          <p:cNvSpPr txBox="1"/>
          <p:nvPr>
            <p:ph idx="1" type="body"/>
          </p:nvPr>
        </p:nvSpPr>
        <p:spPr>
          <a:xfrm>
            <a:off x="457200" y="3734125"/>
            <a:ext cx="8520600" cy="26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-ItemType</a:t>
            </a:r>
            <a:r>
              <a:rPr lang="en" sz="1600"/>
              <a:t>: Parameter specifying the type of item we want to create.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84" name="Google Shape;684;p86"/>
          <p:cNvSpPr txBox="1"/>
          <p:nvPr>
            <p:ph idx="1" type="body"/>
          </p:nvPr>
        </p:nvSpPr>
        <p:spPr>
          <a:xfrm>
            <a:off x="457200" y="4414525"/>
            <a:ext cx="8520600" cy="572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>
                <a:solidFill>
                  <a:schemeClr val="accent5"/>
                </a:solidFill>
              </a:rPr>
              <a:t>If we don’t specify </a:t>
            </a:r>
            <a:r>
              <a:rPr b="1" lang="en" sz="1600">
                <a:solidFill>
                  <a:schemeClr val="accent5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"Directory"</a:t>
            </a:r>
            <a:r>
              <a:rPr lang="en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600">
                <a:solidFill>
                  <a:schemeClr val="accent5"/>
                </a:solidFill>
              </a:rPr>
              <a:t> it will default to a file. 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87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Parameter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Examples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8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minutes</a:t>
            </a:r>
            <a:endParaRPr/>
          </a:p>
        </p:txBody>
      </p:sp>
      <p:sp>
        <p:nvSpPr>
          <p:cNvPr id="695" name="Google Shape;695;p8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 and Create Directories 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96" name="Google Shape;696;p88"/>
          <p:cNvSpPr txBox="1"/>
          <p:nvPr>
            <p:ph idx="3" type="body"/>
          </p:nvPr>
        </p:nvSpPr>
        <p:spPr>
          <a:xfrm>
            <a:off x="409950" y="1449275"/>
            <a:ext cx="83241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work as a junior system administrator tasked with vetting a process to create Windows Event logs. These logs will later be integrated into a log management program known as a SIEM.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You’ll run </a:t>
            </a:r>
            <a:r>
              <a:rPr b="1" lang="en"/>
              <a:t>PowerShell </a:t>
            </a:r>
            <a:r>
              <a:rPr lang="en"/>
              <a:t>commands to create, rename, and move items.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91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Generating Windows Event Log Files with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Parameters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Pipelines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10" name="Google Shape;710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4638" y="1921325"/>
            <a:ext cx="714725" cy="72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92"/>
          <p:cNvSpPr txBox="1"/>
          <p:nvPr>
            <p:ph idx="1" type="body"/>
          </p:nvPr>
        </p:nvSpPr>
        <p:spPr>
          <a:xfrm>
            <a:off x="3657600" y="1377275"/>
            <a:ext cx="48342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Chaining commands</a:t>
            </a:r>
            <a:r>
              <a:rPr lang="en" sz="3200"/>
              <a:t> is important in system administration and security roles. </a:t>
            </a:r>
            <a:endParaRPr sz="32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0" name="Google Shape;720;p93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21" name="Google Shape;721;p93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6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rPr>
              <a:t> Scenario</a:t>
            </a:r>
            <a:endParaRPr sz="2600"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22" name="Google Shape;722;p93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93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4" name="Google Shape;724;p93"/>
          <p:cNvPicPr preferRelativeResize="0"/>
          <p:nvPr/>
        </p:nvPicPr>
        <p:blipFill rotWithShape="1">
          <a:blip r:embed="rId3">
            <a:alphaModFix/>
          </a:blip>
          <a:srcRect b="-10" l="0" r="0" t="-1163"/>
          <a:stretch/>
        </p:blipFill>
        <p:spPr>
          <a:xfrm>
            <a:off x="5823600" y="1368238"/>
            <a:ext cx="2068799" cy="3234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93"/>
          <p:cNvSpPr txBox="1"/>
          <p:nvPr>
            <p:ph idx="1" type="body"/>
          </p:nvPr>
        </p:nvSpPr>
        <p:spPr>
          <a:xfrm>
            <a:off x="464100" y="1044400"/>
            <a:ext cx="4474800" cy="3882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continue our role as a junior system administrator. Our CIO has asked us to retrieve logs and save them as </a:t>
            </a:r>
            <a:r>
              <a:rPr b="1" lang="en"/>
              <a:t>JSON </a:t>
            </a:r>
            <a:r>
              <a:rPr lang="en"/>
              <a:t>files in our newly created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C:\Logs</a:t>
            </a:r>
            <a:r>
              <a:rPr lang="en"/>
              <a:t> directory. Chain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cmdlets</a:t>
            </a:r>
            <a:r>
              <a:rPr lang="en"/>
              <a:t> together that: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Retrieve Windows logs from Windows Events.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Transform the logs to the structured data format </a:t>
            </a:r>
            <a:r>
              <a:rPr b="1" lang="en"/>
              <a:t>JSON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 these files to 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C:\Logs</a:t>
            </a:r>
            <a:r>
              <a:rPr lang="en"/>
              <a:t> directory we made in the last activity.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94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PowerShell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Parameters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95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Piping Logs to JavaScript Object Notation</a:t>
            </a:r>
            <a:endParaRPr/>
          </a:p>
        </p:txBody>
      </p:sp>
      <p:sp>
        <p:nvSpPr>
          <p:cNvPr id="737" name="Google Shape;737;p9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ConvertTo-Json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38" name="Google Shape;738;p95"/>
          <p:cNvSpPr txBox="1"/>
          <p:nvPr>
            <p:ph idx="2" type="body"/>
          </p:nvPr>
        </p:nvSpPr>
        <p:spPr>
          <a:xfrm>
            <a:off x="461225" y="1063525"/>
            <a:ext cx="83859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that we used parameters to get the logs we need, we will output them into a file that can be used later by log analysis applications.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where </a:t>
            </a:r>
            <a:r>
              <a:rPr b="1" lang="en"/>
              <a:t>pipelines</a:t>
            </a:r>
            <a:r>
              <a:rPr lang="en"/>
              <a:t> come in: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JSON (JavaScript Object Notation)</a:t>
            </a:r>
            <a:r>
              <a:rPr lang="en"/>
              <a:t> structured data format can be easily read and manipulated by today's most common scripting and programming languages.</a:t>
            </a:r>
            <a:endParaRPr/>
          </a:p>
        </p:txBody>
      </p:sp>
      <p:sp>
        <p:nvSpPr>
          <p:cNvPr id="739" name="Google Shape;739;p95"/>
          <p:cNvSpPr/>
          <p:nvPr/>
        </p:nvSpPr>
        <p:spPr>
          <a:xfrm>
            <a:off x="379050" y="2810113"/>
            <a:ext cx="83859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Get-WinEvent </a:t>
            </a:r>
            <a:r>
              <a:rPr lang="en">
                <a:solidFill>
                  <a:srgbClr val="FFFF00"/>
                </a:solidFill>
                <a:latin typeface="Inconsolata"/>
                <a:ea typeface="Inconsolata"/>
                <a:cs typeface="Inconsolata"/>
                <a:sym typeface="Inconsolata"/>
              </a:rPr>
              <a:t>-LogName</a:t>
            </a:r>
            <a:r>
              <a:rPr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>
                <a:solidFill>
                  <a:srgbClr val="FF00FF"/>
                </a:solidFill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>
                <a:solidFill>
                  <a:srgbClr val="FFFF00"/>
                </a:solidFill>
                <a:latin typeface="Inconsolata"/>
                <a:ea typeface="Inconsolata"/>
                <a:cs typeface="Inconsolata"/>
                <a:sym typeface="Inconsolata"/>
              </a:rPr>
              <a:t>-MaxEvents 10</a:t>
            </a:r>
            <a:r>
              <a:rPr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 | ConvertTo-Json</a:t>
            </a:r>
            <a:endParaRPr sz="1200">
              <a:solidFill>
                <a:srgbClr val="FF00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740" name="Google Shape;740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25" y="283625"/>
            <a:ext cx="306525" cy="3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96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Piping Logs to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JSON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98"/>
          <p:cNvSpPr txBox="1"/>
          <p:nvPr>
            <p:ph idx="1" type="subTitle"/>
          </p:nvPr>
        </p:nvSpPr>
        <p:spPr>
          <a:xfrm>
            <a:off x="6174975" y="4568875"/>
            <a:ext cx="29691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r>
              <a:rPr lang="en"/>
              <a:t>0 Minutes</a:t>
            </a:r>
            <a:endParaRPr/>
          </a:p>
        </p:txBody>
      </p:sp>
      <p:sp>
        <p:nvSpPr>
          <p:cNvPr id="755" name="Google Shape;755;p9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Generating Windows Event Log Files with Parameters and Pipelines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56" name="Google Shape;756;p98"/>
          <p:cNvSpPr txBox="1"/>
          <p:nvPr>
            <p:ph idx="3" type="body"/>
          </p:nvPr>
        </p:nvSpPr>
        <p:spPr>
          <a:xfrm>
            <a:off x="457200" y="1243788"/>
            <a:ext cx="7882200" cy="3144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play the role of a Windows system administrator.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You've been asked to create and save logs to the directory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C:\Logs</a:t>
            </a:r>
            <a:r>
              <a:rPr lang="en"/>
              <a:t>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logs can then be sent to security analysts for examination in a Security Information and Event Management System (SIEM), which we will explore in depth during a later lesson.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7" name="Google Shape;757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0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Scripting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with PowerShell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5" name="Google Shape;775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0" y="1727763"/>
            <a:ext cx="914400" cy="709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03"/>
          <p:cNvSpPr txBox="1"/>
          <p:nvPr>
            <p:ph type="title"/>
          </p:nvPr>
        </p:nvSpPr>
        <p:spPr>
          <a:xfrm>
            <a:off x="457202" y="170850"/>
            <a:ext cx="6034800" cy="5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50"/>
              <a:t>The Importance of Scripting (Again)</a:t>
            </a:r>
            <a:endParaRPr i="1" sz="265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/>
              <a:t>We’ve emphasized the importance and convenience of scripting in our past sysadmin units.</a:t>
            </a:r>
            <a:endParaRPr b="0" sz="1800"/>
          </a:p>
        </p:txBody>
      </p:sp>
      <p:sp>
        <p:nvSpPr>
          <p:cNvPr id="781" name="Google Shape;781;p103"/>
          <p:cNvSpPr txBox="1"/>
          <p:nvPr>
            <p:ph idx="1" type="body"/>
          </p:nvPr>
        </p:nvSpPr>
        <p:spPr>
          <a:xfrm>
            <a:off x="237600" y="1570625"/>
            <a:ext cx="40968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Scripts allow sysadmins and security professionals to automate and execute basic to advanced procedures and operations.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Scripts can be used for everything from setting basic firewall rules to standing up entire cloud virtual machine environments with networking, storage, and users.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2" name="Google Shape;782;p103"/>
          <p:cNvGrpSpPr/>
          <p:nvPr/>
        </p:nvGrpSpPr>
        <p:grpSpPr>
          <a:xfrm>
            <a:off x="4193300" y="-100"/>
            <a:ext cx="4950700" cy="5143690"/>
            <a:chOff x="0" y="0"/>
            <a:chExt cx="5076600" cy="5152449"/>
          </a:xfrm>
        </p:grpSpPr>
        <p:pic>
          <p:nvPicPr>
            <p:cNvPr id="783" name="Google Shape;783;p103"/>
            <p:cNvPicPr preferRelativeResize="0"/>
            <p:nvPr/>
          </p:nvPicPr>
          <p:blipFill rotWithShape="1">
            <a:blip r:embed="rId3">
              <a:alphaModFix/>
            </a:blip>
            <a:srcRect b="8532" l="16148" r="12899" t="8224"/>
            <a:stretch/>
          </p:blipFill>
          <p:spPr>
            <a:xfrm>
              <a:off x="0" y="685800"/>
              <a:ext cx="5076600" cy="44666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4" name="Google Shape;784;p103"/>
            <p:cNvSpPr/>
            <p:nvPr/>
          </p:nvSpPr>
          <p:spPr>
            <a:xfrm>
              <a:off x="2305041" y="0"/>
              <a:ext cx="44700" cy="10893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04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Importance of Scripting (Again)</a:t>
            </a:r>
            <a:endParaRPr/>
          </a:p>
        </p:txBody>
      </p:sp>
      <p:sp>
        <p:nvSpPr>
          <p:cNvPr id="790" name="Google Shape;790;p104"/>
          <p:cNvSpPr txBox="1"/>
          <p:nvPr>
            <p:ph idx="2" type="body"/>
          </p:nvPr>
        </p:nvSpPr>
        <p:spPr>
          <a:xfrm>
            <a:off x="4572000" y="1063525"/>
            <a:ext cx="41187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Scripting </a:t>
            </a:r>
            <a:r>
              <a:rPr lang="en"/>
              <a:t>allows sysadmins and security </a:t>
            </a:r>
            <a:r>
              <a:rPr lang="en"/>
              <a:t>professionals the ability to execute basic and advanced procedures: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Firewall rules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Cloud management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Storage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Users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91" name="Google Shape;791;p104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2" name="Google Shape;792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25" y="320100"/>
            <a:ext cx="353550" cy="3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104"/>
          <p:cNvPicPr preferRelativeResize="0"/>
          <p:nvPr/>
        </p:nvPicPr>
        <p:blipFill rotWithShape="1">
          <a:blip r:embed="rId4">
            <a:alphaModFix/>
          </a:blip>
          <a:srcRect b="27325" l="0" r="0" t="27320"/>
          <a:stretch/>
        </p:blipFill>
        <p:spPr>
          <a:xfrm>
            <a:off x="155175" y="1217425"/>
            <a:ext cx="4261500" cy="2895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id="794" name="Google Shape;794;p1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805750" y="1217425"/>
            <a:ext cx="4261500" cy="289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0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0" name="Google Shape;800;p10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082D49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801" name="Google Shape;801;p105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 with PowerShell</a:t>
            </a:r>
            <a:endParaRPr/>
          </a:p>
        </p:txBody>
      </p:sp>
      <p:sp>
        <p:nvSpPr>
          <p:cNvPr id="802" name="Google Shape;802;p105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 commands in sequence</a:t>
            </a:r>
            <a:endParaRPr/>
          </a:p>
        </p:txBody>
      </p:sp>
      <p:sp>
        <p:nvSpPr>
          <p:cNvPr id="803" name="Google Shape;803;p105"/>
          <p:cNvSpPr/>
          <p:nvPr/>
        </p:nvSpPr>
        <p:spPr>
          <a:xfrm>
            <a:off x="1287175" y="2133600"/>
            <a:ext cx="7399500" cy="572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105"/>
          <p:cNvSpPr/>
          <p:nvPr/>
        </p:nvSpPr>
        <p:spPr>
          <a:xfrm>
            <a:off x="1287175" y="3737598"/>
            <a:ext cx="7399500" cy="831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105"/>
          <p:cNvSpPr/>
          <p:nvPr/>
        </p:nvSpPr>
        <p:spPr>
          <a:xfrm>
            <a:off x="1287175" y="2961100"/>
            <a:ext cx="7399500" cy="572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6" name="Google Shape;806;p105"/>
          <p:cNvGrpSpPr/>
          <p:nvPr/>
        </p:nvGrpSpPr>
        <p:grpSpPr>
          <a:xfrm>
            <a:off x="457200" y="2209804"/>
            <a:ext cx="776900" cy="459019"/>
            <a:chOff x="457200" y="1466425"/>
            <a:chExt cx="776900" cy="486300"/>
          </a:xfrm>
        </p:grpSpPr>
        <p:sp>
          <p:nvSpPr>
            <p:cNvPr id="807" name="Google Shape;807;p10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8" name="Google Shape;808;p10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09" name="Google Shape;809;p105"/>
          <p:cNvGrpSpPr/>
          <p:nvPr/>
        </p:nvGrpSpPr>
        <p:grpSpPr>
          <a:xfrm>
            <a:off x="457200" y="3017080"/>
            <a:ext cx="776900" cy="486300"/>
            <a:chOff x="457200" y="1466425"/>
            <a:chExt cx="776900" cy="486300"/>
          </a:xfrm>
        </p:grpSpPr>
        <p:sp>
          <p:nvSpPr>
            <p:cNvPr id="810" name="Google Shape;810;p10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1" name="Google Shape;811;p10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12" name="Google Shape;812;p105"/>
          <p:cNvGrpSpPr/>
          <p:nvPr/>
        </p:nvGrpSpPr>
        <p:grpSpPr>
          <a:xfrm>
            <a:off x="457200" y="3886336"/>
            <a:ext cx="776900" cy="437378"/>
            <a:chOff x="457200" y="1466425"/>
            <a:chExt cx="776900" cy="486300"/>
          </a:xfrm>
        </p:grpSpPr>
        <p:sp>
          <p:nvSpPr>
            <p:cNvPr id="813" name="Google Shape;813;p10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4" name="Google Shape;814;p10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815" name="Google Shape;815;p105"/>
          <p:cNvSpPr txBox="1"/>
          <p:nvPr/>
        </p:nvSpPr>
        <p:spPr>
          <a:xfrm>
            <a:off x="1287250" y="2154975"/>
            <a:ext cx="739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Pull sensitive files to a specified directory 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6" name="Google Shape;816;p105"/>
          <p:cNvSpPr txBox="1"/>
          <p:nvPr/>
        </p:nvSpPr>
        <p:spPr>
          <a:xfrm>
            <a:off x="1287250" y="2982550"/>
            <a:ext cx="73374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Download AppLocker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7" name="Google Shape;817;p105"/>
          <p:cNvSpPr txBox="1"/>
          <p:nvPr/>
        </p:nvSpPr>
        <p:spPr>
          <a:xfrm>
            <a:off x="1287250" y="3783100"/>
            <a:ext cx="73374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Deploy application policies for AppLocker, restricting user access for only people in the </a:t>
            </a: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accounting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group 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8" name="Google Shape;818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25" y="320100"/>
            <a:ext cx="353550" cy="3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105"/>
          <p:cNvSpPr txBox="1"/>
          <p:nvPr/>
        </p:nvSpPr>
        <p:spPr>
          <a:xfrm>
            <a:off x="437650" y="1163325"/>
            <a:ext cx="82548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 example, you were asked to set up Windows workstations for users in the accounting department. You could create a script to: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4" name="Google Shape;824;p106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25" name="Google Shape;825;p106"/>
          <p:cNvSpPr txBox="1"/>
          <p:nvPr/>
        </p:nvSpPr>
        <p:spPr>
          <a:xfrm>
            <a:off x="724200" y="1274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6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rPr>
              <a:t> Scenario</a:t>
            </a:r>
            <a:endParaRPr sz="2600"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26" name="Google Shape;826;p106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06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Scripting the Removal of Unnecessary Packages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8" name="Google Shape;828;p106"/>
          <p:cNvPicPr preferRelativeResize="0"/>
          <p:nvPr/>
        </p:nvPicPr>
        <p:blipFill rotWithShape="1">
          <a:blip r:embed="rId3">
            <a:alphaModFix/>
          </a:blip>
          <a:srcRect b="0" l="-1010" r="0" t="0"/>
          <a:stretch/>
        </p:blipFill>
        <p:spPr>
          <a:xfrm>
            <a:off x="4969200" y="1990697"/>
            <a:ext cx="3876050" cy="1825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106"/>
          <p:cNvSpPr txBox="1"/>
          <p:nvPr>
            <p:ph idx="1" type="body"/>
          </p:nvPr>
        </p:nvSpPr>
        <p:spPr>
          <a:xfrm>
            <a:off x="235500" y="1044400"/>
            <a:ext cx="4474800" cy="3882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 the upcoming demo, we will create a script in Git-</a:t>
            </a:r>
            <a:r>
              <a:rPr lang="en" sz="1600"/>
              <a:t>Bash</a:t>
            </a:r>
            <a:r>
              <a:rPr lang="en" sz="1600"/>
              <a:t> </a:t>
            </a:r>
            <a:r>
              <a:rPr b="1" lang="en" sz="1600">
                <a:latin typeface="Inconsolata"/>
                <a:ea typeface="Inconsolata"/>
                <a:cs typeface="Inconsolata"/>
                <a:sym typeface="Inconsolata"/>
              </a:rPr>
              <a:t>Nano </a:t>
            </a:r>
            <a:r>
              <a:rPr lang="en" sz="1600"/>
              <a:t>to remove Microsoft Skype.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This Windows workstation has installed a bunch of applications that are largely unnecessary and </a:t>
            </a:r>
            <a:r>
              <a:rPr b="1" lang="en" sz="1600"/>
              <a:t>potential vectors of attack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These settings include telemetry tracking and advertising IDs, and default installed applications, including Skype.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 want to</a:t>
            </a:r>
            <a:r>
              <a:rPr b="1" lang="en" sz="1600"/>
              <a:t> remove</a:t>
            </a:r>
            <a:r>
              <a:rPr lang="en" sz="1600"/>
              <a:t> these applications to reduce the attack surface area for this workstation.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5" name="Google Shape;835;p107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36" name="Google Shape;836;p107"/>
          <p:cNvSpPr txBox="1"/>
          <p:nvPr/>
        </p:nvSpPr>
        <p:spPr>
          <a:xfrm>
            <a:off x="724200" y="1274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6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rPr>
              <a:t> Scenario</a:t>
            </a:r>
            <a:endParaRPr sz="2600"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37" name="Google Shape;837;p107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07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By default, PowerShell does not allow scripts to run.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9" name="Google Shape;839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107"/>
          <p:cNvSpPr txBox="1"/>
          <p:nvPr>
            <p:ph idx="1" type="body"/>
          </p:nvPr>
        </p:nvSpPr>
        <p:spPr>
          <a:xfrm>
            <a:off x="4410600" y="1821500"/>
            <a:ext cx="4474800" cy="344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to prevent malware, attackers, and misconfigured scripts compromising a system.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Our systems have been configured</a:t>
            </a:r>
            <a:br>
              <a:rPr lang="en"/>
            </a:br>
            <a:r>
              <a:rPr lang="en"/>
              <a:t>to allow scripts to run, allowing automation. </a:t>
            </a:r>
            <a:endParaRPr sz="15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841" name="Google Shape;841;p107"/>
          <p:cNvPicPr preferRelativeResize="0"/>
          <p:nvPr/>
        </p:nvPicPr>
        <p:blipFill rotWithShape="1">
          <a:blip r:embed="rId4">
            <a:alphaModFix/>
          </a:blip>
          <a:srcRect b="0" l="-908" r="0" t="0"/>
          <a:stretch/>
        </p:blipFill>
        <p:spPr>
          <a:xfrm>
            <a:off x="366000" y="1754000"/>
            <a:ext cx="3930000" cy="253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6" name="Google Shape;846;p108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47" name="Google Shape;847;p108"/>
          <p:cNvSpPr txBox="1"/>
          <p:nvPr/>
        </p:nvSpPr>
        <p:spPr>
          <a:xfrm>
            <a:off x="724200" y="1274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6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rPr>
              <a:t> Scenario</a:t>
            </a:r>
            <a:endParaRPr sz="2600"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48" name="Google Shape;848;p108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08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the demo, we’ve been tasked to: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50" name="Google Shape;850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108"/>
          <p:cNvSpPr/>
          <p:nvPr/>
        </p:nvSpPr>
        <p:spPr>
          <a:xfrm>
            <a:off x="1035500" y="1594725"/>
            <a:ext cx="1985400" cy="2301000"/>
          </a:xfrm>
          <a:prstGeom prst="re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108"/>
          <p:cNvSpPr/>
          <p:nvPr/>
        </p:nvSpPr>
        <p:spPr>
          <a:xfrm>
            <a:off x="3106498" y="1594725"/>
            <a:ext cx="1985400" cy="23010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08"/>
          <p:cNvSpPr/>
          <p:nvPr/>
        </p:nvSpPr>
        <p:spPr>
          <a:xfrm>
            <a:off x="5208700" y="1594725"/>
            <a:ext cx="1985400" cy="2301000"/>
          </a:xfrm>
          <a:prstGeom prst="rect">
            <a:avLst/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4" name="Google Shape;854;p108"/>
          <p:cNvGrpSpPr/>
          <p:nvPr/>
        </p:nvGrpSpPr>
        <p:grpSpPr>
          <a:xfrm>
            <a:off x="2831008" y="2515717"/>
            <a:ext cx="459000" cy="459000"/>
            <a:chOff x="4898908" y="4195167"/>
            <a:chExt cx="459000" cy="459000"/>
          </a:xfrm>
        </p:grpSpPr>
        <p:sp>
          <p:nvSpPr>
            <p:cNvPr id="855" name="Google Shape;855;p108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108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7" name="Google Shape;857;p108"/>
          <p:cNvGrpSpPr/>
          <p:nvPr/>
        </p:nvGrpSpPr>
        <p:grpSpPr>
          <a:xfrm>
            <a:off x="4920808" y="2515717"/>
            <a:ext cx="459000" cy="459000"/>
            <a:chOff x="4898908" y="4195167"/>
            <a:chExt cx="459000" cy="459000"/>
          </a:xfrm>
        </p:grpSpPr>
        <p:sp>
          <p:nvSpPr>
            <p:cNvPr id="858" name="Google Shape;858;p108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108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0" name="Google Shape;860;p108"/>
          <p:cNvSpPr txBox="1"/>
          <p:nvPr/>
        </p:nvSpPr>
        <p:spPr>
          <a:xfrm>
            <a:off x="3290000" y="1910400"/>
            <a:ext cx="1611900" cy="19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 a cmdlet to import various items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p108"/>
          <p:cNvSpPr txBox="1"/>
          <p:nvPr/>
        </p:nvSpPr>
        <p:spPr>
          <a:xfrm>
            <a:off x="5379800" y="1594725"/>
            <a:ext cx="1624500" cy="23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 a foreach loop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108"/>
          <p:cNvSpPr txBox="1"/>
          <p:nvPr/>
        </p:nvSpPr>
        <p:spPr>
          <a:xfrm>
            <a:off x="1219075" y="2200825"/>
            <a:ext cx="1611900" cy="17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Create a PowerShell script file and execute it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63" name="Google Shape;863;p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5810" y="1758563"/>
            <a:ext cx="531191" cy="562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108"/>
          <p:cNvPicPr preferRelativeResize="0"/>
          <p:nvPr/>
        </p:nvPicPr>
        <p:blipFill rotWithShape="1">
          <a:blip r:embed="rId5">
            <a:alphaModFix/>
          </a:blip>
          <a:srcRect b="69" l="0" r="0" t="59"/>
          <a:stretch/>
        </p:blipFill>
        <p:spPr>
          <a:xfrm>
            <a:off x="1629925" y="1779350"/>
            <a:ext cx="572702" cy="5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10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33487" y="1838537"/>
            <a:ext cx="572700" cy="444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09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Creating and Executing a PowerShell Script to Remove Applications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10"/>
          <p:cNvSpPr txBox="1"/>
          <p:nvPr/>
        </p:nvSpPr>
        <p:spPr>
          <a:xfrm>
            <a:off x="0" y="1561925"/>
            <a:ext cx="5232000" cy="2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While we could remove the Windows Store apps one by one, it would be more efficient to </a:t>
            </a: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create a script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that loops through a list of the apps and uninstalls them all at once.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More specifically, we can loop through </a:t>
            </a: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comma-separated values (CSV)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files. 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6" name="Google Shape;876;p110"/>
          <p:cNvSpPr txBox="1"/>
          <p:nvPr/>
        </p:nvSpPr>
        <p:spPr>
          <a:xfrm>
            <a:off x="457200" y="1274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PowerShell Scripts and Removing Skype</a:t>
            </a:r>
            <a:endParaRPr b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We’ve just deleted a useless app from our machine.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7" name="Google Shape;877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1312475"/>
            <a:ext cx="3343724" cy="3229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11"/>
          <p:cNvSpPr txBox="1"/>
          <p:nvPr/>
        </p:nvSpPr>
        <p:spPr>
          <a:xfrm>
            <a:off x="1564175" y="1554300"/>
            <a:ext cx="61782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Comma-separated values (CSV) </a:t>
            </a:r>
            <a:r>
              <a:rPr lang="en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files are plain text files that contain simply structured data, or fields, separated by commas.</a:t>
            </a:r>
            <a:endParaRPr sz="3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12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CSV Files</a:t>
            </a:r>
            <a:endParaRPr/>
          </a:p>
        </p:txBody>
      </p:sp>
      <p:sp>
        <p:nvSpPr>
          <p:cNvPr id="888" name="Google Shape;888;p112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CSV files contain structured lines of information made up of rows of data.</a:t>
            </a:r>
            <a:endParaRPr/>
          </a:p>
        </p:txBody>
      </p:sp>
      <p:sp>
        <p:nvSpPr>
          <p:cNvPr id="889" name="Google Shape;889;p112"/>
          <p:cNvSpPr txBox="1"/>
          <p:nvPr>
            <p:ph idx="2" type="body"/>
          </p:nvPr>
        </p:nvSpPr>
        <p:spPr>
          <a:xfrm>
            <a:off x="1667100" y="1250013"/>
            <a:ext cx="5809800" cy="484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line contains the </a:t>
            </a:r>
            <a:r>
              <a:rPr b="1" lang="en">
                <a:highlight>
                  <a:schemeClr val="accent1"/>
                </a:highlight>
              </a:rPr>
              <a:t>header</a:t>
            </a:r>
            <a:r>
              <a:rPr lang="en"/>
              <a:t>, describing each field.</a:t>
            </a:r>
            <a:endParaRPr/>
          </a:p>
        </p:txBody>
      </p:sp>
      <p:sp>
        <p:nvSpPr>
          <p:cNvPr id="890" name="Google Shape;890;p112"/>
          <p:cNvSpPr/>
          <p:nvPr/>
        </p:nvSpPr>
        <p:spPr>
          <a:xfrm>
            <a:off x="3022200" y="2142613"/>
            <a:ext cx="3099600" cy="2121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1" name="Google Shape;891;p112"/>
          <p:cNvSpPr txBox="1"/>
          <p:nvPr/>
        </p:nvSpPr>
        <p:spPr>
          <a:xfrm>
            <a:off x="3213324" y="2334725"/>
            <a:ext cx="26982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Fruit,Vegetable</a:t>
            </a:r>
            <a:endParaRPr sz="1800">
              <a:solidFill>
                <a:schemeClr val="dk2"/>
              </a:solidFill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"Apple","Carrot"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"Banana","Broccoli"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"Orange","Spinach"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"Grapes","Peas"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"Strawberry","Cucumber"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92" name="Google Shape;892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25" y="283625"/>
            <a:ext cx="306525" cy="3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13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CSV Files</a:t>
            </a:r>
            <a:endParaRPr/>
          </a:p>
        </p:txBody>
      </p:sp>
      <p:sp>
        <p:nvSpPr>
          <p:cNvPr id="898" name="Google Shape;898;p113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ystem Administrators and Security Professionals often use CSV files.</a:t>
            </a:r>
            <a:endParaRPr/>
          </a:p>
        </p:txBody>
      </p:sp>
      <p:sp>
        <p:nvSpPr>
          <p:cNvPr id="899" name="Google Shape;899;p113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System </a:t>
            </a:r>
            <a:r>
              <a:rPr b="1" lang="en"/>
              <a:t>Administrators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Usernames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Email addresses</a:t>
            </a:r>
            <a:endParaRPr/>
          </a:p>
        </p:txBody>
      </p:sp>
      <p:sp>
        <p:nvSpPr>
          <p:cNvPr id="900" name="Google Shape;900;p113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Penetration Tester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 addresses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Domains/s</a:t>
            </a:r>
            <a:r>
              <a:rPr lang="en"/>
              <a:t>ubdomains</a:t>
            </a:r>
            <a:endParaRPr/>
          </a:p>
        </p:txBody>
      </p:sp>
      <p:pic>
        <p:nvPicPr>
          <p:cNvPr id="901" name="Google Shape;901;p113"/>
          <p:cNvPicPr preferRelativeResize="0"/>
          <p:nvPr/>
        </p:nvPicPr>
        <p:blipFill rotWithShape="1">
          <a:blip r:embed="rId3">
            <a:alphaModFix/>
          </a:blip>
          <a:srcRect b="-1336" l="-1515" r="-911" t="-1459"/>
          <a:stretch/>
        </p:blipFill>
        <p:spPr>
          <a:xfrm>
            <a:off x="4473550" y="1489625"/>
            <a:ext cx="3764277" cy="287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14"/>
          <p:cNvSpPr txBox="1"/>
          <p:nvPr>
            <p:ph type="title"/>
          </p:nvPr>
        </p:nvSpPr>
        <p:spPr>
          <a:xfrm>
            <a:off x="457206" y="130206"/>
            <a:ext cx="8520600" cy="5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foreach Loops</a:t>
            </a:r>
            <a:endParaRPr i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/>
              <a:t>We can use foreach loops to iterate through these files’ items. </a:t>
            </a:r>
            <a:endParaRPr b="0" sz="1800"/>
          </a:p>
        </p:txBody>
      </p:sp>
      <p:sp>
        <p:nvSpPr>
          <p:cNvPr id="907" name="Google Shape;907;p114"/>
          <p:cNvSpPr txBox="1"/>
          <p:nvPr>
            <p:ph idx="1" type="body"/>
          </p:nvPr>
        </p:nvSpPr>
        <p:spPr>
          <a:xfrm>
            <a:off x="457200" y="1198250"/>
            <a:ext cx="8520600" cy="710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 foreach loop in </a:t>
            </a:r>
            <a:r>
              <a:rPr b="1" lang="en" sz="1700"/>
              <a:t>PowerShell</a:t>
            </a:r>
            <a:r>
              <a:rPr lang="en" sz="1700"/>
              <a:t> is similar to the for loop in Linux, but it is mainly used for looping through files or read-only structured data that you need to loop through.</a:t>
            </a:r>
            <a:endParaRPr sz="1700"/>
          </a:p>
        </p:txBody>
      </p:sp>
      <p:graphicFrame>
        <p:nvGraphicFramePr>
          <p:cNvPr id="908" name="Google Shape;908;p114"/>
          <p:cNvGraphicFramePr/>
          <p:nvPr/>
        </p:nvGraphicFramePr>
        <p:xfrm>
          <a:off x="3274613" y="1986951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{82D6396A-3EBE-4302-BA59-3D02AE3A1C11}</a:tableStyleId>
              </a:tblPr>
              <a:tblGrid>
                <a:gridCol w="1390850"/>
                <a:gridCol w="1203900"/>
              </a:tblGrid>
              <a:tr h="46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Fruit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Vegetable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Apple</a:t>
                      </a:r>
                      <a:endParaRPr b="1" sz="1800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476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Carrot</a:t>
                      </a:r>
                      <a:endParaRPr b="1" sz="1800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476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Banana</a:t>
                      </a:r>
                      <a:endParaRPr b="1" sz="1800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476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Broccoli</a:t>
                      </a:r>
                      <a:endParaRPr b="1" sz="1800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476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Orange</a:t>
                      </a:r>
                      <a:endParaRPr b="1" sz="1800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476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Spinach</a:t>
                      </a:r>
                      <a:endParaRPr b="1" sz="1800" u="none" cap="none" strike="noStrike">
                        <a:solidFill>
                          <a:schemeClr val="dk2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476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15"/>
          <p:cNvSpPr txBox="1"/>
          <p:nvPr/>
        </p:nvSpPr>
        <p:spPr>
          <a:xfrm>
            <a:off x="457200" y="127400"/>
            <a:ext cx="811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foreach Loops and CSV Files</a:t>
            </a:r>
            <a:endParaRPr sz="2600"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14" name="Google Shape;914;p115"/>
          <p:cNvSpPr txBox="1"/>
          <p:nvPr/>
        </p:nvSpPr>
        <p:spPr>
          <a:xfrm>
            <a:off x="324900" y="660025"/>
            <a:ext cx="838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Sysadmins and security professionals will use CSV and 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foreach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loops together: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5" name="Google Shape;915;p115"/>
          <p:cNvSpPr/>
          <p:nvPr/>
        </p:nvSpPr>
        <p:spPr>
          <a:xfrm flipH="1" rot="10800000">
            <a:off x="4617248" y="1527976"/>
            <a:ext cx="4252500" cy="1497300"/>
          </a:xfrm>
          <a:prstGeom prst="round2DiagRect">
            <a:avLst>
              <a:gd fmla="val 0" name="adj1"/>
              <a:gd fmla="val 17764" name="adj2"/>
            </a:avLst>
          </a:prstGeom>
          <a:solidFill>
            <a:srgbClr val="FFD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115"/>
          <p:cNvSpPr txBox="1"/>
          <p:nvPr/>
        </p:nvSpPr>
        <p:spPr>
          <a:xfrm>
            <a:off x="5157648" y="1724701"/>
            <a:ext cx="3612300" cy="10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They can use a </a:t>
            </a:r>
            <a:r>
              <a:rPr b="1" lang="en" sz="16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foreach 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loop </a:t>
            </a:r>
            <a:b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loop through each item </a:t>
            </a:r>
            <a:b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change the passwords</a:t>
            </a:r>
            <a:r>
              <a:rPr lang="en" sz="1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17" name="Google Shape;917;p115"/>
          <p:cNvSpPr/>
          <p:nvPr/>
        </p:nvSpPr>
        <p:spPr>
          <a:xfrm>
            <a:off x="293174" y="1533446"/>
            <a:ext cx="4252500" cy="1497300"/>
          </a:xfrm>
          <a:prstGeom prst="round2DiagRect">
            <a:avLst>
              <a:gd fmla="val 0" name="adj1"/>
              <a:gd fmla="val 17764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115"/>
          <p:cNvSpPr txBox="1"/>
          <p:nvPr/>
        </p:nvSpPr>
        <p:spPr>
          <a:xfrm>
            <a:off x="674650" y="1634190"/>
            <a:ext cx="3216900" cy="12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system administrator may use </a:t>
            </a:r>
            <a:b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CSV file to maintain a list of employee email addresses </a:t>
            </a:r>
            <a:b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usernames.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9" name="Google Shape;919;p115"/>
          <p:cNvSpPr/>
          <p:nvPr/>
        </p:nvSpPr>
        <p:spPr>
          <a:xfrm flipH="1" rot="10800000">
            <a:off x="4617248" y="3198513"/>
            <a:ext cx="4252500" cy="1497300"/>
          </a:xfrm>
          <a:prstGeom prst="round2DiagRect">
            <a:avLst>
              <a:gd fmla="val 0" name="adj1"/>
              <a:gd fmla="val 17764" name="adj2"/>
            </a:avLst>
          </a:prstGeom>
          <a:solidFill>
            <a:srgbClr val="6FA0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115"/>
          <p:cNvSpPr txBox="1"/>
          <p:nvPr/>
        </p:nvSpPr>
        <p:spPr>
          <a:xfrm>
            <a:off x="5157648" y="3395238"/>
            <a:ext cx="3612300" cy="10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They can use a </a:t>
            </a:r>
            <a:r>
              <a:rPr b="1" lang="en" sz="16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foreach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loop to 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try out each password with 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known username.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1" name="Google Shape;921;p115"/>
          <p:cNvSpPr/>
          <p:nvPr/>
        </p:nvSpPr>
        <p:spPr>
          <a:xfrm>
            <a:off x="293174" y="3203984"/>
            <a:ext cx="4252500" cy="1497300"/>
          </a:xfrm>
          <a:prstGeom prst="round2DiagRect">
            <a:avLst>
              <a:gd fmla="val 0" name="adj1"/>
              <a:gd fmla="val 17764" name="adj2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2" name="Google Shape;922;p115"/>
          <p:cNvGrpSpPr/>
          <p:nvPr/>
        </p:nvGrpSpPr>
        <p:grpSpPr>
          <a:xfrm>
            <a:off x="4217337" y="1914975"/>
            <a:ext cx="725449" cy="725449"/>
            <a:chOff x="4898908" y="4195167"/>
            <a:chExt cx="459000" cy="459000"/>
          </a:xfrm>
        </p:grpSpPr>
        <p:sp>
          <p:nvSpPr>
            <p:cNvPr id="923" name="Google Shape;923;p115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82D49"/>
                </a:solidFill>
              </a:endParaRPr>
            </a:p>
          </p:txBody>
        </p:sp>
        <p:sp>
          <p:nvSpPr>
            <p:cNvPr id="924" name="Google Shape;924;p115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5" name="Google Shape;925;p115"/>
          <p:cNvGrpSpPr/>
          <p:nvPr/>
        </p:nvGrpSpPr>
        <p:grpSpPr>
          <a:xfrm>
            <a:off x="4217337" y="3584213"/>
            <a:ext cx="725449" cy="725449"/>
            <a:chOff x="4898908" y="4195167"/>
            <a:chExt cx="459000" cy="459000"/>
          </a:xfrm>
        </p:grpSpPr>
        <p:sp>
          <p:nvSpPr>
            <p:cNvPr id="926" name="Google Shape;926;p115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82D49"/>
                </a:solidFill>
              </a:endParaRPr>
            </a:p>
          </p:txBody>
        </p:sp>
        <p:sp>
          <p:nvSpPr>
            <p:cNvPr id="927" name="Google Shape;927;p115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8" name="Google Shape;928;p115"/>
          <p:cNvSpPr txBox="1"/>
          <p:nvPr/>
        </p:nvSpPr>
        <p:spPr>
          <a:xfrm>
            <a:off x="674650" y="3331477"/>
            <a:ext cx="3216900" cy="12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penetration tester might 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have a list of IP addresses 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and corresponding domain and subdomain names to use in a test.</a:t>
            </a:r>
            <a:endParaRPr i="0" sz="16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3" name="Google Shape;933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6887" y="1164856"/>
            <a:ext cx="6212443" cy="3449401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116"/>
          <p:cNvSpPr txBox="1"/>
          <p:nvPr/>
        </p:nvSpPr>
        <p:spPr>
          <a:xfrm>
            <a:off x="454400" y="135925"/>
            <a:ext cx="811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Now, We Will Continue our Demo Scenario</a:t>
            </a:r>
            <a:endParaRPr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35" name="Google Shape;935;p116"/>
          <p:cNvSpPr txBox="1"/>
          <p:nvPr/>
        </p:nvSpPr>
        <p:spPr>
          <a:xfrm>
            <a:off x="5169175" y="1828800"/>
            <a:ext cx="2110500" cy="15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If the CSV file is constructed with the standard header and record setup, </a:t>
            </a:r>
            <a:r>
              <a:rPr b="1" lang="en" sz="16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Import-Csv</a:t>
            </a:r>
            <a:r>
              <a:rPr lang="en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will prepare the fields to be called by PowerShell.</a:t>
            </a:r>
            <a:endParaRPr sz="1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6" name="Google Shape;936;p116"/>
          <p:cNvSpPr txBox="1"/>
          <p:nvPr/>
        </p:nvSpPr>
        <p:spPr>
          <a:xfrm>
            <a:off x="1828812" y="1828807"/>
            <a:ext cx="2179800" cy="13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We will use the </a:t>
            </a:r>
            <a:r>
              <a:rPr b="1" lang="en" sz="16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Import-Csv</a:t>
            </a:r>
            <a:r>
              <a:rPr lang="en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PowerShell cmdlet to source the CSV file demo</a:t>
            </a:r>
            <a:r>
              <a:rPr b="1" lang="en" sz="16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.csv</a:t>
            </a:r>
            <a:r>
              <a:rPr lang="en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to run with a demo PowerShell script. </a:t>
            </a:r>
            <a:endParaRPr sz="1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17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mport-CSV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with a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foreach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Loop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1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r>
              <a:rPr lang="en"/>
              <a:t> minutes</a:t>
            </a:r>
            <a:endParaRPr/>
          </a:p>
        </p:txBody>
      </p:sp>
      <p:sp>
        <p:nvSpPr>
          <p:cNvPr id="947" name="Google Shape;947;p11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Removing Unnecessary Packages with PowerShell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948" name="Google Shape;948;p118"/>
          <p:cNvSpPr txBox="1"/>
          <p:nvPr>
            <p:ph idx="3" type="body"/>
          </p:nvPr>
        </p:nvSpPr>
        <p:spPr>
          <a:xfrm>
            <a:off x="457200" y="1371588"/>
            <a:ext cx="7882200" cy="3144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we will be continuing the role of junior system administrator.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CIO has tasked us with creating a PowerShell script that will get rid of these Windows bloat applications, and has provided a CSV file containing a list of these application's packages.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9" name="Google Shape;949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21"/>
          <p:cNvSpPr txBox="1"/>
          <p:nvPr>
            <p:ph idx="1" type="subTitle"/>
          </p:nvPr>
        </p:nvSpPr>
        <p:spPr>
          <a:xfrm>
            <a:off x="41700" y="3746925"/>
            <a:ext cx="9102300" cy="900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Active Directory Domain Services</a:t>
            </a:r>
            <a:endParaRPr baseline="-25000" sz="22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