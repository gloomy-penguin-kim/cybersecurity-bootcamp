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y="5143500" cx="9144000"/>
  <p:notesSz cx="6858000" cy="9144000"/>
  <p:embeddedFontLst>
    <p:embeddedFont>
      <p:font typeface="Roboto"/>
      <p:regular r:id="rId74"/>
      <p:bold r:id="rId75"/>
      <p:italic r:id="rId76"/>
      <p:boldItalic r:id="rId77"/>
    </p:embeddedFont>
    <p:embeddedFont>
      <p:font typeface="Roboto Medium"/>
      <p:regular r:id="rId78"/>
      <p:bold r:id="rId79"/>
      <p:italic r:id="rId80"/>
      <p:boldItalic r:id="rId81"/>
    </p:embeddedFont>
    <p:embeddedFont>
      <p:font typeface="Inconsolata"/>
      <p:regular r:id="rId82"/>
      <p:bold r:id="rId83"/>
    </p:embeddedFont>
    <p:embeddedFont>
      <p:font typeface="Roboto Light"/>
      <p:regular r:id="rId84"/>
      <p:bold r:id="rId85"/>
      <p:italic r:id="rId86"/>
      <p:boldItalic r:id="rId87"/>
    </p:embeddedFont>
    <p:embeddedFont>
      <p:font typeface="Inconsolata Medium"/>
      <p:regular r:id="rId88"/>
      <p:bold r:id="rId89"/>
    </p:embeddedFont>
    <p:embeddedFont>
      <p:font typeface="Comfortaa"/>
      <p:regular r:id="rId90"/>
      <p:bold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4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31EDE6-DDAE-46C1-97D5-4B7560CD6016}">
  <a:tblStyle styleId="{7931EDE6-DDAE-46C1-97D5-4B7560CD601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4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Comfortaa-bold.fntdata"/><Relationship Id="rId90" Type="http://schemas.openxmlformats.org/officeDocument/2006/relationships/font" Target="fonts/Comfortaa-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RobotoLight-regular.fntdata"/><Relationship Id="rId83" Type="http://schemas.openxmlformats.org/officeDocument/2006/relationships/font" Target="fonts/Inconsolata-bold.fntdata"/><Relationship Id="rId86" Type="http://schemas.openxmlformats.org/officeDocument/2006/relationships/font" Target="fonts/RobotoLight-italic.fntdata"/><Relationship Id="rId85" Type="http://schemas.openxmlformats.org/officeDocument/2006/relationships/font" Target="fonts/RobotoLight-bold.fntdata"/><Relationship Id="rId88" Type="http://schemas.openxmlformats.org/officeDocument/2006/relationships/font" Target="fonts/InconsolataMedium-regular.fntdata"/><Relationship Id="rId87" Type="http://schemas.openxmlformats.org/officeDocument/2006/relationships/font" Target="fonts/RobotoLight-boldItalic.fntdata"/><Relationship Id="rId89" Type="http://schemas.openxmlformats.org/officeDocument/2006/relationships/font" Target="fonts/InconsolataMedium-bold.fntdata"/><Relationship Id="rId80" Type="http://schemas.openxmlformats.org/officeDocument/2006/relationships/font" Target="fonts/RobotoMedium-italic.fntdata"/><Relationship Id="rId82" Type="http://schemas.openxmlformats.org/officeDocument/2006/relationships/font" Target="fonts/Inconsolata-regular.fntdata"/><Relationship Id="rId81" Type="http://schemas.openxmlformats.org/officeDocument/2006/relationships/font" Target="fonts/Roboto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font" Target="fonts/Roboto-bold.fntdata"/><Relationship Id="rId74" Type="http://schemas.openxmlformats.org/officeDocument/2006/relationships/font" Target="fonts/Roboto-regular.fntdata"/><Relationship Id="rId77" Type="http://schemas.openxmlformats.org/officeDocument/2006/relationships/font" Target="fonts/Roboto-boldItalic.fntdata"/><Relationship Id="rId76" Type="http://schemas.openxmlformats.org/officeDocument/2006/relationships/font" Target="fonts/Roboto-italic.fntdata"/><Relationship Id="rId79" Type="http://schemas.openxmlformats.org/officeDocument/2006/relationships/font" Target="fonts/RobotoMedium-bold.fntdata"/><Relationship Id="rId78" Type="http://schemas.openxmlformats.org/officeDocument/2006/relationships/font" Target="fonts/RobotoMedium-regular.fntdata"/><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2fb925c7b0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2fb925c7b0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0a878d6c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30a878d6c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0a8c704c1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7" name="Google Shape;1177;g30a8c704c1c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0a8c704c1c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30a8c704c1c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0a8c704c1c_0_2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30a8c704c1c_0_2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30a8c704c1c_0_2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30a8c704c1c_0_2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0a8c704c1c_0_3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30a8c704c1c_0_3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0a8c704c1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30a8c704c1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30a8c704c1c_0_3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30a8c704c1c_0_3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30a8c704c1c_0_3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30a8c704c1c_0_3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0a8c704c1c_0_3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30a8c704c1c_0_3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chemeClr val="dk1"/>
                </a:solidFill>
                <a:latin typeface="Roboto"/>
                <a:ea typeface="Roboto"/>
                <a:cs typeface="Roboto"/>
                <a:sym typeface="Roboto"/>
              </a:rPr>
              <a:t>Image sources: shutterstock_329468402, shutterstock_417078436, shutterstock_</a:t>
            </a:r>
            <a:r>
              <a:rPr i="1" lang="en" sz="900">
                <a:solidFill>
                  <a:schemeClr val="dk1"/>
                </a:solidFill>
                <a:highlight>
                  <a:srgbClr val="FFFFFF"/>
                </a:highlight>
                <a:latin typeface="Roboto"/>
                <a:ea typeface="Roboto"/>
                <a:cs typeface="Roboto"/>
                <a:sym typeface="Roboto"/>
              </a:rPr>
              <a:t>704749705</a:t>
            </a:r>
            <a:endParaRPr i="1" sz="9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0a8c704c1c_0_4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30a8c704c1c_0_4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shutterstock_1284781774</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0a8c704c1c_0_4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30a8c704c1c_0_4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shutterstock_1284781774</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0a8c704c1c_0_4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30a8c704c1c_0_4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shutterstock_1284781774</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30a8c704c1c_0_4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30a8c704c1c_0_4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shutterstock_1284781774</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0a8c704c1c_0_4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30a8c704c1c_0_4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shutterstock_1284781774</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0a8c704c1c_0_5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30a8c704c1c_0_5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0a8c704c1c_0_6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9" name="Google Shape;1399;g30a8c704c1c_0_6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g30a8c704c1c_0_8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0" name="Google Shape;1420;g30a8c704c1c_0_8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Shutterstock_1647368755_multitask WITH character frrom CANVAS scripts incorporated for diversity. See Trilogy VSG https://drive.google.com/drive/u/0/search?q=Trilogy%20VSG</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30a8c704c1c_0_9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30a8c704c1c_0_9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30a8c704c1c_0_10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30a8c704c1c_0_10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30a8c704c1c_0_11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30a8c704c1c_0_11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g30a8c704c1c_0_12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5" name="Google Shape;1495;g30a8c704c1c_0_12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30a8c704c1c_0_12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7" name="Google Shape;1517;g30a8c704c1c_0_12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30a8c704c1c_0_14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30a8c704c1c_0_14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30a8c704c1c_0_14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8" name="Google Shape;1548;g30a8c704c1c_0_14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30a8c704c1c_0_14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30a8c704c1c_0_14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30a8c704c1c_0_15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30a8c704c1c_0_15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g30a8c704c1c_0_15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3" name="Google Shape;1593;g30a8c704c1c_0_158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g30a8c704c1c_0_16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4" name="Google Shape;1614;g30a8c704c1c_0_16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30a8c704c1c_0_17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30a8c704c1c_0_17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chemeClr val="dk1"/>
                </a:solidFill>
                <a:latin typeface="Roboto"/>
                <a:ea typeface="Roboto"/>
                <a:cs typeface="Roboto"/>
                <a:sym typeface="Roboto"/>
              </a:rPr>
              <a:t>Image sources: shutterstock_329468402, shutterstock_417078436, shutterstock_</a:t>
            </a:r>
            <a:r>
              <a:rPr i="1" lang="en" sz="900">
                <a:solidFill>
                  <a:schemeClr val="dk1"/>
                </a:solidFill>
                <a:highlight>
                  <a:srgbClr val="FFFFFF"/>
                </a:highlight>
                <a:latin typeface="Roboto"/>
                <a:ea typeface="Roboto"/>
                <a:cs typeface="Roboto"/>
                <a:sym typeface="Roboto"/>
              </a:rPr>
              <a:t>704749705</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g30a8c704c1c_0_18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0" name="Google Shape;1660;g30a8c704c1c_0_18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30a8c704c1c_0_18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6" name="Google Shape;1666;g30a8c704c1c_0_18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30a8c704c1c_0_18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0" name="Google Shape;1670;g30a8c704c1c_0_186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30a8c704c1c_0_19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30a8c704c1c_0_19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shutterstock_1713890323</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g30a8c704c1c_0_20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2" name="Google Shape;1712;g30a8c704c1c_0_20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shutterstock_1095422036</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g30a8c704c1c_0_21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3" name="Google Shape;1723;g30a8c704c1c_0_21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30a8c704c1c_0_21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2" name="Google Shape;1732;g30a8c704c1c_0_215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30a8c704c1c_0_22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30a8c704c1c_0_22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g30a8c704c1c_0_23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4" name="Google Shape;1754;g30a8c704c1c_0_23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g30a8c704c1c_0_25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0" name="Google Shape;1780;g30a8c704c1c_0_25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g30a8c704c1c_0_26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7" name="Google Shape;1787;g30a8c704c1c_0_26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shutterstock_1335132566</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3" name="Shape 1793"/>
        <p:cNvGrpSpPr/>
        <p:nvPr/>
      </p:nvGrpSpPr>
      <p:grpSpPr>
        <a:xfrm>
          <a:off x="0" y="0"/>
          <a:ext cx="0" cy="0"/>
          <a:chOff x="0" y="0"/>
          <a:chExt cx="0" cy="0"/>
        </a:xfrm>
      </p:grpSpPr>
      <p:sp>
        <p:nvSpPr>
          <p:cNvPr id="1794" name="Google Shape;1794;g30a8c704c1c_0_27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5" name="Google Shape;1795;g30a8c704c1c_0_27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30a8c704c1c_0_27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0" name="Google Shape;1800;g30a8c704c1c_0_27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30a3240009e_0_1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1" name="Google Shape;1811;g30a3240009e_0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g30a3240009e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6" name="Google Shape;1816;g30a3240009e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g30a3240009e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4" name="Google Shape;1824;g30a3240009e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g30a3240009e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8" name="Google Shape;1828;g30a3240009e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g30a3240009e_0_1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g30a3240009e_0_1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4" name="Shape 1834"/>
        <p:cNvGrpSpPr/>
        <p:nvPr/>
      </p:nvGrpSpPr>
      <p:grpSpPr>
        <a:xfrm>
          <a:off x="0" y="0"/>
          <a:ext cx="0" cy="0"/>
          <a:chOff x="0" y="0"/>
          <a:chExt cx="0" cy="0"/>
        </a:xfrm>
      </p:grpSpPr>
      <p:sp>
        <p:nvSpPr>
          <p:cNvPr id="1835" name="Google Shape;1835;g30a3240009e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6" name="Google Shape;1836;g30a3240009e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g30a8c704c1c_0_27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2" name="Google Shape;1842;g30a8c704c1c_0_27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g30a8c704c1c_0_27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7" name="Google Shape;1847;g30a8c704c1c_0_27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30a8c704c1c_0_27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5" name="Google Shape;1855;g30a8c704c1c_0_27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g30a3240009e_0_2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4" name="Google Shape;1864;g30a3240009e_0_2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g30a3240009e_0_3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9" name="Google Shape;1869;g30a3240009e_0_3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g30a8c704c1c_0_27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3" name="Google Shape;1873;g30a8c704c1c_0_27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g30a8c704c1c_0_27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9" name="Google Shape;1879;g30a8c704c1c_0_27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g30a8c704c1c_0_27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4" name="Google Shape;1884;g30a8c704c1c_0_27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g30a8c704c1c_0_27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6" name="Google Shape;1896;g30a8c704c1c_0_27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g30a8c704c1c_0_27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1" name="Google Shape;1901;g30a8c704c1c_0_27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g30a8c704c1c_0_27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9" name="Google Shape;1909;g30a8c704c1c_0_27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g30a8c704c1c_0_27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3" name="Google Shape;1913;g30a8c704c1c_0_27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g30a8c704c1c_0_27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7" name="Google Shape;1917;g30a8c704c1c_0_279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1" name="Google Shape;1951;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3.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5" name="Google Shape;345;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6" name="Google Shape;346;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7" name="Google Shape;347;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50" name="Shape 350"/>
        <p:cNvGrpSpPr/>
        <p:nvPr/>
      </p:nvGrpSpPr>
      <p:grpSpPr>
        <a:xfrm>
          <a:off x="0" y="0"/>
          <a:ext cx="0" cy="0"/>
          <a:chOff x="0" y="0"/>
          <a:chExt cx="0" cy="0"/>
        </a:xfrm>
      </p:grpSpPr>
      <p:sp>
        <p:nvSpPr>
          <p:cNvPr id="351" name="Google Shape;351;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2" name="Google Shape;352;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3" name="Google Shape;353;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5" name="Google Shape;355;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6" name="Google Shape;356;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7" name="Google Shape;357;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8" name="Shape 358"/>
        <p:cNvGrpSpPr/>
        <p:nvPr/>
      </p:nvGrpSpPr>
      <p:grpSpPr>
        <a:xfrm>
          <a:off x="0" y="0"/>
          <a:ext cx="0" cy="0"/>
          <a:chOff x="0" y="0"/>
          <a:chExt cx="0" cy="0"/>
        </a:xfrm>
      </p:grpSpPr>
      <p:sp>
        <p:nvSpPr>
          <p:cNvPr id="359" name="Google Shape;359;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0" name="Google Shape;360;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61" name="Google Shape;361;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2" name="Google Shape;362;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3" name="Google Shape;363;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4" name="Google Shape;364;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5" name="Google Shape;365;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6" name="Shape 366"/>
        <p:cNvGrpSpPr/>
        <p:nvPr/>
      </p:nvGrpSpPr>
      <p:grpSpPr>
        <a:xfrm>
          <a:off x="0" y="0"/>
          <a:ext cx="0" cy="0"/>
          <a:chOff x="0" y="0"/>
          <a:chExt cx="0" cy="0"/>
        </a:xfrm>
      </p:grpSpPr>
      <p:sp>
        <p:nvSpPr>
          <p:cNvPr id="367" name="Google Shape;367;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8" name="Google Shape;368;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9" name="Google Shape;369;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0" name="Google Shape;370;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1" name="Shape 371"/>
        <p:cNvGrpSpPr/>
        <p:nvPr/>
      </p:nvGrpSpPr>
      <p:grpSpPr>
        <a:xfrm>
          <a:off x="0" y="0"/>
          <a:ext cx="0" cy="0"/>
          <a:chOff x="0" y="0"/>
          <a:chExt cx="0" cy="0"/>
        </a:xfrm>
      </p:grpSpPr>
      <p:sp>
        <p:nvSpPr>
          <p:cNvPr id="372" name="Google Shape;372;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4" name="Google Shape;374;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5" name="Google Shape;375;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7" name="Google Shape;377;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8" name="Google Shape;378;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80" name="Google Shape;380;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81" name="Google Shape;381;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2" name="Google Shape;382;p55"/>
          <p:cNvSpPr/>
          <p:nvPr/>
        </p:nvSpPr>
        <p:spPr>
          <a:xfrm>
            <a:off x="3399112" y="1345100"/>
            <a:ext cx="2427300" cy="476700"/>
          </a:xfrm>
          <a:prstGeom prst="roundRect">
            <a:avLst>
              <a:gd fmla="val 13342"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3" name="Google Shape;383;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4" name="Google Shape;384;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5" name="Shape 385"/>
        <p:cNvGrpSpPr/>
        <p:nvPr/>
      </p:nvGrpSpPr>
      <p:grpSpPr>
        <a:xfrm>
          <a:off x="0" y="0"/>
          <a:ext cx="0" cy="0"/>
          <a:chOff x="0" y="0"/>
          <a:chExt cx="0" cy="0"/>
        </a:xfrm>
      </p:grpSpPr>
      <p:sp>
        <p:nvSpPr>
          <p:cNvPr id="386" name="Google Shape;386;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7" name="Google Shape;387;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8" name="Google Shape;388;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9" name="Google Shape;389;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90" name="Shape 390"/>
        <p:cNvGrpSpPr/>
        <p:nvPr/>
      </p:nvGrpSpPr>
      <p:grpSpPr>
        <a:xfrm>
          <a:off x="0" y="0"/>
          <a:ext cx="0" cy="0"/>
          <a:chOff x="0" y="0"/>
          <a:chExt cx="0" cy="0"/>
        </a:xfrm>
      </p:grpSpPr>
      <p:sp>
        <p:nvSpPr>
          <p:cNvPr id="391" name="Google Shape;391;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3" name="Google Shape;393;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4" name="Google Shape;394;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6" name="Google Shape;396;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97" name="Google Shape;397;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9" name="Google Shape;399;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400" name="Google Shape;400;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401" name="Google Shape;401;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2" name="Google Shape;402;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4" name="Shape 404"/>
        <p:cNvGrpSpPr/>
        <p:nvPr/>
      </p:nvGrpSpPr>
      <p:grpSpPr>
        <a:xfrm>
          <a:off x="0" y="0"/>
          <a:ext cx="0" cy="0"/>
          <a:chOff x="0" y="0"/>
          <a:chExt cx="0" cy="0"/>
        </a:xfrm>
      </p:grpSpPr>
      <p:cxnSp>
        <p:nvCxnSpPr>
          <p:cNvPr id="405" name="Google Shape;405;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6" name="Google Shape;406;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2" name="Google Shape;412;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3" name="Google Shape;413;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4" name="Google Shape;414;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5" name="Google Shape;415;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6" name="Google Shape;416;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7" name="Google Shape;417;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8" name="Google Shape;418;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9" name="Google Shape;419;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0" name="Google Shape;420;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1" name="Google Shape;421;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2" name="Google Shape;422;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3" name="Google Shape;423;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4" name="Google Shape;424;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5" name="Google Shape;425;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6" name="Shape 426"/>
        <p:cNvGrpSpPr/>
        <p:nvPr/>
      </p:nvGrpSpPr>
      <p:grpSpPr>
        <a:xfrm>
          <a:off x="0" y="0"/>
          <a:ext cx="0" cy="0"/>
          <a:chOff x="0" y="0"/>
          <a:chExt cx="0" cy="0"/>
        </a:xfrm>
      </p:grpSpPr>
      <p:pic>
        <p:nvPicPr>
          <p:cNvPr id="427" name="Google Shape;427;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28" name="Google Shape;428;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29" name="Google Shape;429;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30" name="Google Shape;430;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31" name="Shape 431"/>
        <p:cNvGrpSpPr/>
        <p:nvPr/>
      </p:nvGrpSpPr>
      <p:grpSpPr>
        <a:xfrm>
          <a:off x="0" y="0"/>
          <a:ext cx="0" cy="0"/>
          <a:chOff x="0" y="0"/>
          <a:chExt cx="0" cy="0"/>
        </a:xfrm>
      </p:grpSpPr>
      <p:sp>
        <p:nvSpPr>
          <p:cNvPr id="432" name="Google Shape;432;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3" name="Google Shape;433;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4" name="Google Shape;434;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5" name="Google Shape;435;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6" name="Google Shape;436;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37" name="Shape 437"/>
        <p:cNvGrpSpPr/>
        <p:nvPr/>
      </p:nvGrpSpPr>
      <p:grpSpPr>
        <a:xfrm>
          <a:off x="0" y="0"/>
          <a:ext cx="0" cy="0"/>
          <a:chOff x="0" y="0"/>
          <a:chExt cx="0" cy="0"/>
        </a:xfrm>
      </p:grpSpPr>
      <p:sp>
        <p:nvSpPr>
          <p:cNvPr id="438" name="Google Shape;438;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39" name="Google Shape;439;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440" name="Google Shape;440;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41" name="Google Shape;441;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42" name="Google Shape;442;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43" name="Google Shape;443;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5" name="Google Shape;445;p61"/>
          <p:cNvGrpSpPr/>
          <p:nvPr/>
        </p:nvGrpSpPr>
        <p:grpSpPr>
          <a:xfrm>
            <a:off x="457181" y="1345103"/>
            <a:ext cx="533372" cy="533480"/>
            <a:chOff x="457200" y="1378813"/>
            <a:chExt cx="695400" cy="695450"/>
          </a:xfrm>
        </p:grpSpPr>
        <p:sp>
          <p:nvSpPr>
            <p:cNvPr id="446" name="Google Shape;446;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447" name="Google Shape;447;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61"/>
          <p:cNvGrpSpPr/>
          <p:nvPr/>
        </p:nvGrpSpPr>
        <p:grpSpPr>
          <a:xfrm>
            <a:off x="3228956" y="1345103"/>
            <a:ext cx="533372" cy="533480"/>
            <a:chOff x="457200" y="1378813"/>
            <a:chExt cx="695400" cy="695450"/>
          </a:xfrm>
        </p:grpSpPr>
        <p:sp>
          <p:nvSpPr>
            <p:cNvPr id="449" name="Google Shape;449;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450" name="Google Shape;450;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1" name="Google Shape;451;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3" name="Google Shape;453;p61"/>
          <p:cNvGrpSpPr/>
          <p:nvPr/>
        </p:nvGrpSpPr>
        <p:grpSpPr>
          <a:xfrm>
            <a:off x="6134081" y="1345853"/>
            <a:ext cx="533372" cy="533480"/>
            <a:chOff x="457200" y="1378813"/>
            <a:chExt cx="695400" cy="695450"/>
          </a:xfrm>
        </p:grpSpPr>
        <p:sp>
          <p:nvSpPr>
            <p:cNvPr id="454" name="Google Shape;454;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455" name="Google Shape;455;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6" name="Google Shape;456;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58" name="Google Shape;458;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59" name="Shape 459"/>
        <p:cNvGrpSpPr/>
        <p:nvPr/>
      </p:nvGrpSpPr>
      <p:grpSpPr>
        <a:xfrm>
          <a:off x="0" y="0"/>
          <a:ext cx="0" cy="0"/>
          <a:chOff x="0" y="0"/>
          <a:chExt cx="0" cy="0"/>
        </a:xfrm>
      </p:grpSpPr>
      <p:sp>
        <p:nvSpPr>
          <p:cNvPr id="460" name="Google Shape;460;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1" name="Google Shape;461;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2" name="Google Shape;462;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4" name="Shape 464"/>
        <p:cNvGrpSpPr/>
        <p:nvPr/>
      </p:nvGrpSpPr>
      <p:grpSpPr>
        <a:xfrm>
          <a:off x="0" y="0"/>
          <a:ext cx="0" cy="0"/>
          <a:chOff x="0" y="0"/>
          <a:chExt cx="0" cy="0"/>
        </a:xfrm>
      </p:grpSpPr>
      <p:sp>
        <p:nvSpPr>
          <p:cNvPr id="465" name="Google Shape;465;p63"/>
          <p:cNvSpPr/>
          <p:nvPr>
            <p:ph idx="2" type="pic"/>
          </p:nvPr>
        </p:nvSpPr>
        <p:spPr>
          <a:xfrm>
            <a:off x="5923375" y="150"/>
            <a:ext cx="3220500" cy="5143500"/>
          </a:xfrm>
          <a:prstGeom prst="rect">
            <a:avLst/>
          </a:prstGeom>
          <a:noFill/>
          <a:ln>
            <a:noFill/>
          </a:ln>
        </p:spPr>
      </p:sp>
      <p:sp>
        <p:nvSpPr>
          <p:cNvPr id="466" name="Google Shape;466;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7" name="Google Shape;467;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8" name="Google Shape;468;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69" name="Shape 469"/>
        <p:cNvGrpSpPr/>
        <p:nvPr/>
      </p:nvGrpSpPr>
      <p:grpSpPr>
        <a:xfrm>
          <a:off x="0" y="0"/>
          <a:ext cx="0" cy="0"/>
          <a:chOff x="0" y="0"/>
          <a:chExt cx="0" cy="0"/>
        </a:xfrm>
      </p:grpSpPr>
      <p:sp>
        <p:nvSpPr>
          <p:cNvPr id="470" name="Google Shape;470;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1" name="Google Shape;471;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2" name="Google Shape;472;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3" name="Google Shape;473;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4" name="Shape 474"/>
        <p:cNvGrpSpPr/>
        <p:nvPr/>
      </p:nvGrpSpPr>
      <p:grpSpPr>
        <a:xfrm>
          <a:off x="0" y="0"/>
          <a:ext cx="0" cy="0"/>
          <a:chOff x="0" y="0"/>
          <a:chExt cx="0" cy="0"/>
        </a:xfrm>
      </p:grpSpPr>
      <p:sp>
        <p:nvSpPr>
          <p:cNvPr id="475" name="Google Shape;475;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6" name="Google Shape;476;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77" name="Google Shape;477;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78" name="Google Shape;478;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9" name="Google Shape;479;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80" name="Shape 480"/>
        <p:cNvGrpSpPr/>
        <p:nvPr/>
      </p:nvGrpSpPr>
      <p:grpSpPr>
        <a:xfrm>
          <a:off x="0" y="0"/>
          <a:ext cx="0" cy="0"/>
          <a:chOff x="0" y="0"/>
          <a:chExt cx="0" cy="0"/>
        </a:xfrm>
      </p:grpSpPr>
      <p:sp>
        <p:nvSpPr>
          <p:cNvPr id="481" name="Google Shape;481;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2" name="Google Shape;482;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3" name="Google Shape;483;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4" name="Google Shape;484;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5" name="Google Shape;485;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6" name="Shape 486"/>
        <p:cNvGrpSpPr/>
        <p:nvPr/>
      </p:nvGrpSpPr>
      <p:grpSpPr>
        <a:xfrm>
          <a:off x="0" y="0"/>
          <a:ext cx="0" cy="0"/>
          <a:chOff x="0" y="0"/>
          <a:chExt cx="0" cy="0"/>
        </a:xfrm>
      </p:grpSpPr>
      <p:grpSp>
        <p:nvGrpSpPr>
          <p:cNvPr id="487" name="Google Shape;487;p67"/>
          <p:cNvGrpSpPr/>
          <p:nvPr/>
        </p:nvGrpSpPr>
        <p:grpSpPr>
          <a:xfrm>
            <a:off x="511772" y="1190428"/>
            <a:ext cx="533372" cy="533480"/>
            <a:chOff x="457200" y="1378813"/>
            <a:chExt cx="695400" cy="695450"/>
          </a:xfrm>
        </p:grpSpPr>
        <p:sp>
          <p:nvSpPr>
            <p:cNvPr id="488" name="Google Shape;488;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489" name="Google Shape;489;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90" name="Google Shape;490;p67"/>
          <p:cNvGrpSpPr/>
          <p:nvPr/>
        </p:nvGrpSpPr>
        <p:grpSpPr>
          <a:xfrm>
            <a:off x="3283547" y="1190428"/>
            <a:ext cx="533372" cy="533480"/>
            <a:chOff x="457200" y="1378813"/>
            <a:chExt cx="695400" cy="695450"/>
          </a:xfrm>
        </p:grpSpPr>
        <p:sp>
          <p:nvSpPr>
            <p:cNvPr id="491" name="Google Shape;491;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492" name="Google Shape;492;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493" name="Google Shape;493;p67"/>
          <p:cNvGrpSpPr/>
          <p:nvPr/>
        </p:nvGrpSpPr>
        <p:grpSpPr>
          <a:xfrm>
            <a:off x="6188672" y="1191178"/>
            <a:ext cx="533372" cy="533480"/>
            <a:chOff x="457200" y="1378813"/>
            <a:chExt cx="695400" cy="695450"/>
          </a:xfrm>
        </p:grpSpPr>
        <p:sp>
          <p:nvSpPr>
            <p:cNvPr id="494" name="Google Shape;494;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495" name="Google Shape;495;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496" name="Google Shape;496;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7" name="Google Shape;497;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8" name="Google Shape;498;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501" name="Shape 501"/>
        <p:cNvGrpSpPr/>
        <p:nvPr/>
      </p:nvGrpSpPr>
      <p:grpSpPr>
        <a:xfrm>
          <a:off x="0" y="0"/>
          <a:ext cx="0" cy="0"/>
          <a:chOff x="0" y="0"/>
          <a:chExt cx="0" cy="0"/>
        </a:xfrm>
      </p:grpSpPr>
      <p:sp>
        <p:nvSpPr>
          <p:cNvPr id="502" name="Google Shape;502;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3" name="Google Shape;503;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4" name="Google Shape;504;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5" name="Google Shape;505;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6" name="Google Shape;506;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07" name="Google Shape;507;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8" name="Google Shape;508;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09" name="Shape 509"/>
        <p:cNvGrpSpPr/>
        <p:nvPr/>
      </p:nvGrpSpPr>
      <p:grpSpPr>
        <a:xfrm>
          <a:off x="0" y="0"/>
          <a:ext cx="0" cy="0"/>
          <a:chOff x="0" y="0"/>
          <a:chExt cx="0" cy="0"/>
        </a:xfrm>
      </p:grpSpPr>
      <p:sp>
        <p:nvSpPr>
          <p:cNvPr id="510" name="Google Shape;510;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1" name="Google Shape;511;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2" name="Google Shape;512;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3" name="Google Shape;513;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4" name="Google Shape;514;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5" name="Shape 515"/>
        <p:cNvGrpSpPr/>
        <p:nvPr/>
      </p:nvGrpSpPr>
      <p:grpSpPr>
        <a:xfrm>
          <a:off x="0" y="0"/>
          <a:ext cx="0" cy="0"/>
          <a:chOff x="0" y="0"/>
          <a:chExt cx="0" cy="0"/>
        </a:xfrm>
      </p:grpSpPr>
      <p:sp>
        <p:nvSpPr>
          <p:cNvPr id="516" name="Google Shape;516;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7" name="Google Shape;517;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8" name="Google Shape;518;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9" name="Google Shape;519;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0" name="Google Shape;520;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21" name="Shape 521"/>
        <p:cNvGrpSpPr/>
        <p:nvPr/>
      </p:nvGrpSpPr>
      <p:grpSpPr>
        <a:xfrm>
          <a:off x="0" y="0"/>
          <a:ext cx="0" cy="0"/>
          <a:chOff x="0" y="0"/>
          <a:chExt cx="0" cy="0"/>
        </a:xfrm>
      </p:grpSpPr>
      <p:sp>
        <p:nvSpPr>
          <p:cNvPr id="522" name="Google Shape;522;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3" name="Google Shape;523;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4" name="Google Shape;524;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5" name="Google Shape;525;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6" name="Google Shape;526;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27" name="Shape 527"/>
        <p:cNvGrpSpPr/>
        <p:nvPr/>
      </p:nvGrpSpPr>
      <p:grpSpPr>
        <a:xfrm>
          <a:off x="0" y="0"/>
          <a:ext cx="0" cy="0"/>
          <a:chOff x="0" y="0"/>
          <a:chExt cx="0" cy="0"/>
        </a:xfrm>
      </p:grpSpPr>
      <p:sp>
        <p:nvSpPr>
          <p:cNvPr id="528" name="Google Shape;528;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9" name="Google Shape;529;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0" name="Google Shape;530;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1" name="Google Shape;531;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3" name="Shape 533"/>
        <p:cNvGrpSpPr/>
        <p:nvPr/>
      </p:nvGrpSpPr>
      <p:grpSpPr>
        <a:xfrm>
          <a:off x="0" y="0"/>
          <a:ext cx="0" cy="0"/>
          <a:chOff x="0" y="0"/>
          <a:chExt cx="0" cy="0"/>
        </a:xfrm>
      </p:grpSpPr>
      <p:sp>
        <p:nvSpPr>
          <p:cNvPr id="534" name="Google Shape;534;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5" name="Google Shape;535;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6" name="Google Shape;536;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7" name="Google Shape;537;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8" name="Google Shape;538;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39" name="Shape 539"/>
        <p:cNvGrpSpPr/>
        <p:nvPr/>
      </p:nvGrpSpPr>
      <p:grpSpPr>
        <a:xfrm>
          <a:off x="0" y="0"/>
          <a:ext cx="0" cy="0"/>
          <a:chOff x="0" y="0"/>
          <a:chExt cx="0" cy="0"/>
        </a:xfrm>
      </p:grpSpPr>
      <p:sp>
        <p:nvSpPr>
          <p:cNvPr id="540" name="Google Shape;540;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1" name="Google Shape;541;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2" name="Google Shape;542;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3" name="Google Shape;543;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4" name="Google Shape;544;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5" name="Shape 545"/>
        <p:cNvGrpSpPr/>
        <p:nvPr/>
      </p:nvGrpSpPr>
      <p:grpSpPr>
        <a:xfrm>
          <a:off x="0" y="0"/>
          <a:ext cx="0" cy="0"/>
          <a:chOff x="0" y="0"/>
          <a:chExt cx="0" cy="0"/>
        </a:xfrm>
      </p:grpSpPr>
      <p:sp>
        <p:nvSpPr>
          <p:cNvPr id="546" name="Google Shape;546;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7" name="Google Shape;547;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8" name="Google Shape;548;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9" name="Google Shape;549;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0" name="Google Shape;550;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51" name="Shape 551"/>
        <p:cNvGrpSpPr/>
        <p:nvPr/>
      </p:nvGrpSpPr>
      <p:grpSpPr>
        <a:xfrm>
          <a:off x="0" y="0"/>
          <a:ext cx="0" cy="0"/>
          <a:chOff x="0" y="0"/>
          <a:chExt cx="0" cy="0"/>
        </a:xfrm>
      </p:grpSpPr>
      <p:sp>
        <p:nvSpPr>
          <p:cNvPr id="552" name="Google Shape;552;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3" name="Google Shape;553;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4" name="Google Shape;554;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5" name="Google Shape;555;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6" name="Google Shape;556;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57" name="Shape 557"/>
        <p:cNvGrpSpPr/>
        <p:nvPr/>
      </p:nvGrpSpPr>
      <p:grpSpPr>
        <a:xfrm>
          <a:off x="0" y="0"/>
          <a:ext cx="0" cy="0"/>
          <a:chOff x="0" y="0"/>
          <a:chExt cx="0" cy="0"/>
        </a:xfrm>
      </p:grpSpPr>
      <p:sp>
        <p:nvSpPr>
          <p:cNvPr id="558" name="Google Shape;558;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9" name="Google Shape;559;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0" name="Google Shape;560;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1" name="Google Shape;561;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2" name="Google Shape;562;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3" name="Shape 563"/>
        <p:cNvGrpSpPr/>
        <p:nvPr/>
      </p:nvGrpSpPr>
      <p:grpSpPr>
        <a:xfrm>
          <a:off x="0" y="0"/>
          <a:ext cx="0" cy="0"/>
          <a:chOff x="0" y="0"/>
          <a:chExt cx="0" cy="0"/>
        </a:xfrm>
      </p:grpSpPr>
      <p:sp>
        <p:nvSpPr>
          <p:cNvPr id="564" name="Google Shape;564;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5" name="Google Shape;565;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6" name="Google Shape;566;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7" name="Google Shape;567;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8" name="Google Shape;568;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69" name="Shape 569"/>
        <p:cNvGrpSpPr/>
        <p:nvPr/>
      </p:nvGrpSpPr>
      <p:grpSpPr>
        <a:xfrm>
          <a:off x="0" y="0"/>
          <a:ext cx="0" cy="0"/>
          <a:chOff x="0" y="0"/>
          <a:chExt cx="0" cy="0"/>
        </a:xfrm>
      </p:grpSpPr>
      <p:sp>
        <p:nvSpPr>
          <p:cNvPr id="570" name="Google Shape;570;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71" name="Google Shape;571;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2" name="Google Shape;572;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3" name="Google Shape;573;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5" name="Shape 575"/>
        <p:cNvGrpSpPr/>
        <p:nvPr/>
      </p:nvGrpSpPr>
      <p:grpSpPr>
        <a:xfrm>
          <a:off x="0" y="0"/>
          <a:ext cx="0" cy="0"/>
          <a:chOff x="0" y="0"/>
          <a:chExt cx="0" cy="0"/>
        </a:xfrm>
      </p:grpSpPr>
      <p:sp>
        <p:nvSpPr>
          <p:cNvPr id="576" name="Google Shape;576;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77" name="Google Shape;577;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78" name="Google Shape;578;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79" name="Google Shape;579;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81" name="Google Shape;581;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2" name="Google Shape;582;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3" name="Google Shape;583;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4" name="Google Shape;584;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5" name="Google Shape;585;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87" name="Google Shape;587;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88" name="Shape 588"/>
        <p:cNvGrpSpPr/>
        <p:nvPr/>
      </p:nvGrpSpPr>
      <p:grpSpPr>
        <a:xfrm>
          <a:off x="0" y="0"/>
          <a:ext cx="0" cy="0"/>
          <a:chOff x="0" y="0"/>
          <a:chExt cx="0" cy="0"/>
        </a:xfrm>
      </p:grpSpPr>
      <p:sp>
        <p:nvSpPr>
          <p:cNvPr id="589" name="Google Shape;589;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0" name="Google Shape;590;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1" name="Google Shape;591;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2" name="Google Shape;592;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4" name="Shape 594"/>
        <p:cNvGrpSpPr/>
        <p:nvPr/>
      </p:nvGrpSpPr>
      <p:grpSpPr>
        <a:xfrm>
          <a:off x="0" y="0"/>
          <a:ext cx="0" cy="0"/>
          <a:chOff x="0" y="0"/>
          <a:chExt cx="0" cy="0"/>
        </a:xfrm>
      </p:grpSpPr>
      <p:sp>
        <p:nvSpPr>
          <p:cNvPr id="595" name="Google Shape;595;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6" name="Google Shape;596;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7" name="Google Shape;597;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8" name="Google Shape;598;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9" name="Google Shape;599;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600" name="Shape 600"/>
        <p:cNvGrpSpPr/>
        <p:nvPr/>
      </p:nvGrpSpPr>
      <p:grpSpPr>
        <a:xfrm>
          <a:off x="0" y="0"/>
          <a:ext cx="0" cy="0"/>
          <a:chOff x="0" y="0"/>
          <a:chExt cx="0" cy="0"/>
        </a:xfrm>
      </p:grpSpPr>
      <p:sp>
        <p:nvSpPr>
          <p:cNvPr id="601" name="Google Shape;601;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3" name="Google Shape;603;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4" name="Google Shape;604;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6" name="Google Shape;606;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07" name="Google Shape;607;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9" name="Google Shape;609;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10" name="Google Shape;610;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11" name="Google Shape;611;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2" name="Google Shape;612;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3" name="Google Shape;613;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4" name="Shape 614"/>
        <p:cNvGrpSpPr/>
        <p:nvPr/>
      </p:nvGrpSpPr>
      <p:grpSpPr>
        <a:xfrm>
          <a:off x="0" y="0"/>
          <a:ext cx="0" cy="0"/>
          <a:chOff x="0" y="0"/>
          <a:chExt cx="0" cy="0"/>
        </a:xfrm>
      </p:grpSpPr>
      <p:pic>
        <p:nvPicPr>
          <p:cNvPr id="615" name="Google Shape;615;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6" name="Google Shape;616;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17" name="Google Shape;617;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20" name="Shape 620"/>
        <p:cNvGrpSpPr/>
        <p:nvPr/>
      </p:nvGrpSpPr>
      <p:grpSpPr>
        <a:xfrm>
          <a:off x="0" y="0"/>
          <a:ext cx="0" cy="0"/>
          <a:chOff x="0" y="0"/>
          <a:chExt cx="0" cy="0"/>
        </a:xfrm>
      </p:grpSpPr>
      <p:sp>
        <p:nvSpPr>
          <p:cNvPr id="621" name="Google Shape;621;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2" name="Google Shape;622;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3" name="Google Shape;623;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4" name="Google Shape;624;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5" name="Google Shape;625;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6" name="Shape 626"/>
        <p:cNvGrpSpPr/>
        <p:nvPr/>
      </p:nvGrpSpPr>
      <p:grpSpPr>
        <a:xfrm>
          <a:off x="0" y="0"/>
          <a:ext cx="0" cy="0"/>
          <a:chOff x="0" y="0"/>
          <a:chExt cx="0" cy="0"/>
        </a:xfrm>
      </p:grpSpPr>
      <p:sp>
        <p:nvSpPr>
          <p:cNvPr id="627" name="Google Shape;627;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8" name="Google Shape;628;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9" name="Google Shape;629;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30" name="Google Shape;630;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1" name="Google Shape;631;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2" name="Shape 632"/>
        <p:cNvGrpSpPr/>
        <p:nvPr/>
      </p:nvGrpSpPr>
      <p:grpSpPr>
        <a:xfrm>
          <a:off x="0" y="0"/>
          <a:ext cx="0" cy="0"/>
          <a:chOff x="0" y="0"/>
          <a:chExt cx="0" cy="0"/>
        </a:xfrm>
      </p:grpSpPr>
      <p:sp>
        <p:nvSpPr>
          <p:cNvPr id="633" name="Google Shape;633;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4" name="Google Shape;634;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5" name="Google Shape;635;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6" name="Google Shape;636;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37" name="Google Shape;637;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38" name="Shape 638"/>
        <p:cNvGrpSpPr/>
        <p:nvPr/>
      </p:nvGrpSpPr>
      <p:grpSpPr>
        <a:xfrm>
          <a:off x="0" y="0"/>
          <a:ext cx="0" cy="0"/>
          <a:chOff x="0" y="0"/>
          <a:chExt cx="0" cy="0"/>
        </a:xfrm>
      </p:grpSpPr>
      <p:sp>
        <p:nvSpPr>
          <p:cNvPr id="639" name="Google Shape;639;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0" name="Google Shape;640;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1" name="Google Shape;641;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2" name="Google Shape;642;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3" name="Google Shape;643;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4" name="Shape 644"/>
        <p:cNvGrpSpPr/>
        <p:nvPr/>
      </p:nvGrpSpPr>
      <p:grpSpPr>
        <a:xfrm>
          <a:off x="0" y="0"/>
          <a:ext cx="0" cy="0"/>
          <a:chOff x="0" y="0"/>
          <a:chExt cx="0" cy="0"/>
        </a:xfrm>
      </p:grpSpPr>
      <p:sp>
        <p:nvSpPr>
          <p:cNvPr id="645" name="Google Shape;645;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6" name="Google Shape;646;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7" name="Google Shape;647;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8" name="Google Shape;648;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9" name="Google Shape;649;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50" name="Shape 650"/>
        <p:cNvGrpSpPr/>
        <p:nvPr/>
      </p:nvGrpSpPr>
      <p:grpSpPr>
        <a:xfrm>
          <a:off x="0" y="0"/>
          <a:ext cx="0" cy="0"/>
          <a:chOff x="0" y="0"/>
          <a:chExt cx="0" cy="0"/>
        </a:xfrm>
      </p:grpSpPr>
      <p:sp>
        <p:nvSpPr>
          <p:cNvPr id="651" name="Google Shape;651;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2" name="Google Shape;652;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3" name="Google Shape;653;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4" name="Google Shape;654;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5" name="Google Shape;655;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6" name="Shape 656"/>
        <p:cNvGrpSpPr/>
        <p:nvPr/>
      </p:nvGrpSpPr>
      <p:grpSpPr>
        <a:xfrm>
          <a:off x="0" y="0"/>
          <a:ext cx="0" cy="0"/>
          <a:chOff x="0" y="0"/>
          <a:chExt cx="0" cy="0"/>
        </a:xfrm>
      </p:grpSpPr>
      <p:sp>
        <p:nvSpPr>
          <p:cNvPr id="657" name="Google Shape;657;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8" name="Google Shape;658;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9" name="Google Shape;659;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0" name="Google Shape;660;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1" name="Google Shape;661;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2" name="Shape 662"/>
        <p:cNvGrpSpPr/>
        <p:nvPr/>
      </p:nvGrpSpPr>
      <p:grpSpPr>
        <a:xfrm>
          <a:off x="0" y="0"/>
          <a:ext cx="0" cy="0"/>
          <a:chOff x="0" y="0"/>
          <a:chExt cx="0" cy="0"/>
        </a:xfrm>
      </p:grpSpPr>
      <p:sp>
        <p:nvSpPr>
          <p:cNvPr id="663" name="Google Shape;663;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4" name="Google Shape;664;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5" name="Google Shape;665;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6" name="Google Shape;666;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7" name="Google Shape;667;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68" name="Shape 668"/>
        <p:cNvGrpSpPr/>
        <p:nvPr/>
      </p:nvGrpSpPr>
      <p:grpSpPr>
        <a:xfrm>
          <a:off x="0" y="0"/>
          <a:ext cx="0" cy="0"/>
          <a:chOff x="0" y="0"/>
          <a:chExt cx="0" cy="0"/>
        </a:xfrm>
      </p:grpSpPr>
      <p:sp>
        <p:nvSpPr>
          <p:cNvPr id="669" name="Google Shape;669;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0" name="Google Shape;670;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1" name="Google Shape;671;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2" name="Google Shape;672;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3" name="Google Shape;673;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4" name="Shape 674"/>
        <p:cNvGrpSpPr/>
        <p:nvPr/>
      </p:nvGrpSpPr>
      <p:grpSpPr>
        <a:xfrm>
          <a:off x="0" y="0"/>
          <a:ext cx="0" cy="0"/>
          <a:chOff x="0" y="0"/>
          <a:chExt cx="0" cy="0"/>
        </a:xfrm>
      </p:grpSpPr>
      <p:sp>
        <p:nvSpPr>
          <p:cNvPr id="675" name="Google Shape;675;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6" name="Google Shape;676;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7" name="Google Shape;677;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8" name="Google Shape;678;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9" name="Google Shape;679;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80" name="Shape 680"/>
        <p:cNvGrpSpPr/>
        <p:nvPr/>
      </p:nvGrpSpPr>
      <p:grpSpPr>
        <a:xfrm>
          <a:off x="0" y="0"/>
          <a:ext cx="0" cy="0"/>
          <a:chOff x="0" y="0"/>
          <a:chExt cx="0" cy="0"/>
        </a:xfrm>
      </p:grpSpPr>
      <p:sp>
        <p:nvSpPr>
          <p:cNvPr id="681" name="Google Shape;681;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2" name="Google Shape;682;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3" name="Google Shape;683;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4" name="Google Shape;684;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5" name="Google Shape;685;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6" name="Shape 686"/>
        <p:cNvGrpSpPr/>
        <p:nvPr/>
      </p:nvGrpSpPr>
      <p:grpSpPr>
        <a:xfrm>
          <a:off x="0" y="0"/>
          <a:ext cx="0" cy="0"/>
          <a:chOff x="0" y="0"/>
          <a:chExt cx="0" cy="0"/>
        </a:xfrm>
      </p:grpSpPr>
      <p:sp>
        <p:nvSpPr>
          <p:cNvPr id="687" name="Google Shape;687;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8" name="Google Shape;688;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9" name="Google Shape;689;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0" name="Google Shape;690;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1" name="Google Shape;691;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2" name="Shape 692"/>
        <p:cNvGrpSpPr/>
        <p:nvPr/>
      </p:nvGrpSpPr>
      <p:grpSpPr>
        <a:xfrm>
          <a:off x="0" y="0"/>
          <a:ext cx="0" cy="0"/>
          <a:chOff x="0" y="0"/>
          <a:chExt cx="0" cy="0"/>
        </a:xfrm>
      </p:grpSpPr>
      <p:sp>
        <p:nvSpPr>
          <p:cNvPr id="693" name="Google Shape;693;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4" name="Google Shape;694;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5" name="Google Shape;695;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6" name="Google Shape;696;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698" name="Shape 698"/>
        <p:cNvGrpSpPr/>
        <p:nvPr/>
      </p:nvGrpSpPr>
      <p:grpSpPr>
        <a:xfrm>
          <a:off x="0" y="0"/>
          <a:ext cx="0" cy="0"/>
          <a:chOff x="0" y="0"/>
          <a:chExt cx="0" cy="0"/>
        </a:xfrm>
      </p:grpSpPr>
      <p:sp>
        <p:nvSpPr>
          <p:cNvPr id="699" name="Google Shape;699;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0" name="Google Shape;700;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1" name="Google Shape;701;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2" name="Google Shape;702;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3" name="Google Shape;703;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4" name="Shape 704"/>
        <p:cNvGrpSpPr/>
        <p:nvPr/>
      </p:nvGrpSpPr>
      <p:grpSpPr>
        <a:xfrm>
          <a:off x="0" y="0"/>
          <a:ext cx="0" cy="0"/>
          <a:chOff x="0" y="0"/>
          <a:chExt cx="0" cy="0"/>
        </a:xfrm>
      </p:grpSpPr>
      <p:sp>
        <p:nvSpPr>
          <p:cNvPr id="705" name="Google Shape;705;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6" name="Google Shape;706;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7" name="Google Shape;707;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8" name="Google Shape;708;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9" name="Google Shape;709;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10" name="Shape 710"/>
        <p:cNvGrpSpPr/>
        <p:nvPr/>
      </p:nvGrpSpPr>
      <p:grpSpPr>
        <a:xfrm>
          <a:off x="0" y="0"/>
          <a:ext cx="0" cy="0"/>
          <a:chOff x="0" y="0"/>
          <a:chExt cx="0" cy="0"/>
        </a:xfrm>
      </p:grpSpPr>
      <p:sp>
        <p:nvSpPr>
          <p:cNvPr id="711" name="Google Shape;711;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2" name="Google Shape;712;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3" name="Google Shape;713;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4" name="Google Shape;714;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5" name="Google Shape;715;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6" name="Shape 716"/>
        <p:cNvGrpSpPr/>
        <p:nvPr/>
      </p:nvGrpSpPr>
      <p:grpSpPr>
        <a:xfrm>
          <a:off x="0" y="0"/>
          <a:ext cx="0" cy="0"/>
          <a:chOff x="0" y="0"/>
          <a:chExt cx="0" cy="0"/>
        </a:xfrm>
      </p:grpSpPr>
      <p:sp>
        <p:nvSpPr>
          <p:cNvPr id="717" name="Google Shape;717;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8" name="Google Shape;718;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9" name="Google Shape;719;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0" name="Google Shape;720;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1" name="Google Shape;721;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2" name="Shape 722"/>
        <p:cNvGrpSpPr/>
        <p:nvPr/>
      </p:nvGrpSpPr>
      <p:grpSpPr>
        <a:xfrm>
          <a:off x="0" y="0"/>
          <a:ext cx="0" cy="0"/>
          <a:chOff x="0" y="0"/>
          <a:chExt cx="0" cy="0"/>
        </a:xfrm>
      </p:grpSpPr>
      <p:sp>
        <p:nvSpPr>
          <p:cNvPr id="723" name="Google Shape;723;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4" name="Google Shape;724;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5" name="Google Shape;725;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6" name="Google Shape;726;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7" name="Google Shape;727;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28" name="Shape 728"/>
        <p:cNvGrpSpPr/>
        <p:nvPr/>
      </p:nvGrpSpPr>
      <p:grpSpPr>
        <a:xfrm>
          <a:off x="0" y="0"/>
          <a:ext cx="0" cy="0"/>
          <a:chOff x="0" y="0"/>
          <a:chExt cx="0" cy="0"/>
        </a:xfrm>
      </p:grpSpPr>
      <p:sp>
        <p:nvSpPr>
          <p:cNvPr id="729" name="Google Shape;729;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0" name="Google Shape;730;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1" name="Google Shape;731;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2" name="Google Shape;732;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3" name="Google Shape;733;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4" name="Shape 734"/>
        <p:cNvGrpSpPr/>
        <p:nvPr/>
      </p:nvGrpSpPr>
      <p:grpSpPr>
        <a:xfrm>
          <a:off x="0" y="0"/>
          <a:ext cx="0" cy="0"/>
          <a:chOff x="0" y="0"/>
          <a:chExt cx="0" cy="0"/>
        </a:xfrm>
      </p:grpSpPr>
      <p:sp>
        <p:nvSpPr>
          <p:cNvPr id="735" name="Google Shape;735;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6" name="Google Shape;736;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7" name="Google Shape;737;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8" name="Google Shape;738;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9" name="Google Shape;739;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40" name="Shape 740"/>
        <p:cNvGrpSpPr/>
        <p:nvPr/>
      </p:nvGrpSpPr>
      <p:grpSpPr>
        <a:xfrm>
          <a:off x="0" y="0"/>
          <a:ext cx="0" cy="0"/>
          <a:chOff x="0" y="0"/>
          <a:chExt cx="0" cy="0"/>
        </a:xfrm>
      </p:grpSpPr>
      <p:sp>
        <p:nvSpPr>
          <p:cNvPr id="741" name="Google Shape;741;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2" name="Google Shape;742;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3" name="Google Shape;743;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4" name="Google Shape;744;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5" name="Google Shape;745;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6" name="Shape 746"/>
        <p:cNvGrpSpPr/>
        <p:nvPr/>
      </p:nvGrpSpPr>
      <p:grpSpPr>
        <a:xfrm>
          <a:off x="0" y="0"/>
          <a:ext cx="0" cy="0"/>
          <a:chOff x="0" y="0"/>
          <a:chExt cx="0" cy="0"/>
        </a:xfrm>
      </p:grpSpPr>
      <p:sp>
        <p:nvSpPr>
          <p:cNvPr id="747" name="Google Shape;747;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8" name="Google Shape;748;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9" name="Google Shape;749;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0" name="Google Shape;750;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1" name="Google Shape;751;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2" name="Shape 752"/>
        <p:cNvGrpSpPr/>
        <p:nvPr/>
      </p:nvGrpSpPr>
      <p:grpSpPr>
        <a:xfrm>
          <a:off x="0" y="0"/>
          <a:ext cx="0" cy="0"/>
          <a:chOff x="0" y="0"/>
          <a:chExt cx="0" cy="0"/>
        </a:xfrm>
      </p:grpSpPr>
      <p:sp>
        <p:nvSpPr>
          <p:cNvPr id="753" name="Google Shape;753;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57" name="Google Shape;757;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58" name="Google Shape;758;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59" name="Google Shape;759;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60" name="Google Shape;760;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1" name="Google Shape;761;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3" name="Google Shape;763;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4" name="Google Shape;764;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5" name="Google Shape;765;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67" name="Google Shape;767;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68" name="Shape 768"/>
        <p:cNvGrpSpPr/>
        <p:nvPr/>
      </p:nvGrpSpPr>
      <p:grpSpPr>
        <a:xfrm>
          <a:off x="0" y="0"/>
          <a:ext cx="0" cy="0"/>
          <a:chOff x="0" y="0"/>
          <a:chExt cx="0" cy="0"/>
        </a:xfrm>
      </p:grpSpPr>
      <p:sp>
        <p:nvSpPr>
          <p:cNvPr id="769" name="Google Shape;769;p108"/>
          <p:cNvSpPr/>
          <p:nvPr>
            <p:ph idx="2" type="pic"/>
          </p:nvPr>
        </p:nvSpPr>
        <p:spPr>
          <a:xfrm>
            <a:off x="5923375" y="150"/>
            <a:ext cx="3220500" cy="5143500"/>
          </a:xfrm>
          <a:prstGeom prst="rect">
            <a:avLst/>
          </a:prstGeom>
          <a:noFill/>
          <a:ln>
            <a:noFill/>
          </a:ln>
        </p:spPr>
      </p:sp>
      <p:sp>
        <p:nvSpPr>
          <p:cNvPr id="770" name="Google Shape;770;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1" name="Google Shape;771;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2" name="Google Shape;772;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3" name="Shape 773"/>
        <p:cNvGrpSpPr/>
        <p:nvPr/>
      </p:nvGrpSpPr>
      <p:grpSpPr>
        <a:xfrm>
          <a:off x="0" y="0"/>
          <a:ext cx="0" cy="0"/>
          <a:chOff x="0" y="0"/>
          <a:chExt cx="0" cy="0"/>
        </a:xfrm>
      </p:grpSpPr>
      <p:sp>
        <p:nvSpPr>
          <p:cNvPr id="774" name="Google Shape;774;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5" name="Shape 775"/>
        <p:cNvGrpSpPr/>
        <p:nvPr/>
      </p:nvGrpSpPr>
      <p:grpSpPr>
        <a:xfrm>
          <a:off x="0" y="0"/>
          <a:ext cx="0" cy="0"/>
          <a:chOff x="0" y="0"/>
          <a:chExt cx="0" cy="0"/>
        </a:xfrm>
      </p:grpSpPr>
      <p:sp>
        <p:nvSpPr>
          <p:cNvPr id="776" name="Google Shape;776;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77" name="Shape 777"/>
        <p:cNvGrpSpPr/>
        <p:nvPr/>
      </p:nvGrpSpPr>
      <p:grpSpPr>
        <a:xfrm>
          <a:off x="0" y="0"/>
          <a:ext cx="0" cy="0"/>
          <a:chOff x="0" y="0"/>
          <a:chExt cx="0" cy="0"/>
        </a:xfrm>
      </p:grpSpPr>
      <p:sp>
        <p:nvSpPr>
          <p:cNvPr id="778" name="Google Shape;778;p111"/>
          <p:cNvSpPr/>
          <p:nvPr>
            <p:ph idx="2" type="pic"/>
          </p:nvPr>
        </p:nvSpPr>
        <p:spPr>
          <a:xfrm>
            <a:off x="5923375" y="150"/>
            <a:ext cx="3220500" cy="5143500"/>
          </a:xfrm>
          <a:prstGeom prst="rect">
            <a:avLst/>
          </a:prstGeom>
          <a:noFill/>
          <a:ln>
            <a:noFill/>
          </a:ln>
        </p:spPr>
      </p:sp>
      <p:sp>
        <p:nvSpPr>
          <p:cNvPr id="779" name="Google Shape;779;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0" name="Google Shape;780;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1" name="Google Shape;781;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2" name="Shape 782"/>
        <p:cNvGrpSpPr/>
        <p:nvPr/>
      </p:nvGrpSpPr>
      <p:grpSpPr>
        <a:xfrm>
          <a:off x="0" y="0"/>
          <a:ext cx="0" cy="0"/>
          <a:chOff x="0" y="0"/>
          <a:chExt cx="0" cy="0"/>
        </a:xfrm>
      </p:grpSpPr>
      <p:sp>
        <p:nvSpPr>
          <p:cNvPr id="783" name="Google Shape;783;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4" name="Google Shape;784;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5" name="Google Shape;785;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6" name="Google Shape;786;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787" name="Shape 787"/>
        <p:cNvGrpSpPr/>
        <p:nvPr/>
      </p:nvGrpSpPr>
      <p:grpSpPr>
        <a:xfrm>
          <a:off x="0" y="0"/>
          <a:ext cx="0" cy="0"/>
          <a:chOff x="0" y="0"/>
          <a:chExt cx="0" cy="0"/>
        </a:xfrm>
      </p:grpSpPr>
      <p:sp>
        <p:nvSpPr>
          <p:cNvPr id="788" name="Google Shape;788;p11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9" name="Google Shape;789;p11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0" name="Google Shape;790;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791" name="Google Shape;791;p113"/>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792" name="Shape 792"/>
        <p:cNvGrpSpPr/>
        <p:nvPr/>
      </p:nvGrpSpPr>
      <p:grpSpPr>
        <a:xfrm>
          <a:off x="0" y="0"/>
          <a:ext cx="0" cy="0"/>
          <a:chOff x="0" y="0"/>
          <a:chExt cx="0" cy="0"/>
        </a:xfrm>
      </p:grpSpPr>
      <p:sp>
        <p:nvSpPr>
          <p:cNvPr id="793" name="Google Shape;793;p11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4" name="Google Shape;794;p11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5" name="Google Shape;795;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796" name="Shape 796"/>
        <p:cNvGrpSpPr/>
        <p:nvPr/>
      </p:nvGrpSpPr>
      <p:grpSpPr>
        <a:xfrm>
          <a:off x="0" y="0"/>
          <a:ext cx="0" cy="0"/>
          <a:chOff x="0" y="0"/>
          <a:chExt cx="0" cy="0"/>
        </a:xfrm>
      </p:grpSpPr>
      <p:sp>
        <p:nvSpPr>
          <p:cNvPr id="797" name="Google Shape;797;p11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8" name="Google Shape;798;p11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9" name="Google Shape;799;p11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00" name="Google Shape;800;p11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01" name="Google Shape;801;p1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802" name="Shape 802"/>
        <p:cNvGrpSpPr/>
        <p:nvPr/>
      </p:nvGrpSpPr>
      <p:grpSpPr>
        <a:xfrm>
          <a:off x="0" y="0"/>
          <a:ext cx="0" cy="0"/>
          <a:chOff x="0" y="0"/>
          <a:chExt cx="0" cy="0"/>
        </a:xfrm>
      </p:grpSpPr>
      <p:cxnSp>
        <p:nvCxnSpPr>
          <p:cNvPr id="803" name="Google Shape;803;p11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4" name="Google Shape;804;p11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5" name="Google Shape;805;p11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6" name="Google Shape;806;p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807" name="Shape 807"/>
        <p:cNvGrpSpPr/>
        <p:nvPr/>
      </p:nvGrpSpPr>
      <p:grpSpPr>
        <a:xfrm>
          <a:off x="0" y="0"/>
          <a:ext cx="0" cy="0"/>
          <a:chOff x="0" y="0"/>
          <a:chExt cx="0" cy="0"/>
        </a:xfrm>
      </p:grpSpPr>
      <p:cxnSp>
        <p:nvCxnSpPr>
          <p:cNvPr id="808" name="Google Shape;808;p11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9" name="Google Shape;809;p11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0" name="Google Shape;810;p11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1" name="Google Shape;811;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812" name="Shape 812"/>
        <p:cNvGrpSpPr/>
        <p:nvPr/>
      </p:nvGrpSpPr>
      <p:grpSpPr>
        <a:xfrm>
          <a:off x="0" y="0"/>
          <a:ext cx="0" cy="0"/>
          <a:chOff x="0" y="0"/>
          <a:chExt cx="0" cy="0"/>
        </a:xfrm>
      </p:grpSpPr>
      <p:cxnSp>
        <p:nvCxnSpPr>
          <p:cNvPr id="813" name="Google Shape;813;p118"/>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4" name="Google Shape;814;p118"/>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5" name="Google Shape;815;p118"/>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6" name="Google Shape;816;p1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817" name="Shape 817"/>
        <p:cNvGrpSpPr/>
        <p:nvPr/>
      </p:nvGrpSpPr>
      <p:grpSpPr>
        <a:xfrm>
          <a:off x="0" y="0"/>
          <a:ext cx="0" cy="0"/>
          <a:chOff x="0" y="0"/>
          <a:chExt cx="0" cy="0"/>
        </a:xfrm>
      </p:grpSpPr>
      <p:sp>
        <p:nvSpPr>
          <p:cNvPr id="818" name="Google Shape;818;p119"/>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9" name="Google Shape;819;p119"/>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0" name="Google Shape;820;p11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1" name="Google Shape;821;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2" name="Google Shape;822;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823" name="Shape 823"/>
        <p:cNvGrpSpPr/>
        <p:nvPr/>
      </p:nvGrpSpPr>
      <p:grpSpPr>
        <a:xfrm>
          <a:off x="0" y="0"/>
          <a:ext cx="0" cy="0"/>
          <a:chOff x="0" y="0"/>
          <a:chExt cx="0" cy="0"/>
        </a:xfrm>
      </p:grpSpPr>
      <p:sp>
        <p:nvSpPr>
          <p:cNvPr id="824" name="Google Shape;824;p12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5" name="Google Shape;825;p12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6" name="Google Shape;826;p12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7" name="Google Shape;827;p12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828" name="Shape 828"/>
        <p:cNvGrpSpPr/>
        <p:nvPr/>
      </p:nvGrpSpPr>
      <p:grpSpPr>
        <a:xfrm>
          <a:off x="0" y="0"/>
          <a:ext cx="0" cy="0"/>
          <a:chOff x="0" y="0"/>
          <a:chExt cx="0" cy="0"/>
        </a:xfrm>
      </p:grpSpPr>
      <p:sp>
        <p:nvSpPr>
          <p:cNvPr id="829" name="Google Shape;829;p12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0" name="Google Shape;830;p12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1" name="Google Shape;831;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2" name="Google Shape;832;p12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833" name="Shape 833"/>
        <p:cNvGrpSpPr/>
        <p:nvPr/>
      </p:nvGrpSpPr>
      <p:grpSpPr>
        <a:xfrm>
          <a:off x="0" y="0"/>
          <a:ext cx="0" cy="0"/>
          <a:chOff x="0" y="0"/>
          <a:chExt cx="0" cy="0"/>
        </a:xfrm>
      </p:grpSpPr>
      <p:sp>
        <p:nvSpPr>
          <p:cNvPr id="834" name="Google Shape;834;p12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5" name="Google Shape;835;p12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6" name="Google Shape;836;p12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7" name="Google Shape;837;p12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838" name="Shape 838"/>
        <p:cNvGrpSpPr/>
        <p:nvPr/>
      </p:nvGrpSpPr>
      <p:grpSpPr>
        <a:xfrm>
          <a:off x="0" y="0"/>
          <a:ext cx="0" cy="0"/>
          <a:chOff x="0" y="0"/>
          <a:chExt cx="0" cy="0"/>
        </a:xfrm>
      </p:grpSpPr>
      <p:sp>
        <p:nvSpPr>
          <p:cNvPr id="839" name="Google Shape;839;p12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0" name="Google Shape;840;p12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1" name="Google Shape;841;p1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2" name="Google Shape;842;p12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843" name="Shape 843"/>
        <p:cNvGrpSpPr/>
        <p:nvPr/>
      </p:nvGrpSpPr>
      <p:grpSpPr>
        <a:xfrm>
          <a:off x="0" y="0"/>
          <a:ext cx="0" cy="0"/>
          <a:chOff x="0" y="0"/>
          <a:chExt cx="0" cy="0"/>
        </a:xfrm>
      </p:grpSpPr>
      <p:sp>
        <p:nvSpPr>
          <p:cNvPr id="844" name="Google Shape;844;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5" name="Google Shape;845;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6" name="Google Shape;846;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7" name="Google Shape;847;p12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848" name="Shape 848"/>
        <p:cNvGrpSpPr/>
        <p:nvPr/>
      </p:nvGrpSpPr>
      <p:grpSpPr>
        <a:xfrm>
          <a:off x="0" y="0"/>
          <a:ext cx="0" cy="0"/>
          <a:chOff x="0" y="0"/>
          <a:chExt cx="0" cy="0"/>
        </a:xfrm>
      </p:grpSpPr>
      <p:grpSp>
        <p:nvGrpSpPr>
          <p:cNvPr id="849" name="Google Shape;849;p125"/>
          <p:cNvGrpSpPr/>
          <p:nvPr/>
        </p:nvGrpSpPr>
        <p:grpSpPr>
          <a:xfrm>
            <a:off x="440125" y="1136875"/>
            <a:ext cx="776900" cy="486300"/>
            <a:chOff x="457200" y="1466425"/>
            <a:chExt cx="776900" cy="486300"/>
          </a:xfrm>
        </p:grpSpPr>
        <p:sp>
          <p:nvSpPr>
            <p:cNvPr id="850" name="Google Shape;850;p12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851" name="Google Shape;851;p12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2" name="Google Shape;852;p125"/>
          <p:cNvGrpSpPr/>
          <p:nvPr/>
        </p:nvGrpSpPr>
        <p:grpSpPr>
          <a:xfrm>
            <a:off x="440125" y="1791730"/>
            <a:ext cx="776900" cy="486300"/>
            <a:chOff x="457200" y="1466425"/>
            <a:chExt cx="776900" cy="486300"/>
          </a:xfrm>
        </p:grpSpPr>
        <p:sp>
          <p:nvSpPr>
            <p:cNvPr id="853" name="Google Shape;853;p12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854" name="Google Shape;854;p12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5" name="Google Shape;855;p125"/>
          <p:cNvGrpSpPr/>
          <p:nvPr/>
        </p:nvGrpSpPr>
        <p:grpSpPr>
          <a:xfrm>
            <a:off x="440125" y="2446585"/>
            <a:ext cx="776900" cy="486300"/>
            <a:chOff x="457200" y="1466425"/>
            <a:chExt cx="776900" cy="486300"/>
          </a:xfrm>
        </p:grpSpPr>
        <p:sp>
          <p:nvSpPr>
            <p:cNvPr id="856" name="Google Shape;856;p12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857" name="Google Shape;857;p12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8" name="Google Shape;858;p125"/>
          <p:cNvGrpSpPr/>
          <p:nvPr/>
        </p:nvGrpSpPr>
        <p:grpSpPr>
          <a:xfrm>
            <a:off x="440125" y="3101440"/>
            <a:ext cx="776900" cy="486300"/>
            <a:chOff x="457200" y="1466425"/>
            <a:chExt cx="776900" cy="486300"/>
          </a:xfrm>
        </p:grpSpPr>
        <p:sp>
          <p:nvSpPr>
            <p:cNvPr id="859" name="Google Shape;859;p12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860" name="Google Shape;860;p12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61" name="Google Shape;861;p125"/>
          <p:cNvGrpSpPr/>
          <p:nvPr/>
        </p:nvGrpSpPr>
        <p:grpSpPr>
          <a:xfrm>
            <a:off x="440125" y="3756295"/>
            <a:ext cx="776900" cy="486300"/>
            <a:chOff x="457200" y="1466425"/>
            <a:chExt cx="776900" cy="486300"/>
          </a:xfrm>
        </p:grpSpPr>
        <p:sp>
          <p:nvSpPr>
            <p:cNvPr id="862" name="Google Shape;862;p12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863" name="Google Shape;863;p12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64" name="Google Shape;864;p12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865" name="Google Shape;865;p12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6" name="Google Shape;866;p12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7" name="Google Shape;867;p12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8" name="Google Shape;868;p12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9" name="Google Shape;869;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0" name="Google Shape;870;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1" name="Google Shape;871;p125"/>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2" name="Google Shape;872;p125"/>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3" name="Google Shape;873;p125"/>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4" name="Google Shape;874;p125"/>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5" name="Google Shape;875;p125"/>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pSp>
        <p:nvGrpSpPr>
          <p:cNvPr id="876" name="Google Shape;876;p125"/>
          <p:cNvGrpSpPr/>
          <p:nvPr/>
        </p:nvGrpSpPr>
        <p:grpSpPr>
          <a:xfrm>
            <a:off x="440125" y="4413095"/>
            <a:ext cx="776900" cy="486300"/>
            <a:chOff x="457200" y="1466425"/>
            <a:chExt cx="776900" cy="486300"/>
          </a:xfrm>
        </p:grpSpPr>
        <p:sp>
          <p:nvSpPr>
            <p:cNvPr id="877" name="Google Shape;877;p125"/>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878" name="Google Shape;878;p125"/>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sp>
        <p:nvSpPr>
          <p:cNvPr id="879" name="Google Shape;879;p125"/>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80" name="Google Shape;880;p125"/>
          <p:cNvSpPr txBox="1"/>
          <p:nvPr>
            <p:ph idx="7" type="subTitle"/>
          </p:nvPr>
        </p:nvSpPr>
        <p:spPr>
          <a:xfrm>
            <a:off x="1354400" y="44169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881" name="Shape 881"/>
        <p:cNvGrpSpPr/>
        <p:nvPr/>
      </p:nvGrpSpPr>
      <p:grpSpPr>
        <a:xfrm>
          <a:off x="0" y="0"/>
          <a:ext cx="0" cy="0"/>
          <a:chOff x="0" y="0"/>
          <a:chExt cx="0" cy="0"/>
        </a:xfrm>
      </p:grpSpPr>
      <p:sp>
        <p:nvSpPr>
          <p:cNvPr id="882" name="Google Shape;882;p12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3" name="Google Shape;883;p12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4" name="Google Shape;884;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5" name="Google Shape;885;p12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886" name="Shape 886"/>
        <p:cNvGrpSpPr/>
        <p:nvPr/>
      </p:nvGrpSpPr>
      <p:grpSpPr>
        <a:xfrm>
          <a:off x="0" y="0"/>
          <a:ext cx="0" cy="0"/>
          <a:chOff x="0" y="0"/>
          <a:chExt cx="0" cy="0"/>
        </a:xfrm>
      </p:grpSpPr>
      <p:sp>
        <p:nvSpPr>
          <p:cNvPr id="887" name="Google Shape;887;p12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8" name="Google Shape;888;p12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9" name="Google Shape;889;p1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0" name="Google Shape;890;p12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891" name="Shape 891"/>
        <p:cNvGrpSpPr/>
        <p:nvPr/>
      </p:nvGrpSpPr>
      <p:grpSpPr>
        <a:xfrm>
          <a:off x="0" y="0"/>
          <a:ext cx="0" cy="0"/>
          <a:chOff x="0" y="0"/>
          <a:chExt cx="0" cy="0"/>
        </a:xfrm>
      </p:grpSpPr>
      <p:sp>
        <p:nvSpPr>
          <p:cNvPr id="892" name="Google Shape;892;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3" name="Google Shape;893;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4" name="Google Shape;894;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5" name="Google Shape;895;p12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896" name="Shape 896"/>
        <p:cNvGrpSpPr/>
        <p:nvPr/>
      </p:nvGrpSpPr>
      <p:grpSpPr>
        <a:xfrm>
          <a:off x="0" y="0"/>
          <a:ext cx="0" cy="0"/>
          <a:chOff x="0" y="0"/>
          <a:chExt cx="0" cy="0"/>
        </a:xfrm>
      </p:grpSpPr>
      <p:sp>
        <p:nvSpPr>
          <p:cNvPr id="897" name="Google Shape;897;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8" name="Google Shape;898;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9" name="Google Shape;899;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0" name="Google Shape;900;p12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901" name="Shape 901"/>
        <p:cNvGrpSpPr/>
        <p:nvPr/>
      </p:nvGrpSpPr>
      <p:grpSpPr>
        <a:xfrm>
          <a:off x="0" y="0"/>
          <a:ext cx="0" cy="0"/>
          <a:chOff x="0" y="0"/>
          <a:chExt cx="0" cy="0"/>
        </a:xfrm>
      </p:grpSpPr>
      <p:sp>
        <p:nvSpPr>
          <p:cNvPr id="902" name="Google Shape;902;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3" name="Google Shape;903;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4" name="Google Shape;904;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5" name="Google Shape;905;p13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906" name="Shape 906"/>
        <p:cNvGrpSpPr/>
        <p:nvPr/>
      </p:nvGrpSpPr>
      <p:grpSpPr>
        <a:xfrm>
          <a:off x="0" y="0"/>
          <a:ext cx="0" cy="0"/>
          <a:chOff x="0" y="0"/>
          <a:chExt cx="0" cy="0"/>
        </a:xfrm>
      </p:grpSpPr>
      <p:sp>
        <p:nvSpPr>
          <p:cNvPr id="907" name="Google Shape;907;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8" name="Google Shape;908;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9" name="Google Shape;909;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0" name="Google Shape;910;p13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911" name="Shape 911"/>
        <p:cNvGrpSpPr/>
        <p:nvPr/>
      </p:nvGrpSpPr>
      <p:grpSpPr>
        <a:xfrm>
          <a:off x="0" y="0"/>
          <a:ext cx="0" cy="0"/>
          <a:chOff x="0" y="0"/>
          <a:chExt cx="0" cy="0"/>
        </a:xfrm>
      </p:grpSpPr>
      <p:sp>
        <p:nvSpPr>
          <p:cNvPr id="912" name="Google Shape;912;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3" name="Google Shape;913;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4" name="Google Shape;914;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5" name="Google Shape;915;p13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916" name="Shape 916"/>
        <p:cNvGrpSpPr/>
        <p:nvPr/>
      </p:nvGrpSpPr>
      <p:grpSpPr>
        <a:xfrm>
          <a:off x="0" y="0"/>
          <a:ext cx="0" cy="0"/>
          <a:chOff x="0" y="0"/>
          <a:chExt cx="0" cy="0"/>
        </a:xfrm>
      </p:grpSpPr>
      <p:sp>
        <p:nvSpPr>
          <p:cNvPr id="917" name="Google Shape;917;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8" name="Google Shape;918;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9" name="Google Shape;919;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0" name="Google Shape;920;p13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921" name="Shape 921"/>
        <p:cNvGrpSpPr/>
        <p:nvPr/>
      </p:nvGrpSpPr>
      <p:grpSpPr>
        <a:xfrm>
          <a:off x="0" y="0"/>
          <a:ext cx="0" cy="0"/>
          <a:chOff x="0" y="0"/>
          <a:chExt cx="0" cy="0"/>
        </a:xfrm>
      </p:grpSpPr>
      <p:sp>
        <p:nvSpPr>
          <p:cNvPr id="922" name="Google Shape;922;p13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3" name="Google Shape;923;p13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4" name="Google Shape;924;p13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5" name="Google Shape;925;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6" name="Google Shape;926;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927" name="Shape 927"/>
        <p:cNvGrpSpPr/>
        <p:nvPr/>
      </p:nvGrpSpPr>
      <p:grpSpPr>
        <a:xfrm>
          <a:off x="0" y="0"/>
          <a:ext cx="0" cy="0"/>
          <a:chOff x="0" y="0"/>
          <a:chExt cx="0" cy="0"/>
        </a:xfrm>
      </p:grpSpPr>
      <p:sp>
        <p:nvSpPr>
          <p:cNvPr id="928" name="Google Shape;928;p13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9" name="Google Shape;929;p13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0" name="Google Shape;930;p13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1" name="Google Shape;931;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2" name="Google Shape;932;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933" name="Shape 933"/>
        <p:cNvGrpSpPr/>
        <p:nvPr/>
      </p:nvGrpSpPr>
      <p:grpSpPr>
        <a:xfrm>
          <a:off x="0" y="0"/>
          <a:ext cx="0" cy="0"/>
          <a:chOff x="0" y="0"/>
          <a:chExt cx="0" cy="0"/>
        </a:xfrm>
      </p:grpSpPr>
      <p:sp>
        <p:nvSpPr>
          <p:cNvPr id="934" name="Google Shape;934;p13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5" name="Google Shape;935;p13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6" name="Google Shape;936;p13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7" name="Google Shape;937;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8" name="Google Shape;938;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939" name="Shape 939"/>
        <p:cNvGrpSpPr/>
        <p:nvPr/>
      </p:nvGrpSpPr>
      <p:grpSpPr>
        <a:xfrm>
          <a:off x="0" y="0"/>
          <a:ext cx="0" cy="0"/>
          <a:chOff x="0" y="0"/>
          <a:chExt cx="0" cy="0"/>
        </a:xfrm>
      </p:grpSpPr>
      <p:cxnSp>
        <p:nvCxnSpPr>
          <p:cNvPr id="940" name="Google Shape;940;p13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941" name="Google Shape;941;p13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3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945" name="Google Shape;945;p13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946" name="Google Shape;946;p13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947" name="Google Shape;947;p137"/>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8" name="Google Shape;948;p137"/>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9" name="Google Shape;949;p137"/>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0" name="Google Shape;950;p13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1" name="Google Shape;951;p137"/>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2" name="Google Shape;952;p13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3" name="Google Shape;953;p13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954" name="Shape 954"/>
        <p:cNvGrpSpPr/>
        <p:nvPr/>
      </p:nvGrpSpPr>
      <p:grpSpPr>
        <a:xfrm>
          <a:off x="0" y="0"/>
          <a:ext cx="0" cy="0"/>
          <a:chOff x="0" y="0"/>
          <a:chExt cx="0" cy="0"/>
        </a:xfrm>
      </p:grpSpPr>
      <p:sp>
        <p:nvSpPr>
          <p:cNvPr id="955" name="Google Shape;955;p138"/>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56" name="Google Shape;956;p138"/>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57" name="Google Shape;957;p138"/>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8" name="Google Shape;958;p138"/>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9" name="Google Shape;959;p138"/>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60" name="Google Shape;960;p13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961" name="Google Shape;961;p138"/>
          <p:cNvGrpSpPr/>
          <p:nvPr/>
        </p:nvGrpSpPr>
        <p:grpSpPr>
          <a:xfrm>
            <a:off x="457147" y="1190428"/>
            <a:ext cx="533372" cy="533480"/>
            <a:chOff x="457200" y="1378813"/>
            <a:chExt cx="695400" cy="695450"/>
          </a:xfrm>
        </p:grpSpPr>
        <p:sp>
          <p:nvSpPr>
            <p:cNvPr id="962" name="Google Shape;962;p13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963" name="Google Shape;963;p13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4" name="Google Shape;964;p138"/>
          <p:cNvGrpSpPr/>
          <p:nvPr/>
        </p:nvGrpSpPr>
        <p:grpSpPr>
          <a:xfrm>
            <a:off x="4876797" y="1190428"/>
            <a:ext cx="533372" cy="533480"/>
            <a:chOff x="2605668" y="1378813"/>
            <a:chExt cx="695400" cy="695450"/>
          </a:xfrm>
        </p:grpSpPr>
        <p:sp>
          <p:nvSpPr>
            <p:cNvPr id="965" name="Google Shape;965;p138"/>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966" name="Google Shape;966;p138"/>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67" name="Google Shape;967;p138"/>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68" name="Google Shape;968;p138"/>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69" name="Google Shape;969;p13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970" name="Shape 970"/>
        <p:cNvGrpSpPr/>
        <p:nvPr/>
      </p:nvGrpSpPr>
      <p:grpSpPr>
        <a:xfrm>
          <a:off x="0" y="0"/>
          <a:ext cx="0" cy="0"/>
          <a:chOff x="0" y="0"/>
          <a:chExt cx="0" cy="0"/>
        </a:xfrm>
      </p:grpSpPr>
      <p:sp>
        <p:nvSpPr>
          <p:cNvPr id="971" name="Google Shape;971;p139"/>
          <p:cNvSpPr/>
          <p:nvPr>
            <p:ph idx="2" type="pic"/>
          </p:nvPr>
        </p:nvSpPr>
        <p:spPr>
          <a:xfrm>
            <a:off x="5923375" y="150"/>
            <a:ext cx="3220500" cy="5143500"/>
          </a:xfrm>
          <a:prstGeom prst="rect">
            <a:avLst/>
          </a:prstGeom>
          <a:noFill/>
          <a:ln>
            <a:noFill/>
          </a:ln>
        </p:spPr>
      </p:sp>
      <p:sp>
        <p:nvSpPr>
          <p:cNvPr id="972" name="Google Shape;972;p13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3" name="Google Shape;973;p13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4" name="Google Shape;974;p13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975" name="Shape 975"/>
        <p:cNvGrpSpPr/>
        <p:nvPr/>
      </p:nvGrpSpPr>
      <p:grpSpPr>
        <a:xfrm>
          <a:off x="0" y="0"/>
          <a:ext cx="0" cy="0"/>
          <a:chOff x="0" y="0"/>
          <a:chExt cx="0" cy="0"/>
        </a:xfrm>
      </p:grpSpPr>
      <p:sp>
        <p:nvSpPr>
          <p:cNvPr id="976" name="Google Shape;976;p140"/>
          <p:cNvSpPr/>
          <p:nvPr>
            <p:ph idx="2" type="pic"/>
          </p:nvPr>
        </p:nvSpPr>
        <p:spPr>
          <a:xfrm>
            <a:off x="5923375" y="150"/>
            <a:ext cx="3220500" cy="5143500"/>
          </a:xfrm>
          <a:prstGeom prst="rect">
            <a:avLst/>
          </a:prstGeom>
          <a:noFill/>
          <a:ln>
            <a:noFill/>
          </a:ln>
        </p:spPr>
      </p:sp>
      <p:sp>
        <p:nvSpPr>
          <p:cNvPr id="977" name="Google Shape;977;p14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8" name="Google Shape;978;p14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9" name="Google Shape;979;p14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980" name="Shape 980"/>
        <p:cNvGrpSpPr/>
        <p:nvPr/>
      </p:nvGrpSpPr>
      <p:grpSpPr>
        <a:xfrm>
          <a:off x="0" y="0"/>
          <a:ext cx="0" cy="0"/>
          <a:chOff x="0" y="0"/>
          <a:chExt cx="0" cy="0"/>
        </a:xfrm>
      </p:grpSpPr>
      <p:sp>
        <p:nvSpPr>
          <p:cNvPr id="981" name="Google Shape;981;p141"/>
          <p:cNvSpPr/>
          <p:nvPr>
            <p:ph idx="2" type="pic"/>
          </p:nvPr>
        </p:nvSpPr>
        <p:spPr>
          <a:xfrm>
            <a:off x="5923375" y="150"/>
            <a:ext cx="3220500" cy="5143500"/>
          </a:xfrm>
          <a:prstGeom prst="rect">
            <a:avLst/>
          </a:prstGeom>
          <a:noFill/>
          <a:ln>
            <a:noFill/>
          </a:ln>
        </p:spPr>
      </p:sp>
      <p:sp>
        <p:nvSpPr>
          <p:cNvPr id="982" name="Google Shape;982;p14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83" name="Google Shape;983;p14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4" name="Google Shape;984;p14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985" name="Shape 985"/>
        <p:cNvGrpSpPr/>
        <p:nvPr/>
      </p:nvGrpSpPr>
      <p:grpSpPr>
        <a:xfrm>
          <a:off x="0" y="0"/>
          <a:ext cx="0" cy="0"/>
          <a:chOff x="0" y="0"/>
          <a:chExt cx="0" cy="0"/>
        </a:xfrm>
      </p:grpSpPr>
      <p:sp>
        <p:nvSpPr>
          <p:cNvPr id="986" name="Google Shape;986;p142"/>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7" name="Google Shape;987;p142"/>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8" name="Google Shape;988;p142"/>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89" name="Google Shape;989;p142"/>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42"/>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1" name="Google Shape;991;p142"/>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2" name="Google Shape;992;p142"/>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93" name="Google Shape;993;p142"/>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94" name="Google Shape;994;p142"/>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95" name="Google Shape;995;p142"/>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96" name="Google Shape;996;p142"/>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7" name="Google Shape;997;p142"/>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998" name="Google Shape;998;p142"/>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999" name="Shape 999"/>
        <p:cNvGrpSpPr/>
        <p:nvPr/>
      </p:nvGrpSpPr>
      <p:grpSpPr>
        <a:xfrm>
          <a:off x="0" y="0"/>
          <a:ext cx="0" cy="0"/>
          <a:chOff x="0" y="0"/>
          <a:chExt cx="0" cy="0"/>
        </a:xfrm>
      </p:grpSpPr>
      <p:sp>
        <p:nvSpPr>
          <p:cNvPr id="1000" name="Google Shape;1000;p143"/>
          <p:cNvSpPr/>
          <p:nvPr>
            <p:ph idx="2" type="pic"/>
          </p:nvPr>
        </p:nvSpPr>
        <p:spPr>
          <a:xfrm>
            <a:off x="5923375" y="150"/>
            <a:ext cx="3220500" cy="5143500"/>
          </a:xfrm>
          <a:prstGeom prst="rect">
            <a:avLst/>
          </a:prstGeom>
          <a:noFill/>
          <a:ln>
            <a:noFill/>
          </a:ln>
        </p:spPr>
      </p:sp>
      <p:sp>
        <p:nvSpPr>
          <p:cNvPr id="1001" name="Google Shape;1001;p14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2" name="Google Shape;1002;p14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3" name="Google Shape;1003;p14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1004" name="Shape 1004"/>
        <p:cNvGrpSpPr/>
        <p:nvPr/>
      </p:nvGrpSpPr>
      <p:grpSpPr>
        <a:xfrm>
          <a:off x="0" y="0"/>
          <a:ext cx="0" cy="0"/>
          <a:chOff x="0" y="0"/>
          <a:chExt cx="0" cy="0"/>
        </a:xfrm>
      </p:grpSpPr>
      <p:sp>
        <p:nvSpPr>
          <p:cNvPr id="1005" name="Google Shape;1005;p144"/>
          <p:cNvSpPr/>
          <p:nvPr>
            <p:ph idx="2" type="pic"/>
          </p:nvPr>
        </p:nvSpPr>
        <p:spPr>
          <a:xfrm>
            <a:off x="5923375" y="150"/>
            <a:ext cx="3220500" cy="5143500"/>
          </a:xfrm>
          <a:prstGeom prst="rect">
            <a:avLst/>
          </a:prstGeom>
          <a:noFill/>
          <a:ln>
            <a:noFill/>
          </a:ln>
        </p:spPr>
      </p:sp>
      <p:sp>
        <p:nvSpPr>
          <p:cNvPr id="1006" name="Google Shape;1006;p14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7" name="Google Shape;1007;p14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8" name="Google Shape;1008;p14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009" name="Shape 1009"/>
        <p:cNvGrpSpPr/>
        <p:nvPr/>
      </p:nvGrpSpPr>
      <p:grpSpPr>
        <a:xfrm>
          <a:off x="0" y="0"/>
          <a:ext cx="0" cy="0"/>
          <a:chOff x="0" y="0"/>
          <a:chExt cx="0" cy="0"/>
        </a:xfrm>
      </p:grpSpPr>
      <p:sp>
        <p:nvSpPr>
          <p:cNvPr id="1010" name="Google Shape;1010;p145"/>
          <p:cNvSpPr/>
          <p:nvPr>
            <p:ph idx="2" type="pic"/>
          </p:nvPr>
        </p:nvSpPr>
        <p:spPr>
          <a:xfrm>
            <a:off x="5923375" y="150"/>
            <a:ext cx="3220500" cy="5143500"/>
          </a:xfrm>
          <a:prstGeom prst="rect">
            <a:avLst/>
          </a:prstGeom>
          <a:noFill/>
          <a:ln>
            <a:noFill/>
          </a:ln>
        </p:spPr>
      </p:sp>
      <p:sp>
        <p:nvSpPr>
          <p:cNvPr id="1011" name="Google Shape;1011;p14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2" name="Google Shape;1012;p145"/>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3" name="Google Shape;1013;p145"/>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014" name="Shape 1014"/>
        <p:cNvGrpSpPr/>
        <p:nvPr/>
      </p:nvGrpSpPr>
      <p:grpSpPr>
        <a:xfrm>
          <a:off x="0" y="0"/>
          <a:ext cx="0" cy="0"/>
          <a:chOff x="0" y="0"/>
          <a:chExt cx="0" cy="0"/>
        </a:xfrm>
      </p:grpSpPr>
      <p:sp>
        <p:nvSpPr>
          <p:cNvPr id="1015" name="Google Shape;1015;p14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6" name="Google Shape;1016;p14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17" name="Google Shape;1017;p14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8" name="Google Shape;1018;p14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019" name="Shape 1019"/>
        <p:cNvGrpSpPr/>
        <p:nvPr/>
      </p:nvGrpSpPr>
      <p:grpSpPr>
        <a:xfrm>
          <a:off x="0" y="0"/>
          <a:ext cx="0" cy="0"/>
          <a:chOff x="0" y="0"/>
          <a:chExt cx="0" cy="0"/>
        </a:xfrm>
      </p:grpSpPr>
      <p:sp>
        <p:nvSpPr>
          <p:cNvPr id="1020" name="Google Shape;1020;p147"/>
          <p:cNvSpPr/>
          <p:nvPr>
            <p:ph idx="2" type="pic"/>
          </p:nvPr>
        </p:nvSpPr>
        <p:spPr>
          <a:xfrm>
            <a:off x="5923375" y="150"/>
            <a:ext cx="3220500" cy="5143500"/>
          </a:xfrm>
          <a:prstGeom prst="rect">
            <a:avLst/>
          </a:prstGeom>
          <a:noFill/>
          <a:ln>
            <a:noFill/>
          </a:ln>
        </p:spPr>
      </p:sp>
      <p:sp>
        <p:nvSpPr>
          <p:cNvPr id="1021" name="Google Shape;1021;p14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2" name="Google Shape;1022;p14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3" name="Google Shape;1023;p14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024" name="Shape 1024"/>
        <p:cNvGrpSpPr/>
        <p:nvPr/>
      </p:nvGrpSpPr>
      <p:grpSpPr>
        <a:xfrm>
          <a:off x="0" y="0"/>
          <a:ext cx="0" cy="0"/>
          <a:chOff x="0" y="0"/>
          <a:chExt cx="0" cy="0"/>
        </a:xfrm>
      </p:grpSpPr>
      <p:sp>
        <p:nvSpPr>
          <p:cNvPr id="1025" name="Google Shape;1025;p148"/>
          <p:cNvSpPr/>
          <p:nvPr>
            <p:ph idx="2" type="pic"/>
          </p:nvPr>
        </p:nvSpPr>
        <p:spPr>
          <a:xfrm>
            <a:off x="5923375" y="150"/>
            <a:ext cx="3220500" cy="5143500"/>
          </a:xfrm>
          <a:prstGeom prst="rect">
            <a:avLst/>
          </a:prstGeom>
          <a:noFill/>
          <a:ln>
            <a:noFill/>
          </a:ln>
        </p:spPr>
      </p:sp>
      <p:sp>
        <p:nvSpPr>
          <p:cNvPr id="1026" name="Google Shape;1026;p14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7" name="Google Shape;1027;p14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8" name="Google Shape;1028;p14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029" name="Shape 1029"/>
        <p:cNvGrpSpPr/>
        <p:nvPr/>
      </p:nvGrpSpPr>
      <p:grpSpPr>
        <a:xfrm>
          <a:off x="0" y="0"/>
          <a:ext cx="0" cy="0"/>
          <a:chOff x="0" y="0"/>
          <a:chExt cx="0" cy="0"/>
        </a:xfrm>
      </p:grpSpPr>
      <p:grpSp>
        <p:nvGrpSpPr>
          <p:cNvPr id="1030" name="Google Shape;1030;p149"/>
          <p:cNvGrpSpPr/>
          <p:nvPr/>
        </p:nvGrpSpPr>
        <p:grpSpPr>
          <a:xfrm>
            <a:off x="440125" y="1136875"/>
            <a:ext cx="776900" cy="486300"/>
            <a:chOff x="457200" y="1466425"/>
            <a:chExt cx="776900" cy="486300"/>
          </a:xfrm>
        </p:grpSpPr>
        <p:sp>
          <p:nvSpPr>
            <p:cNvPr id="1031" name="Google Shape;1031;p14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032" name="Google Shape;1032;p14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3" name="Google Shape;1033;p149"/>
          <p:cNvGrpSpPr/>
          <p:nvPr/>
        </p:nvGrpSpPr>
        <p:grpSpPr>
          <a:xfrm>
            <a:off x="440125" y="1791730"/>
            <a:ext cx="776900" cy="486300"/>
            <a:chOff x="457200" y="1466425"/>
            <a:chExt cx="776900" cy="486300"/>
          </a:xfrm>
        </p:grpSpPr>
        <p:sp>
          <p:nvSpPr>
            <p:cNvPr id="1034" name="Google Shape;1034;p14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035" name="Google Shape;1035;p14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6" name="Google Shape;1036;p149"/>
          <p:cNvGrpSpPr/>
          <p:nvPr/>
        </p:nvGrpSpPr>
        <p:grpSpPr>
          <a:xfrm>
            <a:off x="440125" y="2446585"/>
            <a:ext cx="776900" cy="486300"/>
            <a:chOff x="457200" y="1466425"/>
            <a:chExt cx="776900" cy="486300"/>
          </a:xfrm>
        </p:grpSpPr>
        <p:sp>
          <p:nvSpPr>
            <p:cNvPr id="1037" name="Google Shape;1037;p14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038" name="Google Shape;1038;p14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9" name="Google Shape;1039;p149"/>
          <p:cNvGrpSpPr/>
          <p:nvPr/>
        </p:nvGrpSpPr>
        <p:grpSpPr>
          <a:xfrm>
            <a:off x="440125" y="3101440"/>
            <a:ext cx="776900" cy="486300"/>
            <a:chOff x="457200" y="1466425"/>
            <a:chExt cx="776900" cy="486300"/>
          </a:xfrm>
        </p:grpSpPr>
        <p:sp>
          <p:nvSpPr>
            <p:cNvPr id="1040" name="Google Shape;1040;p14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041" name="Google Shape;1041;p14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2" name="Google Shape;1042;p149"/>
          <p:cNvGrpSpPr/>
          <p:nvPr/>
        </p:nvGrpSpPr>
        <p:grpSpPr>
          <a:xfrm>
            <a:off x="440125" y="3756295"/>
            <a:ext cx="776900" cy="486300"/>
            <a:chOff x="457200" y="1466425"/>
            <a:chExt cx="776900" cy="486300"/>
          </a:xfrm>
        </p:grpSpPr>
        <p:sp>
          <p:nvSpPr>
            <p:cNvPr id="1043" name="Google Shape;1043;p149"/>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044" name="Google Shape;1044;p149"/>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045" name="Google Shape;1045;p149"/>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46" name="Google Shape;1046;p149"/>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7" name="Google Shape;1047;p149"/>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8" name="Google Shape;1048;p149"/>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9" name="Google Shape;1049;p149"/>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0" name="Google Shape;1050;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1" name="Google Shape;1051;p149"/>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2" name="Google Shape;1052;p149"/>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3" name="Google Shape;1053;p149"/>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4" name="Google Shape;1054;p149"/>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5" name="Google Shape;1055;p149"/>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6" name="Google Shape;1056;p149"/>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057" name="Shape 1057"/>
        <p:cNvGrpSpPr/>
        <p:nvPr/>
      </p:nvGrpSpPr>
      <p:grpSpPr>
        <a:xfrm>
          <a:off x="0" y="0"/>
          <a:ext cx="0" cy="0"/>
          <a:chOff x="0" y="0"/>
          <a:chExt cx="0" cy="0"/>
        </a:xfrm>
      </p:grpSpPr>
      <p:sp>
        <p:nvSpPr>
          <p:cNvPr id="1058" name="Google Shape;1058;p150"/>
          <p:cNvSpPr/>
          <p:nvPr>
            <p:ph idx="2" type="pic"/>
          </p:nvPr>
        </p:nvSpPr>
        <p:spPr>
          <a:xfrm>
            <a:off x="5923375" y="150"/>
            <a:ext cx="3220500" cy="5143500"/>
          </a:xfrm>
          <a:prstGeom prst="rect">
            <a:avLst/>
          </a:prstGeom>
          <a:noFill/>
          <a:ln>
            <a:noFill/>
          </a:ln>
        </p:spPr>
      </p:sp>
      <p:sp>
        <p:nvSpPr>
          <p:cNvPr id="1059" name="Google Shape;1059;p15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0" name="Google Shape;1060;p15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1" name="Google Shape;1061;p15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062" name="Shape 1062"/>
        <p:cNvGrpSpPr/>
        <p:nvPr/>
      </p:nvGrpSpPr>
      <p:grpSpPr>
        <a:xfrm>
          <a:off x="0" y="0"/>
          <a:ext cx="0" cy="0"/>
          <a:chOff x="0" y="0"/>
          <a:chExt cx="0" cy="0"/>
        </a:xfrm>
      </p:grpSpPr>
      <p:sp>
        <p:nvSpPr>
          <p:cNvPr id="1063" name="Google Shape;1063;p151"/>
          <p:cNvSpPr/>
          <p:nvPr>
            <p:ph idx="2" type="pic"/>
          </p:nvPr>
        </p:nvSpPr>
        <p:spPr>
          <a:xfrm>
            <a:off x="5923375" y="150"/>
            <a:ext cx="3220500" cy="5143500"/>
          </a:xfrm>
          <a:prstGeom prst="rect">
            <a:avLst/>
          </a:prstGeom>
          <a:noFill/>
          <a:ln>
            <a:noFill/>
          </a:ln>
        </p:spPr>
      </p:sp>
      <p:sp>
        <p:nvSpPr>
          <p:cNvPr id="1064" name="Google Shape;1064;p15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5" name="Google Shape;1065;p15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6" name="Google Shape;1066;p15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067" name="Shape 1067"/>
        <p:cNvGrpSpPr/>
        <p:nvPr/>
      </p:nvGrpSpPr>
      <p:grpSpPr>
        <a:xfrm>
          <a:off x="0" y="0"/>
          <a:ext cx="0" cy="0"/>
          <a:chOff x="0" y="0"/>
          <a:chExt cx="0" cy="0"/>
        </a:xfrm>
      </p:grpSpPr>
      <p:sp>
        <p:nvSpPr>
          <p:cNvPr id="1068" name="Google Shape;1068;p152"/>
          <p:cNvSpPr/>
          <p:nvPr>
            <p:ph idx="2" type="pic"/>
          </p:nvPr>
        </p:nvSpPr>
        <p:spPr>
          <a:xfrm>
            <a:off x="5923375" y="150"/>
            <a:ext cx="3220500" cy="5143500"/>
          </a:xfrm>
          <a:prstGeom prst="rect">
            <a:avLst/>
          </a:prstGeom>
          <a:noFill/>
          <a:ln>
            <a:noFill/>
          </a:ln>
        </p:spPr>
      </p:sp>
      <p:sp>
        <p:nvSpPr>
          <p:cNvPr id="1069" name="Google Shape;1069;p15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0" name="Google Shape;1070;p15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1" name="Google Shape;1071;p15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072" name="Shape 1072"/>
        <p:cNvGrpSpPr/>
        <p:nvPr/>
      </p:nvGrpSpPr>
      <p:grpSpPr>
        <a:xfrm>
          <a:off x="0" y="0"/>
          <a:ext cx="0" cy="0"/>
          <a:chOff x="0" y="0"/>
          <a:chExt cx="0" cy="0"/>
        </a:xfrm>
      </p:grpSpPr>
      <p:sp>
        <p:nvSpPr>
          <p:cNvPr id="1073" name="Google Shape;1073;p153"/>
          <p:cNvSpPr/>
          <p:nvPr>
            <p:ph idx="2" type="pic"/>
          </p:nvPr>
        </p:nvSpPr>
        <p:spPr>
          <a:xfrm>
            <a:off x="5923375" y="150"/>
            <a:ext cx="3220500" cy="5143500"/>
          </a:xfrm>
          <a:prstGeom prst="rect">
            <a:avLst/>
          </a:prstGeom>
          <a:noFill/>
          <a:ln>
            <a:noFill/>
          </a:ln>
        </p:spPr>
      </p:sp>
      <p:sp>
        <p:nvSpPr>
          <p:cNvPr id="1074" name="Google Shape;1074;p15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5" name="Google Shape;1075;p15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6" name="Google Shape;1076;p15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077" name="Shape 1077"/>
        <p:cNvGrpSpPr/>
        <p:nvPr/>
      </p:nvGrpSpPr>
      <p:grpSpPr>
        <a:xfrm>
          <a:off x="0" y="0"/>
          <a:ext cx="0" cy="0"/>
          <a:chOff x="0" y="0"/>
          <a:chExt cx="0" cy="0"/>
        </a:xfrm>
      </p:grpSpPr>
      <p:sp>
        <p:nvSpPr>
          <p:cNvPr id="1078" name="Google Shape;1078;p154"/>
          <p:cNvSpPr/>
          <p:nvPr>
            <p:ph idx="2" type="pic"/>
          </p:nvPr>
        </p:nvSpPr>
        <p:spPr>
          <a:xfrm>
            <a:off x="5923375" y="150"/>
            <a:ext cx="3220500" cy="5143500"/>
          </a:xfrm>
          <a:prstGeom prst="rect">
            <a:avLst/>
          </a:prstGeom>
          <a:noFill/>
          <a:ln>
            <a:noFill/>
          </a:ln>
        </p:spPr>
      </p:sp>
      <p:sp>
        <p:nvSpPr>
          <p:cNvPr id="1079" name="Google Shape;1079;p15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0" name="Google Shape;1080;p15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1" name="Google Shape;1081;p15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082" name="Shape 1082"/>
        <p:cNvGrpSpPr/>
        <p:nvPr/>
      </p:nvGrpSpPr>
      <p:grpSpPr>
        <a:xfrm>
          <a:off x="0" y="0"/>
          <a:ext cx="0" cy="0"/>
          <a:chOff x="0" y="0"/>
          <a:chExt cx="0" cy="0"/>
        </a:xfrm>
      </p:grpSpPr>
      <p:sp>
        <p:nvSpPr>
          <p:cNvPr id="1083" name="Google Shape;1083;p155"/>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4" name="Google Shape;1084;p155"/>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85" name="Google Shape;1085;p15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86" name="Google Shape;1086;p15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087" name="Shape 1087"/>
        <p:cNvGrpSpPr/>
        <p:nvPr/>
      </p:nvGrpSpPr>
      <p:grpSpPr>
        <a:xfrm>
          <a:off x="0" y="0"/>
          <a:ext cx="0" cy="0"/>
          <a:chOff x="0" y="0"/>
          <a:chExt cx="0" cy="0"/>
        </a:xfrm>
      </p:grpSpPr>
      <p:cxnSp>
        <p:nvCxnSpPr>
          <p:cNvPr id="1088" name="Google Shape;1088;p156"/>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089" name="Google Shape;1089;p156"/>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090" name="Google Shape;1090;p156"/>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091" name="Google Shape;1091;p156"/>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092" name="Google Shape;1092;p15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5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6"/>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96" name="Google Shape;1096;p156"/>
          <p:cNvSpPr txBox="1"/>
          <p:nvPr>
            <p:ph idx="1" type="subTitle"/>
          </p:nvPr>
        </p:nvSpPr>
        <p:spPr>
          <a:xfrm>
            <a:off x="1193900" y="1771650"/>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7" name="Google Shape;1097;p156"/>
          <p:cNvSpPr txBox="1"/>
          <p:nvPr>
            <p:ph idx="2" type="subTitle"/>
          </p:nvPr>
        </p:nvSpPr>
        <p:spPr>
          <a:xfrm>
            <a:off x="1193900" y="24174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8" name="Google Shape;1098;p156"/>
          <p:cNvSpPr txBox="1"/>
          <p:nvPr>
            <p:ph idx="3" type="subTitle"/>
          </p:nvPr>
        </p:nvSpPr>
        <p:spPr>
          <a:xfrm>
            <a:off x="1193900" y="30632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9" name="Google Shape;1099;p156"/>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0" name="Google Shape;1100;p156"/>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1" name="Google Shape;1101;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2" name="Google Shape;1102;p156"/>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6">
  <p:cSld name="CUSTOM_6_17">
    <p:spTree>
      <p:nvGrpSpPr>
        <p:cNvPr id="1103" name="Shape 1103"/>
        <p:cNvGrpSpPr/>
        <p:nvPr/>
      </p:nvGrpSpPr>
      <p:grpSpPr>
        <a:xfrm>
          <a:off x="0" y="0"/>
          <a:ext cx="0" cy="0"/>
          <a:chOff x="0" y="0"/>
          <a:chExt cx="0" cy="0"/>
        </a:xfrm>
      </p:grpSpPr>
      <p:sp>
        <p:nvSpPr>
          <p:cNvPr id="1104" name="Google Shape;1104;p157"/>
          <p:cNvSpPr/>
          <p:nvPr>
            <p:ph idx="2" type="pic"/>
          </p:nvPr>
        </p:nvSpPr>
        <p:spPr>
          <a:xfrm>
            <a:off x="5923375" y="150"/>
            <a:ext cx="3220500" cy="5143500"/>
          </a:xfrm>
          <a:prstGeom prst="rect">
            <a:avLst/>
          </a:prstGeom>
          <a:noFill/>
          <a:ln>
            <a:noFill/>
          </a:ln>
        </p:spPr>
      </p:sp>
      <p:sp>
        <p:nvSpPr>
          <p:cNvPr id="1105" name="Google Shape;1105;p157"/>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6" name="Google Shape;1106;p157"/>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7" name="Google Shape;1107;p157"/>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7">
  <p:cSld name="CUSTOM_6_18">
    <p:spTree>
      <p:nvGrpSpPr>
        <p:cNvPr id="1108" name="Shape 1108"/>
        <p:cNvGrpSpPr/>
        <p:nvPr/>
      </p:nvGrpSpPr>
      <p:grpSpPr>
        <a:xfrm>
          <a:off x="0" y="0"/>
          <a:ext cx="0" cy="0"/>
          <a:chOff x="0" y="0"/>
          <a:chExt cx="0" cy="0"/>
        </a:xfrm>
      </p:grpSpPr>
      <p:sp>
        <p:nvSpPr>
          <p:cNvPr id="1109" name="Google Shape;1109;p158"/>
          <p:cNvSpPr/>
          <p:nvPr>
            <p:ph idx="2" type="pic"/>
          </p:nvPr>
        </p:nvSpPr>
        <p:spPr>
          <a:xfrm>
            <a:off x="5923375" y="150"/>
            <a:ext cx="3220500" cy="5143500"/>
          </a:xfrm>
          <a:prstGeom prst="rect">
            <a:avLst/>
          </a:prstGeom>
          <a:noFill/>
          <a:ln>
            <a:noFill/>
          </a:ln>
        </p:spPr>
      </p:sp>
      <p:sp>
        <p:nvSpPr>
          <p:cNvPr id="1110" name="Google Shape;1110;p158"/>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1" name="Google Shape;1111;p158"/>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2" name="Google Shape;1112;p158"/>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8">
  <p:cSld name="CUSTOM_6_19">
    <p:spTree>
      <p:nvGrpSpPr>
        <p:cNvPr id="1113" name="Shape 1113"/>
        <p:cNvGrpSpPr/>
        <p:nvPr/>
      </p:nvGrpSpPr>
      <p:grpSpPr>
        <a:xfrm>
          <a:off x="0" y="0"/>
          <a:ext cx="0" cy="0"/>
          <a:chOff x="0" y="0"/>
          <a:chExt cx="0" cy="0"/>
        </a:xfrm>
      </p:grpSpPr>
      <p:sp>
        <p:nvSpPr>
          <p:cNvPr id="1114" name="Google Shape;1114;p159"/>
          <p:cNvSpPr/>
          <p:nvPr>
            <p:ph idx="2" type="pic"/>
          </p:nvPr>
        </p:nvSpPr>
        <p:spPr>
          <a:xfrm>
            <a:off x="5923375" y="150"/>
            <a:ext cx="3220500" cy="5143500"/>
          </a:xfrm>
          <a:prstGeom prst="rect">
            <a:avLst/>
          </a:prstGeom>
          <a:noFill/>
          <a:ln>
            <a:noFill/>
          </a:ln>
        </p:spPr>
      </p:sp>
      <p:sp>
        <p:nvSpPr>
          <p:cNvPr id="1115" name="Google Shape;1115;p159"/>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6" name="Google Shape;1116;p159"/>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7" name="Google Shape;1117;p159"/>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9">
  <p:cSld name="CUSTOM_6_20">
    <p:spTree>
      <p:nvGrpSpPr>
        <p:cNvPr id="1118" name="Shape 1118"/>
        <p:cNvGrpSpPr/>
        <p:nvPr/>
      </p:nvGrpSpPr>
      <p:grpSpPr>
        <a:xfrm>
          <a:off x="0" y="0"/>
          <a:ext cx="0" cy="0"/>
          <a:chOff x="0" y="0"/>
          <a:chExt cx="0" cy="0"/>
        </a:xfrm>
      </p:grpSpPr>
      <p:sp>
        <p:nvSpPr>
          <p:cNvPr id="1119" name="Google Shape;1119;p160"/>
          <p:cNvSpPr/>
          <p:nvPr>
            <p:ph idx="2" type="pic"/>
          </p:nvPr>
        </p:nvSpPr>
        <p:spPr>
          <a:xfrm>
            <a:off x="5923375" y="150"/>
            <a:ext cx="3220500" cy="5143500"/>
          </a:xfrm>
          <a:prstGeom prst="rect">
            <a:avLst/>
          </a:prstGeom>
          <a:noFill/>
          <a:ln>
            <a:noFill/>
          </a:ln>
        </p:spPr>
      </p:sp>
      <p:sp>
        <p:nvSpPr>
          <p:cNvPr id="1120" name="Google Shape;1120;p160"/>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21" name="Google Shape;1121;p160"/>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2" name="Google Shape;1122;p160"/>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Line Removed)">
  <p:cSld name="CUSTOM_2_7_2_2_1">
    <p:spTree>
      <p:nvGrpSpPr>
        <p:cNvPr id="1123" name="Shape 1123"/>
        <p:cNvGrpSpPr/>
        <p:nvPr/>
      </p:nvGrpSpPr>
      <p:grpSpPr>
        <a:xfrm>
          <a:off x="0" y="0"/>
          <a:ext cx="0" cy="0"/>
          <a:chOff x="0" y="0"/>
          <a:chExt cx="0" cy="0"/>
        </a:xfrm>
      </p:grpSpPr>
      <p:sp>
        <p:nvSpPr>
          <p:cNvPr id="1124" name="Google Shape;1124;p161"/>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5" name="Google Shape;1125;p1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6" name="Google Shape;1126;p1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1127" name="Google Shape;1127;p161"/>
          <p:cNvSpPr txBox="1"/>
          <p:nvPr>
            <p:ph idx="2" type="body"/>
          </p:nvPr>
        </p:nvSpPr>
        <p:spPr>
          <a:xfrm>
            <a:off x="175" y="1284250"/>
            <a:ext cx="9144000" cy="32628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69" Type="http://schemas.openxmlformats.org/officeDocument/2006/relationships/slideLayout" Target="../slideLayouts/slideLayout6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161" Type="http://schemas.openxmlformats.org/officeDocument/2006/relationships/theme" Target="../theme/theme1.xml"/><Relationship Id="rId54" Type="http://schemas.openxmlformats.org/officeDocument/2006/relationships/slideLayout" Target="../slideLayouts/slideLayout54.xml"/><Relationship Id="rId160" Type="http://schemas.openxmlformats.org/officeDocument/2006/relationships/slideLayout" Target="../slideLayouts/slideLayout160.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159" Type="http://schemas.openxmlformats.org/officeDocument/2006/relationships/slideLayout" Target="../slideLayouts/slideLayout159.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8" Type="http://schemas.openxmlformats.org/officeDocument/2006/relationships/slideLayout" Target="../slideLayouts/slideLayout158.xml"/><Relationship Id="rId157" Type="http://schemas.openxmlformats.org/officeDocument/2006/relationships/slideLayout" Target="../slideLayouts/slideLayout157.xml"/><Relationship Id="rId156" Type="http://schemas.openxmlformats.org/officeDocument/2006/relationships/slideLayout" Target="../slideLayouts/slideLayout156.xml"/><Relationship Id="rId155"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4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13.xml"/><Relationship Id="rId3" Type="http://schemas.openxmlformats.org/officeDocument/2006/relationships/image" Target="../media/image47.png"/><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4.xml"/><Relationship Id="rId3"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5.xml"/><Relationship Id="rId3" Type="http://schemas.openxmlformats.org/officeDocument/2006/relationships/image" Target="../media/image54.png"/><Relationship Id="rId4" Type="http://schemas.openxmlformats.org/officeDocument/2006/relationships/image" Target="../media/image51.png"/><Relationship Id="rId5" Type="http://schemas.openxmlformats.org/officeDocument/2006/relationships/image" Target="../media/image108.png"/><Relationship Id="rId6" Type="http://schemas.openxmlformats.org/officeDocument/2006/relationships/image" Target="../media/image48.png"/><Relationship Id="rId7" Type="http://schemas.openxmlformats.org/officeDocument/2006/relationships/image" Target="../media/image5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6.xml"/><Relationship Id="rId3" Type="http://schemas.openxmlformats.org/officeDocument/2006/relationships/image" Target="../media/image49.png"/><Relationship Id="rId4" Type="http://schemas.openxmlformats.org/officeDocument/2006/relationships/image" Target="../media/image76.png"/><Relationship Id="rId5" Type="http://schemas.openxmlformats.org/officeDocument/2006/relationships/image" Target="../media/image53.png"/><Relationship Id="rId6"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7.xml"/><Relationship Id="rId3" Type="http://schemas.openxmlformats.org/officeDocument/2006/relationships/image" Target="../media/image52.png"/><Relationship Id="rId4" Type="http://schemas.openxmlformats.org/officeDocument/2006/relationships/image" Target="../media/image61.png"/><Relationship Id="rId5" Type="http://schemas.openxmlformats.org/officeDocument/2006/relationships/image" Target="../media/image66.png"/><Relationship Id="rId6" Type="http://schemas.openxmlformats.org/officeDocument/2006/relationships/image" Target="../media/image6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8.xml"/><Relationship Id="rId3" Type="http://schemas.openxmlformats.org/officeDocument/2006/relationships/image" Target="../media/image65.png"/><Relationship Id="rId4" Type="http://schemas.openxmlformats.org/officeDocument/2006/relationships/image" Target="../media/image47.png"/><Relationship Id="rId9" Type="http://schemas.openxmlformats.org/officeDocument/2006/relationships/image" Target="../media/image67.png"/><Relationship Id="rId5" Type="http://schemas.openxmlformats.org/officeDocument/2006/relationships/image" Target="../media/image72.png"/><Relationship Id="rId6" Type="http://schemas.openxmlformats.org/officeDocument/2006/relationships/image" Target="../media/image60.png"/><Relationship Id="rId7" Type="http://schemas.openxmlformats.org/officeDocument/2006/relationships/image" Target="../media/image57.png"/><Relationship Id="rId8" Type="http://schemas.openxmlformats.org/officeDocument/2006/relationships/image" Target="../media/image6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19.xml"/><Relationship Id="rId3" Type="http://schemas.openxmlformats.org/officeDocument/2006/relationships/image" Target="../media/image76.png"/><Relationship Id="rId4" Type="http://schemas.openxmlformats.org/officeDocument/2006/relationships/image" Target="../media/image47.png"/><Relationship Id="rId5" Type="http://schemas.openxmlformats.org/officeDocument/2006/relationships/image" Target="../media/image81.png"/><Relationship Id="rId6" Type="http://schemas.openxmlformats.org/officeDocument/2006/relationships/image" Target="../media/image6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0.xml"/><Relationship Id="rId3" Type="http://schemas.openxmlformats.org/officeDocument/2006/relationships/image" Target="../media/image74.jpg"/><Relationship Id="rId4" Type="http://schemas.openxmlformats.org/officeDocument/2006/relationships/image" Target="../media/image68.png"/><Relationship Id="rId5" Type="http://schemas.openxmlformats.org/officeDocument/2006/relationships/image" Target="../media/image110.png"/><Relationship Id="rId6" Type="http://schemas.openxmlformats.org/officeDocument/2006/relationships/image" Target="../media/image73.png"/><Relationship Id="rId7" Type="http://schemas.openxmlformats.org/officeDocument/2006/relationships/image" Target="../media/image83.png"/><Relationship Id="rId8" Type="http://schemas.openxmlformats.org/officeDocument/2006/relationships/image" Target="../media/image7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1.xml"/><Relationship Id="rId3" Type="http://schemas.openxmlformats.org/officeDocument/2006/relationships/image" Target="../media/image47.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2.xml"/><Relationship Id="rId3" Type="http://schemas.openxmlformats.org/officeDocument/2006/relationships/image" Target="../media/image51.png"/><Relationship Id="rId4" Type="http://schemas.openxmlformats.org/officeDocument/2006/relationships/image" Target="../media/image108.png"/><Relationship Id="rId5" Type="http://schemas.openxmlformats.org/officeDocument/2006/relationships/image" Target="../media/image78.png"/><Relationship Id="rId6" Type="http://schemas.openxmlformats.org/officeDocument/2006/relationships/image" Target="../media/image59.png"/><Relationship Id="rId7" Type="http://schemas.openxmlformats.org/officeDocument/2006/relationships/image" Target="../media/image7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3.xml"/><Relationship Id="rId3" Type="http://schemas.openxmlformats.org/officeDocument/2006/relationships/image" Target="../media/image80.png"/><Relationship Id="rId4" Type="http://schemas.openxmlformats.org/officeDocument/2006/relationships/image" Target="../media/image82.png"/><Relationship Id="rId9" Type="http://schemas.openxmlformats.org/officeDocument/2006/relationships/image" Target="../media/image56.png"/><Relationship Id="rId5" Type="http://schemas.openxmlformats.org/officeDocument/2006/relationships/image" Target="../media/image79.png"/><Relationship Id="rId6" Type="http://schemas.openxmlformats.org/officeDocument/2006/relationships/image" Target="../media/image31.png"/><Relationship Id="rId7" Type="http://schemas.openxmlformats.org/officeDocument/2006/relationships/image" Target="../media/image76.png"/><Relationship Id="rId8" Type="http://schemas.openxmlformats.org/officeDocument/2006/relationships/image" Target="../media/image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4.xml"/><Relationship Id="rId3" Type="http://schemas.openxmlformats.org/officeDocument/2006/relationships/image" Target="../media/image47.png"/><Relationship Id="rId4" Type="http://schemas.openxmlformats.org/officeDocument/2006/relationships/image" Target="../media/image72.png"/><Relationship Id="rId5" Type="http://schemas.openxmlformats.org/officeDocument/2006/relationships/image" Target="../media/image60.png"/><Relationship Id="rId6" Type="http://schemas.openxmlformats.org/officeDocument/2006/relationships/image" Target="../media/image57.png"/><Relationship Id="rId7" Type="http://schemas.openxmlformats.org/officeDocument/2006/relationships/image" Target="../media/image69.png"/><Relationship Id="rId8" Type="http://schemas.openxmlformats.org/officeDocument/2006/relationships/image" Target="../media/image6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5.xml"/><Relationship Id="rId3" Type="http://schemas.openxmlformats.org/officeDocument/2006/relationships/image" Target="../media/image85.png"/><Relationship Id="rId4" Type="http://schemas.openxmlformats.org/officeDocument/2006/relationships/image" Target="../media/image57.png"/><Relationship Id="rId5" Type="http://schemas.openxmlformats.org/officeDocument/2006/relationships/image" Target="../media/image56.png"/><Relationship Id="rId6" Type="http://schemas.openxmlformats.org/officeDocument/2006/relationships/image" Target="../media/image1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6.xml"/><Relationship Id="rId3" Type="http://schemas.openxmlformats.org/officeDocument/2006/relationships/image" Target="../media/image61.png"/><Relationship Id="rId4" Type="http://schemas.openxmlformats.org/officeDocument/2006/relationships/image" Target="../media/image72.png"/><Relationship Id="rId5" Type="http://schemas.openxmlformats.org/officeDocument/2006/relationships/image" Target="../media/image96.png"/><Relationship Id="rId6" Type="http://schemas.openxmlformats.org/officeDocument/2006/relationships/image" Target="../media/image9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8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9.xml"/><Relationship Id="rId3" Type="http://schemas.openxmlformats.org/officeDocument/2006/relationships/image" Target="../media/image10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32.xml"/><Relationship Id="rId3" Type="http://schemas.openxmlformats.org/officeDocument/2006/relationships/image" Target="../media/image10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33.xml"/><Relationship Id="rId3" Type="http://schemas.openxmlformats.org/officeDocument/2006/relationships/image" Target="../media/image103.png"/><Relationship Id="rId4" Type="http://schemas.openxmlformats.org/officeDocument/2006/relationships/image" Target="../media/image89.png"/><Relationship Id="rId5" Type="http://schemas.openxmlformats.org/officeDocument/2006/relationships/image" Target="../media/image97.png"/><Relationship Id="rId6" Type="http://schemas.openxmlformats.org/officeDocument/2006/relationships/image" Target="../media/image8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4.xml"/><Relationship Id="rId3" Type="http://schemas.openxmlformats.org/officeDocument/2006/relationships/image" Target="../media/image9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37.xml"/><Relationship Id="rId3" Type="http://schemas.openxmlformats.org/officeDocument/2006/relationships/image" Target="../media/image10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8.xml"/><Relationship Id="rId3" Type="http://schemas.openxmlformats.org/officeDocument/2006/relationships/image" Target="../media/image112.jpg"/><Relationship Id="rId4" Type="http://schemas.openxmlformats.org/officeDocument/2006/relationships/image" Target="../media/image98.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9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0.xml"/><Relationship Id="rId3" Type="http://schemas.openxmlformats.org/officeDocument/2006/relationships/image" Target="../media/image102.png"/><Relationship Id="rId4" Type="http://schemas.openxmlformats.org/officeDocument/2006/relationships/image" Target="../media/image10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1.xml"/><Relationship Id="rId3" Type="http://schemas.openxmlformats.org/officeDocument/2006/relationships/image" Target="../media/image103.png"/><Relationship Id="rId4" Type="http://schemas.openxmlformats.org/officeDocument/2006/relationships/image" Target="../media/image10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44.xml"/><Relationship Id="rId3" Type="http://schemas.openxmlformats.org/officeDocument/2006/relationships/image" Target="../media/image10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6.xml"/><Relationship Id="rId3" Type="http://schemas.openxmlformats.org/officeDocument/2006/relationships/image" Target="../media/image9.png"/><Relationship Id="rId4" Type="http://schemas.openxmlformats.org/officeDocument/2006/relationships/image" Target="../media/image10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8.xml"/><Relationship Id="rId3"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2.xml"/><Relationship Id="rId3"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8.xml"/><Relationship Id="rId3" Type="http://schemas.openxmlformats.org/officeDocument/2006/relationships/image" Target="../media/image10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2.xml"/><Relationship Id="rId3"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5.xml"/><Relationship Id="rId3"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62"/>
          <p:cNvSpPr txBox="1"/>
          <p:nvPr>
            <p:ph type="title"/>
          </p:nvPr>
        </p:nvSpPr>
        <p:spPr>
          <a:xfrm>
            <a:off x="4489575" y="1828800"/>
            <a:ext cx="46713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Microservices and Web Application Architecture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33" name="Google Shape;1133;p162"/>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1134" name="Google Shape;1134;p162"/>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13.2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63"/>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1140" name="Google Shape;1140;p163"/>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By the end of today’s class, you will be able to:</a:t>
            </a:r>
            <a:endParaRPr/>
          </a:p>
          <a:p>
            <a:pPr indent="0" lvl="0" marL="0" rtl="0" algn="l">
              <a:spcBef>
                <a:spcPts val="1200"/>
              </a:spcBef>
              <a:spcAft>
                <a:spcPts val="0"/>
              </a:spcAft>
              <a:buNone/>
            </a:pPr>
            <a:r>
              <a:t/>
            </a:r>
            <a:endParaRPr/>
          </a:p>
        </p:txBody>
      </p:sp>
      <p:grpSp>
        <p:nvGrpSpPr>
          <p:cNvPr id="1141" name="Google Shape;1141;p163"/>
          <p:cNvGrpSpPr/>
          <p:nvPr/>
        </p:nvGrpSpPr>
        <p:grpSpPr>
          <a:xfrm>
            <a:off x="162900" y="173561"/>
            <a:ext cx="588600" cy="567300"/>
            <a:chOff x="914400" y="200161"/>
            <a:chExt cx="588600" cy="567300"/>
          </a:xfrm>
        </p:grpSpPr>
        <p:sp>
          <p:nvSpPr>
            <p:cNvPr id="1142" name="Google Shape;1142;p163"/>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143" name="Google Shape;1143;p163"/>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cxnSp>
        <p:nvCxnSpPr>
          <p:cNvPr id="1144" name="Google Shape;1144;p163"/>
          <p:cNvCxnSpPr/>
          <p:nvPr/>
        </p:nvCxnSpPr>
        <p:spPr>
          <a:xfrm>
            <a:off x="9750" y="968825"/>
            <a:ext cx="7291800" cy="0"/>
          </a:xfrm>
          <a:prstGeom prst="straightConnector1">
            <a:avLst/>
          </a:prstGeom>
          <a:noFill/>
          <a:ln cap="flat" cmpd="sng" w="19050">
            <a:solidFill>
              <a:schemeClr val="accent5"/>
            </a:solidFill>
            <a:prstDash val="solid"/>
            <a:round/>
            <a:headEnd len="med" w="med" type="none"/>
            <a:tailEnd len="med" w="med" type="oval"/>
          </a:ln>
        </p:spPr>
      </p:cxnSp>
      <p:grpSp>
        <p:nvGrpSpPr>
          <p:cNvPr id="1145" name="Google Shape;1145;p163"/>
          <p:cNvGrpSpPr/>
          <p:nvPr/>
        </p:nvGrpSpPr>
        <p:grpSpPr>
          <a:xfrm>
            <a:off x="322375" y="1489775"/>
            <a:ext cx="8133300" cy="610675"/>
            <a:chOff x="314850" y="1736201"/>
            <a:chExt cx="8133300" cy="610675"/>
          </a:xfrm>
        </p:grpSpPr>
        <p:sp>
          <p:nvSpPr>
            <p:cNvPr id="1146" name="Google Shape;1146;p163"/>
            <p:cNvSpPr/>
            <p:nvPr/>
          </p:nvSpPr>
          <p:spPr>
            <a:xfrm>
              <a:off x="391050" y="1779576"/>
              <a:ext cx="8057100" cy="567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47" name="Google Shape;1147;p163"/>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148" name="Google Shape;1148;p163"/>
            <p:cNvSpPr txBox="1"/>
            <p:nvPr/>
          </p:nvSpPr>
          <p:spPr>
            <a:xfrm>
              <a:off x="817950" y="1736201"/>
              <a:ext cx="7070400" cy="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Understand how microservices and architecture work to deliver more robust, reliable, and repeatable infrastructure as code.</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49" name="Google Shape;1149;p163"/>
          <p:cNvGrpSpPr/>
          <p:nvPr/>
        </p:nvGrpSpPr>
        <p:grpSpPr>
          <a:xfrm>
            <a:off x="322375" y="2743671"/>
            <a:ext cx="8133300" cy="448425"/>
            <a:chOff x="314850" y="1770875"/>
            <a:chExt cx="8133300" cy="448425"/>
          </a:xfrm>
        </p:grpSpPr>
        <p:sp>
          <p:nvSpPr>
            <p:cNvPr id="1150" name="Google Shape;1150;p163"/>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51" name="Google Shape;1151;p163"/>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1152" name="Google Shape;1152;p163"/>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Describe how relational databases store and retrieve data.</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53" name="Google Shape;1153;p163"/>
          <p:cNvGrpSpPr/>
          <p:nvPr/>
        </p:nvGrpSpPr>
        <p:grpSpPr>
          <a:xfrm>
            <a:off x="322375" y="2210271"/>
            <a:ext cx="8133300" cy="448425"/>
            <a:chOff x="314850" y="1770875"/>
            <a:chExt cx="8133300" cy="448425"/>
          </a:xfrm>
        </p:grpSpPr>
        <p:sp>
          <p:nvSpPr>
            <p:cNvPr id="1154" name="Google Shape;1154;p163"/>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55" name="Google Shape;1155;p163"/>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156" name="Google Shape;1156;p163"/>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Define the different services within a LEMP stack.</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57" name="Google Shape;1157;p163"/>
          <p:cNvGrpSpPr/>
          <p:nvPr/>
        </p:nvGrpSpPr>
        <p:grpSpPr>
          <a:xfrm>
            <a:off x="322375" y="3277071"/>
            <a:ext cx="8133300" cy="448429"/>
            <a:chOff x="314850" y="1770875"/>
            <a:chExt cx="8133300" cy="448429"/>
          </a:xfrm>
        </p:grpSpPr>
        <p:sp>
          <p:nvSpPr>
            <p:cNvPr id="1158" name="Google Shape;1158;p163"/>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59" name="Google Shape;1159;p163"/>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sp>
          <p:nvSpPr>
            <p:cNvPr id="1160" name="Google Shape;1160;p163"/>
            <p:cNvSpPr txBox="1"/>
            <p:nvPr/>
          </p:nvSpPr>
          <p:spPr>
            <a:xfrm>
              <a:off x="817950" y="1800204"/>
              <a:ext cx="5197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Create SQL queries to view, enter, and delete data.</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61" name="Google Shape;1161;p163"/>
          <p:cNvGrpSpPr/>
          <p:nvPr/>
        </p:nvGrpSpPr>
        <p:grpSpPr>
          <a:xfrm>
            <a:off x="322375" y="3810471"/>
            <a:ext cx="8133300" cy="448429"/>
            <a:chOff x="314850" y="1770875"/>
            <a:chExt cx="8133300" cy="448429"/>
          </a:xfrm>
        </p:grpSpPr>
        <p:sp>
          <p:nvSpPr>
            <p:cNvPr id="1162" name="Google Shape;1162;p163"/>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3" name="Google Shape;1163;p163"/>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5</a:t>
              </a:r>
              <a:endParaRPr sz="1800">
                <a:latin typeface="Roboto"/>
                <a:ea typeface="Roboto"/>
                <a:cs typeface="Roboto"/>
                <a:sym typeface="Roboto"/>
              </a:endParaRPr>
            </a:p>
          </p:txBody>
        </p:sp>
        <p:sp>
          <p:nvSpPr>
            <p:cNvPr id="1164" name="Google Shape;1164;p163"/>
            <p:cNvSpPr txBox="1"/>
            <p:nvPr/>
          </p:nvSpPr>
          <p:spPr>
            <a:xfrm>
              <a:off x="817950" y="1800204"/>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Use Github Copilot to create a front end.</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165"/>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Application </a:t>
            </a:r>
            <a:r>
              <a:rPr b="0" lang="en">
                <a:latin typeface="Roboto"/>
                <a:ea typeface="Roboto"/>
                <a:cs typeface="Roboto"/>
                <a:sym typeface="Roboto"/>
              </a:rPr>
              <a:t>Structure</a:t>
            </a:r>
            <a:endParaRPr b="0">
              <a:latin typeface="Roboto"/>
              <a:ea typeface="Roboto"/>
              <a:cs typeface="Roboto"/>
              <a:sym typeface="Roboto"/>
            </a:endParaRPr>
          </a:p>
        </p:txBody>
      </p:sp>
      <p:pic>
        <p:nvPicPr>
          <p:cNvPr id="1174" name="Google Shape;1174;p165"/>
          <p:cNvPicPr preferRelativeResize="0"/>
          <p:nvPr/>
        </p:nvPicPr>
        <p:blipFill rotWithShape="1">
          <a:blip r:embed="rId3">
            <a:alphaModFix/>
          </a:blip>
          <a:srcRect b="0" l="0" r="0" t="0"/>
          <a:stretch/>
        </p:blipFill>
        <p:spPr>
          <a:xfrm>
            <a:off x="3704113" y="1012200"/>
            <a:ext cx="1735777" cy="173577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166"/>
          <p:cNvSpPr/>
          <p:nvPr/>
        </p:nvSpPr>
        <p:spPr>
          <a:xfrm>
            <a:off x="1287175" y="11528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166"/>
          <p:cNvSpPr/>
          <p:nvPr/>
        </p:nvSpPr>
        <p:spPr>
          <a:xfrm>
            <a:off x="1287175" y="32098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66"/>
          <p:cNvSpPr/>
          <p:nvPr/>
        </p:nvSpPr>
        <p:spPr>
          <a:xfrm>
            <a:off x="1287175" y="2528213"/>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66"/>
          <p:cNvSpPr/>
          <p:nvPr/>
        </p:nvSpPr>
        <p:spPr>
          <a:xfrm>
            <a:off x="1287175" y="18279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83" name="Google Shape;1183;p166"/>
          <p:cNvGrpSpPr/>
          <p:nvPr/>
        </p:nvGrpSpPr>
        <p:grpSpPr>
          <a:xfrm>
            <a:off x="457200" y="1152829"/>
            <a:ext cx="776900" cy="459019"/>
            <a:chOff x="457200" y="1466425"/>
            <a:chExt cx="776900" cy="486300"/>
          </a:xfrm>
        </p:grpSpPr>
        <p:sp>
          <p:nvSpPr>
            <p:cNvPr id="1184" name="Google Shape;1184;p166"/>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185" name="Google Shape;1185;p166"/>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86" name="Google Shape;1186;p166"/>
          <p:cNvGrpSpPr/>
          <p:nvPr/>
        </p:nvGrpSpPr>
        <p:grpSpPr>
          <a:xfrm>
            <a:off x="457200" y="1807705"/>
            <a:ext cx="776900" cy="486300"/>
            <a:chOff x="457200" y="1466425"/>
            <a:chExt cx="776900" cy="486300"/>
          </a:xfrm>
        </p:grpSpPr>
        <p:sp>
          <p:nvSpPr>
            <p:cNvPr id="1187" name="Google Shape;1187;p166"/>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188" name="Google Shape;1188;p166"/>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89" name="Google Shape;1189;p166"/>
          <p:cNvGrpSpPr/>
          <p:nvPr/>
        </p:nvGrpSpPr>
        <p:grpSpPr>
          <a:xfrm>
            <a:off x="457200" y="2524561"/>
            <a:ext cx="776900" cy="437378"/>
            <a:chOff x="457200" y="1466425"/>
            <a:chExt cx="776900" cy="486300"/>
          </a:xfrm>
        </p:grpSpPr>
        <p:sp>
          <p:nvSpPr>
            <p:cNvPr id="1190" name="Google Shape;1190;p166"/>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1191" name="Google Shape;1191;p166"/>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92" name="Google Shape;1192;p166"/>
          <p:cNvGrpSpPr/>
          <p:nvPr/>
        </p:nvGrpSpPr>
        <p:grpSpPr>
          <a:xfrm>
            <a:off x="457200" y="3208029"/>
            <a:ext cx="776900" cy="459019"/>
            <a:chOff x="457200" y="1466425"/>
            <a:chExt cx="776900" cy="486300"/>
          </a:xfrm>
        </p:grpSpPr>
        <p:sp>
          <p:nvSpPr>
            <p:cNvPr id="1193" name="Google Shape;1193;p166"/>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1194" name="Google Shape;1194;p166"/>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195" name="Google Shape;1195;p166"/>
          <p:cNvSpPr txBox="1"/>
          <p:nvPr>
            <p:ph idx="4294967295" type="body"/>
          </p:nvPr>
        </p:nvSpPr>
        <p:spPr>
          <a:xfrm>
            <a:off x="1287250" y="1174200"/>
            <a:ext cx="7455900" cy="43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C</a:t>
            </a:r>
            <a:r>
              <a:rPr lang="en" sz="1700"/>
              <a:t>omponents that make up web architecture and their software "stacks"</a:t>
            </a:r>
            <a:endParaRPr sz="1700"/>
          </a:p>
        </p:txBody>
      </p:sp>
      <p:sp>
        <p:nvSpPr>
          <p:cNvPr id="1196" name="Google Shape;1196;p166"/>
          <p:cNvSpPr txBox="1"/>
          <p:nvPr>
            <p:ph idx="4294967295" type="body"/>
          </p:nvPr>
        </p:nvSpPr>
        <p:spPr>
          <a:xfrm>
            <a:off x="1287250" y="1849375"/>
            <a:ext cx="7399500" cy="43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How web application components can be deployed using containers</a:t>
            </a:r>
            <a:endParaRPr sz="1700"/>
          </a:p>
        </p:txBody>
      </p:sp>
      <p:sp>
        <p:nvSpPr>
          <p:cNvPr id="1197" name="Google Shape;1197;p166"/>
          <p:cNvSpPr txBox="1"/>
          <p:nvPr>
            <p:ph idx="4294967295" type="body"/>
          </p:nvPr>
        </p:nvSpPr>
        <p:spPr>
          <a:xfrm>
            <a:off x="1287250" y="2533200"/>
            <a:ext cx="7399500" cy="43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How databases work </a:t>
            </a:r>
            <a:r>
              <a:rPr lang="en" sz="1700"/>
              <a:t>to</a:t>
            </a:r>
            <a:r>
              <a:rPr lang="en" sz="1700"/>
              <a:t> understand how web apps store </a:t>
            </a:r>
            <a:r>
              <a:rPr lang="en" sz="1700"/>
              <a:t>and</a:t>
            </a:r>
            <a:r>
              <a:rPr lang="en" sz="1700"/>
              <a:t> transmit data</a:t>
            </a:r>
            <a:endParaRPr sz="1700"/>
          </a:p>
        </p:txBody>
      </p:sp>
      <p:sp>
        <p:nvSpPr>
          <p:cNvPr id="1198" name="Google Shape;1198;p166"/>
          <p:cNvSpPr txBox="1"/>
          <p:nvPr>
            <p:ph idx="4294967295" type="body"/>
          </p:nvPr>
        </p:nvSpPr>
        <p:spPr>
          <a:xfrm>
            <a:off x="1287250" y="3214900"/>
            <a:ext cx="7399500" cy="43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How AI can be used to create websites easily using GitHub Copilot</a:t>
            </a:r>
            <a:endParaRPr sz="1700"/>
          </a:p>
        </p:txBody>
      </p:sp>
      <p:sp>
        <p:nvSpPr>
          <p:cNvPr id="1199" name="Google Shape;1199;p166"/>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t>Application Structure</a:t>
            </a:r>
            <a:endParaRPr/>
          </a:p>
          <a:p>
            <a:pPr indent="0" lvl="0" marL="0" rtl="0" algn="l">
              <a:spcBef>
                <a:spcPts val="0"/>
              </a:spcBef>
              <a:spcAft>
                <a:spcPts val="0"/>
              </a:spcAft>
              <a:buNone/>
            </a:pPr>
            <a:r>
              <a:t/>
            </a:r>
            <a:endParaRPr/>
          </a:p>
          <a:p>
            <a:pPr indent="0" lvl="0" marL="0" rtl="0" algn="l">
              <a:lnSpc>
                <a:spcPct val="100000"/>
              </a:lnSpc>
              <a:spcBef>
                <a:spcPts val="0"/>
              </a:spcBef>
              <a:spcAft>
                <a:spcPts val="0"/>
              </a:spcAft>
              <a:buSzPts val="2600"/>
              <a:buNone/>
            </a:pPr>
            <a:r>
              <a:t/>
            </a:r>
            <a:endParaRPr/>
          </a:p>
        </p:txBody>
      </p:sp>
      <p:sp>
        <p:nvSpPr>
          <p:cNvPr id="1200" name="Google Shape;1200;p166"/>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Today, </a:t>
            </a:r>
            <a:r>
              <a:rPr lang="en"/>
              <a:t>we'll take a deeper look at the infrastructure behind web applications.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04" name="Shape 1204"/>
        <p:cNvGrpSpPr/>
        <p:nvPr/>
      </p:nvGrpSpPr>
      <p:grpSpPr>
        <a:xfrm>
          <a:off x="0" y="0"/>
          <a:ext cx="0" cy="0"/>
          <a:chOff x="0" y="0"/>
          <a:chExt cx="0" cy="0"/>
        </a:xfrm>
      </p:grpSpPr>
      <p:sp>
        <p:nvSpPr>
          <p:cNvPr id="1205" name="Google Shape;1205;p167"/>
          <p:cNvSpPr txBox="1"/>
          <p:nvPr>
            <p:ph idx="1" type="body"/>
          </p:nvPr>
        </p:nvSpPr>
        <p:spPr>
          <a:xfrm>
            <a:off x="4894675" y="1061875"/>
            <a:ext cx="3849300" cy="3111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t>Andrew, a developer, uses a browser to manage a public-facing application (the Employee Directory App), where he retrieves and updates different kinds of employee lists of his company. The app is set up so that Andrew can add, remove, and view employees. </a:t>
            </a:r>
            <a:endParaRPr sz="1500"/>
          </a:p>
          <a:p>
            <a:pPr indent="0" lvl="0" marL="0" rtl="0" algn="l">
              <a:spcBef>
                <a:spcPts val="1000"/>
              </a:spcBef>
              <a:spcAft>
                <a:spcPts val="0"/>
              </a:spcAft>
              <a:buNone/>
            </a:pPr>
            <a:r>
              <a:t/>
            </a:r>
            <a:endParaRPr sz="1500"/>
          </a:p>
          <a:p>
            <a:pPr indent="0" lvl="0" marL="0" rtl="0" algn="l">
              <a:spcBef>
                <a:spcPts val="1000"/>
              </a:spcBef>
              <a:spcAft>
                <a:spcPts val="0"/>
              </a:spcAft>
              <a:buNone/>
            </a:pPr>
            <a:r>
              <a:rPr lang="en" sz="1500"/>
              <a:t>This app needs the following </a:t>
            </a:r>
            <a:r>
              <a:rPr lang="en" sz="1500"/>
              <a:t>components</a:t>
            </a:r>
            <a:r>
              <a:rPr lang="en" sz="1500"/>
              <a:t> to function:</a:t>
            </a:r>
            <a:endParaRPr sz="1500"/>
          </a:p>
          <a:p>
            <a:pPr indent="-323850" lvl="0" marL="457200" rtl="0" algn="l">
              <a:lnSpc>
                <a:spcPct val="100000"/>
              </a:lnSpc>
              <a:spcBef>
                <a:spcPts val="1000"/>
              </a:spcBef>
              <a:spcAft>
                <a:spcPts val="0"/>
              </a:spcAft>
              <a:buSzPts val="1500"/>
              <a:buChar char="●"/>
            </a:pPr>
            <a:r>
              <a:rPr lang="en" sz="1500"/>
              <a:t>Front-end server</a:t>
            </a:r>
            <a:endParaRPr sz="1500"/>
          </a:p>
          <a:p>
            <a:pPr indent="-323850" lvl="0" marL="457200" rtl="0" algn="l">
              <a:lnSpc>
                <a:spcPct val="100000"/>
              </a:lnSpc>
              <a:spcBef>
                <a:spcPts val="0"/>
              </a:spcBef>
              <a:spcAft>
                <a:spcPts val="0"/>
              </a:spcAft>
              <a:buSzPts val="1500"/>
              <a:buChar char="●"/>
            </a:pPr>
            <a:r>
              <a:rPr lang="en" sz="1500"/>
              <a:t>Back-end server</a:t>
            </a:r>
            <a:endParaRPr sz="1500"/>
          </a:p>
          <a:p>
            <a:pPr indent="-323850" lvl="0" marL="457200" rtl="0" algn="l">
              <a:lnSpc>
                <a:spcPct val="100000"/>
              </a:lnSpc>
              <a:spcBef>
                <a:spcPts val="0"/>
              </a:spcBef>
              <a:spcAft>
                <a:spcPts val="0"/>
              </a:spcAft>
              <a:buSzPts val="1500"/>
              <a:buChar char="●"/>
            </a:pPr>
            <a:r>
              <a:rPr lang="en" sz="1500"/>
              <a:t>Database</a:t>
            </a:r>
            <a:endParaRPr sz="1500"/>
          </a:p>
        </p:txBody>
      </p:sp>
      <p:cxnSp>
        <p:nvCxnSpPr>
          <p:cNvPr id="1206" name="Google Shape;1206;p167"/>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1207" name="Google Shape;1207;p167"/>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 Scenario</a:t>
            </a:r>
            <a:endParaRPr b="1" sz="2600">
              <a:solidFill>
                <a:schemeClr val="accent5"/>
              </a:solidFill>
              <a:latin typeface="Roboto"/>
              <a:ea typeface="Roboto"/>
              <a:cs typeface="Roboto"/>
              <a:sym typeface="Roboto"/>
            </a:endParaRPr>
          </a:p>
        </p:txBody>
      </p:sp>
      <p:sp>
        <p:nvSpPr>
          <p:cNvPr id="1208" name="Google Shape;1208;p167"/>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67"/>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1210" name="Google Shape;1210;p167"/>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1211" name="Google Shape;1211;p167"/>
          <p:cNvPicPr preferRelativeResize="0"/>
          <p:nvPr/>
        </p:nvPicPr>
        <p:blipFill rotWithShape="1">
          <a:blip r:embed="rId4">
            <a:alphaModFix/>
          </a:blip>
          <a:srcRect b="11557" l="9130" r="14076" t="9228"/>
          <a:stretch/>
        </p:blipFill>
        <p:spPr>
          <a:xfrm>
            <a:off x="457200" y="1110200"/>
            <a:ext cx="3772559" cy="38912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68"/>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Application Structure</a:t>
            </a:r>
            <a:endParaRPr/>
          </a:p>
        </p:txBody>
      </p:sp>
      <p:sp>
        <p:nvSpPr>
          <p:cNvPr id="1217" name="Google Shape;1217;p168"/>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Components of a Typical Web App</a:t>
            </a:r>
            <a:endParaRPr/>
          </a:p>
        </p:txBody>
      </p:sp>
      <p:graphicFrame>
        <p:nvGraphicFramePr>
          <p:cNvPr id="1218" name="Google Shape;1218;p168"/>
          <p:cNvGraphicFramePr/>
          <p:nvPr/>
        </p:nvGraphicFramePr>
        <p:xfrm>
          <a:off x="219538" y="1277083"/>
          <a:ext cx="3000000" cy="3000000"/>
        </p:xfrm>
        <a:graphic>
          <a:graphicData uri="http://schemas.openxmlformats.org/drawingml/2006/table">
            <a:tbl>
              <a:tblPr>
                <a:noFill/>
                <a:tableStyleId>{7931EDE6-DDAE-46C1-97D5-4B7560CD6016}</a:tableStyleId>
              </a:tblPr>
              <a:tblGrid>
                <a:gridCol w="1691525"/>
                <a:gridCol w="7013400"/>
              </a:tblGrid>
              <a:tr h="601525">
                <a:tc>
                  <a:txBody>
                    <a:bodyPr/>
                    <a:lstStyle/>
                    <a:p>
                      <a:pPr indent="0" lvl="0" marL="0" rtl="0" algn="l">
                        <a:lnSpc>
                          <a:spcPct val="100000"/>
                        </a:lnSpc>
                        <a:spcBef>
                          <a:spcPts val="0"/>
                        </a:spcBef>
                        <a:spcAft>
                          <a:spcPts val="0"/>
                        </a:spcAft>
                        <a:buNone/>
                      </a:pPr>
                      <a:r>
                        <a:rPr lang="en" sz="1700">
                          <a:solidFill>
                            <a:srgbClr val="FFFFFF"/>
                          </a:solidFill>
                          <a:latin typeface="Roboto Medium"/>
                          <a:ea typeface="Roboto Medium"/>
                          <a:cs typeface="Roboto Medium"/>
                          <a:sym typeface="Roboto Medium"/>
                        </a:rPr>
                        <a:t>Front-end</a:t>
                      </a:r>
                      <a:br>
                        <a:rPr lang="en" sz="1700">
                          <a:solidFill>
                            <a:srgbClr val="FFFFFF"/>
                          </a:solidFill>
                          <a:latin typeface="Roboto Medium"/>
                          <a:ea typeface="Roboto Medium"/>
                          <a:cs typeface="Roboto Medium"/>
                          <a:sym typeface="Roboto Medium"/>
                        </a:rPr>
                      </a:br>
                      <a:r>
                        <a:rPr lang="en" sz="1700">
                          <a:solidFill>
                            <a:srgbClr val="FFFFFF"/>
                          </a:solidFill>
                          <a:latin typeface="Roboto Medium"/>
                          <a:ea typeface="Roboto Medium"/>
                          <a:cs typeface="Roboto Medium"/>
                          <a:sym typeface="Roboto Medium"/>
                        </a:rPr>
                        <a:t>server</a:t>
                      </a:r>
                      <a:endParaRPr sz="1700">
                        <a:solidFill>
                          <a:srgbClr val="FFFFFF"/>
                        </a:solidFill>
                        <a:latin typeface="Roboto Medium"/>
                        <a:ea typeface="Roboto Medium"/>
                        <a:cs typeface="Roboto Medium"/>
                        <a:sym typeface="Roboto Medium"/>
                      </a:endParaRPr>
                    </a:p>
                  </a:txBody>
                  <a:tcPr marT="137150" marB="13715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Responsible for displaying </a:t>
                      </a:r>
                      <a:r>
                        <a:rPr lang="en" sz="1800">
                          <a:solidFill>
                            <a:schemeClr val="dk2"/>
                          </a:solidFill>
                          <a:latin typeface="Roboto"/>
                          <a:ea typeface="Roboto"/>
                          <a:cs typeface="Roboto"/>
                          <a:sym typeface="Roboto"/>
                        </a:rPr>
                        <a:t>webpages</a:t>
                      </a:r>
                      <a:r>
                        <a:rPr lang="en" sz="1800">
                          <a:solidFill>
                            <a:schemeClr val="dk2"/>
                          </a:solidFill>
                          <a:latin typeface="Roboto"/>
                          <a:ea typeface="Roboto"/>
                          <a:cs typeface="Roboto"/>
                          <a:sym typeface="Roboto"/>
                        </a:rPr>
                        <a:t> and styling them in a readable format. This server also receives and responds to HTTP requests.</a:t>
                      </a:r>
                      <a:endParaRPr sz="1800">
                        <a:solidFill>
                          <a:schemeClr val="dk2"/>
                        </a:solidFill>
                        <a:latin typeface="Roboto"/>
                        <a:ea typeface="Roboto"/>
                        <a:cs typeface="Roboto"/>
                        <a:sym typeface="Roboto"/>
                      </a:endParaRPr>
                    </a:p>
                  </a:txBody>
                  <a:tcPr marT="137150" marB="137150" marR="182875" marL="18287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664100">
                <a:tc>
                  <a:txBody>
                    <a:bodyPr/>
                    <a:lstStyle/>
                    <a:p>
                      <a:pPr indent="0" lvl="0" marL="0" rtl="0" algn="l">
                        <a:lnSpc>
                          <a:spcPct val="100000"/>
                        </a:lnSpc>
                        <a:spcBef>
                          <a:spcPts val="0"/>
                        </a:spcBef>
                        <a:spcAft>
                          <a:spcPts val="0"/>
                        </a:spcAft>
                        <a:buNone/>
                      </a:pPr>
                      <a:r>
                        <a:rPr lang="en" sz="1700">
                          <a:solidFill>
                            <a:srgbClr val="FFFFFF"/>
                          </a:solidFill>
                          <a:latin typeface="Roboto Medium"/>
                          <a:ea typeface="Roboto Medium"/>
                          <a:cs typeface="Roboto Medium"/>
                          <a:sym typeface="Roboto Medium"/>
                        </a:rPr>
                        <a:t>Back-end</a:t>
                      </a:r>
                      <a:br>
                        <a:rPr lang="en" sz="1700">
                          <a:solidFill>
                            <a:srgbClr val="FFFFFF"/>
                          </a:solidFill>
                          <a:latin typeface="Roboto Medium"/>
                          <a:ea typeface="Roboto Medium"/>
                          <a:cs typeface="Roboto Medium"/>
                          <a:sym typeface="Roboto Medium"/>
                        </a:rPr>
                      </a:br>
                      <a:r>
                        <a:rPr lang="en" sz="1700">
                          <a:solidFill>
                            <a:srgbClr val="FFFFFF"/>
                          </a:solidFill>
                          <a:latin typeface="Roboto Medium"/>
                          <a:ea typeface="Roboto Medium"/>
                          <a:cs typeface="Roboto Medium"/>
                          <a:sym typeface="Roboto Medium"/>
                        </a:rPr>
                        <a:t>server</a:t>
                      </a:r>
                      <a:endParaRPr sz="1700">
                        <a:solidFill>
                          <a:srgbClr val="FFFFFF"/>
                        </a:solidFill>
                        <a:latin typeface="Roboto Medium"/>
                        <a:ea typeface="Roboto Medium"/>
                        <a:cs typeface="Roboto Medium"/>
                        <a:sym typeface="Roboto Medium"/>
                      </a:endParaRPr>
                    </a:p>
                  </a:txBody>
                  <a:tcPr marT="137150" marB="13715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800">
                          <a:solidFill>
                            <a:schemeClr val="dk2"/>
                          </a:solidFill>
                          <a:latin typeface="Roboto"/>
                          <a:ea typeface="Roboto"/>
                          <a:cs typeface="Roboto"/>
                          <a:sym typeface="Roboto"/>
                        </a:rPr>
                        <a:t>Executes business logic and writing or reading corresponding data to and from a database. The back-end server knows how to interact with the database depending on the specific request received.</a:t>
                      </a:r>
                      <a:endParaRPr sz="1800">
                        <a:solidFill>
                          <a:schemeClr val="dk2"/>
                        </a:solidFill>
                        <a:latin typeface="Roboto"/>
                        <a:ea typeface="Roboto"/>
                        <a:cs typeface="Roboto"/>
                        <a:sym typeface="Roboto"/>
                      </a:endParaRPr>
                    </a:p>
                  </a:txBody>
                  <a:tcPr marT="137150" marB="137150" marR="182875" marL="18287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621875">
                <a:tc>
                  <a:txBody>
                    <a:bodyPr/>
                    <a:lstStyle/>
                    <a:p>
                      <a:pPr indent="0" lvl="0" marL="0" rtl="0" algn="l">
                        <a:lnSpc>
                          <a:spcPct val="100000"/>
                        </a:lnSpc>
                        <a:spcBef>
                          <a:spcPts val="0"/>
                        </a:spcBef>
                        <a:spcAft>
                          <a:spcPts val="0"/>
                        </a:spcAft>
                        <a:buNone/>
                      </a:pPr>
                      <a:r>
                        <a:rPr lang="en" sz="1700">
                          <a:solidFill>
                            <a:srgbClr val="FFFFFF"/>
                          </a:solidFill>
                          <a:latin typeface="Roboto Medium"/>
                          <a:ea typeface="Roboto Medium"/>
                          <a:cs typeface="Roboto Medium"/>
                          <a:sym typeface="Roboto Medium"/>
                        </a:rPr>
                        <a:t>Database</a:t>
                      </a:r>
                      <a:endParaRPr sz="1700">
                        <a:solidFill>
                          <a:srgbClr val="FFFFFF"/>
                        </a:solidFill>
                        <a:latin typeface="Roboto Medium"/>
                        <a:ea typeface="Roboto Medium"/>
                        <a:cs typeface="Roboto Medium"/>
                        <a:sym typeface="Roboto Medium"/>
                      </a:endParaRPr>
                    </a:p>
                  </a:txBody>
                  <a:tcPr marT="137150" marB="13715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800">
                          <a:solidFill>
                            <a:schemeClr val="dk2"/>
                          </a:solidFill>
                          <a:latin typeface="Roboto"/>
                          <a:ea typeface="Roboto"/>
                          <a:cs typeface="Roboto"/>
                          <a:sym typeface="Roboto"/>
                        </a:rPr>
                        <a:t>Stores information on employees, such as their employee IDs and names. Critical and sensitive information is found in databases.</a:t>
                      </a:r>
                      <a:endParaRPr sz="1800">
                        <a:solidFill>
                          <a:schemeClr val="dk2"/>
                        </a:solidFill>
                        <a:latin typeface="Roboto"/>
                        <a:ea typeface="Roboto"/>
                        <a:cs typeface="Roboto"/>
                        <a:sym typeface="Roboto"/>
                      </a:endParaRPr>
                    </a:p>
                  </a:txBody>
                  <a:tcPr marT="137150"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pic>
        <p:nvPicPr>
          <p:cNvPr id="1219" name="Google Shape;1219;p168"/>
          <p:cNvPicPr preferRelativeResize="0"/>
          <p:nvPr/>
        </p:nvPicPr>
        <p:blipFill rotWithShape="1">
          <a:blip r:embed="rId3">
            <a:alphaModFix/>
          </a:blip>
          <a:srcRect b="0" l="0" r="0" t="0"/>
          <a:stretch/>
        </p:blipFill>
        <p:spPr>
          <a:xfrm>
            <a:off x="172800" y="172800"/>
            <a:ext cx="568801" cy="568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3" name="Shape 1223"/>
        <p:cNvGrpSpPr/>
        <p:nvPr/>
      </p:nvGrpSpPr>
      <p:grpSpPr>
        <a:xfrm>
          <a:off x="0" y="0"/>
          <a:ext cx="0" cy="0"/>
          <a:chOff x="0" y="0"/>
          <a:chExt cx="0" cy="0"/>
        </a:xfrm>
      </p:grpSpPr>
      <p:sp>
        <p:nvSpPr>
          <p:cNvPr id="1224" name="Google Shape;1224;p169"/>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ctr">
              <a:spcBef>
                <a:spcPts val="0"/>
              </a:spcBef>
              <a:spcAft>
                <a:spcPts val="0"/>
              </a:spcAft>
              <a:buNone/>
            </a:pPr>
            <a:r>
              <a:t/>
            </a:r>
            <a:endParaRPr sz="600"/>
          </a:p>
        </p:txBody>
      </p:sp>
      <p:sp>
        <p:nvSpPr>
          <p:cNvPr id="1225" name="Google Shape;1225;p169"/>
          <p:cNvSpPr txBox="1"/>
          <p:nvPr>
            <p:ph idx="1" type="body"/>
          </p:nvPr>
        </p:nvSpPr>
        <p:spPr>
          <a:xfrm>
            <a:off x="319850" y="507200"/>
            <a:ext cx="8367000" cy="364800"/>
          </a:xfrm>
          <a:prstGeom prst="rect">
            <a:avLst/>
          </a:prstGeom>
          <a:noFill/>
        </p:spPr>
        <p:txBody>
          <a:bodyPr anchorCtr="0" anchor="t" bIns="91425" lIns="0" spcFirstLastPara="1" rIns="91425" wrap="square" tIns="0">
            <a:noAutofit/>
          </a:bodyPr>
          <a:lstStyle/>
          <a:p>
            <a:pPr indent="0" lvl="0" marL="0" rtl="0" algn="l">
              <a:lnSpc>
                <a:spcPct val="105000"/>
              </a:lnSpc>
              <a:spcBef>
                <a:spcPts val="0"/>
              </a:spcBef>
              <a:spcAft>
                <a:spcPts val="0"/>
              </a:spcAft>
              <a:buSzPts val="275"/>
              <a:buNone/>
            </a:pPr>
            <a:r>
              <a:rPr lang="en"/>
              <a:t>Now that we know the main components of a web application, we want to know what happens behind the scenes when a user interacts with a web application, or more specifically, makes an </a:t>
            </a:r>
            <a:r>
              <a:rPr b="1" lang="en"/>
              <a:t>HTTP request </a:t>
            </a:r>
            <a:r>
              <a:rPr lang="en"/>
              <a:t>to the server.</a:t>
            </a:r>
            <a:endParaRPr/>
          </a:p>
        </p:txBody>
      </p:sp>
      <p:grpSp>
        <p:nvGrpSpPr>
          <p:cNvPr id="1226" name="Google Shape;1226;p169"/>
          <p:cNvGrpSpPr/>
          <p:nvPr/>
        </p:nvGrpSpPr>
        <p:grpSpPr>
          <a:xfrm>
            <a:off x="2155709" y="2381976"/>
            <a:ext cx="4832589" cy="853889"/>
            <a:chOff x="2397900" y="2099275"/>
            <a:chExt cx="4348200" cy="768300"/>
          </a:xfrm>
        </p:grpSpPr>
        <p:sp>
          <p:nvSpPr>
            <p:cNvPr id="1227" name="Google Shape;1227;p169"/>
            <p:cNvSpPr/>
            <p:nvPr/>
          </p:nvSpPr>
          <p:spPr>
            <a:xfrm>
              <a:off x="2397900" y="2099275"/>
              <a:ext cx="4348200" cy="768300"/>
            </a:xfrm>
            <a:prstGeom prst="roundRect">
              <a:avLst>
                <a:gd fmla="val 50000"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800">
                  <a:solidFill>
                    <a:schemeClr val="dk2"/>
                  </a:solidFill>
                  <a:latin typeface="Roboto"/>
                  <a:ea typeface="Roboto"/>
                  <a:cs typeface="Roboto"/>
                  <a:sym typeface="Roboto"/>
                </a:rPr>
                <a:t>https://www</a:t>
              </a:r>
              <a:endParaRPr sz="2800">
                <a:solidFill>
                  <a:schemeClr val="dk2"/>
                </a:solidFill>
                <a:latin typeface="Roboto"/>
                <a:ea typeface="Roboto"/>
                <a:cs typeface="Roboto"/>
                <a:sym typeface="Roboto"/>
              </a:endParaRPr>
            </a:p>
          </p:txBody>
        </p:sp>
        <p:sp>
          <p:nvSpPr>
            <p:cNvPr id="1228" name="Google Shape;1228;p169"/>
            <p:cNvSpPr/>
            <p:nvPr/>
          </p:nvSpPr>
          <p:spPr>
            <a:xfrm>
              <a:off x="5989200" y="2240700"/>
              <a:ext cx="499457" cy="485430"/>
            </a:xfrm>
            <a:custGeom>
              <a:rect b="b" l="l" r="r" t="t"/>
              <a:pathLst>
                <a:path extrusionOk="0" h="206566" w="212535">
                  <a:moveTo>
                    <a:pt x="82551" y="7650"/>
                  </a:moveTo>
                  <a:cubicBezTo>
                    <a:pt x="110475" y="7650"/>
                    <a:pt x="135569" y="24481"/>
                    <a:pt x="146204" y="50187"/>
                  </a:cubicBezTo>
                  <a:cubicBezTo>
                    <a:pt x="156914" y="75969"/>
                    <a:pt x="151023" y="105577"/>
                    <a:pt x="131285" y="125316"/>
                  </a:cubicBezTo>
                  <a:cubicBezTo>
                    <a:pt x="118094" y="138507"/>
                    <a:pt x="100495" y="145514"/>
                    <a:pt x="82576" y="145514"/>
                  </a:cubicBezTo>
                  <a:cubicBezTo>
                    <a:pt x="73681" y="145514"/>
                    <a:pt x="64708" y="143787"/>
                    <a:pt x="56156" y="140235"/>
                  </a:cubicBezTo>
                  <a:cubicBezTo>
                    <a:pt x="30450" y="129600"/>
                    <a:pt x="13619" y="104506"/>
                    <a:pt x="13619" y="76582"/>
                  </a:cubicBezTo>
                  <a:cubicBezTo>
                    <a:pt x="13619" y="38558"/>
                    <a:pt x="44527" y="7650"/>
                    <a:pt x="82551" y="7650"/>
                  </a:cubicBezTo>
                  <a:close/>
                  <a:moveTo>
                    <a:pt x="82572" y="1"/>
                  </a:moveTo>
                  <a:cubicBezTo>
                    <a:pt x="71481" y="1"/>
                    <a:pt x="60269" y="2412"/>
                    <a:pt x="49729" y="7420"/>
                  </a:cubicBezTo>
                  <a:cubicBezTo>
                    <a:pt x="17367" y="22798"/>
                    <a:pt x="1" y="58450"/>
                    <a:pt x="7804" y="93413"/>
                  </a:cubicBezTo>
                  <a:cubicBezTo>
                    <a:pt x="15684" y="128376"/>
                    <a:pt x="46746" y="153164"/>
                    <a:pt x="82551" y="153164"/>
                  </a:cubicBezTo>
                  <a:cubicBezTo>
                    <a:pt x="100223" y="153164"/>
                    <a:pt x="117361" y="147120"/>
                    <a:pt x="131055" y="135874"/>
                  </a:cubicBezTo>
                  <a:lnTo>
                    <a:pt x="201670" y="206565"/>
                  </a:lnTo>
                  <a:lnTo>
                    <a:pt x="212534" y="195701"/>
                  </a:lnTo>
                  <a:lnTo>
                    <a:pt x="141843" y="125086"/>
                  </a:lnTo>
                  <a:cubicBezTo>
                    <a:pt x="164488" y="97315"/>
                    <a:pt x="164948" y="57608"/>
                    <a:pt x="142837" y="29377"/>
                  </a:cubicBezTo>
                  <a:cubicBezTo>
                    <a:pt x="127979" y="10340"/>
                    <a:pt x="105537" y="1"/>
                    <a:pt x="825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29" name="Google Shape;1229;p169"/>
            <p:cNvCxnSpPr/>
            <p:nvPr/>
          </p:nvCxnSpPr>
          <p:spPr>
            <a:xfrm>
              <a:off x="5716100" y="2196338"/>
              <a:ext cx="0" cy="574200"/>
            </a:xfrm>
            <a:prstGeom prst="straightConnector1">
              <a:avLst/>
            </a:prstGeom>
            <a:noFill/>
            <a:ln cap="flat" cmpd="sng" w="19050">
              <a:solidFill>
                <a:schemeClr val="dk1"/>
              </a:solidFill>
              <a:prstDash val="solid"/>
              <a:round/>
              <a:headEnd len="med" w="med" type="none"/>
              <a:tailEnd len="med" w="med" type="non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170"/>
          <p:cNvSpPr/>
          <p:nvPr/>
        </p:nvSpPr>
        <p:spPr>
          <a:xfrm>
            <a:off x="8761650" y="4784725"/>
            <a:ext cx="314400" cy="358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5" name="Google Shape;1235;p170"/>
          <p:cNvSpPr/>
          <p:nvPr/>
        </p:nvSpPr>
        <p:spPr>
          <a:xfrm>
            <a:off x="457200" y="672411"/>
            <a:ext cx="8229600" cy="4251000"/>
          </a:xfrm>
          <a:prstGeom prst="rect">
            <a:avLst/>
          </a:prstGeom>
          <a:solidFill>
            <a:srgbClr val="F2F2F2"/>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6" name="Google Shape;1236;p170"/>
          <p:cNvSpPr/>
          <p:nvPr/>
        </p:nvSpPr>
        <p:spPr>
          <a:xfrm>
            <a:off x="1581560" y="1484066"/>
            <a:ext cx="302700" cy="2604300"/>
          </a:xfrm>
          <a:prstGeom prst="down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7" name="Google Shape;1237;p170"/>
          <p:cNvSpPr/>
          <p:nvPr/>
        </p:nvSpPr>
        <p:spPr>
          <a:xfrm>
            <a:off x="613612" y="846885"/>
            <a:ext cx="2238900" cy="847200"/>
          </a:xfrm>
          <a:prstGeom prst="rect">
            <a:avLst/>
          </a:prstGeom>
          <a:solidFill>
            <a:srgbClr val="FFE8AF"/>
          </a:solidFill>
          <a:ln cap="flat" cmpd="sng" w="9525">
            <a:solidFill>
              <a:srgbClr val="F49B1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Andrew loads the application in his </a:t>
            </a:r>
            <a:r>
              <a:rPr b="1" lang="en" sz="1200">
                <a:latin typeface="Roboto"/>
                <a:ea typeface="Roboto"/>
                <a:cs typeface="Roboto"/>
                <a:sym typeface="Roboto"/>
              </a:rPr>
              <a:t>browser </a:t>
            </a:r>
            <a:r>
              <a:rPr lang="en" sz="1200">
                <a:latin typeface="Roboto"/>
                <a:ea typeface="Roboto"/>
                <a:cs typeface="Roboto"/>
                <a:sym typeface="Roboto"/>
              </a:rPr>
              <a:t>and clicks a button to display all HR employees.</a:t>
            </a:r>
            <a:endParaRPr sz="1200">
              <a:latin typeface="Roboto"/>
              <a:ea typeface="Roboto"/>
              <a:cs typeface="Roboto"/>
              <a:sym typeface="Roboto"/>
            </a:endParaRPr>
          </a:p>
        </p:txBody>
      </p:sp>
      <p:sp>
        <p:nvSpPr>
          <p:cNvPr id="1238" name="Google Shape;1238;p170"/>
          <p:cNvSpPr/>
          <p:nvPr/>
        </p:nvSpPr>
        <p:spPr>
          <a:xfrm>
            <a:off x="613612" y="2143415"/>
            <a:ext cx="2238900" cy="523500"/>
          </a:xfrm>
          <a:prstGeom prst="rect">
            <a:avLst/>
          </a:prstGeom>
          <a:solidFill>
            <a:srgbClr val="FFE8AF"/>
          </a:solidFill>
          <a:ln cap="flat" cmpd="sng" w="9525">
            <a:solidFill>
              <a:srgbClr val="F49B1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Front end</a:t>
            </a:r>
            <a:r>
              <a:rPr lang="en" sz="1200">
                <a:latin typeface="Roboto"/>
                <a:ea typeface="Roboto"/>
                <a:cs typeface="Roboto"/>
                <a:sym typeface="Roboto"/>
              </a:rPr>
              <a:t> forwards request to back end.</a:t>
            </a:r>
            <a:endParaRPr sz="1200">
              <a:latin typeface="Roboto"/>
              <a:ea typeface="Roboto"/>
              <a:cs typeface="Roboto"/>
              <a:sym typeface="Roboto"/>
            </a:endParaRPr>
          </a:p>
        </p:txBody>
      </p:sp>
      <p:sp>
        <p:nvSpPr>
          <p:cNvPr id="1239" name="Google Shape;1239;p170"/>
          <p:cNvSpPr/>
          <p:nvPr/>
        </p:nvSpPr>
        <p:spPr>
          <a:xfrm>
            <a:off x="613612" y="3115829"/>
            <a:ext cx="2238900" cy="523500"/>
          </a:xfrm>
          <a:prstGeom prst="rect">
            <a:avLst/>
          </a:prstGeom>
          <a:solidFill>
            <a:srgbClr val="FFE8AF"/>
          </a:solidFill>
          <a:ln cap="flat" cmpd="sng" w="9525">
            <a:solidFill>
              <a:srgbClr val="F49B1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A </a:t>
            </a:r>
            <a:r>
              <a:rPr b="1" lang="en" sz="1200">
                <a:latin typeface="Roboto"/>
                <a:ea typeface="Roboto"/>
                <a:cs typeface="Roboto"/>
                <a:sym typeface="Roboto"/>
              </a:rPr>
              <a:t>back-end</a:t>
            </a:r>
            <a:r>
              <a:rPr lang="en" sz="1200">
                <a:latin typeface="Roboto"/>
                <a:ea typeface="Roboto"/>
                <a:cs typeface="Roboto"/>
                <a:sym typeface="Roboto"/>
              </a:rPr>
              <a:t> script queries the database for HR employees.</a:t>
            </a:r>
            <a:endParaRPr sz="1200">
              <a:latin typeface="Roboto"/>
              <a:ea typeface="Roboto"/>
              <a:cs typeface="Roboto"/>
              <a:sym typeface="Roboto"/>
            </a:endParaRPr>
          </a:p>
        </p:txBody>
      </p:sp>
      <p:sp>
        <p:nvSpPr>
          <p:cNvPr id="1240" name="Google Shape;1240;p170"/>
          <p:cNvSpPr/>
          <p:nvPr/>
        </p:nvSpPr>
        <p:spPr>
          <a:xfrm>
            <a:off x="613612" y="4088244"/>
            <a:ext cx="2238900" cy="523500"/>
          </a:xfrm>
          <a:prstGeom prst="rect">
            <a:avLst/>
          </a:prstGeom>
          <a:solidFill>
            <a:srgbClr val="FFE8AF"/>
          </a:solidFill>
          <a:ln cap="flat" cmpd="sng" w="9525">
            <a:solidFill>
              <a:srgbClr val="F49B1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Database</a:t>
            </a:r>
            <a:r>
              <a:rPr lang="en" sz="1200">
                <a:latin typeface="Roboto"/>
                <a:ea typeface="Roboto"/>
                <a:cs typeface="Roboto"/>
                <a:sym typeface="Roboto"/>
              </a:rPr>
              <a:t> searches for all IDs with “HR.”</a:t>
            </a:r>
            <a:endParaRPr sz="1200">
              <a:latin typeface="Roboto"/>
              <a:ea typeface="Roboto"/>
              <a:cs typeface="Roboto"/>
              <a:sym typeface="Roboto"/>
            </a:endParaRPr>
          </a:p>
        </p:txBody>
      </p:sp>
      <p:sp>
        <p:nvSpPr>
          <p:cNvPr id="1241" name="Google Shape;1241;p170"/>
          <p:cNvSpPr/>
          <p:nvPr/>
        </p:nvSpPr>
        <p:spPr>
          <a:xfrm>
            <a:off x="3253450" y="579725"/>
            <a:ext cx="2668800" cy="4413000"/>
          </a:xfrm>
          <a:prstGeom prst="rect">
            <a:avLst/>
          </a:prstGeom>
          <a:solidFill>
            <a:srgbClr val="EEEEEE"/>
          </a:solidFill>
          <a:ln>
            <a:noFill/>
          </a:ln>
          <a:effectLst>
            <a:outerShdw blurRad="57150" rotWithShape="0" algn="bl" dir="60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42" name="Google Shape;1242;p170"/>
          <p:cNvSpPr/>
          <p:nvPr/>
        </p:nvSpPr>
        <p:spPr>
          <a:xfrm>
            <a:off x="2852352" y="4216400"/>
            <a:ext cx="401100" cy="2670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43" name="Google Shape;1243;p170"/>
          <p:cNvSpPr/>
          <p:nvPr/>
        </p:nvSpPr>
        <p:spPr>
          <a:xfrm>
            <a:off x="3452651" y="776280"/>
            <a:ext cx="2238900" cy="847200"/>
          </a:xfrm>
          <a:prstGeom prst="rect">
            <a:avLst/>
          </a:prstGeom>
          <a:solidFill>
            <a:srgbClr val="FCB912"/>
          </a:solidFill>
          <a:ln cap="flat" cmpd="sng" w="9525">
            <a:solidFill>
              <a:srgbClr val="F49B1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2"/>
                </a:solidFill>
                <a:latin typeface="Roboto"/>
                <a:ea typeface="Roboto"/>
                <a:cs typeface="Roboto"/>
                <a:sym typeface="Roboto"/>
              </a:rPr>
              <a:t>Employee directory</a:t>
            </a:r>
            <a:endParaRPr b="1" sz="1500">
              <a:solidFill>
                <a:schemeClr val="dk2"/>
              </a:solidFill>
              <a:latin typeface="Roboto"/>
              <a:ea typeface="Roboto"/>
              <a:cs typeface="Roboto"/>
              <a:sym typeface="Roboto"/>
            </a:endParaRPr>
          </a:p>
          <a:p>
            <a:pPr indent="0" lvl="0" marL="0" rtl="0" algn="ctr">
              <a:spcBef>
                <a:spcPts val="0"/>
              </a:spcBef>
              <a:spcAft>
                <a:spcPts val="0"/>
              </a:spcAft>
              <a:buNone/>
            </a:pPr>
            <a:r>
              <a:rPr b="1" lang="en" sz="1500">
                <a:solidFill>
                  <a:schemeClr val="dk2"/>
                </a:solidFill>
                <a:latin typeface="Roboto"/>
                <a:ea typeface="Roboto"/>
                <a:cs typeface="Roboto"/>
                <a:sym typeface="Roboto"/>
              </a:rPr>
              <a:t>application</a:t>
            </a:r>
            <a:endParaRPr b="1" sz="1500">
              <a:solidFill>
                <a:schemeClr val="dk2"/>
              </a:solidFill>
              <a:latin typeface="Roboto"/>
              <a:ea typeface="Roboto"/>
              <a:cs typeface="Roboto"/>
              <a:sym typeface="Roboto"/>
            </a:endParaRPr>
          </a:p>
        </p:txBody>
      </p:sp>
      <p:sp>
        <p:nvSpPr>
          <p:cNvPr id="1244" name="Google Shape;1244;p170"/>
          <p:cNvSpPr/>
          <p:nvPr/>
        </p:nvSpPr>
        <p:spPr>
          <a:xfrm>
            <a:off x="3463271" y="1819300"/>
            <a:ext cx="2238900" cy="847200"/>
          </a:xfrm>
          <a:prstGeom prst="rect">
            <a:avLst/>
          </a:prstGeom>
          <a:solidFill>
            <a:srgbClr val="E51470"/>
          </a:solidFill>
          <a:ln cap="flat" cmpd="sng" w="9525">
            <a:solidFill>
              <a:srgbClr val="89215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Roboto"/>
                <a:ea typeface="Roboto"/>
                <a:cs typeface="Roboto"/>
                <a:sym typeface="Roboto"/>
              </a:rPr>
              <a:t>Front-end server</a:t>
            </a:r>
            <a:endParaRPr b="1" sz="1500">
              <a:solidFill>
                <a:schemeClr val="lt1"/>
              </a:solidFill>
              <a:latin typeface="Roboto"/>
              <a:ea typeface="Roboto"/>
              <a:cs typeface="Roboto"/>
              <a:sym typeface="Roboto"/>
            </a:endParaRPr>
          </a:p>
        </p:txBody>
      </p:sp>
      <p:sp>
        <p:nvSpPr>
          <p:cNvPr id="1245" name="Google Shape;1245;p170"/>
          <p:cNvSpPr/>
          <p:nvPr/>
        </p:nvSpPr>
        <p:spPr>
          <a:xfrm>
            <a:off x="3457961" y="2868631"/>
            <a:ext cx="2238900" cy="847200"/>
          </a:xfrm>
          <a:prstGeom prst="rect">
            <a:avLst/>
          </a:prstGeom>
          <a:solidFill>
            <a:srgbClr val="1475D4"/>
          </a:solidFill>
          <a:ln cap="flat" cmpd="sng" w="9525">
            <a:solidFill>
              <a:srgbClr val="1059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Roboto"/>
                <a:ea typeface="Roboto"/>
                <a:cs typeface="Roboto"/>
                <a:sym typeface="Roboto"/>
              </a:rPr>
              <a:t>Back-end server</a:t>
            </a:r>
            <a:endParaRPr b="1" sz="1500">
              <a:solidFill>
                <a:schemeClr val="lt1"/>
              </a:solidFill>
              <a:latin typeface="Roboto"/>
              <a:ea typeface="Roboto"/>
              <a:cs typeface="Roboto"/>
              <a:sym typeface="Roboto"/>
            </a:endParaRPr>
          </a:p>
        </p:txBody>
      </p:sp>
      <p:sp>
        <p:nvSpPr>
          <p:cNvPr id="1246" name="Google Shape;1246;p170"/>
          <p:cNvSpPr/>
          <p:nvPr/>
        </p:nvSpPr>
        <p:spPr>
          <a:xfrm>
            <a:off x="3468581" y="3911651"/>
            <a:ext cx="2238900" cy="847200"/>
          </a:xfrm>
          <a:prstGeom prst="rect">
            <a:avLst/>
          </a:prstGeom>
          <a:solidFill>
            <a:srgbClr val="043461"/>
          </a:solidFill>
          <a:ln cap="flat" cmpd="sng" w="9525">
            <a:solidFill>
              <a:srgbClr val="0434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Roboto"/>
                <a:ea typeface="Roboto"/>
                <a:cs typeface="Roboto"/>
                <a:sym typeface="Roboto"/>
              </a:rPr>
              <a:t>Database</a:t>
            </a:r>
            <a:endParaRPr b="1" sz="1500">
              <a:solidFill>
                <a:schemeClr val="lt1"/>
              </a:solidFill>
              <a:latin typeface="Roboto"/>
              <a:ea typeface="Roboto"/>
              <a:cs typeface="Roboto"/>
              <a:sym typeface="Roboto"/>
            </a:endParaRPr>
          </a:p>
        </p:txBody>
      </p:sp>
      <p:sp>
        <p:nvSpPr>
          <p:cNvPr id="1247" name="Google Shape;1247;p170"/>
          <p:cNvSpPr/>
          <p:nvPr/>
        </p:nvSpPr>
        <p:spPr>
          <a:xfrm>
            <a:off x="6320589" y="827774"/>
            <a:ext cx="2238900" cy="847200"/>
          </a:xfrm>
          <a:prstGeom prst="rect">
            <a:avLst/>
          </a:prstGeom>
          <a:solidFill>
            <a:srgbClr val="CFE2F3"/>
          </a:solidFill>
          <a:ln cap="flat" cmpd="sng" w="9525">
            <a:solidFill>
              <a:srgbClr val="616A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Browser</a:t>
            </a:r>
            <a:r>
              <a:rPr lang="en" sz="1200">
                <a:latin typeface="Roboto"/>
                <a:ea typeface="Roboto"/>
                <a:cs typeface="Roboto"/>
                <a:sym typeface="Roboto"/>
              </a:rPr>
              <a:t> displays new page with a formatted list of HR employees.</a:t>
            </a:r>
            <a:endParaRPr sz="1200">
              <a:latin typeface="Roboto"/>
              <a:ea typeface="Roboto"/>
              <a:cs typeface="Roboto"/>
              <a:sym typeface="Roboto"/>
            </a:endParaRPr>
          </a:p>
        </p:txBody>
      </p:sp>
      <p:sp>
        <p:nvSpPr>
          <p:cNvPr id="1248" name="Google Shape;1248;p170"/>
          <p:cNvSpPr/>
          <p:nvPr/>
        </p:nvSpPr>
        <p:spPr>
          <a:xfrm flipH="1" rot="10800000">
            <a:off x="7288537" y="1675060"/>
            <a:ext cx="302700" cy="2604300"/>
          </a:xfrm>
          <a:prstGeom prst="downArrow">
            <a:avLst>
              <a:gd fmla="val 50000" name="adj1"/>
              <a:gd fmla="val 50000" name="adj2"/>
            </a:avLst>
          </a:prstGeom>
          <a:solidFill>
            <a:srgbClr val="0077D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49" name="Google Shape;1249;p170"/>
          <p:cNvSpPr/>
          <p:nvPr/>
        </p:nvSpPr>
        <p:spPr>
          <a:xfrm>
            <a:off x="6320600" y="2048700"/>
            <a:ext cx="2238900" cy="684900"/>
          </a:xfrm>
          <a:prstGeom prst="rect">
            <a:avLst/>
          </a:prstGeom>
          <a:solidFill>
            <a:srgbClr val="CFE2F3"/>
          </a:solidFill>
          <a:ln cap="flat" cmpd="sng" w="9525">
            <a:solidFill>
              <a:srgbClr val="616A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Front end</a:t>
            </a:r>
            <a:r>
              <a:rPr lang="en" sz="1200">
                <a:latin typeface="Roboto"/>
                <a:ea typeface="Roboto"/>
                <a:cs typeface="Roboto"/>
                <a:sym typeface="Roboto"/>
              </a:rPr>
              <a:t> prepares a new webpage with a list of all HR employees.</a:t>
            </a:r>
            <a:endParaRPr sz="1200">
              <a:latin typeface="Roboto"/>
              <a:ea typeface="Roboto"/>
              <a:cs typeface="Roboto"/>
              <a:sym typeface="Roboto"/>
            </a:endParaRPr>
          </a:p>
        </p:txBody>
      </p:sp>
      <p:sp>
        <p:nvSpPr>
          <p:cNvPr id="1250" name="Google Shape;1250;p170"/>
          <p:cNvSpPr/>
          <p:nvPr/>
        </p:nvSpPr>
        <p:spPr>
          <a:xfrm>
            <a:off x="6320600" y="3021125"/>
            <a:ext cx="2238900" cy="684900"/>
          </a:xfrm>
          <a:prstGeom prst="rect">
            <a:avLst/>
          </a:prstGeom>
          <a:solidFill>
            <a:srgbClr val="CFE2F3"/>
          </a:solidFill>
          <a:ln cap="flat" cmpd="sng" w="9525">
            <a:solidFill>
              <a:srgbClr val="616A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Back-end</a:t>
            </a:r>
            <a:r>
              <a:rPr lang="en" sz="1200">
                <a:latin typeface="Roboto"/>
                <a:ea typeface="Roboto"/>
                <a:cs typeface="Roboto"/>
                <a:sym typeface="Roboto"/>
              </a:rPr>
              <a:t> script forwards list of HR employees to front end.</a:t>
            </a:r>
            <a:endParaRPr sz="1200">
              <a:latin typeface="Roboto"/>
              <a:ea typeface="Roboto"/>
              <a:cs typeface="Roboto"/>
              <a:sym typeface="Roboto"/>
            </a:endParaRPr>
          </a:p>
        </p:txBody>
      </p:sp>
      <p:sp>
        <p:nvSpPr>
          <p:cNvPr id="1251" name="Google Shape;1251;p170"/>
          <p:cNvSpPr/>
          <p:nvPr/>
        </p:nvSpPr>
        <p:spPr>
          <a:xfrm>
            <a:off x="6320600" y="3983325"/>
            <a:ext cx="2238900" cy="684900"/>
          </a:xfrm>
          <a:prstGeom prst="rect">
            <a:avLst/>
          </a:prstGeom>
          <a:solidFill>
            <a:srgbClr val="CFE2F3"/>
          </a:solidFill>
          <a:ln cap="flat" cmpd="sng" w="9525">
            <a:solidFill>
              <a:srgbClr val="616A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Database</a:t>
            </a:r>
            <a:r>
              <a:rPr lang="en" sz="1200">
                <a:latin typeface="Roboto"/>
                <a:ea typeface="Roboto"/>
                <a:cs typeface="Roboto"/>
                <a:sym typeface="Roboto"/>
              </a:rPr>
              <a:t> sends IDs with “HR” to back end.</a:t>
            </a:r>
            <a:endParaRPr sz="1200">
              <a:latin typeface="Roboto"/>
              <a:ea typeface="Roboto"/>
              <a:cs typeface="Roboto"/>
              <a:sym typeface="Roboto"/>
            </a:endParaRPr>
          </a:p>
        </p:txBody>
      </p:sp>
      <p:sp>
        <p:nvSpPr>
          <p:cNvPr id="1252" name="Google Shape;1252;p170"/>
          <p:cNvSpPr/>
          <p:nvPr/>
        </p:nvSpPr>
        <p:spPr>
          <a:xfrm>
            <a:off x="5922325" y="4273500"/>
            <a:ext cx="401100" cy="267000"/>
          </a:xfrm>
          <a:prstGeom prst="rightArrow">
            <a:avLst>
              <a:gd fmla="val 50000" name="adj1"/>
              <a:gd fmla="val 50000" name="adj2"/>
            </a:avLst>
          </a:prstGeom>
          <a:solidFill>
            <a:srgbClr val="0077D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53" name="Google Shape;1253;p170"/>
          <p:cNvSpPr txBox="1"/>
          <p:nvPr/>
        </p:nvSpPr>
        <p:spPr>
          <a:xfrm>
            <a:off x="914400" y="-17350"/>
            <a:ext cx="7005900" cy="59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Roboto"/>
                <a:ea typeface="Roboto"/>
                <a:cs typeface="Roboto"/>
                <a:sym typeface="Roboto"/>
              </a:rPr>
              <a:t>Information flows Between Application Components</a:t>
            </a:r>
            <a:endParaRPr b="1" sz="2200">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71"/>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Modern</a:t>
            </a:r>
            <a:r>
              <a:rPr b="0" lang="en">
                <a:latin typeface="Roboto"/>
                <a:ea typeface="Roboto"/>
                <a:cs typeface="Roboto"/>
                <a:sym typeface="Roboto"/>
              </a:rPr>
              <a:t> Architecture</a:t>
            </a:r>
            <a:endParaRPr b="0">
              <a:latin typeface="Roboto"/>
              <a:ea typeface="Roboto"/>
              <a:cs typeface="Roboto"/>
              <a:sym typeface="Roboto"/>
            </a:endParaRPr>
          </a:p>
        </p:txBody>
      </p:sp>
      <p:pic>
        <p:nvPicPr>
          <p:cNvPr id="1259" name="Google Shape;1259;p171"/>
          <p:cNvPicPr preferRelativeResize="0"/>
          <p:nvPr/>
        </p:nvPicPr>
        <p:blipFill>
          <a:blip r:embed="rId3">
            <a:alphaModFix/>
          </a:blip>
          <a:stretch>
            <a:fillRect/>
          </a:stretch>
        </p:blipFill>
        <p:spPr>
          <a:xfrm>
            <a:off x="4120663" y="1742325"/>
            <a:ext cx="902675" cy="886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72"/>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3300"/>
              <a:t>Microservices </a:t>
            </a:r>
            <a:r>
              <a:rPr lang="en" sz="3300"/>
              <a:t>are several services that run on a server in order to run a web application.</a:t>
            </a:r>
            <a:endParaRPr sz="3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173"/>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Modern Architecture</a:t>
            </a:r>
            <a:endParaRPr/>
          </a:p>
        </p:txBody>
      </p:sp>
      <p:sp>
        <p:nvSpPr>
          <p:cNvPr id="1270" name="Google Shape;1270;p173"/>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a:t>
            </a:r>
            <a:r>
              <a:rPr lang="en"/>
              <a:t>eb applications today are composed of many microservices</a:t>
            </a:r>
            <a:endParaRPr/>
          </a:p>
        </p:txBody>
      </p:sp>
      <p:sp>
        <p:nvSpPr>
          <p:cNvPr id="1271" name="Google Shape;1271;p173"/>
          <p:cNvSpPr txBox="1"/>
          <p:nvPr>
            <p:ph idx="2" type="body"/>
          </p:nvPr>
        </p:nvSpPr>
        <p:spPr>
          <a:xfrm>
            <a:off x="457200" y="1317525"/>
            <a:ext cx="3972300" cy="326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One of the first steps in creating microservices is separating </a:t>
            </a:r>
            <a:r>
              <a:rPr lang="en"/>
              <a:t>components</a:t>
            </a:r>
            <a:r>
              <a:rPr lang="en"/>
              <a:t> in individual machines to run a “</a:t>
            </a:r>
            <a:r>
              <a:rPr b="1" lang="en"/>
              <a:t>service.</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a:t>
            </a:r>
            <a:r>
              <a:rPr b="1" lang="en"/>
              <a:t>service,</a:t>
            </a:r>
            <a:r>
              <a:rPr lang="en"/>
              <a:t> such as the front-end server, is really just an operating system, running a minimum amount of software to serve one main purpose.</a:t>
            </a:r>
            <a:endParaRPr/>
          </a:p>
        </p:txBody>
      </p:sp>
      <p:pic>
        <p:nvPicPr>
          <p:cNvPr id="1272" name="Google Shape;1272;p173"/>
          <p:cNvPicPr preferRelativeResize="0"/>
          <p:nvPr/>
        </p:nvPicPr>
        <p:blipFill>
          <a:blip r:embed="rId3">
            <a:alphaModFix/>
          </a:blip>
          <a:stretch>
            <a:fillRect/>
          </a:stretch>
        </p:blipFill>
        <p:spPr>
          <a:xfrm>
            <a:off x="231550" y="235550"/>
            <a:ext cx="500225" cy="497275"/>
          </a:xfrm>
          <a:prstGeom prst="rect">
            <a:avLst/>
          </a:prstGeom>
          <a:noFill/>
          <a:ln>
            <a:noFill/>
          </a:ln>
        </p:spPr>
      </p:pic>
      <p:pic>
        <p:nvPicPr>
          <p:cNvPr id="1273" name="Google Shape;1273;p173"/>
          <p:cNvPicPr preferRelativeResize="0"/>
          <p:nvPr/>
        </p:nvPicPr>
        <p:blipFill rotWithShape="1">
          <a:blip r:embed="rId4">
            <a:alphaModFix/>
          </a:blip>
          <a:srcRect b="0" l="0" r="0" t="0"/>
          <a:stretch/>
        </p:blipFill>
        <p:spPr>
          <a:xfrm>
            <a:off x="4724650" y="650400"/>
            <a:ext cx="4493102" cy="44931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77" name="Shape 1277"/>
        <p:cNvGrpSpPr/>
        <p:nvPr/>
      </p:nvGrpSpPr>
      <p:grpSpPr>
        <a:xfrm>
          <a:off x="0" y="0"/>
          <a:ext cx="0" cy="0"/>
          <a:chOff x="0" y="0"/>
          <a:chExt cx="0" cy="0"/>
        </a:xfrm>
      </p:grpSpPr>
      <p:sp>
        <p:nvSpPr>
          <p:cNvPr id="1278" name="Google Shape;1278;p174"/>
          <p:cNvSpPr/>
          <p:nvPr/>
        </p:nvSpPr>
        <p:spPr>
          <a:xfrm>
            <a:off x="175" y="3096450"/>
            <a:ext cx="9144000" cy="2047200"/>
          </a:xfrm>
          <a:prstGeom prst="rect">
            <a:avLst/>
          </a:prstGeom>
          <a:solidFill>
            <a:srgbClr val="EBEDF0"/>
          </a:solidFill>
          <a:ln>
            <a:noFill/>
          </a:ln>
        </p:spPr>
        <p:txBody>
          <a:bodyPr anchorCtr="0" anchor="t" bIns="91425" lIns="91425" spcFirstLastPara="1" rIns="91425" wrap="square" tIns="228600">
            <a:noAutofit/>
          </a:bodyPr>
          <a:lstStyle/>
          <a:p>
            <a:pPr indent="0" lvl="0" marL="0" rtl="0" algn="ctr">
              <a:spcBef>
                <a:spcPts val="0"/>
              </a:spcBef>
              <a:spcAft>
                <a:spcPts val="0"/>
              </a:spcAft>
              <a:buNone/>
            </a:pPr>
            <a:r>
              <a:t/>
            </a:r>
            <a:endParaRPr b="1" sz="1800">
              <a:latin typeface="Roboto"/>
              <a:ea typeface="Roboto"/>
              <a:cs typeface="Roboto"/>
              <a:sym typeface="Roboto"/>
            </a:endParaRPr>
          </a:p>
        </p:txBody>
      </p:sp>
      <p:sp>
        <p:nvSpPr>
          <p:cNvPr id="1279" name="Google Shape;1279;p174"/>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Web Application Architecture</a:t>
            </a:r>
            <a:endParaRPr sz="2600"/>
          </a:p>
        </p:txBody>
      </p:sp>
      <p:sp>
        <p:nvSpPr>
          <p:cNvPr id="1280" name="Google Shape;1280;p174"/>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p>
            <a:pPr indent="0" lvl="0" marL="0" rtl="0" algn="l">
              <a:lnSpc>
                <a:spcPct val="95000"/>
              </a:lnSpc>
              <a:spcBef>
                <a:spcPts val="0"/>
              </a:spcBef>
              <a:spcAft>
                <a:spcPts val="0"/>
              </a:spcAft>
              <a:buNone/>
            </a:pPr>
            <a:r>
              <a:rPr lang="en" sz="1600">
                <a:latin typeface="Roboto Medium"/>
                <a:ea typeface="Roboto Medium"/>
                <a:cs typeface="Roboto Medium"/>
                <a:sym typeface="Roboto Medium"/>
              </a:rPr>
              <a:t>Each individual machine requires:</a:t>
            </a:r>
            <a:endParaRPr sz="1600">
              <a:latin typeface="Roboto Medium"/>
              <a:ea typeface="Roboto Medium"/>
              <a:cs typeface="Roboto Medium"/>
              <a:sym typeface="Roboto Medium"/>
            </a:endParaRPr>
          </a:p>
        </p:txBody>
      </p:sp>
      <p:sp>
        <p:nvSpPr>
          <p:cNvPr id="1281" name="Google Shape;1281;p174"/>
          <p:cNvSpPr txBox="1"/>
          <p:nvPr>
            <p:ph idx="2" type="body"/>
          </p:nvPr>
        </p:nvSpPr>
        <p:spPr>
          <a:xfrm>
            <a:off x="175" y="1141200"/>
            <a:ext cx="5200200" cy="1935900"/>
          </a:xfrm>
          <a:prstGeom prst="rect">
            <a:avLst/>
          </a:prstGeom>
        </p:spPr>
        <p:txBody>
          <a:bodyPr anchorCtr="0" anchor="t" bIns="914400" lIns="457200" spcFirstLastPara="1" rIns="457200" wrap="square" tIns="0">
            <a:noAutofit/>
          </a:bodyPr>
          <a:lstStyle/>
          <a:p>
            <a:pPr indent="-194310" lvl="0" marL="320040" rtl="0" algn="l">
              <a:spcBef>
                <a:spcPts val="0"/>
              </a:spcBef>
              <a:spcAft>
                <a:spcPts val="0"/>
              </a:spcAft>
              <a:buSzPts val="1620"/>
              <a:buChar char="●"/>
            </a:pPr>
            <a:r>
              <a:rPr lang="en" sz="1620"/>
              <a:t>An operating system to run on in order to run the service’s software and store its configurations.</a:t>
            </a:r>
            <a:endParaRPr sz="1620"/>
          </a:p>
          <a:p>
            <a:pPr indent="-194310" lvl="0" marL="320040" rtl="0" algn="l">
              <a:spcBef>
                <a:spcPts val="900"/>
              </a:spcBef>
              <a:spcAft>
                <a:spcPts val="900"/>
              </a:spcAft>
              <a:buSzPts val="1620"/>
              <a:buChar char="●"/>
            </a:pPr>
            <a:r>
              <a:rPr lang="en" sz="1620"/>
              <a:t>The software that runs a specific set of instructions for that individual component of the web application.</a:t>
            </a:r>
            <a:endParaRPr sz="1620"/>
          </a:p>
        </p:txBody>
      </p:sp>
      <p:sp>
        <p:nvSpPr>
          <p:cNvPr id="1282" name="Google Shape;1282;p174"/>
          <p:cNvSpPr txBox="1"/>
          <p:nvPr>
            <p:ph idx="1" type="subTitle"/>
          </p:nvPr>
        </p:nvSpPr>
        <p:spPr>
          <a:xfrm>
            <a:off x="0" y="3371850"/>
            <a:ext cx="4314900" cy="13836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sz="1600">
                <a:latin typeface="Roboto Medium"/>
                <a:ea typeface="Roboto Medium"/>
                <a:cs typeface="Roboto Medium"/>
                <a:sym typeface="Roboto Medium"/>
              </a:rPr>
              <a:t>For example: </a:t>
            </a:r>
            <a:endParaRPr sz="1600">
              <a:latin typeface="Roboto Medium"/>
              <a:ea typeface="Roboto Medium"/>
              <a:cs typeface="Roboto Medium"/>
              <a:sym typeface="Roboto Medium"/>
            </a:endParaRPr>
          </a:p>
          <a:p>
            <a:pPr indent="0" lvl="0" marL="0" rtl="0" algn="l">
              <a:spcBef>
                <a:spcPts val="300"/>
              </a:spcBef>
              <a:spcAft>
                <a:spcPts val="0"/>
              </a:spcAft>
              <a:buNone/>
            </a:pPr>
            <a:r>
              <a:rPr lang="en" sz="1600"/>
              <a:t>A database service runs Linux as </a:t>
            </a:r>
            <a:br>
              <a:rPr lang="en" sz="1600"/>
            </a:br>
            <a:r>
              <a:rPr lang="en" sz="1600"/>
              <a:t>its operating system and has a MySQL database installed on it.</a:t>
            </a:r>
            <a:endParaRPr sz="1600"/>
          </a:p>
        </p:txBody>
      </p:sp>
      <p:sp>
        <p:nvSpPr>
          <p:cNvPr id="1283" name="Google Shape;1283;p174"/>
          <p:cNvSpPr/>
          <p:nvPr/>
        </p:nvSpPr>
        <p:spPr>
          <a:xfrm>
            <a:off x="5094400" y="866775"/>
            <a:ext cx="3251400" cy="3859800"/>
          </a:xfrm>
          <a:prstGeom prst="rect">
            <a:avLst/>
          </a:prstGeom>
          <a:solidFill>
            <a:schemeClr val="accent1"/>
          </a:solidFill>
          <a:ln cap="flat" cmpd="sng" w="9525">
            <a:solidFill>
              <a:srgbClr val="434343"/>
            </a:solidFill>
            <a:prstDash val="solid"/>
            <a:round/>
            <a:headEnd len="sm" w="sm" type="none"/>
            <a:tailEnd len="sm" w="sm" type="none"/>
          </a:ln>
          <a:effectLst>
            <a:outerShdw blurRad="57150" rotWithShape="0" algn="bl" dir="5400000" dist="19050">
              <a:srgbClr val="000000">
                <a:alpha val="36000"/>
              </a:srgbClr>
            </a:outerShdw>
          </a:effectLst>
        </p:spPr>
        <p:txBody>
          <a:bodyPr anchorCtr="0" anchor="b" bIns="274300" lIns="91425" spcFirstLastPara="1" rIns="91425" wrap="square" tIns="228600">
            <a:noAutofit/>
          </a:bodyPr>
          <a:lstStyle/>
          <a:p>
            <a:pPr indent="0" lvl="0" marL="0" rtl="0" algn="ctr">
              <a:spcBef>
                <a:spcPts val="0"/>
              </a:spcBef>
              <a:spcAft>
                <a:spcPts val="0"/>
              </a:spcAft>
              <a:buNone/>
            </a:pPr>
            <a:r>
              <a:rPr b="1" lang="en" sz="2000">
                <a:solidFill>
                  <a:schemeClr val="dk2"/>
                </a:solidFill>
                <a:latin typeface="Roboto"/>
                <a:ea typeface="Roboto"/>
                <a:cs typeface="Roboto"/>
                <a:sym typeface="Roboto"/>
              </a:rPr>
              <a:t>Linux operating system</a:t>
            </a:r>
            <a:endParaRPr b="1" sz="2000">
              <a:solidFill>
                <a:schemeClr val="dk2"/>
              </a:solidFill>
              <a:latin typeface="Roboto"/>
              <a:ea typeface="Roboto"/>
              <a:cs typeface="Roboto"/>
              <a:sym typeface="Roboto"/>
            </a:endParaRPr>
          </a:p>
        </p:txBody>
      </p:sp>
      <p:sp>
        <p:nvSpPr>
          <p:cNvPr id="1284" name="Google Shape;1284;p174"/>
          <p:cNvSpPr/>
          <p:nvPr/>
        </p:nvSpPr>
        <p:spPr>
          <a:xfrm>
            <a:off x="5310398" y="1069055"/>
            <a:ext cx="2832300" cy="852900"/>
          </a:xfrm>
          <a:prstGeom prst="rect">
            <a:avLst/>
          </a:prstGeom>
          <a:solidFill>
            <a:schemeClr val="accent2"/>
          </a:solidFill>
          <a:ln cap="flat" cmpd="sng" w="9525">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Front-end server</a:t>
            </a:r>
            <a:endParaRPr b="1" sz="1800">
              <a:solidFill>
                <a:schemeClr val="dk2"/>
              </a:solidFill>
              <a:latin typeface="Roboto"/>
              <a:ea typeface="Roboto"/>
              <a:cs typeface="Roboto"/>
              <a:sym typeface="Roboto"/>
            </a:endParaRPr>
          </a:p>
        </p:txBody>
      </p:sp>
      <p:sp>
        <p:nvSpPr>
          <p:cNvPr id="1285" name="Google Shape;1285;p174"/>
          <p:cNvSpPr/>
          <p:nvPr/>
        </p:nvSpPr>
        <p:spPr>
          <a:xfrm>
            <a:off x="5310398" y="2082753"/>
            <a:ext cx="2832300" cy="852900"/>
          </a:xfrm>
          <a:prstGeom prst="rect">
            <a:avLst/>
          </a:prstGeom>
          <a:solidFill>
            <a:schemeClr val="accent3"/>
          </a:solidFill>
          <a:ln cap="flat" cmpd="sng" w="9525">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Back-end </a:t>
            </a:r>
            <a:br>
              <a:rPr b="1" lang="en" sz="1800">
                <a:solidFill>
                  <a:srgbClr val="FFFFFF"/>
                </a:solidFill>
                <a:latin typeface="Roboto"/>
                <a:ea typeface="Roboto"/>
                <a:cs typeface="Roboto"/>
                <a:sym typeface="Roboto"/>
              </a:rPr>
            </a:br>
            <a:r>
              <a:rPr b="1" lang="en" sz="1800">
                <a:solidFill>
                  <a:srgbClr val="FFFFFF"/>
                </a:solidFill>
                <a:latin typeface="Roboto"/>
                <a:ea typeface="Roboto"/>
                <a:cs typeface="Roboto"/>
                <a:sym typeface="Roboto"/>
              </a:rPr>
              <a:t>application server</a:t>
            </a:r>
            <a:endParaRPr b="1" sz="1800">
              <a:solidFill>
                <a:srgbClr val="FFFFFF"/>
              </a:solidFill>
              <a:latin typeface="Roboto"/>
              <a:ea typeface="Roboto"/>
              <a:cs typeface="Roboto"/>
              <a:sym typeface="Roboto"/>
            </a:endParaRPr>
          </a:p>
        </p:txBody>
      </p:sp>
      <p:sp>
        <p:nvSpPr>
          <p:cNvPr id="1286" name="Google Shape;1286;p174"/>
          <p:cNvSpPr/>
          <p:nvPr/>
        </p:nvSpPr>
        <p:spPr>
          <a:xfrm>
            <a:off x="5310398" y="3096450"/>
            <a:ext cx="2832300" cy="852900"/>
          </a:xfrm>
          <a:prstGeom prst="rect">
            <a:avLst/>
          </a:prstGeom>
          <a:solidFill>
            <a:schemeClr val="lt1"/>
          </a:solidFill>
          <a:ln cap="flat" cmpd="sng" w="9525">
            <a:solidFill>
              <a:srgbClr val="0434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                      Database</a:t>
            </a:r>
            <a:endParaRPr b="1" sz="1800">
              <a:solidFill>
                <a:schemeClr val="dk2"/>
              </a:solidFill>
              <a:latin typeface="Roboto"/>
              <a:ea typeface="Roboto"/>
              <a:cs typeface="Roboto"/>
              <a:sym typeface="Roboto"/>
            </a:endParaRPr>
          </a:p>
        </p:txBody>
      </p:sp>
      <p:pic>
        <p:nvPicPr>
          <p:cNvPr id="1287" name="Google Shape;1287;p174"/>
          <p:cNvPicPr preferRelativeResize="0"/>
          <p:nvPr/>
        </p:nvPicPr>
        <p:blipFill>
          <a:blip r:embed="rId3">
            <a:alphaModFix/>
          </a:blip>
          <a:stretch>
            <a:fillRect/>
          </a:stretch>
        </p:blipFill>
        <p:spPr>
          <a:xfrm>
            <a:off x="5641375" y="3167425"/>
            <a:ext cx="1049075" cy="710975"/>
          </a:xfrm>
          <a:prstGeom prst="rect">
            <a:avLst/>
          </a:prstGeom>
          <a:noFill/>
          <a:ln>
            <a:noFill/>
          </a:ln>
        </p:spPr>
      </p:pic>
      <p:pic>
        <p:nvPicPr>
          <p:cNvPr id="1288" name="Google Shape;1288;p174"/>
          <p:cNvPicPr preferRelativeResize="0"/>
          <p:nvPr/>
        </p:nvPicPr>
        <p:blipFill>
          <a:blip r:embed="rId4">
            <a:alphaModFix/>
          </a:blip>
          <a:stretch>
            <a:fillRect/>
          </a:stretch>
        </p:blipFill>
        <p:spPr>
          <a:xfrm>
            <a:off x="3765411" y="3177525"/>
            <a:ext cx="1613178" cy="19358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92" name="Shape 1292"/>
        <p:cNvGrpSpPr/>
        <p:nvPr/>
      </p:nvGrpSpPr>
      <p:grpSpPr>
        <a:xfrm>
          <a:off x="0" y="0"/>
          <a:ext cx="0" cy="0"/>
          <a:chOff x="0" y="0"/>
          <a:chExt cx="0" cy="0"/>
        </a:xfrm>
      </p:grpSpPr>
      <p:pic>
        <p:nvPicPr>
          <p:cNvPr id="1293" name="Google Shape;1293;p175"/>
          <p:cNvPicPr preferRelativeResize="0"/>
          <p:nvPr/>
        </p:nvPicPr>
        <p:blipFill rotWithShape="1">
          <a:blip r:embed="rId3">
            <a:alphaModFix/>
          </a:blip>
          <a:srcRect b="0" l="5736" r="5736" t="0"/>
          <a:stretch/>
        </p:blipFill>
        <p:spPr>
          <a:xfrm>
            <a:off x="2663651" y="152400"/>
            <a:ext cx="4810798" cy="5434424"/>
          </a:xfrm>
          <a:prstGeom prst="rect">
            <a:avLst/>
          </a:prstGeom>
          <a:noFill/>
          <a:ln>
            <a:noFill/>
          </a:ln>
        </p:spPr>
      </p:pic>
      <p:sp>
        <p:nvSpPr>
          <p:cNvPr id="1294" name="Google Shape;1294;p175"/>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chemeClr val="lt1"/>
                </a:solidFill>
              </a:rPr>
              <a:t>Introducing Stacks</a:t>
            </a:r>
            <a:endParaRPr sz="2600">
              <a:solidFill>
                <a:schemeClr val="lt1"/>
              </a:solidFill>
            </a:endParaRPr>
          </a:p>
        </p:txBody>
      </p:sp>
      <p:sp>
        <p:nvSpPr>
          <p:cNvPr id="1295" name="Google Shape;1295;p175"/>
          <p:cNvSpPr txBox="1"/>
          <p:nvPr>
            <p:ph idx="1" type="subTitle"/>
          </p:nvPr>
        </p:nvSpPr>
        <p:spPr>
          <a:xfrm>
            <a:off x="0" y="828375"/>
            <a:ext cx="3540900" cy="13113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solidFill>
                  <a:schemeClr val="lt1"/>
                </a:solidFill>
              </a:rPr>
              <a:t>What open-source and commercial software </a:t>
            </a:r>
            <a:br>
              <a:rPr lang="en">
                <a:solidFill>
                  <a:schemeClr val="lt1"/>
                </a:solidFill>
              </a:rPr>
            </a:br>
            <a:r>
              <a:rPr lang="en">
                <a:solidFill>
                  <a:schemeClr val="lt1"/>
                </a:solidFill>
              </a:rPr>
              <a:t>do we need to set up in order to create our web application components?</a:t>
            </a:r>
            <a:endParaRPr>
              <a:solidFill>
                <a:schemeClr val="lt1"/>
              </a:solidFill>
            </a:endParaRPr>
          </a:p>
        </p:txBody>
      </p:sp>
      <p:sp>
        <p:nvSpPr>
          <p:cNvPr id="1296" name="Google Shape;1296;p175"/>
          <p:cNvSpPr txBox="1"/>
          <p:nvPr>
            <p:ph idx="3" type="body"/>
          </p:nvPr>
        </p:nvSpPr>
        <p:spPr>
          <a:xfrm>
            <a:off x="164" y="2623450"/>
            <a:ext cx="3323700" cy="1577100"/>
          </a:xfrm>
          <a:prstGeom prst="rect">
            <a:avLst/>
          </a:prstGeom>
        </p:spPr>
        <p:txBody>
          <a:bodyPr anchorCtr="0" anchor="t" bIns="914400" lIns="457200" spcFirstLastPara="1" rIns="457200" wrap="square" tIns="0">
            <a:noAutofit/>
          </a:bodyPr>
          <a:lstStyle/>
          <a:p>
            <a:pPr indent="0" lvl="0" marL="0" rtl="0" algn="l">
              <a:lnSpc>
                <a:spcPct val="95000"/>
              </a:lnSpc>
              <a:spcBef>
                <a:spcPts val="0"/>
              </a:spcBef>
              <a:spcAft>
                <a:spcPts val="0"/>
              </a:spcAft>
              <a:buSzPts val="688"/>
              <a:buNone/>
            </a:pPr>
            <a:r>
              <a:t/>
            </a:r>
            <a:endParaRPr sz="1825">
              <a:solidFill>
                <a:schemeClr val="lt1"/>
              </a:solidFill>
            </a:endParaRPr>
          </a:p>
          <a:p>
            <a:pPr indent="0" lvl="0" marL="0" rtl="0" algn="l">
              <a:lnSpc>
                <a:spcPct val="95000"/>
              </a:lnSpc>
              <a:spcBef>
                <a:spcPts val="800"/>
              </a:spcBef>
              <a:spcAft>
                <a:spcPts val="800"/>
              </a:spcAft>
              <a:buSzPts val="688"/>
              <a:buNone/>
            </a:pPr>
            <a:r>
              <a:rPr lang="en" sz="1825">
                <a:solidFill>
                  <a:schemeClr val="lt1"/>
                </a:solidFill>
              </a:rPr>
              <a:t>Any combination of a base operating system, front-end software, back-end software, </a:t>
            </a:r>
            <a:br>
              <a:rPr lang="en" sz="1825">
                <a:solidFill>
                  <a:schemeClr val="lt1"/>
                </a:solidFill>
              </a:rPr>
            </a:br>
            <a:r>
              <a:rPr lang="en" sz="1825">
                <a:solidFill>
                  <a:schemeClr val="lt1"/>
                </a:solidFill>
              </a:rPr>
              <a:t>and database is called a </a:t>
            </a:r>
            <a:r>
              <a:rPr b="1" lang="en" sz="1825">
                <a:solidFill>
                  <a:schemeClr val="lt1"/>
                </a:solidFill>
              </a:rPr>
              <a:t>web</a:t>
            </a:r>
            <a:r>
              <a:rPr lang="en" sz="1825">
                <a:solidFill>
                  <a:schemeClr val="lt1"/>
                </a:solidFill>
              </a:rPr>
              <a:t> </a:t>
            </a:r>
            <a:r>
              <a:rPr b="1" lang="en" sz="1825">
                <a:solidFill>
                  <a:schemeClr val="lt1"/>
                </a:solidFill>
              </a:rPr>
              <a:t>stack</a:t>
            </a:r>
            <a:r>
              <a:rPr lang="en" sz="1825">
                <a:solidFill>
                  <a:schemeClr val="lt1"/>
                </a:solidFill>
              </a:rPr>
              <a:t>.</a:t>
            </a:r>
            <a:endParaRPr sz="1825">
              <a:solidFill>
                <a:schemeClr val="lt1"/>
              </a:solidFill>
            </a:endParaRPr>
          </a:p>
        </p:txBody>
      </p:sp>
      <p:cxnSp>
        <p:nvCxnSpPr>
          <p:cNvPr id="1297" name="Google Shape;1297;p175"/>
          <p:cNvCxnSpPr/>
          <p:nvPr/>
        </p:nvCxnSpPr>
        <p:spPr>
          <a:xfrm>
            <a:off x="5197925" y="2226500"/>
            <a:ext cx="1674000" cy="0"/>
          </a:xfrm>
          <a:prstGeom prst="straightConnector1">
            <a:avLst/>
          </a:prstGeom>
          <a:noFill/>
          <a:ln cap="flat" cmpd="sng" w="19050">
            <a:solidFill>
              <a:schemeClr val="accent2"/>
            </a:solidFill>
            <a:prstDash val="solid"/>
            <a:round/>
            <a:headEnd len="med" w="med" type="oval"/>
            <a:tailEnd len="med" w="med" type="none"/>
          </a:ln>
        </p:spPr>
      </p:cxnSp>
      <p:sp>
        <p:nvSpPr>
          <p:cNvPr id="1298" name="Google Shape;1298;p175"/>
          <p:cNvSpPr txBox="1"/>
          <p:nvPr/>
        </p:nvSpPr>
        <p:spPr>
          <a:xfrm>
            <a:off x="7030550" y="2119650"/>
            <a:ext cx="1878600" cy="30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b="1" lang="en">
                <a:solidFill>
                  <a:schemeClr val="lt1"/>
                </a:solidFill>
                <a:latin typeface="Roboto"/>
                <a:ea typeface="Roboto"/>
                <a:cs typeface="Roboto"/>
                <a:sym typeface="Roboto"/>
              </a:rPr>
              <a:t>Base operating system</a:t>
            </a:r>
            <a:endParaRPr b="1">
              <a:solidFill>
                <a:schemeClr val="lt1"/>
              </a:solidFill>
              <a:latin typeface="Roboto"/>
              <a:ea typeface="Roboto"/>
              <a:cs typeface="Roboto"/>
              <a:sym typeface="Roboto"/>
            </a:endParaRPr>
          </a:p>
        </p:txBody>
      </p:sp>
      <p:cxnSp>
        <p:nvCxnSpPr>
          <p:cNvPr id="1299" name="Google Shape;1299;p175"/>
          <p:cNvCxnSpPr/>
          <p:nvPr/>
        </p:nvCxnSpPr>
        <p:spPr>
          <a:xfrm>
            <a:off x="5197925" y="3003525"/>
            <a:ext cx="1674000" cy="0"/>
          </a:xfrm>
          <a:prstGeom prst="straightConnector1">
            <a:avLst/>
          </a:prstGeom>
          <a:noFill/>
          <a:ln cap="flat" cmpd="sng" w="19050">
            <a:solidFill>
              <a:schemeClr val="accent2"/>
            </a:solidFill>
            <a:prstDash val="solid"/>
            <a:round/>
            <a:headEnd len="med" w="med" type="oval"/>
            <a:tailEnd len="med" w="med" type="none"/>
          </a:ln>
        </p:spPr>
      </p:cxnSp>
      <p:sp>
        <p:nvSpPr>
          <p:cNvPr id="1300" name="Google Shape;1300;p175"/>
          <p:cNvSpPr txBox="1"/>
          <p:nvPr/>
        </p:nvSpPr>
        <p:spPr>
          <a:xfrm>
            <a:off x="7030550" y="2896675"/>
            <a:ext cx="1711800" cy="30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None/>
            </a:pPr>
            <a:r>
              <a:rPr b="1" lang="en">
                <a:solidFill>
                  <a:schemeClr val="lt1"/>
                </a:solidFill>
                <a:latin typeface="Roboto"/>
                <a:ea typeface="Roboto"/>
                <a:cs typeface="Roboto"/>
                <a:sym typeface="Roboto"/>
              </a:rPr>
              <a:t>Front-end software</a:t>
            </a:r>
            <a:endParaRPr b="1">
              <a:solidFill>
                <a:schemeClr val="lt1"/>
              </a:solidFill>
              <a:latin typeface="Roboto"/>
              <a:ea typeface="Roboto"/>
              <a:cs typeface="Roboto"/>
              <a:sym typeface="Roboto"/>
            </a:endParaRPr>
          </a:p>
        </p:txBody>
      </p:sp>
      <p:cxnSp>
        <p:nvCxnSpPr>
          <p:cNvPr id="1301" name="Google Shape;1301;p175"/>
          <p:cNvCxnSpPr/>
          <p:nvPr/>
        </p:nvCxnSpPr>
        <p:spPr>
          <a:xfrm>
            <a:off x="5197925" y="3580488"/>
            <a:ext cx="1674000" cy="0"/>
          </a:xfrm>
          <a:prstGeom prst="straightConnector1">
            <a:avLst/>
          </a:prstGeom>
          <a:noFill/>
          <a:ln cap="flat" cmpd="sng" w="19050">
            <a:solidFill>
              <a:schemeClr val="accent2"/>
            </a:solidFill>
            <a:prstDash val="solid"/>
            <a:round/>
            <a:headEnd len="med" w="med" type="oval"/>
            <a:tailEnd len="med" w="med" type="none"/>
          </a:ln>
        </p:spPr>
      </p:cxnSp>
      <p:sp>
        <p:nvSpPr>
          <p:cNvPr id="1302" name="Google Shape;1302;p175"/>
          <p:cNvSpPr txBox="1"/>
          <p:nvPr/>
        </p:nvSpPr>
        <p:spPr>
          <a:xfrm>
            <a:off x="7030550" y="3473638"/>
            <a:ext cx="1711800" cy="30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None/>
            </a:pPr>
            <a:r>
              <a:rPr b="1" lang="en">
                <a:solidFill>
                  <a:schemeClr val="lt1"/>
                </a:solidFill>
                <a:latin typeface="Roboto"/>
                <a:ea typeface="Roboto"/>
                <a:cs typeface="Roboto"/>
                <a:sym typeface="Roboto"/>
              </a:rPr>
              <a:t>Back-end software</a:t>
            </a:r>
            <a:endParaRPr b="1">
              <a:solidFill>
                <a:schemeClr val="lt1"/>
              </a:solidFill>
              <a:latin typeface="Roboto"/>
              <a:ea typeface="Roboto"/>
              <a:cs typeface="Roboto"/>
              <a:sym typeface="Roboto"/>
            </a:endParaRPr>
          </a:p>
        </p:txBody>
      </p:sp>
      <p:cxnSp>
        <p:nvCxnSpPr>
          <p:cNvPr id="1303" name="Google Shape;1303;p175"/>
          <p:cNvCxnSpPr/>
          <p:nvPr/>
        </p:nvCxnSpPr>
        <p:spPr>
          <a:xfrm>
            <a:off x="5197925" y="4157450"/>
            <a:ext cx="1674000" cy="0"/>
          </a:xfrm>
          <a:prstGeom prst="straightConnector1">
            <a:avLst/>
          </a:prstGeom>
          <a:noFill/>
          <a:ln cap="flat" cmpd="sng" w="19050">
            <a:solidFill>
              <a:schemeClr val="accent2"/>
            </a:solidFill>
            <a:prstDash val="solid"/>
            <a:round/>
            <a:headEnd len="med" w="med" type="oval"/>
            <a:tailEnd len="med" w="med" type="none"/>
          </a:ln>
        </p:spPr>
      </p:cxnSp>
      <p:sp>
        <p:nvSpPr>
          <p:cNvPr id="1304" name="Google Shape;1304;p175"/>
          <p:cNvSpPr txBox="1"/>
          <p:nvPr/>
        </p:nvSpPr>
        <p:spPr>
          <a:xfrm>
            <a:off x="7030550" y="4050600"/>
            <a:ext cx="1711800" cy="30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None/>
            </a:pPr>
            <a:r>
              <a:rPr b="1" lang="en">
                <a:solidFill>
                  <a:schemeClr val="lt1"/>
                </a:solidFill>
                <a:latin typeface="Roboto"/>
                <a:ea typeface="Roboto"/>
                <a:cs typeface="Roboto"/>
                <a:sym typeface="Roboto"/>
              </a:rPr>
              <a:t>Database</a:t>
            </a:r>
            <a:endParaRPr b="1">
              <a:solidFill>
                <a:schemeClr val="lt1"/>
              </a:solidFill>
              <a:latin typeface="Roboto"/>
              <a:ea typeface="Roboto"/>
              <a:cs typeface="Roboto"/>
              <a:sym typeface="Roboto"/>
            </a:endParaRPr>
          </a:p>
        </p:txBody>
      </p:sp>
      <p:cxnSp>
        <p:nvCxnSpPr>
          <p:cNvPr id="1305" name="Google Shape;1305;p175"/>
          <p:cNvCxnSpPr/>
          <p:nvPr/>
        </p:nvCxnSpPr>
        <p:spPr>
          <a:xfrm>
            <a:off x="9750" y="675975"/>
            <a:ext cx="72918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09" name="Shape 1309"/>
        <p:cNvGrpSpPr/>
        <p:nvPr/>
      </p:nvGrpSpPr>
      <p:grpSpPr>
        <a:xfrm>
          <a:off x="0" y="0"/>
          <a:ext cx="0" cy="0"/>
          <a:chOff x="0" y="0"/>
          <a:chExt cx="0" cy="0"/>
        </a:xfrm>
      </p:grpSpPr>
      <p:pic>
        <p:nvPicPr>
          <p:cNvPr id="1310" name="Google Shape;1310;p176"/>
          <p:cNvPicPr preferRelativeResize="0"/>
          <p:nvPr/>
        </p:nvPicPr>
        <p:blipFill rotWithShape="1">
          <a:blip r:embed="rId3">
            <a:alphaModFix/>
          </a:blip>
          <a:srcRect b="15680" l="11684" r="14553" t="10355"/>
          <a:stretch/>
        </p:blipFill>
        <p:spPr>
          <a:xfrm>
            <a:off x="87150" y="986500"/>
            <a:ext cx="3822623" cy="3833124"/>
          </a:xfrm>
          <a:prstGeom prst="rect">
            <a:avLst/>
          </a:prstGeom>
          <a:noFill/>
          <a:ln>
            <a:noFill/>
          </a:ln>
        </p:spPr>
      </p:pic>
      <p:sp>
        <p:nvSpPr>
          <p:cNvPr id="1311" name="Google Shape;1311;p176"/>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chemeClr val="lt1"/>
                </a:solidFill>
              </a:rPr>
              <a:t>Introducing Stacks</a:t>
            </a:r>
            <a:endParaRPr sz="2600">
              <a:solidFill>
                <a:schemeClr val="lt1"/>
              </a:solidFill>
            </a:endParaRPr>
          </a:p>
        </p:txBody>
      </p:sp>
      <p:cxnSp>
        <p:nvCxnSpPr>
          <p:cNvPr id="1312" name="Google Shape;1312;p176"/>
          <p:cNvCxnSpPr/>
          <p:nvPr/>
        </p:nvCxnSpPr>
        <p:spPr>
          <a:xfrm>
            <a:off x="1835600" y="1733075"/>
            <a:ext cx="1674000" cy="0"/>
          </a:xfrm>
          <a:prstGeom prst="straightConnector1">
            <a:avLst/>
          </a:prstGeom>
          <a:noFill/>
          <a:ln cap="flat" cmpd="sng" w="19050">
            <a:solidFill>
              <a:schemeClr val="accent2"/>
            </a:solidFill>
            <a:prstDash val="solid"/>
            <a:round/>
            <a:headEnd len="med" w="med" type="oval"/>
            <a:tailEnd len="med" w="med" type="none"/>
          </a:ln>
        </p:spPr>
      </p:cxnSp>
      <p:sp>
        <p:nvSpPr>
          <p:cNvPr id="1313" name="Google Shape;1313;p176"/>
          <p:cNvSpPr txBox="1"/>
          <p:nvPr/>
        </p:nvSpPr>
        <p:spPr>
          <a:xfrm>
            <a:off x="3668225" y="1626225"/>
            <a:ext cx="2533800" cy="30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b="1" lang="en" sz="1800">
                <a:solidFill>
                  <a:schemeClr val="lt1"/>
                </a:solidFill>
                <a:latin typeface="Roboto"/>
                <a:ea typeface="Roboto"/>
                <a:cs typeface="Roboto"/>
                <a:sym typeface="Roboto"/>
              </a:rPr>
              <a:t>Base operating system</a:t>
            </a:r>
            <a:endParaRPr b="1" sz="1800">
              <a:solidFill>
                <a:schemeClr val="lt1"/>
              </a:solidFill>
              <a:latin typeface="Roboto"/>
              <a:ea typeface="Roboto"/>
              <a:cs typeface="Roboto"/>
              <a:sym typeface="Roboto"/>
            </a:endParaRPr>
          </a:p>
        </p:txBody>
      </p:sp>
      <p:sp>
        <p:nvSpPr>
          <p:cNvPr id="1314" name="Google Shape;1314;p176"/>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solidFill>
                <a:srgbClr val="FFFFFF"/>
              </a:solidFill>
            </a:endParaRPr>
          </a:p>
        </p:txBody>
      </p:sp>
      <p:sp>
        <p:nvSpPr>
          <p:cNvPr id="1315" name="Google Shape;1315;p176"/>
          <p:cNvSpPr/>
          <p:nvPr/>
        </p:nvSpPr>
        <p:spPr>
          <a:xfrm>
            <a:off x="3668225" y="2143025"/>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316" name="Google Shape;1316;p176"/>
          <p:cNvPicPr preferRelativeResize="0"/>
          <p:nvPr/>
        </p:nvPicPr>
        <p:blipFill>
          <a:blip r:embed="rId4">
            <a:alphaModFix/>
          </a:blip>
          <a:stretch>
            <a:fillRect/>
          </a:stretch>
        </p:blipFill>
        <p:spPr>
          <a:xfrm>
            <a:off x="3940942" y="2232863"/>
            <a:ext cx="1815563" cy="441625"/>
          </a:xfrm>
          <a:prstGeom prst="rect">
            <a:avLst/>
          </a:prstGeom>
          <a:noFill/>
          <a:ln>
            <a:noFill/>
          </a:ln>
        </p:spPr>
      </p:pic>
      <p:sp>
        <p:nvSpPr>
          <p:cNvPr id="1317" name="Google Shape;1317;p176"/>
          <p:cNvSpPr/>
          <p:nvPr/>
        </p:nvSpPr>
        <p:spPr>
          <a:xfrm>
            <a:off x="3668225" y="2943125"/>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18" name="Google Shape;1318;p176"/>
          <p:cNvSpPr/>
          <p:nvPr/>
        </p:nvSpPr>
        <p:spPr>
          <a:xfrm>
            <a:off x="6246775" y="2143025"/>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319" name="Google Shape;1319;p176"/>
          <p:cNvPicPr preferRelativeResize="0"/>
          <p:nvPr/>
        </p:nvPicPr>
        <p:blipFill>
          <a:blip r:embed="rId5">
            <a:alphaModFix/>
          </a:blip>
          <a:stretch>
            <a:fillRect/>
          </a:stretch>
        </p:blipFill>
        <p:spPr>
          <a:xfrm>
            <a:off x="6519497" y="2271455"/>
            <a:ext cx="1753676" cy="413911"/>
          </a:xfrm>
          <a:prstGeom prst="rect">
            <a:avLst/>
          </a:prstGeom>
          <a:noFill/>
          <a:ln>
            <a:noFill/>
          </a:ln>
        </p:spPr>
      </p:pic>
      <p:pic>
        <p:nvPicPr>
          <p:cNvPr id="1320" name="Google Shape;1320;p176"/>
          <p:cNvPicPr preferRelativeResize="0"/>
          <p:nvPr/>
        </p:nvPicPr>
        <p:blipFill>
          <a:blip r:embed="rId6">
            <a:alphaModFix/>
          </a:blip>
          <a:stretch>
            <a:fillRect/>
          </a:stretch>
        </p:blipFill>
        <p:spPr>
          <a:xfrm>
            <a:off x="3909787" y="3049374"/>
            <a:ext cx="1815997" cy="408800"/>
          </a:xfrm>
          <a:prstGeom prst="rect">
            <a:avLst/>
          </a:prstGeom>
          <a:noFill/>
          <a:ln>
            <a:noFill/>
          </a:ln>
        </p:spPr>
      </p:pic>
      <p:sp>
        <p:nvSpPr>
          <p:cNvPr id="1321" name="Google Shape;1321;p176"/>
          <p:cNvSpPr/>
          <p:nvPr/>
        </p:nvSpPr>
        <p:spPr>
          <a:xfrm>
            <a:off x="6246775" y="2992600"/>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322" name="Google Shape;1322;p176"/>
          <p:cNvPicPr preferRelativeResize="0"/>
          <p:nvPr/>
        </p:nvPicPr>
        <p:blipFill rotWithShape="1">
          <a:blip r:embed="rId7">
            <a:alphaModFix/>
          </a:blip>
          <a:srcRect b="-10443" l="-1759" r="-1759" t="-10431"/>
          <a:stretch/>
        </p:blipFill>
        <p:spPr>
          <a:xfrm>
            <a:off x="6368927" y="3086099"/>
            <a:ext cx="2054846" cy="434300"/>
          </a:xfrm>
          <a:prstGeom prst="rect">
            <a:avLst/>
          </a:prstGeom>
          <a:noFill/>
          <a:ln>
            <a:noFill/>
          </a:ln>
        </p:spPr>
      </p:pic>
      <p:cxnSp>
        <p:nvCxnSpPr>
          <p:cNvPr id="1323" name="Google Shape;1323;p176"/>
          <p:cNvCxnSpPr/>
          <p:nvPr/>
        </p:nvCxnSpPr>
        <p:spPr>
          <a:xfrm>
            <a:off x="9750" y="675975"/>
            <a:ext cx="72918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27" name="Shape 1327"/>
        <p:cNvGrpSpPr/>
        <p:nvPr/>
      </p:nvGrpSpPr>
      <p:grpSpPr>
        <a:xfrm>
          <a:off x="0" y="0"/>
          <a:ext cx="0" cy="0"/>
          <a:chOff x="0" y="0"/>
          <a:chExt cx="0" cy="0"/>
        </a:xfrm>
      </p:grpSpPr>
      <p:pic>
        <p:nvPicPr>
          <p:cNvPr id="1328" name="Google Shape;1328;p177"/>
          <p:cNvPicPr preferRelativeResize="0"/>
          <p:nvPr/>
        </p:nvPicPr>
        <p:blipFill rotWithShape="1">
          <a:blip r:embed="rId3">
            <a:alphaModFix/>
          </a:blip>
          <a:srcRect b="13726" l="138" r="18640" t="12554"/>
          <a:stretch/>
        </p:blipFill>
        <p:spPr>
          <a:xfrm>
            <a:off x="-233300" y="1039975"/>
            <a:ext cx="4223043" cy="3833124"/>
          </a:xfrm>
          <a:prstGeom prst="rect">
            <a:avLst/>
          </a:prstGeom>
          <a:noFill/>
          <a:ln>
            <a:noFill/>
          </a:ln>
        </p:spPr>
      </p:pic>
      <p:sp>
        <p:nvSpPr>
          <p:cNvPr id="1329" name="Google Shape;1329;p177"/>
          <p:cNvSpPr/>
          <p:nvPr/>
        </p:nvSpPr>
        <p:spPr>
          <a:xfrm>
            <a:off x="3668225" y="3607250"/>
            <a:ext cx="15645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30" name="Google Shape;1330;p177"/>
          <p:cNvSpPr/>
          <p:nvPr/>
        </p:nvSpPr>
        <p:spPr>
          <a:xfrm>
            <a:off x="5380970" y="3607250"/>
            <a:ext cx="15645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31" name="Google Shape;1331;p177"/>
          <p:cNvSpPr/>
          <p:nvPr/>
        </p:nvSpPr>
        <p:spPr>
          <a:xfrm>
            <a:off x="7093716" y="3607250"/>
            <a:ext cx="15645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32" name="Google Shape;1332;p177"/>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chemeClr val="lt1"/>
                </a:solidFill>
              </a:rPr>
              <a:t>Introducing Stacks</a:t>
            </a:r>
            <a:endParaRPr sz="2600">
              <a:solidFill>
                <a:schemeClr val="lt1"/>
              </a:solidFill>
            </a:endParaRPr>
          </a:p>
        </p:txBody>
      </p:sp>
      <p:cxnSp>
        <p:nvCxnSpPr>
          <p:cNvPr id="1333" name="Google Shape;1333;p177"/>
          <p:cNvCxnSpPr/>
          <p:nvPr/>
        </p:nvCxnSpPr>
        <p:spPr>
          <a:xfrm>
            <a:off x="2064200" y="3240150"/>
            <a:ext cx="1674000" cy="0"/>
          </a:xfrm>
          <a:prstGeom prst="straightConnector1">
            <a:avLst/>
          </a:prstGeom>
          <a:noFill/>
          <a:ln cap="flat" cmpd="sng" w="19050">
            <a:solidFill>
              <a:schemeClr val="accent2"/>
            </a:solidFill>
            <a:prstDash val="solid"/>
            <a:round/>
            <a:headEnd len="med" w="med" type="oval"/>
            <a:tailEnd len="med" w="med" type="none"/>
          </a:ln>
        </p:spPr>
      </p:cxnSp>
      <p:sp>
        <p:nvSpPr>
          <p:cNvPr id="1334" name="Google Shape;1334;p177"/>
          <p:cNvSpPr txBox="1"/>
          <p:nvPr/>
        </p:nvSpPr>
        <p:spPr>
          <a:xfrm>
            <a:off x="3896825" y="3133300"/>
            <a:ext cx="2533800" cy="30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b="1" lang="en" sz="1800">
                <a:solidFill>
                  <a:schemeClr val="lt1"/>
                </a:solidFill>
                <a:latin typeface="Roboto"/>
                <a:ea typeface="Roboto"/>
                <a:cs typeface="Roboto"/>
                <a:sym typeface="Roboto"/>
              </a:rPr>
              <a:t>Front-end software</a:t>
            </a:r>
            <a:endParaRPr b="1" sz="1800">
              <a:solidFill>
                <a:schemeClr val="lt1"/>
              </a:solidFill>
              <a:latin typeface="Roboto"/>
              <a:ea typeface="Roboto"/>
              <a:cs typeface="Roboto"/>
              <a:sym typeface="Roboto"/>
            </a:endParaRPr>
          </a:p>
        </p:txBody>
      </p:sp>
      <p:pic>
        <p:nvPicPr>
          <p:cNvPr id="1335" name="Google Shape;1335;p177"/>
          <p:cNvPicPr preferRelativeResize="0"/>
          <p:nvPr/>
        </p:nvPicPr>
        <p:blipFill>
          <a:blip r:embed="rId4">
            <a:alphaModFix/>
          </a:blip>
          <a:stretch>
            <a:fillRect/>
          </a:stretch>
        </p:blipFill>
        <p:spPr>
          <a:xfrm>
            <a:off x="3830275" y="3677350"/>
            <a:ext cx="1240400" cy="481100"/>
          </a:xfrm>
          <a:prstGeom prst="rect">
            <a:avLst/>
          </a:prstGeom>
          <a:noFill/>
          <a:ln>
            <a:noFill/>
          </a:ln>
        </p:spPr>
      </p:pic>
      <p:pic>
        <p:nvPicPr>
          <p:cNvPr id="1336" name="Google Shape;1336;p177"/>
          <p:cNvPicPr preferRelativeResize="0"/>
          <p:nvPr/>
        </p:nvPicPr>
        <p:blipFill>
          <a:blip r:embed="rId5">
            <a:alphaModFix/>
          </a:blip>
          <a:stretch>
            <a:fillRect/>
          </a:stretch>
        </p:blipFill>
        <p:spPr>
          <a:xfrm>
            <a:off x="7168726" y="3680425"/>
            <a:ext cx="1414500" cy="474951"/>
          </a:xfrm>
          <a:prstGeom prst="rect">
            <a:avLst/>
          </a:prstGeom>
          <a:noFill/>
          <a:ln>
            <a:noFill/>
          </a:ln>
        </p:spPr>
      </p:pic>
      <p:pic>
        <p:nvPicPr>
          <p:cNvPr id="1337" name="Google Shape;1337;p177"/>
          <p:cNvPicPr preferRelativeResize="0"/>
          <p:nvPr/>
        </p:nvPicPr>
        <p:blipFill>
          <a:blip r:embed="rId6">
            <a:alphaModFix/>
          </a:blip>
          <a:stretch>
            <a:fillRect/>
          </a:stretch>
        </p:blipFill>
        <p:spPr>
          <a:xfrm>
            <a:off x="5509026" y="3699838"/>
            <a:ext cx="1308399" cy="436125"/>
          </a:xfrm>
          <a:prstGeom prst="rect">
            <a:avLst/>
          </a:prstGeom>
          <a:noFill/>
          <a:ln>
            <a:noFill/>
          </a:ln>
        </p:spPr>
      </p:pic>
      <p:cxnSp>
        <p:nvCxnSpPr>
          <p:cNvPr id="1338" name="Google Shape;1338;p177"/>
          <p:cNvCxnSpPr/>
          <p:nvPr/>
        </p:nvCxnSpPr>
        <p:spPr>
          <a:xfrm>
            <a:off x="9750" y="675975"/>
            <a:ext cx="72918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42" name="Shape 1342"/>
        <p:cNvGrpSpPr/>
        <p:nvPr/>
      </p:nvGrpSpPr>
      <p:grpSpPr>
        <a:xfrm>
          <a:off x="0" y="0"/>
          <a:ext cx="0" cy="0"/>
          <a:chOff x="0" y="0"/>
          <a:chExt cx="0" cy="0"/>
        </a:xfrm>
      </p:grpSpPr>
      <p:pic>
        <p:nvPicPr>
          <p:cNvPr id="1343" name="Google Shape;1343;p178"/>
          <p:cNvPicPr preferRelativeResize="0"/>
          <p:nvPr/>
        </p:nvPicPr>
        <p:blipFill rotWithShape="1">
          <a:blip r:embed="rId3">
            <a:alphaModFix/>
          </a:blip>
          <a:srcRect b="12876" l="13262" r="18018" t="14538"/>
          <a:stretch/>
        </p:blipFill>
        <p:spPr>
          <a:xfrm>
            <a:off x="158863" y="1039975"/>
            <a:ext cx="3553162" cy="3752899"/>
          </a:xfrm>
          <a:prstGeom prst="rect">
            <a:avLst/>
          </a:prstGeom>
          <a:noFill/>
          <a:ln>
            <a:noFill/>
          </a:ln>
        </p:spPr>
      </p:pic>
      <p:sp>
        <p:nvSpPr>
          <p:cNvPr id="1344" name="Google Shape;1344;p178"/>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chemeClr val="lt1"/>
                </a:solidFill>
              </a:rPr>
              <a:t>Introducing Stacks</a:t>
            </a:r>
            <a:endParaRPr sz="2600">
              <a:solidFill>
                <a:schemeClr val="lt1"/>
              </a:solidFill>
            </a:endParaRPr>
          </a:p>
        </p:txBody>
      </p:sp>
      <p:cxnSp>
        <p:nvCxnSpPr>
          <p:cNvPr id="1345" name="Google Shape;1345;p178"/>
          <p:cNvCxnSpPr/>
          <p:nvPr/>
        </p:nvCxnSpPr>
        <p:spPr>
          <a:xfrm>
            <a:off x="2140400" y="3697350"/>
            <a:ext cx="1674000" cy="0"/>
          </a:xfrm>
          <a:prstGeom prst="straightConnector1">
            <a:avLst/>
          </a:prstGeom>
          <a:noFill/>
          <a:ln cap="flat" cmpd="sng" w="19050">
            <a:solidFill>
              <a:schemeClr val="accent2"/>
            </a:solidFill>
            <a:prstDash val="solid"/>
            <a:round/>
            <a:headEnd len="med" w="med" type="oval"/>
            <a:tailEnd len="med" w="med" type="none"/>
          </a:ln>
        </p:spPr>
      </p:cxnSp>
      <p:sp>
        <p:nvSpPr>
          <p:cNvPr id="1346" name="Google Shape;1346;p178"/>
          <p:cNvSpPr txBox="1"/>
          <p:nvPr/>
        </p:nvSpPr>
        <p:spPr>
          <a:xfrm>
            <a:off x="3973025" y="3590500"/>
            <a:ext cx="2533800" cy="30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b="1" lang="en" sz="1800">
                <a:solidFill>
                  <a:schemeClr val="lt1"/>
                </a:solidFill>
                <a:latin typeface="Roboto"/>
                <a:ea typeface="Roboto"/>
                <a:cs typeface="Roboto"/>
                <a:sym typeface="Roboto"/>
              </a:rPr>
              <a:t>Back-end software</a:t>
            </a:r>
            <a:endParaRPr b="1" sz="1800">
              <a:solidFill>
                <a:schemeClr val="lt1"/>
              </a:solidFill>
              <a:latin typeface="Roboto"/>
              <a:ea typeface="Roboto"/>
              <a:cs typeface="Roboto"/>
              <a:sym typeface="Roboto"/>
            </a:endParaRPr>
          </a:p>
        </p:txBody>
      </p:sp>
      <p:sp>
        <p:nvSpPr>
          <p:cNvPr id="1347" name="Google Shape;1347;p178"/>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solidFill>
                  <a:srgbClr val="FFFFFF"/>
                </a:solidFill>
              </a:rPr>
              <a:t>‹#›</a:t>
            </a:fld>
            <a:endParaRPr sz="600">
              <a:solidFill>
                <a:srgbClr val="FFFFFF"/>
              </a:solidFill>
            </a:endParaRPr>
          </a:p>
        </p:txBody>
      </p:sp>
      <p:sp>
        <p:nvSpPr>
          <p:cNvPr id="1348" name="Google Shape;1348;p178"/>
          <p:cNvSpPr/>
          <p:nvPr/>
        </p:nvSpPr>
        <p:spPr>
          <a:xfrm>
            <a:off x="3668225" y="4001125"/>
            <a:ext cx="15645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49" name="Google Shape;1349;p178"/>
          <p:cNvSpPr/>
          <p:nvPr/>
        </p:nvSpPr>
        <p:spPr>
          <a:xfrm>
            <a:off x="5380970" y="4001125"/>
            <a:ext cx="15645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350" name="Google Shape;1350;p178"/>
          <p:cNvPicPr preferRelativeResize="0"/>
          <p:nvPr/>
        </p:nvPicPr>
        <p:blipFill>
          <a:blip r:embed="rId4">
            <a:alphaModFix/>
          </a:blip>
          <a:stretch>
            <a:fillRect/>
          </a:stretch>
        </p:blipFill>
        <p:spPr>
          <a:xfrm>
            <a:off x="4039788" y="4095750"/>
            <a:ext cx="821375" cy="432050"/>
          </a:xfrm>
          <a:prstGeom prst="rect">
            <a:avLst/>
          </a:prstGeom>
          <a:noFill/>
          <a:ln>
            <a:noFill/>
          </a:ln>
        </p:spPr>
      </p:pic>
      <p:pic>
        <p:nvPicPr>
          <p:cNvPr id="1351" name="Google Shape;1351;p178"/>
          <p:cNvPicPr preferRelativeResize="0"/>
          <p:nvPr/>
        </p:nvPicPr>
        <p:blipFill>
          <a:blip r:embed="rId5">
            <a:alphaModFix/>
          </a:blip>
          <a:stretch>
            <a:fillRect/>
          </a:stretch>
        </p:blipFill>
        <p:spPr>
          <a:xfrm>
            <a:off x="5501288" y="4151850"/>
            <a:ext cx="1323876" cy="392750"/>
          </a:xfrm>
          <a:prstGeom prst="rect">
            <a:avLst/>
          </a:prstGeom>
          <a:noFill/>
          <a:ln>
            <a:noFill/>
          </a:ln>
        </p:spPr>
      </p:pic>
      <p:sp>
        <p:nvSpPr>
          <p:cNvPr id="1352" name="Google Shape;1352;p178"/>
          <p:cNvSpPr/>
          <p:nvPr/>
        </p:nvSpPr>
        <p:spPr>
          <a:xfrm>
            <a:off x="7093716" y="4001125"/>
            <a:ext cx="15645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353" name="Google Shape;1353;p178"/>
          <p:cNvPicPr preferRelativeResize="0"/>
          <p:nvPr/>
        </p:nvPicPr>
        <p:blipFill>
          <a:blip r:embed="rId6">
            <a:alphaModFix/>
          </a:blip>
          <a:stretch>
            <a:fillRect/>
          </a:stretch>
        </p:blipFill>
        <p:spPr>
          <a:xfrm>
            <a:off x="7207175" y="4094950"/>
            <a:ext cx="1394175" cy="377425"/>
          </a:xfrm>
          <a:prstGeom prst="rect">
            <a:avLst/>
          </a:prstGeom>
          <a:noFill/>
          <a:ln>
            <a:noFill/>
          </a:ln>
        </p:spPr>
      </p:pic>
      <p:cxnSp>
        <p:nvCxnSpPr>
          <p:cNvPr id="1354" name="Google Shape;1354;p178"/>
          <p:cNvCxnSpPr/>
          <p:nvPr/>
        </p:nvCxnSpPr>
        <p:spPr>
          <a:xfrm>
            <a:off x="9750" y="675975"/>
            <a:ext cx="72918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58" name="Shape 1358"/>
        <p:cNvGrpSpPr/>
        <p:nvPr/>
      </p:nvGrpSpPr>
      <p:grpSpPr>
        <a:xfrm>
          <a:off x="0" y="0"/>
          <a:ext cx="0" cy="0"/>
          <a:chOff x="0" y="0"/>
          <a:chExt cx="0" cy="0"/>
        </a:xfrm>
      </p:grpSpPr>
      <p:pic>
        <p:nvPicPr>
          <p:cNvPr id="1359" name="Google Shape;1359;p179"/>
          <p:cNvPicPr preferRelativeResize="0"/>
          <p:nvPr/>
        </p:nvPicPr>
        <p:blipFill rotWithShape="1">
          <a:blip r:embed="rId3">
            <a:alphaModFix/>
          </a:blip>
          <a:srcRect b="12757" l="14582" r="17241" t="13245"/>
          <a:stretch/>
        </p:blipFill>
        <p:spPr>
          <a:xfrm>
            <a:off x="158875" y="995425"/>
            <a:ext cx="3498726" cy="3797448"/>
          </a:xfrm>
          <a:prstGeom prst="rect">
            <a:avLst/>
          </a:prstGeom>
          <a:noFill/>
          <a:ln>
            <a:noFill/>
          </a:ln>
        </p:spPr>
      </p:pic>
      <p:sp>
        <p:nvSpPr>
          <p:cNvPr id="1360" name="Google Shape;1360;p179"/>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chemeClr val="lt1"/>
                </a:solidFill>
              </a:rPr>
              <a:t>Introducing Stacks</a:t>
            </a:r>
            <a:endParaRPr sz="2600">
              <a:solidFill>
                <a:schemeClr val="lt1"/>
              </a:solidFill>
            </a:endParaRPr>
          </a:p>
        </p:txBody>
      </p:sp>
      <p:cxnSp>
        <p:nvCxnSpPr>
          <p:cNvPr id="1361" name="Google Shape;1361;p179"/>
          <p:cNvCxnSpPr/>
          <p:nvPr/>
        </p:nvCxnSpPr>
        <p:spPr>
          <a:xfrm>
            <a:off x="1988000" y="4272925"/>
            <a:ext cx="1674000" cy="0"/>
          </a:xfrm>
          <a:prstGeom prst="straightConnector1">
            <a:avLst/>
          </a:prstGeom>
          <a:noFill/>
          <a:ln cap="flat" cmpd="sng" w="19050">
            <a:solidFill>
              <a:schemeClr val="accent2"/>
            </a:solidFill>
            <a:prstDash val="solid"/>
            <a:round/>
            <a:headEnd len="med" w="med" type="oval"/>
            <a:tailEnd len="med" w="med" type="none"/>
          </a:ln>
        </p:spPr>
      </p:cxnSp>
      <p:sp>
        <p:nvSpPr>
          <p:cNvPr id="1362" name="Google Shape;1362;p179"/>
          <p:cNvSpPr txBox="1"/>
          <p:nvPr/>
        </p:nvSpPr>
        <p:spPr>
          <a:xfrm>
            <a:off x="3820625" y="4166075"/>
            <a:ext cx="2533800" cy="30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b="1" lang="en" sz="1800">
                <a:solidFill>
                  <a:schemeClr val="lt1"/>
                </a:solidFill>
                <a:latin typeface="Roboto"/>
                <a:ea typeface="Roboto"/>
                <a:cs typeface="Roboto"/>
                <a:sym typeface="Roboto"/>
              </a:rPr>
              <a:t>Database</a:t>
            </a:r>
            <a:endParaRPr b="1" sz="1800">
              <a:solidFill>
                <a:schemeClr val="lt1"/>
              </a:solidFill>
              <a:latin typeface="Roboto"/>
              <a:ea typeface="Roboto"/>
              <a:cs typeface="Roboto"/>
              <a:sym typeface="Roboto"/>
            </a:endParaRPr>
          </a:p>
        </p:txBody>
      </p:sp>
      <p:sp>
        <p:nvSpPr>
          <p:cNvPr id="1363" name="Google Shape;1363;p179"/>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solidFill>
                  <a:srgbClr val="FFFFFF"/>
                </a:solidFill>
              </a:rPr>
              <a:t>‹#›</a:t>
            </a:fld>
            <a:endParaRPr sz="600">
              <a:solidFill>
                <a:srgbClr val="FFFFFF"/>
              </a:solidFill>
            </a:endParaRPr>
          </a:p>
        </p:txBody>
      </p:sp>
      <p:sp>
        <p:nvSpPr>
          <p:cNvPr id="1364" name="Google Shape;1364;p179"/>
          <p:cNvSpPr/>
          <p:nvPr/>
        </p:nvSpPr>
        <p:spPr>
          <a:xfrm>
            <a:off x="3668225" y="1458750"/>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65" name="Google Shape;1365;p179"/>
          <p:cNvSpPr/>
          <p:nvPr/>
        </p:nvSpPr>
        <p:spPr>
          <a:xfrm>
            <a:off x="3668225" y="2258850"/>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66" name="Google Shape;1366;p179"/>
          <p:cNvSpPr/>
          <p:nvPr/>
        </p:nvSpPr>
        <p:spPr>
          <a:xfrm>
            <a:off x="3668225" y="3058950"/>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67" name="Google Shape;1367;p179"/>
          <p:cNvSpPr/>
          <p:nvPr/>
        </p:nvSpPr>
        <p:spPr>
          <a:xfrm>
            <a:off x="6271825" y="1458750"/>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68" name="Google Shape;1368;p179"/>
          <p:cNvSpPr/>
          <p:nvPr/>
        </p:nvSpPr>
        <p:spPr>
          <a:xfrm>
            <a:off x="6271825" y="2258850"/>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69" name="Google Shape;1369;p179"/>
          <p:cNvSpPr/>
          <p:nvPr/>
        </p:nvSpPr>
        <p:spPr>
          <a:xfrm>
            <a:off x="6271825" y="3058950"/>
            <a:ext cx="23610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370" name="Google Shape;1370;p179"/>
          <p:cNvPicPr preferRelativeResize="0"/>
          <p:nvPr/>
        </p:nvPicPr>
        <p:blipFill>
          <a:blip r:embed="rId4">
            <a:alphaModFix/>
          </a:blip>
          <a:stretch>
            <a:fillRect/>
          </a:stretch>
        </p:blipFill>
        <p:spPr>
          <a:xfrm>
            <a:off x="4466375" y="1510275"/>
            <a:ext cx="764700" cy="518250"/>
          </a:xfrm>
          <a:prstGeom prst="rect">
            <a:avLst/>
          </a:prstGeom>
          <a:noFill/>
          <a:ln>
            <a:noFill/>
          </a:ln>
        </p:spPr>
      </p:pic>
      <p:pic>
        <p:nvPicPr>
          <p:cNvPr id="1371" name="Google Shape;1371;p179"/>
          <p:cNvPicPr preferRelativeResize="0"/>
          <p:nvPr/>
        </p:nvPicPr>
        <p:blipFill>
          <a:blip r:embed="rId5">
            <a:alphaModFix/>
          </a:blip>
          <a:stretch>
            <a:fillRect/>
          </a:stretch>
        </p:blipFill>
        <p:spPr>
          <a:xfrm>
            <a:off x="4512926" y="2316975"/>
            <a:ext cx="671600" cy="505050"/>
          </a:xfrm>
          <a:prstGeom prst="rect">
            <a:avLst/>
          </a:prstGeom>
          <a:noFill/>
          <a:ln>
            <a:noFill/>
          </a:ln>
        </p:spPr>
      </p:pic>
      <p:pic>
        <p:nvPicPr>
          <p:cNvPr id="1372" name="Google Shape;1372;p179"/>
          <p:cNvPicPr preferRelativeResize="0"/>
          <p:nvPr/>
        </p:nvPicPr>
        <p:blipFill>
          <a:blip r:embed="rId6">
            <a:alphaModFix/>
          </a:blip>
          <a:stretch>
            <a:fillRect/>
          </a:stretch>
        </p:blipFill>
        <p:spPr>
          <a:xfrm>
            <a:off x="4626877" y="3105200"/>
            <a:ext cx="549100" cy="549100"/>
          </a:xfrm>
          <a:prstGeom prst="rect">
            <a:avLst/>
          </a:prstGeom>
          <a:noFill/>
          <a:ln>
            <a:noFill/>
          </a:ln>
        </p:spPr>
      </p:pic>
      <p:pic>
        <p:nvPicPr>
          <p:cNvPr id="1373" name="Google Shape;1373;p179"/>
          <p:cNvPicPr preferRelativeResize="0"/>
          <p:nvPr/>
        </p:nvPicPr>
        <p:blipFill>
          <a:blip r:embed="rId7">
            <a:alphaModFix/>
          </a:blip>
          <a:stretch>
            <a:fillRect/>
          </a:stretch>
        </p:blipFill>
        <p:spPr>
          <a:xfrm>
            <a:off x="7099350" y="1509750"/>
            <a:ext cx="642248" cy="519301"/>
          </a:xfrm>
          <a:prstGeom prst="rect">
            <a:avLst/>
          </a:prstGeom>
          <a:noFill/>
          <a:ln>
            <a:noFill/>
          </a:ln>
        </p:spPr>
      </p:pic>
      <p:pic>
        <p:nvPicPr>
          <p:cNvPr id="1374" name="Google Shape;1374;p179"/>
          <p:cNvPicPr preferRelativeResize="0"/>
          <p:nvPr/>
        </p:nvPicPr>
        <p:blipFill rotWithShape="1">
          <a:blip r:embed="rId8">
            <a:alphaModFix/>
          </a:blip>
          <a:srcRect b="37299" l="0" r="0" t="37440"/>
          <a:stretch/>
        </p:blipFill>
        <p:spPr>
          <a:xfrm>
            <a:off x="6661990" y="2369861"/>
            <a:ext cx="1580672" cy="399281"/>
          </a:xfrm>
          <a:prstGeom prst="rect">
            <a:avLst/>
          </a:prstGeom>
          <a:noFill/>
          <a:ln>
            <a:noFill/>
          </a:ln>
        </p:spPr>
      </p:pic>
      <p:pic>
        <p:nvPicPr>
          <p:cNvPr id="1375" name="Google Shape;1375;p179"/>
          <p:cNvPicPr preferRelativeResize="0"/>
          <p:nvPr/>
        </p:nvPicPr>
        <p:blipFill>
          <a:blip r:embed="rId9">
            <a:alphaModFix/>
          </a:blip>
          <a:stretch>
            <a:fillRect/>
          </a:stretch>
        </p:blipFill>
        <p:spPr>
          <a:xfrm>
            <a:off x="6672441" y="3147390"/>
            <a:ext cx="1559783" cy="444427"/>
          </a:xfrm>
          <a:prstGeom prst="rect">
            <a:avLst/>
          </a:prstGeom>
          <a:noFill/>
          <a:ln>
            <a:noFill/>
          </a:ln>
        </p:spPr>
      </p:pic>
      <p:cxnSp>
        <p:nvCxnSpPr>
          <p:cNvPr id="1376" name="Google Shape;1376;p179"/>
          <p:cNvCxnSpPr/>
          <p:nvPr/>
        </p:nvCxnSpPr>
        <p:spPr>
          <a:xfrm>
            <a:off x="9750" y="675975"/>
            <a:ext cx="72918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80" name="Shape 1380"/>
        <p:cNvGrpSpPr/>
        <p:nvPr/>
      </p:nvGrpSpPr>
      <p:grpSpPr>
        <a:xfrm>
          <a:off x="0" y="0"/>
          <a:ext cx="0" cy="0"/>
          <a:chOff x="0" y="0"/>
          <a:chExt cx="0" cy="0"/>
        </a:xfrm>
      </p:grpSpPr>
      <p:sp>
        <p:nvSpPr>
          <p:cNvPr id="1381" name="Google Shape;1381;p180"/>
          <p:cNvSpPr/>
          <p:nvPr/>
        </p:nvSpPr>
        <p:spPr>
          <a:xfrm>
            <a:off x="5534763" y="1436088"/>
            <a:ext cx="25338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382" name="Google Shape;1382;p180"/>
          <p:cNvSpPr/>
          <p:nvPr/>
        </p:nvSpPr>
        <p:spPr>
          <a:xfrm>
            <a:off x="5534763" y="2212199"/>
            <a:ext cx="25338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80"/>
          <p:cNvSpPr/>
          <p:nvPr/>
        </p:nvSpPr>
        <p:spPr>
          <a:xfrm>
            <a:off x="5534763" y="2978713"/>
            <a:ext cx="25338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80"/>
          <p:cNvSpPr/>
          <p:nvPr/>
        </p:nvSpPr>
        <p:spPr>
          <a:xfrm>
            <a:off x="5534763" y="3747638"/>
            <a:ext cx="2533800" cy="621300"/>
          </a:xfrm>
          <a:prstGeom prst="roundRect">
            <a:avLst>
              <a:gd fmla="val 16667" name="adj"/>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80"/>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Clr>
                <a:schemeClr val="dk1"/>
              </a:buClr>
              <a:buSzPts val="1100"/>
              <a:buFont typeface="Arial"/>
              <a:buNone/>
            </a:pPr>
            <a:r>
              <a:rPr lang="en" sz="2600"/>
              <a:t>LAMP Stack</a:t>
            </a:r>
            <a:endParaRPr sz="2600"/>
          </a:p>
        </p:txBody>
      </p:sp>
      <p:sp>
        <p:nvSpPr>
          <p:cNvPr id="1386" name="Google Shape;1386;p180"/>
          <p:cNvSpPr txBox="1"/>
          <p:nvPr>
            <p:ph idx="1" type="subTitle"/>
          </p:nvPr>
        </p:nvSpPr>
        <p:spPr>
          <a:xfrm>
            <a:off x="0" y="675975"/>
            <a:ext cx="9144000" cy="364800"/>
          </a:xfrm>
          <a:prstGeom prst="rect">
            <a:avLst/>
          </a:prstGeom>
        </p:spPr>
        <p:txBody>
          <a:bodyPr anchorCtr="0" anchor="t" bIns="91425" lIns="457200" spcFirstLastPara="1" rIns="365750" wrap="square" tIns="91425">
            <a:noAutofit/>
          </a:bodyPr>
          <a:lstStyle/>
          <a:p>
            <a:pPr indent="0" lvl="0" marL="0" rtl="0" algn="l">
              <a:spcBef>
                <a:spcPts val="0"/>
              </a:spcBef>
              <a:spcAft>
                <a:spcPts val="0"/>
              </a:spcAft>
              <a:buSzPts val="688"/>
              <a:buNone/>
            </a:pPr>
            <a:r>
              <a:rPr lang="en" sz="1825"/>
              <a:t>A popular example of a stack is the </a:t>
            </a:r>
            <a:r>
              <a:rPr b="1" lang="en" sz="1825"/>
              <a:t>LAMP </a:t>
            </a:r>
            <a:r>
              <a:rPr lang="en" sz="1825"/>
              <a:t>stack.</a:t>
            </a:r>
            <a:endParaRPr sz="1825"/>
          </a:p>
        </p:txBody>
      </p:sp>
      <p:sp>
        <p:nvSpPr>
          <p:cNvPr id="1387" name="Google Shape;1387;p180"/>
          <p:cNvSpPr txBox="1"/>
          <p:nvPr/>
        </p:nvSpPr>
        <p:spPr>
          <a:xfrm>
            <a:off x="676275" y="1455275"/>
            <a:ext cx="4367400" cy="606900"/>
          </a:xfrm>
          <a:prstGeom prst="rect">
            <a:avLst/>
          </a:prstGeom>
          <a:noFill/>
          <a:ln>
            <a:noFill/>
          </a:ln>
        </p:spPr>
        <p:txBody>
          <a:bodyPr anchorCtr="0" anchor="ctr" bIns="0" lIns="0" spcFirstLastPara="1" rIns="182875" wrap="square" tIns="0">
            <a:noAutofit/>
          </a:bodyPr>
          <a:lstStyle/>
          <a:p>
            <a:pPr indent="0" lvl="0" marL="0" rtl="0" algn="r">
              <a:lnSpc>
                <a:spcPct val="100000"/>
              </a:lnSpc>
              <a:spcBef>
                <a:spcPts val="0"/>
              </a:spcBef>
              <a:spcAft>
                <a:spcPts val="0"/>
              </a:spcAft>
              <a:buClr>
                <a:schemeClr val="dk1"/>
              </a:buClr>
              <a:buSzPts val="1100"/>
              <a:buFont typeface="Arial"/>
              <a:buNone/>
            </a:pPr>
            <a:r>
              <a:rPr b="1" lang="en" sz="2400">
                <a:solidFill>
                  <a:schemeClr val="dk2"/>
                </a:solidFill>
                <a:latin typeface="Roboto"/>
                <a:ea typeface="Roboto"/>
                <a:cs typeface="Roboto"/>
                <a:sym typeface="Roboto"/>
              </a:rPr>
              <a:t>L</a:t>
            </a:r>
            <a:r>
              <a:rPr lang="en" sz="1600">
                <a:solidFill>
                  <a:schemeClr val="dk2"/>
                </a:solidFill>
                <a:latin typeface="Roboto"/>
                <a:ea typeface="Roboto"/>
                <a:cs typeface="Roboto"/>
                <a:sym typeface="Roboto"/>
              </a:rPr>
              <a:t>inux as the base operating system</a:t>
            </a:r>
            <a:endParaRPr sz="1600">
              <a:solidFill>
                <a:schemeClr val="dk2"/>
              </a:solidFill>
              <a:latin typeface="Roboto"/>
              <a:ea typeface="Roboto"/>
              <a:cs typeface="Roboto"/>
              <a:sym typeface="Roboto"/>
            </a:endParaRPr>
          </a:p>
        </p:txBody>
      </p:sp>
      <p:sp>
        <p:nvSpPr>
          <p:cNvPr id="1388" name="Google Shape;1388;p180"/>
          <p:cNvSpPr txBox="1"/>
          <p:nvPr/>
        </p:nvSpPr>
        <p:spPr>
          <a:xfrm>
            <a:off x="676221" y="2214600"/>
            <a:ext cx="4367400" cy="606900"/>
          </a:xfrm>
          <a:prstGeom prst="rect">
            <a:avLst/>
          </a:prstGeom>
          <a:noFill/>
          <a:ln>
            <a:noFill/>
          </a:ln>
        </p:spPr>
        <p:txBody>
          <a:bodyPr anchorCtr="0" anchor="ctr" bIns="0" lIns="0" spcFirstLastPara="1" rIns="182875" wrap="square" tIns="0">
            <a:noAutofit/>
          </a:bodyPr>
          <a:lstStyle/>
          <a:p>
            <a:pPr indent="0" lvl="0" marL="0" rtl="0" algn="r">
              <a:lnSpc>
                <a:spcPct val="100000"/>
              </a:lnSpc>
              <a:spcBef>
                <a:spcPts val="0"/>
              </a:spcBef>
              <a:spcAft>
                <a:spcPts val="0"/>
              </a:spcAft>
              <a:buNone/>
            </a:pPr>
            <a:r>
              <a:rPr b="1" lang="en" sz="2400">
                <a:solidFill>
                  <a:schemeClr val="dk2"/>
                </a:solidFill>
                <a:latin typeface="Roboto"/>
                <a:ea typeface="Roboto"/>
                <a:cs typeface="Roboto"/>
                <a:sym typeface="Roboto"/>
              </a:rPr>
              <a:t>A</a:t>
            </a:r>
            <a:r>
              <a:rPr lang="en" sz="1600">
                <a:solidFill>
                  <a:schemeClr val="dk2"/>
                </a:solidFill>
                <a:latin typeface="Roboto"/>
                <a:ea typeface="Roboto"/>
                <a:cs typeface="Roboto"/>
                <a:sym typeface="Roboto"/>
              </a:rPr>
              <a:t>pache to handle the front-end HTTP requests &amp; responses</a:t>
            </a:r>
            <a:endParaRPr sz="1600">
              <a:solidFill>
                <a:schemeClr val="dk2"/>
              </a:solidFill>
              <a:latin typeface="Roboto"/>
              <a:ea typeface="Roboto"/>
              <a:cs typeface="Roboto"/>
              <a:sym typeface="Roboto"/>
            </a:endParaRPr>
          </a:p>
        </p:txBody>
      </p:sp>
      <p:sp>
        <p:nvSpPr>
          <p:cNvPr id="1389" name="Google Shape;1389;p180"/>
          <p:cNvSpPr txBox="1"/>
          <p:nvPr/>
        </p:nvSpPr>
        <p:spPr>
          <a:xfrm>
            <a:off x="676125" y="2981125"/>
            <a:ext cx="4367400" cy="606900"/>
          </a:xfrm>
          <a:prstGeom prst="rect">
            <a:avLst/>
          </a:prstGeom>
          <a:noFill/>
          <a:ln>
            <a:noFill/>
          </a:ln>
        </p:spPr>
        <p:txBody>
          <a:bodyPr anchorCtr="0" anchor="ctr" bIns="0" lIns="0" spcFirstLastPara="1" rIns="182875" wrap="square" tIns="0">
            <a:noAutofit/>
          </a:bodyPr>
          <a:lstStyle/>
          <a:p>
            <a:pPr indent="0" lvl="0" marL="0" rtl="0" algn="r">
              <a:lnSpc>
                <a:spcPct val="100000"/>
              </a:lnSpc>
              <a:spcBef>
                <a:spcPts val="0"/>
              </a:spcBef>
              <a:spcAft>
                <a:spcPts val="0"/>
              </a:spcAft>
              <a:buNone/>
            </a:pPr>
            <a:r>
              <a:rPr b="1" lang="en" sz="2400">
                <a:solidFill>
                  <a:schemeClr val="dk2"/>
                </a:solidFill>
                <a:latin typeface="Roboto"/>
                <a:ea typeface="Roboto"/>
                <a:cs typeface="Roboto"/>
                <a:sym typeface="Roboto"/>
              </a:rPr>
              <a:t>M</a:t>
            </a:r>
            <a:r>
              <a:rPr lang="en" sz="1600">
                <a:solidFill>
                  <a:schemeClr val="dk2"/>
                </a:solidFill>
                <a:latin typeface="Roboto"/>
                <a:ea typeface="Roboto"/>
                <a:cs typeface="Roboto"/>
                <a:sym typeface="Roboto"/>
              </a:rPr>
              <a:t>ySQL for storing data</a:t>
            </a:r>
            <a:endParaRPr sz="1600">
              <a:solidFill>
                <a:schemeClr val="dk2"/>
              </a:solidFill>
              <a:latin typeface="Roboto"/>
              <a:ea typeface="Roboto"/>
              <a:cs typeface="Roboto"/>
              <a:sym typeface="Roboto"/>
            </a:endParaRPr>
          </a:p>
        </p:txBody>
      </p:sp>
      <p:sp>
        <p:nvSpPr>
          <p:cNvPr id="1390" name="Google Shape;1390;p180"/>
          <p:cNvSpPr txBox="1"/>
          <p:nvPr/>
        </p:nvSpPr>
        <p:spPr>
          <a:xfrm>
            <a:off x="663975" y="3747650"/>
            <a:ext cx="4379400" cy="606900"/>
          </a:xfrm>
          <a:prstGeom prst="rect">
            <a:avLst/>
          </a:prstGeom>
          <a:noFill/>
          <a:ln>
            <a:noFill/>
          </a:ln>
        </p:spPr>
        <p:txBody>
          <a:bodyPr anchorCtr="0" anchor="ctr" bIns="0" lIns="0" spcFirstLastPara="1" rIns="182875" wrap="square" tIns="0">
            <a:noAutofit/>
          </a:bodyPr>
          <a:lstStyle/>
          <a:p>
            <a:pPr indent="0" lvl="0" marL="0" rtl="0" algn="r">
              <a:lnSpc>
                <a:spcPct val="100000"/>
              </a:lnSpc>
              <a:spcBef>
                <a:spcPts val="0"/>
              </a:spcBef>
              <a:spcAft>
                <a:spcPts val="0"/>
              </a:spcAft>
              <a:buNone/>
            </a:pPr>
            <a:r>
              <a:rPr b="1" lang="en" sz="2400">
                <a:solidFill>
                  <a:schemeClr val="dk2"/>
                </a:solidFill>
                <a:latin typeface="Roboto"/>
                <a:ea typeface="Roboto"/>
                <a:cs typeface="Roboto"/>
                <a:sym typeface="Roboto"/>
              </a:rPr>
              <a:t>P</a:t>
            </a:r>
            <a:r>
              <a:rPr lang="en" sz="1600">
                <a:solidFill>
                  <a:schemeClr val="dk2"/>
                </a:solidFill>
                <a:latin typeface="Roboto"/>
                <a:ea typeface="Roboto"/>
                <a:cs typeface="Roboto"/>
                <a:sym typeface="Roboto"/>
              </a:rPr>
              <a:t>HP for back-end transformation of front-end requests and responses to database queries</a:t>
            </a:r>
            <a:endParaRPr sz="1600">
              <a:solidFill>
                <a:schemeClr val="dk2"/>
              </a:solidFill>
              <a:latin typeface="Roboto"/>
              <a:ea typeface="Roboto"/>
              <a:cs typeface="Roboto"/>
              <a:sym typeface="Roboto"/>
            </a:endParaRPr>
          </a:p>
        </p:txBody>
      </p:sp>
      <p:pic>
        <p:nvPicPr>
          <p:cNvPr id="1391" name="Google Shape;1391;p180"/>
          <p:cNvPicPr preferRelativeResize="0"/>
          <p:nvPr/>
        </p:nvPicPr>
        <p:blipFill>
          <a:blip r:embed="rId3">
            <a:alphaModFix/>
          </a:blip>
          <a:stretch>
            <a:fillRect/>
          </a:stretch>
        </p:blipFill>
        <p:spPr>
          <a:xfrm>
            <a:off x="6101544" y="2255998"/>
            <a:ext cx="1375933" cy="533700"/>
          </a:xfrm>
          <a:prstGeom prst="rect">
            <a:avLst/>
          </a:prstGeom>
          <a:noFill/>
          <a:ln>
            <a:noFill/>
          </a:ln>
        </p:spPr>
      </p:pic>
      <p:pic>
        <p:nvPicPr>
          <p:cNvPr id="1392" name="Google Shape;1392;p180"/>
          <p:cNvPicPr preferRelativeResize="0"/>
          <p:nvPr/>
        </p:nvPicPr>
        <p:blipFill>
          <a:blip r:embed="rId4">
            <a:alphaModFix/>
          </a:blip>
          <a:stretch>
            <a:fillRect/>
          </a:stretch>
        </p:blipFill>
        <p:spPr>
          <a:xfrm>
            <a:off x="6401060" y="3027311"/>
            <a:ext cx="776900" cy="526507"/>
          </a:xfrm>
          <a:prstGeom prst="rect">
            <a:avLst/>
          </a:prstGeom>
          <a:noFill/>
          <a:ln>
            <a:noFill/>
          </a:ln>
        </p:spPr>
      </p:pic>
      <p:sp>
        <p:nvSpPr>
          <p:cNvPr id="1393" name="Google Shape;1393;p180"/>
          <p:cNvSpPr/>
          <p:nvPr/>
        </p:nvSpPr>
        <p:spPr>
          <a:xfrm flipH="1">
            <a:off x="5205425" y="1455275"/>
            <a:ext cx="142800" cy="29196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4" name="Google Shape;1394;p180"/>
          <p:cNvPicPr preferRelativeResize="0"/>
          <p:nvPr/>
        </p:nvPicPr>
        <p:blipFill>
          <a:blip r:embed="rId5">
            <a:alphaModFix/>
          </a:blip>
          <a:stretch>
            <a:fillRect/>
          </a:stretch>
        </p:blipFill>
        <p:spPr>
          <a:xfrm>
            <a:off x="6485538" y="1494575"/>
            <a:ext cx="607949" cy="504348"/>
          </a:xfrm>
          <a:prstGeom prst="rect">
            <a:avLst/>
          </a:prstGeom>
          <a:noFill/>
          <a:ln>
            <a:noFill/>
          </a:ln>
        </p:spPr>
      </p:pic>
      <p:pic>
        <p:nvPicPr>
          <p:cNvPr id="1395" name="Google Shape;1395;p180"/>
          <p:cNvPicPr preferRelativeResize="0"/>
          <p:nvPr/>
        </p:nvPicPr>
        <p:blipFill>
          <a:blip r:embed="rId6">
            <a:alphaModFix/>
          </a:blip>
          <a:stretch>
            <a:fillRect/>
          </a:stretch>
        </p:blipFill>
        <p:spPr>
          <a:xfrm>
            <a:off x="6358750" y="3829325"/>
            <a:ext cx="861524" cy="453150"/>
          </a:xfrm>
          <a:prstGeom prst="rect">
            <a:avLst/>
          </a:prstGeom>
          <a:noFill/>
          <a:ln>
            <a:noFill/>
          </a:ln>
        </p:spPr>
      </p:pic>
      <p:cxnSp>
        <p:nvCxnSpPr>
          <p:cNvPr id="1396" name="Google Shape;1396;p180"/>
          <p:cNvCxnSpPr/>
          <p:nvPr/>
        </p:nvCxnSpPr>
        <p:spPr>
          <a:xfrm>
            <a:off x="9750" y="675975"/>
            <a:ext cx="72918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0" name="Shape 1400"/>
        <p:cNvGrpSpPr/>
        <p:nvPr/>
      </p:nvGrpSpPr>
      <p:grpSpPr>
        <a:xfrm>
          <a:off x="0" y="0"/>
          <a:ext cx="0" cy="0"/>
          <a:chOff x="0" y="0"/>
          <a:chExt cx="0" cy="0"/>
        </a:xfrm>
      </p:grpSpPr>
      <p:pic>
        <p:nvPicPr>
          <p:cNvPr id="1401" name="Google Shape;1401;p181"/>
          <p:cNvPicPr preferRelativeResize="0"/>
          <p:nvPr/>
        </p:nvPicPr>
        <p:blipFill rotWithShape="1">
          <a:blip r:embed="rId3">
            <a:alphaModFix/>
          </a:blip>
          <a:srcRect b="17982" l="2894" r="1585" t="3831"/>
          <a:stretch/>
        </p:blipFill>
        <p:spPr>
          <a:xfrm>
            <a:off x="2401037" y="1193174"/>
            <a:ext cx="4706926" cy="2080350"/>
          </a:xfrm>
          <a:prstGeom prst="rect">
            <a:avLst/>
          </a:prstGeom>
          <a:noFill/>
          <a:ln>
            <a:noFill/>
          </a:ln>
        </p:spPr>
      </p:pic>
      <p:cxnSp>
        <p:nvCxnSpPr>
          <p:cNvPr id="1402" name="Google Shape;1402;p181"/>
          <p:cNvCxnSpPr>
            <a:stCxn id="1401" idx="2"/>
          </p:cNvCxnSpPr>
          <p:nvPr/>
        </p:nvCxnSpPr>
        <p:spPr>
          <a:xfrm rot="5400000">
            <a:off x="2999950" y="1667474"/>
            <a:ext cx="148500" cy="3360600"/>
          </a:xfrm>
          <a:prstGeom prst="bentConnector2">
            <a:avLst/>
          </a:prstGeom>
          <a:noFill/>
          <a:ln cap="flat" cmpd="sng" w="9525">
            <a:solidFill>
              <a:schemeClr val="dk2"/>
            </a:solidFill>
            <a:prstDash val="solid"/>
            <a:round/>
            <a:headEnd len="med" w="med" type="none"/>
            <a:tailEnd len="med" w="med" type="none"/>
          </a:ln>
        </p:spPr>
      </p:cxnSp>
      <p:cxnSp>
        <p:nvCxnSpPr>
          <p:cNvPr id="1403" name="Google Shape;1403;p181"/>
          <p:cNvCxnSpPr/>
          <p:nvPr/>
        </p:nvCxnSpPr>
        <p:spPr>
          <a:xfrm flipH="1" rot="-5400000">
            <a:off x="6360550" y="1667474"/>
            <a:ext cx="148500" cy="3360600"/>
          </a:xfrm>
          <a:prstGeom prst="bentConnector2">
            <a:avLst/>
          </a:prstGeom>
          <a:noFill/>
          <a:ln cap="flat" cmpd="sng" w="9525">
            <a:solidFill>
              <a:schemeClr val="dk2"/>
            </a:solidFill>
            <a:prstDash val="solid"/>
            <a:round/>
            <a:headEnd len="med" w="med" type="none"/>
            <a:tailEnd len="med" w="med" type="none"/>
          </a:ln>
        </p:spPr>
      </p:cxnSp>
      <p:pic>
        <p:nvPicPr>
          <p:cNvPr id="1404" name="Google Shape;1404;p181"/>
          <p:cNvPicPr preferRelativeResize="0"/>
          <p:nvPr/>
        </p:nvPicPr>
        <p:blipFill>
          <a:blip r:embed="rId4">
            <a:alphaModFix/>
          </a:blip>
          <a:stretch>
            <a:fillRect/>
          </a:stretch>
        </p:blipFill>
        <p:spPr>
          <a:xfrm>
            <a:off x="415525" y="3815664"/>
            <a:ext cx="1855775" cy="425025"/>
          </a:xfrm>
          <a:prstGeom prst="rect">
            <a:avLst/>
          </a:prstGeom>
          <a:noFill/>
          <a:ln>
            <a:noFill/>
          </a:ln>
        </p:spPr>
      </p:pic>
      <p:cxnSp>
        <p:nvCxnSpPr>
          <p:cNvPr id="1405" name="Google Shape;1405;p181"/>
          <p:cNvCxnSpPr/>
          <p:nvPr/>
        </p:nvCxnSpPr>
        <p:spPr>
          <a:xfrm>
            <a:off x="1393900" y="3417250"/>
            <a:ext cx="0" cy="264300"/>
          </a:xfrm>
          <a:prstGeom prst="straightConnector1">
            <a:avLst/>
          </a:prstGeom>
          <a:noFill/>
          <a:ln cap="flat" cmpd="sng" w="9525">
            <a:solidFill>
              <a:schemeClr val="dk2"/>
            </a:solidFill>
            <a:prstDash val="solid"/>
            <a:round/>
            <a:headEnd len="med" w="med" type="none"/>
            <a:tailEnd len="med" w="med" type="none"/>
          </a:ln>
        </p:spPr>
      </p:cxnSp>
      <p:pic>
        <p:nvPicPr>
          <p:cNvPr id="1406" name="Google Shape;1406;p181"/>
          <p:cNvPicPr preferRelativeResize="0"/>
          <p:nvPr/>
        </p:nvPicPr>
        <p:blipFill>
          <a:blip r:embed="rId5">
            <a:alphaModFix/>
          </a:blip>
          <a:stretch>
            <a:fillRect/>
          </a:stretch>
        </p:blipFill>
        <p:spPr>
          <a:xfrm>
            <a:off x="2418000" y="4345562"/>
            <a:ext cx="1312397" cy="255800"/>
          </a:xfrm>
          <a:prstGeom prst="rect">
            <a:avLst/>
          </a:prstGeom>
          <a:noFill/>
          <a:ln>
            <a:noFill/>
          </a:ln>
        </p:spPr>
      </p:pic>
      <p:pic>
        <p:nvPicPr>
          <p:cNvPr id="1407" name="Google Shape;1407;p181"/>
          <p:cNvPicPr preferRelativeResize="0"/>
          <p:nvPr/>
        </p:nvPicPr>
        <p:blipFill>
          <a:blip r:embed="rId6">
            <a:alphaModFix/>
          </a:blip>
          <a:stretch>
            <a:fillRect/>
          </a:stretch>
        </p:blipFill>
        <p:spPr>
          <a:xfrm>
            <a:off x="4097175" y="3815664"/>
            <a:ext cx="1314650" cy="272175"/>
          </a:xfrm>
          <a:prstGeom prst="rect">
            <a:avLst/>
          </a:prstGeom>
          <a:noFill/>
          <a:ln>
            <a:noFill/>
          </a:ln>
        </p:spPr>
      </p:pic>
      <p:pic>
        <p:nvPicPr>
          <p:cNvPr id="1408" name="Google Shape;1408;p181"/>
          <p:cNvPicPr preferRelativeResize="0"/>
          <p:nvPr/>
        </p:nvPicPr>
        <p:blipFill rotWithShape="1">
          <a:blip r:embed="rId7">
            <a:alphaModFix/>
          </a:blip>
          <a:srcRect b="9346" l="0" r="0" t="0"/>
          <a:stretch/>
        </p:blipFill>
        <p:spPr>
          <a:xfrm>
            <a:off x="5977850" y="3825275"/>
            <a:ext cx="913900" cy="1014901"/>
          </a:xfrm>
          <a:prstGeom prst="rect">
            <a:avLst/>
          </a:prstGeom>
          <a:noFill/>
          <a:ln>
            <a:noFill/>
          </a:ln>
        </p:spPr>
      </p:pic>
      <p:cxnSp>
        <p:nvCxnSpPr>
          <p:cNvPr id="1409" name="Google Shape;1409;p181"/>
          <p:cNvCxnSpPr/>
          <p:nvPr/>
        </p:nvCxnSpPr>
        <p:spPr>
          <a:xfrm>
            <a:off x="8115100" y="3417250"/>
            <a:ext cx="0" cy="264300"/>
          </a:xfrm>
          <a:prstGeom prst="straightConnector1">
            <a:avLst/>
          </a:prstGeom>
          <a:noFill/>
          <a:ln cap="flat" cmpd="sng" w="9525">
            <a:solidFill>
              <a:schemeClr val="dk2"/>
            </a:solidFill>
            <a:prstDash val="solid"/>
            <a:round/>
            <a:headEnd len="med" w="med" type="none"/>
            <a:tailEnd len="med" w="med" type="none"/>
          </a:ln>
        </p:spPr>
      </p:cxnSp>
      <p:sp>
        <p:nvSpPr>
          <p:cNvPr id="1410" name="Google Shape;1410;p181"/>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LAMP Stack</a:t>
            </a:r>
            <a:endParaRPr sz="2600"/>
          </a:p>
        </p:txBody>
      </p:sp>
      <p:sp>
        <p:nvSpPr>
          <p:cNvPr id="1411" name="Google Shape;1411;p181"/>
          <p:cNvSpPr txBox="1"/>
          <p:nvPr>
            <p:ph idx="1" type="subTitle"/>
          </p:nvPr>
        </p:nvSpPr>
        <p:spPr>
          <a:xfrm>
            <a:off x="0" y="761925"/>
            <a:ext cx="9144000" cy="465300"/>
          </a:xfrm>
          <a:prstGeom prst="rect">
            <a:avLst/>
          </a:prstGeom>
        </p:spPr>
        <p:txBody>
          <a:bodyPr anchorCtr="0" anchor="t" bIns="0" lIns="457200" spcFirstLastPara="1" rIns="457200" wrap="square" tIns="91425">
            <a:noAutofit/>
          </a:bodyPr>
          <a:lstStyle/>
          <a:p>
            <a:pPr indent="0" lvl="0" marL="0" rtl="0" algn="l">
              <a:lnSpc>
                <a:spcPct val="105000"/>
              </a:lnSpc>
              <a:spcBef>
                <a:spcPts val="0"/>
              </a:spcBef>
              <a:spcAft>
                <a:spcPts val="0"/>
              </a:spcAft>
              <a:buSzPts val="523"/>
              <a:buNone/>
            </a:pPr>
            <a:r>
              <a:rPr lang="en"/>
              <a:t>The LAMP stack is considered the tried and true web stack, with a long history </a:t>
            </a:r>
            <a:br>
              <a:rPr lang="en"/>
            </a:br>
            <a:r>
              <a:rPr lang="en"/>
              <a:t>of use in architecting web applications</a:t>
            </a:r>
            <a:r>
              <a:rPr lang="en" sz="1400">
                <a:latin typeface="Roboto Light"/>
                <a:ea typeface="Roboto Light"/>
                <a:cs typeface="Roboto Light"/>
                <a:sym typeface="Roboto Light"/>
              </a:rPr>
              <a:t>.</a:t>
            </a:r>
            <a:endParaRPr sz="1400">
              <a:latin typeface="Roboto Light"/>
              <a:ea typeface="Roboto Light"/>
              <a:cs typeface="Roboto Light"/>
              <a:sym typeface="Roboto Light"/>
            </a:endParaRPr>
          </a:p>
        </p:txBody>
      </p:sp>
      <p:sp>
        <p:nvSpPr>
          <p:cNvPr id="1412" name="Google Shape;1412;p181"/>
          <p:cNvSpPr txBox="1"/>
          <p:nvPr>
            <p:ph idx="2" type="body"/>
          </p:nvPr>
        </p:nvSpPr>
        <p:spPr>
          <a:xfrm>
            <a:off x="61775" y="1708200"/>
            <a:ext cx="4111500" cy="897900"/>
          </a:xfrm>
          <a:prstGeom prst="rect">
            <a:avLst/>
          </a:prstGeom>
        </p:spPr>
        <p:txBody>
          <a:bodyPr anchorCtr="0" anchor="t" bIns="914400" lIns="457200" spcFirstLastPara="1" rIns="457200" wrap="square" tIns="0">
            <a:noAutofit/>
          </a:bodyPr>
          <a:lstStyle/>
          <a:p>
            <a:pPr indent="0" lvl="0" marL="0" rtl="0" algn="l">
              <a:lnSpc>
                <a:spcPct val="95000"/>
              </a:lnSpc>
              <a:spcBef>
                <a:spcPts val="0"/>
              </a:spcBef>
              <a:spcAft>
                <a:spcPts val="800"/>
              </a:spcAft>
              <a:buSzPts val="275"/>
              <a:buNone/>
            </a:pPr>
            <a:r>
              <a:rPr lang="en"/>
              <a:t>The following sites either still use or originally used the </a:t>
            </a:r>
            <a:r>
              <a:rPr lang="en"/>
              <a:t>LAMP</a:t>
            </a:r>
            <a:r>
              <a:rPr lang="en"/>
              <a:t> stack:</a:t>
            </a:r>
            <a:endParaRPr/>
          </a:p>
        </p:txBody>
      </p:sp>
      <p:pic>
        <p:nvPicPr>
          <p:cNvPr id="1413" name="Google Shape;1413;p181"/>
          <p:cNvPicPr preferRelativeResize="0"/>
          <p:nvPr/>
        </p:nvPicPr>
        <p:blipFill>
          <a:blip r:embed="rId8">
            <a:alphaModFix/>
          </a:blip>
          <a:stretch>
            <a:fillRect/>
          </a:stretch>
        </p:blipFill>
        <p:spPr>
          <a:xfrm>
            <a:off x="7349076" y="3815664"/>
            <a:ext cx="1532050" cy="387925"/>
          </a:xfrm>
          <a:prstGeom prst="rect">
            <a:avLst/>
          </a:prstGeom>
          <a:noFill/>
          <a:ln>
            <a:noFill/>
          </a:ln>
        </p:spPr>
      </p:pic>
      <p:cxnSp>
        <p:nvCxnSpPr>
          <p:cNvPr id="1414" name="Google Shape;1414;p181"/>
          <p:cNvCxnSpPr/>
          <p:nvPr/>
        </p:nvCxnSpPr>
        <p:spPr>
          <a:xfrm>
            <a:off x="3074200" y="3417250"/>
            <a:ext cx="0" cy="748500"/>
          </a:xfrm>
          <a:prstGeom prst="straightConnector1">
            <a:avLst/>
          </a:prstGeom>
          <a:noFill/>
          <a:ln cap="flat" cmpd="sng" w="9525">
            <a:solidFill>
              <a:schemeClr val="dk2"/>
            </a:solidFill>
            <a:prstDash val="solid"/>
            <a:round/>
            <a:headEnd len="med" w="med" type="none"/>
            <a:tailEnd len="med" w="med" type="none"/>
          </a:ln>
        </p:spPr>
      </p:cxnSp>
      <p:cxnSp>
        <p:nvCxnSpPr>
          <p:cNvPr id="1415" name="Google Shape;1415;p181"/>
          <p:cNvCxnSpPr/>
          <p:nvPr/>
        </p:nvCxnSpPr>
        <p:spPr>
          <a:xfrm>
            <a:off x="4754500" y="3417250"/>
            <a:ext cx="0" cy="264300"/>
          </a:xfrm>
          <a:prstGeom prst="straightConnector1">
            <a:avLst/>
          </a:prstGeom>
          <a:noFill/>
          <a:ln cap="flat" cmpd="sng" w="9525">
            <a:solidFill>
              <a:schemeClr val="dk2"/>
            </a:solidFill>
            <a:prstDash val="solid"/>
            <a:round/>
            <a:headEnd len="med" w="med" type="none"/>
            <a:tailEnd len="med" w="med" type="none"/>
          </a:ln>
        </p:spPr>
      </p:cxnSp>
      <p:cxnSp>
        <p:nvCxnSpPr>
          <p:cNvPr id="1416" name="Google Shape;1416;p181"/>
          <p:cNvCxnSpPr/>
          <p:nvPr/>
        </p:nvCxnSpPr>
        <p:spPr>
          <a:xfrm>
            <a:off x="6434800" y="3417250"/>
            <a:ext cx="0" cy="264300"/>
          </a:xfrm>
          <a:prstGeom prst="straightConnector1">
            <a:avLst/>
          </a:prstGeom>
          <a:noFill/>
          <a:ln cap="flat" cmpd="sng" w="9525">
            <a:solidFill>
              <a:schemeClr val="dk2"/>
            </a:solidFill>
            <a:prstDash val="solid"/>
            <a:round/>
            <a:headEnd len="med" w="med" type="none"/>
            <a:tailEnd len="med" w="med" type="none"/>
          </a:ln>
        </p:spPr>
      </p:cxnSp>
      <p:cxnSp>
        <p:nvCxnSpPr>
          <p:cNvPr id="1417" name="Google Shape;1417;p181"/>
          <p:cNvCxnSpPr/>
          <p:nvPr/>
        </p:nvCxnSpPr>
        <p:spPr>
          <a:xfrm>
            <a:off x="9750" y="675975"/>
            <a:ext cx="72918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21" name="Shape 1421"/>
        <p:cNvGrpSpPr/>
        <p:nvPr/>
      </p:nvGrpSpPr>
      <p:grpSpPr>
        <a:xfrm>
          <a:off x="0" y="0"/>
          <a:ext cx="0" cy="0"/>
          <a:chOff x="0" y="0"/>
          <a:chExt cx="0" cy="0"/>
        </a:xfrm>
      </p:grpSpPr>
      <p:sp>
        <p:nvSpPr>
          <p:cNvPr id="1422" name="Google Shape;1422;p182"/>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More Stacks</a:t>
            </a:r>
            <a:endParaRPr/>
          </a:p>
        </p:txBody>
      </p:sp>
      <p:sp>
        <p:nvSpPr>
          <p:cNvPr id="1423" name="Google Shape;1423;p182"/>
          <p:cNvSpPr/>
          <p:nvPr/>
        </p:nvSpPr>
        <p:spPr>
          <a:xfrm>
            <a:off x="4789600" y="933450"/>
            <a:ext cx="3251400" cy="3793200"/>
          </a:xfrm>
          <a:prstGeom prst="rect">
            <a:avLst/>
          </a:prstGeom>
          <a:solidFill>
            <a:schemeClr val="accent1"/>
          </a:solidFill>
          <a:ln cap="flat" cmpd="sng" w="9525">
            <a:solidFill>
              <a:srgbClr val="434343"/>
            </a:solidFill>
            <a:prstDash val="solid"/>
            <a:round/>
            <a:headEnd len="sm" w="sm" type="none"/>
            <a:tailEnd len="sm" w="sm" type="none"/>
          </a:ln>
          <a:effectLst>
            <a:outerShdw blurRad="57150" rotWithShape="0" algn="bl" dir="5400000" dist="19050">
              <a:srgbClr val="000000">
                <a:alpha val="36000"/>
              </a:srgbClr>
            </a:outerShdw>
          </a:effectLst>
        </p:spPr>
        <p:txBody>
          <a:bodyPr anchorCtr="0" anchor="b" bIns="137150" lIns="91425" spcFirstLastPara="1" rIns="91425" wrap="square" tIns="228600">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Linux operating system</a:t>
            </a:r>
            <a:endParaRPr b="1" sz="1800">
              <a:solidFill>
                <a:schemeClr val="dk2"/>
              </a:solidFill>
              <a:latin typeface="Roboto"/>
              <a:ea typeface="Roboto"/>
              <a:cs typeface="Roboto"/>
              <a:sym typeface="Roboto"/>
            </a:endParaRPr>
          </a:p>
        </p:txBody>
      </p:sp>
      <p:sp>
        <p:nvSpPr>
          <p:cNvPr id="1424" name="Google Shape;1424;p182"/>
          <p:cNvSpPr/>
          <p:nvPr/>
        </p:nvSpPr>
        <p:spPr>
          <a:xfrm>
            <a:off x="5005598" y="1243105"/>
            <a:ext cx="2832300" cy="852900"/>
          </a:xfrm>
          <a:prstGeom prst="rect">
            <a:avLst/>
          </a:prstGeom>
          <a:solidFill>
            <a:schemeClr val="accent2"/>
          </a:solidFill>
          <a:ln cap="flat" cmpd="sng" w="9525">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Front-end server</a:t>
            </a:r>
            <a:endParaRPr b="1" sz="1800">
              <a:solidFill>
                <a:schemeClr val="dk2"/>
              </a:solidFill>
              <a:latin typeface="Roboto"/>
              <a:ea typeface="Roboto"/>
              <a:cs typeface="Roboto"/>
              <a:sym typeface="Roboto"/>
            </a:endParaRPr>
          </a:p>
        </p:txBody>
      </p:sp>
      <p:sp>
        <p:nvSpPr>
          <p:cNvPr id="1425" name="Google Shape;1425;p182"/>
          <p:cNvSpPr/>
          <p:nvPr/>
        </p:nvSpPr>
        <p:spPr>
          <a:xfrm>
            <a:off x="5005598" y="2244678"/>
            <a:ext cx="2832300" cy="852900"/>
          </a:xfrm>
          <a:prstGeom prst="rect">
            <a:avLst/>
          </a:prstGeom>
          <a:solidFill>
            <a:schemeClr val="accent3"/>
          </a:solidFill>
          <a:ln cap="flat" cmpd="sng" w="9525">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Back-end </a:t>
            </a:r>
            <a:br>
              <a:rPr b="1" lang="en" sz="1800">
                <a:solidFill>
                  <a:srgbClr val="FFFFFF"/>
                </a:solidFill>
                <a:latin typeface="Roboto"/>
                <a:ea typeface="Roboto"/>
                <a:cs typeface="Roboto"/>
                <a:sym typeface="Roboto"/>
              </a:rPr>
            </a:br>
            <a:r>
              <a:rPr b="1" lang="en" sz="1800">
                <a:solidFill>
                  <a:srgbClr val="FFFFFF"/>
                </a:solidFill>
                <a:latin typeface="Roboto"/>
                <a:ea typeface="Roboto"/>
                <a:cs typeface="Roboto"/>
                <a:sym typeface="Roboto"/>
              </a:rPr>
              <a:t>application server</a:t>
            </a:r>
            <a:endParaRPr b="1" sz="1800">
              <a:solidFill>
                <a:srgbClr val="FFFFFF"/>
              </a:solidFill>
              <a:latin typeface="Roboto"/>
              <a:ea typeface="Roboto"/>
              <a:cs typeface="Roboto"/>
              <a:sym typeface="Roboto"/>
            </a:endParaRPr>
          </a:p>
        </p:txBody>
      </p:sp>
      <p:sp>
        <p:nvSpPr>
          <p:cNvPr id="1426" name="Google Shape;1426;p182"/>
          <p:cNvSpPr/>
          <p:nvPr/>
        </p:nvSpPr>
        <p:spPr>
          <a:xfrm>
            <a:off x="5005598" y="3258375"/>
            <a:ext cx="2832300" cy="852900"/>
          </a:xfrm>
          <a:prstGeom prst="rect">
            <a:avLst/>
          </a:prstGeom>
          <a:solidFill>
            <a:schemeClr val="lt1"/>
          </a:solidFill>
          <a:ln cap="flat" cmpd="sng" w="9525">
            <a:solidFill>
              <a:srgbClr val="0434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                      </a:t>
            </a:r>
            <a:r>
              <a:rPr b="1" lang="en" sz="1800">
                <a:solidFill>
                  <a:schemeClr val="dk2"/>
                </a:solidFill>
                <a:latin typeface="Roboto"/>
                <a:ea typeface="Roboto"/>
                <a:cs typeface="Roboto"/>
                <a:sym typeface="Roboto"/>
              </a:rPr>
              <a:t>Database</a:t>
            </a:r>
            <a:endParaRPr b="1" sz="1800">
              <a:solidFill>
                <a:schemeClr val="dk2"/>
              </a:solidFill>
              <a:latin typeface="Roboto"/>
              <a:ea typeface="Roboto"/>
              <a:cs typeface="Roboto"/>
              <a:sym typeface="Roboto"/>
            </a:endParaRPr>
          </a:p>
        </p:txBody>
      </p:sp>
      <p:pic>
        <p:nvPicPr>
          <p:cNvPr id="1427" name="Google Shape;1427;p182"/>
          <p:cNvPicPr preferRelativeResize="0"/>
          <p:nvPr/>
        </p:nvPicPr>
        <p:blipFill>
          <a:blip r:embed="rId3">
            <a:alphaModFix/>
          </a:blip>
          <a:stretch>
            <a:fillRect/>
          </a:stretch>
        </p:blipFill>
        <p:spPr>
          <a:xfrm>
            <a:off x="5336575" y="3329362"/>
            <a:ext cx="1049075" cy="710975"/>
          </a:xfrm>
          <a:prstGeom prst="rect">
            <a:avLst/>
          </a:prstGeom>
          <a:noFill/>
          <a:ln>
            <a:noFill/>
          </a:ln>
        </p:spPr>
      </p:pic>
      <p:pic>
        <p:nvPicPr>
          <p:cNvPr id="1428" name="Google Shape;1428;p182"/>
          <p:cNvPicPr preferRelativeResize="0"/>
          <p:nvPr/>
        </p:nvPicPr>
        <p:blipFill>
          <a:blip r:embed="rId4">
            <a:alphaModFix/>
          </a:blip>
          <a:stretch>
            <a:fillRect/>
          </a:stretch>
        </p:blipFill>
        <p:spPr>
          <a:xfrm>
            <a:off x="7734899" y="3462707"/>
            <a:ext cx="1208905" cy="1450719"/>
          </a:xfrm>
          <a:prstGeom prst="rect">
            <a:avLst/>
          </a:prstGeom>
          <a:noFill/>
          <a:ln>
            <a:noFill/>
          </a:ln>
        </p:spPr>
      </p:pic>
      <p:sp>
        <p:nvSpPr>
          <p:cNvPr id="1429" name="Google Shape;1429;p182"/>
          <p:cNvSpPr txBox="1"/>
          <p:nvPr>
            <p:ph idx="1" type="subTitle"/>
          </p:nvPr>
        </p:nvSpPr>
        <p:spPr>
          <a:xfrm>
            <a:off x="152400" y="828375"/>
            <a:ext cx="4572000" cy="10956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Clr>
                <a:schemeClr val="dk1"/>
              </a:buClr>
              <a:buSzPts val="1100"/>
              <a:buFont typeface="Arial"/>
              <a:buNone/>
            </a:pPr>
            <a:r>
              <a:rPr lang="en"/>
              <a:t>These days, there are many more web stacks, which use different variations of software.</a:t>
            </a:r>
            <a:endParaRPr/>
          </a:p>
        </p:txBody>
      </p:sp>
      <p:sp>
        <p:nvSpPr>
          <p:cNvPr id="1430" name="Google Shape;1430;p182"/>
          <p:cNvSpPr txBox="1"/>
          <p:nvPr>
            <p:ph idx="2" type="body"/>
          </p:nvPr>
        </p:nvSpPr>
        <p:spPr>
          <a:xfrm>
            <a:off x="152400" y="2066250"/>
            <a:ext cx="4343400" cy="1548900"/>
          </a:xfrm>
          <a:prstGeom prst="rect">
            <a:avLst/>
          </a:prstGeom>
        </p:spPr>
        <p:txBody>
          <a:bodyPr anchorCtr="0" anchor="t" bIns="914400" lIns="457200" spcFirstLastPara="1" rIns="457200" wrap="square" tIns="0">
            <a:noAutofit/>
          </a:bodyPr>
          <a:lstStyle/>
          <a:p>
            <a:pPr indent="0" lvl="0" marL="0" rtl="0" algn="l">
              <a:lnSpc>
                <a:spcPct val="135000"/>
              </a:lnSpc>
              <a:spcBef>
                <a:spcPts val="0"/>
              </a:spcBef>
              <a:spcAft>
                <a:spcPts val="0"/>
              </a:spcAft>
              <a:buNone/>
            </a:pPr>
            <a:r>
              <a:rPr lang="en">
                <a:solidFill>
                  <a:schemeClr val="dk2"/>
                </a:solidFill>
                <a:highlight>
                  <a:schemeClr val="accent1"/>
                </a:highlight>
              </a:rPr>
              <a:t> But what stacks should we use. </a:t>
            </a:r>
            <a:br>
              <a:rPr lang="en">
                <a:solidFill>
                  <a:schemeClr val="dk2"/>
                </a:solidFill>
                <a:highlight>
                  <a:schemeClr val="accent1"/>
                </a:highlight>
              </a:rPr>
            </a:br>
            <a:r>
              <a:rPr lang="en">
                <a:solidFill>
                  <a:schemeClr val="dk2"/>
                </a:solidFill>
                <a:highlight>
                  <a:schemeClr val="accent1"/>
                </a:highlight>
              </a:rPr>
              <a:t> for our own web application?</a:t>
            </a:r>
            <a:r>
              <a:rPr lang="en">
                <a:highlight>
                  <a:srgbClr val="F49B19"/>
                </a:highlight>
              </a:rPr>
              <a:t> </a:t>
            </a:r>
            <a:endParaRPr>
              <a:highlight>
                <a:srgbClr val="F49B19"/>
              </a:highlight>
            </a:endParaRPr>
          </a:p>
          <a:p>
            <a:pPr indent="0" lvl="0" marL="0" rtl="0" algn="l">
              <a:spcBef>
                <a:spcPts val="1600"/>
              </a:spcBef>
              <a:spcAft>
                <a:spcPts val="0"/>
              </a:spcAft>
              <a:buNone/>
            </a:pPr>
            <a:r>
              <a:rPr lang="en"/>
              <a:t>Let’s take a look at some options. </a:t>
            </a:r>
            <a:endParaRPr/>
          </a:p>
          <a:p>
            <a:pPr indent="0" lvl="0" marL="0" rtl="0" algn="l">
              <a:spcBef>
                <a:spcPts val="1600"/>
              </a:spcBef>
              <a:spcAft>
                <a:spcPts val="0"/>
              </a:spcAft>
              <a:buNone/>
            </a:pPr>
            <a:r>
              <a:t/>
            </a:r>
            <a:endParaRPr/>
          </a:p>
          <a:p>
            <a:pPr indent="0" lvl="0" marL="0" rtl="0" algn="l">
              <a:spcBef>
                <a:spcPts val="800"/>
              </a:spcBef>
              <a:spcAft>
                <a:spcPts val="0"/>
              </a:spcAft>
              <a:buClr>
                <a:schemeClr val="dk1"/>
              </a:buClr>
              <a:buSzPts val="1100"/>
              <a:buFont typeface="Arial"/>
              <a:buNone/>
            </a:pPr>
            <a:r>
              <a:t/>
            </a:r>
            <a:endParaRPr/>
          </a:p>
          <a:p>
            <a:pPr indent="0" lvl="0" marL="0" rtl="0" algn="l">
              <a:spcBef>
                <a:spcPts val="800"/>
              </a:spcBef>
              <a:spcAft>
                <a:spcPts val="800"/>
              </a:spcAft>
              <a:buNone/>
            </a:pPr>
            <a:r>
              <a:t/>
            </a:r>
            <a:endParaRPr/>
          </a:p>
        </p:txBody>
      </p:sp>
      <p:cxnSp>
        <p:nvCxnSpPr>
          <p:cNvPr id="1431" name="Google Shape;1431;p182"/>
          <p:cNvCxnSpPr/>
          <p:nvPr/>
        </p:nvCxnSpPr>
        <p:spPr>
          <a:xfrm>
            <a:off x="9750" y="675975"/>
            <a:ext cx="72918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183"/>
          <p:cNvSpPr/>
          <p:nvPr/>
        </p:nvSpPr>
        <p:spPr>
          <a:xfrm>
            <a:off x="4601875" y="3597700"/>
            <a:ext cx="3615000" cy="1250700"/>
          </a:xfrm>
          <a:prstGeom prst="roundRect">
            <a:avLst>
              <a:gd fmla="val 115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83"/>
          <p:cNvSpPr/>
          <p:nvPr/>
        </p:nvSpPr>
        <p:spPr>
          <a:xfrm>
            <a:off x="762750" y="3597700"/>
            <a:ext cx="3615000" cy="1250700"/>
          </a:xfrm>
          <a:prstGeom prst="roundRect">
            <a:avLst>
              <a:gd fmla="val 115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83"/>
          <p:cNvSpPr/>
          <p:nvPr/>
        </p:nvSpPr>
        <p:spPr>
          <a:xfrm>
            <a:off x="762750" y="1347550"/>
            <a:ext cx="7454100" cy="944700"/>
          </a:xfrm>
          <a:prstGeom prst="roundRect">
            <a:avLst>
              <a:gd fmla="val 115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83"/>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Common</a:t>
            </a:r>
            <a:r>
              <a:rPr lang="en" sz="2600"/>
              <a:t> Web Architecture: Operating Systems</a:t>
            </a:r>
            <a:endParaRPr sz="2600"/>
          </a:p>
        </p:txBody>
      </p:sp>
      <p:sp>
        <p:nvSpPr>
          <p:cNvPr id="1440" name="Google Shape;1440;p183"/>
          <p:cNvSpPr txBox="1"/>
          <p:nvPr>
            <p:ph idx="1" type="subTitle"/>
          </p:nvPr>
        </p:nvSpPr>
        <p:spPr>
          <a:xfrm>
            <a:off x="0" y="752175"/>
            <a:ext cx="9144000" cy="364800"/>
          </a:xfrm>
          <a:prstGeom prst="rect">
            <a:avLst/>
          </a:prstGeom>
        </p:spPr>
        <p:txBody>
          <a:bodyPr anchorCtr="0" anchor="t" bIns="91425" lIns="457200" spcFirstLastPara="1" rIns="0" wrap="square" tIns="91425">
            <a:noAutofit/>
          </a:bodyPr>
          <a:lstStyle/>
          <a:p>
            <a:pPr indent="0" lvl="0" marL="0" rtl="0" algn="l">
              <a:spcBef>
                <a:spcPts val="0"/>
              </a:spcBef>
              <a:spcAft>
                <a:spcPts val="0"/>
              </a:spcAft>
              <a:buSzPts val="688"/>
              <a:buNone/>
            </a:pPr>
            <a:r>
              <a:rPr lang="en" sz="1825"/>
              <a:t>Let’s start by comparing the different</a:t>
            </a:r>
            <a:r>
              <a:rPr lang="en" sz="1825">
                <a:latin typeface="Roboto Medium"/>
                <a:ea typeface="Roboto Medium"/>
                <a:cs typeface="Roboto Medium"/>
                <a:sym typeface="Roboto Medium"/>
              </a:rPr>
              <a:t> operating systems</a:t>
            </a:r>
            <a:r>
              <a:rPr lang="en" sz="1825">
                <a:latin typeface="Roboto Light"/>
                <a:ea typeface="Roboto Light"/>
                <a:cs typeface="Roboto Light"/>
                <a:sym typeface="Roboto Light"/>
              </a:rPr>
              <a:t> </a:t>
            </a:r>
            <a:r>
              <a:rPr lang="en" sz="1825"/>
              <a:t>available for our services.</a:t>
            </a:r>
            <a:endParaRPr sz="1825"/>
          </a:p>
        </p:txBody>
      </p:sp>
      <p:sp>
        <p:nvSpPr>
          <p:cNvPr id="1441" name="Google Shape;1441;p183"/>
          <p:cNvSpPr txBox="1"/>
          <p:nvPr>
            <p:ph idx="2" type="body"/>
          </p:nvPr>
        </p:nvSpPr>
        <p:spPr>
          <a:xfrm>
            <a:off x="4377750" y="1478125"/>
            <a:ext cx="3418200" cy="814200"/>
          </a:xfrm>
          <a:prstGeom prst="rect">
            <a:avLst/>
          </a:prstGeom>
          <a:ln>
            <a:noFill/>
          </a:ln>
        </p:spPr>
        <p:txBody>
          <a:bodyPr anchorCtr="0" anchor="t" bIns="0" lIns="0" spcFirstLastPara="1" rIns="0" wrap="square" tIns="0">
            <a:noAutofit/>
          </a:bodyPr>
          <a:lstStyle/>
          <a:p>
            <a:pPr indent="0" lvl="0" marL="0" rtl="0" algn="l">
              <a:lnSpc>
                <a:spcPct val="100000"/>
              </a:lnSpc>
              <a:spcBef>
                <a:spcPts val="0"/>
              </a:spcBef>
              <a:spcAft>
                <a:spcPts val="800"/>
              </a:spcAft>
              <a:buNone/>
            </a:pPr>
            <a:r>
              <a:rPr lang="en" sz="1500"/>
              <a:t>The </a:t>
            </a:r>
            <a:r>
              <a:rPr b="1" lang="en" sz="1500"/>
              <a:t>Alpine Linux</a:t>
            </a:r>
            <a:r>
              <a:rPr lang="en" sz="1500"/>
              <a:t> is a super lightweight </a:t>
            </a:r>
            <a:br>
              <a:rPr lang="en" sz="1500"/>
            </a:br>
            <a:r>
              <a:rPr lang="en" sz="1500"/>
              <a:t>Linux distribution that has the minimum requirements to run containers.</a:t>
            </a:r>
            <a:endParaRPr sz="1500"/>
          </a:p>
        </p:txBody>
      </p:sp>
      <p:sp>
        <p:nvSpPr>
          <p:cNvPr id="1442" name="Google Shape;1442;p183"/>
          <p:cNvSpPr txBox="1"/>
          <p:nvPr/>
        </p:nvSpPr>
        <p:spPr>
          <a:xfrm>
            <a:off x="0" y="2578325"/>
            <a:ext cx="9168600" cy="433800"/>
          </a:xfrm>
          <a:prstGeom prst="rect">
            <a:avLst/>
          </a:prstGeom>
          <a:noFill/>
          <a:ln>
            <a:noFill/>
          </a:ln>
        </p:spPr>
        <p:txBody>
          <a:bodyPr anchorCtr="0" anchor="t" bIns="0" lIns="457200" spcFirstLastPara="1" rIns="457200" wrap="square" tIns="0">
            <a:noAutofit/>
          </a:bodyPr>
          <a:lstStyle/>
          <a:p>
            <a:pPr indent="0" lvl="0" marL="0" rtl="0" algn="l">
              <a:spcBef>
                <a:spcPts val="0"/>
              </a:spcBef>
              <a:spcAft>
                <a:spcPts val="500"/>
              </a:spcAft>
              <a:buNone/>
            </a:pPr>
            <a:r>
              <a:rPr lang="en" sz="1800">
                <a:solidFill>
                  <a:schemeClr val="dk2"/>
                </a:solidFill>
                <a:latin typeface="Roboto"/>
                <a:ea typeface="Roboto"/>
                <a:cs typeface="Roboto"/>
                <a:sym typeface="Roboto"/>
              </a:rPr>
              <a:t>Other container-friendly operating systems include most other Linux distributions, such as Ubuntu, and more recent versions of Windows Server. </a:t>
            </a:r>
            <a:r>
              <a:rPr lang="en" sz="1800">
                <a:solidFill>
                  <a:schemeClr val="dk2"/>
                </a:solidFill>
                <a:latin typeface="Roboto"/>
                <a:ea typeface="Roboto"/>
                <a:cs typeface="Roboto"/>
                <a:sym typeface="Roboto"/>
              </a:rPr>
              <a:t>The following</a:t>
            </a:r>
            <a:r>
              <a:rPr lang="en" sz="1800">
                <a:solidFill>
                  <a:schemeClr val="dk2"/>
                </a:solidFill>
                <a:latin typeface="Roboto"/>
                <a:ea typeface="Roboto"/>
                <a:cs typeface="Roboto"/>
                <a:sym typeface="Roboto"/>
              </a:rPr>
              <a:t> base operating systems are used for web applications:</a:t>
            </a:r>
            <a:endParaRPr>
              <a:solidFill>
                <a:schemeClr val="dk2"/>
              </a:solidFill>
              <a:latin typeface="Roboto"/>
              <a:ea typeface="Roboto"/>
              <a:cs typeface="Roboto"/>
              <a:sym typeface="Roboto"/>
            </a:endParaRPr>
          </a:p>
        </p:txBody>
      </p:sp>
      <p:pic>
        <p:nvPicPr>
          <p:cNvPr id="1443" name="Google Shape;1443;p183"/>
          <p:cNvPicPr preferRelativeResize="0"/>
          <p:nvPr/>
        </p:nvPicPr>
        <p:blipFill>
          <a:blip r:embed="rId3">
            <a:alphaModFix/>
          </a:blip>
          <a:stretch>
            <a:fillRect/>
          </a:stretch>
        </p:blipFill>
        <p:spPr>
          <a:xfrm>
            <a:off x="1202550" y="1478125"/>
            <a:ext cx="2735400" cy="665375"/>
          </a:xfrm>
          <a:prstGeom prst="rect">
            <a:avLst/>
          </a:prstGeom>
          <a:noFill/>
          <a:ln>
            <a:noFill/>
          </a:ln>
        </p:spPr>
      </p:pic>
      <p:pic>
        <p:nvPicPr>
          <p:cNvPr id="1444" name="Google Shape;1444;p183"/>
          <p:cNvPicPr preferRelativeResize="0"/>
          <p:nvPr/>
        </p:nvPicPr>
        <p:blipFill>
          <a:blip r:embed="rId4">
            <a:alphaModFix/>
          </a:blip>
          <a:stretch>
            <a:fillRect/>
          </a:stretch>
        </p:blipFill>
        <p:spPr>
          <a:xfrm>
            <a:off x="2683724" y="4011924"/>
            <a:ext cx="1368486" cy="322990"/>
          </a:xfrm>
          <a:prstGeom prst="rect">
            <a:avLst/>
          </a:prstGeom>
          <a:noFill/>
          <a:ln>
            <a:noFill/>
          </a:ln>
        </p:spPr>
      </p:pic>
      <p:sp>
        <p:nvSpPr>
          <p:cNvPr id="1445" name="Google Shape;1445;p183"/>
          <p:cNvSpPr txBox="1"/>
          <p:nvPr/>
        </p:nvSpPr>
        <p:spPr>
          <a:xfrm>
            <a:off x="990800" y="3637150"/>
            <a:ext cx="3210000" cy="323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800">
                <a:latin typeface="Roboto"/>
                <a:ea typeface="Roboto"/>
                <a:cs typeface="Roboto"/>
                <a:sym typeface="Roboto"/>
              </a:rPr>
              <a:t>Common Linux distros such as:</a:t>
            </a:r>
            <a:endParaRPr sz="1800"/>
          </a:p>
        </p:txBody>
      </p:sp>
      <p:sp>
        <p:nvSpPr>
          <p:cNvPr id="1446" name="Google Shape;1446;p183"/>
          <p:cNvSpPr txBox="1"/>
          <p:nvPr/>
        </p:nvSpPr>
        <p:spPr>
          <a:xfrm>
            <a:off x="4811100" y="3637150"/>
            <a:ext cx="3312300" cy="323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800">
                <a:latin typeface="Roboto"/>
                <a:ea typeface="Roboto"/>
                <a:cs typeface="Roboto"/>
                <a:sym typeface="Roboto"/>
              </a:rPr>
              <a:t>Windows Server </a:t>
            </a:r>
            <a:r>
              <a:rPr lang="en" sz="1800">
                <a:latin typeface="Roboto"/>
                <a:ea typeface="Roboto"/>
                <a:cs typeface="Roboto"/>
                <a:sym typeface="Roboto"/>
              </a:rPr>
              <a:t>2016</a:t>
            </a:r>
            <a:r>
              <a:rPr lang="en" sz="1800">
                <a:latin typeface="Roboto"/>
                <a:ea typeface="Roboto"/>
                <a:cs typeface="Roboto"/>
                <a:sym typeface="Roboto"/>
              </a:rPr>
              <a:t> and higher</a:t>
            </a:r>
            <a:endParaRPr sz="1800"/>
          </a:p>
        </p:txBody>
      </p:sp>
      <p:pic>
        <p:nvPicPr>
          <p:cNvPr id="1447" name="Google Shape;1447;p183"/>
          <p:cNvPicPr preferRelativeResize="0"/>
          <p:nvPr/>
        </p:nvPicPr>
        <p:blipFill>
          <a:blip r:embed="rId5">
            <a:alphaModFix/>
          </a:blip>
          <a:stretch>
            <a:fillRect/>
          </a:stretch>
        </p:blipFill>
        <p:spPr>
          <a:xfrm>
            <a:off x="1088288" y="4034190"/>
            <a:ext cx="1234299" cy="278450"/>
          </a:xfrm>
          <a:prstGeom prst="rect">
            <a:avLst/>
          </a:prstGeom>
          <a:noFill/>
          <a:ln>
            <a:noFill/>
          </a:ln>
        </p:spPr>
      </p:pic>
      <p:pic>
        <p:nvPicPr>
          <p:cNvPr id="1448" name="Google Shape;1448;p183"/>
          <p:cNvPicPr preferRelativeResize="0"/>
          <p:nvPr/>
        </p:nvPicPr>
        <p:blipFill>
          <a:blip r:embed="rId6">
            <a:alphaModFix/>
          </a:blip>
          <a:stretch>
            <a:fillRect/>
          </a:stretch>
        </p:blipFill>
        <p:spPr>
          <a:xfrm>
            <a:off x="1801075" y="4433127"/>
            <a:ext cx="1538342" cy="278450"/>
          </a:xfrm>
          <a:prstGeom prst="rect">
            <a:avLst/>
          </a:prstGeom>
          <a:noFill/>
          <a:ln>
            <a:noFill/>
          </a:ln>
        </p:spPr>
      </p:pic>
      <p:pic>
        <p:nvPicPr>
          <p:cNvPr id="1449" name="Google Shape;1449;p183"/>
          <p:cNvPicPr preferRelativeResize="0"/>
          <p:nvPr/>
        </p:nvPicPr>
        <p:blipFill>
          <a:blip r:embed="rId7">
            <a:alphaModFix/>
          </a:blip>
          <a:stretch>
            <a:fillRect/>
          </a:stretch>
        </p:blipFill>
        <p:spPr>
          <a:xfrm>
            <a:off x="5059325" y="4090247"/>
            <a:ext cx="2700099" cy="523400"/>
          </a:xfrm>
          <a:prstGeom prst="rect">
            <a:avLst/>
          </a:prstGeom>
          <a:noFill/>
          <a:ln>
            <a:noFill/>
          </a:ln>
        </p:spPr>
      </p:pic>
      <p:cxnSp>
        <p:nvCxnSpPr>
          <p:cNvPr id="1450" name="Google Shape;1450;p183"/>
          <p:cNvCxnSpPr/>
          <p:nvPr/>
        </p:nvCxnSpPr>
        <p:spPr>
          <a:xfrm>
            <a:off x="9750" y="675975"/>
            <a:ext cx="72918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84"/>
          <p:cNvSpPr/>
          <p:nvPr/>
        </p:nvSpPr>
        <p:spPr>
          <a:xfrm>
            <a:off x="5801900" y="2720875"/>
            <a:ext cx="2080800" cy="645300"/>
          </a:xfrm>
          <a:prstGeom prst="roundRect">
            <a:avLst>
              <a:gd fmla="val 1225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84"/>
          <p:cNvSpPr/>
          <p:nvPr/>
        </p:nvSpPr>
        <p:spPr>
          <a:xfrm>
            <a:off x="5801900" y="3504754"/>
            <a:ext cx="2080800" cy="645300"/>
          </a:xfrm>
          <a:prstGeom prst="roundRect">
            <a:avLst>
              <a:gd fmla="val 1225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84"/>
          <p:cNvSpPr/>
          <p:nvPr/>
        </p:nvSpPr>
        <p:spPr>
          <a:xfrm>
            <a:off x="5801900" y="4288634"/>
            <a:ext cx="2080800" cy="645300"/>
          </a:xfrm>
          <a:prstGeom prst="roundRect">
            <a:avLst>
              <a:gd fmla="val 1225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84"/>
          <p:cNvSpPr/>
          <p:nvPr/>
        </p:nvSpPr>
        <p:spPr>
          <a:xfrm>
            <a:off x="420075" y="3045075"/>
            <a:ext cx="1246800" cy="1203000"/>
          </a:xfrm>
          <a:prstGeom prst="roundRect">
            <a:avLst>
              <a:gd fmla="val 1225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84"/>
          <p:cNvSpPr/>
          <p:nvPr/>
        </p:nvSpPr>
        <p:spPr>
          <a:xfrm>
            <a:off x="1772322" y="3045075"/>
            <a:ext cx="1246800" cy="1203000"/>
          </a:xfrm>
          <a:prstGeom prst="roundRect">
            <a:avLst>
              <a:gd fmla="val 1225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84"/>
          <p:cNvSpPr/>
          <p:nvPr/>
        </p:nvSpPr>
        <p:spPr>
          <a:xfrm>
            <a:off x="3124570" y="3045075"/>
            <a:ext cx="1246800" cy="1203000"/>
          </a:xfrm>
          <a:prstGeom prst="roundRect">
            <a:avLst>
              <a:gd fmla="val 1225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84"/>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Common Web Architecture: Front-end Server</a:t>
            </a:r>
            <a:endParaRPr sz="2600"/>
          </a:p>
        </p:txBody>
      </p:sp>
      <p:sp>
        <p:nvSpPr>
          <p:cNvPr id="1462" name="Google Shape;1462;p184"/>
          <p:cNvSpPr txBox="1"/>
          <p:nvPr>
            <p:ph idx="1" type="subTitle"/>
          </p:nvPr>
        </p:nvSpPr>
        <p:spPr>
          <a:xfrm>
            <a:off x="0" y="675975"/>
            <a:ext cx="8607900" cy="364800"/>
          </a:xfrm>
          <a:prstGeom prst="rect">
            <a:avLst/>
          </a:prstGeom>
        </p:spPr>
        <p:txBody>
          <a:bodyPr anchorCtr="0" anchor="t" bIns="91425" lIns="457200" spcFirstLastPara="1" rIns="365750" wrap="square" tIns="91425">
            <a:noAutofit/>
          </a:bodyPr>
          <a:lstStyle/>
          <a:p>
            <a:pPr indent="0" lvl="0" marL="0" rtl="0" algn="l">
              <a:spcBef>
                <a:spcPts val="0"/>
              </a:spcBef>
              <a:spcAft>
                <a:spcPts val="0"/>
              </a:spcAft>
              <a:buSzPts val="523"/>
              <a:buNone/>
            </a:pPr>
            <a:r>
              <a:rPr lang="en"/>
              <a:t>Our front-end server handles the HTTP requests and responses. It is usually some form of HTTP server running on a lightweight containerized operating system. </a:t>
            </a:r>
            <a:r>
              <a:rPr lang="en"/>
              <a:t>The front-end server is the part of a web application that renders the visual components of a web application.</a:t>
            </a:r>
            <a:endParaRPr/>
          </a:p>
          <a:p>
            <a:pPr indent="0" lvl="0" marL="0" rtl="0" algn="l">
              <a:spcBef>
                <a:spcPts val="0"/>
              </a:spcBef>
              <a:spcAft>
                <a:spcPts val="0"/>
              </a:spcAft>
              <a:buSzPts val="523"/>
              <a:buNone/>
            </a:pPr>
            <a:r>
              <a:t/>
            </a:r>
            <a:endParaRPr/>
          </a:p>
          <a:p>
            <a:pPr indent="0" lvl="0" marL="0" rtl="0" algn="l">
              <a:spcBef>
                <a:spcPts val="0"/>
              </a:spcBef>
              <a:spcAft>
                <a:spcPts val="0"/>
              </a:spcAft>
              <a:buSzPts val="523"/>
              <a:buNone/>
            </a:pPr>
            <a:r>
              <a:t/>
            </a:r>
            <a:endParaRPr sz="1455"/>
          </a:p>
        </p:txBody>
      </p:sp>
      <p:pic>
        <p:nvPicPr>
          <p:cNvPr id="1463" name="Google Shape;1463;p184"/>
          <p:cNvPicPr preferRelativeResize="0"/>
          <p:nvPr/>
        </p:nvPicPr>
        <p:blipFill>
          <a:blip r:embed="rId3">
            <a:alphaModFix/>
          </a:blip>
          <a:stretch>
            <a:fillRect/>
          </a:stretch>
        </p:blipFill>
        <p:spPr>
          <a:xfrm>
            <a:off x="750488" y="3255600"/>
            <a:ext cx="585976" cy="826527"/>
          </a:xfrm>
          <a:prstGeom prst="rect">
            <a:avLst/>
          </a:prstGeom>
          <a:noFill/>
          <a:ln>
            <a:noFill/>
          </a:ln>
        </p:spPr>
      </p:pic>
      <p:sp>
        <p:nvSpPr>
          <p:cNvPr id="1464" name="Google Shape;1464;p184"/>
          <p:cNvSpPr txBox="1"/>
          <p:nvPr>
            <p:ph idx="2" type="body"/>
          </p:nvPr>
        </p:nvSpPr>
        <p:spPr>
          <a:xfrm>
            <a:off x="913200" y="2281825"/>
            <a:ext cx="2780400" cy="364800"/>
          </a:xfrm>
          <a:prstGeom prst="rect">
            <a:avLst/>
          </a:prstGeom>
        </p:spPr>
        <p:txBody>
          <a:bodyPr anchorCtr="0" anchor="t" bIns="0" lIns="0" spcFirstLastPara="1" rIns="0" wrap="square" tIns="0">
            <a:noAutofit/>
          </a:bodyPr>
          <a:lstStyle/>
          <a:p>
            <a:pPr indent="0" lvl="0" marL="0" rtl="0" algn="ctr">
              <a:spcBef>
                <a:spcPts val="0"/>
              </a:spcBef>
              <a:spcAft>
                <a:spcPts val="800"/>
              </a:spcAft>
              <a:buNone/>
            </a:pPr>
            <a:r>
              <a:rPr b="1" lang="en"/>
              <a:t>Primary front-end web design languages:</a:t>
            </a:r>
            <a:endParaRPr b="1"/>
          </a:p>
        </p:txBody>
      </p:sp>
      <p:pic>
        <p:nvPicPr>
          <p:cNvPr id="1465" name="Google Shape;1465;p184"/>
          <p:cNvPicPr preferRelativeResize="0"/>
          <p:nvPr/>
        </p:nvPicPr>
        <p:blipFill rotWithShape="1">
          <a:blip r:embed="rId4">
            <a:alphaModFix/>
          </a:blip>
          <a:srcRect b="0" l="288" r="288" t="0"/>
          <a:stretch/>
        </p:blipFill>
        <p:spPr>
          <a:xfrm>
            <a:off x="2102737" y="3255600"/>
            <a:ext cx="585976" cy="826508"/>
          </a:xfrm>
          <a:prstGeom prst="rect">
            <a:avLst/>
          </a:prstGeom>
          <a:noFill/>
          <a:ln>
            <a:noFill/>
          </a:ln>
        </p:spPr>
      </p:pic>
      <p:pic>
        <p:nvPicPr>
          <p:cNvPr id="1466" name="Google Shape;1466;p184"/>
          <p:cNvPicPr preferRelativeResize="0"/>
          <p:nvPr/>
        </p:nvPicPr>
        <p:blipFill>
          <a:blip r:embed="rId5">
            <a:alphaModFix/>
          </a:blip>
          <a:stretch>
            <a:fillRect/>
          </a:stretch>
        </p:blipFill>
        <p:spPr>
          <a:xfrm>
            <a:off x="3412846" y="3333739"/>
            <a:ext cx="670249" cy="670249"/>
          </a:xfrm>
          <a:prstGeom prst="rect">
            <a:avLst/>
          </a:prstGeom>
          <a:noFill/>
          <a:ln>
            <a:noFill/>
          </a:ln>
        </p:spPr>
      </p:pic>
      <p:pic>
        <p:nvPicPr>
          <p:cNvPr id="1467" name="Google Shape;1467;p184"/>
          <p:cNvPicPr preferRelativeResize="0"/>
          <p:nvPr/>
        </p:nvPicPr>
        <p:blipFill>
          <a:blip r:embed="rId6">
            <a:alphaModFix/>
          </a:blip>
          <a:stretch>
            <a:fillRect/>
          </a:stretch>
        </p:blipFill>
        <p:spPr>
          <a:xfrm>
            <a:off x="4334025" y="2311849"/>
            <a:ext cx="827450" cy="2677587"/>
          </a:xfrm>
          <a:prstGeom prst="rect">
            <a:avLst/>
          </a:prstGeom>
          <a:noFill/>
          <a:ln>
            <a:noFill/>
          </a:ln>
        </p:spPr>
      </p:pic>
      <p:sp>
        <p:nvSpPr>
          <p:cNvPr id="1468" name="Google Shape;1468;p184"/>
          <p:cNvSpPr txBox="1"/>
          <p:nvPr>
            <p:ph idx="2" type="body"/>
          </p:nvPr>
        </p:nvSpPr>
        <p:spPr>
          <a:xfrm>
            <a:off x="5161475" y="2245875"/>
            <a:ext cx="2911500" cy="364800"/>
          </a:xfrm>
          <a:prstGeom prst="rect">
            <a:avLst/>
          </a:prstGeom>
        </p:spPr>
        <p:txBody>
          <a:bodyPr anchorCtr="0" anchor="t" bIns="0" lIns="0" spcFirstLastPara="1" rIns="0" wrap="square" tIns="0">
            <a:noAutofit/>
          </a:bodyPr>
          <a:lstStyle/>
          <a:p>
            <a:pPr indent="0" lvl="0" marL="0" rtl="0" algn="ctr">
              <a:spcBef>
                <a:spcPts val="0"/>
              </a:spcBef>
              <a:spcAft>
                <a:spcPts val="800"/>
              </a:spcAft>
              <a:buNone/>
            </a:pPr>
            <a:r>
              <a:rPr b="1" lang="en"/>
              <a:t>Specific examples of front-end servers:</a:t>
            </a:r>
            <a:endParaRPr b="1"/>
          </a:p>
        </p:txBody>
      </p:sp>
      <p:pic>
        <p:nvPicPr>
          <p:cNvPr id="1469" name="Google Shape;1469;p184"/>
          <p:cNvPicPr preferRelativeResize="0"/>
          <p:nvPr/>
        </p:nvPicPr>
        <p:blipFill>
          <a:blip r:embed="rId7">
            <a:alphaModFix/>
          </a:blip>
          <a:stretch>
            <a:fillRect/>
          </a:stretch>
        </p:blipFill>
        <p:spPr>
          <a:xfrm>
            <a:off x="6170822" y="2833956"/>
            <a:ext cx="1342865" cy="520850"/>
          </a:xfrm>
          <a:prstGeom prst="rect">
            <a:avLst/>
          </a:prstGeom>
          <a:noFill/>
          <a:ln>
            <a:noFill/>
          </a:ln>
        </p:spPr>
      </p:pic>
      <p:pic>
        <p:nvPicPr>
          <p:cNvPr id="1470" name="Google Shape;1470;p184"/>
          <p:cNvPicPr preferRelativeResize="0"/>
          <p:nvPr/>
        </p:nvPicPr>
        <p:blipFill>
          <a:blip r:embed="rId8">
            <a:alphaModFix/>
          </a:blip>
          <a:stretch>
            <a:fillRect/>
          </a:stretch>
        </p:blipFill>
        <p:spPr>
          <a:xfrm>
            <a:off x="5992429" y="3542028"/>
            <a:ext cx="1699648" cy="570691"/>
          </a:xfrm>
          <a:prstGeom prst="rect">
            <a:avLst/>
          </a:prstGeom>
          <a:noFill/>
          <a:ln>
            <a:noFill/>
          </a:ln>
        </p:spPr>
      </p:pic>
      <p:pic>
        <p:nvPicPr>
          <p:cNvPr id="1471" name="Google Shape;1471;p184"/>
          <p:cNvPicPr preferRelativeResize="0"/>
          <p:nvPr/>
        </p:nvPicPr>
        <p:blipFill>
          <a:blip r:embed="rId9">
            <a:alphaModFix/>
          </a:blip>
          <a:stretch>
            <a:fillRect/>
          </a:stretch>
        </p:blipFill>
        <p:spPr>
          <a:xfrm>
            <a:off x="5987071" y="4339237"/>
            <a:ext cx="1710366" cy="570125"/>
          </a:xfrm>
          <a:prstGeom prst="rect">
            <a:avLst/>
          </a:prstGeom>
          <a:noFill/>
          <a:ln>
            <a:noFill/>
          </a:ln>
        </p:spPr>
      </p:pic>
      <p:cxnSp>
        <p:nvCxnSpPr>
          <p:cNvPr id="1472" name="Google Shape;1472;p184"/>
          <p:cNvCxnSpPr/>
          <p:nvPr/>
        </p:nvCxnSpPr>
        <p:spPr>
          <a:xfrm>
            <a:off x="9750" y="675975"/>
            <a:ext cx="72918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185"/>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Common Web Architecture: Database Server</a:t>
            </a:r>
            <a:endParaRPr sz="2600"/>
          </a:p>
        </p:txBody>
      </p:sp>
      <p:sp>
        <p:nvSpPr>
          <p:cNvPr id="1478" name="Google Shape;1478;p185"/>
          <p:cNvSpPr txBox="1"/>
          <p:nvPr>
            <p:ph idx="1" type="subTitle"/>
          </p:nvPr>
        </p:nvSpPr>
        <p:spPr>
          <a:xfrm>
            <a:off x="0" y="828375"/>
            <a:ext cx="9144000" cy="364800"/>
          </a:xfrm>
          <a:prstGeom prst="rect">
            <a:avLst/>
          </a:prstGeom>
        </p:spPr>
        <p:txBody>
          <a:bodyPr anchorCtr="0" anchor="t" bIns="0" lIns="457200" spcFirstLastPara="1" rIns="457200" wrap="square" tIns="91425">
            <a:noAutofit/>
          </a:bodyPr>
          <a:lstStyle/>
          <a:p>
            <a:pPr indent="0" lvl="0" marL="0" rtl="0" algn="l">
              <a:lnSpc>
                <a:spcPct val="105000"/>
              </a:lnSpc>
              <a:spcBef>
                <a:spcPts val="0"/>
              </a:spcBef>
              <a:spcAft>
                <a:spcPts val="0"/>
              </a:spcAft>
              <a:buSzPts val="523"/>
              <a:buNone/>
            </a:pPr>
            <a:r>
              <a:rPr lang="en"/>
              <a:t>Data for the application is housed in the database server. Remember that there could be multiple databases, some for storing sessions and cookies and some for storing business logic like a company’s employee directory.</a:t>
            </a:r>
            <a:endParaRPr/>
          </a:p>
        </p:txBody>
      </p:sp>
      <p:sp>
        <p:nvSpPr>
          <p:cNvPr id="1479" name="Google Shape;1479;p185"/>
          <p:cNvSpPr txBox="1"/>
          <p:nvPr>
            <p:ph idx="2" type="body"/>
          </p:nvPr>
        </p:nvSpPr>
        <p:spPr>
          <a:xfrm>
            <a:off x="1644625" y="1968975"/>
            <a:ext cx="5855100" cy="595800"/>
          </a:xfrm>
          <a:prstGeom prst="rect">
            <a:avLst/>
          </a:prstGeom>
        </p:spPr>
        <p:txBody>
          <a:bodyPr anchorCtr="0" anchor="t" bIns="0" lIns="0" spcFirstLastPara="1" rIns="0" wrap="square" tIns="0">
            <a:noAutofit/>
          </a:bodyPr>
          <a:lstStyle/>
          <a:p>
            <a:pPr indent="0" lvl="0" marL="0" rtl="0" algn="ctr">
              <a:spcBef>
                <a:spcPts val="0"/>
              </a:spcBef>
              <a:spcAft>
                <a:spcPts val="800"/>
              </a:spcAft>
              <a:buNone/>
            </a:pPr>
            <a:r>
              <a:rPr b="1" lang="en" sz="1600"/>
              <a:t>Specific examples of databases:</a:t>
            </a:r>
            <a:endParaRPr b="1" sz="1600"/>
          </a:p>
        </p:txBody>
      </p:sp>
      <p:sp>
        <p:nvSpPr>
          <p:cNvPr id="1480" name="Google Shape;1480;p185"/>
          <p:cNvSpPr/>
          <p:nvPr/>
        </p:nvSpPr>
        <p:spPr>
          <a:xfrm>
            <a:off x="1486863" y="2335725"/>
            <a:ext cx="1870800" cy="120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1" name="Google Shape;1481;p185"/>
          <p:cNvPicPr preferRelativeResize="0"/>
          <p:nvPr/>
        </p:nvPicPr>
        <p:blipFill>
          <a:blip r:embed="rId3">
            <a:alphaModFix/>
          </a:blip>
          <a:stretch>
            <a:fillRect/>
          </a:stretch>
        </p:blipFill>
        <p:spPr>
          <a:xfrm>
            <a:off x="1787025" y="2534171"/>
            <a:ext cx="1270430" cy="860992"/>
          </a:xfrm>
          <a:prstGeom prst="rect">
            <a:avLst/>
          </a:prstGeom>
          <a:noFill/>
          <a:ln>
            <a:noFill/>
          </a:ln>
        </p:spPr>
      </p:pic>
      <p:sp>
        <p:nvSpPr>
          <p:cNvPr id="1482" name="Google Shape;1482;p185"/>
          <p:cNvSpPr/>
          <p:nvPr/>
        </p:nvSpPr>
        <p:spPr>
          <a:xfrm>
            <a:off x="3636595" y="2335725"/>
            <a:ext cx="1870800" cy="120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3" name="Google Shape;1483;p185"/>
          <p:cNvPicPr preferRelativeResize="0"/>
          <p:nvPr/>
        </p:nvPicPr>
        <p:blipFill>
          <a:blip r:embed="rId4">
            <a:alphaModFix/>
          </a:blip>
          <a:stretch>
            <a:fillRect/>
          </a:stretch>
        </p:blipFill>
        <p:spPr>
          <a:xfrm>
            <a:off x="3951025" y="2465339"/>
            <a:ext cx="1241895" cy="933930"/>
          </a:xfrm>
          <a:prstGeom prst="rect">
            <a:avLst/>
          </a:prstGeom>
          <a:noFill/>
          <a:ln>
            <a:noFill/>
          </a:ln>
        </p:spPr>
      </p:pic>
      <p:sp>
        <p:nvSpPr>
          <p:cNvPr id="1484" name="Google Shape;1484;p185"/>
          <p:cNvSpPr/>
          <p:nvPr/>
        </p:nvSpPr>
        <p:spPr>
          <a:xfrm>
            <a:off x="5786328" y="2335725"/>
            <a:ext cx="1870800" cy="120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5" name="Google Shape;1485;p185"/>
          <p:cNvPicPr preferRelativeResize="0"/>
          <p:nvPr/>
        </p:nvPicPr>
        <p:blipFill>
          <a:blip r:embed="rId5">
            <a:alphaModFix/>
          </a:blip>
          <a:stretch>
            <a:fillRect/>
          </a:stretch>
        </p:blipFill>
        <p:spPr>
          <a:xfrm>
            <a:off x="6214885" y="2457846"/>
            <a:ext cx="1013640" cy="1013642"/>
          </a:xfrm>
          <a:prstGeom prst="rect">
            <a:avLst/>
          </a:prstGeom>
          <a:noFill/>
          <a:ln>
            <a:noFill/>
          </a:ln>
        </p:spPr>
      </p:pic>
      <p:sp>
        <p:nvSpPr>
          <p:cNvPr id="1486" name="Google Shape;1486;p185"/>
          <p:cNvSpPr/>
          <p:nvPr/>
        </p:nvSpPr>
        <p:spPr>
          <a:xfrm>
            <a:off x="1486861" y="3701741"/>
            <a:ext cx="1870800" cy="120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7" name="Google Shape;1487;p185"/>
          <p:cNvPicPr preferRelativeResize="0"/>
          <p:nvPr/>
        </p:nvPicPr>
        <p:blipFill>
          <a:blip r:embed="rId6">
            <a:alphaModFix/>
          </a:blip>
          <a:stretch>
            <a:fillRect/>
          </a:stretch>
        </p:blipFill>
        <p:spPr>
          <a:xfrm>
            <a:off x="1824848" y="3847642"/>
            <a:ext cx="1194778" cy="966081"/>
          </a:xfrm>
          <a:prstGeom prst="rect">
            <a:avLst/>
          </a:prstGeom>
          <a:noFill/>
          <a:ln>
            <a:noFill/>
          </a:ln>
        </p:spPr>
      </p:pic>
      <p:sp>
        <p:nvSpPr>
          <p:cNvPr id="1488" name="Google Shape;1488;p185"/>
          <p:cNvSpPr/>
          <p:nvPr/>
        </p:nvSpPr>
        <p:spPr>
          <a:xfrm>
            <a:off x="3636599" y="3701741"/>
            <a:ext cx="1870800" cy="120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9" name="Google Shape;1489;p185"/>
          <p:cNvPicPr preferRelativeResize="0"/>
          <p:nvPr/>
        </p:nvPicPr>
        <p:blipFill rotWithShape="1">
          <a:blip r:embed="rId7">
            <a:alphaModFix/>
          </a:blip>
          <a:srcRect b="37299" l="0" r="0" t="37440"/>
          <a:stretch/>
        </p:blipFill>
        <p:spPr>
          <a:xfrm>
            <a:off x="3781640" y="4127474"/>
            <a:ext cx="1580672" cy="399281"/>
          </a:xfrm>
          <a:prstGeom prst="rect">
            <a:avLst/>
          </a:prstGeom>
          <a:noFill/>
          <a:ln>
            <a:noFill/>
          </a:ln>
        </p:spPr>
      </p:pic>
      <p:sp>
        <p:nvSpPr>
          <p:cNvPr id="1490" name="Google Shape;1490;p185"/>
          <p:cNvSpPr/>
          <p:nvPr/>
        </p:nvSpPr>
        <p:spPr>
          <a:xfrm>
            <a:off x="5786336" y="3701741"/>
            <a:ext cx="1870800" cy="120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1" name="Google Shape;1491;p185"/>
          <p:cNvPicPr preferRelativeResize="0"/>
          <p:nvPr/>
        </p:nvPicPr>
        <p:blipFill>
          <a:blip r:embed="rId8">
            <a:alphaModFix/>
          </a:blip>
          <a:stretch>
            <a:fillRect/>
          </a:stretch>
        </p:blipFill>
        <p:spPr>
          <a:xfrm>
            <a:off x="5941816" y="4083878"/>
            <a:ext cx="1559783" cy="444427"/>
          </a:xfrm>
          <a:prstGeom prst="rect">
            <a:avLst/>
          </a:prstGeom>
          <a:noFill/>
          <a:ln>
            <a:noFill/>
          </a:ln>
        </p:spPr>
      </p:pic>
      <p:cxnSp>
        <p:nvCxnSpPr>
          <p:cNvPr id="1492" name="Google Shape;1492;p185"/>
          <p:cNvCxnSpPr/>
          <p:nvPr/>
        </p:nvCxnSpPr>
        <p:spPr>
          <a:xfrm>
            <a:off x="9750" y="675975"/>
            <a:ext cx="72918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96" name="Shape 1496"/>
        <p:cNvGrpSpPr/>
        <p:nvPr/>
      </p:nvGrpSpPr>
      <p:grpSpPr>
        <a:xfrm>
          <a:off x="0" y="0"/>
          <a:ext cx="0" cy="0"/>
          <a:chOff x="0" y="0"/>
          <a:chExt cx="0" cy="0"/>
        </a:xfrm>
      </p:grpSpPr>
      <p:sp>
        <p:nvSpPr>
          <p:cNvPr id="1497" name="Google Shape;1497;p186"/>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Honorable Mention: </a:t>
            </a:r>
            <a:r>
              <a:rPr lang="en" sz="2600"/>
              <a:t>The WIMP Stack</a:t>
            </a:r>
            <a:endParaRPr sz="2600"/>
          </a:p>
        </p:txBody>
      </p:sp>
      <p:sp>
        <p:nvSpPr>
          <p:cNvPr id="1498" name="Google Shape;1498;p186"/>
          <p:cNvSpPr txBox="1"/>
          <p:nvPr>
            <p:ph idx="1" type="subTitle"/>
          </p:nvPr>
        </p:nvSpPr>
        <p:spPr>
          <a:xfrm>
            <a:off x="0" y="752175"/>
            <a:ext cx="7722900" cy="364800"/>
          </a:xfrm>
          <a:prstGeom prst="rect">
            <a:avLst/>
          </a:prstGeom>
        </p:spPr>
        <p:txBody>
          <a:bodyPr anchorCtr="0" anchor="t" bIns="91425" lIns="457200" spcFirstLastPara="1" rIns="365750" wrap="square" tIns="91425">
            <a:noAutofit/>
          </a:bodyPr>
          <a:lstStyle/>
          <a:p>
            <a:pPr indent="0" lvl="0" marL="0" rtl="0" algn="l">
              <a:lnSpc>
                <a:spcPct val="95000"/>
              </a:lnSpc>
              <a:spcBef>
                <a:spcPts val="0"/>
              </a:spcBef>
              <a:spcAft>
                <a:spcPts val="0"/>
              </a:spcAft>
              <a:buSzPts val="358"/>
              <a:buNone/>
            </a:pPr>
            <a:r>
              <a:rPr lang="en"/>
              <a:t>There is also a Microsoft-based variation called the </a:t>
            </a:r>
            <a:r>
              <a:rPr b="1" lang="en"/>
              <a:t>WIMP</a:t>
            </a:r>
            <a:r>
              <a:rPr b="1" lang="en"/>
              <a:t> </a:t>
            </a:r>
            <a:r>
              <a:rPr lang="en"/>
              <a:t>stack that uses the following:</a:t>
            </a:r>
            <a:endParaRPr/>
          </a:p>
        </p:txBody>
      </p:sp>
      <p:sp>
        <p:nvSpPr>
          <p:cNvPr id="1499" name="Google Shape;1499;p186"/>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t>‹#›</a:t>
            </a:fld>
            <a:endParaRPr sz="600"/>
          </a:p>
        </p:txBody>
      </p:sp>
      <p:sp>
        <p:nvSpPr>
          <p:cNvPr id="1500" name="Google Shape;1500;p186"/>
          <p:cNvSpPr txBox="1"/>
          <p:nvPr>
            <p:ph idx="2" type="body"/>
          </p:nvPr>
        </p:nvSpPr>
        <p:spPr>
          <a:xfrm>
            <a:off x="7144875" y="2361788"/>
            <a:ext cx="1870800" cy="2162400"/>
          </a:xfrm>
          <a:prstGeom prst="rect">
            <a:avLst/>
          </a:prstGeom>
        </p:spPr>
        <p:txBody>
          <a:bodyPr anchorCtr="0" anchor="t" bIns="91425" lIns="274300" spcFirstLastPara="1" rIns="182875" wrap="square" tIns="91425">
            <a:noAutofit/>
          </a:bodyPr>
          <a:lstStyle/>
          <a:p>
            <a:pPr indent="0" lvl="0" marL="0" rtl="0" algn="l">
              <a:lnSpc>
                <a:spcPct val="115000"/>
              </a:lnSpc>
              <a:spcBef>
                <a:spcPts val="0"/>
              </a:spcBef>
              <a:spcAft>
                <a:spcPts val="800"/>
              </a:spcAft>
              <a:buNone/>
            </a:pPr>
            <a:r>
              <a:rPr lang="en" sz="1400"/>
              <a:t>Like the LAMP stack, we won’t use WIMP in class, but it is good to know that Microsoft-</a:t>
            </a:r>
            <a:br>
              <a:rPr lang="en" sz="1400"/>
            </a:br>
            <a:r>
              <a:rPr lang="en" sz="1400"/>
              <a:t>based web stacks are available.</a:t>
            </a:r>
            <a:endParaRPr sz="1400"/>
          </a:p>
        </p:txBody>
      </p:sp>
      <p:sp>
        <p:nvSpPr>
          <p:cNvPr id="1501" name="Google Shape;1501;p186"/>
          <p:cNvSpPr/>
          <p:nvPr/>
        </p:nvSpPr>
        <p:spPr>
          <a:xfrm>
            <a:off x="5458571" y="1588500"/>
            <a:ext cx="1686300" cy="62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86"/>
          <p:cNvSpPr/>
          <p:nvPr/>
        </p:nvSpPr>
        <p:spPr>
          <a:xfrm>
            <a:off x="5458571" y="2364611"/>
            <a:ext cx="1686300" cy="62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86"/>
          <p:cNvSpPr/>
          <p:nvPr/>
        </p:nvSpPr>
        <p:spPr>
          <a:xfrm>
            <a:off x="5458571" y="3131125"/>
            <a:ext cx="1686300" cy="62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86"/>
          <p:cNvSpPr/>
          <p:nvPr/>
        </p:nvSpPr>
        <p:spPr>
          <a:xfrm>
            <a:off x="5458571" y="3900050"/>
            <a:ext cx="1686300" cy="62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86"/>
          <p:cNvSpPr txBox="1"/>
          <p:nvPr/>
        </p:nvSpPr>
        <p:spPr>
          <a:xfrm>
            <a:off x="752475" y="1607675"/>
            <a:ext cx="4367400" cy="606900"/>
          </a:xfrm>
          <a:prstGeom prst="rect">
            <a:avLst/>
          </a:prstGeom>
          <a:noFill/>
          <a:ln>
            <a:noFill/>
          </a:ln>
        </p:spPr>
        <p:txBody>
          <a:bodyPr anchorCtr="0" anchor="ctr" bIns="0" lIns="0" spcFirstLastPara="1" rIns="182875" wrap="square" tIns="0">
            <a:noAutofit/>
          </a:bodyPr>
          <a:lstStyle/>
          <a:p>
            <a:pPr indent="0" lvl="0" marL="0" rtl="0" algn="r">
              <a:lnSpc>
                <a:spcPct val="115000"/>
              </a:lnSpc>
              <a:spcBef>
                <a:spcPts val="0"/>
              </a:spcBef>
              <a:spcAft>
                <a:spcPts val="0"/>
              </a:spcAft>
              <a:buClr>
                <a:schemeClr val="dk1"/>
              </a:buClr>
              <a:buSzPts val="1100"/>
              <a:buFont typeface="Arial"/>
              <a:buNone/>
            </a:pPr>
            <a:r>
              <a:rPr b="1" lang="en" sz="2400">
                <a:solidFill>
                  <a:schemeClr val="dk2"/>
                </a:solidFill>
                <a:latin typeface="Roboto"/>
                <a:ea typeface="Roboto"/>
                <a:cs typeface="Roboto"/>
                <a:sym typeface="Roboto"/>
              </a:rPr>
              <a:t>W</a:t>
            </a:r>
            <a:r>
              <a:rPr lang="en" sz="1600">
                <a:solidFill>
                  <a:schemeClr val="dk2"/>
                </a:solidFill>
                <a:latin typeface="Roboto"/>
                <a:ea typeface="Roboto"/>
                <a:cs typeface="Roboto"/>
                <a:sym typeface="Roboto"/>
              </a:rPr>
              <a:t>indows operating system</a:t>
            </a:r>
            <a:endParaRPr b="1" sz="2400">
              <a:solidFill>
                <a:schemeClr val="dk2"/>
              </a:solidFill>
              <a:latin typeface="Roboto"/>
              <a:ea typeface="Roboto"/>
              <a:cs typeface="Roboto"/>
              <a:sym typeface="Roboto"/>
            </a:endParaRPr>
          </a:p>
        </p:txBody>
      </p:sp>
      <p:sp>
        <p:nvSpPr>
          <p:cNvPr id="1506" name="Google Shape;1506;p186"/>
          <p:cNvSpPr txBox="1"/>
          <p:nvPr/>
        </p:nvSpPr>
        <p:spPr>
          <a:xfrm>
            <a:off x="76201" y="2367000"/>
            <a:ext cx="5043600" cy="606900"/>
          </a:xfrm>
          <a:prstGeom prst="rect">
            <a:avLst/>
          </a:prstGeom>
          <a:noFill/>
          <a:ln>
            <a:noFill/>
          </a:ln>
        </p:spPr>
        <p:txBody>
          <a:bodyPr anchorCtr="0" anchor="ctr" bIns="0" lIns="0" spcFirstLastPara="1" rIns="182875" wrap="square" tIns="0">
            <a:noAutofit/>
          </a:bodyPr>
          <a:lstStyle/>
          <a:p>
            <a:pPr indent="0" lvl="0" marL="0" rtl="0" algn="r">
              <a:spcBef>
                <a:spcPts val="0"/>
              </a:spcBef>
              <a:spcAft>
                <a:spcPts val="0"/>
              </a:spcAft>
              <a:buNone/>
            </a:pPr>
            <a:r>
              <a:rPr lang="en" sz="1600">
                <a:solidFill>
                  <a:schemeClr val="dk2"/>
                </a:solidFill>
                <a:latin typeface="Roboto"/>
                <a:ea typeface="Roboto"/>
                <a:cs typeface="Roboto"/>
                <a:sym typeface="Roboto"/>
              </a:rPr>
              <a:t>Microsoft’s </a:t>
            </a:r>
            <a:r>
              <a:rPr b="1" lang="en" sz="2400">
                <a:solidFill>
                  <a:schemeClr val="dk2"/>
                </a:solidFill>
                <a:latin typeface="Roboto"/>
                <a:ea typeface="Roboto"/>
                <a:cs typeface="Roboto"/>
                <a:sym typeface="Roboto"/>
              </a:rPr>
              <a:t>I</a:t>
            </a:r>
            <a:r>
              <a:rPr lang="en" sz="1600">
                <a:solidFill>
                  <a:schemeClr val="dk2"/>
                </a:solidFill>
                <a:latin typeface="Roboto"/>
                <a:ea typeface="Roboto"/>
                <a:cs typeface="Roboto"/>
                <a:sym typeface="Roboto"/>
              </a:rPr>
              <a:t>IS web server in place of Apache/Nginx</a:t>
            </a:r>
            <a:endParaRPr b="1" sz="2500">
              <a:solidFill>
                <a:schemeClr val="dk2"/>
              </a:solidFill>
              <a:latin typeface="Roboto"/>
              <a:ea typeface="Roboto"/>
              <a:cs typeface="Roboto"/>
              <a:sym typeface="Roboto"/>
            </a:endParaRPr>
          </a:p>
        </p:txBody>
      </p:sp>
      <p:sp>
        <p:nvSpPr>
          <p:cNvPr id="1507" name="Google Shape;1507;p186"/>
          <p:cNvSpPr txBox="1"/>
          <p:nvPr/>
        </p:nvSpPr>
        <p:spPr>
          <a:xfrm>
            <a:off x="752325" y="3133525"/>
            <a:ext cx="4367400" cy="606900"/>
          </a:xfrm>
          <a:prstGeom prst="rect">
            <a:avLst/>
          </a:prstGeom>
          <a:noFill/>
          <a:ln>
            <a:noFill/>
          </a:ln>
        </p:spPr>
        <p:txBody>
          <a:bodyPr anchorCtr="0" anchor="ctr" bIns="0" lIns="0" spcFirstLastPara="1" rIns="182875" wrap="square" tIns="0">
            <a:noAutofit/>
          </a:bodyPr>
          <a:lstStyle/>
          <a:p>
            <a:pPr indent="0" lvl="0" marL="0" rtl="0" algn="r">
              <a:lnSpc>
                <a:spcPct val="115000"/>
              </a:lnSpc>
              <a:spcBef>
                <a:spcPts val="0"/>
              </a:spcBef>
              <a:spcAft>
                <a:spcPts val="0"/>
              </a:spcAft>
              <a:buNone/>
            </a:pPr>
            <a:r>
              <a:rPr lang="en" sz="1600">
                <a:solidFill>
                  <a:schemeClr val="dk2"/>
                </a:solidFill>
                <a:latin typeface="Roboto"/>
                <a:ea typeface="Roboto"/>
                <a:cs typeface="Roboto"/>
                <a:sym typeface="Roboto"/>
              </a:rPr>
              <a:t>Database such as</a:t>
            </a:r>
            <a:r>
              <a:rPr lang="en">
                <a:solidFill>
                  <a:schemeClr val="dk2"/>
                </a:solidFill>
                <a:latin typeface="Roboto"/>
                <a:ea typeface="Roboto"/>
                <a:cs typeface="Roboto"/>
                <a:sym typeface="Roboto"/>
              </a:rPr>
              <a:t> </a:t>
            </a:r>
            <a:r>
              <a:rPr b="1" lang="en" sz="2400">
                <a:solidFill>
                  <a:schemeClr val="dk2"/>
                </a:solidFill>
                <a:latin typeface="Roboto"/>
                <a:ea typeface="Roboto"/>
                <a:cs typeface="Roboto"/>
                <a:sym typeface="Roboto"/>
              </a:rPr>
              <a:t>M</a:t>
            </a:r>
            <a:r>
              <a:rPr lang="en" sz="1600">
                <a:solidFill>
                  <a:schemeClr val="dk2"/>
                </a:solidFill>
                <a:latin typeface="Roboto"/>
                <a:ea typeface="Roboto"/>
                <a:cs typeface="Roboto"/>
                <a:sym typeface="Roboto"/>
              </a:rPr>
              <a:t>icrosoft SQL Server</a:t>
            </a:r>
            <a:endParaRPr b="1" sz="1600">
              <a:solidFill>
                <a:schemeClr val="dk2"/>
              </a:solidFill>
              <a:latin typeface="Roboto"/>
              <a:ea typeface="Roboto"/>
              <a:cs typeface="Roboto"/>
              <a:sym typeface="Roboto"/>
            </a:endParaRPr>
          </a:p>
        </p:txBody>
      </p:sp>
      <p:sp>
        <p:nvSpPr>
          <p:cNvPr id="1508" name="Google Shape;1508;p186"/>
          <p:cNvSpPr txBox="1"/>
          <p:nvPr/>
        </p:nvSpPr>
        <p:spPr>
          <a:xfrm>
            <a:off x="740175" y="3900050"/>
            <a:ext cx="4379400" cy="606900"/>
          </a:xfrm>
          <a:prstGeom prst="rect">
            <a:avLst/>
          </a:prstGeom>
          <a:noFill/>
          <a:ln>
            <a:noFill/>
          </a:ln>
        </p:spPr>
        <p:txBody>
          <a:bodyPr anchorCtr="0" anchor="ctr" bIns="0" lIns="0" spcFirstLastPara="1" rIns="182875" wrap="square" tIns="0">
            <a:noAutofit/>
          </a:bodyPr>
          <a:lstStyle/>
          <a:p>
            <a:pPr indent="0" lvl="0" marL="0" rtl="0" algn="r">
              <a:spcBef>
                <a:spcPts val="0"/>
              </a:spcBef>
              <a:spcAft>
                <a:spcPts val="0"/>
              </a:spcAft>
              <a:buNone/>
            </a:pPr>
            <a:r>
              <a:rPr lang="en" sz="1600">
                <a:solidFill>
                  <a:schemeClr val="dk2"/>
                </a:solidFill>
                <a:latin typeface="Roboto"/>
                <a:ea typeface="Roboto"/>
                <a:cs typeface="Roboto"/>
                <a:sym typeface="Roboto"/>
              </a:rPr>
              <a:t>Back-end language such as</a:t>
            </a:r>
            <a:r>
              <a:rPr lang="en">
                <a:solidFill>
                  <a:schemeClr val="dk2"/>
                </a:solidFill>
                <a:latin typeface="Roboto"/>
                <a:ea typeface="Roboto"/>
                <a:cs typeface="Roboto"/>
                <a:sym typeface="Roboto"/>
              </a:rPr>
              <a:t> </a:t>
            </a:r>
            <a:r>
              <a:rPr b="1" lang="en" sz="2400">
                <a:solidFill>
                  <a:schemeClr val="dk2"/>
                </a:solidFill>
                <a:latin typeface="Roboto"/>
                <a:ea typeface="Roboto"/>
                <a:cs typeface="Roboto"/>
                <a:sym typeface="Roboto"/>
              </a:rPr>
              <a:t>P</a:t>
            </a:r>
            <a:r>
              <a:rPr lang="en" sz="1600">
                <a:solidFill>
                  <a:schemeClr val="dk2"/>
                </a:solidFill>
                <a:latin typeface="Roboto"/>
                <a:ea typeface="Roboto"/>
                <a:cs typeface="Roboto"/>
                <a:sym typeface="Roboto"/>
              </a:rPr>
              <a:t>owerShell</a:t>
            </a:r>
            <a:endParaRPr b="1" sz="1600">
              <a:solidFill>
                <a:schemeClr val="dk2"/>
              </a:solidFill>
              <a:latin typeface="Roboto"/>
              <a:ea typeface="Roboto"/>
              <a:cs typeface="Roboto"/>
              <a:sym typeface="Roboto"/>
            </a:endParaRPr>
          </a:p>
        </p:txBody>
      </p:sp>
      <p:sp>
        <p:nvSpPr>
          <p:cNvPr id="1509" name="Google Shape;1509;p186"/>
          <p:cNvSpPr/>
          <p:nvPr/>
        </p:nvSpPr>
        <p:spPr>
          <a:xfrm flipH="1">
            <a:off x="5129225" y="1607675"/>
            <a:ext cx="142800" cy="29196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10" name="Google Shape;1510;p186"/>
          <p:cNvPicPr preferRelativeResize="0"/>
          <p:nvPr/>
        </p:nvPicPr>
        <p:blipFill>
          <a:blip r:embed="rId3">
            <a:alphaModFix/>
          </a:blip>
          <a:stretch>
            <a:fillRect/>
          </a:stretch>
        </p:blipFill>
        <p:spPr>
          <a:xfrm>
            <a:off x="5619024" y="3965924"/>
            <a:ext cx="1326374" cy="489575"/>
          </a:xfrm>
          <a:prstGeom prst="rect">
            <a:avLst/>
          </a:prstGeom>
          <a:noFill/>
          <a:ln>
            <a:noFill/>
          </a:ln>
        </p:spPr>
      </p:pic>
      <p:pic>
        <p:nvPicPr>
          <p:cNvPr id="1511" name="Google Shape;1511;p186"/>
          <p:cNvPicPr preferRelativeResize="0"/>
          <p:nvPr/>
        </p:nvPicPr>
        <p:blipFill>
          <a:blip r:embed="rId4">
            <a:alphaModFix/>
          </a:blip>
          <a:stretch>
            <a:fillRect/>
          </a:stretch>
        </p:blipFill>
        <p:spPr>
          <a:xfrm>
            <a:off x="5963874" y="3193250"/>
            <a:ext cx="617723" cy="499474"/>
          </a:xfrm>
          <a:prstGeom prst="rect">
            <a:avLst/>
          </a:prstGeom>
          <a:noFill/>
          <a:ln>
            <a:noFill/>
          </a:ln>
        </p:spPr>
      </p:pic>
      <p:pic>
        <p:nvPicPr>
          <p:cNvPr id="1512" name="Google Shape;1512;p186"/>
          <p:cNvPicPr preferRelativeResize="0"/>
          <p:nvPr/>
        </p:nvPicPr>
        <p:blipFill>
          <a:blip r:embed="rId5">
            <a:alphaModFix/>
          </a:blip>
          <a:stretch>
            <a:fillRect/>
          </a:stretch>
        </p:blipFill>
        <p:spPr>
          <a:xfrm>
            <a:off x="5628500" y="2452562"/>
            <a:ext cx="1307420" cy="435812"/>
          </a:xfrm>
          <a:prstGeom prst="rect">
            <a:avLst/>
          </a:prstGeom>
          <a:noFill/>
          <a:ln>
            <a:noFill/>
          </a:ln>
        </p:spPr>
      </p:pic>
      <p:pic>
        <p:nvPicPr>
          <p:cNvPr id="1513" name="Google Shape;1513;p186"/>
          <p:cNvPicPr preferRelativeResize="0"/>
          <p:nvPr/>
        </p:nvPicPr>
        <p:blipFill>
          <a:blip r:embed="rId6">
            <a:alphaModFix/>
          </a:blip>
          <a:stretch>
            <a:fillRect/>
          </a:stretch>
        </p:blipFill>
        <p:spPr>
          <a:xfrm>
            <a:off x="6005875" y="1641758"/>
            <a:ext cx="533714" cy="533699"/>
          </a:xfrm>
          <a:prstGeom prst="rect">
            <a:avLst/>
          </a:prstGeom>
          <a:noFill/>
          <a:ln>
            <a:noFill/>
          </a:ln>
        </p:spPr>
      </p:pic>
      <p:cxnSp>
        <p:nvCxnSpPr>
          <p:cNvPr id="1514" name="Google Shape;1514;p186"/>
          <p:cNvCxnSpPr/>
          <p:nvPr/>
        </p:nvCxnSpPr>
        <p:spPr>
          <a:xfrm>
            <a:off x="9750" y="675975"/>
            <a:ext cx="72918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18" name="Shape 1518"/>
        <p:cNvGrpSpPr/>
        <p:nvPr/>
      </p:nvGrpSpPr>
      <p:grpSpPr>
        <a:xfrm>
          <a:off x="0" y="0"/>
          <a:ext cx="0" cy="0"/>
          <a:chOff x="0" y="0"/>
          <a:chExt cx="0" cy="0"/>
        </a:xfrm>
      </p:grpSpPr>
      <p:sp>
        <p:nvSpPr>
          <p:cNvPr id="1519" name="Google Shape;1519;p187"/>
          <p:cNvSpPr/>
          <p:nvPr/>
        </p:nvSpPr>
        <p:spPr>
          <a:xfrm>
            <a:off x="335875" y="1165605"/>
            <a:ext cx="1370400" cy="754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87"/>
          <p:cNvSpPr/>
          <p:nvPr/>
        </p:nvSpPr>
        <p:spPr>
          <a:xfrm>
            <a:off x="335875" y="2138946"/>
            <a:ext cx="1370400" cy="754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87"/>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LEMP Stack</a:t>
            </a:r>
            <a:endParaRPr sz="2600"/>
          </a:p>
        </p:txBody>
      </p:sp>
      <p:sp>
        <p:nvSpPr>
          <p:cNvPr id="1522" name="Google Shape;1522;p187"/>
          <p:cNvSpPr txBox="1"/>
          <p:nvPr/>
        </p:nvSpPr>
        <p:spPr>
          <a:xfrm>
            <a:off x="3400681" y="1132780"/>
            <a:ext cx="4904100" cy="7548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Clr>
                <a:schemeClr val="dk1"/>
              </a:buClr>
              <a:buSzPts val="1100"/>
              <a:buFont typeface="Arial"/>
              <a:buNone/>
            </a:pPr>
            <a:r>
              <a:rPr b="1" lang="en" sz="1600">
                <a:solidFill>
                  <a:schemeClr val="dk2"/>
                </a:solidFill>
                <a:latin typeface="Roboto"/>
                <a:ea typeface="Roboto"/>
                <a:cs typeface="Roboto"/>
                <a:sym typeface="Roboto"/>
              </a:rPr>
              <a:t>Linux </a:t>
            </a:r>
            <a:br>
              <a:rPr b="1" lang="en" sz="1300">
                <a:solidFill>
                  <a:schemeClr val="dk1"/>
                </a:solidFill>
                <a:latin typeface="Roboto"/>
                <a:ea typeface="Roboto"/>
                <a:cs typeface="Roboto"/>
                <a:sym typeface="Roboto"/>
              </a:rPr>
            </a:br>
            <a:r>
              <a:rPr lang="en">
                <a:solidFill>
                  <a:schemeClr val="dk2"/>
                </a:solidFill>
                <a:latin typeface="Roboto"/>
                <a:ea typeface="Roboto"/>
                <a:cs typeface="Roboto"/>
                <a:sym typeface="Roboto"/>
              </a:rPr>
              <a:t>The standard underlying operating system used for web applications. However, we will use it with containers.</a:t>
            </a:r>
            <a:endParaRPr>
              <a:solidFill>
                <a:schemeClr val="dk2"/>
              </a:solidFill>
              <a:latin typeface="Roboto"/>
              <a:ea typeface="Roboto"/>
              <a:cs typeface="Roboto"/>
              <a:sym typeface="Roboto"/>
            </a:endParaRPr>
          </a:p>
        </p:txBody>
      </p:sp>
      <p:sp>
        <p:nvSpPr>
          <p:cNvPr id="1523" name="Google Shape;1523;p187"/>
          <p:cNvSpPr txBox="1"/>
          <p:nvPr/>
        </p:nvSpPr>
        <p:spPr>
          <a:xfrm>
            <a:off x="3400675" y="2050350"/>
            <a:ext cx="5351700" cy="10017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Clr>
                <a:schemeClr val="dk1"/>
              </a:buClr>
              <a:buSzPts val="1100"/>
              <a:buFont typeface="Arial"/>
              <a:buNone/>
            </a:pPr>
            <a:r>
              <a:rPr b="1" lang="en" sz="1600">
                <a:solidFill>
                  <a:srgbClr val="269438"/>
                </a:solidFill>
                <a:latin typeface="Roboto"/>
                <a:ea typeface="Roboto"/>
                <a:cs typeface="Roboto"/>
                <a:sym typeface="Roboto"/>
              </a:rPr>
              <a:t>Nginx</a:t>
            </a:r>
            <a:br>
              <a:rPr lang="en" sz="1600">
                <a:solidFill>
                  <a:srgbClr val="269438"/>
                </a:solidFill>
                <a:latin typeface="Roboto"/>
                <a:ea typeface="Roboto"/>
                <a:cs typeface="Roboto"/>
                <a:sym typeface="Roboto"/>
              </a:rPr>
            </a:br>
            <a:r>
              <a:rPr lang="en">
                <a:solidFill>
                  <a:schemeClr val="dk2"/>
                </a:solidFill>
                <a:latin typeface="Roboto"/>
                <a:ea typeface="Roboto"/>
                <a:cs typeface="Roboto"/>
                <a:sym typeface="Roboto"/>
              </a:rPr>
              <a:t>We’ll use nginx for our front-end HTTP server, instead of Apache, mainly for its speed. While Apache is considered to have more features and is more compatible with back-end languages such as Java, nginx is well known for its performance.</a:t>
            </a:r>
            <a:endParaRPr>
              <a:solidFill>
                <a:schemeClr val="dk2"/>
              </a:solidFill>
              <a:latin typeface="Roboto"/>
              <a:ea typeface="Roboto"/>
              <a:cs typeface="Roboto"/>
              <a:sym typeface="Roboto"/>
            </a:endParaRPr>
          </a:p>
        </p:txBody>
      </p:sp>
      <p:sp>
        <p:nvSpPr>
          <p:cNvPr id="1524" name="Google Shape;1524;p187"/>
          <p:cNvSpPr txBox="1"/>
          <p:nvPr/>
        </p:nvSpPr>
        <p:spPr>
          <a:xfrm>
            <a:off x="3400681" y="3328042"/>
            <a:ext cx="4904100" cy="5961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Clr>
                <a:schemeClr val="dk1"/>
              </a:buClr>
              <a:buSzPts val="1100"/>
              <a:buFont typeface="Arial"/>
              <a:buNone/>
            </a:pPr>
            <a:r>
              <a:rPr b="1" lang="en" sz="1600">
                <a:solidFill>
                  <a:srgbClr val="A57242"/>
                </a:solidFill>
                <a:latin typeface="Roboto"/>
                <a:ea typeface="Roboto"/>
                <a:cs typeface="Roboto"/>
                <a:sym typeface="Roboto"/>
              </a:rPr>
              <a:t>MariaDB</a:t>
            </a:r>
            <a:r>
              <a:rPr lang="en" sz="1300">
                <a:solidFill>
                  <a:schemeClr val="dk1"/>
                </a:solidFill>
                <a:latin typeface="Roboto"/>
                <a:ea typeface="Roboto"/>
                <a:cs typeface="Roboto"/>
                <a:sym typeface="Roboto"/>
              </a:rPr>
              <a:t> </a:t>
            </a:r>
            <a:br>
              <a:rPr lang="en" sz="1300">
                <a:solidFill>
                  <a:schemeClr val="dk1"/>
                </a:solidFill>
                <a:latin typeface="Roboto"/>
                <a:ea typeface="Roboto"/>
                <a:cs typeface="Roboto"/>
                <a:sym typeface="Roboto"/>
              </a:rPr>
            </a:br>
            <a:r>
              <a:rPr lang="en">
                <a:solidFill>
                  <a:schemeClr val="dk2"/>
                </a:solidFill>
                <a:latin typeface="Roboto"/>
                <a:ea typeface="Roboto"/>
                <a:cs typeface="Roboto"/>
                <a:sym typeface="Roboto"/>
              </a:rPr>
              <a:t>Unofficially the “other” MySQL, it is a standard relational database that will handle our data storage.</a:t>
            </a:r>
            <a:endParaRPr>
              <a:solidFill>
                <a:schemeClr val="dk2"/>
              </a:solidFill>
              <a:latin typeface="Roboto"/>
              <a:ea typeface="Roboto"/>
              <a:cs typeface="Roboto"/>
              <a:sym typeface="Roboto"/>
            </a:endParaRPr>
          </a:p>
        </p:txBody>
      </p:sp>
      <p:sp>
        <p:nvSpPr>
          <p:cNvPr id="1525" name="Google Shape;1525;p187"/>
          <p:cNvSpPr txBox="1"/>
          <p:nvPr/>
        </p:nvSpPr>
        <p:spPr>
          <a:xfrm>
            <a:off x="3400681" y="4171307"/>
            <a:ext cx="5039100" cy="660000"/>
          </a:xfrm>
          <a:prstGeom prst="rect">
            <a:avLst/>
          </a:prstGeom>
          <a:noFill/>
          <a:ln>
            <a:noFill/>
          </a:ln>
        </p:spPr>
        <p:txBody>
          <a:bodyPr anchorCtr="0" anchor="t" bIns="0" lIns="0" spcFirstLastPara="1" rIns="182875" wrap="square" tIns="0">
            <a:noAutofit/>
          </a:bodyPr>
          <a:lstStyle/>
          <a:p>
            <a:pPr indent="0" lvl="0" marL="0" rtl="0" algn="l">
              <a:lnSpc>
                <a:spcPct val="100000"/>
              </a:lnSpc>
              <a:spcBef>
                <a:spcPts val="0"/>
              </a:spcBef>
              <a:spcAft>
                <a:spcPts val="0"/>
              </a:spcAft>
              <a:buClr>
                <a:schemeClr val="dk1"/>
              </a:buClr>
              <a:buSzPts val="1100"/>
              <a:buFont typeface="Arial"/>
              <a:buNone/>
            </a:pPr>
            <a:r>
              <a:rPr b="1" lang="en" sz="1600">
                <a:solidFill>
                  <a:srgbClr val="777BB3"/>
                </a:solidFill>
                <a:latin typeface="Roboto"/>
                <a:ea typeface="Roboto"/>
                <a:cs typeface="Roboto"/>
                <a:sym typeface="Roboto"/>
              </a:rPr>
              <a:t>PHP </a:t>
            </a:r>
            <a:br>
              <a:rPr b="1" lang="en" sz="1600">
                <a:solidFill>
                  <a:srgbClr val="777BB3"/>
                </a:solidFill>
                <a:latin typeface="Roboto"/>
                <a:ea typeface="Roboto"/>
                <a:cs typeface="Roboto"/>
                <a:sym typeface="Roboto"/>
              </a:rPr>
            </a:br>
            <a:r>
              <a:rPr lang="en">
                <a:solidFill>
                  <a:schemeClr val="dk2"/>
                </a:solidFill>
                <a:latin typeface="Roboto"/>
                <a:ea typeface="Roboto"/>
                <a:cs typeface="Roboto"/>
                <a:sym typeface="Roboto"/>
              </a:rPr>
              <a:t>Our pages will be generated with data pulled by PHP scripts. We will not need to manage or work with any PHP directly today, but know that it is acting as our back-end language.</a:t>
            </a:r>
            <a:endParaRPr>
              <a:solidFill>
                <a:schemeClr val="dk2"/>
              </a:solidFill>
              <a:latin typeface="Roboto"/>
              <a:ea typeface="Roboto"/>
              <a:cs typeface="Roboto"/>
              <a:sym typeface="Roboto"/>
            </a:endParaRPr>
          </a:p>
        </p:txBody>
      </p:sp>
      <p:sp>
        <p:nvSpPr>
          <p:cNvPr id="1526" name="Google Shape;1526;p187"/>
          <p:cNvSpPr txBox="1"/>
          <p:nvPr/>
        </p:nvSpPr>
        <p:spPr>
          <a:xfrm>
            <a:off x="2317630" y="1175810"/>
            <a:ext cx="794100" cy="754800"/>
          </a:xfrm>
          <a:prstGeom prst="rect">
            <a:avLst/>
          </a:prstGeom>
          <a:solidFill>
            <a:schemeClr val="accent1"/>
          </a:solidFill>
          <a:ln>
            <a:noFill/>
          </a:ln>
        </p:spPr>
        <p:txBody>
          <a:bodyPr anchorCtr="0" anchor="ctr" bIns="0" lIns="0" spcFirstLastPara="1" rIns="0" wrap="square" tIns="45700">
            <a:noAutofit/>
          </a:bodyPr>
          <a:lstStyle/>
          <a:p>
            <a:pPr indent="0" lvl="0" marL="0" rtl="0" algn="ctr">
              <a:lnSpc>
                <a:spcPct val="115000"/>
              </a:lnSpc>
              <a:spcBef>
                <a:spcPts val="0"/>
              </a:spcBef>
              <a:spcAft>
                <a:spcPts val="0"/>
              </a:spcAft>
              <a:buClr>
                <a:schemeClr val="dk1"/>
              </a:buClr>
              <a:buSzPts val="1100"/>
              <a:buFont typeface="Arial"/>
              <a:buNone/>
            </a:pPr>
            <a:r>
              <a:rPr b="1" lang="en" sz="3600">
                <a:solidFill>
                  <a:srgbClr val="FFFFFF"/>
                </a:solidFill>
                <a:latin typeface="Roboto"/>
                <a:ea typeface="Roboto"/>
                <a:cs typeface="Roboto"/>
                <a:sym typeface="Roboto"/>
              </a:rPr>
              <a:t>L</a:t>
            </a:r>
            <a:endParaRPr sz="1900">
              <a:solidFill>
                <a:srgbClr val="FFFFFF"/>
              </a:solidFill>
              <a:latin typeface="Roboto"/>
              <a:ea typeface="Roboto"/>
              <a:cs typeface="Roboto"/>
              <a:sym typeface="Roboto"/>
            </a:endParaRPr>
          </a:p>
        </p:txBody>
      </p:sp>
      <p:sp>
        <p:nvSpPr>
          <p:cNvPr id="1527" name="Google Shape;1527;p187"/>
          <p:cNvSpPr txBox="1"/>
          <p:nvPr/>
        </p:nvSpPr>
        <p:spPr>
          <a:xfrm>
            <a:off x="2317630" y="2138946"/>
            <a:ext cx="794100" cy="754800"/>
          </a:xfrm>
          <a:prstGeom prst="rect">
            <a:avLst/>
          </a:prstGeom>
          <a:solidFill>
            <a:srgbClr val="269438"/>
          </a:solidFill>
          <a:ln>
            <a:noFill/>
          </a:ln>
        </p:spPr>
        <p:txBody>
          <a:bodyPr anchorCtr="0" anchor="ctr" bIns="0" lIns="0" spcFirstLastPara="1" rIns="0" wrap="square" tIns="45700">
            <a:noAutofit/>
          </a:bodyPr>
          <a:lstStyle/>
          <a:p>
            <a:pPr indent="0" lvl="0" marL="0" rtl="0" algn="ctr">
              <a:lnSpc>
                <a:spcPct val="115000"/>
              </a:lnSpc>
              <a:spcBef>
                <a:spcPts val="0"/>
              </a:spcBef>
              <a:spcAft>
                <a:spcPts val="0"/>
              </a:spcAft>
              <a:buClr>
                <a:schemeClr val="dk1"/>
              </a:buClr>
              <a:buSzPts val="1100"/>
              <a:buFont typeface="Arial"/>
              <a:buNone/>
            </a:pPr>
            <a:r>
              <a:rPr b="1" lang="en" sz="3600">
                <a:solidFill>
                  <a:srgbClr val="FFFFFF"/>
                </a:solidFill>
                <a:latin typeface="Roboto"/>
                <a:ea typeface="Roboto"/>
                <a:cs typeface="Roboto"/>
                <a:sym typeface="Roboto"/>
              </a:rPr>
              <a:t>E</a:t>
            </a:r>
            <a:endParaRPr sz="1900">
              <a:solidFill>
                <a:srgbClr val="FFFFFF"/>
              </a:solidFill>
              <a:latin typeface="Roboto"/>
              <a:ea typeface="Roboto"/>
              <a:cs typeface="Roboto"/>
              <a:sym typeface="Roboto"/>
            </a:endParaRPr>
          </a:p>
        </p:txBody>
      </p:sp>
      <p:sp>
        <p:nvSpPr>
          <p:cNvPr id="1528" name="Google Shape;1528;p187"/>
          <p:cNvSpPr txBox="1"/>
          <p:nvPr/>
        </p:nvSpPr>
        <p:spPr>
          <a:xfrm>
            <a:off x="2317630" y="3248761"/>
            <a:ext cx="794100" cy="754800"/>
          </a:xfrm>
          <a:prstGeom prst="rect">
            <a:avLst/>
          </a:prstGeom>
          <a:solidFill>
            <a:srgbClr val="A57242"/>
          </a:solidFill>
          <a:ln>
            <a:noFill/>
          </a:ln>
        </p:spPr>
        <p:txBody>
          <a:bodyPr anchorCtr="0" anchor="ctr" bIns="0" lIns="0" spcFirstLastPara="1" rIns="0" wrap="square" tIns="45700">
            <a:noAutofit/>
          </a:bodyPr>
          <a:lstStyle/>
          <a:p>
            <a:pPr indent="0" lvl="0" marL="0" rtl="0" algn="ctr">
              <a:lnSpc>
                <a:spcPct val="115000"/>
              </a:lnSpc>
              <a:spcBef>
                <a:spcPts val="0"/>
              </a:spcBef>
              <a:spcAft>
                <a:spcPts val="0"/>
              </a:spcAft>
              <a:buClr>
                <a:schemeClr val="dk1"/>
              </a:buClr>
              <a:buSzPts val="1100"/>
              <a:buFont typeface="Arial"/>
              <a:buNone/>
            </a:pPr>
            <a:r>
              <a:rPr b="1" lang="en" sz="3600">
                <a:solidFill>
                  <a:srgbClr val="FFFFFF"/>
                </a:solidFill>
                <a:latin typeface="Roboto"/>
                <a:ea typeface="Roboto"/>
                <a:cs typeface="Roboto"/>
                <a:sym typeface="Roboto"/>
              </a:rPr>
              <a:t>M</a:t>
            </a:r>
            <a:endParaRPr sz="1900">
              <a:solidFill>
                <a:srgbClr val="FFFFFF"/>
              </a:solidFill>
              <a:latin typeface="Roboto"/>
              <a:ea typeface="Roboto"/>
              <a:cs typeface="Roboto"/>
              <a:sym typeface="Roboto"/>
            </a:endParaRPr>
          </a:p>
        </p:txBody>
      </p:sp>
      <p:sp>
        <p:nvSpPr>
          <p:cNvPr id="1529" name="Google Shape;1529;p187"/>
          <p:cNvSpPr txBox="1"/>
          <p:nvPr/>
        </p:nvSpPr>
        <p:spPr>
          <a:xfrm>
            <a:off x="2317630" y="4234857"/>
            <a:ext cx="794100" cy="754800"/>
          </a:xfrm>
          <a:prstGeom prst="rect">
            <a:avLst/>
          </a:prstGeom>
          <a:solidFill>
            <a:srgbClr val="777BB3"/>
          </a:solidFill>
          <a:ln>
            <a:noFill/>
          </a:ln>
        </p:spPr>
        <p:txBody>
          <a:bodyPr anchorCtr="0" anchor="ctr" bIns="0" lIns="0" spcFirstLastPara="1" rIns="0" wrap="square" tIns="45700">
            <a:noAutofit/>
          </a:bodyPr>
          <a:lstStyle/>
          <a:p>
            <a:pPr indent="0" lvl="0" marL="0" rtl="0" algn="ctr">
              <a:lnSpc>
                <a:spcPct val="115000"/>
              </a:lnSpc>
              <a:spcBef>
                <a:spcPts val="0"/>
              </a:spcBef>
              <a:spcAft>
                <a:spcPts val="0"/>
              </a:spcAft>
              <a:buClr>
                <a:schemeClr val="dk1"/>
              </a:buClr>
              <a:buSzPts val="1100"/>
              <a:buFont typeface="Arial"/>
              <a:buNone/>
            </a:pPr>
            <a:r>
              <a:rPr b="1" lang="en" sz="3600">
                <a:solidFill>
                  <a:srgbClr val="FFFFFF"/>
                </a:solidFill>
                <a:latin typeface="Roboto"/>
                <a:ea typeface="Roboto"/>
                <a:cs typeface="Roboto"/>
                <a:sym typeface="Roboto"/>
              </a:rPr>
              <a:t>P</a:t>
            </a:r>
            <a:endParaRPr sz="1900">
              <a:solidFill>
                <a:srgbClr val="FFFFFF"/>
              </a:solidFill>
              <a:latin typeface="Roboto"/>
              <a:ea typeface="Roboto"/>
              <a:cs typeface="Roboto"/>
              <a:sym typeface="Roboto"/>
            </a:endParaRPr>
          </a:p>
        </p:txBody>
      </p:sp>
      <p:grpSp>
        <p:nvGrpSpPr>
          <p:cNvPr id="1530" name="Google Shape;1530;p187"/>
          <p:cNvGrpSpPr/>
          <p:nvPr/>
        </p:nvGrpSpPr>
        <p:grpSpPr>
          <a:xfrm>
            <a:off x="335886" y="4234778"/>
            <a:ext cx="1370558" cy="754778"/>
            <a:chOff x="419100" y="3935700"/>
            <a:chExt cx="1400100" cy="768300"/>
          </a:xfrm>
        </p:grpSpPr>
        <p:sp>
          <p:nvSpPr>
            <p:cNvPr id="1531" name="Google Shape;1531;p187"/>
            <p:cNvSpPr/>
            <p:nvPr/>
          </p:nvSpPr>
          <p:spPr>
            <a:xfrm>
              <a:off x="419100" y="3935700"/>
              <a:ext cx="1400100" cy="768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2" name="Google Shape;1532;p187"/>
            <p:cNvPicPr preferRelativeResize="0"/>
            <p:nvPr/>
          </p:nvPicPr>
          <p:blipFill>
            <a:blip r:embed="rId3">
              <a:alphaModFix/>
            </a:blip>
            <a:stretch>
              <a:fillRect/>
            </a:stretch>
          </p:blipFill>
          <p:spPr>
            <a:xfrm>
              <a:off x="628250" y="4061625"/>
              <a:ext cx="981799" cy="516450"/>
            </a:xfrm>
            <a:prstGeom prst="rect">
              <a:avLst/>
            </a:prstGeom>
            <a:noFill/>
            <a:ln>
              <a:noFill/>
            </a:ln>
          </p:spPr>
        </p:pic>
      </p:grpSp>
      <p:grpSp>
        <p:nvGrpSpPr>
          <p:cNvPr id="1533" name="Google Shape;1533;p187"/>
          <p:cNvGrpSpPr/>
          <p:nvPr/>
        </p:nvGrpSpPr>
        <p:grpSpPr>
          <a:xfrm>
            <a:off x="335886" y="3248702"/>
            <a:ext cx="1370558" cy="754778"/>
            <a:chOff x="419100" y="2931946"/>
            <a:chExt cx="1400100" cy="768300"/>
          </a:xfrm>
        </p:grpSpPr>
        <p:sp>
          <p:nvSpPr>
            <p:cNvPr id="1534" name="Google Shape;1534;p187"/>
            <p:cNvSpPr/>
            <p:nvPr/>
          </p:nvSpPr>
          <p:spPr>
            <a:xfrm>
              <a:off x="419100" y="2931946"/>
              <a:ext cx="1400100" cy="768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5" name="Google Shape;1535;p187"/>
            <p:cNvPicPr preferRelativeResize="0"/>
            <p:nvPr/>
          </p:nvPicPr>
          <p:blipFill>
            <a:blip r:embed="rId4">
              <a:alphaModFix/>
            </a:blip>
            <a:stretch>
              <a:fillRect/>
            </a:stretch>
          </p:blipFill>
          <p:spPr>
            <a:xfrm>
              <a:off x="672650" y="2980296"/>
              <a:ext cx="893000" cy="671600"/>
            </a:xfrm>
            <a:prstGeom prst="rect">
              <a:avLst/>
            </a:prstGeom>
            <a:noFill/>
            <a:ln>
              <a:noFill/>
            </a:ln>
          </p:spPr>
        </p:pic>
      </p:grpSp>
      <p:pic>
        <p:nvPicPr>
          <p:cNvPr id="1536" name="Google Shape;1536;p187"/>
          <p:cNvPicPr preferRelativeResize="0"/>
          <p:nvPr/>
        </p:nvPicPr>
        <p:blipFill>
          <a:blip r:embed="rId5">
            <a:alphaModFix/>
          </a:blip>
          <a:stretch>
            <a:fillRect/>
          </a:stretch>
        </p:blipFill>
        <p:spPr>
          <a:xfrm>
            <a:off x="730777" y="2193323"/>
            <a:ext cx="580717" cy="668831"/>
          </a:xfrm>
          <a:prstGeom prst="rect">
            <a:avLst/>
          </a:prstGeom>
          <a:noFill/>
          <a:ln>
            <a:noFill/>
          </a:ln>
        </p:spPr>
      </p:pic>
      <p:pic>
        <p:nvPicPr>
          <p:cNvPr id="1537" name="Google Shape;1537;p187"/>
          <p:cNvPicPr preferRelativeResize="0"/>
          <p:nvPr/>
        </p:nvPicPr>
        <p:blipFill rotWithShape="1">
          <a:blip r:embed="rId6">
            <a:alphaModFix/>
          </a:blip>
          <a:srcRect b="-9467" l="-9467" r="-9467" t="-9467"/>
          <a:stretch/>
        </p:blipFill>
        <p:spPr>
          <a:xfrm>
            <a:off x="671458" y="1130250"/>
            <a:ext cx="699357" cy="825503"/>
          </a:xfrm>
          <a:prstGeom prst="rect">
            <a:avLst/>
          </a:prstGeom>
          <a:noFill/>
          <a:ln>
            <a:noFill/>
          </a:ln>
        </p:spPr>
      </p:pic>
      <p:sp>
        <p:nvSpPr>
          <p:cNvPr id="1538" name="Google Shape;1538;p187"/>
          <p:cNvSpPr/>
          <p:nvPr/>
        </p:nvSpPr>
        <p:spPr>
          <a:xfrm>
            <a:off x="1924881" y="1175810"/>
            <a:ext cx="139800" cy="38139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87"/>
          <p:cNvSpPr txBox="1"/>
          <p:nvPr/>
        </p:nvSpPr>
        <p:spPr>
          <a:xfrm>
            <a:off x="335875" y="533700"/>
            <a:ext cx="8615700" cy="42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rgbClr val="000000"/>
              </a:buClr>
              <a:buSzPts val="688"/>
              <a:buFont typeface="Arial"/>
              <a:buNone/>
            </a:pPr>
            <a:r>
              <a:rPr lang="en" sz="1800">
                <a:solidFill>
                  <a:schemeClr val="dk2"/>
                </a:solidFill>
                <a:latin typeface="Roboto"/>
                <a:ea typeface="Roboto"/>
                <a:cs typeface="Roboto"/>
                <a:sym typeface="Roboto"/>
              </a:rPr>
              <a:t>The web software stack that we’ll use for today’s demos and activities consists of:</a:t>
            </a:r>
            <a:endParaRPr sz="1800">
              <a:solidFill>
                <a:schemeClr val="dk2"/>
              </a:solidFill>
              <a:latin typeface="Roboto"/>
              <a:ea typeface="Roboto"/>
              <a:cs typeface="Roboto"/>
              <a:sym typeface="Roboto"/>
            </a:endParaRPr>
          </a:p>
        </p:txBody>
      </p:sp>
      <p:cxnSp>
        <p:nvCxnSpPr>
          <p:cNvPr id="1540" name="Google Shape;1540;p187"/>
          <p:cNvCxnSpPr/>
          <p:nvPr/>
        </p:nvCxnSpPr>
        <p:spPr>
          <a:xfrm>
            <a:off x="9750" y="599775"/>
            <a:ext cx="72918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188"/>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We just covered all the software that we want to use for our web application, but what about the</a:t>
            </a:r>
            <a:r>
              <a:rPr b="1" lang="en"/>
              <a:t> hardware</a:t>
            </a:r>
            <a:r>
              <a:rPr lang="en"/>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189"/>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t>Microservices Infrastructure with Containers</a:t>
            </a:r>
            <a:endParaRPr/>
          </a:p>
        </p:txBody>
      </p:sp>
      <p:sp>
        <p:nvSpPr>
          <p:cNvPr id="1551" name="Google Shape;1551;p189"/>
          <p:cNvSpPr txBox="1"/>
          <p:nvPr>
            <p:ph idx="1" type="subTitle"/>
          </p:nvPr>
        </p:nvSpPr>
        <p:spPr>
          <a:xfrm>
            <a:off x="463231" y="624850"/>
            <a:ext cx="82296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lang="en"/>
              <a:t>Microservices require lightweight environments, because:</a:t>
            </a:r>
            <a:endParaRPr/>
          </a:p>
        </p:txBody>
      </p:sp>
      <p:sp>
        <p:nvSpPr>
          <p:cNvPr id="1552" name="Google Shape;1552;p189"/>
          <p:cNvSpPr/>
          <p:nvPr/>
        </p:nvSpPr>
        <p:spPr>
          <a:xfrm>
            <a:off x="0" y="4271975"/>
            <a:ext cx="9144000" cy="914400"/>
          </a:xfrm>
          <a:prstGeom prst="roundRect">
            <a:avLst>
              <a:gd fmla="val 0" name="adj"/>
            </a:avLst>
          </a:prstGeom>
          <a:solidFill>
            <a:schemeClr val="accent1"/>
          </a:solidFill>
          <a:ln>
            <a:noFill/>
          </a:ln>
        </p:spPr>
        <p:txBody>
          <a:bodyPr anchorCtr="0" anchor="ctr" bIns="91425" lIns="182875" spcFirstLastPara="1" rIns="91425" wrap="square" tIns="91425">
            <a:noAutofit/>
          </a:bodyPr>
          <a:lstStyle/>
          <a:p>
            <a:pPr indent="0" lvl="0" marL="914400" marR="0" rtl="0" algn="l">
              <a:lnSpc>
                <a:spcPct val="100000"/>
              </a:lnSpc>
              <a:spcBef>
                <a:spcPts val="0"/>
              </a:spcBef>
              <a:spcAft>
                <a:spcPts val="0"/>
              </a:spcAft>
              <a:buClr>
                <a:srgbClr val="000000"/>
              </a:buClr>
              <a:buSzPts val="1100"/>
              <a:buFont typeface="Arial"/>
              <a:buNone/>
            </a:pPr>
            <a:r>
              <a:rPr lang="en" sz="1800">
                <a:solidFill>
                  <a:schemeClr val="dk2"/>
                </a:solidFill>
                <a:latin typeface="Roboto"/>
                <a:ea typeface="Roboto"/>
                <a:cs typeface="Roboto"/>
                <a:sym typeface="Roboto"/>
              </a:rPr>
              <a:t>Can anyone think of a technology we've covered in class that can create </a:t>
            </a:r>
            <a:r>
              <a:rPr b="1" lang="en" sz="1800">
                <a:solidFill>
                  <a:schemeClr val="dk2"/>
                </a:solidFill>
                <a:latin typeface="Roboto"/>
                <a:ea typeface="Roboto"/>
                <a:cs typeface="Roboto"/>
                <a:sym typeface="Roboto"/>
              </a:rPr>
              <a:t>isolated virtual environments</a:t>
            </a:r>
            <a:r>
              <a:rPr lang="en" sz="1800">
                <a:solidFill>
                  <a:schemeClr val="dk2"/>
                </a:solidFill>
                <a:latin typeface="Roboto"/>
                <a:ea typeface="Roboto"/>
                <a:cs typeface="Roboto"/>
                <a:sym typeface="Roboto"/>
              </a:rPr>
              <a:t>?</a:t>
            </a:r>
            <a:endParaRPr sz="1800">
              <a:solidFill>
                <a:schemeClr val="dk2"/>
              </a:solidFill>
              <a:latin typeface="Roboto"/>
              <a:ea typeface="Roboto"/>
              <a:cs typeface="Roboto"/>
              <a:sym typeface="Roboto"/>
            </a:endParaRPr>
          </a:p>
        </p:txBody>
      </p:sp>
      <p:grpSp>
        <p:nvGrpSpPr>
          <p:cNvPr id="1553" name="Google Shape;1553;p189"/>
          <p:cNvGrpSpPr/>
          <p:nvPr/>
        </p:nvGrpSpPr>
        <p:grpSpPr>
          <a:xfrm>
            <a:off x="-3" y="1171500"/>
            <a:ext cx="8686828" cy="400200"/>
            <a:chOff x="-3" y="1185750"/>
            <a:chExt cx="8686828" cy="400200"/>
          </a:xfrm>
        </p:grpSpPr>
        <p:cxnSp>
          <p:nvCxnSpPr>
            <p:cNvPr id="1554" name="Google Shape;1554;p189"/>
            <p:cNvCxnSpPr/>
            <p:nvPr/>
          </p:nvCxnSpPr>
          <p:spPr>
            <a:xfrm>
              <a:off x="-3" y="1385850"/>
              <a:ext cx="686400" cy="0"/>
            </a:xfrm>
            <a:prstGeom prst="straightConnector1">
              <a:avLst/>
            </a:prstGeom>
            <a:noFill/>
            <a:ln cap="flat" cmpd="sng" w="19050">
              <a:solidFill>
                <a:schemeClr val="accent6"/>
              </a:solidFill>
              <a:prstDash val="solid"/>
              <a:round/>
              <a:headEnd len="sm" w="sm" type="none"/>
              <a:tailEnd len="med" w="med" type="oval"/>
            </a:ln>
          </p:spPr>
        </p:cxnSp>
        <p:sp>
          <p:nvSpPr>
            <p:cNvPr id="1555" name="Google Shape;1555;p189"/>
            <p:cNvSpPr/>
            <p:nvPr/>
          </p:nvSpPr>
          <p:spPr>
            <a:xfrm>
              <a:off x="596125" y="1185750"/>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189"/>
            <p:cNvSpPr/>
            <p:nvPr/>
          </p:nvSpPr>
          <p:spPr>
            <a:xfrm>
              <a:off x="513600" y="122430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57" name="Google Shape;1557;p189"/>
            <p:cNvSpPr/>
            <p:nvPr/>
          </p:nvSpPr>
          <p:spPr>
            <a:xfrm>
              <a:off x="593400" y="1304100"/>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1558" name="Google Shape;1558;p189"/>
          <p:cNvGrpSpPr/>
          <p:nvPr/>
        </p:nvGrpSpPr>
        <p:grpSpPr>
          <a:xfrm>
            <a:off x="-3" y="1857242"/>
            <a:ext cx="8686828" cy="400200"/>
            <a:chOff x="-3" y="1885788"/>
            <a:chExt cx="8686828" cy="400200"/>
          </a:xfrm>
        </p:grpSpPr>
        <p:cxnSp>
          <p:nvCxnSpPr>
            <p:cNvPr id="1559" name="Google Shape;1559;p189"/>
            <p:cNvCxnSpPr/>
            <p:nvPr/>
          </p:nvCxnSpPr>
          <p:spPr>
            <a:xfrm>
              <a:off x="-3" y="2085888"/>
              <a:ext cx="662400" cy="0"/>
            </a:xfrm>
            <a:prstGeom prst="straightConnector1">
              <a:avLst/>
            </a:prstGeom>
            <a:noFill/>
            <a:ln cap="flat" cmpd="sng" w="19050">
              <a:solidFill>
                <a:schemeClr val="accent6"/>
              </a:solidFill>
              <a:prstDash val="solid"/>
              <a:round/>
              <a:headEnd len="sm" w="sm" type="none"/>
              <a:tailEnd len="med" w="med" type="oval"/>
            </a:ln>
          </p:spPr>
        </p:cxnSp>
        <p:cxnSp>
          <p:nvCxnSpPr>
            <p:cNvPr id="1560" name="Google Shape;1560;p189"/>
            <p:cNvCxnSpPr/>
            <p:nvPr/>
          </p:nvCxnSpPr>
          <p:spPr>
            <a:xfrm>
              <a:off x="-3" y="2085888"/>
              <a:ext cx="672900" cy="0"/>
            </a:xfrm>
            <a:prstGeom prst="straightConnector1">
              <a:avLst/>
            </a:prstGeom>
            <a:noFill/>
            <a:ln cap="flat" cmpd="sng" w="19050">
              <a:solidFill>
                <a:schemeClr val="accent6"/>
              </a:solidFill>
              <a:prstDash val="solid"/>
              <a:round/>
              <a:headEnd len="sm" w="sm" type="none"/>
              <a:tailEnd len="med" w="med" type="oval"/>
            </a:ln>
          </p:spPr>
        </p:cxnSp>
        <p:sp>
          <p:nvSpPr>
            <p:cNvPr id="1561" name="Google Shape;1561;p189"/>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189"/>
            <p:cNvSpPr/>
            <p:nvPr/>
          </p:nvSpPr>
          <p:spPr>
            <a:xfrm>
              <a:off x="513600" y="19243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63" name="Google Shape;1563;p189"/>
            <p:cNvSpPr/>
            <p:nvPr/>
          </p:nvSpPr>
          <p:spPr>
            <a:xfrm>
              <a:off x="593400" y="2004138"/>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1564" name="Google Shape;1564;p189"/>
          <p:cNvGrpSpPr/>
          <p:nvPr/>
        </p:nvGrpSpPr>
        <p:grpSpPr>
          <a:xfrm>
            <a:off x="-3" y="2542984"/>
            <a:ext cx="8686828" cy="400200"/>
            <a:chOff x="-3" y="2566213"/>
            <a:chExt cx="8686828" cy="400200"/>
          </a:xfrm>
        </p:grpSpPr>
        <p:cxnSp>
          <p:nvCxnSpPr>
            <p:cNvPr id="1565" name="Google Shape;1565;p189"/>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1566" name="Google Shape;1566;p189"/>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189"/>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68" name="Google Shape;1568;p189"/>
            <p:cNvSpPr/>
            <p:nvPr/>
          </p:nvSpPr>
          <p:spPr>
            <a:xfrm>
              <a:off x="593400" y="2684563"/>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569" name="Google Shape;1569;p189"/>
          <p:cNvSpPr txBox="1"/>
          <p:nvPr>
            <p:ph idx="4294967295"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300"/>
              <a:t>Our microservices need to be rapidly deployable.</a:t>
            </a:r>
            <a:endParaRPr sz="1300"/>
          </a:p>
        </p:txBody>
      </p:sp>
      <p:sp>
        <p:nvSpPr>
          <p:cNvPr id="1570" name="Google Shape;1570;p189"/>
          <p:cNvSpPr txBox="1"/>
          <p:nvPr>
            <p:ph idx="4294967295"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300"/>
              <a:t>We need to be able to scale our microservices to meet growing demand.</a:t>
            </a:r>
            <a:endParaRPr sz="1300"/>
          </a:p>
        </p:txBody>
      </p:sp>
      <p:sp>
        <p:nvSpPr>
          <p:cNvPr id="1571" name="Google Shape;1571;p189"/>
          <p:cNvSpPr txBox="1"/>
          <p:nvPr>
            <p:ph idx="4294967295" type="body"/>
          </p:nvPr>
        </p:nvSpPr>
        <p:spPr>
          <a:xfrm>
            <a:off x="914400" y="2559825"/>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300"/>
              <a:t>Developers and maintainers need to be able to replicate their own copies of these microservices locally.</a:t>
            </a:r>
            <a:endParaRPr sz="1300"/>
          </a:p>
        </p:txBody>
      </p:sp>
      <p:grpSp>
        <p:nvGrpSpPr>
          <p:cNvPr id="1572" name="Google Shape;1572;p189"/>
          <p:cNvGrpSpPr/>
          <p:nvPr/>
        </p:nvGrpSpPr>
        <p:grpSpPr>
          <a:xfrm>
            <a:off x="-3" y="3152584"/>
            <a:ext cx="8686828" cy="400200"/>
            <a:chOff x="-3" y="2566213"/>
            <a:chExt cx="8686828" cy="400200"/>
          </a:xfrm>
        </p:grpSpPr>
        <p:cxnSp>
          <p:nvCxnSpPr>
            <p:cNvPr id="1573" name="Google Shape;1573;p189"/>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1574" name="Google Shape;1574;p189"/>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189"/>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76" name="Google Shape;1576;p189"/>
            <p:cNvSpPr/>
            <p:nvPr/>
          </p:nvSpPr>
          <p:spPr>
            <a:xfrm>
              <a:off x="593400" y="2684563"/>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577" name="Google Shape;1577;p189"/>
          <p:cNvSpPr txBox="1"/>
          <p:nvPr>
            <p:ph idx="4294967295" type="body"/>
          </p:nvPr>
        </p:nvSpPr>
        <p:spPr>
          <a:xfrm>
            <a:off x="914400" y="3184725"/>
            <a:ext cx="7772400" cy="27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300"/>
              <a:t>Having full-sized virtual machines for each service would require more resources and be more costly.</a:t>
            </a:r>
            <a:endParaRPr sz="1300"/>
          </a:p>
        </p:txBody>
      </p:sp>
      <p:pic>
        <p:nvPicPr>
          <p:cNvPr id="1578" name="Google Shape;1578;p189"/>
          <p:cNvPicPr preferRelativeResize="0"/>
          <p:nvPr/>
        </p:nvPicPr>
        <p:blipFill rotWithShape="1">
          <a:blip r:embed="rId3">
            <a:alphaModFix/>
          </a:blip>
          <a:srcRect b="18460" l="19237" r="23999" t="22465"/>
          <a:stretch/>
        </p:blipFill>
        <p:spPr>
          <a:xfrm>
            <a:off x="120950" y="4238650"/>
            <a:ext cx="942674" cy="98104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2" name="Shape 1582"/>
        <p:cNvGrpSpPr/>
        <p:nvPr/>
      </p:nvGrpSpPr>
      <p:grpSpPr>
        <a:xfrm>
          <a:off x="0" y="0"/>
          <a:ext cx="0" cy="0"/>
          <a:chOff x="0" y="0"/>
          <a:chExt cx="0" cy="0"/>
        </a:xfrm>
      </p:grpSpPr>
      <p:sp>
        <p:nvSpPr>
          <p:cNvPr id="1583" name="Google Shape;1583;p190"/>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Microservice Infrastructure with Containers</a:t>
            </a:r>
            <a:endParaRPr sz="2600"/>
          </a:p>
        </p:txBody>
      </p:sp>
      <p:pic>
        <p:nvPicPr>
          <p:cNvPr id="1584" name="Google Shape;1584;p190"/>
          <p:cNvPicPr preferRelativeResize="0"/>
          <p:nvPr/>
        </p:nvPicPr>
        <p:blipFill>
          <a:blip r:embed="rId3">
            <a:alphaModFix/>
          </a:blip>
          <a:stretch>
            <a:fillRect/>
          </a:stretch>
        </p:blipFill>
        <p:spPr>
          <a:xfrm>
            <a:off x="4898925" y="959375"/>
            <a:ext cx="3708850" cy="3115426"/>
          </a:xfrm>
          <a:prstGeom prst="rect">
            <a:avLst/>
          </a:prstGeom>
          <a:noFill/>
          <a:ln>
            <a:noFill/>
          </a:ln>
        </p:spPr>
      </p:pic>
      <p:sp>
        <p:nvSpPr>
          <p:cNvPr id="1585" name="Google Shape;1585;p190"/>
          <p:cNvSpPr txBox="1"/>
          <p:nvPr/>
        </p:nvSpPr>
        <p:spPr>
          <a:xfrm>
            <a:off x="457200" y="1035400"/>
            <a:ext cx="4074600" cy="3576000"/>
          </a:xfrm>
          <a:prstGeom prst="rect">
            <a:avLst/>
          </a:prstGeom>
          <a:noFill/>
          <a:ln>
            <a:noFill/>
          </a:ln>
        </p:spPr>
        <p:txBody>
          <a:bodyPr anchorCtr="0" anchor="t" bIns="91425" lIns="91425" spcFirstLastPara="1" rIns="91425" wrap="square" tIns="91425">
            <a:spAutoFit/>
          </a:bodyPr>
          <a:lstStyle/>
          <a:p>
            <a:pPr indent="-205740" lvl="0" marL="320040" rtl="0" algn="l">
              <a:lnSpc>
                <a:spcPct val="10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Containers run as isolated, virtual operating systems that dynamically allocate resources depending on needs.</a:t>
            </a:r>
            <a:endParaRPr sz="1800">
              <a:solidFill>
                <a:schemeClr val="dk2"/>
              </a:solidFill>
              <a:latin typeface="Roboto"/>
              <a:ea typeface="Roboto"/>
              <a:cs typeface="Roboto"/>
              <a:sym typeface="Roboto"/>
            </a:endParaRPr>
          </a:p>
          <a:p>
            <a:pPr indent="-205740" lvl="0" marL="320040" rtl="0" algn="l">
              <a:lnSpc>
                <a:spcPct val="105000"/>
              </a:lnSpc>
              <a:spcBef>
                <a:spcPts val="800"/>
              </a:spcBef>
              <a:spcAft>
                <a:spcPts val="0"/>
              </a:spcAft>
              <a:buClr>
                <a:schemeClr val="dk2"/>
              </a:buClr>
              <a:buSzPts val="1800"/>
              <a:buFont typeface="Roboto"/>
              <a:buChar char="●"/>
            </a:pPr>
            <a:r>
              <a:rPr lang="en" sz="1800">
                <a:solidFill>
                  <a:schemeClr val="dk2"/>
                </a:solidFill>
                <a:latin typeface="Roboto"/>
                <a:ea typeface="Roboto"/>
                <a:cs typeface="Roboto"/>
                <a:sym typeface="Roboto"/>
              </a:rPr>
              <a:t>T</a:t>
            </a:r>
            <a:r>
              <a:rPr lang="en" sz="1800">
                <a:solidFill>
                  <a:schemeClr val="dk2"/>
                </a:solidFill>
                <a:latin typeface="Roboto"/>
                <a:ea typeface="Roboto"/>
                <a:cs typeface="Roboto"/>
                <a:sym typeface="Roboto"/>
              </a:rPr>
              <a:t>his is un</a:t>
            </a:r>
            <a:r>
              <a:rPr lang="en" sz="1800">
                <a:solidFill>
                  <a:schemeClr val="dk2"/>
                </a:solidFill>
                <a:latin typeface="Roboto"/>
                <a:ea typeface="Roboto"/>
                <a:cs typeface="Roboto"/>
                <a:sym typeface="Roboto"/>
              </a:rPr>
              <a:t>like regular virtual machines, where all hardware is virtualized.</a:t>
            </a:r>
            <a:endParaRPr sz="1800">
              <a:solidFill>
                <a:schemeClr val="dk2"/>
              </a:solidFill>
              <a:latin typeface="Roboto"/>
              <a:ea typeface="Roboto"/>
              <a:cs typeface="Roboto"/>
              <a:sym typeface="Roboto"/>
            </a:endParaRPr>
          </a:p>
          <a:p>
            <a:pPr indent="-205740" lvl="0" marL="320040" rtl="0" algn="l">
              <a:lnSpc>
                <a:spcPct val="105000"/>
              </a:lnSpc>
              <a:spcBef>
                <a:spcPts val="800"/>
              </a:spcBef>
              <a:spcAft>
                <a:spcPts val="800"/>
              </a:spcAft>
              <a:buClr>
                <a:schemeClr val="dk2"/>
              </a:buClr>
              <a:buSzPts val="1800"/>
              <a:buFont typeface="Roboto"/>
              <a:buChar char="●"/>
            </a:pPr>
            <a:r>
              <a:rPr lang="en" sz="1800">
                <a:solidFill>
                  <a:schemeClr val="dk2"/>
                </a:solidFill>
                <a:latin typeface="Roboto"/>
                <a:ea typeface="Roboto"/>
                <a:cs typeface="Roboto"/>
                <a:sym typeface="Roboto"/>
              </a:rPr>
              <a:t>Docker is the most popular container platform. For the rest of this class, we will refer to Docker’s implementations of containers.</a:t>
            </a:r>
            <a:endParaRPr sz="1800">
              <a:solidFill>
                <a:schemeClr val="dk2"/>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191"/>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3300"/>
              <a:t>Containerization </a:t>
            </a:r>
            <a:r>
              <a:rPr lang="en" sz="3300"/>
              <a:t>is the process of packaging all the requirements to set up a microservice as a container.</a:t>
            </a:r>
            <a:endParaRPr sz="33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4" name="Shape 1594"/>
        <p:cNvGrpSpPr/>
        <p:nvPr/>
      </p:nvGrpSpPr>
      <p:grpSpPr>
        <a:xfrm>
          <a:off x="0" y="0"/>
          <a:ext cx="0" cy="0"/>
          <a:chOff x="0" y="0"/>
          <a:chExt cx="0" cy="0"/>
        </a:xfrm>
      </p:grpSpPr>
      <p:sp>
        <p:nvSpPr>
          <p:cNvPr id="1595" name="Google Shape;1595;p192"/>
          <p:cNvSpPr/>
          <p:nvPr/>
        </p:nvSpPr>
        <p:spPr>
          <a:xfrm>
            <a:off x="1287175" y="13814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192"/>
          <p:cNvSpPr/>
          <p:nvPr/>
        </p:nvSpPr>
        <p:spPr>
          <a:xfrm>
            <a:off x="1287175" y="2756829"/>
            <a:ext cx="7399500" cy="582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192"/>
          <p:cNvSpPr/>
          <p:nvPr/>
        </p:nvSpPr>
        <p:spPr>
          <a:xfrm>
            <a:off x="1287175" y="20565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98" name="Google Shape;1598;p192"/>
          <p:cNvGrpSpPr/>
          <p:nvPr/>
        </p:nvGrpSpPr>
        <p:grpSpPr>
          <a:xfrm>
            <a:off x="457200" y="1381429"/>
            <a:ext cx="776900" cy="459019"/>
            <a:chOff x="457200" y="1466425"/>
            <a:chExt cx="776900" cy="486300"/>
          </a:xfrm>
        </p:grpSpPr>
        <p:sp>
          <p:nvSpPr>
            <p:cNvPr id="1599" name="Google Shape;1599;p192"/>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600" name="Google Shape;1600;p192"/>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601" name="Google Shape;1601;p192"/>
          <p:cNvGrpSpPr/>
          <p:nvPr/>
        </p:nvGrpSpPr>
        <p:grpSpPr>
          <a:xfrm>
            <a:off x="457200" y="2036305"/>
            <a:ext cx="776900" cy="486300"/>
            <a:chOff x="457200" y="1466425"/>
            <a:chExt cx="776900" cy="486300"/>
          </a:xfrm>
        </p:grpSpPr>
        <p:sp>
          <p:nvSpPr>
            <p:cNvPr id="1602" name="Google Shape;1602;p192"/>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603" name="Google Shape;1603;p192"/>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604" name="Google Shape;1604;p192"/>
          <p:cNvGrpSpPr/>
          <p:nvPr/>
        </p:nvGrpSpPr>
        <p:grpSpPr>
          <a:xfrm>
            <a:off x="457200" y="2753161"/>
            <a:ext cx="776900" cy="437378"/>
            <a:chOff x="457200" y="1466425"/>
            <a:chExt cx="776900" cy="486300"/>
          </a:xfrm>
        </p:grpSpPr>
        <p:sp>
          <p:nvSpPr>
            <p:cNvPr id="1605" name="Google Shape;1605;p192"/>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1606" name="Google Shape;1606;p192"/>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607" name="Google Shape;1607;p192"/>
          <p:cNvSpPr txBox="1"/>
          <p:nvPr>
            <p:ph idx="4294967295" type="body"/>
          </p:nvPr>
        </p:nvSpPr>
        <p:spPr>
          <a:xfrm>
            <a:off x="1287250" y="1402800"/>
            <a:ext cx="7280100" cy="43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a:t>Declares a base operating system for the microservice to run on.</a:t>
            </a:r>
            <a:endParaRPr/>
          </a:p>
        </p:txBody>
      </p:sp>
      <p:sp>
        <p:nvSpPr>
          <p:cNvPr id="1608" name="Google Shape;1608;p192"/>
          <p:cNvSpPr txBox="1"/>
          <p:nvPr>
            <p:ph idx="4294967295" type="body"/>
          </p:nvPr>
        </p:nvSpPr>
        <p:spPr>
          <a:xfrm>
            <a:off x="1287250" y="2077975"/>
            <a:ext cx="6485100" cy="43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a:t>Stages the microservice's source code to the container.</a:t>
            </a:r>
            <a:endParaRPr/>
          </a:p>
        </p:txBody>
      </p:sp>
      <p:sp>
        <p:nvSpPr>
          <p:cNvPr id="1609" name="Google Shape;1609;p192"/>
          <p:cNvSpPr txBox="1"/>
          <p:nvPr>
            <p:ph idx="4294967295" type="body"/>
          </p:nvPr>
        </p:nvSpPr>
        <p:spPr>
          <a:xfrm>
            <a:off x="1287250" y="2876375"/>
            <a:ext cx="7399500" cy="32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a:t>Sets a command that launches the microservice and all other needed software when the container is deployed.</a:t>
            </a:r>
            <a:endParaRPr/>
          </a:p>
        </p:txBody>
      </p:sp>
      <p:sp>
        <p:nvSpPr>
          <p:cNvPr id="1610" name="Google Shape;1610;p19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t>How a Container Becomes a Microservice</a:t>
            </a:r>
            <a:endParaRPr/>
          </a:p>
        </p:txBody>
      </p:sp>
      <p:sp>
        <p:nvSpPr>
          <p:cNvPr id="1611" name="Google Shape;1611;p192"/>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lang="en"/>
              <a:t>Containerizing a microservice requires the following steps: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15" name="Shape 1615"/>
        <p:cNvGrpSpPr/>
        <p:nvPr/>
      </p:nvGrpSpPr>
      <p:grpSpPr>
        <a:xfrm>
          <a:off x="0" y="0"/>
          <a:ext cx="0" cy="0"/>
          <a:chOff x="0" y="0"/>
          <a:chExt cx="0" cy="0"/>
        </a:xfrm>
      </p:grpSpPr>
      <p:sp>
        <p:nvSpPr>
          <p:cNvPr id="1616" name="Google Shape;1616;p193"/>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Dockerfile</a:t>
            </a:r>
            <a:endParaRPr sz="2600"/>
          </a:p>
        </p:txBody>
      </p:sp>
      <p:sp>
        <p:nvSpPr>
          <p:cNvPr id="1617" name="Google Shape;1617;p193"/>
          <p:cNvSpPr txBox="1"/>
          <p:nvPr>
            <p:ph idx="1" type="subTitle"/>
          </p:nvPr>
        </p:nvSpPr>
        <p:spPr>
          <a:xfrm>
            <a:off x="0" y="5235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Containerization can be declared in a </a:t>
            </a:r>
            <a:r>
              <a:rPr lang="en"/>
              <a:t>text</a:t>
            </a:r>
            <a:r>
              <a:rPr lang="en"/>
              <a:t> file called a</a:t>
            </a:r>
            <a:r>
              <a:rPr lang="en"/>
              <a:t> </a:t>
            </a:r>
            <a:r>
              <a:rPr b="1" lang="en"/>
              <a:t>Dockerfile</a:t>
            </a:r>
            <a:r>
              <a:rPr lang="en"/>
              <a:t>. </a:t>
            </a:r>
            <a:endParaRPr/>
          </a:p>
        </p:txBody>
      </p:sp>
      <p:sp>
        <p:nvSpPr>
          <p:cNvPr id="1618" name="Google Shape;1618;p193"/>
          <p:cNvSpPr txBox="1"/>
          <p:nvPr>
            <p:ph idx="2" type="body"/>
          </p:nvPr>
        </p:nvSpPr>
        <p:spPr>
          <a:xfrm>
            <a:off x="4358125" y="1284250"/>
            <a:ext cx="4482900" cy="3262800"/>
          </a:xfrm>
          <a:prstGeom prst="rect">
            <a:avLst/>
          </a:prstGeom>
          <a:ln>
            <a:noFill/>
          </a:ln>
        </p:spPr>
        <p:txBody>
          <a:bodyPr anchorCtr="0" anchor="t" bIns="914400" lIns="457200" spcFirstLastPara="1" rIns="457200" wrap="square" tIns="0">
            <a:noAutofit/>
          </a:bodyPr>
          <a:lstStyle/>
          <a:p>
            <a:pPr indent="0" lvl="0" marL="0" marR="0" rtl="0" algn="l">
              <a:spcBef>
                <a:spcPts val="0"/>
              </a:spcBef>
              <a:spcAft>
                <a:spcPts val="0"/>
              </a:spcAft>
              <a:buNone/>
            </a:pPr>
            <a:r>
              <a:rPr lang="en" sz="1844"/>
              <a:t>Dockerfiles contain all the configuration needed for a container in one file. </a:t>
            </a:r>
            <a:endParaRPr sz="1844"/>
          </a:p>
          <a:p>
            <a:pPr indent="0" lvl="0" marL="0" rtl="0" algn="l">
              <a:spcBef>
                <a:spcPts val="800"/>
              </a:spcBef>
              <a:spcAft>
                <a:spcPts val="0"/>
              </a:spcAft>
              <a:buNone/>
            </a:pPr>
            <a:r>
              <a:rPr lang="en" sz="1844"/>
              <a:t>This is similar to an Ansible configuration file, which contains everything needed to configure a host with the </a:t>
            </a:r>
            <a:r>
              <a:rPr b="1" lang="en" sz="1844"/>
              <a:t>command:</a:t>
            </a:r>
            <a:r>
              <a:rPr b="1" lang="en" sz="1844"/>
              <a:t> </a:t>
            </a:r>
            <a:r>
              <a:rPr b="1" lang="en" sz="1644">
                <a:latin typeface="Inconsolata"/>
                <a:ea typeface="Inconsolata"/>
                <a:cs typeface="Inconsolata"/>
                <a:sym typeface="Inconsolata"/>
              </a:rPr>
              <a:t>ansible-playbook your-playbook.ym</a:t>
            </a:r>
            <a:r>
              <a:rPr b="1" lang="en" sz="1744">
                <a:latin typeface="Inconsolata"/>
                <a:ea typeface="Inconsolata"/>
                <a:cs typeface="Inconsolata"/>
                <a:sym typeface="Inconsolata"/>
              </a:rPr>
              <a:t>l.</a:t>
            </a:r>
            <a:endParaRPr b="1" sz="1744">
              <a:latin typeface="Inconsolata"/>
              <a:ea typeface="Inconsolata"/>
              <a:cs typeface="Inconsolata"/>
              <a:sym typeface="Inconsolata"/>
            </a:endParaRPr>
          </a:p>
          <a:p>
            <a:pPr indent="0" lvl="0" marL="0" rtl="0" algn="l">
              <a:spcBef>
                <a:spcPts val="800"/>
              </a:spcBef>
              <a:spcAft>
                <a:spcPts val="800"/>
              </a:spcAft>
              <a:buNone/>
            </a:pPr>
            <a:r>
              <a:t/>
            </a:r>
            <a:endParaRPr sz="1844"/>
          </a:p>
        </p:txBody>
      </p:sp>
      <p:sp>
        <p:nvSpPr>
          <p:cNvPr id="1619" name="Google Shape;1619;p193"/>
          <p:cNvSpPr txBox="1"/>
          <p:nvPr/>
        </p:nvSpPr>
        <p:spPr>
          <a:xfrm>
            <a:off x="464875" y="1331750"/>
            <a:ext cx="4252200" cy="2935200"/>
          </a:xfrm>
          <a:prstGeom prst="rect">
            <a:avLst/>
          </a:prstGeom>
          <a:solidFill>
            <a:srgbClr val="F3F3F3"/>
          </a:solidFill>
          <a:ln>
            <a:noFill/>
          </a:ln>
        </p:spPr>
        <p:txBody>
          <a:bodyPr anchorCtr="0" anchor="t" bIns="91425" lIns="182875" spcFirstLastPara="1" rIns="91425" wrap="square" tIns="182875">
            <a:noAutofit/>
          </a:bodyPr>
          <a:lstStyle/>
          <a:p>
            <a:pPr indent="0" lvl="0" marL="0" rtl="0" algn="l">
              <a:spcBef>
                <a:spcPts val="0"/>
              </a:spcBef>
              <a:spcAft>
                <a:spcPts val="0"/>
              </a:spcAft>
              <a:buNone/>
            </a:pPr>
            <a:r>
              <a:rPr lang="en" sz="1800">
                <a:solidFill>
                  <a:schemeClr val="accent3"/>
                </a:solidFill>
                <a:latin typeface="Inconsolata Medium"/>
                <a:ea typeface="Inconsolata Medium"/>
                <a:cs typeface="Inconsolata Medium"/>
                <a:sym typeface="Inconsolata Medium"/>
              </a:rPr>
              <a:t>###############################</a:t>
            </a:r>
            <a:endParaRPr sz="18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800">
                <a:solidFill>
                  <a:schemeClr val="accent3"/>
                </a:solidFill>
                <a:latin typeface="Inconsolata Medium"/>
                <a:ea typeface="Inconsolata Medium"/>
                <a:cs typeface="Inconsolata Medium"/>
                <a:sym typeface="Inconsolata Medium"/>
              </a:rPr>
              <a:t># Employee Directory Application</a:t>
            </a:r>
            <a:endParaRPr sz="18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800">
                <a:solidFill>
                  <a:schemeClr val="accent3"/>
                </a:solidFill>
                <a:latin typeface="Inconsolata Medium"/>
                <a:ea typeface="Inconsolata Medium"/>
                <a:cs typeface="Inconsolata Medium"/>
                <a:sym typeface="Inconsolata Medium"/>
              </a:rPr>
              <a:t>###############################</a:t>
            </a:r>
            <a:endParaRPr sz="18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800">
                <a:solidFill>
                  <a:schemeClr val="accent3"/>
                </a:solidFill>
                <a:latin typeface="Inconsolata Medium"/>
                <a:ea typeface="Inconsolata Medium"/>
                <a:cs typeface="Inconsolata Medium"/>
                <a:sym typeface="Inconsolata Medium"/>
              </a:rPr>
              <a:t># Required Base OS</a:t>
            </a:r>
            <a:endParaRPr sz="18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800">
                <a:solidFill>
                  <a:srgbClr val="D73A49"/>
                </a:solidFill>
                <a:latin typeface="Inconsolata Medium"/>
                <a:ea typeface="Inconsolata Medium"/>
                <a:cs typeface="Inconsolata Medium"/>
                <a:sym typeface="Inconsolata Medium"/>
              </a:rPr>
              <a:t>FROM</a:t>
            </a:r>
            <a:r>
              <a:rPr lang="en" sz="1800">
                <a:solidFill>
                  <a:srgbClr val="24292E"/>
                </a:solidFill>
                <a:latin typeface="Inconsolata Medium"/>
                <a:ea typeface="Inconsolata Medium"/>
                <a:cs typeface="Inconsolata Medium"/>
                <a:sym typeface="Inconsolata Medium"/>
              </a:rPr>
              <a:t> ubuntu:14.04</a:t>
            </a:r>
            <a:endParaRPr sz="1800">
              <a:solidFill>
                <a:srgbClr val="24292E"/>
              </a:solidFill>
              <a:latin typeface="Inconsolata Medium"/>
              <a:ea typeface="Inconsolata Medium"/>
              <a:cs typeface="Inconsolata Medium"/>
              <a:sym typeface="Inconsolata Medium"/>
            </a:endParaRPr>
          </a:p>
          <a:p>
            <a:pPr indent="0" lvl="0" marL="152400" marR="152400" rtl="0" algn="l">
              <a:lnSpc>
                <a:spcPct val="145000"/>
              </a:lnSpc>
              <a:spcBef>
                <a:spcPts val="0"/>
              </a:spcBef>
              <a:spcAft>
                <a:spcPts val="0"/>
              </a:spcAft>
              <a:buNone/>
            </a:pPr>
            <a:r>
              <a:rPr lang="en" sz="1800">
                <a:solidFill>
                  <a:srgbClr val="24292E"/>
                </a:solidFill>
                <a:latin typeface="Inconsolata Medium"/>
                <a:ea typeface="Inconsolata Medium"/>
                <a:cs typeface="Inconsolata Medium"/>
                <a:sym typeface="Inconsolata Medium"/>
              </a:rPr>
              <a:t>...[truncated</a:t>
            </a:r>
            <a:r>
              <a:rPr b="1" lang="en" sz="1800">
                <a:solidFill>
                  <a:srgbClr val="24292E"/>
                </a:solidFill>
                <a:latin typeface="Inconsolata"/>
                <a:ea typeface="Inconsolata"/>
                <a:cs typeface="Inconsolata"/>
                <a:sym typeface="Inconsolata"/>
              </a:rPr>
              <a:t>]</a:t>
            </a:r>
            <a:endParaRPr b="1" sz="1800">
              <a:solidFill>
                <a:srgbClr val="24292E"/>
              </a:solidFill>
              <a:latin typeface="Inconsolata"/>
              <a:ea typeface="Inconsolata"/>
              <a:cs typeface="Inconsolata"/>
              <a:sym typeface="Inconsolata"/>
            </a:endParaRPr>
          </a:p>
        </p:txBody>
      </p:sp>
      <p:pic>
        <p:nvPicPr>
          <p:cNvPr id="1620" name="Google Shape;1620;p193"/>
          <p:cNvPicPr preferRelativeResize="0"/>
          <p:nvPr/>
        </p:nvPicPr>
        <p:blipFill rotWithShape="1">
          <a:blip r:embed="rId3">
            <a:alphaModFix/>
          </a:blip>
          <a:srcRect b="31323" l="0" r="0" t="0"/>
          <a:stretch/>
        </p:blipFill>
        <p:spPr>
          <a:xfrm flipH="1">
            <a:off x="7038100" y="3899675"/>
            <a:ext cx="1938925" cy="1118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620"/>
                                        </p:tgtEl>
                                        <p:attrNameLst>
                                          <p:attrName>style.visibility</p:attrName>
                                        </p:attrNameLst>
                                      </p:cBhvr>
                                      <p:to>
                                        <p:strVal val="visible"/>
                                      </p:to>
                                    </p:set>
                                    <p:anim calcmode="lin" valueType="num">
                                      <p:cBhvr additive="base">
                                        <p:cTn dur="4300"/>
                                        <p:tgtEl>
                                          <p:spTgt spid="162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24" name="Shape 1624"/>
        <p:cNvGrpSpPr/>
        <p:nvPr/>
      </p:nvGrpSpPr>
      <p:grpSpPr>
        <a:xfrm>
          <a:off x="0" y="0"/>
          <a:ext cx="0" cy="0"/>
          <a:chOff x="0" y="0"/>
          <a:chExt cx="0" cy="0"/>
        </a:xfrm>
      </p:grpSpPr>
      <p:sp>
        <p:nvSpPr>
          <p:cNvPr id="1625" name="Google Shape;1625;p194"/>
          <p:cNvSpPr/>
          <p:nvPr/>
        </p:nvSpPr>
        <p:spPr>
          <a:xfrm>
            <a:off x="230700" y="606625"/>
            <a:ext cx="8740500" cy="6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94"/>
          <p:cNvSpPr/>
          <p:nvPr/>
        </p:nvSpPr>
        <p:spPr>
          <a:xfrm>
            <a:off x="230700" y="4887175"/>
            <a:ext cx="8740500" cy="6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94"/>
          <p:cNvSpPr/>
          <p:nvPr/>
        </p:nvSpPr>
        <p:spPr>
          <a:xfrm>
            <a:off x="529700" y="547450"/>
            <a:ext cx="2913600" cy="4143900"/>
          </a:xfrm>
          <a:prstGeom prst="roundRect">
            <a:avLst>
              <a:gd fmla="val 586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28" name="Google Shape;1628;p194"/>
          <p:cNvCxnSpPr/>
          <p:nvPr/>
        </p:nvCxnSpPr>
        <p:spPr>
          <a:xfrm rot="10800000">
            <a:off x="5479600" y="1045725"/>
            <a:ext cx="771600" cy="2700"/>
          </a:xfrm>
          <a:prstGeom prst="straightConnector1">
            <a:avLst/>
          </a:prstGeom>
          <a:noFill/>
          <a:ln cap="flat" cmpd="sng" w="9525">
            <a:solidFill>
              <a:schemeClr val="dk2"/>
            </a:solidFill>
            <a:prstDash val="solid"/>
            <a:round/>
            <a:headEnd len="med" w="med" type="none"/>
            <a:tailEnd len="med" w="med" type="stealth"/>
          </a:ln>
        </p:spPr>
      </p:cxnSp>
      <p:sp>
        <p:nvSpPr>
          <p:cNvPr id="1629" name="Google Shape;1629;p19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t>‹#›</a:t>
            </a:fld>
            <a:endParaRPr sz="600"/>
          </a:p>
        </p:txBody>
      </p:sp>
      <p:pic>
        <p:nvPicPr>
          <p:cNvPr id="1630" name="Google Shape;1630;p194"/>
          <p:cNvPicPr preferRelativeResize="0"/>
          <p:nvPr/>
        </p:nvPicPr>
        <p:blipFill>
          <a:blip r:embed="rId3">
            <a:alphaModFix/>
          </a:blip>
          <a:stretch>
            <a:fillRect/>
          </a:stretch>
        </p:blipFill>
        <p:spPr>
          <a:xfrm>
            <a:off x="689375" y="2100100"/>
            <a:ext cx="2577745" cy="2165299"/>
          </a:xfrm>
          <a:prstGeom prst="rect">
            <a:avLst/>
          </a:prstGeom>
          <a:noFill/>
          <a:ln>
            <a:noFill/>
          </a:ln>
        </p:spPr>
      </p:pic>
      <p:sp>
        <p:nvSpPr>
          <p:cNvPr id="1631" name="Google Shape;1631;p194"/>
          <p:cNvSpPr/>
          <p:nvPr/>
        </p:nvSpPr>
        <p:spPr>
          <a:xfrm>
            <a:off x="6251200" y="547450"/>
            <a:ext cx="2441100" cy="1091100"/>
          </a:xfrm>
          <a:prstGeom prst="roundRect">
            <a:avLst>
              <a:gd fmla="val 4516" name="adj"/>
            </a:avLst>
          </a:prstGeom>
          <a:solidFill>
            <a:srgbClr val="F2F5F9"/>
          </a:solidFill>
          <a:ln cap="flat" cmpd="sng" w="9525">
            <a:solidFill>
              <a:srgbClr val="9E9E9E"/>
            </a:solidFill>
            <a:prstDash val="dot"/>
            <a:round/>
            <a:headEnd len="sm" w="sm" type="none"/>
            <a:tailEnd len="sm" w="sm" type="none"/>
          </a:ln>
        </p:spPr>
        <p:txBody>
          <a:bodyPr anchorCtr="0" anchor="t" bIns="91425" lIns="91425" spcFirstLastPara="1" rIns="91425" wrap="square" tIns="182875">
            <a:noAutofit/>
          </a:bodyPr>
          <a:lstStyle/>
          <a:p>
            <a:pPr indent="0" lvl="0" marL="0" rtl="0" algn="l">
              <a:spcBef>
                <a:spcPts val="0"/>
              </a:spcBef>
              <a:spcAft>
                <a:spcPts val="0"/>
              </a:spcAft>
              <a:buClr>
                <a:schemeClr val="dk1"/>
              </a:buClr>
              <a:buSzPts val="1100"/>
              <a:buFont typeface="Arial"/>
              <a:buNone/>
            </a:pPr>
            <a:r>
              <a:rPr lang="en" sz="1100">
                <a:solidFill>
                  <a:schemeClr val="accent3"/>
                </a:solidFill>
                <a:latin typeface="Inconsolata Medium"/>
                <a:ea typeface="Inconsolata Medium"/>
                <a:cs typeface="Inconsolata Medium"/>
                <a:sym typeface="Inconsolata Medium"/>
              </a:rPr>
              <a:t>###############################</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Clr>
                <a:schemeClr val="dk1"/>
              </a:buClr>
              <a:buSzPts val="1100"/>
              <a:buFont typeface="Arial"/>
              <a:buNone/>
            </a:pPr>
            <a:r>
              <a:rPr lang="en" sz="1100">
                <a:solidFill>
                  <a:schemeClr val="accent3"/>
                </a:solidFill>
                <a:latin typeface="Inconsolata Medium"/>
                <a:ea typeface="Inconsolata Medium"/>
                <a:cs typeface="Inconsolata Medium"/>
                <a:sym typeface="Inconsolata Medium"/>
              </a:rPr>
              <a:t># Product Directory Application</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Clr>
                <a:schemeClr val="dk1"/>
              </a:buClr>
              <a:buSzPts val="1100"/>
              <a:buFont typeface="Arial"/>
              <a:buNone/>
            </a:pPr>
            <a:r>
              <a:rPr lang="en" sz="1100">
                <a:solidFill>
                  <a:schemeClr val="accent3"/>
                </a:solidFill>
                <a:latin typeface="Inconsolata Medium"/>
                <a:ea typeface="Inconsolata Medium"/>
                <a:cs typeface="Inconsolata Medium"/>
                <a:sym typeface="Inconsolata Medium"/>
              </a:rPr>
              <a:t>###############################</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Clr>
                <a:schemeClr val="dk1"/>
              </a:buClr>
              <a:buSzPts val="1100"/>
              <a:buFont typeface="Arial"/>
              <a:buNone/>
            </a:pPr>
            <a:r>
              <a:rPr lang="en" sz="1100">
                <a:solidFill>
                  <a:schemeClr val="accent3"/>
                </a:solidFill>
                <a:latin typeface="Inconsolata Medium"/>
                <a:ea typeface="Inconsolata Medium"/>
                <a:cs typeface="Inconsolata Medium"/>
                <a:sym typeface="Inconsolata Medium"/>
              </a:rPr>
              <a:t># Required Base OS</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rgbClr val="D73A49"/>
                </a:solidFill>
                <a:latin typeface="Inconsolata Medium"/>
                <a:ea typeface="Inconsolata Medium"/>
                <a:cs typeface="Inconsolata Medium"/>
                <a:sym typeface="Inconsolata Medium"/>
              </a:rPr>
              <a:t>FROM</a:t>
            </a:r>
            <a:r>
              <a:rPr lang="en" sz="1100">
                <a:solidFill>
                  <a:srgbClr val="24292E"/>
                </a:solidFill>
                <a:latin typeface="Inconsolata Medium"/>
                <a:ea typeface="Inconsolata Medium"/>
                <a:cs typeface="Inconsolata Medium"/>
                <a:sym typeface="Inconsolata Medium"/>
              </a:rPr>
              <a:t> ubuntu:14.04</a:t>
            </a:r>
            <a:endParaRPr sz="1700">
              <a:latin typeface="Roboto Medium"/>
              <a:ea typeface="Roboto Medium"/>
              <a:cs typeface="Roboto Medium"/>
              <a:sym typeface="Roboto Medium"/>
            </a:endParaRPr>
          </a:p>
        </p:txBody>
      </p:sp>
      <p:sp>
        <p:nvSpPr>
          <p:cNvPr id="1632" name="Google Shape;1632;p194"/>
          <p:cNvSpPr/>
          <p:nvPr/>
        </p:nvSpPr>
        <p:spPr>
          <a:xfrm rot="1097">
            <a:off x="7001500" y="437450"/>
            <a:ext cx="940500" cy="256500"/>
          </a:xfrm>
          <a:prstGeom prst="roundRect">
            <a:avLst>
              <a:gd fmla="val 16667" name="adj"/>
            </a:avLst>
          </a:prstGeom>
          <a:solidFill>
            <a:srgbClr val="1B81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Roboto"/>
                <a:ea typeface="Roboto"/>
                <a:cs typeface="Roboto"/>
                <a:sym typeface="Roboto"/>
              </a:rPr>
              <a:t>Dockerfile</a:t>
            </a:r>
            <a:endParaRPr b="1" sz="1200">
              <a:solidFill>
                <a:srgbClr val="FFFFFF"/>
              </a:solidFill>
              <a:latin typeface="Roboto"/>
              <a:ea typeface="Roboto"/>
              <a:cs typeface="Roboto"/>
              <a:sym typeface="Roboto"/>
            </a:endParaRPr>
          </a:p>
        </p:txBody>
      </p:sp>
      <p:grpSp>
        <p:nvGrpSpPr>
          <p:cNvPr id="1633" name="Google Shape;1633;p194"/>
          <p:cNvGrpSpPr/>
          <p:nvPr/>
        </p:nvGrpSpPr>
        <p:grpSpPr>
          <a:xfrm>
            <a:off x="4399066" y="437300"/>
            <a:ext cx="1078333" cy="1078333"/>
            <a:chOff x="4063116" y="942275"/>
            <a:chExt cx="1209300" cy="1209300"/>
          </a:xfrm>
        </p:grpSpPr>
        <p:sp>
          <p:nvSpPr>
            <p:cNvPr id="1634" name="Google Shape;1634;p194"/>
            <p:cNvSpPr/>
            <p:nvPr/>
          </p:nvSpPr>
          <p:spPr>
            <a:xfrm>
              <a:off x="4063116" y="942275"/>
              <a:ext cx="1209300" cy="12093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35" name="Google Shape;1635;p194"/>
            <p:cNvPicPr preferRelativeResize="0"/>
            <p:nvPr/>
          </p:nvPicPr>
          <p:blipFill>
            <a:blip r:embed="rId4">
              <a:alphaModFix/>
            </a:blip>
            <a:stretch>
              <a:fillRect/>
            </a:stretch>
          </p:blipFill>
          <p:spPr>
            <a:xfrm>
              <a:off x="4430616" y="1049799"/>
              <a:ext cx="474299" cy="994248"/>
            </a:xfrm>
            <a:prstGeom prst="rect">
              <a:avLst/>
            </a:prstGeom>
            <a:noFill/>
            <a:ln>
              <a:noFill/>
            </a:ln>
          </p:spPr>
        </p:pic>
      </p:grpSp>
      <p:sp>
        <p:nvSpPr>
          <p:cNvPr id="1636" name="Google Shape;1636;p194"/>
          <p:cNvSpPr txBox="1"/>
          <p:nvPr/>
        </p:nvSpPr>
        <p:spPr>
          <a:xfrm>
            <a:off x="3520085" y="481075"/>
            <a:ext cx="802800" cy="473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1100">
                <a:solidFill>
                  <a:schemeClr val="accent5"/>
                </a:solidFill>
                <a:latin typeface="Roboto"/>
                <a:ea typeface="Roboto"/>
                <a:cs typeface="Roboto"/>
                <a:sym typeface="Roboto"/>
              </a:rPr>
              <a:t>Product Directory app</a:t>
            </a:r>
            <a:endParaRPr b="1" sz="1100">
              <a:solidFill>
                <a:schemeClr val="accent5"/>
              </a:solidFill>
              <a:latin typeface="Roboto"/>
              <a:ea typeface="Roboto"/>
              <a:cs typeface="Roboto"/>
              <a:sym typeface="Roboto"/>
            </a:endParaRPr>
          </a:p>
        </p:txBody>
      </p:sp>
      <p:cxnSp>
        <p:nvCxnSpPr>
          <p:cNvPr id="1637" name="Google Shape;1637;p194"/>
          <p:cNvCxnSpPr/>
          <p:nvPr/>
        </p:nvCxnSpPr>
        <p:spPr>
          <a:xfrm rot="10800000">
            <a:off x="5479600" y="2559912"/>
            <a:ext cx="771600" cy="2700"/>
          </a:xfrm>
          <a:prstGeom prst="straightConnector1">
            <a:avLst/>
          </a:prstGeom>
          <a:noFill/>
          <a:ln cap="flat" cmpd="sng" w="9525">
            <a:solidFill>
              <a:schemeClr val="dk2"/>
            </a:solidFill>
            <a:prstDash val="solid"/>
            <a:round/>
            <a:headEnd len="med" w="med" type="none"/>
            <a:tailEnd len="med" w="med" type="stealth"/>
          </a:ln>
        </p:spPr>
      </p:cxnSp>
      <p:sp>
        <p:nvSpPr>
          <p:cNvPr id="1638" name="Google Shape;1638;p194"/>
          <p:cNvSpPr/>
          <p:nvPr/>
        </p:nvSpPr>
        <p:spPr>
          <a:xfrm>
            <a:off x="6251200" y="2065975"/>
            <a:ext cx="2441100" cy="1091100"/>
          </a:xfrm>
          <a:prstGeom prst="roundRect">
            <a:avLst>
              <a:gd fmla="val 4516" name="adj"/>
            </a:avLst>
          </a:prstGeom>
          <a:solidFill>
            <a:srgbClr val="F2F5F9"/>
          </a:solidFill>
          <a:ln cap="flat" cmpd="sng" w="9525">
            <a:solidFill>
              <a:srgbClr val="9E9E9E"/>
            </a:solidFill>
            <a:prstDash val="dot"/>
            <a:round/>
            <a:headEnd len="sm" w="sm" type="none"/>
            <a:tailEnd len="sm" w="sm" type="none"/>
          </a:ln>
        </p:spPr>
        <p:txBody>
          <a:bodyPr anchorCtr="0" anchor="t" bIns="91425" lIns="91425" spcFirstLastPara="1" rIns="91425" wrap="square" tIns="182875">
            <a:noAutofit/>
          </a:bodyPr>
          <a:lstStyle/>
          <a:p>
            <a:pPr indent="0" lvl="0" marL="0" rtl="0" algn="l">
              <a:spcBef>
                <a:spcPts val="0"/>
              </a:spcBef>
              <a:spcAft>
                <a:spcPts val="0"/>
              </a:spcAft>
              <a:buNone/>
            </a:pPr>
            <a:r>
              <a:rPr lang="en" sz="1100">
                <a:solidFill>
                  <a:schemeClr val="accent3"/>
                </a:solidFill>
                <a:latin typeface="Inconsolata Medium"/>
                <a:ea typeface="Inconsolata Medium"/>
                <a:cs typeface="Inconsolata Medium"/>
                <a:sym typeface="Inconsolata Medium"/>
              </a:rPr>
              <a:t>###############################</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chemeClr val="accent3"/>
                </a:solidFill>
                <a:latin typeface="Inconsolata Medium"/>
                <a:ea typeface="Inconsolata Medium"/>
                <a:cs typeface="Inconsolata Medium"/>
                <a:sym typeface="Inconsolata Medium"/>
              </a:rPr>
              <a:t># Product API</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chemeClr val="accent3"/>
                </a:solidFill>
                <a:latin typeface="Inconsolata Medium"/>
                <a:ea typeface="Inconsolata Medium"/>
                <a:cs typeface="Inconsolata Medium"/>
                <a:sym typeface="Inconsolata Medium"/>
              </a:rPr>
              <a:t>###############################</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chemeClr val="accent3"/>
                </a:solidFill>
                <a:latin typeface="Inconsolata Medium"/>
                <a:ea typeface="Inconsolata Medium"/>
                <a:cs typeface="Inconsolata Medium"/>
                <a:sym typeface="Inconsolata Medium"/>
              </a:rPr>
              <a:t># Required Base OS</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rgbClr val="D73A49"/>
                </a:solidFill>
                <a:latin typeface="Inconsolata Medium"/>
                <a:ea typeface="Inconsolata Medium"/>
                <a:cs typeface="Inconsolata Medium"/>
                <a:sym typeface="Inconsolata Medium"/>
              </a:rPr>
              <a:t>FROM</a:t>
            </a:r>
            <a:r>
              <a:rPr lang="en" sz="1100">
                <a:solidFill>
                  <a:srgbClr val="24292E"/>
                </a:solidFill>
                <a:latin typeface="Inconsolata Medium"/>
                <a:ea typeface="Inconsolata Medium"/>
                <a:cs typeface="Inconsolata Medium"/>
                <a:sym typeface="Inconsolata Medium"/>
              </a:rPr>
              <a:t> fedora:31</a:t>
            </a:r>
            <a:endParaRPr sz="1700">
              <a:latin typeface="Roboto Medium"/>
              <a:ea typeface="Roboto Medium"/>
              <a:cs typeface="Roboto Medium"/>
              <a:sym typeface="Roboto Medium"/>
            </a:endParaRPr>
          </a:p>
        </p:txBody>
      </p:sp>
      <p:sp>
        <p:nvSpPr>
          <p:cNvPr id="1639" name="Google Shape;1639;p194"/>
          <p:cNvSpPr/>
          <p:nvPr/>
        </p:nvSpPr>
        <p:spPr>
          <a:xfrm rot="1097">
            <a:off x="7001500" y="1927150"/>
            <a:ext cx="940500" cy="256500"/>
          </a:xfrm>
          <a:prstGeom prst="roundRect">
            <a:avLst>
              <a:gd fmla="val 16667" name="adj"/>
            </a:avLst>
          </a:prstGeom>
          <a:solidFill>
            <a:srgbClr val="1B81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Roboto"/>
                <a:ea typeface="Roboto"/>
                <a:cs typeface="Roboto"/>
                <a:sym typeface="Roboto"/>
              </a:rPr>
              <a:t>Dockerfile</a:t>
            </a:r>
            <a:endParaRPr b="1" sz="1200">
              <a:solidFill>
                <a:srgbClr val="FFFFFF"/>
              </a:solidFill>
              <a:latin typeface="Roboto"/>
              <a:ea typeface="Roboto"/>
              <a:cs typeface="Roboto"/>
              <a:sym typeface="Roboto"/>
            </a:endParaRPr>
          </a:p>
        </p:txBody>
      </p:sp>
      <p:grpSp>
        <p:nvGrpSpPr>
          <p:cNvPr id="1640" name="Google Shape;1640;p194"/>
          <p:cNvGrpSpPr/>
          <p:nvPr/>
        </p:nvGrpSpPr>
        <p:grpSpPr>
          <a:xfrm>
            <a:off x="4399066" y="2032025"/>
            <a:ext cx="1078333" cy="1078333"/>
            <a:chOff x="4063116" y="2530213"/>
            <a:chExt cx="1209300" cy="1209300"/>
          </a:xfrm>
        </p:grpSpPr>
        <p:sp>
          <p:nvSpPr>
            <p:cNvPr id="1641" name="Google Shape;1641;p194"/>
            <p:cNvSpPr/>
            <p:nvPr/>
          </p:nvSpPr>
          <p:spPr>
            <a:xfrm>
              <a:off x="4063116" y="2530213"/>
              <a:ext cx="1209300" cy="12093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2" name="Google Shape;1642;p194"/>
            <p:cNvPicPr preferRelativeResize="0"/>
            <p:nvPr/>
          </p:nvPicPr>
          <p:blipFill>
            <a:blip r:embed="rId4">
              <a:alphaModFix/>
            </a:blip>
            <a:stretch>
              <a:fillRect/>
            </a:stretch>
          </p:blipFill>
          <p:spPr>
            <a:xfrm>
              <a:off x="4430616" y="2637737"/>
              <a:ext cx="474299" cy="994248"/>
            </a:xfrm>
            <a:prstGeom prst="rect">
              <a:avLst/>
            </a:prstGeom>
            <a:noFill/>
            <a:ln>
              <a:noFill/>
            </a:ln>
          </p:spPr>
        </p:pic>
      </p:grpSp>
      <p:sp>
        <p:nvSpPr>
          <p:cNvPr id="1643" name="Google Shape;1643;p194"/>
          <p:cNvSpPr txBox="1"/>
          <p:nvPr/>
        </p:nvSpPr>
        <p:spPr>
          <a:xfrm>
            <a:off x="3806585" y="2183741"/>
            <a:ext cx="516300" cy="306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1100">
                <a:solidFill>
                  <a:schemeClr val="accent5"/>
                </a:solidFill>
                <a:latin typeface="Roboto"/>
                <a:ea typeface="Roboto"/>
                <a:cs typeface="Roboto"/>
                <a:sym typeface="Roboto"/>
              </a:rPr>
              <a:t>Product API</a:t>
            </a:r>
            <a:endParaRPr b="1" sz="1100">
              <a:solidFill>
                <a:schemeClr val="accent5"/>
              </a:solidFill>
              <a:latin typeface="Roboto"/>
              <a:ea typeface="Roboto"/>
              <a:cs typeface="Roboto"/>
              <a:sym typeface="Roboto"/>
            </a:endParaRPr>
          </a:p>
        </p:txBody>
      </p:sp>
      <p:cxnSp>
        <p:nvCxnSpPr>
          <p:cNvPr id="1644" name="Google Shape;1644;p194"/>
          <p:cNvCxnSpPr/>
          <p:nvPr/>
        </p:nvCxnSpPr>
        <p:spPr>
          <a:xfrm rot="10800000">
            <a:off x="5479600" y="4160750"/>
            <a:ext cx="771600" cy="2700"/>
          </a:xfrm>
          <a:prstGeom prst="straightConnector1">
            <a:avLst/>
          </a:prstGeom>
          <a:noFill/>
          <a:ln cap="flat" cmpd="sng" w="9525">
            <a:solidFill>
              <a:schemeClr val="dk2"/>
            </a:solidFill>
            <a:prstDash val="solid"/>
            <a:round/>
            <a:headEnd len="med" w="med" type="none"/>
            <a:tailEnd len="med" w="med" type="stealth"/>
          </a:ln>
        </p:spPr>
      </p:cxnSp>
      <p:sp>
        <p:nvSpPr>
          <p:cNvPr id="1645" name="Google Shape;1645;p194"/>
          <p:cNvSpPr/>
          <p:nvPr/>
        </p:nvSpPr>
        <p:spPr>
          <a:xfrm>
            <a:off x="6251200" y="3539400"/>
            <a:ext cx="2441100" cy="1091100"/>
          </a:xfrm>
          <a:prstGeom prst="roundRect">
            <a:avLst>
              <a:gd fmla="val 4516" name="adj"/>
            </a:avLst>
          </a:prstGeom>
          <a:solidFill>
            <a:srgbClr val="F2F5F9"/>
          </a:solidFill>
          <a:ln cap="flat" cmpd="sng" w="9525">
            <a:solidFill>
              <a:srgbClr val="9E9E9E"/>
            </a:solidFill>
            <a:prstDash val="dot"/>
            <a:round/>
            <a:headEnd len="sm" w="sm" type="none"/>
            <a:tailEnd len="sm" w="sm" type="none"/>
          </a:ln>
        </p:spPr>
        <p:txBody>
          <a:bodyPr anchorCtr="0" anchor="t" bIns="91425" lIns="91425" spcFirstLastPara="1" rIns="91425" wrap="square" tIns="182875">
            <a:noAutofit/>
          </a:bodyPr>
          <a:lstStyle/>
          <a:p>
            <a:pPr indent="0" lvl="0" marL="0" rtl="0" algn="l">
              <a:spcBef>
                <a:spcPts val="0"/>
              </a:spcBef>
              <a:spcAft>
                <a:spcPts val="0"/>
              </a:spcAft>
              <a:buNone/>
            </a:pPr>
            <a:r>
              <a:rPr lang="en" sz="1100">
                <a:solidFill>
                  <a:schemeClr val="accent3"/>
                </a:solidFill>
                <a:latin typeface="Inconsolata Medium"/>
                <a:ea typeface="Inconsolata Medium"/>
                <a:cs typeface="Inconsolata Medium"/>
                <a:sym typeface="Inconsolata Medium"/>
              </a:rPr>
              <a:t>###############################</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chemeClr val="accent3"/>
                </a:solidFill>
                <a:latin typeface="Inconsolata Medium"/>
                <a:ea typeface="Inconsolata Medium"/>
                <a:cs typeface="Inconsolata Medium"/>
                <a:sym typeface="Inconsolata Medium"/>
              </a:rPr>
              <a:t># AMAZON Database</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chemeClr val="accent3"/>
                </a:solidFill>
                <a:latin typeface="Inconsolata Medium"/>
                <a:ea typeface="Inconsolata Medium"/>
                <a:cs typeface="Inconsolata Medium"/>
                <a:sym typeface="Inconsolata Medium"/>
              </a:rPr>
              <a:t>###############################</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chemeClr val="accent3"/>
                </a:solidFill>
                <a:latin typeface="Inconsolata Medium"/>
                <a:ea typeface="Inconsolata Medium"/>
                <a:cs typeface="Inconsolata Medium"/>
                <a:sym typeface="Inconsolata Medium"/>
              </a:rPr>
              <a:t># Required Base OS</a:t>
            </a:r>
            <a:endParaRPr sz="1100">
              <a:solidFill>
                <a:schemeClr val="accent3"/>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100">
                <a:solidFill>
                  <a:srgbClr val="D73A49"/>
                </a:solidFill>
                <a:latin typeface="Inconsolata Medium"/>
                <a:ea typeface="Inconsolata Medium"/>
                <a:cs typeface="Inconsolata Medium"/>
                <a:sym typeface="Inconsolata Medium"/>
              </a:rPr>
              <a:t>FROM</a:t>
            </a:r>
            <a:r>
              <a:rPr lang="en" sz="1100">
                <a:solidFill>
                  <a:srgbClr val="24292E"/>
                </a:solidFill>
                <a:latin typeface="Inconsolata Medium"/>
                <a:ea typeface="Inconsolata Medium"/>
                <a:cs typeface="Inconsolata Medium"/>
                <a:sym typeface="Inconsolata Medium"/>
              </a:rPr>
              <a:t> centos:8</a:t>
            </a:r>
            <a:endParaRPr sz="1700">
              <a:latin typeface="Roboto Medium"/>
              <a:ea typeface="Roboto Medium"/>
              <a:cs typeface="Roboto Medium"/>
              <a:sym typeface="Roboto Medium"/>
            </a:endParaRPr>
          </a:p>
        </p:txBody>
      </p:sp>
      <p:sp>
        <p:nvSpPr>
          <p:cNvPr id="1646" name="Google Shape;1646;p194"/>
          <p:cNvSpPr/>
          <p:nvPr/>
        </p:nvSpPr>
        <p:spPr>
          <a:xfrm rot="1097">
            <a:off x="7001500" y="3429400"/>
            <a:ext cx="940500" cy="256500"/>
          </a:xfrm>
          <a:prstGeom prst="roundRect">
            <a:avLst>
              <a:gd fmla="val 16667" name="adj"/>
            </a:avLst>
          </a:prstGeom>
          <a:solidFill>
            <a:srgbClr val="1B81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Roboto"/>
                <a:ea typeface="Roboto"/>
                <a:cs typeface="Roboto"/>
                <a:sym typeface="Roboto"/>
              </a:rPr>
              <a:t>Dockerfile</a:t>
            </a:r>
            <a:endParaRPr b="1" sz="1200">
              <a:solidFill>
                <a:srgbClr val="FFFFFF"/>
              </a:solidFill>
              <a:latin typeface="Roboto"/>
              <a:ea typeface="Roboto"/>
              <a:cs typeface="Roboto"/>
              <a:sym typeface="Roboto"/>
            </a:endParaRPr>
          </a:p>
        </p:txBody>
      </p:sp>
      <p:grpSp>
        <p:nvGrpSpPr>
          <p:cNvPr id="1647" name="Google Shape;1647;p194"/>
          <p:cNvGrpSpPr/>
          <p:nvPr/>
        </p:nvGrpSpPr>
        <p:grpSpPr>
          <a:xfrm>
            <a:off x="4399124" y="3613000"/>
            <a:ext cx="1078500" cy="1078200"/>
            <a:chOff x="4128599" y="3598876"/>
            <a:chExt cx="1078500" cy="1078200"/>
          </a:xfrm>
        </p:grpSpPr>
        <p:sp>
          <p:nvSpPr>
            <p:cNvPr id="1648" name="Google Shape;1648;p194"/>
            <p:cNvSpPr/>
            <p:nvPr/>
          </p:nvSpPr>
          <p:spPr>
            <a:xfrm>
              <a:off x="4128599" y="3598876"/>
              <a:ext cx="1078500" cy="10782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9" name="Google Shape;1649;p194"/>
            <p:cNvPicPr preferRelativeResize="0"/>
            <p:nvPr/>
          </p:nvPicPr>
          <p:blipFill>
            <a:blip r:embed="rId5">
              <a:alphaModFix/>
            </a:blip>
            <a:stretch>
              <a:fillRect/>
            </a:stretch>
          </p:blipFill>
          <p:spPr>
            <a:xfrm>
              <a:off x="4418725" y="3700476"/>
              <a:ext cx="498250" cy="681371"/>
            </a:xfrm>
            <a:prstGeom prst="rect">
              <a:avLst/>
            </a:prstGeom>
            <a:noFill/>
            <a:ln>
              <a:noFill/>
            </a:ln>
          </p:spPr>
        </p:pic>
        <p:pic>
          <p:nvPicPr>
            <p:cNvPr id="1650" name="Google Shape;1650;p194"/>
            <p:cNvPicPr preferRelativeResize="0"/>
            <p:nvPr/>
          </p:nvPicPr>
          <p:blipFill>
            <a:blip r:embed="rId6">
              <a:alphaModFix/>
            </a:blip>
            <a:stretch>
              <a:fillRect/>
            </a:stretch>
          </p:blipFill>
          <p:spPr>
            <a:xfrm>
              <a:off x="4406075" y="4381850"/>
              <a:ext cx="523551" cy="205525"/>
            </a:xfrm>
            <a:prstGeom prst="rect">
              <a:avLst/>
            </a:prstGeom>
            <a:noFill/>
            <a:ln>
              <a:noFill/>
            </a:ln>
          </p:spPr>
        </p:pic>
      </p:grpSp>
      <p:sp>
        <p:nvSpPr>
          <p:cNvPr id="1651" name="Google Shape;1651;p194"/>
          <p:cNvSpPr txBox="1"/>
          <p:nvPr/>
        </p:nvSpPr>
        <p:spPr>
          <a:xfrm>
            <a:off x="3632885" y="3942888"/>
            <a:ext cx="690000" cy="1317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1100">
                <a:solidFill>
                  <a:schemeClr val="accent5"/>
                </a:solidFill>
                <a:latin typeface="Roboto"/>
                <a:ea typeface="Roboto"/>
                <a:cs typeface="Roboto"/>
                <a:sym typeface="Roboto"/>
              </a:rPr>
              <a:t>Database</a:t>
            </a:r>
            <a:endParaRPr b="1" sz="1100">
              <a:solidFill>
                <a:schemeClr val="accent5"/>
              </a:solidFill>
              <a:latin typeface="Roboto"/>
              <a:ea typeface="Roboto"/>
              <a:cs typeface="Roboto"/>
              <a:sym typeface="Roboto"/>
            </a:endParaRPr>
          </a:p>
        </p:txBody>
      </p:sp>
      <p:sp>
        <p:nvSpPr>
          <p:cNvPr id="1652" name="Google Shape;1652;p194"/>
          <p:cNvSpPr txBox="1"/>
          <p:nvPr/>
        </p:nvSpPr>
        <p:spPr>
          <a:xfrm>
            <a:off x="689400" y="875625"/>
            <a:ext cx="2577900" cy="755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A </a:t>
            </a:r>
            <a:r>
              <a:rPr lang="en" sz="2000">
                <a:solidFill>
                  <a:schemeClr val="dk2"/>
                </a:solidFill>
                <a:latin typeface="Roboto Medium"/>
                <a:ea typeface="Roboto Medium"/>
                <a:cs typeface="Roboto Medium"/>
                <a:sym typeface="Roboto Medium"/>
              </a:rPr>
              <a:t>unique</a:t>
            </a:r>
            <a:r>
              <a:rPr lang="en" sz="2000">
                <a:solidFill>
                  <a:schemeClr val="dk2"/>
                </a:solidFill>
                <a:latin typeface="Roboto Medium"/>
                <a:ea typeface="Roboto Medium"/>
                <a:cs typeface="Roboto Medium"/>
                <a:sym typeface="Roboto Medium"/>
              </a:rPr>
              <a:t> Dockerfile </a:t>
            </a:r>
            <a:br>
              <a:rPr lang="en" sz="2000">
                <a:solidFill>
                  <a:schemeClr val="dk2"/>
                </a:solidFill>
                <a:latin typeface="Roboto Medium"/>
                <a:ea typeface="Roboto Medium"/>
                <a:cs typeface="Roboto Medium"/>
                <a:sym typeface="Roboto Medium"/>
              </a:rPr>
            </a:br>
            <a:r>
              <a:rPr lang="en" sz="2000">
                <a:solidFill>
                  <a:schemeClr val="dk2"/>
                </a:solidFill>
                <a:latin typeface="Roboto Medium"/>
                <a:ea typeface="Roboto Medium"/>
                <a:cs typeface="Roboto Medium"/>
                <a:sym typeface="Roboto Medium"/>
              </a:rPr>
              <a:t>is created for each microservice.</a:t>
            </a:r>
            <a:endParaRPr sz="2000">
              <a:solidFill>
                <a:schemeClr val="dk2"/>
              </a:solidFill>
              <a:latin typeface="Roboto Medium"/>
              <a:ea typeface="Roboto Medium"/>
              <a:cs typeface="Roboto Medium"/>
              <a:sym typeface="Roboto Medium"/>
            </a:endParaRPr>
          </a:p>
        </p:txBody>
      </p:sp>
      <p:cxnSp>
        <p:nvCxnSpPr>
          <p:cNvPr id="1653" name="Google Shape;1653;p194"/>
          <p:cNvCxnSpPr/>
          <p:nvPr/>
        </p:nvCxnSpPr>
        <p:spPr>
          <a:xfrm rot="10800000">
            <a:off x="3443325" y="1048425"/>
            <a:ext cx="955800" cy="0"/>
          </a:xfrm>
          <a:prstGeom prst="straightConnector1">
            <a:avLst/>
          </a:prstGeom>
          <a:noFill/>
          <a:ln cap="flat" cmpd="sng" w="9525">
            <a:solidFill>
              <a:schemeClr val="dk2"/>
            </a:solidFill>
            <a:prstDash val="solid"/>
            <a:round/>
            <a:headEnd len="med" w="med" type="stealth"/>
            <a:tailEnd len="med" w="med" type="none"/>
          </a:ln>
        </p:spPr>
      </p:cxnSp>
      <p:cxnSp>
        <p:nvCxnSpPr>
          <p:cNvPr id="1654" name="Google Shape;1654;p194"/>
          <p:cNvCxnSpPr/>
          <p:nvPr/>
        </p:nvCxnSpPr>
        <p:spPr>
          <a:xfrm rot="10800000">
            <a:off x="3443325" y="2562612"/>
            <a:ext cx="955800" cy="0"/>
          </a:xfrm>
          <a:prstGeom prst="straightConnector1">
            <a:avLst/>
          </a:prstGeom>
          <a:noFill/>
          <a:ln cap="flat" cmpd="sng" w="9525">
            <a:solidFill>
              <a:schemeClr val="dk2"/>
            </a:solidFill>
            <a:prstDash val="solid"/>
            <a:round/>
            <a:headEnd len="med" w="med" type="stealth"/>
            <a:tailEnd len="med" w="med" type="none"/>
          </a:ln>
        </p:spPr>
      </p:cxnSp>
      <p:cxnSp>
        <p:nvCxnSpPr>
          <p:cNvPr id="1655" name="Google Shape;1655;p194"/>
          <p:cNvCxnSpPr/>
          <p:nvPr/>
        </p:nvCxnSpPr>
        <p:spPr>
          <a:xfrm rot="10800000">
            <a:off x="3443325" y="4163450"/>
            <a:ext cx="955800" cy="0"/>
          </a:xfrm>
          <a:prstGeom prst="straightConnector1">
            <a:avLst/>
          </a:prstGeom>
          <a:noFill/>
          <a:ln cap="flat" cmpd="sng" w="9525">
            <a:solidFill>
              <a:schemeClr val="dk2"/>
            </a:solidFill>
            <a:prstDash val="solid"/>
            <a:round/>
            <a:headEnd len="med" w="med" type="stealth"/>
            <a:tailEnd len="med" w="med" type="none"/>
          </a:ln>
        </p:spPr>
      </p:cxnSp>
      <p:cxnSp>
        <p:nvCxnSpPr>
          <p:cNvPr id="1656" name="Google Shape;1656;p194"/>
          <p:cNvCxnSpPr/>
          <p:nvPr/>
        </p:nvCxnSpPr>
        <p:spPr>
          <a:xfrm rot="10800000">
            <a:off x="4938233" y="1515725"/>
            <a:ext cx="0" cy="516300"/>
          </a:xfrm>
          <a:prstGeom prst="straightConnector1">
            <a:avLst/>
          </a:prstGeom>
          <a:noFill/>
          <a:ln cap="flat" cmpd="sng" w="9525">
            <a:solidFill>
              <a:schemeClr val="dk2"/>
            </a:solidFill>
            <a:prstDash val="solid"/>
            <a:round/>
            <a:headEnd len="med" w="med" type="stealth"/>
            <a:tailEnd len="med" w="med" type="stealth"/>
          </a:ln>
        </p:spPr>
      </p:cxnSp>
      <p:cxnSp>
        <p:nvCxnSpPr>
          <p:cNvPr id="1657" name="Google Shape;1657;p194"/>
          <p:cNvCxnSpPr/>
          <p:nvPr/>
        </p:nvCxnSpPr>
        <p:spPr>
          <a:xfrm rot="10800000">
            <a:off x="4938233" y="3110350"/>
            <a:ext cx="0" cy="516300"/>
          </a:xfrm>
          <a:prstGeom prst="straightConnector1">
            <a:avLst/>
          </a:prstGeom>
          <a:noFill/>
          <a:ln cap="flat" cmpd="sng" w="9525">
            <a:solidFill>
              <a:schemeClr val="dk2"/>
            </a:solidFill>
            <a:prstDash val="solid"/>
            <a:round/>
            <a:headEnd len="med" w="med" type="stealth"/>
            <a:tailEnd len="med" w="med" type="stealth"/>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195"/>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Intro to </a:t>
            </a:r>
            <a:r>
              <a:rPr lang="en">
                <a:latin typeface="Roboto"/>
                <a:ea typeface="Roboto"/>
                <a:cs typeface="Roboto"/>
                <a:sym typeface="Roboto"/>
              </a:rPr>
              <a:t>Databases</a:t>
            </a:r>
            <a:endParaRPr>
              <a:latin typeface="Roboto"/>
              <a:ea typeface="Roboto"/>
              <a:cs typeface="Roboto"/>
              <a:sym typeface="Roboto"/>
            </a:endParaRPr>
          </a:p>
        </p:txBody>
      </p:sp>
      <p:pic>
        <p:nvPicPr>
          <p:cNvPr id="1663" name="Google Shape;1663;p195"/>
          <p:cNvPicPr preferRelativeResize="0"/>
          <p:nvPr/>
        </p:nvPicPr>
        <p:blipFill>
          <a:blip r:embed="rId3">
            <a:alphaModFix/>
          </a:blip>
          <a:stretch>
            <a:fillRect/>
          </a:stretch>
        </p:blipFill>
        <p:spPr>
          <a:xfrm>
            <a:off x="3409950" y="879475"/>
            <a:ext cx="2324101" cy="23241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19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73" name="Google Shape;1673;p197"/>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1674" name="Google Shape;1674;p197"/>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1675" name="Google Shape;1675;p197"/>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1676" name="Google Shape;1676;p197"/>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Let’s recap everything we’ve learned so far today:</a:t>
            </a:r>
            <a:endParaRPr/>
          </a:p>
        </p:txBody>
      </p:sp>
      <p:sp>
        <p:nvSpPr>
          <p:cNvPr id="1677" name="Google Shape;1677;p197"/>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197"/>
          <p:cNvSpPr/>
          <p:nvPr/>
        </p:nvSpPr>
        <p:spPr>
          <a:xfrm>
            <a:off x="1287175" y="27469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197"/>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80" name="Google Shape;1680;p197"/>
          <p:cNvGrpSpPr/>
          <p:nvPr/>
        </p:nvGrpSpPr>
        <p:grpSpPr>
          <a:xfrm>
            <a:off x="457200" y="1371604"/>
            <a:ext cx="776900" cy="459019"/>
            <a:chOff x="457200" y="1466425"/>
            <a:chExt cx="776900" cy="486300"/>
          </a:xfrm>
        </p:grpSpPr>
        <p:sp>
          <p:nvSpPr>
            <p:cNvPr id="1681" name="Google Shape;1681;p19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682" name="Google Shape;1682;p19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683" name="Google Shape;1683;p197"/>
          <p:cNvGrpSpPr/>
          <p:nvPr/>
        </p:nvGrpSpPr>
        <p:grpSpPr>
          <a:xfrm>
            <a:off x="457200" y="2026480"/>
            <a:ext cx="776900" cy="486300"/>
            <a:chOff x="457200" y="1466425"/>
            <a:chExt cx="776900" cy="486300"/>
          </a:xfrm>
        </p:grpSpPr>
        <p:sp>
          <p:nvSpPr>
            <p:cNvPr id="1684" name="Google Shape;1684;p19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685" name="Google Shape;1685;p19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686" name="Google Shape;1686;p197"/>
          <p:cNvGrpSpPr/>
          <p:nvPr/>
        </p:nvGrpSpPr>
        <p:grpSpPr>
          <a:xfrm>
            <a:off x="457200" y="2743336"/>
            <a:ext cx="776900" cy="437378"/>
            <a:chOff x="457200" y="1466425"/>
            <a:chExt cx="776900" cy="486300"/>
          </a:xfrm>
        </p:grpSpPr>
        <p:sp>
          <p:nvSpPr>
            <p:cNvPr id="1687" name="Google Shape;1687;p19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1688" name="Google Shape;1688;p19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689" name="Google Shape;1689;p197"/>
          <p:cNvSpPr txBox="1"/>
          <p:nvPr/>
        </p:nvSpPr>
        <p:spPr>
          <a:xfrm>
            <a:off x="12872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How to describe web application architecture</a:t>
            </a:r>
            <a:endParaRPr sz="1800">
              <a:solidFill>
                <a:srgbClr val="082D49"/>
              </a:solidFill>
              <a:latin typeface="Roboto"/>
              <a:ea typeface="Roboto"/>
              <a:cs typeface="Roboto"/>
              <a:sym typeface="Roboto"/>
            </a:endParaRPr>
          </a:p>
        </p:txBody>
      </p:sp>
      <p:sp>
        <p:nvSpPr>
          <p:cNvPr id="1690" name="Google Shape;1690;p197"/>
          <p:cNvSpPr txBox="1"/>
          <p:nvPr/>
        </p:nvSpPr>
        <p:spPr>
          <a:xfrm>
            <a:off x="1287250" y="20681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Defining specific web application architectures</a:t>
            </a:r>
            <a:endParaRPr sz="1800">
              <a:solidFill>
                <a:srgbClr val="082D49"/>
              </a:solidFill>
              <a:latin typeface="Roboto"/>
              <a:ea typeface="Roboto"/>
              <a:cs typeface="Roboto"/>
              <a:sym typeface="Roboto"/>
            </a:endParaRPr>
          </a:p>
        </p:txBody>
      </p:sp>
      <p:sp>
        <p:nvSpPr>
          <p:cNvPr id="1691" name="Google Shape;1691;p197"/>
          <p:cNvSpPr txBox="1"/>
          <p:nvPr/>
        </p:nvSpPr>
        <p:spPr>
          <a:xfrm>
            <a:off x="1287250" y="2751975"/>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How to deploy and test that a container set is running and functional</a:t>
            </a:r>
            <a:endParaRPr sz="1800">
              <a:solidFill>
                <a:srgbClr val="082D49"/>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95" name="Shape 1695"/>
        <p:cNvGrpSpPr/>
        <p:nvPr/>
      </p:nvGrpSpPr>
      <p:grpSpPr>
        <a:xfrm>
          <a:off x="0" y="0"/>
          <a:ext cx="0" cy="0"/>
          <a:chOff x="0" y="0"/>
          <a:chExt cx="0" cy="0"/>
        </a:xfrm>
      </p:grpSpPr>
      <p:sp>
        <p:nvSpPr>
          <p:cNvPr id="1696" name="Google Shape;1696;p198"/>
          <p:cNvSpPr/>
          <p:nvPr/>
        </p:nvSpPr>
        <p:spPr>
          <a:xfrm>
            <a:off x="4953000" y="228600"/>
            <a:ext cx="4069200" cy="4533900"/>
          </a:xfrm>
          <a:prstGeom prst="roundRect">
            <a:avLst>
              <a:gd fmla="val 2694" name="adj"/>
            </a:avLst>
          </a:prstGeom>
          <a:solidFill>
            <a:schemeClr val="lt2"/>
          </a:solidFill>
          <a:ln cap="flat" cmpd="sng" w="9525">
            <a:solidFill>
              <a:srgbClr val="9E9E9E"/>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latin typeface="Roboto Medium"/>
              <a:ea typeface="Roboto Medium"/>
              <a:cs typeface="Roboto Medium"/>
              <a:sym typeface="Roboto Medium"/>
            </a:endParaRPr>
          </a:p>
        </p:txBody>
      </p:sp>
      <p:sp>
        <p:nvSpPr>
          <p:cNvPr id="1697" name="Google Shape;1697;p198"/>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The Importance of Databases</a:t>
            </a:r>
            <a:endParaRPr sz="2600"/>
          </a:p>
        </p:txBody>
      </p:sp>
      <p:sp>
        <p:nvSpPr>
          <p:cNvPr id="1698" name="Google Shape;1698;p198"/>
          <p:cNvSpPr txBox="1"/>
          <p:nvPr>
            <p:ph idx="1" type="subTitle"/>
          </p:nvPr>
        </p:nvSpPr>
        <p:spPr>
          <a:xfrm>
            <a:off x="0" y="675975"/>
            <a:ext cx="4800600" cy="7374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sz="1700"/>
              <a:t>Databases contain the persistent data that flows through the web application.</a:t>
            </a:r>
            <a:r>
              <a:rPr lang="en" sz="1600">
                <a:latin typeface="Roboto Light"/>
                <a:ea typeface="Roboto Light"/>
                <a:cs typeface="Roboto Light"/>
                <a:sym typeface="Roboto Light"/>
              </a:rPr>
              <a:t> </a:t>
            </a:r>
            <a:endParaRPr sz="1600">
              <a:latin typeface="Roboto Light"/>
              <a:ea typeface="Roboto Light"/>
              <a:cs typeface="Roboto Light"/>
              <a:sym typeface="Roboto Light"/>
            </a:endParaRPr>
          </a:p>
        </p:txBody>
      </p:sp>
      <p:pic>
        <p:nvPicPr>
          <p:cNvPr id="1699" name="Google Shape;1699;p198"/>
          <p:cNvPicPr preferRelativeResize="0"/>
          <p:nvPr/>
        </p:nvPicPr>
        <p:blipFill>
          <a:blip r:embed="rId3">
            <a:alphaModFix/>
          </a:blip>
          <a:stretch>
            <a:fillRect/>
          </a:stretch>
        </p:blipFill>
        <p:spPr>
          <a:xfrm>
            <a:off x="5221598" y="367375"/>
            <a:ext cx="3697604" cy="3925924"/>
          </a:xfrm>
          <a:prstGeom prst="rect">
            <a:avLst/>
          </a:prstGeom>
          <a:noFill/>
          <a:ln>
            <a:noFill/>
          </a:ln>
        </p:spPr>
      </p:pic>
      <p:sp>
        <p:nvSpPr>
          <p:cNvPr id="1700" name="Google Shape;1700;p198"/>
          <p:cNvSpPr txBox="1"/>
          <p:nvPr/>
        </p:nvSpPr>
        <p:spPr>
          <a:xfrm>
            <a:off x="5153850" y="1329045"/>
            <a:ext cx="8253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File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server</a:t>
            </a:r>
            <a:endParaRPr sz="1100">
              <a:solidFill>
                <a:schemeClr val="dk1"/>
              </a:solidFill>
              <a:latin typeface="Roboto Medium"/>
              <a:ea typeface="Roboto Medium"/>
              <a:cs typeface="Roboto Medium"/>
              <a:sym typeface="Roboto Medium"/>
            </a:endParaRPr>
          </a:p>
        </p:txBody>
      </p:sp>
      <p:sp>
        <p:nvSpPr>
          <p:cNvPr id="1701" name="Google Shape;1701;p198"/>
          <p:cNvSpPr txBox="1"/>
          <p:nvPr/>
        </p:nvSpPr>
        <p:spPr>
          <a:xfrm>
            <a:off x="6545676" y="1329045"/>
            <a:ext cx="8253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Database server</a:t>
            </a:r>
            <a:endParaRPr sz="1100">
              <a:solidFill>
                <a:schemeClr val="dk1"/>
              </a:solidFill>
              <a:latin typeface="Roboto Medium"/>
              <a:ea typeface="Roboto Medium"/>
              <a:cs typeface="Roboto Medium"/>
              <a:sym typeface="Roboto Medium"/>
            </a:endParaRPr>
          </a:p>
        </p:txBody>
      </p:sp>
      <p:sp>
        <p:nvSpPr>
          <p:cNvPr id="1702" name="Google Shape;1702;p198"/>
          <p:cNvSpPr txBox="1"/>
          <p:nvPr/>
        </p:nvSpPr>
        <p:spPr>
          <a:xfrm>
            <a:off x="7937489" y="1329045"/>
            <a:ext cx="8253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Proxy server</a:t>
            </a:r>
            <a:endParaRPr sz="1100">
              <a:solidFill>
                <a:schemeClr val="dk1"/>
              </a:solidFill>
              <a:latin typeface="Roboto Medium"/>
              <a:ea typeface="Roboto Medium"/>
              <a:cs typeface="Roboto Medium"/>
              <a:sym typeface="Roboto Medium"/>
            </a:endParaRPr>
          </a:p>
        </p:txBody>
      </p:sp>
      <p:sp>
        <p:nvSpPr>
          <p:cNvPr id="1703" name="Google Shape;1703;p198"/>
          <p:cNvSpPr txBox="1"/>
          <p:nvPr/>
        </p:nvSpPr>
        <p:spPr>
          <a:xfrm>
            <a:off x="5153850" y="2797934"/>
            <a:ext cx="8253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Video server</a:t>
            </a:r>
            <a:endParaRPr sz="1100">
              <a:solidFill>
                <a:schemeClr val="dk1"/>
              </a:solidFill>
              <a:latin typeface="Roboto Medium"/>
              <a:ea typeface="Roboto Medium"/>
              <a:cs typeface="Roboto Medium"/>
              <a:sym typeface="Roboto Medium"/>
            </a:endParaRPr>
          </a:p>
        </p:txBody>
      </p:sp>
      <p:sp>
        <p:nvSpPr>
          <p:cNvPr id="1704" name="Google Shape;1704;p198"/>
          <p:cNvSpPr txBox="1"/>
          <p:nvPr/>
        </p:nvSpPr>
        <p:spPr>
          <a:xfrm>
            <a:off x="6545676" y="2797934"/>
            <a:ext cx="8253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VoIP server</a:t>
            </a:r>
            <a:endParaRPr sz="1100">
              <a:solidFill>
                <a:schemeClr val="dk1"/>
              </a:solidFill>
              <a:latin typeface="Roboto Medium"/>
              <a:ea typeface="Roboto Medium"/>
              <a:cs typeface="Roboto Medium"/>
              <a:sym typeface="Roboto Medium"/>
            </a:endParaRPr>
          </a:p>
        </p:txBody>
      </p:sp>
      <p:sp>
        <p:nvSpPr>
          <p:cNvPr id="1705" name="Google Shape;1705;p198"/>
          <p:cNvSpPr txBox="1"/>
          <p:nvPr/>
        </p:nvSpPr>
        <p:spPr>
          <a:xfrm>
            <a:off x="7937489" y="2797934"/>
            <a:ext cx="8253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Virtual server</a:t>
            </a:r>
            <a:endParaRPr sz="1100">
              <a:solidFill>
                <a:schemeClr val="dk1"/>
              </a:solidFill>
              <a:latin typeface="Roboto Medium"/>
              <a:ea typeface="Roboto Medium"/>
              <a:cs typeface="Roboto Medium"/>
              <a:sym typeface="Roboto Medium"/>
            </a:endParaRPr>
          </a:p>
        </p:txBody>
      </p:sp>
      <p:sp>
        <p:nvSpPr>
          <p:cNvPr id="1706" name="Google Shape;1706;p198"/>
          <p:cNvSpPr txBox="1"/>
          <p:nvPr/>
        </p:nvSpPr>
        <p:spPr>
          <a:xfrm>
            <a:off x="4953000" y="4260300"/>
            <a:ext cx="12270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Virtual private network server</a:t>
            </a:r>
            <a:endParaRPr sz="1100">
              <a:solidFill>
                <a:schemeClr val="dk1"/>
              </a:solidFill>
              <a:latin typeface="Roboto Medium"/>
              <a:ea typeface="Roboto Medium"/>
              <a:cs typeface="Roboto Medium"/>
              <a:sym typeface="Roboto Medium"/>
            </a:endParaRPr>
          </a:p>
        </p:txBody>
      </p:sp>
      <p:sp>
        <p:nvSpPr>
          <p:cNvPr id="1707" name="Google Shape;1707;p198"/>
          <p:cNvSpPr txBox="1"/>
          <p:nvPr/>
        </p:nvSpPr>
        <p:spPr>
          <a:xfrm>
            <a:off x="6344826" y="4260300"/>
            <a:ext cx="12270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File Transfer Protocol server</a:t>
            </a:r>
            <a:endParaRPr sz="1100">
              <a:solidFill>
                <a:schemeClr val="dk1"/>
              </a:solidFill>
              <a:latin typeface="Roboto Medium"/>
              <a:ea typeface="Roboto Medium"/>
              <a:cs typeface="Roboto Medium"/>
              <a:sym typeface="Roboto Medium"/>
            </a:endParaRPr>
          </a:p>
        </p:txBody>
      </p:sp>
      <p:sp>
        <p:nvSpPr>
          <p:cNvPr id="1708" name="Google Shape;1708;p198"/>
          <p:cNvSpPr txBox="1"/>
          <p:nvPr/>
        </p:nvSpPr>
        <p:spPr>
          <a:xfrm>
            <a:off x="7937489" y="4260291"/>
            <a:ext cx="825300" cy="361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dk1"/>
                </a:solidFill>
                <a:latin typeface="Roboto Medium"/>
                <a:ea typeface="Roboto Medium"/>
                <a:cs typeface="Roboto Medium"/>
                <a:sym typeface="Roboto Medium"/>
              </a:rPr>
              <a:t>Mail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server</a:t>
            </a:r>
            <a:endParaRPr sz="1100">
              <a:solidFill>
                <a:schemeClr val="dk1"/>
              </a:solidFill>
              <a:latin typeface="Roboto Medium"/>
              <a:ea typeface="Roboto Medium"/>
              <a:cs typeface="Roboto Medium"/>
              <a:sym typeface="Roboto Medium"/>
            </a:endParaRPr>
          </a:p>
        </p:txBody>
      </p:sp>
      <p:sp>
        <p:nvSpPr>
          <p:cNvPr id="1709" name="Google Shape;1709;p198"/>
          <p:cNvSpPr txBox="1"/>
          <p:nvPr/>
        </p:nvSpPr>
        <p:spPr>
          <a:xfrm>
            <a:off x="426800" y="1413375"/>
            <a:ext cx="4320000" cy="35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700">
                <a:solidFill>
                  <a:schemeClr val="dk2"/>
                </a:solidFill>
                <a:latin typeface="Roboto"/>
                <a:ea typeface="Roboto"/>
                <a:cs typeface="Roboto"/>
                <a:sym typeface="Roboto"/>
              </a:rPr>
              <a:t>The data in the database can include, but isn’t limited to:</a:t>
            </a:r>
            <a:endParaRPr sz="1700">
              <a:solidFill>
                <a:schemeClr val="dk2"/>
              </a:solidFill>
              <a:latin typeface="Roboto"/>
              <a:ea typeface="Roboto"/>
              <a:cs typeface="Roboto"/>
              <a:sym typeface="Roboto"/>
            </a:endParaRPr>
          </a:p>
          <a:p>
            <a:pPr indent="-199390" lvl="0" marL="320040" rtl="0" algn="l">
              <a:lnSpc>
                <a:spcPct val="115000"/>
              </a:lnSpc>
              <a:spcBef>
                <a:spcPts val="1000"/>
              </a:spcBef>
              <a:spcAft>
                <a:spcPts val="0"/>
              </a:spcAft>
              <a:buClr>
                <a:schemeClr val="dk2"/>
              </a:buClr>
              <a:buSzPts val="1700"/>
              <a:buFont typeface="Roboto"/>
              <a:buChar char="●"/>
            </a:pPr>
            <a:r>
              <a:rPr lang="en" sz="1700">
                <a:solidFill>
                  <a:schemeClr val="dk2"/>
                </a:solidFill>
                <a:latin typeface="Roboto"/>
                <a:ea typeface="Roboto"/>
                <a:cs typeface="Roboto"/>
                <a:sym typeface="Roboto"/>
              </a:rPr>
              <a:t>The usernames, telephone numbers, and email addresses of customers</a:t>
            </a:r>
            <a:endParaRPr sz="1700">
              <a:solidFill>
                <a:schemeClr val="dk2"/>
              </a:solidFill>
              <a:latin typeface="Roboto"/>
              <a:ea typeface="Roboto"/>
              <a:cs typeface="Roboto"/>
              <a:sym typeface="Roboto"/>
            </a:endParaRPr>
          </a:p>
          <a:p>
            <a:pPr indent="-199390" lvl="0" marL="320040" rtl="0" algn="l">
              <a:lnSpc>
                <a:spcPct val="115000"/>
              </a:lnSpc>
              <a:spcBef>
                <a:spcPts val="1000"/>
              </a:spcBef>
              <a:spcAft>
                <a:spcPts val="0"/>
              </a:spcAft>
              <a:buClr>
                <a:schemeClr val="dk2"/>
              </a:buClr>
              <a:buSzPts val="1700"/>
              <a:buFont typeface="Roboto"/>
              <a:buChar char="●"/>
            </a:pPr>
            <a:r>
              <a:rPr lang="en" sz="1700">
                <a:solidFill>
                  <a:schemeClr val="dk2"/>
                </a:solidFill>
                <a:latin typeface="Roboto"/>
                <a:ea typeface="Roboto"/>
                <a:cs typeface="Roboto"/>
                <a:sym typeface="Roboto"/>
              </a:rPr>
              <a:t>The session and cookie IDs of site visitors</a:t>
            </a:r>
            <a:endParaRPr sz="1700">
              <a:solidFill>
                <a:schemeClr val="dk2"/>
              </a:solidFill>
              <a:latin typeface="Roboto"/>
              <a:ea typeface="Roboto"/>
              <a:cs typeface="Roboto"/>
              <a:sym typeface="Roboto"/>
            </a:endParaRPr>
          </a:p>
          <a:p>
            <a:pPr indent="-199390" lvl="0" marL="320040" rtl="0" algn="l">
              <a:lnSpc>
                <a:spcPct val="115000"/>
              </a:lnSpc>
              <a:spcBef>
                <a:spcPts val="1000"/>
              </a:spcBef>
              <a:spcAft>
                <a:spcPts val="800"/>
              </a:spcAft>
              <a:buClr>
                <a:schemeClr val="dk2"/>
              </a:buClr>
              <a:buSzPts val="1700"/>
              <a:buFont typeface="Roboto"/>
              <a:buChar char="●"/>
            </a:pPr>
            <a:r>
              <a:rPr lang="en" sz="1700">
                <a:solidFill>
                  <a:schemeClr val="dk2"/>
                </a:solidFill>
                <a:latin typeface="Roboto"/>
                <a:ea typeface="Roboto"/>
                <a:cs typeface="Roboto"/>
                <a:sym typeface="Roboto"/>
              </a:rPr>
              <a:t>Personally identifiable information, such as the full names, dates of birth, credit card numbers, and social security numbers of customers</a:t>
            </a:r>
            <a:endParaRPr sz="1700">
              <a:solidFill>
                <a:schemeClr val="dk2"/>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13" name="Shape 1713"/>
        <p:cNvGrpSpPr/>
        <p:nvPr/>
      </p:nvGrpSpPr>
      <p:grpSpPr>
        <a:xfrm>
          <a:off x="0" y="0"/>
          <a:ext cx="0" cy="0"/>
          <a:chOff x="0" y="0"/>
          <a:chExt cx="0" cy="0"/>
        </a:xfrm>
      </p:grpSpPr>
      <p:pic>
        <p:nvPicPr>
          <p:cNvPr id="1714" name="Google Shape;1714;p199"/>
          <p:cNvPicPr preferRelativeResize="0"/>
          <p:nvPr/>
        </p:nvPicPr>
        <p:blipFill rotWithShape="1">
          <a:blip r:embed="rId3">
            <a:alphaModFix/>
          </a:blip>
          <a:srcRect b="1755" l="-27967" r="1304" t="1765"/>
          <a:stretch/>
        </p:blipFill>
        <p:spPr>
          <a:xfrm>
            <a:off x="0" y="5300"/>
            <a:ext cx="9144000" cy="5143498"/>
          </a:xfrm>
          <a:prstGeom prst="rect">
            <a:avLst/>
          </a:prstGeom>
          <a:noFill/>
          <a:ln>
            <a:noFill/>
          </a:ln>
        </p:spPr>
      </p:pic>
      <p:sp>
        <p:nvSpPr>
          <p:cNvPr id="1715" name="Google Shape;1715;p199"/>
          <p:cNvSpPr/>
          <p:nvPr/>
        </p:nvSpPr>
        <p:spPr>
          <a:xfrm rot="-5400000">
            <a:off x="-100050" y="106400"/>
            <a:ext cx="5141400" cy="4941300"/>
          </a:xfrm>
          <a:prstGeom prst="rect">
            <a:avLst/>
          </a:prstGeom>
          <a:gradFill>
            <a:gsLst>
              <a:gs pos="0">
                <a:srgbClr val="000000"/>
              </a:gs>
              <a:gs pos="33000">
                <a:srgbClr val="24292E"/>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99"/>
          <p:cNvSpPr/>
          <p:nvPr/>
        </p:nvSpPr>
        <p:spPr>
          <a:xfrm>
            <a:off x="-12300" y="6350"/>
            <a:ext cx="9168600" cy="1932600"/>
          </a:xfrm>
          <a:prstGeom prst="rect">
            <a:avLst/>
          </a:prstGeom>
          <a:gradFill>
            <a:gsLst>
              <a:gs pos="0">
                <a:srgbClr val="000000"/>
              </a:gs>
              <a:gs pos="33000">
                <a:srgbClr val="24292E"/>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99"/>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rgbClr val="FFFFFF"/>
                </a:solidFill>
              </a:rPr>
              <a:t>The Importance of Databases</a:t>
            </a:r>
            <a:endParaRPr sz="2600">
              <a:solidFill>
                <a:srgbClr val="FFFFFF"/>
              </a:solidFill>
            </a:endParaRPr>
          </a:p>
        </p:txBody>
      </p:sp>
      <p:sp>
        <p:nvSpPr>
          <p:cNvPr id="1718" name="Google Shape;1718;p199"/>
          <p:cNvSpPr txBox="1"/>
          <p:nvPr>
            <p:ph idx="1" type="subTitle"/>
          </p:nvPr>
        </p:nvSpPr>
        <p:spPr>
          <a:xfrm>
            <a:off x="0" y="675975"/>
            <a:ext cx="3819600" cy="18102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solidFill>
                  <a:srgbClr val="FFFFFF"/>
                </a:solidFill>
              </a:rPr>
              <a:t>It is absolutely crucial that security professionals have a strong understanding of how databases work in </a:t>
            </a:r>
            <a:br>
              <a:rPr lang="en">
                <a:solidFill>
                  <a:srgbClr val="FFFFFF"/>
                </a:solidFill>
              </a:rPr>
            </a:br>
            <a:r>
              <a:rPr lang="en">
                <a:solidFill>
                  <a:srgbClr val="FFFFFF"/>
                </a:solidFill>
              </a:rPr>
              <a:t>web applications. </a:t>
            </a:r>
            <a:endParaRPr>
              <a:solidFill>
                <a:srgbClr val="FFFFFF"/>
              </a:solidFill>
            </a:endParaRPr>
          </a:p>
        </p:txBody>
      </p:sp>
      <p:sp>
        <p:nvSpPr>
          <p:cNvPr id="1719" name="Google Shape;1719;p199"/>
          <p:cNvSpPr txBox="1"/>
          <p:nvPr/>
        </p:nvSpPr>
        <p:spPr>
          <a:xfrm>
            <a:off x="488775" y="3299350"/>
            <a:ext cx="2445000" cy="1082100"/>
          </a:xfrm>
          <a:prstGeom prst="rect">
            <a:avLst/>
          </a:prstGeom>
          <a:solidFill>
            <a:schemeClr val="accent3"/>
          </a:solidFill>
          <a:ln>
            <a:noFill/>
          </a:ln>
        </p:spPr>
        <p:txBody>
          <a:bodyPr anchorCtr="0" anchor="ctr" bIns="91425" lIns="18287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Roboto"/>
                <a:ea typeface="Roboto"/>
                <a:cs typeface="Roboto"/>
                <a:sym typeface="Roboto"/>
              </a:rPr>
              <a:t>        </a:t>
            </a:r>
            <a:r>
              <a:rPr b="1" lang="en">
                <a:solidFill>
                  <a:schemeClr val="lt1"/>
                </a:solidFill>
                <a:latin typeface="Roboto"/>
                <a:ea typeface="Roboto"/>
                <a:cs typeface="Roboto"/>
                <a:sym typeface="Roboto"/>
              </a:rPr>
              <a:t>   We’ll examine the threats and vulnerabilities of databases more closely later in the course.</a:t>
            </a:r>
            <a:endParaRPr b="1" sz="1200">
              <a:solidFill>
                <a:schemeClr val="lt1"/>
              </a:solidFill>
              <a:latin typeface="Roboto"/>
              <a:ea typeface="Roboto"/>
              <a:cs typeface="Roboto"/>
              <a:sym typeface="Roboto"/>
            </a:endParaRPr>
          </a:p>
        </p:txBody>
      </p:sp>
      <p:pic>
        <p:nvPicPr>
          <p:cNvPr id="1720" name="Google Shape;1720;p199"/>
          <p:cNvPicPr preferRelativeResize="0"/>
          <p:nvPr/>
        </p:nvPicPr>
        <p:blipFill>
          <a:blip r:embed="rId4">
            <a:alphaModFix/>
          </a:blip>
          <a:stretch>
            <a:fillRect/>
          </a:stretch>
        </p:blipFill>
        <p:spPr>
          <a:xfrm>
            <a:off x="304725" y="2757750"/>
            <a:ext cx="928274" cy="92827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4" name="Shape 1724"/>
        <p:cNvGrpSpPr/>
        <p:nvPr/>
      </p:nvGrpSpPr>
      <p:grpSpPr>
        <a:xfrm>
          <a:off x="0" y="0"/>
          <a:ext cx="0" cy="0"/>
          <a:chOff x="0" y="0"/>
          <a:chExt cx="0" cy="0"/>
        </a:xfrm>
      </p:grpSpPr>
      <p:sp>
        <p:nvSpPr>
          <p:cNvPr id="1725" name="Google Shape;1725;p200"/>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Databases Overview</a:t>
            </a:r>
            <a:endParaRPr/>
          </a:p>
        </p:txBody>
      </p:sp>
      <p:sp>
        <p:nvSpPr>
          <p:cNvPr id="1726" name="Google Shape;1726;p200"/>
          <p:cNvSpPr txBox="1"/>
          <p:nvPr>
            <p:ph idx="1" type="subTitle"/>
          </p:nvPr>
        </p:nvSpPr>
        <p:spPr>
          <a:xfrm>
            <a:off x="463231" y="5486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27" name="Google Shape;1727;p200"/>
          <p:cNvSpPr txBox="1"/>
          <p:nvPr>
            <p:ph idx="3" type="body"/>
          </p:nvPr>
        </p:nvSpPr>
        <p:spPr>
          <a:xfrm>
            <a:off x="457200" y="1371600"/>
            <a:ext cx="3013200" cy="1376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Databases are used to store large amounts of data.</a:t>
            </a:r>
            <a:endParaRPr/>
          </a:p>
          <a:p>
            <a:pPr indent="0" lvl="0" marL="0" rtl="0" algn="l">
              <a:spcBef>
                <a:spcPts val="0"/>
              </a:spcBef>
              <a:spcAft>
                <a:spcPts val="0"/>
              </a:spcAft>
              <a:buNone/>
            </a:pPr>
            <a:r>
              <a:t/>
            </a:r>
            <a:endParaRPr/>
          </a:p>
        </p:txBody>
      </p:sp>
      <p:sp>
        <p:nvSpPr>
          <p:cNvPr id="1728" name="Google Shape;1728;p200"/>
          <p:cNvSpPr txBox="1"/>
          <p:nvPr>
            <p:ph idx="4" type="body"/>
          </p:nvPr>
        </p:nvSpPr>
        <p:spPr>
          <a:xfrm>
            <a:off x="457200" y="3192175"/>
            <a:ext cx="3013200" cy="1376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Databases are typically kept separate from the other components of a web application.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729" name="Google Shape;1729;p200"/>
          <p:cNvPicPr preferRelativeResize="0"/>
          <p:nvPr/>
        </p:nvPicPr>
        <p:blipFill>
          <a:blip r:embed="rId3">
            <a:alphaModFix/>
          </a:blip>
          <a:stretch>
            <a:fillRect/>
          </a:stretch>
        </p:blipFill>
        <p:spPr>
          <a:xfrm>
            <a:off x="4104363" y="461962"/>
            <a:ext cx="4572027" cy="457202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201"/>
          <p:cNvSpPr txBox="1"/>
          <p:nvPr/>
        </p:nvSpPr>
        <p:spPr>
          <a:xfrm>
            <a:off x="-67800" y="2995200"/>
            <a:ext cx="4707600" cy="1134300"/>
          </a:xfrm>
          <a:prstGeom prst="rect">
            <a:avLst/>
          </a:prstGeom>
          <a:noFill/>
          <a:ln>
            <a:noFill/>
          </a:ln>
        </p:spPr>
        <p:txBody>
          <a:bodyPr anchorCtr="0" anchor="t" bIns="91425" lIns="457200"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1" lang="en" sz="2000">
                <a:solidFill>
                  <a:schemeClr val="dk2"/>
                </a:solidFill>
                <a:latin typeface="Roboto"/>
                <a:ea typeface="Roboto"/>
                <a:cs typeface="Roboto"/>
                <a:sym typeface="Roboto"/>
              </a:rPr>
              <a:t>Security</a:t>
            </a:r>
            <a:endParaRPr b="1" i="0" sz="2000" u="none" cap="none" strike="noStrike">
              <a:solidFill>
                <a:schemeClr val="dk2"/>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Compromise of one machine does not imply compromise of the other.</a:t>
            </a:r>
            <a:endParaRPr b="0" i="0" sz="1800" u="none" cap="none" strike="noStrike">
              <a:solidFill>
                <a:schemeClr val="dk2"/>
              </a:solidFill>
              <a:latin typeface="Arial"/>
              <a:ea typeface="Arial"/>
              <a:cs typeface="Arial"/>
              <a:sym typeface="Arial"/>
            </a:endParaRPr>
          </a:p>
        </p:txBody>
      </p:sp>
      <p:cxnSp>
        <p:nvCxnSpPr>
          <p:cNvPr id="1735" name="Google Shape;1735;p201"/>
          <p:cNvCxnSpPr/>
          <p:nvPr/>
        </p:nvCxnSpPr>
        <p:spPr>
          <a:xfrm>
            <a:off x="4537850" y="1619650"/>
            <a:ext cx="0" cy="2471700"/>
          </a:xfrm>
          <a:prstGeom prst="straightConnector1">
            <a:avLst/>
          </a:prstGeom>
          <a:noFill/>
          <a:ln cap="flat" cmpd="sng" w="19050">
            <a:solidFill>
              <a:srgbClr val="2E5E73"/>
            </a:solidFill>
            <a:prstDash val="solid"/>
            <a:round/>
            <a:headEnd len="sm" w="sm" type="none"/>
            <a:tailEnd len="sm" w="sm" type="none"/>
          </a:ln>
        </p:spPr>
      </p:cxnSp>
      <p:sp>
        <p:nvSpPr>
          <p:cNvPr id="1736" name="Google Shape;1736;p201"/>
          <p:cNvSpPr txBox="1"/>
          <p:nvPr/>
        </p:nvSpPr>
        <p:spPr>
          <a:xfrm>
            <a:off x="4941288" y="2995200"/>
            <a:ext cx="3745500" cy="1452900"/>
          </a:xfrm>
          <a:prstGeom prst="rect">
            <a:avLst/>
          </a:prstGeom>
          <a:noFill/>
          <a:ln>
            <a:noFill/>
          </a:ln>
        </p:spPr>
        <p:txBody>
          <a:bodyPr anchorCtr="0" anchor="t" bIns="91425" lIns="457200"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1" lang="en" sz="2000">
                <a:solidFill>
                  <a:schemeClr val="dk2"/>
                </a:solidFill>
                <a:latin typeface="Roboto"/>
                <a:ea typeface="Roboto"/>
                <a:cs typeface="Roboto"/>
                <a:sym typeface="Roboto"/>
              </a:rPr>
              <a:t>Scale</a:t>
            </a:r>
            <a:endParaRPr b="1" i="0" sz="2000" u="none" cap="none" strike="noStrike">
              <a:solidFill>
                <a:schemeClr val="dk2"/>
              </a:solidFill>
              <a:latin typeface="Roboto"/>
              <a:ea typeface="Roboto"/>
              <a:cs typeface="Roboto"/>
              <a:sym typeface="Roboto"/>
            </a:endParaRPr>
          </a:p>
          <a:p>
            <a:pPr indent="0" lvl="0" marL="0" rtl="0" algn="ctr">
              <a:lnSpc>
                <a:spcPct val="115000"/>
              </a:lnSpc>
              <a:spcBef>
                <a:spcPts val="0"/>
              </a:spcBef>
              <a:spcAft>
                <a:spcPts val="0"/>
              </a:spcAft>
              <a:buNone/>
            </a:pPr>
            <a:r>
              <a:rPr lang="en" sz="1800">
                <a:solidFill>
                  <a:schemeClr val="dk2"/>
                </a:solidFill>
                <a:latin typeface="Roboto"/>
                <a:ea typeface="Roboto"/>
                <a:cs typeface="Roboto"/>
                <a:sym typeface="Roboto"/>
              </a:rPr>
              <a:t>Many servers may use </a:t>
            </a:r>
            <a:endParaRPr sz="1800">
              <a:solidFill>
                <a:schemeClr val="dk2"/>
              </a:solidFill>
              <a:latin typeface="Roboto"/>
              <a:ea typeface="Roboto"/>
              <a:cs typeface="Roboto"/>
              <a:sym typeface="Roboto"/>
            </a:endParaRPr>
          </a:p>
          <a:p>
            <a:pPr indent="0" lvl="0" marL="0" rtl="0" algn="ctr">
              <a:lnSpc>
                <a:spcPct val="115000"/>
              </a:lnSpc>
              <a:spcBef>
                <a:spcPts val="0"/>
              </a:spcBef>
              <a:spcAft>
                <a:spcPts val="0"/>
              </a:spcAft>
              <a:buNone/>
            </a:pPr>
            <a:r>
              <a:rPr lang="en" sz="1800">
                <a:solidFill>
                  <a:schemeClr val="dk2"/>
                </a:solidFill>
                <a:latin typeface="Roboto"/>
                <a:ea typeface="Roboto"/>
                <a:cs typeface="Roboto"/>
                <a:sym typeface="Roboto"/>
              </a:rPr>
              <a:t>the same database.</a:t>
            </a:r>
            <a:endParaRPr sz="1800">
              <a:solidFill>
                <a:schemeClr val="dk2"/>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1800"/>
              <a:buFont typeface="Arial"/>
              <a:buNone/>
            </a:pPr>
            <a:r>
              <a:t/>
            </a:r>
            <a:endParaRPr sz="1800">
              <a:solidFill>
                <a:schemeClr val="dk2"/>
              </a:solidFill>
              <a:latin typeface="Roboto"/>
              <a:ea typeface="Roboto"/>
              <a:cs typeface="Roboto"/>
              <a:sym typeface="Roboto"/>
            </a:endParaRPr>
          </a:p>
        </p:txBody>
      </p:sp>
      <p:sp>
        <p:nvSpPr>
          <p:cNvPr id="1737" name="Google Shape;1737;p201"/>
          <p:cNvSpPr txBox="1"/>
          <p:nvPr>
            <p:ph type="title"/>
          </p:nvPr>
        </p:nvSpPr>
        <p:spPr>
          <a:xfrm>
            <a:off x="50" y="51200"/>
            <a:ext cx="9144000" cy="3936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lang="en"/>
              <a:t>Databases are </a:t>
            </a:r>
            <a:r>
              <a:rPr lang="en"/>
              <a:t>typically</a:t>
            </a:r>
            <a:r>
              <a:rPr lang="en"/>
              <a:t> kept separate </a:t>
            </a:r>
            <a:endParaRPr/>
          </a:p>
        </p:txBody>
      </p:sp>
      <p:sp>
        <p:nvSpPr>
          <p:cNvPr id="1738" name="Google Shape;1738;p201"/>
          <p:cNvSpPr txBox="1"/>
          <p:nvPr/>
        </p:nvSpPr>
        <p:spPr>
          <a:xfrm>
            <a:off x="356600" y="626850"/>
            <a:ext cx="8374800" cy="3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Why we separate databases from other web apps: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739" name="Google Shape;1739;p201"/>
          <p:cNvPicPr preferRelativeResize="0"/>
          <p:nvPr/>
        </p:nvPicPr>
        <p:blipFill rotWithShape="1">
          <a:blip r:embed="rId3">
            <a:alphaModFix/>
          </a:blip>
          <a:srcRect b="12663" l="0" r="0" t="0"/>
          <a:stretch/>
        </p:blipFill>
        <p:spPr>
          <a:xfrm>
            <a:off x="1310600" y="1113075"/>
            <a:ext cx="2253773" cy="1968276"/>
          </a:xfrm>
          <a:prstGeom prst="rect">
            <a:avLst/>
          </a:prstGeom>
          <a:noFill/>
          <a:ln>
            <a:noFill/>
          </a:ln>
        </p:spPr>
      </p:pic>
      <p:pic>
        <p:nvPicPr>
          <p:cNvPr id="1740" name="Google Shape;1740;p201"/>
          <p:cNvPicPr preferRelativeResize="0"/>
          <p:nvPr/>
        </p:nvPicPr>
        <p:blipFill>
          <a:blip r:embed="rId4">
            <a:alphaModFix/>
          </a:blip>
          <a:stretch>
            <a:fillRect/>
          </a:stretch>
        </p:blipFill>
        <p:spPr>
          <a:xfrm>
            <a:off x="5837324" y="1052849"/>
            <a:ext cx="2360049" cy="236002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4" name="Shape 1744"/>
        <p:cNvGrpSpPr/>
        <p:nvPr/>
      </p:nvGrpSpPr>
      <p:grpSpPr>
        <a:xfrm>
          <a:off x="0" y="0"/>
          <a:ext cx="0" cy="0"/>
          <a:chOff x="0" y="0"/>
          <a:chExt cx="0" cy="0"/>
        </a:xfrm>
      </p:grpSpPr>
      <p:sp>
        <p:nvSpPr>
          <p:cNvPr id="1745" name="Google Shape;1745;p202"/>
          <p:cNvSpPr txBox="1"/>
          <p:nvPr/>
        </p:nvSpPr>
        <p:spPr>
          <a:xfrm>
            <a:off x="5122800" y="2939325"/>
            <a:ext cx="4210800" cy="1257600"/>
          </a:xfrm>
          <a:prstGeom prst="rect">
            <a:avLst/>
          </a:prstGeom>
          <a:noFill/>
          <a:ln>
            <a:noFill/>
          </a:ln>
        </p:spPr>
        <p:txBody>
          <a:bodyPr anchorCtr="0" anchor="t" bIns="182875" lIns="182875" spcFirstLastPara="1" rIns="91425" wrap="square" tIns="182875">
            <a:noAutofit/>
          </a:bodyPr>
          <a:lstStyle/>
          <a:p>
            <a:pPr indent="0" lvl="0" marL="0" rtl="0" algn="l">
              <a:spcBef>
                <a:spcPts val="0"/>
              </a:spcBef>
              <a:spcAft>
                <a:spcPts val="0"/>
              </a:spcAft>
              <a:buNone/>
            </a:pPr>
            <a:r>
              <a:t/>
            </a:r>
            <a:endParaRPr b="1" sz="1700">
              <a:solidFill>
                <a:srgbClr val="22863A"/>
              </a:solidFill>
              <a:latin typeface="Inconsolata"/>
              <a:ea typeface="Inconsolata"/>
              <a:cs typeface="Inconsolata"/>
              <a:sym typeface="Inconsolata"/>
            </a:endParaRPr>
          </a:p>
        </p:txBody>
      </p:sp>
      <p:sp>
        <p:nvSpPr>
          <p:cNvPr id="1746" name="Google Shape;1746;p202"/>
          <p:cNvSpPr txBox="1"/>
          <p:nvPr>
            <p:ph idx="3" type="body"/>
          </p:nvPr>
        </p:nvSpPr>
        <p:spPr>
          <a:xfrm>
            <a:off x="0" y="826863"/>
            <a:ext cx="4725000" cy="1257600"/>
          </a:xfrm>
          <a:prstGeom prst="rect">
            <a:avLst/>
          </a:prstGeom>
        </p:spPr>
        <p:txBody>
          <a:bodyPr anchorCtr="0" anchor="t" bIns="91425" lIns="457200" spcFirstLastPara="1" rIns="0" wrap="square" tIns="91425">
            <a:noAutofit/>
          </a:bodyPr>
          <a:lstStyle/>
          <a:p>
            <a:pPr indent="0" lvl="0" marL="0" rtl="0" algn="l">
              <a:lnSpc>
                <a:spcPct val="115000"/>
              </a:lnSpc>
              <a:spcBef>
                <a:spcPts val="0"/>
              </a:spcBef>
              <a:spcAft>
                <a:spcPts val="800"/>
              </a:spcAft>
              <a:buNone/>
            </a:pPr>
            <a:r>
              <a:rPr lang="en" sz="1800"/>
              <a:t>As we saw in our last demo </a:t>
            </a:r>
            <a:br>
              <a:rPr lang="en" sz="1800"/>
            </a:br>
            <a:r>
              <a:rPr lang="en" sz="1800"/>
              <a:t>and activity, this was the case </a:t>
            </a:r>
            <a:br>
              <a:rPr lang="en" sz="1800"/>
            </a:br>
            <a:r>
              <a:rPr lang="en" sz="1800"/>
              <a:t>in our</a:t>
            </a:r>
            <a:r>
              <a:rPr lang="en" sz="1800"/>
              <a:t> </a:t>
            </a:r>
            <a:r>
              <a:rPr b="1" lang="en" sz="1800">
                <a:solidFill>
                  <a:schemeClr val="lt1"/>
                </a:solidFill>
                <a:highlight>
                  <a:schemeClr val="dk2"/>
                </a:highlight>
                <a:latin typeface="Inconsolata"/>
                <a:ea typeface="Inconsolata"/>
                <a:cs typeface="Inconsolata"/>
                <a:sym typeface="Inconsolata"/>
              </a:rPr>
              <a:t>docker-compose.yml</a:t>
            </a:r>
            <a:r>
              <a:rPr b="1" lang="en" sz="1800">
                <a:latin typeface="Inconsolata"/>
                <a:ea typeface="Inconsolata"/>
                <a:cs typeface="Inconsolata"/>
                <a:sym typeface="Inconsolata"/>
              </a:rPr>
              <a:t> </a:t>
            </a:r>
            <a:r>
              <a:rPr lang="en" sz="1800"/>
              <a:t>file</a:t>
            </a:r>
            <a:r>
              <a:rPr lang="en" sz="1800">
                <a:latin typeface="Roboto Light"/>
                <a:ea typeface="Roboto Light"/>
                <a:cs typeface="Roboto Light"/>
                <a:sym typeface="Roboto Light"/>
              </a:rPr>
              <a:t>. </a:t>
            </a:r>
            <a:endParaRPr sz="1800">
              <a:latin typeface="Roboto Light"/>
              <a:ea typeface="Roboto Light"/>
              <a:cs typeface="Roboto Light"/>
              <a:sym typeface="Roboto Light"/>
            </a:endParaRPr>
          </a:p>
        </p:txBody>
      </p:sp>
      <p:sp>
        <p:nvSpPr>
          <p:cNvPr id="1747" name="Google Shape;1747;p202"/>
          <p:cNvSpPr txBox="1"/>
          <p:nvPr>
            <p:ph idx="1" type="subTitle"/>
          </p:nvPr>
        </p:nvSpPr>
        <p:spPr>
          <a:xfrm>
            <a:off x="0" y="2133038"/>
            <a:ext cx="3195600" cy="1708800"/>
          </a:xfrm>
          <a:prstGeom prst="rect">
            <a:avLst/>
          </a:prstGeom>
        </p:spPr>
        <p:txBody>
          <a:bodyPr anchorCtr="0" anchor="t" bIns="0" lIns="45720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800"/>
              <a:t>We had multiple defined services, and the database was its own container </a:t>
            </a:r>
            <a:r>
              <a:rPr b="1" lang="en" sz="1800">
                <a:solidFill>
                  <a:schemeClr val="lt1"/>
                </a:solidFill>
                <a:highlight>
                  <a:schemeClr val="dk2"/>
                </a:highlight>
                <a:latin typeface="Inconsolata"/>
                <a:ea typeface="Inconsolata"/>
                <a:cs typeface="Inconsolata"/>
                <a:sym typeface="Inconsolata"/>
              </a:rPr>
              <a:t>demo-db</a:t>
            </a:r>
            <a:r>
              <a:rPr lang="en" sz="1800">
                <a:solidFill>
                  <a:schemeClr val="dk1"/>
                </a:solidFill>
              </a:rPr>
              <a:t> </a:t>
            </a:r>
            <a:r>
              <a:rPr lang="en" sz="1800"/>
              <a:t>in the demo and</a:t>
            </a:r>
            <a:r>
              <a:rPr lang="en" sz="1800"/>
              <a:t> </a:t>
            </a:r>
            <a:r>
              <a:rPr b="1" lang="en" sz="1800">
                <a:solidFill>
                  <a:schemeClr val="lt1"/>
                </a:solidFill>
                <a:highlight>
                  <a:schemeClr val="dk2"/>
                </a:highlight>
                <a:latin typeface="Inconsolata"/>
                <a:ea typeface="Inconsolata"/>
                <a:cs typeface="Inconsolata"/>
                <a:sym typeface="Inconsolata"/>
              </a:rPr>
              <a:t>db </a:t>
            </a:r>
            <a:r>
              <a:rPr lang="en" sz="1800"/>
              <a:t>in the activity.</a:t>
            </a:r>
            <a:endParaRPr sz="1800"/>
          </a:p>
        </p:txBody>
      </p:sp>
      <p:grpSp>
        <p:nvGrpSpPr>
          <p:cNvPr id="1748" name="Google Shape;1748;p202"/>
          <p:cNvGrpSpPr/>
          <p:nvPr/>
        </p:nvGrpSpPr>
        <p:grpSpPr>
          <a:xfrm>
            <a:off x="6847975" y="1275775"/>
            <a:ext cx="2021700" cy="903275"/>
            <a:chOff x="2229350" y="3766550"/>
            <a:chExt cx="2021700" cy="903275"/>
          </a:xfrm>
        </p:grpSpPr>
        <p:pic>
          <p:nvPicPr>
            <p:cNvPr id="1749" name="Google Shape;1749;p202"/>
            <p:cNvPicPr preferRelativeResize="0"/>
            <p:nvPr/>
          </p:nvPicPr>
          <p:blipFill rotWithShape="1">
            <a:blip r:embed="rId3">
              <a:alphaModFix/>
            </a:blip>
            <a:srcRect b="0" l="0" r="0" t="68407"/>
            <a:stretch/>
          </p:blipFill>
          <p:spPr>
            <a:xfrm>
              <a:off x="2239899" y="3766550"/>
              <a:ext cx="2011103" cy="533700"/>
            </a:xfrm>
            <a:prstGeom prst="rect">
              <a:avLst/>
            </a:prstGeom>
            <a:noFill/>
            <a:ln>
              <a:noFill/>
            </a:ln>
          </p:spPr>
        </p:pic>
        <p:sp>
          <p:nvSpPr>
            <p:cNvPr id="1750" name="Google Shape;1750;p202"/>
            <p:cNvSpPr txBox="1"/>
            <p:nvPr/>
          </p:nvSpPr>
          <p:spPr>
            <a:xfrm>
              <a:off x="2229350" y="4143625"/>
              <a:ext cx="2021700" cy="5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35A5E2"/>
                  </a:solidFill>
                  <a:latin typeface="Comfortaa"/>
                  <a:ea typeface="Comfortaa"/>
                  <a:cs typeface="Comfortaa"/>
                  <a:sym typeface="Comfortaa"/>
                </a:rPr>
                <a:t>compose</a:t>
              </a:r>
              <a:endParaRPr b="1" sz="3000">
                <a:solidFill>
                  <a:srgbClr val="35A5E2"/>
                </a:solidFill>
                <a:latin typeface="Comfortaa"/>
                <a:ea typeface="Comfortaa"/>
                <a:cs typeface="Comfortaa"/>
                <a:sym typeface="Comfortaa"/>
              </a:endParaRPr>
            </a:p>
          </p:txBody>
        </p:sp>
      </p:grpSp>
      <p:pic>
        <p:nvPicPr>
          <p:cNvPr id="1751" name="Google Shape;1751;p202"/>
          <p:cNvPicPr preferRelativeResize="0"/>
          <p:nvPr/>
        </p:nvPicPr>
        <p:blipFill>
          <a:blip r:embed="rId4">
            <a:alphaModFix/>
          </a:blip>
          <a:stretch>
            <a:fillRect/>
          </a:stretch>
        </p:blipFill>
        <p:spPr>
          <a:xfrm>
            <a:off x="3238323" y="131802"/>
            <a:ext cx="4104049" cy="4507600"/>
          </a:xfrm>
          <a:prstGeom prst="rect">
            <a:avLst/>
          </a:prstGeom>
          <a:noFill/>
          <a:ln>
            <a:noFill/>
          </a:ln>
          <a:effectLst>
            <a:outerShdw blurRad="171450" rotWithShape="0" algn="bl" dist="9525">
              <a:srgbClr val="000000">
                <a:alpha val="21000"/>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55" name="Shape 1755"/>
        <p:cNvGrpSpPr/>
        <p:nvPr/>
      </p:nvGrpSpPr>
      <p:grpSpPr>
        <a:xfrm>
          <a:off x="0" y="0"/>
          <a:ext cx="0" cy="0"/>
          <a:chOff x="0" y="0"/>
          <a:chExt cx="0" cy="0"/>
        </a:xfrm>
      </p:grpSpPr>
      <p:sp>
        <p:nvSpPr>
          <p:cNvPr id="1756" name="Google Shape;1756;p203"/>
          <p:cNvSpPr/>
          <p:nvPr/>
        </p:nvSpPr>
        <p:spPr>
          <a:xfrm>
            <a:off x="1708500" y="2747100"/>
            <a:ext cx="7161300" cy="1743600"/>
          </a:xfrm>
          <a:prstGeom prst="roundRect">
            <a:avLst>
              <a:gd fmla="val 2694" name="adj"/>
            </a:avLst>
          </a:prstGeom>
          <a:solidFill>
            <a:srgbClr val="F2F5F9"/>
          </a:solidFill>
          <a:ln cap="flat" cmpd="sng" w="9525">
            <a:solidFill>
              <a:srgbClr val="9E9E9E"/>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latin typeface="Roboto Medium"/>
              <a:ea typeface="Roboto Medium"/>
              <a:cs typeface="Roboto Medium"/>
              <a:sym typeface="Roboto Medium"/>
            </a:endParaRPr>
          </a:p>
        </p:txBody>
      </p:sp>
      <p:sp>
        <p:nvSpPr>
          <p:cNvPr id="1757" name="Google Shape;1757;p203"/>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SQL Databases</a:t>
            </a:r>
            <a:endParaRPr sz="2600"/>
          </a:p>
        </p:txBody>
      </p:sp>
      <p:sp>
        <p:nvSpPr>
          <p:cNvPr id="1758" name="Google Shape;1758;p20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p>
            <a:pPr indent="0" lvl="0" marL="0" rtl="0" algn="l">
              <a:lnSpc>
                <a:spcPct val="105000"/>
              </a:lnSpc>
              <a:spcBef>
                <a:spcPts val="0"/>
              </a:spcBef>
              <a:spcAft>
                <a:spcPts val="0"/>
              </a:spcAft>
              <a:buSzPts val="523"/>
              <a:buNone/>
            </a:pPr>
            <a:r>
              <a:rPr lang="en"/>
              <a:t>While the two most important types of databases are SQL and NoSQL, we will focus only on SQL today. </a:t>
            </a:r>
            <a:endParaRPr/>
          </a:p>
        </p:txBody>
      </p:sp>
      <p:sp>
        <p:nvSpPr>
          <p:cNvPr id="1759" name="Google Shape;1759;p203"/>
          <p:cNvSpPr txBox="1"/>
          <p:nvPr>
            <p:ph idx="3" type="body"/>
          </p:nvPr>
        </p:nvSpPr>
        <p:spPr>
          <a:xfrm>
            <a:off x="0" y="1458000"/>
            <a:ext cx="9144000" cy="364800"/>
          </a:xfrm>
          <a:prstGeom prst="rect">
            <a:avLst/>
          </a:prstGeom>
        </p:spPr>
        <p:txBody>
          <a:bodyPr anchorCtr="0" anchor="t" bIns="0" lIns="457200" spcFirstLastPara="1" rIns="457200" wrap="square" tIns="0">
            <a:noAutofit/>
          </a:bodyPr>
          <a:lstStyle/>
          <a:p>
            <a:pPr indent="0" lvl="0" marL="0" rtl="0" algn="l">
              <a:spcBef>
                <a:spcPts val="0"/>
              </a:spcBef>
              <a:spcAft>
                <a:spcPts val="500"/>
              </a:spcAft>
              <a:buClr>
                <a:schemeClr val="dk1"/>
              </a:buClr>
              <a:buSzPts val="1100"/>
              <a:buFont typeface="Arial"/>
              <a:buNone/>
            </a:pPr>
            <a:r>
              <a:rPr lang="en" sz="1800">
                <a:solidFill>
                  <a:schemeClr val="accent5"/>
                </a:solidFill>
              </a:rPr>
              <a:t>SQL databases organize data like a spreadsheet.</a:t>
            </a:r>
            <a:endParaRPr sz="1800">
              <a:solidFill>
                <a:schemeClr val="accent5"/>
              </a:solidFill>
            </a:endParaRPr>
          </a:p>
        </p:txBody>
      </p:sp>
      <p:graphicFrame>
        <p:nvGraphicFramePr>
          <p:cNvPr id="1760" name="Google Shape;1760;p203"/>
          <p:cNvGraphicFramePr/>
          <p:nvPr/>
        </p:nvGraphicFramePr>
        <p:xfrm>
          <a:off x="1939863" y="2969225"/>
          <a:ext cx="3000000" cy="3000000"/>
        </p:xfrm>
        <a:graphic>
          <a:graphicData uri="http://schemas.openxmlformats.org/drawingml/2006/table">
            <a:tbl>
              <a:tblPr>
                <a:noFill/>
                <a:tableStyleId>{7931EDE6-DDAE-46C1-97D5-4B7560CD6016}</a:tableStyleId>
              </a:tblPr>
              <a:tblGrid>
                <a:gridCol w="477350"/>
                <a:gridCol w="1287525"/>
                <a:gridCol w="1399025"/>
                <a:gridCol w="1451050"/>
              </a:tblGrid>
              <a:tr h="276400">
                <a:tc>
                  <a:txBody>
                    <a:bodyPr/>
                    <a:lstStyle/>
                    <a:p>
                      <a:pPr indent="0" lvl="0" marL="0" rtl="0" algn="ctr">
                        <a:spcBef>
                          <a:spcPts val="0"/>
                        </a:spcBef>
                        <a:spcAft>
                          <a:spcPts val="0"/>
                        </a:spcAft>
                        <a:buNone/>
                      </a:pPr>
                      <a:r>
                        <a:rPr b="1" lang="en">
                          <a:solidFill>
                            <a:srgbClr val="FFFFFF"/>
                          </a:solidFill>
                          <a:latin typeface="Roboto"/>
                          <a:ea typeface="Roboto"/>
                          <a:cs typeface="Roboto"/>
                          <a:sym typeface="Roboto"/>
                        </a:rPr>
                        <a:t>ID</a:t>
                      </a:r>
                      <a:endParaRPr b="1">
                        <a:solidFill>
                          <a:srgbClr val="FFFFFF"/>
                        </a:solidFill>
                        <a:latin typeface="Roboto"/>
                        <a:ea typeface="Roboto"/>
                        <a:cs typeface="Roboto"/>
                        <a:sym typeface="Roboto"/>
                      </a:endParaRPr>
                    </a:p>
                  </a:txBody>
                  <a:tcPr marT="0" marB="0"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rgbClr val="FFFFFF"/>
                          </a:solidFill>
                          <a:latin typeface="Roboto"/>
                          <a:ea typeface="Roboto"/>
                          <a:cs typeface="Roboto"/>
                          <a:sym typeface="Roboto"/>
                        </a:rPr>
                        <a:t>First Name</a:t>
                      </a:r>
                      <a:endParaRPr b="1">
                        <a:solidFill>
                          <a:srgbClr val="FFFFFF"/>
                        </a:solidFill>
                        <a:latin typeface="Roboto"/>
                        <a:ea typeface="Roboto"/>
                        <a:cs typeface="Roboto"/>
                        <a:sym typeface="Roboto"/>
                      </a:endParaRPr>
                    </a:p>
                  </a:txBody>
                  <a:tcPr marT="0" marB="0"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rgbClr val="FFFFFF"/>
                          </a:solidFill>
                          <a:latin typeface="Roboto"/>
                          <a:ea typeface="Roboto"/>
                          <a:cs typeface="Roboto"/>
                          <a:sym typeface="Roboto"/>
                        </a:rPr>
                        <a:t>Last Name</a:t>
                      </a:r>
                      <a:endParaRPr b="1">
                        <a:solidFill>
                          <a:srgbClr val="FFFFFF"/>
                        </a:solidFill>
                        <a:latin typeface="Roboto"/>
                        <a:ea typeface="Roboto"/>
                        <a:cs typeface="Roboto"/>
                        <a:sym typeface="Roboto"/>
                      </a:endParaRPr>
                    </a:p>
                  </a:txBody>
                  <a:tcPr marT="0" marB="0"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rgbClr val="FFFFFF"/>
                          </a:solidFill>
                          <a:latin typeface="Roboto"/>
                          <a:ea typeface="Roboto"/>
                          <a:cs typeface="Roboto"/>
                          <a:sym typeface="Roboto"/>
                        </a:rPr>
                        <a:t>Department</a:t>
                      </a:r>
                      <a:endParaRPr b="1">
                        <a:solidFill>
                          <a:srgbClr val="FFFFFF"/>
                        </a:solidFill>
                        <a:latin typeface="Roboto"/>
                        <a:ea typeface="Roboto"/>
                        <a:cs typeface="Roboto"/>
                        <a:sym typeface="Roboto"/>
                      </a:endParaRPr>
                    </a:p>
                  </a:txBody>
                  <a:tcPr marT="0" marB="0"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chemeClr val="dk1"/>
                    </a:solidFill>
                  </a:tcPr>
                </a:tc>
              </a:tr>
              <a:tr h="365125">
                <a:tc>
                  <a:txBody>
                    <a:bodyPr/>
                    <a:lstStyle/>
                    <a:p>
                      <a:pPr indent="0" lvl="0" marL="0" rtl="0" algn="ctr">
                        <a:spcBef>
                          <a:spcPts val="0"/>
                        </a:spcBef>
                        <a:spcAft>
                          <a:spcPts val="0"/>
                        </a:spcAft>
                        <a:buNone/>
                      </a:pPr>
                      <a:r>
                        <a:rPr lang="en">
                          <a:latin typeface="Roboto Medium"/>
                          <a:ea typeface="Roboto Medium"/>
                          <a:cs typeface="Roboto Medium"/>
                          <a:sym typeface="Roboto Medium"/>
                        </a:rPr>
                        <a:t>1</a:t>
                      </a:r>
                      <a:endParaRPr>
                        <a:latin typeface="Roboto Medium"/>
                        <a:ea typeface="Roboto Medium"/>
                        <a:cs typeface="Roboto Medium"/>
                        <a:sym typeface="Roboto Medium"/>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00C8E9">
                        <a:alpha val="23140"/>
                      </a:srgbClr>
                    </a:solidFill>
                  </a:tcPr>
                </a:tc>
                <a:tc>
                  <a:txBody>
                    <a:bodyPr/>
                    <a:lstStyle/>
                    <a:p>
                      <a:pPr indent="0" lvl="0" marL="0" rtl="0" algn="ctr">
                        <a:spcBef>
                          <a:spcPts val="0"/>
                        </a:spcBef>
                        <a:spcAft>
                          <a:spcPts val="0"/>
                        </a:spcAft>
                        <a:buNone/>
                      </a:pPr>
                      <a:r>
                        <a:rPr lang="en">
                          <a:latin typeface="Roboto"/>
                          <a:ea typeface="Roboto"/>
                          <a:cs typeface="Roboto"/>
                          <a:sym typeface="Roboto"/>
                        </a:rPr>
                        <a:t>Jane</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00C8E9">
                        <a:alpha val="23140"/>
                      </a:srgbClr>
                    </a:solidFill>
                  </a:tcPr>
                </a:tc>
                <a:tc>
                  <a:txBody>
                    <a:bodyPr/>
                    <a:lstStyle/>
                    <a:p>
                      <a:pPr indent="0" lvl="0" marL="0" rtl="0" algn="ctr">
                        <a:spcBef>
                          <a:spcPts val="0"/>
                        </a:spcBef>
                        <a:spcAft>
                          <a:spcPts val="0"/>
                        </a:spcAft>
                        <a:buNone/>
                      </a:pPr>
                      <a:r>
                        <a:rPr lang="en">
                          <a:latin typeface="Roboto"/>
                          <a:ea typeface="Roboto"/>
                          <a:cs typeface="Roboto"/>
                          <a:sym typeface="Roboto"/>
                        </a:rPr>
                        <a:t>Doe</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00C8E9">
                        <a:alpha val="23140"/>
                      </a:srgbClr>
                    </a:solidFill>
                  </a:tcPr>
                </a:tc>
                <a:tc>
                  <a:txBody>
                    <a:bodyPr/>
                    <a:lstStyle/>
                    <a:p>
                      <a:pPr indent="0" lvl="0" marL="0" rtl="0" algn="ctr">
                        <a:spcBef>
                          <a:spcPts val="0"/>
                        </a:spcBef>
                        <a:spcAft>
                          <a:spcPts val="0"/>
                        </a:spcAft>
                        <a:buNone/>
                      </a:pPr>
                      <a:r>
                        <a:rPr lang="en">
                          <a:latin typeface="Roboto"/>
                          <a:ea typeface="Roboto"/>
                          <a:cs typeface="Roboto"/>
                          <a:sym typeface="Roboto"/>
                        </a:rPr>
                        <a:t>Security</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00C8E9">
                        <a:alpha val="23140"/>
                      </a:srgbClr>
                    </a:solidFill>
                  </a:tcPr>
                </a:tc>
              </a:tr>
              <a:tr h="365125">
                <a:tc>
                  <a:txBody>
                    <a:bodyPr/>
                    <a:lstStyle/>
                    <a:p>
                      <a:pPr indent="0" lvl="0" marL="0" rtl="0" algn="ctr">
                        <a:spcBef>
                          <a:spcPts val="0"/>
                        </a:spcBef>
                        <a:spcAft>
                          <a:spcPts val="0"/>
                        </a:spcAft>
                        <a:buNone/>
                      </a:pPr>
                      <a:r>
                        <a:rPr lang="en">
                          <a:latin typeface="Roboto Medium"/>
                          <a:ea typeface="Roboto Medium"/>
                          <a:cs typeface="Roboto Medium"/>
                          <a:sym typeface="Roboto Medium"/>
                        </a:rPr>
                        <a:t>2</a:t>
                      </a:r>
                      <a:endParaRPr>
                        <a:latin typeface="Roboto Medium"/>
                        <a:ea typeface="Roboto Medium"/>
                        <a:cs typeface="Roboto Medium"/>
                        <a:sym typeface="Roboto Medium"/>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latin typeface="Roboto"/>
                          <a:ea typeface="Roboto"/>
                          <a:cs typeface="Roboto"/>
                          <a:sym typeface="Roboto"/>
                        </a:rPr>
                        <a:t>Bob</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latin typeface="Roboto"/>
                          <a:ea typeface="Roboto"/>
                          <a:cs typeface="Roboto"/>
                          <a:sym typeface="Roboto"/>
                        </a:rPr>
                        <a:t>Competent</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latin typeface="Roboto"/>
                          <a:ea typeface="Roboto"/>
                          <a:cs typeface="Roboto"/>
                          <a:sym typeface="Roboto"/>
                        </a:rPr>
                        <a:t>Marketing</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FFFFFF"/>
                    </a:solidFill>
                  </a:tcPr>
                </a:tc>
              </a:tr>
              <a:tr h="365200">
                <a:tc>
                  <a:txBody>
                    <a:bodyPr/>
                    <a:lstStyle/>
                    <a:p>
                      <a:pPr indent="0" lvl="0" marL="0" rtl="0" algn="ctr">
                        <a:spcBef>
                          <a:spcPts val="0"/>
                        </a:spcBef>
                        <a:spcAft>
                          <a:spcPts val="0"/>
                        </a:spcAft>
                        <a:buNone/>
                      </a:pPr>
                      <a:r>
                        <a:rPr lang="en">
                          <a:latin typeface="Roboto Medium"/>
                          <a:ea typeface="Roboto Medium"/>
                          <a:cs typeface="Roboto Medium"/>
                          <a:sym typeface="Roboto Medium"/>
                        </a:rPr>
                        <a:t>3</a:t>
                      </a:r>
                      <a:endParaRPr>
                        <a:latin typeface="Roboto Medium"/>
                        <a:ea typeface="Roboto Medium"/>
                        <a:cs typeface="Roboto Medium"/>
                        <a:sym typeface="Roboto Medium"/>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00C8E9">
                        <a:alpha val="23140"/>
                      </a:srgbClr>
                    </a:solidFill>
                  </a:tcPr>
                </a:tc>
                <a:tc>
                  <a:txBody>
                    <a:bodyPr/>
                    <a:lstStyle/>
                    <a:p>
                      <a:pPr indent="0" lvl="0" marL="0" rtl="0" algn="ctr">
                        <a:spcBef>
                          <a:spcPts val="0"/>
                        </a:spcBef>
                        <a:spcAft>
                          <a:spcPts val="0"/>
                        </a:spcAft>
                        <a:buNone/>
                      </a:pPr>
                      <a:r>
                        <a:rPr lang="en">
                          <a:latin typeface="Roboto"/>
                          <a:ea typeface="Roboto"/>
                          <a:cs typeface="Roboto"/>
                          <a:sym typeface="Roboto"/>
                        </a:rPr>
                        <a:t>Jon</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00C8E9">
                        <a:alpha val="23140"/>
                      </a:srgbClr>
                    </a:solidFill>
                  </a:tcPr>
                </a:tc>
                <a:tc>
                  <a:txBody>
                    <a:bodyPr/>
                    <a:lstStyle/>
                    <a:p>
                      <a:pPr indent="0" lvl="0" marL="0" rtl="0" algn="ctr">
                        <a:spcBef>
                          <a:spcPts val="0"/>
                        </a:spcBef>
                        <a:spcAft>
                          <a:spcPts val="0"/>
                        </a:spcAft>
                        <a:buNone/>
                      </a:pPr>
                      <a:r>
                        <a:rPr lang="en">
                          <a:latin typeface="Roboto"/>
                          <a:ea typeface="Roboto"/>
                          <a:cs typeface="Roboto"/>
                          <a:sym typeface="Roboto"/>
                        </a:rPr>
                        <a:t>Rolls</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00C8E9">
                        <a:alpha val="23140"/>
                      </a:srgbClr>
                    </a:solidFill>
                  </a:tcPr>
                </a:tc>
                <a:tc>
                  <a:txBody>
                    <a:bodyPr/>
                    <a:lstStyle/>
                    <a:p>
                      <a:pPr indent="0" lvl="0" marL="0" rtl="0" algn="ctr">
                        <a:spcBef>
                          <a:spcPts val="0"/>
                        </a:spcBef>
                        <a:spcAft>
                          <a:spcPts val="0"/>
                        </a:spcAft>
                        <a:buNone/>
                      </a:pPr>
                      <a:r>
                        <a:rPr lang="en">
                          <a:latin typeface="Roboto"/>
                          <a:ea typeface="Roboto"/>
                          <a:cs typeface="Roboto"/>
                          <a:sym typeface="Roboto"/>
                        </a:rPr>
                        <a:t>Modeling</a:t>
                      </a:r>
                      <a:endParaRPr>
                        <a:latin typeface="Roboto"/>
                        <a:ea typeface="Roboto"/>
                        <a:cs typeface="Roboto"/>
                        <a:sym typeface="Roboto"/>
                      </a:endParaRPr>
                    </a:p>
                  </a:txBody>
                  <a:tcPr marT="27425" marB="27425" marR="91425" marL="91425" anchor="ctr">
                    <a:lnL cap="flat" cmpd="sng" w="9525">
                      <a:solidFill>
                        <a:srgbClr val="00C8E9"/>
                      </a:solidFill>
                      <a:prstDash val="solid"/>
                      <a:round/>
                      <a:headEnd len="sm" w="sm" type="none"/>
                      <a:tailEnd len="sm" w="sm" type="none"/>
                    </a:lnL>
                    <a:lnR cap="flat" cmpd="sng" w="9525">
                      <a:solidFill>
                        <a:srgbClr val="00C8E9"/>
                      </a:solidFill>
                      <a:prstDash val="solid"/>
                      <a:round/>
                      <a:headEnd len="sm" w="sm" type="none"/>
                      <a:tailEnd len="sm" w="sm" type="none"/>
                    </a:lnR>
                    <a:lnT cap="flat" cmpd="sng" w="9525">
                      <a:solidFill>
                        <a:srgbClr val="00C8E9"/>
                      </a:solidFill>
                      <a:prstDash val="solid"/>
                      <a:round/>
                      <a:headEnd len="sm" w="sm" type="none"/>
                      <a:tailEnd len="sm" w="sm" type="none"/>
                    </a:lnT>
                    <a:lnB cap="flat" cmpd="sng" w="9525">
                      <a:solidFill>
                        <a:srgbClr val="00C8E9"/>
                      </a:solidFill>
                      <a:prstDash val="solid"/>
                      <a:round/>
                      <a:headEnd len="sm" w="sm" type="none"/>
                      <a:tailEnd len="sm" w="sm" type="none"/>
                    </a:lnB>
                    <a:solidFill>
                      <a:srgbClr val="00C8E9">
                        <a:alpha val="23140"/>
                      </a:srgbClr>
                    </a:solidFill>
                  </a:tcPr>
                </a:tc>
              </a:tr>
            </a:tbl>
          </a:graphicData>
        </a:graphic>
      </p:graphicFrame>
      <p:sp>
        <p:nvSpPr>
          <p:cNvPr id="1761" name="Google Shape;1761;p203"/>
          <p:cNvSpPr/>
          <p:nvPr/>
        </p:nvSpPr>
        <p:spPr>
          <a:xfrm>
            <a:off x="367275" y="2969200"/>
            <a:ext cx="1183800" cy="1371900"/>
          </a:xfrm>
          <a:prstGeom prst="roundRect">
            <a:avLst>
              <a:gd fmla="val 7028" name="adj"/>
            </a:avLst>
          </a:prstGeom>
          <a:solidFill>
            <a:srgbClr val="F2F5F9"/>
          </a:solidFill>
          <a:ln cap="flat" cmpd="sng" w="9525">
            <a:solidFill>
              <a:schemeClr val="dk2"/>
            </a:solidFill>
            <a:prstDash val="solid"/>
            <a:round/>
            <a:headEnd len="sm" w="sm" type="none"/>
            <a:tailEnd len="sm" w="sm" type="none"/>
          </a:ln>
        </p:spPr>
        <p:txBody>
          <a:bodyPr anchorCtr="0" anchor="ctr" bIns="91425" lIns="182875" spcFirstLastPara="1" rIns="91425" wrap="square" tIns="91425">
            <a:noAutofit/>
          </a:bodyPr>
          <a:lstStyle/>
          <a:p>
            <a:pPr indent="0" lvl="0" marL="0" rtl="0" algn="l">
              <a:spcBef>
                <a:spcPts val="0"/>
              </a:spcBef>
              <a:spcAft>
                <a:spcPts val="300"/>
              </a:spcAft>
              <a:buNone/>
            </a:pPr>
            <a:r>
              <a:rPr lang="en">
                <a:solidFill>
                  <a:schemeClr val="accent5"/>
                </a:solidFill>
                <a:latin typeface="Roboto"/>
                <a:ea typeface="Roboto"/>
                <a:cs typeface="Roboto"/>
                <a:sym typeface="Roboto"/>
              </a:rPr>
              <a:t>Each </a:t>
            </a:r>
            <a:r>
              <a:rPr b="1" lang="en" sz="1600">
                <a:solidFill>
                  <a:schemeClr val="accent5"/>
                </a:solidFill>
                <a:latin typeface="Roboto"/>
                <a:ea typeface="Roboto"/>
                <a:cs typeface="Roboto"/>
                <a:sym typeface="Roboto"/>
              </a:rPr>
              <a:t>row</a:t>
            </a:r>
            <a:r>
              <a:rPr lang="en">
                <a:solidFill>
                  <a:schemeClr val="accent5"/>
                </a:solidFill>
                <a:latin typeface="Roboto"/>
                <a:ea typeface="Roboto"/>
                <a:cs typeface="Roboto"/>
                <a:sym typeface="Roboto"/>
              </a:rPr>
              <a:t> </a:t>
            </a:r>
            <a:br>
              <a:rPr lang="en">
                <a:solidFill>
                  <a:schemeClr val="accent5"/>
                </a:solidFill>
                <a:latin typeface="Roboto"/>
                <a:ea typeface="Roboto"/>
                <a:cs typeface="Roboto"/>
                <a:sym typeface="Roboto"/>
              </a:rPr>
            </a:br>
            <a:r>
              <a:rPr lang="en">
                <a:solidFill>
                  <a:schemeClr val="accent5"/>
                </a:solidFill>
                <a:latin typeface="Roboto"/>
                <a:ea typeface="Roboto"/>
                <a:cs typeface="Roboto"/>
                <a:sym typeface="Roboto"/>
              </a:rPr>
              <a:t>is an item </a:t>
            </a:r>
            <a:br>
              <a:rPr lang="en">
                <a:solidFill>
                  <a:schemeClr val="accent5"/>
                </a:solidFill>
                <a:latin typeface="Roboto"/>
                <a:ea typeface="Roboto"/>
                <a:cs typeface="Roboto"/>
                <a:sym typeface="Roboto"/>
              </a:rPr>
            </a:br>
            <a:r>
              <a:rPr lang="en">
                <a:solidFill>
                  <a:schemeClr val="accent5"/>
                </a:solidFill>
                <a:latin typeface="Roboto"/>
                <a:ea typeface="Roboto"/>
                <a:cs typeface="Roboto"/>
                <a:sym typeface="Roboto"/>
              </a:rPr>
              <a:t>in the database.</a:t>
            </a:r>
            <a:endParaRPr>
              <a:solidFill>
                <a:schemeClr val="accent5"/>
              </a:solidFill>
            </a:endParaRPr>
          </a:p>
        </p:txBody>
      </p:sp>
      <p:cxnSp>
        <p:nvCxnSpPr>
          <p:cNvPr id="1762" name="Google Shape;1762;p203"/>
          <p:cNvCxnSpPr/>
          <p:nvPr/>
        </p:nvCxnSpPr>
        <p:spPr>
          <a:xfrm>
            <a:off x="1551200" y="3835525"/>
            <a:ext cx="337500" cy="0"/>
          </a:xfrm>
          <a:prstGeom prst="straightConnector1">
            <a:avLst/>
          </a:prstGeom>
          <a:noFill/>
          <a:ln cap="flat" cmpd="sng" w="9525">
            <a:solidFill>
              <a:schemeClr val="dk2"/>
            </a:solidFill>
            <a:prstDash val="solid"/>
            <a:round/>
            <a:headEnd len="med" w="med" type="none"/>
            <a:tailEnd len="med" w="med" type="stealth"/>
          </a:ln>
        </p:spPr>
      </p:cxnSp>
      <p:cxnSp>
        <p:nvCxnSpPr>
          <p:cNvPr id="1763" name="Google Shape;1763;p203"/>
          <p:cNvCxnSpPr/>
          <p:nvPr/>
        </p:nvCxnSpPr>
        <p:spPr>
          <a:xfrm>
            <a:off x="3014725" y="2419300"/>
            <a:ext cx="0" cy="510300"/>
          </a:xfrm>
          <a:prstGeom prst="straightConnector1">
            <a:avLst/>
          </a:prstGeom>
          <a:noFill/>
          <a:ln cap="flat" cmpd="sng" w="9525">
            <a:solidFill>
              <a:schemeClr val="dk2"/>
            </a:solidFill>
            <a:prstDash val="solid"/>
            <a:round/>
            <a:headEnd len="med" w="med" type="none"/>
            <a:tailEnd len="med" w="med" type="stealth"/>
          </a:ln>
        </p:spPr>
      </p:cxnSp>
      <p:sp>
        <p:nvSpPr>
          <p:cNvPr id="1764" name="Google Shape;1764;p203"/>
          <p:cNvSpPr/>
          <p:nvPr/>
        </p:nvSpPr>
        <p:spPr>
          <a:xfrm>
            <a:off x="6554825" y="2984550"/>
            <a:ext cx="2052900" cy="858300"/>
          </a:xfrm>
          <a:prstGeom prst="roundRect">
            <a:avLst>
              <a:gd fmla="val 0" name="adj"/>
            </a:avLst>
          </a:prstGeom>
          <a:noFill/>
          <a:ln>
            <a:noFill/>
          </a:ln>
        </p:spPr>
        <p:txBody>
          <a:bodyPr anchorCtr="0" anchor="t" bIns="0" lIns="274300" spcFirstLastPara="1" rIns="0" wrap="square" tIns="0">
            <a:noAutofit/>
          </a:bodyPr>
          <a:lstStyle/>
          <a:p>
            <a:pPr indent="0" lvl="0" marL="0" rtl="0" algn="l">
              <a:spcBef>
                <a:spcPts val="0"/>
              </a:spcBef>
              <a:spcAft>
                <a:spcPts val="300"/>
              </a:spcAft>
              <a:buNone/>
            </a:pPr>
            <a:r>
              <a:rPr lang="en">
                <a:solidFill>
                  <a:schemeClr val="accent5"/>
                </a:solidFill>
                <a:latin typeface="Roboto"/>
                <a:ea typeface="Roboto"/>
                <a:cs typeface="Roboto"/>
                <a:sym typeface="Roboto"/>
              </a:rPr>
              <a:t>A whole “spreadsheet” </a:t>
            </a:r>
            <a:br>
              <a:rPr lang="en">
                <a:solidFill>
                  <a:schemeClr val="accent5"/>
                </a:solidFill>
                <a:latin typeface="Roboto"/>
                <a:ea typeface="Roboto"/>
                <a:cs typeface="Roboto"/>
                <a:sym typeface="Roboto"/>
              </a:rPr>
            </a:br>
            <a:r>
              <a:rPr lang="en">
                <a:solidFill>
                  <a:schemeClr val="accent5"/>
                </a:solidFill>
                <a:latin typeface="Roboto"/>
                <a:ea typeface="Roboto"/>
                <a:cs typeface="Roboto"/>
                <a:sym typeface="Roboto"/>
              </a:rPr>
              <a:t>of rows and columns is called a </a:t>
            </a:r>
            <a:r>
              <a:rPr b="1" lang="en" sz="1600">
                <a:solidFill>
                  <a:schemeClr val="accent5"/>
                </a:solidFill>
                <a:latin typeface="Roboto"/>
                <a:ea typeface="Roboto"/>
                <a:cs typeface="Roboto"/>
                <a:sym typeface="Roboto"/>
              </a:rPr>
              <a:t>table</a:t>
            </a:r>
            <a:r>
              <a:rPr lang="en">
                <a:solidFill>
                  <a:schemeClr val="accent5"/>
                </a:solidFill>
                <a:latin typeface="Roboto"/>
                <a:ea typeface="Roboto"/>
                <a:cs typeface="Roboto"/>
                <a:sym typeface="Roboto"/>
              </a:rPr>
              <a:t>.</a:t>
            </a:r>
            <a:endParaRPr>
              <a:solidFill>
                <a:schemeClr val="accent5"/>
              </a:solidFill>
              <a:latin typeface="Roboto"/>
              <a:ea typeface="Roboto"/>
              <a:cs typeface="Roboto"/>
              <a:sym typeface="Roboto"/>
            </a:endParaRPr>
          </a:p>
        </p:txBody>
      </p:sp>
      <p:sp>
        <p:nvSpPr>
          <p:cNvPr id="1765" name="Google Shape;1765;p203"/>
          <p:cNvSpPr txBox="1"/>
          <p:nvPr>
            <p:ph idx="3" type="body"/>
          </p:nvPr>
        </p:nvSpPr>
        <p:spPr>
          <a:xfrm>
            <a:off x="6554825" y="3842850"/>
            <a:ext cx="2086200" cy="533700"/>
          </a:xfrm>
          <a:prstGeom prst="rect">
            <a:avLst/>
          </a:prstGeom>
        </p:spPr>
        <p:txBody>
          <a:bodyPr anchorCtr="0" anchor="t" bIns="0" lIns="274300" spcFirstLastPara="1" rIns="0" wrap="square" tIns="0">
            <a:noAutofit/>
          </a:bodyPr>
          <a:lstStyle/>
          <a:p>
            <a:pPr indent="0" lvl="0" marL="0" rtl="0" algn="l">
              <a:spcBef>
                <a:spcPts val="0"/>
              </a:spcBef>
              <a:spcAft>
                <a:spcPts val="300"/>
              </a:spcAft>
              <a:buNone/>
            </a:pPr>
            <a:r>
              <a:rPr lang="en" sz="1400">
                <a:solidFill>
                  <a:schemeClr val="accent5"/>
                </a:solidFill>
              </a:rPr>
              <a:t>A collection of tables is called a </a:t>
            </a:r>
            <a:r>
              <a:rPr b="1" lang="en" sz="1400">
                <a:solidFill>
                  <a:schemeClr val="accent5"/>
                </a:solidFill>
              </a:rPr>
              <a:t>database</a:t>
            </a:r>
            <a:r>
              <a:rPr lang="en" sz="1400">
                <a:solidFill>
                  <a:schemeClr val="accent5"/>
                </a:solidFill>
              </a:rPr>
              <a:t>.</a:t>
            </a:r>
            <a:endParaRPr sz="1400">
              <a:solidFill>
                <a:schemeClr val="accent5"/>
              </a:solidFill>
            </a:endParaRPr>
          </a:p>
        </p:txBody>
      </p:sp>
      <p:cxnSp>
        <p:nvCxnSpPr>
          <p:cNvPr id="1766" name="Google Shape;1766;p203"/>
          <p:cNvCxnSpPr/>
          <p:nvPr/>
        </p:nvCxnSpPr>
        <p:spPr>
          <a:xfrm>
            <a:off x="4415475" y="2419300"/>
            <a:ext cx="0" cy="510300"/>
          </a:xfrm>
          <a:prstGeom prst="straightConnector1">
            <a:avLst/>
          </a:prstGeom>
          <a:noFill/>
          <a:ln cap="flat" cmpd="sng" w="9525">
            <a:solidFill>
              <a:schemeClr val="dk2"/>
            </a:solidFill>
            <a:prstDash val="solid"/>
            <a:round/>
            <a:headEnd len="med" w="med" type="none"/>
            <a:tailEnd len="med" w="med" type="stealth"/>
          </a:ln>
        </p:spPr>
      </p:cxnSp>
      <p:cxnSp>
        <p:nvCxnSpPr>
          <p:cNvPr id="1767" name="Google Shape;1767;p203"/>
          <p:cNvCxnSpPr/>
          <p:nvPr/>
        </p:nvCxnSpPr>
        <p:spPr>
          <a:xfrm>
            <a:off x="5688100" y="2419300"/>
            <a:ext cx="0" cy="510300"/>
          </a:xfrm>
          <a:prstGeom prst="straightConnector1">
            <a:avLst/>
          </a:prstGeom>
          <a:noFill/>
          <a:ln cap="flat" cmpd="sng" w="9525">
            <a:solidFill>
              <a:schemeClr val="dk2"/>
            </a:solidFill>
            <a:prstDash val="solid"/>
            <a:round/>
            <a:headEnd len="med" w="med" type="none"/>
            <a:tailEnd len="med" w="med" type="stealth"/>
          </a:ln>
        </p:spPr>
      </p:cxnSp>
      <p:cxnSp>
        <p:nvCxnSpPr>
          <p:cNvPr id="1768" name="Google Shape;1768;p203"/>
          <p:cNvCxnSpPr/>
          <p:nvPr/>
        </p:nvCxnSpPr>
        <p:spPr>
          <a:xfrm>
            <a:off x="2186225" y="2419300"/>
            <a:ext cx="0" cy="510300"/>
          </a:xfrm>
          <a:prstGeom prst="straightConnector1">
            <a:avLst/>
          </a:prstGeom>
          <a:noFill/>
          <a:ln cap="flat" cmpd="sng" w="9525">
            <a:solidFill>
              <a:schemeClr val="dk2"/>
            </a:solidFill>
            <a:prstDash val="solid"/>
            <a:round/>
            <a:headEnd len="med" w="med" type="none"/>
            <a:tailEnd len="med" w="med" type="stealth"/>
          </a:ln>
        </p:spPr>
      </p:cxnSp>
      <p:sp>
        <p:nvSpPr>
          <p:cNvPr id="1769" name="Google Shape;1769;p203"/>
          <p:cNvSpPr/>
          <p:nvPr/>
        </p:nvSpPr>
        <p:spPr>
          <a:xfrm>
            <a:off x="1939875" y="2103050"/>
            <a:ext cx="4614900" cy="415200"/>
          </a:xfrm>
          <a:prstGeom prst="roundRect">
            <a:avLst>
              <a:gd fmla="val 7028" name="adj"/>
            </a:avLst>
          </a:prstGeom>
          <a:solidFill>
            <a:srgbClr val="F2F5F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300"/>
              </a:spcAft>
              <a:buNone/>
            </a:pPr>
            <a:r>
              <a:rPr lang="en">
                <a:solidFill>
                  <a:schemeClr val="accent5"/>
                </a:solidFill>
                <a:latin typeface="Roboto"/>
                <a:ea typeface="Roboto"/>
                <a:cs typeface="Roboto"/>
                <a:sym typeface="Roboto"/>
              </a:rPr>
              <a:t>Each </a:t>
            </a:r>
            <a:r>
              <a:rPr b="1" lang="en" sz="1600">
                <a:solidFill>
                  <a:schemeClr val="accent5"/>
                </a:solidFill>
                <a:latin typeface="Roboto"/>
                <a:ea typeface="Roboto"/>
                <a:cs typeface="Roboto"/>
                <a:sym typeface="Roboto"/>
              </a:rPr>
              <a:t>column</a:t>
            </a:r>
            <a:r>
              <a:rPr lang="en">
                <a:solidFill>
                  <a:schemeClr val="accent5"/>
                </a:solidFill>
                <a:latin typeface="Roboto"/>
                <a:ea typeface="Roboto"/>
                <a:cs typeface="Roboto"/>
                <a:sym typeface="Roboto"/>
              </a:rPr>
              <a:t> is a piece of data in the row.</a:t>
            </a:r>
            <a:endParaRPr>
              <a:solidFill>
                <a:schemeClr val="accent5"/>
              </a:solidFill>
            </a:endParaRPr>
          </a:p>
        </p:txBody>
      </p:sp>
      <p:cxnSp>
        <p:nvCxnSpPr>
          <p:cNvPr id="1770" name="Google Shape;1770;p203"/>
          <p:cNvCxnSpPr/>
          <p:nvPr/>
        </p:nvCxnSpPr>
        <p:spPr>
          <a:xfrm>
            <a:off x="1551200" y="4185900"/>
            <a:ext cx="337500" cy="0"/>
          </a:xfrm>
          <a:prstGeom prst="straightConnector1">
            <a:avLst/>
          </a:prstGeom>
          <a:noFill/>
          <a:ln cap="flat" cmpd="sng" w="9525">
            <a:solidFill>
              <a:schemeClr val="dk2"/>
            </a:solidFill>
            <a:prstDash val="solid"/>
            <a:round/>
            <a:headEnd len="med" w="med" type="none"/>
            <a:tailEnd len="med" w="med" type="stealth"/>
          </a:ln>
        </p:spPr>
      </p:cxnSp>
      <p:cxnSp>
        <p:nvCxnSpPr>
          <p:cNvPr id="1771" name="Google Shape;1771;p203"/>
          <p:cNvCxnSpPr/>
          <p:nvPr/>
        </p:nvCxnSpPr>
        <p:spPr>
          <a:xfrm>
            <a:off x="1551200" y="3485150"/>
            <a:ext cx="337500" cy="0"/>
          </a:xfrm>
          <a:prstGeom prst="straightConnector1">
            <a:avLst/>
          </a:prstGeom>
          <a:noFill/>
          <a:ln cap="flat" cmpd="sng" w="9525">
            <a:solidFill>
              <a:schemeClr val="dk2"/>
            </a:solidFill>
            <a:prstDash val="solid"/>
            <a:round/>
            <a:headEnd len="med" w="med" type="none"/>
            <a:tailEnd len="med" w="med" type="stealth"/>
          </a:ln>
        </p:spPr>
      </p:cxnSp>
      <p:cxnSp>
        <p:nvCxnSpPr>
          <p:cNvPr id="1772" name="Google Shape;1772;p203"/>
          <p:cNvCxnSpPr/>
          <p:nvPr/>
        </p:nvCxnSpPr>
        <p:spPr>
          <a:xfrm>
            <a:off x="1551200" y="3134775"/>
            <a:ext cx="337500" cy="0"/>
          </a:xfrm>
          <a:prstGeom prst="straightConnector1">
            <a:avLst/>
          </a:prstGeom>
          <a:noFill/>
          <a:ln cap="flat" cmpd="sng" w="9525">
            <a:solidFill>
              <a:schemeClr val="dk2"/>
            </a:solidFill>
            <a:prstDash val="solid"/>
            <a:round/>
            <a:headEnd len="med" w="med" type="none"/>
            <a:tailEnd len="med" w="med" type="stealth"/>
          </a:ln>
        </p:spPr>
      </p:cxnSp>
      <p:cxnSp>
        <p:nvCxnSpPr>
          <p:cNvPr id="1773" name="Google Shape;1773;p203"/>
          <p:cNvCxnSpPr/>
          <p:nvPr/>
        </p:nvCxnSpPr>
        <p:spPr>
          <a:xfrm>
            <a:off x="6848100" y="3740225"/>
            <a:ext cx="1845000" cy="0"/>
          </a:xfrm>
          <a:prstGeom prst="straightConnector1">
            <a:avLst/>
          </a:prstGeom>
          <a:noFill/>
          <a:ln cap="flat" cmpd="sng" w="9525">
            <a:solidFill>
              <a:schemeClr val="dk2"/>
            </a:solidFill>
            <a:prstDash val="solid"/>
            <a:round/>
            <a:headEnd len="med" w="med" type="none"/>
            <a:tailEnd len="med" w="med" type="none"/>
          </a:ln>
        </p:spPr>
      </p:cxnSp>
      <p:cxnSp>
        <p:nvCxnSpPr>
          <p:cNvPr id="1774" name="Google Shape;1774;p203"/>
          <p:cNvCxnSpPr/>
          <p:nvPr/>
        </p:nvCxnSpPr>
        <p:spPr>
          <a:xfrm>
            <a:off x="13469675" y="4255500"/>
            <a:ext cx="0" cy="371700"/>
          </a:xfrm>
          <a:prstGeom prst="straightConnector1">
            <a:avLst/>
          </a:prstGeom>
          <a:noFill/>
          <a:ln cap="flat" cmpd="sng" w="9525">
            <a:solidFill>
              <a:srgbClr val="000000"/>
            </a:solidFill>
            <a:prstDash val="solid"/>
            <a:round/>
            <a:headEnd len="med" w="med" type="none"/>
            <a:tailEnd len="med" w="med" type="none"/>
          </a:ln>
        </p:spPr>
      </p:cxnSp>
      <p:sp>
        <p:nvSpPr>
          <p:cNvPr id="1775" name="Google Shape;1775;p203"/>
          <p:cNvSpPr txBox="1"/>
          <p:nvPr/>
        </p:nvSpPr>
        <p:spPr>
          <a:xfrm>
            <a:off x="12560075" y="4585500"/>
            <a:ext cx="675600" cy="37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Query</a:t>
            </a:r>
            <a:endParaRPr b="1" sz="1200">
              <a:latin typeface="Roboto"/>
              <a:ea typeface="Roboto"/>
              <a:cs typeface="Roboto"/>
              <a:sym typeface="Roboto"/>
            </a:endParaRPr>
          </a:p>
        </p:txBody>
      </p:sp>
      <p:sp>
        <p:nvSpPr>
          <p:cNvPr id="1776" name="Google Shape;1776;p203"/>
          <p:cNvSpPr txBox="1"/>
          <p:nvPr/>
        </p:nvSpPr>
        <p:spPr>
          <a:xfrm>
            <a:off x="13123025" y="4585500"/>
            <a:ext cx="1019100" cy="29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Language</a:t>
            </a:r>
            <a:endParaRPr b="1" sz="1200">
              <a:latin typeface="Roboto"/>
              <a:ea typeface="Roboto"/>
              <a:cs typeface="Roboto"/>
              <a:sym typeface="Roboto"/>
            </a:endParaRPr>
          </a:p>
        </p:txBody>
      </p:sp>
      <p:cxnSp>
        <p:nvCxnSpPr>
          <p:cNvPr id="1777" name="Google Shape;1777;p203"/>
          <p:cNvCxnSpPr/>
          <p:nvPr/>
        </p:nvCxnSpPr>
        <p:spPr>
          <a:xfrm>
            <a:off x="12830275" y="4255500"/>
            <a:ext cx="0" cy="3717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81" name="Shape 1781"/>
        <p:cNvGrpSpPr/>
        <p:nvPr/>
      </p:nvGrpSpPr>
      <p:grpSpPr>
        <a:xfrm>
          <a:off x="0" y="0"/>
          <a:ext cx="0" cy="0"/>
          <a:chOff x="0" y="0"/>
          <a:chExt cx="0" cy="0"/>
        </a:xfrm>
      </p:grpSpPr>
      <p:sp>
        <p:nvSpPr>
          <p:cNvPr id="1782" name="Google Shape;1782;p204"/>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Clr>
                <a:schemeClr val="dk1"/>
              </a:buClr>
              <a:buSzPts val="1100"/>
              <a:buFont typeface="Arial"/>
              <a:buNone/>
            </a:pPr>
            <a:r>
              <a:rPr lang="en" sz="2600">
                <a:solidFill>
                  <a:schemeClr val="accent5"/>
                </a:solidFill>
              </a:rPr>
              <a:t>Interacting</a:t>
            </a:r>
            <a:r>
              <a:rPr lang="en" sz="2600">
                <a:solidFill>
                  <a:schemeClr val="accent5"/>
                </a:solidFill>
              </a:rPr>
              <a:t> with Data</a:t>
            </a:r>
            <a:endParaRPr sz="2600">
              <a:solidFill>
                <a:schemeClr val="accent5"/>
              </a:solidFill>
            </a:endParaRPr>
          </a:p>
          <a:p>
            <a:pPr indent="0" lvl="0" marL="0" rtl="0" algn="l">
              <a:spcBef>
                <a:spcPts val="0"/>
              </a:spcBef>
              <a:spcAft>
                <a:spcPts val="0"/>
              </a:spcAft>
              <a:buNone/>
            </a:pPr>
            <a:r>
              <a:t/>
            </a:r>
            <a:endParaRPr/>
          </a:p>
        </p:txBody>
      </p:sp>
      <p:sp>
        <p:nvSpPr>
          <p:cNvPr id="1783" name="Google Shape;1783;p204"/>
          <p:cNvSpPr txBox="1"/>
          <p:nvPr>
            <p:ph idx="1" type="subTitle"/>
          </p:nvPr>
        </p:nvSpPr>
        <p:spPr>
          <a:xfrm>
            <a:off x="0" y="599775"/>
            <a:ext cx="9144000" cy="364800"/>
          </a:xfrm>
          <a:prstGeom prst="rect">
            <a:avLst/>
          </a:prstGeom>
        </p:spPr>
        <p:txBody>
          <a:bodyPr anchorCtr="0" anchor="t" bIns="0" lIns="457200" spcFirstLastPara="1" rIns="457200" wrap="square" tIns="91425">
            <a:noAutofit/>
          </a:bodyPr>
          <a:lstStyle/>
          <a:p>
            <a:pPr indent="0" lvl="0" marL="0" rtl="0" algn="l">
              <a:lnSpc>
                <a:spcPct val="105000"/>
              </a:lnSpc>
              <a:spcBef>
                <a:spcPts val="0"/>
              </a:spcBef>
              <a:spcAft>
                <a:spcPts val="0"/>
              </a:spcAft>
              <a:buSzPts val="523"/>
              <a:buNone/>
            </a:pPr>
            <a:r>
              <a:rPr lang="en">
                <a:solidFill>
                  <a:schemeClr val="accent5"/>
                </a:solidFill>
              </a:rPr>
              <a:t>Once you’ve created a table, there are four main ways to interact with the data </a:t>
            </a:r>
            <a:br>
              <a:rPr lang="en">
                <a:solidFill>
                  <a:schemeClr val="accent5"/>
                </a:solidFill>
              </a:rPr>
            </a:br>
            <a:r>
              <a:rPr lang="en">
                <a:solidFill>
                  <a:schemeClr val="accent5"/>
                </a:solidFill>
              </a:rPr>
              <a:t>it contains. Together, these are as known as </a:t>
            </a:r>
            <a:r>
              <a:rPr b="1" lang="en">
                <a:solidFill>
                  <a:schemeClr val="accent5"/>
                </a:solidFill>
              </a:rPr>
              <a:t>CRUD</a:t>
            </a:r>
            <a:r>
              <a:rPr lang="en">
                <a:solidFill>
                  <a:schemeClr val="accent5"/>
                </a:solidFill>
              </a:rPr>
              <a:t> operations.</a:t>
            </a:r>
            <a:endParaRPr>
              <a:solidFill>
                <a:schemeClr val="accent5"/>
              </a:solidFill>
            </a:endParaRPr>
          </a:p>
        </p:txBody>
      </p:sp>
      <p:graphicFrame>
        <p:nvGraphicFramePr>
          <p:cNvPr id="1784" name="Google Shape;1784;p204"/>
          <p:cNvGraphicFramePr/>
          <p:nvPr/>
        </p:nvGraphicFramePr>
        <p:xfrm>
          <a:off x="487575" y="1550325"/>
          <a:ext cx="3000000" cy="3000000"/>
        </p:xfrm>
        <a:graphic>
          <a:graphicData uri="http://schemas.openxmlformats.org/drawingml/2006/table">
            <a:tbl>
              <a:tblPr>
                <a:noFill/>
                <a:tableStyleId>{7931EDE6-DDAE-46C1-97D5-4B7560CD6016}</a:tableStyleId>
              </a:tblPr>
              <a:tblGrid>
                <a:gridCol w="1392100"/>
                <a:gridCol w="1865975"/>
                <a:gridCol w="4847300"/>
              </a:tblGrid>
              <a:tr h="602725">
                <a:tc>
                  <a:txBody>
                    <a:bodyPr/>
                    <a:lstStyle/>
                    <a:p>
                      <a:pPr indent="0" lvl="0" marL="0" rtl="0" algn="l">
                        <a:spcBef>
                          <a:spcPts val="0"/>
                        </a:spcBef>
                        <a:spcAft>
                          <a:spcPts val="200"/>
                        </a:spcAft>
                        <a:buNone/>
                      </a:pPr>
                      <a:r>
                        <a:rPr b="1" lang="en" sz="3600">
                          <a:solidFill>
                            <a:srgbClr val="00D6CB"/>
                          </a:solidFill>
                          <a:latin typeface="Roboto"/>
                          <a:ea typeface="Roboto"/>
                          <a:cs typeface="Roboto"/>
                          <a:sym typeface="Roboto"/>
                        </a:rPr>
                        <a:t>C</a:t>
                      </a:r>
                      <a:r>
                        <a:rPr lang="en" sz="2200">
                          <a:solidFill>
                            <a:srgbClr val="FFFFFF"/>
                          </a:solidFill>
                          <a:latin typeface="Roboto Medium"/>
                          <a:ea typeface="Roboto Medium"/>
                          <a:cs typeface="Roboto Medium"/>
                          <a:sym typeface="Roboto Medium"/>
                        </a:rPr>
                        <a:t>reate</a:t>
                      </a:r>
                      <a:endParaRPr sz="2200">
                        <a:solidFill>
                          <a:srgbClr val="FFFFFF"/>
                        </a:solidFill>
                        <a:latin typeface="Roboto Medium"/>
                        <a:ea typeface="Roboto Medium"/>
                        <a:cs typeface="Roboto Medium"/>
                        <a:sym typeface="Roboto Medium"/>
                      </a:endParaRPr>
                    </a:p>
                  </a:txBody>
                  <a:tcPr marT="18275" marB="0" marR="91425" marL="18287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000000"/>
                    </a:solidFill>
                  </a:tcPr>
                </a:tc>
                <a:tc>
                  <a:txBody>
                    <a:bodyPr/>
                    <a:lstStyle/>
                    <a:p>
                      <a:pPr indent="0" lvl="0" marL="0" rtl="0" algn="l">
                        <a:spcBef>
                          <a:spcPts val="400"/>
                        </a:spcBef>
                        <a:spcAft>
                          <a:spcPts val="0"/>
                        </a:spcAft>
                        <a:buClr>
                          <a:schemeClr val="dk1"/>
                        </a:buClr>
                        <a:buSzPts val="1100"/>
                        <a:buFont typeface="Arial"/>
                        <a:buNone/>
                      </a:pPr>
                      <a:r>
                        <a:rPr lang="en">
                          <a:solidFill>
                            <a:schemeClr val="lt1"/>
                          </a:solidFill>
                          <a:latin typeface="Roboto Medium"/>
                          <a:ea typeface="Roboto Medium"/>
                          <a:cs typeface="Roboto Medium"/>
                          <a:sym typeface="Roboto Medium"/>
                        </a:rPr>
                        <a:t>Add new entries to a database. </a:t>
                      </a:r>
                      <a:endParaRPr>
                        <a:solidFill>
                          <a:schemeClr val="lt1"/>
                        </a:solidFill>
                        <a:latin typeface="Roboto Medium"/>
                        <a:ea typeface="Roboto Medium"/>
                        <a:cs typeface="Roboto Medium"/>
                        <a:sym typeface="Roboto Medium"/>
                      </a:endParaRPr>
                    </a:p>
                  </a:txBody>
                  <a:tcPr marT="0" marB="91425" marR="91425" marL="182875" anchor="ctr">
                    <a:lnL cap="flat" cmpd="sng" w="9525">
                      <a:solidFill>
                        <a:schemeClr val="accent3"/>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chemeClr val="accent3"/>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When a user makes a new account in a web app, they are creating a new database entry with their user info.</a:t>
                      </a:r>
                      <a:endParaRPr>
                        <a:solidFill>
                          <a:schemeClr val="dk2"/>
                        </a:solidFill>
                        <a:latin typeface="Roboto"/>
                        <a:ea typeface="Roboto"/>
                        <a:cs typeface="Roboto"/>
                        <a:sym typeface="Roboto"/>
                      </a:endParaRPr>
                    </a:p>
                  </a:txBody>
                  <a:tcPr marT="45700" marB="137150" marR="18287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rgbClr val="FFFFFF"/>
                    </a:solidFill>
                  </a:tcPr>
                </a:tc>
              </a:tr>
              <a:tr h="625450">
                <a:tc>
                  <a:txBody>
                    <a:bodyPr/>
                    <a:lstStyle/>
                    <a:p>
                      <a:pPr indent="0" lvl="0" marL="0" rtl="0" algn="l">
                        <a:spcBef>
                          <a:spcPts val="0"/>
                        </a:spcBef>
                        <a:spcAft>
                          <a:spcPts val="200"/>
                        </a:spcAft>
                        <a:buNone/>
                      </a:pPr>
                      <a:r>
                        <a:rPr b="1" lang="en" sz="3600">
                          <a:solidFill>
                            <a:srgbClr val="00C8E9"/>
                          </a:solidFill>
                          <a:latin typeface="Roboto"/>
                          <a:ea typeface="Roboto"/>
                          <a:cs typeface="Roboto"/>
                          <a:sym typeface="Roboto"/>
                        </a:rPr>
                        <a:t>R</a:t>
                      </a:r>
                      <a:r>
                        <a:rPr lang="en" sz="2200">
                          <a:solidFill>
                            <a:srgbClr val="FFFFFF"/>
                          </a:solidFill>
                          <a:latin typeface="Roboto Medium"/>
                          <a:ea typeface="Roboto Medium"/>
                          <a:cs typeface="Roboto Medium"/>
                          <a:sym typeface="Roboto Medium"/>
                        </a:rPr>
                        <a:t>ead</a:t>
                      </a:r>
                      <a:endParaRPr sz="2200">
                        <a:solidFill>
                          <a:srgbClr val="FFFFFF"/>
                        </a:solidFill>
                        <a:latin typeface="Roboto Medium"/>
                        <a:ea typeface="Roboto Medium"/>
                        <a:cs typeface="Roboto Medium"/>
                        <a:sym typeface="Roboto Medium"/>
                      </a:endParaRPr>
                    </a:p>
                  </a:txBody>
                  <a:tcPr marT="18275" marB="0" marR="9142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2297A7"/>
                      </a:solidFill>
                      <a:prstDash val="solid"/>
                      <a:round/>
                      <a:headEnd len="sm" w="sm" type="none"/>
                      <a:tailEnd len="sm" w="sm" type="none"/>
                    </a:lnB>
                    <a:solidFill>
                      <a:srgbClr val="000000"/>
                    </a:solidFill>
                  </a:tcPr>
                </a:tc>
                <a:tc>
                  <a:txBody>
                    <a:bodyPr/>
                    <a:lstStyle/>
                    <a:p>
                      <a:pPr indent="0" lvl="0" marL="0" rtl="0" algn="l">
                        <a:spcBef>
                          <a:spcPts val="400"/>
                        </a:spcBef>
                        <a:spcAft>
                          <a:spcPts val="0"/>
                        </a:spcAft>
                        <a:buClr>
                          <a:schemeClr val="dk1"/>
                        </a:buClr>
                        <a:buSzPts val="1100"/>
                        <a:buFont typeface="Arial"/>
                        <a:buNone/>
                      </a:pPr>
                      <a:r>
                        <a:rPr lang="en">
                          <a:solidFill>
                            <a:schemeClr val="lt1"/>
                          </a:solidFill>
                          <a:latin typeface="Roboto Medium"/>
                          <a:ea typeface="Roboto Medium"/>
                          <a:cs typeface="Roboto Medium"/>
                          <a:sym typeface="Roboto Medium"/>
                        </a:rPr>
                        <a:t>View entries </a:t>
                      </a:r>
                      <a:br>
                        <a:rPr lang="en">
                          <a:solidFill>
                            <a:schemeClr val="lt1"/>
                          </a:solidFill>
                          <a:latin typeface="Roboto Medium"/>
                          <a:ea typeface="Roboto Medium"/>
                          <a:cs typeface="Roboto Medium"/>
                          <a:sym typeface="Roboto Medium"/>
                        </a:rPr>
                      </a:br>
                      <a:r>
                        <a:rPr lang="en">
                          <a:solidFill>
                            <a:schemeClr val="lt1"/>
                          </a:solidFill>
                          <a:latin typeface="Roboto Medium"/>
                          <a:ea typeface="Roboto Medium"/>
                          <a:cs typeface="Roboto Medium"/>
                          <a:sym typeface="Roboto Medium"/>
                        </a:rPr>
                        <a:t>in a database.</a:t>
                      </a:r>
                      <a:endParaRPr>
                        <a:solidFill>
                          <a:schemeClr val="lt1"/>
                        </a:solidFill>
                        <a:latin typeface="Roboto Medium"/>
                        <a:ea typeface="Roboto Medium"/>
                        <a:cs typeface="Roboto Medium"/>
                        <a:sym typeface="Roboto Medium"/>
                      </a:endParaRPr>
                    </a:p>
                  </a:txBody>
                  <a:tcPr marT="0" marB="91425" marR="9142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chemeClr val="accent3"/>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When a web application verifies your login credentials,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it is reading the saved credentials it has in the database.</a:t>
                      </a:r>
                      <a:endParaRPr>
                        <a:solidFill>
                          <a:schemeClr val="dk2"/>
                        </a:solidFill>
                        <a:latin typeface="Roboto"/>
                        <a:ea typeface="Roboto"/>
                        <a:cs typeface="Roboto"/>
                        <a:sym typeface="Roboto"/>
                      </a:endParaRPr>
                    </a:p>
                  </a:txBody>
                  <a:tcPr marT="45700" marB="137150" marR="18287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rgbClr val="FFFFFF"/>
                    </a:solidFill>
                  </a:tcPr>
                </a:tc>
              </a:tr>
              <a:tr h="709600">
                <a:tc>
                  <a:txBody>
                    <a:bodyPr/>
                    <a:lstStyle/>
                    <a:p>
                      <a:pPr indent="0" lvl="0" marL="0" rtl="0" algn="l">
                        <a:spcBef>
                          <a:spcPts val="0"/>
                        </a:spcBef>
                        <a:spcAft>
                          <a:spcPts val="200"/>
                        </a:spcAft>
                        <a:buNone/>
                      </a:pPr>
                      <a:r>
                        <a:rPr b="1" lang="en" sz="3600">
                          <a:solidFill>
                            <a:srgbClr val="00C8E9"/>
                          </a:solidFill>
                          <a:latin typeface="Roboto"/>
                          <a:ea typeface="Roboto"/>
                          <a:cs typeface="Roboto"/>
                          <a:sym typeface="Roboto"/>
                        </a:rPr>
                        <a:t>U</a:t>
                      </a:r>
                      <a:r>
                        <a:rPr lang="en" sz="2200">
                          <a:solidFill>
                            <a:srgbClr val="FFFFFF"/>
                          </a:solidFill>
                          <a:latin typeface="Roboto Medium"/>
                          <a:ea typeface="Roboto Medium"/>
                          <a:cs typeface="Roboto Medium"/>
                          <a:sym typeface="Roboto Medium"/>
                        </a:rPr>
                        <a:t>pdate</a:t>
                      </a:r>
                      <a:endParaRPr sz="2200">
                        <a:solidFill>
                          <a:srgbClr val="FFFFFF"/>
                        </a:solidFill>
                        <a:latin typeface="Roboto Medium"/>
                        <a:ea typeface="Roboto Medium"/>
                        <a:cs typeface="Roboto Medium"/>
                        <a:sym typeface="Roboto Medium"/>
                      </a:endParaRPr>
                    </a:p>
                  </a:txBody>
                  <a:tcPr marT="18275" marB="0" marR="9142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rgbClr val="000000"/>
                    </a:solidFill>
                  </a:tcPr>
                </a:tc>
                <a:tc>
                  <a:txBody>
                    <a:bodyPr/>
                    <a:lstStyle/>
                    <a:p>
                      <a:pPr indent="0" lvl="0" marL="0" rtl="0" algn="l">
                        <a:spcBef>
                          <a:spcPts val="400"/>
                        </a:spcBef>
                        <a:spcAft>
                          <a:spcPts val="0"/>
                        </a:spcAft>
                        <a:buClr>
                          <a:schemeClr val="dk1"/>
                        </a:buClr>
                        <a:buSzPts val="1100"/>
                        <a:buFont typeface="Arial"/>
                        <a:buNone/>
                      </a:pPr>
                      <a:r>
                        <a:rPr lang="en">
                          <a:solidFill>
                            <a:schemeClr val="lt1"/>
                          </a:solidFill>
                          <a:latin typeface="Roboto Medium"/>
                          <a:ea typeface="Roboto Medium"/>
                          <a:cs typeface="Roboto Medium"/>
                          <a:sym typeface="Roboto Medium"/>
                        </a:rPr>
                        <a:t>Modify existing data in a database. </a:t>
                      </a:r>
                      <a:endParaRPr>
                        <a:solidFill>
                          <a:schemeClr val="lt1"/>
                        </a:solidFill>
                        <a:latin typeface="Roboto Medium"/>
                        <a:ea typeface="Roboto Medium"/>
                        <a:cs typeface="Roboto Medium"/>
                        <a:sym typeface="Roboto Medium"/>
                      </a:endParaRPr>
                    </a:p>
                  </a:txBody>
                  <a:tcPr marT="0" marB="91425" marR="9142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chemeClr val="accent3"/>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Whenever you need to reset your password in a web application, the password entry (more specifically, the hashed password) is updated with the new password.</a:t>
                      </a:r>
                      <a:endParaRPr>
                        <a:solidFill>
                          <a:schemeClr val="dk2"/>
                        </a:solidFill>
                        <a:latin typeface="Roboto"/>
                        <a:ea typeface="Roboto"/>
                        <a:cs typeface="Roboto"/>
                        <a:sym typeface="Roboto"/>
                      </a:endParaRPr>
                    </a:p>
                  </a:txBody>
                  <a:tcPr marT="45700" marB="137150" marR="18287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rgbClr val="FFFFFF"/>
                    </a:solidFill>
                  </a:tcPr>
                </a:tc>
              </a:tr>
              <a:tr h="709600">
                <a:tc>
                  <a:txBody>
                    <a:bodyPr/>
                    <a:lstStyle/>
                    <a:p>
                      <a:pPr indent="0" lvl="0" marL="0" rtl="0" algn="l">
                        <a:spcBef>
                          <a:spcPts val="0"/>
                        </a:spcBef>
                        <a:spcAft>
                          <a:spcPts val="200"/>
                        </a:spcAft>
                        <a:buNone/>
                      </a:pPr>
                      <a:r>
                        <a:rPr b="1" lang="en" sz="3600">
                          <a:solidFill>
                            <a:srgbClr val="00C8E9"/>
                          </a:solidFill>
                          <a:latin typeface="Roboto"/>
                          <a:ea typeface="Roboto"/>
                          <a:cs typeface="Roboto"/>
                          <a:sym typeface="Roboto"/>
                        </a:rPr>
                        <a:t>D</a:t>
                      </a:r>
                      <a:r>
                        <a:rPr lang="en" sz="2200">
                          <a:solidFill>
                            <a:srgbClr val="FFFFFF"/>
                          </a:solidFill>
                          <a:latin typeface="Roboto Medium"/>
                          <a:ea typeface="Roboto Medium"/>
                          <a:cs typeface="Roboto Medium"/>
                          <a:sym typeface="Roboto Medium"/>
                        </a:rPr>
                        <a:t>elete</a:t>
                      </a:r>
                      <a:endParaRPr sz="2200">
                        <a:solidFill>
                          <a:srgbClr val="FFFFFF"/>
                        </a:solidFill>
                        <a:latin typeface="Roboto Medium"/>
                        <a:ea typeface="Roboto Medium"/>
                        <a:cs typeface="Roboto Medium"/>
                        <a:sym typeface="Roboto Medium"/>
                      </a:endParaRPr>
                    </a:p>
                  </a:txBody>
                  <a:tcPr marT="18275" marB="0" marR="9142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rgbClr val="000000"/>
                    </a:solidFill>
                  </a:tcPr>
                </a:tc>
                <a:tc>
                  <a:txBody>
                    <a:bodyPr/>
                    <a:lstStyle/>
                    <a:p>
                      <a:pPr indent="0" lvl="0" marL="0" rtl="0" algn="l">
                        <a:spcBef>
                          <a:spcPts val="400"/>
                        </a:spcBef>
                        <a:spcAft>
                          <a:spcPts val="0"/>
                        </a:spcAft>
                        <a:buClr>
                          <a:schemeClr val="dk1"/>
                        </a:buClr>
                        <a:buSzPts val="1100"/>
                        <a:buFont typeface="Arial"/>
                        <a:buNone/>
                      </a:pPr>
                      <a:r>
                        <a:rPr lang="en">
                          <a:solidFill>
                            <a:schemeClr val="lt1"/>
                          </a:solidFill>
                          <a:latin typeface="Roboto Medium"/>
                          <a:ea typeface="Roboto Medium"/>
                          <a:cs typeface="Roboto Medium"/>
                          <a:sym typeface="Roboto Medium"/>
                        </a:rPr>
                        <a:t>Destroy data </a:t>
                      </a:r>
                      <a:br>
                        <a:rPr lang="en">
                          <a:solidFill>
                            <a:schemeClr val="lt1"/>
                          </a:solidFill>
                          <a:latin typeface="Roboto Medium"/>
                          <a:ea typeface="Roboto Medium"/>
                          <a:cs typeface="Roboto Medium"/>
                          <a:sym typeface="Roboto Medium"/>
                        </a:rPr>
                      </a:br>
                      <a:r>
                        <a:rPr lang="en">
                          <a:solidFill>
                            <a:schemeClr val="lt1"/>
                          </a:solidFill>
                          <a:latin typeface="Roboto Medium"/>
                          <a:ea typeface="Roboto Medium"/>
                          <a:cs typeface="Roboto Medium"/>
                          <a:sym typeface="Roboto Medium"/>
                        </a:rPr>
                        <a:t>in the database.</a:t>
                      </a:r>
                      <a:endParaRPr>
                        <a:solidFill>
                          <a:schemeClr val="lt1"/>
                        </a:solidFill>
                        <a:latin typeface="Roboto Medium"/>
                        <a:ea typeface="Roboto Medium"/>
                        <a:cs typeface="Roboto Medium"/>
                        <a:sym typeface="Roboto Medium"/>
                      </a:endParaRPr>
                    </a:p>
                  </a:txBody>
                  <a:tcPr marT="0" marB="91425" marR="9142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chemeClr val="accent3"/>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If you have the option to delete your account from a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web application (for example, on a GDPR web app),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your account info will be deleted from the database.</a:t>
                      </a:r>
                      <a:endParaRPr>
                        <a:solidFill>
                          <a:schemeClr val="dk2"/>
                        </a:solidFill>
                        <a:latin typeface="Roboto"/>
                        <a:ea typeface="Roboto"/>
                        <a:cs typeface="Roboto"/>
                        <a:sym typeface="Roboto"/>
                      </a:endParaRPr>
                    </a:p>
                  </a:txBody>
                  <a:tcPr marT="45700" marB="137150" marR="182875" marL="182875" anchor="ctr">
                    <a:lnL cap="flat" cmpd="sng" w="9525">
                      <a:solidFill>
                        <a:srgbClr val="2297A7"/>
                      </a:solidFill>
                      <a:prstDash val="solid"/>
                      <a:round/>
                      <a:headEnd len="sm" w="sm" type="none"/>
                      <a:tailEnd len="sm" w="sm" type="none"/>
                    </a:lnL>
                    <a:lnR cap="flat" cmpd="sng" w="9525">
                      <a:solidFill>
                        <a:srgbClr val="2297A7"/>
                      </a:solidFill>
                      <a:prstDash val="solid"/>
                      <a:round/>
                      <a:headEnd len="sm" w="sm" type="none"/>
                      <a:tailEnd len="sm" w="sm" type="none"/>
                    </a:lnR>
                    <a:lnT cap="flat" cmpd="sng" w="9525">
                      <a:solidFill>
                        <a:srgbClr val="2297A7"/>
                      </a:solidFill>
                      <a:prstDash val="solid"/>
                      <a:round/>
                      <a:headEnd len="sm" w="sm" type="none"/>
                      <a:tailEnd len="sm" w="sm" type="none"/>
                    </a:lnT>
                    <a:lnB cap="flat" cmpd="sng" w="9525">
                      <a:solidFill>
                        <a:srgbClr val="2297A7"/>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8" name="Shape 1788"/>
        <p:cNvGrpSpPr/>
        <p:nvPr/>
      </p:nvGrpSpPr>
      <p:grpSpPr>
        <a:xfrm>
          <a:off x="0" y="0"/>
          <a:ext cx="0" cy="0"/>
          <a:chOff x="0" y="0"/>
          <a:chExt cx="0" cy="0"/>
        </a:xfrm>
      </p:grpSpPr>
      <p:sp>
        <p:nvSpPr>
          <p:cNvPr id="1789" name="Google Shape;1789;p205"/>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CRUD</a:t>
            </a:r>
            <a:endParaRPr sz="2600"/>
          </a:p>
        </p:txBody>
      </p:sp>
      <p:sp>
        <p:nvSpPr>
          <p:cNvPr id="1790" name="Google Shape;1790;p205"/>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1000"/>
              </a:spcAft>
              <a:buClr>
                <a:schemeClr val="dk1"/>
              </a:buClr>
              <a:buSzPts val="1100"/>
              <a:buFont typeface="Arial"/>
              <a:buNone/>
            </a:pPr>
            <a:r>
              <a:rPr lang="en"/>
              <a:t>CRUD operations are also known as</a:t>
            </a:r>
            <a:r>
              <a:rPr lang="en"/>
              <a:t> </a:t>
            </a:r>
            <a:r>
              <a:rPr b="1" lang="en"/>
              <a:t>queries</a:t>
            </a:r>
            <a:r>
              <a:rPr lang="en"/>
              <a:t>.</a:t>
            </a:r>
            <a:endParaRPr/>
          </a:p>
        </p:txBody>
      </p:sp>
      <p:pic>
        <p:nvPicPr>
          <p:cNvPr id="1791" name="Google Shape;1791;p205"/>
          <p:cNvPicPr preferRelativeResize="0"/>
          <p:nvPr/>
        </p:nvPicPr>
        <p:blipFill>
          <a:blip r:embed="rId3">
            <a:alphaModFix/>
          </a:blip>
          <a:stretch>
            <a:fillRect/>
          </a:stretch>
        </p:blipFill>
        <p:spPr>
          <a:xfrm flipH="1">
            <a:off x="5238500" y="160138"/>
            <a:ext cx="3016650" cy="4617575"/>
          </a:xfrm>
          <a:prstGeom prst="rect">
            <a:avLst/>
          </a:prstGeom>
          <a:noFill/>
          <a:ln>
            <a:noFill/>
          </a:ln>
          <a:effectLst>
            <a:outerShdw blurRad="57150" rotWithShape="0" algn="bl" dir="5400000" dist="19050">
              <a:srgbClr val="000000">
                <a:alpha val="50000"/>
              </a:srgbClr>
            </a:outerShdw>
          </a:effectLst>
        </p:spPr>
      </p:pic>
      <p:sp>
        <p:nvSpPr>
          <p:cNvPr id="1792" name="Google Shape;1792;p205"/>
          <p:cNvSpPr txBox="1"/>
          <p:nvPr>
            <p:ph idx="2" type="body"/>
          </p:nvPr>
        </p:nvSpPr>
        <p:spPr>
          <a:xfrm>
            <a:off x="84600" y="1460650"/>
            <a:ext cx="5329500" cy="3262800"/>
          </a:xfrm>
          <a:prstGeom prst="rect">
            <a:avLst/>
          </a:prstGeom>
        </p:spPr>
        <p:txBody>
          <a:bodyPr anchorCtr="0" anchor="t" bIns="914400" lIns="457200" spcFirstLastPara="1" rIns="457200" wrap="square" tIns="0">
            <a:noAutofit/>
          </a:bodyPr>
          <a:lstStyle/>
          <a:p>
            <a:pPr indent="0" lvl="0" marL="0" rtl="0" algn="l">
              <a:spcBef>
                <a:spcPts val="0"/>
              </a:spcBef>
              <a:spcAft>
                <a:spcPts val="0"/>
              </a:spcAft>
              <a:buClr>
                <a:schemeClr val="dk1"/>
              </a:buClr>
              <a:buSzPts val="1100"/>
              <a:buFont typeface="Arial"/>
              <a:buNone/>
            </a:pPr>
            <a:r>
              <a:rPr lang="en">
                <a:solidFill>
                  <a:schemeClr val="accent5"/>
                </a:solidFill>
              </a:rPr>
              <a:t>We’ll use the term “query” to describe any input that will interact with data.</a:t>
            </a:r>
            <a:endParaRPr>
              <a:solidFill>
                <a:schemeClr val="accent5"/>
              </a:solidFill>
            </a:endParaRPr>
          </a:p>
          <a:p>
            <a:pPr indent="0" lvl="0" marL="0" rtl="0" algn="l">
              <a:spcBef>
                <a:spcPts val="1200"/>
              </a:spcBef>
              <a:spcAft>
                <a:spcPts val="0"/>
              </a:spcAft>
              <a:buClr>
                <a:schemeClr val="dk1"/>
              </a:buClr>
              <a:buSzPts val="1100"/>
              <a:buFont typeface="Arial"/>
              <a:buNone/>
            </a:pPr>
            <a:r>
              <a:rPr lang="en">
                <a:solidFill>
                  <a:schemeClr val="accent5"/>
                </a:solidFill>
              </a:rPr>
              <a:t>We’ll come back to the SQL syntax of these operations to set the stage for SQL injections later in the course.</a:t>
            </a:r>
            <a:endParaRPr>
              <a:solidFill>
                <a:schemeClr val="accent5"/>
              </a:solidFill>
            </a:endParaRPr>
          </a:p>
          <a:p>
            <a:pPr indent="0" lvl="0" marL="0" rtl="0" algn="l">
              <a:spcBef>
                <a:spcPts val="1000"/>
              </a:spcBef>
              <a:spcAft>
                <a:spcPts val="8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6" name="Shape 1796"/>
        <p:cNvGrpSpPr/>
        <p:nvPr/>
      </p:nvGrpSpPr>
      <p:grpSpPr>
        <a:xfrm>
          <a:off x="0" y="0"/>
          <a:ext cx="0" cy="0"/>
          <a:chOff x="0" y="0"/>
          <a:chExt cx="0" cy="0"/>
        </a:xfrm>
      </p:grpSpPr>
      <p:sp>
        <p:nvSpPr>
          <p:cNvPr id="1797" name="Google Shape;1797;p206"/>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2600"/>
              <a:t>SQL injections </a:t>
            </a:r>
            <a:r>
              <a:rPr lang="en" sz="2600"/>
              <a:t>are a type of web application attack intended to manipulate queries so that an attacker can use a database in ways the developers did not originally intend.</a:t>
            </a:r>
            <a:endParaRPr sz="26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01" name="Shape 1801"/>
        <p:cNvGrpSpPr/>
        <p:nvPr/>
      </p:nvGrpSpPr>
      <p:grpSpPr>
        <a:xfrm>
          <a:off x="0" y="0"/>
          <a:ext cx="0" cy="0"/>
          <a:chOff x="0" y="0"/>
          <a:chExt cx="0" cy="0"/>
        </a:xfrm>
      </p:grpSpPr>
      <p:sp>
        <p:nvSpPr>
          <p:cNvPr id="1802" name="Google Shape;1802;p207"/>
          <p:cNvSpPr txBox="1"/>
          <p:nvPr>
            <p:ph idx="1" type="body"/>
          </p:nvPr>
        </p:nvSpPr>
        <p:spPr>
          <a:xfrm>
            <a:off x="222825" y="1044400"/>
            <a:ext cx="5263500" cy="3111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Let's</a:t>
            </a:r>
            <a:r>
              <a:rPr lang="en" sz="1400"/>
              <a:t> see how we can create and enter queries into a web application's database to carry out basic database administration tasks.</a:t>
            </a:r>
            <a:endParaRPr sz="1400"/>
          </a:p>
          <a:p>
            <a:pPr indent="-317500" lvl="0" marL="457200" rtl="0" algn="l">
              <a:lnSpc>
                <a:spcPct val="100000"/>
              </a:lnSpc>
              <a:spcBef>
                <a:spcPts val="0"/>
              </a:spcBef>
              <a:spcAft>
                <a:spcPts val="0"/>
              </a:spcAft>
              <a:buSzPts val="1400"/>
              <a:buChar char="●"/>
            </a:pPr>
            <a:r>
              <a:rPr lang="en" sz="1400"/>
              <a:t>Deploy a web application.</a:t>
            </a:r>
            <a:endParaRPr sz="1400"/>
          </a:p>
          <a:p>
            <a:pPr indent="-317500" lvl="0" marL="457200" rtl="0" algn="l">
              <a:lnSpc>
                <a:spcPct val="100000"/>
              </a:lnSpc>
              <a:spcBef>
                <a:spcPts val="1000"/>
              </a:spcBef>
              <a:spcAft>
                <a:spcPts val="0"/>
              </a:spcAft>
              <a:buSzPts val="1400"/>
              <a:buChar char="●"/>
            </a:pPr>
            <a:r>
              <a:rPr lang="en" sz="1400"/>
              <a:t>Navigate to the web application's page to see what data can be viewed by a web client.</a:t>
            </a:r>
            <a:endParaRPr sz="1400"/>
          </a:p>
          <a:p>
            <a:pPr indent="-317500" lvl="0" marL="457200" rtl="0" algn="l">
              <a:lnSpc>
                <a:spcPct val="100000"/>
              </a:lnSpc>
              <a:spcBef>
                <a:spcPts val="1000"/>
              </a:spcBef>
              <a:spcAft>
                <a:spcPts val="0"/>
              </a:spcAft>
              <a:buSzPts val="1400"/>
              <a:buChar char="●"/>
            </a:pPr>
            <a:r>
              <a:rPr lang="en" sz="1400"/>
              <a:t>Start a bash session in the database's container and log into the database.</a:t>
            </a:r>
            <a:endParaRPr sz="1400"/>
          </a:p>
          <a:p>
            <a:pPr indent="-317500" lvl="0" marL="457200" rtl="0" algn="l">
              <a:lnSpc>
                <a:spcPct val="100000"/>
              </a:lnSpc>
              <a:spcBef>
                <a:spcPts val="1000"/>
              </a:spcBef>
              <a:spcAft>
                <a:spcPts val="0"/>
              </a:spcAft>
              <a:buSzPts val="1400"/>
              <a:buChar char="●"/>
            </a:pPr>
            <a:r>
              <a:rPr lang="en" sz="1400"/>
              <a:t>Use a SQL query to retrieve the contents of the database's primary table.</a:t>
            </a:r>
            <a:endParaRPr sz="1400"/>
          </a:p>
          <a:p>
            <a:pPr indent="-317500" lvl="0" marL="457200" rtl="0" algn="l">
              <a:lnSpc>
                <a:spcPct val="100000"/>
              </a:lnSpc>
              <a:spcBef>
                <a:spcPts val="1000"/>
              </a:spcBef>
              <a:spcAft>
                <a:spcPts val="0"/>
              </a:spcAft>
              <a:buSzPts val="1400"/>
              <a:buChar char="●"/>
            </a:pPr>
            <a:r>
              <a:rPr lang="en" sz="1400"/>
              <a:t>Modify that SQL query to find specific data.</a:t>
            </a:r>
            <a:endParaRPr sz="1400"/>
          </a:p>
          <a:p>
            <a:pPr indent="-317500" lvl="0" marL="457200" rtl="0" algn="l">
              <a:lnSpc>
                <a:spcPct val="100000"/>
              </a:lnSpc>
              <a:spcBef>
                <a:spcPts val="1000"/>
              </a:spcBef>
              <a:spcAft>
                <a:spcPts val="0"/>
              </a:spcAft>
              <a:buSzPts val="1400"/>
              <a:buChar char="●"/>
            </a:pPr>
            <a:r>
              <a:rPr lang="en" sz="1400"/>
              <a:t>Add new data to the database.</a:t>
            </a:r>
            <a:endParaRPr sz="1400"/>
          </a:p>
          <a:p>
            <a:pPr indent="-317500" lvl="0" marL="457200" rtl="0" algn="l">
              <a:lnSpc>
                <a:spcPct val="100000"/>
              </a:lnSpc>
              <a:spcBef>
                <a:spcPts val="1000"/>
              </a:spcBef>
              <a:spcAft>
                <a:spcPts val="0"/>
              </a:spcAft>
              <a:buSzPts val="1400"/>
              <a:buChar char="●"/>
            </a:pPr>
            <a:r>
              <a:rPr lang="en" sz="1400"/>
              <a:t>Delete data from the database.</a:t>
            </a:r>
            <a:endParaRPr sz="1400"/>
          </a:p>
          <a:p>
            <a:pPr indent="0" lvl="0" marL="457200" rtl="0" algn="l">
              <a:spcBef>
                <a:spcPts val="1000"/>
              </a:spcBef>
              <a:spcAft>
                <a:spcPts val="1000"/>
              </a:spcAft>
              <a:buNone/>
            </a:pPr>
            <a:r>
              <a:t/>
            </a:r>
            <a:endParaRPr/>
          </a:p>
        </p:txBody>
      </p:sp>
      <p:cxnSp>
        <p:nvCxnSpPr>
          <p:cNvPr id="1803" name="Google Shape;1803;p207"/>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1804" name="Google Shape;1804;p207"/>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a:t>
            </a:r>
            <a:r>
              <a:rPr b="1" lang="en" sz="2600">
                <a:solidFill>
                  <a:schemeClr val="accent5"/>
                </a:solidFill>
                <a:latin typeface="Roboto"/>
                <a:ea typeface="Roboto"/>
                <a:cs typeface="Roboto"/>
                <a:sym typeface="Roboto"/>
              </a:rPr>
              <a:t>Scenario</a:t>
            </a:r>
            <a:endParaRPr b="1" sz="2600">
              <a:solidFill>
                <a:schemeClr val="accent5"/>
              </a:solidFill>
              <a:latin typeface="Roboto"/>
              <a:ea typeface="Roboto"/>
              <a:cs typeface="Roboto"/>
              <a:sym typeface="Roboto"/>
            </a:endParaRPr>
          </a:p>
        </p:txBody>
      </p:sp>
      <p:sp>
        <p:nvSpPr>
          <p:cNvPr id="1805" name="Google Shape;1805;p207"/>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07"/>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1807" name="Google Shape;1807;p207"/>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1808" name="Google Shape;1808;p207"/>
          <p:cNvPicPr preferRelativeResize="0"/>
          <p:nvPr/>
        </p:nvPicPr>
        <p:blipFill>
          <a:blip r:embed="rId4">
            <a:alphaModFix/>
          </a:blip>
          <a:stretch>
            <a:fillRect/>
          </a:stretch>
        </p:blipFill>
        <p:spPr>
          <a:xfrm>
            <a:off x="5029199" y="954150"/>
            <a:ext cx="3962399" cy="39623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
        <p:nvSpPr>
          <p:cNvPr id="1813" name="Google Shape;1813;p208"/>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Database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209"/>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25 Minutes</a:t>
            </a:r>
            <a:endParaRPr/>
          </a:p>
        </p:txBody>
      </p:sp>
      <p:sp>
        <p:nvSpPr>
          <p:cNvPr id="1819" name="Google Shape;1819;p20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Database Management</a:t>
            </a:r>
            <a:endParaRPr/>
          </a:p>
        </p:txBody>
      </p:sp>
      <p:sp>
        <p:nvSpPr>
          <p:cNvPr id="1820" name="Google Shape;1820;p209"/>
          <p:cNvSpPr txBox="1"/>
          <p:nvPr>
            <p:ph idx="3" type="body"/>
          </p:nvPr>
        </p:nvSpPr>
        <p:spPr>
          <a:xfrm>
            <a:off x="457200" y="1176975"/>
            <a:ext cx="77724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students will play the role of a junior web engineer for the GoodCorp company and will manage its web application.</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GoodCorp uses Docker Compose and a set of containers to deploy and maintain its employee database website and application.</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They are tasked with locally deploying GoodCorp's employee directory website with Docker Compose. They also need to manage the data inside the employee directory database.</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821" name="Google Shape;1821;p20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5" name="Shape 1825"/>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7" name="Shape 1837"/>
        <p:cNvGrpSpPr/>
        <p:nvPr/>
      </p:nvGrpSpPr>
      <p:grpSpPr>
        <a:xfrm>
          <a:off x="0" y="0"/>
          <a:ext cx="0" cy="0"/>
          <a:chOff x="0" y="0"/>
          <a:chExt cx="0" cy="0"/>
        </a:xfrm>
      </p:grpSpPr>
      <p:sp>
        <p:nvSpPr>
          <p:cNvPr id="1838" name="Google Shape;1838;p213"/>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sz="3800">
                <a:solidFill>
                  <a:schemeClr val="accent5"/>
                </a:solidFill>
                <a:latin typeface="Roboto"/>
                <a:ea typeface="Roboto"/>
                <a:cs typeface="Roboto"/>
                <a:sym typeface="Roboto"/>
              </a:rPr>
              <a:t>Segue in SQL Injections</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839" name="Google Shape;1839;p213"/>
          <p:cNvPicPr preferRelativeResize="0"/>
          <p:nvPr/>
        </p:nvPicPr>
        <p:blipFill>
          <a:blip r:embed="rId3">
            <a:alphaModFix/>
          </a:blip>
          <a:stretch>
            <a:fillRect/>
          </a:stretch>
        </p:blipFill>
        <p:spPr>
          <a:xfrm>
            <a:off x="3940975" y="1650092"/>
            <a:ext cx="1262025" cy="97881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3" name="Shape 1843"/>
        <p:cNvGrpSpPr/>
        <p:nvPr/>
      </p:nvGrpSpPr>
      <p:grpSpPr>
        <a:xfrm>
          <a:off x="0" y="0"/>
          <a:ext cx="0" cy="0"/>
          <a:chOff x="0" y="0"/>
          <a:chExt cx="0" cy="0"/>
        </a:xfrm>
      </p:grpSpPr>
      <p:sp>
        <p:nvSpPr>
          <p:cNvPr id="1844" name="Google Shape;1844;p214"/>
          <p:cNvSpPr txBox="1"/>
          <p:nvPr>
            <p:ph idx="1" type="body"/>
          </p:nvPr>
        </p:nvSpPr>
        <p:spPr>
          <a:xfrm>
            <a:off x="3338325" y="1377600"/>
            <a:ext cx="56313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Let's</a:t>
            </a:r>
            <a:r>
              <a:rPr lang="en"/>
              <a:t> look at some queries that may seem pointless or improperly created but are actually </a:t>
            </a:r>
            <a:r>
              <a:rPr b="1" lang="en"/>
              <a:t>fundamental</a:t>
            </a:r>
            <a:r>
              <a:rPr lang="en"/>
              <a:t> to how SQL injections work.</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215"/>
          <p:cNvSpPr txBox="1"/>
          <p:nvPr>
            <p:ph type="title"/>
          </p:nvPr>
        </p:nvSpPr>
        <p:spPr>
          <a:xfrm>
            <a:off x="914400" y="2987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SQL Injections</a:t>
            </a:r>
            <a:endParaRPr/>
          </a:p>
        </p:txBody>
      </p:sp>
      <p:pic>
        <p:nvPicPr>
          <p:cNvPr id="1850" name="Google Shape;1850;p215"/>
          <p:cNvPicPr preferRelativeResize="0"/>
          <p:nvPr/>
        </p:nvPicPr>
        <p:blipFill>
          <a:blip r:embed="rId3">
            <a:alphaModFix/>
          </a:blip>
          <a:stretch>
            <a:fillRect/>
          </a:stretch>
        </p:blipFill>
        <p:spPr>
          <a:xfrm>
            <a:off x="280434" y="320100"/>
            <a:ext cx="353529" cy="274200"/>
          </a:xfrm>
          <a:prstGeom prst="rect">
            <a:avLst/>
          </a:prstGeom>
          <a:noFill/>
          <a:ln>
            <a:noFill/>
          </a:ln>
        </p:spPr>
      </p:pic>
      <p:sp>
        <p:nvSpPr>
          <p:cNvPr id="1851" name="Google Shape;1851;p215"/>
          <p:cNvSpPr/>
          <p:nvPr/>
        </p:nvSpPr>
        <p:spPr>
          <a:xfrm>
            <a:off x="284450" y="2232750"/>
            <a:ext cx="8402400" cy="9885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Inconsolata"/>
                <a:ea typeface="Inconsolata"/>
                <a:cs typeface="Inconsolata"/>
                <a:sym typeface="Inconsolata"/>
              </a:rPr>
              <a:t>SELECT * FROM employees WHERE 1=1;</a:t>
            </a:r>
            <a:endParaRPr b="1" sz="2400">
              <a:solidFill>
                <a:schemeClr val="lt1"/>
              </a:solidFill>
              <a:latin typeface="Inconsolata"/>
              <a:ea typeface="Inconsolata"/>
              <a:cs typeface="Inconsolata"/>
              <a:sym typeface="Inconsolata"/>
            </a:endParaRPr>
          </a:p>
        </p:txBody>
      </p:sp>
      <p:sp>
        <p:nvSpPr>
          <p:cNvPr id="1852" name="Google Shape;1852;p215"/>
          <p:cNvSpPr txBox="1"/>
          <p:nvPr/>
        </p:nvSpPr>
        <p:spPr>
          <a:xfrm>
            <a:off x="284450" y="1544300"/>
            <a:ext cx="8402400" cy="58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2"/>
                </a:solidFill>
                <a:latin typeface="Roboto"/>
                <a:ea typeface="Roboto"/>
                <a:cs typeface="Roboto"/>
                <a:sym typeface="Roboto"/>
              </a:rPr>
              <a:t>What will happen when this query is run?</a:t>
            </a:r>
            <a:endParaRPr sz="24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216"/>
          <p:cNvSpPr txBox="1"/>
          <p:nvPr>
            <p:ph type="title"/>
          </p:nvPr>
        </p:nvSpPr>
        <p:spPr>
          <a:xfrm>
            <a:off x="914400" y="2987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SQL Injections</a:t>
            </a:r>
            <a:endParaRPr/>
          </a:p>
        </p:txBody>
      </p:sp>
      <p:pic>
        <p:nvPicPr>
          <p:cNvPr id="1858" name="Google Shape;1858;p216"/>
          <p:cNvPicPr preferRelativeResize="0"/>
          <p:nvPr/>
        </p:nvPicPr>
        <p:blipFill>
          <a:blip r:embed="rId3">
            <a:alphaModFix/>
          </a:blip>
          <a:stretch>
            <a:fillRect/>
          </a:stretch>
        </p:blipFill>
        <p:spPr>
          <a:xfrm>
            <a:off x="280434" y="320100"/>
            <a:ext cx="353529" cy="274200"/>
          </a:xfrm>
          <a:prstGeom prst="rect">
            <a:avLst/>
          </a:prstGeom>
          <a:noFill/>
          <a:ln>
            <a:noFill/>
          </a:ln>
        </p:spPr>
      </p:pic>
      <p:sp>
        <p:nvSpPr>
          <p:cNvPr id="1859" name="Google Shape;1859;p216"/>
          <p:cNvSpPr/>
          <p:nvPr/>
        </p:nvSpPr>
        <p:spPr>
          <a:xfrm>
            <a:off x="284450" y="2232750"/>
            <a:ext cx="8402400" cy="9885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Inconsolata"/>
                <a:ea typeface="Inconsolata"/>
                <a:cs typeface="Inconsolata"/>
                <a:sym typeface="Inconsolata"/>
              </a:rPr>
              <a:t>SELECT * FROM employees WHERE </a:t>
            </a:r>
            <a:r>
              <a:rPr b="1" lang="en" sz="2400">
                <a:solidFill>
                  <a:schemeClr val="accent1"/>
                </a:solidFill>
                <a:latin typeface="Inconsolata"/>
                <a:ea typeface="Inconsolata"/>
                <a:cs typeface="Inconsolata"/>
                <a:sym typeface="Inconsolata"/>
              </a:rPr>
              <a:t>1=1</a:t>
            </a:r>
            <a:r>
              <a:rPr b="1" lang="en" sz="2400">
                <a:solidFill>
                  <a:schemeClr val="lt1"/>
                </a:solidFill>
                <a:latin typeface="Inconsolata"/>
                <a:ea typeface="Inconsolata"/>
                <a:cs typeface="Inconsolata"/>
                <a:sym typeface="Inconsolata"/>
              </a:rPr>
              <a:t>;</a:t>
            </a:r>
            <a:endParaRPr b="1" sz="2400">
              <a:solidFill>
                <a:schemeClr val="lt1"/>
              </a:solidFill>
              <a:latin typeface="Inconsolata"/>
              <a:ea typeface="Inconsolata"/>
              <a:cs typeface="Inconsolata"/>
              <a:sym typeface="Inconsolata"/>
            </a:endParaRPr>
          </a:p>
        </p:txBody>
      </p:sp>
      <p:sp>
        <p:nvSpPr>
          <p:cNvPr id="1860" name="Google Shape;1860;p216"/>
          <p:cNvSpPr txBox="1"/>
          <p:nvPr/>
        </p:nvSpPr>
        <p:spPr>
          <a:xfrm>
            <a:off x="284450" y="1544300"/>
            <a:ext cx="8402400" cy="58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861" name="Google Shape;1861;p216"/>
          <p:cNvSpPr txBox="1"/>
          <p:nvPr/>
        </p:nvSpPr>
        <p:spPr>
          <a:xfrm>
            <a:off x="372700" y="3393100"/>
            <a:ext cx="8314200" cy="7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a:t>
            </a:r>
            <a:r>
              <a:rPr b="1" lang="en" sz="1800">
                <a:solidFill>
                  <a:schemeClr val="dk2"/>
                </a:solidFill>
                <a:latin typeface="Inconsolata"/>
                <a:ea typeface="Inconsolata"/>
                <a:cs typeface="Inconsolata"/>
                <a:sym typeface="Inconsolata"/>
              </a:rPr>
              <a:t> 1=1</a:t>
            </a:r>
            <a:r>
              <a:rPr lang="en" sz="1800">
                <a:solidFill>
                  <a:schemeClr val="dk2"/>
                </a:solidFill>
                <a:latin typeface="Roboto"/>
                <a:ea typeface="Roboto"/>
                <a:cs typeface="Roboto"/>
                <a:sym typeface="Roboto"/>
              </a:rPr>
              <a:t> part of the statement will evaluate to true since the number one always equals one, therefore, running the </a:t>
            </a:r>
            <a:r>
              <a:rPr b="1" lang="en" sz="1800">
                <a:solidFill>
                  <a:schemeClr val="dk2"/>
                </a:solidFill>
                <a:latin typeface="Inconsolata"/>
                <a:ea typeface="Inconsolata"/>
                <a:cs typeface="Inconsolata"/>
                <a:sym typeface="Inconsolata"/>
              </a:rPr>
              <a:t>SELECT * FROM</a:t>
            </a:r>
            <a:r>
              <a:rPr lang="en" sz="1800">
                <a:solidFill>
                  <a:schemeClr val="dk2"/>
                </a:solidFill>
                <a:latin typeface="Roboto"/>
                <a:ea typeface="Roboto"/>
                <a:cs typeface="Roboto"/>
                <a:sym typeface="Roboto"/>
              </a:rPr>
              <a:t> employees statement.</a:t>
            </a:r>
            <a:endParaRPr sz="1800">
              <a:solidFill>
                <a:schemeClr val="dk2"/>
              </a:solidFill>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217"/>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0" lang="en" sz="3100">
                <a:latin typeface="Roboto"/>
                <a:ea typeface="Roboto"/>
                <a:cs typeface="Roboto"/>
                <a:sym typeface="Roboto"/>
              </a:rPr>
              <a:t>Segue in SQL Injections </a:t>
            </a:r>
            <a:endParaRPr b="0" sz="3100">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0" name="Shape 1870"/>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219"/>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sz="3800">
                <a:solidFill>
                  <a:schemeClr val="accent5"/>
                </a:solidFill>
                <a:latin typeface="Roboto"/>
                <a:ea typeface="Roboto"/>
                <a:cs typeface="Roboto"/>
                <a:sym typeface="Roboto"/>
              </a:rPr>
              <a:t>Using AI to Create a Web Application</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876" name="Google Shape;1876;p219"/>
          <p:cNvPicPr preferRelativeResize="0"/>
          <p:nvPr/>
        </p:nvPicPr>
        <p:blipFill>
          <a:blip r:embed="rId3">
            <a:alphaModFix/>
          </a:blip>
          <a:stretch>
            <a:fillRect/>
          </a:stretch>
        </p:blipFill>
        <p:spPr>
          <a:xfrm>
            <a:off x="3408625" y="716225"/>
            <a:ext cx="2534973" cy="2534973"/>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0" name="Shape 1880"/>
        <p:cNvGrpSpPr/>
        <p:nvPr/>
      </p:nvGrpSpPr>
      <p:grpSpPr>
        <a:xfrm>
          <a:off x="0" y="0"/>
          <a:ext cx="0" cy="0"/>
          <a:chOff x="0" y="0"/>
          <a:chExt cx="0" cy="0"/>
        </a:xfrm>
      </p:grpSpPr>
      <p:sp>
        <p:nvSpPr>
          <p:cNvPr id="1881" name="Google Shape;1881;p220"/>
          <p:cNvSpPr txBox="1"/>
          <p:nvPr>
            <p:ph idx="1" type="body"/>
          </p:nvPr>
        </p:nvSpPr>
        <p:spPr>
          <a:xfrm>
            <a:off x="3497200" y="1377600"/>
            <a:ext cx="51894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a:t>
            </a:r>
            <a:r>
              <a:rPr lang="en"/>
              <a:t>e will now use </a:t>
            </a:r>
            <a:r>
              <a:rPr b="1" lang="en"/>
              <a:t>GitHub Copilot</a:t>
            </a:r>
            <a:r>
              <a:rPr lang="en"/>
              <a:t>, an AI application, to craft our own web application.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5" name="Shape 1885"/>
        <p:cNvGrpSpPr/>
        <p:nvPr/>
      </p:nvGrpSpPr>
      <p:grpSpPr>
        <a:xfrm>
          <a:off x="0" y="0"/>
          <a:ext cx="0" cy="0"/>
          <a:chOff x="0" y="0"/>
          <a:chExt cx="0" cy="0"/>
        </a:xfrm>
      </p:grpSpPr>
      <p:sp>
        <p:nvSpPr>
          <p:cNvPr id="1886" name="Google Shape;1886;p221"/>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Using AI to Create a Web Application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87" name="Google Shape;1887;p221"/>
          <p:cNvSpPr txBox="1"/>
          <p:nvPr>
            <p:ph idx="2" type="title"/>
          </p:nvPr>
        </p:nvSpPr>
        <p:spPr>
          <a:xfrm>
            <a:off x="70200" y="515275"/>
            <a:ext cx="9168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Setting up GitHub Copilot involves a few steps to get everything running.</a:t>
            </a:r>
            <a:endParaRPr sz="1800"/>
          </a:p>
        </p:txBody>
      </p:sp>
      <p:sp>
        <p:nvSpPr>
          <p:cNvPr id="1888" name="Google Shape;1888;p221"/>
          <p:cNvSpPr txBox="1"/>
          <p:nvPr/>
        </p:nvSpPr>
        <p:spPr>
          <a:xfrm>
            <a:off x="907625" y="1371600"/>
            <a:ext cx="16416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Prerequisites</a:t>
            </a:r>
            <a:endParaRPr b="1">
              <a:solidFill>
                <a:srgbClr val="FFFFFF"/>
              </a:solidFill>
              <a:latin typeface="Roboto"/>
              <a:ea typeface="Roboto"/>
              <a:cs typeface="Roboto"/>
              <a:sym typeface="Roboto"/>
            </a:endParaRPr>
          </a:p>
        </p:txBody>
      </p:sp>
      <p:sp>
        <p:nvSpPr>
          <p:cNvPr id="1889" name="Google Shape;1889;p221"/>
          <p:cNvSpPr txBox="1"/>
          <p:nvPr/>
        </p:nvSpPr>
        <p:spPr>
          <a:xfrm>
            <a:off x="565300" y="2069175"/>
            <a:ext cx="2257200" cy="2206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Github Account</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Visual Studio Code</a:t>
            </a:r>
            <a:endParaRPr sz="1800">
              <a:solidFill>
                <a:schemeClr val="dk2"/>
              </a:solidFill>
              <a:latin typeface="Roboto"/>
              <a:ea typeface="Roboto"/>
              <a:cs typeface="Roboto"/>
              <a:sym typeface="Roboto"/>
            </a:endParaRPr>
          </a:p>
        </p:txBody>
      </p:sp>
      <p:sp>
        <p:nvSpPr>
          <p:cNvPr id="1890" name="Google Shape;1890;p221"/>
          <p:cNvSpPr txBox="1"/>
          <p:nvPr/>
        </p:nvSpPr>
        <p:spPr>
          <a:xfrm>
            <a:off x="3492975" y="2069175"/>
            <a:ext cx="2257200" cy="2206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Open VS Code</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Extension Marketplace</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Search for GitHub CoPilot</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Install Extension</a:t>
            </a:r>
            <a:endParaRPr sz="1800">
              <a:solidFill>
                <a:schemeClr val="dk2"/>
              </a:solidFill>
              <a:latin typeface="Roboto"/>
              <a:ea typeface="Roboto"/>
              <a:cs typeface="Roboto"/>
              <a:sym typeface="Roboto"/>
            </a:endParaRPr>
          </a:p>
        </p:txBody>
      </p:sp>
      <p:sp>
        <p:nvSpPr>
          <p:cNvPr id="1891" name="Google Shape;1891;p221"/>
          <p:cNvSpPr txBox="1"/>
          <p:nvPr/>
        </p:nvSpPr>
        <p:spPr>
          <a:xfrm>
            <a:off x="6420650" y="2069175"/>
            <a:ext cx="2257200" cy="2206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Activate Extension</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Authentication</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CoPilot </a:t>
            </a:r>
            <a:r>
              <a:rPr lang="en" sz="1800">
                <a:solidFill>
                  <a:schemeClr val="dk2"/>
                </a:solidFill>
                <a:latin typeface="Roboto"/>
                <a:ea typeface="Roboto"/>
                <a:cs typeface="Roboto"/>
                <a:sym typeface="Roboto"/>
              </a:rPr>
              <a:t>Sign Up</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Allow Public Code</a:t>
            </a:r>
            <a:endParaRPr sz="1800">
              <a:solidFill>
                <a:schemeClr val="dk2"/>
              </a:solidFill>
              <a:latin typeface="Roboto"/>
              <a:ea typeface="Roboto"/>
              <a:cs typeface="Roboto"/>
              <a:sym typeface="Roboto"/>
            </a:endParaRPr>
          </a:p>
        </p:txBody>
      </p:sp>
      <p:sp>
        <p:nvSpPr>
          <p:cNvPr id="1892" name="Google Shape;1892;p221"/>
          <p:cNvSpPr txBox="1"/>
          <p:nvPr/>
        </p:nvSpPr>
        <p:spPr>
          <a:xfrm>
            <a:off x="3468800" y="1371600"/>
            <a:ext cx="2257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GitHub Copilot Extension</a:t>
            </a:r>
            <a:endParaRPr b="1">
              <a:solidFill>
                <a:srgbClr val="FFFFFF"/>
              </a:solidFill>
              <a:latin typeface="Roboto"/>
              <a:ea typeface="Roboto"/>
              <a:cs typeface="Roboto"/>
              <a:sym typeface="Roboto"/>
            </a:endParaRPr>
          </a:p>
        </p:txBody>
      </p:sp>
      <p:sp>
        <p:nvSpPr>
          <p:cNvPr id="1893" name="Google Shape;1893;p221"/>
          <p:cNvSpPr txBox="1"/>
          <p:nvPr/>
        </p:nvSpPr>
        <p:spPr>
          <a:xfrm>
            <a:off x="6759775" y="1371600"/>
            <a:ext cx="16416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Sign In to GitHub</a:t>
            </a:r>
            <a:endParaRPr b="1">
              <a:solidFill>
                <a:srgbClr val="FFFFFF"/>
              </a:solidFill>
              <a:latin typeface="Roboto"/>
              <a:ea typeface="Roboto"/>
              <a:cs typeface="Roboto"/>
              <a:sym typeface="Roboto"/>
            </a:endParaRPr>
          </a:p>
          <a:p>
            <a:pPr indent="0" lvl="0" marL="0" rtl="0" algn="l">
              <a:spcBef>
                <a:spcPts val="0"/>
              </a:spcBef>
              <a:spcAft>
                <a:spcPts val="0"/>
              </a:spcAft>
              <a:buNone/>
            </a:pPr>
            <a:r>
              <a:t/>
            </a:r>
            <a:endParaRPr b="1" sz="1800">
              <a:solidFill>
                <a:srgbClr val="FFFFFF"/>
              </a:solidFill>
              <a:latin typeface="Roboto"/>
              <a:ea typeface="Roboto"/>
              <a:cs typeface="Roboto"/>
              <a:sym typeface="Roboto"/>
            </a:endParaRPr>
          </a:p>
          <a:p>
            <a:pPr indent="0" lvl="0" marL="0" rtl="0" algn="l">
              <a:spcBef>
                <a:spcPts val="0"/>
              </a:spcBef>
              <a:spcAft>
                <a:spcPts val="0"/>
              </a:spcAft>
              <a:buNone/>
            </a:pPr>
            <a:r>
              <a:t/>
            </a:r>
            <a:endParaRPr b="1" sz="1800">
              <a:solidFill>
                <a:srgbClr val="FFFFFF"/>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7" name="Shape 1897"/>
        <p:cNvGrpSpPr/>
        <p:nvPr/>
      </p:nvGrpSpPr>
      <p:grpSpPr>
        <a:xfrm>
          <a:off x="0" y="0"/>
          <a:ext cx="0" cy="0"/>
          <a:chOff x="0" y="0"/>
          <a:chExt cx="0" cy="0"/>
        </a:xfrm>
      </p:grpSpPr>
      <p:sp>
        <p:nvSpPr>
          <p:cNvPr id="1898" name="Google Shape;1898;p222"/>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0" lang="en" sz="3100">
                <a:latin typeface="Roboto"/>
                <a:ea typeface="Roboto"/>
                <a:cs typeface="Roboto"/>
                <a:sym typeface="Roboto"/>
              </a:rPr>
              <a:t>Using GitHub Copilot</a:t>
            </a:r>
            <a:endParaRPr b="0" sz="3100">
              <a:latin typeface="Roboto"/>
              <a:ea typeface="Roboto"/>
              <a:cs typeface="Roboto"/>
              <a:sym typeface="Roboto"/>
            </a:endParaRPr>
          </a:p>
          <a:p>
            <a:pPr indent="0" lvl="0" marL="0" rtl="0" algn="l">
              <a:spcBef>
                <a:spcPts val="0"/>
              </a:spcBef>
              <a:spcAft>
                <a:spcPts val="0"/>
              </a:spcAft>
              <a:buNone/>
            </a:pPr>
            <a:r>
              <a:t/>
            </a:r>
            <a:endParaRPr b="0" sz="3100">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sp>
        <p:nvSpPr>
          <p:cNvPr id="1903" name="Google Shape;1903;p223"/>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25 Minutes</a:t>
            </a:r>
            <a:endParaRPr/>
          </a:p>
        </p:txBody>
      </p:sp>
      <p:sp>
        <p:nvSpPr>
          <p:cNvPr id="1904" name="Google Shape;1904;p223"/>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Creating a Website with Copilot </a:t>
            </a:r>
            <a:endParaRPr/>
          </a:p>
        </p:txBody>
      </p:sp>
      <p:sp>
        <p:nvSpPr>
          <p:cNvPr id="1905" name="Google Shape;1905;p223"/>
          <p:cNvSpPr txBox="1"/>
          <p:nvPr>
            <p:ph idx="3" type="body"/>
          </p:nvPr>
        </p:nvSpPr>
        <p:spPr>
          <a:xfrm>
            <a:off x="457200" y="1176975"/>
            <a:ext cx="74967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students will continue to play the role of a junior web engineer for the GoodCorp company and will create a basic website.</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GoodCorp wants a basic front end that will have an HTML page, CSS styling, and a javascript file.</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906" name="Google Shape;1906;p223"/>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0" name="Shape 1910"/>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22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20" name="Google Shape;1920;p226"/>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1921" name="Google Shape;1921;p226"/>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1922" name="Google Shape;1922;p226"/>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1923" name="Google Shape;1923;p226"/>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Today’s Lesson Covered:</a:t>
            </a:r>
            <a:endParaRPr/>
          </a:p>
        </p:txBody>
      </p:sp>
      <p:sp>
        <p:nvSpPr>
          <p:cNvPr id="1924" name="Google Shape;1924;p226"/>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226"/>
          <p:cNvSpPr/>
          <p:nvPr/>
        </p:nvSpPr>
        <p:spPr>
          <a:xfrm>
            <a:off x="1287175" y="342857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226"/>
          <p:cNvSpPr/>
          <p:nvPr/>
        </p:nvSpPr>
        <p:spPr>
          <a:xfrm>
            <a:off x="1287175" y="27469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226"/>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8" name="Google Shape;1928;p226"/>
          <p:cNvGrpSpPr/>
          <p:nvPr/>
        </p:nvGrpSpPr>
        <p:grpSpPr>
          <a:xfrm>
            <a:off x="457200" y="1371604"/>
            <a:ext cx="776900" cy="459019"/>
            <a:chOff x="457200" y="1466425"/>
            <a:chExt cx="776900" cy="486300"/>
          </a:xfrm>
        </p:grpSpPr>
        <p:sp>
          <p:nvSpPr>
            <p:cNvPr id="1929" name="Google Shape;1929;p226"/>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930" name="Google Shape;1930;p226"/>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931" name="Google Shape;1931;p226"/>
          <p:cNvGrpSpPr/>
          <p:nvPr/>
        </p:nvGrpSpPr>
        <p:grpSpPr>
          <a:xfrm>
            <a:off x="457200" y="2026480"/>
            <a:ext cx="776900" cy="486300"/>
            <a:chOff x="457200" y="1466425"/>
            <a:chExt cx="776900" cy="486300"/>
          </a:xfrm>
        </p:grpSpPr>
        <p:sp>
          <p:nvSpPr>
            <p:cNvPr id="1932" name="Google Shape;1932;p226"/>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933" name="Google Shape;1933;p226"/>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934" name="Google Shape;1934;p226"/>
          <p:cNvGrpSpPr/>
          <p:nvPr/>
        </p:nvGrpSpPr>
        <p:grpSpPr>
          <a:xfrm>
            <a:off x="457200" y="2743336"/>
            <a:ext cx="776900" cy="437378"/>
            <a:chOff x="457200" y="1466425"/>
            <a:chExt cx="776900" cy="486300"/>
          </a:xfrm>
        </p:grpSpPr>
        <p:sp>
          <p:nvSpPr>
            <p:cNvPr id="1935" name="Google Shape;1935;p226"/>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1936" name="Google Shape;1936;p226"/>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937" name="Google Shape;1937;p226"/>
          <p:cNvGrpSpPr/>
          <p:nvPr/>
        </p:nvGrpSpPr>
        <p:grpSpPr>
          <a:xfrm>
            <a:off x="457200" y="3426804"/>
            <a:ext cx="776900" cy="459019"/>
            <a:chOff x="457200" y="1466425"/>
            <a:chExt cx="776900" cy="486300"/>
          </a:xfrm>
        </p:grpSpPr>
        <p:sp>
          <p:nvSpPr>
            <p:cNvPr id="1938" name="Google Shape;1938;p226"/>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1939" name="Google Shape;1939;p226"/>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940" name="Google Shape;1940;p226"/>
          <p:cNvSpPr txBox="1"/>
          <p:nvPr/>
        </p:nvSpPr>
        <p:spPr>
          <a:xfrm>
            <a:off x="12872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Microservices</a:t>
            </a:r>
            <a:endParaRPr sz="1800">
              <a:solidFill>
                <a:srgbClr val="082D49"/>
              </a:solidFill>
              <a:latin typeface="Roboto"/>
              <a:ea typeface="Roboto"/>
              <a:cs typeface="Roboto"/>
              <a:sym typeface="Roboto"/>
            </a:endParaRPr>
          </a:p>
        </p:txBody>
      </p:sp>
      <p:sp>
        <p:nvSpPr>
          <p:cNvPr id="1941" name="Google Shape;1941;p226"/>
          <p:cNvSpPr txBox="1"/>
          <p:nvPr/>
        </p:nvSpPr>
        <p:spPr>
          <a:xfrm>
            <a:off x="1287250" y="20681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Stacks</a:t>
            </a:r>
            <a:endParaRPr sz="1800">
              <a:solidFill>
                <a:srgbClr val="082D49"/>
              </a:solidFill>
              <a:latin typeface="Roboto"/>
              <a:ea typeface="Roboto"/>
              <a:cs typeface="Roboto"/>
              <a:sym typeface="Roboto"/>
            </a:endParaRPr>
          </a:p>
        </p:txBody>
      </p:sp>
      <p:sp>
        <p:nvSpPr>
          <p:cNvPr id="1942" name="Google Shape;1942;p226"/>
          <p:cNvSpPr txBox="1"/>
          <p:nvPr/>
        </p:nvSpPr>
        <p:spPr>
          <a:xfrm>
            <a:off x="1287250" y="2751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Database management with websites</a:t>
            </a:r>
            <a:endParaRPr sz="1800">
              <a:solidFill>
                <a:srgbClr val="082D49"/>
              </a:solidFill>
              <a:latin typeface="Roboto"/>
              <a:ea typeface="Roboto"/>
              <a:cs typeface="Roboto"/>
              <a:sym typeface="Roboto"/>
            </a:endParaRPr>
          </a:p>
        </p:txBody>
      </p:sp>
      <p:sp>
        <p:nvSpPr>
          <p:cNvPr id="1943" name="Google Shape;1943;p226"/>
          <p:cNvSpPr txBox="1"/>
          <p:nvPr/>
        </p:nvSpPr>
        <p:spPr>
          <a:xfrm>
            <a:off x="1287250" y="34336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50">
                <a:solidFill>
                  <a:srgbClr val="082D49"/>
                </a:solidFill>
                <a:latin typeface="Roboto"/>
                <a:ea typeface="Roboto"/>
                <a:cs typeface="Roboto"/>
                <a:sym typeface="Roboto"/>
              </a:rPr>
              <a:t>Developing a front-end website using Github CoPilot</a:t>
            </a:r>
            <a:endParaRPr sz="1850">
              <a:solidFill>
                <a:srgbClr val="082D49"/>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227"/>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Introduction to Web Vulnerabilities and Hardening</a:t>
            </a:r>
            <a:endParaRPr b="1" baseline="-25000" sz="22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