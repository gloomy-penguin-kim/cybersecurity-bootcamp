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y="5143500" cx="9144000"/>
  <p:notesSz cx="6858000" cy="9144000"/>
  <p:embeddedFontLst>
    <p:embeddedFont>
      <p:font typeface="Roboto"/>
      <p:regular r:id="rId88"/>
      <p:bold r:id="rId89"/>
      <p:italic r:id="rId90"/>
      <p:boldItalic r:id="rId91"/>
    </p:embeddedFont>
    <p:embeddedFont>
      <p:font typeface="Roboto Medium"/>
      <p:regular r:id="rId92"/>
      <p:bold r:id="rId93"/>
      <p:italic r:id="rId94"/>
      <p:boldItalic r:id="rId95"/>
    </p:embeddedFont>
    <p:embeddedFont>
      <p:font typeface="Roboto Light"/>
      <p:regular r:id="rId96"/>
      <p:bold r:id="rId97"/>
      <p:italic r:id="rId98"/>
      <p:boldItalic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6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5ABBAB-A8E2-4C23-A3CE-279611B39798}">
  <a:tblStyle styleId="{2F5ABBAB-A8E2-4C23-A3CE-279611B3979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6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RobotoMedium-boldItalic.fntdata"/><Relationship Id="rId94" Type="http://schemas.openxmlformats.org/officeDocument/2006/relationships/font" Target="fonts/RobotoMedium-italic.fntdata"/><Relationship Id="rId97" Type="http://schemas.openxmlformats.org/officeDocument/2006/relationships/font" Target="fonts/RobotoLight-bold.fntdata"/><Relationship Id="rId96" Type="http://schemas.openxmlformats.org/officeDocument/2006/relationships/font" Target="fonts/RobotoLight-regular.fntdata"/><Relationship Id="rId11" Type="http://schemas.openxmlformats.org/officeDocument/2006/relationships/slide" Target="slides/slide5.xml"/><Relationship Id="rId99" Type="http://schemas.openxmlformats.org/officeDocument/2006/relationships/font" Target="fonts/RobotoLight-boldItalic.fntdata"/><Relationship Id="rId10" Type="http://schemas.openxmlformats.org/officeDocument/2006/relationships/slide" Target="slides/slide4.xml"/><Relationship Id="rId98" Type="http://schemas.openxmlformats.org/officeDocument/2006/relationships/font" Target="fonts/RobotoLight-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Roboto-boldItalic.fntdata"/><Relationship Id="rId90" Type="http://schemas.openxmlformats.org/officeDocument/2006/relationships/font" Target="fonts/Roboto-italic.fntdata"/><Relationship Id="rId93" Type="http://schemas.openxmlformats.org/officeDocument/2006/relationships/font" Target="fonts/RobotoMedium-bold.fntdata"/><Relationship Id="rId92" Type="http://schemas.openxmlformats.org/officeDocument/2006/relationships/font" Target="fonts/RobotoMedium-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font" Target="fonts/Roboto-regular.fntdata"/><Relationship Id="rId87" Type="http://schemas.openxmlformats.org/officeDocument/2006/relationships/slide" Target="slides/slide81.xml"/><Relationship Id="rId89" Type="http://schemas.openxmlformats.org/officeDocument/2006/relationships/font" Target="fonts/Roboto-bold.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480f0dd0a7_0_1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480f0dd0a7_0_1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7eb9f34e10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7eb9f34e10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529ced8eb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529ced8eb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6c1a1e6c7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6c1a1e6c7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i="1" sz="1000">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fd0c650051_1_10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fd0c650051_1_10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2eaf31c8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2eaf31c8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fd0c650051_1_1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fd0c650051_1_1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fd0c650051_1_1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fd0c650051_1_1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936b9e68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936b9e68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shutterstock_1277720416</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7eb9f34e10_0_1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7eb9f34e10_0_1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2743e72cff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2743e72cff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fd0c650051_1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fd0c650051_1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fd0c650051_1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fd0c650051_1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fd0c650051_1_1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fd0c650051_1_1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fd0c650051_1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fd0c650051_1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rgbClr val="24292E"/>
                </a:solidFill>
                <a:latin typeface="Roboto"/>
                <a:ea typeface="Roboto"/>
                <a:cs typeface="Roboto"/>
                <a:sym typeface="Roboto"/>
              </a:rPr>
              <a:t>Network Security</a:t>
            </a:r>
            <a:r>
              <a:rPr lang="en" sz="1200">
                <a:solidFill>
                  <a:srgbClr val="24292E"/>
                </a:solidFill>
                <a:latin typeface="Roboto"/>
                <a:ea typeface="Roboto"/>
                <a:cs typeface="Roboto"/>
                <a:sym typeface="Roboto"/>
              </a:rPr>
              <a:t>: secures networks and implements network security policies. This group also manages services like the corporate VPN, etc.</a:t>
            </a:r>
            <a:endParaRPr sz="1200">
              <a:solidFill>
                <a:srgbClr val="24292E"/>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24292E"/>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oboto"/>
                <a:ea typeface="Roboto"/>
                <a:cs typeface="Roboto"/>
                <a:sym typeface="Roboto"/>
              </a:rPr>
              <a:t>Incident Response: </a:t>
            </a:r>
            <a:r>
              <a:rPr lang="en" sz="1200">
                <a:solidFill>
                  <a:srgbClr val="24292E"/>
                </a:solidFill>
                <a:latin typeface="Roboto"/>
                <a:ea typeface="Roboto"/>
                <a:cs typeface="Roboto"/>
                <a:sym typeface="Roboto"/>
              </a:rPr>
              <a:t>identifies and responds  to security breaches. IR is responsible for SOCs, which monitor the organization's devices for incidents. They are also responsible for escalating serious breaches to the executive team for handling.</a:t>
            </a:r>
            <a:endParaRPr sz="1200">
              <a:solidFill>
                <a:srgbClr val="24292E"/>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24292E"/>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oboto"/>
                <a:ea typeface="Roboto"/>
                <a:cs typeface="Roboto"/>
                <a:sym typeface="Roboto"/>
              </a:rPr>
              <a:t>Application Security: </a:t>
            </a:r>
            <a:r>
              <a:rPr lang="en" sz="1200">
                <a:solidFill>
                  <a:srgbClr val="24292E"/>
                </a:solidFill>
                <a:latin typeface="Roboto"/>
                <a:ea typeface="Roboto"/>
                <a:cs typeface="Roboto"/>
                <a:sym typeface="Roboto"/>
              </a:rPr>
              <a:t>ensures any software or web applications developed in-house is secure. This prevents such disasters as insecure internal messaging apps that leak confidential information, etc.</a:t>
            </a:r>
            <a:endParaRPr sz="1200">
              <a:solidFill>
                <a:srgbClr val="24292E"/>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fd0c650051_1_1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fd0c650051_1_1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shutterstock_668743333</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fd0c650051_1_1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fd0c650051_1_1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fd0c650051_1_2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fd0c650051_1_2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shutterstock_1962539884</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fd0c650051_1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fd0c650051_1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fd0c650051_1_2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fd0c650051_1_2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AdobeStock_170808579</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fd0c650051_1_2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fd0c650051_1_2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AdobeStock_170808579</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fd0c650051_1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fd0c650051_1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shutterstock_121176169</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fd0c650051_1_2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fd0c650051_1_2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fd0c650051_1_2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fd0c650051_1_2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shutterstock_200540864</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fd0c650051_1_2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fd0c650051_1_2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fd0c650051_1_2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fd0c650051_1_2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6c47af0752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6c47af0752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00">
                <a:latin typeface="Roboto"/>
                <a:ea typeface="Roboto"/>
                <a:cs typeface="Roboto"/>
                <a:sym typeface="Roboto"/>
              </a:rPr>
              <a:t>Image source: shutterstock_741647569</a:t>
            </a:r>
            <a:endParaRPr i="1" sz="1000">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27eb9f34e10_0_2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27eb9f34e10_0_2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4d29846fc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4d29846fc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100e1d9fb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100e1d9fb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56e4c05a3e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56e4c05a3e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56fe052362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56fe052362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i="1" sz="1000">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fd0c650051_1_1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fd0c650051_1_1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fd0c650051_1_1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fd0c650051_1_1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fd0c650051_1_1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fd0c650051_1_1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fd0c650051_1_1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fd0c650051_1_1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27eb9f34e10_0_2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27eb9f34e10_0_2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56fe052362_0_1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56fe052362_0_1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300"/>
              </a:spcBef>
              <a:spcAft>
                <a:spcPts val="0"/>
              </a:spcAft>
              <a:buClr>
                <a:srgbClr val="24292E"/>
              </a:buClr>
              <a:buSzPts val="1200"/>
              <a:buChar char="●"/>
            </a:pPr>
            <a:r>
              <a:rPr lang="en" sz="1200">
                <a:solidFill>
                  <a:srgbClr val="24292E"/>
                </a:solidFill>
              </a:rPr>
              <a:t>Suppose that 9% of employees download the malicious files. Based on these findings, set a goal that only 5% of employees download malicious files by the start of the next fiscal year.</a:t>
            </a:r>
            <a:endParaRPr sz="1200">
              <a:solidFill>
                <a:srgbClr val="24292E"/>
              </a:solidFill>
            </a:endParaRPr>
          </a:p>
          <a:p>
            <a:pPr indent="0" lvl="0" marL="457200" rtl="0" algn="l">
              <a:lnSpc>
                <a:spcPct val="115000"/>
              </a:lnSpc>
              <a:spcBef>
                <a:spcPts val="300"/>
              </a:spcBef>
              <a:spcAft>
                <a:spcPts val="0"/>
              </a:spcAft>
              <a:buNone/>
            </a:pPr>
            <a:r>
              <a:t/>
            </a:r>
            <a:endParaRPr sz="1200">
              <a:solidFill>
                <a:srgbClr val="24292E"/>
              </a:solidFill>
            </a:endParaRPr>
          </a:p>
          <a:p>
            <a:pPr indent="-304800" lvl="0" marL="457200" rtl="0" algn="l">
              <a:lnSpc>
                <a:spcPct val="115000"/>
              </a:lnSpc>
              <a:spcBef>
                <a:spcPts val="300"/>
              </a:spcBef>
              <a:spcAft>
                <a:spcPts val="0"/>
              </a:spcAft>
              <a:buClr>
                <a:srgbClr val="24292E"/>
              </a:buClr>
              <a:buSzPts val="1200"/>
              <a:buChar char="●"/>
            </a:pPr>
            <a:r>
              <a:rPr lang="en" sz="1200">
                <a:solidFill>
                  <a:srgbClr val="24292E"/>
                </a:solidFill>
              </a:rPr>
              <a:t>In addition to this end goal, aim to train 25% of employees every quarter, until you've trained everyone by the end of the year.</a:t>
            </a:r>
            <a:endParaRPr sz="1200">
              <a:solidFill>
                <a:srgbClr val="24292E"/>
              </a:solidFill>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27eb9f34e10_0_2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27eb9f34e10_0_2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300"/>
              </a:spcBef>
              <a:spcAft>
                <a:spcPts val="0"/>
              </a:spcAft>
              <a:buClr>
                <a:srgbClr val="24292E"/>
              </a:buClr>
              <a:buSzPts val="1200"/>
              <a:buChar char="●"/>
            </a:pPr>
            <a:r>
              <a:rPr lang="en" sz="1200">
                <a:solidFill>
                  <a:srgbClr val="24292E"/>
                </a:solidFill>
              </a:rPr>
              <a:t>Suppose that 9% of employees download the malicious files. Based on these findings, set a goal that only 5% of employees download malicious files by the start of the next fiscal year.</a:t>
            </a:r>
            <a:endParaRPr sz="1200">
              <a:solidFill>
                <a:srgbClr val="24292E"/>
              </a:solidFill>
            </a:endParaRPr>
          </a:p>
          <a:p>
            <a:pPr indent="0" lvl="0" marL="457200" rtl="0" algn="l">
              <a:lnSpc>
                <a:spcPct val="115000"/>
              </a:lnSpc>
              <a:spcBef>
                <a:spcPts val="300"/>
              </a:spcBef>
              <a:spcAft>
                <a:spcPts val="0"/>
              </a:spcAft>
              <a:buNone/>
            </a:pPr>
            <a:r>
              <a:t/>
            </a:r>
            <a:endParaRPr sz="1200">
              <a:solidFill>
                <a:srgbClr val="24292E"/>
              </a:solidFill>
            </a:endParaRPr>
          </a:p>
          <a:p>
            <a:pPr indent="-304800" lvl="0" marL="457200" rtl="0" algn="l">
              <a:lnSpc>
                <a:spcPct val="115000"/>
              </a:lnSpc>
              <a:spcBef>
                <a:spcPts val="300"/>
              </a:spcBef>
              <a:spcAft>
                <a:spcPts val="0"/>
              </a:spcAft>
              <a:buClr>
                <a:srgbClr val="24292E"/>
              </a:buClr>
              <a:buSzPts val="1200"/>
              <a:buChar char="●"/>
            </a:pPr>
            <a:r>
              <a:rPr lang="en" sz="1200">
                <a:solidFill>
                  <a:srgbClr val="24292E"/>
                </a:solidFill>
              </a:rPr>
              <a:t>In addition to this end goal, aim to train 25% of employees every quarter, until you've trained everyone by the end of the year.</a:t>
            </a:r>
            <a:endParaRPr sz="1200">
              <a:solidFill>
                <a:srgbClr val="24292E"/>
              </a:solidFill>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27eb9f34e10_0_2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27eb9f34e10_0_2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300"/>
              </a:spcBef>
              <a:spcAft>
                <a:spcPts val="0"/>
              </a:spcAft>
              <a:buClr>
                <a:srgbClr val="24292E"/>
              </a:buClr>
              <a:buSzPts val="1200"/>
              <a:buChar char="●"/>
            </a:pPr>
            <a:r>
              <a:rPr lang="en" sz="1200">
                <a:solidFill>
                  <a:srgbClr val="24292E"/>
                </a:solidFill>
              </a:rPr>
              <a:t>Suppose that 9% of employees download the malicious files. Based on these findings, set a goal that only 5% of employees download malicious files by the start of the next fiscal year.</a:t>
            </a:r>
            <a:endParaRPr sz="1200">
              <a:solidFill>
                <a:srgbClr val="24292E"/>
              </a:solidFill>
            </a:endParaRPr>
          </a:p>
          <a:p>
            <a:pPr indent="0" lvl="0" marL="457200" rtl="0" algn="l">
              <a:lnSpc>
                <a:spcPct val="115000"/>
              </a:lnSpc>
              <a:spcBef>
                <a:spcPts val="300"/>
              </a:spcBef>
              <a:spcAft>
                <a:spcPts val="0"/>
              </a:spcAft>
              <a:buNone/>
            </a:pPr>
            <a:r>
              <a:t/>
            </a:r>
            <a:endParaRPr sz="1200">
              <a:solidFill>
                <a:srgbClr val="24292E"/>
              </a:solidFill>
            </a:endParaRPr>
          </a:p>
          <a:p>
            <a:pPr indent="-304800" lvl="0" marL="457200" rtl="0" algn="l">
              <a:lnSpc>
                <a:spcPct val="115000"/>
              </a:lnSpc>
              <a:spcBef>
                <a:spcPts val="300"/>
              </a:spcBef>
              <a:spcAft>
                <a:spcPts val="0"/>
              </a:spcAft>
              <a:buClr>
                <a:srgbClr val="24292E"/>
              </a:buClr>
              <a:buSzPts val="1200"/>
              <a:buChar char="●"/>
            </a:pPr>
            <a:r>
              <a:rPr lang="en" sz="1200">
                <a:solidFill>
                  <a:srgbClr val="24292E"/>
                </a:solidFill>
              </a:rPr>
              <a:t>In addition to this end goal, aim to train 25% of employees every quarter, until you've trained everyone by the end of the year.</a:t>
            </a:r>
            <a:endParaRPr sz="1200">
              <a:solidFill>
                <a:srgbClr val="24292E"/>
              </a:solidFill>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27eb9f34e10_0_2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27eb9f34e10_0_2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300"/>
              </a:spcBef>
              <a:spcAft>
                <a:spcPts val="0"/>
              </a:spcAft>
              <a:buClr>
                <a:srgbClr val="24292E"/>
              </a:buClr>
              <a:buSzPts val="1200"/>
              <a:buChar char="●"/>
            </a:pPr>
            <a:r>
              <a:rPr lang="en" sz="1200">
                <a:solidFill>
                  <a:srgbClr val="24292E"/>
                </a:solidFill>
              </a:rPr>
              <a:t>Suppose that 9% of employees download the malicious files. Based on these findings, set a goal that only 5% of employees download malicious files by the start of the next fiscal year.</a:t>
            </a:r>
            <a:endParaRPr sz="1200">
              <a:solidFill>
                <a:srgbClr val="24292E"/>
              </a:solidFill>
            </a:endParaRPr>
          </a:p>
          <a:p>
            <a:pPr indent="0" lvl="0" marL="457200" rtl="0" algn="l">
              <a:lnSpc>
                <a:spcPct val="115000"/>
              </a:lnSpc>
              <a:spcBef>
                <a:spcPts val="300"/>
              </a:spcBef>
              <a:spcAft>
                <a:spcPts val="0"/>
              </a:spcAft>
              <a:buNone/>
            </a:pPr>
            <a:r>
              <a:t/>
            </a:r>
            <a:endParaRPr sz="1200">
              <a:solidFill>
                <a:srgbClr val="24292E"/>
              </a:solidFill>
            </a:endParaRPr>
          </a:p>
          <a:p>
            <a:pPr indent="-304800" lvl="0" marL="457200" rtl="0" algn="l">
              <a:lnSpc>
                <a:spcPct val="115000"/>
              </a:lnSpc>
              <a:spcBef>
                <a:spcPts val="300"/>
              </a:spcBef>
              <a:spcAft>
                <a:spcPts val="0"/>
              </a:spcAft>
              <a:buClr>
                <a:srgbClr val="24292E"/>
              </a:buClr>
              <a:buSzPts val="1200"/>
              <a:buChar char="●"/>
            </a:pPr>
            <a:r>
              <a:rPr lang="en" sz="1200">
                <a:solidFill>
                  <a:srgbClr val="24292E"/>
                </a:solidFill>
              </a:rPr>
              <a:t>In addition to this end goal, aim to train 25% of employees every quarter, until you've trained everyone by the end of the year.</a:t>
            </a:r>
            <a:endParaRPr sz="1200">
              <a:solidFill>
                <a:srgbClr val="24292E"/>
              </a:solidFill>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7eb9f34e10_0_2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27eb9f34e10_0_2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300"/>
              </a:spcBef>
              <a:spcAft>
                <a:spcPts val="0"/>
              </a:spcAft>
              <a:buClr>
                <a:srgbClr val="24292E"/>
              </a:buClr>
              <a:buSzPts val="1200"/>
              <a:buChar char="●"/>
            </a:pPr>
            <a:r>
              <a:rPr lang="en" sz="1200">
                <a:solidFill>
                  <a:srgbClr val="24292E"/>
                </a:solidFill>
              </a:rPr>
              <a:t>Suppose that 9% of employees download the malicious files. Based on these findings, set a goal that only 5% of employees download malicious files by the start of the next fiscal year.</a:t>
            </a:r>
            <a:endParaRPr sz="1200">
              <a:solidFill>
                <a:srgbClr val="24292E"/>
              </a:solidFill>
            </a:endParaRPr>
          </a:p>
          <a:p>
            <a:pPr indent="0" lvl="0" marL="457200" rtl="0" algn="l">
              <a:lnSpc>
                <a:spcPct val="115000"/>
              </a:lnSpc>
              <a:spcBef>
                <a:spcPts val="300"/>
              </a:spcBef>
              <a:spcAft>
                <a:spcPts val="0"/>
              </a:spcAft>
              <a:buNone/>
            </a:pPr>
            <a:r>
              <a:t/>
            </a:r>
            <a:endParaRPr sz="1200">
              <a:solidFill>
                <a:srgbClr val="24292E"/>
              </a:solidFill>
            </a:endParaRPr>
          </a:p>
          <a:p>
            <a:pPr indent="-304800" lvl="0" marL="457200" rtl="0" algn="l">
              <a:lnSpc>
                <a:spcPct val="115000"/>
              </a:lnSpc>
              <a:spcBef>
                <a:spcPts val="300"/>
              </a:spcBef>
              <a:spcAft>
                <a:spcPts val="0"/>
              </a:spcAft>
              <a:buClr>
                <a:srgbClr val="24292E"/>
              </a:buClr>
              <a:buSzPts val="1200"/>
              <a:buChar char="●"/>
            </a:pPr>
            <a:r>
              <a:rPr lang="en" sz="1200">
                <a:solidFill>
                  <a:srgbClr val="24292E"/>
                </a:solidFill>
              </a:rPr>
              <a:t>In addition to this end goal, aim to train 25% of employees every quarter, until you've trained everyone by the end of the year.</a:t>
            </a:r>
            <a:endParaRPr sz="1200">
              <a:solidFill>
                <a:srgbClr val="24292E"/>
              </a:solidFill>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56e4c05a3e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56e4c05a3e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56e4c05a3e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56e4c05a3e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100e1d9fb78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100e1d9fb78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6c206d59f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6c206d59f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000">
                <a:solidFill>
                  <a:schemeClr val="dk1"/>
                </a:solidFill>
                <a:latin typeface="Roboto"/>
                <a:ea typeface="Roboto"/>
                <a:cs typeface="Roboto"/>
                <a:sym typeface="Roboto"/>
              </a:rPr>
              <a:t>Image source: AdobeStock_56885471</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5909c8c0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5909c8c0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27eb9f34e10_0_2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27eb9f34e10_0_2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fd0c650051_1_1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fd0c650051_1_1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27eb9f34e10_0_2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27eb9f34e10_0_2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27eb9f34e10_0_2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27eb9f34e10_0_2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27eb9f34e10_0_2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27eb9f34e10_0_2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27eb9f34e10_0_2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27eb9f34e10_0_2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27eb9f34e10_0_2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27eb9f34e10_0_2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27eb9f34e10_0_2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5" name="Google Shape;1075;g27eb9f34e10_0_2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27eb9f34e10_0_2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27eb9f34e10_0_2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27eb9f34e10_0_2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27eb9f34e10_0_2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fd0c650051_1_1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fd0c650051_1_1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56fe052362_0_3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56fe052362_0_3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5909c8c09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5909c8c09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100e1d9fb78_0_1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100e1d9fb78_0_1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56fe052362_0_30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56fe052362_0_30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6c35d78fd6_0_10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6c35d78fd6_0_10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000">
                <a:solidFill>
                  <a:schemeClr val="dk1"/>
                </a:solidFill>
                <a:latin typeface="Roboto"/>
                <a:ea typeface="Roboto"/>
                <a:cs typeface="Roboto"/>
                <a:sym typeface="Roboto"/>
              </a:rPr>
              <a:t>Image source: shutterstock_1298528236</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fd0c650051_1_1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fd0c650051_1_1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fd0c650051_1_1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fd0c650051_1_1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fd0c650051_1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fd0c650051_1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6c47af0752_1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6c47af0752_1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27eb9f34e10_0_2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9" name="Google Shape;1179;g27eb9f34e10_0_2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27eb9f34e10_0_2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27eb9f34e10_0_2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fd0c650051_1_1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fd0c650051_1_1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27eb9f34e10_0_2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27eb9f34e10_0_2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6c47af0752_1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6c47af0752_1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i="1" sz="1000">
              <a:latin typeface="Roboto"/>
              <a:ea typeface="Roboto"/>
              <a:cs typeface="Roboto"/>
              <a:sym typeface="Roboto"/>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4d29846fc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4d29846fc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56fe052362_0_3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56fe052362_0_3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590bce65c3_1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590bce65c3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2d6fafc1561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2d6fafc1561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fd0c650051_1_1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fd0c650051_1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fd0c650051_1_1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4" name="Google Shape;1264;gfd0c650051_1_1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56fe052362_0_3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9" name="Google Shape;1269;g56fe052362_0_3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00"/>
              <a:t>shutterstock_1988381738</a:t>
            </a:r>
            <a:endParaRPr i="1" sz="1000"/>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936b9e68cd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6" name="Google Shape;1276;g936b9e68cd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936b9e68cd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936b9e68cd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a:t>
            </a:r>
            <a:r>
              <a:rPr lang="en" sz="800">
                <a:solidFill>
                  <a:srgbClr val="FFFFFF"/>
                </a:solidFill>
                <a:latin typeface="Roboto"/>
                <a:ea typeface="Roboto"/>
                <a:cs typeface="Roboto"/>
                <a:sym typeface="Roboto"/>
              </a:rPr>
              <a:t>4</a:t>
            </a:r>
            <a:r>
              <a:rPr b="0" i="0" lang="en" sz="800" u="none" cap="none" strike="noStrike">
                <a:solidFill>
                  <a:srgbClr val="FFFFFF"/>
                </a:solidFill>
                <a:latin typeface="Roboto"/>
                <a:ea typeface="Roboto"/>
                <a:cs typeface="Roboto"/>
                <a:sym typeface="Roboto"/>
              </a:rPr>
              <a:t>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35823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3592327" y="1823550"/>
            <a:ext cx="56634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35824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35837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3583700" y="3314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4" name="Shape 104"/>
        <p:cNvGrpSpPr/>
        <p:nvPr/>
      </p:nvGrpSpPr>
      <p:grpSpPr>
        <a:xfrm>
          <a:off x="0" y="0"/>
          <a:ext cx="0" cy="0"/>
          <a:chOff x="0" y="0"/>
          <a:chExt cx="0" cy="0"/>
        </a:xfrm>
      </p:grpSpPr>
      <p:sp>
        <p:nvSpPr>
          <p:cNvPr id="105" name="Google Shape;105;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6" name="Google Shape;106;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8" name="Shape 108"/>
        <p:cNvGrpSpPr/>
        <p:nvPr/>
      </p:nvGrpSpPr>
      <p:grpSpPr>
        <a:xfrm>
          <a:off x="0" y="0"/>
          <a:ext cx="0" cy="0"/>
          <a:chOff x="0" y="0"/>
          <a:chExt cx="0" cy="0"/>
        </a:xfrm>
      </p:grpSpPr>
      <p:sp>
        <p:nvSpPr>
          <p:cNvPr id="109" name="Google Shape;109;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0" name="Google Shape;110;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2" name="Google Shape;112;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3" name="Shape 113"/>
        <p:cNvGrpSpPr/>
        <p:nvPr/>
      </p:nvGrpSpPr>
      <p:grpSpPr>
        <a:xfrm>
          <a:off x="0" y="0"/>
          <a:ext cx="0" cy="0"/>
          <a:chOff x="0" y="0"/>
          <a:chExt cx="0" cy="0"/>
        </a:xfrm>
      </p:grpSpPr>
      <p:sp>
        <p:nvSpPr>
          <p:cNvPr id="114" name="Google Shape;114;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5" name="Google Shape;115;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6" name="Google Shape;116;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8" name="Google Shape;118;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19" name="Shape 119"/>
        <p:cNvGrpSpPr/>
        <p:nvPr/>
      </p:nvGrpSpPr>
      <p:grpSpPr>
        <a:xfrm>
          <a:off x="0" y="0"/>
          <a:ext cx="0" cy="0"/>
          <a:chOff x="0" y="0"/>
          <a:chExt cx="0" cy="0"/>
        </a:xfrm>
      </p:grpSpPr>
      <p:sp>
        <p:nvSpPr>
          <p:cNvPr id="120" name="Google Shape;120;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1" name="Google Shape;121;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2" name="Google Shape;122;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 name="Google Shape;123;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4" name="Shape 124"/>
        <p:cNvGrpSpPr/>
        <p:nvPr/>
      </p:nvGrpSpPr>
      <p:grpSpPr>
        <a:xfrm>
          <a:off x="0" y="0"/>
          <a:ext cx="0" cy="0"/>
          <a:chOff x="0" y="0"/>
          <a:chExt cx="0" cy="0"/>
        </a:xfrm>
      </p:grpSpPr>
      <p:sp>
        <p:nvSpPr>
          <p:cNvPr id="125" name="Google Shape;125;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6" name="Google Shape;126;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7" name="Google Shape;127;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29" name="Shape 129"/>
        <p:cNvGrpSpPr/>
        <p:nvPr/>
      </p:nvGrpSpPr>
      <p:grpSpPr>
        <a:xfrm>
          <a:off x="0" y="0"/>
          <a:ext cx="0" cy="0"/>
          <a:chOff x="0" y="0"/>
          <a:chExt cx="0" cy="0"/>
        </a:xfrm>
      </p:grpSpPr>
      <p:sp>
        <p:nvSpPr>
          <p:cNvPr id="130" name="Google Shape;130;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1" name="Google Shape;131;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2" name="Shape 132"/>
        <p:cNvGrpSpPr/>
        <p:nvPr/>
      </p:nvGrpSpPr>
      <p:grpSpPr>
        <a:xfrm>
          <a:off x="0" y="0"/>
          <a:ext cx="0" cy="0"/>
          <a:chOff x="0" y="0"/>
          <a:chExt cx="0" cy="0"/>
        </a:xfrm>
      </p:grpSpPr>
      <p:sp>
        <p:nvSpPr>
          <p:cNvPr id="133" name="Google Shape;133;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4" name="Google Shape;134;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5" name="Shape 135"/>
        <p:cNvGrpSpPr/>
        <p:nvPr/>
      </p:nvGrpSpPr>
      <p:grpSpPr>
        <a:xfrm>
          <a:off x="0" y="0"/>
          <a:ext cx="0" cy="0"/>
          <a:chOff x="0" y="0"/>
          <a:chExt cx="0" cy="0"/>
        </a:xfrm>
      </p:grpSpPr>
      <p:sp>
        <p:nvSpPr>
          <p:cNvPr id="136" name="Google Shape;136;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7" name="Google Shape;137;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8" name="Shape 138"/>
        <p:cNvGrpSpPr/>
        <p:nvPr/>
      </p:nvGrpSpPr>
      <p:grpSpPr>
        <a:xfrm>
          <a:off x="0" y="0"/>
          <a:ext cx="0" cy="0"/>
          <a:chOff x="0" y="0"/>
          <a:chExt cx="0" cy="0"/>
        </a:xfrm>
      </p:grpSpPr>
      <p:pic>
        <p:nvPicPr>
          <p:cNvPr id="139" name="Google Shape;139;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0" name="Google Shape;140;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a:t>
            </a:r>
            <a:r>
              <a:rPr lang="en" sz="4000">
                <a:solidFill>
                  <a:schemeClr val="lt1"/>
                </a:solidFill>
                <a:latin typeface="Roboto"/>
                <a:ea typeface="Roboto"/>
                <a:cs typeface="Roboto"/>
                <a:sym typeface="Roboto"/>
              </a:rPr>
              <a:t>U</a:t>
            </a:r>
            <a:r>
              <a:rPr b="0" i="0" lang="en" sz="4000" u="none" cap="none" strike="noStrike">
                <a:solidFill>
                  <a:schemeClr val="lt1"/>
                </a:solidFill>
                <a:latin typeface="Roboto"/>
                <a:ea typeface="Roboto"/>
                <a:cs typeface="Roboto"/>
                <a:sym typeface="Roboto"/>
              </a:rPr>
              <a:t>p!</a:t>
            </a:r>
            <a:endParaRPr b="0" i="0" sz="4000" u="none" cap="none" strike="noStrike">
              <a:solidFill>
                <a:schemeClr val="lt1"/>
              </a:solidFill>
              <a:latin typeface="Roboto"/>
              <a:ea typeface="Roboto"/>
              <a:cs typeface="Roboto"/>
              <a:sym typeface="Roboto"/>
            </a:endParaRPr>
          </a:p>
        </p:txBody>
      </p:sp>
      <p:sp>
        <p:nvSpPr>
          <p:cNvPr id="141" name="Google Shape;141;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2" name="Shape 142"/>
        <p:cNvGrpSpPr/>
        <p:nvPr/>
      </p:nvGrpSpPr>
      <p:grpSpPr>
        <a:xfrm>
          <a:off x="0" y="0"/>
          <a:ext cx="0" cy="0"/>
          <a:chOff x="0" y="0"/>
          <a:chExt cx="0" cy="0"/>
        </a:xfrm>
      </p:grpSpPr>
      <p:pic>
        <p:nvPicPr>
          <p:cNvPr id="143" name="Google Shape;143;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4" name="Google Shape;144;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5" name="Google Shape;145;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6" name="Shape 146"/>
        <p:cNvGrpSpPr/>
        <p:nvPr/>
      </p:nvGrpSpPr>
      <p:grpSpPr>
        <a:xfrm>
          <a:off x="0" y="0"/>
          <a:ext cx="0" cy="0"/>
          <a:chOff x="0" y="0"/>
          <a:chExt cx="0" cy="0"/>
        </a:xfrm>
      </p:grpSpPr>
      <p:pic>
        <p:nvPicPr>
          <p:cNvPr id="147" name="Google Shape;147;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8" name="Google Shape;148;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49" name="Shape 149"/>
        <p:cNvGrpSpPr/>
        <p:nvPr/>
      </p:nvGrpSpPr>
      <p:grpSpPr>
        <a:xfrm>
          <a:off x="0" y="0"/>
          <a:ext cx="0" cy="0"/>
          <a:chOff x="0" y="0"/>
          <a:chExt cx="0" cy="0"/>
        </a:xfrm>
      </p:grpSpPr>
      <p:pic>
        <p:nvPicPr>
          <p:cNvPr id="150" name="Google Shape;150;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1" name="Google Shape;151;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2" name="Shape 152"/>
        <p:cNvGrpSpPr/>
        <p:nvPr/>
      </p:nvGrpSpPr>
      <p:grpSpPr>
        <a:xfrm>
          <a:off x="0" y="0"/>
          <a:ext cx="0" cy="0"/>
          <a:chOff x="0" y="0"/>
          <a:chExt cx="0" cy="0"/>
        </a:xfrm>
      </p:grpSpPr>
      <p:pic>
        <p:nvPicPr>
          <p:cNvPr id="153" name="Google Shape;153;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4" name="Google Shape;154;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5" name="Shape 155"/>
        <p:cNvGrpSpPr/>
        <p:nvPr/>
      </p:nvGrpSpPr>
      <p:grpSpPr>
        <a:xfrm>
          <a:off x="0" y="0"/>
          <a:ext cx="0" cy="0"/>
          <a:chOff x="0" y="0"/>
          <a:chExt cx="0" cy="0"/>
        </a:xfrm>
      </p:grpSpPr>
      <p:pic>
        <p:nvPicPr>
          <p:cNvPr id="156" name="Google Shape;156;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7" name="Google Shape;157;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8" name="Google Shape;158;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59" name="Shape 159"/>
        <p:cNvGrpSpPr/>
        <p:nvPr/>
      </p:nvGrpSpPr>
      <p:grpSpPr>
        <a:xfrm>
          <a:off x="0" y="0"/>
          <a:ext cx="0" cy="0"/>
          <a:chOff x="0" y="0"/>
          <a:chExt cx="0" cy="0"/>
        </a:xfrm>
      </p:grpSpPr>
      <p:sp>
        <p:nvSpPr>
          <p:cNvPr id="160" name="Google Shape;160;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1" name="Google Shape;161;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2" name="Google Shape;162;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3" name="Shape 163"/>
        <p:cNvGrpSpPr/>
        <p:nvPr/>
      </p:nvGrpSpPr>
      <p:grpSpPr>
        <a:xfrm>
          <a:off x="0" y="0"/>
          <a:ext cx="0" cy="0"/>
          <a:chOff x="0" y="0"/>
          <a:chExt cx="0" cy="0"/>
        </a:xfrm>
      </p:grpSpPr>
      <p:sp>
        <p:nvSpPr>
          <p:cNvPr id="164" name="Google Shape;164;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a:t>
            </a:r>
            <a:r>
              <a:rPr lang="en" sz="4000">
                <a:solidFill>
                  <a:schemeClr val="lt1"/>
                </a:solidFill>
                <a:latin typeface="Roboto"/>
                <a:ea typeface="Roboto"/>
                <a:cs typeface="Roboto"/>
                <a:sym typeface="Roboto"/>
              </a:rPr>
              <a:t>Y</a:t>
            </a:r>
            <a:r>
              <a:rPr b="0" i="0" lang="en" sz="4000" u="none" cap="none" strike="noStrike">
                <a:solidFill>
                  <a:schemeClr val="lt1"/>
                </a:solidFill>
                <a:latin typeface="Roboto"/>
                <a:ea typeface="Roboto"/>
                <a:cs typeface="Roboto"/>
                <a:sym typeface="Roboto"/>
              </a:rPr>
              <a:t>ou</a:t>
            </a:r>
            <a:endParaRPr b="0" i="0" sz="4000" u="none" cap="none" strike="noStrike">
              <a:solidFill>
                <a:schemeClr val="lt1"/>
              </a:solidFill>
              <a:latin typeface="Roboto"/>
              <a:ea typeface="Roboto"/>
              <a:cs typeface="Roboto"/>
              <a:sym typeface="Roboto"/>
            </a:endParaRPr>
          </a:p>
        </p:txBody>
      </p:sp>
      <p:pic>
        <p:nvPicPr>
          <p:cNvPr id="165" name="Google Shape;165;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6" name="Shape 166"/>
        <p:cNvGrpSpPr/>
        <p:nvPr/>
      </p:nvGrpSpPr>
      <p:grpSpPr>
        <a:xfrm>
          <a:off x="0" y="0"/>
          <a:ext cx="0" cy="0"/>
          <a:chOff x="0" y="0"/>
          <a:chExt cx="0" cy="0"/>
        </a:xfrm>
      </p:grpSpPr>
      <p:sp>
        <p:nvSpPr>
          <p:cNvPr id="167" name="Google Shape;167;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8" name="Google Shape;168;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69" name="Google Shape;169;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0" name="Google Shape;170;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1" name="Google Shape;171;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2" name="Google Shape;172;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4" name="Google Shape;174;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5" name="Google Shape;175;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6" name="Shape 176"/>
        <p:cNvGrpSpPr/>
        <p:nvPr/>
      </p:nvGrpSpPr>
      <p:grpSpPr>
        <a:xfrm>
          <a:off x="0" y="0"/>
          <a:ext cx="0" cy="0"/>
          <a:chOff x="0" y="0"/>
          <a:chExt cx="0" cy="0"/>
        </a:xfrm>
      </p:grpSpPr>
      <p:sp>
        <p:nvSpPr>
          <p:cNvPr id="177" name="Google Shape;177;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8" name="Google Shape;178;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 name="Google Shape;179;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0" name="Google Shape;180;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1" name="Shape 181"/>
        <p:cNvGrpSpPr/>
        <p:nvPr/>
      </p:nvGrpSpPr>
      <p:grpSpPr>
        <a:xfrm>
          <a:off x="0" y="0"/>
          <a:ext cx="0" cy="0"/>
          <a:chOff x="0" y="0"/>
          <a:chExt cx="0" cy="0"/>
        </a:xfrm>
      </p:grpSpPr>
      <p:sp>
        <p:nvSpPr>
          <p:cNvPr id="182" name="Google Shape;182;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3" name="Shape 183"/>
        <p:cNvGrpSpPr/>
        <p:nvPr/>
      </p:nvGrpSpPr>
      <p:grpSpPr>
        <a:xfrm>
          <a:off x="0" y="0"/>
          <a:ext cx="0" cy="0"/>
          <a:chOff x="0" y="0"/>
          <a:chExt cx="0" cy="0"/>
        </a:xfrm>
      </p:grpSpPr>
      <p:cxnSp>
        <p:nvCxnSpPr>
          <p:cNvPr id="184" name="Google Shape;184;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5" name="Google Shape;185;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6" name="Google Shape;186;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7" name="Google Shape;187;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8" name="Google Shape;188;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89" name="Shape 189"/>
        <p:cNvGrpSpPr/>
        <p:nvPr/>
      </p:nvGrpSpPr>
      <p:grpSpPr>
        <a:xfrm>
          <a:off x="0" y="0"/>
          <a:ext cx="0" cy="0"/>
          <a:chOff x="0" y="0"/>
          <a:chExt cx="0" cy="0"/>
        </a:xfrm>
      </p:grpSpPr>
      <p:cxnSp>
        <p:nvCxnSpPr>
          <p:cNvPr id="190" name="Google Shape;190;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1" name="Google Shape;191;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2" name="Google Shape;192;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3" name="Google Shape;193;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4" name="Google Shape;194;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0" name="Google Shape;200;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5" name="Google Shape;205;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09" name="Google Shape;209;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0" name="Shape 210"/>
        <p:cNvGrpSpPr/>
        <p:nvPr/>
      </p:nvGrpSpPr>
      <p:grpSpPr>
        <a:xfrm>
          <a:off x="0" y="0"/>
          <a:ext cx="0" cy="0"/>
          <a:chOff x="0" y="0"/>
          <a:chExt cx="0" cy="0"/>
        </a:xfrm>
      </p:grpSpPr>
      <p:cxnSp>
        <p:nvCxnSpPr>
          <p:cNvPr id="211" name="Google Shape;211;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2" name="Google Shape;212;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3" name="Google Shape;213;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4" name="Google Shape;214;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5" name="Google Shape;215;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6" name="Shape 216"/>
        <p:cNvGrpSpPr/>
        <p:nvPr/>
      </p:nvGrpSpPr>
      <p:grpSpPr>
        <a:xfrm>
          <a:off x="0" y="0"/>
          <a:ext cx="0" cy="0"/>
          <a:chOff x="0" y="0"/>
          <a:chExt cx="0" cy="0"/>
        </a:xfrm>
      </p:grpSpPr>
      <p:cxnSp>
        <p:nvCxnSpPr>
          <p:cNvPr id="217" name="Google Shape;217;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8" name="Google Shape;218;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9" name="Google Shape;219;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0" name="Google Shape;220;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6" name="Google Shape;226;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1" name="Google Shape;231;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5" name="Google Shape;235;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6" name="Google Shape;236;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7" name="Shape 237"/>
        <p:cNvGrpSpPr/>
        <p:nvPr/>
      </p:nvGrpSpPr>
      <p:grpSpPr>
        <a:xfrm>
          <a:off x="0" y="0"/>
          <a:ext cx="0" cy="0"/>
          <a:chOff x="0" y="0"/>
          <a:chExt cx="0" cy="0"/>
        </a:xfrm>
      </p:grpSpPr>
      <p:sp>
        <p:nvSpPr>
          <p:cNvPr id="238" name="Google Shape;238;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0" name="Google Shape;240;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49" name="Google Shape;249;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0" name="Google Shape;250;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1" name="Google Shape;251;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2" name="Google Shape;252;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3" name="Google Shape;253;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4" name="Google Shape;254;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3" name="Shape 263"/>
        <p:cNvGrpSpPr/>
        <p:nvPr/>
      </p:nvGrpSpPr>
      <p:grpSpPr>
        <a:xfrm>
          <a:off x="0" y="0"/>
          <a:ext cx="0" cy="0"/>
          <a:chOff x="0" y="0"/>
          <a:chExt cx="0" cy="0"/>
        </a:xfrm>
      </p:grpSpPr>
      <p:sp>
        <p:nvSpPr>
          <p:cNvPr id="264" name="Google Shape;264;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6" name="Google Shape;266;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7" name="Google Shape;267;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8" name="Google Shape;268;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69" name="Google Shape;269;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0" name="Google Shape;270;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1" name="Google Shape;271;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2" name="Google Shape;272;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3" name="Shape 273"/>
        <p:cNvGrpSpPr/>
        <p:nvPr/>
      </p:nvGrpSpPr>
      <p:grpSpPr>
        <a:xfrm>
          <a:off x="0" y="0"/>
          <a:ext cx="0" cy="0"/>
          <a:chOff x="0" y="0"/>
          <a:chExt cx="0" cy="0"/>
        </a:xfrm>
      </p:grpSpPr>
      <p:sp>
        <p:nvSpPr>
          <p:cNvPr id="274" name="Google Shape;274;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6" name="Google Shape;276;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7" name="Google Shape;277;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8" name="Google Shape;278;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9" name="Google Shape;279;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0" name="Google Shape;280;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1" name="Google Shape;281;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2" name="Google Shape;282;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3" name="Shape 283"/>
        <p:cNvGrpSpPr/>
        <p:nvPr/>
      </p:nvGrpSpPr>
      <p:grpSpPr>
        <a:xfrm>
          <a:off x="0" y="0"/>
          <a:ext cx="0" cy="0"/>
          <a:chOff x="0" y="0"/>
          <a:chExt cx="0" cy="0"/>
        </a:xfrm>
      </p:grpSpPr>
      <p:sp>
        <p:nvSpPr>
          <p:cNvPr id="284" name="Google Shape;284;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6" name="Google Shape;286;p40"/>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287" name="Google Shape;287;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8" name="Shape 288"/>
        <p:cNvGrpSpPr/>
        <p:nvPr/>
      </p:nvGrpSpPr>
      <p:grpSpPr>
        <a:xfrm>
          <a:off x="0" y="0"/>
          <a:ext cx="0" cy="0"/>
          <a:chOff x="0" y="0"/>
          <a:chExt cx="0" cy="0"/>
        </a:xfrm>
      </p:grpSpPr>
      <p:sp>
        <p:nvSpPr>
          <p:cNvPr id="289" name="Google Shape;289;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0" name="Google Shape;290;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1" name="Google Shape;291;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2" name="Google Shape;292;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3" name="Shape 293"/>
        <p:cNvGrpSpPr/>
        <p:nvPr/>
      </p:nvGrpSpPr>
      <p:grpSpPr>
        <a:xfrm>
          <a:off x="0" y="0"/>
          <a:ext cx="0" cy="0"/>
          <a:chOff x="0" y="0"/>
          <a:chExt cx="0" cy="0"/>
        </a:xfrm>
      </p:grpSpPr>
      <p:sp>
        <p:nvSpPr>
          <p:cNvPr id="294" name="Google Shape;294;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5" name="Google Shape;295;p42"/>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296" name="Google Shape;296;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7" name="Google Shape;297;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8" name="Shape 298"/>
        <p:cNvGrpSpPr/>
        <p:nvPr/>
      </p:nvGrpSpPr>
      <p:grpSpPr>
        <a:xfrm>
          <a:off x="0" y="0"/>
          <a:ext cx="0" cy="0"/>
          <a:chOff x="0" y="0"/>
          <a:chExt cx="0" cy="0"/>
        </a:xfrm>
      </p:grpSpPr>
      <p:sp>
        <p:nvSpPr>
          <p:cNvPr id="299" name="Google Shape;299;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0" name="Google Shape;300;p43"/>
          <p:cNvGrpSpPr/>
          <p:nvPr/>
        </p:nvGrpSpPr>
        <p:grpSpPr>
          <a:xfrm>
            <a:off x="1074625" y="2258150"/>
            <a:ext cx="1473491" cy="980288"/>
            <a:chOff x="1074625" y="2258150"/>
            <a:chExt cx="1473491" cy="980288"/>
          </a:xfrm>
        </p:grpSpPr>
        <p:sp>
          <p:nvSpPr>
            <p:cNvPr id="301" name="Google Shape;301;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3" name="Google Shape;303;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4" name="Google Shape;304;p43"/>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05" name="Google Shape;305;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6" name="Shape 306"/>
        <p:cNvGrpSpPr/>
        <p:nvPr/>
      </p:nvGrpSpPr>
      <p:grpSpPr>
        <a:xfrm>
          <a:off x="0" y="0"/>
          <a:ext cx="0" cy="0"/>
          <a:chOff x="0" y="0"/>
          <a:chExt cx="0" cy="0"/>
        </a:xfrm>
      </p:grpSpPr>
      <p:sp>
        <p:nvSpPr>
          <p:cNvPr id="307" name="Google Shape;307;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8" name="Google Shape;308;p44"/>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309" name="Google Shape;309;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0" name="Google Shape;310;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1" name="Shape 311"/>
        <p:cNvGrpSpPr/>
        <p:nvPr/>
      </p:nvGrpSpPr>
      <p:grpSpPr>
        <a:xfrm>
          <a:off x="0" y="0"/>
          <a:ext cx="0" cy="0"/>
          <a:chOff x="0" y="0"/>
          <a:chExt cx="0" cy="0"/>
        </a:xfrm>
      </p:grpSpPr>
      <p:sp>
        <p:nvSpPr>
          <p:cNvPr id="312" name="Google Shape;312;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6" name="Google Shape;316;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8" name="Shape 318"/>
        <p:cNvGrpSpPr/>
        <p:nvPr/>
      </p:nvGrpSpPr>
      <p:grpSpPr>
        <a:xfrm>
          <a:off x="0" y="0"/>
          <a:ext cx="0" cy="0"/>
          <a:chOff x="0" y="0"/>
          <a:chExt cx="0" cy="0"/>
        </a:xfrm>
      </p:grpSpPr>
      <p:sp>
        <p:nvSpPr>
          <p:cNvPr id="319" name="Google Shape;319;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0" name="Google Shape;320;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1" name="Google Shape;321;p46"/>
          <p:cNvGrpSpPr/>
          <p:nvPr/>
        </p:nvGrpSpPr>
        <p:grpSpPr>
          <a:xfrm>
            <a:off x="3972318" y="1206125"/>
            <a:ext cx="1051285" cy="920372"/>
            <a:chOff x="587700" y="-13400"/>
            <a:chExt cx="5735325" cy="5021125"/>
          </a:xfrm>
        </p:grpSpPr>
        <p:sp>
          <p:nvSpPr>
            <p:cNvPr id="322" name="Google Shape;322;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7" name="Google Shape;327;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8" name="Google Shape;328;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29" name="Shape 329"/>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4 ">
  <p:cSld name="CUSTOM_21_1_1">
    <p:spTree>
      <p:nvGrpSpPr>
        <p:cNvPr id="330" name="Shape 330"/>
        <p:cNvGrpSpPr/>
        <p:nvPr/>
      </p:nvGrpSpPr>
      <p:grpSpPr>
        <a:xfrm>
          <a:off x="0" y="0"/>
          <a:ext cx="0" cy="0"/>
          <a:chOff x="0" y="0"/>
          <a:chExt cx="0" cy="0"/>
        </a:xfrm>
      </p:grpSpPr>
      <p:cxnSp>
        <p:nvCxnSpPr>
          <p:cNvPr id="331" name="Google Shape;331;p48"/>
          <p:cNvCxnSpPr/>
          <p:nvPr/>
        </p:nvCxnSpPr>
        <p:spPr>
          <a:xfrm>
            <a:off x="-9375" y="929900"/>
            <a:ext cx="7346700" cy="0"/>
          </a:xfrm>
          <a:prstGeom prst="straightConnector1">
            <a:avLst/>
          </a:prstGeom>
          <a:noFill/>
          <a:ln cap="flat" cmpd="sng" w="19050">
            <a:solidFill>
              <a:schemeClr val="dk2"/>
            </a:solidFill>
            <a:prstDash val="solid"/>
            <a:round/>
            <a:headEnd len="med" w="med" type="none"/>
            <a:tailEnd len="med" w="med" type="oval"/>
          </a:ln>
        </p:spPr>
      </p:cxnSp>
      <p:sp>
        <p:nvSpPr>
          <p:cNvPr id="332" name="Google Shape;332;p48"/>
          <p:cNvSpPr/>
          <p:nvPr/>
        </p:nvSpPr>
        <p:spPr>
          <a:xfrm>
            <a:off x="724725" y="1778663"/>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8"/>
          <p:cNvSpPr/>
          <p:nvPr/>
        </p:nvSpPr>
        <p:spPr>
          <a:xfrm>
            <a:off x="724725" y="2421088"/>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8"/>
          <p:cNvSpPr/>
          <p:nvPr/>
        </p:nvSpPr>
        <p:spPr>
          <a:xfrm>
            <a:off x="724725" y="3063525"/>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8"/>
          <p:cNvSpPr/>
          <p:nvPr/>
        </p:nvSpPr>
        <p:spPr>
          <a:xfrm>
            <a:off x="724725" y="1136875"/>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8"/>
          <p:cNvSpPr/>
          <p:nvPr/>
        </p:nvSpPr>
        <p:spPr>
          <a:xfrm>
            <a:off x="60090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1</a:t>
            </a:r>
            <a:endParaRPr sz="1600">
              <a:solidFill>
                <a:srgbClr val="082D49"/>
              </a:solidFill>
              <a:latin typeface="Roboto"/>
              <a:ea typeface="Roboto"/>
              <a:cs typeface="Roboto"/>
              <a:sym typeface="Roboto"/>
            </a:endParaRPr>
          </a:p>
        </p:txBody>
      </p:sp>
      <p:sp>
        <p:nvSpPr>
          <p:cNvPr id="337" name="Google Shape;337;p48"/>
          <p:cNvSpPr/>
          <p:nvPr/>
        </p:nvSpPr>
        <p:spPr>
          <a:xfrm>
            <a:off x="60090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2</a:t>
            </a:r>
            <a:endParaRPr sz="1600">
              <a:solidFill>
                <a:srgbClr val="082D49"/>
              </a:solidFill>
              <a:latin typeface="Roboto"/>
              <a:ea typeface="Roboto"/>
              <a:cs typeface="Roboto"/>
              <a:sym typeface="Roboto"/>
            </a:endParaRPr>
          </a:p>
        </p:txBody>
      </p:sp>
      <p:sp>
        <p:nvSpPr>
          <p:cNvPr id="338" name="Google Shape;338;p48"/>
          <p:cNvSpPr/>
          <p:nvPr/>
        </p:nvSpPr>
        <p:spPr>
          <a:xfrm>
            <a:off x="60090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3</a:t>
            </a:r>
            <a:endParaRPr sz="1600">
              <a:solidFill>
                <a:srgbClr val="082D49"/>
              </a:solidFill>
              <a:latin typeface="Roboto"/>
              <a:ea typeface="Roboto"/>
              <a:cs typeface="Roboto"/>
              <a:sym typeface="Roboto"/>
            </a:endParaRPr>
          </a:p>
        </p:txBody>
      </p:sp>
      <p:sp>
        <p:nvSpPr>
          <p:cNvPr id="339" name="Google Shape;339;p48"/>
          <p:cNvSpPr/>
          <p:nvPr/>
        </p:nvSpPr>
        <p:spPr>
          <a:xfrm>
            <a:off x="60090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4</a:t>
            </a:r>
            <a:endParaRPr sz="1600">
              <a:solidFill>
                <a:srgbClr val="082D49"/>
              </a:solidFill>
              <a:latin typeface="Roboto"/>
              <a:ea typeface="Roboto"/>
              <a:cs typeface="Roboto"/>
              <a:sym typeface="Roboto"/>
            </a:endParaRPr>
          </a:p>
        </p:txBody>
      </p:sp>
      <p:sp>
        <p:nvSpPr>
          <p:cNvPr id="340" name="Google Shape;340;p48"/>
          <p:cNvSpPr txBox="1"/>
          <p:nvPr>
            <p:ph idx="1" type="subTitle"/>
          </p:nvPr>
        </p:nvSpPr>
        <p:spPr>
          <a:xfrm>
            <a:off x="9960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1" name="Google Shape;341;p48"/>
          <p:cNvSpPr txBox="1"/>
          <p:nvPr>
            <p:ph idx="2" type="subTitle"/>
          </p:nvPr>
        </p:nvSpPr>
        <p:spPr>
          <a:xfrm>
            <a:off x="9960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2" name="Google Shape;342;p48"/>
          <p:cNvSpPr txBox="1"/>
          <p:nvPr>
            <p:ph idx="3" type="subTitle"/>
          </p:nvPr>
        </p:nvSpPr>
        <p:spPr>
          <a:xfrm>
            <a:off x="9960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3" name="Google Shape;343;p48"/>
          <p:cNvSpPr txBox="1"/>
          <p:nvPr>
            <p:ph idx="4" type="subTitle"/>
          </p:nvPr>
        </p:nvSpPr>
        <p:spPr>
          <a:xfrm>
            <a:off x="996025" y="306352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4" name="Google Shape;344;p48"/>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5" name="Google Shape;345;p48"/>
          <p:cNvSpPr txBox="1"/>
          <p:nvPr>
            <p:ph idx="5"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800"/>
              <a:buNone/>
              <a:defRPr b="0" sz="1800"/>
            </a:lvl1pPr>
            <a:lvl2pPr lvl="1">
              <a:spcBef>
                <a:spcPts val="0"/>
              </a:spcBef>
              <a:spcAft>
                <a:spcPts val="0"/>
              </a:spcAft>
              <a:buSzPts val="1800"/>
              <a:buFont typeface="Roboto"/>
              <a:buNone/>
              <a:defRPr sz="1800">
                <a:latin typeface="Roboto"/>
                <a:ea typeface="Roboto"/>
                <a:cs typeface="Roboto"/>
                <a:sym typeface="Roboto"/>
              </a:defRPr>
            </a:lvl2pPr>
            <a:lvl3pPr lvl="2">
              <a:spcBef>
                <a:spcPts val="0"/>
              </a:spcBef>
              <a:spcAft>
                <a:spcPts val="0"/>
              </a:spcAft>
              <a:buSzPts val="1800"/>
              <a:buFont typeface="Roboto"/>
              <a:buNone/>
              <a:defRPr sz="1800">
                <a:latin typeface="Roboto"/>
                <a:ea typeface="Roboto"/>
                <a:cs typeface="Roboto"/>
                <a:sym typeface="Roboto"/>
              </a:defRPr>
            </a:lvl3pPr>
            <a:lvl4pPr lvl="3">
              <a:spcBef>
                <a:spcPts val="0"/>
              </a:spcBef>
              <a:spcAft>
                <a:spcPts val="0"/>
              </a:spcAft>
              <a:buSzPts val="1800"/>
              <a:buFont typeface="Roboto"/>
              <a:buNone/>
              <a:defRPr sz="1800">
                <a:latin typeface="Roboto"/>
                <a:ea typeface="Roboto"/>
                <a:cs typeface="Roboto"/>
                <a:sym typeface="Roboto"/>
              </a:defRPr>
            </a:lvl4pPr>
            <a:lvl5pPr lvl="4">
              <a:spcBef>
                <a:spcPts val="0"/>
              </a:spcBef>
              <a:spcAft>
                <a:spcPts val="0"/>
              </a:spcAft>
              <a:buSzPts val="1800"/>
              <a:buFont typeface="Roboto"/>
              <a:buNone/>
              <a:defRPr sz="1800">
                <a:latin typeface="Roboto"/>
                <a:ea typeface="Roboto"/>
                <a:cs typeface="Roboto"/>
                <a:sym typeface="Roboto"/>
              </a:defRPr>
            </a:lvl5pPr>
            <a:lvl6pPr lvl="5">
              <a:spcBef>
                <a:spcPts val="0"/>
              </a:spcBef>
              <a:spcAft>
                <a:spcPts val="0"/>
              </a:spcAft>
              <a:buSzPts val="1800"/>
              <a:buFont typeface="Roboto"/>
              <a:buNone/>
              <a:defRPr sz="1800">
                <a:latin typeface="Roboto"/>
                <a:ea typeface="Roboto"/>
                <a:cs typeface="Roboto"/>
                <a:sym typeface="Roboto"/>
              </a:defRPr>
            </a:lvl6pPr>
            <a:lvl7pPr lvl="6">
              <a:spcBef>
                <a:spcPts val="0"/>
              </a:spcBef>
              <a:spcAft>
                <a:spcPts val="0"/>
              </a:spcAft>
              <a:buSzPts val="1800"/>
              <a:buFont typeface="Roboto"/>
              <a:buNone/>
              <a:defRPr sz="1800">
                <a:latin typeface="Roboto"/>
                <a:ea typeface="Roboto"/>
                <a:cs typeface="Roboto"/>
                <a:sym typeface="Roboto"/>
              </a:defRPr>
            </a:lvl7pPr>
            <a:lvl8pPr lvl="7">
              <a:spcBef>
                <a:spcPts val="0"/>
              </a:spcBef>
              <a:spcAft>
                <a:spcPts val="0"/>
              </a:spcAft>
              <a:buSzPts val="1800"/>
              <a:buFont typeface="Roboto"/>
              <a:buNone/>
              <a:defRPr sz="1800">
                <a:latin typeface="Roboto"/>
                <a:ea typeface="Roboto"/>
                <a:cs typeface="Roboto"/>
                <a:sym typeface="Roboto"/>
              </a:defRPr>
            </a:lvl8pPr>
            <a:lvl9pPr lvl="8">
              <a:spcBef>
                <a:spcPts val="0"/>
              </a:spcBef>
              <a:spcAft>
                <a:spcPts val="0"/>
              </a:spcAft>
              <a:buSzPts val="1800"/>
              <a:buFont typeface="Roboto"/>
              <a:buNone/>
              <a:defRPr sz="1800">
                <a:latin typeface="Roboto"/>
                <a:ea typeface="Roboto"/>
                <a:cs typeface="Roboto"/>
                <a:sym typeface="Roboto"/>
              </a:defRPr>
            </a:lvl9pPr>
          </a:lstStyle>
          <a:p/>
        </p:txBody>
      </p:sp>
      <p:sp>
        <p:nvSpPr>
          <p:cNvPr id="346" name="Google Shape;346;p48"/>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7" name="Google Shape;347;p48"/>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48" name="Shape 348"/>
        <p:cNvGrpSpPr/>
        <p:nvPr/>
      </p:nvGrpSpPr>
      <p:grpSpPr>
        <a:xfrm>
          <a:off x="0" y="0"/>
          <a:ext cx="0" cy="0"/>
          <a:chOff x="0" y="0"/>
          <a:chExt cx="0" cy="0"/>
        </a:xfrm>
      </p:grpSpPr>
      <p:sp>
        <p:nvSpPr>
          <p:cNvPr id="349" name="Google Shape;349;p49"/>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0" name="Google Shape;350;p49"/>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51" name="Google Shape;351;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52" name="Shape 352"/>
        <p:cNvGrpSpPr/>
        <p:nvPr/>
      </p:nvGrpSpPr>
      <p:grpSpPr>
        <a:xfrm>
          <a:off x="0" y="0"/>
          <a:ext cx="0" cy="0"/>
          <a:chOff x="0" y="0"/>
          <a:chExt cx="0" cy="0"/>
        </a:xfrm>
      </p:grpSpPr>
      <p:sp>
        <p:nvSpPr>
          <p:cNvPr id="353" name="Google Shape;353;p50"/>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50"/>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55" name="Google Shape;355;p50"/>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56" name="Google Shape;356;p50"/>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50"/>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58" name="Google Shape;358;p50"/>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359" name="Google Shape;359;p50"/>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50"/>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61" name="Google Shape;361;p50"/>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362" name="Google Shape;362;p50"/>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363" name="Google Shape;363;p50"/>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364" name="Google Shape;364;p5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5" name="Google Shape;365;p5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slide">
  <p:cSld name="CUSTOM_4_1_2_2">
    <p:spTree>
      <p:nvGrpSpPr>
        <p:cNvPr id="366" name="Shape 366"/>
        <p:cNvGrpSpPr/>
        <p:nvPr/>
      </p:nvGrpSpPr>
      <p:grpSpPr>
        <a:xfrm>
          <a:off x="0" y="0"/>
          <a:ext cx="0" cy="0"/>
          <a:chOff x="0" y="0"/>
          <a:chExt cx="0" cy="0"/>
        </a:xfrm>
      </p:grpSpPr>
      <p:sp>
        <p:nvSpPr>
          <p:cNvPr id="367" name="Google Shape;367;p51"/>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1"/>
          <p:cNvSpPr txBox="1"/>
          <p:nvPr>
            <p:ph type="title"/>
          </p:nvPr>
        </p:nvSpPr>
        <p:spPr>
          <a:xfrm>
            <a:off x="3141250"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pic>
        <p:nvPicPr>
          <p:cNvPr id="369" name="Google Shape;369;p51"/>
          <p:cNvPicPr preferRelativeResize="0"/>
          <p:nvPr/>
        </p:nvPicPr>
        <p:blipFill>
          <a:blip r:embed="rId2">
            <a:alphaModFix/>
          </a:blip>
          <a:stretch>
            <a:fillRect/>
          </a:stretch>
        </p:blipFill>
        <p:spPr>
          <a:xfrm>
            <a:off x="1242338" y="1946150"/>
            <a:ext cx="904875" cy="1343025"/>
          </a:xfrm>
          <a:prstGeom prst="rect">
            <a:avLst/>
          </a:prstGeom>
          <a:noFill/>
          <a:ln>
            <a:noFill/>
          </a:ln>
        </p:spPr>
      </p:pic>
      <p:pic>
        <p:nvPicPr>
          <p:cNvPr id="370" name="Google Shape;370;p51"/>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_2_3">
    <p:spTree>
      <p:nvGrpSpPr>
        <p:cNvPr id="371" name="Shape 371"/>
        <p:cNvGrpSpPr/>
        <p:nvPr/>
      </p:nvGrpSpPr>
      <p:grpSpPr>
        <a:xfrm>
          <a:off x="0" y="0"/>
          <a:ext cx="0" cy="0"/>
          <a:chOff x="0" y="0"/>
          <a:chExt cx="0" cy="0"/>
        </a:xfrm>
      </p:grpSpPr>
      <p:sp>
        <p:nvSpPr>
          <p:cNvPr id="372" name="Google Shape;372;p52"/>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3" name="Google Shape;373;p52"/>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374" name="Google Shape;374;p52"/>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375" name="Google Shape;375;p52"/>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376" name="Shape 376"/>
        <p:cNvGrpSpPr/>
        <p:nvPr/>
      </p:nvGrpSpPr>
      <p:grpSpPr>
        <a:xfrm>
          <a:off x="0" y="0"/>
          <a:ext cx="0" cy="0"/>
          <a:chOff x="0" y="0"/>
          <a:chExt cx="0" cy="0"/>
        </a:xfrm>
      </p:grpSpPr>
      <p:pic>
        <p:nvPicPr>
          <p:cNvPr id="377" name="Google Shape;377;p53"/>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378" name="Google Shape;378;p53"/>
          <p:cNvSpPr txBox="1"/>
          <p:nvPr>
            <p:ph type="title"/>
          </p:nvPr>
        </p:nvSpPr>
        <p:spPr>
          <a:xfrm>
            <a:off x="1959725" y="1641200"/>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379" name="Google Shape;379;p53"/>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53"/>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53"/>
          <p:cNvSpPr txBox="1"/>
          <p:nvPr>
            <p:ph idx="2" type="title"/>
          </p:nvPr>
        </p:nvSpPr>
        <p:spPr>
          <a:xfrm>
            <a:off x="1450375" y="1039700"/>
            <a:ext cx="6244200" cy="3131700"/>
          </a:xfrm>
          <a:prstGeom prst="rect">
            <a:avLst/>
          </a:prstGeom>
        </p:spPr>
        <p:txBody>
          <a:bodyPr anchorCtr="0" anchor="ctr" bIns="0" lIns="0" spcFirstLastPara="1" rIns="0" wrap="square" tIns="0">
            <a:noAutofit/>
          </a:bodyPr>
          <a:lstStyle>
            <a:lvl1pPr lvl="0">
              <a:spcBef>
                <a:spcPts val="0"/>
              </a:spcBef>
              <a:spcAft>
                <a:spcPts val="0"/>
              </a:spcAft>
              <a:buSzPts val="3400"/>
              <a:buNone/>
              <a:defRPr sz="3400">
                <a:latin typeface="Roboto Light"/>
                <a:ea typeface="Roboto Light"/>
                <a:cs typeface="Roboto Light"/>
                <a:sym typeface="Roboto Light"/>
              </a:defRPr>
            </a:lvl1pPr>
            <a:lvl2pPr lvl="1">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p:cSld name="CUSTOM_11_1_1_2_1">
    <p:spTree>
      <p:nvGrpSpPr>
        <p:cNvPr id="382" name="Shape 382"/>
        <p:cNvGrpSpPr/>
        <p:nvPr/>
      </p:nvGrpSpPr>
      <p:grpSpPr>
        <a:xfrm>
          <a:off x="0" y="0"/>
          <a:ext cx="0" cy="0"/>
          <a:chOff x="0" y="0"/>
          <a:chExt cx="0" cy="0"/>
        </a:xfrm>
      </p:grpSpPr>
      <p:sp>
        <p:nvSpPr>
          <p:cNvPr id="383" name="Google Shape;383;p5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4" name="Google Shape;384;p54"/>
          <p:cNvSpPr/>
          <p:nvPr/>
        </p:nvSpPr>
        <p:spPr>
          <a:xfrm>
            <a:off x="1352550" y="11368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5" name="Google Shape;385;p54"/>
          <p:cNvGrpSpPr/>
          <p:nvPr/>
        </p:nvGrpSpPr>
        <p:grpSpPr>
          <a:xfrm>
            <a:off x="457200" y="1136863"/>
            <a:ext cx="776889" cy="621300"/>
            <a:chOff x="457200" y="1378813"/>
            <a:chExt cx="776889" cy="621300"/>
          </a:xfrm>
        </p:grpSpPr>
        <p:sp>
          <p:nvSpPr>
            <p:cNvPr id="386" name="Google Shape;386;p54"/>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Light"/>
                  <a:ea typeface="Roboto Light"/>
                  <a:cs typeface="Roboto Light"/>
                  <a:sym typeface="Roboto Light"/>
                </a:rPr>
                <a:t>01</a:t>
              </a:r>
              <a:endParaRPr i="0" sz="3000" u="none" cap="none" strike="noStrike">
                <a:solidFill>
                  <a:schemeClr val="dk2"/>
                </a:solidFill>
                <a:latin typeface="Roboto Light"/>
                <a:ea typeface="Roboto Light"/>
                <a:cs typeface="Roboto Light"/>
                <a:sym typeface="Roboto Light"/>
              </a:endParaRPr>
            </a:p>
          </p:txBody>
        </p:sp>
        <p:sp>
          <p:nvSpPr>
            <p:cNvPr id="387" name="Google Shape;387;p54"/>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388" name="Google Shape;388;p54"/>
          <p:cNvGrpSpPr/>
          <p:nvPr/>
        </p:nvGrpSpPr>
        <p:grpSpPr>
          <a:xfrm>
            <a:off x="457200" y="1986775"/>
            <a:ext cx="776889" cy="621300"/>
            <a:chOff x="457200" y="1378813"/>
            <a:chExt cx="776889" cy="621300"/>
          </a:xfrm>
        </p:grpSpPr>
        <p:sp>
          <p:nvSpPr>
            <p:cNvPr id="389" name="Google Shape;389;p54"/>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Light"/>
                  <a:ea typeface="Roboto Light"/>
                  <a:cs typeface="Roboto Light"/>
                  <a:sym typeface="Roboto Light"/>
                </a:rPr>
                <a:t>02</a:t>
              </a:r>
              <a:endParaRPr i="0" sz="3000" u="none" cap="none" strike="noStrike">
                <a:solidFill>
                  <a:srgbClr val="FFFFFF"/>
                </a:solidFill>
                <a:latin typeface="Roboto Light"/>
                <a:ea typeface="Roboto Light"/>
                <a:cs typeface="Roboto Light"/>
                <a:sym typeface="Roboto Light"/>
              </a:endParaRPr>
            </a:p>
          </p:txBody>
        </p:sp>
        <p:sp>
          <p:nvSpPr>
            <p:cNvPr id="390" name="Google Shape;390;p54"/>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391" name="Google Shape;391;p54"/>
          <p:cNvGrpSpPr/>
          <p:nvPr/>
        </p:nvGrpSpPr>
        <p:grpSpPr>
          <a:xfrm>
            <a:off x="457200" y="2831900"/>
            <a:ext cx="776889" cy="621300"/>
            <a:chOff x="457200" y="1378813"/>
            <a:chExt cx="776889" cy="621300"/>
          </a:xfrm>
        </p:grpSpPr>
        <p:sp>
          <p:nvSpPr>
            <p:cNvPr id="392" name="Google Shape;392;p54"/>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Light"/>
                  <a:ea typeface="Roboto Light"/>
                  <a:cs typeface="Roboto Light"/>
                  <a:sym typeface="Roboto Light"/>
                </a:rPr>
                <a:t>03</a:t>
              </a:r>
              <a:endParaRPr i="0" sz="3000" u="none" cap="none" strike="noStrike">
                <a:solidFill>
                  <a:srgbClr val="FFFFFF"/>
                </a:solidFill>
                <a:latin typeface="Roboto Light"/>
                <a:ea typeface="Roboto Light"/>
                <a:cs typeface="Roboto Light"/>
                <a:sym typeface="Roboto Light"/>
              </a:endParaRPr>
            </a:p>
          </p:txBody>
        </p:sp>
        <p:sp>
          <p:nvSpPr>
            <p:cNvPr id="393" name="Google Shape;393;p54"/>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394" name="Google Shape;394;p54"/>
          <p:cNvSpPr/>
          <p:nvPr/>
        </p:nvSpPr>
        <p:spPr>
          <a:xfrm>
            <a:off x="1352550" y="19891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4"/>
          <p:cNvSpPr/>
          <p:nvPr/>
        </p:nvSpPr>
        <p:spPr>
          <a:xfrm>
            <a:off x="1352550" y="2831900"/>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54"/>
          <p:cNvSpPr txBox="1"/>
          <p:nvPr/>
        </p:nvSpPr>
        <p:spPr>
          <a:xfrm>
            <a:off x="-12300" y="1179258"/>
            <a:ext cx="91686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397" name="Google Shape;397;p54"/>
          <p:cNvSpPr txBox="1"/>
          <p:nvPr/>
        </p:nvSpPr>
        <p:spPr>
          <a:xfrm>
            <a:off x="-12300" y="1991588"/>
            <a:ext cx="91686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398" name="Google Shape;398;p54"/>
          <p:cNvSpPr txBox="1"/>
          <p:nvPr/>
        </p:nvSpPr>
        <p:spPr>
          <a:xfrm>
            <a:off x="0" y="2834313"/>
            <a:ext cx="91686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399" name="Google Shape;399;p54"/>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Heading slide">
  <p:cSld name="CUSTOM_21_2_1_2">
    <p:spTree>
      <p:nvGrpSpPr>
        <p:cNvPr id="400" name="Shape 400"/>
        <p:cNvGrpSpPr/>
        <p:nvPr/>
      </p:nvGrpSpPr>
      <p:grpSpPr>
        <a:xfrm>
          <a:off x="0" y="0"/>
          <a:ext cx="0" cy="0"/>
          <a:chOff x="0" y="0"/>
          <a:chExt cx="0" cy="0"/>
        </a:xfrm>
      </p:grpSpPr>
      <p:cxnSp>
        <p:nvCxnSpPr>
          <p:cNvPr id="401" name="Google Shape;401;p55"/>
          <p:cNvCxnSpPr/>
          <p:nvPr/>
        </p:nvCxnSpPr>
        <p:spPr>
          <a:xfrm>
            <a:off x="-9375" y="929900"/>
            <a:ext cx="7346700" cy="0"/>
          </a:xfrm>
          <a:prstGeom prst="straightConnector1">
            <a:avLst/>
          </a:prstGeom>
          <a:noFill/>
          <a:ln cap="flat" cmpd="sng" w="19050">
            <a:solidFill>
              <a:schemeClr val="dk2"/>
            </a:solidFill>
            <a:prstDash val="solid"/>
            <a:round/>
            <a:headEnd len="med" w="med" type="none"/>
            <a:tailEnd len="med" w="med" type="oval"/>
          </a:ln>
        </p:spPr>
      </p:cxnSp>
      <p:sp>
        <p:nvSpPr>
          <p:cNvPr id="402" name="Google Shape;402;p55"/>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3" name="Google Shape;403;p55"/>
          <p:cNvSpPr txBox="1"/>
          <p:nvPr>
            <p:ph idx="2"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4" name="Google Shape;404;p55"/>
          <p:cNvSpPr/>
          <p:nvPr/>
        </p:nvSpPr>
        <p:spPr>
          <a:xfrm>
            <a:off x="136025" y="2290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405" name="Shape 405"/>
        <p:cNvGrpSpPr/>
        <p:nvPr/>
      </p:nvGrpSpPr>
      <p:grpSpPr>
        <a:xfrm>
          <a:off x="0" y="0"/>
          <a:ext cx="0" cy="0"/>
          <a:chOff x="0" y="0"/>
          <a:chExt cx="0" cy="0"/>
        </a:xfrm>
      </p:grpSpPr>
      <p:sp>
        <p:nvSpPr>
          <p:cNvPr id="406" name="Google Shape;406;p56"/>
          <p:cNvSpPr/>
          <p:nvPr/>
        </p:nvSpPr>
        <p:spPr>
          <a:xfrm flipH="1">
            <a:off x="511775" y="1783100"/>
            <a:ext cx="2428500" cy="2918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7" name="Google Shape;407;p56"/>
          <p:cNvGrpSpPr/>
          <p:nvPr/>
        </p:nvGrpSpPr>
        <p:grpSpPr>
          <a:xfrm>
            <a:off x="511772" y="1190428"/>
            <a:ext cx="533372" cy="533480"/>
            <a:chOff x="457200" y="1378813"/>
            <a:chExt cx="695400" cy="695450"/>
          </a:xfrm>
        </p:grpSpPr>
        <p:sp>
          <p:nvSpPr>
            <p:cNvPr id="408" name="Google Shape;408;p56"/>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lt1"/>
                  </a:solidFill>
                  <a:latin typeface="Roboto"/>
                  <a:ea typeface="Roboto"/>
                  <a:cs typeface="Roboto"/>
                  <a:sym typeface="Roboto"/>
                </a:rPr>
                <a:t>01</a:t>
              </a:r>
              <a:endParaRPr i="0" sz="2100" u="none" cap="none" strike="noStrike">
                <a:solidFill>
                  <a:schemeClr val="lt1"/>
                </a:solidFill>
                <a:latin typeface="Roboto"/>
                <a:ea typeface="Roboto"/>
                <a:cs typeface="Roboto"/>
                <a:sym typeface="Roboto"/>
              </a:endParaRPr>
            </a:p>
          </p:txBody>
        </p:sp>
        <p:sp>
          <p:nvSpPr>
            <p:cNvPr id="409" name="Google Shape;409;p56"/>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chemeClr val="lt1"/>
                </a:solidFill>
                <a:latin typeface="Roboto"/>
                <a:ea typeface="Roboto"/>
                <a:cs typeface="Roboto"/>
                <a:sym typeface="Roboto"/>
              </a:endParaRPr>
            </a:p>
          </p:txBody>
        </p:sp>
      </p:grpSp>
      <p:grpSp>
        <p:nvGrpSpPr>
          <p:cNvPr id="410" name="Google Shape;410;p56"/>
          <p:cNvGrpSpPr/>
          <p:nvPr/>
        </p:nvGrpSpPr>
        <p:grpSpPr>
          <a:xfrm>
            <a:off x="3283547" y="1190428"/>
            <a:ext cx="533372" cy="533480"/>
            <a:chOff x="457200" y="1378813"/>
            <a:chExt cx="695400" cy="695450"/>
          </a:xfrm>
        </p:grpSpPr>
        <p:sp>
          <p:nvSpPr>
            <p:cNvPr id="411" name="Google Shape;411;p56"/>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dk2"/>
                  </a:solidFill>
                  <a:latin typeface="Roboto"/>
                  <a:ea typeface="Roboto"/>
                  <a:cs typeface="Roboto"/>
                  <a:sym typeface="Roboto"/>
                </a:rPr>
                <a:t>02</a:t>
              </a:r>
              <a:endParaRPr i="0" sz="2100" u="none" cap="none" strike="noStrike">
                <a:solidFill>
                  <a:schemeClr val="dk2"/>
                </a:solidFill>
                <a:latin typeface="Roboto"/>
                <a:ea typeface="Roboto"/>
                <a:cs typeface="Roboto"/>
                <a:sym typeface="Roboto"/>
              </a:endParaRPr>
            </a:p>
          </p:txBody>
        </p:sp>
        <p:sp>
          <p:nvSpPr>
            <p:cNvPr id="412" name="Google Shape;412;p56"/>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chemeClr val="dk2"/>
                </a:solidFill>
                <a:latin typeface="Roboto"/>
                <a:ea typeface="Roboto"/>
                <a:cs typeface="Roboto"/>
                <a:sym typeface="Roboto"/>
              </a:endParaRPr>
            </a:p>
          </p:txBody>
        </p:sp>
      </p:grpSp>
      <p:sp>
        <p:nvSpPr>
          <p:cNvPr id="413" name="Google Shape;413;p56"/>
          <p:cNvSpPr/>
          <p:nvPr/>
        </p:nvSpPr>
        <p:spPr>
          <a:xfrm flipH="1">
            <a:off x="3283550" y="1783100"/>
            <a:ext cx="2428500" cy="2918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4" name="Google Shape;414;p56"/>
          <p:cNvGrpSpPr/>
          <p:nvPr/>
        </p:nvGrpSpPr>
        <p:grpSpPr>
          <a:xfrm>
            <a:off x="6188672" y="1191178"/>
            <a:ext cx="533372" cy="533480"/>
            <a:chOff x="457200" y="1378813"/>
            <a:chExt cx="695400" cy="695450"/>
          </a:xfrm>
        </p:grpSpPr>
        <p:sp>
          <p:nvSpPr>
            <p:cNvPr id="415" name="Google Shape;415;p56"/>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accent5"/>
                  </a:solidFill>
                  <a:latin typeface="Roboto"/>
                  <a:ea typeface="Roboto"/>
                  <a:cs typeface="Roboto"/>
                  <a:sym typeface="Roboto"/>
                </a:rPr>
                <a:t>03</a:t>
              </a:r>
              <a:endParaRPr i="0" sz="2100" u="none" cap="none" strike="noStrike">
                <a:solidFill>
                  <a:schemeClr val="accent5"/>
                </a:solidFill>
                <a:latin typeface="Roboto"/>
                <a:ea typeface="Roboto"/>
                <a:cs typeface="Roboto"/>
                <a:sym typeface="Roboto"/>
              </a:endParaRPr>
            </a:p>
          </p:txBody>
        </p:sp>
        <p:sp>
          <p:nvSpPr>
            <p:cNvPr id="416" name="Google Shape;416;p56"/>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chemeClr val="accent5"/>
                </a:solidFill>
                <a:latin typeface="Roboto"/>
                <a:ea typeface="Roboto"/>
                <a:cs typeface="Roboto"/>
                <a:sym typeface="Roboto"/>
              </a:endParaRPr>
            </a:p>
          </p:txBody>
        </p:sp>
      </p:grpSp>
      <p:sp>
        <p:nvSpPr>
          <p:cNvPr id="417" name="Google Shape;417;p56"/>
          <p:cNvSpPr/>
          <p:nvPr/>
        </p:nvSpPr>
        <p:spPr>
          <a:xfrm flipH="1">
            <a:off x="6188675" y="1783922"/>
            <a:ext cx="2428500" cy="2918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9" name="Google Shape;419;p5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mc:AlternateContent>
    <mc:Choice Requires="p14">
      <p:transition p14:dur="400">
        <p:fade thruBlk="1"/>
      </p:transition>
    </mc:Choice>
    <mc:Fallback>
      <p:transition>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4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xml"/><Relationship Id="rId3" Type="http://schemas.openxmlformats.org/officeDocument/2006/relationships/hyperlink" Target="https://www.mckinsey.com/business-functions/risk-and-resilience/our-insights/a-new-posture-for-cybersecurity-in-a-networked-worl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 Id="rId3" Type="http://schemas.openxmlformats.org/officeDocument/2006/relationships/image" Target="../media/image4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xml"/><Relationship Id="rId3"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6.xml"/><Relationship Id="rId3"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8.xml"/><Relationship Id="rId3"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0.xml"/><Relationship Id="rId3" Type="http://schemas.openxmlformats.org/officeDocument/2006/relationships/image" Target="../media/image4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1.xml"/><Relationship Id="rId3" Type="http://schemas.openxmlformats.org/officeDocument/2006/relationships/image" Target="../media/image43.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2.xml"/><Relationship Id="rId3" Type="http://schemas.openxmlformats.org/officeDocument/2006/relationships/image" Target="../media/image4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4.xml"/><Relationship Id="rId3" Type="http://schemas.openxmlformats.org/officeDocument/2006/relationships/image" Target="../media/image4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6.xml"/><Relationship Id="rId3"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1.xml"/><Relationship Id="rId3"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 Id="rId3"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9.xml"/><Relationship Id="rId3"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1.xml"/><Relationship Id="rId3"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8.xml"/><Relationship Id="rId3" Type="http://schemas.openxmlformats.org/officeDocument/2006/relationships/image" Target="../media/image1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0.xml"/><Relationship Id="rId3" Type="http://schemas.openxmlformats.org/officeDocument/2006/relationships/image" Target="../media/image1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1.xml"/><Relationship Id="rId3" Type="http://schemas.openxmlformats.org/officeDocument/2006/relationships/image" Target="../media/image1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2.xml"/><Relationship Id="rId3" Type="http://schemas.openxmlformats.org/officeDocument/2006/relationships/image" Target="../media/image1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3.xml"/><Relationship Id="rId3"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4.xml"/><Relationship Id="rId3" Type="http://schemas.openxmlformats.org/officeDocument/2006/relationships/image" Target="../media/image1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5.xml"/><Relationship Id="rId3" Type="http://schemas.openxmlformats.org/officeDocument/2006/relationships/image" Target="../media/image1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6.xml"/><Relationship Id="rId3"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7.xml"/><Relationship Id="rId3"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2.xml"/><Relationship Id="rId3" Type="http://schemas.openxmlformats.org/officeDocument/2006/relationships/image" Target="../media/image3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6.xml"/><Relationship Id="rId3" Type="http://schemas.openxmlformats.org/officeDocument/2006/relationships/image" Target="../media/image1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9.xml"/><Relationship Id="rId3" Type="http://schemas.openxmlformats.org/officeDocument/2006/relationships/image" Target="../media/image3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7"/>
          <p:cNvSpPr txBox="1"/>
          <p:nvPr>
            <p:ph type="title"/>
          </p:nvPr>
        </p:nvSpPr>
        <p:spPr>
          <a:xfrm>
            <a:off x="4570700" y="1804650"/>
            <a:ext cx="44130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300"/>
              <a:t>Introduction to </a:t>
            </a:r>
            <a:br>
              <a:rPr lang="en" sz="3300"/>
            </a:br>
            <a:r>
              <a:rPr lang="en" sz="3300"/>
              <a:t>Security Within </a:t>
            </a:r>
            <a:br>
              <a:rPr lang="en" sz="3300"/>
            </a:br>
            <a:r>
              <a:rPr lang="en" sz="3300"/>
              <a:t>the Organization </a:t>
            </a:r>
            <a:endParaRPr sz="3300"/>
          </a:p>
        </p:txBody>
      </p:sp>
      <p:sp>
        <p:nvSpPr>
          <p:cNvPr id="425" name="Google Shape;425;p57"/>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26" name="Google Shape;426;p57"/>
          <p:cNvSpPr txBox="1"/>
          <p:nvPr/>
        </p:nvSpPr>
        <p:spPr>
          <a:xfrm>
            <a:off x="4572000" y="1127800"/>
            <a:ext cx="4572000" cy="185400"/>
          </a:xfrm>
          <a:prstGeom prst="rect">
            <a:avLst/>
          </a:prstGeom>
          <a:noFill/>
          <a:ln>
            <a:noFill/>
          </a:ln>
          <a:effectLst>
            <a:outerShdw blurRad="57150" rotWithShape="0" algn="bl" dir="5400000" dist="19050">
              <a:srgbClr val="000000">
                <a:alpha val="49800"/>
              </a:srgbClr>
            </a:outerShdw>
          </a:effectLst>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rgbClr val="FFFFFF"/>
                </a:solidFill>
                <a:latin typeface="Roboto"/>
                <a:ea typeface="Roboto"/>
                <a:cs typeface="Roboto"/>
                <a:sym typeface="Roboto"/>
              </a:rPr>
              <a:t>Cybersecurity</a:t>
            </a:r>
            <a:endParaRPr sz="1800">
              <a:solidFill>
                <a:srgbClr val="FFFFFF"/>
              </a:solidFill>
              <a:latin typeface="Roboto"/>
              <a:ea typeface="Roboto"/>
              <a:cs typeface="Roboto"/>
              <a:sym typeface="Roboto"/>
            </a:endParaRPr>
          </a:p>
        </p:txBody>
      </p:sp>
      <p:sp>
        <p:nvSpPr>
          <p:cNvPr id="427" name="Google Shape;427;p57"/>
          <p:cNvSpPr txBox="1"/>
          <p:nvPr/>
        </p:nvSpPr>
        <p:spPr>
          <a:xfrm>
            <a:off x="4570700" y="3543100"/>
            <a:ext cx="4557900" cy="244800"/>
          </a:xfrm>
          <a:prstGeom prst="rect">
            <a:avLst/>
          </a:prstGeom>
          <a:noFill/>
          <a:ln>
            <a:noFill/>
          </a:ln>
          <a:effectLst>
            <a:outerShdw blurRad="57150" rotWithShape="0" algn="bl" dir="5400000" dist="19050">
              <a:srgbClr val="000000">
                <a:alpha val="49800"/>
              </a:srgbClr>
            </a:outerShdw>
          </a:effectLst>
        </p:spPr>
        <p:txBody>
          <a:bodyPr anchorCtr="0" anchor="b" bIns="0" lIns="0" spcFirstLastPara="1" rIns="0" wrap="square" tIns="0">
            <a:noAutofit/>
          </a:bodyPr>
          <a:lstStyle/>
          <a:p>
            <a:pPr indent="0" lvl="0" marL="0" rtl="0" algn="l">
              <a:lnSpc>
                <a:spcPct val="115000"/>
              </a:lnSpc>
              <a:spcBef>
                <a:spcPts val="0"/>
              </a:spcBef>
              <a:spcAft>
                <a:spcPts val="0"/>
              </a:spcAft>
              <a:buNone/>
            </a:pPr>
            <a:r>
              <a:rPr lang="en" sz="1800">
                <a:solidFill>
                  <a:srgbClr val="FFFFFF"/>
                </a:solidFill>
                <a:latin typeface="Roboto"/>
                <a:ea typeface="Roboto"/>
                <a:cs typeface="Roboto"/>
                <a:sym typeface="Roboto"/>
              </a:rPr>
              <a:t>Lesson 22.1</a:t>
            </a:r>
            <a:endParaRPr sz="1800">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8"/>
          <p:cNvSpPr txBox="1"/>
          <p:nvPr>
            <p:ph idx="1" type="subTitle"/>
          </p:nvPr>
        </p:nvSpPr>
        <p:spPr>
          <a:xfrm>
            <a:off x="1148425" y="1205375"/>
            <a:ext cx="7110300" cy="400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700"/>
              <a:t>Identify at least three concrete benefits of a healthy security culture. </a:t>
            </a:r>
            <a:endParaRPr sz="1700"/>
          </a:p>
        </p:txBody>
      </p:sp>
      <p:sp>
        <p:nvSpPr>
          <p:cNvPr id="433" name="Google Shape;433;p58"/>
          <p:cNvSpPr txBox="1"/>
          <p:nvPr>
            <p:ph idx="2" type="subTitle"/>
          </p:nvPr>
        </p:nvSpPr>
        <p:spPr>
          <a:xfrm>
            <a:off x="1148425" y="1869900"/>
            <a:ext cx="7454100" cy="400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700"/>
              <a:t>Explain the responsibilities of common C-suite officers, including the CISO. </a:t>
            </a:r>
            <a:endParaRPr sz="1700"/>
          </a:p>
        </p:txBody>
      </p:sp>
      <p:sp>
        <p:nvSpPr>
          <p:cNvPr id="434" name="Google Shape;434;p58"/>
          <p:cNvSpPr txBox="1"/>
          <p:nvPr>
            <p:ph idx="3" type="subTitle"/>
          </p:nvPr>
        </p:nvSpPr>
        <p:spPr>
          <a:xfrm>
            <a:off x="1148425" y="2511988"/>
            <a:ext cx="7110300" cy="400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700"/>
              <a:t>Explain the responsibilities of a security department. </a:t>
            </a:r>
            <a:endParaRPr sz="1700"/>
          </a:p>
        </p:txBody>
      </p:sp>
      <p:sp>
        <p:nvSpPr>
          <p:cNvPr id="435" name="Google Shape;435;p58"/>
          <p:cNvSpPr txBox="1"/>
          <p:nvPr>
            <p:ph idx="4" type="subTitle"/>
          </p:nvPr>
        </p:nvSpPr>
        <p:spPr>
          <a:xfrm>
            <a:off x="1148425" y="3139725"/>
            <a:ext cx="7110300" cy="400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700"/>
              <a:t>Identify appropriate security controls for a given resource and situation. </a:t>
            </a:r>
            <a:endParaRPr sz="1700"/>
          </a:p>
        </p:txBody>
      </p:sp>
      <p:sp>
        <p:nvSpPr>
          <p:cNvPr id="436" name="Google Shape;436;p58"/>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Learning Objectives</a:t>
            </a:r>
            <a:endParaRPr/>
          </a:p>
        </p:txBody>
      </p:sp>
      <p:sp>
        <p:nvSpPr>
          <p:cNvPr id="437" name="Google Shape;437;p58"/>
          <p:cNvSpPr txBox="1"/>
          <p:nvPr>
            <p:ph idx="5" type="title"/>
          </p:nvPr>
        </p:nvSpPr>
        <p:spPr>
          <a:xfrm>
            <a:off x="-6000" y="47865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sz="1700">
                <a:latin typeface="Roboto"/>
                <a:ea typeface="Roboto"/>
                <a:cs typeface="Roboto"/>
                <a:sym typeface="Roboto"/>
              </a:rPr>
              <a:t>By the end of today’s </a:t>
            </a:r>
            <a:r>
              <a:rPr lang="en" sz="1700"/>
              <a:t>lesson</a:t>
            </a:r>
            <a:r>
              <a:rPr lang="en" sz="1700">
                <a:latin typeface="Roboto"/>
                <a:ea typeface="Roboto"/>
                <a:cs typeface="Roboto"/>
                <a:sym typeface="Roboto"/>
              </a:rPr>
              <a:t>, you’ll be able to: </a:t>
            </a:r>
            <a:endParaRPr sz="1700">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9"/>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Security Aligning </a:t>
            </a:r>
            <a:br>
              <a:rPr b="0" lang="en">
                <a:latin typeface="Roboto"/>
                <a:ea typeface="Roboto"/>
                <a:cs typeface="Roboto"/>
                <a:sym typeface="Roboto"/>
              </a:rPr>
            </a:br>
            <a:r>
              <a:rPr b="0" lang="en">
                <a:latin typeface="Roboto"/>
                <a:ea typeface="Roboto"/>
                <a:cs typeface="Roboto"/>
                <a:sym typeface="Roboto"/>
              </a:rPr>
              <a:t>With an </a:t>
            </a:r>
            <a:r>
              <a:rPr lang="en">
                <a:latin typeface="Roboto"/>
                <a:ea typeface="Roboto"/>
                <a:cs typeface="Roboto"/>
                <a:sym typeface="Roboto"/>
              </a:rPr>
              <a:t>Organization</a:t>
            </a:r>
            <a:r>
              <a:rPr lang="en"/>
              <a:t> </a:t>
            </a:r>
            <a:endParaRPr/>
          </a:p>
        </p:txBody>
      </p:sp>
      <p:pic>
        <p:nvPicPr>
          <p:cNvPr id="443" name="Google Shape;443;p59"/>
          <p:cNvPicPr preferRelativeResize="0"/>
          <p:nvPr/>
        </p:nvPicPr>
        <p:blipFill>
          <a:blip r:embed="rId3">
            <a:alphaModFix/>
          </a:blip>
          <a:stretch>
            <a:fillRect/>
          </a:stretch>
        </p:blipFill>
        <p:spPr>
          <a:xfrm>
            <a:off x="3888825" y="1262550"/>
            <a:ext cx="1366348" cy="13663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cxnSp>
        <p:nvCxnSpPr>
          <p:cNvPr id="448" name="Google Shape;448;p60"/>
          <p:cNvCxnSpPr>
            <a:endCxn id="449" idx="0"/>
          </p:cNvCxnSpPr>
          <p:nvPr/>
        </p:nvCxnSpPr>
        <p:spPr>
          <a:xfrm flipH="1">
            <a:off x="4682159" y="3354850"/>
            <a:ext cx="4800" cy="573600"/>
          </a:xfrm>
          <a:prstGeom prst="straightConnector1">
            <a:avLst/>
          </a:prstGeom>
          <a:noFill/>
          <a:ln cap="flat" cmpd="sng" w="19050">
            <a:solidFill>
              <a:schemeClr val="dk1"/>
            </a:solidFill>
            <a:prstDash val="solid"/>
            <a:round/>
            <a:headEnd len="med" w="med" type="none"/>
            <a:tailEnd len="med" w="med" type="none"/>
          </a:ln>
        </p:spPr>
      </p:cxnSp>
      <p:sp>
        <p:nvSpPr>
          <p:cNvPr id="450" name="Google Shape;450;p60"/>
          <p:cNvSpPr txBox="1"/>
          <p:nvPr>
            <p:ph idx="1" type="body"/>
          </p:nvPr>
        </p:nvSpPr>
        <p:spPr>
          <a:xfrm>
            <a:off x="464100" y="634950"/>
            <a:ext cx="8520600" cy="1306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Throughout this course, you will be equipped with the tools you need to perform </a:t>
            </a:r>
            <a:br>
              <a:rPr lang="en"/>
            </a:br>
            <a:r>
              <a:rPr lang="en"/>
              <a:t>in common technical roles. Today, we will see how these roles interact with one another and operate within the larger organization. </a:t>
            </a:r>
            <a:endParaRPr sz="1600">
              <a:highlight>
                <a:schemeClr val="accent1"/>
              </a:highlight>
            </a:endParaRPr>
          </a:p>
          <a:p>
            <a:pPr indent="0" lvl="0" marL="0" rtl="0" algn="l">
              <a:spcBef>
                <a:spcPts val="1600"/>
              </a:spcBef>
              <a:spcAft>
                <a:spcPts val="0"/>
              </a:spcAft>
              <a:buClr>
                <a:schemeClr val="dk1"/>
              </a:buClr>
              <a:buSzPts val="1100"/>
              <a:buFont typeface="Arial"/>
              <a:buNone/>
            </a:pPr>
            <a:r>
              <a:rPr lang="en" sz="1400"/>
              <a:t>Example: </a:t>
            </a:r>
            <a:r>
              <a:rPr lang="en" sz="1400"/>
              <a:t>Specific structures</a:t>
            </a:r>
            <a:endParaRPr sz="1400"/>
          </a:p>
          <a:p>
            <a:pPr indent="0" lvl="0" marL="0" rtl="0" algn="l">
              <a:spcBef>
                <a:spcPts val="0"/>
              </a:spcBef>
              <a:spcAft>
                <a:spcPts val="0"/>
              </a:spcAft>
              <a:buClr>
                <a:schemeClr val="dk1"/>
              </a:buClr>
              <a:buSzPts val="1100"/>
              <a:buFont typeface="Arial"/>
              <a:buNone/>
            </a:pPr>
            <a:r>
              <a:rPr lang="en" sz="1400"/>
              <a:t>within organizations vary.</a:t>
            </a:r>
            <a:endParaRPr sz="1400"/>
          </a:p>
        </p:txBody>
      </p:sp>
      <p:cxnSp>
        <p:nvCxnSpPr>
          <p:cNvPr id="451" name="Google Shape;451;p60"/>
          <p:cNvCxnSpPr/>
          <p:nvPr/>
        </p:nvCxnSpPr>
        <p:spPr>
          <a:xfrm>
            <a:off x="2716799" y="3836837"/>
            <a:ext cx="5242800" cy="0"/>
          </a:xfrm>
          <a:prstGeom prst="straightConnector1">
            <a:avLst/>
          </a:prstGeom>
          <a:noFill/>
          <a:ln cap="flat" cmpd="sng" w="9525">
            <a:solidFill>
              <a:schemeClr val="dk1"/>
            </a:solidFill>
            <a:prstDash val="dot"/>
            <a:round/>
            <a:headEnd len="med" w="med" type="none"/>
            <a:tailEnd len="med" w="med" type="none"/>
          </a:ln>
        </p:spPr>
      </p:cxnSp>
      <p:sp>
        <p:nvSpPr>
          <p:cNvPr id="452" name="Google Shape;452;p60"/>
          <p:cNvSpPr txBox="1"/>
          <p:nvPr>
            <p:ph idx="4294967295" type="subTitle"/>
          </p:nvPr>
        </p:nvSpPr>
        <p:spPr>
          <a:xfrm>
            <a:off x="274325" y="4791525"/>
            <a:ext cx="7971900" cy="226800"/>
          </a:xfrm>
          <a:prstGeom prst="rect">
            <a:avLst/>
          </a:prstGeom>
        </p:spPr>
        <p:txBody>
          <a:bodyPr anchorCtr="0" anchor="t" bIns="91425" lIns="0" spcFirstLastPara="1" rIns="91425" wrap="square" tIns="0">
            <a:noAutofit/>
          </a:bodyPr>
          <a:lstStyle/>
          <a:p>
            <a:pPr indent="0" lvl="0" marL="0" rtl="0" algn="l">
              <a:lnSpc>
                <a:spcPct val="95000"/>
              </a:lnSpc>
              <a:spcBef>
                <a:spcPts val="0"/>
              </a:spcBef>
              <a:spcAft>
                <a:spcPts val="0"/>
              </a:spcAft>
              <a:buSzPts val="275"/>
              <a:buNone/>
            </a:pPr>
            <a:r>
              <a:rPr lang="en" sz="1300">
                <a:solidFill>
                  <a:schemeClr val="dk1"/>
                </a:solidFill>
                <a:latin typeface="Roboto Light"/>
                <a:ea typeface="Roboto Light"/>
                <a:cs typeface="Roboto Light"/>
                <a:sym typeface="Roboto Light"/>
              </a:rPr>
              <a:t>Source: </a:t>
            </a:r>
            <a:r>
              <a:rPr lang="en" sz="1300" u="sng">
                <a:solidFill>
                  <a:schemeClr val="dk1"/>
                </a:solidFill>
                <a:latin typeface="Roboto Light"/>
                <a:ea typeface="Roboto Light"/>
                <a:cs typeface="Roboto Light"/>
                <a:sym typeface="Roboto Light"/>
                <a:hlinkClick r:id="rId3">
                  <a:extLst>
                    <a:ext uri="{A12FA001-AC4F-418D-AE19-62706E023703}">
                      <ahyp:hlinkClr val="tx"/>
                    </a:ext>
                  </a:extLst>
                </a:hlinkClick>
              </a:rPr>
              <a:t>mckinsey.com</a:t>
            </a:r>
            <a:endParaRPr sz="1300">
              <a:solidFill>
                <a:schemeClr val="dk1"/>
              </a:solidFill>
              <a:latin typeface="Roboto Light"/>
              <a:ea typeface="Roboto Light"/>
              <a:cs typeface="Roboto Light"/>
              <a:sym typeface="Roboto Light"/>
            </a:endParaRPr>
          </a:p>
        </p:txBody>
      </p:sp>
      <p:sp>
        <p:nvSpPr>
          <p:cNvPr id="453" name="Google Shape;453;p60"/>
          <p:cNvSpPr txBox="1"/>
          <p:nvPr>
            <p:ph type="title"/>
          </p:nvPr>
        </p:nvSpPr>
        <p:spPr>
          <a:xfrm>
            <a:off x="457200" y="1466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Aligning With an Organization</a:t>
            </a:r>
            <a:endParaRPr i="1"/>
          </a:p>
          <a:p>
            <a:pPr indent="0" lvl="0" marL="0" rtl="0" algn="l">
              <a:lnSpc>
                <a:spcPct val="115000"/>
              </a:lnSpc>
              <a:spcBef>
                <a:spcPts val="0"/>
              </a:spcBef>
              <a:spcAft>
                <a:spcPts val="0"/>
              </a:spcAft>
              <a:buNone/>
            </a:pPr>
            <a:r>
              <a:t/>
            </a:r>
            <a:endParaRPr b="0" sz="1400">
              <a:latin typeface="Roboto Light"/>
              <a:ea typeface="Roboto Light"/>
              <a:cs typeface="Roboto Light"/>
              <a:sym typeface="Roboto Light"/>
            </a:endParaRPr>
          </a:p>
          <a:p>
            <a:pPr indent="0" lvl="0" marL="0" rtl="0" algn="l">
              <a:spcBef>
                <a:spcPts val="1600"/>
              </a:spcBef>
              <a:spcAft>
                <a:spcPts val="0"/>
              </a:spcAft>
              <a:buNone/>
            </a:pPr>
            <a:r>
              <a:t/>
            </a:r>
            <a:endParaRPr/>
          </a:p>
        </p:txBody>
      </p:sp>
      <p:sp>
        <p:nvSpPr>
          <p:cNvPr id="454" name="Google Shape;454;p60"/>
          <p:cNvSpPr/>
          <p:nvPr/>
        </p:nvSpPr>
        <p:spPr>
          <a:xfrm>
            <a:off x="5863225" y="2455475"/>
            <a:ext cx="1573500" cy="411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dk2"/>
                </a:solidFill>
                <a:latin typeface="Roboto"/>
                <a:ea typeface="Roboto"/>
                <a:cs typeface="Roboto"/>
                <a:sym typeface="Roboto"/>
              </a:rPr>
              <a:t>Enterprise CIO</a:t>
            </a:r>
            <a:endParaRPr b="1" i="0" sz="1000" u="none" cap="none" strike="noStrike">
              <a:solidFill>
                <a:schemeClr val="dk2"/>
              </a:solidFill>
              <a:latin typeface="Roboto"/>
              <a:ea typeface="Roboto"/>
              <a:cs typeface="Roboto"/>
              <a:sym typeface="Roboto"/>
            </a:endParaRPr>
          </a:p>
        </p:txBody>
      </p:sp>
      <p:sp>
        <p:nvSpPr>
          <p:cNvPr id="455" name="Google Shape;455;p60"/>
          <p:cNvSpPr/>
          <p:nvPr/>
        </p:nvSpPr>
        <p:spPr>
          <a:xfrm>
            <a:off x="1360024" y="3600587"/>
            <a:ext cx="1251600" cy="41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lt1"/>
                </a:solidFill>
                <a:latin typeface="Roboto"/>
                <a:ea typeface="Roboto"/>
                <a:cs typeface="Roboto"/>
                <a:sym typeface="Roboto"/>
              </a:rPr>
              <a:t>Cyberstrategy Standards</a:t>
            </a:r>
            <a:endParaRPr b="1" i="0" sz="1000" u="none" cap="none" strike="noStrike">
              <a:solidFill>
                <a:schemeClr val="lt1"/>
              </a:solidFill>
              <a:latin typeface="Roboto"/>
              <a:ea typeface="Roboto"/>
              <a:cs typeface="Roboto"/>
              <a:sym typeface="Roboto"/>
            </a:endParaRPr>
          </a:p>
        </p:txBody>
      </p:sp>
      <p:sp>
        <p:nvSpPr>
          <p:cNvPr id="456" name="Google Shape;456;p60"/>
          <p:cNvSpPr/>
          <p:nvPr/>
        </p:nvSpPr>
        <p:spPr>
          <a:xfrm>
            <a:off x="1360024" y="3108025"/>
            <a:ext cx="1251600" cy="41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lt1"/>
                </a:solidFill>
                <a:latin typeface="Roboto"/>
                <a:ea typeface="Roboto"/>
                <a:cs typeface="Roboto"/>
                <a:sym typeface="Roboto"/>
              </a:rPr>
              <a:t>Chief Information Security Officer</a:t>
            </a:r>
            <a:endParaRPr b="1" i="0" sz="1000" u="none" cap="none" strike="noStrike">
              <a:solidFill>
                <a:schemeClr val="lt1"/>
              </a:solidFill>
              <a:latin typeface="Roboto"/>
              <a:ea typeface="Roboto"/>
              <a:cs typeface="Roboto"/>
              <a:sym typeface="Roboto"/>
            </a:endParaRPr>
          </a:p>
        </p:txBody>
      </p:sp>
      <p:sp>
        <p:nvSpPr>
          <p:cNvPr id="457" name="Google Shape;457;p60"/>
          <p:cNvSpPr/>
          <p:nvPr/>
        </p:nvSpPr>
        <p:spPr>
          <a:xfrm>
            <a:off x="1360024" y="4093149"/>
            <a:ext cx="1251600" cy="41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lt1"/>
                </a:solidFill>
                <a:latin typeface="Roboto"/>
                <a:ea typeface="Roboto"/>
                <a:cs typeface="Roboto"/>
                <a:sym typeface="Roboto"/>
              </a:rPr>
              <a:t>Security</a:t>
            </a:r>
            <a:r>
              <a:rPr b="1" lang="en" sz="1000">
                <a:solidFill>
                  <a:schemeClr val="lt1"/>
                </a:solidFill>
                <a:latin typeface="Roboto"/>
                <a:ea typeface="Roboto"/>
                <a:cs typeface="Roboto"/>
                <a:sym typeface="Roboto"/>
              </a:rPr>
              <a:t> Architecture</a:t>
            </a:r>
            <a:endParaRPr b="1" i="0" sz="1000" u="none" cap="none" strike="noStrike">
              <a:solidFill>
                <a:schemeClr val="lt1"/>
              </a:solidFill>
              <a:latin typeface="Roboto"/>
              <a:ea typeface="Roboto"/>
              <a:cs typeface="Roboto"/>
              <a:sym typeface="Roboto"/>
            </a:endParaRPr>
          </a:p>
        </p:txBody>
      </p:sp>
      <p:cxnSp>
        <p:nvCxnSpPr>
          <p:cNvPr id="458" name="Google Shape;458;p60"/>
          <p:cNvCxnSpPr>
            <a:stCxn id="456" idx="1"/>
            <a:endCxn id="457" idx="1"/>
          </p:cNvCxnSpPr>
          <p:nvPr/>
        </p:nvCxnSpPr>
        <p:spPr>
          <a:xfrm>
            <a:off x="1360024" y="3313825"/>
            <a:ext cx="600" cy="985200"/>
          </a:xfrm>
          <a:prstGeom prst="bentConnector3">
            <a:avLst>
              <a:gd fmla="val -27545724" name="adj1"/>
            </a:avLst>
          </a:prstGeom>
          <a:noFill/>
          <a:ln cap="flat" cmpd="sng" w="19050">
            <a:solidFill>
              <a:schemeClr val="dk1"/>
            </a:solidFill>
            <a:prstDash val="solid"/>
            <a:round/>
            <a:headEnd len="med" w="med" type="none"/>
            <a:tailEnd len="med" w="med" type="none"/>
          </a:ln>
        </p:spPr>
      </p:cxnSp>
      <p:cxnSp>
        <p:nvCxnSpPr>
          <p:cNvPr id="459" name="Google Shape;459;p60"/>
          <p:cNvCxnSpPr>
            <a:endCxn id="455" idx="1"/>
          </p:cNvCxnSpPr>
          <p:nvPr/>
        </p:nvCxnSpPr>
        <p:spPr>
          <a:xfrm>
            <a:off x="1186624" y="3806387"/>
            <a:ext cx="173400" cy="0"/>
          </a:xfrm>
          <a:prstGeom prst="straightConnector1">
            <a:avLst/>
          </a:prstGeom>
          <a:noFill/>
          <a:ln cap="flat" cmpd="sng" w="19050">
            <a:solidFill>
              <a:schemeClr val="dk1"/>
            </a:solidFill>
            <a:prstDash val="solid"/>
            <a:round/>
            <a:headEnd len="med" w="med" type="none"/>
            <a:tailEnd len="med" w="med" type="none"/>
          </a:ln>
        </p:spPr>
      </p:cxnSp>
      <p:sp>
        <p:nvSpPr>
          <p:cNvPr id="460" name="Google Shape;460;p60"/>
          <p:cNvSpPr/>
          <p:nvPr/>
        </p:nvSpPr>
        <p:spPr>
          <a:xfrm>
            <a:off x="2836144" y="3108013"/>
            <a:ext cx="1107900" cy="41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lt1"/>
                </a:solidFill>
                <a:latin typeface="Roboto"/>
                <a:ea typeface="Roboto"/>
                <a:cs typeface="Roboto"/>
                <a:sym typeface="Roboto"/>
              </a:rPr>
              <a:t>Physical Security</a:t>
            </a:r>
            <a:endParaRPr b="1" i="0" sz="1000" u="none" cap="none" strike="noStrike">
              <a:solidFill>
                <a:schemeClr val="lt1"/>
              </a:solidFill>
              <a:latin typeface="Roboto"/>
              <a:ea typeface="Roboto"/>
              <a:cs typeface="Roboto"/>
              <a:sym typeface="Roboto"/>
            </a:endParaRPr>
          </a:p>
        </p:txBody>
      </p:sp>
      <p:sp>
        <p:nvSpPr>
          <p:cNvPr id="461" name="Google Shape;461;p60"/>
          <p:cNvSpPr/>
          <p:nvPr/>
        </p:nvSpPr>
        <p:spPr>
          <a:xfrm>
            <a:off x="4128209" y="3108013"/>
            <a:ext cx="1107900" cy="41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lt1"/>
                </a:solidFill>
                <a:latin typeface="Roboto"/>
                <a:ea typeface="Roboto"/>
                <a:cs typeface="Roboto"/>
                <a:sym typeface="Roboto"/>
              </a:rPr>
              <a:t>Business Continuity</a:t>
            </a:r>
            <a:endParaRPr b="1" i="0" sz="1000" u="none" cap="none" strike="noStrike">
              <a:solidFill>
                <a:schemeClr val="lt1"/>
              </a:solidFill>
              <a:latin typeface="Roboto"/>
              <a:ea typeface="Roboto"/>
              <a:cs typeface="Roboto"/>
              <a:sym typeface="Roboto"/>
            </a:endParaRPr>
          </a:p>
        </p:txBody>
      </p:sp>
      <p:sp>
        <p:nvSpPr>
          <p:cNvPr id="462" name="Google Shape;462;p60"/>
          <p:cNvSpPr/>
          <p:nvPr/>
        </p:nvSpPr>
        <p:spPr>
          <a:xfrm>
            <a:off x="2836144" y="2474120"/>
            <a:ext cx="1107900" cy="41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300"/>
              <a:buFont typeface="Arial"/>
              <a:buNone/>
            </a:pPr>
            <a:r>
              <a:rPr b="1" lang="en" sz="1000">
                <a:solidFill>
                  <a:schemeClr val="lt1"/>
                </a:solidFill>
                <a:latin typeface="Roboto"/>
                <a:ea typeface="Roboto"/>
                <a:cs typeface="Roboto"/>
                <a:sym typeface="Roboto"/>
              </a:rPr>
              <a:t>Enterprise Chief Security Officer</a:t>
            </a:r>
            <a:endParaRPr b="1" i="0" sz="1000" u="none" cap="none" strike="noStrike">
              <a:solidFill>
                <a:schemeClr val="lt1"/>
              </a:solidFill>
              <a:latin typeface="Roboto"/>
              <a:ea typeface="Roboto"/>
              <a:cs typeface="Roboto"/>
              <a:sym typeface="Roboto"/>
            </a:endParaRPr>
          </a:p>
        </p:txBody>
      </p:sp>
      <p:sp>
        <p:nvSpPr>
          <p:cNvPr id="463" name="Google Shape;463;p60"/>
          <p:cNvSpPr/>
          <p:nvPr/>
        </p:nvSpPr>
        <p:spPr>
          <a:xfrm>
            <a:off x="4133155" y="2455474"/>
            <a:ext cx="1107900" cy="411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dk2"/>
                </a:solidFill>
                <a:latin typeface="Roboto"/>
                <a:ea typeface="Roboto"/>
                <a:cs typeface="Roboto"/>
                <a:sym typeface="Roboto"/>
              </a:rPr>
              <a:t>Head</a:t>
            </a:r>
            <a:r>
              <a:rPr b="1" lang="en" sz="1000">
                <a:solidFill>
                  <a:schemeClr val="dk2"/>
                </a:solidFill>
                <a:latin typeface="Roboto"/>
                <a:ea typeface="Roboto"/>
                <a:cs typeface="Roboto"/>
                <a:sym typeface="Roboto"/>
              </a:rPr>
              <a:t> of Production</a:t>
            </a:r>
            <a:endParaRPr b="1" i="0" sz="1000" u="none" cap="none" strike="noStrike">
              <a:solidFill>
                <a:schemeClr val="dk2"/>
              </a:solidFill>
              <a:latin typeface="Roboto"/>
              <a:ea typeface="Roboto"/>
              <a:cs typeface="Roboto"/>
              <a:sym typeface="Roboto"/>
            </a:endParaRPr>
          </a:p>
        </p:txBody>
      </p:sp>
      <p:sp>
        <p:nvSpPr>
          <p:cNvPr id="449" name="Google Shape;449;p60"/>
          <p:cNvSpPr/>
          <p:nvPr/>
        </p:nvSpPr>
        <p:spPr>
          <a:xfrm>
            <a:off x="4128209" y="3928450"/>
            <a:ext cx="1107900" cy="41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lt1"/>
                </a:solidFill>
                <a:latin typeface="Roboto"/>
                <a:ea typeface="Roboto"/>
                <a:cs typeface="Roboto"/>
                <a:sym typeface="Roboto"/>
              </a:rPr>
              <a:t>Crisis Management</a:t>
            </a:r>
            <a:endParaRPr b="1" i="0" sz="1000" u="none" cap="none" strike="noStrike">
              <a:solidFill>
                <a:schemeClr val="lt1"/>
              </a:solidFill>
              <a:latin typeface="Roboto"/>
              <a:ea typeface="Roboto"/>
              <a:cs typeface="Roboto"/>
              <a:sym typeface="Roboto"/>
            </a:endParaRPr>
          </a:p>
        </p:txBody>
      </p:sp>
      <p:sp>
        <p:nvSpPr>
          <p:cNvPr id="464" name="Google Shape;464;p60"/>
          <p:cNvSpPr/>
          <p:nvPr/>
        </p:nvSpPr>
        <p:spPr>
          <a:xfrm>
            <a:off x="4133155" y="1758037"/>
            <a:ext cx="1107900" cy="411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dk2"/>
                </a:solidFill>
                <a:latin typeface="Roboto"/>
                <a:ea typeface="Roboto"/>
                <a:cs typeface="Roboto"/>
                <a:sym typeface="Roboto"/>
              </a:rPr>
              <a:t>COO/Chief Risk Officer</a:t>
            </a:r>
            <a:endParaRPr b="1" i="0" sz="1000" u="none" cap="none" strike="noStrike">
              <a:solidFill>
                <a:schemeClr val="dk2"/>
              </a:solidFill>
              <a:latin typeface="Roboto"/>
              <a:ea typeface="Roboto"/>
              <a:cs typeface="Roboto"/>
              <a:sym typeface="Roboto"/>
            </a:endParaRPr>
          </a:p>
        </p:txBody>
      </p:sp>
      <p:sp>
        <p:nvSpPr>
          <p:cNvPr id="465" name="Google Shape;465;p60"/>
          <p:cNvSpPr/>
          <p:nvPr/>
        </p:nvSpPr>
        <p:spPr>
          <a:xfrm>
            <a:off x="7635574" y="2455475"/>
            <a:ext cx="1251600" cy="411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dk2"/>
                </a:solidFill>
                <a:latin typeface="Roboto"/>
                <a:ea typeface="Roboto"/>
                <a:cs typeface="Roboto"/>
                <a:sym typeface="Roboto"/>
              </a:rPr>
              <a:t>Product Heads</a:t>
            </a:r>
            <a:endParaRPr b="1" i="0" sz="1000" u="none" cap="none" strike="noStrike">
              <a:solidFill>
                <a:schemeClr val="dk2"/>
              </a:solidFill>
              <a:latin typeface="Roboto"/>
              <a:ea typeface="Roboto"/>
              <a:cs typeface="Roboto"/>
              <a:sym typeface="Roboto"/>
            </a:endParaRPr>
          </a:p>
        </p:txBody>
      </p:sp>
      <p:cxnSp>
        <p:nvCxnSpPr>
          <p:cNvPr id="466" name="Google Shape;466;p60"/>
          <p:cNvCxnSpPr>
            <a:endCxn id="460" idx="0"/>
          </p:cNvCxnSpPr>
          <p:nvPr/>
        </p:nvCxnSpPr>
        <p:spPr>
          <a:xfrm>
            <a:off x="3390094" y="2867113"/>
            <a:ext cx="0" cy="240900"/>
          </a:xfrm>
          <a:prstGeom prst="straightConnector1">
            <a:avLst/>
          </a:prstGeom>
          <a:noFill/>
          <a:ln cap="flat" cmpd="sng" w="19050">
            <a:solidFill>
              <a:schemeClr val="dk1"/>
            </a:solidFill>
            <a:prstDash val="solid"/>
            <a:round/>
            <a:headEnd len="med" w="med" type="none"/>
            <a:tailEnd len="med" w="med" type="none"/>
          </a:ln>
        </p:spPr>
      </p:cxnSp>
      <p:cxnSp>
        <p:nvCxnSpPr>
          <p:cNvPr id="467" name="Google Shape;467;p60"/>
          <p:cNvCxnSpPr>
            <a:stCxn id="456" idx="0"/>
            <a:endCxn id="461" idx="0"/>
          </p:cNvCxnSpPr>
          <p:nvPr/>
        </p:nvCxnSpPr>
        <p:spPr>
          <a:xfrm flipH="1" rot="-5400000">
            <a:off x="3333724" y="1760125"/>
            <a:ext cx="600" cy="2696400"/>
          </a:xfrm>
          <a:prstGeom prst="bentConnector3">
            <a:avLst>
              <a:gd fmla="val -19762500" name="adj1"/>
            </a:avLst>
          </a:prstGeom>
          <a:noFill/>
          <a:ln cap="flat" cmpd="sng" w="19050">
            <a:solidFill>
              <a:schemeClr val="dk1"/>
            </a:solidFill>
            <a:prstDash val="solid"/>
            <a:round/>
            <a:headEnd len="med" w="med" type="none"/>
            <a:tailEnd len="med" w="med" type="none"/>
          </a:ln>
        </p:spPr>
      </p:cxnSp>
      <p:cxnSp>
        <p:nvCxnSpPr>
          <p:cNvPr id="468" name="Google Shape;468;p60"/>
          <p:cNvCxnSpPr>
            <a:stCxn id="464" idx="2"/>
            <a:endCxn id="463" idx="0"/>
          </p:cNvCxnSpPr>
          <p:nvPr/>
        </p:nvCxnSpPr>
        <p:spPr>
          <a:xfrm>
            <a:off x="4687105" y="2169637"/>
            <a:ext cx="0" cy="285900"/>
          </a:xfrm>
          <a:prstGeom prst="straightConnector1">
            <a:avLst/>
          </a:prstGeom>
          <a:noFill/>
          <a:ln cap="flat" cmpd="sng" w="19050">
            <a:solidFill>
              <a:schemeClr val="dk2"/>
            </a:solidFill>
            <a:prstDash val="solid"/>
            <a:round/>
            <a:headEnd len="med" w="med" type="none"/>
            <a:tailEnd len="med" w="med" type="none"/>
          </a:ln>
        </p:spPr>
      </p:cxnSp>
      <p:sp>
        <p:nvSpPr>
          <p:cNvPr id="469" name="Google Shape;469;p60"/>
          <p:cNvSpPr/>
          <p:nvPr/>
        </p:nvSpPr>
        <p:spPr>
          <a:xfrm>
            <a:off x="5863225" y="3618113"/>
            <a:ext cx="1573500" cy="411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dk2"/>
                </a:solidFill>
                <a:latin typeface="Roboto"/>
                <a:ea typeface="Roboto"/>
                <a:cs typeface="Roboto"/>
                <a:sym typeface="Roboto"/>
              </a:rPr>
              <a:t>IT/Operating Technology Architecture</a:t>
            </a:r>
            <a:endParaRPr b="1" i="0" sz="1000" u="none" cap="none" strike="noStrike">
              <a:solidFill>
                <a:schemeClr val="dk2"/>
              </a:solidFill>
              <a:latin typeface="Roboto"/>
              <a:ea typeface="Roboto"/>
              <a:cs typeface="Roboto"/>
              <a:sym typeface="Roboto"/>
            </a:endParaRPr>
          </a:p>
        </p:txBody>
      </p:sp>
      <p:sp>
        <p:nvSpPr>
          <p:cNvPr id="470" name="Google Shape;470;p60"/>
          <p:cNvSpPr/>
          <p:nvPr/>
        </p:nvSpPr>
        <p:spPr>
          <a:xfrm>
            <a:off x="5863225" y="4093150"/>
            <a:ext cx="1573500" cy="411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dk2"/>
                </a:solidFill>
                <a:latin typeface="Roboto"/>
                <a:ea typeface="Roboto"/>
                <a:cs typeface="Roboto"/>
                <a:sym typeface="Roboto"/>
              </a:rPr>
              <a:t>Operations Incident Response</a:t>
            </a:r>
            <a:endParaRPr b="1" i="0" sz="1000" u="none" cap="none" strike="noStrike">
              <a:solidFill>
                <a:schemeClr val="dk2"/>
              </a:solidFill>
              <a:latin typeface="Roboto"/>
              <a:ea typeface="Roboto"/>
              <a:cs typeface="Roboto"/>
              <a:sym typeface="Roboto"/>
            </a:endParaRPr>
          </a:p>
        </p:txBody>
      </p:sp>
      <p:sp>
        <p:nvSpPr>
          <p:cNvPr id="471" name="Google Shape;471;p60"/>
          <p:cNvSpPr/>
          <p:nvPr/>
        </p:nvSpPr>
        <p:spPr>
          <a:xfrm>
            <a:off x="5863225" y="4568188"/>
            <a:ext cx="1573500" cy="41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lt1"/>
                </a:solidFill>
                <a:latin typeface="Roboto"/>
                <a:ea typeface="Roboto"/>
                <a:cs typeface="Roboto"/>
                <a:sym typeface="Roboto"/>
              </a:rPr>
              <a:t>IT Security</a:t>
            </a:r>
            <a:endParaRPr b="1" i="0" sz="1000" u="none" cap="none" strike="noStrike">
              <a:solidFill>
                <a:schemeClr val="lt1"/>
              </a:solidFill>
              <a:latin typeface="Roboto"/>
              <a:ea typeface="Roboto"/>
              <a:cs typeface="Roboto"/>
              <a:sym typeface="Roboto"/>
            </a:endParaRPr>
          </a:p>
        </p:txBody>
      </p:sp>
      <p:sp>
        <p:nvSpPr>
          <p:cNvPr id="472" name="Google Shape;472;p60"/>
          <p:cNvSpPr/>
          <p:nvPr/>
        </p:nvSpPr>
        <p:spPr>
          <a:xfrm>
            <a:off x="7635574" y="3618113"/>
            <a:ext cx="1251600" cy="41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300"/>
              <a:buFont typeface="Arial"/>
              <a:buNone/>
            </a:pPr>
            <a:r>
              <a:rPr b="1" lang="en" sz="1000">
                <a:solidFill>
                  <a:schemeClr val="lt1"/>
                </a:solidFill>
                <a:latin typeface="Roboto"/>
                <a:ea typeface="Roboto"/>
                <a:cs typeface="Roboto"/>
                <a:sym typeface="Roboto"/>
              </a:rPr>
              <a:t>S</a:t>
            </a:r>
            <a:r>
              <a:rPr b="1" lang="en" sz="1000">
                <a:solidFill>
                  <a:schemeClr val="lt1"/>
                </a:solidFill>
                <a:latin typeface="Roboto"/>
                <a:ea typeface="Roboto"/>
                <a:cs typeface="Roboto"/>
                <a:sym typeface="Roboto"/>
              </a:rPr>
              <a:t>ecurity Standards </a:t>
            </a:r>
            <a:br>
              <a:rPr b="1" lang="en" sz="1000">
                <a:solidFill>
                  <a:schemeClr val="lt1"/>
                </a:solidFill>
                <a:latin typeface="Roboto"/>
                <a:ea typeface="Roboto"/>
                <a:cs typeface="Roboto"/>
                <a:sym typeface="Roboto"/>
              </a:rPr>
            </a:br>
            <a:r>
              <a:rPr b="1" lang="en" sz="1000">
                <a:solidFill>
                  <a:schemeClr val="lt1"/>
                </a:solidFill>
                <a:latin typeface="Roboto"/>
                <a:ea typeface="Roboto"/>
                <a:cs typeface="Roboto"/>
                <a:sym typeface="Roboto"/>
              </a:rPr>
              <a:t>and Design</a:t>
            </a:r>
            <a:endParaRPr b="1" i="0" sz="1000" u="none" cap="none" strike="noStrike">
              <a:solidFill>
                <a:schemeClr val="lt1"/>
              </a:solidFill>
              <a:latin typeface="Roboto"/>
              <a:ea typeface="Roboto"/>
              <a:cs typeface="Roboto"/>
              <a:sym typeface="Roboto"/>
            </a:endParaRPr>
          </a:p>
        </p:txBody>
      </p:sp>
      <p:cxnSp>
        <p:nvCxnSpPr>
          <p:cNvPr id="473" name="Google Shape;473;p60"/>
          <p:cNvCxnSpPr>
            <a:stCxn id="454" idx="1"/>
            <a:endCxn id="471" idx="1"/>
          </p:cNvCxnSpPr>
          <p:nvPr/>
        </p:nvCxnSpPr>
        <p:spPr>
          <a:xfrm>
            <a:off x="5863225" y="2661275"/>
            <a:ext cx="600" cy="2112600"/>
          </a:xfrm>
          <a:prstGeom prst="bentConnector3">
            <a:avLst>
              <a:gd fmla="val -39687500" name="adj1"/>
            </a:avLst>
          </a:prstGeom>
          <a:noFill/>
          <a:ln cap="flat" cmpd="sng" w="19050">
            <a:solidFill>
              <a:schemeClr val="dk2"/>
            </a:solidFill>
            <a:prstDash val="solid"/>
            <a:round/>
            <a:headEnd len="med" w="med" type="none"/>
            <a:tailEnd len="med" w="med" type="none"/>
          </a:ln>
        </p:spPr>
      </p:cxnSp>
      <p:cxnSp>
        <p:nvCxnSpPr>
          <p:cNvPr id="474" name="Google Shape;474;p60"/>
          <p:cNvCxnSpPr>
            <a:stCxn id="462" idx="0"/>
            <a:endCxn id="454" idx="0"/>
          </p:cNvCxnSpPr>
          <p:nvPr/>
        </p:nvCxnSpPr>
        <p:spPr>
          <a:xfrm rot="-5400000">
            <a:off x="5010694" y="834920"/>
            <a:ext cx="18600" cy="3259800"/>
          </a:xfrm>
          <a:prstGeom prst="bentConnector3">
            <a:avLst>
              <a:gd fmla="val 796077" name="adj1"/>
            </a:avLst>
          </a:prstGeom>
          <a:noFill/>
          <a:ln cap="flat" cmpd="sng" w="19050">
            <a:solidFill>
              <a:schemeClr val="dk2"/>
            </a:solidFill>
            <a:prstDash val="solid"/>
            <a:round/>
            <a:headEnd len="med" w="med" type="none"/>
            <a:tailEnd len="med" w="med" type="none"/>
          </a:ln>
        </p:spPr>
      </p:cxnSp>
      <p:cxnSp>
        <p:nvCxnSpPr>
          <p:cNvPr id="475" name="Google Shape;475;p60"/>
          <p:cNvCxnSpPr>
            <a:stCxn id="470" idx="1"/>
          </p:cNvCxnSpPr>
          <p:nvPr/>
        </p:nvCxnSpPr>
        <p:spPr>
          <a:xfrm rot="10800000">
            <a:off x="5625025" y="4298950"/>
            <a:ext cx="238200" cy="0"/>
          </a:xfrm>
          <a:prstGeom prst="straightConnector1">
            <a:avLst/>
          </a:prstGeom>
          <a:noFill/>
          <a:ln cap="flat" cmpd="sng" w="19050">
            <a:solidFill>
              <a:schemeClr val="dk2"/>
            </a:solidFill>
            <a:prstDash val="solid"/>
            <a:round/>
            <a:headEnd len="med" w="med" type="none"/>
            <a:tailEnd len="med" w="med" type="none"/>
          </a:ln>
        </p:spPr>
      </p:cxnSp>
      <p:cxnSp>
        <p:nvCxnSpPr>
          <p:cNvPr id="476" name="Google Shape;476;p60"/>
          <p:cNvCxnSpPr>
            <a:stCxn id="465" idx="2"/>
            <a:endCxn id="472" idx="0"/>
          </p:cNvCxnSpPr>
          <p:nvPr/>
        </p:nvCxnSpPr>
        <p:spPr>
          <a:xfrm>
            <a:off x="8261374" y="2867075"/>
            <a:ext cx="0" cy="750900"/>
          </a:xfrm>
          <a:prstGeom prst="straightConnector1">
            <a:avLst/>
          </a:prstGeom>
          <a:noFill/>
          <a:ln cap="flat" cmpd="sng" w="19050">
            <a:solidFill>
              <a:schemeClr val="dk2"/>
            </a:solidFill>
            <a:prstDash val="solid"/>
            <a:round/>
            <a:headEnd len="med" w="med" type="none"/>
            <a:tailEnd len="med" w="med" type="none"/>
          </a:ln>
        </p:spPr>
      </p:cxnSp>
      <p:cxnSp>
        <p:nvCxnSpPr>
          <p:cNvPr id="477" name="Google Shape;477;p60"/>
          <p:cNvCxnSpPr>
            <a:stCxn id="456" idx="3"/>
            <a:endCxn id="471" idx="1"/>
          </p:cNvCxnSpPr>
          <p:nvPr/>
        </p:nvCxnSpPr>
        <p:spPr>
          <a:xfrm>
            <a:off x="2611624" y="3313825"/>
            <a:ext cx="3251700" cy="1460100"/>
          </a:xfrm>
          <a:prstGeom prst="bentConnector3">
            <a:avLst>
              <a:gd fmla="val 3055" name="adj1"/>
            </a:avLst>
          </a:prstGeom>
          <a:noFill/>
          <a:ln cap="flat" cmpd="sng" w="9525">
            <a:solidFill>
              <a:schemeClr val="dk1"/>
            </a:solidFill>
            <a:prstDash val="dot"/>
            <a:round/>
            <a:headEnd len="med" w="med" type="none"/>
            <a:tailEnd len="med" w="med" type="none"/>
          </a:ln>
        </p:spPr>
      </p:cxnSp>
      <p:sp>
        <p:nvSpPr>
          <p:cNvPr id="478" name="Google Shape;478;p60"/>
          <p:cNvSpPr/>
          <p:nvPr/>
        </p:nvSpPr>
        <p:spPr>
          <a:xfrm>
            <a:off x="466850" y="2487750"/>
            <a:ext cx="173400" cy="173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60"/>
          <p:cNvSpPr txBox="1"/>
          <p:nvPr/>
        </p:nvSpPr>
        <p:spPr>
          <a:xfrm>
            <a:off x="717072" y="2489850"/>
            <a:ext cx="12516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1000">
                <a:solidFill>
                  <a:schemeClr val="dk2"/>
                </a:solidFill>
                <a:latin typeface="Roboto"/>
                <a:ea typeface="Roboto"/>
                <a:cs typeface="Roboto"/>
                <a:sym typeface="Roboto"/>
              </a:rPr>
              <a:t>Cybersecurity Team</a:t>
            </a:r>
            <a:endParaRPr b="1" sz="1000">
              <a:solidFill>
                <a:schemeClr val="dk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1"/>
          <p:cNvSpPr txBox="1"/>
          <p:nvPr>
            <p:ph type="title"/>
          </p:nvPr>
        </p:nvSpPr>
        <p:spPr>
          <a:xfrm>
            <a:off x="457200" y="2164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GRC Framework</a:t>
            </a:r>
            <a:endParaRPr b="0" sz="1400">
              <a:latin typeface="Roboto Light"/>
              <a:ea typeface="Roboto Light"/>
              <a:cs typeface="Roboto Light"/>
              <a:sym typeface="Roboto Light"/>
            </a:endParaRPr>
          </a:p>
          <a:p>
            <a:pPr indent="0" lvl="0" marL="0" rtl="0" algn="l">
              <a:spcBef>
                <a:spcPts val="0"/>
              </a:spcBef>
              <a:spcAft>
                <a:spcPts val="0"/>
              </a:spcAft>
              <a:buNone/>
            </a:pPr>
            <a:r>
              <a:t/>
            </a:r>
            <a:endParaRPr/>
          </a:p>
        </p:txBody>
      </p:sp>
      <p:pic>
        <p:nvPicPr>
          <p:cNvPr id="485" name="Google Shape;485;p61"/>
          <p:cNvPicPr preferRelativeResize="0"/>
          <p:nvPr/>
        </p:nvPicPr>
        <p:blipFill rotWithShape="1">
          <a:blip r:embed="rId3">
            <a:alphaModFix/>
          </a:blip>
          <a:srcRect b="0" l="0" r="0" t="0"/>
          <a:stretch/>
        </p:blipFill>
        <p:spPr>
          <a:xfrm>
            <a:off x="993428" y="1085976"/>
            <a:ext cx="6845443" cy="3850538"/>
          </a:xfrm>
          <a:prstGeom prst="rect">
            <a:avLst/>
          </a:prstGeom>
          <a:noFill/>
          <a:ln>
            <a:noFill/>
          </a:ln>
        </p:spPr>
      </p:pic>
      <p:sp>
        <p:nvSpPr>
          <p:cNvPr id="486" name="Google Shape;486;p61"/>
          <p:cNvSpPr txBox="1"/>
          <p:nvPr/>
        </p:nvSpPr>
        <p:spPr>
          <a:xfrm>
            <a:off x="1188650" y="1469100"/>
            <a:ext cx="3130800" cy="3084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2000">
                <a:solidFill>
                  <a:schemeClr val="accent5"/>
                </a:solidFill>
                <a:latin typeface="Roboto"/>
                <a:ea typeface="Roboto"/>
                <a:cs typeface="Roboto"/>
                <a:sym typeface="Roboto"/>
              </a:rPr>
              <a:t>What assets are </a:t>
            </a:r>
            <a:br>
              <a:rPr lang="en" sz="2000">
                <a:solidFill>
                  <a:schemeClr val="accent5"/>
                </a:solidFill>
                <a:latin typeface="Roboto"/>
                <a:ea typeface="Roboto"/>
                <a:cs typeface="Roboto"/>
                <a:sym typeface="Roboto"/>
              </a:rPr>
            </a:br>
            <a:r>
              <a:rPr lang="en" sz="2000">
                <a:solidFill>
                  <a:schemeClr val="accent5"/>
                </a:solidFill>
                <a:latin typeface="Roboto"/>
                <a:ea typeface="Roboto"/>
                <a:cs typeface="Roboto"/>
                <a:sym typeface="Roboto"/>
              </a:rPr>
              <a:t>most important?</a:t>
            </a:r>
            <a:endParaRPr i="0" sz="2000" u="none" cap="none" strike="noStrike">
              <a:solidFill>
                <a:schemeClr val="accent5"/>
              </a:solidFill>
              <a:latin typeface="Roboto"/>
              <a:ea typeface="Roboto"/>
              <a:cs typeface="Roboto"/>
              <a:sym typeface="Roboto"/>
            </a:endParaRPr>
          </a:p>
        </p:txBody>
      </p:sp>
      <p:sp>
        <p:nvSpPr>
          <p:cNvPr id="487" name="Google Shape;487;p61"/>
          <p:cNvSpPr txBox="1"/>
          <p:nvPr/>
        </p:nvSpPr>
        <p:spPr>
          <a:xfrm>
            <a:off x="4504375" y="1469100"/>
            <a:ext cx="3130800" cy="3084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2000">
                <a:solidFill>
                  <a:schemeClr val="accent5"/>
                </a:solidFill>
                <a:latin typeface="Roboto"/>
                <a:ea typeface="Roboto"/>
                <a:cs typeface="Roboto"/>
                <a:sym typeface="Roboto"/>
              </a:rPr>
              <a:t>What is adequate protection?</a:t>
            </a:r>
            <a:endParaRPr i="0" sz="2000" u="none" cap="none" strike="noStrike">
              <a:solidFill>
                <a:schemeClr val="accent5"/>
              </a:solidFill>
              <a:latin typeface="Roboto"/>
              <a:ea typeface="Roboto"/>
              <a:cs typeface="Roboto"/>
              <a:sym typeface="Roboto"/>
            </a:endParaRPr>
          </a:p>
        </p:txBody>
      </p:sp>
      <p:sp>
        <p:nvSpPr>
          <p:cNvPr id="488" name="Google Shape;488;p61"/>
          <p:cNvSpPr txBox="1"/>
          <p:nvPr>
            <p:ph idx="1" type="body"/>
          </p:nvPr>
        </p:nvSpPr>
        <p:spPr>
          <a:xfrm>
            <a:off x="464100" y="712925"/>
            <a:ext cx="8520600" cy="393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GRC is a framework for answering the following questions: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2"/>
          <p:cNvSpPr txBox="1"/>
          <p:nvPr>
            <p:ph type="title"/>
          </p:nvPr>
        </p:nvSpPr>
        <p:spPr>
          <a:xfrm>
            <a:off x="76250" y="135292"/>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GRC Framework</a:t>
            </a:r>
            <a:endParaRPr/>
          </a:p>
        </p:txBody>
      </p:sp>
      <p:sp>
        <p:nvSpPr>
          <p:cNvPr id="494" name="Google Shape;494;p62"/>
          <p:cNvSpPr txBox="1"/>
          <p:nvPr/>
        </p:nvSpPr>
        <p:spPr>
          <a:xfrm>
            <a:off x="608075" y="1444750"/>
            <a:ext cx="2183100" cy="30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Governance </a:t>
            </a:r>
            <a:endParaRPr b="1" sz="1800">
              <a:solidFill>
                <a:schemeClr val="lt1"/>
              </a:solidFill>
              <a:latin typeface="Roboto"/>
              <a:ea typeface="Roboto"/>
              <a:cs typeface="Roboto"/>
              <a:sym typeface="Roboto"/>
            </a:endParaRPr>
          </a:p>
        </p:txBody>
      </p:sp>
      <p:sp>
        <p:nvSpPr>
          <p:cNvPr id="495" name="Google Shape;495;p62"/>
          <p:cNvSpPr txBox="1"/>
          <p:nvPr/>
        </p:nvSpPr>
        <p:spPr>
          <a:xfrm>
            <a:off x="608075" y="1917200"/>
            <a:ext cx="2183100" cy="13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Creating management processes for implementing security practices across the organization.</a:t>
            </a:r>
            <a:endParaRPr sz="1800">
              <a:solidFill>
                <a:schemeClr val="dk2"/>
              </a:solidFill>
              <a:latin typeface="Roboto"/>
              <a:ea typeface="Roboto"/>
              <a:cs typeface="Roboto"/>
              <a:sym typeface="Roboto"/>
            </a:endParaRPr>
          </a:p>
        </p:txBody>
      </p:sp>
      <p:sp>
        <p:nvSpPr>
          <p:cNvPr id="496" name="Google Shape;496;p62"/>
          <p:cNvSpPr txBox="1"/>
          <p:nvPr/>
        </p:nvSpPr>
        <p:spPr>
          <a:xfrm>
            <a:off x="3480500" y="1444750"/>
            <a:ext cx="2183100" cy="30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Risk Management </a:t>
            </a:r>
            <a:endParaRPr b="1" sz="1800">
              <a:solidFill>
                <a:schemeClr val="dk2"/>
              </a:solidFill>
              <a:latin typeface="Roboto"/>
              <a:ea typeface="Roboto"/>
              <a:cs typeface="Roboto"/>
              <a:sym typeface="Roboto"/>
            </a:endParaRPr>
          </a:p>
        </p:txBody>
      </p:sp>
      <p:sp>
        <p:nvSpPr>
          <p:cNvPr id="497" name="Google Shape;497;p62"/>
          <p:cNvSpPr txBox="1"/>
          <p:nvPr/>
        </p:nvSpPr>
        <p:spPr>
          <a:xfrm>
            <a:off x="3480438" y="1917200"/>
            <a:ext cx="2183100" cy="13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Identifying an organization’s most important assets and determining how they might be compromised. </a:t>
            </a:r>
            <a:endParaRPr sz="1800">
              <a:solidFill>
                <a:schemeClr val="dk2"/>
              </a:solidFill>
              <a:latin typeface="Roboto"/>
              <a:ea typeface="Roboto"/>
              <a:cs typeface="Roboto"/>
              <a:sym typeface="Roboto"/>
            </a:endParaRPr>
          </a:p>
        </p:txBody>
      </p:sp>
      <p:sp>
        <p:nvSpPr>
          <p:cNvPr id="498" name="Google Shape;498;p62"/>
          <p:cNvSpPr txBox="1"/>
          <p:nvPr/>
        </p:nvSpPr>
        <p:spPr>
          <a:xfrm>
            <a:off x="6429750" y="1444750"/>
            <a:ext cx="2183100" cy="30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Compliance</a:t>
            </a:r>
            <a:r>
              <a:rPr lang="en">
                <a:latin typeface="Roboto Light"/>
                <a:ea typeface="Roboto Light"/>
                <a:cs typeface="Roboto Light"/>
                <a:sym typeface="Roboto Light"/>
              </a:rPr>
              <a:t> </a:t>
            </a:r>
            <a:endParaRPr>
              <a:latin typeface="Roboto Light"/>
              <a:ea typeface="Roboto Light"/>
              <a:cs typeface="Roboto Light"/>
              <a:sym typeface="Roboto Light"/>
            </a:endParaRPr>
          </a:p>
        </p:txBody>
      </p:sp>
      <p:sp>
        <p:nvSpPr>
          <p:cNvPr id="499" name="Google Shape;499;p62"/>
          <p:cNvSpPr txBox="1"/>
          <p:nvPr/>
        </p:nvSpPr>
        <p:spPr>
          <a:xfrm>
            <a:off x="6429750" y="1917200"/>
            <a:ext cx="2183100" cy="11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Making sure the business follows internal security policies and adheres to relevant security laws.</a:t>
            </a:r>
            <a:endParaRPr sz="1800">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3"/>
          <p:cNvSpPr txBox="1"/>
          <p:nvPr>
            <p:ph type="title"/>
          </p:nvPr>
        </p:nvSpPr>
        <p:spPr>
          <a:xfrm>
            <a:off x="3152675" y="808393"/>
            <a:ext cx="5604900" cy="35370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3600">
                <a:latin typeface="Roboto"/>
                <a:ea typeface="Roboto"/>
                <a:cs typeface="Roboto"/>
                <a:sym typeface="Roboto"/>
              </a:rPr>
              <a:t>We define “important” </a:t>
            </a:r>
            <a:br>
              <a:rPr lang="en" sz="3600">
                <a:latin typeface="Roboto"/>
                <a:ea typeface="Roboto"/>
                <a:cs typeface="Roboto"/>
                <a:sym typeface="Roboto"/>
              </a:rPr>
            </a:br>
            <a:r>
              <a:rPr lang="en" sz="3600">
                <a:latin typeface="Roboto"/>
                <a:ea typeface="Roboto"/>
                <a:cs typeface="Roboto"/>
                <a:sym typeface="Roboto"/>
              </a:rPr>
              <a:t>by asking:</a:t>
            </a:r>
            <a:r>
              <a:rPr b="0" lang="en" sz="3600"/>
              <a:t> </a:t>
            </a:r>
            <a:r>
              <a:rPr b="0" lang="en" sz="3600">
                <a:latin typeface="Roboto"/>
                <a:ea typeface="Roboto"/>
                <a:cs typeface="Roboto"/>
                <a:sym typeface="Roboto"/>
              </a:rPr>
              <a:t>How would a security compromise of this asset affect the profits of  the business?</a:t>
            </a:r>
            <a:r>
              <a:rPr b="0" lang="en">
                <a:latin typeface="Roboto"/>
                <a:ea typeface="Roboto"/>
                <a:cs typeface="Roboto"/>
                <a:sym typeface="Roboto"/>
              </a:rPr>
              <a:t> </a:t>
            </a:r>
            <a:endParaRPr b="0">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4"/>
          <p:cNvSpPr txBox="1"/>
          <p:nvPr>
            <p:ph type="title"/>
          </p:nvPr>
        </p:nvSpPr>
        <p:spPr>
          <a:xfrm>
            <a:off x="3145526" y="1616650"/>
            <a:ext cx="5182500" cy="13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The more significant the loss, the more important the asset.</a:t>
            </a:r>
            <a:endParaRPr b="0">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513" name="Shape 513"/>
        <p:cNvGrpSpPr/>
        <p:nvPr/>
      </p:nvGrpSpPr>
      <p:grpSpPr>
        <a:xfrm>
          <a:off x="0" y="0"/>
          <a:ext cx="0" cy="0"/>
          <a:chOff x="0" y="0"/>
          <a:chExt cx="0" cy="0"/>
        </a:xfrm>
      </p:grpSpPr>
      <p:sp>
        <p:nvSpPr>
          <p:cNvPr id="514" name="Google Shape;514;p65"/>
          <p:cNvSpPr txBox="1"/>
          <p:nvPr>
            <p:ph type="title"/>
          </p:nvPr>
        </p:nvSpPr>
        <p:spPr>
          <a:xfrm>
            <a:off x="457200" y="2164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GRC Framework</a:t>
            </a:r>
            <a:endParaRPr b="0" sz="1400">
              <a:latin typeface="Roboto Light"/>
              <a:ea typeface="Roboto Light"/>
              <a:cs typeface="Roboto Light"/>
              <a:sym typeface="Roboto Light"/>
            </a:endParaRPr>
          </a:p>
          <a:p>
            <a:pPr indent="0" lvl="0" marL="0" rtl="0" algn="l">
              <a:spcBef>
                <a:spcPts val="0"/>
              </a:spcBef>
              <a:spcAft>
                <a:spcPts val="0"/>
              </a:spcAft>
              <a:buNone/>
            </a:pPr>
            <a:r>
              <a:t/>
            </a:r>
            <a:endParaRPr/>
          </a:p>
        </p:txBody>
      </p:sp>
      <p:sp>
        <p:nvSpPr>
          <p:cNvPr id="515" name="Google Shape;515;p65"/>
          <p:cNvSpPr txBox="1"/>
          <p:nvPr>
            <p:ph idx="1" type="body"/>
          </p:nvPr>
        </p:nvSpPr>
        <p:spPr>
          <a:xfrm>
            <a:off x="494575" y="789125"/>
            <a:ext cx="8237100" cy="623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We will study how GRC frameworks are considered and implemented into </a:t>
            </a:r>
            <a:br>
              <a:rPr lang="en"/>
            </a:br>
            <a:r>
              <a:rPr lang="en"/>
              <a:t>a business by first examining the following: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pic>
        <p:nvPicPr>
          <p:cNvPr id="516" name="Google Shape;516;p65"/>
          <p:cNvPicPr preferRelativeResize="0"/>
          <p:nvPr/>
        </p:nvPicPr>
        <p:blipFill rotWithShape="1">
          <a:blip r:embed="rId3">
            <a:alphaModFix/>
          </a:blip>
          <a:srcRect b="-4129" l="-1758" r="-1707" t="-3698"/>
          <a:stretch/>
        </p:blipFill>
        <p:spPr>
          <a:xfrm>
            <a:off x="3382875" y="1757075"/>
            <a:ext cx="5379099" cy="2776700"/>
          </a:xfrm>
          <a:prstGeom prst="rect">
            <a:avLst/>
          </a:prstGeom>
          <a:noFill/>
          <a:ln>
            <a:noFill/>
          </a:ln>
        </p:spPr>
      </p:pic>
      <p:sp>
        <p:nvSpPr>
          <p:cNvPr id="517" name="Google Shape;517;p65"/>
          <p:cNvSpPr txBox="1"/>
          <p:nvPr/>
        </p:nvSpPr>
        <p:spPr>
          <a:xfrm>
            <a:off x="4060500" y="3264150"/>
            <a:ext cx="13389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lt1"/>
                </a:solidFill>
                <a:latin typeface="Roboto Medium"/>
                <a:ea typeface="Roboto Medium"/>
                <a:cs typeface="Roboto Medium"/>
                <a:sym typeface="Roboto Medium"/>
              </a:rPr>
              <a:t>The</a:t>
            </a:r>
            <a:endParaRPr sz="1800">
              <a:solidFill>
                <a:schemeClr val="lt1"/>
              </a:solidFill>
              <a:latin typeface="Roboto Medium"/>
              <a:ea typeface="Roboto Medium"/>
              <a:cs typeface="Roboto Medium"/>
              <a:sym typeface="Roboto Medium"/>
            </a:endParaRPr>
          </a:p>
          <a:p>
            <a:pPr indent="0" lvl="0" marL="0" rtl="0" algn="ctr">
              <a:spcBef>
                <a:spcPts val="0"/>
              </a:spcBef>
              <a:spcAft>
                <a:spcPts val="0"/>
              </a:spcAft>
              <a:buNone/>
            </a:pPr>
            <a:r>
              <a:rPr lang="en" sz="1800">
                <a:solidFill>
                  <a:schemeClr val="lt1"/>
                </a:solidFill>
                <a:latin typeface="Roboto Medium"/>
                <a:ea typeface="Roboto Medium"/>
                <a:cs typeface="Roboto Medium"/>
                <a:sym typeface="Roboto Medium"/>
              </a:rPr>
              <a:t>Executive</a:t>
            </a:r>
            <a:endParaRPr sz="1800">
              <a:solidFill>
                <a:schemeClr val="lt1"/>
              </a:solidFill>
              <a:latin typeface="Roboto Medium"/>
              <a:ea typeface="Roboto Medium"/>
              <a:cs typeface="Roboto Medium"/>
              <a:sym typeface="Roboto Medium"/>
            </a:endParaRPr>
          </a:p>
          <a:p>
            <a:pPr indent="0" lvl="0" marL="0" rtl="0" algn="ctr">
              <a:spcBef>
                <a:spcPts val="0"/>
              </a:spcBef>
              <a:spcAft>
                <a:spcPts val="0"/>
              </a:spcAft>
              <a:buNone/>
            </a:pPr>
            <a:r>
              <a:rPr lang="en" sz="1800">
                <a:solidFill>
                  <a:schemeClr val="lt1"/>
                </a:solidFill>
                <a:latin typeface="Roboto Medium"/>
                <a:ea typeface="Roboto Medium"/>
                <a:cs typeface="Roboto Medium"/>
                <a:sym typeface="Roboto Medium"/>
              </a:rPr>
              <a:t>Team</a:t>
            </a:r>
            <a:endParaRPr sz="1800">
              <a:solidFill>
                <a:schemeClr val="lt1"/>
              </a:solidFill>
              <a:latin typeface="Roboto Medium"/>
              <a:ea typeface="Roboto Medium"/>
              <a:cs typeface="Roboto Medium"/>
              <a:sym typeface="Roboto Medium"/>
            </a:endParaRPr>
          </a:p>
        </p:txBody>
      </p:sp>
      <p:sp>
        <p:nvSpPr>
          <p:cNvPr id="518" name="Google Shape;518;p65"/>
          <p:cNvSpPr txBox="1"/>
          <p:nvPr/>
        </p:nvSpPr>
        <p:spPr>
          <a:xfrm>
            <a:off x="5912050" y="3264150"/>
            <a:ext cx="18981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lt1"/>
                </a:solidFill>
                <a:latin typeface="Roboto Medium"/>
                <a:ea typeface="Roboto Medium"/>
                <a:cs typeface="Roboto Medium"/>
                <a:sym typeface="Roboto Medium"/>
              </a:rPr>
              <a:t>The</a:t>
            </a:r>
            <a:endParaRPr sz="1800">
              <a:solidFill>
                <a:schemeClr val="lt1"/>
              </a:solidFill>
              <a:latin typeface="Roboto Medium"/>
              <a:ea typeface="Roboto Medium"/>
              <a:cs typeface="Roboto Medium"/>
              <a:sym typeface="Roboto Medium"/>
            </a:endParaRPr>
          </a:p>
          <a:p>
            <a:pPr indent="0" lvl="0" marL="0" rtl="0" algn="ctr">
              <a:spcBef>
                <a:spcPts val="0"/>
              </a:spcBef>
              <a:spcAft>
                <a:spcPts val="0"/>
              </a:spcAft>
              <a:buNone/>
            </a:pPr>
            <a:r>
              <a:rPr lang="en" sz="1800">
                <a:solidFill>
                  <a:schemeClr val="lt1"/>
                </a:solidFill>
                <a:latin typeface="Roboto Medium"/>
                <a:ea typeface="Roboto Medium"/>
                <a:cs typeface="Roboto Medium"/>
                <a:sym typeface="Roboto Medium"/>
              </a:rPr>
              <a:t>Security</a:t>
            </a:r>
            <a:endParaRPr sz="1800">
              <a:solidFill>
                <a:schemeClr val="lt1"/>
              </a:solidFill>
              <a:latin typeface="Roboto Medium"/>
              <a:ea typeface="Roboto Medium"/>
              <a:cs typeface="Roboto Medium"/>
              <a:sym typeface="Roboto Medium"/>
            </a:endParaRPr>
          </a:p>
          <a:p>
            <a:pPr indent="0" lvl="0" marL="0" rtl="0" algn="ctr">
              <a:spcBef>
                <a:spcPts val="0"/>
              </a:spcBef>
              <a:spcAft>
                <a:spcPts val="0"/>
              </a:spcAft>
              <a:buNone/>
            </a:pPr>
            <a:r>
              <a:rPr lang="en" sz="1800">
                <a:solidFill>
                  <a:schemeClr val="lt1"/>
                </a:solidFill>
                <a:latin typeface="Roboto Medium"/>
                <a:ea typeface="Roboto Medium"/>
                <a:cs typeface="Roboto Medium"/>
                <a:sym typeface="Roboto Medium"/>
              </a:rPr>
              <a:t>Team</a:t>
            </a:r>
            <a:endParaRPr sz="1800">
              <a:solidFill>
                <a:schemeClr val="lt1"/>
              </a:solidFill>
              <a:latin typeface="Roboto Medium"/>
              <a:ea typeface="Roboto Medium"/>
              <a:cs typeface="Roboto Medium"/>
              <a:sym typeface="Roboto Medium"/>
            </a:endParaRPr>
          </a:p>
        </p:txBody>
      </p:sp>
      <p:sp>
        <p:nvSpPr>
          <p:cNvPr id="519" name="Google Shape;519;p65"/>
          <p:cNvSpPr txBox="1"/>
          <p:nvPr/>
        </p:nvSpPr>
        <p:spPr>
          <a:xfrm>
            <a:off x="392921" y="1534875"/>
            <a:ext cx="26211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The </a:t>
            </a:r>
            <a:r>
              <a:rPr b="1" lang="en" sz="1800">
                <a:solidFill>
                  <a:schemeClr val="dk2"/>
                </a:solidFill>
                <a:latin typeface="Roboto"/>
                <a:ea typeface="Roboto"/>
                <a:cs typeface="Roboto"/>
                <a:sym typeface="Roboto"/>
              </a:rPr>
              <a:t>executive </a:t>
            </a:r>
            <a:br>
              <a:rPr b="1" lang="en" sz="1800">
                <a:solidFill>
                  <a:schemeClr val="dk2"/>
                </a:solidFill>
                <a:latin typeface="Roboto"/>
                <a:ea typeface="Roboto"/>
                <a:cs typeface="Roboto"/>
                <a:sym typeface="Roboto"/>
              </a:rPr>
            </a:br>
            <a:r>
              <a:rPr b="1" lang="en" sz="1800">
                <a:solidFill>
                  <a:schemeClr val="dk2"/>
                </a:solidFill>
                <a:latin typeface="Roboto"/>
                <a:ea typeface="Roboto"/>
                <a:cs typeface="Roboto"/>
                <a:sym typeface="Roboto"/>
              </a:rPr>
              <a:t>management team </a:t>
            </a:r>
            <a:r>
              <a:rPr lang="en" sz="1800">
                <a:solidFill>
                  <a:schemeClr val="dk2"/>
                </a:solidFill>
                <a:latin typeface="Roboto"/>
                <a:ea typeface="Roboto"/>
                <a:cs typeface="Roboto"/>
                <a:sym typeface="Roboto"/>
              </a:rPr>
              <a:t>is ultimately responsible for the adherence and enforcement of laws, regulations, and security practices.</a:t>
            </a:r>
            <a:endParaRPr sz="1800">
              <a:solidFill>
                <a:schemeClr val="dk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6"/>
          <p:cNvSpPr txBox="1"/>
          <p:nvPr>
            <p:ph type="title"/>
          </p:nvPr>
        </p:nvSpPr>
        <p:spPr>
          <a:xfrm>
            <a:off x="462300" y="217947"/>
            <a:ext cx="88272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Management</a:t>
            </a:r>
            <a:endParaRPr/>
          </a:p>
        </p:txBody>
      </p:sp>
      <p:cxnSp>
        <p:nvCxnSpPr>
          <p:cNvPr id="525" name="Google Shape;525;p66"/>
          <p:cNvCxnSpPr/>
          <p:nvPr/>
        </p:nvCxnSpPr>
        <p:spPr>
          <a:xfrm>
            <a:off x="30950" y="1978775"/>
            <a:ext cx="1014300" cy="0"/>
          </a:xfrm>
          <a:prstGeom prst="straightConnector1">
            <a:avLst/>
          </a:prstGeom>
          <a:noFill/>
          <a:ln cap="flat" cmpd="sng" w="19050">
            <a:solidFill>
              <a:srgbClr val="2E5E73"/>
            </a:solidFill>
            <a:prstDash val="solid"/>
            <a:round/>
            <a:headEnd len="med" w="med" type="none"/>
            <a:tailEnd len="med" w="med" type="oval"/>
          </a:ln>
        </p:spPr>
      </p:cxnSp>
      <p:cxnSp>
        <p:nvCxnSpPr>
          <p:cNvPr id="526" name="Google Shape;526;p66"/>
          <p:cNvCxnSpPr/>
          <p:nvPr/>
        </p:nvCxnSpPr>
        <p:spPr>
          <a:xfrm>
            <a:off x="0" y="1299550"/>
            <a:ext cx="1045200" cy="0"/>
          </a:xfrm>
          <a:prstGeom prst="straightConnector1">
            <a:avLst/>
          </a:prstGeom>
          <a:noFill/>
          <a:ln cap="flat" cmpd="sng" w="19050">
            <a:solidFill>
              <a:srgbClr val="2E5E73"/>
            </a:solidFill>
            <a:prstDash val="solid"/>
            <a:round/>
            <a:headEnd len="med" w="med" type="none"/>
            <a:tailEnd len="med" w="med" type="oval"/>
          </a:ln>
        </p:spPr>
      </p:cxnSp>
      <p:cxnSp>
        <p:nvCxnSpPr>
          <p:cNvPr id="527" name="Google Shape;527;p66"/>
          <p:cNvCxnSpPr/>
          <p:nvPr/>
        </p:nvCxnSpPr>
        <p:spPr>
          <a:xfrm>
            <a:off x="0" y="1979550"/>
            <a:ext cx="1024500" cy="0"/>
          </a:xfrm>
          <a:prstGeom prst="straightConnector1">
            <a:avLst/>
          </a:prstGeom>
          <a:noFill/>
          <a:ln cap="flat" cmpd="sng" w="19050">
            <a:solidFill>
              <a:srgbClr val="2E5E73"/>
            </a:solidFill>
            <a:prstDash val="solid"/>
            <a:round/>
            <a:headEnd len="med" w="med" type="none"/>
            <a:tailEnd len="med" w="med" type="oval"/>
          </a:ln>
        </p:spPr>
      </p:cxnSp>
      <p:cxnSp>
        <p:nvCxnSpPr>
          <p:cNvPr id="528" name="Google Shape;528;p66"/>
          <p:cNvCxnSpPr/>
          <p:nvPr/>
        </p:nvCxnSpPr>
        <p:spPr>
          <a:xfrm>
            <a:off x="5112" y="2617525"/>
            <a:ext cx="1014300" cy="0"/>
          </a:xfrm>
          <a:prstGeom prst="straightConnector1">
            <a:avLst/>
          </a:prstGeom>
          <a:noFill/>
          <a:ln cap="flat" cmpd="sng" w="19050">
            <a:solidFill>
              <a:srgbClr val="2E5E73"/>
            </a:solidFill>
            <a:prstDash val="solid"/>
            <a:round/>
            <a:headEnd len="med" w="med" type="none"/>
            <a:tailEnd len="med" w="med" type="oval"/>
          </a:ln>
        </p:spPr>
      </p:cxnSp>
      <p:cxnSp>
        <p:nvCxnSpPr>
          <p:cNvPr id="529" name="Google Shape;529;p66"/>
          <p:cNvCxnSpPr/>
          <p:nvPr/>
        </p:nvCxnSpPr>
        <p:spPr>
          <a:xfrm>
            <a:off x="0" y="3256375"/>
            <a:ext cx="1045200" cy="0"/>
          </a:xfrm>
          <a:prstGeom prst="straightConnector1">
            <a:avLst/>
          </a:prstGeom>
          <a:noFill/>
          <a:ln cap="flat" cmpd="sng" w="19050">
            <a:solidFill>
              <a:srgbClr val="2E5E73"/>
            </a:solidFill>
            <a:prstDash val="solid"/>
            <a:round/>
            <a:headEnd len="med" w="med" type="none"/>
            <a:tailEnd len="med" w="med" type="oval"/>
          </a:ln>
        </p:spPr>
      </p:cxnSp>
      <p:sp>
        <p:nvSpPr>
          <p:cNvPr id="530" name="Google Shape;530;p66"/>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66"/>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66"/>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66"/>
          <p:cNvSpPr/>
          <p:nvPr/>
        </p:nvSpPr>
        <p:spPr>
          <a:xfrm>
            <a:off x="953325" y="1109550"/>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66"/>
          <p:cNvSpPr/>
          <p:nvPr/>
        </p:nvSpPr>
        <p:spPr>
          <a:xfrm>
            <a:off x="870800" y="3094822"/>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535" name="Google Shape;535;p66"/>
          <p:cNvSpPr txBox="1"/>
          <p:nvPr/>
        </p:nvSpPr>
        <p:spPr>
          <a:xfrm>
            <a:off x="1193900" y="1129175"/>
            <a:ext cx="6952500" cy="40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536" name="Google Shape;536;p66"/>
          <p:cNvSpPr txBox="1"/>
          <p:nvPr/>
        </p:nvSpPr>
        <p:spPr>
          <a:xfrm>
            <a:off x="1193900" y="1771642"/>
            <a:ext cx="7276500" cy="40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537" name="Google Shape;537;p66"/>
          <p:cNvSpPr txBox="1"/>
          <p:nvPr/>
        </p:nvSpPr>
        <p:spPr>
          <a:xfrm>
            <a:off x="1193900" y="2417433"/>
            <a:ext cx="7276500" cy="40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538" name="Google Shape;538;p66"/>
          <p:cNvSpPr txBox="1"/>
          <p:nvPr/>
        </p:nvSpPr>
        <p:spPr>
          <a:xfrm>
            <a:off x="1193900" y="3063225"/>
            <a:ext cx="7276500" cy="40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539" name="Google Shape;539;p66"/>
          <p:cNvSpPr/>
          <p:nvPr/>
        </p:nvSpPr>
        <p:spPr>
          <a:xfrm>
            <a:off x="870800" y="245966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540" name="Google Shape;540;p66"/>
          <p:cNvSpPr/>
          <p:nvPr/>
        </p:nvSpPr>
        <p:spPr>
          <a:xfrm>
            <a:off x="870800" y="181754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541" name="Google Shape;541;p66"/>
          <p:cNvSpPr/>
          <p:nvPr/>
        </p:nvSpPr>
        <p:spPr>
          <a:xfrm>
            <a:off x="870800" y="114809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542" name="Google Shape;542;p66"/>
          <p:cNvSpPr txBox="1"/>
          <p:nvPr/>
        </p:nvSpPr>
        <p:spPr>
          <a:xfrm>
            <a:off x="1354400" y="1099450"/>
            <a:ext cx="6896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Planning and defining security roles.</a:t>
            </a:r>
            <a:endParaRPr sz="1800">
              <a:solidFill>
                <a:schemeClr val="dk2"/>
              </a:solidFill>
              <a:latin typeface="Roboto"/>
              <a:ea typeface="Roboto"/>
              <a:cs typeface="Roboto"/>
              <a:sym typeface="Roboto"/>
            </a:endParaRPr>
          </a:p>
        </p:txBody>
      </p:sp>
      <p:sp>
        <p:nvSpPr>
          <p:cNvPr id="543" name="Google Shape;543;p66"/>
          <p:cNvSpPr txBox="1"/>
          <p:nvPr/>
        </p:nvSpPr>
        <p:spPr>
          <a:xfrm>
            <a:off x="1354410" y="1750413"/>
            <a:ext cx="6896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Developing security policies.</a:t>
            </a:r>
            <a:endParaRPr sz="1800">
              <a:solidFill>
                <a:schemeClr val="dk2"/>
              </a:solidFill>
              <a:latin typeface="Roboto"/>
              <a:ea typeface="Roboto"/>
              <a:cs typeface="Roboto"/>
              <a:sym typeface="Roboto"/>
            </a:endParaRPr>
          </a:p>
        </p:txBody>
      </p:sp>
      <p:sp>
        <p:nvSpPr>
          <p:cNvPr id="544" name="Google Shape;544;p66"/>
          <p:cNvSpPr txBox="1"/>
          <p:nvPr/>
        </p:nvSpPr>
        <p:spPr>
          <a:xfrm>
            <a:off x="1354399" y="2371650"/>
            <a:ext cx="6807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Performing risk analysis.</a:t>
            </a:r>
            <a:endParaRPr sz="1800">
              <a:solidFill>
                <a:schemeClr val="dk2"/>
              </a:solidFill>
              <a:latin typeface="Roboto"/>
              <a:ea typeface="Roboto"/>
              <a:cs typeface="Roboto"/>
              <a:sym typeface="Roboto"/>
            </a:endParaRPr>
          </a:p>
        </p:txBody>
      </p:sp>
      <p:sp>
        <p:nvSpPr>
          <p:cNvPr id="545" name="Google Shape;545;p66"/>
          <p:cNvSpPr txBox="1"/>
          <p:nvPr/>
        </p:nvSpPr>
        <p:spPr>
          <a:xfrm>
            <a:off x="1354410" y="3034125"/>
            <a:ext cx="6896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Developing strategic, tactical, and operational plans.</a:t>
            </a:r>
            <a:endParaRPr sz="1800">
              <a:solidFill>
                <a:schemeClr val="dk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7"/>
          <p:cNvSpPr/>
          <p:nvPr/>
        </p:nvSpPr>
        <p:spPr>
          <a:xfrm>
            <a:off x="457200" y="1109725"/>
            <a:ext cx="6024300" cy="1171800"/>
          </a:xfrm>
          <a:prstGeom prst="roundRect">
            <a:avLst>
              <a:gd fmla="val 12553" name="adj"/>
            </a:avLst>
          </a:prstGeom>
          <a:solidFill>
            <a:schemeClr val="l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Roboto"/>
              <a:ea typeface="Roboto"/>
              <a:cs typeface="Roboto"/>
              <a:sym typeface="Roboto"/>
            </a:endParaRPr>
          </a:p>
        </p:txBody>
      </p:sp>
      <p:sp>
        <p:nvSpPr>
          <p:cNvPr id="551" name="Google Shape;551;p67"/>
          <p:cNvSpPr/>
          <p:nvPr/>
        </p:nvSpPr>
        <p:spPr>
          <a:xfrm>
            <a:off x="457200" y="2288642"/>
            <a:ext cx="6024300" cy="1171800"/>
          </a:xfrm>
          <a:prstGeom prst="roundRect">
            <a:avLst>
              <a:gd fmla="val 12553" name="adj"/>
            </a:avLst>
          </a:prstGeom>
          <a:solidFill>
            <a:schemeClr val="l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52" name="Google Shape;552;p67"/>
          <p:cNvSpPr/>
          <p:nvPr/>
        </p:nvSpPr>
        <p:spPr>
          <a:xfrm>
            <a:off x="457200" y="3475302"/>
            <a:ext cx="6024300" cy="1171800"/>
          </a:xfrm>
          <a:prstGeom prst="roundRect">
            <a:avLst>
              <a:gd fmla="val 15792" name="adj"/>
            </a:avLst>
          </a:prstGeom>
          <a:solidFill>
            <a:schemeClr val="l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53" name="Google Shape;553;p67"/>
          <p:cNvSpPr txBox="1"/>
          <p:nvPr>
            <p:ph type="title"/>
          </p:nvPr>
        </p:nvSpPr>
        <p:spPr>
          <a:xfrm>
            <a:off x="457200" y="2164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Management</a:t>
            </a:r>
            <a:endParaRPr/>
          </a:p>
        </p:txBody>
      </p:sp>
      <p:sp>
        <p:nvSpPr>
          <p:cNvPr id="554" name="Google Shape;554;p67"/>
          <p:cNvSpPr txBox="1"/>
          <p:nvPr>
            <p:ph idx="1" type="body"/>
          </p:nvPr>
        </p:nvSpPr>
        <p:spPr>
          <a:xfrm>
            <a:off x="617575" y="1223400"/>
            <a:ext cx="5325900" cy="5727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b="1" lang="en" sz="1600">
                <a:latin typeface="Roboto"/>
                <a:ea typeface="Roboto"/>
                <a:cs typeface="Roboto"/>
                <a:sym typeface="Roboto"/>
              </a:rPr>
              <a:t>Strategic Plan:</a:t>
            </a:r>
            <a:r>
              <a:rPr lang="en" sz="1600"/>
              <a:t> Long-term plan that </a:t>
            </a:r>
            <a:r>
              <a:rPr lang="en" sz="1600"/>
              <a:t>aligns</a:t>
            </a:r>
            <a:r>
              <a:rPr lang="en" sz="1600"/>
              <a:t> with organization’s goals, mission, and objectives. </a:t>
            </a:r>
            <a:br>
              <a:rPr lang="en" sz="1600"/>
            </a:br>
            <a:endParaRPr sz="1600"/>
          </a:p>
          <a:p>
            <a:pPr indent="0" lvl="0" marL="0" rtl="0" algn="l">
              <a:lnSpc>
                <a:spcPct val="100000"/>
              </a:lnSpc>
              <a:spcBef>
                <a:spcPts val="0"/>
              </a:spcBef>
              <a:spcAft>
                <a:spcPts val="0"/>
              </a:spcAft>
              <a:buNone/>
            </a:pPr>
            <a:r>
              <a:t/>
            </a:r>
            <a:endParaRPr sz="1600"/>
          </a:p>
        </p:txBody>
      </p:sp>
      <p:sp>
        <p:nvSpPr>
          <p:cNvPr id="555" name="Google Shape;555;p67"/>
          <p:cNvSpPr txBox="1"/>
          <p:nvPr/>
        </p:nvSpPr>
        <p:spPr>
          <a:xfrm>
            <a:off x="530415" y="1797630"/>
            <a:ext cx="1794900" cy="3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600">
                <a:solidFill>
                  <a:schemeClr val="dk2"/>
                </a:solidFill>
                <a:latin typeface="Roboto"/>
                <a:ea typeface="Roboto"/>
                <a:cs typeface="Roboto"/>
                <a:sym typeface="Roboto"/>
              </a:rPr>
              <a:t>5 years</a:t>
            </a:r>
            <a:endParaRPr b="1" i="1" sz="1600">
              <a:solidFill>
                <a:schemeClr val="dk2"/>
              </a:solidFill>
              <a:latin typeface="Roboto"/>
              <a:ea typeface="Roboto"/>
              <a:cs typeface="Roboto"/>
              <a:sym typeface="Roboto"/>
            </a:endParaRPr>
          </a:p>
          <a:p>
            <a:pPr indent="0" lvl="0" marL="0" rtl="0" algn="l">
              <a:spcBef>
                <a:spcPts val="0"/>
              </a:spcBef>
              <a:spcAft>
                <a:spcPts val="0"/>
              </a:spcAft>
              <a:buNone/>
            </a:pPr>
            <a:r>
              <a:t/>
            </a:r>
            <a:endParaRPr b="1" i="1" sz="1600">
              <a:solidFill>
                <a:schemeClr val="dk2"/>
              </a:solidFill>
              <a:latin typeface="Roboto"/>
              <a:ea typeface="Roboto"/>
              <a:cs typeface="Roboto"/>
              <a:sym typeface="Roboto"/>
            </a:endParaRPr>
          </a:p>
        </p:txBody>
      </p:sp>
      <p:sp>
        <p:nvSpPr>
          <p:cNvPr id="556" name="Google Shape;556;p67"/>
          <p:cNvSpPr txBox="1"/>
          <p:nvPr/>
        </p:nvSpPr>
        <p:spPr>
          <a:xfrm>
            <a:off x="530415" y="2998971"/>
            <a:ext cx="934800" cy="3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600">
                <a:solidFill>
                  <a:schemeClr val="dk2"/>
                </a:solidFill>
                <a:latin typeface="Roboto"/>
                <a:ea typeface="Roboto"/>
                <a:cs typeface="Roboto"/>
                <a:sym typeface="Roboto"/>
              </a:rPr>
              <a:t>1 year</a:t>
            </a:r>
            <a:endParaRPr b="1" i="1" sz="1600">
              <a:solidFill>
                <a:schemeClr val="dk2"/>
              </a:solidFill>
              <a:latin typeface="Roboto"/>
              <a:ea typeface="Roboto"/>
              <a:cs typeface="Roboto"/>
              <a:sym typeface="Roboto"/>
            </a:endParaRPr>
          </a:p>
        </p:txBody>
      </p:sp>
      <p:sp>
        <p:nvSpPr>
          <p:cNvPr id="557" name="Google Shape;557;p67"/>
          <p:cNvSpPr txBox="1"/>
          <p:nvPr/>
        </p:nvSpPr>
        <p:spPr>
          <a:xfrm>
            <a:off x="530415" y="4173935"/>
            <a:ext cx="2112000" cy="3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600">
                <a:solidFill>
                  <a:schemeClr val="dk2"/>
                </a:solidFill>
                <a:latin typeface="Roboto"/>
                <a:ea typeface="Roboto"/>
                <a:cs typeface="Roboto"/>
                <a:sym typeface="Roboto"/>
              </a:rPr>
              <a:t>Monthly</a:t>
            </a:r>
            <a:r>
              <a:rPr b="1" i="1" lang="en" sz="1600">
                <a:solidFill>
                  <a:schemeClr val="dk2"/>
                </a:solidFill>
                <a:latin typeface="Roboto"/>
                <a:ea typeface="Roboto"/>
                <a:cs typeface="Roboto"/>
                <a:sym typeface="Roboto"/>
              </a:rPr>
              <a:t> or quarterly </a:t>
            </a:r>
            <a:endParaRPr b="1" i="1" sz="1600">
              <a:solidFill>
                <a:schemeClr val="dk2"/>
              </a:solidFill>
              <a:latin typeface="Roboto"/>
              <a:ea typeface="Roboto"/>
              <a:cs typeface="Roboto"/>
              <a:sym typeface="Roboto"/>
            </a:endParaRPr>
          </a:p>
        </p:txBody>
      </p:sp>
      <p:grpSp>
        <p:nvGrpSpPr>
          <p:cNvPr id="558" name="Google Shape;558;p67"/>
          <p:cNvGrpSpPr/>
          <p:nvPr/>
        </p:nvGrpSpPr>
        <p:grpSpPr>
          <a:xfrm>
            <a:off x="4398541" y="1064414"/>
            <a:ext cx="4129245" cy="3570725"/>
            <a:chOff x="6485217" y="2684544"/>
            <a:chExt cx="2166900" cy="1873806"/>
          </a:xfrm>
        </p:grpSpPr>
        <p:sp>
          <p:nvSpPr>
            <p:cNvPr id="559" name="Google Shape;559;p67"/>
            <p:cNvSpPr/>
            <p:nvPr/>
          </p:nvSpPr>
          <p:spPr>
            <a:xfrm>
              <a:off x="6485217" y="2684550"/>
              <a:ext cx="2166900" cy="1873800"/>
            </a:xfrm>
            <a:prstGeom prst="triangle">
              <a:avLst>
                <a:gd fmla="val 50000" name="adj"/>
              </a:avLst>
            </a:prstGeom>
            <a:solidFill>
              <a:schemeClr val="accent3"/>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Light"/>
                  <a:ea typeface="Roboto Light"/>
                  <a:cs typeface="Roboto Light"/>
                  <a:sym typeface="Roboto Light"/>
                </a:rPr>
                <a:t> </a:t>
              </a:r>
              <a:endParaRPr>
                <a:latin typeface="Roboto Light"/>
                <a:ea typeface="Roboto Light"/>
                <a:cs typeface="Roboto Light"/>
                <a:sym typeface="Roboto Light"/>
              </a:endParaRPr>
            </a:p>
          </p:txBody>
        </p:sp>
        <p:sp>
          <p:nvSpPr>
            <p:cNvPr id="560" name="Google Shape;560;p67"/>
            <p:cNvSpPr/>
            <p:nvPr/>
          </p:nvSpPr>
          <p:spPr>
            <a:xfrm>
              <a:off x="6834823" y="2684544"/>
              <a:ext cx="1455000" cy="1262100"/>
            </a:xfrm>
            <a:prstGeom prst="triangle">
              <a:avLst>
                <a:gd fmla="val 50000" name="adj"/>
              </a:avLst>
            </a:prstGeom>
            <a:solidFill>
              <a:schemeClr val="accent4"/>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sp>
          <p:nvSpPr>
            <p:cNvPr id="561" name="Google Shape;561;p67"/>
            <p:cNvSpPr/>
            <p:nvPr/>
          </p:nvSpPr>
          <p:spPr>
            <a:xfrm>
              <a:off x="7192951" y="2684544"/>
              <a:ext cx="735000" cy="636000"/>
            </a:xfrm>
            <a:prstGeom prst="triangle">
              <a:avLst>
                <a:gd fmla="val 50000" name="adj"/>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62" name="Google Shape;562;p67"/>
            <p:cNvSpPr txBox="1"/>
            <p:nvPr/>
          </p:nvSpPr>
          <p:spPr>
            <a:xfrm>
              <a:off x="7069325" y="3062845"/>
              <a:ext cx="998700" cy="32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Strategic</a:t>
              </a:r>
              <a:endParaRPr b="1">
                <a:solidFill>
                  <a:schemeClr val="dk2"/>
                </a:solidFill>
                <a:latin typeface="Roboto"/>
                <a:ea typeface="Roboto"/>
                <a:cs typeface="Roboto"/>
                <a:sym typeface="Roboto"/>
              </a:endParaRPr>
            </a:p>
          </p:txBody>
        </p:sp>
        <p:sp>
          <p:nvSpPr>
            <p:cNvPr id="563" name="Google Shape;563;p67"/>
            <p:cNvSpPr txBox="1"/>
            <p:nvPr/>
          </p:nvSpPr>
          <p:spPr>
            <a:xfrm>
              <a:off x="7069325" y="3539584"/>
              <a:ext cx="998700" cy="32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Roboto"/>
                  <a:ea typeface="Roboto"/>
                  <a:cs typeface="Roboto"/>
                  <a:sym typeface="Roboto"/>
                </a:rPr>
                <a:t>Tactical</a:t>
              </a:r>
              <a:endParaRPr b="1" sz="1600">
                <a:solidFill>
                  <a:schemeClr val="dk2"/>
                </a:solidFill>
                <a:latin typeface="Roboto"/>
                <a:ea typeface="Roboto"/>
                <a:cs typeface="Roboto"/>
                <a:sym typeface="Roboto"/>
              </a:endParaRPr>
            </a:p>
          </p:txBody>
        </p:sp>
        <p:sp>
          <p:nvSpPr>
            <p:cNvPr id="564" name="Google Shape;564;p67"/>
            <p:cNvSpPr txBox="1"/>
            <p:nvPr/>
          </p:nvSpPr>
          <p:spPr>
            <a:xfrm>
              <a:off x="6847525" y="4139159"/>
              <a:ext cx="1442400" cy="32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Roboto"/>
                  <a:ea typeface="Roboto"/>
                  <a:cs typeface="Roboto"/>
                  <a:sym typeface="Roboto"/>
                </a:rPr>
                <a:t>Operational</a:t>
              </a:r>
              <a:endParaRPr b="1" sz="1700">
                <a:solidFill>
                  <a:schemeClr val="lt1"/>
                </a:solidFill>
                <a:latin typeface="Roboto"/>
                <a:ea typeface="Roboto"/>
                <a:cs typeface="Roboto"/>
                <a:sym typeface="Roboto"/>
              </a:endParaRPr>
            </a:p>
          </p:txBody>
        </p:sp>
      </p:grpSp>
      <p:sp>
        <p:nvSpPr>
          <p:cNvPr id="565" name="Google Shape;565;p67"/>
          <p:cNvSpPr txBox="1"/>
          <p:nvPr>
            <p:ph idx="1" type="body"/>
          </p:nvPr>
        </p:nvSpPr>
        <p:spPr>
          <a:xfrm>
            <a:off x="617575" y="3581750"/>
            <a:ext cx="4221600" cy="5727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b="1" lang="en" sz="1600"/>
              <a:t>Operational Plan:</a:t>
            </a:r>
            <a:r>
              <a:rPr lang="en" sz="1600"/>
              <a:t> Short-term, highly detailed plan based on strategic and tactical plan.</a:t>
            </a:r>
            <a:endParaRPr sz="1600"/>
          </a:p>
        </p:txBody>
      </p:sp>
      <p:sp>
        <p:nvSpPr>
          <p:cNvPr id="566" name="Google Shape;566;p67"/>
          <p:cNvSpPr txBox="1"/>
          <p:nvPr>
            <p:ph idx="1" type="body"/>
          </p:nvPr>
        </p:nvSpPr>
        <p:spPr>
          <a:xfrm>
            <a:off x="617576" y="2432670"/>
            <a:ext cx="4989600" cy="5727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b="1" lang="en" sz="1600"/>
              <a:t>Tactical Plan: </a:t>
            </a:r>
            <a:r>
              <a:rPr lang="en" sz="1600"/>
              <a:t>Mid-term plan that details how to </a:t>
            </a:r>
            <a:br>
              <a:rPr lang="en" sz="1600"/>
            </a:br>
            <a:r>
              <a:rPr lang="en" sz="1600"/>
              <a:t>accomplish the goals set in the strategic plan.</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68"/>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Security Roles and Responsibilities</a:t>
            </a:r>
            <a:endParaRPr/>
          </a:p>
        </p:txBody>
      </p:sp>
      <p:sp>
        <p:nvSpPr>
          <p:cNvPr id="572" name="Google Shape;572;p68"/>
          <p:cNvSpPr txBox="1"/>
          <p:nvPr>
            <p:ph idx="2" type="subTitle"/>
          </p:nvPr>
        </p:nvSpPr>
        <p:spPr>
          <a:xfrm>
            <a:off x="1148425" y="1849835"/>
            <a:ext cx="7110300" cy="4002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Executive roles relevant to security departments.</a:t>
            </a:r>
            <a:endParaRPr sz="1800"/>
          </a:p>
        </p:txBody>
      </p:sp>
      <p:sp>
        <p:nvSpPr>
          <p:cNvPr id="573" name="Google Shape;573;p68"/>
          <p:cNvSpPr txBox="1"/>
          <p:nvPr>
            <p:ph idx="1" type="subTitle"/>
          </p:nvPr>
        </p:nvSpPr>
        <p:spPr>
          <a:xfrm>
            <a:off x="1148425" y="1185322"/>
            <a:ext cx="7110300" cy="4002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Executive roles existing in most companies. </a:t>
            </a:r>
            <a:endParaRPr sz="1800"/>
          </a:p>
        </p:txBody>
      </p:sp>
      <p:sp>
        <p:nvSpPr>
          <p:cNvPr id="574" name="Google Shape;574;p68"/>
          <p:cNvSpPr txBox="1"/>
          <p:nvPr>
            <p:ph idx="5" type="title"/>
          </p:nvPr>
        </p:nvSpPr>
        <p:spPr>
          <a:xfrm>
            <a:off x="-6000" y="54175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In the next section, we’ll cover the following: </a:t>
            </a:r>
            <a:endParaRPr/>
          </a:p>
        </p:txBody>
      </p:sp>
      <p:sp>
        <p:nvSpPr>
          <p:cNvPr id="575" name="Google Shape;575;p68"/>
          <p:cNvSpPr txBox="1"/>
          <p:nvPr>
            <p:ph idx="1" type="subTitle"/>
          </p:nvPr>
        </p:nvSpPr>
        <p:spPr>
          <a:xfrm>
            <a:off x="1148425" y="2470085"/>
            <a:ext cx="7110300" cy="4002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The responsibilities of security departments.</a:t>
            </a:r>
            <a:endParaRPr sz="1800"/>
          </a:p>
        </p:txBody>
      </p:sp>
      <p:sp>
        <p:nvSpPr>
          <p:cNvPr id="576" name="Google Shape;576;p68"/>
          <p:cNvSpPr txBox="1"/>
          <p:nvPr>
            <p:ph idx="1" type="subTitle"/>
          </p:nvPr>
        </p:nvSpPr>
        <p:spPr>
          <a:xfrm>
            <a:off x="1148425" y="3090347"/>
            <a:ext cx="7110300" cy="4002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The structure of the security organization.</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9"/>
          <p:cNvSpPr txBox="1"/>
          <p:nvPr>
            <p:ph type="title"/>
          </p:nvPr>
        </p:nvSpPr>
        <p:spPr>
          <a:xfrm>
            <a:off x="457200" y="2621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Roboto"/>
                <a:ea typeface="Roboto"/>
                <a:cs typeface="Roboto"/>
                <a:sym typeface="Roboto"/>
              </a:rPr>
              <a:t>Executive Roles:</a:t>
            </a:r>
            <a:r>
              <a:rPr lang="en"/>
              <a:t> </a:t>
            </a:r>
            <a:r>
              <a:rPr lang="en">
                <a:latin typeface="Roboto"/>
                <a:ea typeface="Roboto"/>
                <a:cs typeface="Roboto"/>
                <a:sym typeface="Roboto"/>
              </a:rPr>
              <a:t>The Core Leadership Team</a:t>
            </a:r>
            <a:endParaRPr>
              <a:latin typeface="Roboto"/>
              <a:ea typeface="Roboto"/>
              <a:cs typeface="Roboto"/>
              <a:sym typeface="Roboto"/>
            </a:endParaRPr>
          </a:p>
        </p:txBody>
      </p:sp>
      <p:sp>
        <p:nvSpPr>
          <p:cNvPr id="582" name="Google Shape;582;p69"/>
          <p:cNvSpPr/>
          <p:nvPr/>
        </p:nvSpPr>
        <p:spPr>
          <a:xfrm>
            <a:off x="297925" y="3714475"/>
            <a:ext cx="2042400" cy="957900"/>
          </a:xfrm>
          <a:prstGeom prst="roundRect">
            <a:avLst>
              <a:gd fmla="val 7185" name="adj"/>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500">
                <a:solidFill>
                  <a:schemeClr val="lt1"/>
                </a:solidFill>
                <a:latin typeface="Roboto"/>
                <a:ea typeface="Roboto"/>
                <a:cs typeface="Roboto"/>
                <a:sym typeface="Roboto"/>
              </a:rPr>
              <a:t>Chief Financial Officer</a:t>
            </a:r>
            <a:endParaRPr sz="1500">
              <a:solidFill>
                <a:schemeClr val="lt1"/>
              </a:solidFill>
              <a:latin typeface="Roboto"/>
              <a:ea typeface="Roboto"/>
              <a:cs typeface="Roboto"/>
              <a:sym typeface="Roboto"/>
            </a:endParaRPr>
          </a:p>
          <a:p>
            <a:pPr indent="0" lvl="0" marL="0" rtl="0" algn="ctr">
              <a:spcBef>
                <a:spcPts val="0"/>
              </a:spcBef>
              <a:spcAft>
                <a:spcPts val="0"/>
              </a:spcAft>
              <a:buNone/>
            </a:pPr>
            <a:r>
              <a:rPr b="1" lang="en" sz="1500">
                <a:solidFill>
                  <a:schemeClr val="lt1"/>
                </a:solidFill>
                <a:latin typeface="Roboto"/>
                <a:ea typeface="Roboto"/>
                <a:cs typeface="Roboto"/>
                <a:sym typeface="Roboto"/>
              </a:rPr>
              <a:t>(CFO)</a:t>
            </a:r>
            <a:endParaRPr b="1" sz="1500">
              <a:solidFill>
                <a:schemeClr val="lt1"/>
              </a:solidFill>
              <a:latin typeface="Roboto"/>
              <a:ea typeface="Roboto"/>
              <a:cs typeface="Roboto"/>
              <a:sym typeface="Roboto"/>
            </a:endParaRPr>
          </a:p>
        </p:txBody>
      </p:sp>
      <p:sp>
        <p:nvSpPr>
          <p:cNvPr id="583" name="Google Shape;583;p69"/>
          <p:cNvSpPr/>
          <p:nvPr/>
        </p:nvSpPr>
        <p:spPr>
          <a:xfrm>
            <a:off x="2474417" y="3714475"/>
            <a:ext cx="2042400" cy="957900"/>
          </a:xfrm>
          <a:prstGeom prst="roundRect">
            <a:avLst>
              <a:gd fmla="val 7185" name="adj"/>
            </a:avLst>
          </a:prstGeom>
          <a:solidFill>
            <a:schemeClr val="accen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500">
                <a:solidFill>
                  <a:schemeClr val="dk2"/>
                </a:solidFill>
                <a:latin typeface="Roboto"/>
                <a:ea typeface="Roboto"/>
                <a:cs typeface="Roboto"/>
                <a:sym typeface="Roboto"/>
              </a:rPr>
              <a:t>Chief Operating Officer</a:t>
            </a:r>
            <a:endParaRPr sz="1500">
              <a:solidFill>
                <a:schemeClr val="dk2"/>
              </a:solidFill>
              <a:latin typeface="Roboto"/>
              <a:ea typeface="Roboto"/>
              <a:cs typeface="Roboto"/>
              <a:sym typeface="Roboto"/>
            </a:endParaRPr>
          </a:p>
          <a:p>
            <a:pPr indent="0" lvl="0" marL="0" rtl="0" algn="ctr">
              <a:spcBef>
                <a:spcPts val="0"/>
              </a:spcBef>
              <a:spcAft>
                <a:spcPts val="0"/>
              </a:spcAft>
              <a:buNone/>
            </a:pPr>
            <a:r>
              <a:rPr b="1" lang="en" sz="1500">
                <a:solidFill>
                  <a:schemeClr val="dk2"/>
                </a:solidFill>
                <a:latin typeface="Roboto"/>
                <a:ea typeface="Roboto"/>
                <a:cs typeface="Roboto"/>
                <a:sym typeface="Roboto"/>
              </a:rPr>
              <a:t>(COO)</a:t>
            </a:r>
            <a:endParaRPr b="1" sz="1500">
              <a:solidFill>
                <a:schemeClr val="dk2"/>
              </a:solidFill>
              <a:latin typeface="Roboto"/>
              <a:ea typeface="Roboto"/>
              <a:cs typeface="Roboto"/>
              <a:sym typeface="Roboto"/>
            </a:endParaRPr>
          </a:p>
        </p:txBody>
      </p:sp>
      <p:sp>
        <p:nvSpPr>
          <p:cNvPr id="584" name="Google Shape;584;p69"/>
          <p:cNvSpPr/>
          <p:nvPr/>
        </p:nvSpPr>
        <p:spPr>
          <a:xfrm>
            <a:off x="4650908" y="3714475"/>
            <a:ext cx="2042400" cy="957900"/>
          </a:xfrm>
          <a:prstGeom prst="roundRect">
            <a:avLst>
              <a:gd fmla="val 7185" name="adj"/>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500">
                <a:solidFill>
                  <a:schemeClr val="dk2"/>
                </a:solidFill>
                <a:latin typeface="Roboto"/>
                <a:ea typeface="Roboto"/>
                <a:cs typeface="Roboto"/>
                <a:sym typeface="Roboto"/>
              </a:rPr>
              <a:t>Chief</a:t>
            </a:r>
            <a:r>
              <a:rPr lang="en" sz="1500">
                <a:solidFill>
                  <a:schemeClr val="dk2"/>
                </a:solidFill>
                <a:latin typeface="Roboto"/>
                <a:ea typeface="Roboto"/>
                <a:cs typeface="Roboto"/>
                <a:sym typeface="Roboto"/>
              </a:rPr>
              <a:t> I</a:t>
            </a:r>
            <a:r>
              <a:rPr lang="en" sz="1500">
                <a:solidFill>
                  <a:schemeClr val="dk2"/>
                </a:solidFill>
                <a:latin typeface="Roboto"/>
                <a:ea typeface="Roboto"/>
                <a:cs typeface="Roboto"/>
                <a:sym typeface="Roboto"/>
              </a:rPr>
              <a:t>nformation</a:t>
            </a:r>
            <a:br>
              <a:rPr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Security Officer</a:t>
            </a:r>
            <a:endParaRPr sz="1500">
              <a:solidFill>
                <a:schemeClr val="dk2"/>
              </a:solidFill>
              <a:latin typeface="Roboto"/>
              <a:ea typeface="Roboto"/>
              <a:cs typeface="Roboto"/>
              <a:sym typeface="Roboto"/>
            </a:endParaRPr>
          </a:p>
          <a:p>
            <a:pPr indent="0" lvl="0" marL="0" rtl="0" algn="ctr">
              <a:spcBef>
                <a:spcPts val="0"/>
              </a:spcBef>
              <a:spcAft>
                <a:spcPts val="0"/>
              </a:spcAft>
              <a:buNone/>
            </a:pPr>
            <a:r>
              <a:rPr b="1" lang="en" sz="1500">
                <a:solidFill>
                  <a:schemeClr val="dk2"/>
                </a:solidFill>
                <a:latin typeface="Roboto"/>
                <a:ea typeface="Roboto"/>
                <a:cs typeface="Roboto"/>
                <a:sym typeface="Roboto"/>
              </a:rPr>
              <a:t>(CISO)</a:t>
            </a:r>
            <a:endParaRPr b="1" sz="1500">
              <a:solidFill>
                <a:schemeClr val="dk2"/>
              </a:solidFill>
              <a:latin typeface="Roboto"/>
              <a:ea typeface="Roboto"/>
              <a:cs typeface="Roboto"/>
              <a:sym typeface="Roboto"/>
            </a:endParaRPr>
          </a:p>
        </p:txBody>
      </p:sp>
      <p:sp>
        <p:nvSpPr>
          <p:cNvPr id="585" name="Google Shape;585;p69"/>
          <p:cNvSpPr/>
          <p:nvPr/>
        </p:nvSpPr>
        <p:spPr>
          <a:xfrm>
            <a:off x="6827400" y="3714475"/>
            <a:ext cx="2042400" cy="957900"/>
          </a:xfrm>
          <a:prstGeom prst="roundRect">
            <a:avLst>
              <a:gd fmla="val 7185" name="adj"/>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500">
                <a:solidFill>
                  <a:schemeClr val="dk2"/>
                </a:solidFill>
                <a:latin typeface="Roboto"/>
                <a:ea typeface="Roboto"/>
                <a:cs typeface="Roboto"/>
                <a:sym typeface="Roboto"/>
              </a:rPr>
              <a:t>Chief Information </a:t>
            </a:r>
            <a:endParaRPr sz="1500">
              <a:solidFill>
                <a:schemeClr val="dk2"/>
              </a:solidFill>
              <a:latin typeface="Roboto"/>
              <a:ea typeface="Roboto"/>
              <a:cs typeface="Roboto"/>
              <a:sym typeface="Roboto"/>
            </a:endParaRPr>
          </a:p>
          <a:p>
            <a:pPr indent="0" lvl="0" marL="0" rtl="0" algn="ctr">
              <a:spcBef>
                <a:spcPts val="0"/>
              </a:spcBef>
              <a:spcAft>
                <a:spcPts val="0"/>
              </a:spcAft>
              <a:buNone/>
            </a:pPr>
            <a:r>
              <a:rPr lang="en" sz="1500">
                <a:solidFill>
                  <a:schemeClr val="dk2"/>
                </a:solidFill>
                <a:latin typeface="Roboto"/>
                <a:ea typeface="Roboto"/>
                <a:cs typeface="Roboto"/>
                <a:sym typeface="Roboto"/>
              </a:rPr>
              <a:t>Officer</a:t>
            </a:r>
            <a:endParaRPr sz="1500">
              <a:solidFill>
                <a:schemeClr val="dk2"/>
              </a:solidFill>
              <a:latin typeface="Roboto"/>
              <a:ea typeface="Roboto"/>
              <a:cs typeface="Roboto"/>
              <a:sym typeface="Roboto"/>
            </a:endParaRPr>
          </a:p>
          <a:p>
            <a:pPr indent="0" lvl="0" marL="0" rtl="0" algn="ctr">
              <a:spcBef>
                <a:spcPts val="0"/>
              </a:spcBef>
              <a:spcAft>
                <a:spcPts val="0"/>
              </a:spcAft>
              <a:buNone/>
            </a:pPr>
            <a:r>
              <a:rPr b="1" lang="en" sz="1500">
                <a:solidFill>
                  <a:schemeClr val="dk2"/>
                </a:solidFill>
                <a:latin typeface="Roboto"/>
                <a:ea typeface="Roboto"/>
                <a:cs typeface="Roboto"/>
                <a:sym typeface="Roboto"/>
              </a:rPr>
              <a:t>(CIO)</a:t>
            </a:r>
            <a:endParaRPr b="1" sz="1500">
              <a:solidFill>
                <a:schemeClr val="dk2"/>
              </a:solidFill>
              <a:latin typeface="Roboto"/>
              <a:ea typeface="Roboto"/>
              <a:cs typeface="Roboto"/>
              <a:sym typeface="Roboto"/>
            </a:endParaRPr>
          </a:p>
        </p:txBody>
      </p:sp>
      <p:cxnSp>
        <p:nvCxnSpPr>
          <p:cNvPr id="586" name="Google Shape;586;p69"/>
          <p:cNvCxnSpPr>
            <a:stCxn id="587" idx="2"/>
            <a:endCxn id="582" idx="0"/>
          </p:cNvCxnSpPr>
          <p:nvPr/>
        </p:nvCxnSpPr>
        <p:spPr>
          <a:xfrm rot="5400000">
            <a:off x="2677050" y="1819400"/>
            <a:ext cx="537000" cy="3252900"/>
          </a:xfrm>
          <a:prstGeom prst="bentConnector3">
            <a:avLst>
              <a:gd fmla="val 50012" name="adj1"/>
            </a:avLst>
          </a:prstGeom>
          <a:noFill/>
          <a:ln cap="flat" cmpd="sng" w="9525">
            <a:solidFill>
              <a:schemeClr val="dk2"/>
            </a:solidFill>
            <a:prstDash val="solid"/>
            <a:round/>
            <a:headEnd len="med" w="med" type="none"/>
            <a:tailEnd len="med" w="med" type="triangle"/>
          </a:ln>
        </p:spPr>
      </p:cxnSp>
      <p:cxnSp>
        <p:nvCxnSpPr>
          <p:cNvPr id="588" name="Google Shape;588;p69"/>
          <p:cNvCxnSpPr>
            <a:stCxn id="587" idx="2"/>
            <a:endCxn id="583" idx="0"/>
          </p:cNvCxnSpPr>
          <p:nvPr/>
        </p:nvCxnSpPr>
        <p:spPr>
          <a:xfrm rot="5400000">
            <a:off x="3765300" y="2907650"/>
            <a:ext cx="537000" cy="1076400"/>
          </a:xfrm>
          <a:prstGeom prst="bentConnector3">
            <a:avLst>
              <a:gd fmla="val 50012" name="adj1"/>
            </a:avLst>
          </a:prstGeom>
          <a:noFill/>
          <a:ln cap="flat" cmpd="sng" w="9525">
            <a:solidFill>
              <a:schemeClr val="dk2"/>
            </a:solidFill>
            <a:prstDash val="solid"/>
            <a:round/>
            <a:headEnd len="med" w="med" type="none"/>
            <a:tailEnd len="med" w="med" type="triangle"/>
          </a:ln>
        </p:spPr>
      </p:cxnSp>
      <p:cxnSp>
        <p:nvCxnSpPr>
          <p:cNvPr id="589" name="Google Shape;589;p69"/>
          <p:cNvCxnSpPr>
            <a:stCxn id="587" idx="2"/>
            <a:endCxn id="585" idx="0"/>
          </p:cNvCxnSpPr>
          <p:nvPr/>
        </p:nvCxnSpPr>
        <p:spPr>
          <a:xfrm flipH="1" rot="-5400000">
            <a:off x="5941800" y="1807550"/>
            <a:ext cx="537000" cy="3276600"/>
          </a:xfrm>
          <a:prstGeom prst="bentConnector3">
            <a:avLst>
              <a:gd fmla="val 50012" name="adj1"/>
            </a:avLst>
          </a:prstGeom>
          <a:noFill/>
          <a:ln cap="flat" cmpd="sng" w="9525">
            <a:solidFill>
              <a:schemeClr val="dk2"/>
            </a:solidFill>
            <a:prstDash val="solid"/>
            <a:round/>
            <a:headEnd len="med" w="med" type="none"/>
            <a:tailEnd len="med" w="med" type="triangle"/>
          </a:ln>
        </p:spPr>
      </p:cxnSp>
      <p:cxnSp>
        <p:nvCxnSpPr>
          <p:cNvPr id="590" name="Google Shape;590;p69"/>
          <p:cNvCxnSpPr>
            <a:stCxn id="587" idx="2"/>
            <a:endCxn id="584" idx="0"/>
          </p:cNvCxnSpPr>
          <p:nvPr/>
        </p:nvCxnSpPr>
        <p:spPr>
          <a:xfrm flipH="1" rot="-5400000">
            <a:off x="4853550" y="2895800"/>
            <a:ext cx="537000" cy="1100100"/>
          </a:xfrm>
          <a:prstGeom prst="bentConnector3">
            <a:avLst>
              <a:gd fmla="val 50012" name="adj1"/>
            </a:avLst>
          </a:prstGeom>
          <a:noFill/>
          <a:ln cap="flat" cmpd="sng" w="9525">
            <a:solidFill>
              <a:schemeClr val="dk2"/>
            </a:solidFill>
            <a:prstDash val="solid"/>
            <a:round/>
            <a:headEnd len="med" w="med" type="none"/>
            <a:tailEnd len="med" w="med" type="triangle"/>
          </a:ln>
        </p:spPr>
      </p:cxnSp>
      <p:sp>
        <p:nvSpPr>
          <p:cNvPr id="591" name="Google Shape;591;p69"/>
          <p:cNvSpPr txBox="1"/>
          <p:nvPr>
            <p:ph idx="1" type="body"/>
          </p:nvPr>
        </p:nvSpPr>
        <p:spPr>
          <a:xfrm>
            <a:off x="464100" y="958650"/>
            <a:ext cx="7968300" cy="1080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The </a:t>
            </a:r>
            <a:r>
              <a:rPr b="1" lang="en">
                <a:latin typeface="Roboto"/>
                <a:ea typeface="Roboto"/>
                <a:cs typeface="Roboto"/>
                <a:sym typeface="Roboto"/>
              </a:rPr>
              <a:t>CEO</a:t>
            </a:r>
            <a:r>
              <a:rPr lang="en"/>
              <a:t> is responsible for plotting the overall direction of the company. </a:t>
            </a:r>
            <a:endParaRPr/>
          </a:p>
          <a:p>
            <a:pPr indent="0" lvl="0" marL="0" rtl="0" algn="l">
              <a:spcBef>
                <a:spcPts val="0"/>
              </a:spcBef>
              <a:spcAft>
                <a:spcPts val="0"/>
              </a:spcAft>
              <a:buNone/>
            </a:pPr>
            <a:r>
              <a:rPr lang="en"/>
              <a:t>They report to the </a:t>
            </a:r>
            <a:r>
              <a:rPr b="1" lang="en">
                <a:latin typeface="Roboto"/>
                <a:ea typeface="Roboto"/>
                <a:cs typeface="Roboto"/>
                <a:sym typeface="Roboto"/>
              </a:rPr>
              <a:t>board of directors</a:t>
            </a:r>
            <a:r>
              <a:rPr lang="en"/>
              <a:t>. This group is elected by shareholders and holds the CEO accountable for meeting their demands. </a:t>
            </a:r>
            <a:endParaRPr/>
          </a:p>
        </p:txBody>
      </p:sp>
      <p:sp>
        <p:nvSpPr>
          <p:cNvPr id="587" name="Google Shape;587;p69"/>
          <p:cNvSpPr/>
          <p:nvPr/>
        </p:nvSpPr>
        <p:spPr>
          <a:xfrm>
            <a:off x="3399750" y="2456450"/>
            <a:ext cx="2344500" cy="720900"/>
          </a:xfrm>
          <a:prstGeom prst="roundRect">
            <a:avLst>
              <a:gd fmla="val 7185" name="adj"/>
            </a:avLst>
          </a:pr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Roboto"/>
                <a:ea typeface="Roboto"/>
                <a:cs typeface="Roboto"/>
                <a:sym typeface="Roboto"/>
              </a:rPr>
              <a:t>Chief Executive Officer</a:t>
            </a:r>
            <a:endParaRPr sz="1500">
              <a:solidFill>
                <a:schemeClr val="lt1"/>
              </a:solidFill>
              <a:latin typeface="Roboto"/>
              <a:ea typeface="Roboto"/>
              <a:cs typeface="Roboto"/>
              <a:sym typeface="Roboto"/>
            </a:endParaRPr>
          </a:p>
          <a:p>
            <a:pPr indent="0" lvl="0" marL="0" rtl="0" algn="ctr">
              <a:spcBef>
                <a:spcPts val="0"/>
              </a:spcBef>
              <a:spcAft>
                <a:spcPts val="0"/>
              </a:spcAft>
              <a:buNone/>
            </a:pPr>
            <a:r>
              <a:rPr b="1" lang="en" sz="1500">
                <a:solidFill>
                  <a:schemeClr val="lt1"/>
                </a:solidFill>
                <a:latin typeface="Roboto"/>
                <a:ea typeface="Roboto"/>
                <a:cs typeface="Roboto"/>
                <a:sym typeface="Roboto"/>
              </a:rPr>
              <a:t>(CEO)</a:t>
            </a:r>
            <a:endParaRPr b="1" sz="1500">
              <a:solidFill>
                <a:schemeClr val="lt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70"/>
          <p:cNvSpPr txBox="1"/>
          <p:nvPr>
            <p:ph type="title"/>
          </p:nvPr>
        </p:nvSpPr>
        <p:spPr>
          <a:xfrm>
            <a:off x="457200" y="27357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Roboto"/>
                <a:ea typeface="Roboto"/>
                <a:cs typeface="Roboto"/>
                <a:sym typeface="Roboto"/>
              </a:rPr>
              <a:t>Executive Roles:</a:t>
            </a:r>
            <a:r>
              <a:rPr lang="en"/>
              <a:t> </a:t>
            </a:r>
            <a:r>
              <a:rPr lang="en">
                <a:latin typeface="Roboto"/>
                <a:ea typeface="Roboto"/>
                <a:cs typeface="Roboto"/>
                <a:sym typeface="Roboto"/>
              </a:rPr>
              <a:t>The Core Leadership Team</a:t>
            </a:r>
            <a:endParaRPr/>
          </a:p>
        </p:txBody>
      </p:sp>
      <p:sp>
        <p:nvSpPr>
          <p:cNvPr id="597" name="Google Shape;597;p70"/>
          <p:cNvSpPr/>
          <p:nvPr/>
        </p:nvSpPr>
        <p:spPr>
          <a:xfrm>
            <a:off x="295575" y="1841150"/>
            <a:ext cx="2043000" cy="423900"/>
          </a:xfrm>
          <a:prstGeom prst="roundRect">
            <a:avLst>
              <a:gd fmla="val 7185" name="adj"/>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CFO</a:t>
            </a:r>
            <a:endParaRPr b="1" sz="1600">
              <a:solidFill>
                <a:schemeClr val="lt1"/>
              </a:solidFill>
              <a:latin typeface="Roboto"/>
              <a:ea typeface="Roboto"/>
              <a:cs typeface="Roboto"/>
              <a:sym typeface="Roboto"/>
            </a:endParaRPr>
          </a:p>
        </p:txBody>
      </p:sp>
      <p:sp>
        <p:nvSpPr>
          <p:cNvPr id="598" name="Google Shape;598;p70"/>
          <p:cNvSpPr/>
          <p:nvPr/>
        </p:nvSpPr>
        <p:spPr>
          <a:xfrm>
            <a:off x="2472683" y="1841150"/>
            <a:ext cx="2043000" cy="423900"/>
          </a:xfrm>
          <a:prstGeom prst="roundRect">
            <a:avLst>
              <a:gd fmla="val 7185" name="adj"/>
            </a:avLst>
          </a:prstGeom>
          <a:solidFill>
            <a:schemeClr val="accen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1600">
                <a:solidFill>
                  <a:schemeClr val="dk2"/>
                </a:solidFill>
                <a:latin typeface="Roboto"/>
                <a:ea typeface="Roboto"/>
                <a:cs typeface="Roboto"/>
                <a:sym typeface="Roboto"/>
              </a:rPr>
              <a:t>COO</a:t>
            </a:r>
            <a:endParaRPr b="1" sz="1600">
              <a:solidFill>
                <a:schemeClr val="dk2"/>
              </a:solidFill>
              <a:latin typeface="Roboto"/>
              <a:ea typeface="Roboto"/>
              <a:cs typeface="Roboto"/>
              <a:sym typeface="Roboto"/>
            </a:endParaRPr>
          </a:p>
        </p:txBody>
      </p:sp>
      <p:sp>
        <p:nvSpPr>
          <p:cNvPr id="599" name="Google Shape;599;p70"/>
          <p:cNvSpPr/>
          <p:nvPr/>
        </p:nvSpPr>
        <p:spPr>
          <a:xfrm>
            <a:off x="4649753" y="1841150"/>
            <a:ext cx="2043000" cy="423900"/>
          </a:xfrm>
          <a:prstGeom prst="roundRect">
            <a:avLst>
              <a:gd fmla="val 7185" name="adj"/>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1600">
                <a:solidFill>
                  <a:schemeClr val="dk2"/>
                </a:solidFill>
                <a:latin typeface="Roboto"/>
                <a:ea typeface="Roboto"/>
                <a:cs typeface="Roboto"/>
                <a:sym typeface="Roboto"/>
              </a:rPr>
              <a:t>CISO</a:t>
            </a:r>
            <a:endParaRPr b="1" sz="1600">
              <a:solidFill>
                <a:schemeClr val="dk2"/>
              </a:solidFill>
              <a:latin typeface="Roboto"/>
              <a:ea typeface="Roboto"/>
              <a:cs typeface="Roboto"/>
              <a:sym typeface="Roboto"/>
            </a:endParaRPr>
          </a:p>
        </p:txBody>
      </p:sp>
      <p:sp>
        <p:nvSpPr>
          <p:cNvPr id="600" name="Google Shape;600;p70"/>
          <p:cNvSpPr/>
          <p:nvPr/>
        </p:nvSpPr>
        <p:spPr>
          <a:xfrm>
            <a:off x="6789299" y="1841150"/>
            <a:ext cx="2043000" cy="423900"/>
          </a:xfrm>
          <a:prstGeom prst="roundRect">
            <a:avLst>
              <a:gd fmla="val 7185" name="adj"/>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1600">
                <a:solidFill>
                  <a:schemeClr val="dk2"/>
                </a:solidFill>
                <a:latin typeface="Roboto"/>
                <a:ea typeface="Roboto"/>
                <a:cs typeface="Roboto"/>
                <a:sym typeface="Roboto"/>
              </a:rPr>
              <a:t>CIO</a:t>
            </a:r>
            <a:endParaRPr b="1" sz="1600">
              <a:solidFill>
                <a:schemeClr val="dk2"/>
              </a:solidFill>
              <a:latin typeface="Roboto"/>
              <a:ea typeface="Roboto"/>
              <a:cs typeface="Roboto"/>
              <a:sym typeface="Roboto"/>
            </a:endParaRPr>
          </a:p>
        </p:txBody>
      </p:sp>
      <p:cxnSp>
        <p:nvCxnSpPr>
          <p:cNvPr id="601" name="Google Shape;601;p70"/>
          <p:cNvCxnSpPr>
            <a:stCxn id="602" idx="2"/>
            <a:endCxn id="597" idx="0"/>
          </p:cNvCxnSpPr>
          <p:nvPr/>
        </p:nvCxnSpPr>
        <p:spPr>
          <a:xfrm rot="5400000">
            <a:off x="2721600" y="-9237"/>
            <a:ext cx="445800" cy="3255000"/>
          </a:xfrm>
          <a:prstGeom prst="bentConnector3">
            <a:avLst>
              <a:gd fmla="val 49999" name="adj1"/>
            </a:avLst>
          </a:prstGeom>
          <a:noFill/>
          <a:ln cap="flat" cmpd="sng" w="9525">
            <a:solidFill>
              <a:schemeClr val="dk2"/>
            </a:solidFill>
            <a:prstDash val="solid"/>
            <a:round/>
            <a:headEnd len="med" w="med" type="none"/>
            <a:tailEnd len="med" w="med" type="triangle"/>
          </a:ln>
        </p:spPr>
      </p:cxnSp>
      <p:cxnSp>
        <p:nvCxnSpPr>
          <p:cNvPr id="603" name="Google Shape;603;p70"/>
          <p:cNvCxnSpPr>
            <a:stCxn id="602" idx="2"/>
            <a:endCxn id="598" idx="0"/>
          </p:cNvCxnSpPr>
          <p:nvPr/>
        </p:nvCxnSpPr>
        <p:spPr>
          <a:xfrm rot="5400000">
            <a:off x="3810150" y="1079313"/>
            <a:ext cx="445800" cy="1077900"/>
          </a:xfrm>
          <a:prstGeom prst="bentConnector3">
            <a:avLst>
              <a:gd fmla="val 49999" name="adj1"/>
            </a:avLst>
          </a:prstGeom>
          <a:noFill/>
          <a:ln cap="flat" cmpd="sng" w="9525">
            <a:solidFill>
              <a:schemeClr val="dk2"/>
            </a:solidFill>
            <a:prstDash val="solid"/>
            <a:round/>
            <a:headEnd len="med" w="med" type="none"/>
            <a:tailEnd len="med" w="med" type="triangle"/>
          </a:ln>
        </p:spPr>
      </p:cxnSp>
      <p:cxnSp>
        <p:nvCxnSpPr>
          <p:cNvPr id="604" name="Google Shape;604;p70"/>
          <p:cNvCxnSpPr>
            <a:stCxn id="602" idx="2"/>
            <a:endCxn id="600" idx="0"/>
          </p:cNvCxnSpPr>
          <p:nvPr/>
        </p:nvCxnSpPr>
        <p:spPr>
          <a:xfrm flipH="1" rot="-5400000">
            <a:off x="5968500" y="-1137"/>
            <a:ext cx="445800" cy="3238800"/>
          </a:xfrm>
          <a:prstGeom prst="bentConnector3">
            <a:avLst>
              <a:gd fmla="val 49999" name="adj1"/>
            </a:avLst>
          </a:prstGeom>
          <a:noFill/>
          <a:ln cap="flat" cmpd="sng" w="9525">
            <a:solidFill>
              <a:schemeClr val="dk2"/>
            </a:solidFill>
            <a:prstDash val="solid"/>
            <a:round/>
            <a:headEnd len="med" w="med" type="none"/>
            <a:tailEnd len="med" w="med" type="triangle"/>
          </a:ln>
        </p:spPr>
      </p:cxnSp>
      <p:cxnSp>
        <p:nvCxnSpPr>
          <p:cNvPr id="605" name="Google Shape;605;p70"/>
          <p:cNvCxnSpPr>
            <a:stCxn id="602" idx="2"/>
            <a:endCxn id="599" idx="0"/>
          </p:cNvCxnSpPr>
          <p:nvPr/>
        </p:nvCxnSpPr>
        <p:spPr>
          <a:xfrm flipH="1" rot="-5400000">
            <a:off x="4898700" y="1068663"/>
            <a:ext cx="445800" cy="1099200"/>
          </a:xfrm>
          <a:prstGeom prst="bentConnector3">
            <a:avLst>
              <a:gd fmla="val 49999" name="adj1"/>
            </a:avLst>
          </a:prstGeom>
          <a:noFill/>
          <a:ln cap="flat" cmpd="sng" w="9525">
            <a:solidFill>
              <a:schemeClr val="dk2"/>
            </a:solidFill>
            <a:prstDash val="solid"/>
            <a:round/>
            <a:headEnd len="med" w="med" type="none"/>
            <a:tailEnd len="med" w="med" type="triangle"/>
          </a:ln>
        </p:spPr>
      </p:cxnSp>
      <p:sp>
        <p:nvSpPr>
          <p:cNvPr id="602" name="Google Shape;602;p70"/>
          <p:cNvSpPr/>
          <p:nvPr/>
        </p:nvSpPr>
        <p:spPr>
          <a:xfrm>
            <a:off x="3976500" y="912363"/>
            <a:ext cx="1191000" cy="483000"/>
          </a:xfrm>
          <a:prstGeom prst="roundRect">
            <a:avLst>
              <a:gd fmla="val 718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CEO</a:t>
            </a:r>
            <a:endParaRPr b="1" sz="1600">
              <a:solidFill>
                <a:schemeClr val="lt1"/>
              </a:solidFill>
              <a:latin typeface="Roboto"/>
              <a:ea typeface="Roboto"/>
              <a:cs typeface="Roboto"/>
              <a:sym typeface="Roboto"/>
            </a:endParaRPr>
          </a:p>
        </p:txBody>
      </p:sp>
      <p:graphicFrame>
        <p:nvGraphicFramePr>
          <p:cNvPr id="606" name="Google Shape;606;p70"/>
          <p:cNvGraphicFramePr/>
          <p:nvPr/>
        </p:nvGraphicFramePr>
        <p:xfrm>
          <a:off x="295575" y="2423000"/>
          <a:ext cx="3000000" cy="3000000"/>
        </p:xfrm>
        <a:graphic>
          <a:graphicData uri="http://schemas.openxmlformats.org/drawingml/2006/table">
            <a:tbl>
              <a:tblPr>
                <a:noFill/>
                <a:tableStyleId>{2F5ABBAB-A8E2-4C23-A3CE-279611B39798}</a:tableStyleId>
              </a:tblPr>
              <a:tblGrid>
                <a:gridCol w="2043000"/>
              </a:tblGrid>
              <a:tr h="609575">
                <a:tc>
                  <a:txBody>
                    <a:bodyPr/>
                    <a:lstStyle/>
                    <a:p>
                      <a:pPr indent="0" lvl="0" marL="0" rtl="0" algn="ctr">
                        <a:spcBef>
                          <a:spcPts val="0"/>
                        </a:spcBef>
                        <a:spcAft>
                          <a:spcPts val="0"/>
                        </a:spcAft>
                        <a:buNone/>
                      </a:pPr>
                      <a:r>
                        <a:rPr lang="en" sz="1500">
                          <a:solidFill>
                            <a:schemeClr val="dk2"/>
                          </a:solidFill>
                          <a:latin typeface="Roboto"/>
                          <a:ea typeface="Roboto"/>
                          <a:cs typeface="Roboto"/>
                          <a:sym typeface="Roboto"/>
                        </a:rPr>
                        <a:t>Chief Financial Officer</a:t>
                      </a:r>
                      <a:endParaRPr sz="1500">
                        <a:solidFill>
                          <a:schemeClr val="dk2"/>
                        </a:solidFill>
                        <a:latin typeface="Roboto"/>
                        <a:ea typeface="Roboto"/>
                        <a:cs typeface="Roboto"/>
                        <a:sym typeface="Roboto"/>
                      </a:endParaRPr>
                    </a:p>
                  </a:txBody>
                  <a:tcPr marT="91425" marB="91425" marR="91425" marL="914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EBEDF0"/>
                    </a:solidFill>
                  </a:tcPr>
                </a:tc>
              </a:tr>
              <a:tr h="1681450">
                <a:tc>
                  <a:txBody>
                    <a:bodyPr/>
                    <a:lstStyle/>
                    <a:p>
                      <a:pPr indent="0" lvl="0" marL="0" rtl="0" algn="l">
                        <a:spcBef>
                          <a:spcPts val="0"/>
                        </a:spcBef>
                        <a:spcAft>
                          <a:spcPts val="0"/>
                        </a:spcAft>
                        <a:buNone/>
                      </a:pPr>
                      <a:r>
                        <a:rPr lang="en" sz="1500">
                          <a:solidFill>
                            <a:schemeClr val="dk2"/>
                          </a:solidFill>
                          <a:latin typeface="Roboto"/>
                          <a:ea typeface="Roboto"/>
                          <a:cs typeface="Roboto"/>
                          <a:sym typeface="Roboto"/>
                        </a:rPr>
                        <a:t>Charts and monitors the company’s financial trajectory, helping ensure the company uses its finances wisely.</a:t>
                      </a:r>
                      <a:endParaRPr sz="1500">
                        <a:solidFill>
                          <a:schemeClr val="dk2"/>
                        </a:solidFill>
                        <a:latin typeface="Roboto"/>
                        <a:ea typeface="Roboto"/>
                        <a:cs typeface="Roboto"/>
                        <a:sym typeface="Roboto"/>
                      </a:endParaRPr>
                    </a:p>
                  </a:txBody>
                  <a:tcPr marT="91425" marB="91425" marR="91425" marL="91425">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tcPr>
                </a:tc>
              </a:tr>
            </a:tbl>
          </a:graphicData>
        </a:graphic>
      </p:graphicFrame>
      <p:graphicFrame>
        <p:nvGraphicFramePr>
          <p:cNvPr id="607" name="Google Shape;607;p70"/>
          <p:cNvGraphicFramePr/>
          <p:nvPr/>
        </p:nvGraphicFramePr>
        <p:xfrm>
          <a:off x="2472683" y="2423000"/>
          <a:ext cx="3000000" cy="3000000"/>
        </p:xfrm>
        <a:graphic>
          <a:graphicData uri="http://schemas.openxmlformats.org/drawingml/2006/table">
            <a:tbl>
              <a:tblPr>
                <a:noFill/>
                <a:tableStyleId>{2F5ABBAB-A8E2-4C23-A3CE-279611B39798}</a:tableStyleId>
              </a:tblPr>
              <a:tblGrid>
                <a:gridCol w="2043000"/>
              </a:tblGrid>
              <a:tr h="609575">
                <a:tc>
                  <a:txBody>
                    <a:bodyPr/>
                    <a:lstStyle/>
                    <a:p>
                      <a:pPr indent="0" lvl="0" marL="0" rtl="0" algn="ctr">
                        <a:spcBef>
                          <a:spcPts val="0"/>
                        </a:spcBef>
                        <a:spcAft>
                          <a:spcPts val="0"/>
                        </a:spcAft>
                        <a:buNone/>
                      </a:pPr>
                      <a:r>
                        <a:rPr lang="en" sz="1500">
                          <a:solidFill>
                            <a:schemeClr val="dk2"/>
                          </a:solidFill>
                          <a:latin typeface="Roboto"/>
                          <a:ea typeface="Roboto"/>
                          <a:cs typeface="Roboto"/>
                          <a:sym typeface="Roboto"/>
                        </a:rPr>
                        <a:t>Chief Operating Officer</a:t>
                      </a:r>
                      <a:endParaRPr sz="1500">
                        <a:solidFill>
                          <a:schemeClr val="dk2"/>
                        </a:solidFill>
                        <a:latin typeface="Roboto"/>
                        <a:ea typeface="Roboto"/>
                        <a:cs typeface="Roboto"/>
                        <a:sym typeface="Roboto"/>
                      </a:endParaRPr>
                    </a:p>
                  </a:txBody>
                  <a:tcPr marT="91425" marB="91425" marR="91425" marL="914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EBEDF0"/>
                    </a:solidFill>
                  </a:tcPr>
                </a:tc>
              </a:tr>
              <a:tr h="1249650">
                <a:tc>
                  <a:txBody>
                    <a:bodyPr/>
                    <a:lstStyle/>
                    <a:p>
                      <a:pPr indent="-232409" lvl="0" marL="182880" rtl="0" algn="l">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Ensures a business is able to function effectively day-to-day.</a:t>
                      </a:r>
                      <a:endParaRPr sz="1500">
                        <a:solidFill>
                          <a:schemeClr val="dk2"/>
                        </a:solidFill>
                        <a:latin typeface="Roboto"/>
                        <a:ea typeface="Roboto"/>
                        <a:cs typeface="Roboto"/>
                        <a:sym typeface="Roboto"/>
                      </a:endParaRPr>
                    </a:p>
                    <a:p>
                      <a:pPr indent="-232409" lvl="0" marL="182880" rtl="0" algn="l">
                        <a:spcBef>
                          <a:spcPts val="1000"/>
                        </a:spcBef>
                        <a:spcAft>
                          <a:spcPts val="0"/>
                        </a:spcAft>
                        <a:buClr>
                          <a:schemeClr val="dk2"/>
                        </a:buClr>
                        <a:buSzPts val="1500"/>
                        <a:buFont typeface="Roboto"/>
                        <a:buChar char="●"/>
                      </a:pPr>
                      <a:r>
                        <a:rPr lang="en" sz="1500">
                          <a:solidFill>
                            <a:schemeClr val="dk2"/>
                          </a:solidFill>
                          <a:latin typeface="Roboto"/>
                          <a:ea typeface="Roboto"/>
                          <a:cs typeface="Roboto"/>
                          <a:sym typeface="Roboto"/>
                        </a:rPr>
                        <a:t>Typically reports directly to the CEO.</a:t>
                      </a:r>
                      <a:endParaRPr sz="1500">
                        <a:solidFill>
                          <a:schemeClr val="dk2"/>
                        </a:solidFill>
                        <a:latin typeface="Roboto"/>
                        <a:ea typeface="Roboto"/>
                        <a:cs typeface="Roboto"/>
                        <a:sym typeface="Roboto"/>
                      </a:endParaRPr>
                    </a:p>
                  </a:txBody>
                  <a:tcPr marT="91425" marB="91425" marR="91425" marL="91425">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tcPr>
                </a:tc>
              </a:tr>
            </a:tbl>
          </a:graphicData>
        </a:graphic>
      </p:graphicFrame>
      <p:graphicFrame>
        <p:nvGraphicFramePr>
          <p:cNvPr id="608" name="Google Shape;608;p70"/>
          <p:cNvGraphicFramePr/>
          <p:nvPr/>
        </p:nvGraphicFramePr>
        <p:xfrm>
          <a:off x="4649753" y="2436550"/>
          <a:ext cx="3000000" cy="3000000"/>
        </p:xfrm>
        <a:graphic>
          <a:graphicData uri="http://schemas.openxmlformats.org/drawingml/2006/table">
            <a:tbl>
              <a:tblPr>
                <a:noFill/>
                <a:tableStyleId>{2F5ABBAB-A8E2-4C23-A3CE-279611B39798}</a:tableStyleId>
              </a:tblPr>
              <a:tblGrid>
                <a:gridCol w="2043000"/>
              </a:tblGrid>
              <a:tr h="729300">
                <a:tc>
                  <a:txBody>
                    <a:bodyPr/>
                    <a:lstStyle/>
                    <a:p>
                      <a:pPr indent="0" lvl="0" marL="0" rtl="0" algn="ctr">
                        <a:spcBef>
                          <a:spcPts val="0"/>
                        </a:spcBef>
                        <a:spcAft>
                          <a:spcPts val="0"/>
                        </a:spcAft>
                        <a:buNone/>
                      </a:pPr>
                      <a:r>
                        <a:rPr lang="en" sz="1500">
                          <a:solidFill>
                            <a:schemeClr val="dk2"/>
                          </a:solidFill>
                          <a:latin typeface="Roboto"/>
                          <a:ea typeface="Roboto"/>
                          <a:cs typeface="Roboto"/>
                          <a:sym typeface="Roboto"/>
                        </a:rPr>
                        <a:t>Chief Information Security Officer</a:t>
                      </a:r>
                      <a:endParaRPr sz="1500">
                        <a:solidFill>
                          <a:schemeClr val="dk2"/>
                        </a:solidFill>
                        <a:latin typeface="Roboto"/>
                        <a:ea typeface="Roboto"/>
                        <a:cs typeface="Roboto"/>
                        <a:sym typeface="Roboto"/>
                      </a:endParaRPr>
                    </a:p>
                  </a:txBody>
                  <a:tcPr marT="91425" marB="91425" marR="91425" marL="91425">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EBEDF0"/>
                    </a:solidFill>
                  </a:tcPr>
                </a:tc>
              </a:tr>
              <a:tr h="1622675">
                <a:tc>
                  <a:txBody>
                    <a:bodyPr/>
                    <a:lstStyle/>
                    <a:p>
                      <a:pPr indent="0" lvl="0" marL="0" rtl="0" algn="l">
                        <a:spcBef>
                          <a:spcPts val="0"/>
                        </a:spcBef>
                        <a:spcAft>
                          <a:spcPts val="0"/>
                        </a:spcAft>
                        <a:buNone/>
                      </a:pPr>
                      <a:r>
                        <a:rPr lang="en" sz="1500">
                          <a:solidFill>
                            <a:schemeClr val="dk2"/>
                          </a:solidFill>
                          <a:latin typeface="Roboto"/>
                          <a:ea typeface="Roboto"/>
                          <a:cs typeface="Roboto"/>
                          <a:sym typeface="Roboto"/>
                        </a:rPr>
                        <a:t>Manages risk to an organization’s data throughout its lifecycle.</a:t>
                      </a:r>
                      <a:endParaRPr sz="1500">
                        <a:solidFill>
                          <a:schemeClr val="dk2"/>
                        </a:solidFill>
                        <a:latin typeface="Roboto"/>
                        <a:ea typeface="Roboto"/>
                        <a:cs typeface="Roboto"/>
                        <a:sym typeface="Roboto"/>
                      </a:endParaRPr>
                    </a:p>
                  </a:txBody>
                  <a:tcPr marT="91425" marB="91425" marR="91425" marL="91425">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tcPr>
                </a:tc>
              </a:tr>
            </a:tbl>
          </a:graphicData>
        </a:graphic>
      </p:graphicFrame>
      <p:graphicFrame>
        <p:nvGraphicFramePr>
          <p:cNvPr id="609" name="Google Shape;609;p70"/>
          <p:cNvGraphicFramePr/>
          <p:nvPr/>
        </p:nvGraphicFramePr>
        <p:xfrm>
          <a:off x="6826824" y="2423013"/>
          <a:ext cx="3000000" cy="3000000"/>
        </p:xfrm>
        <a:graphic>
          <a:graphicData uri="http://schemas.openxmlformats.org/drawingml/2006/table">
            <a:tbl>
              <a:tblPr>
                <a:noFill/>
                <a:tableStyleId>{2F5ABBAB-A8E2-4C23-A3CE-279611B39798}</a:tableStyleId>
              </a:tblPr>
              <a:tblGrid>
                <a:gridCol w="2043000"/>
              </a:tblGrid>
              <a:tr h="694575">
                <a:tc>
                  <a:txBody>
                    <a:bodyPr/>
                    <a:lstStyle/>
                    <a:p>
                      <a:pPr indent="0" lvl="0" marL="0" rtl="0" algn="ctr">
                        <a:spcBef>
                          <a:spcPts val="0"/>
                        </a:spcBef>
                        <a:spcAft>
                          <a:spcPts val="0"/>
                        </a:spcAft>
                        <a:buNone/>
                      </a:pPr>
                      <a:r>
                        <a:rPr lang="en" sz="1500">
                          <a:solidFill>
                            <a:schemeClr val="dk2"/>
                          </a:solidFill>
                          <a:latin typeface="Roboto"/>
                          <a:ea typeface="Roboto"/>
                          <a:cs typeface="Roboto"/>
                          <a:sym typeface="Roboto"/>
                        </a:rPr>
                        <a:t>Chief Information Officer</a:t>
                      </a:r>
                      <a:endParaRPr sz="1500">
                        <a:solidFill>
                          <a:schemeClr val="dk2"/>
                        </a:solidFill>
                        <a:latin typeface="Roboto"/>
                        <a:ea typeface="Roboto"/>
                        <a:cs typeface="Roboto"/>
                        <a:sym typeface="Roboto"/>
                      </a:endParaRPr>
                    </a:p>
                  </a:txBody>
                  <a:tcPr marT="91425" marB="91425" marR="91425" marL="91425">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EBEDF0"/>
                    </a:solidFill>
                  </a:tcPr>
                </a:tc>
              </a:tr>
              <a:tr h="1657400">
                <a:tc>
                  <a:txBody>
                    <a:bodyPr/>
                    <a:lstStyle/>
                    <a:p>
                      <a:pPr indent="-140970" lvl="0" marL="91440" rtl="0" algn="l">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Develops IT systems </a:t>
                      </a:r>
                      <a:br>
                        <a:rPr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that support the business. </a:t>
                      </a:r>
                      <a:endParaRPr sz="1500">
                        <a:solidFill>
                          <a:schemeClr val="dk2"/>
                        </a:solidFill>
                        <a:latin typeface="Roboto"/>
                        <a:ea typeface="Roboto"/>
                        <a:cs typeface="Roboto"/>
                        <a:sym typeface="Roboto"/>
                      </a:endParaRPr>
                    </a:p>
                    <a:p>
                      <a:pPr indent="-140970" lvl="0" marL="91440" rtl="0" algn="l">
                        <a:spcBef>
                          <a:spcPts val="1000"/>
                        </a:spcBef>
                        <a:spcAft>
                          <a:spcPts val="0"/>
                        </a:spcAft>
                        <a:buClr>
                          <a:schemeClr val="dk2"/>
                        </a:buClr>
                        <a:buSzPts val="1500"/>
                        <a:buFont typeface="Roboto"/>
                        <a:buChar char="●"/>
                      </a:pPr>
                      <a:r>
                        <a:rPr lang="en" sz="1500">
                          <a:solidFill>
                            <a:schemeClr val="dk2"/>
                          </a:solidFill>
                          <a:latin typeface="Roboto"/>
                          <a:ea typeface="Roboto"/>
                          <a:cs typeface="Roboto"/>
                          <a:sym typeface="Roboto"/>
                        </a:rPr>
                        <a:t>Typically reports to the CEO.</a:t>
                      </a:r>
                      <a:endParaRPr sz="1500">
                        <a:solidFill>
                          <a:schemeClr val="dk2"/>
                        </a:solidFill>
                        <a:latin typeface="Roboto"/>
                        <a:ea typeface="Roboto"/>
                        <a:cs typeface="Roboto"/>
                        <a:sym typeface="Roboto"/>
                      </a:endParaRPr>
                    </a:p>
                  </a:txBody>
                  <a:tcPr marT="91425" marB="91425" marR="91425" marL="91425">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71"/>
          <p:cNvSpPr txBox="1"/>
          <p:nvPr>
            <p:ph type="title"/>
          </p:nvPr>
        </p:nvSpPr>
        <p:spPr>
          <a:xfrm>
            <a:off x="457200" y="2393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Responsibilities of the Security Department</a:t>
            </a:r>
            <a:endParaRPr/>
          </a:p>
        </p:txBody>
      </p:sp>
      <p:sp>
        <p:nvSpPr>
          <p:cNvPr id="615" name="Google Shape;615;p71"/>
          <p:cNvSpPr txBox="1"/>
          <p:nvPr>
            <p:ph idx="1" type="body"/>
          </p:nvPr>
        </p:nvSpPr>
        <p:spPr>
          <a:xfrm>
            <a:off x="464100" y="644350"/>
            <a:ext cx="8057700" cy="762000"/>
          </a:xfrm>
          <a:prstGeom prst="rect">
            <a:avLst/>
          </a:prstGeom>
          <a:ln>
            <a:noFill/>
          </a:ln>
        </p:spPr>
        <p:txBody>
          <a:bodyPr anchorCtr="0" anchor="t" bIns="91425" lIns="0" spcFirstLastPara="1" rIns="91425" wrap="square" tIns="0">
            <a:noAutofit/>
          </a:bodyPr>
          <a:lstStyle/>
          <a:p>
            <a:pPr indent="0" lvl="0" marL="0" rtl="0" algn="l">
              <a:spcBef>
                <a:spcPts val="0"/>
              </a:spcBef>
              <a:spcAft>
                <a:spcPts val="0"/>
              </a:spcAft>
              <a:buNone/>
            </a:pPr>
            <a:r>
              <a:rPr lang="en"/>
              <a:t>The </a:t>
            </a:r>
            <a:r>
              <a:rPr lang="en"/>
              <a:t>CISO is responsible for protecting the company’s data, often supervising the following teams, among others:</a:t>
            </a:r>
            <a:endParaRPr/>
          </a:p>
        </p:txBody>
      </p:sp>
      <p:graphicFrame>
        <p:nvGraphicFramePr>
          <p:cNvPr id="616" name="Google Shape;616;p71"/>
          <p:cNvGraphicFramePr/>
          <p:nvPr/>
        </p:nvGraphicFramePr>
        <p:xfrm>
          <a:off x="476450" y="1365050"/>
          <a:ext cx="3000000" cy="3000000"/>
        </p:xfrm>
        <a:graphic>
          <a:graphicData uri="http://schemas.openxmlformats.org/drawingml/2006/table">
            <a:tbl>
              <a:tblPr>
                <a:noFill/>
                <a:tableStyleId>{2F5ABBAB-A8E2-4C23-A3CE-279611B39798}</a:tableStyleId>
              </a:tblPr>
              <a:tblGrid>
                <a:gridCol w="1491600"/>
                <a:gridCol w="2800300"/>
                <a:gridCol w="3918425"/>
              </a:tblGrid>
              <a:tr h="327125">
                <a:tc>
                  <a:txBody>
                    <a:bodyPr/>
                    <a:lstStyle/>
                    <a:p>
                      <a:pPr indent="0" lvl="0" marL="0" rtl="0" algn="l">
                        <a:spcBef>
                          <a:spcPts val="0"/>
                        </a:spcBef>
                        <a:spcAft>
                          <a:spcPts val="200"/>
                        </a:spcAft>
                        <a:buNone/>
                      </a:pPr>
                      <a:r>
                        <a:rPr b="1" lang="en" sz="1600">
                          <a:solidFill>
                            <a:schemeClr val="lt1"/>
                          </a:solidFill>
                          <a:latin typeface="Roboto"/>
                          <a:ea typeface="Roboto"/>
                          <a:cs typeface="Roboto"/>
                          <a:sym typeface="Roboto"/>
                        </a:rPr>
                        <a:t>Department</a:t>
                      </a:r>
                      <a:endParaRPr b="1" sz="1600">
                        <a:solidFill>
                          <a:schemeClr val="lt1"/>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200"/>
                        </a:spcAft>
                        <a:buClr>
                          <a:schemeClr val="dk1"/>
                        </a:buClr>
                        <a:buSzPts val="1100"/>
                        <a:buFont typeface="Arial"/>
                        <a:buNone/>
                      </a:pPr>
                      <a:r>
                        <a:rPr b="1" lang="en" sz="1600">
                          <a:solidFill>
                            <a:schemeClr val="lt1"/>
                          </a:solidFill>
                          <a:latin typeface="Roboto"/>
                          <a:ea typeface="Roboto"/>
                          <a:cs typeface="Roboto"/>
                          <a:sym typeface="Roboto"/>
                        </a:rPr>
                        <a:t>Position</a:t>
                      </a:r>
                      <a:endParaRPr b="1" sz="1600">
                        <a:solidFill>
                          <a:schemeClr val="lt1"/>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200"/>
                        </a:spcAft>
                        <a:buClr>
                          <a:schemeClr val="dk1"/>
                        </a:buClr>
                        <a:buSzPts val="1100"/>
                        <a:buFont typeface="Arial"/>
                        <a:buNone/>
                      </a:pPr>
                      <a:r>
                        <a:rPr b="1" lang="en" sz="1600">
                          <a:solidFill>
                            <a:schemeClr val="lt1"/>
                          </a:solidFill>
                          <a:latin typeface="Roboto"/>
                          <a:ea typeface="Roboto"/>
                          <a:cs typeface="Roboto"/>
                          <a:sym typeface="Roboto"/>
                        </a:rPr>
                        <a:t>Supervises</a:t>
                      </a:r>
                      <a:endParaRPr b="1" sz="1600">
                        <a:solidFill>
                          <a:schemeClr val="lt1"/>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r>
              <a:tr h="1032325">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Network Security</a:t>
                      </a:r>
                      <a:endParaRPr sz="1600">
                        <a:solidFill>
                          <a:srgbClr val="FFFFFF"/>
                        </a:solidFill>
                        <a:latin typeface="Roboto Medium"/>
                        <a:ea typeface="Roboto Medium"/>
                        <a:cs typeface="Roboto Medium"/>
                        <a:sym typeface="Roboto Medium"/>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5"/>
                    </a:solidFill>
                  </a:tcPr>
                </a:tc>
                <a:tc>
                  <a:txBody>
                    <a:bodyPr/>
                    <a:lstStyle/>
                    <a:p>
                      <a:pPr indent="0" lvl="0" marL="0" rtl="0" algn="l">
                        <a:lnSpc>
                          <a:spcPct val="100000"/>
                        </a:lnSpc>
                        <a:spcBef>
                          <a:spcPts val="400"/>
                        </a:spcBef>
                        <a:spcAft>
                          <a:spcPts val="0"/>
                        </a:spcAft>
                        <a:buNone/>
                      </a:pPr>
                      <a:r>
                        <a:rPr lang="en" sz="1500">
                          <a:solidFill>
                            <a:schemeClr val="dk2"/>
                          </a:solidFill>
                          <a:latin typeface="Roboto"/>
                          <a:ea typeface="Roboto"/>
                          <a:cs typeface="Roboto"/>
                          <a:sym typeface="Roboto"/>
                        </a:rPr>
                        <a:t>Director of networking or director of network security is in charge of networks.</a:t>
                      </a:r>
                      <a:endParaRPr sz="1500">
                        <a:solidFill>
                          <a:schemeClr val="dk2"/>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EBEDF0"/>
                    </a:solidFill>
                  </a:tcPr>
                </a:tc>
                <a:tc>
                  <a:txBody>
                    <a:bodyPr/>
                    <a:lstStyle/>
                    <a:p>
                      <a:pPr indent="0" lvl="0" marL="0" rtl="0" algn="l">
                        <a:lnSpc>
                          <a:spcPct val="100000"/>
                        </a:lnSpc>
                        <a:spcBef>
                          <a:spcPts val="400"/>
                        </a:spcBef>
                        <a:spcAft>
                          <a:spcPts val="0"/>
                        </a:spcAft>
                        <a:buNone/>
                      </a:pPr>
                      <a:r>
                        <a:rPr lang="en" sz="1500">
                          <a:solidFill>
                            <a:schemeClr val="dk2"/>
                          </a:solidFill>
                          <a:latin typeface="Roboto"/>
                          <a:ea typeface="Roboto"/>
                          <a:cs typeface="Roboto"/>
                          <a:sym typeface="Roboto"/>
                        </a:rPr>
                        <a:t>A director of networking often has system administrators, network administrators, </a:t>
                      </a:r>
                      <a:br>
                        <a:rPr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and physical network technicians on staff. They may also manage a help desk.</a:t>
                      </a:r>
                      <a:endParaRPr sz="1500">
                        <a:solidFill>
                          <a:schemeClr val="dk2"/>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816125">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Incident Response</a:t>
                      </a:r>
                      <a:endParaRPr sz="1600">
                        <a:solidFill>
                          <a:srgbClr val="FFFFFF"/>
                        </a:solidFill>
                        <a:latin typeface="Roboto Medium"/>
                        <a:ea typeface="Roboto Medium"/>
                        <a:cs typeface="Roboto Medium"/>
                        <a:sym typeface="Roboto Medium"/>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5"/>
                    </a:solidFill>
                  </a:tcPr>
                </a:tc>
                <a:tc>
                  <a:txBody>
                    <a:bodyPr/>
                    <a:lstStyle/>
                    <a:p>
                      <a:pPr indent="0" lvl="0" marL="0" rtl="0" algn="l">
                        <a:lnSpc>
                          <a:spcPct val="100000"/>
                        </a:lnSpc>
                        <a:spcBef>
                          <a:spcPts val="400"/>
                        </a:spcBef>
                        <a:spcAft>
                          <a:spcPts val="0"/>
                        </a:spcAft>
                        <a:buNone/>
                      </a:pPr>
                      <a:r>
                        <a:rPr lang="en" sz="1500">
                          <a:solidFill>
                            <a:schemeClr val="dk2"/>
                          </a:solidFill>
                          <a:latin typeface="Roboto"/>
                          <a:ea typeface="Roboto"/>
                          <a:cs typeface="Roboto"/>
                          <a:sym typeface="Roboto"/>
                        </a:rPr>
                        <a:t>IR manager or SOC manager manages an incident response u</a:t>
                      </a:r>
                      <a:r>
                        <a:rPr lang="en" sz="1500">
                          <a:solidFill>
                            <a:schemeClr val="dk2"/>
                          </a:solidFill>
                          <a:latin typeface="Roboto"/>
                          <a:ea typeface="Roboto"/>
                          <a:cs typeface="Roboto"/>
                          <a:sym typeface="Roboto"/>
                        </a:rPr>
                        <a:t>nit.</a:t>
                      </a:r>
                      <a:endParaRPr sz="1500">
                        <a:solidFill>
                          <a:schemeClr val="dk2"/>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EBEDF0"/>
                    </a:solidFill>
                  </a:tcPr>
                </a:tc>
                <a:tc>
                  <a:txBody>
                    <a:bodyPr/>
                    <a:lstStyle/>
                    <a:p>
                      <a:pPr indent="0" lvl="0" marL="0" rtl="0" algn="l">
                        <a:lnSpc>
                          <a:spcPct val="100000"/>
                        </a:lnSpc>
                        <a:spcBef>
                          <a:spcPts val="400"/>
                        </a:spcBef>
                        <a:spcAft>
                          <a:spcPts val="0"/>
                        </a:spcAft>
                        <a:buNone/>
                      </a:pPr>
                      <a:r>
                        <a:rPr lang="en" sz="1500">
                          <a:solidFill>
                            <a:schemeClr val="dk2"/>
                          </a:solidFill>
                          <a:latin typeface="Roboto"/>
                          <a:ea typeface="Roboto"/>
                          <a:cs typeface="Roboto"/>
                          <a:sym typeface="Roboto"/>
                        </a:rPr>
                        <a:t>A SOC manager employs SOC analysts, </a:t>
                      </a:r>
                      <a:br>
                        <a:rPr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also known as security analysts or incident handlers.</a:t>
                      </a:r>
                      <a:endParaRPr sz="1500">
                        <a:solidFill>
                          <a:schemeClr val="dk2"/>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701700">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Application Security</a:t>
                      </a:r>
                      <a:endParaRPr sz="1600">
                        <a:solidFill>
                          <a:srgbClr val="FFFFFF"/>
                        </a:solidFill>
                        <a:latin typeface="Roboto Medium"/>
                        <a:ea typeface="Roboto Medium"/>
                        <a:cs typeface="Roboto Medium"/>
                        <a:sym typeface="Roboto Medium"/>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5"/>
                    </a:solidFill>
                  </a:tcPr>
                </a:tc>
                <a:tc>
                  <a:txBody>
                    <a:bodyPr/>
                    <a:lstStyle/>
                    <a:p>
                      <a:pPr indent="0" lvl="0" marL="0" rtl="0" algn="l">
                        <a:lnSpc>
                          <a:spcPct val="100000"/>
                        </a:lnSpc>
                        <a:spcBef>
                          <a:spcPts val="400"/>
                        </a:spcBef>
                        <a:spcAft>
                          <a:spcPts val="0"/>
                        </a:spcAft>
                        <a:buNone/>
                      </a:pPr>
                      <a:r>
                        <a:rPr lang="en" sz="1500">
                          <a:solidFill>
                            <a:schemeClr val="dk2"/>
                          </a:solidFill>
                          <a:latin typeface="Roboto"/>
                          <a:ea typeface="Roboto"/>
                          <a:cs typeface="Roboto"/>
                          <a:sym typeface="Roboto"/>
                        </a:rPr>
                        <a:t>Security architect is in charge of application security.</a:t>
                      </a:r>
                      <a:endParaRPr sz="1500">
                        <a:solidFill>
                          <a:schemeClr val="dk2"/>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EBEDF0"/>
                    </a:solidFill>
                  </a:tcPr>
                </a:tc>
                <a:tc>
                  <a:txBody>
                    <a:bodyPr/>
                    <a:lstStyle/>
                    <a:p>
                      <a:pPr indent="0" lvl="0" marL="0" rtl="0" algn="l">
                        <a:lnSpc>
                          <a:spcPct val="100000"/>
                        </a:lnSpc>
                        <a:spcBef>
                          <a:spcPts val="400"/>
                        </a:spcBef>
                        <a:spcAft>
                          <a:spcPts val="0"/>
                        </a:spcAft>
                        <a:buNone/>
                      </a:pPr>
                      <a:r>
                        <a:rPr lang="en" sz="1500">
                          <a:solidFill>
                            <a:schemeClr val="dk2"/>
                          </a:solidFill>
                          <a:latin typeface="Roboto"/>
                          <a:ea typeface="Roboto"/>
                          <a:cs typeface="Roboto"/>
                          <a:sym typeface="Roboto"/>
                        </a:rPr>
                        <a:t>A security architect typically manages security engineers and software engineers.</a:t>
                      </a:r>
                      <a:endParaRPr sz="1500">
                        <a:solidFill>
                          <a:schemeClr val="dk2"/>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72"/>
          <p:cNvSpPr txBox="1"/>
          <p:nvPr>
            <p:ph type="title"/>
          </p:nvPr>
        </p:nvSpPr>
        <p:spPr>
          <a:xfrm>
            <a:off x="457200" y="2164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and the Larger Organization</a:t>
            </a:r>
            <a:endParaRPr/>
          </a:p>
        </p:txBody>
      </p:sp>
      <p:sp>
        <p:nvSpPr>
          <p:cNvPr id="622" name="Google Shape;622;p72"/>
          <p:cNvSpPr txBox="1"/>
          <p:nvPr>
            <p:ph idx="4294967295" type="subTitle"/>
          </p:nvPr>
        </p:nvSpPr>
        <p:spPr>
          <a:xfrm>
            <a:off x="464100" y="971325"/>
            <a:ext cx="4071000" cy="8949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Security operations will interact </a:t>
            </a:r>
            <a:br>
              <a:rPr lang="en"/>
            </a:br>
            <a:r>
              <a:rPr lang="en"/>
              <a:t>with other non-security teams </a:t>
            </a:r>
            <a:br>
              <a:rPr lang="en"/>
            </a:br>
            <a:r>
              <a:rPr lang="en"/>
              <a:t>within the organization.</a:t>
            </a:r>
            <a:endParaRPr/>
          </a:p>
        </p:txBody>
      </p:sp>
      <p:sp>
        <p:nvSpPr>
          <p:cNvPr id="623" name="Google Shape;623;p72"/>
          <p:cNvSpPr txBox="1"/>
          <p:nvPr>
            <p:ph idx="1" type="body"/>
          </p:nvPr>
        </p:nvSpPr>
        <p:spPr>
          <a:xfrm>
            <a:off x="464100" y="2208832"/>
            <a:ext cx="2994000" cy="3416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a:t>For example: </a:t>
            </a:r>
            <a:endParaRPr b="1"/>
          </a:p>
          <a:p>
            <a:pPr indent="0" lvl="0" marL="0" rtl="0" algn="l">
              <a:spcBef>
                <a:spcPts val="300"/>
              </a:spcBef>
              <a:spcAft>
                <a:spcPts val="0"/>
              </a:spcAft>
              <a:buNone/>
            </a:pPr>
            <a:r>
              <a:rPr lang="en"/>
              <a:t>An organization’s marketing </a:t>
            </a:r>
            <a:br>
              <a:rPr lang="en"/>
            </a:br>
            <a:r>
              <a:rPr lang="en"/>
              <a:t>and communications teams use the networks and accounts that IT and networking manage.</a:t>
            </a:r>
            <a:endParaRPr/>
          </a:p>
        </p:txBody>
      </p:sp>
      <p:pic>
        <p:nvPicPr>
          <p:cNvPr id="624" name="Google Shape;624;p72"/>
          <p:cNvPicPr preferRelativeResize="0"/>
          <p:nvPr/>
        </p:nvPicPr>
        <p:blipFill rotWithShape="1">
          <a:blip r:embed="rId3">
            <a:alphaModFix/>
          </a:blip>
          <a:srcRect b="4783" l="22410" r="20213" t="5304"/>
          <a:stretch/>
        </p:blipFill>
        <p:spPr>
          <a:xfrm>
            <a:off x="3918375" y="971325"/>
            <a:ext cx="4366474" cy="3851224"/>
          </a:xfrm>
          <a:prstGeom prst="rect">
            <a:avLst/>
          </a:prstGeom>
          <a:noFill/>
          <a:ln>
            <a:noFill/>
          </a:ln>
        </p:spPr>
      </p:pic>
      <p:sp>
        <p:nvSpPr>
          <p:cNvPr id="625" name="Google Shape;625;p72"/>
          <p:cNvSpPr/>
          <p:nvPr/>
        </p:nvSpPr>
        <p:spPr>
          <a:xfrm>
            <a:off x="3597525" y="2179025"/>
            <a:ext cx="1182300" cy="3042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Medium"/>
                <a:ea typeface="Roboto Medium"/>
                <a:cs typeface="Roboto Medium"/>
                <a:sym typeface="Roboto Medium"/>
              </a:rPr>
              <a:t>Marketing</a:t>
            </a:r>
            <a:endParaRPr>
              <a:solidFill>
                <a:schemeClr val="dk2"/>
              </a:solidFill>
              <a:latin typeface="Roboto Medium"/>
              <a:ea typeface="Roboto Medium"/>
              <a:cs typeface="Roboto Medium"/>
              <a:sym typeface="Roboto Medium"/>
            </a:endParaRPr>
          </a:p>
        </p:txBody>
      </p:sp>
      <p:sp>
        <p:nvSpPr>
          <p:cNvPr id="626" name="Google Shape;626;p72"/>
          <p:cNvSpPr/>
          <p:nvPr/>
        </p:nvSpPr>
        <p:spPr>
          <a:xfrm>
            <a:off x="6460525" y="971325"/>
            <a:ext cx="1714500" cy="3042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Medium"/>
                <a:ea typeface="Roboto Medium"/>
                <a:cs typeface="Roboto Medium"/>
                <a:sym typeface="Roboto Medium"/>
              </a:rPr>
              <a:t>Communications</a:t>
            </a:r>
            <a:endParaRPr>
              <a:solidFill>
                <a:schemeClr val="lt1"/>
              </a:solidFill>
              <a:latin typeface="Roboto Medium"/>
              <a:ea typeface="Roboto Medium"/>
              <a:cs typeface="Roboto Medium"/>
              <a:sym typeface="Roboto Medium"/>
            </a:endParaRPr>
          </a:p>
        </p:txBody>
      </p:sp>
      <p:sp>
        <p:nvSpPr>
          <p:cNvPr id="627" name="Google Shape;627;p72"/>
          <p:cNvSpPr/>
          <p:nvPr/>
        </p:nvSpPr>
        <p:spPr>
          <a:xfrm>
            <a:off x="4991450" y="4324275"/>
            <a:ext cx="751800" cy="3042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Medium"/>
                <a:ea typeface="Roboto Medium"/>
                <a:cs typeface="Roboto Medium"/>
                <a:sym typeface="Roboto Medium"/>
              </a:rPr>
              <a:t>IT</a:t>
            </a:r>
            <a:endParaRPr>
              <a:solidFill>
                <a:schemeClr val="dk2"/>
              </a:solidFill>
              <a:latin typeface="Roboto Medium"/>
              <a:ea typeface="Roboto Medium"/>
              <a:cs typeface="Roboto Medium"/>
              <a:sym typeface="Roboto Medium"/>
            </a:endParaRPr>
          </a:p>
        </p:txBody>
      </p:sp>
      <p:sp>
        <p:nvSpPr>
          <p:cNvPr id="628" name="Google Shape;628;p72"/>
          <p:cNvSpPr/>
          <p:nvPr/>
        </p:nvSpPr>
        <p:spPr>
          <a:xfrm>
            <a:off x="7499525" y="3150300"/>
            <a:ext cx="1182300" cy="3042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Medium"/>
                <a:ea typeface="Roboto Medium"/>
                <a:cs typeface="Roboto Medium"/>
                <a:sym typeface="Roboto Medium"/>
              </a:rPr>
              <a:t>Networking</a:t>
            </a:r>
            <a:endParaRPr>
              <a:solidFill>
                <a:schemeClr val="dk2"/>
              </a:solidFill>
              <a:latin typeface="Roboto Medium"/>
              <a:ea typeface="Roboto Medium"/>
              <a:cs typeface="Roboto Medium"/>
              <a:sym typeface="Roboto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3"/>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400">
                <a:latin typeface="Roboto"/>
                <a:ea typeface="Roboto"/>
                <a:cs typeface="Roboto"/>
                <a:sym typeface="Roboto"/>
              </a:rPr>
              <a:t>What other examples </a:t>
            </a:r>
            <a:br>
              <a:rPr b="0" lang="en" sz="3400">
                <a:latin typeface="Roboto"/>
                <a:ea typeface="Roboto"/>
                <a:cs typeface="Roboto"/>
                <a:sym typeface="Roboto"/>
              </a:rPr>
            </a:br>
            <a:r>
              <a:rPr b="0" lang="en" sz="3400">
                <a:latin typeface="Roboto"/>
                <a:ea typeface="Roboto"/>
                <a:cs typeface="Roboto"/>
                <a:sym typeface="Roboto"/>
              </a:rPr>
              <a:t>can you think of?</a:t>
            </a:r>
            <a:endParaRPr b="0" sz="3400">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37" name="Shape 637"/>
        <p:cNvGrpSpPr/>
        <p:nvPr/>
      </p:nvGrpSpPr>
      <p:grpSpPr>
        <a:xfrm>
          <a:off x="0" y="0"/>
          <a:ext cx="0" cy="0"/>
          <a:chOff x="0" y="0"/>
          <a:chExt cx="0" cy="0"/>
        </a:xfrm>
      </p:grpSpPr>
      <p:sp>
        <p:nvSpPr>
          <p:cNvPr id="638" name="Google Shape;638;p74"/>
          <p:cNvSpPr txBox="1"/>
          <p:nvPr>
            <p:ph type="title"/>
          </p:nvPr>
        </p:nvSpPr>
        <p:spPr>
          <a:xfrm>
            <a:off x="457200" y="22927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Concerns vs. Business Concerns</a:t>
            </a:r>
            <a:endParaRPr/>
          </a:p>
        </p:txBody>
      </p:sp>
      <p:sp>
        <p:nvSpPr>
          <p:cNvPr id="639" name="Google Shape;639;p74"/>
          <p:cNvSpPr txBox="1"/>
          <p:nvPr>
            <p:ph idx="4294967295" type="subTitle"/>
          </p:nvPr>
        </p:nvSpPr>
        <p:spPr>
          <a:xfrm>
            <a:off x="464100" y="840225"/>
            <a:ext cx="8160600" cy="364800"/>
          </a:xfrm>
          <a:prstGeom prst="rect">
            <a:avLst/>
          </a:prstGeom>
        </p:spPr>
        <p:txBody>
          <a:bodyPr anchorCtr="0" anchor="t" bIns="91425" lIns="0" spcFirstLastPara="1" rIns="91425" wrap="square" tIns="0">
            <a:noAutofit/>
          </a:bodyPr>
          <a:lstStyle/>
          <a:p>
            <a:pPr indent="0" lvl="0" marL="0" rtl="0" algn="l">
              <a:spcBef>
                <a:spcPts val="0"/>
              </a:spcBef>
              <a:spcAft>
                <a:spcPts val="0"/>
              </a:spcAft>
              <a:buSzPts val="688"/>
              <a:buNone/>
            </a:pPr>
            <a:r>
              <a:rPr lang="en" sz="1825"/>
              <a:t>The most profitable decision isn’t always the most secure. </a:t>
            </a:r>
            <a:r>
              <a:rPr lang="en" sz="1825"/>
              <a:t>Security objectives may be at odds with those of the business.</a:t>
            </a:r>
            <a:endParaRPr sz="1825"/>
          </a:p>
        </p:txBody>
      </p:sp>
      <p:pic>
        <p:nvPicPr>
          <p:cNvPr id="640" name="Google Shape;640;p74"/>
          <p:cNvPicPr preferRelativeResize="0"/>
          <p:nvPr/>
        </p:nvPicPr>
        <p:blipFill>
          <a:blip r:embed="rId3">
            <a:alphaModFix/>
          </a:blip>
          <a:stretch>
            <a:fillRect/>
          </a:stretch>
        </p:blipFill>
        <p:spPr>
          <a:xfrm>
            <a:off x="357950" y="1572425"/>
            <a:ext cx="8453138" cy="3571075"/>
          </a:xfrm>
          <a:prstGeom prst="rect">
            <a:avLst/>
          </a:prstGeom>
          <a:noFill/>
          <a:ln>
            <a:noFill/>
          </a:ln>
        </p:spPr>
      </p:pic>
      <p:sp>
        <p:nvSpPr>
          <p:cNvPr id="641" name="Google Shape;641;p74"/>
          <p:cNvSpPr txBox="1"/>
          <p:nvPr>
            <p:ph idx="1" type="body"/>
          </p:nvPr>
        </p:nvSpPr>
        <p:spPr>
          <a:xfrm>
            <a:off x="5626650" y="2945650"/>
            <a:ext cx="3001800" cy="1109100"/>
          </a:xfrm>
          <a:prstGeom prst="rect">
            <a:avLst/>
          </a:prstGeom>
        </p:spPr>
        <p:txBody>
          <a:bodyPr anchorCtr="0" anchor="t"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b="1" lang="en" sz="1700">
                <a:latin typeface="Roboto"/>
                <a:ea typeface="Roboto"/>
                <a:cs typeface="Roboto"/>
                <a:sym typeface="Roboto"/>
              </a:rPr>
              <a:t>Business’s main goal:</a:t>
            </a:r>
            <a:endParaRPr b="1" sz="1700">
              <a:latin typeface="Roboto"/>
              <a:ea typeface="Roboto"/>
              <a:cs typeface="Roboto"/>
              <a:sym typeface="Roboto"/>
            </a:endParaRPr>
          </a:p>
          <a:p>
            <a:pPr indent="0" lvl="0" marL="0" rtl="0" algn="ctr">
              <a:spcBef>
                <a:spcPts val="0"/>
              </a:spcBef>
              <a:spcAft>
                <a:spcPts val="0"/>
              </a:spcAft>
              <a:buNone/>
            </a:pPr>
            <a:r>
              <a:rPr lang="en" sz="1700"/>
              <a:t>Maximize profit</a:t>
            </a:r>
            <a:r>
              <a:rPr b="1" lang="en" sz="1700"/>
              <a:t> </a:t>
            </a:r>
            <a:br>
              <a:rPr b="1" lang="en" sz="1700"/>
            </a:br>
            <a:r>
              <a:rPr lang="en" sz="1700"/>
              <a:t>and improve efficiency.</a:t>
            </a:r>
            <a:endParaRPr sz="1700"/>
          </a:p>
        </p:txBody>
      </p:sp>
      <p:sp>
        <p:nvSpPr>
          <p:cNvPr id="642" name="Google Shape;642;p74"/>
          <p:cNvSpPr txBox="1"/>
          <p:nvPr>
            <p:ph idx="1" type="body"/>
          </p:nvPr>
        </p:nvSpPr>
        <p:spPr>
          <a:xfrm>
            <a:off x="581000" y="2987800"/>
            <a:ext cx="3001800" cy="10248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1" lang="en" sz="1700">
                <a:latin typeface="Roboto"/>
                <a:ea typeface="Roboto"/>
                <a:cs typeface="Roboto"/>
                <a:sym typeface="Roboto"/>
              </a:rPr>
              <a:t>Security team’s</a:t>
            </a:r>
            <a:r>
              <a:rPr b="1" lang="en" sz="1700">
                <a:latin typeface="Roboto"/>
                <a:ea typeface="Roboto"/>
                <a:cs typeface="Roboto"/>
                <a:sym typeface="Roboto"/>
              </a:rPr>
              <a:t> m</a:t>
            </a:r>
            <a:r>
              <a:rPr b="1" lang="en" sz="1700">
                <a:latin typeface="Roboto"/>
                <a:ea typeface="Roboto"/>
                <a:cs typeface="Roboto"/>
                <a:sym typeface="Roboto"/>
              </a:rPr>
              <a:t>ain goal:</a:t>
            </a:r>
            <a:endParaRPr b="1" sz="1700">
              <a:latin typeface="Roboto"/>
              <a:ea typeface="Roboto"/>
              <a:cs typeface="Roboto"/>
              <a:sym typeface="Roboto"/>
            </a:endParaRPr>
          </a:p>
          <a:p>
            <a:pPr indent="0" lvl="0" marL="0" rtl="0" algn="ctr">
              <a:spcBef>
                <a:spcPts val="0"/>
              </a:spcBef>
              <a:spcAft>
                <a:spcPts val="0"/>
              </a:spcAft>
              <a:buNone/>
            </a:pPr>
            <a:r>
              <a:rPr lang="en" sz="1700"/>
              <a:t>Protect the </a:t>
            </a:r>
            <a:br>
              <a:rPr lang="en" sz="1700"/>
            </a:br>
            <a:r>
              <a:rPr lang="en" sz="1700"/>
              <a:t>business’s data.</a:t>
            </a:r>
            <a:endParaRPr sz="1700"/>
          </a:p>
          <a:p>
            <a:pPr indent="0" lvl="0" marL="0" rtl="0" algn="l">
              <a:spcBef>
                <a:spcPts val="0"/>
              </a:spcBef>
              <a:spcAft>
                <a:spcPts val="0"/>
              </a:spcAft>
              <a:buNone/>
            </a:pPr>
            <a:r>
              <a:t/>
            </a:r>
            <a:endParaRPr sz="17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75"/>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What should the </a:t>
            </a:r>
            <a:br>
              <a:rPr b="0" lang="en">
                <a:latin typeface="Roboto"/>
                <a:ea typeface="Roboto"/>
                <a:cs typeface="Roboto"/>
                <a:sym typeface="Roboto"/>
              </a:rPr>
            </a:br>
            <a:r>
              <a:rPr b="0" lang="en">
                <a:latin typeface="Roboto"/>
                <a:ea typeface="Roboto"/>
                <a:cs typeface="Roboto"/>
                <a:sym typeface="Roboto"/>
              </a:rPr>
              <a:t>security team do?</a:t>
            </a:r>
            <a:endParaRPr b="0">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76"/>
          <p:cNvSpPr txBox="1"/>
          <p:nvPr>
            <p:ph type="title"/>
          </p:nvPr>
        </p:nvSpPr>
        <p:spPr>
          <a:xfrm>
            <a:off x="457200" y="25327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Should the Security Team Do?</a:t>
            </a:r>
            <a:endParaRPr/>
          </a:p>
        </p:txBody>
      </p:sp>
      <p:sp>
        <p:nvSpPr>
          <p:cNvPr id="653" name="Google Shape;653;p76"/>
          <p:cNvSpPr txBox="1"/>
          <p:nvPr>
            <p:ph idx="4294967295" type="subTitle"/>
          </p:nvPr>
        </p:nvSpPr>
        <p:spPr>
          <a:xfrm>
            <a:off x="457200" y="774700"/>
            <a:ext cx="8529300" cy="364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An organization’s engineering team proposes an innovative but insecure new feature for its flagship product.</a:t>
            </a:r>
            <a:endParaRPr/>
          </a:p>
        </p:txBody>
      </p:sp>
      <p:sp>
        <p:nvSpPr>
          <p:cNvPr id="654" name="Google Shape;654;p76"/>
          <p:cNvSpPr txBox="1"/>
          <p:nvPr>
            <p:ph idx="1" type="body"/>
          </p:nvPr>
        </p:nvSpPr>
        <p:spPr>
          <a:xfrm>
            <a:off x="456475" y="2208300"/>
            <a:ext cx="2487000" cy="14958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b="1" lang="en">
                <a:latin typeface="Roboto"/>
                <a:ea typeface="Roboto"/>
                <a:cs typeface="Roboto"/>
                <a:sym typeface="Roboto"/>
              </a:rPr>
              <a:t>Security </a:t>
            </a:r>
            <a:r>
              <a:rPr b="1" lang="en"/>
              <a:t>T</a:t>
            </a:r>
            <a:r>
              <a:rPr b="1" lang="en">
                <a:latin typeface="Roboto"/>
                <a:ea typeface="Roboto"/>
                <a:cs typeface="Roboto"/>
                <a:sym typeface="Roboto"/>
              </a:rPr>
              <a:t>eam</a:t>
            </a:r>
            <a:br>
              <a:rPr b="1" lang="en"/>
            </a:br>
            <a:r>
              <a:rPr lang="en"/>
              <a:t>Would probably advise against the new feature due to its poor security.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pic>
        <p:nvPicPr>
          <p:cNvPr id="655" name="Google Shape;655;p76"/>
          <p:cNvPicPr preferRelativeResize="0"/>
          <p:nvPr/>
        </p:nvPicPr>
        <p:blipFill>
          <a:blip r:embed="rId3">
            <a:alphaModFix/>
          </a:blip>
          <a:stretch>
            <a:fillRect/>
          </a:stretch>
        </p:blipFill>
        <p:spPr>
          <a:xfrm>
            <a:off x="2911850" y="1512650"/>
            <a:ext cx="2863449" cy="3300800"/>
          </a:xfrm>
          <a:prstGeom prst="rect">
            <a:avLst/>
          </a:prstGeom>
          <a:noFill/>
          <a:ln>
            <a:noFill/>
          </a:ln>
        </p:spPr>
      </p:pic>
      <p:sp>
        <p:nvSpPr>
          <p:cNvPr id="656" name="Google Shape;656;p76"/>
          <p:cNvSpPr txBox="1"/>
          <p:nvPr>
            <p:ph idx="1" type="body"/>
          </p:nvPr>
        </p:nvSpPr>
        <p:spPr>
          <a:xfrm>
            <a:off x="5912374" y="2208300"/>
            <a:ext cx="2670300" cy="1495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a:latin typeface="Roboto"/>
                <a:ea typeface="Roboto"/>
                <a:cs typeface="Roboto"/>
                <a:sym typeface="Roboto"/>
              </a:rPr>
              <a:t>Business-</a:t>
            </a:r>
            <a:r>
              <a:rPr b="1" lang="en"/>
              <a:t>A</a:t>
            </a:r>
            <a:r>
              <a:rPr b="1" lang="en">
                <a:latin typeface="Roboto"/>
                <a:ea typeface="Roboto"/>
                <a:cs typeface="Roboto"/>
                <a:sym typeface="Roboto"/>
              </a:rPr>
              <a:t>t-</a:t>
            </a:r>
            <a:r>
              <a:rPr b="1" lang="en"/>
              <a:t>L</a:t>
            </a:r>
            <a:r>
              <a:rPr b="1" lang="en">
                <a:latin typeface="Roboto"/>
                <a:ea typeface="Roboto"/>
                <a:cs typeface="Roboto"/>
                <a:sym typeface="Roboto"/>
              </a:rPr>
              <a:t>arge</a:t>
            </a:r>
            <a:endParaRPr b="1">
              <a:latin typeface="Roboto"/>
              <a:ea typeface="Roboto"/>
              <a:cs typeface="Roboto"/>
              <a:sym typeface="Roboto"/>
            </a:endParaRPr>
          </a:p>
          <a:p>
            <a:pPr indent="0" lvl="0" marL="0" rtl="0" algn="l">
              <a:spcBef>
                <a:spcPts val="0"/>
              </a:spcBef>
              <a:spcAft>
                <a:spcPts val="0"/>
              </a:spcAft>
              <a:buNone/>
            </a:pPr>
            <a:r>
              <a:rPr lang="en"/>
              <a:t>Might decide to develop the new feature anyway, believing the potential profit is worth the risk.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pic>
        <p:nvPicPr>
          <p:cNvPr id="661" name="Google Shape;661;p77"/>
          <p:cNvPicPr preferRelativeResize="0"/>
          <p:nvPr/>
        </p:nvPicPr>
        <p:blipFill rotWithShape="1">
          <a:blip r:embed="rId3">
            <a:alphaModFix/>
          </a:blip>
          <a:srcRect b="8776" l="0" r="0" t="18454"/>
          <a:stretch/>
        </p:blipFill>
        <p:spPr>
          <a:xfrm>
            <a:off x="1268850" y="1780864"/>
            <a:ext cx="3470955" cy="3124849"/>
          </a:xfrm>
          <a:prstGeom prst="rect">
            <a:avLst/>
          </a:prstGeom>
          <a:noFill/>
          <a:ln>
            <a:noFill/>
          </a:ln>
        </p:spPr>
      </p:pic>
      <p:pic>
        <p:nvPicPr>
          <p:cNvPr id="662" name="Google Shape;662;p77"/>
          <p:cNvPicPr preferRelativeResize="0"/>
          <p:nvPr/>
        </p:nvPicPr>
        <p:blipFill rotWithShape="1">
          <a:blip r:embed="rId4">
            <a:alphaModFix/>
          </a:blip>
          <a:srcRect b="8014" l="0" r="0" t="18455"/>
          <a:stretch/>
        </p:blipFill>
        <p:spPr>
          <a:xfrm flipH="1">
            <a:off x="4320495" y="1764626"/>
            <a:ext cx="3470955" cy="3157325"/>
          </a:xfrm>
          <a:prstGeom prst="rect">
            <a:avLst/>
          </a:prstGeom>
          <a:noFill/>
          <a:ln>
            <a:noFill/>
          </a:ln>
        </p:spPr>
      </p:pic>
      <p:sp>
        <p:nvSpPr>
          <p:cNvPr id="663" name="Google Shape;663;p77"/>
          <p:cNvSpPr txBox="1"/>
          <p:nvPr>
            <p:ph type="title"/>
          </p:nvPr>
        </p:nvSpPr>
        <p:spPr>
          <a:xfrm>
            <a:off x="457200" y="2470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Should the Security Team Do?</a:t>
            </a:r>
            <a:endParaRPr/>
          </a:p>
        </p:txBody>
      </p:sp>
      <p:sp>
        <p:nvSpPr>
          <p:cNvPr id="664" name="Google Shape;664;p77"/>
          <p:cNvSpPr txBox="1"/>
          <p:nvPr>
            <p:ph idx="4294967295" type="subTitle"/>
          </p:nvPr>
        </p:nvSpPr>
        <p:spPr>
          <a:xfrm>
            <a:off x="457200" y="684300"/>
            <a:ext cx="8029800" cy="364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The security team must adapt its operations to accommodate a product they know is insecure. </a:t>
            </a:r>
            <a:endParaRPr/>
          </a:p>
          <a:p>
            <a:pPr indent="0" lvl="0" marL="0" rtl="0" algn="l">
              <a:spcBef>
                <a:spcPts val="600"/>
              </a:spcBef>
              <a:spcAft>
                <a:spcPts val="0"/>
              </a:spcAft>
              <a:buNone/>
            </a:pPr>
            <a:r>
              <a:rPr b="1" lang="en">
                <a:latin typeface="Roboto"/>
                <a:ea typeface="Roboto"/>
                <a:cs typeface="Roboto"/>
                <a:sym typeface="Roboto"/>
              </a:rPr>
              <a:t>Potential </a:t>
            </a:r>
            <a:r>
              <a:rPr b="1" lang="en"/>
              <a:t>S</a:t>
            </a:r>
            <a:r>
              <a:rPr b="1" lang="en">
                <a:latin typeface="Roboto"/>
                <a:ea typeface="Roboto"/>
                <a:cs typeface="Roboto"/>
                <a:sym typeface="Roboto"/>
              </a:rPr>
              <a:t>olutions</a:t>
            </a:r>
            <a:endParaRPr b="1">
              <a:latin typeface="Roboto"/>
              <a:ea typeface="Roboto"/>
              <a:cs typeface="Roboto"/>
              <a:sym typeface="Roboto"/>
            </a:endParaRPr>
          </a:p>
        </p:txBody>
      </p:sp>
      <p:sp>
        <p:nvSpPr>
          <p:cNvPr id="665" name="Google Shape;665;p77"/>
          <p:cNvSpPr txBox="1"/>
          <p:nvPr>
            <p:ph idx="1" type="body"/>
          </p:nvPr>
        </p:nvSpPr>
        <p:spPr>
          <a:xfrm>
            <a:off x="4922272" y="2036825"/>
            <a:ext cx="2116200" cy="1893000"/>
          </a:xfrm>
          <a:prstGeom prst="rect">
            <a:avLst/>
          </a:prstGeom>
        </p:spPr>
        <p:txBody>
          <a:bodyPr anchorCtr="0" anchor="ctr" bIns="91425" lIns="182875" spcFirstLastPara="1" rIns="91425" wrap="square" tIns="91425">
            <a:noAutofit/>
          </a:bodyPr>
          <a:lstStyle/>
          <a:p>
            <a:pPr indent="0" lvl="0" marL="0" rtl="0" algn="l">
              <a:spcBef>
                <a:spcPts val="0"/>
              </a:spcBef>
              <a:spcAft>
                <a:spcPts val="0"/>
              </a:spcAft>
              <a:buNone/>
            </a:pPr>
            <a:r>
              <a:rPr lang="en" sz="1600">
                <a:solidFill>
                  <a:schemeClr val="lt1"/>
                </a:solidFill>
              </a:rPr>
              <a:t>Advise IT and networking to </a:t>
            </a:r>
            <a:br>
              <a:rPr lang="en" sz="1600">
                <a:solidFill>
                  <a:schemeClr val="lt1"/>
                </a:solidFill>
              </a:rPr>
            </a:br>
            <a:r>
              <a:rPr lang="en" sz="1600">
                <a:solidFill>
                  <a:schemeClr val="lt1"/>
                </a:solidFill>
              </a:rPr>
              <a:t>put in place more sophisticated access controls on important servers and proxies.</a:t>
            </a:r>
            <a:endParaRPr sz="1600">
              <a:solidFill>
                <a:schemeClr val="lt1"/>
              </a:solidFill>
            </a:endParaRPr>
          </a:p>
        </p:txBody>
      </p:sp>
      <p:sp>
        <p:nvSpPr>
          <p:cNvPr id="666" name="Google Shape;666;p77"/>
          <p:cNvSpPr txBox="1"/>
          <p:nvPr>
            <p:ph idx="1" type="body"/>
          </p:nvPr>
        </p:nvSpPr>
        <p:spPr>
          <a:xfrm>
            <a:off x="1976200" y="2036829"/>
            <a:ext cx="2067300" cy="1893000"/>
          </a:xfrm>
          <a:prstGeom prst="rect">
            <a:avLst/>
          </a:prstGeom>
        </p:spPr>
        <p:txBody>
          <a:bodyPr anchorCtr="0" anchor="ctr" bIns="91425" lIns="182875" spcFirstLastPara="1" rIns="91425" wrap="square" tIns="91425">
            <a:noAutofit/>
          </a:bodyPr>
          <a:lstStyle/>
          <a:p>
            <a:pPr indent="0" lvl="0" marL="0" rtl="0" algn="l">
              <a:spcBef>
                <a:spcPts val="0"/>
              </a:spcBef>
              <a:spcAft>
                <a:spcPts val="0"/>
              </a:spcAft>
              <a:buNone/>
            </a:pPr>
            <a:r>
              <a:rPr lang="en" sz="1600">
                <a:solidFill>
                  <a:schemeClr val="lt1"/>
                </a:solidFill>
              </a:rPr>
              <a:t>Put in place more aggressive monitoring on data servers likely to be exposed by the new feature.</a:t>
            </a:r>
            <a:endParaRPr sz="16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78"/>
          <p:cNvSpPr txBox="1"/>
          <p:nvPr>
            <p:ph type="title"/>
          </p:nvPr>
        </p:nvSpPr>
        <p:spPr>
          <a:xfrm>
            <a:off x="457200" y="2236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oboto"/>
                <a:ea typeface="Roboto"/>
                <a:cs typeface="Roboto"/>
                <a:sym typeface="Roboto"/>
              </a:rPr>
              <a:t>100% Security </a:t>
            </a:r>
            <a:r>
              <a:rPr lang="en"/>
              <a:t>I</a:t>
            </a:r>
            <a:r>
              <a:rPr b="1" lang="en">
                <a:latin typeface="Roboto"/>
                <a:ea typeface="Roboto"/>
                <a:cs typeface="Roboto"/>
                <a:sym typeface="Roboto"/>
              </a:rPr>
              <a:t>s </a:t>
            </a:r>
            <a:r>
              <a:rPr lang="en"/>
              <a:t>N</a:t>
            </a:r>
            <a:r>
              <a:rPr b="1" lang="en">
                <a:latin typeface="Roboto"/>
                <a:ea typeface="Roboto"/>
                <a:cs typeface="Roboto"/>
                <a:sym typeface="Roboto"/>
              </a:rPr>
              <a:t>ot</a:t>
            </a:r>
            <a:r>
              <a:rPr lang="en">
                <a:latin typeface="Roboto"/>
                <a:ea typeface="Roboto"/>
                <a:cs typeface="Roboto"/>
                <a:sym typeface="Roboto"/>
              </a:rPr>
              <a:t> the Business’s Goal </a:t>
            </a:r>
            <a:endParaRPr/>
          </a:p>
        </p:txBody>
      </p:sp>
      <p:sp>
        <p:nvSpPr>
          <p:cNvPr id="672" name="Google Shape;672;p78"/>
          <p:cNvSpPr txBox="1"/>
          <p:nvPr>
            <p:ph idx="1" type="body"/>
          </p:nvPr>
        </p:nvSpPr>
        <p:spPr>
          <a:xfrm>
            <a:off x="457200" y="865325"/>
            <a:ext cx="8520600" cy="572700"/>
          </a:xfrm>
          <a:prstGeom prst="rect">
            <a:avLst/>
          </a:prstGeom>
        </p:spPr>
        <p:txBody>
          <a:bodyPr anchorCtr="0" anchor="t" bIns="91425" lIns="0" spcFirstLastPara="1" rIns="91425" wrap="square" tIns="0">
            <a:noAutofit/>
          </a:bodyPr>
          <a:lstStyle/>
          <a:p>
            <a:pPr indent="0" lvl="0" marL="0" rtl="0" algn="l">
              <a:spcBef>
                <a:spcPts val="0"/>
              </a:spcBef>
              <a:spcAft>
                <a:spcPts val="800"/>
              </a:spcAft>
              <a:buClr>
                <a:schemeClr val="dk1"/>
              </a:buClr>
              <a:buSzPts val="1100"/>
              <a:buFont typeface="Arial"/>
              <a:buNone/>
            </a:pPr>
            <a:r>
              <a:rPr lang="en"/>
              <a:t>To limit spending and increase profit, businesses often provide only adequate protection for their most important assets.</a:t>
            </a:r>
            <a:endParaRPr/>
          </a:p>
        </p:txBody>
      </p:sp>
      <p:pic>
        <p:nvPicPr>
          <p:cNvPr id="673" name="Google Shape;673;p78"/>
          <p:cNvPicPr preferRelativeResize="0"/>
          <p:nvPr/>
        </p:nvPicPr>
        <p:blipFill rotWithShape="1">
          <a:blip r:embed="rId3">
            <a:alphaModFix/>
          </a:blip>
          <a:srcRect b="26089" l="0" r="0" t="24888"/>
          <a:stretch/>
        </p:blipFill>
        <p:spPr>
          <a:xfrm>
            <a:off x="-12300" y="2044682"/>
            <a:ext cx="9168599" cy="226269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79"/>
          <p:cNvSpPr txBox="1"/>
          <p:nvPr>
            <p:ph type="title"/>
          </p:nvPr>
        </p:nvSpPr>
        <p:spPr>
          <a:xfrm>
            <a:off x="3118400" y="1622225"/>
            <a:ext cx="5555100" cy="13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Roboto"/>
                <a:ea typeface="Roboto"/>
                <a:cs typeface="Roboto"/>
                <a:sym typeface="Roboto"/>
              </a:rPr>
              <a:t>Security vs. Business </a:t>
            </a:r>
            <a:endParaRPr>
              <a:latin typeface="Roboto"/>
              <a:ea typeface="Roboto"/>
              <a:cs typeface="Roboto"/>
              <a:sym typeface="Roboto"/>
            </a:endParaRPr>
          </a:p>
          <a:p>
            <a:pPr indent="0" lvl="0" marL="0" rtl="0" algn="l">
              <a:spcBef>
                <a:spcPts val="0"/>
              </a:spcBef>
              <a:spcAft>
                <a:spcPts val="0"/>
              </a:spcAft>
              <a:buNone/>
            </a:pPr>
            <a:r>
              <a:rPr b="0" lang="en">
                <a:latin typeface="Roboto"/>
                <a:ea typeface="Roboto"/>
                <a:cs typeface="Roboto"/>
                <a:sym typeface="Roboto"/>
              </a:rPr>
              <a:t>Is the feature worth </a:t>
            </a:r>
            <a:endParaRPr b="0">
              <a:latin typeface="Roboto"/>
              <a:ea typeface="Roboto"/>
              <a:cs typeface="Roboto"/>
              <a:sym typeface="Roboto"/>
            </a:endParaRPr>
          </a:p>
          <a:p>
            <a:pPr indent="0" lvl="0" marL="0" rtl="0" algn="l">
              <a:spcBef>
                <a:spcPts val="0"/>
              </a:spcBef>
              <a:spcAft>
                <a:spcPts val="0"/>
              </a:spcAft>
              <a:buNone/>
            </a:pPr>
            <a:r>
              <a:rPr b="0" lang="en">
                <a:latin typeface="Roboto"/>
                <a:ea typeface="Roboto"/>
                <a:cs typeface="Roboto"/>
                <a:sym typeface="Roboto"/>
              </a:rPr>
              <a:t>the risk?</a:t>
            </a:r>
            <a:endParaRPr b="0">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pic>
        <p:nvPicPr>
          <p:cNvPr id="683" name="Google Shape;683;p80"/>
          <p:cNvPicPr preferRelativeResize="0"/>
          <p:nvPr/>
        </p:nvPicPr>
        <p:blipFill rotWithShape="1">
          <a:blip r:embed="rId3">
            <a:alphaModFix/>
          </a:blip>
          <a:srcRect b="0" l="4104" r="0" t="18146"/>
          <a:stretch/>
        </p:blipFill>
        <p:spPr>
          <a:xfrm flipH="1">
            <a:off x="-12299" y="-186500"/>
            <a:ext cx="9168599" cy="5143500"/>
          </a:xfrm>
          <a:prstGeom prst="rect">
            <a:avLst/>
          </a:prstGeom>
          <a:noFill/>
          <a:ln>
            <a:noFill/>
          </a:ln>
        </p:spPr>
      </p:pic>
      <p:sp>
        <p:nvSpPr>
          <p:cNvPr id="684" name="Google Shape;684;p80"/>
          <p:cNvSpPr txBox="1"/>
          <p:nvPr>
            <p:ph type="title"/>
          </p:nvPr>
        </p:nvSpPr>
        <p:spPr>
          <a:xfrm>
            <a:off x="457200" y="2379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vs. Business: Is the Feature Worth the Risk?</a:t>
            </a:r>
            <a:endParaRPr/>
          </a:p>
        </p:txBody>
      </p:sp>
      <p:sp>
        <p:nvSpPr>
          <p:cNvPr id="685" name="Google Shape;685;p80"/>
          <p:cNvSpPr txBox="1"/>
          <p:nvPr>
            <p:ph idx="4294967295" type="subTitle"/>
          </p:nvPr>
        </p:nvSpPr>
        <p:spPr>
          <a:xfrm>
            <a:off x="457200" y="810600"/>
            <a:ext cx="8593200" cy="722400"/>
          </a:xfrm>
          <a:prstGeom prst="rect">
            <a:avLst/>
          </a:prstGeom>
        </p:spPr>
        <p:txBody>
          <a:bodyPr anchorCtr="0" anchor="t" bIns="91425" lIns="0" spcFirstLastPara="1" rIns="91425" wrap="square" tIns="0">
            <a:noAutofit/>
          </a:bodyPr>
          <a:lstStyle/>
          <a:p>
            <a:pPr indent="0" lvl="0" marL="0" rtl="0" algn="l">
              <a:spcBef>
                <a:spcPts val="0"/>
              </a:spcBef>
              <a:spcAft>
                <a:spcPts val="900"/>
              </a:spcAft>
              <a:buNone/>
            </a:pPr>
            <a:r>
              <a:rPr lang="en"/>
              <a:t>An organization’s engineering team proposes an innovative but insecure new feature for its flagship product. The organization performs a </a:t>
            </a:r>
            <a:r>
              <a:rPr b="1" lang="en">
                <a:latin typeface="Roboto"/>
                <a:ea typeface="Roboto"/>
                <a:cs typeface="Roboto"/>
                <a:sym typeface="Roboto"/>
              </a:rPr>
              <a:t>risk assessment</a:t>
            </a:r>
            <a:r>
              <a:rPr lang="en"/>
              <a:t> </a:t>
            </a:r>
            <a:br>
              <a:rPr lang="en"/>
            </a:br>
            <a:r>
              <a:rPr lang="en"/>
              <a:t>and concludes:</a:t>
            </a:r>
            <a:endParaRPr/>
          </a:p>
        </p:txBody>
      </p:sp>
      <p:sp>
        <p:nvSpPr>
          <p:cNvPr id="686" name="Google Shape;686;p80"/>
          <p:cNvSpPr txBox="1"/>
          <p:nvPr>
            <p:ph idx="1" type="body"/>
          </p:nvPr>
        </p:nvSpPr>
        <p:spPr>
          <a:xfrm>
            <a:off x="273600" y="3422975"/>
            <a:ext cx="3633900" cy="132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500"/>
              <a:t>The feature could lead to a 25% </a:t>
            </a:r>
            <a:br>
              <a:rPr lang="en" sz="1500"/>
            </a:br>
            <a:r>
              <a:rPr lang="en" sz="1500"/>
              <a:t>increase in quarterly profits. </a:t>
            </a:r>
            <a:endParaRPr sz="1500"/>
          </a:p>
        </p:txBody>
      </p:sp>
      <p:sp>
        <p:nvSpPr>
          <p:cNvPr id="687" name="Google Shape;687;p80"/>
          <p:cNvSpPr txBox="1"/>
          <p:nvPr>
            <p:ph idx="1" type="body"/>
          </p:nvPr>
        </p:nvSpPr>
        <p:spPr>
          <a:xfrm>
            <a:off x="5685300" y="3422975"/>
            <a:ext cx="3223200" cy="1151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500"/>
              <a:t>The feature would also risk exposing an isolated data server containing customer names, usernames, and email addresses, but no other PII (personally identifiable information).</a:t>
            </a:r>
            <a:endParaRPr sz="15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81"/>
          <p:cNvSpPr txBox="1"/>
          <p:nvPr>
            <p:ph type="title"/>
          </p:nvPr>
        </p:nvSpPr>
        <p:spPr>
          <a:xfrm>
            <a:off x="3134100" y="1045150"/>
            <a:ext cx="5555100" cy="30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In this case, the </a:t>
            </a:r>
            <a:endParaRPr b="0">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business objective</a:t>
            </a:r>
            <a:r>
              <a:rPr b="0" lang="en">
                <a:latin typeface="Roboto"/>
                <a:ea typeface="Roboto"/>
                <a:cs typeface="Roboto"/>
                <a:sym typeface="Roboto"/>
              </a:rPr>
              <a:t> of achieving profit targets </a:t>
            </a:r>
            <a:br>
              <a:rPr b="0" lang="en">
                <a:latin typeface="Roboto"/>
                <a:ea typeface="Roboto"/>
                <a:cs typeface="Roboto"/>
                <a:sym typeface="Roboto"/>
              </a:rPr>
            </a:br>
            <a:r>
              <a:rPr lang="en">
                <a:latin typeface="Roboto"/>
                <a:ea typeface="Roboto"/>
                <a:cs typeface="Roboto"/>
                <a:sym typeface="Roboto"/>
              </a:rPr>
              <a:t>overrides the risk</a:t>
            </a:r>
            <a:r>
              <a:rPr b="0" lang="en">
                <a:latin typeface="Roboto"/>
                <a:ea typeface="Roboto"/>
                <a:cs typeface="Roboto"/>
                <a:sym typeface="Roboto"/>
              </a:rPr>
              <a:t> </a:t>
            </a:r>
            <a:endParaRPr b="0">
              <a:latin typeface="Roboto"/>
              <a:ea typeface="Roboto"/>
              <a:cs typeface="Roboto"/>
              <a:sym typeface="Roboto"/>
            </a:endParaRPr>
          </a:p>
          <a:p>
            <a:pPr indent="0" lvl="0" marL="0" rtl="0" algn="l">
              <a:spcBef>
                <a:spcPts val="0"/>
              </a:spcBef>
              <a:spcAft>
                <a:spcPts val="0"/>
              </a:spcAft>
              <a:buNone/>
            </a:pPr>
            <a:r>
              <a:rPr b="0" lang="en">
                <a:latin typeface="Roboto"/>
                <a:ea typeface="Roboto"/>
                <a:cs typeface="Roboto"/>
                <a:sym typeface="Roboto"/>
              </a:rPr>
              <a:t>of the strategy.</a:t>
            </a:r>
            <a:endParaRPr b="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82"/>
          <p:cNvSpPr txBox="1"/>
          <p:nvPr>
            <p:ph type="title"/>
          </p:nvPr>
        </p:nvSpPr>
        <p:spPr>
          <a:xfrm>
            <a:off x="457200" y="2465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Business Wins</a:t>
            </a:r>
            <a:endParaRPr/>
          </a:p>
        </p:txBody>
      </p:sp>
      <p:sp>
        <p:nvSpPr>
          <p:cNvPr id="698" name="Google Shape;698;p82"/>
          <p:cNvSpPr txBox="1"/>
          <p:nvPr/>
        </p:nvSpPr>
        <p:spPr>
          <a:xfrm>
            <a:off x="231525" y="1457475"/>
            <a:ext cx="2778000" cy="3264300"/>
          </a:xfrm>
          <a:prstGeom prst="rect">
            <a:avLst/>
          </a:prstGeom>
          <a:noFill/>
          <a:ln>
            <a:noFill/>
          </a:ln>
        </p:spPr>
        <p:txBody>
          <a:bodyPr anchorCtr="0" anchor="t" bIns="91425" lIns="457200"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2000">
                <a:solidFill>
                  <a:schemeClr val="dk2"/>
                </a:solidFill>
                <a:latin typeface="Roboto"/>
                <a:ea typeface="Roboto"/>
                <a:cs typeface="Roboto"/>
                <a:sym typeface="Roboto"/>
              </a:rPr>
              <a:t>Con</a:t>
            </a:r>
            <a:endParaRPr b="1" sz="2000">
              <a:solidFill>
                <a:schemeClr val="dk2"/>
              </a:solidFill>
              <a:latin typeface="Roboto"/>
              <a:ea typeface="Roboto"/>
              <a:cs typeface="Roboto"/>
              <a:sym typeface="Roboto"/>
            </a:endParaRPr>
          </a:p>
          <a:p>
            <a:pPr indent="0" lvl="0" marL="0" rtl="0" algn="l">
              <a:lnSpc>
                <a:spcPct val="115000"/>
              </a:lnSpc>
              <a:spcBef>
                <a:spcPts val="800"/>
              </a:spcBef>
              <a:spcAft>
                <a:spcPts val="800"/>
              </a:spcAft>
              <a:buNone/>
            </a:pPr>
            <a:r>
              <a:rPr lang="en" sz="1800">
                <a:solidFill>
                  <a:schemeClr val="dk2"/>
                </a:solidFill>
                <a:latin typeface="Roboto"/>
                <a:ea typeface="Roboto"/>
                <a:cs typeface="Roboto"/>
                <a:sym typeface="Roboto"/>
              </a:rPr>
              <a:t>The security team objects to the feature due to its insecurity.</a:t>
            </a:r>
            <a:endParaRPr sz="1800">
              <a:solidFill>
                <a:schemeClr val="dk2"/>
              </a:solidFill>
              <a:latin typeface="Roboto"/>
              <a:ea typeface="Roboto"/>
              <a:cs typeface="Roboto"/>
              <a:sym typeface="Roboto"/>
            </a:endParaRPr>
          </a:p>
        </p:txBody>
      </p:sp>
      <p:sp>
        <p:nvSpPr>
          <p:cNvPr id="699" name="Google Shape;699;p82"/>
          <p:cNvSpPr/>
          <p:nvPr/>
        </p:nvSpPr>
        <p:spPr>
          <a:xfrm>
            <a:off x="4565300" y="75"/>
            <a:ext cx="5188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82"/>
          <p:cNvSpPr txBox="1"/>
          <p:nvPr/>
        </p:nvSpPr>
        <p:spPr>
          <a:xfrm>
            <a:off x="5726576" y="1457475"/>
            <a:ext cx="3632400" cy="2589600"/>
          </a:xfrm>
          <a:prstGeom prst="rect">
            <a:avLst/>
          </a:prstGeom>
          <a:noFill/>
          <a:ln>
            <a:noFill/>
          </a:ln>
        </p:spPr>
        <p:txBody>
          <a:bodyPr anchorCtr="0" anchor="t" bIns="91425" lIns="1005825" spcFirstLastPara="1" rIns="91425" wrap="square" tIns="91425">
            <a:noAutofit/>
          </a:bodyPr>
          <a:lstStyle/>
          <a:p>
            <a:pPr indent="0" lvl="0" marL="0" rtl="0" algn="l">
              <a:lnSpc>
                <a:spcPct val="115000"/>
              </a:lnSpc>
              <a:spcBef>
                <a:spcPts val="0"/>
              </a:spcBef>
              <a:spcAft>
                <a:spcPts val="0"/>
              </a:spcAft>
              <a:buNone/>
            </a:pPr>
            <a:r>
              <a:rPr b="1" lang="en" sz="2000">
                <a:solidFill>
                  <a:schemeClr val="dk2"/>
                </a:solidFill>
                <a:latin typeface="Roboto"/>
                <a:ea typeface="Roboto"/>
                <a:cs typeface="Roboto"/>
                <a:sym typeface="Roboto"/>
              </a:rPr>
              <a:t>Pro</a:t>
            </a:r>
            <a:endParaRPr b="1" sz="2000">
              <a:solidFill>
                <a:schemeClr val="dk2"/>
              </a:solidFill>
              <a:latin typeface="Roboto"/>
              <a:ea typeface="Roboto"/>
              <a:cs typeface="Roboto"/>
              <a:sym typeface="Roboto"/>
            </a:endParaRPr>
          </a:p>
          <a:p>
            <a:pPr indent="0" lvl="0" marL="0" rtl="0" algn="l">
              <a:lnSpc>
                <a:spcPct val="115000"/>
              </a:lnSpc>
              <a:spcBef>
                <a:spcPts val="800"/>
              </a:spcBef>
              <a:spcAft>
                <a:spcPts val="800"/>
              </a:spcAft>
              <a:buNone/>
            </a:pPr>
            <a:r>
              <a:rPr lang="en" sz="1800">
                <a:solidFill>
                  <a:schemeClr val="dk2"/>
                </a:solidFill>
                <a:latin typeface="Roboto"/>
                <a:ea typeface="Roboto"/>
                <a:cs typeface="Roboto"/>
                <a:sym typeface="Roboto"/>
              </a:rPr>
              <a:t>T</a:t>
            </a:r>
            <a:r>
              <a:rPr lang="en" sz="1800">
                <a:solidFill>
                  <a:schemeClr val="dk2"/>
                </a:solidFill>
                <a:latin typeface="Roboto"/>
                <a:ea typeface="Roboto"/>
                <a:cs typeface="Roboto"/>
                <a:sym typeface="Roboto"/>
              </a:rPr>
              <a:t>he business decides that the cost of the potential breach of an isolated server with no sensitive PII would be less than the potential profit of the feature.</a:t>
            </a:r>
            <a:endParaRPr sz="1800">
              <a:solidFill>
                <a:schemeClr val="dk2"/>
              </a:solidFill>
              <a:latin typeface="Roboto"/>
              <a:ea typeface="Roboto"/>
              <a:cs typeface="Roboto"/>
              <a:sym typeface="Roboto"/>
            </a:endParaRPr>
          </a:p>
        </p:txBody>
      </p:sp>
      <p:pic>
        <p:nvPicPr>
          <p:cNvPr id="701" name="Google Shape;701;p82"/>
          <p:cNvPicPr preferRelativeResize="0"/>
          <p:nvPr/>
        </p:nvPicPr>
        <p:blipFill>
          <a:blip r:embed="rId3">
            <a:alphaModFix/>
          </a:blip>
          <a:stretch>
            <a:fillRect/>
          </a:stretch>
        </p:blipFill>
        <p:spPr>
          <a:xfrm>
            <a:off x="4054200" y="1371600"/>
            <a:ext cx="2510152" cy="2510152"/>
          </a:xfrm>
          <a:prstGeom prst="rect">
            <a:avLst/>
          </a:prstGeom>
          <a:noFill/>
          <a:ln>
            <a:noFill/>
          </a:ln>
        </p:spPr>
      </p:pic>
      <p:pic>
        <p:nvPicPr>
          <p:cNvPr id="702" name="Google Shape;702;p82"/>
          <p:cNvPicPr preferRelativeResize="0"/>
          <p:nvPr/>
        </p:nvPicPr>
        <p:blipFill>
          <a:blip r:embed="rId4">
            <a:alphaModFix/>
          </a:blip>
          <a:stretch>
            <a:fillRect/>
          </a:stretch>
        </p:blipFill>
        <p:spPr>
          <a:xfrm flipH="1">
            <a:off x="2580775" y="1664813"/>
            <a:ext cx="2448423" cy="244842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83"/>
          <p:cNvSpPr txBox="1"/>
          <p:nvPr>
            <p:ph type="title"/>
          </p:nvPr>
        </p:nvSpPr>
        <p:spPr>
          <a:xfrm>
            <a:off x="3099825" y="745400"/>
            <a:ext cx="5633100" cy="360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0" lang="en" sz="2600">
                <a:latin typeface="Roboto"/>
                <a:ea typeface="Roboto"/>
                <a:cs typeface="Roboto"/>
                <a:sym typeface="Roboto"/>
              </a:rPr>
              <a:t>After making a decision, the business updates its security practices to account for the risk </a:t>
            </a:r>
            <a:br>
              <a:rPr b="0" lang="en" sz="2600">
                <a:latin typeface="Roboto"/>
                <a:ea typeface="Roboto"/>
                <a:cs typeface="Roboto"/>
                <a:sym typeface="Roboto"/>
              </a:rPr>
            </a:br>
            <a:r>
              <a:rPr b="0" lang="en" sz="2600">
                <a:latin typeface="Roboto"/>
                <a:ea typeface="Roboto"/>
                <a:cs typeface="Roboto"/>
                <a:sym typeface="Roboto"/>
              </a:rPr>
              <a:t>it has undertaken and regularly confirms that everyone is </a:t>
            </a:r>
            <a:br>
              <a:rPr b="0" lang="en" sz="2600">
                <a:latin typeface="Roboto"/>
                <a:ea typeface="Roboto"/>
                <a:cs typeface="Roboto"/>
                <a:sym typeface="Roboto"/>
              </a:rPr>
            </a:br>
            <a:r>
              <a:rPr b="0" lang="en" sz="2600">
                <a:latin typeface="Roboto"/>
                <a:ea typeface="Roboto"/>
                <a:cs typeface="Roboto"/>
                <a:sym typeface="Roboto"/>
              </a:rPr>
              <a:t>following the rules.</a:t>
            </a:r>
            <a:endParaRPr b="0" sz="2600">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b="0" sz="2600">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b="0" lang="en" sz="2600">
                <a:latin typeface="Roboto"/>
                <a:ea typeface="Roboto"/>
                <a:cs typeface="Roboto"/>
                <a:sym typeface="Roboto"/>
              </a:rPr>
              <a:t>This is </a:t>
            </a:r>
            <a:r>
              <a:rPr lang="en" sz="2600">
                <a:latin typeface="Roboto"/>
                <a:ea typeface="Roboto"/>
                <a:cs typeface="Roboto"/>
                <a:sym typeface="Roboto"/>
              </a:rPr>
              <a:t>governance</a:t>
            </a:r>
            <a:r>
              <a:rPr lang="en" sz="2600">
                <a:latin typeface="Roboto"/>
                <a:ea typeface="Roboto"/>
                <a:cs typeface="Roboto"/>
                <a:sym typeface="Roboto"/>
              </a:rPr>
              <a:t> </a:t>
            </a:r>
            <a:r>
              <a:rPr lang="en" sz="2600">
                <a:latin typeface="Roboto"/>
                <a:ea typeface="Roboto"/>
                <a:cs typeface="Roboto"/>
                <a:sym typeface="Roboto"/>
              </a:rPr>
              <a:t>and compliance</a:t>
            </a:r>
            <a:r>
              <a:rPr b="0" lang="en" sz="2600">
                <a:latin typeface="Roboto"/>
                <a:ea typeface="Roboto"/>
                <a:cs typeface="Roboto"/>
                <a:sym typeface="Roboto"/>
              </a:rPr>
              <a:t>.</a:t>
            </a:r>
            <a:endParaRPr b="0" sz="2600">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84"/>
          <p:cNvSpPr txBox="1"/>
          <p:nvPr>
            <p:ph idx="4294967295" type="subTitle"/>
          </p:nvPr>
        </p:nvSpPr>
        <p:spPr>
          <a:xfrm>
            <a:off x="914400" y="1726975"/>
            <a:ext cx="6423000" cy="2116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 this activity, you’ll play </a:t>
            </a:r>
            <a:r>
              <a:rPr lang="en"/>
              <a:t>the</a:t>
            </a:r>
            <a:r>
              <a:rPr lang="en"/>
              <a:t> role of a security consultant hired to help a business determine how risky its plans are. </a:t>
            </a:r>
            <a:endParaRPr/>
          </a:p>
        </p:txBody>
      </p:sp>
      <p:sp>
        <p:nvSpPr>
          <p:cNvPr id="713" name="Google Shape;713;p84"/>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10 minutes</a:t>
            </a:r>
            <a:endParaRPr/>
          </a:p>
        </p:txBody>
      </p:sp>
      <p:sp>
        <p:nvSpPr>
          <p:cNvPr id="714" name="Google Shape;714;p84"/>
          <p:cNvSpPr txBox="1"/>
          <p:nvPr>
            <p:ph idx="4294967295" type="title"/>
          </p:nvPr>
        </p:nvSpPr>
        <p:spPr>
          <a:xfrm>
            <a:off x="914400" y="554850"/>
            <a:ext cx="8248200" cy="323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 sz="1800"/>
              <a:t>Considering security and business objectives</a:t>
            </a:r>
            <a:endParaRPr b="0"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87"/>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Security Culture</a:t>
            </a:r>
            <a:r>
              <a:rPr b="0" lang="en"/>
              <a:t> </a:t>
            </a:r>
            <a:r>
              <a:rPr lang="en">
                <a:latin typeface="Roboto"/>
                <a:ea typeface="Roboto"/>
                <a:cs typeface="Roboto"/>
                <a:sym typeface="Roboto"/>
              </a:rPr>
              <a:t>Framework</a:t>
            </a:r>
            <a:endParaRPr>
              <a:latin typeface="Roboto"/>
              <a:ea typeface="Roboto"/>
              <a:cs typeface="Roboto"/>
              <a:sym typeface="Roboto"/>
            </a:endParaRPr>
          </a:p>
        </p:txBody>
      </p:sp>
      <p:pic>
        <p:nvPicPr>
          <p:cNvPr id="728" name="Google Shape;728;p87"/>
          <p:cNvPicPr preferRelativeResize="0"/>
          <p:nvPr/>
        </p:nvPicPr>
        <p:blipFill>
          <a:blip r:embed="rId3">
            <a:alphaModFix/>
          </a:blip>
          <a:stretch>
            <a:fillRect/>
          </a:stretch>
        </p:blipFill>
        <p:spPr>
          <a:xfrm>
            <a:off x="3490525" y="927100"/>
            <a:ext cx="2162949" cy="21629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88"/>
          <p:cNvSpPr txBox="1"/>
          <p:nvPr>
            <p:ph type="title"/>
          </p:nvPr>
        </p:nvSpPr>
        <p:spPr>
          <a:xfrm>
            <a:off x="457200" y="1859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Culture</a:t>
            </a:r>
            <a:endParaRPr/>
          </a:p>
        </p:txBody>
      </p:sp>
      <p:sp>
        <p:nvSpPr>
          <p:cNvPr id="734" name="Google Shape;734;p88"/>
          <p:cNvSpPr txBox="1"/>
          <p:nvPr>
            <p:ph idx="1" type="body"/>
          </p:nvPr>
        </p:nvSpPr>
        <p:spPr>
          <a:xfrm>
            <a:off x="464100" y="758650"/>
            <a:ext cx="8520600" cy="536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Strong organizational security begins with making sure employees both:</a:t>
            </a:r>
            <a:endParaRPr/>
          </a:p>
        </p:txBody>
      </p:sp>
      <p:pic>
        <p:nvPicPr>
          <p:cNvPr id="735" name="Google Shape;735;p88"/>
          <p:cNvPicPr preferRelativeResize="0"/>
          <p:nvPr/>
        </p:nvPicPr>
        <p:blipFill rotWithShape="1">
          <a:blip r:embed="rId3">
            <a:alphaModFix/>
          </a:blip>
          <a:srcRect b="3418" l="0" r="0" t="0"/>
          <a:stretch/>
        </p:blipFill>
        <p:spPr>
          <a:xfrm>
            <a:off x="1382300" y="1259250"/>
            <a:ext cx="6117898" cy="3557399"/>
          </a:xfrm>
          <a:prstGeom prst="rect">
            <a:avLst/>
          </a:prstGeom>
          <a:noFill/>
          <a:ln>
            <a:noFill/>
          </a:ln>
        </p:spPr>
      </p:pic>
      <p:sp>
        <p:nvSpPr>
          <p:cNvPr id="736" name="Google Shape;736;p88"/>
          <p:cNvSpPr txBox="1"/>
          <p:nvPr/>
        </p:nvSpPr>
        <p:spPr>
          <a:xfrm>
            <a:off x="1789025" y="2191350"/>
            <a:ext cx="2416800" cy="178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2"/>
                </a:solidFill>
                <a:latin typeface="Roboto"/>
                <a:ea typeface="Roboto"/>
                <a:cs typeface="Roboto"/>
                <a:sym typeface="Roboto"/>
              </a:rPr>
              <a:t>C</a:t>
            </a:r>
            <a:r>
              <a:rPr lang="en" sz="1800">
                <a:solidFill>
                  <a:schemeClr val="dk2"/>
                </a:solidFill>
                <a:latin typeface="Roboto"/>
                <a:ea typeface="Roboto"/>
                <a:cs typeface="Roboto"/>
                <a:sym typeface="Roboto"/>
              </a:rPr>
              <a:t>onsider</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security important</a:t>
            </a:r>
            <a:endParaRPr sz="1800">
              <a:solidFill>
                <a:schemeClr val="dk2"/>
              </a:solidFill>
              <a:latin typeface="Roboto"/>
              <a:ea typeface="Roboto"/>
              <a:cs typeface="Roboto"/>
              <a:sym typeface="Roboto"/>
            </a:endParaRPr>
          </a:p>
        </p:txBody>
      </p:sp>
      <p:sp>
        <p:nvSpPr>
          <p:cNvPr id="737" name="Google Shape;737;p88"/>
          <p:cNvSpPr txBox="1"/>
          <p:nvPr/>
        </p:nvSpPr>
        <p:spPr>
          <a:xfrm>
            <a:off x="4678575" y="2191350"/>
            <a:ext cx="2416800" cy="178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2"/>
                </a:solidFill>
                <a:latin typeface="Roboto"/>
                <a:ea typeface="Roboto"/>
                <a:cs typeface="Roboto"/>
                <a:sym typeface="Roboto"/>
              </a:rPr>
              <a:t>U</a:t>
            </a:r>
            <a:r>
              <a:rPr lang="en" sz="1800">
                <a:solidFill>
                  <a:schemeClr val="dk2"/>
                </a:solidFill>
                <a:latin typeface="Roboto"/>
                <a:ea typeface="Roboto"/>
                <a:cs typeface="Roboto"/>
                <a:sym typeface="Roboto"/>
              </a:rPr>
              <a:t>nderstand the security implications of their decisions</a:t>
            </a:r>
            <a:endParaRPr sz="1800">
              <a:solidFill>
                <a:schemeClr val="dk2"/>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89"/>
          <p:cNvSpPr txBox="1"/>
          <p:nvPr>
            <p:ph idx="2" type="title"/>
          </p:nvPr>
        </p:nvSpPr>
        <p:spPr>
          <a:xfrm>
            <a:off x="1744575" y="1096875"/>
            <a:ext cx="5691000" cy="3131700"/>
          </a:xfrm>
          <a:prstGeom prst="rect">
            <a:avLst/>
          </a:prstGeom>
          <a:ln>
            <a:noFill/>
          </a:ln>
        </p:spPr>
        <p:txBody>
          <a:bodyPr anchorCtr="0" anchor="ctr" bIns="0" lIns="0" spcFirstLastPara="1" rIns="0" wrap="square" tIns="0">
            <a:noAutofit/>
          </a:bodyPr>
          <a:lstStyle/>
          <a:p>
            <a:pPr indent="0" lvl="0" marL="0" rtl="0" algn="l">
              <a:spcBef>
                <a:spcPts val="0"/>
              </a:spcBef>
              <a:spcAft>
                <a:spcPts val="0"/>
              </a:spcAft>
              <a:buNone/>
            </a:pPr>
            <a:r>
              <a:rPr b="1" lang="en" sz="2600">
                <a:latin typeface="Roboto"/>
                <a:ea typeface="Roboto"/>
                <a:cs typeface="Roboto"/>
                <a:sym typeface="Roboto"/>
              </a:rPr>
              <a:t>Security culture </a:t>
            </a:r>
            <a:r>
              <a:rPr lang="en" sz="2600">
                <a:latin typeface="Roboto"/>
                <a:ea typeface="Roboto"/>
                <a:cs typeface="Roboto"/>
                <a:sym typeface="Roboto"/>
              </a:rPr>
              <a:t>is the way members of an organization think about and approach security issues. A healthy security culture has employees who are invested in the organization’s security and “behave securely.”  </a:t>
            </a:r>
            <a:endParaRPr sz="2600">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90"/>
          <p:cNvSpPr txBox="1"/>
          <p:nvPr>
            <p:ph idx="4294967295" type="subTitle"/>
          </p:nvPr>
        </p:nvSpPr>
        <p:spPr>
          <a:xfrm>
            <a:off x="1506325" y="1314575"/>
            <a:ext cx="6952500" cy="400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a:t>How important employees consider security. </a:t>
            </a:r>
            <a:endParaRPr/>
          </a:p>
          <a:p>
            <a:pPr indent="0" lvl="0" marL="0" rtl="0" algn="l">
              <a:spcBef>
                <a:spcPts val="0"/>
              </a:spcBef>
              <a:spcAft>
                <a:spcPts val="0"/>
              </a:spcAft>
              <a:buNone/>
            </a:pPr>
            <a:r>
              <a:t/>
            </a:r>
            <a:endParaRPr/>
          </a:p>
        </p:txBody>
      </p:sp>
      <p:sp>
        <p:nvSpPr>
          <p:cNvPr id="748" name="Google Shape;748;p90"/>
          <p:cNvSpPr txBox="1"/>
          <p:nvPr>
            <p:ph idx="4294967295" type="subTitle"/>
          </p:nvPr>
        </p:nvSpPr>
        <p:spPr>
          <a:xfrm>
            <a:off x="1506325" y="2172700"/>
            <a:ext cx="6952500" cy="400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How aware employees are of common security risks. </a:t>
            </a:r>
            <a:endParaRPr/>
          </a:p>
        </p:txBody>
      </p:sp>
      <p:sp>
        <p:nvSpPr>
          <p:cNvPr id="749" name="Google Shape;749;p90"/>
          <p:cNvSpPr txBox="1"/>
          <p:nvPr>
            <p:ph type="title"/>
          </p:nvPr>
        </p:nvSpPr>
        <p:spPr>
          <a:xfrm>
            <a:off x="76250" y="1274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Clr>
                <a:schemeClr val="dk1"/>
              </a:buClr>
              <a:buSzPts val="1100"/>
              <a:buFont typeface="Arial"/>
              <a:buNone/>
            </a:pPr>
            <a:r>
              <a:rPr lang="en"/>
              <a:t>Security Culture</a:t>
            </a:r>
            <a:endParaRPr/>
          </a:p>
        </p:txBody>
      </p:sp>
      <p:sp>
        <p:nvSpPr>
          <p:cNvPr id="750" name="Google Shape;750;p90"/>
          <p:cNvSpPr txBox="1"/>
          <p:nvPr>
            <p:ph idx="4294967295" type="subTitle"/>
          </p:nvPr>
        </p:nvSpPr>
        <p:spPr>
          <a:xfrm>
            <a:off x="1506325" y="3003475"/>
            <a:ext cx="6952500" cy="400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Whether </a:t>
            </a:r>
            <a:r>
              <a:rPr lang="en"/>
              <a:t>employees know how to avoid insecure behavior.</a:t>
            </a:r>
            <a:endParaRPr/>
          </a:p>
        </p:txBody>
      </p:sp>
      <p:sp>
        <p:nvSpPr>
          <p:cNvPr id="751" name="Google Shape;751;p90"/>
          <p:cNvSpPr txBox="1"/>
          <p:nvPr>
            <p:ph idx="2" type="title"/>
          </p:nvPr>
        </p:nvSpPr>
        <p:spPr>
          <a:xfrm>
            <a:off x="70200" y="5152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The health of an organization’s security culture is determined by: </a:t>
            </a:r>
            <a:endParaRPr sz="1800">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91"/>
          <p:cNvSpPr txBox="1"/>
          <p:nvPr>
            <p:ph type="title"/>
          </p:nvPr>
        </p:nvSpPr>
        <p:spPr>
          <a:xfrm>
            <a:off x="3145525" y="768900"/>
            <a:ext cx="5555100" cy="34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600">
                <a:latin typeface="Roboto"/>
                <a:ea typeface="Roboto"/>
                <a:cs typeface="Roboto"/>
                <a:sym typeface="Roboto"/>
              </a:rPr>
              <a:t>A healthy security </a:t>
            </a:r>
            <a:br>
              <a:rPr b="0" lang="en" sz="3600">
                <a:latin typeface="Roboto"/>
                <a:ea typeface="Roboto"/>
                <a:cs typeface="Roboto"/>
                <a:sym typeface="Roboto"/>
              </a:rPr>
            </a:br>
            <a:r>
              <a:rPr b="0" lang="en" sz="3600">
                <a:latin typeface="Roboto"/>
                <a:ea typeface="Roboto"/>
                <a:cs typeface="Roboto"/>
                <a:sym typeface="Roboto"/>
              </a:rPr>
              <a:t>culture requires </a:t>
            </a:r>
            <a:r>
              <a:rPr lang="en" sz="3600">
                <a:latin typeface="Roboto"/>
                <a:ea typeface="Roboto"/>
                <a:cs typeface="Roboto"/>
                <a:sym typeface="Roboto"/>
              </a:rPr>
              <a:t>motivating </a:t>
            </a:r>
            <a:r>
              <a:rPr b="0" lang="en" sz="3600">
                <a:latin typeface="Roboto"/>
                <a:ea typeface="Roboto"/>
                <a:cs typeface="Roboto"/>
                <a:sym typeface="Roboto"/>
              </a:rPr>
              <a:t>employees </a:t>
            </a:r>
            <a:br>
              <a:rPr b="0" lang="en" sz="3600">
                <a:latin typeface="Roboto"/>
                <a:ea typeface="Roboto"/>
                <a:cs typeface="Roboto"/>
                <a:sym typeface="Roboto"/>
              </a:rPr>
            </a:br>
            <a:r>
              <a:rPr b="0" lang="en" sz="3600">
                <a:latin typeface="Roboto"/>
                <a:ea typeface="Roboto"/>
                <a:cs typeface="Roboto"/>
                <a:sym typeface="Roboto"/>
              </a:rPr>
              <a:t>to value security and </a:t>
            </a:r>
            <a:r>
              <a:rPr lang="en" sz="3600">
                <a:latin typeface="Roboto"/>
                <a:ea typeface="Roboto"/>
                <a:cs typeface="Roboto"/>
                <a:sym typeface="Roboto"/>
              </a:rPr>
              <a:t>training</a:t>
            </a:r>
            <a:r>
              <a:rPr b="0" lang="en" sz="3600">
                <a:latin typeface="Roboto"/>
                <a:ea typeface="Roboto"/>
                <a:cs typeface="Roboto"/>
                <a:sym typeface="Roboto"/>
              </a:rPr>
              <a:t> them on how to avoid insecure behavior.</a:t>
            </a:r>
            <a:endParaRPr b="0" sz="3600">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92"/>
          <p:cNvSpPr txBox="1"/>
          <p:nvPr>
            <p:ph type="title"/>
          </p:nvPr>
        </p:nvSpPr>
        <p:spPr>
          <a:xfrm>
            <a:off x="428550" y="2228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Security Culture Framework Steps</a:t>
            </a:r>
            <a:endParaRPr/>
          </a:p>
        </p:txBody>
      </p:sp>
      <p:sp>
        <p:nvSpPr>
          <p:cNvPr id="762" name="Google Shape;762;p92"/>
          <p:cNvSpPr txBox="1"/>
          <p:nvPr>
            <p:ph idx="1" type="body"/>
          </p:nvPr>
        </p:nvSpPr>
        <p:spPr>
          <a:xfrm>
            <a:off x="3699150" y="3077075"/>
            <a:ext cx="4901700" cy="1505700"/>
          </a:xfrm>
          <a:prstGeom prst="rect">
            <a:avLst/>
          </a:prstGeom>
        </p:spPr>
        <p:txBody>
          <a:bodyPr anchorCtr="0" anchor="t" bIns="91425" lIns="457200" spcFirstLastPara="1" rIns="457200" wrap="square" tIns="45700">
            <a:noAutofit/>
          </a:bodyPr>
          <a:lstStyle/>
          <a:p>
            <a:pPr indent="0" lvl="0" marL="0" rtl="0" algn="l">
              <a:lnSpc>
                <a:spcPct val="100000"/>
              </a:lnSpc>
              <a:spcBef>
                <a:spcPts val="0"/>
              </a:spcBef>
              <a:spcAft>
                <a:spcPts val="0"/>
              </a:spcAft>
              <a:buNone/>
            </a:pPr>
            <a:r>
              <a:rPr lang="en" sz="2000"/>
              <a:t>The </a:t>
            </a:r>
            <a:r>
              <a:rPr b="1" lang="en" sz="2000">
                <a:latin typeface="Roboto"/>
                <a:ea typeface="Roboto"/>
                <a:cs typeface="Roboto"/>
                <a:sym typeface="Roboto"/>
              </a:rPr>
              <a:t>security culture framework</a:t>
            </a:r>
            <a:r>
              <a:rPr b="1" lang="en" sz="2000">
                <a:latin typeface="Roboto"/>
                <a:ea typeface="Roboto"/>
                <a:cs typeface="Roboto"/>
                <a:sym typeface="Roboto"/>
              </a:rPr>
              <a:t> </a:t>
            </a:r>
            <a:r>
              <a:rPr lang="en" sz="2000"/>
              <a:t>identifies problems in an organization’s security culture </a:t>
            </a:r>
            <a:br>
              <a:rPr lang="en" sz="2000"/>
            </a:br>
            <a:r>
              <a:rPr lang="en" sz="2000"/>
              <a:t>and develops plans to solve them.</a:t>
            </a:r>
            <a:endParaRPr sz="2000"/>
          </a:p>
        </p:txBody>
      </p:sp>
      <p:sp>
        <p:nvSpPr>
          <p:cNvPr id="763" name="Google Shape;763;p92"/>
          <p:cNvSpPr/>
          <p:nvPr/>
        </p:nvSpPr>
        <p:spPr>
          <a:xfrm>
            <a:off x="2248313" y="887313"/>
            <a:ext cx="5656434" cy="4006864"/>
          </a:xfrm>
          <a:custGeom>
            <a:rect b="b" l="l" r="r" t="t"/>
            <a:pathLst>
              <a:path extrusionOk="0" h="181676" w="218353">
                <a:moveTo>
                  <a:pt x="170428" y="1"/>
                </a:moveTo>
                <a:lnTo>
                  <a:pt x="168577" y="17291"/>
                </a:lnTo>
                <a:cubicBezTo>
                  <a:pt x="146221" y="17361"/>
                  <a:pt x="124110" y="21728"/>
                  <a:pt x="103431" y="30216"/>
                </a:cubicBezTo>
                <a:cubicBezTo>
                  <a:pt x="83415" y="38425"/>
                  <a:pt x="65146" y="50371"/>
                  <a:pt x="49602" y="65461"/>
                </a:cubicBezTo>
                <a:cubicBezTo>
                  <a:pt x="34233" y="80307"/>
                  <a:pt x="21902" y="98086"/>
                  <a:pt x="13344" y="117683"/>
                </a:cubicBezTo>
                <a:cubicBezTo>
                  <a:pt x="4542" y="137873"/>
                  <a:pt x="1" y="159669"/>
                  <a:pt x="35" y="181676"/>
                </a:cubicBezTo>
                <a:cubicBezTo>
                  <a:pt x="35" y="181676"/>
                  <a:pt x="32631" y="53857"/>
                  <a:pt x="163051" y="53857"/>
                </a:cubicBezTo>
                <a:cubicBezTo>
                  <a:pt x="163598" y="53857"/>
                  <a:pt x="164148" y="53859"/>
                  <a:pt x="164699" y="53864"/>
                </a:cubicBezTo>
                <a:lnTo>
                  <a:pt x="162883" y="71050"/>
                </a:lnTo>
                <a:lnTo>
                  <a:pt x="218353" y="42861"/>
                </a:lnTo>
                <a:lnTo>
                  <a:pt x="1704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92"/>
          <p:cNvSpPr/>
          <p:nvPr/>
        </p:nvSpPr>
        <p:spPr>
          <a:xfrm>
            <a:off x="2587838" y="3433207"/>
            <a:ext cx="310800" cy="310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200">
                <a:solidFill>
                  <a:schemeClr val="lt1"/>
                </a:solidFill>
                <a:latin typeface="Roboto Medium"/>
                <a:ea typeface="Roboto Medium"/>
                <a:cs typeface="Roboto Medium"/>
                <a:sym typeface="Roboto Medium"/>
              </a:rPr>
              <a:t>1</a:t>
            </a:r>
            <a:endParaRPr sz="1200">
              <a:solidFill>
                <a:schemeClr val="lt1"/>
              </a:solidFill>
              <a:latin typeface="Roboto Medium"/>
              <a:ea typeface="Roboto Medium"/>
              <a:cs typeface="Roboto Medium"/>
              <a:sym typeface="Roboto Medium"/>
            </a:endParaRPr>
          </a:p>
        </p:txBody>
      </p:sp>
      <p:cxnSp>
        <p:nvCxnSpPr>
          <p:cNvPr id="765" name="Google Shape;765;p92"/>
          <p:cNvCxnSpPr>
            <a:stCxn id="764" idx="2"/>
          </p:cNvCxnSpPr>
          <p:nvPr/>
        </p:nvCxnSpPr>
        <p:spPr>
          <a:xfrm rot="10800000">
            <a:off x="1658738" y="3588607"/>
            <a:ext cx="929100" cy="0"/>
          </a:xfrm>
          <a:prstGeom prst="straightConnector1">
            <a:avLst/>
          </a:prstGeom>
          <a:noFill/>
          <a:ln cap="flat" cmpd="sng" w="9525">
            <a:solidFill>
              <a:schemeClr val="dk2"/>
            </a:solidFill>
            <a:prstDash val="solid"/>
            <a:round/>
            <a:headEnd len="med" w="med" type="none"/>
            <a:tailEnd len="med" w="med" type="none"/>
          </a:ln>
        </p:spPr>
      </p:cxnSp>
      <p:sp>
        <p:nvSpPr>
          <p:cNvPr id="766" name="Google Shape;766;p92"/>
          <p:cNvSpPr txBox="1"/>
          <p:nvPr/>
        </p:nvSpPr>
        <p:spPr>
          <a:xfrm>
            <a:off x="380125" y="3323369"/>
            <a:ext cx="1376700" cy="677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600">
                <a:solidFill>
                  <a:schemeClr val="dk2"/>
                </a:solidFill>
                <a:latin typeface="Roboto Medium"/>
                <a:ea typeface="Roboto Medium"/>
                <a:cs typeface="Roboto Medium"/>
                <a:sym typeface="Roboto Medium"/>
              </a:rPr>
              <a:t>Measure and Set Goals</a:t>
            </a:r>
            <a:endParaRPr sz="1600">
              <a:solidFill>
                <a:schemeClr val="dk2"/>
              </a:solidFill>
              <a:latin typeface="Roboto Medium"/>
              <a:ea typeface="Roboto Medium"/>
              <a:cs typeface="Roboto Medium"/>
              <a:sym typeface="Roboto Medium"/>
            </a:endParaRPr>
          </a:p>
        </p:txBody>
      </p:sp>
      <p:sp>
        <p:nvSpPr>
          <p:cNvPr id="767" name="Google Shape;767;p92"/>
          <p:cNvSpPr txBox="1"/>
          <p:nvPr/>
        </p:nvSpPr>
        <p:spPr>
          <a:xfrm>
            <a:off x="868856" y="2626475"/>
            <a:ext cx="1376700" cy="677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600">
                <a:solidFill>
                  <a:schemeClr val="dk2"/>
                </a:solidFill>
                <a:latin typeface="Roboto Medium"/>
                <a:ea typeface="Roboto Medium"/>
                <a:cs typeface="Roboto Medium"/>
                <a:sym typeface="Roboto Medium"/>
              </a:rPr>
              <a:t>Involve the Right People</a:t>
            </a:r>
            <a:endParaRPr sz="1600">
              <a:solidFill>
                <a:schemeClr val="dk2"/>
              </a:solidFill>
              <a:latin typeface="Roboto Medium"/>
              <a:ea typeface="Roboto Medium"/>
              <a:cs typeface="Roboto Medium"/>
              <a:sym typeface="Roboto Medium"/>
            </a:endParaRPr>
          </a:p>
        </p:txBody>
      </p:sp>
      <p:cxnSp>
        <p:nvCxnSpPr>
          <p:cNvPr id="768" name="Google Shape;768;p92"/>
          <p:cNvCxnSpPr/>
          <p:nvPr/>
        </p:nvCxnSpPr>
        <p:spPr>
          <a:xfrm rot="10800000">
            <a:off x="2256499" y="2866525"/>
            <a:ext cx="929100" cy="0"/>
          </a:xfrm>
          <a:prstGeom prst="straightConnector1">
            <a:avLst/>
          </a:prstGeom>
          <a:noFill/>
          <a:ln cap="flat" cmpd="sng" w="9525">
            <a:solidFill>
              <a:schemeClr val="dk2"/>
            </a:solidFill>
            <a:prstDash val="solid"/>
            <a:round/>
            <a:headEnd len="med" w="med" type="none"/>
            <a:tailEnd len="med" w="med" type="none"/>
          </a:ln>
        </p:spPr>
      </p:cxnSp>
      <p:cxnSp>
        <p:nvCxnSpPr>
          <p:cNvPr id="769" name="Google Shape;769;p92"/>
          <p:cNvCxnSpPr/>
          <p:nvPr/>
        </p:nvCxnSpPr>
        <p:spPr>
          <a:xfrm rot="10800000">
            <a:off x="3035249" y="2280851"/>
            <a:ext cx="929100" cy="0"/>
          </a:xfrm>
          <a:prstGeom prst="straightConnector1">
            <a:avLst/>
          </a:prstGeom>
          <a:noFill/>
          <a:ln cap="flat" cmpd="sng" w="9525">
            <a:solidFill>
              <a:schemeClr val="dk2"/>
            </a:solidFill>
            <a:prstDash val="solid"/>
            <a:round/>
            <a:headEnd len="med" w="med" type="none"/>
            <a:tailEnd len="med" w="med" type="none"/>
          </a:ln>
        </p:spPr>
      </p:cxnSp>
      <p:sp>
        <p:nvSpPr>
          <p:cNvPr id="770" name="Google Shape;770;p92"/>
          <p:cNvSpPr txBox="1"/>
          <p:nvPr/>
        </p:nvSpPr>
        <p:spPr>
          <a:xfrm>
            <a:off x="1647605" y="1958689"/>
            <a:ext cx="1376700" cy="677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600">
                <a:solidFill>
                  <a:schemeClr val="dk2"/>
                </a:solidFill>
                <a:latin typeface="Roboto Medium"/>
                <a:ea typeface="Roboto Medium"/>
                <a:cs typeface="Roboto Medium"/>
                <a:sym typeface="Roboto Medium"/>
              </a:rPr>
              <a:t>Create an Action Plan </a:t>
            </a:r>
            <a:endParaRPr sz="1600">
              <a:solidFill>
                <a:schemeClr val="dk2"/>
              </a:solidFill>
              <a:latin typeface="Roboto Medium"/>
              <a:ea typeface="Roboto Medium"/>
              <a:cs typeface="Roboto Medium"/>
              <a:sym typeface="Roboto Medium"/>
            </a:endParaRPr>
          </a:p>
        </p:txBody>
      </p:sp>
      <p:cxnSp>
        <p:nvCxnSpPr>
          <p:cNvPr id="771" name="Google Shape;771;p92"/>
          <p:cNvCxnSpPr/>
          <p:nvPr/>
        </p:nvCxnSpPr>
        <p:spPr>
          <a:xfrm rot="10800000">
            <a:off x="4038924" y="1879763"/>
            <a:ext cx="929100" cy="0"/>
          </a:xfrm>
          <a:prstGeom prst="straightConnector1">
            <a:avLst/>
          </a:prstGeom>
          <a:noFill/>
          <a:ln cap="flat" cmpd="sng" w="9525">
            <a:solidFill>
              <a:schemeClr val="dk2"/>
            </a:solidFill>
            <a:prstDash val="solid"/>
            <a:round/>
            <a:headEnd len="med" w="med" type="none"/>
            <a:tailEnd len="med" w="med" type="none"/>
          </a:ln>
        </p:spPr>
      </p:cxnSp>
      <p:sp>
        <p:nvSpPr>
          <p:cNvPr id="772" name="Google Shape;772;p92"/>
          <p:cNvSpPr txBox="1"/>
          <p:nvPr/>
        </p:nvSpPr>
        <p:spPr>
          <a:xfrm>
            <a:off x="2586024" y="1427088"/>
            <a:ext cx="1376700" cy="677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600">
                <a:solidFill>
                  <a:schemeClr val="dk2"/>
                </a:solidFill>
                <a:latin typeface="Roboto Medium"/>
                <a:ea typeface="Roboto Medium"/>
                <a:cs typeface="Roboto Medium"/>
                <a:sym typeface="Roboto Medium"/>
              </a:rPr>
              <a:t>Execute</a:t>
            </a:r>
            <a:br>
              <a:rPr lang="en" sz="1600">
                <a:solidFill>
                  <a:schemeClr val="dk2"/>
                </a:solidFill>
                <a:latin typeface="Roboto Medium"/>
                <a:ea typeface="Roboto Medium"/>
                <a:cs typeface="Roboto Medium"/>
                <a:sym typeface="Roboto Medium"/>
              </a:rPr>
            </a:br>
            <a:r>
              <a:rPr lang="en" sz="1600">
                <a:solidFill>
                  <a:schemeClr val="dk2"/>
                </a:solidFill>
                <a:latin typeface="Roboto Medium"/>
                <a:ea typeface="Roboto Medium"/>
                <a:cs typeface="Roboto Medium"/>
                <a:sym typeface="Roboto Medium"/>
              </a:rPr>
              <a:t>the Plan </a:t>
            </a:r>
            <a:endParaRPr sz="1600">
              <a:solidFill>
                <a:schemeClr val="dk2"/>
              </a:solidFill>
              <a:latin typeface="Roboto Medium"/>
              <a:ea typeface="Roboto Medium"/>
              <a:cs typeface="Roboto Medium"/>
              <a:sym typeface="Roboto Medium"/>
            </a:endParaRPr>
          </a:p>
        </p:txBody>
      </p:sp>
      <p:cxnSp>
        <p:nvCxnSpPr>
          <p:cNvPr id="773" name="Google Shape;773;p92"/>
          <p:cNvCxnSpPr/>
          <p:nvPr/>
        </p:nvCxnSpPr>
        <p:spPr>
          <a:xfrm rot="10800000">
            <a:off x="5250916" y="1136931"/>
            <a:ext cx="929100" cy="467400"/>
          </a:xfrm>
          <a:prstGeom prst="straightConnector1">
            <a:avLst/>
          </a:prstGeom>
          <a:noFill/>
          <a:ln cap="flat" cmpd="sng" w="9525">
            <a:solidFill>
              <a:schemeClr val="dk2"/>
            </a:solidFill>
            <a:prstDash val="solid"/>
            <a:round/>
            <a:headEnd len="med" w="med" type="none"/>
            <a:tailEnd len="med" w="med" type="none"/>
          </a:ln>
        </p:spPr>
      </p:cxnSp>
      <p:sp>
        <p:nvSpPr>
          <p:cNvPr id="774" name="Google Shape;774;p92"/>
          <p:cNvSpPr txBox="1"/>
          <p:nvPr/>
        </p:nvSpPr>
        <p:spPr>
          <a:xfrm>
            <a:off x="3851955" y="819713"/>
            <a:ext cx="1376700" cy="677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600">
                <a:solidFill>
                  <a:schemeClr val="dk2"/>
                </a:solidFill>
                <a:latin typeface="Roboto Medium"/>
                <a:ea typeface="Roboto Medium"/>
                <a:cs typeface="Roboto Medium"/>
                <a:sym typeface="Roboto Medium"/>
              </a:rPr>
              <a:t>Measure Change </a:t>
            </a:r>
            <a:endParaRPr sz="1600">
              <a:solidFill>
                <a:schemeClr val="dk2"/>
              </a:solidFill>
              <a:latin typeface="Roboto Medium"/>
              <a:ea typeface="Roboto Medium"/>
              <a:cs typeface="Roboto Medium"/>
              <a:sym typeface="Roboto Medium"/>
            </a:endParaRPr>
          </a:p>
        </p:txBody>
      </p:sp>
      <p:sp>
        <p:nvSpPr>
          <p:cNvPr id="775" name="Google Shape;775;p92"/>
          <p:cNvSpPr/>
          <p:nvPr/>
        </p:nvSpPr>
        <p:spPr>
          <a:xfrm>
            <a:off x="3186005" y="2698002"/>
            <a:ext cx="320100" cy="3201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200">
                <a:solidFill>
                  <a:schemeClr val="lt1"/>
                </a:solidFill>
                <a:latin typeface="Roboto Medium"/>
                <a:ea typeface="Roboto Medium"/>
                <a:cs typeface="Roboto Medium"/>
                <a:sym typeface="Roboto Medium"/>
              </a:rPr>
              <a:t>2</a:t>
            </a:r>
            <a:endParaRPr sz="1200">
              <a:solidFill>
                <a:schemeClr val="lt1"/>
              </a:solidFill>
              <a:latin typeface="Roboto Medium"/>
              <a:ea typeface="Roboto Medium"/>
              <a:cs typeface="Roboto Medium"/>
              <a:sym typeface="Roboto Medium"/>
            </a:endParaRPr>
          </a:p>
        </p:txBody>
      </p:sp>
      <p:sp>
        <p:nvSpPr>
          <p:cNvPr id="776" name="Google Shape;776;p92"/>
          <p:cNvSpPr/>
          <p:nvPr/>
        </p:nvSpPr>
        <p:spPr>
          <a:xfrm>
            <a:off x="3964754" y="2101789"/>
            <a:ext cx="320100" cy="3201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200">
                <a:solidFill>
                  <a:schemeClr val="lt1"/>
                </a:solidFill>
                <a:latin typeface="Roboto Medium"/>
                <a:ea typeface="Roboto Medium"/>
                <a:cs typeface="Roboto Medium"/>
                <a:sym typeface="Roboto Medium"/>
              </a:rPr>
              <a:t>3</a:t>
            </a:r>
            <a:endParaRPr sz="1200">
              <a:solidFill>
                <a:schemeClr val="lt1"/>
              </a:solidFill>
              <a:latin typeface="Roboto Medium"/>
              <a:ea typeface="Roboto Medium"/>
              <a:cs typeface="Roboto Medium"/>
              <a:sym typeface="Roboto Medium"/>
            </a:endParaRPr>
          </a:p>
        </p:txBody>
      </p:sp>
      <p:sp>
        <p:nvSpPr>
          <p:cNvPr id="777" name="Google Shape;777;p92"/>
          <p:cNvSpPr/>
          <p:nvPr/>
        </p:nvSpPr>
        <p:spPr>
          <a:xfrm>
            <a:off x="4968024" y="1710382"/>
            <a:ext cx="320100" cy="3201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200">
                <a:solidFill>
                  <a:schemeClr val="lt1"/>
                </a:solidFill>
                <a:latin typeface="Roboto Medium"/>
                <a:ea typeface="Roboto Medium"/>
                <a:cs typeface="Roboto Medium"/>
                <a:sym typeface="Roboto Medium"/>
              </a:rPr>
              <a:t>4</a:t>
            </a:r>
            <a:endParaRPr sz="1200">
              <a:solidFill>
                <a:schemeClr val="lt1"/>
              </a:solidFill>
              <a:latin typeface="Roboto Medium"/>
              <a:ea typeface="Roboto Medium"/>
              <a:cs typeface="Roboto Medium"/>
              <a:sym typeface="Roboto Medium"/>
            </a:endParaRPr>
          </a:p>
        </p:txBody>
      </p:sp>
      <p:sp>
        <p:nvSpPr>
          <p:cNvPr id="778" name="Google Shape;778;p92"/>
          <p:cNvSpPr/>
          <p:nvPr/>
        </p:nvSpPr>
        <p:spPr>
          <a:xfrm>
            <a:off x="6168699" y="1502113"/>
            <a:ext cx="329100" cy="3291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200">
                <a:solidFill>
                  <a:schemeClr val="lt1"/>
                </a:solidFill>
                <a:latin typeface="Roboto Medium"/>
                <a:ea typeface="Roboto Medium"/>
                <a:cs typeface="Roboto Medium"/>
                <a:sym typeface="Roboto Medium"/>
              </a:rPr>
              <a:t>5</a:t>
            </a:r>
            <a:endParaRPr sz="1200">
              <a:solidFill>
                <a:schemeClr val="lt1"/>
              </a:solidFill>
              <a:latin typeface="Roboto Medium"/>
              <a:ea typeface="Roboto Medium"/>
              <a:cs typeface="Roboto Medium"/>
              <a:sym typeface="Roboto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93"/>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Applying the Framework</a:t>
            </a:r>
            <a:endParaRPr/>
          </a:p>
        </p:txBody>
      </p:sp>
      <p:sp>
        <p:nvSpPr>
          <p:cNvPr id="784" name="Google Shape;784;p93"/>
          <p:cNvSpPr txBox="1"/>
          <p:nvPr>
            <p:ph idx="2" type="title"/>
          </p:nvPr>
        </p:nvSpPr>
        <p:spPr>
          <a:xfrm>
            <a:off x="-12250" y="52100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Security scenario</a:t>
            </a:r>
            <a:endParaRPr sz="1800">
              <a:latin typeface="Roboto"/>
              <a:ea typeface="Roboto"/>
              <a:cs typeface="Roboto"/>
              <a:sym typeface="Roboto"/>
            </a:endParaRPr>
          </a:p>
        </p:txBody>
      </p:sp>
      <p:sp>
        <p:nvSpPr>
          <p:cNvPr id="785" name="Google Shape;785;p93"/>
          <p:cNvSpPr txBox="1"/>
          <p:nvPr/>
        </p:nvSpPr>
        <p:spPr>
          <a:xfrm>
            <a:off x="742950" y="1284725"/>
            <a:ext cx="6476100" cy="3006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Employees are receiving emails to their work accounts from external sources.</a:t>
            </a:r>
            <a:endParaRPr sz="1800">
              <a:solidFill>
                <a:schemeClr val="dk2"/>
              </a:solidFill>
              <a:latin typeface="Roboto"/>
              <a:ea typeface="Roboto"/>
              <a:cs typeface="Roboto"/>
              <a:sym typeface="Roboto"/>
            </a:endParaRPr>
          </a:p>
          <a:p>
            <a:pPr indent="-342900" lvl="0" marL="457200" rtl="0" algn="l">
              <a:spcBef>
                <a:spcPts val="1000"/>
              </a:spcBef>
              <a:spcAft>
                <a:spcPts val="0"/>
              </a:spcAft>
              <a:buClr>
                <a:schemeClr val="dk2"/>
              </a:buClr>
              <a:buSzPts val="1800"/>
              <a:buFont typeface="Roboto"/>
              <a:buChar char="●"/>
            </a:pPr>
            <a:r>
              <a:rPr lang="en" sz="1800">
                <a:solidFill>
                  <a:schemeClr val="dk2"/>
                </a:solidFill>
                <a:latin typeface="Roboto"/>
                <a:ea typeface="Roboto"/>
                <a:cs typeface="Roboto"/>
                <a:sym typeface="Roboto"/>
              </a:rPr>
              <a:t>Employees are clicking links and downloading </a:t>
            </a:r>
            <a:r>
              <a:rPr lang="en" sz="1800">
                <a:solidFill>
                  <a:schemeClr val="dk2"/>
                </a:solidFill>
                <a:latin typeface="Roboto"/>
                <a:ea typeface="Roboto"/>
                <a:cs typeface="Roboto"/>
                <a:sym typeface="Roboto"/>
              </a:rPr>
              <a:t>attachments</a:t>
            </a:r>
            <a:r>
              <a:rPr lang="en" sz="1800">
                <a:solidFill>
                  <a:schemeClr val="dk2"/>
                </a:solidFill>
                <a:latin typeface="Roboto"/>
                <a:ea typeface="Roboto"/>
                <a:cs typeface="Roboto"/>
                <a:sym typeface="Roboto"/>
              </a:rPr>
              <a:t> in these emails.</a:t>
            </a:r>
            <a:endParaRPr sz="1800">
              <a:solidFill>
                <a:schemeClr val="dk2"/>
              </a:solidFill>
              <a:latin typeface="Roboto"/>
              <a:ea typeface="Roboto"/>
              <a:cs typeface="Roboto"/>
              <a:sym typeface="Roboto"/>
            </a:endParaRPr>
          </a:p>
          <a:p>
            <a:pPr indent="-342900" lvl="0" marL="457200" rtl="0" algn="l">
              <a:spcBef>
                <a:spcPts val="1000"/>
              </a:spcBef>
              <a:spcAft>
                <a:spcPts val="1000"/>
              </a:spcAft>
              <a:buClr>
                <a:schemeClr val="dk2"/>
              </a:buClr>
              <a:buSzPts val="1800"/>
              <a:buFont typeface="Roboto"/>
              <a:buChar char="●"/>
            </a:pPr>
            <a:r>
              <a:rPr lang="en" sz="1800">
                <a:solidFill>
                  <a:schemeClr val="dk2"/>
                </a:solidFill>
                <a:latin typeface="Roboto"/>
                <a:ea typeface="Roboto"/>
                <a:cs typeface="Roboto"/>
                <a:sym typeface="Roboto"/>
              </a:rPr>
              <a:t>The organization’s security team determined that many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of the links and attachments contain malware. </a:t>
            </a:r>
            <a:endParaRPr sz="1800">
              <a:solidFill>
                <a:schemeClr val="dk2"/>
              </a:solidFill>
              <a:latin typeface="Roboto"/>
              <a:ea typeface="Roboto"/>
              <a:cs typeface="Roboto"/>
              <a:sym typeface="Roboto"/>
            </a:endParaRPr>
          </a:p>
        </p:txBody>
      </p:sp>
      <p:pic>
        <p:nvPicPr>
          <p:cNvPr id="786" name="Google Shape;786;p93"/>
          <p:cNvPicPr preferRelativeResize="0"/>
          <p:nvPr/>
        </p:nvPicPr>
        <p:blipFill>
          <a:blip r:embed="rId3">
            <a:alphaModFix/>
          </a:blip>
          <a:stretch>
            <a:fillRect/>
          </a:stretch>
        </p:blipFill>
        <p:spPr>
          <a:xfrm>
            <a:off x="224250" y="324625"/>
            <a:ext cx="399097" cy="393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0" name="Shape 790"/>
        <p:cNvGrpSpPr/>
        <p:nvPr/>
      </p:nvGrpSpPr>
      <p:grpSpPr>
        <a:xfrm>
          <a:off x="0" y="0"/>
          <a:ext cx="0" cy="0"/>
          <a:chOff x="0" y="0"/>
          <a:chExt cx="0" cy="0"/>
        </a:xfrm>
      </p:grpSpPr>
      <p:sp>
        <p:nvSpPr>
          <p:cNvPr id="791" name="Google Shape;791;p94"/>
          <p:cNvSpPr txBox="1"/>
          <p:nvPr>
            <p:ph type="title"/>
          </p:nvPr>
        </p:nvSpPr>
        <p:spPr>
          <a:xfrm>
            <a:off x="0" y="23862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1: Measure and Set Goals</a:t>
            </a:r>
            <a:endParaRPr/>
          </a:p>
        </p:txBody>
      </p:sp>
      <p:sp>
        <p:nvSpPr>
          <p:cNvPr id="792" name="Google Shape;792;p94"/>
          <p:cNvSpPr txBox="1"/>
          <p:nvPr>
            <p:ph idx="4294967295" type="subTitle"/>
          </p:nvPr>
        </p:nvSpPr>
        <p:spPr>
          <a:xfrm>
            <a:off x="457300" y="1037025"/>
            <a:ext cx="7701900" cy="3648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1600"/>
              <a:t>Hire a penetration testing firm to begin a phishing campaign that will send out phishing emails to users in the company. The firm will then keep track of how many users fall for the phishing emails.</a:t>
            </a:r>
            <a:endParaRPr sz="1600"/>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cxnSp>
        <p:nvCxnSpPr>
          <p:cNvPr id="793" name="Google Shape;793;p94"/>
          <p:cNvCxnSpPr/>
          <p:nvPr/>
        </p:nvCxnSpPr>
        <p:spPr>
          <a:xfrm rot="10800000">
            <a:off x="4984248" y="4242750"/>
            <a:ext cx="3231900" cy="0"/>
          </a:xfrm>
          <a:prstGeom prst="straightConnector1">
            <a:avLst/>
          </a:prstGeom>
          <a:noFill/>
          <a:ln cap="flat" cmpd="sng" w="9525">
            <a:solidFill>
              <a:srgbClr val="A9B7C0"/>
            </a:solidFill>
            <a:prstDash val="solid"/>
            <a:round/>
            <a:headEnd len="sm" w="sm" type="none"/>
            <a:tailEnd len="sm" w="sm" type="none"/>
          </a:ln>
        </p:spPr>
      </p:cxnSp>
      <p:cxnSp>
        <p:nvCxnSpPr>
          <p:cNvPr id="794" name="Google Shape;794;p94"/>
          <p:cNvCxnSpPr/>
          <p:nvPr/>
        </p:nvCxnSpPr>
        <p:spPr>
          <a:xfrm rot="10800000">
            <a:off x="5598648" y="3023550"/>
            <a:ext cx="2617500" cy="0"/>
          </a:xfrm>
          <a:prstGeom prst="straightConnector1">
            <a:avLst/>
          </a:prstGeom>
          <a:noFill/>
          <a:ln cap="flat" cmpd="sng" w="9525">
            <a:solidFill>
              <a:srgbClr val="A9B7C0"/>
            </a:solidFill>
            <a:prstDash val="solid"/>
            <a:round/>
            <a:headEnd len="sm" w="sm" type="none"/>
            <a:tailEnd len="sm" w="sm" type="none"/>
          </a:ln>
        </p:spPr>
      </p:cxnSp>
      <p:cxnSp>
        <p:nvCxnSpPr>
          <p:cNvPr id="795" name="Google Shape;795;p94"/>
          <p:cNvCxnSpPr/>
          <p:nvPr/>
        </p:nvCxnSpPr>
        <p:spPr>
          <a:xfrm rot="10800000">
            <a:off x="5165750" y="1816938"/>
            <a:ext cx="3050400" cy="0"/>
          </a:xfrm>
          <a:prstGeom prst="straightConnector1">
            <a:avLst/>
          </a:prstGeom>
          <a:noFill/>
          <a:ln cap="flat" cmpd="sng" w="9525">
            <a:solidFill>
              <a:srgbClr val="A9B7C0"/>
            </a:solidFill>
            <a:prstDash val="solid"/>
            <a:round/>
            <a:headEnd len="sm" w="sm" type="none"/>
            <a:tailEnd len="sm" w="sm" type="none"/>
          </a:ln>
        </p:spPr>
      </p:cxnSp>
      <p:cxnSp>
        <p:nvCxnSpPr>
          <p:cNvPr id="796" name="Google Shape;796;p94"/>
          <p:cNvCxnSpPr/>
          <p:nvPr/>
        </p:nvCxnSpPr>
        <p:spPr>
          <a:xfrm rot="10800000">
            <a:off x="457250" y="3709350"/>
            <a:ext cx="3031500" cy="0"/>
          </a:xfrm>
          <a:prstGeom prst="straightConnector1">
            <a:avLst/>
          </a:prstGeom>
          <a:noFill/>
          <a:ln cap="flat" cmpd="sng" w="9525">
            <a:solidFill>
              <a:srgbClr val="A9B7C0"/>
            </a:solidFill>
            <a:prstDash val="solid"/>
            <a:round/>
            <a:headEnd len="sm" w="sm" type="none"/>
            <a:tailEnd len="sm" w="sm" type="none"/>
          </a:ln>
        </p:spPr>
      </p:cxnSp>
      <p:cxnSp>
        <p:nvCxnSpPr>
          <p:cNvPr id="797" name="Google Shape;797;p94"/>
          <p:cNvCxnSpPr/>
          <p:nvPr/>
        </p:nvCxnSpPr>
        <p:spPr>
          <a:xfrm rot="10800000">
            <a:off x="457300" y="2337750"/>
            <a:ext cx="3407700" cy="0"/>
          </a:xfrm>
          <a:prstGeom prst="straightConnector1">
            <a:avLst/>
          </a:prstGeom>
          <a:noFill/>
          <a:ln cap="flat" cmpd="sng" w="9525">
            <a:solidFill>
              <a:srgbClr val="000000"/>
            </a:solidFill>
            <a:prstDash val="solid"/>
            <a:round/>
            <a:headEnd len="sm" w="sm" type="none"/>
            <a:tailEnd len="sm" w="sm" type="none"/>
          </a:ln>
        </p:spPr>
      </p:cxnSp>
      <p:sp>
        <p:nvSpPr>
          <p:cNvPr id="798" name="Google Shape;798;p94"/>
          <p:cNvSpPr/>
          <p:nvPr/>
        </p:nvSpPr>
        <p:spPr>
          <a:xfrm rot="-4979340">
            <a:off x="3196687" y="1719187"/>
            <a:ext cx="2767493" cy="2771887"/>
          </a:xfrm>
          <a:prstGeom prst="blockArc">
            <a:avLst>
              <a:gd fmla="val 12602522" name="adj1"/>
              <a:gd fmla="val 16867657" name="adj2"/>
              <a:gd fmla="val 20844" name="adj3"/>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94"/>
          <p:cNvSpPr/>
          <p:nvPr/>
        </p:nvSpPr>
        <p:spPr>
          <a:xfrm rot="7923045">
            <a:off x="3174958" y="1716827"/>
            <a:ext cx="2774756" cy="2775201"/>
          </a:xfrm>
          <a:prstGeom prst="blockArc">
            <a:avLst>
              <a:gd fmla="val 12602522" name="adj1"/>
              <a:gd fmla="val 16867657" name="adj2"/>
              <a:gd fmla="val 20844" name="adj3"/>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94"/>
          <p:cNvSpPr/>
          <p:nvPr/>
        </p:nvSpPr>
        <p:spPr>
          <a:xfrm rot="3597646">
            <a:off x="3178355" y="1728881"/>
            <a:ext cx="2774111" cy="2776438"/>
          </a:xfrm>
          <a:prstGeom prst="blockArc">
            <a:avLst>
              <a:gd fmla="val 12602522" name="adj1"/>
              <a:gd fmla="val 16867657" name="adj2"/>
              <a:gd fmla="val 20844" name="adj3"/>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94"/>
          <p:cNvSpPr/>
          <p:nvPr/>
        </p:nvSpPr>
        <p:spPr>
          <a:xfrm rot="4022619">
            <a:off x="5320201" y="2483695"/>
            <a:ext cx="577648" cy="579030"/>
          </a:xfrm>
          <a:prstGeom prst="pie">
            <a:avLst>
              <a:gd fmla="val 6190354" name="adj1"/>
              <a:gd fmla="val 14996165" name="adj2"/>
            </a:avLst>
          </a:prstGeom>
          <a:solidFill>
            <a:srgbClr val="EFEFEF"/>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94"/>
          <p:cNvSpPr/>
          <p:nvPr/>
        </p:nvSpPr>
        <p:spPr>
          <a:xfrm rot="-6818172">
            <a:off x="5317472" y="2474175"/>
            <a:ext cx="577660" cy="578915"/>
          </a:xfrm>
          <a:prstGeom prst="pie">
            <a:avLst>
              <a:gd fmla="val 4028252" name="adj1"/>
              <a:gd fmla="val 17183677" name="adj2"/>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94"/>
          <p:cNvSpPr/>
          <p:nvPr/>
        </p:nvSpPr>
        <p:spPr>
          <a:xfrm rot="-9361798">
            <a:off x="3184638" y="1710861"/>
            <a:ext cx="2776555" cy="2773451"/>
          </a:xfrm>
          <a:prstGeom prst="blockArc">
            <a:avLst>
              <a:gd fmla="val 12602522" name="adj1"/>
              <a:gd fmla="val 16867657" name="adj2"/>
              <a:gd fmla="val 20844" name="adj3"/>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94"/>
          <p:cNvSpPr/>
          <p:nvPr/>
        </p:nvSpPr>
        <p:spPr>
          <a:xfrm rot="-8939422">
            <a:off x="3649612" y="3705239"/>
            <a:ext cx="578242" cy="578192"/>
          </a:xfrm>
          <a:prstGeom prst="pie">
            <a:avLst>
              <a:gd fmla="val 6190354" name="adj1"/>
              <a:gd fmla="val 14996165" name="adj2"/>
            </a:avLst>
          </a:prstGeom>
          <a:solidFill>
            <a:srgbClr val="EFEFEF"/>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94"/>
          <p:cNvSpPr/>
          <p:nvPr/>
        </p:nvSpPr>
        <p:spPr>
          <a:xfrm rot="1821421">
            <a:off x="3649857" y="3705003"/>
            <a:ext cx="578171" cy="578109"/>
          </a:xfrm>
          <a:prstGeom prst="pie">
            <a:avLst>
              <a:gd fmla="val 4028252" name="adj1"/>
              <a:gd fmla="val 17183677" name="adj2"/>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94"/>
          <p:cNvSpPr/>
          <p:nvPr/>
        </p:nvSpPr>
        <p:spPr>
          <a:xfrm rot="-598995">
            <a:off x="3189261" y="1730315"/>
            <a:ext cx="2777455" cy="2773180"/>
          </a:xfrm>
          <a:prstGeom prst="blockArc">
            <a:avLst>
              <a:gd fmla="val 12513247" name="adj1"/>
              <a:gd fmla="val 16867657" name="adj2"/>
              <a:gd fmla="val 20844" name="adj3"/>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94"/>
          <p:cNvSpPr/>
          <p:nvPr/>
        </p:nvSpPr>
        <p:spPr>
          <a:xfrm rot="-176551">
            <a:off x="4302435" y="1730279"/>
            <a:ext cx="578563" cy="578263"/>
          </a:xfrm>
          <a:prstGeom prst="pie">
            <a:avLst>
              <a:gd fmla="val 6190354" name="adj1"/>
              <a:gd fmla="val 14996165" name="adj2"/>
            </a:avLst>
          </a:prstGeom>
          <a:solidFill>
            <a:srgbClr val="A9B7C0"/>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94"/>
          <p:cNvSpPr/>
          <p:nvPr/>
        </p:nvSpPr>
        <p:spPr>
          <a:xfrm rot="10584085">
            <a:off x="4302418" y="1730487"/>
            <a:ext cx="578340" cy="578041"/>
          </a:xfrm>
          <a:prstGeom prst="pie">
            <a:avLst>
              <a:gd fmla="val 4028252" name="adj1"/>
              <a:gd fmla="val 17183677" name="adj2"/>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94"/>
          <p:cNvSpPr/>
          <p:nvPr/>
        </p:nvSpPr>
        <p:spPr>
          <a:xfrm rot="8347474">
            <a:off x="4931456" y="3694317"/>
            <a:ext cx="578072" cy="578435"/>
          </a:xfrm>
          <a:prstGeom prst="pie">
            <a:avLst>
              <a:gd fmla="val 6190354" name="adj1"/>
              <a:gd fmla="val 14996165" name="adj2"/>
            </a:avLst>
          </a:prstGeom>
          <a:solidFill>
            <a:srgbClr val="A9B7C0"/>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94"/>
          <p:cNvSpPr/>
          <p:nvPr/>
        </p:nvSpPr>
        <p:spPr>
          <a:xfrm rot="-2492975">
            <a:off x="4931530" y="3694243"/>
            <a:ext cx="578047" cy="578644"/>
          </a:xfrm>
          <a:prstGeom prst="pie">
            <a:avLst>
              <a:gd fmla="val 4028252" name="adj1"/>
              <a:gd fmla="val 17183677" name="adj2"/>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94"/>
          <p:cNvSpPr/>
          <p:nvPr/>
        </p:nvSpPr>
        <p:spPr>
          <a:xfrm rot="-4555659">
            <a:off x="3248102" y="2472269"/>
            <a:ext cx="577429" cy="578884"/>
          </a:xfrm>
          <a:prstGeom prst="pie">
            <a:avLst>
              <a:gd fmla="val 6190354" name="adj1"/>
              <a:gd fmla="val 14996165" name="adj2"/>
            </a:avLst>
          </a:prstGeom>
          <a:solidFill>
            <a:schemeClr val="accent4"/>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94"/>
          <p:cNvSpPr/>
          <p:nvPr/>
        </p:nvSpPr>
        <p:spPr>
          <a:xfrm rot="6205784">
            <a:off x="3248236" y="2472264"/>
            <a:ext cx="577388" cy="578847"/>
          </a:xfrm>
          <a:prstGeom prst="pie">
            <a:avLst>
              <a:gd fmla="val 4028252" name="adj1"/>
              <a:gd fmla="val 17183677"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94"/>
          <p:cNvSpPr txBox="1"/>
          <p:nvPr/>
        </p:nvSpPr>
        <p:spPr>
          <a:xfrm>
            <a:off x="4332231" y="1806636"/>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05</a:t>
            </a:r>
            <a:endParaRPr b="1" sz="1600">
              <a:solidFill>
                <a:srgbClr val="FFFFFF"/>
              </a:solidFill>
              <a:latin typeface="Roboto"/>
              <a:ea typeface="Roboto"/>
              <a:cs typeface="Roboto"/>
              <a:sym typeface="Roboto"/>
            </a:endParaRPr>
          </a:p>
        </p:txBody>
      </p:sp>
      <p:sp>
        <p:nvSpPr>
          <p:cNvPr id="814" name="Google Shape;814;p94"/>
          <p:cNvSpPr txBox="1"/>
          <p:nvPr/>
        </p:nvSpPr>
        <p:spPr>
          <a:xfrm>
            <a:off x="3264550" y="25519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latin typeface="Roboto"/>
                <a:ea typeface="Roboto"/>
                <a:cs typeface="Roboto"/>
                <a:sym typeface="Roboto"/>
              </a:rPr>
              <a:t>01</a:t>
            </a:r>
            <a:endParaRPr b="1" sz="1600">
              <a:latin typeface="Roboto"/>
              <a:ea typeface="Roboto"/>
              <a:cs typeface="Roboto"/>
              <a:sym typeface="Roboto"/>
            </a:endParaRPr>
          </a:p>
        </p:txBody>
      </p:sp>
      <p:sp>
        <p:nvSpPr>
          <p:cNvPr id="815" name="Google Shape;815;p94"/>
          <p:cNvSpPr txBox="1"/>
          <p:nvPr/>
        </p:nvSpPr>
        <p:spPr>
          <a:xfrm>
            <a:off x="3675648" y="37789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A9B7C0"/>
                </a:solidFill>
                <a:latin typeface="Roboto"/>
                <a:ea typeface="Roboto"/>
                <a:cs typeface="Roboto"/>
                <a:sym typeface="Roboto"/>
              </a:rPr>
              <a:t>02</a:t>
            </a:r>
            <a:endParaRPr b="1" sz="1600">
              <a:solidFill>
                <a:srgbClr val="A9B7C0"/>
              </a:solidFill>
              <a:latin typeface="Roboto"/>
              <a:ea typeface="Roboto"/>
              <a:cs typeface="Roboto"/>
              <a:sym typeface="Roboto"/>
            </a:endParaRPr>
          </a:p>
        </p:txBody>
      </p:sp>
      <p:sp>
        <p:nvSpPr>
          <p:cNvPr id="816" name="Google Shape;816;p94"/>
          <p:cNvSpPr txBox="1"/>
          <p:nvPr/>
        </p:nvSpPr>
        <p:spPr>
          <a:xfrm>
            <a:off x="4945653" y="37789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sp>
        <p:nvSpPr>
          <p:cNvPr id="817" name="Google Shape;817;p94"/>
          <p:cNvSpPr txBox="1"/>
          <p:nvPr/>
        </p:nvSpPr>
        <p:spPr>
          <a:xfrm>
            <a:off x="5355068" y="25519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A9B7C0"/>
                </a:solidFill>
                <a:latin typeface="Roboto"/>
                <a:ea typeface="Roboto"/>
                <a:cs typeface="Roboto"/>
                <a:sym typeface="Roboto"/>
              </a:rPr>
              <a:t>04</a:t>
            </a:r>
            <a:endParaRPr b="1" sz="1600">
              <a:solidFill>
                <a:srgbClr val="A9B7C0"/>
              </a:solidFill>
              <a:latin typeface="Roboto"/>
              <a:ea typeface="Roboto"/>
              <a:cs typeface="Roboto"/>
              <a:sym typeface="Roboto"/>
            </a:endParaRPr>
          </a:p>
        </p:txBody>
      </p:sp>
      <p:sp>
        <p:nvSpPr>
          <p:cNvPr id="818" name="Google Shape;818;p94"/>
          <p:cNvSpPr txBox="1"/>
          <p:nvPr/>
        </p:nvSpPr>
        <p:spPr>
          <a:xfrm>
            <a:off x="5715000" y="1883750"/>
            <a:ext cx="28497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A9B7C0"/>
                </a:solidFill>
                <a:latin typeface="Roboto"/>
                <a:ea typeface="Roboto"/>
                <a:cs typeface="Roboto"/>
                <a:sym typeface="Roboto"/>
              </a:rPr>
              <a:t>Measure Change</a:t>
            </a:r>
            <a:endParaRPr sz="1000">
              <a:solidFill>
                <a:srgbClr val="A9B7C0"/>
              </a:solidFill>
              <a:latin typeface="Roboto"/>
              <a:ea typeface="Roboto"/>
              <a:cs typeface="Roboto"/>
              <a:sym typeface="Roboto"/>
            </a:endParaRPr>
          </a:p>
          <a:p>
            <a:pPr indent="0" lvl="0" marL="0" rtl="0" algn="l">
              <a:spcBef>
                <a:spcPts val="1600"/>
              </a:spcBef>
              <a:spcAft>
                <a:spcPts val="0"/>
              </a:spcAft>
              <a:buNone/>
            </a:pPr>
            <a:r>
              <a:t/>
            </a:r>
            <a:endParaRPr b="1" sz="800">
              <a:solidFill>
                <a:srgbClr val="A9B7C0"/>
              </a:solidFill>
              <a:latin typeface="Roboto"/>
              <a:ea typeface="Roboto"/>
              <a:cs typeface="Roboto"/>
              <a:sym typeface="Roboto"/>
            </a:endParaRPr>
          </a:p>
          <a:p>
            <a:pPr indent="0" lvl="0" marL="0" rtl="0" algn="l">
              <a:spcBef>
                <a:spcPts val="1600"/>
              </a:spcBef>
              <a:spcAft>
                <a:spcPts val="1600"/>
              </a:spcAft>
              <a:buNone/>
            </a:pPr>
            <a:r>
              <a:t/>
            </a:r>
            <a:endParaRPr b="1" sz="800">
              <a:solidFill>
                <a:srgbClr val="A9B7C0"/>
              </a:solidFill>
              <a:latin typeface="Roboto"/>
              <a:ea typeface="Roboto"/>
              <a:cs typeface="Roboto"/>
              <a:sym typeface="Roboto"/>
            </a:endParaRPr>
          </a:p>
        </p:txBody>
      </p:sp>
      <p:sp>
        <p:nvSpPr>
          <p:cNvPr id="819" name="Google Shape;819;p94"/>
          <p:cNvSpPr txBox="1"/>
          <p:nvPr/>
        </p:nvSpPr>
        <p:spPr>
          <a:xfrm>
            <a:off x="5715000" y="3026750"/>
            <a:ext cx="27246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A9B7C0"/>
                </a:solidFill>
                <a:latin typeface="Roboto"/>
                <a:ea typeface="Roboto"/>
                <a:cs typeface="Roboto"/>
                <a:sym typeface="Roboto"/>
              </a:rPr>
              <a:t>Execute the Plan</a:t>
            </a:r>
            <a:endParaRPr b="1" sz="800">
              <a:solidFill>
                <a:srgbClr val="A9B7C0"/>
              </a:solidFill>
              <a:latin typeface="Roboto"/>
              <a:ea typeface="Roboto"/>
              <a:cs typeface="Roboto"/>
              <a:sym typeface="Roboto"/>
            </a:endParaRPr>
          </a:p>
          <a:p>
            <a:pPr indent="0" lvl="0" marL="0" rtl="0" algn="l">
              <a:spcBef>
                <a:spcPts val="1600"/>
              </a:spcBef>
              <a:spcAft>
                <a:spcPts val="1600"/>
              </a:spcAft>
              <a:buNone/>
            </a:pPr>
            <a:r>
              <a:t/>
            </a:r>
            <a:endParaRPr b="1" sz="800">
              <a:solidFill>
                <a:srgbClr val="A9B7C0"/>
              </a:solidFill>
              <a:latin typeface="Roboto"/>
              <a:ea typeface="Roboto"/>
              <a:cs typeface="Roboto"/>
              <a:sym typeface="Roboto"/>
            </a:endParaRPr>
          </a:p>
        </p:txBody>
      </p:sp>
      <p:sp>
        <p:nvSpPr>
          <p:cNvPr id="820" name="Google Shape;820;p94"/>
          <p:cNvSpPr txBox="1"/>
          <p:nvPr/>
        </p:nvSpPr>
        <p:spPr>
          <a:xfrm>
            <a:off x="0" y="2340950"/>
            <a:ext cx="2923800" cy="1234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200">
                <a:solidFill>
                  <a:schemeClr val="dk2"/>
                </a:solidFill>
                <a:latin typeface="Roboto"/>
                <a:ea typeface="Roboto"/>
                <a:cs typeface="Roboto"/>
                <a:sym typeface="Roboto"/>
              </a:rPr>
              <a:t>Measure and Set Goals</a:t>
            </a:r>
            <a:r>
              <a:rPr b="1" lang="en" sz="1200">
                <a:solidFill>
                  <a:schemeClr val="dk2"/>
                </a:solidFill>
                <a:latin typeface="Roboto"/>
                <a:ea typeface="Roboto"/>
                <a:cs typeface="Roboto"/>
                <a:sym typeface="Roboto"/>
              </a:rPr>
              <a:t>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Set a click rate goal of 5%. Measure this data to determine (1) what percentage of employees fall victim to the phishing and (2) which employees specifically.</a:t>
            </a:r>
            <a:endParaRPr sz="1200">
              <a:solidFill>
                <a:schemeClr val="dk2"/>
              </a:solidFill>
              <a:latin typeface="Roboto"/>
              <a:ea typeface="Roboto"/>
              <a:cs typeface="Roboto"/>
              <a:sym typeface="Roboto"/>
            </a:endParaRPr>
          </a:p>
        </p:txBody>
      </p:sp>
      <p:sp>
        <p:nvSpPr>
          <p:cNvPr id="821" name="Google Shape;821;p94"/>
          <p:cNvSpPr txBox="1"/>
          <p:nvPr/>
        </p:nvSpPr>
        <p:spPr>
          <a:xfrm>
            <a:off x="0" y="3712550"/>
            <a:ext cx="28095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000">
                <a:solidFill>
                  <a:srgbClr val="A9B7C0"/>
                </a:solidFill>
                <a:latin typeface="Roboto"/>
                <a:ea typeface="Roboto"/>
                <a:cs typeface="Roboto"/>
                <a:sym typeface="Roboto"/>
              </a:rPr>
              <a:t>Involve</a:t>
            </a:r>
            <a:r>
              <a:rPr b="1" lang="en" sz="1000">
                <a:solidFill>
                  <a:srgbClr val="A9B7C0"/>
                </a:solidFill>
                <a:latin typeface="Roboto"/>
                <a:ea typeface="Roboto"/>
                <a:cs typeface="Roboto"/>
                <a:sym typeface="Roboto"/>
              </a:rPr>
              <a:t> the Right People</a:t>
            </a:r>
            <a:br>
              <a:rPr b="1" lang="en" sz="1000">
                <a:solidFill>
                  <a:srgbClr val="A9B7C0"/>
                </a:solidFill>
                <a:latin typeface="Roboto"/>
                <a:ea typeface="Roboto"/>
                <a:cs typeface="Roboto"/>
                <a:sym typeface="Roboto"/>
              </a:rPr>
            </a:br>
            <a:endParaRPr b="1" sz="800">
              <a:solidFill>
                <a:srgbClr val="A9B7C0"/>
              </a:solidFill>
              <a:latin typeface="Roboto"/>
              <a:ea typeface="Roboto"/>
              <a:cs typeface="Roboto"/>
              <a:sym typeface="Roboto"/>
            </a:endParaRPr>
          </a:p>
        </p:txBody>
      </p:sp>
      <p:sp>
        <p:nvSpPr>
          <p:cNvPr id="822" name="Google Shape;822;p94"/>
          <p:cNvSpPr txBox="1"/>
          <p:nvPr/>
        </p:nvSpPr>
        <p:spPr>
          <a:xfrm>
            <a:off x="5715000" y="4245950"/>
            <a:ext cx="27246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A9B7C0"/>
                </a:solidFill>
                <a:latin typeface="Roboto"/>
                <a:ea typeface="Roboto"/>
                <a:cs typeface="Roboto"/>
                <a:sym typeface="Roboto"/>
              </a:rPr>
              <a:t>Create an Action Plan</a:t>
            </a:r>
            <a:endParaRPr b="1" sz="800">
              <a:solidFill>
                <a:srgbClr val="A9B7C0"/>
              </a:solidFill>
              <a:latin typeface="Roboto"/>
              <a:ea typeface="Roboto"/>
              <a:cs typeface="Roboto"/>
              <a:sym typeface="Roboto"/>
            </a:endParaRPr>
          </a:p>
          <a:p>
            <a:pPr indent="0" lvl="0" marL="0" rtl="0" algn="l">
              <a:spcBef>
                <a:spcPts val="1600"/>
              </a:spcBef>
              <a:spcAft>
                <a:spcPts val="1600"/>
              </a:spcAft>
              <a:buNone/>
            </a:pPr>
            <a:r>
              <a:t/>
            </a:r>
            <a:endParaRPr b="1" sz="800">
              <a:solidFill>
                <a:srgbClr val="A9B7C0"/>
              </a:solidFill>
              <a:latin typeface="Roboto"/>
              <a:ea typeface="Roboto"/>
              <a:cs typeface="Roboto"/>
              <a:sym typeface="Roboto"/>
            </a:endParaRPr>
          </a:p>
        </p:txBody>
      </p:sp>
      <p:sp>
        <p:nvSpPr>
          <p:cNvPr id="823" name="Google Shape;823;p94"/>
          <p:cNvSpPr txBox="1"/>
          <p:nvPr/>
        </p:nvSpPr>
        <p:spPr>
          <a:xfrm>
            <a:off x="457250" y="1969750"/>
            <a:ext cx="29808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824" name="Google Shape;824;p94"/>
          <p:cNvPicPr preferRelativeResize="0"/>
          <p:nvPr/>
        </p:nvPicPr>
        <p:blipFill>
          <a:blip r:embed="rId3">
            <a:alphaModFix/>
          </a:blip>
          <a:stretch>
            <a:fillRect/>
          </a:stretch>
        </p:blipFill>
        <p:spPr>
          <a:xfrm>
            <a:off x="224300" y="329450"/>
            <a:ext cx="399107" cy="393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8" name="Shape 828"/>
        <p:cNvGrpSpPr/>
        <p:nvPr/>
      </p:nvGrpSpPr>
      <p:grpSpPr>
        <a:xfrm>
          <a:off x="0" y="0"/>
          <a:ext cx="0" cy="0"/>
          <a:chOff x="0" y="0"/>
          <a:chExt cx="0" cy="0"/>
        </a:xfrm>
      </p:grpSpPr>
      <p:sp>
        <p:nvSpPr>
          <p:cNvPr id="829" name="Google Shape;829;p95"/>
          <p:cNvSpPr txBox="1"/>
          <p:nvPr>
            <p:ph type="title"/>
          </p:nvPr>
        </p:nvSpPr>
        <p:spPr>
          <a:xfrm>
            <a:off x="0" y="23862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2: Involve the Right People </a:t>
            </a:r>
            <a:endParaRPr/>
          </a:p>
        </p:txBody>
      </p:sp>
      <p:sp>
        <p:nvSpPr>
          <p:cNvPr id="830" name="Google Shape;830;p95"/>
          <p:cNvSpPr txBox="1"/>
          <p:nvPr>
            <p:ph idx="4294967295" type="subTitle"/>
          </p:nvPr>
        </p:nvSpPr>
        <p:spPr>
          <a:xfrm>
            <a:off x="418125" y="1037025"/>
            <a:ext cx="7811400" cy="3648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1600"/>
              <a:t>Since this training will affect all members of the organization, inform the executive team about the problem and your decision to implement training. </a:t>
            </a:r>
            <a:endParaRPr sz="1600"/>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cxnSp>
        <p:nvCxnSpPr>
          <p:cNvPr id="831" name="Google Shape;831;p95"/>
          <p:cNvCxnSpPr/>
          <p:nvPr/>
        </p:nvCxnSpPr>
        <p:spPr>
          <a:xfrm rot="10800000">
            <a:off x="4984248" y="4242750"/>
            <a:ext cx="3231900" cy="0"/>
          </a:xfrm>
          <a:prstGeom prst="straightConnector1">
            <a:avLst/>
          </a:prstGeom>
          <a:noFill/>
          <a:ln cap="flat" cmpd="sng" w="9525">
            <a:solidFill>
              <a:srgbClr val="A9B7C0"/>
            </a:solidFill>
            <a:prstDash val="solid"/>
            <a:round/>
            <a:headEnd len="sm" w="sm" type="none"/>
            <a:tailEnd len="sm" w="sm" type="none"/>
          </a:ln>
        </p:spPr>
      </p:cxnSp>
      <p:cxnSp>
        <p:nvCxnSpPr>
          <p:cNvPr id="832" name="Google Shape;832;p95"/>
          <p:cNvCxnSpPr/>
          <p:nvPr/>
        </p:nvCxnSpPr>
        <p:spPr>
          <a:xfrm rot="10800000">
            <a:off x="5598648" y="3023550"/>
            <a:ext cx="2617500" cy="0"/>
          </a:xfrm>
          <a:prstGeom prst="straightConnector1">
            <a:avLst/>
          </a:prstGeom>
          <a:noFill/>
          <a:ln cap="flat" cmpd="sng" w="9525">
            <a:solidFill>
              <a:srgbClr val="A9B7C0"/>
            </a:solidFill>
            <a:prstDash val="solid"/>
            <a:round/>
            <a:headEnd len="sm" w="sm" type="none"/>
            <a:tailEnd len="sm" w="sm" type="none"/>
          </a:ln>
        </p:spPr>
      </p:cxnSp>
      <p:cxnSp>
        <p:nvCxnSpPr>
          <p:cNvPr id="833" name="Google Shape;833;p95"/>
          <p:cNvCxnSpPr/>
          <p:nvPr/>
        </p:nvCxnSpPr>
        <p:spPr>
          <a:xfrm rot="10800000">
            <a:off x="5165750" y="1816938"/>
            <a:ext cx="3050400" cy="0"/>
          </a:xfrm>
          <a:prstGeom prst="straightConnector1">
            <a:avLst/>
          </a:prstGeom>
          <a:noFill/>
          <a:ln cap="flat" cmpd="sng" w="9525">
            <a:solidFill>
              <a:srgbClr val="A9B7C0"/>
            </a:solidFill>
            <a:prstDash val="solid"/>
            <a:round/>
            <a:headEnd len="sm" w="sm" type="none"/>
            <a:tailEnd len="sm" w="sm" type="none"/>
          </a:ln>
        </p:spPr>
      </p:cxnSp>
      <p:cxnSp>
        <p:nvCxnSpPr>
          <p:cNvPr id="834" name="Google Shape;834;p95"/>
          <p:cNvCxnSpPr/>
          <p:nvPr/>
        </p:nvCxnSpPr>
        <p:spPr>
          <a:xfrm rot="10800000">
            <a:off x="457250" y="3709350"/>
            <a:ext cx="3031500" cy="0"/>
          </a:xfrm>
          <a:prstGeom prst="straightConnector1">
            <a:avLst/>
          </a:prstGeom>
          <a:noFill/>
          <a:ln cap="flat" cmpd="sng" w="9525">
            <a:solidFill>
              <a:schemeClr val="accent6"/>
            </a:solidFill>
            <a:prstDash val="solid"/>
            <a:round/>
            <a:headEnd len="sm" w="sm" type="none"/>
            <a:tailEnd len="sm" w="sm" type="none"/>
          </a:ln>
        </p:spPr>
      </p:cxnSp>
      <p:cxnSp>
        <p:nvCxnSpPr>
          <p:cNvPr id="835" name="Google Shape;835;p95"/>
          <p:cNvCxnSpPr/>
          <p:nvPr/>
        </p:nvCxnSpPr>
        <p:spPr>
          <a:xfrm rot="10800000">
            <a:off x="457300" y="2337750"/>
            <a:ext cx="3407700" cy="0"/>
          </a:xfrm>
          <a:prstGeom prst="straightConnector1">
            <a:avLst/>
          </a:prstGeom>
          <a:noFill/>
          <a:ln cap="flat" cmpd="sng" w="9525">
            <a:solidFill>
              <a:srgbClr val="000000"/>
            </a:solidFill>
            <a:prstDash val="solid"/>
            <a:round/>
            <a:headEnd len="sm" w="sm" type="none"/>
            <a:tailEnd len="sm" w="sm" type="none"/>
          </a:ln>
        </p:spPr>
      </p:cxnSp>
      <p:sp>
        <p:nvSpPr>
          <p:cNvPr id="836" name="Google Shape;836;p95"/>
          <p:cNvSpPr/>
          <p:nvPr/>
        </p:nvSpPr>
        <p:spPr>
          <a:xfrm rot="-4979340">
            <a:off x="3196687" y="1719187"/>
            <a:ext cx="2767493" cy="2771887"/>
          </a:xfrm>
          <a:prstGeom prst="blockArc">
            <a:avLst>
              <a:gd fmla="val 12602522" name="adj1"/>
              <a:gd fmla="val 16867657" name="adj2"/>
              <a:gd fmla="val 20844" name="adj3"/>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95"/>
          <p:cNvSpPr/>
          <p:nvPr/>
        </p:nvSpPr>
        <p:spPr>
          <a:xfrm rot="7923045">
            <a:off x="3174958" y="1716827"/>
            <a:ext cx="2774756" cy="2775201"/>
          </a:xfrm>
          <a:prstGeom prst="blockArc">
            <a:avLst>
              <a:gd fmla="val 12602522" name="adj1"/>
              <a:gd fmla="val 16867657" name="adj2"/>
              <a:gd fmla="val 20844" name="adj3"/>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95"/>
          <p:cNvSpPr/>
          <p:nvPr/>
        </p:nvSpPr>
        <p:spPr>
          <a:xfrm rot="3597646">
            <a:off x="3178355" y="1728881"/>
            <a:ext cx="2774111" cy="2776438"/>
          </a:xfrm>
          <a:prstGeom prst="blockArc">
            <a:avLst>
              <a:gd fmla="val 12602522" name="adj1"/>
              <a:gd fmla="val 16867657" name="adj2"/>
              <a:gd fmla="val 20844" name="adj3"/>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95"/>
          <p:cNvSpPr/>
          <p:nvPr/>
        </p:nvSpPr>
        <p:spPr>
          <a:xfrm rot="4022619">
            <a:off x="5320201" y="2483695"/>
            <a:ext cx="577648" cy="579030"/>
          </a:xfrm>
          <a:prstGeom prst="pie">
            <a:avLst>
              <a:gd fmla="val 6190354" name="adj1"/>
              <a:gd fmla="val 14996165" name="adj2"/>
            </a:avLst>
          </a:prstGeom>
          <a:solidFill>
            <a:srgbClr val="EFEFEF"/>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95"/>
          <p:cNvSpPr/>
          <p:nvPr/>
        </p:nvSpPr>
        <p:spPr>
          <a:xfrm rot="-6818172">
            <a:off x="5317472" y="2474175"/>
            <a:ext cx="577660" cy="578915"/>
          </a:xfrm>
          <a:prstGeom prst="pie">
            <a:avLst>
              <a:gd fmla="val 4028252" name="adj1"/>
              <a:gd fmla="val 17183677" name="adj2"/>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95"/>
          <p:cNvSpPr/>
          <p:nvPr/>
        </p:nvSpPr>
        <p:spPr>
          <a:xfrm rot="-9361798">
            <a:off x="3184638" y="1710861"/>
            <a:ext cx="2776555" cy="2773451"/>
          </a:xfrm>
          <a:prstGeom prst="blockArc">
            <a:avLst>
              <a:gd fmla="val 12602522" name="adj1"/>
              <a:gd fmla="val 16867657" name="adj2"/>
              <a:gd fmla="val 20844" name="adj3"/>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95"/>
          <p:cNvSpPr/>
          <p:nvPr/>
        </p:nvSpPr>
        <p:spPr>
          <a:xfrm rot="-8939422">
            <a:off x="3649612" y="3705239"/>
            <a:ext cx="578242" cy="578192"/>
          </a:xfrm>
          <a:prstGeom prst="pie">
            <a:avLst>
              <a:gd fmla="val 6190354" name="adj1"/>
              <a:gd fmla="val 14996165" name="adj2"/>
            </a:avLst>
          </a:prstGeom>
          <a:solidFill>
            <a:schemeClr val="accent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95"/>
          <p:cNvSpPr/>
          <p:nvPr/>
        </p:nvSpPr>
        <p:spPr>
          <a:xfrm rot="1821421">
            <a:off x="3649857" y="3705003"/>
            <a:ext cx="578171" cy="578109"/>
          </a:xfrm>
          <a:prstGeom prst="pie">
            <a:avLst>
              <a:gd fmla="val 4028252" name="adj1"/>
              <a:gd fmla="val 17183677"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95"/>
          <p:cNvSpPr/>
          <p:nvPr/>
        </p:nvSpPr>
        <p:spPr>
          <a:xfrm rot="-598995">
            <a:off x="3189261" y="1730315"/>
            <a:ext cx="2777455" cy="2773180"/>
          </a:xfrm>
          <a:prstGeom prst="blockArc">
            <a:avLst>
              <a:gd fmla="val 12513247" name="adj1"/>
              <a:gd fmla="val 16867657" name="adj2"/>
              <a:gd fmla="val 20844" name="adj3"/>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95"/>
          <p:cNvSpPr/>
          <p:nvPr/>
        </p:nvSpPr>
        <p:spPr>
          <a:xfrm rot="-176551">
            <a:off x="4302435" y="1730279"/>
            <a:ext cx="578563" cy="578263"/>
          </a:xfrm>
          <a:prstGeom prst="pie">
            <a:avLst>
              <a:gd fmla="val 6190354" name="adj1"/>
              <a:gd fmla="val 14996165" name="adj2"/>
            </a:avLst>
          </a:prstGeom>
          <a:solidFill>
            <a:srgbClr val="A9B7C0"/>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95"/>
          <p:cNvSpPr/>
          <p:nvPr/>
        </p:nvSpPr>
        <p:spPr>
          <a:xfrm rot="10584085">
            <a:off x="4302418" y="1730487"/>
            <a:ext cx="578340" cy="578041"/>
          </a:xfrm>
          <a:prstGeom prst="pie">
            <a:avLst>
              <a:gd fmla="val 4028252" name="adj1"/>
              <a:gd fmla="val 17183677" name="adj2"/>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95"/>
          <p:cNvSpPr/>
          <p:nvPr/>
        </p:nvSpPr>
        <p:spPr>
          <a:xfrm rot="8347474">
            <a:off x="4931456" y="3694317"/>
            <a:ext cx="578072" cy="578435"/>
          </a:xfrm>
          <a:prstGeom prst="pie">
            <a:avLst>
              <a:gd fmla="val 6190354" name="adj1"/>
              <a:gd fmla="val 14996165" name="adj2"/>
            </a:avLst>
          </a:prstGeom>
          <a:solidFill>
            <a:srgbClr val="A9B7C0"/>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95"/>
          <p:cNvSpPr/>
          <p:nvPr/>
        </p:nvSpPr>
        <p:spPr>
          <a:xfrm rot="-2492975">
            <a:off x="4931530" y="3694243"/>
            <a:ext cx="578047" cy="578644"/>
          </a:xfrm>
          <a:prstGeom prst="pie">
            <a:avLst>
              <a:gd fmla="val 4028252" name="adj1"/>
              <a:gd fmla="val 17183677" name="adj2"/>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95"/>
          <p:cNvSpPr/>
          <p:nvPr/>
        </p:nvSpPr>
        <p:spPr>
          <a:xfrm rot="-4555659">
            <a:off x="3248102" y="2472269"/>
            <a:ext cx="577429" cy="578884"/>
          </a:xfrm>
          <a:prstGeom prst="pie">
            <a:avLst>
              <a:gd fmla="val 6190354" name="adj1"/>
              <a:gd fmla="val 14996165" name="adj2"/>
            </a:avLst>
          </a:prstGeom>
          <a:solidFill>
            <a:schemeClr val="accent4"/>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95"/>
          <p:cNvSpPr/>
          <p:nvPr/>
        </p:nvSpPr>
        <p:spPr>
          <a:xfrm rot="6205784">
            <a:off x="3248236" y="2472264"/>
            <a:ext cx="577388" cy="578847"/>
          </a:xfrm>
          <a:prstGeom prst="pie">
            <a:avLst>
              <a:gd fmla="val 4028252" name="adj1"/>
              <a:gd fmla="val 17183677"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95"/>
          <p:cNvSpPr txBox="1"/>
          <p:nvPr/>
        </p:nvSpPr>
        <p:spPr>
          <a:xfrm>
            <a:off x="4332231" y="1806636"/>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05</a:t>
            </a:r>
            <a:endParaRPr b="1" sz="1600">
              <a:solidFill>
                <a:srgbClr val="FFFFFF"/>
              </a:solidFill>
              <a:latin typeface="Roboto"/>
              <a:ea typeface="Roboto"/>
              <a:cs typeface="Roboto"/>
              <a:sym typeface="Roboto"/>
            </a:endParaRPr>
          </a:p>
        </p:txBody>
      </p:sp>
      <p:sp>
        <p:nvSpPr>
          <p:cNvPr id="852" name="Google Shape;852;p95"/>
          <p:cNvSpPr txBox="1"/>
          <p:nvPr/>
        </p:nvSpPr>
        <p:spPr>
          <a:xfrm>
            <a:off x="3264550" y="25519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accent5"/>
                </a:solidFill>
                <a:latin typeface="Roboto"/>
                <a:ea typeface="Roboto"/>
                <a:cs typeface="Roboto"/>
                <a:sym typeface="Roboto"/>
              </a:rPr>
              <a:t>01</a:t>
            </a:r>
            <a:endParaRPr b="1" sz="1600">
              <a:solidFill>
                <a:schemeClr val="accent5"/>
              </a:solidFill>
              <a:latin typeface="Roboto"/>
              <a:ea typeface="Roboto"/>
              <a:cs typeface="Roboto"/>
              <a:sym typeface="Roboto"/>
            </a:endParaRPr>
          </a:p>
        </p:txBody>
      </p:sp>
      <p:sp>
        <p:nvSpPr>
          <p:cNvPr id="853" name="Google Shape;853;p95"/>
          <p:cNvSpPr txBox="1"/>
          <p:nvPr/>
        </p:nvSpPr>
        <p:spPr>
          <a:xfrm>
            <a:off x="3675648" y="37789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02</a:t>
            </a:r>
            <a:endParaRPr b="1" sz="1600">
              <a:solidFill>
                <a:schemeClr val="lt1"/>
              </a:solidFill>
              <a:latin typeface="Roboto"/>
              <a:ea typeface="Roboto"/>
              <a:cs typeface="Roboto"/>
              <a:sym typeface="Roboto"/>
            </a:endParaRPr>
          </a:p>
        </p:txBody>
      </p:sp>
      <p:sp>
        <p:nvSpPr>
          <p:cNvPr id="854" name="Google Shape;854;p95"/>
          <p:cNvSpPr txBox="1"/>
          <p:nvPr/>
        </p:nvSpPr>
        <p:spPr>
          <a:xfrm>
            <a:off x="4945653" y="37789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sp>
        <p:nvSpPr>
          <p:cNvPr id="855" name="Google Shape;855;p95"/>
          <p:cNvSpPr txBox="1"/>
          <p:nvPr/>
        </p:nvSpPr>
        <p:spPr>
          <a:xfrm>
            <a:off x="5355068" y="25519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A9B7C0"/>
                </a:solidFill>
                <a:latin typeface="Roboto"/>
                <a:ea typeface="Roboto"/>
                <a:cs typeface="Roboto"/>
                <a:sym typeface="Roboto"/>
              </a:rPr>
              <a:t>04</a:t>
            </a:r>
            <a:endParaRPr b="1" sz="1600">
              <a:solidFill>
                <a:srgbClr val="A9B7C0"/>
              </a:solidFill>
              <a:latin typeface="Roboto"/>
              <a:ea typeface="Roboto"/>
              <a:cs typeface="Roboto"/>
              <a:sym typeface="Roboto"/>
            </a:endParaRPr>
          </a:p>
        </p:txBody>
      </p:sp>
      <p:sp>
        <p:nvSpPr>
          <p:cNvPr id="856" name="Google Shape;856;p95"/>
          <p:cNvSpPr txBox="1"/>
          <p:nvPr/>
        </p:nvSpPr>
        <p:spPr>
          <a:xfrm>
            <a:off x="5715000" y="1883750"/>
            <a:ext cx="28497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A9B7C0"/>
                </a:solidFill>
                <a:latin typeface="Roboto"/>
                <a:ea typeface="Roboto"/>
                <a:cs typeface="Roboto"/>
                <a:sym typeface="Roboto"/>
              </a:rPr>
              <a:t>Measure Change</a:t>
            </a:r>
            <a:endParaRPr sz="1000">
              <a:solidFill>
                <a:srgbClr val="A9B7C0"/>
              </a:solidFill>
              <a:latin typeface="Roboto"/>
              <a:ea typeface="Roboto"/>
              <a:cs typeface="Roboto"/>
              <a:sym typeface="Roboto"/>
            </a:endParaRPr>
          </a:p>
          <a:p>
            <a:pPr indent="0" lvl="0" marL="0" rtl="0" algn="l">
              <a:spcBef>
                <a:spcPts val="1600"/>
              </a:spcBef>
              <a:spcAft>
                <a:spcPts val="0"/>
              </a:spcAft>
              <a:buNone/>
            </a:pPr>
            <a:r>
              <a:t/>
            </a:r>
            <a:endParaRPr b="1" sz="800">
              <a:solidFill>
                <a:srgbClr val="A9B7C0"/>
              </a:solidFill>
              <a:latin typeface="Roboto"/>
              <a:ea typeface="Roboto"/>
              <a:cs typeface="Roboto"/>
              <a:sym typeface="Roboto"/>
            </a:endParaRPr>
          </a:p>
          <a:p>
            <a:pPr indent="0" lvl="0" marL="0" rtl="0" algn="l">
              <a:spcBef>
                <a:spcPts val="1600"/>
              </a:spcBef>
              <a:spcAft>
                <a:spcPts val="1600"/>
              </a:spcAft>
              <a:buNone/>
            </a:pPr>
            <a:r>
              <a:t/>
            </a:r>
            <a:endParaRPr b="1" sz="800">
              <a:solidFill>
                <a:srgbClr val="A9B7C0"/>
              </a:solidFill>
              <a:latin typeface="Roboto"/>
              <a:ea typeface="Roboto"/>
              <a:cs typeface="Roboto"/>
              <a:sym typeface="Roboto"/>
            </a:endParaRPr>
          </a:p>
        </p:txBody>
      </p:sp>
      <p:sp>
        <p:nvSpPr>
          <p:cNvPr id="857" name="Google Shape;857;p95"/>
          <p:cNvSpPr txBox="1"/>
          <p:nvPr/>
        </p:nvSpPr>
        <p:spPr>
          <a:xfrm>
            <a:off x="5715000" y="3026750"/>
            <a:ext cx="27246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A9B7C0"/>
                </a:solidFill>
                <a:latin typeface="Roboto"/>
                <a:ea typeface="Roboto"/>
                <a:cs typeface="Roboto"/>
                <a:sym typeface="Roboto"/>
              </a:rPr>
              <a:t>Execute the Plan</a:t>
            </a:r>
            <a:endParaRPr b="1" sz="800">
              <a:solidFill>
                <a:srgbClr val="A9B7C0"/>
              </a:solidFill>
              <a:latin typeface="Roboto"/>
              <a:ea typeface="Roboto"/>
              <a:cs typeface="Roboto"/>
              <a:sym typeface="Roboto"/>
            </a:endParaRPr>
          </a:p>
          <a:p>
            <a:pPr indent="0" lvl="0" marL="0" rtl="0" algn="l">
              <a:spcBef>
                <a:spcPts val="1600"/>
              </a:spcBef>
              <a:spcAft>
                <a:spcPts val="1600"/>
              </a:spcAft>
              <a:buNone/>
            </a:pPr>
            <a:r>
              <a:t/>
            </a:r>
            <a:endParaRPr b="1" sz="800">
              <a:solidFill>
                <a:srgbClr val="A9B7C0"/>
              </a:solidFill>
              <a:latin typeface="Roboto"/>
              <a:ea typeface="Roboto"/>
              <a:cs typeface="Roboto"/>
              <a:sym typeface="Roboto"/>
            </a:endParaRPr>
          </a:p>
        </p:txBody>
      </p:sp>
      <p:sp>
        <p:nvSpPr>
          <p:cNvPr id="858" name="Google Shape;858;p95"/>
          <p:cNvSpPr txBox="1"/>
          <p:nvPr/>
        </p:nvSpPr>
        <p:spPr>
          <a:xfrm>
            <a:off x="0" y="2340950"/>
            <a:ext cx="2923800" cy="1234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200">
                <a:solidFill>
                  <a:schemeClr val="dk2"/>
                </a:solidFill>
                <a:latin typeface="Roboto"/>
                <a:ea typeface="Roboto"/>
                <a:cs typeface="Roboto"/>
                <a:sym typeface="Roboto"/>
              </a:rPr>
              <a:t>Measure and Set Goals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Set a click rate goal of 5%. Measure this data to determine (1) what percentage of employees fall victim to the phishing and (2) which employees specifically.</a:t>
            </a:r>
            <a:endParaRPr sz="1200">
              <a:solidFill>
                <a:schemeClr val="dk2"/>
              </a:solidFill>
              <a:latin typeface="Roboto"/>
              <a:ea typeface="Roboto"/>
              <a:cs typeface="Roboto"/>
              <a:sym typeface="Roboto"/>
            </a:endParaRPr>
          </a:p>
        </p:txBody>
      </p:sp>
      <p:sp>
        <p:nvSpPr>
          <p:cNvPr id="859" name="Google Shape;859;p95"/>
          <p:cNvSpPr txBox="1"/>
          <p:nvPr/>
        </p:nvSpPr>
        <p:spPr>
          <a:xfrm>
            <a:off x="0" y="3712550"/>
            <a:ext cx="28095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200">
                <a:solidFill>
                  <a:schemeClr val="dk2"/>
                </a:solidFill>
                <a:latin typeface="Roboto"/>
                <a:ea typeface="Roboto"/>
                <a:cs typeface="Roboto"/>
                <a:sym typeface="Roboto"/>
              </a:rPr>
              <a:t>Involve the Right People</a:t>
            </a:r>
            <a:br>
              <a:rPr lang="en" sz="1200">
                <a:solidFill>
                  <a:schemeClr val="dk2"/>
                </a:solidFill>
                <a:highlight>
                  <a:schemeClr val="accent5"/>
                </a:highlight>
                <a:latin typeface="Roboto"/>
                <a:ea typeface="Roboto"/>
                <a:cs typeface="Roboto"/>
                <a:sym typeface="Roboto"/>
              </a:rPr>
            </a:br>
            <a:r>
              <a:rPr lang="en" sz="1200">
                <a:solidFill>
                  <a:schemeClr val="dk2"/>
                </a:solidFill>
                <a:latin typeface="Roboto"/>
                <a:ea typeface="Roboto"/>
                <a:cs typeface="Roboto"/>
                <a:sym typeface="Roboto"/>
              </a:rPr>
              <a:t>Inform at least the CEO and/or CIO, director of HR, and the person in charge of internal training and communication. </a:t>
            </a:r>
            <a:endParaRPr sz="1200">
              <a:solidFill>
                <a:schemeClr val="dk2"/>
              </a:solidFill>
              <a:latin typeface="Roboto"/>
              <a:ea typeface="Roboto"/>
              <a:cs typeface="Roboto"/>
              <a:sym typeface="Roboto"/>
            </a:endParaRPr>
          </a:p>
        </p:txBody>
      </p:sp>
      <p:sp>
        <p:nvSpPr>
          <p:cNvPr id="860" name="Google Shape;860;p95"/>
          <p:cNvSpPr txBox="1"/>
          <p:nvPr/>
        </p:nvSpPr>
        <p:spPr>
          <a:xfrm>
            <a:off x="5715000" y="4245950"/>
            <a:ext cx="27246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A9B7C0"/>
                </a:solidFill>
                <a:latin typeface="Roboto"/>
                <a:ea typeface="Roboto"/>
                <a:cs typeface="Roboto"/>
                <a:sym typeface="Roboto"/>
              </a:rPr>
              <a:t>Create an Action Plan</a:t>
            </a:r>
            <a:endParaRPr b="1" sz="800">
              <a:solidFill>
                <a:srgbClr val="A9B7C0"/>
              </a:solidFill>
              <a:latin typeface="Roboto"/>
              <a:ea typeface="Roboto"/>
              <a:cs typeface="Roboto"/>
              <a:sym typeface="Roboto"/>
            </a:endParaRPr>
          </a:p>
          <a:p>
            <a:pPr indent="0" lvl="0" marL="0" rtl="0" algn="l">
              <a:spcBef>
                <a:spcPts val="1600"/>
              </a:spcBef>
              <a:spcAft>
                <a:spcPts val="1600"/>
              </a:spcAft>
              <a:buNone/>
            </a:pPr>
            <a:r>
              <a:t/>
            </a:r>
            <a:endParaRPr b="1" sz="800">
              <a:solidFill>
                <a:srgbClr val="A9B7C0"/>
              </a:solidFill>
              <a:latin typeface="Roboto"/>
              <a:ea typeface="Roboto"/>
              <a:cs typeface="Roboto"/>
              <a:sym typeface="Roboto"/>
            </a:endParaRPr>
          </a:p>
        </p:txBody>
      </p:sp>
      <p:sp>
        <p:nvSpPr>
          <p:cNvPr id="861" name="Google Shape;861;p95"/>
          <p:cNvSpPr txBox="1"/>
          <p:nvPr/>
        </p:nvSpPr>
        <p:spPr>
          <a:xfrm>
            <a:off x="457250" y="1969750"/>
            <a:ext cx="29808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862" name="Google Shape;862;p95"/>
          <p:cNvPicPr preferRelativeResize="0"/>
          <p:nvPr/>
        </p:nvPicPr>
        <p:blipFill>
          <a:blip r:embed="rId3">
            <a:alphaModFix/>
          </a:blip>
          <a:stretch>
            <a:fillRect/>
          </a:stretch>
        </p:blipFill>
        <p:spPr>
          <a:xfrm>
            <a:off x="224300" y="329450"/>
            <a:ext cx="399107" cy="3936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6" name="Shape 866"/>
        <p:cNvGrpSpPr/>
        <p:nvPr/>
      </p:nvGrpSpPr>
      <p:grpSpPr>
        <a:xfrm>
          <a:off x="0" y="0"/>
          <a:ext cx="0" cy="0"/>
          <a:chOff x="0" y="0"/>
          <a:chExt cx="0" cy="0"/>
        </a:xfrm>
      </p:grpSpPr>
      <p:sp>
        <p:nvSpPr>
          <p:cNvPr id="867" name="Google Shape;867;p96"/>
          <p:cNvSpPr txBox="1"/>
          <p:nvPr>
            <p:ph type="title"/>
          </p:nvPr>
        </p:nvSpPr>
        <p:spPr>
          <a:xfrm>
            <a:off x="0" y="23862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3: Create an Action Plan </a:t>
            </a:r>
            <a:endParaRPr/>
          </a:p>
        </p:txBody>
      </p:sp>
      <p:sp>
        <p:nvSpPr>
          <p:cNvPr id="868" name="Google Shape;868;p96"/>
          <p:cNvSpPr txBox="1"/>
          <p:nvPr>
            <p:ph idx="4294967295" type="subTitle"/>
          </p:nvPr>
        </p:nvSpPr>
        <p:spPr>
          <a:xfrm>
            <a:off x="457300" y="1037025"/>
            <a:ext cx="7857300" cy="3648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1600"/>
              <a:t>After getting clearance to run the training, plan to deliver an annual cybersecurity awareness training event. </a:t>
            </a:r>
            <a:endParaRPr sz="16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None/>
            </a:pPr>
            <a:r>
              <a:t/>
            </a:r>
            <a:endParaRPr sz="1600"/>
          </a:p>
        </p:txBody>
      </p:sp>
      <p:cxnSp>
        <p:nvCxnSpPr>
          <p:cNvPr id="869" name="Google Shape;869;p96"/>
          <p:cNvCxnSpPr/>
          <p:nvPr/>
        </p:nvCxnSpPr>
        <p:spPr>
          <a:xfrm rot="10800000">
            <a:off x="4984248" y="4242750"/>
            <a:ext cx="3231900" cy="0"/>
          </a:xfrm>
          <a:prstGeom prst="straightConnector1">
            <a:avLst/>
          </a:prstGeom>
          <a:noFill/>
          <a:ln cap="flat" cmpd="sng" w="9525">
            <a:solidFill>
              <a:schemeClr val="accent6"/>
            </a:solidFill>
            <a:prstDash val="solid"/>
            <a:round/>
            <a:headEnd len="sm" w="sm" type="none"/>
            <a:tailEnd len="sm" w="sm" type="none"/>
          </a:ln>
        </p:spPr>
      </p:cxnSp>
      <p:cxnSp>
        <p:nvCxnSpPr>
          <p:cNvPr id="870" name="Google Shape;870;p96"/>
          <p:cNvCxnSpPr/>
          <p:nvPr/>
        </p:nvCxnSpPr>
        <p:spPr>
          <a:xfrm rot="10800000">
            <a:off x="5598648" y="3023550"/>
            <a:ext cx="2617500" cy="0"/>
          </a:xfrm>
          <a:prstGeom prst="straightConnector1">
            <a:avLst/>
          </a:prstGeom>
          <a:noFill/>
          <a:ln cap="flat" cmpd="sng" w="9525">
            <a:solidFill>
              <a:srgbClr val="A9B7C0"/>
            </a:solidFill>
            <a:prstDash val="solid"/>
            <a:round/>
            <a:headEnd len="sm" w="sm" type="none"/>
            <a:tailEnd len="sm" w="sm" type="none"/>
          </a:ln>
        </p:spPr>
      </p:cxnSp>
      <p:cxnSp>
        <p:nvCxnSpPr>
          <p:cNvPr id="871" name="Google Shape;871;p96"/>
          <p:cNvCxnSpPr/>
          <p:nvPr/>
        </p:nvCxnSpPr>
        <p:spPr>
          <a:xfrm rot="10800000">
            <a:off x="5165750" y="1816938"/>
            <a:ext cx="3050400" cy="0"/>
          </a:xfrm>
          <a:prstGeom prst="straightConnector1">
            <a:avLst/>
          </a:prstGeom>
          <a:noFill/>
          <a:ln cap="flat" cmpd="sng" w="9525">
            <a:solidFill>
              <a:srgbClr val="A9B7C0"/>
            </a:solidFill>
            <a:prstDash val="solid"/>
            <a:round/>
            <a:headEnd len="sm" w="sm" type="none"/>
            <a:tailEnd len="sm" w="sm" type="none"/>
          </a:ln>
        </p:spPr>
      </p:cxnSp>
      <p:cxnSp>
        <p:nvCxnSpPr>
          <p:cNvPr id="872" name="Google Shape;872;p96"/>
          <p:cNvCxnSpPr/>
          <p:nvPr/>
        </p:nvCxnSpPr>
        <p:spPr>
          <a:xfrm rot="10800000">
            <a:off x="457250" y="3709350"/>
            <a:ext cx="3031500" cy="0"/>
          </a:xfrm>
          <a:prstGeom prst="straightConnector1">
            <a:avLst/>
          </a:prstGeom>
          <a:noFill/>
          <a:ln cap="flat" cmpd="sng" w="9525">
            <a:solidFill>
              <a:schemeClr val="accent6"/>
            </a:solidFill>
            <a:prstDash val="solid"/>
            <a:round/>
            <a:headEnd len="sm" w="sm" type="none"/>
            <a:tailEnd len="sm" w="sm" type="none"/>
          </a:ln>
        </p:spPr>
      </p:cxnSp>
      <p:cxnSp>
        <p:nvCxnSpPr>
          <p:cNvPr id="873" name="Google Shape;873;p96"/>
          <p:cNvCxnSpPr/>
          <p:nvPr/>
        </p:nvCxnSpPr>
        <p:spPr>
          <a:xfrm rot="10800000">
            <a:off x="457300" y="2337750"/>
            <a:ext cx="3407700" cy="0"/>
          </a:xfrm>
          <a:prstGeom prst="straightConnector1">
            <a:avLst/>
          </a:prstGeom>
          <a:noFill/>
          <a:ln cap="flat" cmpd="sng" w="9525">
            <a:solidFill>
              <a:srgbClr val="000000"/>
            </a:solidFill>
            <a:prstDash val="solid"/>
            <a:round/>
            <a:headEnd len="sm" w="sm" type="none"/>
            <a:tailEnd len="sm" w="sm" type="none"/>
          </a:ln>
        </p:spPr>
      </p:cxnSp>
      <p:sp>
        <p:nvSpPr>
          <p:cNvPr id="874" name="Google Shape;874;p96"/>
          <p:cNvSpPr/>
          <p:nvPr/>
        </p:nvSpPr>
        <p:spPr>
          <a:xfrm rot="-4979340">
            <a:off x="3196687" y="1719187"/>
            <a:ext cx="2767493" cy="2771887"/>
          </a:xfrm>
          <a:prstGeom prst="blockArc">
            <a:avLst>
              <a:gd fmla="val 12602522" name="adj1"/>
              <a:gd fmla="val 16867657" name="adj2"/>
              <a:gd fmla="val 20844" name="adj3"/>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96"/>
          <p:cNvSpPr/>
          <p:nvPr/>
        </p:nvSpPr>
        <p:spPr>
          <a:xfrm rot="7923045">
            <a:off x="3174958" y="1716827"/>
            <a:ext cx="2774756" cy="2775201"/>
          </a:xfrm>
          <a:prstGeom prst="blockArc">
            <a:avLst>
              <a:gd fmla="val 12602522" name="adj1"/>
              <a:gd fmla="val 16867657" name="adj2"/>
              <a:gd fmla="val 20844" name="adj3"/>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96"/>
          <p:cNvSpPr/>
          <p:nvPr/>
        </p:nvSpPr>
        <p:spPr>
          <a:xfrm rot="3597646">
            <a:off x="3178355" y="1728881"/>
            <a:ext cx="2774111" cy="2776438"/>
          </a:xfrm>
          <a:prstGeom prst="blockArc">
            <a:avLst>
              <a:gd fmla="val 12602522" name="adj1"/>
              <a:gd fmla="val 16867657" name="adj2"/>
              <a:gd fmla="val 20844" name="adj3"/>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96"/>
          <p:cNvSpPr/>
          <p:nvPr/>
        </p:nvSpPr>
        <p:spPr>
          <a:xfrm rot="4022619">
            <a:off x="5320201" y="2483695"/>
            <a:ext cx="577648" cy="579030"/>
          </a:xfrm>
          <a:prstGeom prst="pie">
            <a:avLst>
              <a:gd fmla="val 6190354" name="adj1"/>
              <a:gd fmla="val 14996165" name="adj2"/>
            </a:avLst>
          </a:prstGeom>
          <a:solidFill>
            <a:srgbClr val="EFEFEF"/>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96"/>
          <p:cNvSpPr/>
          <p:nvPr/>
        </p:nvSpPr>
        <p:spPr>
          <a:xfrm rot="-6818172">
            <a:off x="5317472" y="2474175"/>
            <a:ext cx="577660" cy="578915"/>
          </a:xfrm>
          <a:prstGeom prst="pie">
            <a:avLst>
              <a:gd fmla="val 4028252" name="adj1"/>
              <a:gd fmla="val 17183677" name="adj2"/>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96"/>
          <p:cNvSpPr/>
          <p:nvPr/>
        </p:nvSpPr>
        <p:spPr>
          <a:xfrm rot="-9361798">
            <a:off x="3184638" y="1710861"/>
            <a:ext cx="2776555" cy="2773451"/>
          </a:xfrm>
          <a:prstGeom prst="blockArc">
            <a:avLst>
              <a:gd fmla="val 12602522" name="adj1"/>
              <a:gd fmla="val 16867657" name="adj2"/>
              <a:gd fmla="val 20844" name="adj3"/>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96"/>
          <p:cNvSpPr/>
          <p:nvPr/>
        </p:nvSpPr>
        <p:spPr>
          <a:xfrm rot="-8939422">
            <a:off x="3649612" y="3705239"/>
            <a:ext cx="578242" cy="578192"/>
          </a:xfrm>
          <a:prstGeom prst="pie">
            <a:avLst>
              <a:gd fmla="val 6190354" name="adj1"/>
              <a:gd fmla="val 14996165" name="adj2"/>
            </a:avLst>
          </a:prstGeom>
          <a:solidFill>
            <a:schemeClr val="accent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96"/>
          <p:cNvSpPr/>
          <p:nvPr/>
        </p:nvSpPr>
        <p:spPr>
          <a:xfrm rot="1821421">
            <a:off x="3649857" y="3705003"/>
            <a:ext cx="578171" cy="578109"/>
          </a:xfrm>
          <a:prstGeom prst="pie">
            <a:avLst>
              <a:gd fmla="val 4028252" name="adj1"/>
              <a:gd fmla="val 17183677"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96"/>
          <p:cNvSpPr/>
          <p:nvPr/>
        </p:nvSpPr>
        <p:spPr>
          <a:xfrm rot="-598995">
            <a:off x="3189261" y="1730315"/>
            <a:ext cx="2777455" cy="2773180"/>
          </a:xfrm>
          <a:prstGeom prst="blockArc">
            <a:avLst>
              <a:gd fmla="val 12513247" name="adj1"/>
              <a:gd fmla="val 16867657" name="adj2"/>
              <a:gd fmla="val 20844" name="adj3"/>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96"/>
          <p:cNvSpPr/>
          <p:nvPr/>
        </p:nvSpPr>
        <p:spPr>
          <a:xfrm rot="-176551">
            <a:off x="4302435" y="1730279"/>
            <a:ext cx="578563" cy="578263"/>
          </a:xfrm>
          <a:prstGeom prst="pie">
            <a:avLst>
              <a:gd fmla="val 6190354" name="adj1"/>
              <a:gd fmla="val 14996165" name="adj2"/>
            </a:avLst>
          </a:prstGeom>
          <a:solidFill>
            <a:srgbClr val="A9B7C0"/>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96"/>
          <p:cNvSpPr/>
          <p:nvPr/>
        </p:nvSpPr>
        <p:spPr>
          <a:xfrm rot="10584085">
            <a:off x="4302418" y="1730487"/>
            <a:ext cx="578340" cy="578041"/>
          </a:xfrm>
          <a:prstGeom prst="pie">
            <a:avLst>
              <a:gd fmla="val 4028252" name="adj1"/>
              <a:gd fmla="val 17183677" name="adj2"/>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96"/>
          <p:cNvSpPr/>
          <p:nvPr/>
        </p:nvSpPr>
        <p:spPr>
          <a:xfrm rot="8347474">
            <a:off x="4931456" y="3694317"/>
            <a:ext cx="578072" cy="578435"/>
          </a:xfrm>
          <a:prstGeom prst="pie">
            <a:avLst>
              <a:gd fmla="val 6190354" name="adj1"/>
              <a:gd fmla="val 14996165" name="adj2"/>
            </a:avLst>
          </a:prstGeom>
          <a:solidFill>
            <a:schemeClr val="accent3"/>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96"/>
          <p:cNvSpPr/>
          <p:nvPr/>
        </p:nvSpPr>
        <p:spPr>
          <a:xfrm rot="-2492975">
            <a:off x="4931530" y="3694243"/>
            <a:ext cx="578047" cy="578644"/>
          </a:xfrm>
          <a:prstGeom prst="pie">
            <a:avLst>
              <a:gd fmla="val 4028252" name="adj1"/>
              <a:gd fmla="val 17183677"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96"/>
          <p:cNvSpPr/>
          <p:nvPr/>
        </p:nvSpPr>
        <p:spPr>
          <a:xfrm rot="-4555659">
            <a:off x="3248102" y="2472269"/>
            <a:ext cx="577429" cy="578884"/>
          </a:xfrm>
          <a:prstGeom prst="pie">
            <a:avLst>
              <a:gd fmla="val 6190354" name="adj1"/>
              <a:gd fmla="val 14996165" name="adj2"/>
            </a:avLst>
          </a:prstGeom>
          <a:solidFill>
            <a:schemeClr val="accent4"/>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96"/>
          <p:cNvSpPr/>
          <p:nvPr/>
        </p:nvSpPr>
        <p:spPr>
          <a:xfrm rot="6205784">
            <a:off x="3248236" y="2472264"/>
            <a:ext cx="577388" cy="578847"/>
          </a:xfrm>
          <a:prstGeom prst="pie">
            <a:avLst>
              <a:gd fmla="val 4028252" name="adj1"/>
              <a:gd fmla="val 17183677"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96"/>
          <p:cNvSpPr txBox="1"/>
          <p:nvPr/>
        </p:nvSpPr>
        <p:spPr>
          <a:xfrm>
            <a:off x="4332231" y="1806636"/>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05</a:t>
            </a:r>
            <a:endParaRPr b="1" sz="1600">
              <a:solidFill>
                <a:srgbClr val="FFFFFF"/>
              </a:solidFill>
              <a:latin typeface="Roboto"/>
              <a:ea typeface="Roboto"/>
              <a:cs typeface="Roboto"/>
              <a:sym typeface="Roboto"/>
            </a:endParaRPr>
          </a:p>
        </p:txBody>
      </p:sp>
      <p:sp>
        <p:nvSpPr>
          <p:cNvPr id="890" name="Google Shape;890;p96"/>
          <p:cNvSpPr txBox="1"/>
          <p:nvPr/>
        </p:nvSpPr>
        <p:spPr>
          <a:xfrm>
            <a:off x="3264550" y="25519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accent5"/>
                </a:solidFill>
                <a:latin typeface="Roboto"/>
                <a:ea typeface="Roboto"/>
                <a:cs typeface="Roboto"/>
                <a:sym typeface="Roboto"/>
              </a:rPr>
              <a:t>01</a:t>
            </a:r>
            <a:endParaRPr b="1" sz="1600">
              <a:solidFill>
                <a:schemeClr val="accent5"/>
              </a:solidFill>
              <a:latin typeface="Roboto"/>
              <a:ea typeface="Roboto"/>
              <a:cs typeface="Roboto"/>
              <a:sym typeface="Roboto"/>
            </a:endParaRPr>
          </a:p>
        </p:txBody>
      </p:sp>
      <p:sp>
        <p:nvSpPr>
          <p:cNvPr id="891" name="Google Shape;891;p96"/>
          <p:cNvSpPr txBox="1"/>
          <p:nvPr/>
        </p:nvSpPr>
        <p:spPr>
          <a:xfrm>
            <a:off x="3675648" y="37789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02</a:t>
            </a:r>
            <a:endParaRPr b="1" sz="1600">
              <a:solidFill>
                <a:schemeClr val="lt1"/>
              </a:solidFill>
              <a:latin typeface="Roboto"/>
              <a:ea typeface="Roboto"/>
              <a:cs typeface="Roboto"/>
              <a:sym typeface="Roboto"/>
            </a:endParaRPr>
          </a:p>
        </p:txBody>
      </p:sp>
      <p:sp>
        <p:nvSpPr>
          <p:cNvPr id="892" name="Google Shape;892;p96"/>
          <p:cNvSpPr txBox="1"/>
          <p:nvPr/>
        </p:nvSpPr>
        <p:spPr>
          <a:xfrm>
            <a:off x="4945653" y="37789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sp>
        <p:nvSpPr>
          <p:cNvPr id="893" name="Google Shape;893;p96"/>
          <p:cNvSpPr txBox="1"/>
          <p:nvPr/>
        </p:nvSpPr>
        <p:spPr>
          <a:xfrm>
            <a:off x="5355068" y="25519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A9B7C0"/>
                </a:solidFill>
                <a:latin typeface="Roboto"/>
                <a:ea typeface="Roboto"/>
                <a:cs typeface="Roboto"/>
                <a:sym typeface="Roboto"/>
              </a:rPr>
              <a:t>04</a:t>
            </a:r>
            <a:endParaRPr b="1" sz="1600">
              <a:solidFill>
                <a:srgbClr val="A9B7C0"/>
              </a:solidFill>
              <a:latin typeface="Roboto"/>
              <a:ea typeface="Roboto"/>
              <a:cs typeface="Roboto"/>
              <a:sym typeface="Roboto"/>
            </a:endParaRPr>
          </a:p>
        </p:txBody>
      </p:sp>
      <p:sp>
        <p:nvSpPr>
          <p:cNvPr id="894" name="Google Shape;894;p96"/>
          <p:cNvSpPr txBox="1"/>
          <p:nvPr/>
        </p:nvSpPr>
        <p:spPr>
          <a:xfrm>
            <a:off x="5715000" y="1883750"/>
            <a:ext cx="28497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A9B7C0"/>
                </a:solidFill>
                <a:latin typeface="Roboto"/>
                <a:ea typeface="Roboto"/>
                <a:cs typeface="Roboto"/>
                <a:sym typeface="Roboto"/>
              </a:rPr>
              <a:t>Measure Change</a:t>
            </a:r>
            <a:endParaRPr sz="1000">
              <a:solidFill>
                <a:srgbClr val="A9B7C0"/>
              </a:solidFill>
              <a:latin typeface="Roboto"/>
              <a:ea typeface="Roboto"/>
              <a:cs typeface="Roboto"/>
              <a:sym typeface="Roboto"/>
            </a:endParaRPr>
          </a:p>
          <a:p>
            <a:pPr indent="0" lvl="0" marL="0" rtl="0" algn="l">
              <a:spcBef>
                <a:spcPts val="1600"/>
              </a:spcBef>
              <a:spcAft>
                <a:spcPts val="0"/>
              </a:spcAft>
              <a:buNone/>
            </a:pPr>
            <a:r>
              <a:t/>
            </a:r>
            <a:endParaRPr b="1" sz="800">
              <a:solidFill>
                <a:srgbClr val="A9B7C0"/>
              </a:solidFill>
              <a:latin typeface="Roboto"/>
              <a:ea typeface="Roboto"/>
              <a:cs typeface="Roboto"/>
              <a:sym typeface="Roboto"/>
            </a:endParaRPr>
          </a:p>
          <a:p>
            <a:pPr indent="0" lvl="0" marL="0" rtl="0" algn="l">
              <a:spcBef>
                <a:spcPts val="1600"/>
              </a:spcBef>
              <a:spcAft>
                <a:spcPts val="1600"/>
              </a:spcAft>
              <a:buNone/>
            </a:pPr>
            <a:r>
              <a:t/>
            </a:r>
            <a:endParaRPr b="1" sz="800">
              <a:solidFill>
                <a:srgbClr val="A9B7C0"/>
              </a:solidFill>
              <a:latin typeface="Roboto"/>
              <a:ea typeface="Roboto"/>
              <a:cs typeface="Roboto"/>
              <a:sym typeface="Roboto"/>
            </a:endParaRPr>
          </a:p>
        </p:txBody>
      </p:sp>
      <p:sp>
        <p:nvSpPr>
          <p:cNvPr id="895" name="Google Shape;895;p96"/>
          <p:cNvSpPr txBox="1"/>
          <p:nvPr/>
        </p:nvSpPr>
        <p:spPr>
          <a:xfrm>
            <a:off x="5715000" y="3026750"/>
            <a:ext cx="27246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A9B7C0"/>
                </a:solidFill>
                <a:latin typeface="Roboto"/>
                <a:ea typeface="Roboto"/>
                <a:cs typeface="Roboto"/>
                <a:sym typeface="Roboto"/>
              </a:rPr>
              <a:t>Execute the Plan</a:t>
            </a:r>
            <a:endParaRPr b="1" sz="800">
              <a:solidFill>
                <a:srgbClr val="A9B7C0"/>
              </a:solidFill>
              <a:latin typeface="Roboto"/>
              <a:ea typeface="Roboto"/>
              <a:cs typeface="Roboto"/>
              <a:sym typeface="Roboto"/>
            </a:endParaRPr>
          </a:p>
          <a:p>
            <a:pPr indent="0" lvl="0" marL="0" rtl="0" algn="l">
              <a:spcBef>
                <a:spcPts val="1600"/>
              </a:spcBef>
              <a:spcAft>
                <a:spcPts val="1600"/>
              </a:spcAft>
              <a:buNone/>
            </a:pPr>
            <a:r>
              <a:t/>
            </a:r>
            <a:endParaRPr b="1" sz="800">
              <a:solidFill>
                <a:srgbClr val="A9B7C0"/>
              </a:solidFill>
              <a:latin typeface="Roboto"/>
              <a:ea typeface="Roboto"/>
              <a:cs typeface="Roboto"/>
              <a:sym typeface="Roboto"/>
            </a:endParaRPr>
          </a:p>
        </p:txBody>
      </p:sp>
      <p:sp>
        <p:nvSpPr>
          <p:cNvPr id="896" name="Google Shape;896;p96"/>
          <p:cNvSpPr txBox="1"/>
          <p:nvPr/>
        </p:nvSpPr>
        <p:spPr>
          <a:xfrm>
            <a:off x="0" y="2340950"/>
            <a:ext cx="2923800" cy="1234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200">
                <a:solidFill>
                  <a:schemeClr val="dk2"/>
                </a:solidFill>
                <a:latin typeface="Roboto"/>
                <a:ea typeface="Roboto"/>
                <a:cs typeface="Roboto"/>
                <a:sym typeface="Roboto"/>
              </a:rPr>
              <a:t>Measure and Set Goals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Set a click rate goal of 5%. Measure this data to determine (1) what percentage of employees fall victim to the phishing and (2) which employees specifically.</a:t>
            </a:r>
            <a:endParaRPr sz="1200">
              <a:solidFill>
                <a:schemeClr val="dk2"/>
              </a:solidFill>
              <a:latin typeface="Roboto"/>
              <a:ea typeface="Roboto"/>
              <a:cs typeface="Roboto"/>
              <a:sym typeface="Roboto"/>
            </a:endParaRPr>
          </a:p>
        </p:txBody>
      </p:sp>
      <p:sp>
        <p:nvSpPr>
          <p:cNvPr id="897" name="Google Shape;897;p96"/>
          <p:cNvSpPr txBox="1"/>
          <p:nvPr/>
        </p:nvSpPr>
        <p:spPr>
          <a:xfrm>
            <a:off x="0" y="3712550"/>
            <a:ext cx="28095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200">
                <a:solidFill>
                  <a:schemeClr val="dk2"/>
                </a:solidFill>
                <a:latin typeface="Roboto"/>
                <a:ea typeface="Roboto"/>
                <a:cs typeface="Roboto"/>
                <a:sym typeface="Roboto"/>
              </a:rPr>
              <a:t>Involve the Right People</a:t>
            </a:r>
            <a:br>
              <a:rPr lang="en" sz="1200">
                <a:solidFill>
                  <a:schemeClr val="dk2"/>
                </a:solidFill>
                <a:highlight>
                  <a:schemeClr val="accent5"/>
                </a:highlight>
                <a:latin typeface="Roboto"/>
                <a:ea typeface="Roboto"/>
                <a:cs typeface="Roboto"/>
                <a:sym typeface="Roboto"/>
              </a:rPr>
            </a:br>
            <a:r>
              <a:rPr lang="en" sz="1200">
                <a:solidFill>
                  <a:schemeClr val="dk2"/>
                </a:solidFill>
                <a:latin typeface="Roboto"/>
                <a:ea typeface="Roboto"/>
                <a:cs typeface="Roboto"/>
                <a:sym typeface="Roboto"/>
              </a:rPr>
              <a:t>Inform at least the CEO and/or CIO, director of HR, and the person in charge of internal training and communication. </a:t>
            </a:r>
            <a:endParaRPr sz="1200">
              <a:solidFill>
                <a:schemeClr val="dk2"/>
              </a:solidFill>
              <a:latin typeface="Roboto"/>
              <a:ea typeface="Roboto"/>
              <a:cs typeface="Roboto"/>
              <a:sym typeface="Roboto"/>
            </a:endParaRPr>
          </a:p>
        </p:txBody>
      </p:sp>
      <p:sp>
        <p:nvSpPr>
          <p:cNvPr id="898" name="Google Shape;898;p96"/>
          <p:cNvSpPr txBox="1"/>
          <p:nvPr/>
        </p:nvSpPr>
        <p:spPr>
          <a:xfrm>
            <a:off x="5715000" y="4245950"/>
            <a:ext cx="30891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200">
                <a:solidFill>
                  <a:schemeClr val="dk2"/>
                </a:solidFill>
                <a:latin typeface="Roboto"/>
                <a:ea typeface="Roboto"/>
                <a:cs typeface="Roboto"/>
                <a:sym typeface="Roboto"/>
              </a:rPr>
              <a:t>Create an Action Plan</a:t>
            </a:r>
            <a:r>
              <a:rPr b="1" lang="en" sz="1200">
                <a:solidFill>
                  <a:schemeClr val="dk2"/>
                </a:solidFill>
                <a:latin typeface="Roboto"/>
                <a:ea typeface="Roboto"/>
                <a:cs typeface="Roboto"/>
                <a:sym typeface="Roboto"/>
              </a:rPr>
              <a:t> </a:t>
            </a:r>
            <a:endParaRPr b="1"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Develop training to cover the dangers of malware and how malware can spread through phishing and vishing. </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0" lvl="0" marL="0" rtl="0" algn="l">
              <a:spcBef>
                <a:spcPts val="1600"/>
              </a:spcBef>
              <a:spcAft>
                <a:spcPts val="1600"/>
              </a:spcAft>
              <a:buNone/>
            </a:pPr>
            <a:r>
              <a:t/>
            </a:r>
            <a:endParaRPr sz="1200">
              <a:solidFill>
                <a:schemeClr val="dk2"/>
              </a:solidFill>
              <a:latin typeface="Roboto"/>
              <a:ea typeface="Roboto"/>
              <a:cs typeface="Roboto"/>
              <a:sym typeface="Roboto"/>
            </a:endParaRPr>
          </a:p>
        </p:txBody>
      </p:sp>
      <p:sp>
        <p:nvSpPr>
          <p:cNvPr id="899" name="Google Shape;899;p96"/>
          <p:cNvSpPr txBox="1"/>
          <p:nvPr/>
        </p:nvSpPr>
        <p:spPr>
          <a:xfrm>
            <a:off x="457250" y="1969750"/>
            <a:ext cx="29808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900" name="Google Shape;900;p96"/>
          <p:cNvPicPr preferRelativeResize="0"/>
          <p:nvPr/>
        </p:nvPicPr>
        <p:blipFill>
          <a:blip r:embed="rId3">
            <a:alphaModFix/>
          </a:blip>
          <a:stretch>
            <a:fillRect/>
          </a:stretch>
        </p:blipFill>
        <p:spPr>
          <a:xfrm>
            <a:off x="224300" y="329450"/>
            <a:ext cx="399107" cy="393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4" name="Shape 904"/>
        <p:cNvGrpSpPr/>
        <p:nvPr/>
      </p:nvGrpSpPr>
      <p:grpSpPr>
        <a:xfrm>
          <a:off x="0" y="0"/>
          <a:ext cx="0" cy="0"/>
          <a:chOff x="0" y="0"/>
          <a:chExt cx="0" cy="0"/>
        </a:xfrm>
      </p:grpSpPr>
      <p:sp>
        <p:nvSpPr>
          <p:cNvPr id="905" name="Google Shape;905;p97"/>
          <p:cNvSpPr txBox="1"/>
          <p:nvPr>
            <p:ph type="title"/>
          </p:nvPr>
        </p:nvSpPr>
        <p:spPr>
          <a:xfrm>
            <a:off x="0" y="23862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4: Execute </a:t>
            </a:r>
            <a:r>
              <a:rPr lang="en"/>
              <a:t>the Plan</a:t>
            </a:r>
            <a:r>
              <a:rPr lang="en"/>
              <a:t> </a:t>
            </a:r>
            <a:endParaRPr/>
          </a:p>
        </p:txBody>
      </p:sp>
      <p:sp>
        <p:nvSpPr>
          <p:cNvPr id="906" name="Google Shape;906;p97"/>
          <p:cNvSpPr txBox="1"/>
          <p:nvPr>
            <p:ph idx="4294967295" type="subTitle"/>
          </p:nvPr>
        </p:nvSpPr>
        <p:spPr>
          <a:xfrm>
            <a:off x="457300" y="1037025"/>
            <a:ext cx="7598400" cy="3648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1600"/>
              <a:t>After developing the training, implement it with the goal of training 25% of employees every quarter. </a:t>
            </a:r>
            <a:endParaRPr sz="16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None/>
            </a:pPr>
            <a:r>
              <a:t/>
            </a:r>
            <a:endParaRPr sz="1600"/>
          </a:p>
        </p:txBody>
      </p:sp>
      <p:cxnSp>
        <p:nvCxnSpPr>
          <p:cNvPr id="907" name="Google Shape;907;p97"/>
          <p:cNvCxnSpPr/>
          <p:nvPr/>
        </p:nvCxnSpPr>
        <p:spPr>
          <a:xfrm rot="10800000">
            <a:off x="4984248" y="4242750"/>
            <a:ext cx="3231900" cy="0"/>
          </a:xfrm>
          <a:prstGeom prst="straightConnector1">
            <a:avLst/>
          </a:prstGeom>
          <a:noFill/>
          <a:ln cap="flat" cmpd="sng" w="9525">
            <a:solidFill>
              <a:schemeClr val="accent6"/>
            </a:solidFill>
            <a:prstDash val="solid"/>
            <a:round/>
            <a:headEnd len="sm" w="sm" type="none"/>
            <a:tailEnd len="sm" w="sm" type="none"/>
          </a:ln>
        </p:spPr>
      </p:cxnSp>
      <p:cxnSp>
        <p:nvCxnSpPr>
          <p:cNvPr id="908" name="Google Shape;908;p97"/>
          <p:cNvCxnSpPr/>
          <p:nvPr/>
        </p:nvCxnSpPr>
        <p:spPr>
          <a:xfrm rot="10800000">
            <a:off x="5598648" y="3023550"/>
            <a:ext cx="2617500" cy="0"/>
          </a:xfrm>
          <a:prstGeom prst="straightConnector1">
            <a:avLst/>
          </a:prstGeom>
          <a:noFill/>
          <a:ln cap="flat" cmpd="sng" w="9525">
            <a:solidFill>
              <a:schemeClr val="accent6"/>
            </a:solidFill>
            <a:prstDash val="solid"/>
            <a:round/>
            <a:headEnd len="sm" w="sm" type="none"/>
            <a:tailEnd len="sm" w="sm" type="none"/>
          </a:ln>
        </p:spPr>
      </p:cxnSp>
      <p:cxnSp>
        <p:nvCxnSpPr>
          <p:cNvPr id="909" name="Google Shape;909;p97"/>
          <p:cNvCxnSpPr/>
          <p:nvPr/>
        </p:nvCxnSpPr>
        <p:spPr>
          <a:xfrm rot="10800000">
            <a:off x="5165750" y="1816938"/>
            <a:ext cx="3050400" cy="0"/>
          </a:xfrm>
          <a:prstGeom prst="straightConnector1">
            <a:avLst/>
          </a:prstGeom>
          <a:noFill/>
          <a:ln cap="flat" cmpd="sng" w="9525">
            <a:solidFill>
              <a:srgbClr val="A9B7C0"/>
            </a:solidFill>
            <a:prstDash val="solid"/>
            <a:round/>
            <a:headEnd len="sm" w="sm" type="none"/>
            <a:tailEnd len="sm" w="sm" type="none"/>
          </a:ln>
        </p:spPr>
      </p:cxnSp>
      <p:cxnSp>
        <p:nvCxnSpPr>
          <p:cNvPr id="910" name="Google Shape;910;p97"/>
          <p:cNvCxnSpPr/>
          <p:nvPr/>
        </p:nvCxnSpPr>
        <p:spPr>
          <a:xfrm rot="10800000">
            <a:off x="457250" y="3709350"/>
            <a:ext cx="3031500" cy="0"/>
          </a:xfrm>
          <a:prstGeom prst="straightConnector1">
            <a:avLst/>
          </a:prstGeom>
          <a:noFill/>
          <a:ln cap="flat" cmpd="sng" w="9525">
            <a:solidFill>
              <a:schemeClr val="accent6"/>
            </a:solidFill>
            <a:prstDash val="solid"/>
            <a:round/>
            <a:headEnd len="sm" w="sm" type="none"/>
            <a:tailEnd len="sm" w="sm" type="none"/>
          </a:ln>
        </p:spPr>
      </p:cxnSp>
      <p:cxnSp>
        <p:nvCxnSpPr>
          <p:cNvPr id="911" name="Google Shape;911;p97"/>
          <p:cNvCxnSpPr/>
          <p:nvPr/>
        </p:nvCxnSpPr>
        <p:spPr>
          <a:xfrm rot="10800000">
            <a:off x="457300" y="2337750"/>
            <a:ext cx="3407700" cy="0"/>
          </a:xfrm>
          <a:prstGeom prst="straightConnector1">
            <a:avLst/>
          </a:prstGeom>
          <a:noFill/>
          <a:ln cap="flat" cmpd="sng" w="9525">
            <a:solidFill>
              <a:srgbClr val="000000"/>
            </a:solidFill>
            <a:prstDash val="solid"/>
            <a:round/>
            <a:headEnd len="sm" w="sm" type="none"/>
            <a:tailEnd len="sm" w="sm" type="none"/>
          </a:ln>
        </p:spPr>
      </p:cxnSp>
      <p:sp>
        <p:nvSpPr>
          <p:cNvPr id="912" name="Google Shape;912;p97"/>
          <p:cNvSpPr/>
          <p:nvPr/>
        </p:nvSpPr>
        <p:spPr>
          <a:xfrm rot="-4979340">
            <a:off x="3196687" y="1719187"/>
            <a:ext cx="2767493" cy="2771887"/>
          </a:xfrm>
          <a:prstGeom prst="blockArc">
            <a:avLst>
              <a:gd fmla="val 12602522" name="adj1"/>
              <a:gd fmla="val 16867657" name="adj2"/>
              <a:gd fmla="val 20844" name="adj3"/>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97"/>
          <p:cNvSpPr/>
          <p:nvPr/>
        </p:nvSpPr>
        <p:spPr>
          <a:xfrm rot="7923045">
            <a:off x="3174958" y="1716827"/>
            <a:ext cx="2774756" cy="2775201"/>
          </a:xfrm>
          <a:prstGeom prst="blockArc">
            <a:avLst>
              <a:gd fmla="val 12602522" name="adj1"/>
              <a:gd fmla="val 16867657" name="adj2"/>
              <a:gd fmla="val 20844" name="adj3"/>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97"/>
          <p:cNvSpPr/>
          <p:nvPr/>
        </p:nvSpPr>
        <p:spPr>
          <a:xfrm rot="3597646">
            <a:off x="3178355" y="1728881"/>
            <a:ext cx="2774111" cy="2776438"/>
          </a:xfrm>
          <a:prstGeom prst="blockArc">
            <a:avLst>
              <a:gd fmla="val 12602522" name="adj1"/>
              <a:gd fmla="val 16867657" name="adj2"/>
              <a:gd fmla="val 20844" name="adj3"/>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97"/>
          <p:cNvSpPr/>
          <p:nvPr/>
        </p:nvSpPr>
        <p:spPr>
          <a:xfrm rot="4022619">
            <a:off x="5320201" y="2483695"/>
            <a:ext cx="577648" cy="579030"/>
          </a:xfrm>
          <a:prstGeom prst="pie">
            <a:avLst>
              <a:gd fmla="val 6190354" name="adj1"/>
              <a:gd fmla="val 14996165" name="adj2"/>
            </a:avLst>
          </a:prstGeom>
          <a:solidFill>
            <a:schemeClr val="accent6"/>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97"/>
          <p:cNvSpPr/>
          <p:nvPr/>
        </p:nvSpPr>
        <p:spPr>
          <a:xfrm rot="-6818172">
            <a:off x="5317472" y="2474175"/>
            <a:ext cx="577660" cy="578915"/>
          </a:xfrm>
          <a:prstGeom prst="pie">
            <a:avLst>
              <a:gd fmla="val 4028252" name="adj1"/>
              <a:gd fmla="val 17183677"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97"/>
          <p:cNvSpPr/>
          <p:nvPr/>
        </p:nvSpPr>
        <p:spPr>
          <a:xfrm rot="-9361798">
            <a:off x="3184638" y="1710861"/>
            <a:ext cx="2776555" cy="2773451"/>
          </a:xfrm>
          <a:prstGeom prst="blockArc">
            <a:avLst>
              <a:gd fmla="val 12602522" name="adj1"/>
              <a:gd fmla="val 16867657" name="adj2"/>
              <a:gd fmla="val 20844" name="adj3"/>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97"/>
          <p:cNvSpPr/>
          <p:nvPr/>
        </p:nvSpPr>
        <p:spPr>
          <a:xfrm rot="-8939422">
            <a:off x="3649612" y="3705239"/>
            <a:ext cx="578242" cy="578192"/>
          </a:xfrm>
          <a:prstGeom prst="pie">
            <a:avLst>
              <a:gd fmla="val 6190354" name="adj1"/>
              <a:gd fmla="val 14996165" name="adj2"/>
            </a:avLst>
          </a:prstGeom>
          <a:solidFill>
            <a:schemeClr val="accent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97"/>
          <p:cNvSpPr/>
          <p:nvPr/>
        </p:nvSpPr>
        <p:spPr>
          <a:xfrm rot="1821421">
            <a:off x="3649857" y="3705003"/>
            <a:ext cx="578171" cy="578109"/>
          </a:xfrm>
          <a:prstGeom prst="pie">
            <a:avLst>
              <a:gd fmla="val 4028252" name="adj1"/>
              <a:gd fmla="val 17183677"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97"/>
          <p:cNvSpPr/>
          <p:nvPr/>
        </p:nvSpPr>
        <p:spPr>
          <a:xfrm rot="-598995">
            <a:off x="3189261" y="1730315"/>
            <a:ext cx="2777455" cy="2773180"/>
          </a:xfrm>
          <a:prstGeom prst="blockArc">
            <a:avLst>
              <a:gd fmla="val 12513247" name="adj1"/>
              <a:gd fmla="val 16867657" name="adj2"/>
              <a:gd fmla="val 20844" name="adj3"/>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97"/>
          <p:cNvSpPr/>
          <p:nvPr/>
        </p:nvSpPr>
        <p:spPr>
          <a:xfrm rot="-176551">
            <a:off x="4302435" y="1730279"/>
            <a:ext cx="578563" cy="578263"/>
          </a:xfrm>
          <a:prstGeom prst="pie">
            <a:avLst>
              <a:gd fmla="val 6190354" name="adj1"/>
              <a:gd fmla="val 14996165" name="adj2"/>
            </a:avLst>
          </a:prstGeom>
          <a:solidFill>
            <a:srgbClr val="A9B7C0"/>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97"/>
          <p:cNvSpPr/>
          <p:nvPr/>
        </p:nvSpPr>
        <p:spPr>
          <a:xfrm rot="10584085">
            <a:off x="4302418" y="1730487"/>
            <a:ext cx="578340" cy="578041"/>
          </a:xfrm>
          <a:prstGeom prst="pie">
            <a:avLst>
              <a:gd fmla="val 4028252" name="adj1"/>
              <a:gd fmla="val 17183677" name="adj2"/>
            </a:avLst>
          </a:prstGeom>
          <a:solidFill>
            <a:srgbClr val="A9B7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97"/>
          <p:cNvSpPr/>
          <p:nvPr/>
        </p:nvSpPr>
        <p:spPr>
          <a:xfrm rot="8347474">
            <a:off x="4931456" y="3694317"/>
            <a:ext cx="578072" cy="578435"/>
          </a:xfrm>
          <a:prstGeom prst="pie">
            <a:avLst>
              <a:gd fmla="val 6190354" name="adj1"/>
              <a:gd fmla="val 14996165" name="adj2"/>
            </a:avLst>
          </a:prstGeom>
          <a:solidFill>
            <a:schemeClr val="accent3"/>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97"/>
          <p:cNvSpPr/>
          <p:nvPr/>
        </p:nvSpPr>
        <p:spPr>
          <a:xfrm rot="-2492975">
            <a:off x="4931530" y="3694243"/>
            <a:ext cx="578047" cy="578644"/>
          </a:xfrm>
          <a:prstGeom prst="pie">
            <a:avLst>
              <a:gd fmla="val 4028252" name="adj1"/>
              <a:gd fmla="val 17183677"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97"/>
          <p:cNvSpPr/>
          <p:nvPr/>
        </p:nvSpPr>
        <p:spPr>
          <a:xfrm rot="-4555659">
            <a:off x="3248102" y="2472269"/>
            <a:ext cx="577429" cy="578884"/>
          </a:xfrm>
          <a:prstGeom prst="pie">
            <a:avLst>
              <a:gd fmla="val 6190354" name="adj1"/>
              <a:gd fmla="val 14996165" name="adj2"/>
            </a:avLst>
          </a:prstGeom>
          <a:solidFill>
            <a:schemeClr val="accent4"/>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97"/>
          <p:cNvSpPr/>
          <p:nvPr/>
        </p:nvSpPr>
        <p:spPr>
          <a:xfrm rot="6205784">
            <a:off x="3248236" y="2472264"/>
            <a:ext cx="577388" cy="578847"/>
          </a:xfrm>
          <a:prstGeom prst="pie">
            <a:avLst>
              <a:gd fmla="val 4028252" name="adj1"/>
              <a:gd fmla="val 17183677"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97"/>
          <p:cNvSpPr txBox="1"/>
          <p:nvPr/>
        </p:nvSpPr>
        <p:spPr>
          <a:xfrm>
            <a:off x="4332231" y="1806636"/>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05</a:t>
            </a:r>
            <a:endParaRPr b="1" sz="1600">
              <a:solidFill>
                <a:srgbClr val="FFFFFF"/>
              </a:solidFill>
              <a:latin typeface="Roboto"/>
              <a:ea typeface="Roboto"/>
              <a:cs typeface="Roboto"/>
              <a:sym typeface="Roboto"/>
            </a:endParaRPr>
          </a:p>
        </p:txBody>
      </p:sp>
      <p:sp>
        <p:nvSpPr>
          <p:cNvPr id="928" name="Google Shape;928;p97"/>
          <p:cNvSpPr txBox="1"/>
          <p:nvPr/>
        </p:nvSpPr>
        <p:spPr>
          <a:xfrm>
            <a:off x="3264550" y="25519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accent5"/>
                </a:solidFill>
                <a:latin typeface="Roboto"/>
                <a:ea typeface="Roboto"/>
                <a:cs typeface="Roboto"/>
                <a:sym typeface="Roboto"/>
              </a:rPr>
              <a:t>01</a:t>
            </a:r>
            <a:endParaRPr b="1" sz="1600">
              <a:solidFill>
                <a:schemeClr val="accent5"/>
              </a:solidFill>
              <a:latin typeface="Roboto"/>
              <a:ea typeface="Roboto"/>
              <a:cs typeface="Roboto"/>
              <a:sym typeface="Roboto"/>
            </a:endParaRPr>
          </a:p>
        </p:txBody>
      </p:sp>
      <p:sp>
        <p:nvSpPr>
          <p:cNvPr id="929" name="Google Shape;929;p97"/>
          <p:cNvSpPr txBox="1"/>
          <p:nvPr/>
        </p:nvSpPr>
        <p:spPr>
          <a:xfrm>
            <a:off x="3675648" y="37789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02</a:t>
            </a:r>
            <a:endParaRPr b="1" sz="1600">
              <a:solidFill>
                <a:schemeClr val="lt1"/>
              </a:solidFill>
              <a:latin typeface="Roboto"/>
              <a:ea typeface="Roboto"/>
              <a:cs typeface="Roboto"/>
              <a:sym typeface="Roboto"/>
            </a:endParaRPr>
          </a:p>
        </p:txBody>
      </p:sp>
      <p:sp>
        <p:nvSpPr>
          <p:cNvPr id="930" name="Google Shape;930;p97"/>
          <p:cNvSpPr txBox="1"/>
          <p:nvPr/>
        </p:nvSpPr>
        <p:spPr>
          <a:xfrm>
            <a:off x="4945653" y="37789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sp>
        <p:nvSpPr>
          <p:cNvPr id="931" name="Google Shape;931;p97"/>
          <p:cNvSpPr txBox="1"/>
          <p:nvPr/>
        </p:nvSpPr>
        <p:spPr>
          <a:xfrm>
            <a:off x="5355068" y="25519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04</a:t>
            </a:r>
            <a:endParaRPr b="1" sz="1600">
              <a:solidFill>
                <a:schemeClr val="lt1"/>
              </a:solidFill>
              <a:latin typeface="Roboto"/>
              <a:ea typeface="Roboto"/>
              <a:cs typeface="Roboto"/>
              <a:sym typeface="Roboto"/>
            </a:endParaRPr>
          </a:p>
        </p:txBody>
      </p:sp>
      <p:sp>
        <p:nvSpPr>
          <p:cNvPr id="932" name="Google Shape;932;p97"/>
          <p:cNvSpPr txBox="1"/>
          <p:nvPr/>
        </p:nvSpPr>
        <p:spPr>
          <a:xfrm>
            <a:off x="5715000" y="1883750"/>
            <a:ext cx="28497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A9B7C0"/>
                </a:solidFill>
                <a:latin typeface="Roboto"/>
                <a:ea typeface="Roboto"/>
                <a:cs typeface="Roboto"/>
                <a:sym typeface="Roboto"/>
              </a:rPr>
              <a:t>Measure Change</a:t>
            </a:r>
            <a:endParaRPr sz="1000">
              <a:solidFill>
                <a:srgbClr val="A9B7C0"/>
              </a:solidFill>
              <a:latin typeface="Roboto"/>
              <a:ea typeface="Roboto"/>
              <a:cs typeface="Roboto"/>
              <a:sym typeface="Roboto"/>
            </a:endParaRPr>
          </a:p>
          <a:p>
            <a:pPr indent="0" lvl="0" marL="0" rtl="0" algn="l">
              <a:spcBef>
                <a:spcPts val="1600"/>
              </a:spcBef>
              <a:spcAft>
                <a:spcPts val="0"/>
              </a:spcAft>
              <a:buNone/>
            </a:pPr>
            <a:r>
              <a:t/>
            </a:r>
            <a:endParaRPr b="1" sz="800">
              <a:solidFill>
                <a:srgbClr val="A9B7C0"/>
              </a:solidFill>
              <a:latin typeface="Roboto"/>
              <a:ea typeface="Roboto"/>
              <a:cs typeface="Roboto"/>
              <a:sym typeface="Roboto"/>
            </a:endParaRPr>
          </a:p>
          <a:p>
            <a:pPr indent="0" lvl="0" marL="0" rtl="0" algn="l">
              <a:spcBef>
                <a:spcPts val="1600"/>
              </a:spcBef>
              <a:spcAft>
                <a:spcPts val="1600"/>
              </a:spcAft>
              <a:buNone/>
            </a:pPr>
            <a:r>
              <a:t/>
            </a:r>
            <a:endParaRPr b="1" sz="800">
              <a:solidFill>
                <a:srgbClr val="A9B7C0"/>
              </a:solidFill>
              <a:latin typeface="Roboto"/>
              <a:ea typeface="Roboto"/>
              <a:cs typeface="Roboto"/>
              <a:sym typeface="Roboto"/>
            </a:endParaRPr>
          </a:p>
        </p:txBody>
      </p:sp>
      <p:sp>
        <p:nvSpPr>
          <p:cNvPr id="933" name="Google Shape;933;p97"/>
          <p:cNvSpPr txBox="1"/>
          <p:nvPr/>
        </p:nvSpPr>
        <p:spPr>
          <a:xfrm>
            <a:off x="5715000" y="3063250"/>
            <a:ext cx="27246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200">
                <a:solidFill>
                  <a:schemeClr val="dk2"/>
                </a:solidFill>
                <a:latin typeface="Roboto"/>
                <a:ea typeface="Roboto"/>
                <a:cs typeface="Roboto"/>
                <a:sym typeface="Roboto"/>
              </a:rPr>
              <a:t>Execute the Plan</a:t>
            </a:r>
            <a:endParaRPr b="1"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Implement training with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the goal of training 25% of employees each quarter.</a:t>
            </a:r>
            <a:endParaRPr sz="1200">
              <a:solidFill>
                <a:schemeClr val="dk2"/>
              </a:solidFill>
              <a:latin typeface="Roboto"/>
              <a:ea typeface="Roboto"/>
              <a:cs typeface="Roboto"/>
              <a:sym typeface="Roboto"/>
            </a:endParaRPr>
          </a:p>
          <a:p>
            <a:pPr indent="0" lvl="0" marL="0" rtl="0" algn="l">
              <a:spcBef>
                <a:spcPts val="0"/>
              </a:spcBef>
              <a:spcAft>
                <a:spcPts val="1600"/>
              </a:spcAft>
              <a:buNone/>
            </a:pPr>
            <a:r>
              <a:t/>
            </a:r>
            <a:endParaRPr sz="1200">
              <a:solidFill>
                <a:schemeClr val="dk2"/>
              </a:solidFill>
              <a:latin typeface="Roboto"/>
              <a:ea typeface="Roboto"/>
              <a:cs typeface="Roboto"/>
              <a:sym typeface="Roboto"/>
            </a:endParaRPr>
          </a:p>
        </p:txBody>
      </p:sp>
      <p:sp>
        <p:nvSpPr>
          <p:cNvPr id="934" name="Google Shape;934;p97"/>
          <p:cNvSpPr txBox="1"/>
          <p:nvPr/>
        </p:nvSpPr>
        <p:spPr>
          <a:xfrm>
            <a:off x="0" y="2340950"/>
            <a:ext cx="2923800" cy="1234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200">
                <a:solidFill>
                  <a:schemeClr val="dk2"/>
                </a:solidFill>
                <a:latin typeface="Roboto"/>
                <a:ea typeface="Roboto"/>
                <a:cs typeface="Roboto"/>
                <a:sym typeface="Roboto"/>
              </a:rPr>
              <a:t>Measure and Set Goals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Set a click rate goal of 5%. Measure this data to determine (1) what percentage of employees fall victim to the phishing and (2) which employees specifically.</a:t>
            </a:r>
            <a:endParaRPr sz="1200">
              <a:solidFill>
                <a:schemeClr val="dk2"/>
              </a:solidFill>
              <a:latin typeface="Roboto"/>
              <a:ea typeface="Roboto"/>
              <a:cs typeface="Roboto"/>
              <a:sym typeface="Roboto"/>
            </a:endParaRPr>
          </a:p>
        </p:txBody>
      </p:sp>
      <p:sp>
        <p:nvSpPr>
          <p:cNvPr id="935" name="Google Shape;935;p97"/>
          <p:cNvSpPr txBox="1"/>
          <p:nvPr/>
        </p:nvSpPr>
        <p:spPr>
          <a:xfrm>
            <a:off x="0" y="3712550"/>
            <a:ext cx="28095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200">
                <a:solidFill>
                  <a:schemeClr val="dk2"/>
                </a:solidFill>
                <a:latin typeface="Roboto"/>
                <a:ea typeface="Roboto"/>
                <a:cs typeface="Roboto"/>
                <a:sym typeface="Roboto"/>
              </a:rPr>
              <a:t>Involve the Right People</a:t>
            </a:r>
            <a:br>
              <a:rPr lang="en" sz="1200">
                <a:solidFill>
                  <a:schemeClr val="dk2"/>
                </a:solidFill>
                <a:highlight>
                  <a:schemeClr val="accent5"/>
                </a:highlight>
                <a:latin typeface="Roboto"/>
                <a:ea typeface="Roboto"/>
                <a:cs typeface="Roboto"/>
                <a:sym typeface="Roboto"/>
              </a:rPr>
            </a:br>
            <a:r>
              <a:rPr lang="en" sz="1200">
                <a:solidFill>
                  <a:schemeClr val="dk2"/>
                </a:solidFill>
                <a:latin typeface="Roboto"/>
                <a:ea typeface="Roboto"/>
                <a:cs typeface="Roboto"/>
                <a:sym typeface="Roboto"/>
              </a:rPr>
              <a:t>Inform at least the CEO and/or CIO, director of HR, and the person in charge of internal training and communication. </a:t>
            </a:r>
            <a:endParaRPr sz="1200">
              <a:solidFill>
                <a:schemeClr val="dk2"/>
              </a:solidFill>
              <a:latin typeface="Roboto"/>
              <a:ea typeface="Roboto"/>
              <a:cs typeface="Roboto"/>
              <a:sym typeface="Roboto"/>
            </a:endParaRPr>
          </a:p>
        </p:txBody>
      </p:sp>
      <p:sp>
        <p:nvSpPr>
          <p:cNvPr id="936" name="Google Shape;936;p97"/>
          <p:cNvSpPr txBox="1"/>
          <p:nvPr/>
        </p:nvSpPr>
        <p:spPr>
          <a:xfrm>
            <a:off x="5715000" y="4245950"/>
            <a:ext cx="30891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200">
                <a:solidFill>
                  <a:schemeClr val="dk2"/>
                </a:solidFill>
                <a:latin typeface="Roboto"/>
                <a:ea typeface="Roboto"/>
                <a:cs typeface="Roboto"/>
                <a:sym typeface="Roboto"/>
              </a:rPr>
              <a:t>Create an Action Plan </a:t>
            </a:r>
            <a:endParaRPr b="1"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Develop training to cover the dangers of malware and how malware can spread through phishing and vishing. </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0" lvl="0" marL="0" rtl="0" algn="l">
              <a:spcBef>
                <a:spcPts val="1600"/>
              </a:spcBef>
              <a:spcAft>
                <a:spcPts val="1600"/>
              </a:spcAft>
              <a:buNone/>
            </a:pPr>
            <a:r>
              <a:t/>
            </a:r>
            <a:endParaRPr sz="1200">
              <a:solidFill>
                <a:schemeClr val="dk2"/>
              </a:solidFill>
              <a:latin typeface="Roboto"/>
              <a:ea typeface="Roboto"/>
              <a:cs typeface="Roboto"/>
              <a:sym typeface="Roboto"/>
            </a:endParaRPr>
          </a:p>
        </p:txBody>
      </p:sp>
      <p:sp>
        <p:nvSpPr>
          <p:cNvPr id="937" name="Google Shape;937;p97"/>
          <p:cNvSpPr txBox="1"/>
          <p:nvPr/>
        </p:nvSpPr>
        <p:spPr>
          <a:xfrm>
            <a:off x="457250" y="1969750"/>
            <a:ext cx="29808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938" name="Google Shape;938;p97"/>
          <p:cNvPicPr preferRelativeResize="0"/>
          <p:nvPr/>
        </p:nvPicPr>
        <p:blipFill>
          <a:blip r:embed="rId3">
            <a:alphaModFix/>
          </a:blip>
          <a:stretch>
            <a:fillRect/>
          </a:stretch>
        </p:blipFill>
        <p:spPr>
          <a:xfrm>
            <a:off x="224300" y="329450"/>
            <a:ext cx="399107" cy="3936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2" name="Shape 942"/>
        <p:cNvGrpSpPr/>
        <p:nvPr/>
      </p:nvGrpSpPr>
      <p:grpSpPr>
        <a:xfrm>
          <a:off x="0" y="0"/>
          <a:ext cx="0" cy="0"/>
          <a:chOff x="0" y="0"/>
          <a:chExt cx="0" cy="0"/>
        </a:xfrm>
      </p:grpSpPr>
      <p:sp>
        <p:nvSpPr>
          <p:cNvPr id="943" name="Google Shape;943;p98"/>
          <p:cNvSpPr txBox="1"/>
          <p:nvPr>
            <p:ph type="title"/>
          </p:nvPr>
        </p:nvSpPr>
        <p:spPr>
          <a:xfrm>
            <a:off x="0" y="23862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5: Measure Change </a:t>
            </a:r>
            <a:endParaRPr/>
          </a:p>
        </p:txBody>
      </p:sp>
      <p:sp>
        <p:nvSpPr>
          <p:cNvPr id="944" name="Google Shape;944;p98"/>
          <p:cNvSpPr txBox="1"/>
          <p:nvPr>
            <p:ph idx="4294967295" type="subTitle"/>
          </p:nvPr>
        </p:nvSpPr>
        <p:spPr>
          <a:xfrm>
            <a:off x="457300" y="1037025"/>
            <a:ext cx="7667400" cy="3648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1600"/>
              <a:t>After training the entire company, have the pentesters reimplement the original phishing campaign. </a:t>
            </a:r>
            <a:endParaRPr sz="16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None/>
            </a:pPr>
            <a:r>
              <a:t/>
            </a:r>
            <a:endParaRPr sz="2000"/>
          </a:p>
        </p:txBody>
      </p:sp>
      <p:cxnSp>
        <p:nvCxnSpPr>
          <p:cNvPr id="945" name="Google Shape;945;p98"/>
          <p:cNvCxnSpPr/>
          <p:nvPr/>
        </p:nvCxnSpPr>
        <p:spPr>
          <a:xfrm rot="10800000">
            <a:off x="4984248" y="4242750"/>
            <a:ext cx="3231900" cy="0"/>
          </a:xfrm>
          <a:prstGeom prst="straightConnector1">
            <a:avLst/>
          </a:prstGeom>
          <a:noFill/>
          <a:ln cap="flat" cmpd="sng" w="9525">
            <a:solidFill>
              <a:schemeClr val="accent6"/>
            </a:solidFill>
            <a:prstDash val="solid"/>
            <a:round/>
            <a:headEnd len="sm" w="sm" type="none"/>
            <a:tailEnd len="sm" w="sm" type="none"/>
          </a:ln>
        </p:spPr>
      </p:cxnSp>
      <p:cxnSp>
        <p:nvCxnSpPr>
          <p:cNvPr id="946" name="Google Shape;946;p98"/>
          <p:cNvCxnSpPr/>
          <p:nvPr/>
        </p:nvCxnSpPr>
        <p:spPr>
          <a:xfrm rot="10800000">
            <a:off x="5598648" y="3023550"/>
            <a:ext cx="2617500" cy="0"/>
          </a:xfrm>
          <a:prstGeom prst="straightConnector1">
            <a:avLst/>
          </a:prstGeom>
          <a:noFill/>
          <a:ln cap="flat" cmpd="sng" w="9525">
            <a:solidFill>
              <a:schemeClr val="accent6"/>
            </a:solidFill>
            <a:prstDash val="solid"/>
            <a:round/>
            <a:headEnd len="sm" w="sm" type="none"/>
            <a:tailEnd len="sm" w="sm" type="none"/>
          </a:ln>
        </p:spPr>
      </p:cxnSp>
      <p:cxnSp>
        <p:nvCxnSpPr>
          <p:cNvPr id="947" name="Google Shape;947;p98"/>
          <p:cNvCxnSpPr/>
          <p:nvPr/>
        </p:nvCxnSpPr>
        <p:spPr>
          <a:xfrm rot="10800000">
            <a:off x="5165750" y="1816938"/>
            <a:ext cx="3050400" cy="0"/>
          </a:xfrm>
          <a:prstGeom prst="straightConnector1">
            <a:avLst/>
          </a:prstGeom>
          <a:noFill/>
          <a:ln cap="flat" cmpd="sng" w="9525">
            <a:solidFill>
              <a:schemeClr val="accent6"/>
            </a:solidFill>
            <a:prstDash val="solid"/>
            <a:round/>
            <a:headEnd len="sm" w="sm" type="none"/>
            <a:tailEnd len="sm" w="sm" type="none"/>
          </a:ln>
        </p:spPr>
      </p:cxnSp>
      <p:cxnSp>
        <p:nvCxnSpPr>
          <p:cNvPr id="948" name="Google Shape;948;p98"/>
          <p:cNvCxnSpPr/>
          <p:nvPr/>
        </p:nvCxnSpPr>
        <p:spPr>
          <a:xfrm rot="10800000">
            <a:off x="457250" y="3709350"/>
            <a:ext cx="3031500" cy="0"/>
          </a:xfrm>
          <a:prstGeom prst="straightConnector1">
            <a:avLst/>
          </a:prstGeom>
          <a:noFill/>
          <a:ln cap="flat" cmpd="sng" w="9525">
            <a:solidFill>
              <a:schemeClr val="accent6"/>
            </a:solidFill>
            <a:prstDash val="solid"/>
            <a:round/>
            <a:headEnd len="sm" w="sm" type="none"/>
            <a:tailEnd len="sm" w="sm" type="none"/>
          </a:ln>
        </p:spPr>
      </p:cxnSp>
      <p:cxnSp>
        <p:nvCxnSpPr>
          <p:cNvPr id="949" name="Google Shape;949;p98"/>
          <p:cNvCxnSpPr/>
          <p:nvPr/>
        </p:nvCxnSpPr>
        <p:spPr>
          <a:xfrm rot="10800000">
            <a:off x="457300" y="2337750"/>
            <a:ext cx="3407700" cy="0"/>
          </a:xfrm>
          <a:prstGeom prst="straightConnector1">
            <a:avLst/>
          </a:prstGeom>
          <a:noFill/>
          <a:ln cap="flat" cmpd="sng" w="9525">
            <a:solidFill>
              <a:srgbClr val="000000"/>
            </a:solidFill>
            <a:prstDash val="solid"/>
            <a:round/>
            <a:headEnd len="sm" w="sm" type="none"/>
            <a:tailEnd len="sm" w="sm" type="none"/>
          </a:ln>
        </p:spPr>
      </p:cxnSp>
      <p:sp>
        <p:nvSpPr>
          <p:cNvPr id="950" name="Google Shape;950;p98"/>
          <p:cNvSpPr/>
          <p:nvPr/>
        </p:nvSpPr>
        <p:spPr>
          <a:xfrm rot="-4979340">
            <a:off x="3196687" y="1719187"/>
            <a:ext cx="2767493" cy="2771887"/>
          </a:xfrm>
          <a:prstGeom prst="blockArc">
            <a:avLst>
              <a:gd fmla="val 12602522" name="adj1"/>
              <a:gd fmla="val 16867657" name="adj2"/>
              <a:gd fmla="val 20844" name="adj3"/>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98"/>
          <p:cNvSpPr/>
          <p:nvPr/>
        </p:nvSpPr>
        <p:spPr>
          <a:xfrm rot="7923045">
            <a:off x="3174958" y="1716827"/>
            <a:ext cx="2774756" cy="2775201"/>
          </a:xfrm>
          <a:prstGeom prst="blockArc">
            <a:avLst>
              <a:gd fmla="val 12602522" name="adj1"/>
              <a:gd fmla="val 16867657" name="adj2"/>
              <a:gd fmla="val 20844" name="adj3"/>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98"/>
          <p:cNvSpPr/>
          <p:nvPr/>
        </p:nvSpPr>
        <p:spPr>
          <a:xfrm rot="3597646">
            <a:off x="3178355" y="1728881"/>
            <a:ext cx="2774111" cy="2776438"/>
          </a:xfrm>
          <a:prstGeom prst="blockArc">
            <a:avLst>
              <a:gd fmla="val 12602522" name="adj1"/>
              <a:gd fmla="val 16867657" name="adj2"/>
              <a:gd fmla="val 20844" name="adj3"/>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98"/>
          <p:cNvSpPr/>
          <p:nvPr/>
        </p:nvSpPr>
        <p:spPr>
          <a:xfrm rot="4022619">
            <a:off x="5320201" y="2483695"/>
            <a:ext cx="577648" cy="579030"/>
          </a:xfrm>
          <a:prstGeom prst="pie">
            <a:avLst>
              <a:gd fmla="val 6190354" name="adj1"/>
              <a:gd fmla="val 14996165" name="adj2"/>
            </a:avLst>
          </a:prstGeom>
          <a:solidFill>
            <a:schemeClr val="accent6"/>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98"/>
          <p:cNvSpPr/>
          <p:nvPr/>
        </p:nvSpPr>
        <p:spPr>
          <a:xfrm rot="-6818172">
            <a:off x="5317472" y="2474175"/>
            <a:ext cx="577660" cy="578915"/>
          </a:xfrm>
          <a:prstGeom prst="pie">
            <a:avLst>
              <a:gd fmla="val 4028252" name="adj1"/>
              <a:gd fmla="val 17183677"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98"/>
          <p:cNvSpPr/>
          <p:nvPr/>
        </p:nvSpPr>
        <p:spPr>
          <a:xfrm rot="-9361798">
            <a:off x="3184638" y="1710861"/>
            <a:ext cx="2776555" cy="2773451"/>
          </a:xfrm>
          <a:prstGeom prst="blockArc">
            <a:avLst>
              <a:gd fmla="val 12602522" name="adj1"/>
              <a:gd fmla="val 16867657" name="adj2"/>
              <a:gd fmla="val 20844" name="adj3"/>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98"/>
          <p:cNvSpPr/>
          <p:nvPr/>
        </p:nvSpPr>
        <p:spPr>
          <a:xfrm rot="-8939422">
            <a:off x="3649612" y="3705239"/>
            <a:ext cx="578242" cy="578192"/>
          </a:xfrm>
          <a:prstGeom prst="pie">
            <a:avLst>
              <a:gd fmla="val 6190354" name="adj1"/>
              <a:gd fmla="val 14996165" name="adj2"/>
            </a:avLst>
          </a:prstGeom>
          <a:solidFill>
            <a:schemeClr val="accent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98"/>
          <p:cNvSpPr/>
          <p:nvPr/>
        </p:nvSpPr>
        <p:spPr>
          <a:xfrm rot="1821421">
            <a:off x="3649857" y="3705003"/>
            <a:ext cx="578171" cy="578109"/>
          </a:xfrm>
          <a:prstGeom prst="pie">
            <a:avLst>
              <a:gd fmla="val 4028252" name="adj1"/>
              <a:gd fmla="val 17183677"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98"/>
          <p:cNvSpPr/>
          <p:nvPr/>
        </p:nvSpPr>
        <p:spPr>
          <a:xfrm rot="-598995">
            <a:off x="3189261" y="1730315"/>
            <a:ext cx="2777455" cy="2773180"/>
          </a:xfrm>
          <a:prstGeom prst="blockArc">
            <a:avLst>
              <a:gd fmla="val 12513247" name="adj1"/>
              <a:gd fmla="val 16867657" name="adj2"/>
              <a:gd fmla="val 20844" name="adj3"/>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98"/>
          <p:cNvSpPr/>
          <p:nvPr/>
        </p:nvSpPr>
        <p:spPr>
          <a:xfrm rot="-176551">
            <a:off x="4302435" y="1730279"/>
            <a:ext cx="578563" cy="578263"/>
          </a:xfrm>
          <a:prstGeom prst="pie">
            <a:avLst>
              <a:gd fmla="val 6190354" name="adj1"/>
              <a:gd fmla="val 14996165" name="adj2"/>
            </a:avLst>
          </a:prstGeom>
          <a:solidFill>
            <a:schemeClr val="accent1"/>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98"/>
          <p:cNvSpPr/>
          <p:nvPr/>
        </p:nvSpPr>
        <p:spPr>
          <a:xfrm rot="10584085">
            <a:off x="4302418" y="1730487"/>
            <a:ext cx="578340" cy="578041"/>
          </a:xfrm>
          <a:prstGeom prst="pie">
            <a:avLst>
              <a:gd fmla="val 4028252" name="adj1"/>
              <a:gd fmla="val 17183677"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98"/>
          <p:cNvSpPr/>
          <p:nvPr/>
        </p:nvSpPr>
        <p:spPr>
          <a:xfrm rot="8347474">
            <a:off x="4931456" y="3694317"/>
            <a:ext cx="578072" cy="578435"/>
          </a:xfrm>
          <a:prstGeom prst="pie">
            <a:avLst>
              <a:gd fmla="val 6190354" name="adj1"/>
              <a:gd fmla="val 14996165" name="adj2"/>
            </a:avLst>
          </a:prstGeom>
          <a:solidFill>
            <a:schemeClr val="accent3"/>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98"/>
          <p:cNvSpPr/>
          <p:nvPr/>
        </p:nvSpPr>
        <p:spPr>
          <a:xfrm rot="-2492975">
            <a:off x="4931530" y="3694243"/>
            <a:ext cx="578047" cy="578644"/>
          </a:xfrm>
          <a:prstGeom prst="pie">
            <a:avLst>
              <a:gd fmla="val 4028252" name="adj1"/>
              <a:gd fmla="val 17183677"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98"/>
          <p:cNvSpPr/>
          <p:nvPr/>
        </p:nvSpPr>
        <p:spPr>
          <a:xfrm rot="-4555659">
            <a:off x="3248102" y="2472269"/>
            <a:ext cx="577429" cy="578884"/>
          </a:xfrm>
          <a:prstGeom prst="pie">
            <a:avLst>
              <a:gd fmla="val 6190354" name="adj1"/>
              <a:gd fmla="val 14996165" name="adj2"/>
            </a:avLst>
          </a:prstGeom>
          <a:solidFill>
            <a:schemeClr val="accent4"/>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98"/>
          <p:cNvSpPr/>
          <p:nvPr/>
        </p:nvSpPr>
        <p:spPr>
          <a:xfrm rot="6205784">
            <a:off x="3248236" y="2472264"/>
            <a:ext cx="577388" cy="578847"/>
          </a:xfrm>
          <a:prstGeom prst="pie">
            <a:avLst>
              <a:gd fmla="val 4028252" name="adj1"/>
              <a:gd fmla="val 17183677"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98"/>
          <p:cNvSpPr txBox="1"/>
          <p:nvPr/>
        </p:nvSpPr>
        <p:spPr>
          <a:xfrm>
            <a:off x="4332231" y="1806636"/>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accent5"/>
                </a:solidFill>
                <a:latin typeface="Roboto"/>
                <a:ea typeface="Roboto"/>
                <a:cs typeface="Roboto"/>
                <a:sym typeface="Roboto"/>
              </a:rPr>
              <a:t>05</a:t>
            </a:r>
            <a:endParaRPr b="1" sz="1600">
              <a:solidFill>
                <a:schemeClr val="accent5"/>
              </a:solidFill>
              <a:latin typeface="Roboto"/>
              <a:ea typeface="Roboto"/>
              <a:cs typeface="Roboto"/>
              <a:sym typeface="Roboto"/>
            </a:endParaRPr>
          </a:p>
        </p:txBody>
      </p:sp>
      <p:sp>
        <p:nvSpPr>
          <p:cNvPr id="966" name="Google Shape;966;p98"/>
          <p:cNvSpPr txBox="1"/>
          <p:nvPr/>
        </p:nvSpPr>
        <p:spPr>
          <a:xfrm>
            <a:off x="3264550" y="25519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accent5"/>
                </a:solidFill>
                <a:latin typeface="Roboto"/>
                <a:ea typeface="Roboto"/>
                <a:cs typeface="Roboto"/>
                <a:sym typeface="Roboto"/>
              </a:rPr>
              <a:t>01</a:t>
            </a:r>
            <a:endParaRPr b="1" sz="1600">
              <a:solidFill>
                <a:schemeClr val="accent5"/>
              </a:solidFill>
              <a:latin typeface="Roboto"/>
              <a:ea typeface="Roboto"/>
              <a:cs typeface="Roboto"/>
              <a:sym typeface="Roboto"/>
            </a:endParaRPr>
          </a:p>
        </p:txBody>
      </p:sp>
      <p:sp>
        <p:nvSpPr>
          <p:cNvPr id="967" name="Google Shape;967;p98"/>
          <p:cNvSpPr txBox="1"/>
          <p:nvPr/>
        </p:nvSpPr>
        <p:spPr>
          <a:xfrm>
            <a:off x="3675648" y="37789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02</a:t>
            </a:r>
            <a:endParaRPr b="1" sz="1600">
              <a:solidFill>
                <a:schemeClr val="lt1"/>
              </a:solidFill>
              <a:latin typeface="Roboto"/>
              <a:ea typeface="Roboto"/>
              <a:cs typeface="Roboto"/>
              <a:sym typeface="Roboto"/>
            </a:endParaRPr>
          </a:p>
        </p:txBody>
      </p:sp>
      <p:sp>
        <p:nvSpPr>
          <p:cNvPr id="968" name="Google Shape;968;p98"/>
          <p:cNvSpPr txBox="1"/>
          <p:nvPr/>
        </p:nvSpPr>
        <p:spPr>
          <a:xfrm>
            <a:off x="4945653" y="37789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sp>
        <p:nvSpPr>
          <p:cNvPr id="969" name="Google Shape;969;p98"/>
          <p:cNvSpPr txBox="1"/>
          <p:nvPr/>
        </p:nvSpPr>
        <p:spPr>
          <a:xfrm>
            <a:off x="5355068" y="25519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04</a:t>
            </a:r>
            <a:endParaRPr b="1" sz="1600">
              <a:solidFill>
                <a:schemeClr val="lt1"/>
              </a:solidFill>
              <a:latin typeface="Roboto"/>
              <a:ea typeface="Roboto"/>
              <a:cs typeface="Roboto"/>
              <a:sym typeface="Roboto"/>
            </a:endParaRPr>
          </a:p>
        </p:txBody>
      </p:sp>
      <p:sp>
        <p:nvSpPr>
          <p:cNvPr id="970" name="Google Shape;970;p98"/>
          <p:cNvSpPr txBox="1"/>
          <p:nvPr/>
        </p:nvSpPr>
        <p:spPr>
          <a:xfrm>
            <a:off x="5715000" y="1883750"/>
            <a:ext cx="28497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200">
                <a:solidFill>
                  <a:schemeClr val="dk2"/>
                </a:solidFill>
                <a:latin typeface="Roboto"/>
                <a:ea typeface="Roboto"/>
                <a:cs typeface="Roboto"/>
                <a:sym typeface="Roboto"/>
              </a:rPr>
              <a:t>Measure Change</a:t>
            </a:r>
            <a:endParaRPr b="1"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Determine success or failure based on goals set in Step 1. </a:t>
            </a:r>
            <a:endParaRPr sz="1200">
              <a:solidFill>
                <a:schemeClr val="dk2"/>
              </a:solidFill>
              <a:latin typeface="Roboto"/>
              <a:ea typeface="Roboto"/>
              <a:cs typeface="Roboto"/>
              <a:sym typeface="Roboto"/>
            </a:endParaRPr>
          </a:p>
          <a:p>
            <a:pPr indent="0" lvl="0" marL="0" rtl="0" algn="l">
              <a:spcBef>
                <a:spcPts val="0"/>
              </a:spcBef>
              <a:spcAft>
                <a:spcPts val="1600"/>
              </a:spcAft>
              <a:buNone/>
            </a:pPr>
            <a:r>
              <a:t/>
            </a:r>
            <a:endParaRPr sz="1200">
              <a:solidFill>
                <a:schemeClr val="dk2"/>
              </a:solidFill>
              <a:latin typeface="Roboto"/>
              <a:ea typeface="Roboto"/>
              <a:cs typeface="Roboto"/>
              <a:sym typeface="Roboto"/>
            </a:endParaRPr>
          </a:p>
        </p:txBody>
      </p:sp>
      <p:sp>
        <p:nvSpPr>
          <p:cNvPr id="971" name="Google Shape;971;p98"/>
          <p:cNvSpPr txBox="1"/>
          <p:nvPr/>
        </p:nvSpPr>
        <p:spPr>
          <a:xfrm>
            <a:off x="5715000" y="3063250"/>
            <a:ext cx="27246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200">
                <a:solidFill>
                  <a:schemeClr val="dk2"/>
                </a:solidFill>
                <a:latin typeface="Roboto"/>
                <a:ea typeface="Roboto"/>
                <a:cs typeface="Roboto"/>
                <a:sym typeface="Roboto"/>
              </a:rPr>
              <a:t>Execute the Plan</a:t>
            </a:r>
            <a:endParaRPr b="1"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Implement training with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the goal of training 25% of employees each quarter.</a:t>
            </a:r>
            <a:endParaRPr sz="1200">
              <a:solidFill>
                <a:schemeClr val="dk2"/>
              </a:solidFill>
              <a:latin typeface="Roboto"/>
              <a:ea typeface="Roboto"/>
              <a:cs typeface="Roboto"/>
              <a:sym typeface="Roboto"/>
            </a:endParaRPr>
          </a:p>
          <a:p>
            <a:pPr indent="0" lvl="0" marL="0" rtl="0" algn="l">
              <a:spcBef>
                <a:spcPts val="0"/>
              </a:spcBef>
              <a:spcAft>
                <a:spcPts val="1600"/>
              </a:spcAft>
              <a:buNone/>
            </a:pPr>
            <a:r>
              <a:t/>
            </a:r>
            <a:endParaRPr sz="1200">
              <a:solidFill>
                <a:schemeClr val="dk2"/>
              </a:solidFill>
              <a:latin typeface="Roboto"/>
              <a:ea typeface="Roboto"/>
              <a:cs typeface="Roboto"/>
              <a:sym typeface="Roboto"/>
            </a:endParaRPr>
          </a:p>
        </p:txBody>
      </p:sp>
      <p:sp>
        <p:nvSpPr>
          <p:cNvPr id="972" name="Google Shape;972;p98"/>
          <p:cNvSpPr txBox="1"/>
          <p:nvPr/>
        </p:nvSpPr>
        <p:spPr>
          <a:xfrm>
            <a:off x="0" y="2340950"/>
            <a:ext cx="2923800" cy="1234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200">
                <a:solidFill>
                  <a:schemeClr val="dk2"/>
                </a:solidFill>
                <a:latin typeface="Roboto"/>
                <a:ea typeface="Roboto"/>
                <a:cs typeface="Roboto"/>
                <a:sym typeface="Roboto"/>
              </a:rPr>
              <a:t>Measure and Set Goals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Set a click rate goal of 5%. Measure this data to determine (1) what percentage of employees fall victim to the phishing and (2) which employees specifically.</a:t>
            </a:r>
            <a:endParaRPr sz="1200">
              <a:solidFill>
                <a:schemeClr val="dk2"/>
              </a:solidFill>
              <a:latin typeface="Roboto"/>
              <a:ea typeface="Roboto"/>
              <a:cs typeface="Roboto"/>
              <a:sym typeface="Roboto"/>
            </a:endParaRPr>
          </a:p>
        </p:txBody>
      </p:sp>
      <p:sp>
        <p:nvSpPr>
          <p:cNvPr id="973" name="Google Shape;973;p98"/>
          <p:cNvSpPr txBox="1"/>
          <p:nvPr/>
        </p:nvSpPr>
        <p:spPr>
          <a:xfrm>
            <a:off x="0" y="3712550"/>
            <a:ext cx="28095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200">
                <a:solidFill>
                  <a:schemeClr val="dk2"/>
                </a:solidFill>
                <a:latin typeface="Roboto"/>
                <a:ea typeface="Roboto"/>
                <a:cs typeface="Roboto"/>
                <a:sym typeface="Roboto"/>
              </a:rPr>
              <a:t>Involve the Right People</a:t>
            </a:r>
            <a:br>
              <a:rPr lang="en" sz="1200">
                <a:solidFill>
                  <a:schemeClr val="dk2"/>
                </a:solidFill>
                <a:highlight>
                  <a:schemeClr val="accent5"/>
                </a:highlight>
                <a:latin typeface="Roboto"/>
                <a:ea typeface="Roboto"/>
                <a:cs typeface="Roboto"/>
                <a:sym typeface="Roboto"/>
              </a:rPr>
            </a:br>
            <a:r>
              <a:rPr lang="en" sz="1200">
                <a:solidFill>
                  <a:schemeClr val="dk2"/>
                </a:solidFill>
                <a:latin typeface="Roboto"/>
                <a:ea typeface="Roboto"/>
                <a:cs typeface="Roboto"/>
                <a:sym typeface="Roboto"/>
              </a:rPr>
              <a:t>Inform at least the CEO and/or CIO, director of HR, and the person in charge of internal training and communication. </a:t>
            </a:r>
            <a:endParaRPr sz="1200">
              <a:solidFill>
                <a:schemeClr val="dk2"/>
              </a:solidFill>
              <a:latin typeface="Roboto"/>
              <a:ea typeface="Roboto"/>
              <a:cs typeface="Roboto"/>
              <a:sym typeface="Roboto"/>
            </a:endParaRPr>
          </a:p>
        </p:txBody>
      </p:sp>
      <p:sp>
        <p:nvSpPr>
          <p:cNvPr id="974" name="Google Shape;974;p98"/>
          <p:cNvSpPr txBox="1"/>
          <p:nvPr/>
        </p:nvSpPr>
        <p:spPr>
          <a:xfrm>
            <a:off x="5715000" y="4245950"/>
            <a:ext cx="30504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200">
                <a:solidFill>
                  <a:schemeClr val="dk2"/>
                </a:solidFill>
                <a:latin typeface="Roboto"/>
                <a:ea typeface="Roboto"/>
                <a:cs typeface="Roboto"/>
                <a:sym typeface="Roboto"/>
              </a:rPr>
              <a:t>Create an Action Plan </a:t>
            </a:r>
            <a:endParaRPr b="1"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Develop training to cover the dangers of malware and how malware can spread through phishing and vishing. </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0" lvl="0" marL="0" rtl="0" algn="l">
              <a:spcBef>
                <a:spcPts val="1600"/>
              </a:spcBef>
              <a:spcAft>
                <a:spcPts val="1600"/>
              </a:spcAft>
              <a:buNone/>
            </a:pPr>
            <a:r>
              <a:t/>
            </a:r>
            <a:endParaRPr sz="1200">
              <a:solidFill>
                <a:schemeClr val="dk2"/>
              </a:solidFill>
              <a:latin typeface="Roboto"/>
              <a:ea typeface="Roboto"/>
              <a:cs typeface="Roboto"/>
              <a:sym typeface="Roboto"/>
            </a:endParaRPr>
          </a:p>
        </p:txBody>
      </p:sp>
      <p:sp>
        <p:nvSpPr>
          <p:cNvPr id="975" name="Google Shape;975;p98"/>
          <p:cNvSpPr txBox="1"/>
          <p:nvPr/>
        </p:nvSpPr>
        <p:spPr>
          <a:xfrm>
            <a:off x="457250" y="1969750"/>
            <a:ext cx="29808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976" name="Google Shape;976;p98"/>
          <p:cNvPicPr preferRelativeResize="0"/>
          <p:nvPr/>
        </p:nvPicPr>
        <p:blipFill>
          <a:blip r:embed="rId3">
            <a:alphaModFix/>
          </a:blip>
          <a:stretch>
            <a:fillRect/>
          </a:stretch>
        </p:blipFill>
        <p:spPr>
          <a:xfrm>
            <a:off x="224300" y="329450"/>
            <a:ext cx="399107" cy="393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99"/>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982" name="Google Shape;982;p99"/>
          <p:cNvSpPr txBox="1"/>
          <p:nvPr>
            <p:ph idx="4294967295" type="subTitle"/>
          </p:nvPr>
        </p:nvSpPr>
        <p:spPr>
          <a:xfrm>
            <a:off x="818575" y="1726975"/>
            <a:ext cx="6518700" cy="2116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You’ll play the role of a security consultant contracted by a local bank to develop a plan for strengthening physical security. </a:t>
            </a:r>
            <a:endParaRPr/>
          </a:p>
        </p:txBody>
      </p:sp>
      <p:sp>
        <p:nvSpPr>
          <p:cNvPr id="983" name="Google Shape;983;p99"/>
          <p:cNvSpPr txBox="1"/>
          <p:nvPr>
            <p:ph idx="4294967295" type="title"/>
          </p:nvPr>
        </p:nvSpPr>
        <p:spPr>
          <a:xfrm>
            <a:off x="905100" y="539075"/>
            <a:ext cx="8248200" cy="323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 sz="1800"/>
              <a:t>Applying the security culture framework Part 1</a:t>
            </a:r>
            <a:endParaRPr b="0" sz="18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03"/>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Security Culture Framework:</a:t>
            </a:r>
            <a:r>
              <a:rPr b="0" lang="en"/>
              <a:t> </a:t>
            </a:r>
            <a:br>
              <a:rPr b="0" lang="en"/>
            </a:br>
            <a:r>
              <a:rPr lang="en">
                <a:latin typeface="Roboto"/>
                <a:ea typeface="Roboto"/>
                <a:cs typeface="Roboto"/>
                <a:sym typeface="Roboto"/>
              </a:rPr>
              <a:t>Action Plan</a:t>
            </a:r>
            <a:r>
              <a:rPr b="0" lang="en"/>
              <a:t> </a:t>
            </a:r>
            <a:endParaRPr b="0"/>
          </a:p>
        </p:txBody>
      </p:sp>
      <p:pic>
        <p:nvPicPr>
          <p:cNvPr id="1001" name="Google Shape;1001;p103"/>
          <p:cNvPicPr preferRelativeResize="0"/>
          <p:nvPr/>
        </p:nvPicPr>
        <p:blipFill>
          <a:blip r:embed="rId3">
            <a:alphaModFix/>
          </a:blip>
          <a:stretch>
            <a:fillRect/>
          </a:stretch>
        </p:blipFill>
        <p:spPr>
          <a:xfrm>
            <a:off x="4183250" y="1560250"/>
            <a:ext cx="777500" cy="10686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104"/>
          <p:cNvSpPr txBox="1"/>
          <p:nvPr>
            <p:ph type="title"/>
          </p:nvPr>
        </p:nvSpPr>
        <p:spPr>
          <a:xfrm>
            <a:off x="0" y="2217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Back to our Security Scenario…</a:t>
            </a:r>
            <a:endParaRPr/>
          </a:p>
        </p:txBody>
      </p:sp>
      <p:sp>
        <p:nvSpPr>
          <p:cNvPr id="1007" name="Google Shape;1007;p104"/>
          <p:cNvSpPr txBox="1"/>
          <p:nvPr/>
        </p:nvSpPr>
        <p:spPr>
          <a:xfrm>
            <a:off x="742950" y="1284725"/>
            <a:ext cx="7347300" cy="3006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Employees are receiving emails to their work accounts from external sources.</a:t>
            </a:r>
            <a:endParaRPr sz="1800">
              <a:solidFill>
                <a:schemeClr val="dk2"/>
              </a:solidFill>
              <a:latin typeface="Roboto"/>
              <a:ea typeface="Roboto"/>
              <a:cs typeface="Roboto"/>
              <a:sym typeface="Roboto"/>
            </a:endParaRPr>
          </a:p>
          <a:p>
            <a:pPr indent="-342900" lvl="0" marL="457200" rtl="0" algn="l">
              <a:lnSpc>
                <a:spcPct val="115000"/>
              </a:lnSpc>
              <a:spcBef>
                <a:spcPts val="1000"/>
              </a:spcBef>
              <a:spcAft>
                <a:spcPts val="0"/>
              </a:spcAft>
              <a:buClr>
                <a:schemeClr val="dk2"/>
              </a:buClr>
              <a:buSzPts val="1800"/>
              <a:buFont typeface="Roboto"/>
              <a:buChar char="●"/>
            </a:pPr>
            <a:r>
              <a:rPr lang="en" sz="1800">
                <a:solidFill>
                  <a:schemeClr val="dk2"/>
                </a:solidFill>
                <a:latin typeface="Roboto"/>
                <a:ea typeface="Roboto"/>
                <a:cs typeface="Roboto"/>
                <a:sym typeface="Roboto"/>
              </a:rPr>
              <a:t>Employees are clicking links and downloading attachments in these emails.</a:t>
            </a:r>
            <a:endParaRPr sz="1800">
              <a:solidFill>
                <a:schemeClr val="dk2"/>
              </a:solidFill>
              <a:latin typeface="Roboto"/>
              <a:ea typeface="Roboto"/>
              <a:cs typeface="Roboto"/>
              <a:sym typeface="Roboto"/>
            </a:endParaRPr>
          </a:p>
          <a:p>
            <a:pPr indent="-342900" lvl="0" marL="457200" rtl="0" algn="l">
              <a:lnSpc>
                <a:spcPct val="115000"/>
              </a:lnSpc>
              <a:spcBef>
                <a:spcPts val="1000"/>
              </a:spcBef>
              <a:spcAft>
                <a:spcPts val="1000"/>
              </a:spcAft>
              <a:buClr>
                <a:schemeClr val="dk2"/>
              </a:buClr>
              <a:buSzPts val="1800"/>
              <a:buFont typeface="Roboto"/>
              <a:buChar char="●"/>
            </a:pPr>
            <a:r>
              <a:rPr lang="en" sz="1800">
                <a:solidFill>
                  <a:schemeClr val="dk2"/>
                </a:solidFill>
                <a:latin typeface="Roboto"/>
                <a:ea typeface="Roboto"/>
                <a:cs typeface="Roboto"/>
                <a:sym typeface="Roboto"/>
              </a:rPr>
              <a:t>The organization’s security team determined that many of the links and attachments contain malware. </a:t>
            </a:r>
            <a:endParaRPr sz="1800">
              <a:solidFill>
                <a:schemeClr val="dk2"/>
              </a:solidFill>
              <a:latin typeface="Roboto"/>
              <a:ea typeface="Roboto"/>
              <a:cs typeface="Roboto"/>
              <a:sym typeface="Roboto"/>
            </a:endParaRPr>
          </a:p>
        </p:txBody>
      </p:sp>
      <p:pic>
        <p:nvPicPr>
          <p:cNvPr id="1008" name="Google Shape;1008;p104"/>
          <p:cNvPicPr preferRelativeResize="0"/>
          <p:nvPr/>
        </p:nvPicPr>
        <p:blipFill>
          <a:blip r:embed="rId3">
            <a:alphaModFix/>
          </a:blip>
          <a:stretch>
            <a:fillRect/>
          </a:stretch>
        </p:blipFill>
        <p:spPr>
          <a:xfrm>
            <a:off x="224250" y="324625"/>
            <a:ext cx="399097" cy="3936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105"/>
          <p:cNvSpPr txBox="1"/>
          <p:nvPr>
            <p:ph type="title"/>
          </p:nvPr>
        </p:nvSpPr>
        <p:spPr>
          <a:xfrm>
            <a:off x="3145525" y="1207442"/>
            <a:ext cx="5500500" cy="268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400">
                <a:latin typeface="Roboto"/>
                <a:ea typeface="Roboto"/>
                <a:cs typeface="Roboto"/>
                <a:sym typeface="Roboto"/>
              </a:rPr>
              <a:t>Let’s go through the </a:t>
            </a:r>
            <a:endParaRPr b="0" sz="3400">
              <a:latin typeface="Roboto"/>
              <a:ea typeface="Roboto"/>
              <a:cs typeface="Roboto"/>
              <a:sym typeface="Roboto"/>
            </a:endParaRPr>
          </a:p>
          <a:p>
            <a:pPr indent="0" lvl="0" marL="0" rtl="0" algn="l">
              <a:spcBef>
                <a:spcPts val="0"/>
              </a:spcBef>
              <a:spcAft>
                <a:spcPts val="0"/>
              </a:spcAft>
              <a:buNone/>
            </a:pPr>
            <a:r>
              <a:rPr b="0" lang="en" sz="3400">
                <a:latin typeface="Roboto"/>
                <a:ea typeface="Roboto"/>
                <a:cs typeface="Roboto"/>
                <a:sym typeface="Roboto"/>
              </a:rPr>
              <a:t>steps again, with the </a:t>
            </a:r>
            <a:endParaRPr b="0" sz="3400">
              <a:latin typeface="Roboto"/>
              <a:ea typeface="Roboto"/>
              <a:cs typeface="Roboto"/>
              <a:sym typeface="Roboto"/>
            </a:endParaRPr>
          </a:p>
          <a:p>
            <a:pPr indent="0" lvl="0" marL="0" rtl="0" algn="l">
              <a:spcBef>
                <a:spcPts val="0"/>
              </a:spcBef>
              <a:spcAft>
                <a:spcPts val="0"/>
              </a:spcAft>
              <a:buNone/>
            </a:pPr>
            <a:r>
              <a:rPr lang="en" sz="3400">
                <a:latin typeface="Roboto"/>
                <a:ea typeface="Roboto"/>
                <a:cs typeface="Roboto"/>
                <a:sym typeface="Roboto"/>
              </a:rPr>
              <a:t>added context </a:t>
            </a:r>
            <a:r>
              <a:rPr b="0" lang="en" sz="3400">
                <a:latin typeface="Roboto"/>
                <a:ea typeface="Roboto"/>
                <a:cs typeface="Roboto"/>
                <a:sym typeface="Roboto"/>
              </a:rPr>
              <a:t>of coordinating with </a:t>
            </a:r>
            <a:br>
              <a:rPr b="0" lang="en" sz="3400">
                <a:latin typeface="Roboto"/>
                <a:ea typeface="Roboto"/>
                <a:cs typeface="Roboto"/>
                <a:sym typeface="Roboto"/>
              </a:rPr>
            </a:br>
            <a:r>
              <a:rPr b="0" lang="en" sz="3400">
                <a:latin typeface="Roboto"/>
                <a:ea typeface="Roboto"/>
                <a:cs typeface="Roboto"/>
                <a:sym typeface="Roboto"/>
              </a:rPr>
              <a:t>other team members.</a:t>
            </a:r>
            <a:endParaRPr b="0" sz="3400">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106"/>
          <p:cNvSpPr txBox="1"/>
          <p:nvPr>
            <p:ph type="title"/>
          </p:nvPr>
        </p:nvSpPr>
        <p:spPr>
          <a:xfrm>
            <a:off x="0" y="2217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1: </a:t>
            </a:r>
            <a:r>
              <a:rPr lang="en"/>
              <a:t>Security</a:t>
            </a:r>
            <a:r>
              <a:rPr lang="en"/>
              <a:t> Culture Framework Steps </a:t>
            </a:r>
            <a:endParaRPr/>
          </a:p>
        </p:txBody>
      </p:sp>
      <p:sp>
        <p:nvSpPr>
          <p:cNvPr id="1019" name="Google Shape;1019;p106"/>
          <p:cNvSpPr txBox="1"/>
          <p:nvPr/>
        </p:nvSpPr>
        <p:spPr>
          <a:xfrm>
            <a:off x="457200" y="1082078"/>
            <a:ext cx="7943700" cy="11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The security culture framework (SCF) team meets to assess the impact of the phishing incident and the risk posed by future campaigns. </a:t>
            </a:r>
            <a:endParaRPr sz="1800">
              <a:solidFill>
                <a:schemeClr val="dk2"/>
              </a:solidFill>
              <a:latin typeface="Roboto"/>
              <a:ea typeface="Roboto"/>
              <a:cs typeface="Roboto"/>
              <a:sym typeface="Roboto"/>
            </a:endParaRPr>
          </a:p>
          <a:p>
            <a:pPr indent="0" lvl="0" marL="0" rtl="0" algn="l">
              <a:spcBef>
                <a:spcPts val="1000"/>
              </a:spcBef>
              <a:spcAft>
                <a:spcPts val="0"/>
              </a:spcAft>
              <a:buNone/>
            </a:pPr>
            <a:r>
              <a:rPr lang="en" sz="1800">
                <a:solidFill>
                  <a:schemeClr val="dk2"/>
                </a:solidFill>
                <a:latin typeface="Roboto"/>
                <a:ea typeface="Roboto"/>
                <a:cs typeface="Roboto"/>
                <a:sym typeface="Roboto"/>
              </a:rPr>
              <a:t>This discussion includes: </a:t>
            </a:r>
            <a:endParaRPr sz="1800">
              <a:solidFill>
                <a:schemeClr val="dk2"/>
              </a:solidFill>
              <a:latin typeface="Roboto"/>
              <a:ea typeface="Roboto"/>
              <a:cs typeface="Roboto"/>
              <a:sym typeface="Roboto"/>
            </a:endParaRPr>
          </a:p>
          <a:p>
            <a:pPr indent="0" lvl="0" marL="0" rtl="0" algn="l">
              <a:spcBef>
                <a:spcPts val="1000"/>
              </a:spcBef>
              <a:spcAft>
                <a:spcPts val="1000"/>
              </a:spcAft>
              <a:buNone/>
            </a:pPr>
            <a:r>
              <a:t/>
            </a:r>
            <a:endParaRPr sz="1800">
              <a:solidFill>
                <a:schemeClr val="dk2"/>
              </a:solidFill>
              <a:latin typeface="Roboto"/>
              <a:ea typeface="Roboto"/>
              <a:cs typeface="Roboto"/>
              <a:sym typeface="Roboto"/>
            </a:endParaRPr>
          </a:p>
        </p:txBody>
      </p:sp>
      <p:pic>
        <p:nvPicPr>
          <p:cNvPr id="1020" name="Google Shape;1020;p106"/>
          <p:cNvPicPr preferRelativeResize="0"/>
          <p:nvPr/>
        </p:nvPicPr>
        <p:blipFill>
          <a:blip r:embed="rId3">
            <a:alphaModFix/>
          </a:blip>
          <a:stretch>
            <a:fillRect/>
          </a:stretch>
        </p:blipFill>
        <p:spPr>
          <a:xfrm>
            <a:off x="224250" y="324625"/>
            <a:ext cx="399097" cy="393600"/>
          </a:xfrm>
          <a:prstGeom prst="rect">
            <a:avLst/>
          </a:prstGeom>
          <a:noFill/>
          <a:ln>
            <a:noFill/>
          </a:ln>
        </p:spPr>
      </p:pic>
      <p:grpSp>
        <p:nvGrpSpPr>
          <p:cNvPr id="1021" name="Google Shape;1021;p106"/>
          <p:cNvGrpSpPr/>
          <p:nvPr/>
        </p:nvGrpSpPr>
        <p:grpSpPr>
          <a:xfrm>
            <a:off x="813812" y="2371315"/>
            <a:ext cx="734015" cy="486300"/>
            <a:chOff x="457200" y="1466425"/>
            <a:chExt cx="776900" cy="486300"/>
          </a:xfrm>
        </p:grpSpPr>
        <p:sp>
          <p:nvSpPr>
            <p:cNvPr id="1022" name="Google Shape;1022;p106"/>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2900" u="none" cap="none" strike="noStrike">
                  <a:solidFill>
                    <a:srgbClr val="082D49"/>
                  </a:solidFill>
                  <a:latin typeface="Roboto"/>
                  <a:ea typeface="Roboto"/>
                  <a:cs typeface="Roboto"/>
                  <a:sym typeface="Roboto"/>
                </a:rPr>
                <a:t>01</a:t>
              </a:r>
              <a:endParaRPr i="0" sz="2900" u="none" cap="none" strike="noStrike">
                <a:solidFill>
                  <a:srgbClr val="082D49"/>
                </a:solidFill>
                <a:latin typeface="Roboto"/>
                <a:ea typeface="Roboto"/>
                <a:cs typeface="Roboto"/>
                <a:sym typeface="Roboto"/>
              </a:endParaRPr>
            </a:p>
          </p:txBody>
        </p:sp>
        <p:sp>
          <p:nvSpPr>
            <p:cNvPr id="1023" name="Google Shape;1023;p106"/>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300" u="none" cap="none" strike="noStrike">
                <a:solidFill>
                  <a:srgbClr val="000000"/>
                </a:solidFill>
                <a:latin typeface="Roboto"/>
                <a:ea typeface="Roboto"/>
                <a:cs typeface="Roboto"/>
                <a:sym typeface="Roboto"/>
              </a:endParaRPr>
            </a:p>
          </p:txBody>
        </p:sp>
      </p:grpSp>
      <p:grpSp>
        <p:nvGrpSpPr>
          <p:cNvPr id="1024" name="Google Shape;1024;p106"/>
          <p:cNvGrpSpPr/>
          <p:nvPr/>
        </p:nvGrpSpPr>
        <p:grpSpPr>
          <a:xfrm>
            <a:off x="813812" y="3231912"/>
            <a:ext cx="734015" cy="486300"/>
            <a:chOff x="457200" y="1466425"/>
            <a:chExt cx="776900" cy="486300"/>
          </a:xfrm>
        </p:grpSpPr>
        <p:sp>
          <p:nvSpPr>
            <p:cNvPr id="1025" name="Google Shape;1025;p106"/>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2900" u="none" cap="none" strike="noStrike">
                  <a:solidFill>
                    <a:srgbClr val="FFFFFF"/>
                  </a:solidFill>
                  <a:latin typeface="Roboto"/>
                  <a:ea typeface="Roboto"/>
                  <a:cs typeface="Roboto"/>
                  <a:sym typeface="Roboto"/>
                </a:rPr>
                <a:t>02</a:t>
              </a:r>
              <a:endParaRPr i="0" sz="2900" u="none" cap="none" strike="noStrike">
                <a:solidFill>
                  <a:srgbClr val="FFFFFF"/>
                </a:solidFill>
                <a:latin typeface="Roboto"/>
                <a:ea typeface="Roboto"/>
                <a:cs typeface="Roboto"/>
                <a:sym typeface="Roboto"/>
              </a:endParaRPr>
            </a:p>
          </p:txBody>
        </p:sp>
        <p:sp>
          <p:nvSpPr>
            <p:cNvPr id="1026" name="Google Shape;1026;p106"/>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300" u="none" cap="none" strike="noStrike">
                <a:solidFill>
                  <a:srgbClr val="000000"/>
                </a:solidFill>
                <a:latin typeface="Roboto"/>
                <a:ea typeface="Roboto"/>
                <a:cs typeface="Roboto"/>
                <a:sym typeface="Roboto"/>
              </a:endParaRPr>
            </a:p>
          </p:txBody>
        </p:sp>
      </p:grpSp>
      <p:grpSp>
        <p:nvGrpSpPr>
          <p:cNvPr id="1027" name="Google Shape;1027;p106"/>
          <p:cNvGrpSpPr/>
          <p:nvPr/>
        </p:nvGrpSpPr>
        <p:grpSpPr>
          <a:xfrm>
            <a:off x="813812" y="4165709"/>
            <a:ext cx="734015" cy="486300"/>
            <a:chOff x="457200" y="1539625"/>
            <a:chExt cx="776900" cy="486300"/>
          </a:xfrm>
        </p:grpSpPr>
        <p:sp>
          <p:nvSpPr>
            <p:cNvPr id="1028" name="Google Shape;1028;p106"/>
            <p:cNvSpPr/>
            <p:nvPr/>
          </p:nvSpPr>
          <p:spPr>
            <a:xfrm>
              <a:off x="457200" y="15396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2900" u="none" cap="none" strike="noStrike">
                  <a:solidFill>
                    <a:srgbClr val="FFFFFF"/>
                  </a:solidFill>
                  <a:latin typeface="Roboto"/>
                  <a:ea typeface="Roboto"/>
                  <a:cs typeface="Roboto"/>
                  <a:sym typeface="Roboto"/>
                </a:rPr>
                <a:t>03</a:t>
              </a:r>
              <a:endParaRPr i="0" sz="2900" u="none" cap="none" strike="noStrike">
                <a:solidFill>
                  <a:srgbClr val="FFFFFF"/>
                </a:solidFill>
                <a:latin typeface="Roboto"/>
                <a:ea typeface="Roboto"/>
                <a:cs typeface="Roboto"/>
                <a:sym typeface="Roboto"/>
              </a:endParaRPr>
            </a:p>
          </p:txBody>
        </p:sp>
        <p:sp>
          <p:nvSpPr>
            <p:cNvPr id="1029" name="Google Shape;1029;p106"/>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300" u="none" cap="none" strike="noStrike">
                <a:solidFill>
                  <a:srgbClr val="000000"/>
                </a:solidFill>
                <a:latin typeface="Roboto"/>
                <a:ea typeface="Roboto"/>
                <a:cs typeface="Roboto"/>
                <a:sym typeface="Roboto"/>
              </a:endParaRPr>
            </a:p>
          </p:txBody>
        </p:sp>
      </p:grpSp>
      <p:sp>
        <p:nvSpPr>
          <p:cNvPr id="1030" name="Google Shape;1030;p106"/>
          <p:cNvSpPr/>
          <p:nvPr/>
        </p:nvSpPr>
        <p:spPr>
          <a:xfrm>
            <a:off x="1659776" y="2371325"/>
            <a:ext cx="67233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031" name="Google Shape;1031;p106"/>
          <p:cNvSpPr/>
          <p:nvPr/>
        </p:nvSpPr>
        <p:spPr>
          <a:xfrm>
            <a:off x="1659775" y="3026176"/>
            <a:ext cx="6723300" cy="8544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32" name="Google Shape;1032;p106"/>
          <p:cNvSpPr/>
          <p:nvPr/>
        </p:nvSpPr>
        <p:spPr>
          <a:xfrm>
            <a:off x="1659775" y="4092500"/>
            <a:ext cx="6723300" cy="6327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33" name="Google Shape;1033;p106"/>
          <p:cNvSpPr txBox="1"/>
          <p:nvPr/>
        </p:nvSpPr>
        <p:spPr>
          <a:xfrm>
            <a:off x="1677657" y="2363625"/>
            <a:ext cx="67233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1034" name="Google Shape;1034;p106"/>
          <p:cNvSpPr txBox="1"/>
          <p:nvPr/>
        </p:nvSpPr>
        <p:spPr>
          <a:xfrm>
            <a:off x="1659775" y="4115451"/>
            <a:ext cx="6723300" cy="58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Setting a target click-through rate. The team might decide that a 5% click-through rate is acceptable. </a:t>
            </a:r>
            <a:endParaRPr sz="1500">
              <a:solidFill>
                <a:schemeClr val="dk2"/>
              </a:solidFill>
              <a:latin typeface="Roboto"/>
              <a:ea typeface="Roboto"/>
              <a:cs typeface="Roboto"/>
              <a:sym typeface="Roboto"/>
            </a:endParaRPr>
          </a:p>
        </p:txBody>
      </p:sp>
      <p:sp>
        <p:nvSpPr>
          <p:cNvPr id="1035" name="Google Shape;1035;p106"/>
          <p:cNvSpPr txBox="1"/>
          <p:nvPr/>
        </p:nvSpPr>
        <p:spPr>
          <a:xfrm>
            <a:off x="1659775" y="3156112"/>
            <a:ext cx="6723300" cy="58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Using a pentesting phishing attack to show how many employees </a:t>
            </a:r>
            <a:r>
              <a:rPr lang="en" sz="1500">
                <a:solidFill>
                  <a:schemeClr val="dk2"/>
                </a:solidFill>
                <a:latin typeface="Roboto"/>
                <a:ea typeface="Roboto"/>
                <a:cs typeface="Roboto"/>
                <a:sym typeface="Roboto"/>
              </a:rPr>
              <a:t>download</a:t>
            </a:r>
            <a:r>
              <a:rPr lang="en" sz="1500">
                <a:solidFill>
                  <a:schemeClr val="dk2"/>
                </a:solidFill>
                <a:latin typeface="Roboto"/>
                <a:ea typeface="Roboto"/>
                <a:cs typeface="Roboto"/>
                <a:sym typeface="Roboto"/>
              </a:rPr>
              <a:t> malicious files. This assessment might find a 10% click-through rate, meaning that 10% of employees downloaded malicious email attachments. </a:t>
            </a:r>
            <a:endParaRPr sz="1500">
              <a:solidFill>
                <a:schemeClr val="dk2"/>
              </a:solidFill>
              <a:latin typeface="Roboto"/>
              <a:ea typeface="Roboto"/>
              <a:cs typeface="Roboto"/>
              <a:sym typeface="Roboto"/>
            </a:endParaRPr>
          </a:p>
        </p:txBody>
      </p:sp>
      <p:sp>
        <p:nvSpPr>
          <p:cNvPr id="1036" name="Google Shape;1036;p106"/>
          <p:cNvSpPr txBox="1"/>
          <p:nvPr/>
        </p:nvSpPr>
        <p:spPr>
          <a:xfrm>
            <a:off x="1677657" y="2363588"/>
            <a:ext cx="67233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An assessment of the damage done by the previous phishing incident.</a:t>
            </a:r>
            <a:endParaRPr sz="1500">
              <a:solidFill>
                <a:schemeClr val="dk2"/>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07"/>
          <p:cNvSpPr txBox="1"/>
          <p:nvPr>
            <p:ph type="title"/>
          </p:nvPr>
        </p:nvSpPr>
        <p:spPr>
          <a:xfrm>
            <a:off x="0" y="2217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2: Security Culture Framework Steps </a:t>
            </a:r>
            <a:endParaRPr/>
          </a:p>
        </p:txBody>
      </p:sp>
      <p:pic>
        <p:nvPicPr>
          <p:cNvPr id="1042" name="Google Shape;1042;p107"/>
          <p:cNvPicPr preferRelativeResize="0"/>
          <p:nvPr/>
        </p:nvPicPr>
        <p:blipFill>
          <a:blip r:embed="rId3">
            <a:alphaModFix/>
          </a:blip>
          <a:stretch>
            <a:fillRect/>
          </a:stretch>
        </p:blipFill>
        <p:spPr>
          <a:xfrm>
            <a:off x="224250" y="324625"/>
            <a:ext cx="399097" cy="393600"/>
          </a:xfrm>
          <a:prstGeom prst="rect">
            <a:avLst/>
          </a:prstGeom>
          <a:noFill/>
          <a:ln>
            <a:noFill/>
          </a:ln>
        </p:spPr>
      </p:pic>
      <p:sp>
        <p:nvSpPr>
          <p:cNvPr id="1043" name="Google Shape;1043;p107"/>
          <p:cNvSpPr txBox="1"/>
          <p:nvPr/>
        </p:nvSpPr>
        <p:spPr>
          <a:xfrm>
            <a:off x="457200" y="1085975"/>
            <a:ext cx="7797600" cy="29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The SCF team manager (in this case, the IR manager) meets with the CISO to explain that the previous phishing attack was successful because 10% of employees downloaded files from unknown email addresses.</a:t>
            </a:r>
            <a:endParaRPr sz="1800">
              <a:solidFill>
                <a:schemeClr val="dk2"/>
              </a:solidFill>
              <a:latin typeface="Roboto"/>
              <a:ea typeface="Roboto"/>
              <a:cs typeface="Roboto"/>
              <a:sym typeface="Roboto"/>
            </a:endParaRPr>
          </a:p>
          <a:p>
            <a:pPr indent="0" lvl="0" marL="0" rtl="0" algn="l">
              <a:lnSpc>
                <a:spcPct val="115000"/>
              </a:lnSpc>
              <a:spcBef>
                <a:spcPts val="1000"/>
              </a:spcBef>
              <a:spcAft>
                <a:spcPts val="1000"/>
              </a:spcAft>
              <a:buNone/>
            </a:pPr>
            <a:r>
              <a:rPr lang="en" sz="1800">
                <a:solidFill>
                  <a:schemeClr val="dk2"/>
                </a:solidFill>
                <a:latin typeface="Roboto"/>
                <a:ea typeface="Roboto"/>
                <a:cs typeface="Roboto"/>
                <a:sym typeface="Roboto"/>
              </a:rPr>
              <a:t>They request a budget to carry out a plan that will bring this number down to 5%, and explain how it will profit the business. </a:t>
            </a:r>
            <a:endParaRPr sz="1800">
              <a:solidFill>
                <a:schemeClr val="dk2"/>
              </a:solidFill>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08"/>
          <p:cNvSpPr txBox="1"/>
          <p:nvPr>
            <p:ph type="title"/>
          </p:nvPr>
        </p:nvSpPr>
        <p:spPr>
          <a:xfrm>
            <a:off x="0" y="2217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3: Security Culture Framework Steps </a:t>
            </a:r>
            <a:endParaRPr/>
          </a:p>
        </p:txBody>
      </p:sp>
      <p:pic>
        <p:nvPicPr>
          <p:cNvPr id="1049" name="Google Shape;1049;p108"/>
          <p:cNvPicPr preferRelativeResize="0"/>
          <p:nvPr/>
        </p:nvPicPr>
        <p:blipFill>
          <a:blip r:embed="rId3">
            <a:alphaModFix/>
          </a:blip>
          <a:stretch>
            <a:fillRect/>
          </a:stretch>
        </p:blipFill>
        <p:spPr>
          <a:xfrm>
            <a:off x="224250" y="324625"/>
            <a:ext cx="399097" cy="393600"/>
          </a:xfrm>
          <a:prstGeom prst="rect">
            <a:avLst/>
          </a:prstGeom>
          <a:noFill/>
          <a:ln>
            <a:noFill/>
          </a:ln>
        </p:spPr>
      </p:pic>
      <p:sp>
        <p:nvSpPr>
          <p:cNvPr id="1050" name="Google Shape;1050;p108"/>
          <p:cNvSpPr txBox="1"/>
          <p:nvPr/>
        </p:nvSpPr>
        <p:spPr>
          <a:xfrm>
            <a:off x="457200" y="1085975"/>
            <a:ext cx="7797600" cy="29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The SCF team develops a training plan to educate employees.</a:t>
            </a:r>
            <a:endParaRPr sz="1800">
              <a:solidFill>
                <a:schemeClr val="dk2"/>
              </a:solidFill>
              <a:latin typeface="Roboto"/>
              <a:ea typeface="Roboto"/>
              <a:cs typeface="Roboto"/>
              <a:sym typeface="Roboto"/>
            </a:endParaRPr>
          </a:p>
          <a:p>
            <a:pPr indent="0" lvl="0" marL="0" rtl="0" algn="l">
              <a:lnSpc>
                <a:spcPct val="115000"/>
              </a:lnSpc>
              <a:spcBef>
                <a:spcPts val="1000"/>
              </a:spcBef>
              <a:spcAft>
                <a:spcPts val="0"/>
              </a:spcAft>
              <a:buNone/>
            </a:pPr>
            <a:r>
              <a:rPr lang="en" sz="1800">
                <a:solidFill>
                  <a:schemeClr val="dk2"/>
                </a:solidFill>
                <a:latin typeface="Roboto"/>
                <a:ea typeface="Roboto"/>
                <a:cs typeface="Roboto"/>
                <a:sym typeface="Roboto"/>
              </a:rPr>
              <a:t>In addition, the SCF team develops a supplemental security awareness training plan.</a:t>
            </a:r>
            <a:endParaRPr sz="1800">
              <a:solidFill>
                <a:schemeClr val="dk2"/>
              </a:solidFill>
              <a:latin typeface="Roboto"/>
              <a:ea typeface="Roboto"/>
              <a:cs typeface="Roboto"/>
              <a:sym typeface="Roboto"/>
            </a:endParaRPr>
          </a:p>
          <a:p>
            <a:pPr indent="0" lvl="0" marL="0" rtl="0" algn="l">
              <a:lnSpc>
                <a:spcPct val="115000"/>
              </a:lnSpc>
              <a:spcBef>
                <a:spcPts val="1000"/>
              </a:spcBef>
              <a:spcAft>
                <a:spcPts val="1000"/>
              </a:spcAft>
              <a:buNone/>
            </a:pPr>
            <a:r>
              <a:rPr lang="en" sz="1800">
                <a:solidFill>
                  <a:schemeClr val="dk2"/>
                </a:solidFill>
                <a:latin typeface="Roboto"/>
                <a:ea typeface="Roboto"/>
                <a:cs typeface="Roboto"/>
                <a:sym typeface="Roboto"/>
              </a:rPr>
              <a:t>This plan will only be delivered to employees who continue to click malicious links after training. </a:t>
            </a:r>
            <a:endParaRPr sz="1800">
              <a:solidFill>
                <a:schemeClr val="dk2"/>
              </a:solidFill>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09"/>
          <p:cNvSpPr txBox="1"/>
          <p:nvPr>
            <p:ph type="title"/>
          </p:nvPr>
        </p:nvSpPr>
        <p:spPr>
          <a:xfrm>
            <a:off x="0" y="2217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4: Security Culture Framework Steps </a:t>
            </a:r>
            <a:endParaRPr/>
          </a:p>
        </p:txBody>
      </p:sp>
      <p:pic>
        <p:nvPicPr>
          <p:cNvPr id="1056" name="Google Shape;1056;p109"/>
          <p:cNvPicPr preferRelativeResize="0"/>
          <p:nvPr/>
        </p:nvPicPr>
        <p:blipFill>
          <a:blip r:embed="rId3">
            <a:alphaModFix/>
          </a:blip>
          <a:stretch>
            <a:fillRect/>
          </a:stretch>
        </p:blipFill>
        <p:spPr>
          <a:xfrm>
            <a:off x="224250" y="324625"/>
            <a:ext cx="399097" cy="393600"/>
          </a:xfrm>
          <a:prstGeom prst="rect">
            <a:avLst/>
          </a:prstGeom>
          <a:noFill/>
          <a:ln>
            <a:noFill/>
          </a:ln>
        </p:spPr>
      </p:pic>
      <p:sp>
        <p:nvSpPr>
          <p:cNvPr id="1057" name="Google Shape;1057;p109"/>
          <p:cNvSpPr txBox="1"/>
          <p:nvPr/>
        </p:nvSpPr>
        <p:spPr>
          <a:xfrm>
            <a:off x="457200" y="1039500"/>
            <a:ext cx="8686800" cy="12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After developing the training, the SCF team decides on incentives and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disincentives. These will be awarded based on how employees behave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during penetration tests and security audits. </a:t>
            </a:r>
            <a:endParaRPr sz="1800">
              <a:solidFill>
                <a:schemeClr val="dk2"/>
              </a:solidFill>
              <a:latin typeface="Roboto"/>
              <a:ea typeface="Roboto"/>
              <a:cs typeface="Roboto"/>
              <a:sym typeface="Roboto"/>
            </a:endParaRPr>
          </a:p>
          <a:p>
            <a:pPr indent="0" lvl="0" marL="0" rtl="0" algn="l">
              <a:spcBef>
                <a:spcPts val="1000"/>
              </a:spcBef>
              <a:spcAft>
                <a:spcPts val="1000"/>
              </a:spcAft>
              <a:buNone/>
            </a:pPr>
            <a:r>
              <a:rPr lang="en" sz="1800">
                <a:solidFill>
                  <a:schemeClr val="dk2"/>
                </a:solidFill>
                <a:latin typeface="Roboto"/>
                <a:ea typeface="Roboto"/>
                <a:cs typeface="Roboto"/>
                <a:sym typeface="Roboto"/>
              </a:rPr>
              <a:t>Since employees won’t know exactly when the assessments are being conducted, the team expects more people to follow the new download guidelines. </a:t>
            </a:r>
            <a:endParaRPr sz="1800">
              <a:solidFill>
                <a:schemeClr val="dk2"/>
              </a:solidFill>
              <a:latin typeface="Roboto"/>
              <a:ea typeface="Roboto"/>
              <a:cs typeface="Roboto"/>
              <a:sym typeface="Roboto"/>
            </a:endParaRPr>
          </a:p>
        </p:txBody>
      </p:sp>
      <p:sp>
        <p:nvSpPr>
          <p:cNvPr id="1058" name="Google Shape;1058;p109"/>
          <p:cNvSpPr/>
          <p:nvPr/>
        </p:nvSpPr>
        <p:spPr>
          <a:xfrm>
            <a:off x="547150" y="3446625"/>
            <a:ext cx="3717000" cy="1122300"/>
          </a:xfrm>
          <a:prstGeom prst="round2DiagRect">
            <a:avLst>
              <a:gd fmla="val 10607" name="adj1"/>
              <a:gd fmla="val 0" name="adj2"/>
            </a:avLst>
          </a:prstGeom>
          <a:solidFill>
            <a:srgbClr val="F3F3F3"/>
          </a:solidFill>
          <a:ln>
            <a:noFill/>
          </a:ln>
        </p:spPr>
        <p:txBody>
          <a:bodyPr anchorCtr="0" anchor="ctr" bIns="91425" lIns="91425" spcFirstLastPara="1" rIns="91425" wrap="square" tIns="91425">
            <a:noAutofit/>
          </a:bodyPr>
          <a:lstStyle/>
          <a:p>
            <a:pPr indent="0" lvl="0" marL="114300" rtl="0" algn="l">
              <a:lnSpc>
                <a:spcPct val="115000"/>
              </a:lnSpc>
              <a:spcBef>
                <a:spcPts val="0"/>
              </a:spcBef>
              <a:spcAft>
                <a:spcPts val="0"/>
              </a:spcAft>
              <a:buNone/>
            </a:pPr>
            <a:r>
              <a:rPr lang="en" sz="1600">
                <a:solidFill>
                  <a:schemeClr val="dk2"/>
                </a:solidFill>
                <a:latin typeface="Roboto"/>
                <a:ea typeface="Roboto"/>
                <a:cs typeface="Roboto"/>
                <a:sym typeface="Roboto"/>
              </a:rPr>
              <a:t>A $40 gift card, free or discounted security conference attendance, and additional vacation time.</a:t>
            </a:r>
            <a:endParaRPr sz="1600">
              <a:solidFill>
                <a:schemeClr val="dk2"/>
              </a:solidFill>
              <a:latin typeface="Roboto"/>
              <a:ea typeface="Roboto"/>
              <a:cs typeface="Roboto"/>
              <a:sym typeface="Roboto"/>
            </a:endParaRPr>
          </a:p>
        </p:txBody>
      </p:sp>
      <p:sp>
        <p:nvSpPr>
          <p:cNvPr id="1059" name="Google Shape;1059;p109"/>
          <p:cNvSpPr/>
          <p:nvPr/>
        </p:nvSpPr>
        <p:spPr>
          <a:xfrm>
            <a:off x="4503425" y="3446625"/>
            <a:ext cx="3717000" cy="1122300"/>
          </a:xfrm>
          <a:prstGeom prst="round2DiagRect">
            <a:avLst>
              <a:gd fmla="val 12330" name="adj1"/>
              <a:gd fmla="val 0" name="adj2"/>
            </a:avLst>
          </a:prstGeom>
          <a:solidFill>
            <a:srgbClr val="F3F3F3"/>
          </a:solidFill>
          <a:ln>
            <a:noFill/>
          </a:ln>
        </p:spPr>
        <p:txBody>
          <a:bodyPr anchorCtr="0" anchor="ctr" bIns="91425" lIns="91425" spcFirstLastPara="1" rIns="91425" wrap="square" tIns="91425">
            <a:noAutofit/>
          </a:bodyPr>
          <a:lstStyle/>
          <a:p>
            <a:pPr indent="0" lvl="0" marL="114300" rtl="0" algn="l">
              <a:lnSpc>
                <a:spcPct val="115000"/>
              </a:lnSpc>
              <a:spcBef>
                <a:spcPts val="0"/>
              </a:spcBef>
              <a:spcAft>
                <a:spcPts val="0"/>
              </a:spcAft>
              <a:buNone/>
            </a:pPr>
            <a:r>
              <a:rPr lang="en" sz="1600">
                <a:solidFill>
                  <a:schemeClr val="dk2"/>
                </a:solidFill>
                <a:latin typeface="Roboto"/>
                <a:ea typeface="Roboto"/>
                <a:cs typeface="Roboto"/>
                <a:sym typeface="Roboto"/>
              </a:rPr>
              <a:t>Supplemental security awareness training and additional random device audits for one quarter.</a:t>
            </a:r>
            <a:endParaRPr sz="1600">
              <a:solidFill>
                <a:schemeClr val="dk2"/>
              </a:solidFill>
              <a:latin typeface="Roboto"/>
              <a:ea typeface="Roboto"/>
              <a:cs typeface="Roboto"/>
              <a:sym typeface="Roboto"/>
            </a:endParaRPr>
          </a:p>
        </p:txBody>
      </p:sp>
      <p:grpSp>
        <p:nvGrpSpPr>
          <p:cNvPr id="1060" name="Google Shape;1060;p109"/>
          <p:cNvGrpSpPr/>
          <p:nvPr/>
        </p:nvGrpSpPr>
        <p:grpSpPr>
          <a:xfrm>
            <a:off x="547158" y="2841474"/>
            <a:ext cx="3716992" cy="548108"/>
            <a:chOff x="466725" y="1438288"/>
            <a:chExt cx="3120900" cy="472263"/>
          </a:xfrm>
        </p:grpSpPr>
        <p:sp>
          <p:nvSpPr>
            <p:cNvPr id="1061" name="Google Shape;1061;p109"/>
            <p:cNvSpPr/>
            <p:nvPr/>
          </p:nvSpPr>
          <p:spPr>
            <a:xfrm rot="10800000">
              <a:off x="1857013" y="17219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solidFill>
                  <a:srgbClr val="FFFFFF"/>
                </a:solidFill>
                <a:latin typeface="Roboto"/>
                <a:ea typeface="Roboto"/>
                <a:cs typeface="Roboto"/>
                <a:sym typeface="Roboto"/>
              </a:endParaRPr>
            </a:p>
          </p:txBody>
        </p:sp>
        <p:sp>
          <p:nvSpPr>
            <p:cNvPr id="1062" name="Google Shape;1062;p109"/>
            <p:cNvSpPr/>
            <p:nvPr/>
          </p:nvSpPr>
          <p:spPr>
            <a:xfrm>
              <a:off x="466725" y="1438288"/>
              <a:ext cx="3120900" cy="364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000000"/>
                  </a:solidFill>
                  <a:latin typeface="Roboto"/>
                  <a:ea typeface="Roboto"/>
                  <a:cs typeface="Roboto"/>
                  <a:sym typeface="Roboto"/>
                </a:rPr>
                <a:t>Incentives </a:t>
              </a:r>
              <a:r>
                <a:rPr b="1" lang="en" sz="1500">
                  <a:latin typeface="Roboto"/>
                  <a:ea typeface="Roboto"/>
                  <a:cs typeface="Roboto"/>
                  <a:sym typeface="Roboto"/>
                </a:rPr>
                <a:t>F</a:t>
              </a:r>
              <a:r>
                <a:rPr b="1" lang="en" sz="1500">
                  <a:solidFill>
                    <a:srgbClr val="000000"/>
                  </a:solidFill>
                  <a:latin typeface="Roboto"/>
                  <a:ea typeface="Roboto"/>
                  <a:cs typeface="Roboto"/>
                  <a:sym typeface="Roboto"/>
                </a:rPr>
                <a:t>or </a:t>
              </a:r>
              <a:r>
                <a:rPr b="1" lang="en" sz="1500">
                  <a:latin typeface="Roboto"/>
                  <a:ea typeface="Roboto"/>
                  <a:cs typeface="Roboto"/>
                  <a:sym typeface="Roboto"/>
                </a:rPr>
                <a:t>N</a:t>
              </a:r>
              <a:r>
                <a:rPr b="1" lang="en" sz="1500">
                  <a:solidFill>
                    <a:srgbClr val="000000"/>
                  </a:solidFill>
                  <a:latin typeface="Roboto"/>
                  <a:ea typeface="Roboto"/>
                  <a:cs typeface="Roboto"/>
                  <a:sym typeface="Roboto"/>
                </a:rPr>
                <a:t>ot </a:t>
              </a:r>
              <a:r>
                <a:rPr b="1" lang="en" sz="1500">
                  <a:latin typeface="Roboto"/>
                  <a:ea typeface="Roboto"/>
                  <a:cs typeface="Roboto"/>
                  <a:sym typeface="Roboto"/>
                </a:rPr>
                <a:t>C</a:t>
              </a:r>
              <a:r>
                <a:rPr b="1" lang="en" sz="1500">
                  <a:solidFill>
                    <a:srgbClr val="000000"/>
                  </a:solidFill>
                  <a:latin typeface="Roboto"/>
                  <a:ea typeface="Roboto"/>
                  <a:cs typeface="Roboto"/>
                  <a:sym typeface="Roboto"/>
                </a:rPr>
                <a:t>licking</a:t>
              </a:r>
              <a:endParaRPr b="1" sz="1700">
                <a:solidFill>
                  <a:srgbClr val="F3F3F3"/>
                </a:solidFill>
                <a:latin typeface="Roboto"/>
                <a:ea typeface="Roboto"/>
                <a:cs typeface="Roboto"/>
                <a:sym typeface="Roboto"/>
              </a:endParaRPr>
            </a:p>
          </p:txBody>
        </p:sp>
      </p:grpSp>
      <p:grpSp>
        <p:nvGrpSpPr>
          <p:cNvPr id="1063" name="Google Shape;1063;p109"/>
          <p:cNvGrpSpPr/>
          <p:nvPr/>
        </p:nvGrpSpPr>
        <p:grpSpPr>
          <a:xfrm>
            <a:off x="4503426" y="2841474"/>
            <a:ext cx="3716992" cy="548108"/>
            <a:chOff x="466725" y="1438288"/>
            <a:chExt cx="3120900" cy="472263"/>
          </a:xfrm>
        </p:grpSpPr>
        <p:sp>
          <p:nvSpPr>
            <p:cNvPr id="1064" name="Google Shape;1064;p109"/>
            <p:cNvSpPr/>
            <p:nvPr/>
          </p:nvSpPr>
          <p:spPr>
            <a:xfrm rot="10800000">
              <a:off x="1857013" y="17219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solidFill>
                  <a:srgbClr val="FFFFFF"/>
                </a:solidFill>
                <a:latin typeface="Roboto"/>
                <a:ea typeface="Roboto"/>
                <a:cs typeface="Roboto"/>
                <a:sym typeface="Roboto"/>
              </a:endParaRPr>
            </a:p>
          </p:txBody>
        </p:sp>
        <p:sp>
          <p:nvSpPr>
            <p:cNvPr id="1065" name="Google Shape;1065;p109"/>
            <p:cNvSpPr/>
            <p:nvPr/>
          </p:nvSpPr>
          <p:spPr>
            <a:xfrm>
              <a:off x="466725" y="1438288"/>
              <a:ext cx="3120900" cy="364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000000"/>
                  </a:solidFill>
                  <a:latin typeface="Roboto"/>
                  <a:ea typeface="Roboto"/>
                  <a:cs typeface="Roboto"/>
                  <a:sym typeface="Roboto"/>
                </a:rPr>
                <a:t>Disincentives </a:t>
              </a:r>
              <a:r>
                <a:rPr b="1" lang="en" sz="1500">
                  <a:latin typeface="Roboto"/>
                  <a:ea typeface="Roboto"/>
                  <a:cs typeface="Roboto"/>
                  <a:sym typeface="Roboto"/>
                </a:rPr>
                <a:t>F</a:t>
              </a:r>
              <a:r>
                <a:rPr b="1" lang="en" sz="1500">
                  <a:solidFill>
                    <a:srgbClr val="000000"/>
                  </a:solidFill>
                  <a:latin typeface="Roboto"/>
                  <a:ea typeface="Roboto"/>
                  <a:cs typeface="Roboto"/>
                  <a:sym typeface="Roboto"/>
                </a:rPr>
                <a:t>or Clicking</a:t>
              </a:r>
              <a:endParaRPr b="1" sz="1500">
                <a:solidFill>
                  <a:srgbClr val="000000"/>
                </a:solidFill>
                <a:latin typeface="Roboto"/>
                <a:ea typeface="Roboto"/>
                <a:cs typeface="Roboto"/>
                <a:sym typeface="Roboto"/>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110"/>
          <p:cNvSpPr txBox="1"/>
          <p:nvPr>
            <p:ph type="title"/>
          </p:nvPr>
        </p:nvSpPr>
        <p:spPr>
          <a:xfrm>
            <a:off x="0" y="2217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5: Security Culture Framework Steps </a:t>
            </a:r>
            <a:endParaRPr/>
          </a:p>
        </p:txBody>
      </p:sp>
      <p:pic>
        <p:nvPicPr>
          <p:cNvPr id="1071" name="Google Shape;1071;p110"/>
          <p:cNvPicPr preferRelativeResize="0"/>
          <p:nvPr/>
        </p:nvPicPr>
        <p:blipFill>
          <a:blip r:embed="rId3">
            <a:alphaModFix/>
          </a:blip>
          <a:stretch>
            <a:fillRect/>
          </a:stretch>
        </p:blipFill>
        <p:spPr>
          <a:xfrm>
            <a:off x="224250" y="324625"/>
            <a:ext cx="399097" cy="393600"/>
          </a:xfrm>
          <a:prstGeom prst="rect">
            <a:avLst/>
          </a:prstGeom>
          <a:noFill/>
          <a:ln>
            <a:noFill/>
          </a:ln>
        </p:spPr>
      </p:pic>
      <p:sp>
        <p:nvSpPr>
          <p:cNvPr id="1072" name="Google Shape;1072;p110"/>
          <p:cNvSpPr txBox="1"/>
          <p:nvPr/>
        </p:nvSpPr>
        <p:spPr>
          <a:xfrm>
            <a:off x="457200" y="1085975"/>
            <a:ext cx="8275800" cy="29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The SCF team collaborates with HR to </a:t>
            </a:r>
            <a:r>
              <a:rPr lang="en" sz="1800">
                <a:solidFill>
                  <a:schemeClr val="dk2"/>
                </a:solidFill>
                <a:latin typeface="Roboto"/>
                <a:ea typeface="Roboto"/>
                <a:cs typeface="Roboto"/>
                <a:sym typeface="Roboto"/>
              </a:rPr>
              <a:t>determine the best dates to run trainings.</a:t>
            </a:r>
            <a:endParaRPr sz="1800">
              <a:solidFill>
                <a:schemeClr val="dk2"/>
              </a:solidFill>
              <a:latin typeface="Roboto"/>
              <a:ea typeface="Roboto"/>
              <a:cs typeface="Roboto"/>
              <a:sym typeface="Roboto"/>
            </a:endParaRPr>
          </a:p>
          <a:p>
            <a:pPr indent="0" lvl="0" marL="0" rtl="0" algn="l">
              <a:lnSpc>
                <a:spcPct val="115000"/>
              </a:lnSpc>
              <a:spcBef>
                <a:spcPts val="1000"/>
              </a:spcBef>
              <a:spcAft>
                <a:spcPts val="0"/>
              </a:spcAft>
              <a:buNone/>
            </a:pPr>
            <a:r>
              <a:rPr lang="en" sz="1800">
                <a:solidFill>
                  <a:schemeClr val="dk2"/>
                </a:solidFill>
                <a:latin typeface="Roboto"/>
                <a:ea typeface="Roboto"/>
                <a:cs typeface="Roboto"/>
                <a:sym typeface="Roboto"/>
              </a:rPr>
              <a:t>During these meetings, the HR team explains that the most reliable way to ensure 100% attendance over the next fiscal year is to have quarterly training sessions, training 25% of employees each time. </a:t>
            </a:r>
            <a:endParaRPr sz="1800">
              <a:solidFill>
                <a:schemeClr val="dk2"/>
              </a:solidFill>
              <a:latin typeface="Roboto"/>
              <a:ea typeface="Roboto"/>
              <a:cs typeface="Roboto"/>
              <a:sym typeface="Roboto"/>
            </a:endParaRPr>
          </a:p>
          <a:p>
            <a:pPr indent="0" lvl="0" marL="0" rtl="0" algn="l">
              <a:lnSpc>
                <a:spcPct val="115000"/>
              </a:lnSpc>
              <a:spcBef>
                <a:spcPts val="1000"/>
              </a:spcBef>
              <a:spcAft>
                <a:spcPts val="1000"/>
              </a:spcAft>
              <a:buNone/>
            </a:pPr>
            <a:r>
              <a:rPr lang="en" sz="1800">
                <a:solidFill>
                  <a:schemeClr val="dk2"/>
                </a:solidFill>
                <a:latin typeface="Roboto"/>
                <a:ea typeface="Roboto"/>
                <a:cs typeface="Roboto"/>
                <a:sym typeface="Roboto"/>
              </a:rPr>
              <a:t>SCF and HR coordinate the specific dates and location of the training. </a:t>
            </a:r>
            <a:endParaRPr sz="1800">
              <a:solidFill>
                <a:schemeClr val="dk2"/>
              </a:solidFill>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11"/>
          <p:cNvSpPr/>
          <p:nvPr/>
        </p:nvSpPr>
        <p:spPr>
          <a:xfrm>
            <a:off x="224250" y="2497500"/>
            <a:ext cx="628800" cy="60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078" name="Google Shape;1078;p111"/>
          <p:cNvSpPr txBox="1"/>
          <p:nvPr>
            <p:ph type="title"/>
          </p:nvPr>
        </p:nvSpPr>
        <p:spPr>
          <a:xfrm>
            <a:off x="0" y="2217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6: Security Culture Framework Steps </a:t>
            </a:r>
            <a:endParaRPr/>
          </a:p>
        </p:txBody>
      </p:sp>
      <p:pic>
        <p:nvPicPr>
          <p:cNvPr id="1079" name="Google Shape;1079;p111"/>
          <p:cNvPicPr preferRelativeResize="0"/>
          <p:nvPr/>
        </p:nvPicPr>
        <p:blipFill>
          <a:blip r:embed="rId3">
            <a:alphaModFix/>
          </a:blip>
          <a:stretch>
            <a:fillRect/>
          </a:stretch>
        </p:blipFill>
        <p:spPr>
          <a:xfrm>
            <a:off x="224250" y="324625"/>
            <a:ext cx="399097" cy="393600"/>
          </a:xfrm>
          <a:prstGeom prst="rect">
            <a:avLst/>
          </a:prstGeom>
          <a:noFill/>
          <a:ln>
            <a:noFill/>
          </a:ln>
        </p:spPr>
      </p:pic>
      <p:sp>
        <p:nvSpPr>
          <p:cNvPr id="1080" name="Google Shape;1080;p111"/>
          <p:cNvSpPr txBox="1"/>
          <p:nvPr/>
        </p:nvSpPr>
        <p:spPr>
          <a:xfrm>
            <a:off x="457200" y="1085975"/>
            <a:ext cx="7797600" cy="78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rPr lang="en" sz="1800">
                <a:solidFill>
                  <a:schemeClr val="dk2"/>
                </a:solidFill>
                <a:latin typeface="Roboto"/>
                <a:ea typeface="Roboto"/>
                <a:cs typeface="Roboto"/>
                <a:sym typeface="Roboto"/>
              </a:rPr>
              <a:t>The SCF team collaborates with communications to develop and distribute information about the training. </a:t>
            </a:r>
            <a:endParaRPr sz="1800">
              <a:solidFill>
                <a:schemeClr val="dk2"/>
              </a:solidFill>
              <a:latin typeface="Roboto"/>
              <a:ea typeface="Roboto"/>
              <a:cs typeface="Roboto"/>
              <a:sym typeface="Roboto"/>
            </a:endParaRPr>
          </a:p>
        </p:txBody>
      </p:sp>
      <p:sp>
        <p:nvSpPr>
          <p:cNvPr id="1081" name="Google Shape;1081;p111"/>
          <p:cNvSpPr txBox="1"/>
          <p:nvPr>
            <p:ph type="title"/>
          </p:nvPr>
        </p:nvSpPr>
        <p:spPr>
          <a:xfrm>
            <a:off x="224250" y="25109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7: Security Culture Framework Steps </a:t>
            </a:r>
            <a:endParaRPr/>
          </a:p>
        </p:txBody>
      </p:sp>
      <p:pic>
        <p:nvPicPr>
          <p:cNvPr id="1082" name="Google Shape;1082;p111"/>
          <p:cNvPicPr preferRelativeResize="0"/>
          <p:nvPr/>
        </p:nvPicPr>
        <p:blipFill>
          <a:blip r:embed="rId3">
            <a:alphaModFix/>
          </a:blip>
          <a:stretch>
            <a:fillRect/>
          </a:stretch>
        </p:blipFill>
        <p:spPr>
          <a:xfrm>
            <a:off x="339100" y="2603550"/>
            <a:ext cx="399097" cy="393600"/>
          </a:xfrm>
          <a:prstGeom prst="rect">
            <a:avLst/>
          </a:prstGeom>
          <a:noFill/>
          <a:ln>
            <a:noFill/>
          </a:ln>
        </p:spPr>
      </p:pic>
      <p:sp>
        <p:nvSpPr>
          <p:cNvPr id="1083" name="Google Shape;1083;p111"/>
          <p:cNvSpPr txBox="1"/>
          <p:nvPr/>
        </p:nvSpPr>
        <p:spPr>
          <a:xfrm>
            <a:off x="457200" y="3364425"/>
            <a:ext cx="7797600" cy="78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rPr lang="en" sz="1800">
                <a:solidFill>
                  <a:schemeClr val="dk2"/>
                </a:solidFill>
                <a:latin typeface="Roboto"/>
                <a:ea typeface="Roboto"/>
                <a:cs typeface="Roboto"/>
                <a:sym typeface="Roboto"/>
              </a:rPr>
              <a:t>The SCF team sets up and implements the training as scheduled. </a:t>
            </a:r>
            <a:endParaRPr sz="1800">
              <a:solidFill>
                <a:schemeClr val="dk2"/>
              </a:solidFill>
              <a:latin typeface="Roboto"/>
              <a:ea typeface="Roboto"/>
              <a:cs typeface="Roboto"/>
              <a:sym typeface="Roboto"/>
            </a:endParaRPr>
          </a:p>
        </p:txBody>
      </p:sp>
      <p:cxnSp>
        <p:nvCxnSpPr>
          <p:cNvPr id="1084" name="Google Shape;1084;p111"/>
          <p:cNvCxnSpPr/>
          <p:nvPr/>
        </p:nvCxnSpPr>
        <p:spPr>
          <a:xfrm>
            <a:off x="0" y="3205000"/>
            <a:ext cx="7360800" cy="1140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12"/>
          <p:cNvSpPr/>
          <p:nvPr/>
        </p:nvSpPr>
        <p:spPr>
          <a:xfrm>
            <a:off x="224250" y="2497500"/>
            <a:ext cx="628800" cy="605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090" name="Google Shape;1090;p112"/>
          <p:cNvSpPr txBox="1"/>
          <p:nvPr>
            <p:ph type="title"/>
          </p:nvPr>
        </p:nvSpPr>
        <p:spPr>
          <a:xfrm>
            <a:off x="0" y="2217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8: Security Culture Framework Steps </a:t>
            </a:r>
            <a:endParaRPr/>
          </a:p>
        </p:txBody>
      </p:sp>
      <p:pic>
        <p:nvPicPr>
          <p:cNvPr id="1091" name="Google Shape;1091;p112"/>
          <p:cNvPicPr preferRelativeResize="0"/>
          <p:nvPr/>
        </p:nvPicPr>
        <p:blipFill>
          <a:blip r:embed="rId3">
            <a:alphaModFix/>
          </a:blip>
          <a:stretch>
            <a:fillRect/>
          </a:stretch>
        </p:blipFill>
        <p:spPr>
          <a:xfrm>
            <a:off x="224250" y="324625"/>
            <a:ext cx="399097" cy="393600"/>
          </a:xfrm>
          <a:prstGeom prst="rect">
            <a:avLst/>
          </a:prstGeom>
          <a:noFill/>
          <a:ln>
            <a:noFill/>
          </a:ln>
        </p:spPr>
      </p:pic>
      <p:sp>
        <p:nvSpPr>
          <p:cNvPr id="1092" name="Google Shape;1092;p112"/>
          <p:cNvSpPr txBox="1"/>
          <p:nvPr/>
        </p:nvSpPr>
        <p:spPr>
          <a:xfrm>
            <a:off x="457200" y="1085975"/>
            <a:ext cx="7797600" cy="7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en" sz="1800">
                <a:solidFill>
                  <a:schemeClr val="dk2"/>
                </a:solidFill>
                <a:latin typeface="Roboto"/>
                <a:ea typeface="Roboto"/>
                <a:cs typeface="Roboto"/>
                <a:sym typeface="Roboto"/>
              </a:rPr>
              <a:t>Every quarter, the SCF team contracts the same pentesting firm to run the phishing campaign against all employees who have already been </a:t>
            </a:r>
            <a:r>
              <a:rPr lang="en" sz="1800">
                <a:solidFill>
                  <a:schemeClr val="dk2"/>
                </a:solidFill>
                <a:latin typeface="Roboto"/>
                <a:ea typeface="Roboto"/>
                <a:cs typeface="Roboto"/>
                <a:sym typeface="Roboto"/>
              </a:rPr>
              <a:t>trained. </a:t>
            </a:r>
            <a:endParaRPr sz="1800">
              <a:solidFill>
                <a:schemeClr val="dk2"/>
              </a:solidFill>
              <a:latin typeface="Roboto"/>
              <a:ea typeface="Roboto"/>
              <a:cs typeface="Roboto"/>
              <a:sym typeface="Roboto"/>
            </a:endParaRPr>
          </a:p>
        </p:txBody>
      </p:sp>
      <p:sp>
        <p:nvSpPr>
          <p:cNvPr id="1093" name="Google Shape;1093;p112"/>
          <p:cNvSpPr txBox="1"/>
          <p:nvPr>
            <p:ph type="title"/>
          </p:nvPr>
        </p:nvSpPr>
        <p:spPr>
          <a:xfrm>
            <a:off x="224250" y="25109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9: Security Culture Framework Steps </a:t>
            </a:r>
            <a:endParaRPr/>
          </a:p>
        </p:txBody>
      </p:sp>
      <p:pic>
        <p:nvPicPr>
          <p:cNvPr id="1094" name="Google Shape;1094;p112"/>
          <p:cNvPicPr preferRelativeResize="0"/>
          <p:nvPr/>
        </p:nvPicPr>
        <p:blipFill>
          <a:blip r:embed="rId3">
            <a:alphaModFix/>
          </a:blip>
          <a:stretch>
            <a:fillRect/>
          </a:stretch>
        </p:blipFill>
        <p:spPr>
          <a:xfrm>
            <a:off x="339100" y="2603550"/>
            <a:ext cx="399097" cy="393600"/>
          </a:xfrm>
          <a:prstGeom prst="rect">
            <a:avLst/>
          </a:prstGeom>
          <a:noFill/>
          <a:ln>
            <a:noFill/>
          </a:ln>
        </p:spPr>
      </p:pic>
      <p:sp>
        <p:nvSpPr>
          <p:cNvPr id="1095" name="Google Shape;1095;p112"/>
          <p:cNvSpPr txBox="1"/>
          <p:nvPr/>
        </p:nvSpPr>
        <p:spPr>
          <a:xfrm>
            <a:off x="457200" y="3364425"/>
            <a:ext cx="8536500" cy="7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After every test, the SCF team identifies employees who still clicked malicious links, and requires them to go through supplemental security awareness training. </a:t>
            </a:r>
            <a:endParaRPr sz="1800">
              <a:solidFill>
                <a:schemeClr val="dk2"/>
              </a:solidFill>
              <a:latin typeface="Roboto"/>
              <a:ea typeface="Roboto"/>
              <a:cs typeface="Roboto"/>
              <a:sym typeface="Roboto"/>
            </a:endParaRPr>
          </a:p>
          <a:p>
            <a:pPr indent="0" lvl="0" marL="0" rtl="0" algn="l">
              <a:spcBef>
                <a:spcPts val="1000"/>
              </a:spcBef>
              <a:spcAft>
                <a:spcPts val="1000"/>
              </a:spcAft>
              <a:buNone/>
            </a:pPr>
            <a:r>
              <a:rPr lang="en" sz="1800">
                <a:solidFill>
                  <a:schemeClr val="dk2"/>
                </a:solidFill>
                <a:latin typeface="Roboto"/>
                <a:ea typeface="Roboto"/>
                <a:cs typeface="Roboto"/>
                <a:sym typeface="Roboto"/>
              </a:rPr>
              <a:t>In addition, they verify whether the click-through rate drops closer to 5%. </a:t>
            </a:r>
            <a:endParaRPr sz="1800">
              <a:solidFill>
                <a:schemeClr val="dk2"/>
              </a:solidFill>
              <a:latin typeface="Roboto"/>
              <a:ea typeface="Roboto"/>
              <a:cs typeface="Roboto"/>
              <a:sym typeface="Roboto"/>
            </a:endParaRPr>
          </a:p>
        </p:txBody>
      </p:sp>
      <p:cxnSp>
        <p:nvCxnSpPr>
          <p:cNvPr id="1096" name="Google Shape;1096;p112"/>
          <p:cNvCxnSpPr/>
          <p:nvPr/>
        </p:nvCxnSpPr>
        <p:spPr>
          <a:xfrm>
            <a:off x="0" y="3205000"/>
            <a:ext cx="7360800" cy="11400"/>
          </a:xfrm>
          <a:prstGeom prst="straightConnector1">
            <a:avLst/>
          </a:prstGeom>
          <a:noFill/>
          <a:ln cap="flat" cmpd="sng" w="19050">
            <a:solidFill>
              <a:schemeClr val="accent6"/>
            </a:solidFill>
            <a:prstDash val="solid"/>
            <a:round/>
            <a:headEnd len="med" w="med" type="none"/>
            <a:tailEnd len="med" w="med" type="oval"/>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13"/>
          <p:cNvSpPr txBox="1"/>
          <p:nvPr>
            <p:ph type="title"/>
          </p:nvPr>
        </p:nvSpPr>
        <p:spPr>
          <a:xfrm>
            <a:off x="0" y="2217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Step 10: Security Culture Framework Steps </a:t>
            </a:r>
            <a:endParaRPr/>
          </a:p>
        </p:txBody>
      </p:sp>
      <p:pic>
        <p:nvPicPr>
          <p:cNvPr id="1102" name="Google Shape;1102;p113"/>
          <p:cNvPicPr preferRelativeResize="0"/>
          <p:nvPr/>
        </p:nvPicPr>
        <p:blipFill>
          <a:blip r:embed="rId3">
            <a:alphaModFix/>
          </a:blip>
          <a:stretch>
            <a:fillRect/>
          </a:stretch>
        </p:blipFill>
        <p:spPr>
          <a:xfrm>
            <a:off x="224250" y="324625"/>
            <a:ext cx="399097" cy="393600"/>
          </a:xfrm>
          <a:prstGeom prst="rect">
            <a:avLst/>
          </a:prstGeom>
          <a:noFill/>
          <a:ln>
            <a:noFill/>
          </a:ln>
        </p:spPr>
      </p:pic>
      <p:sp>
        <p:nvSpPr>
          <p:cNvPr id="1103" name="Google Shape;1103;p113"/>
          <p:cNvSpPr txBox="1"/>
          <p:nvPr/>
        </p:nvSpPr>
        <p:spPr>
          <a:xfrm>
            <a:off x="457200" y="1085975"/>
            <a:ext cx="7797600" cy="29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After training the entire company, the SCF team runs a final phishing campaign to evaluate the overall effectiveness of the training. </a:t>
            </a:r>
            <a:endParaRPr sz="1800">
              <a:solidFill>
                <a:schemeClr val="dk2"/>
              </a:solidFill>
              <a:latin typeface="Roboto"/>
              <a:ea typeface="Roboto"/>
              <a:cs typeface="Roboto"/>
              <a:sym typeface="Roboto"/>
            </a:endParaRPr>
          </a:p>
          <a:p>
            <a:pPr indent="0" lvl="0" marL="0" rtl="0" algn="l">
              <a:lnSpc>
                <a:spcPct val="115000"/>
              </a:lnSpc>
              <a:spcBef>
                <a:spcPts val="1000"/>
              </a:spcBef>
              <a:spcAft>
                <a:spcPts val="1000"/>
              </a:spcAft>
              <a:buNone/>
            </a:pPr>
            <a:r>
              <a:rPr lang="en" sz="1800">
                <a:solidFill>
                  <a:schemeClr val="dk2"/>
                </a:solidFill>
                <a:latin typeface="Roboto"/>
                <a:ea typeface="Roboto"/>
                <a:cs typeface="Roboto"/>
                <a:sym typeface="Roboto"/>
              </a:rPr>
              <a:t>If they find that the click-through rate is 5% or lower, it is considered a success. Otherwise, they might decide to run the training for an additional year, or take a different approach to solving the problem. </a:t>
            </a:r>
            <a:endParaRPr sz="1800">
              <a:solidFill>
                <a:schemeClr val="dk2"/>
              </a:solidFill>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114"/>
          <p:cNvSpPr txBox="1"/>
          <p:nvPr>
            <p:ph type="title"/>
          </p:nvPr>
        </p:nvSpPr>
        <p:spPr>
          <a:xfrm>
            <a:off x="76250" y="1274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What’s the (Action) Plan? </a:t>
            </a:r>
            <a:endParaRPr/>
          </a:p>
        </p:txBody>
      </p:sp>
      <p:sp>
        <p:nvSpPr>
          <p:cNvPr id="1109" name="Google Shape;1109;p114"/>
          <p:cNvSpPr txBox="1"/>
          <p:nvPr>
            <p:ph idx="4294967295" type="subTitle"/>
          </p:nvPr>
        </p:nvSpPr>
        <p:spPr>
          <a:xfrm>
            <a:off x="648050" y="1904975"/>
            <a:ext cx="2095200" cy="26628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Clr>
                <a:schemeClr val="dk1"/>
              </a:buClr>
              <a:buSzPts val="1100"/>
              <a:buFont typeface="Arial"/>
              <a:buNone/>
            </a:pPr>
            <a:r>
              <a:rPr b="1" lang="en" sz="1400"/>
              <a:t>When will the plan </a:t>
            </a:r>
            <a:br>
              <a:rPr b="1" lang="en" sz="1400"/>
            </a:br>
            <a:r>
              <a:rPr b="1" lang="en" sz="1400"/>
              <a:t>be executed?</a:t>
            </a:r>
            <a:endParaRPr b="1" sz="1400"/>
          </a:p>
          <a:p>
            <a:pPr indent="0" lvl="0" marL="0" rtl="0" algn="l">
              <a:lnSpc>
                <a:spcPct val="100000"/>
              </a:lnSpc>
              <a:spcBef>
                <a:spcPts val="600"/>
              </a:spcBef>
              <a:spcAft>
                <a:spcPts val="0"/>
              </a:spcAft>
              <a:buNone/>
            </a:pPr>
            <a:r>
              <a:rPr lang="en" sz="1400"/>
              <a:t>The SCF and HR teams </a:t>
            </a:r>
            <a:br>
              <a:rPr lang="en" sz="1400"/>
            </a:br>
            <a:r>
              <a:rPr lang="en" sz="1400"/>
              <a:t>will implement the training once every quarter, training 25% </a:t>
            </a:r>
            <a:br>
              <a:rPr lang="en" sz="1400"/>
            </a:br>
            <a:r>
              <a:rPr lang="en" sz="1400"/>
              <a:t>of employees each time. This ensures 100% of employees will be trained by the end of the year.</a:t>
            </a:r>
            <a:endParaRPr sz="1400"/>
          </a:p>
        </p:txBody>
      </p:sp>
      <p:sp>
        <p:nvSpPr>
          <p:cNvPr id="1110" name="Google Shape;1110;p114"/>
          <p:cNvSpPr txBox="1"/>
          <p:nvPr>
            <p:ph idx="4294967295" type="subTitle"/>
          </p:nvPr>
        </p:nvSpPr>
        <p:spPr>
          <a:xfrm>
            <a:off x="3477725" y="1904975"/>
            <a:ext cx="2219400" cy="26628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Clr>
                <a:schemeClr val="dk1"/>
              </a:buClr>
              <a:buSzPts val="1100"/>
              <a:buFont typeface="Arial"/>
              <a:buNone/>
            </a:pPr>
            <a:r>
              <a:rPr b="1" lang="en" sz="1400"/>
              <a:t>When will progress </a:t>
            </a:r>
            <a:br>
              <a:rPr b="1" lang="en" sz="1400"/>
            </a:br>
            <a:r>
              <a:rPr b="1" lang="en" sz="1400"/>
              <a:t>be measured?</a:t>
            </a:r>
            <a:endParaRPr b="1" sz="1400"/>
          </a:p>
          <a:p>
            <a:pPr indent="0" lvl="0" marL="0" rtl="0" algn="l">
              <a:lnSpc>
                <a:spcPct val="100000"/>
              </a:lnSpc>
              <a:spcBef>
                <a:spcPts val="600"/>
              </a:spcBef>
              <a:spcAft>
                <a:spcPts val="0"/>
              </a:spcAft>
              <a:buNone/>
            </a:pPr>
            <a:r>
              <a:rPr lang="en" sz="1400"/>
              <a:t>The SCF team will implement a phishing campaign each quarter, targeting only the most recently trained cohort. After all cohorts have been trained, a final campaign will test how well everyone follows the new </a:t>
            </a:r>
            <a:br>
              <a:rPr lang="en" sz="1400"/>
            </a:br>
            <a:r>
              <a:rPr lang="en" sz="1400"/>
              <a:t>guidelines over time.</a:t>
            </a:r>
            <a:endParaRPr sz="1400"/>
          </a:p>
        </p:txBody>
      </p:sp>
      <p:sp>
        <p:nvSpPr>
          <p:cNvPr id="1111" name="Google Shape;1111;p114"/>
          <p:cNvSpPr txBox="1"/>
          <p:nvPr>
            <p:ph idx="4294967295" type="subTitle"/>
          </p:nvPr>
        </p:nvSpPr>
        <p:spPr>
          <a:xfrm>
            <a:off x="6352501" y="1904975"/>
            <a:ext cx="2176200" cy="26628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Clr>
                <a:schemeClr val="dk1"/>
              </a:buClr>
              <a:buSzPts val="1100"/>
              <a:buFont typeface="Arial"/>
              <a:buNone/>
            </a:pPr>
            <a:r>
              <a:rPr b="1" lang="en" sz="1400"/>
              <a:t>How will progress </a:t>
            </a:r>
            <a:br>
              <a:rPr b="1" lang="en" sz="1400"/>
            </a:br>
            <a:r>
              <a:rPr b="1" lang="en" sz="1400"/>
              <a:t>be quantified?</a:t>
            </a:r>
            <a:endParaRPr b="1" sz="1400"/>
          </a:p>
          <a:p>
            <a:pPr indent="0" lvl="0" marL="0" rtl="0" algn="l">
              <a:lnSpc>
                <a:spcPct val="100000"/>
              </a:lnSpc>
              <a:spcBef>
                <a:spcPts val="600"/>
              </a:spcBef>
              <a:spcAft>
                <a:spcPts val="0"/>
              </a:spcAft>
              <a:buNone/>
            </a:pPr>
            <a:r>
              <a:rPr lang="en" sz="1400"/>
              <a:t>The SCF team decides </a:t>
            </a:r>
            <a:br>
              <a:rPr lang="en" sz="1400"/>
            </a:br>
            <a:r>
              <a:rPr lang="en" sz="1400"/>
              <a:t>to quantify the click-through rate, </a:t>
            </a:r>
            <a:br>
              <a:rPr lang="en" sz="1400"/>
            </a:br>
            <a:r>
              <a:rPr lang="en" sz="1400"/>
              <a:t>which is the percentage </a:t>
            </a:r>
            <a:br>
              <a:rPr lang="en" sz="1400"/>
            </a:br>
            <a:r>
              <a:rPr lang="en" sz="1400"/>
              <a:t>of employees who downloaded malicious links from emails. The goal is to decrease this number from 10% to 5%.</a:t>
            </a:r>
            <a:endParaRPr sz="1400"/>
          </a:p>
          <a:p>
            <a:pPr indent="0" lvl="0" marL="0" rtl="0" algn="l">
              <a:lnSpc>
                <a:spcPct val="100000"/>
              </a:lnSpc>
              <a:spcBef>
                <a:spcPts val="0"/>
              </a:spcBef>
              <a:spcAft>
                <a:spcPts val="0"/>
              </a:spcAft>
              <a:buClr>
                <a:schemeClr val="dk1"/>
              </a:buClr>
              <a:buSzPts val="1100"/>
              <a:buFont typeface="Arial"/>
              <a:buNone/>
            </a:pPr>
            <a:r>
              <a:t/>
            </a:r>
            <a:endParaRPr sz="1900"/>
          </a:p>
          <a:p>
            <a:pPr indent="0" lvl="0" marL="0" rtl="0" algn="l">
              <a:lnSpc>
                <a:spcPct val="100000"/>
              </a:lnSpc>
              <a:spcBef>
                <a:spcPts val="0"/>
              </a:spcBef>
              <a:spcAft>
                <a:spcPts val="0"/>
              </a:spcAft>
              <a:buNone/>
            </a:pPr>
            <a:r>
              <a:t/>
            </a:r>
            <a:endParaRPr sz="1900"/>
          </a:p>
        </p:txBody>
      </p:sp>
      <p:sp>
        <p:nvSpPr>
          <p:cNvPr id="1112" name="Google Shape;1112;p114"/>
          <p:cNvSpPr txBox="1"/>
          <p:nvPr>
            <p:ph idx="2" type="title"/>
          </p:nvPr>
        </p:nvSpPr>
        <p:spPr>
          <a:xfrm>
            <a:off x="70200" y="591475"/>
            <a:ext cx="9168600" cy="323100"/>
          </a:xfrm>
          <a:prstGeom prst="rect">
            <a:avLst/>
          </a:prstGeom>
        </p:spPr>
        <p:txBody>
          <a:bodyPr anchorCtr="0" anchor="t" bIns="91425" lIns="365750" spcFirstLastPara="1" rIns="91425" wrap="square" tIns="91425">
            <a:noAutofit/>
          </a:bodyPr>
          <a:lstStyle/>
          <a:p>
            <a:pPr indent="0" lvl="0" marL="0" rtl="0" algn="l">
              <a:lnSpc>
                <a:spcPct val="115000"/>
              </a:lnSpc>
              <a:spcBef>
                <a:spcPts val="0"/>
              </a:spcBef>
              <a:spcAft>
                <a:spcPts val="1200"/>
              </a:spcAft>
              <a:buNone/>
            </a:pPr>
            <a:r>
              <a:rPr lang="en" sz="1800">
                <a:latin typeface="Roboto"/>
                <a:ea typeface="Roboto"/>
                <a:cs typeface="Roboto"/>
                <a:sym typeface="Roboto"/>
              </a:rPr>
              <a:t>Questions you should ask when developing a plan:</a:t>
            </a:r>
            <a:endParaRPr sz="1800">
              <a:latin typeface="Roboto"/>
              <a:ea typeface="Roboto"/>
              <a:cs typeface="Roboto"/>
              <a:sym typeface="Robot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15"/>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1118" name="Google Shape;1118;p115"/>
          <p:cNvSpPr txBox="1"/>
          <p:nvPr>
            <p:ph idx="4294967295" type="subTitle"/>
          </p:nvPr>
        </p:nvSpPr>
        <p:spPr>
          <a:xfrm>
            <a:off x="944907" y="1726975"/>
            <a:ext cx="6518700" cy="2116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 this activity, you will complete the plan you began drafting in Part 1 earlier today. </a:t>
            </a:r>
            <a:endParaRPr/>
          </a:p>
        </p:txBody>
      </p:sp>
      <p:sp>
        <p:nvSpPr>
          <p:cNvPr id="1119" name="Google Shape;1119;p115"/>
          <p:cNvSpPr txBox="1"/>
          <p:nvPr>
            <p:ph idx="4294967295" type="title"/>
          </p:nvPr>
        </p:nvSpPr>
        <p:spPr>
          <a:xfrm>
            <a:off x="914400" y="554850"/>
            <a:ext cx="8248200" cy="323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 sz="1800"/>
              <a:t>Security culture framework Part 2</a:t>
            </a:r>
            <a:endParaRPr b="0" sz="18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18"/>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Security</a:t>
            </a:r>
            <a:r>
              <a:rPr b="0" lang="en"/>
              <a:t> </a:t>
            </a:r>
            <a:r>
              <a:rPr lang="en">
                <a:latin typeface="Roboto"/>
                <a:ea typeface="Roboto"/>
                <a:cs typeface="Roboto"/>
                <a:sym typeface="Roboto"/>
              </a:rPr>
              <a:t>Controls</a:t>
            </a:r>
            <a:endParaRPr>
              <a:latin typeface="Roboto"/>
              <a:ea typeface="Roboto"/>
              <a:cs typeface="Roboto"/>
              <a:sym typeface="Roboto"/>
            </a:endParaRPr>
          </a:p>
        </p:txBody>
      </p:sp>
      <p:pic>
        <p:nvPicPr>
          <p:cNvPr id="1133" name="Google Shape;1133;p118"/>
          <p:cNvPicPr preferRelativeResize="0"/>
          <p:nvPr/>
        </p:nvPicPr>
        <p:blipFill>
          <a:blip r:embed="rId3">
            <a:alphaModFix/>
          </a:blip>
          <a:stretch>
            <a:fillRect/>
          </a:stretch>
        </p:blipFill>
        <p:spPr>
          <a:xfrm>
            <a:off x="4198338" y="1650800"/>
            <a:ext cx="747325" cy="9651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7" name="Shape 1137"/>
        <p:cNvGrpSpPr/>
        <p:nvPr/>
      </p:nvGrpSpPr>
      <p:grpSpPr>
        <a:xfrm>
          <a:off x="0" y="0"/>
          <a:ext cx="0" cy="0"/>
          <a:chOff x="0" y="0"/>
          <a:chExt cx="0" cy="0"/>
        </a:xfrm>
      </p:grpSpPr>
      <p:sp>
        <p:nvSpPr>
          <p:cNvPr id="1138" name="Google Shape;1138;p119"/>
          <p:cNvSpPr txBox="1"/>
          <p:nvPr>
            <p:ph type="title"/>
          </p:nvPr>
        </p:nvSpPr>
        <p:spPr>
          <a:xfrm>
            <a:off x="3111261" y="953700"/>
            <a:ext cx="5555100" cy="13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400">
                <a:latin typeface="Roboto"/>
                <a:ea typeface="Roboto"/>
                <a:cs typeface="Roboto"/>
                <a:sym typeface="Roboto"/>
              </a:rPr>
              <a:t>In addition to</a:t>
            </a:r>
            <a:r>
              <a:rPr b="0" lang="en" sz="3400">
                <a:latin typeface="Roboto"/>
                <a:ea typeface="Roboto"/>
                <a:cs typeface="Roboto"/>
                <a:sym typeface="Roboto"/>
              </a:rPr>
              <a:t> improving security culture over the long term, the security team </a:t>
            </a:r>
            <a:r>
              <a:rPr b="0" lang="en" sz="3400">
                <a:latin typeface="Roboto"/>
                <a:ea typeface="Roboto"/>
                <a:cs typeface="Roboto"/>
                <a:sym typeface="Roboto"/>
              </a:rPr>
              <a:t>should enforce</a:t>
            </a:r>
            <a:r>
              <a:rPr b="0" lang="en" sz="3400">
                <a:latin typeface="Roboto"/>
                <a:ea typeface="Roboto"/>
                <a:cs typeface="Roboto"/>
                <a:sym typeface="Roboto"/>
              </a:rPr>
              <a:t> </a:t>
            </a:r>
            <a:r>
              <a:rPr lang="en" sz="3400">
                <a:latin typeface="Roboto"/>
                <a:ea typeface="Roboto"/>
                <a:cs typeface="Roboto"/>
                <a:sym typeface="Roboto"/>
              </a:rPr>
              <a:t>security controls</a:t>
            </a:r>
            <a:r>
              <a:rPr b="0" lang="en" sz="3400">
                <a:latin typeface="Roboto"/>
                <a:ea typeface="Roboto"/>
                <a:cs typeface="Roboto"/>
                <a:sym typeface="Roboto"/>
              </a:rPr>
              <a:t> that manage issue</a:t>
            </a:r>
            <a:r>
              <a:rPr b="0" lang="en" sz="3400">
                <a:latin typeface="Roboto"/>
                <a:ea typeface="Roboto"/>
                <a:cs typeface="Roboto"/>
                <a:sym typeface="Roboto"/>
              </a:rPr>
              <a:t>s</a:t>
            </a:r>
            <a:r>
              <a:rPr b="0" lang="en" sz="3400">
                <a:latin typeface="Roboto"/>
                <a:ea typeface="Roboto"/>
                <a:cs typeface="Roboto"/>
                <a:sym typeface="Roboto"/>
              </a:rPr>
              <a:t> in the short term</a:t>
            </a:r>
            <a:r>
              <a:rPr b="0" i="1" lang="en" sz="3400">
                <a:latin typeface="Roboto"/>
                <a:ea typeface="Roboto"/>
                <a:cs typeface="Roboto"/>
                <a:sym typeface="Roboto"/>
              </a:rPr>
              <a:t>.</a:t>
            </a:r>
            <a:endParaRPr b="0" i="1" sz="3400">
              <a:latin typeface="Roboto"/>
              <a:ea typeface="Roboto"/>
              <a:cs typeface="Roboto"/>
              <a:sym typeface="Roboto"/>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120"/>
          <p:cNvSpPr txBox="1"/>
          <p:nvPr>
            <p:ph idx="4294967295" type="subTitle"/>
          </p:nvPr>
        </p:nvSpPr>
        <p:spPr>
          <a:xfrm>
            <a:off x="0" y="1039700"/>
            <a:ext cx="9187800" cy="3131700"/>
          </a:xfrm>
          <a:prstGeom prst="rect">
            <a:avLst/>
          </a:prstGeom>
        </p:spPr>
        <p:txBody>
          <a:bodyPr anchorCtr="0" anchor="ctr" bIns="91425" lIns="1737350" spcFirstLastPara="1" rIns="1645900" wrap="square" tIns="91425">
            <a:noAutofit/>
          </a:bodyPr>
          <a:lstStyle/>
          <a:p>
            <a:pPr indent="0" lvl="0" marL="0" rtl="0" algn="l">
              <a:lnSpc>
                <a:spcPct val="100000"/>
              </a:lnSpc>
              <a:spcBef>
                <a:spcPts val="0"/>
              </a:spcBef>
              <a:spcAft>
                <a:spcPts val="0"/>
              </a:spcAft>
              <a:buNone/>
            </a:pPr>
            <a:r>
              <a:rPr lang="en" sz="3300"/>
              <a:t>A </a:t>
            </a:r>
            <a:r>
              <a:rPr b="1" lang="en" sz="3300">
                <a:latin typeface="Roboto"/>
                <a:ea typeface="Roboto"/>
                <a:cs typeface="Roboto"/>
                <a:sym typeface="Roboto"/>
              </a:rPr>
              <a:t>security control</a:t>
            </a:r>
            <a:r>
              <a:rPr lang="en" sz="3300"/>
              <a:t> is </a:t>
            </a:r>
            <a:br>
              <a:rPr lang="en" sz="3300"/>
            </a:br>
            <a:r>
              <a:rPr lang="en" sz="3300"/>
              <a:t>any system, process, or </a:t>
            </a:r>
            <a:br>
              <a:rPr lang="en" sz="3300"/>
            </a:br>
            <a:r>
              <a:rPr lang="en" sz="3300"/>
              <a:t>technology that protects </a:t>
            </a:r>
            <a:br>
              <a:rPr lang="en" sz="3300"/>
            </a:br>
            <a:r>
              <a:rPr lang="en" sz="3300"/>
              <a:t>the confidentiality, integrity, </a:t>
            </a:r>
            <a:br>
              <a:rPr lang="en" sz="3300"/>
            </a:br>
            <a:r>
              <a:rPr lang="en" sz="3300"/>
              <a:t>and availability of a resource.</a:t>
            </a:r>
            <a:endParaRPr sz="33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7" name="Shape 1147"/>
        <p:cNvGrpSpPr/>
        <p:nvPr/>
      </p:nvGrpSpPr>
      <p:grpSpPr>
        <a:xfrm>
          <a:off x="0" y="0"/>
          <a:ext cx="0" cy="0"/>
          <a:chOff x="0" y="0"/>
          <a:chExt cx="0" cy="0"/>
        </a:xfrm>
      </p:grpSpPr>
      <p:sp>
        <p:nvSpPr>
          <p:cNvPr id="1148" name="Google Shape;1148;p121"/>
          <p:cNvSpPr txBox="1"/>
          <p:nvPr>
            <p:ph type="title"/>
          </p:nvPr>
        </p:nvSpPr>
        <p:spPr>
          <a:xfrm>
            <a:off x="76250" y="1274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Security Controls and Control Types</a:t>
            </a:r>
            <a:endParaRPr/>
          </a:p>
        </p:txBody>
      </p:sp>
      <p:sp>
        <p:nvSpPr>
          <p:cNvPr id="1149" name="Google Shape;1149;p121"/>
          <p:cNvSpPr txBox="1"/>
          <p:nvPr>
            <p:ph idx="4294967295" type="subTitle"/>
          </p:nvPr>
        </p:nvSpPr>
        <p:spPr>
          <a:xfrm>
            <a:off x="483875" y="681675"/>
            <a:ext cx="9144000" cy="4767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a:t>Security controls can be administrative, technical, or physical in nature.</a:t>
            </a:r>
            <a:endParaRPr/>
          </a:p>
          <a:p>
            <a:pPr indent="0" lvl="0" marL="0" rtl="0" algn="l">
              <a:spcBef>
                <a:spcPts val="0"/>
              </a:spcBef>
              <a:spcAft>
                <a:spcPts val="0"/>
              </a:spcAft>
              <a:buClr>
                <a:schemeClr val="dk1"/>
              </a:buClr>
              <a:buSzPts val="1100"/>
              <a:buFont typeface="Arial"/>
              <a:buNone/>
            </a:pPr>
            <a:r>
              <a:t/>
            </a:r>
            <a:endParaRPr/>
          </a:p>
        </p:txBody>
      </p:sp>
      <p:sp>
        <p:nvSpPr>
          <p:cNvPr id="1150" name="Google Shape;1150;p121"/>
          <p:cNvSpPr txBox="1"/>
          <p:nvPr/>
        </p:nvSpPr>
        <p:spPr>
          <a:xfrm>
            <a:off x="565475" y="1479050"/>
            <a:ext cx="2046000" cy="25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Administrative</a:t>
            </a:r>
            <a:endParaRPr b="1" sz="1800">
              <a:solidFill>
                <a:schemeClr val="lt1"/>
              </a:solidFill>
              <a:latin typeface="Roboto"/>
              <a:ea typeface="Roboto"/>
              <a:cs typeface="Roboto"/>
              <a:sym typeface="Roboto"/>
            </a:endParaRPr>
          </a:p>
        </p:txBody>
      </p:sp>
      <p:sp>
        <p:nvSpPr>
          <p:cNvPr id="1151" name="Google Shape;1151;p121"/>
          <p:cNvSpPr txBox="1"/>
          <p:nvPr/>
        </p:nvSpPr>
        <p:spPr>
          <a:xfrm>
            <a:off x="665225" y="1974925"/>
            <a:ext cx="2046000" cy="15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Example</a:t>
            </a:r>
            <a:endParaRPr b="1" sz="1800">
              <a:solidFill>
                <a:schemeClr val="dk2"/>
              </a:solidFill>
              <a:latin typeface="Roboto"/>
              <a:ea typeface="Roboto"/>
              <a:cs typeface="Roboto"/>
              <a:sym typeface="Roboto"/>
            </a:endParaRPr>
          </a:p>
          <a:p>
            <a:pPr indent="0" lvl="0" marL="0" rtl="0" algn="l">
              <a:spcBef>
                <a:spcPts val="1000"/>
              </a:spcBef>
              <a:spcAft>
                <a:spcPts val="1000"/>
              </a:spcAft>
              <a:buNone/>
            </a:pPr>
            <a:r>
              <a:rPr lang="en" sz="1800">
                <a:solidFill>
                  <a:schemeClr val="dk2"/>
                </a:solidFill>
                <a:latin typeface="Roboto"/>
                <a:ea typeface="Roboto"/>
                <a:cs typeface="Roboto"/>
                <a:sym typeface="Roboto"/>
              </a:rPr>
              <a:t>Requiring employees to follow training guidelines.</a:t>
            </a:r>
            <a:endParaRPr sz="1800">
              <a:solidFill>
                <a:schemeClr val="dk2"/>
              </a:solidFill>
              <a:latin typeface="Roboto"/>
              <a:ea typeface="Roboto"/>
              <a:cs typeface="Roboto"/>
              <a:sym typeface="Roboto"/>
            </a:endParaRPr>
          </a:p>
        </p:txBody>
      </p:sp>
      <p:sp>
        <p:nvSpPr>
          <p:cNvPr id="1152" name="Google Shape;1152;p121"/>
          <p:cNvSpPr txBox="1"/>
          <p:nvPr/>
        </p:nvSpPr>
        <p:spPr>
          <a:xfrm>
            <a:off x="3549050" y="1479050"/>
            <a:ext cx="2046000" cy="25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Technical </a:t>
            </a:r>
            <a:endParaRPr b="1" sz="1800">
              <a:latin typeface="Roboto"/>
              <a:ea typeface="Roboto"/>
              <a:cs typeface="Roboto"/>
              <a:sym typeface="Roboto"/>
            </a:endParaRPr>
          </a:p>
        </p:txBody>
      </p:sp>
      <p:sp>
        <p:nvSpPr>
          <p:cNvPr id="1153" name="Google Shape;1153;p121"/>
          <p:cNvSpPr txBox="1"/>
          <p:nvPr/>
        </p:nvSpPr>
        <p:spPr>
          <a:xfrm>
            <a:off x="3549050" y="1959100"/>
            <a:ext cx="20460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Example</a:t>
            </a:r>
            <a:endParaRPr b="1" sz="1800">
              <a:solidFill>
                <a:schemeClr val="dk2"/>
              </a:solidFill>
              <a:latin typeface="Roboto"/>
              <a:ea typeface="Roboto"/>
              <a:cs typeface="Roboto"/>
              <a:sym typeface="Roboto"/>
            </a:endParaRPr>
          </a:p>
          <a:p>
            <a:pPr indent="0" lvl="0" marL="0" rtl="0" algn="l">
              <a:spcBef>
                <a:spcPts val="1000"/>
              </a:spcBef>
              <a:spcAft>
                <a:spcPts val="1000"/>
              </a:spcAft>
              <a:buNone/>
            </a:pPr>
            <a:r>
              <a:rPr lang="en" sz="1800">
                <a:solidFill>
                  <a:schemeClr val="dk2"/>
                </a:solidFill>
                <a:latin typeface="Roboto"/>
                <a:ea typeface="Roboto"/>
                <a:cs typeface="Roboto"/>
                <a:sym typeface="Roboto"/>
              </a:rPr>
              <a:t>Requiring developers to authenticate using secure shell (SSH) keys rather than passwords.</a:t>
            </a:r>
            <a:endParaRPr sz="1800">
              <a:solidFill>
                <a:schemeClr val="dk2"/>
              </a:solidFill>
              <a:latin typeface="Roboto"/>
              <a:ea typeface="Roboto"/>
              <a:cs typeface="Roboto"/>
              <a:sym typeface="Roboto"/>
            </a:endParaRPr>
          </a:p>
        </p:txBody>
      </p:sp>
      <p:sp>
        <p:nvSpPr>
          <p:cNvPr id="1154" name="Google Shape;1154;p121"/>
          <p:cNvSpPr txBox="1"/>
          <p:nvPr/>
        </p:nvSpPr>
        <p:spPr>
          <a:xfrm>
            <a:off x="6532625" y="1479050"/>
            <a:ext cx="2046000" cy="25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Physical</a:t>
            </a:r>
            <a:endParaRPr b="1" sz="1800">
              <a:solidFill>
                <a:schemeClr val="lt1"/>
              </a:solidFill>
              <a:latin typeface="Roboto"/>
              <a:ea typeface="Roboto"/>
              <a:cs typeface="Roboto"/>
              <a:sym typeface="Roboto"/>
            </a:endParaRPr>
          </a:p>
        </p:txBody>
      </p:sp>
      <p:sp>
        <p:nvSpPr>
          <p:cNvPr id="1155" name="Google Shape;1155;p121"/>
          <p:cNvSpPr txBox="1"/>
          <p:nvPr/>
        </p:nvSpPr>
        <p:spPr>
          <a:xfrm>
            <a:off x="6532625" y="1959100"/>
            <a:ext cx="20460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Example:</a:t>
            </a:r>
            <a:endParaRPr b="1" sz="1800">
              <a:solidFill>
                <a:schemeClr val="dk2"/>
              </a:solidFill>
              <a:latin typeface="Roboto"/>
              <a:ea typeface="Roboto"/>
              <a:cs typeface="Roboto"/>
              <a:sym typeface="Roboto"/>
            </a:endParaRPr>
          </a:p>
          <a:p>
            <a:pPr indent="0" lvl="0" marL="0" rtl="0" algn="l">
              <a:spcBef>
                <a:spcPts val="1000"/>
              </a:spcBef>
              <a:spcAft>
                <a:spcPts val="1000"/>
              </a:spcAft>
              <a:buNone/>
            </a:pPr>
            <a:r>
              <a:rPr lang="en" sz="1800">
                <a:solidFill>
                  <a:schemeClr val="dk2"/>
                </a:solidFill>
                <a:latin typeface="Roboto"/>
                <a:ea typeface="Roboto"/>
                <a:cs typeface="Roboto"/>
                <a:sym typeface="Roboto"/>
              </a:rPr>
              <a:t>Protecting a building by requiring keycard access. </a:t>
            </a:r>
            <a:endParaRPr sz="1800">
              <a:solidFill>
                <a:schemeClr val="dk2"/>
              </a:solidFill>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122"/>
          <p:cNvSpPr txBox="1"/>
          <p:nvPr>
            <p:ph type="title"/>
          </p:nvPr>
        </p:nvSpPr>
        <p:spPr>
          <a:xfrm>
            <a:off x="457200" y="2202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Controls Can Have Different Goals</a:t>
            </a:r>
            <a:endParaRPr/>
          </a:p>
        </p:txBody>
      </p:sp>
      <p:graphicFrame>
        <p:nvGraphicFramePr>
          <p:cNvPr id="1161" name="Google Shape;1161;p122"/>
          <p:cNvGraphicFramePr/>
          <p:nvPr/>
        </p:nvGraphicFramePr>
        <p:xfrm>
          <a:off x="373025" y="870625"/>
          <a:ext cx="3000000" cy="3000000"/>
        </p:xfrm>
        <a:graphic>
          <a:graphicData uri="http://schemas.openxmlformats.org/drawingml/2006/table">
            <a:tbl>
              <a:tblPr>
                <a:noFill/>
                <a:tableStyleId>{2F5ABBAB-A8E2-4C23-A3CE-279611B39798}</a:tableStyleId>
              </a:tblPr>
              <a:tblGrid>
                <a:gridCol w="2091700"/>
                <a:gridCol w="6505800"/>
              </a:tblGrid>
              <a:tr h="664975">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Preventative Controls</a:t>
                      </a:r>
                      <a:endParaRPr sz="1600">
                        <a:solidFill>
                          <a:srgbClr val="FFFFFF"/>
                        </a:solidFill>
                        <a:latin typeface="Roboto Medium"/>
                        <a:ea typeface="Roboto Medium"/>
                        <a:cs typeface="Roboto Medium"/>
                        <a:sym typeface="Roboto Medium"/>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400"/>
                        </a:spcBef>
                        <a:spcAft>
                          <a:spcPts val="0"/>
                        </a:spcAft>
                        <a:buNone/>
                      </a:pPr>
                      <a:r>
                        <a:rPr lang="en" sz="1800">
                          <a:solidFill>
                            <a:schemeClr val="dk2"/>
                          </a:solidFill>
                          <a:latin typeface="Roboto"/>
                          <a:ea typeface="Roboto"/>
                          <a:cs typeface="Roboto"/>
                          <a:sym typeface="Roboto"/>
                        </a:rPr>
                        <a:t>Prevent access with physical or technical barriers.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(e.g., keycard access)</a:t>
                      </a:r>
                      <a:endParaRPr sz="1800">
                        <a:solidFill>
                          <a:schemeClr val="dk2"/>
                        </a:solidFill>
                        <a:latin typeface="Roboto"/>
                        <a:ea typeface="Roboto"/>
                        <a:cs typeface="Roboto"/>
                        <a:sym typeface="Roboto"/>
                      </a:endParaRPr>
                    </a:p>
                  </a:txBody>
                  <a:tcPr marT="91425" marB="13715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664975">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Deterrent Controls</a:t>
                      </a:r>
                      <a:endParaRPr sz="1600">
                        <a:solidFill>
                          <a:srgbClr val="FFFFFF"/>
                        </a:solidFill>
                        <a:latin typeface="Roboto Medium"/>
                        <a:ea typeface="Roboto Medium"/>
                        <a:cs typeface="Roboto Medium"/>
                        <a:sym typeface="Roboto Medium"/>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400"/>
                        </a:spcBef>
                        <a:spcAft>
                          <a:spcPts val="0"/>
                        </a:spcAft>
                        <a:buNone/>
                      </a:pPr>
                      <a:r>
                        <a:rPr lang="en" sz="1800">
                          <a:solidFill>
                            <a:schemeClr val="dk2"/>
                          </a:solidFill>
                          <a:latin typeface="Roboto"/>
                          <a:ea typeface="Roboto"/>
                          <a:cs typeface="Roboto"/>
                          <a:sym typeface="Roboto"/>
                        </a:rPr>
                        <a:t>Discourage attackers from attempting to access a resource.</a:t>
                      </a:r>
                      <a:endParaRPr sz="1800">
                        <a:solidFill>
                          <a:schemeClr val="dk2"/>
                        </a:solidFill>
                        <a:latin typeface="Roboto"/>
                        <a:ea typeface="Roboto"/>
                        <a:cs typeface="Roboto"/>
                        <a:sym typeface="Roboto"/>
                      </a:endParaRPr>
                    </a:p>
                  </a:txBody>
                  <a:tcPr marT="91425" marB="13715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664975">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Detective Controls</a:t>
                      </a:r>
                      <a:endParaRPr sz="1600">
                        <a:solidFill>
                          <a:srgbClr val="FFFFFF"/>
                        </a:solidFill>
                        <a:latin typeface="Roboto Medium"/>
                        <a:ea typeface="Roboto Medium"/>
                        <a:cs typeface="Roboto Medium"/>
                        <a:sym typeface="Roboto Medium"/>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400"/>
                        </a:spcBef>
                        <a:spcAft>
                          <a:spcPts val="0"/>
                        </a:spcAft>
                        <a:buNone/>
                      </a:pPr>
                      <a:r>
                        <a:rPr lang="en" sz="1800">
                          <a:solidFill>
                            <a:schemeClr val="dk2"/>
                          </a:solidFill>
                          <a:latin typeface="Roboto"/>
                          <a:ea typeface="Roboto"/>
                          <a:cs typeface="Roboto"/>
                          <a:sym typeface="Roboto"/>
                        </a:rPr>
                        <a:t>Identify and alert attempts to access a resource.</a:t>
                      </a:r>
                      <a:endParaRPr sz="1800">
                        <a:solidFill>
                          <a:schemeClr val="dk2"/>
                        </a:solidFill>
                        <a:latin typeface="Roboto"/>
                        <a:ea typeface="Roboto"/>
                        <a:cs typeface="Roboto"/>
                        <a:sym typeface="Roboto"/>
                      </a:endParaRPr>
                    </a:p>
                  </a:txBody>
                  <a:tcPr marT="91425" marB="13715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664975">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Corrective Controls </a:t>
                      </a:r>
                      <a:endParaRPr sz="1600">
                        <a:solidFill>
                          <a:srgbClr val="FFFFFF"/>
                        </a:solidFill>
                        <a:latin typeface="Roboto Medium"/>
                        <a:ea typeface="Roboto Medium"/>
                        <a:cs typeface="Roboto Medium"/>
                        <a:sym typeface="Roboto Medium"/>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400"/>
                        </a:spcBef>
                        <a:spcAft>
                          <a:spcPts val="0"/>
                        </a:spcAft>
                        <a:buNone/>
                      </a:pPr>
                      <a:r>
                        <a:rPr lang="en" sz="1800">
                          <a:solidFill>
                            <a:schemeClr val="dk2"/>
                          </a:solidFill>
                          <a:latin typeface="Roboto"/>
                          <a:ea typeface="Roboto"/>
                          <a:cs typeface="Roboto"/>
                          <a:sym typeface="Roboto"/>
                        </a:rPr>
                        <a:t>Attempt to fix an incident, and possibly stop it from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happening again.</a:t>
                      </a:r>
                      <a:endParaRPr sz="1800">
                        <a:solidFill>
                          <a:schemeClr val="dk2"/>
                        </a:solidFill>
                        <a:latin typeface="Roboto"/>
                        <a:ea typeface="Roboto"/>
                        <a:cs typeface="Roboto"/>
                        <a:sym typeface="Roboto"/>
                      </a:endParaRPr>
                    </a:p>
                  </a:txBody>
                  <a:tcPr marT="91425" marB="13715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664975">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Compensating Controls</a:t>
                      </a:r>
                      <a:endParaRPr sz="1600">
                        <a:solidFill>
                          <a:srgbClr val="FFFFFF"/>
                        </a:solidFill>
                        <a:latin typeface="Roboto Medium"/>
                        <a:ea typeface="Roboto Medium"/>
                        <a:cs typeface="Roboto Medium"/>
                        <a:sym typeface="Roboto Medium"/>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400"/>
                        </a:spcBef>
                        <a:spcAft>
                          <a:spcPts val="0"/>
                        </a:spcAft>
                        <a:buNone/>
                      </a:pPr>
                      <a:r>
                        <a:rPr lang="en" sz="1800">
                          <a:solidFill>
                            <a:schemeClr val="dk2"/>
                          </a:solidFill>
                          <a:latin typeface="Roboto"/>
                          <a:ea typeface="Roboto"/>
                          <a:cs typeface="Roboto"/>
                          <a:sym typeface="Roboto"/>
                        </a:rPr>
                        <a:t>Restore the function of compromised systems.</a:t>
                      </a:r>
                      <a:endParaRPr sz="1800">
                        <a:solidFill>
                          <a:schemeClr val="dk2"/>
                        </a:solidFill>
                        <a:latin typeface="Roboto"/>
                        <a:ea typeface="Roboto"/>
                        <a:cs typeface="Roboto"/>
                        <a:sym typeface="Roboto"/>
                      </a:endParaRPr>
                    </a:p>
                  </a:txBody>
                  <a:tcPr marT="91425" marB="13715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5" name="Shape 1165"/>
        <p:cNvGrpSpPr/>
        <p:nvPr/>
      </p:nvGrpSpPr>
      <p:grpSpPr>
        <a:xfrm>
          <a:off x="0" y="0"/>
          <a:ext cx="0" cy="0"/>
          <a:chOff x="0" y="0"/>
          <a:chExt cx="0" cy="0"/>
        </a:xfrm>
      </p:grpSpPr>
      <p:sp>
        <p:nvSpPr>
          <p:cNvPr id="1166" name="Google Shape;1166;p123"/>
          <p:cNvSpPr/>
          <p:nvPr/>
        </p:nvSpPr>
        <p:spPr>
          <a:xfrm flipH="1">
            <a:off x="377068" y="2219755"/>
            <a:ext cx="2571600" cy="2574600"/>
          </a:xfrm>
          <a:prstGeom prst="round2DiagRect">
            <a:avLst>
              <a:gd fmla="val 16667" name="adj1"/>
              <a:gd fmla="val 0" name="adj2"/>
            </a:avLst>
          </a:prstGeom>
          <a:solidFill>
            <a:srgbClr val="F3F3F3"/>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800">
                <a:solidFill>
                  <a:schemeClr val="dk2"/>
                </a:solidFill>
                <a:latin typeface="Roboto"/>
                <a:ea typeface="Roboto"/>
                <a:cs typeface="Roboto"/>
                <a:sym typeface="Roboto"/>
              </a:rPr>
              <a:t>Example</a:t>
            </a:r>
            <a:endParaRPr b="1"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File permissions act as access controls by preventing users from modifying files they don’t own.</a:t>
            </a:r>
            <a:endParaRPr sz="1800">
              <a:solidFill>
                <a:schemeClr val="dk2"/>
              </a:solidFill>
              <a:latin typeface="Roboto"/>
              <a:ea typeface="Roboto"/>
              <a:cs typeface="Roboto"/>
              <a:sym typeface="Roboto"/>
            </a:endParaRPr>
          </a:p>
        </p:txBody>
      </p:sp>
      <p:sp>
        <p:nvSpPr>
          <p:cNvPr id="1167" name="Google Shape;1167;p123"/>
          <p:cNvSpPr/>
          <p:nvPr/>
        </p:nvSpPr>
        <p:spPr>
          <a:xfrm flipH="1">
            <a:off x="3205946" y="2193050"/>
            <a:ext cx="2607000" cy="2574600"/>
          </a:xfrm>
          <a:prstGeom prst="round2DiagRect">
            <a:avLst>
              <a:gd fmla="val 16667" name="adj1"/>
              <a:gd fmla="val 0" name="adj2"/>
            </a:avLst>
          </a:prstGeom>
          <a:solidFill>
            <a:srgbClr val="F3F3F3"/>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800">
                <a:solidFill>
                  <a:schemeClr val="dk2"/>
                </a:solidFill>
                <a:latin typeface="Roboto"/>
                <a:ea typeface="Roboto"/>
                <a:cs typeface="Roboto"/>
                <a:sym typeface="Roboto"/>
              </a:rPr>
              <a:t>Example</a:t>
            </a:r>
            <a:endParaRPr b="1" sz="1800">
              <a:solidFill>
                <a:schemeClr val="dk2"/>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800">
                <a:solidFill>
                  <a:schemeClr val="dk2"/>
                </a:solidFill>
                <a:latin typeface="Roboto"/>
                <a:ea typeface="Roboto"/>
                <a:cs typeface="Roboto"/>
                <a:sym typeface="Roboto"/>
              </a:rPr>
              <a:t>Firewalls control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access to networks.</a:t>
            </a:r>
            <a:endParaRPr sz="1800">
              <a:solidFill>
                <a:schemeClr val="dk2"/>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solidFill>
                <a:schemeClr val="dk2"/>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168" name="Google Shape;1168;p123"/>
          <p:cNvSpPr/>
          <p:nvPr/>
        </p:nvSpPr>
        <p:spPr>
          <a:xfrm flipH="1">
            <a:off x="6035450" y="2193775"/>
            <a:ext cx="2600400" cy="2574600"/>
          </a:xfrm>
          <a:prstGeom prst="round2DiagRect">
            <a:avLst>
              <a:gd fmla="val 16667" name="adj1"/>
              <a:gd fmla="val 0" name="adj2"/>
            </a:avLst>
          </a:prstGeom>
          <a:solidFill>
            <a:srgbClr val="F3F3F3"/>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800">
                <a:solidFill>
                  <a:schemeClr val="dk2"/>
                </a:solidFill>
                <a:latin typeface="Roboto"/>
                <a:ea typeface="Roboto"/>
                <a:cs typeface="Roboto"/>
                <a:sym typeface="Roboto"/>
              </a:rPr>
              <a:t>Example </a:t>
            </a:r>
            <a:endParaRPr b="1"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Monitoring systems</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act as detective control.</a:t>
            </a:r>
            <a:endParaRPr sz="1800">
              <a:solidFill>
                <a:schemeClr val="dk2"/>
              </a:solidFill>
              <a:latin typeface="Roboto"/>
              <a:ea typeface="Roboto"/>
              <a:cs typeface="Roboto"/>
              <a:sym typeface="Roboto"/>
            </a:endParaRPr>
          </a:p>
        </p:txBody>
      </p:sp>
      <p:sp>
        <p:nvSpPr>
          <p:cNvPr id="1169" name="Google Shape;1169;p123"/>
          <p:cNvSpPr/>
          <p:nvPr/>
        </p:nvSpPr>
        <p:spPr>
          <a:xfrm>
            <a:off x="386256" y="1600375"/>
            <a:ext cx="2571600" cy="4767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lt1"/>
                </a:solidFill>
                <a:latin typeface="Roboto Medium"/>
                <a:ea typeface="Roboto Medium"/>
                <a:cs typeface="Roboto Medium"/>
                <a:sym typeface="Roboto Medium"/>
              </a:rPr>
              <a:t>Linux</a:t>
            </a:r>
            <a:endParaRPr sz="2100">
              <a:solidFill>
                <a:schemeClr val="lt1"/>
              </a:solidFill>
              <a:latin typeface="Roboto Light"/>
              <a:ea typeface="Roboto Light"/>
              <a:cs typeface="Roboto Light"/>
              <a:sym typeface="Roboto Light"/>
            </a:endParaRPr>
          </a:p>
        </p:txBody>
      </p:sp>
      <p:sp>
        <p:nvSpPr>
          <p:cNvPr id="1170" name="Google Shape;1170;p123"/>
          <p:cNvSpPr/>
          <p:nvPr/>
        </p:nvSpPr>
        <p:spPr>
          <a:xfrm rot="10800000">
            <a:off x="530457" y="1989162"/>
            <a:ext cx="276402" cy="144694"/>
          </a:xfrm>
          <a:prstGeom prst="flowChartExtra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23"/>
          <p:cNvSpPr/>
          <p:nvPr/>
        </p:nvSpPr>
        <p:spPr>
          <a:xfrm>
            <a:off x="3214204" y="1600375"/>
            <a:ext cx="2607000" cy="476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accent5"/>
                </a:solidFill>
                <a:latin typeface="Roboto Medium"/>
                <a:ea typeface="Roboto Medium"/>
                <a:cs typeface="Roboto Medium"/>
                <a:sym typeface="Roboto Medium"/>
              </a:rPr>
              <a:t>Networks</a:t>
            </a:r>
            <a:endParaRPr sz="2100">
              <a:solidFill>
                <a:schemeClr val="accent5"/>
              </a:solidFill>
              <a:latin typeface="Roboto Light"/>
              <a:ea typeface="Roboto Light"/>
              <a:cs typeface="Roboto Light"/>
              <a:sym typeface="Roboto Light"/>
            </a:endParaRPr>
          </a:p>
        </p:txBody>
      </p:sp>
      <p:sp>
        <p:nvSpPr>
          <p:cNvPr id="1172" name="Google Shape;1172;p123"/>
          <p:cNvSpPr/>
          <p:nvPr/>
        </p:nvSpPr>
        <p:spPr>
          <a:xfrm rot="10800000">
            <a:off x="3369907" y="1989163"/>
            <a:ext cx="261029" cy="144694"/>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23"/>
          <p:cNvSpPr/>
          <p:nvPr/>
        </p:nvSpPr>
        <p:spPr>
          <a:xfrm>
            <a:off x="6028850" y="1586575"/>
            <a:ext cx="2600400" cy="4767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lt1"/>
                </a:solidFill>
                <a:latin typeface="Roboto Medium"/>
                <a:ea typeface="Roboto Medium"/>
                <a:cs typeface="Roboto Medium"/>
                <a:sym typeface="Roboto Medium"/>
              </a:rPr>
              <a:t>Incident Response</a:t>
            </a:r>
            <a:endParaRPr sz="2100">
              <a:solidFill>
                <a:schemeClr val="lt1"/>
              </a:solidFill>
              <a:latin typeface="Roboto Light"/>
              <a:ea typeface="Roboto Light"/>
              <a:cs typeface="Roboto Light"/>
              <a:sym typeface="Roboto Light"/>
            </a:endParaRPr>
          </a:p>
        </p:txBody>
      </p:sp>
      <p:sp>
        <p:nvSpPr>
          <p:cNvPr id="1174" name="Google Shape;1174;p123"/>
          <p:cNvSpPr/>
          <p:nvPr/>
        </p:nvSpPr>
        <p:spPr>
          <a:xfrm rot="10800000">
            <a:off x="6198832" y="1989913"/>
            <a:ext cx="261029" cy="144694"/>
          </a:xfrm>
          <a:prstGeom prst="flowChartExtra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23"/>
          <p:cNvSpPr txBox="1"/>
          <p:nvPr>
            <p:ph type="title"/>
          </p:nvPr>
        </p:nvSpPr>
        <p:spPr>
          <a:xfrm>
            <a:off x="434425" y="1745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We’ll Have More Security Controls in Future Units.</a:t>
            </a:r>
            <a:endParaRPr/>
          </a:p>
        </p:txBody>
      </p:sp>
      <p:sp>
        <p:nvSpPr>
          <p:cNvPr id="1176" name="Google Shape;1176;p123"/>
          <p:cNvSpPr txBox="1"/>
          <p:nvPr>
            <p:ph idx="1" type="body"/>
          </p:nvPr>
        </p:nvSpPr>
        <p:spPr>
          <a:xfrm>
            <a:off x="387900" y="747225"/>
            <a:ext cx="8520600" cy="7014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sz="1700"/>
              <a:t>Regardless of their type, all security controls seek to restrain or respond to access of a resource. The following </a:t>
            </a:r>
            <a:r>
              <a:rPr lang="en" sz="1700"/>
              <a:t>a</a:t>
            </a:r>
            <a:r>
              <a:rPr lang="en" sz="1700"/>
              <a:t>ccess control</a:t>
            </a:r>
            <a:r>
              <a:rPr lang="en" sz="1700"/>
              <a:t>s determine who can access specific resources: </a:t>
            </a:r>
            <a:endParaRPr sz="17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124"/>
          <p:cNvSpPr txBox="1"/>
          <p:nvPr>
            <p:ph type="title"/>
          </p:nvPr>
        </p:nvSpPr>
        <p:spPr>
          <a:xfrm>
            <a:off x="3156951" y="1919400"/>
            <a:ext cx="5013900" cy="13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400">
                <a:latin typeface="Roboto"/>
                <a:ea typeface="Roboto"/>
                <a:cs typeface="Roboto"/>
                <a:sym typeface="Roboto"/>
              </a:rPr>
              <a:t>Security controls </a:t>
            </a:r>
            <a:br>
              <a:rPr b="0" lang="en" sz="3400">
                <a:latin typeface="Roboto"/>
                <a:ea typeface="Roboto"/>
                <a:cs typeface="Roboto"/>
                <a:sym typeface="Roboto"/>
              </a:rPr>
            </a:br>
            <a:r>
              <a:rPr b="0" lang="en" sz="3400">
                <a:latin typeface="Roboto"/>
                <a:ea typeface="Roboto"/>
                <a:cs typeface="Roboto"/>
                <a:sym typeface="Roboto"/>
              </a:rPr>
              <a:t>check on learning.</a:t>
            </a:r>
            <a:r>
              <a:rPr b="0" lang="en" sz="3400">
                <a:latin typeface="Roboto"/>
                <a:ea typeface="Roboto"/>
                <a:cs typeface="Roboto"/>
                <a:sym typeface="Roboto"/>
              </a:rPr>
              <a:t> </a:t>
            </a:r>
            <a:endParaRPr b="0" sz="3400">
              <a:latin typeface="Roboto"/>
              <a:ea typeface="Roboto"/>
              <a:cs typeface="Roboto"/>
              <a:sym typeface="Robot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125"/>
          <p:cNvSpPr txBox="1"/>
          <p:nvPr>
            <p:ph type="title"/>
          </p:nvPr>
        </p:nvSpPr>
        <p:spPr>
          <a:xfrm>
            <a:off x="3145525" y="1207875"/>
            <a:ext cx="5555100" cy="29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400">
                <a:latin typeface="Roboto"/>
                <a:ea typeface="Roboto"/>
                <a:cs typeface="Roboto"/>
                <a:sym typeface="Roboto"/>
              </a:rPr>
              <a:t>Layering security controls </a:t>
            </a:r>
            <a:br>
              <a:rPr b="0" lang="en" sz="3400">
                <a:latin typeface="Roboto"/>
                <a:ea typeface="Roboto"/>
                <a:cs typeface="Roboto"/>
                <a:sym typeface="Roboto"/>
              </a:rPr>
            </a:br>
            <a:r>
              <a:rPr b="0" lang="en" sz="3400">
                <a:latin typeface="Roboto"/>
                <a:ea typeface="Roboto"/>
                <a:cs typeface="Roboto"/>
                <a:sym typeface="Roboto"/>
              </a:rPr>
              <a:t>is a fundamental aspect </a:t>
            </a:r>
            <a:br>
              <a:rPr b="0" lang="en" sz="3400">
                <a:latin typeface="Roboto"/>
                <a:ea typeface="Roboto"/>
                <a:cs typeface="Roboto"/>
                <a:sym typeface="Roboto"/>
              </a:rPr>
            </a:br>
            <a:r>
              <a:rPr b="0" lang="en" sz="3400">
                <a:latin typeface="Roboto"/>
                <a:ea typeface="Roboto"/>
                <a:cs typeface="Roboto"/>
                <a:sym typeface="Roboto"/>
              </a:rPr>
              <a:t>of the security design framework known as </a:t>
            </a:r>
            <a:r>
              <a:rPr lang="en" sz="3400">
                <a:latin typeface="Roboto"/>
                <a:ea typeface="Roboto"/>
                <a:cs typeface="Roboto"/>
                <a:sym typeface="Roboto"/>
              </a:rPr>
              <a:t>defense in depth</a:t>
            </a:r>
            <a:r>
              <a:rPr b="0" lang="en" sz="3400"/>
              <a:t>. </a:t>
            </a:r>
            <a:endParaRPr b="0" sz="34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26"/>
          <p:cNvSpPr txBox="1"/>
          <p:nvPr>
            <p:ph idx="4294967295" type="subTitle"/>
          </p:nvPr>
        </p:nvSpPr>
        <p:spPr>
          <a:xfrm>
            <a:off x="0" y="1039700"/>
            <a:ext cx="9187800" cy="3131700"/>
          </a:xfrm>
          <a:prstGeom prst="rect">
            <a:avLst/>
          </a:prstGeom>
        </p:spPr>
        <p:txBody>
          <a:bodyPr anchorCtr="0" anchor="ctr" bIns="91425" lIns="1737350" spcFirstLastPara="1" rIns="1645900" wrap="square" tIns="91425">
            <a:noAutofit/>
          </a:bodyPr>
          <a:lstStyle/>
          <a:p>
            <a:pPr indent="0" lvl="0" marL="0" rtl="0" algn="l">
              <a:lnSpc>
                <a:spcPct val="100000"/>
              </a:lnSpc>
              <a:spcBef>
                <a:spcPts val="0"/>
              </a:spcBef>
              <a:spcAft>
                <a:spcPts val="0"/>
              </a:spcAft>
              <a:buNone/>
            </a:pPr>
            <a:r>
              <a:rPr b="1" lang="en" sz="3400">
                <a:latin typeface="Roboto"/>
                <a:ea typeface="Roboto"/>
                <a:cs typeface="Roboto"/>
                <a:sym typeface="Roboto"/>
              </a:rPr>
              <a:t>Defense in depth</a:t>
            </a:r>
            <a:r>
              <a:rPr lang="en" sz="3400"/>
              <a:t> is the practice of using multiple defenses to secure a resource. </a:t>
            </a:r>
            <a:endParaRPr sz="34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5" name="Shape 1195"/>
        <p:cNvGrpSpPr/>
        <p:nvPr/>
      </p:nvGrpSpPr>
      <p:grpSpPr>
        <a:xfrm>
          <a:off x="0" y="0"/>
          <a:ext cx="0" cy="0"/>
          <a:chOff x="0" y="0"/>
          <a:chExt cx="0" cy="0"/>
        </a:xfrm>
      </p:grpSpPr>
      <p:sp>
        <p:nvSpPr>
          <p:cNvPr id="1196" name="Google Shape;1196;p127"/>
          <p:cNvSpPr txBox="1"/>
          <p:nvPr>
            <p:ph type="title"/>
          </p:nvPr>
        </p:nvSpPr>
        <p:spPr>
          <a:xfrm>
            <a:off x="76250" y="1274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Defense in Depth</a:t>
            </a:r>
            <a:endParaRPr/>
          </a:p>
        </p:txBody>
      </p:sp>
      <p:sp>
        <p:nvSpPr>
          <p:cNvPr id="1197" name="Google Shape;1197;p127"/>
          <p:cNvSpPr txBox="1"/>
          <p:nvPr>
            <p:ph idx="4294967295" type="subTitle"/>
          </p:nvPr>
        </p:nvSpPr>
        <p:spPr>
          <a:xfrm>
            <a:off x="483875" y="681675"/>
            <a:ext cx="9144000" cy="4767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a:t>For example, a secure network may protect an SSH server in three ways:</a:t>
            </a:r>
            <a:endParaRPr/>
          </a:p>
          <a:p>
            <a:pPr indent="0" lvl="0" marL="0" rtl="0" algn="l">
              <a:spcBef>
                <a:spcPts val="0"/>
              </a:spcBef>
              <a:spcAft>
                <a:spcPts val="0"/>
              </a:spcAft>
              <a:buClr>
                <a:schemeClr val="dk1"/>
              </a:buClr>
              <a:buSzPts val="1100"/>
              <a:buFont typeface="Arial"/>
              <a:buNone/>
            </a:pPr>
            <a:r>
              <a:t/>
            </a:r>
            <a:endParaRPr/>
          </a:p>
        </p:txBody>
      </p:sp>
      <p:sp>
        <p:nvSpPr>
          <p:cNvPr id="1198" name="Google Shape;1198;p127"/>
          <p:cNvSpPr txBox="1"/>
          <p:nvPr/>
        </p:nvSpPr>
        <p:spPr>
          <a:xfrm>
            <a:off x="565475" y="1479050"/>
            <a:ext cx="2046000" cy="25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Roboto"/>
                <a:ea typeface="Roboto"/>
                <a:cs typeface="Roboto"/>
                <a:sym typeface="Roboto"/>
              </a:rPr>
              <a:t>Technical Control</a:t>
            </a:r>
            <a:endParaRPr b="1" sz="1700">
              <a:solidFill>
                <a:schemeClr val="lt1"/>
              </a:solidFill>
              <a:latin typeface="Roboto"/>
              <a:ea typeface="Roboto"/>
              <a:cs typeface="Roboto"/>
              <a:sym typeface="Roboto"/>
            </a:endParaRPr>
          </a:p>
        </p:txBody>
      </p:sp>
      <p:sp>
        <p:nvSpPr>
          <p:cNvPr id="1199" name="Google Shape;1199;p127"/>
          <p:cNvSpPr txBox="1"/>
          <p:nvPr/>
        </p:nvSpPr>
        <p:spPr>
          <a:xfrm>
            <a:off x="665225" y="2051125"/>
            <a:ext cx="2046000" cy="12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en" sz="1800">
                <a:solidFill>
                  <a:schemeClr val="dk2"/>
                </a:solidFill>
                <a:latin typeface="Roboto"/>
                <a:ea typeface="Roboto"/>
                <a:cs typeface="Roboto"/>
                <a:sym typeface="Roboto"/>
              </a:rPr>
              <a:t>Hiding the server behind a firewall that only forwards connections from the corporate VPN.</a:t>
            </a:r>
            <a:endParaRPr sz="1800">
              <a:solidFill>
                <a:schemeClr val="dk2"/>
              </a:solidFill>
              <a:latin typeface="Roboto"/>
              <a:ea typeface="Roboto"/>
              <a:cs typeface="Roboto"/>
              <a:sym typeface="Roboto"/>
            </a:endParaRPr>
          </a:p>
        </p:txBody>
      </p:sp>
      <p:sp>
        <p:nvSpPr>
          <p:cNvPr id="1200" name="Google Shape;1200;p127"/>
          <p:cNvSpPr txBox="1"/>
          <p:nvPr/>
        </p:nvSpPr>
        <p:spPr>
          <a:xfrm>
            <a:off x="3549050" y="1479050"/>
            <a:ext cx="2046000" cy="25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700">
                <a:latin typeface="Roboto"/>
                <a:ea typeface="Roboto"/>
                <a:cs typeface="Roboto"/>
                <a:sym typeface="Roboto"/>
              </a:rPr>
              <a:t>Technical </a:t>
            </a:r>
            <a:r>
              <a:rPr b="1" lang="en" sz="1700">
                <a:latin typeface="Roboto"/>
                <a:ea typeface="Roboto"/>
                <a:cs typeface="Roboto"/>
                <a:sym typeface="Roboto"/>
              </a:rPr>
              <a:t>Control</a:t>
            </a:r>
            <a:r>
              <a:rPr b="1" lang="en" sz="1700">
                <a:latin typeface="Roboto"/>
                <a:ea typeface="Roboto"/>
                <a:cs typeface="Roboto"/>
                <a:sym typeface="Roboto"/>
              </a:rPr>
              <a:t> </a:t>
            </a:r>
            <a:endParaRPr b="1" sz="1700">
              <a:latin typeface="Roboto"/>
              <a:ea typeface="Roboto"/>
              <a:cs typeface="Roboto"/>
              <a:sym typeface="Roboto"/>
            </a:endParaRPr>
          </a:p>
        </p:txBody>
      </p:sp>
      <p:sp>
        <p:nvSpPr>
          <p:cNvPr id="1201" name="Google Shape;1201;p127"/>
          <p:cNvSpPr txBox="1"/>
          <p:nvPr/>
        </p:nvSpPr>
        <p:spPr>
          <a:xfrm>
            <a:off x="3549050" y="1959100"/>
            <a:ext cx="2046000" cy="92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en" sz="1800">
                <a:solidFill>
                  <a:schemeClr val="dk2"/>
                </a:solidFill>
                <a:latin typeface="Roboto"/>
                <a:ea typeface="Roboto"/>
                <a:cs typeface="Roboto"/>
                <a:sym typeface="Roboto"/>
              </a:rPr>
              <a:t>Forcing </a:t>
            </a:r>
            <a:r>
              <a:rPr lang="en" sz="1800">
                <a:solidFill>
                  <a:schemeClr val="dk2"/>
                </a:solidFill>
                <a:latin typeface="Roboto"/>
                <a:ea typeface="Roboto"/>
                <a:cs typeface="Roboto"/>
                <a:sym typeface="Roboto"/>
              </a:rPr>
              <a:t>users to authenticate with SSH keys and passwords.</a:t>
            </a:r>
            <a:endParaRPr sz="1800">
              <a:solidFill>
                <a:schemeClr val="dk2"/>
              </a:solidFill>
              <a:latin typeface="Roboto"/>
              <a:ea typeface="Roboto"/>
              <a:cs typeface="Roboto"/>
              <a:sym typeface="Roboto"/>
            </a:endParaRPr>
          </a:p>
        </p:txBody>
      </p:sp>
      <p:sp>
        <p:nvSpPr>
          <p:cNvPr id="1202" name="Google Shape;1202;p127"/>
          <p:cNvSpPr txBox="1"/>
          <p:nvPr/>
        </p:nvSpPr>
        <p:spPr>
          <a:xfrm>
            <a:off x="6532625" y="1479050"/>
            <a:ext cx="2046000" cy="25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Roboto"/>
                <a:ea typeface="Roboto"/>
                <a:cs typeface="Roboto"/>
                <a:sym typeface="Roboto"/>
              </a:rPr>
              <a:t>Procedural Control</a:t>
            </a:r>
            <a:endParaRPr b="1" sz="1700">
              <a:solidFill>
                <a:schemeClr val="lt1"/>
              </a:solidFill>
              <a:latin typeface="Roboto"/>
              <a:ea typeface="Roboto"/>
              <a:cs typeface="Roboto"/>
              <a:sym typeface="Roboto"/>
            </a:endParaRPr>
          </a:p>
        </p:txBody>
      </p:sp>
      <p:sp>
        <p:nvSpPr>
          <p:cNvPr id="1203" name="Google Shape;1203;p127"/>
          <p:cNvSpPr txBox="1"/>
          <p:nvPr/>
        </p:nvSpPr>
        <p:spPr>
          <a:xfrm>
            <a:off x="6532625" y="1959100"/>
            <a:ext cx="2102100" cy="136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en" sz="1800">
                <a:solidFill>
                  <a:schemeClr val="dk2"/>
                </a:solidFill>
                <a:latin typeface="Roboto"/>
                <a:ea typeface="Roboto"/>
                <a:cs typeface="Roboto"/>
                <a:sym typeface="Roboto"/>
              </a:rPr>
              <a:t>Requiring users to generate new keys with new strong passwords every quarter</a:t>
            </a:r>
            <a:endParaRPr sz="1800">
              <a:solidFill>
                <a:schemeClr val="dk2"/>
              </a:solidFill>
              <a:latin typeface="Roboto"/>
              <a:ea typeface="Roboto"/>
              <a:cs typeface="Roboto"/>
              <a:sym typeface="Roboto"/>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7" name="Shape 1207"/>
        <p:cNvGrpSpPr/>
        <p:nvPr/>
      </p:nvGrpSpPr>
      <p:grpSpPr>
        <a:xfrm>
          <a:off x="0" y="0"/>
          <a:ext cx="0" cy="0"/>
          <a:chOff x="0" y="0"/>
          <a:chExt cx="0" cy="0"/>
        </a:xfrm>
      </p:grpSpPr>
      <p:sp>
        <p:nvSpPr>
          <p:cNvPr id="1208" name="Google Shape;1208;p128"/>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Control Diversity and Redundancy  </a:t>
            </a:r>
            <a:endParaRPr/>
          </a:p>
        </p:txBody>
      </p:sp>
      <p:sp>
        <p:nvSpPr>
          <p:cNvPr id="1209" name="Google Shape;1209;p128"/>
          <p:cNvSpPr txBox="1"/>
          <p:nvPr>
            <p:ph idx="4294967295" type="subTitle"/>
          </p:nvPr>
        </p:nvSpPr>
        <p:spPr>
          <a:xfrm>
            <a:off x="0" y="508325"/>
            <a:ext cx="9144000" cy="364800"/>
          </a:xfrm>
          <a:prstGeom prst="rect">
            <a:avLst/>
          </a:prstGeom>
        </p:spPr>
        <p:txBody>
          <a:bodyPr anchorCtr="0" anchor="t" bIns="91425" lIns="457200" spcFirstLastPara="1" rIns="457200" wrap="square" tIns="45700">
            <a:noAutofit/>
          </a:bodyPr>
          <a:lstStyle/>
          <a:p>
            <a:pPr indent="0" lvl="0" marL="0" rtl="0" algn="l">
              <a:spcBef>
                <a:spcPts val="0"/>
              </a:spcBef>
              <a:spcAft>
                <a:spcPts val="0"/>
              </a:spcAft>
              <a:buClr>
                <a:schemeClr val="dk1"/>
              </a:buClr>
              <a:buSzPts val="1100"/>
              <a:buFont typeface="Arial"/>
              <a:buNone/>
            </a:pPr>
            <a:r>
              <a:rPr lang="en"/>
              <a:t>A system with multiple layers of protection is said to have </a:t>
            </a:r>
            <a:r>
              <a:rPr b="1" lang="en">
                <a:latin typeface="Roboto"/>
                <a:ea typeface="Roboto"/>
                <a:cs typeface="Roboto"/>
                <a:sym typeface="Roboto"/>
              </a:rPr>
              <a:t>control diversity</a:t>
            </a:r>
            <a:r>
              <a:rPr lang="en"/>
              <a:t> </a:t>
            </a:r>
            <a:br>
              <a:rPr lang="en"/>
            </a:br>
            <a:r>
              <a:rPr lang="en"/>
              <a:t>because it is protected in multiple ways.</a:t>
            </a:r>
            <a:endParaRPr/>
          </a:p>
        </p:txBody>
      </p:sp>
      <p:sp>
        <p:nvSpPr>
          <p:cNvPr id="1210" name="Google Shape;1210;p128"/>
          <p:cNvSpPr txBox="1"/>
          <p:nvPr>
            <p:ph idx="4294967295" type="subTitle"/>
          </p:nvPr>
        </p:nvSpPr>
        <p:spPr>
          <a:xfrm>
            <a:off x="590925" y="1937825"/>
            <a:ext cx="2371500" cy="2662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Protecting the SSH server with a firewall prevents unwanted connections from unintentional attackers.</a:t>
            </a:r>
            <a:endParaRPr sz="1400"/>
          </a:p>
        </p:txBody>
      </p:sp>
      <p:sp>
        <p:nvSpPr>
          <p:cNvPr id="1211" name="Google Shape;1211;p128"/>
          <p:cNvSpPr txBox="1"/>
          <p:nvPr>
            <p:ph idx="4294967295" type="subTitle"/>
          </p:nvPr>
        </p:nvSpPr>
        <p:spPr>
          <a:xfrm>
            <a:off x="3386250" y="1937825"/>
            <a:ext cx="2221800" cy="2662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If an attacker bypasses </a:t>
            </a:r>
            <a:br>
              <a:rPr lang="en" sz="1400"/>
            </a:br>
            <a:r>
              <a:rPr lang="en" sz="1400"/>
              <a:t>the VPN, it is still hard to compromise the server. Users must authenticate with SSH keys and passwords so attackers can't easily brute-force</a:t>
            </a:r>
            <a:br>
              <a:rPr lang="en" sz="1400"/>
            </a:br>
            <a:r>
              <a:rPr lang="en" sz="1400"/>
              <a:t>the login.</a:t>
            </a:r>
            <a:endParaRPr sz="1400"/>
          </a:p>
        </p:txBody>
      </p:sp>
      <p:sp>
        <p:nvSpPr>
          <p:cNvPr id="1212" name="Google Shape;1212;p128"/>
          <p:cNvSpPr txBox="1"/>
          <p:nvPr>
            <p:ph idx="4294967295" type="subTitle"/>
          </p:nvPr>
        </p:nvSpPr>
        <p:spPr>
          <a:xfrm>
            <a:off x="6273025" y="1937825"/>
            <a:ext cx="2221800" cy="2662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If an attacker does steal both a valid SSH key and its password, they will only be able to compromise the server for a limited time since the stolen key will expire after three months, at most.</a:t>
            </a:r>
            <a:endParaRPr sz="14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6" name="Shape 1216"/>
        <p:cNvGrpSpPr/>
        <p:nvPr/>
      </p:nvGrpSpPr>
      <p:grpSpPr>
        <a:xfrm>
          <a:off x="0" y="0"/>
          <a:ext cx="0" cy="0"/>
          <a:chOff x="0" y="0"/>
          <a:chExt cx="0" cy="0"/>
        </a:xfrm>
      </p:grpSpPr>
      <p:sp>
        <p:nvSpPr>
          <p:cNvPr id="1217" name="Google Shape;1217;p129"/>
          <p:cNvSpPr txBox="1"/>
          <p:nvPr>
            <p:ph type="title"/>
          </p:nvPr>
        </p:nvSpPr>
        <p:spPr>
          <a:xfrm>
            <a:off x="457200" y="2164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Redundancy and Single Points of Failure</a:t>
            </a:r>
            <a:endParaRPr/>
          </a:p>
        </p:txBody>
      </p:sp>
      <p:sp>
        <p:nvSpPr>
          <p:cNvPr id="1218" name="Google Shape;1218;p129"/>
          <p:cNvSpPr txBox="1"/>
          <p:nvPr>
            <p:ph idx="1" type="body"/>
          </p:nvPr>
        </p:nvSpPr>
        <p:spPr>
          <a:xfrm>
            <a:off x="464100" y="1000075"/>
            <a:ext cx="4656300" cy="34164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a:t>Defending the system with multiple methods ensures that it remains protected even if one of them fails. </a:t>
            </a:r>
            <a:endParaRPr/>
          </a:p>
          <a:p>
            <a:pPr indent="0" lvl="0" marL="0" rtl="0" algn="l">
              <a:lnSpc>
                <a:spcPct val="100000"/>
              </a:lnSpc>
              <a:spcBef>
                <a:spcPts val="800"/>
              </a:spcBef>
              <a:spcAft>
                <a:spcPts val="0"/>
              </a:spcAft>
              <a:buNone/>
            </a:pPr>
            <a:r>
              <a:rPr lang="en"/>
              <a:t>This concept is known as </a:t>
            </a:r>
            <a:r>
              <a:rPr b="1" lang="en"/>
              <a:t>redundancy</a:t>
            </a:r>
            <a:r>
              <a:rPr lang="en"/>
              <a:t>.</a:t>
            </a:r>
            <a:endParaRPr/>
          </a:p>
          <a:p>
            <a:pPr indent="0" lvl="0" marL="0" rtl="0" algn="l">
              <a:lnSpc>
                <a:spcPct val="100000"/>
              </a:lnSpc>
              <a:spcBef>
                <a:spcPts val="800"/>
              </a:spcBef>
              <a:spcAft>
                <a:spcPts val="0"/>
              </a:spcAft>
              <a:buNone/>
            </a:pPr>
            <a:r>
              <a:t/>
            </a:r>
            <a:endParaRPr/>
          </a:p>
          <a:p>
            <a:pPr indent="-342900" lvl="0" marL="457200" rtl="0" algn="l">
              <a:lnSpc>
                <a:spcPct val="100000"/>
              </a:lnSpc>
              <a:spcBef>
                <a:spcPts val="800"/>
              </a:spcBef>
              <a:spcAft>
                <a:spcPts val="0"/>
              </a:spcAft>
              <a:buSzPts val="1800"/>
              <a:buChar char="●"/>
            </a:pPr>
            <a:r>
              <a:rPr lang="en"/>
              <a:t>If the system only has a single control, </a:t>
            </a:r>
            <a:br>
              <a:rPr lang="en"/>
            </a:br>
            <a:r>
              <a:rPr lang="en"/>
              <a:t>that control is its </a:t>
            </a:r>
            <a:r>
              <a:rPr b="1" lang="en">
                <a:latin typeface="Roboto"/>
                <a:ea typeface="Roboto"/>
                <a:cs typeface="Roboto"/>
                <a:sym typeface="Roboto"/>
              </a:rPr>
              <a:t>single point of failure</a:t>
            </a:r>
            <a:r>
              <a:rPr lang="en"/>
              <a:t>. </a:t>
            </a:r>
            <a:br>
              <a:rPr lang="en"/>
            </a:br>
            <a:r>
              <a:rPr lang="en"/>
              <a:t>An attacker can compromise the system by breaking just a single control.</a:t>
            </a:r>
            <a:br>
              <a:rPr lang="en"/>
            </a:br>
            <a:endParaRPr/>
          </a:p>
          <a:p>
            <a:pPr indent="-342900" lvl="0" marL="457200" rtl="0" algn="l">
              <a:lnSpc>
                <a:spcPct val="100000"/>
              </a:lnSpc>
              <a:spcBef>
                <a:spcPts val="1000"/>
              </a:spcBef>
              <a:spcAft>
                <a:spcPts val="0"/>
              </a:spcAft>
              <a:buSzPts val="1800"/>
              <a:buChar char="●"/>
            </a:pPr>
            <a:r>
              <a:rPr lang="en"/>
              <a:t>Creating redundancy eliminates the inherent risk of single points of failure. </a:t>
            </a:r>
            <a:endParaRPr/>
          </a:p>
          <a:p>
            <a:pPr indent="0" lvl="0" marL="0" rtl="0" algn="l">
              <a:lnSpc>
                <a:spcPct val="114000"/>
              </a:lnSpc>
              <a:spcBef>
                <a:spcPts val="1000"/>
              </a:spcBef>
              <a:spcAft>
                <a:spcPts val="800"/>
              </a:spcAft>
              <a:buNone/>
            </a:pPr>
            <a:r>
              <a:t/>
            </a:r>
            <a:endParaRPr/>
          </a:p>
        </p:txBody>
      </p:sp>
      <p:sp>
        <p:nvSpPr>
          <p:cNvPr id="1219" name="Google Shape;1219;p129"/>
          <p:cNvSpPr/>
          <p:nvPr/>
        </p:nvSpPr>
        <p:spPr>
          <a:xfrm>
            <a:off x="5237050" y="2436385"/>
            <a:ext cx="3597300" cy="1754700"/>
          </a:xfrm>
          <a:prstGeom prst="diamond">
            <a:avLst/>
          </a:prstGeom>
          <a:solidFill>
            <a:schemeClr val="accent4"/>
          </a:solidFill>
          <a:ln>
            <a:noFill/>
          </a:ln>
          <a:effectLst>
            <a:outerShdw blurRad="171450" rotWithShape="0" algn="bl" dir="5160000" dist="76200">
              <a:srgbClr val="000000">
                <a:alpha val="1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29"/>
          <p:cNvSpPr/>
          <p:nvPr/>
        </p:nvSpPr>
        <p:spPr>
          <a:xfrm>
            <a:off x="5237050" y="1656745"/>
            <a:ext cx="3597300" cy="1754700"/>
          </a:xfrm>
          <a:prstGeom prst="diamond">
            <a:avLst/>
          </a:prstGeom>
          <a:solidFill>
            <a:schemeClr val="accent1"/>
          </a:solidFill>
          <a:ln>
            <a:noFill/>
          </a:ln>
          <a:effectLst>
            <a:outerShdw blurRad="171450" rotWithShape="0" algn="bl" dir="5160000" dist="76200">
              <a:srgbClr val="000000">
                <a:alpha val="1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29"/>
          <p:cNvSpPr/>
          <p:nvPr/>
        </p:nvSpPr>
        <p:spPr>
          <a:xfrm>
            <a:off x="5237050" y="916075"/>
            <a:ext cx="3597300" cy="1754700"/>
          </a:xfrm>
          <a:prstGeom prst="diamond">
            <a:avLst/>
          </a:prstGeom>
          <a:solidFill>
            <a:schemeClr val="accent6"/>
          </a:solidFill>
          <a:ln>
            <a:noFill/>
          </a:ln>
          <a:effectLst>
            <a:outerShdw blurRad="171450" rotWithShape="0" algn="bl" dir="5160000" dist="76200">
              <a:srgbClr val="000000">
                <a:alpha val="1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29"/>
          <p:cNvSpPr txBox="1"/>
          <p:nvPr/>
        </p:nvSpPr>
        <p:spPr>
          <a:xfrm rot="-1552310">
            <a:off x="6872416" y="1872690"/>
            <a:ext cx="1796454" cy="54179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Security Layer 1</a:t>
            </a:r>
            <a:endParaRPr b="1">
              <a:solidFill>
                <a:schemeClr val="lt1"/>
              </a:solidFill>
              <a:latin typeface="Roboto"/>
              <a:ea typeface="Roboto"/>
              <a:cs typeface="Roboto"/>
              <a:sym typeface="Roboto"/>
            </a:endParaRPr>
          </a:p>
        </p:txBody>
      </p:sp>
      <p:sp>
        <p:nvSpPr>
          <p:cNvPr id="1223" name="Google Shape;1223;p129"/>
          <p:cNvSpPr txBox="1"/>
          <p:nvPr/>
        </p:nvSpPr>
        <p:spPr>
          <a:xfrm rot="-1552310">
            <a:off x="6872416" y="2652265"/>
            <a:ext cx="1796454" cy="54179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Security Layer 2</a:t>
            </a:r>
            <a:endParaRPr b="1">
              <a:solidFill>
                <a:schemeClr val="dk2"/>
              </a:solidFill>
              <a:latin typeface="Roboto"/>
              <a:ea typeface="Roboto"/>
              <a:cs typeface="Roboto"/>
              <a:sym typeface="Roboto"/>
            </a:endParaRPr>
          </a:p>
        </p:txBody>
      </p:sp>
      <p:sp>
        <p:nvSpPr>
          <p:cNvPr id="1224" name="Google Shape;1224;p129"/>
          <p:cNvSpPr txBox="1"/>
          <p:nvPr/>
        </p:nvSpPr>
        <p:spPr>
          <a:xfrm rot="-1552310">
            <a:off x="6872416" y="3380990"/>
            <a:ext cx="1796454" cy="54179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Security Layer 3</a:t>
            </a:r>
            <a:endParaRPr b="1">
              <a:solidFill>
                <a:schemeClr val="dk2"/>
              </a:solidFill>
              <a:latin typeface="Roboto"/>
              <a:ea typeface="Roboto"/>
              <a:cs typeface="Roboto"/>
              <a:sym typeface="Roboto"/>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30"/>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10 minutes</a:t>
            </a:r>
            <a:endParaRPr/>
          </a:p>
        </p:txBody>
      </p:sp>
      <p:sp>
        <p:nvSpPr>
          <p:cNvPr id="1230" name="Google Shape;1230;p130"/>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Implementing security controls </a:t>
            </a:r>
            <a:endParaRPr/>
          </a:p>
        </p:txBody>
      </p:sp>
      <p:sp>
        <p:nvSpPr>
          <p:cNvPr id="1231" name="Google Shape;1231;p130"/>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a:t>
            </a:r>
            <a:r>
              <a:rPr lang="en"/>
              <a:t>n this activity, you will draft the final piece of security recommendations for GeldCorp. </a:t>
            </a:r>
            <a:endParaRPr/>
          </a:p>
          <a:p>
            <a:pPr indent="0" lvl="0" marL="0" rtl="0" algn="l">
              <a:spcBef>
                <a:spcPts val="0"/>
              </a:spcBef>
              <a:spcAft>
                <a:spcPts val="0"/>
              </a:spcAft>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cxnSp>
        <p:nvCxnSpPr>
          <p:cNvPr id="1240" name="Google Shape;1240;p132"/>
          <p:cNvCxnSpPr/>
          <p:nvPr/>
        </p:nvCxnSpPr>
        <p:spPr>
          <a:xfrm>
            <a:off x="-15750" y="1191225"/>
            <a:ext cx="7346700" cy="0"/>
          </a:xfrm>
          <a:prstGeom prst="straightConnector1">
            <a:avLst/>
          </a:prstGeom>
          <a:noFill/>
          <a:ln cap="flat" cmpd="sng" w="19050">
            <a:solidFill>
              <a:schemeClr val="dk2"/>
            </a:solidFill>
            <a:prstDash val="solid"/>
            <a:round/>
            <a:headEnd len="med" w="med" type="none"/>
            <a:tailEnd len="med" w="med" type="oval"/>
          </a:ln>
        </p:spPr>
      </p:cxnSp>
      <p:sp>
        <p:nvSpPr>
          <p:cNvPr id="1241" name="Google Shape;1241;p132"/>
          <p:cNvSpPr/>
          <p:nvPr/>
        </p:nvSpPr>
        <p:spPr>
          <a:xfrm>
            <a:off x="724725" y="2159663"/>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32"/>
          <p:cNvSpPr/>
          <p:nvPr/>
        </p:nvSpPr>
        <p:spPr>
          <a:xfrm>
            <a:off x="724725" y="2802088"/>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32"/>
          <p:cNvSpPr/>
          <p:nvPr/>
        </p:nvSpPr>
        <p:spPr>
          <a:xfrm>
            <a:off x="724725" y="3444525"/>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32"/>
          <p:cNvSpPr/>
          <p:nvPr/>
        </p:nvSpPr>
        <p:spPr>
          <a:xfrm>
            <a:off x="724725" y="1517875"/>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32"/>
          <p:cNvSpPr/>
          <p:nvPr/>
        </p:nvSpPr>
        <p:spPr>
          <a:xfrm>
            <a:off x="600900" y="1488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1</a:t>
            </a:r>
            <a:endParaRPr sz="1600">
              <a:solidFill>
                <a:srgbClr val="082D49"/>
              </a:solidFill>
              <a:latin typeface="Roboto"/>
              <a:ea typeface="Roboto"/>
              <a:cs typeface="Roboto"/>
              <a:sym typeface="Roboto"/>
            </a:endParaRPr>
          </a:p>
        </p:txBody>
      </p:sp>
      <p:sp>
        <p:nvSpPr>
          <p:cNvPr id="1246" name="Google Shape;1246;p132"/>
          <p:cNvSpPr/>
          <p:nvPr/>
        </p:nvSpPr>
        <p:spPr>
          <a:xfrm>
            <a:off x="600900" y="2130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2</a:t>
            </a:r>
            <a:endParaRPr sz="1600">
              <a:solidFill>
                <a:srgbClr val="082D49"/>
              </a:solidFill>
              <a:latin typeface="Roboto"/>
              <a:ea typeface="Roboto"/>
              <a:cs typeface="Roboto"/>
              <a:sym typeface="Roboto"/>
            </a:endParaRPr>
          </a:p>
        </p:txBody>
      </p:sp>
      <p:sp>
        <p:nvSpPr>
          <p:cNvPr id="1247" name="Google Shape;1247;p132"/>
          <p:cNvSpPr/>
          <p:nvPr/>
        </p:nvSpPr>
        <p:spPr>
          <a:xfrm>
            <a:off x="600900" y="2772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3</a:t>
            </a:r>
            <a:endParaRPr sz="1600">
              <a:solidFill>
                <a:srgbClr val="082D49"/>
              </a:solidFill>
              <a:latin typeface="Roboto"/>
              <a:ea typeface="Roboto"/>
              <a:cs typeface="Roboto"/>
              <a:sym typeface="Roboto"/>
            </a:endParaRPr>
          </a:p>
        </p:txBody>
      </p:sp>
      <p:sp>
        <p:nvSpPr>
          <p:cNvPr id="1248" name="Google Shape;1248;p132"/>
          <p:cNvSpPr/>
          <p:nvPr/>
        </p:nvSpPr>
        <p:spPr>
          <a:xfrm>
            <a:off x="600900" y="3407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4</a:t>
            </a:r>
            <a:endParaRPr sz="1600">
              <a:solidFill>
                <a:srgbClr val="082D49"/>
              </a:solidFill>
              <a:latin typeface="Roboto"/>
              <a:ea typeface="Roboto"/>
              <a:cs typeface="Roboto"/>
              <a:sym typeface="Roboto"/>
            </a:endParaRPr>
          </a:p>
        </p:txBody>
      </p:sp>
      <p:sp>
        <p:nvSpPr>
          <p:cNvPr id="1249" name="Google Shape;1249;p132"/>
          <p:cNvSpPr txBox="1"/>
          <p:nvPr>
            <p:ph type="title"/>
          </p:nvPr>
        </p:nvSpPr>
        <p:spPr>
          <a:xfrm>
            <a:off x="908150" y="203600"/>
            <a:ext cx="9144000" cy="3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We’ve Covered</a:t>
            </a:r>
            <a:endParaRPr/>
          </a:p>
        </p:txBody>
      </p:sp>
      <p:sp>
        <p:nvSpPr>
          <p:cNvPr id="1250" name="Google Shape;1250;p132"/>
          <p:cNvSpPr txBox="1"/>
          <p:nvPr>
            <p:ph idx="4294967295" type="title"/>
          </p:nvPr>
        </p:nvSpPr>
        <p:spPr>
          <a:xfrm>
            <a:off x="902100" y="554850"/>
            <a:ext cx="7977600" cy="323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 sz="1800"/>
              <a:t>Today’s activities put you in the role of a security consultant helping a financial technology firm respond to a major security breach. You had to: </a:t>
            </a:r>
            <a:endParaRPr b="0" sz="1800"/>
          </a:p>
        </p:txBody>
      </p:sp>
      <p:sp>
        <p:nvSpPr>
          <p:cNvPr id="1251" name="Google Shape;1251;p132"/>
          <p:cNvSpPr txBox="1"/>
          <p:nvPr>
            <p:ph idx="4294967295" type="subTitle"/>
          </p:nvPr>
        </p:nvSpPr>
        <p:spPr>
          <a:xfrm>
            <a:off x="1224625" y="1576349"/>
            <a:ext cx="7110300" cy="400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t>Identify the source of the breach. </a:t>
            </a:r>
            <a:endParaRPr sz="1800"/>
          </a:p>
        </p:txBody>
      </p:sp>
      <p:sp>
        <p:nvSpPr>
          <p:cNvPr id="1252" name="Google Shape;1252;p132"/>
          <p:cNvSpPr txBox="1"/>
          <p:nvPr>
            <p:ph idx="4294967295" type="subTitle"/>
          </p:nvPr>
        </p:nvSpPr>
        <p:spPr>
          <a:xfrm>
            <a:off x="1224625" y="2243099"/>
            <a:ext cx="7110300" cy="400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t>Develop a plan to improve security and security culture. </a:t>
            </a:r>
            <a:endParaRPr sz="1800"/>
          </a:p>
        </p:txBody>
      </p:sp>
      <p:sp>
        <p:nvSpPr>
          <p:cNvPr id="1253" name="Google Shape;1253;p132"/>
          <p:cNvSpPr txBox="1"/>
          <p:nvPr>
            <p:ph idx="4294967295" type="subTitle"/>
          </p:nvPr>
        </p:nvSpPr>
        <p:spPr>
          <a:xfrm>
            <a:off x="1224625" y="2869849"/>
            <a:ext cx="7110300" cy="400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t>Define metrics to measure if the plan was successful. </a:t>
            </a:r>
            <a:endParaRPr sz="1800"/>
          </a:p>
        </p:txBody>
      </p:sp>
      <p:sp>
        <p:nvSpPr>
          <p:cNvPr id="1254" name="Google Shape;1254;p132"/>
          <p:cNvSpPr txBox="1"/>
          <p:nvPr>
            <p:ph idx="4294967295" type="subTitle"/>
          </p:nvPr>
        </p:nvSpPr>
        <p:spPr>
          <a:xfrm>
            <a:off x="1224625" y="3496599"/>
            <a:ext cx="7110300" cy="400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t>Propose controls, in addition to training, that can mitigate risk. </a:t>
            </a:r>
            <a:endParaRPr sz="1800"/>
          </a:p>
        </p:txBody>
      </p:sp>
      <p:sp>
        <p:nvSpPr>
          <p:cNvPr id="1255" name="Google Shape;1255;p132"/>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56" name="Google Shape;1256;p132"/>
          <p:cNvPicPr preferRelativeResize="0"/>
          <p:nvPr/>
        </p:nvPicPr>
        <p:blipFill>
          <a:blip r:embed="rId3">
            <a:alphaModFix/>
          </a:blip>
          <a:stretch>
            <a:fillRect/>
          </a:stretch>
        </p:blipFill>
        <p:spPr>
          <a:xfrm>
            <a:off x="173938" y="271538"/>
            <a:ext cx="496875" cy="49687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133"/>
          <p:cNvSpPr txBox="1"/>
          <p:nvPr>
            <p:ph type="title"/>
          </p:nvPr>
        </p:nvSpPr>
        <p:spPr>
          <a:xfrm>
            <a:off x="3145525" y="1472570"/>
            <a:ext cx="4900800" cy="220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400">
                <a:latin typeface="Roboto"/>
                <a:ea typeface="Roboto"/>
                <a:cs typeface="Roboto"/>
                <a:sym typeface="Roboto"/>
              </a:rPr>
              <a:t>What we learned today will prepare us to learn about </a:t>
            </a:r>
            <a:r>
              <a:rPr lang="en" sz="3400">
                <a:latin typeface="Roboto"/>
                <a:ea typeface="Roboto"/>
                <a:cs typeface="Roboto"/>
                <a:sym typeface="Roboto"/>
              </a:rPr>
              <a:t>governance</a:t>
            </a:r>
            <a:r>
              <a:rPr b="0" lang="en" sz="3400">
                <a:latin typeface="Roboto"/>
                <a:ea typeface="Roboto"/>
                <a:cs typeface="Roboto"/>
                <a:sym typeface="Roboto"/>
              </a:rPr>
              <a:t> later in the week.</a:t>
            </a:r>
            <a:r>
              <a:rPr b="0" lang="en" sz="3400"/>
              <a:t> </a:t>
            </a:r>
            <a:endParaRPr b="0" sz="3400"/>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134"/>
          <p:cNvSpPr txBox="1"/>
          <p:nvPr>
            <p:ph idx="2" type="title"/>
          </p:nvPr>
        </p:nvSpPr>
        <p:spPr>
          <a:xfrm>
            <a:off x="1714500" y="1039700"/>
            <a:ext cx="5715900" cy="3131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Roboto"/>
                <a:ea typeface="Roboto"/>
                <a:cs typeface="Roboto"/>
                <a:sym typeface="Roboto"/>
              </a:rPr>
              <a:t>Governance</a:t>
            </a:r>
            <a:r>
              <a:rPr lang="en">
                <a:latin typeface="Roboto"/>
                <a:ea typeface="Roboto"/>
                <a:cs typeface="Roboto"/>
                <a:sym typeface="Roboto"/>
              </a:rPr>
              <a:t> is the portion of the GRC framework used to enforce security standards, policies, and procedures. </a:t>
            </a:r>
            <a:endParaRPr>
              <a:latin typeface="Roboto"/>
              <a:ea typeface="Roboto"/>
              <a:cs typeface="Roboto"/>
              <a:sym typeface="Robot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135"/>
          <p:cNvSpPr txBox="1"/>
          <p:nvPr>
            <p:ph type="title"/>
          </p:nvPr>
        </p:nvSpPr>
        <p:spPr>
          <a:xfrm>
            <a:off x="457200" y="2164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Looking Forward...</a:t>
            </a:r>
            <a:endParaRPr/>
          </a:p>
        </p:txBody>
      </p:sp>
      <p:sp>
        <p:nvSpPr>
          <p:cNvPr id="1272" name="Google Shape;1272;p135"/>
          <p:cNvSpPr txBox="1"/>
          <p:nvPr>
            <p:ph idx="1" type="body"/>
          </p:nvPr>
        </p:nvSpPr>
        <p:spPr>
          <a:xfrm>
            <a:off x="464100" y="923875"/>
            <a:ext cx="8520600" cy="3416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Now that we have a good understanding of how organizations develop best practices for security, we can learn how they use governance methods to codify and enforce them.</a:t>
            </a:r>
            <a:endParaRPr/>
          </a:p>
        </p:txBody>
      </p:sp>
      <p:pic>
        <p:nvPicPr>
          <p:cNvPr id="1273" name="Google Shape;1273;p135"/>
          <p:cNvPicPr preferRelativeResize="0"/>
          <p:nvPr/>
        </p:nvPicPr>
        <p:blipFill>
          <a:blip r:embed="rId3">
            <a:alphaModFix/>
          </a:blip>
          <a:stretch>
            <a:fillRect/>
          </a:stretch>
        </p:blipFill>
        <p:spPr>
          <a:xfrm>
            <a:off x="265575" y="2120200"/>
            <a:ext cx="8613192" cy="2363581"/>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77" name="Shape 1277"/>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