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y="5143500" cx="9144000"/>
  <p:notesSz cx="6858000" cy="9144000"/>
  <p:embeddedFontLst>
    <p:embeddedFont>
      <p:font typeface="Roboto"/>
      <p:regular r:id="rId83"/>
      <p:bold r:id="rId84"/>
      <p:italic r:id="rId85"/>
      <p:boldItalic r:id="rId86"/>
    </p:embeddedFont>
    <p:embeddedFont>
      <p:font typeface="Roboto Medium"/>
      <p:regular r:id="rId87"/>
      <p:bold r:id="rId88"/>
      <p:italic r:id="rId89"/>
      <p:boldItalic r:id="rId90"/>
    </p:embeddedFont>
    <p:embeddedFont>
      <p:font typeface="Roboto Light"/>
      <p:regular r:id="rId91"/>
      <p:bold r:id="rId92"/>
      <p:italic r:id="rId93"/>
      <p:boldItalic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D82E05-C7B0-4494-ACDF-EB02A9E300EF}">
  <a:tblStyle styleId="{77D82E05-C7B0-4494-ACDF-EB02A9E300E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Roboto-bold.fntdata"/><Relationship Id="rId83" Type="http://schemas.openxmlformats.org/officeDocument/2006/relationships/font" Target="fonts/Roboto-regular.fntdata"/><Relationship Id="rId42" Type="http://schemas.openxmlformats.org/officeDocument/2006/relationships/slide" Target="slides/slide36.xml"/><Relationship Id="rId86" Type="http://schemas.openxmlformats.org/officeDocument/2006/relationships/font" Target="fonts/Roboto-boldItalic.fntdata"/><Relationship Id="rId41" Type="http://schemas.openxmlformats.org/officeDocument/2006/relationships/slide" Target="slides/slide35.xml"/><Relationship Id="rId85" Type="http://schemas.openxmlformats.org/officeDocument/2006/relationships/font" Target="fonts/Roboto-italic.fntdata"/><Relationship Id="rId44" Type="http://schemas.openxmlformats.org/officeDocument/2006/relationships/slide" Target="slides/slide38.xml"/><Relationship Id="rId88" Type="http://schemas.openxmlformats.org/officeDocument/2006/relationships/font" Target="fonts/RobotoMedium-bold.fntdata"/><Relationship Id="rId43" Type="http://schemas.openxmlformats.org/officeDocument/2006/relationships/slide" Target="slides/slide37.xml"/><Relationship Id="rId87" Type="http://schemas.openxmlformats.org/officeDocument/2006/relationships/font" Target="fonts/RobotoMedium-regular.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RobotoMedium-italic.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94" Type="http://schemas.openxmlformats.org/officeDocument/2006/relationships/font" Target="fonts/RobotoLight-boldItalic.fntdata"/><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RobotoLight-regular.fntdata"/><Relationship Id="rId90" Type="http://schemas.openxmlformats.org/officeDocument/2006/relationships/font" Target="fonts/RobotoMedium-boldItalic.fntdata"/><Relationship Id="rId93" Type="http://schemas.openxmlformats.org/officeDocument/2006/relationships/font" Target="fonts/RobotoLight-italic.fntdata"/><Relationship Id="rId92" Type="http://schemas.openxmlformats.org/officeDocument/2006/relationships/font" Target="fonts/RobotoLight-bold.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tock.adobe.com/images/touch/101143687?prev_url=detail"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e7af69d5cb_0_1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e7af69d5cb_0_1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d6eb3989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d6eb3989a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cb76b091db_0_2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cb76b091db_0_2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cb76b091db_0_3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cb76b091db_0_3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cb76b091db_0_3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cb76b091db_0_3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6c680d8457_1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6c680d8457_1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
                <a:latin typeface="Roboto"/>
                <a:ea typeface="Roboto"/>
                <a:cs typeface="Roboto"/>
                <a:sym typeface="Roboto"/>
              </a:rPr>
              <a:t>Image source: shutterstock_664638928</a:t>
            </a:r>
            <a:endParaRPr i="1" sz="1000">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6c680d8457_1_1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6c680d8457_1_1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59d63fdb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59d63fdb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cb76b091db_0_3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cb76b091db_0_3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cb76b091db_0_3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cb76b091db_0_3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
                <a:latin typeface="Roboto"/>
                <a:ea typeface="Roboto"/>
                <a:cs typeface="Roboto"/>
                <a:sym typeface="Roboto"/>
              </a:rPr>
              <a:t>Image source: shutterstock_741647569</a:t>
            </a:r>
            <a:endParaRPr i="1" sz="1000">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cb76b091db_0_5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cb76b091db_0_5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cb76b091db_0_5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cb76b091db_0_5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cb76b091db_0_5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cb76b091db_0_5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cb76b091db_0_5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cb76b091db_0_5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shutterstock_1611857425</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5a4750a4e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5a4750a4e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6c680d8457_1_2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6c680d8457_1_2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
                <a:latin typeface="Roboto"/>
                <a:ea typeface="Roboto"/>
                <a:cs typeface="Roboto"/>
                <a:sym typeface="Roboto"/>
              </a:rPr>
              <a:t>Image Source: AdobeStock_</a:t>
            </a:r>
            <a:r>
              <a:rPr i="1" lang="en" sz="1000">
                <a:solidFill>
                  <a:schemeClr val="dk1"/>
                </a:solidFill>
                <a:uFill>
                  <a:noFill/>
                </a:uFill>
                <a:latin typeface="Roboto"/>
                <a:ea typeface="Roboto"/>
                <a:cs typeface="Roboto"/>
                <a:sym typeface="Roboto"/>
                <a:hlinkClick r:id="rId2">
                  <a:extLst>
                    <a:ext uri="{A12FA001-AC4F-418D-AE19-62706E023703}">
                      <ahyp:hlinkClr val="tx"/>
                    </a:ext>
                  </a:extLst>
                </a:hlinkClick>
              </a:rPr>
              <a:t>101143687</a:t>
            </a:r>
            <a:endParaRPr i="1" sz="1000">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5a4750a4ed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5a4750a4ed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6c680d8457_1_4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6c680d8457_1_4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6c680d8457_1_4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6c680d8457_1_4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cb76b091db_0_5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cb76b091db_0_5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5a4750a4ed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5a4750a4ed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fa2396e5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fa2396e5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960275366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960275366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cb76b091db_0_5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cb76b091db_0_5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shutterstock_1219092346</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cb76b091db_0_5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cb76b091db_0_5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cb76b091db_0_5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cb76b091db_0_5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cb76b091db_0_5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cb76b091db_0_5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cb76b091db_0_5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cb76b091db_0_5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cb76b091db_0_5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cb76b091db_0_5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cb76b091db_0_5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cb76b091db_0_5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cb76b091db_0_5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cb76b091db_0_5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cb76b091db_0_5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cb76b091db_0_5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960275366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960275366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cb76b091db_0_5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cb76b091db_0_5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cb76b091db_0_5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cb76b091db_0_5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cb76b091db_0_5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cb76b091db_0_5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960275366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960275366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shutterstock_650042977</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960275366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960275366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shutterstock_155277629</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960275366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960275366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shutterstock_1100645201</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cb76b091db_0_5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cb76b091db_0_5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9602753665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9602753665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9602753665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9602753665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shutterstock_1105902953</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960275366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960275366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shutterstock_1105902953</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cb76b091db_0_5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cb76b091db_0_5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960275366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960275366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960275366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960275366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9602753665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9602753665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cb76b091db_0_5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cb76b091db_0_5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cb76b091db_0_5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cb76b091db_0_5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shutterstock_287479460</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9602753665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9602753665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cb76b091db_0_6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cb76b091db_0_6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9602753665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9602753665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shutterstock_1177099138</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9602753665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9602753665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cb76b091db_0_8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cb76b091db_0_8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cb76b091db_0_9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cb76b091db_0_9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fa2396e55f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fa2396e55f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6c680d8457_1_3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6c680d8457_1_3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chemeClr val="dk1"/>
                </a:solidFill>
                <a:latin typeface="Roboto"/>
                <a:ea typeface="Roboto"/>
                <a:cs typeface="Roboto"/>
                <a:sym typeface="Roboto"/>
              </a:rPr>
              <a:t>Image source: AdobeStock_56885471</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5a4750a4ed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5a4750a4ed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96294bf897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96294bf897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shutterstock_217638118</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75ec8cc19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75ec8cc19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
                <a:latin typeface="Roboto"/>
                <a:ea typeface="Roboto"/>
                <a:cs typeface="Roboto"/>
                <a:sym typeface="Roboto"/>
              </a:rPr>
              <a:t>shutterstock_1276712677</a:t>
            </a:r>
            <a:endParaRPr i="1" sz="1000">
              <a:latin typeface="Roboto"/>
              <a:ea typeface="Roboto"/>
              <a:cs typeface="Roboto"/>
              <a:sym typeface="Roboto"/>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cb76b091db_0_10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cb76b091db_0_10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shutterstock_1421998877</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cb76b091db_0_1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cb76b091db_0_1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6c680d8457_1_4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6c680d8457_1_4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
                <a:latin typeface="Roboto"/>
                <a:ea typeface="Roboto"/>
                <a:cs typeface="Roboto"/>
                <a:sym typeface="Roboto"/>
              </a:rPr>
              <a:t>Image sources: shutterstock_411741793, shutterstock_185621111, shutterstock_511910884</a:t>
            </a:r>
            <a:endParaRPr i="1" sz="1000">
              <a:latin typeface="Roboto"/>
              <a:ea typeface="Roboto"/>
              <a:cs typeface="Roboto"/>
              <a:sym typeface="Roboto"/>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cb76b091db_0_11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cb76b091db_0_11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cb76b091db_0_11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cb76b091db_0_11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cb76b091db_0_11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cb76b091db_0_11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cb76b091db_0_11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cb76b091db_0_1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cb76b091db_0_1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cb76b091db_0_11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2d6f9fe35eb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2d6f9fe35eb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cb76b091db_0_13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cb76b091db_0_13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6c680d8457_1_4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6c680d8457_1_4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6c66a712db_0_2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6c66a712db_0_2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
                <a:latin typeface="Roboto"/>
                <a:ea typeface="Roboto"/>
                <a:cs typeface="Roboto"/>
                <a:sym typeface="Roboto"/>
              </a:rPr>
              <a:t>Image source: shutterstock_557774158</a:t>
            </a:r>
            <a:endParaRPr i="1" sz="1000">
              <a:latin typeface="Roboto"/>
              <a:ea typeface="Roboto"/>
              <a:cs typeface="Roboto"/>
              <a:sym typeface="Roboto"/>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cb76b091db_0_13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cb76b091db_0_13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6c66a712db_0_2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6c66a712db_0_2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cb76b091db_0_13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2" name="Google Shape;1182;gcb76b091db_0_13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9602777a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9602777a4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a:t>
            </a:r>
            <a:r>
              <a:rPr lang="en" sz="800">
                <a:solidFill>
                  <a:srgbClr val="FFFFFF"/>
                </a:solidFill>
                <a:latin typeface="Roboto"/>
                <a:ea typeface="Roboto"/>
                <a:cs typeface="Roboto"/>
                <a:sym typeface="Roboto"/>
              </a:rPr>
              <a:t>4</a:t>
            </a:r>
            <a:r>
              <a:rPr b="0" i="0" lang="en" sz="800" u="none" cap="none" strike="noStrike">
                <a:solidFill>
                  <a:srgbClr val="FFFFFF"/>
                </a:solidFill>
                <a:latin typeface="Roboto"/>
                <a:ea typeface="Roboto"/>
                <a:cs typeface="Roboto"/>
                <a:sym typeface="Roboto"/>
              </a:rPr>
              <a:t>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35823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3592327" y="1823550"/>
            <a:ext cx="56634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35824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35837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3583700" y="3314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6" name="Google Shape;106;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8" name="Shape 108"/>
        <p:cNvGrpSpPr/>
        <p:nvPr/>
      </p:nvGrpSpPr>
      <p:grpSpPr>
        <a:xfrm>
          <a:off x="0" y="0"/>
          <a:ext cx="0" cy="0"/>
          <a:chOff x="0" y="0"/>
          <a:chExt cx="0" cy="0"/>
        </a:xfrm>
      </p:grpSpPr>
      <p:sp>
        <p:nvSpPr>
          <p:cNvPr id="109" name="Google Shape;109;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0" name="Google Shape;110;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2" name="Google Shape;112;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3" name="Shape 113"/>
        <p:cNvGrpSpPr/>
        <p:nvPr/>
      </p:nvGrpSpPr>
      <p:grpSpPr>
        <a:xfrm>
          <a:off x="0" y="0"/>
          <a:ext cx="0" cy="0"/>
          <a:chOff x="0" y="0"/>
          <a:chExt cx="0" cy="0"/>
        </a:xfrm>
      </p:grpSpPr>
      <p:sp>
        <p:nvSpPr>
          <p:cNvPr id="114" name="Google Shape;114;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5" name="Google Shape;115;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6" name="Google Shape;116;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8" name="Google Shape;118;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19" name="Shape 119"/>
        <p:cNvGrpSpPr/>
        <p:nvPr/>
      </p:nvGrpSpPr>
      <p:grpSpPr>
        <a:xfrm>
          <a:off x="0" y="0"/>
          <a:ext cx="0" cy="0"/>
          <a:chOff x="0" y="0"/>
          <a:chExt cx="0" cy="0"/>
        </a:xfrm>
      </p:grpSpPr>
      <p:sp>
        <p:nvSpPr>
          <p:cNvPr id="120" name="Google Shape;120;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1" name="Google Shape;121;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2" name="Google Shape;122;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4" name="Shape 124"/>
        <p:cNvGrpSpPr/>
        <p:nvPr/>
      </p:nvGrpSpPr>
      <p:grpSpPr>
        <a:xfrm>
          <a:off x="0" y="0"/>
          <a:ext cx="0" cy="0"/>
          <a:chOff x="0" y="0"/>
          <a:chExt cx="0" cy="0"/>
        </a:xfrm>
      </p:grpSpPr>
      <p:sp>
        <p:nvSpPr>
          <p:cNvPr id="125" name="Google Shape;125;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6" name="Google Shape;126;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7" name="Google Shape;127;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29" name="Shape 129"/>
        <p:cNvGrpSpPr/>
        <p:nvPr/>
      </p:nvGrpSpPr>
      <p:grpSpPr>
        <a:xfrm>
          <a:off x="0" y="0"/>
          <a:ext cx="0" cy="0"/>
          <a:chOff x="0" y="0"/>
          <a:chExt cx="0" cy="0"/>
        </a:xfrm>
      </p:grpSpPr>
      <p:sp>
        <p:nvSpPr>
          <p:cNvPr id="130" name="Google Shape;130;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1" name="Google Shape;131;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2" name="Shape 132"/>
        <p:cNvGrpSpPr/>
        <p:nvPr/>
      </p:nvGrpSpPr>
      <p:grpSpPr>
        <a:xfrm>
          <a:off x="0" y="0"/>
          <a:ext cx="0" cy="0"/>
          <a:chOff x="0" y="0"/>
          <a:chExt cx="0" cy="0"/>
        </a:xfrm>
      </p:grpSpPr>
      <p:sp>
        <p:nvSpPr>
          <p:cNvPr id="133" name="Google Shape;133;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4" name="Google Shape;134;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5" name="Shape 135"/>
        <p:cNvGrpSpPr/>
        <p:nvPr/>
      </p:nvGrpSpPr>
      <p:grpSpPr>
        <a:xfrm>
          <a:off x="0" y="0"/>
          <a:ext cx="0" cy="0"/>
          <a:chOff x="0" y="0"/>
          <a:chExt cx="0" cy="0"/>
        </a:xfrm>
      </p:grpSpPr>
      <p:sp>
        <p:nvSpPr>
          <p:cNvPr id="136" name="Google Shape;136;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7" name="Google Shape;137;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8" name="Shape 138"/>
        <p:cNvGrpSpPr/>
        <p:nvPr/>
      </p:nvGrpSpPr>
      <p:grpSpPr>
        <a:xfrm>
          <a:off x="0" y="0"/>
          <a:ext cx="0" cy="0"/>
          <a:chOff x="0" y="0"/>
          <a:chExt cx="0" cy="0"/>
        </a:xfrm>
      </p:grpSpPr>
      <p:pic>
        <p:nvPicPr>
          <p:cNvPr id="139" name="Google Shape;139;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0" name="Google Shape;140;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1" name="Google Shape;141;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2" name="Shape 142"/>
        <p:cNvGrpSpPr/>
        <p:nvPr/>
      </p:nvGrpSpPr>
      <p:grpSpPr>
        <a:xfrm>
          <a:off x="0" y="0"/>
          <a:ext cx="0" cy="0"/>
          <a:chOff x="0" y="0"/>
          <a:chExt cx="0" cy="0"/>
        </a:xfrm>
      </p:grpSpPr>
      <p:pic>
        <p:nvPicPr>
          <p:cNvPr id="143" name="Google Shape;143;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4" name="Google Shape;144;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5" name="Google Shape;145;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6" name="Shape 146"/>
        <p:cNvGrpSpPr/>
        <p:nvPr/>
      </p:nvGrpSpPr>
      <p:grpSpPr>
        <a:xfrm>
          <a:off x="0" y="0"/>
          <a:ext cx="0" cy="0"/>
          <a:chOff x="0" y="0"/>
          <a:chExt cx="0" cy="0"/>
        </a:xfrm>
      </p:grpSpPr>
      <p:pic>
        <p:nvPicPr>
          <p:cNvPr id="147" name="Google Shape;147;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8" name="Google Shape;148;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1" name="Google Shape;151;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2" name="Shape 152"/>
        <p:cNvGrpSpPr/>
        <p:nvPr/>
      </p:nvGrpSpPr>
      <p:grpSpPr>
        <a:xfrm>
          <a:off x="0" y="0"/>
          <a:ext cx="0" cy="0"/>
          <a:chOff x="0" y="0"/>
          <a:chExt cx="0" cy="0"/>
        </a:xfrm>
      </p:grpSpPr>
      <p:pic>
        <p:nvPicPr>
          <p:cNvPr id="153" name="Google Shape;153;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4" name="Google Shape;154;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a:t>
            </a:r>
            <a:r>
              <a:rPr lang="en" sz="4000">
                <a:solidFill>
                  <a:schemeClr val="lt1"/>
                </a:solidFill>
                <a:latin typeface="Roboto"/>
                <a:ea typeface="Roboto"/>
                <a:cs typeface="Roboto"/>
                <a:sym typeface="Roboto"/>
              </a:rPr>
              <a:t>R</a:t>
            </a:r>
            <a:r>
              <a:rPr b="0" i="0" lang="en" sz="4000" u="none" cap="none" strike="noStrike">
                <a:solidFill>
                  <a:schemeClr val="lt1"/>
                </a:solidFill>
                <a:latin typeface="Roboto"/>
                <a:ea typeface="Roboto"/>
                <a:cs typeface="Roboto"/>
                <a:sym typeface="Roboto"/>
              </a:rPr>
              <a:t>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5" name="Shape 155"/>
        <p:cNvGrpSpPr/>
        <p:nvPr/>
      </p:nvGrpSpPr>
      <p:grpSpPr>
        <a:xfrm>
          <a:off x="0" y="0"/>
          <a:ext cx="0" cy="0"/>
          <a:chOff x="0" y="0"/>
          <a:chExt cx="0" cy="0"/>
        </a:xfrm>
      </p:grpSpPr>
      <p:pic>
        <p:nvPicPr>
          <p:cNvPr id="156" name="Google Shape;156;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7" name="Google Shape;157;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8" name="Google Shape;158;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59" name="Shape 159"/>
        <p:cNvGrpSpPr/>
        <p:nvPr/>
      </p:nvGrpSpPr>
      <p:grpSpPr>
        <a:xfrm>
          <a:off x="0" y="0"/>
          <a:ext cx="0" cy="0"/>
          <a:chOff x="0" y="0"/>
          <a:chExt cx="0" cy="0"/>
        </a:xfrm>
      </p:grpSpPr>
      <p:sp>
        <p:nvSpPr>
          <p:cNvPr id="160" name="Google Shape;160;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1" name="Google Shape;161;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2" name="Google Shape;162;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3" name="Shape 163"/>
        <p:cNvGrpSpPr/>
        <p:nvPr/>
      </p:nvGrpSpPr>
      <p:grpSpPr>
        <a:xfrm>
          <a:off x="0" y="0"/>
          <a:ext cx="0" cy="0"/>
          <a:chOff x="0" y="0"/>
          <a:chExt cx="0" cy="0"/>
        </a:xfrm>
      </p:grpSpPr>
      <p:sp>
        <p:nvSpPr>
          <p:cNvPr id="164" name="Google Shape;164;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5" name="Google Shape;165;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6" name="Shape 166"/>
        <p:cNvGrpSpPr/>
        <p:nvPr/>
      </p:nvGrpSpPr>
      <p:grpSpPr>
        <a:xfrm>
          <a:off x="0" y="0"/>
          <a:ext cx="0" cy="0"/>
          <a:chOff x="0" y="0"/>
          <a:chExt cx="0" cy="0"/>
        </a:xfrm>
      </p:grpSpPr>
      <p:sp>
        <p:nvSpPr>
          <p:cNvPr id="167" name="Google Shape;167;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8" name="Google Shape;168;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69" name="Google Shape;169;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0" name="Google Shape;170;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1" name="Google Shape;171;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2" name="Google Shape;172;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4" name="Google Shape;174;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5" name="Google Shape;175;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8" name="Google Shape;178;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0" name="Google Shape;180;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3" name="Shape 183"/>
        <p:cNvGrpSpPr/>
        <p:nvPr/>
      </p:nvGrpSpPr>
      <p:grpSpPr>
        <a:xfrm>
          <a:off x="0" y="0"/>
          <a:ext cx="0" cy="0"/>
          <a:chOff x="0" y="0"/>
          <a:chExt cx="0" cy="0"/>
        </a:xfrm>
      </p:grpSpPr>
      <p:cxnSp>
        <p:nvCxnSpPr>
          <p:cNvPr id="184" name="Google Shape;184;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5" name="Google Shape;185;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7" name="Google Shape;187;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8" name="Google Shape;188;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89" name="Shape 189"/>
        <p:cNvGrpSpPr/>
        <p:nvPr/>
      </p:nvGrpSpPr>
      <p:grpSpPr>
        <a:xfrm>
          <a:off x="0" y="0"/>
          <a:ext cx="0" cy="0"/>
          <a:chOff x="0" y="0"/>
          <a:chExt cx="0" cy="0"/>
        </a:xfrm>
      </p:grpSpPr>
      <p:cxnSp>
        <p:nvCxnSpPr>
          <p:cNvPr id="190" name="Google Shape;190;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1" name="Google Shape;191;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2" name="Google Shape;192;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3" name="Google Shape;193;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4" name="Google Shape;194;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0" name="Google Shape;200;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5" name="Google Shape;205;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09" name="Google Shape;209;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0" name="Shape 210"/>
        <p:cNvGrpSpPr/>
        <p:nvPr/>
      </p:nvGrpSpPr>
      <p:grpSpPr>
        <a:xfrm>
          <a:off x="0" y="0"/>
          <a:ext cx="0" cy="0"/>
          <a:chOff x="0" y="0"/>
          <a:chExt cx="0" cy="0"/>
        </a:xfrm>
      </p:grpSpPr>
      <p:cxnSp>
        <p:nvCxnSpPr>
          <p:cNvPr id="211" name="Google Shape;211;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2" name="Google Shape;212;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3" name="Google Shape;213;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4" name="Google Shape;214;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5" name="Google Shape;215;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6" name="Shape 216"/>
        <p:cNvGrpSpPr/>
        <p:nvPr/>
      </p:nvGrpSpPr>
      <p:grpSpPr>
        <a:xfrm>
          <a:off x="0" y="0"/>
          <a:ext cx="0" cy="0"/>
          <a:chOff x="0" y="0"/>
          <a:chExt cx="0" cy="0"/>
        </a:xfrm>
      </p:grpSpPr>
      <p:cxnSp>
        <p:nvCxnSpPr>
          <p:cNvPr id="217" name="Google Shape;217;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8" name="Google Shape;218;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0" name="Google Shape;220;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6" name="Google Shape;226;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1" name="Google Shape;231;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5" name="Google Shape;235;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6" name="Google Shape;236;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7" name="Shape 237"/>
        <p:cNvGrpSpPr/>
        <p:nvPr/>
      </p:nvGrpSpPr>
      <p:grpSpPr>
        <a:xfrm>
          <a:off x="0" y="0"/>
          <a:ext cx="0" cy="0"/>
          <a:chOff x="0" y="0"/>
          <a:chExt cx="0" cy="0"/>
        </a:xfrm>
      </p:grpSpPr>
      <p:sp>
        <p:nvSpPr>
          <p:cNvPr id="238" name="Google Shape;238;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0" name="Google Shape;240;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49" name="Google Shape;249;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0" name="Google Shape;250;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1" name="Google Shape;251;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2" name="Google Shape;252;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3" name="Google Shape;253;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4" name="Google Shape;254;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3" name="Shape 263"/>
        <p:cNvGrpSpPr/>
        <p:nvPr/>
      </p:nvGrpSpPr>
      <p:grpSpPr>
        <a:xfrm>
          <a:off x="0" y="0"/>
          <a:ext cx="0" cy="0"/>
          <a:chOff x="0" y="0"/>
          <a:chExt cx="0" cy="0"/>
        </a:xfrm>
      </p:grpSpPr>
      <p:sp>
        <p:nvSpPr>
          <p:cNvPr id="264" name="Google Shape;264;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6" name="Google Shape;266;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7" name="Google Shape;267;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8" name="Google Shape;268;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9" name="Google Shape;269;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0" name="Google Shape;270;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1" name="Google Shape;271;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2" name="Google Shape;272;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3" name="Shape 273"/>
        <p:cNvGrpSpPr/>
        <p:nvPr/>
      </p:nvGrpSpPr>
      <p:grpSpPr>
        <a:xfrm>
          <a:off x="0" y="0"/>
          <a:ext cx="0" cy="0"/>
          <a:chOff x="0" y="0"/>
          <a:chExt cx="0" cy="0"/>
        </a:xfrm>
      </p:grpSpPr>
      <p:sp>
        <p:nvSpPr>
          <p:cNvPr id="274" name="Google Shape;274;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6" name="Google Shape;276;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7" name="Google Shape;277;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8" name="Google Shape;278;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9" name="Google Shape;279;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0" name="Google Shape;280;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1" name="Google Shape;281;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2" name="Google Shape;282;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3" name="Shape 283"/>
        <p:cNvGrpSpPr/>
        <p:nvPr/>
      </p:nvGrpSpPr>
      <p:grpSpPr>
        <a:xfrm>
          <a:off x="0" y="0"/>
          <a:ext cx="0" cy="0"/>
          <a:chOff x="0" y="0"/>
          <a:chExt cx="0" cy="0"/>
        </a:xfrm>
      </p:grpSpPr>
      <p:sp>
        <p:nvSpPr>
          <p:cNvPr id="284" name="Google Shape;284;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6" name="Google Shape;286;p40"/>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7" name="Google Shape;287;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8" name="Shape 288"/>
        <p:cNvGrpSpPr/>
        <p:nvPr/>
      </p:nvGrpSpPr>
      <p:grpSpPr>
        <a:xfrm>
          <a:off x="0" y="0"/>
          <a:ext cx="0" cy="0"/>
          <a:chOff x="0" y="0"/>
          <a:chExt cx="0" cy="0"/>
        </a:xfrm>
      </p:grpSpPr>
      <p:sp>
        <p:nvSpPr>
          <p:cNvPr id="289" name="Google Shape;289;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0" name="Google Shape;290;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1" name="Google Shape;291;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2" name="Google Shape;292;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3" name="Shape 293"/>
        <p:cNvGrpSpPr/>
        <p:nvPr/>
      </p:nvGrpSpPr>
      <p:grpSpPr>
        <a:xfrm>
          <a:off x="0" y="0"/>
          <a:ext cx="0" cy="0"/>
          <a:chOff x="0" y="0"/>
          <a:chExt cx="0" cy="0"/>
        </a:xfrm>
      </p:grpSpPr>
      <p:sp>
        <p:nvSpPr>
          <p:cNvPr id="294" name="Google Shape;294;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5" name="Google Shape;295;p42"/>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6" name="Google Shape;296;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7" name="Google Shape;297;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8" name="Shape 298"/>
        <p:cNvGrpSpPr/>
        <p:nvPr/>
      </p:nvGrpSpPr>
      <p:grpSpPr>
        <a:xfrm>
          <a:off x="0" y="0"/>
          <a:ext cx="0" cy="0"/>
          <a:chOff x="0" y="0"/>
          <a:chExt cx="0" cy="0"/>
        </a:xfrm>
      </p:grpSpPr>
      <p:sp>
        <p:nvSpPr>
          <p:cNvPr id="299" name="Google Shape;299;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0" name="Google Shape;300;p43"/>
          <p:cNvGrpSpPr/>
          <p:nvPr/>
        </p:nvGrpSpPr>
        <p:grpSpPr>
          <a:xfrm>
            <a:off x="1074625" y="2258150"/>
            <a:ext cx="1473491" cy="980288"/>
            <a:chOff x="1074625" y="2258150"/>
            <a:chExt cx="1473491" cy="980288"/>
          </a:xfrm>
        </p:grpSpPr>
        <p:sp>
          <p:nvSpPr>
            <p:cNvPr id="301" name="Google Shape;301;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3" name="Google Shape;303;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4" name="Google Shape;304;p4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5" name="Google Shape;305;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6" name="Shape 306"/>
        <p:cNvGrpSpPr/>
        <p:nvPr/>
      </p:nvGrpSpPr>
      <p:grpSpPr>
        <a:xfrm>
          <a:off x="0" y="0"/>
          <a:ext cx="0" cy="0"/>
          <a:chOff x="0" y="0"/>
          <a:chExt cx="0" cy="0"/>
        </a:xfrm>
      </p:grpSpPr>
      <p:sp>
        <p:nvSpPr>
          <p:cNvPr id="307" name="Google Shape;307;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44"/>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09" name="Google Shape;309;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0" name="Google Shape;310;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1" name="Shape 311"/>
        <p:cNvGrpSpPr/>
        <p:nvPr/>
      </p:nvGrpSpPr>
      <p:grpSpPr>
        <a:xfrm>
          <a:off x="0" y="0"/>
          <a:ext cx="0" cy="0"/>
          <a:chOff x="0" y="0"/>
          <a:chExt cx="0" cy="0"/>
        </a:xfrm>
      </p:grpSpPr>
      <p:sp>
        <p:nvSpPr>
          <p:cNvPr id="312" name="Google Shape;312;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8" name="Shape 318"/>
        <p:cNvGrpSpPr/>
        <p:nvPr/>
      </p:nvGrpSpPr>
      <p:grpSpPr>
        <a:xfrm>
          <a:off x="0" y="0"/>
          <a:ext cx="0" cy="0"/>
          <a:chOff x="0" y="0"/>
          <a:chExt cx="0" cy="0"/>
        </a:xfrm>
      </p:grpSpPr>
      <p:sp>
        <p:nvSpPr>
          <p:cNvPr id="319" name="Google Shape;319;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0" name="Google Shape;320;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1" name="Google Shape;321;p46"/>
          <p:cNvGrpSpPr/>
          <p:nvPr/>
        </p:nvGrpSpPr>
        <p:grpSpPr>
          <a:xfrm>
            <a:off x="3972318" y="1206125"/>
            <a:ext cx="1051285" cy="920372"/>
            <a:chOff x="587700" y="-13400"/>
            <a:chExt cx="5735325" cy="5021125"/>
          </a:xfrm>
        </p:grpSpPr>
        <p:sp>
          <p:nvSpPr>
            <p:cNvPr id="322" name="Google Shape;322;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8" name="Google Shape;328;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9" name="Shape 32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Heading slide">
  <p:cSld name="CUSTOM_21_2_1_2">
    <p:spTree>
      <p:nvGrpSpPr>
        <p:cNvPr id="330" name="Shape 330"/>
        <p:cNvGrpSpPr/>
        <p:nvPr/>
      </p:nvGrpSpPr>
      <p:grpSpPr>
        <a:xfrm>
          <a:off x="0" y="0"/>
          <a:ext cx="0" cy="0"/>
          <a:chOff x="0" y="0"/>
          <a:chExt cx="0" cy="0"/>
        </a:xfrm>
      </p:grpSpPr>
      <p:sp>
        <p:nvSpPr>
          <p:cNvPr id="331" name="Google Shape;331;p48"/>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2" name="Google Shape;332;p48"/>
          <p:cNvSpPr txBox="1"/>
          <p:nvPr>
            <p:ph idx="2"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3" name="Google Shape;333;p48"/>
          <p:cNvSpPr/>
          <p:nvPr/>
        </p:nvSpPr>
        <p:spPr>
          <a:xfrm>
            <a:off x="136025" y="2290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4" name="Shape 334"/>
        <p:cNvGrpSpPr/>
        <p:nvPr/>
      </p:nvGrpSpPr>
      <p:grpSpPr>
        <a:xfrm>
          <a:off x="0" y="0"/>
          <a:ext cx="0" cy="0"/>
          <a:chOff x="0" y="0"/>
          <a:chExt cx="0" cy="0"/>
        </a:xfrm>
      </p:grpSpPr>
      <p:sp>
        <p:nvSpPr>
          <p:cNvPr id="335" name="Google Shape;335;p49"/>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6" name="Google Shape;336;p49"/>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37" name="Google Shape;33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38" name="Shape 338"/>
        <p:cNvGrpSpPr/>
        <p:nvPr/>
      </p:nvGrpSpPr>
      <p:grpSpPr>
        <a:xfrm>
          <a:off x="0" y="0"/>
          <a:ext cx="0" cy="0"/>
          <a:chOff x="0" y="0"/>
          <a:chExt cx="0" cy="0"/>
        </a:xfrm>
      </p:grpSpPr>
      <p:pic>
        <p:nvPicPr>
          <p:cNvPr id="339" name="Google Shape;339;p50"/>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40" name="Google Shape;340;p50"/>
          <p:cNvSpPr txBox="1"/>
          <p:nvPr>
            <p:ph type="title"/>
          </p:nvPr>
        </p:nvSpPr>
        <p:spPr>
          <a:xfrm>
            <a:off x="1959725" y="1641200"/>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341" name="Google Shape;341;p50"/>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5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0"/>
          <p:cNvSpPr txBox="1"/>
          <p:nvPr>
            <p:ph idx="2" type="title"/>
          </p:nvPr>
        </p:nvSpPr>
        <p:spPr>
          <a:xfrm>
            <a:off x="1450375" y="1039700"/>
            <a:ext cx="6244200" cy="3131700"/>
          </a:xfrm>
          <a:prstGeom prst="rect">
            <a:avLst/>
          </a:prstGeom>
        </p:spPr>
        <p:txBody>
          <a:bodyPr anchorCtr="0" anchor="ctr" bIns="0" lIns="0" spcFirstLastPara="1" rIns="0" wrap="square" tIns="0">
            <a:noAutofit/>
          </a:bodyPr>
          <a:lstStyle>
            <a:lvl1pPr lvl="0">
              <a:spcBef>
                <a:spcPts val="0"/>
              </a:spcBef>
              <a:spcAft>
                <a:spcPts val="0"/>
              </a:spcAft>
              <a:buSzPts val="3400"/>
              <a:buNone/>
              <a:defRPr sz="3400">
                <a:latin typeface="Roboto Light"/>
                <a:ea typeface="Roboto Light"/>
                <a:cs typeface="Roboto Light"/>
                <a:sym typeface="Roboto Light"/>
              </a:defRPr>
            </a:lvl1pPr>
            <a:lvl2pPr lvl="1">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344" name="Shape 344"/>
        <p:cNvGrpSpPr/>
        <p:nvPr/>
      </p:nvGrpSpPr>
      <p:grpSpPr>
        <a:xfrm>
          <a:off x="0" y="0"/>
          <a:ext cx="0" cy="0"/>
          <a:chOff x="0" y="0"/>
          <a:chExt cx="0" cy="0"/>
        </a:xfrm>
      </p:grpSpPr>
      <p:sp>
        <p:nvSpPr>
          <p:cNvPr id="345" name="Google Shape;345;p5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46" name="Google Shape;346;p5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347" name="Google Shape;347;p5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48" name="Google Shape;348;p5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9" name="Google Shape;349;p5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0" name="Google Shape;350;p51"/>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51" name="Google Shape;351;p51"/>
          <p:cNvSpPr txBox="1"/>
          <p:nvPr>
            <p:ph idx="3" type="body"/>
          </p:nvPr>
        </p:nvSpPr>
        <p:spPr>
          <a:xfrm>
            <a:off x="175" y="1284250"/>
            <a:ext cx="9144000" cy="33744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52" name="Shape 352"/>
        <p:cNvGrpSpPr/>
        <p:nvPr/>
      </p:nvGrpSpPr>
      <p:grpSpPr>
        <a:xfrm>
          <a:off x="0" y="0"/>
          <a:ext cx="0" cy="0"/>
          <a:chOff x="0" y="0"/>
          <a:chExt cx="0" cy="0"/>
        </a:xfrm>
      </p:grpSpPr>
      <p:sp>
        <p:nvSpPr>
          <p:cNvPr id="353" name="Google Shape;353;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54" name="Google Shape;354;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355" name="Google Shape;355;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6" name="Google Shape;356;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7" name="Google Shape;357;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8" name="Google Shape;358;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59" name="Google Shape;359;p52"/>
          <p:cNvSpPr txBox="1"/>
          <p:nvPr>
            <p:ph idx="3" type="body"/>
          </p:nvPr>
        </p:nvSpPr>
        <p:spPr>
          <a:xfrm>
            <a:off x="175" y="1881025"/>
            <a:ext cx="9144000" cy="2919600"/>
          </a:xfrm>
          <a:prstGeom prst="rect">
            <a:avLst/>
          </a:prstGeom>
        </p:spPr>
        <p:txBody>
          <a:bodyPr anchorCtr="0" anchor="t" bIns="914400" lIns="457200" spcFirstLastPara="1" rIns="457200" wrap="square" tIns="0">
            <a:noAutofit/>
          </a:bodyPr>
          <a:lstStyle>
            <a:lvl1pPr indent="-342900" lvl="0" marL="457200">
              <a:lnSpc>
                <a:spcPct val="113000"/>
              </a:lnSpc>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_2">
    <p:spTree>
      <p:nvGrpSpPr>
        <p:cNvPr id="360" name="Shape 360"/>
        <p:cNvGrpSpPr/>
        <p:nvPr/>
      </p:nvGrpSpPr>
      <p:grpSpPr>
        <a:xfrm>
          <a:off x="0" y="0"/>
          <a:ext cx="0" cy="0"/>
          <a:chOff x="0" y="0"/>
          <a:chExt cx="0" cy="0"/>
        </a:xfrm>
      </p:grpSpPr>
      <p:sp>
        <p:nvSpPr>
          <p:cNvPr id="361" name="Google Shape;361;p53"/>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2" name="Google Shape;362;p53"/>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363" name="Google Shape;363;p53"/>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64" name="Google Shape;364;p53"/>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365" name="Shape 365"/>
        <p:cNvGrpSpPr/>
        <p:nvPr/>
      </p:nvGrpSpPr>
      <p:grpSpPr>
        <a:xfrm>
          <a:off x="0" y="0"/>
          <a:ext cx="0" cy="0"/>
          <a:chOff x="0" y="0"/>
          <a:chExt cx="0" cy="0"/>
        </a:xfrm>
      </p:grpSpPr>
      <p:sp>
        <p:nvSpPr>
          <p:cNvPr id="366" name="Google Shape;366;p54"/>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67" name="Google Shape;367;p5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8" name="Google Shape;368;p54"/>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1">
  <p:cSld name="CUSTOM_10_2_1">
    <p:bg>
      <p:bgPr>
        <a:solidFill>
          <a:schemeClr val="dk2"/>
        </a:solidFill>
      </p:bgPr>
    </p:bg>
    <p:spTree>
      <p:nvGrpSpPr>
        <p:cNvPr id="369" name="Shape 369"/>
        <p:cNvGrpSpPr/>
        <p:nvPr/>
      </p:nvGrpSpPr>
      <p:grpSpPr>
        <a:xfrm>
          <a:off x="0" y="0"/>
          <a:ext cx="0" cy="0"/>
          <a:chOff x="0" y="0"/>
          <a:chExt cx="0" cy="0"/>
        </a:xfrm>
      </p:grpSpPr>
      <p:sp>
        <p:nvSpPr>
          <p:cNvPr id="370" name="Google Shape;370;p55"/>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371" name="Google Shape;371;p55"/>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theme" Target="../theme/theme2.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xml"/><Relationship Id="rId3" Type="http://schemas.openxmlformats.org/officeDocument/2006/relationships/image" Target="../media/image6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0.xml"/><Relationship Id="rId3" Type="http://schemas.openxmlformats.org/officeDocument/2006/relationships/image" Target="../media/image6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 Id="rId3" Type="http://schemas.openxmlformats.org/officeDocument/2006/relationships/image" Target="../media/image6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6.xml"/><Relationship Id="rId3" Type="http://schemas.openxmlformats.org/officeDocument/2006/relationships/image" Target="../media/image5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4.xml"/><Relationship Id="rId3" Type="http://schemas.openxmlformats.org/officeDocument/2006/relationships/image" Target="../media/image4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 Id="rId3" Type="http://schemas.openxmlformats.org/officeDocument/2006/relationships/image" Target="../media/image4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 Id="rId3" Type="http://schemas.openxmlformats.org/officeDocument/2006/relationships/hyperlink" Target="https://www.sec.gov/spotlight/cybersecurity-enforcement-actions" TargetMode="Externa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7.xml"/><Relationship Id="rId3" Type="http://schemas.openxmlformats.org/officeDocument/2006/relationships/image" Target="../media/image5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 Id="rId3" Type="http://schemas.openxmlformats.org/officeDocument/2006/relationships/image" Target="../media/image5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 Id="rId3"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2.xml"/><Relationship Id="rId3"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3.xml"/><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5.xml"/><Relationship Id="rId3" Type="http://schemas.openxmlformats.org/officeDocument/2006/relationships/image" Target="../media/image59.png"/><Relationship Id="rId4" Type="http://schemas.openxmlformats.org/officeDocument/2006/relationships/hyperlink" Target="https://www.nist.gov/" TargetMode="External"/><Relationship Id="rId5"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6.xml"/><Relationship Id="rId3" Type="http://schemas.openxmlformats.org/officeDocument/2006/relationships/image" Target="../media/image37.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9.xml"/><Relationship Id="rId3" Type="http://schemas.openxmlformats.org/officeDocument/2006/relationships/hyperlink" Target="https://www.nist.gov/system/files/alternative-view-framework-core-021214.pdf" TargetMode="External"/><Relationship Id="rId4" Type="http://schemas.openxmlformats.org/officeDocument/2006/relationships/image" Target="../media/image60.png"/><Relationship Id="rId5"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0.xml"/><Relationship Id="rId3" Type="http://schemas.openxmlformats.org/officeDocument/2006/relationships/hyperlink" Target="https://www.nist.gov/system/files/documents/cyberframework/cybersecurity-framework-021214.pdf" TargetMode="External"/><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2.xml"/><Relationship Id="rId3" Type="http://schemas.openxmlformats.org/officeDocument/2006/relationships/image" Target="../media/image5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8.xml"/><Relationship Id="rId3" Type="http://schemas.openxmlformats.org/officeDocument/2006/relationships/image" Target="../media/image4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9.xml"/><Relationship Id="rId3" Type="http://schemas.openxmlformats.org/officeDocument/2006/relationships/image" Target="../media/image56.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0.xml"/><Relationship Id="rId3"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1.xml"/><Relationship Id="rId3" Type="http://schemas.openxmlformats.org/officeDocument/2006/relationships/image" Target="../media/image6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3.xml"/><Relationship Id="rId3" Type="http://schemas.openxmlformats.org/officeDocument/2006/relationships/image" Target="../media/image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4.xml"/><Relationship Id="rId3" Type="http://schemas.openxmlformats.org/officeDocument/2006/relationships/image" Target="../media/image3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0.xml"/><Relationship Id="rId3" Type="http://schemas.openxmlformats.org/officeDocument/2006/relationships/image" Target="../media/image3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1.xml"/><Relationship Id="rId3" Type="http://schemas.openxmlformats.org/officeDocument/2006/relationships/hyperlink" Target="https://defaultreasoning.com/"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2.xml"/><Relationship Id="rId3" Type="http://schemas.openxmlformats.org/officeDocument/2006/relationships/image" Target="../media/image5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6"/>
          <p:cNvSpPr txBox="1"/>
          <p:nvPr>
            <p:ph type="title"/>
          </p:nvPr>
        </p:nvSpPr>
        <p:spPr>
          <a:xfrm>
            <a:off x="4570700" y="1804650"/>
            <a:ext cx="45579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800"/>
              <a:t>Governance and Compliance </a:t>
            </a:r>
            <a:endParaRPr sz="3800"/>
          </a:p>
        </p:txBody>
      </p:sp>
      <p:sp>
        <p:nvSpPr>
          <p:cNvPr id="377" name="Google Shape;377;p56"/>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78" name="Google Shape;378;p56"/>
          <p:cNvSpPr txBox="1"/>
          <p:nvPr/>
        </p:nvSpPr>
        <p:spPr>
          <a:xfrm>
            <a:off x="4572000" y="1127800"/>
            <a:ext cx="4572000" cy="185400"/>
          </a:xfrm>
          <a:prstGeom prst="rect">
            <a:avLst/>
          </a:prstGeom>
          <a:noFill/>
          <a:ln>
            <a:noFill/>
          </a:ln>
          <a:effectLst>
            <a:outerShdw blurRad="57150" rotWithShape="0" algn="bl" dir="5400000" dist="19050">
              <a:srgbClr val="000000">
                <a:alpha val="49800"/>
              </a:srgbClr>
            </a:outerShdw>
          </a:effectLst>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rgbClr val="FFFFFF"/>
                </a:solidFill>
                <a:latin typeface="Roboto"/>
                <a:ea typeface="Roboto"/>
                <a:cs typeface="Roboto"/>
                <a:sym typeface="Roboto"/>
              </a:rPr>
              <a:t>Cybersecurity</a:t>
            </a:r>
            <a:endParaRPr sz="1800">
              <a:solidFill>
                <a:srgbClr val="FFFFFF"/>
              </a:solidFill>
              <a:latin typeface="Roboto"/>
              <a:ea typeface="Roboto"/>
              <a:cs typeface="Roboto"/>
              <a:sym typeface="Roboto"/>
            </a:endParaRPr>
          </a:p>
        </p:txBody>
      </p:sp>
      <p:sp>
        <p:nvSpPr>
          <p:cNvPr id="379" name="Google Shape;379;p56"/>
          <p:cNvSpPr txBox="1"/>
          <p:nvPr/>
        </p:nvSpPr>
        <p:spPr>
          <a:xfrm>
            <a:off x="4570700" y="3314500"/>
            <a:ext cx="4557900" cy="244800"/>
          </a:xfrm>
          <a:prstGeom prst="rect">
            <a:avLst/>
          </a:prstGeom>
          <a:noFill/>
          <a:ln>
            <a:noFill/>
          </a:ln>
          <a:effectLst>
            <a:outerShdw blurRad="57150" rotWithShape="0" algn="bl" dir="5400000" dist="19050">
              <a:srgbClr val="000000">
                <a:alpha val="49800"/>
              </a:srgbClr>
            </a:outerShdw>
          </a:effectLst>
        </p:spPr>
        <p:txBody>
          <a:bodyPr anchorCtr="0" anchor="b" bIns="0" lIns="0" spcFirstLastPara="1" rIns="0" wrap="square" tIns="0">
            <a:noAutofit/>
          </a:bodyPr>
          <a:lstStyle/>
          <a:p>
            <a:pPr indent="0" lvl="0" marL="0" rtl="0" algn="l">
              <a:lnSpc>
                <a:spcPct val="115000"/>
              </a:lnSpc>
              <a:spcBef>
                <a:spcPts val="0"/>
              </a:spcBef>
              <a:spcAft>
                <a:spcPts val="0"/>
              </a:spcAft>
              <a:buNone/>
            </a:pPr>
            <a:r>
              <a:rPr lang="en" sz="1800">
                <a:solidFill>
                  <a:srgbClr val="FFFFFF"/>
                </a:solidFill>
                <a:latin typeface="Roboto"/>
                <a:ea typeface="Roboto"/>
                <a:cs typeface="Roboto"/>
                <a:sym typeface="Roboto"/>
              </a:rPr>
              <a:t>Lesson 22.3</a:t>
            </a:r>
            <a:endParaRPr sz="18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Learning Objectives</a:t>
            </a:r>
            <a:endParaRPr/>
          </a:p>
        </p:txBody>
      </p:sp>
      <p:sp>
        <p:nvSpPr>
          <p:cNvPr id="385" name="Google Shape;385;p57"/>
          <p:cNvSpPr txBox="1"/>
          <p:nvPr>
            <p:ph idx="2" type="title"/>
          </p:nvPr>
        </p:nvSpPr>
        <p:spPr>
          <a:xfrm>
            <a:off x="-6000" y="554850"/>
            <a:ext cx="9168600" cy="3231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sz="1700">
                <a:latin typeface="Roboto"/>
                <a:ea typeface="Roboto"/>
                <a:cs typeface="Roboto"/>
                <a:sym typeface="Roboto"/>
              </a:rPr>
              <a:t>By the end of today’s </a:t>
            </a:r>
            <a:r>
              <a:rPr lang="en" sz="1700">
                <a:latin typeface="Roboto"/>
                <a:ea typeface="Roboto"/>
                <a:cs typeface="Roboto"/>
                <a:sym typeface="Roboto"/>
              </a:rPr>
              <a:t>lesson</a:t>
            </a:r>
            <a:r>
              <a:rPr lang="en" sz="1700">
                <a:latin typeface="Roboto"/>
                <a:ea typeface="Roboto"/>
                <a:cs typeface="Roboto"/>
                <a:sym typeface="Roboto"/>
              </a:rPr>
              <a:t>, you will be able to:</a:t>
            </a:r>
            <a:endParaRPr sz="1700">
              <a:latin typeface="Roboto"/>
              <a:ea typeface="Roboto"/>
              <a:cs typeface="Roboto"/>
              <a:sym typeface="Roboto"/>
            </a:endParaRPr>
          </a:p>
        </p:txBody>
      </p:sp>
      <p:pic>
        <p:nvPicPr>
          <p:cNvPr id="386" name="Google Shape;386;p57"/>
          <p:cNvPicPr preferRelativeResize="0"/>
          <p:nvPr/>
        </p:nvPicPr>
        <p:blipFill>
          <a:blip r:embed="rId3">
            <a:alphaModFix/>
          </a:blip>
          <a:stretch>
            <a:fillRect/>
          </a:stretch>
        </p:blipFill>
        <p:spPr>
          <a:xfrm>
            <a:off x="173938" y="271538"/>
            <a:ext cx="496875" cy="496875"/>
          </a:xfrm>
          <a:prstGeom prst="rect">
            <a:avLst/>
          </a:prstGeom>
          <a:noFill/>
          <a:ln>
            <a:noFill/>
          </a:ln>
        </p:spPr>
      </p:pic>
      <p:sp>
        <p:nvSpPr>
          <p:cNvPr id="387" name="Google Shape;387;p57"/>
          <p:cNvSpPr/>
          <p:nvPr/>
        </p:nvSpPr>
        <p:spPr>
          <a:xfrm>
            <a:off x="607675" y="1142050"/>
            <a:ext cx="8079000" cy="626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57"/>
          <p:cNvSpPr/>
          <p:nvPr/>
        </p:nvSpPr>
        <p:spPr>
          <a:xfrm>
            <a:off x="457200" y="121341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389" name="Google Shape;389;p57"/>
          <p:cNvSpPr txBox="1"/>
          <p:nvPr/>
        </p:nvSpPr>
        <p:spPr>
          <a:xfrm>
            <a:off x="914400" y="12649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lang="en" sz="1800">
                <a:solidFill>
                  <a:srgbClr val="082D49"/>
                </a:solidFill>
                <a:latin typeface="Roboto"/>
                <a:ea typeface="Roboto"/>
                <a:cs typeface="Roboto"/>
                <a:sym typeface="Roboto"/>
              </a:rPr>
              <a:t>Explain how organizations use policy and procedure to formalize standards of “right” and “wrong.”</a:t>
            </a:r>
            <a:endParaRPr sz="1800">
              <a:solidFill>
                <a:srgbClr val="082D49"/>
              </a:solidFill>
              <a:latin typeface="Roboto"/>
              <a:ea typeface="Roboto"/>
              <a:cs typeface="Roboto"/>
              <a:sym typeface="Roboto"/>
            </a:endParaRPr>
          </a:p>
        </p:txBody>
      </p:sp>
      <p:sp>
        <p:nvSpPr>
          <p:cNvPr id="390" name="Google Shape;390;p57"/>
          <p:cNvSpPr/>
          <p:nvPr/>
        </p:nvSpPr>
        <p:spPr>
          <a:xfrm>
            <a:off x="613975" y="2032550"/>
            <a:ext cx="8079000" cy="626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57"/>
          <p:cNvSpPr/>
          <p:nvPr/>
        </p:nvSpPr>
        <p:spPr>
          <a:xfrm>
            <a:off x="463500" y="210391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2</a:t>
            </a:r>
            <a:endParaRPr b="0" i="0" sz="1800" u="none" cap="none" strike="noStrike">
              <a:solidFill>
                <a:srgbClr val="082D49"/>
              </a:solidFill>
              <a:latin typeface="Arial"/>
              <a:ea typeface="Arial"/>
              <a:cs typeface="Arial"/>
              <a:sym typeface="Arial"/>
            </a:endParaRPr>
          </a:p>
        </p:txBody>
      </p:sp>
      <p:sp>
        <p:nvSpPr>
          <p:cNvPr id="392" name="Google Shape;392;p57"/>
          <p:cNvSpPr txBox="1"/>
          <p:nvPr/>
        </p:nvSpPr>
        <p:spPr>
          <a:xfrm>
            <a:off x="920700" y="21554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lang="en" sz="1800">
                <a:solidFill>
                  <a:srgbClr val="082D49"/>
                </a:solidFill>
                <a:latin typeface="Roboto"/>
                <a:ea typeface="Roboto"/>
                <a:cs typeface="Roboto"/>
                <a:sym typeface="Roboto"/>
              </a:rPr>
              <a:t>Use governance frameworks to determine which policies an organization must develop.</a:t>
            </a:r>
            <a:endParaRPr sz="1800">
              <a:solidFill>
                <a:srgbClr val="082D49"/>
              </a:solidFill>
              <a:latin typeface="Roboto"/>
              <a:ea typeface="Roboto"/>
              <a:cs typeface="Roboto"/>
              <a:sym typeface="Roboto"/>
            </a:endParaRPr>
          </a:p>
        </p:txBody>
      </p:sp>
      <p:sp>
        <p:nvSpPr>
          <p:cNvPr id="393" name="Google Shape;393;p57"/>
          <p:cNvSpPr/>
          <p:nvPr/>
        </p:nvSpPr>
        <p:spPr>
          <a:xfrm>
            <a:off x="607675" y="2923050"/>
            <a:ext cx="8079000" cy="626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57"/>
          <p:cNvSpPr/>
          <p:nvPr/>
        </p:nvSpPr>
        <p:spPr>
          <a:xfrm>
            <a:off x="457200" y="299441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3</a:t>
            </a:r>
            <a:endParaRPr b="0" i="0" sz="1800" u="none" cap="none" strike="noStrike">
              <a:solidFill>
                <a:srgbClr val="082D49"/>
              </a:solidFill>
              <a:latin typeface="Arial"/>
              <a:ea typeface="Arial"/>
              <a:cs typeface="Arial"/>
              <a:sym typeface="Arial"/>
            </a:endParaRPr>
          </a:p>
        </p:txBody>
      </p:sp>
      <p:sp>
        <p:nvSpPr>
          <p:cNvPr id="395" name="Google Shape;395;p57"/>
          <p:cNvSpPr txBox="1"/>
          <p:nvPr/>
        </p:nvSpPr>
        <p:spPr>
          <a:xfrm>
            <a:off x="914400" y="30459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lang="en" sz="1800">
                <a:solidFill>
                  <a:srgbClr val="082D49"/>
                </a:solidFill>
                <a:latin typeface="Roboto"/>
                <a:ea typeface="Roboto"/>
                <a:cs typeface="Roboto"/>
                <a:sym typeface="Roboto"/>
              </a:rPr>
              <a:t>Explain how business continuity planning and disaster recovery ensure business- and mission-critical functions in the event of a disruption.</a:t>
            </a:r>
            <a:endParaRPr sz="1800">
              <a:solidFill>
                <a:srgbClr val="082D49"/>
              </a:solidFill>
              <a:latin typeface="Roboto"/>
              <a:ea typeface="Roboto"/>
              <a:cs typeface="Roboto"/>
              <a:sym typeface="Roboto"/>
            </a:endParaRPr>
          </a:p>
        </p:txBody>
      </p:sp>
      <p:cxnSp>
        <p:nvCxnSpPr>
          <p:cNvPr id="396" name="Google Shape;396;p57"/>
          <p:cNvCxnSpPr/>
          <p:nvPr/>
        </p:nvCxnSpPr>
        <p:spPr>
          <a:xfrm>
            <a:off x="-15750" y="9787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8"/>
          <p:cNvSpPr/>
          <p:nvPr/>
        </p:nvSpPr>
        <p:spPr>
          <a:xfrm>
            <a:off x="3099139" y="2141938"/>
            <a:ext cx="2216700" cy="759300"/>
          </a:xfrm>
          <a:prstGeom prst="homePlate">
            <a:avLst>
              <a:gd fmla="val 0" name="adj"/>
            </a:avLst>
          </a:prstGeom>
          <a:solidFill>
            <a:schemeClr val="accent1"/>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8"/>
          <p:cNvSpPr/>
          <p:nvPr/>
        </p:nvSpPr>
        <p:spPr>
          <a:xfrm flipH="1">
            <a:off x="835689" y="2141938"/>
            <a:ext cx="2216700" cy="759300"/>
          </a:xfrm>
          <a:prstGeom prst="homePlate">
            <a:avLst>
              <a:gd fmla="val 50000" name="adj"/>
            </a:avLst>
          </a:prstGeom>
          <a:solidFill>
            <a:schemeClr val="accent2"/>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8"/>
          <p:cNvSpPr txBox="1"/>
          <p:nvPr/>
        </p:nvSpPr>
        <p:spPr>
          <a:xfrm>
            <a:off x="1192175" y="2290750"/>
            <a:ext cx="1756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Day 1</a:t>
            </a:r>
            <a:endParaRPr b="1" sz="1800">
              <a:solidFill>
                <a:schemeClr val="dk2"/>
              </a:solidFill>
              <a:latin typeface="Roboto"/>
              <a:ea typeface="Roboto"/>
              <a:cs typeface="Roboto"/>
              <a:sym typeface="Roboto"/>
            </a:endParaRPr>
          </a:p>
        </p:txBody>
      </p:sp>
      <p:sp>
        <p:nvSpPr>
          <p:cNvPr id="404" name="Google Shape;404;p58"/>
          <p:cNvSpPr txBox="1"/>
          <p:nvPr/>
        </p:nvSpPr>
        <p:spPr>
          <a:xfrm>
            <a:off x="3365008" y="2290740"/>
            <a:ext cx="1667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Day 2</a:t>
            </a:r>
            <a:endParaRPr b="1" sz="1800">
              <a:solidFill>
                <a:schemeClr val="dk2"/>
              </a:solidFill>
              <a:latin typeface="Roboto"/>
              <a:ea typeface="Roboto"/>
              <a:cs typeface="Roboto"/>
              <a:sym typeface="Roboto"/>
            </a:endParaRPr>
          </a:p>
        </p:txBody>
      </p:sp>
      <p:cxnSp>
        <p:nvCxnSpPr>
          <p:cNvPr id="405" name="Google Shape;405;p58"/>
          <p:cNvCxnSpPr/>
          <p:nvPr/>
        </p:nvCxnSpPr>
        <p:spPr>
          <a:xfrm rot="10800000">
            <a:off x="2078913" y="1649138"/>
            <a:ext cx="0" cy="653400"/>
          </a:xfrm>
          <a:prstGeom prst="straightConnector1">
            <a:avLst/>
          </a:prstGeom>
          <a:noFill/>
          <a:ln cap="flat" cmpd="sng" w="9525">
            <a:solidFill>
              <a:schemeClr val="dk2"/>
            </a:solidFill>
            <a:prstDash val="solid"/>
            <a:round/>
            <a:headEnd len="med" w="med" type="oval"/>
            <a:tailEnd len="med" w="med" type="none"/>
          </a:ln>
        </p:spPr>
      </p:cxnSp>
      <p:sp>
        <p:nvSpPr>
          <p:cNvPr id="406" name="Google Shape;406;p58"/>
          <p:cNvSpPr/>
          <p:nvPr/>
        </p:nvSpPr>
        <p:spPr>
          <a:xfrm>
            <a:off x="73100" y="574375"/>
            <a:ext cx="8929200" cy="116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8"/>
          <p:cNvSpPr/>
          <p:nvPr/>
        </p:nvSpPr>
        <p:spPr>
          <a:xfrm>
            <a:off x="5362589" y="2141938"/>
            <a:ext cx="2216700" cy="759300"/>
          </a:xfrm>
          <a:prstGeom prst="homePlate">
            <a:avLst>
              <a:gd fmla="val 50000" name="adj"/>
            </a:avLst>
          </a:prstGeom>
          <a:solidFill>
            <a:schemeClr val="accent3"/>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8"/>
          <p:cNvSpPr txBox="1"/>
          <p:nvPr/>
        </p:nvSpPr>
        <p:spPr>
          <a:xfrm>
            <a:off x="5511783" y="2290740"/>
            <a:ext cx="1667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Today</a:t>
            </a:r>
            <a:endParaRPr b="1" sz="1800">
              <a:solidFill>
                <a:schemeClr val="lt1"/>
              </a:solidFill>
              <a:latin typeface="Roboto"/>
              <a:ea typeface="Roboto"/>
              <a:cs typeface="Roboto"/>
              <a:sym typeface="Roboto"/>
            </a:endParaRPr>
          </a:p>
        </p:txBody>
      </p:sp>
      <p:cxnSp>
        <p:nvCxnSpPr>
          <p:cNvPr id="409" name="Google Shape;409;p58"/>
          <p:cNvCxnSpPr/>
          <p:nvPr/>
        </p:nvCxnSpPr>
        <p:spPr>
          <a:xfrm>
            <a:off x="6405575" y="2882725"/>
            <a:ext cx="0" cy="492300"/>
          </a:xfrm>
          <a:prstGeom prst="straightConnector1">
            <a:avLst/>
          </a:prstGeom>
          <a:noFill/>
          <a:ln cap="flat" cmpd="sng" w="9525">
            <a:solidFill>
              <a:schemeClr val="dk2"/>
            </a:solidFill>
            <a:prstDash val="solid"/>
            <a:round/>
            <a:headEnd len="med" w="med" type="none"/>
            <a:tailEnd len="med" w="med" type="none"/>
          </a:ln>
        </p:spPr>
      </p:cxnSp>
      <p:sp>
        <p:nvSpPr>
          <p:cNvPr id="410" name="Google Shape;410;p58"/>
          <p:cNvSpPr txBox="1"/>
          <p:nvPr/>
        </p:nvSpPr>
        <p:spPr>
          <a:xfrm>
            <a:off x="5520425" y="3435800"/>
            <a:ext cx="28626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200"/>
              </a:spcAft>
              <a:buNone/>
            </a:pPr>
            <a:r>
              <a:rPr lang="en" sz="1800">
                <a:solidFill>
                  <a:schemeClr val="dk2"/>
                </a:solidFill>
                <a:latin typeface="Roboto"/>
                <a:ea typeface="Roboto"/>
                <a:cs typeface="Roboto"/>
                <a:sym typeface="Roboto"/>
              </a:rPr>
              <a:t>We will cover governance, compliance, and business continuity planning (BCP) and disaster recovery (DR).</a:t>
            </a:r>
            <a:endParaRPr sz="1800">
              <a:solidFill>
                <a:schemeClr val="dk2"/>
              </a:solidFill>
              <a:latin typeface="Roboto"/>
              <a:ea typeface="Roboto"/>
              <a:cs typeface="Roboto"/>
              <a:sym typeface="Roboto"/>
            </a:endParaRPr>
          </a:p>
        </p:txBody>
      </p:sp>
      <p:sp>
        <p:nvSpPr>
          <p:cNvPr id="411" name="Google Shape;411;p58"/>
          <p:cNvSpPr txBox="1"/>
          <p:nvPr/>
        </p:nvSpPr>
        <p:spPr>
          <a:xfrm>
            <a:off x="987350" y="369600"/>
            <a:ext cx="2183100" cy="1108200"/>
          </a:xfrm>
          <a:prstGeom prst="rect">
            <a:avLst/>
          </a:prstGeom>
          <a:noFill/>
          <a:ln>
            <a:noFill/>
          </a:ln>
        </p:spPr>
        <p:txBody>
          <a:bodyPr anchorCtr="0" anchor="b" bIns="0" lIns="0" spcFirstLastPara="1" rIns="0" wrap="square" tIns="0">
            <a:noAutofit/>
          </a:bodyPr>
          <a:lstStyle/>
          <a:p>
            <a:pPr indent="0" lvl="0" marL="0" rtl="0" algn="l">
              <a:spcBef>
                <a:spcPts val="0"/>
              </a:spcBef>
              <a:spcAft>
                <a:spcPts val="200"/>
              </a:spcAft>
              <a:buNone/>
            </a:pPr>
            <a:r>
              <a:rPr lang="en" sz="1800">
                <a:solidFill>
                  <a:schemeClr val="dk2"/>
                </a:solidFill>
                <a:latin typeface="Roboto"/>
                <a:ea typeface="Roboto"/>
                <a:cs typeface="Roboto"/>
                <a:sym typeface="Roboto"/>
              </a:rPr>
              <a:t>Structure of the security organization and the importance of security culture. </a:t>
            </a:r>
            <a:endParaRPr sz="1800">
              <a:solidFill>
                <a:schemeClr val="dk2"/>
              </a:solidFill>
              <a:latin typeface="Roboto"/>
              <a:ea typeface="Roboto"/>
              <a:cs typeface="Roboto"/>
              <a:sym typeface="Roboto"/>
            </a:endParaRPr>
          </a:p>
        </p:txBody>
      </p:sp>
      <p:cxnSp>
        <p:nvCxnSpPr>
          <p:cNvPr id="412" name="Google Shape;412;p58"/>
          <p:cNvCxnSpPr/>
          <p:nvPr/>
        </p:nvCxnSpPr>
        <p:spPr>
          <a:xfrm rot="10800000">
            <a:off x="4185813" y="1649138"/>
            <a:ext cx="0" cy="653400"/>
          </a:xfrm>
          <a:prstGeom prst="straightConnector1">
            <a:avLst/>
          </a:prstGeom>
          <a:noFill/>
          <a:ln cap="flat" cmpd="sng" w="9525">
            <a:solidFill>
              <a:schemeClr val="dk2"/>
            </a:solidFill>
            <a:prstDash val="solid"/>
            <a:round/>
            <a:headEnd len="med" w="med" type="oval"/>
            <a:tailEnd len="med" w="med" type="none"/>
          </a:ln>
        </p:spPr>
      </p:cxnSp>
      <p:sp>
        <p:nvSpPr>
          <p:cNvPr id="413" name="Google Shape;413;p58"/>
          <p:cNvSpPr txBox="1"/>
          <p:nvPr/>
        </p:nvSpPr>
        <p:spPr>
          <a:xfrm>
            <a:off x="3437175" y="621000"/>
            <a:ext cx="1756200" cy="856800"/>
          </a:xfrm>
          <a:prstGeom prst="rect">
            <a:avLst/>
          </a:prstGeom>
          <a:noFill/>
          <a:ln>
            <a:noFill/>
          </a:ln>
        </p:spPr>
        <p:txBody>
          <a:bodyPr anchorCtr="0" anchor="b" bIns="0" lIns="0" spcFirstLastPara="1" rIns="0" wrap="square" tIns="0">
            <a:noAutofit/>
          </a:bodyPr>
          <a:lstStyle/>
          <a:p>
            <a:pPr indent="0" lvl="0" marL="0" rtl="0" algn="l">
              <a:spcBef>
                <a:spcPts val="0"/>
              </a:spcBef>
              <a:spcAft>
                <a:spcPts val="200"/>
              </a:spcAft>
              <a:buNone/>
            </a:pPr>
            <a:r>
              <a:rPr lang="en" sz="1800">
                <a:solidFill>
                  <a:schemeClr val="dk2"/>
                </a:solidFill>
                <a:latin typeface="Roboto"/>
                <a:ea typeface="Roboto"/>
                <a:cs typeface="Roboto"/>
                <a:sym typeface="Roboto"/>
              </a:rPr>
              <a:t>Threat modeling and risk analysis.</a:t>
            </a:r>
            <a:endParaRPr sz="1800">
              <a:solidFill>
                <a:schemeClr val="dk2"/>
              </a:solidFill>
              <a:latin typeface="Roboto"/>
              <a:ea typeface="Roboto"/>
              <a:cs typeface="Roboto"/>
              <a:sym typeface="Roboto"/>
            </a:endParaRPr>
          </a:p>
        </p:txBody>
      </p:sp>
      <p:cxnSp>
        <p:nvCxnSpPr>
          <p:cNvPr id="414" name="Google Shape;414;p58"/>
          <p:cNvCxnSpPr/>
          <p:nvPr/>
        </p:nvCxnSpPr>
        <p:spPr>
          <a:xfrm>
            <a:off x="6405563" y="2721688"/>
            <a:ext cx="0" cy="161100"/>
          </a:xfrm>
          <a:prstGeom prst="straightConnector1">
            <a:avLst/>
          </a:prstGeom>
          <a:noFill/>
          <a:ln cap="flat" cmpd="sng" w="9525">
            <a:solidFill>
              <a:schemeClr val="lt1"/>
            </a:solidFill>
            <a:prstDash val="solid"/>
            <a:round/>
            <a:headEnd len="med" w="med" type="oval"/>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9"/>
          <p:cNvSpPr txBox="1"/>
          <p:nvPr>
            <p:ph idx="2" type="title"/>
          </p:nvPr>
        </p:nvSpPr>
        <p:spPr>
          <a:xfrm>
            <a:off x="1795250" y="1039700"/>
            <a:ext cx="58992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b="1" lang="en" sz="3200">
                <a:latin typeface="Roboto"/>
                <a:ea typeface="Roboto"/>
                <a:cs typeface="Roboto"/>
                <a:sym typeface="Roboto"/>
              </a:rPr>
              <a:t>Governance</a:t>
            </a:r>
            <a:r>
              <a:rPr b="1" lang="en" sz="3200">
                <a:latin typeface="Roboto"/>
                <a:ea typeface="Roboto"/>
                <a:cs typeface="Roboto"/>
                <a:sym typeface="Roboto"/>
              </a:rPr>
              <a:t> </a:t>
            </a:r>
            <a:r>
              <a:rPr lang="en" sz="3200">
                <a:latin typeface="Roboto"/>
                <a:ea typeface="Roboto"/>
                <a:cs typeface="Roboto"/>
                <a:sym typeface="Roboto"/>
              </a:rPr>
              <a:t>entails codifying and enforcing proper behavior and operations by establishing standards of “right” and “wrong.”</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0"/>
          <p:cNvSpPr txBox="1"/>
          <p:nvPr>
            <p:ph idx="2" type="title"/>
          </p:nvPr>
        </p:nvSpPr>
        <p:spPr>
          <a:xfrm>
            <a:off x="1625600" y="1039700"/>
            <a:ext cx="58464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b="1" lang="en" sz="3200">
                <a:latin typeface="Roboto"/>
                <a:ea typeface="Roboto"/>
                <a:cs typeface="Roboto"/>
                <a:sym typeface="Roboto"/>
              </a:rPr>
              <a:t>Compliance</a:t>
            </a:r>
            <a:r>
              <a:rPr lang="en" sz="3200">
                <a:latin typeface="Roboto"/>
                <a:ea typeface="Roboto"/>
                <a:cs typeface="Roboto"/>
                <a:sym typeface="Roboto"/>
              </a:rPr>
              <a:t> entails enforcing the policies in order to mee</a:t>
            </a:r>
            <a:r>
              <a:rPr lang="en" sz="3200">
                <a:latin typeface="Roboto"/>
                <a:ea typeface="Roboto"/>
                <a:cs typeface="Roboto"/>
                <a:sym typeface="Roboto"/>
              </a:rPr>
              <a:t>t t</a:t>
            </a:r>
            <a:r>
              <a:rPr lang="en" sz="3200">
                <a:latin typeface="Roboto"/>
                <a:ea typeface="Roboto"/>
                <a:cs typeface="Roboto"/>
                <a:sym typeface="Roboto"/>
              </a:rPr>
              <a:t>hose standards.</a:t>
            </a:r>
            <a:endParaRPr>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61"/>
          <p:cNvPicPr preferRelativeResize="0"/>
          <p:nvPr/>
        </p:nvPicPr>
        <p:blipFill>
          <a:blip r:embed="rId3">
            <a:alphaModFix/>
          </a:blip>
          <a:stretch>
            <a:fillRect/>
          </a:stretch>
        </p:blipFill>
        <p:spPr>
          <a:xfrm>
            <a:off x="0" y="0"/>
            <a:ext cx="9144000" cy="5143516"/>
          </a:xfrm>
          <a:prstGeom prst="rect">
            <a:avLst/>
          </a:prstGeom>
          <a:noFill/>
          <a:ln>
            <a:noFill/>
          </a:ln>
        </p:spPr>
      </p:pic>
      <p:sp>
        <p:nvSpPr>
          <p:cNvPr id="430" name="Google Shape;430;p61"/>
          <p:cNvSpPr/>
          <p:nvPr/>
        </p:nvSpPr>
        <p:spPr>
          <a:xfrm>
            <a:off x="4528725" y="689275"/>
            <a:ext cx="3662100" cy="3765000"/>
          </a:xfrm>
          <a:prstGeom prst="rect">
            <a:avLst/>
          </a:prstGeom>
          <a:solidFill>
            <a:schemeClr val="lt2"/>
          </a:solidFill>
          <a:ln>
            <a:noFill/>
          </a:ln>
        </p:spPr>
        <p:txBody>
          <a:bodyPr anchorCtr="0" anchor="ctr" bIns="91425" lIns="274300"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Knowledge of governance, compliance, and BCP and DR is crucial context for all security professionals. </a:t>
            </a:r>
            <a:endParaRPr sz="1800">
              <a:solidFill>
                <a:schemeClr val="dk2"/>
              </a:solidFill>
              <a:latin typeface="Roboto"/>
              <a:ea typeface="Roboto"/>
              <a:cs typeface="Roboto"/>
              <a:sym typeface="Roboto"/>
            </a:endParaRPr>
          </a:p>
          <a:p>
            <a:pPr indent="0" lvl="0" marL="0" rtl="0" algn="l">
              <a:spcBef>
                <a:spcPts val="1000"/>
              </a:spcBef>
              <a:spcAft>
                <a:spcPts val="800"/>
              </a:spcAft>
              <a:buNone/>
            </a:pPr>
            <a:r>
              <a:rPr b="1" lang="en" sz="1800">
                <a:solidFill>
                  <a:schemeClr val="dk2"/>
                </a:solidFill>
                <a:latin typeface="Roboto"/>
                <a:ea typeface="Roboto"/>
                <a:cs typeface="Roboto"/>
                <a:sym typeface="Roboto"/>
              </a:rPr>
              <a:t>Most professional security work is mandated by governance policies and subject to compliance audits.</a:t>
            </a:r>
            <a:endParaRPr b="1" sz="1800">
              <a:solidFill>
                <a:schemeClr val="dk2"/>
              </a:solidFill>
              <a:latin typeface="Roboto"/>
              <a:ea typeface="Roboto"/>
              <a:cs typeface="Roboto"/>
              <a:sym typeface="Roboto"/>
            </a:endParaRPr>
          </a:p>
        </p:txBody>
      </p:sp>
      <p:sp>
        <p:nvSpPr>
          <p:cNvPr id="431" name="Google Shape;431;p61"/>
          <p:cNvSpPr txBox="1"/>
          <p:nvPr>
            <p:ph idx="12" type="sldNum"/>
          </p:nvPr>
        </p:nvSpPr>
        <p:spPr>
          <a:xfrm>
            <a:off x="8607775" y="4957200"/>
            <a:ext cx="261900" cy="105600"/>
          </a:xfrm>
          <a:prstGeom prst="rect">
            <a:avLst/>
          </a:prstGeom>
        </p:spPr>
        <p:txBody>
          <a:bodyPr anchorCtr="0" anchor="t" bIns="91425" lIns="0" spcFirstLastPara="1" rIns="0" wrap="square" tIns="0">
            <a:noAutofit/>
          </a:bodyPr>
          <a:lstStyle/>
          <a:p>
            <a:pPr indent="0" lvl="0" marL="0" rtl="0" algn="l">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2"/>
          <p:cNvSpPr/>
          <p:nvPr/>
        </p:nvSpPr>
        <p:spPr>
          <a:xfrm>
            <a:off x="1287175" y="11528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62"/>
          <p:cNvSpPr/>
          <p:nvPr/>
        </p:nvSpPr>
        <p:spPr>
          <a:xfrm>
            <a:off x="1287175" y="3894700"/>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62"/>
          <p:cNvSpPr/>
          <p:nvPr/>
        </p:nvSpPr>
        <p:spPr>
          <a:xfrm>
            <a:off x="1287175" y="32098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62"/>
          <p:cNvSpPr/>
          <p:nvPr/>
        </p:nvSpPr>
        <p:spPr>
          <a:xfrm>
            <a:off x="1287175" y="2528213"/>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62"/>
          <p:cNvSpPr/>
          <p:nvPr/>
        </p:nvSpPr>
        <p:spPr>
          <a:xfrm>
            <a:off x="1287175" y="18279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1" name="Google Shape;441;p62"/>
          <p:cNvGrpSpPr/>
          <p:nvPr/>
        </p:nvGrpSpPr>
        <p:grpSpPr>
          <a:xfrm>
            <a:off x="457200" y="1152830"/>
            <a:ext cx="776900" cy="459019"/>
            <a:chOff x="457200" y="1466425"/>
            <a:chExt cx="776900" cy="486300"/>
          </a:xfrm>
        </p:grpSpPr>
        <p:sp>
          <p:nvSpPr>
            <p:cNvPr id="442" name="Google Shape;442;p62"/>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443" name="Google Shape;443;p62"/>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44" name="Google Shape;444;p62"/>
          <p:cNvGrpSpPr/>
          <p:nvPr/>
        </p:nvGrpSpPr>
        <p:grpSpPr>
          <a:xfrm>
            <a:off x="457200" y="1807705"/>
            <a:ext cx="776900" cy="486300"/>
            <a:chOff x="457200" y="1466425"/>
            <a:chExt cx="776900" cy="486300"/>
          </a:xfrm>
        </p:grpSpPr>
        <p:sp>
          <p:nvSpPr>
            <p:cNvPr id="445" name="Google Shape;445;p62"/>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446" name="Google Shape;446;p62"/>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47" name="Google Shape;447;p62"/>
          <p:cNvGrpSpPr/>
          <p:nvPr/>
        </p:nvGrpSpPr>
        <p:grpSpPr>
          <a:xfrm>
            <a:off x="457200" y="2524560"/>
            <a:ext cx="776900" cy="437378"/>
            <a:chOff x="457200" y="1466425"/>
            <a:chExt cx="776900" cy="486300"/>
          </a:xfrm>
        </p:grpSpPr>
        <p:sp>
          <p:nvSpPr>
            <p:cNvPr id="448" name="Google Shape;448;p62"/>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449" name="Google Shape;449;p62"/>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50" name="Google Shape;450;p62"/>
          <p:cNvGrpSpPr/>
          <p:nvPr/>
        </p:nvGrpSpPr>
        <p:grpSpPr>
          <a:xfrm>
            <a:off x="457200" y="3208030"/>
            <a:ext cx="776900" cy="459019"/>
            <a:chOff x="457200" y="1466425"/>
            <a:chExt cx="776900" cy="486300"/>
          </a:xfrm>
        </p:grpSpPr>
        <p:sp>
          <p:nvSpPr>
            <p:cNvPr id="451" name="Google Shape;451;p62"/>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452" name="Google Shape;452;p62"/>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53" name="Google Shape;453;p62"/>
          <p:cNvGrpSpPr/>
          <p:nvPr/>
        </p:nvGrpSpPr>
        <p:grpSpPr>
          <a:xfrm>
            <a:off x="457200" y="3896585"/>
            <a:ext cx="776900" cy="437378"/>
            <a:chOff x="457200" y="1466425"/>
            <a:chExt cx="776900" cy="486300"/>
          </a:xfrm>
        </p:grpSpPr>
        <p:sp>
          <p:nvSpPr>
            <p:cNvPr id="454" name="Google Shape;454;p62"/>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05</a:t>
              </a:r>
              <a:endParaRPr b="0" i="0" sz="3000" u="none" cap="none" strike="noStrike">
                <a:solidFill>
                  <a:srgbClr val="FFFFFF"/>
                </a:solidFill>
                <a:latin typeface="Roboto"/>
                <a:ea typeface="Roboto"/>
                <a:cs typeface="Roboto"/>
                <a:sym typeface="Roboto"/>
              </a:endParaRPr>
            </a:p>
          </p:txBody>
        </p:sp>
        <p:sp>
          <p:nvSpPr>
            <p:cNvPr id="455" name="Google Shape;455;p62"/>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456" name="Google Shape;456;p62"/>
          <p:cNvSpPr txBox="1"/>
          <p:nvPr/>
        </p:nvSpPr>
        <p:spPr>
          <a:xfrm>
            <a:off x="1287250" y="1174200"/>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Codifying rules with policy and procedures</a:t>
            </a:r>
            <a:endParaRPr sz="1800">
              <a:solidFill>
                <a:srgbClr val="082D49"/>
              </a:solidFill>
              <a:latin typeface="Roboto"/>
              <a:ea typeface="Roboto"/>
              <a:cs typeface="Roboto"/>
              <a:sym typeface="Roboto"/>
            </a:endParaRPr>
          </a:p>
        </p:txBody>
      </p:sp>
      <p:sp>
        <p:nvSpPr>
          <p:cNvPr id="457" name="Google Shape;457;p62"/>
          <p:cNvSpPr txBox="1"/>
          <p:nvPr/>
        </p:nvSpPr>
        <p:spPr>
          <a:xfrm>
            <a:off x="1287250" y="1849378"/>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Using governance frameworks to guide policy decisions</a:t>
            </a:r>
            <a:endParaRPr sz="1800">
              <a:solidFill>
                <a:srgbClr val="082D49"/>
              </a:solidFill>
              <a:latin typeface="Roboto"/>
              <a:ea typeface="Roboto"/>
              <a:cs typeface="Roboto"/>
              <a:sym typeface="Roboto"/>
            </a:endParaRPr>
          </a:p>
        </p:txBody>
      </p:sp>
      <p:sp>
        <p:nvSpPr>
          <p:cNvPr id="458" name="Google Shape;458;p62"/>
          <p:cNvSpPr txBox="1"/>
          <p:nvPr/>
        </p:nvSpPr>
        <p:spPr>
          <a:xfrm>
            <a:off x="1287250" y="2533205"/>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Audit and compliance</a:t>
            </a:r>
            <a:endParaRPr sz="1800">
              <a:solidFill>
                <a:srgbClr val="082D49"/>
              </a:solidFill>
              <a:latin typeface="Roboto"/>
              <a:ea typeface="Roboto"/>
              <a:cs typeface="Roboto"/>
              <a:sym typeface="Roboto"/>
            </a:endParaRPr>
          </a:p>
        </p:txBody>
      </p:sp>
      <p:sp>
        <p:nvSpPr>
          <p:cNvPr id="459" name="Google Shape;459;p62"/>
          <p:cNvSpPr txBox="1"/>
          <p:nvPr/>
        </p:nvSpPr>
        <p:spPr>
          <a:xfrm>
            <a:off x="1287250" y="3214896"/>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BCP and DR</a:t>
            </a:r>
            <a:endParaRPr sz="1800">
              <a:solidFill>
                <a:srgbClr val="082D49"/>
              </a:solidFill>
              <a:latin typeface="Roboto"/>
              <a:ea typeface="Roboto"/>
              <a:cs typeface="Roboto"/>
              <a:sym typeface="Roboto"/>
            </a:endParaRPr>
          </a:p>
        </p:txBody>
      </p:sp>
      <p:sp>
        <p:nvSpPr>
          <p:cNvPr id="460" name="Google Shape;460;p62"/>
          <p:cNvSpPr txBox="1"/>
          <p:nvPr/>
        </p:nvSpPr>
        <p:spPr>
          <a:xfrm>
            <a:off x="1287250" y="3907998"/>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Developing BCP and DR recommendations for an organization</a:t>
            </a:r>
            <a:endParaRPr sz="1800">
              <a:solidFill>
                <a:srgbClr val="082D49"/>
              </a:solidFill>
              <a:latin typeface="Roboto"/>
              <a:ea typeface="Roboto"/>
              <a:cs typeface="Roboto"/>
              <a:sym typeface="Roboto"/>
            </a:endParaRPr>
          </a:p>
        </p:txBody>
      </p:sp>
      <p:sp>
        <p:nvSpPr>
          <p:cNvPr id="461" name="Google Shape;461;p62"/>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082D49"/>
                </a:solidFill>
                <a:latin typeface="Roboto"/>
                <a:ea typeface="Roboto"/>
                <a:cs typeface="Roboto"/>
                <a:sym typeface="Roboto"/>
              </a:rPr>
              <a:t>Lesson Breakdown</a:t>
            </a:r>
            <a:endParaRPr b="1" sz="2600">
              <a:solidFill>
                <a:srgbClr val="082D49"/>
              </a:solidFill>
              <a:latin typeface="Roboto"/>
              <a:ea typeface="Roboto"/>
              <a:cs typeface="Roboto"/>
              <a:sym typeface="Roboto"/>
            </a:endParaRPr>
          </a:p>
        </p:txBody>
      </p:sp>
      <p:sp>
        <p:nvSpPr>
          <p:cNvPr id="462" name="Google Shape;462;p62"/>
          <p:cNvSpPr txBox="1"/>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Today’s lesson will cover the following topics: </a:t>
            </a:r>
            <a:endParaRPr sz="1800">
              <a:solidFill>
                <a:srgbClr val="082D49"/>
              </a:solidFill>
              <a:latin typeface="Roboto"/>
              <a:ea typeface="Roboto"/>
              <a:cs typeface="Roboto"/>
              <a:sym typeface="Roboto"/>
            </a:endParaRPr>
          </a:p>
        </p:txBody>
      </p:sp>
      <p:cxnSp>
        <p:nvCxnSpPr>
          <p:cNvPr id="463" name="Google Shape;463;p62"/>
          <p:cNvCxnSpPr/>
          <p:nvPr/>
        </p:nvCxnSpPr>
        <p:spPr>
          <a:xfrm>
            <a:off x="-15750" y="9787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Clr>
                <a:schemeClr val="dk1"/>
              </a:buClr>
              <a:buSzPts val="1100"/>
              <a:buFont typeface="Arial"/>
              <a:buNone/>
            </a:pPr>
            <a:r>
              <a:rPr b="0" lang="en">
                <a:latin typeface="Roboto"/>
                <a:ea typeface="Roboto"/>
                <a:cs typeface="Roboto"/>
                <a:sym typeface="Roboto"/>
              </a:rPr>
              <a:t>Codifying Rules with</a:t>
            </a:r>
            <a:br>
              <a:rPr b="0" lang="en">
                <a:latin typeface="Roboto"/>
                <a:ea typeface="Roboto"/>
                <a:cs typeface="Roboto"/>
                <a:sym typeface="Roboto"/>
              </a:rPr>
            </a:br>
            <a:r>
              <a:rPr lang="en">
                <a:latin typeface="Roboto"/>
                <a:ea typeface="Roboto"/>
                <a:cs typeface="Roboto"/>
                <a:sym typeface="Roboto"/>
              </a:rPr>
              <a:t>Policy and Procedures</a:t>
            </a:r>
            <a:endParaRPr>
              <a:latin typeface="Roboto"/>
              <a:ea typeface="Roboto"/>
              <a:cs typeface="Roboto"/>
              <a:sym typeface="Roboto"/>
            </a:endParaRPr>
          </a:p>
          <a:p>
            <a:pPr indent="0" lvl="0" marL="0" rtl="0" algn="ctr">
              <a:spcBef>
                <a:spcPts val="0"/>
              </a:spcBef>
              <a:spcAft>
                <a:spcPts val="0"/>
              </a:spcAft>
              <a:buNone/>
            </a:pPr>
            <a:r>
              <a:t/>
            </a:r>
            <a:endParaRPr/>
          </a:p>
        </p:txBody>
      </p:sp>
      <p:pic>
        <p:nvPicPr>
          <p:cNvPr id="469" name="Google Shape;469;p63"/>
          <p:cNvPicPr preferRelativeResize="0"/>
          <p:nvPr/>
        </p:nvPicPr>
        <p:blipFill>
          <a:blip r:embed="rId3">
            <a:alphaModFix/>
          </a:blip>
          <a:stretch>
            <a:fillRect/>
          </a:stretch>
        </p:blipFill>
        <p:spPr>
          <a:xfrm>
            <a:off x="4008525" y="1686102"/>
            <a:ext cx="1020675" cy="100247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solidFill>
                  <a:schemeClr val="lt1"/>
                </a:solidFill>
                <a:latin typeface="Roboto"/>
                <a:ea typeface="Roboto"/>
                <a:cs typeface="Roboto"/>
                <a:sym typeface="Roboto"/>
              </a:rPr>
              <a:t>‹#›</a:t>
            </a:fld>
            <a:endParaRPr sz="600">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pic>
        <p:nvPicPr>
          <p:cNvPr id="479" name="Google Shape;479;p65"/>
          <p:cNvPicPr preferRelativeResize="0"/>
          <p:nvPr/>
        </p:nvPicPr>
        <p:blipFill rotWithShape="1">
          <a:blip r:embed="rId3">
            <a:alphaModFix/>
          </a:blip>
          <a:srcRect b="3209" l="0" r="6419" t="3209"/>
          <a:stretch/>
        </p:blipFill>
        <p:spPr>
          <a:xfrm>
            <a:off x="0" y="0"/>
            <a:ext cx="9144000" cy="5143503"/>
          </a:xfrm>
          <a:prstGeom prst="rect">
            <a:avLst/>
          </a:prstGeom>
          <a:noFill/>
          <a:ln>
            <a:noFill/>
          </a:ln>
        </p:spPr>
      </p:pic>
      <p:sp>
        <p:nvSpPr>
          <p:cNvPr id="480" name="Google Shape;480;p65"/>
          <p:cNvSpPr/>
          <p:nvPr/>
        </p:nvSpPr>
        <p:spPr>
          <a:xfrm>
            <a:off x="624875" y="692550"/>
            <a:ext cx="3240600" cy="3253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5"/>
          <p:cNvSpPr txBox="1"/>
          <p:nvPr>
            <p:ph idx="12" type="sldNum"/>
          </p:nvPr>
        </p:nvSpPr>
        <p:spPr>
          <a:xfrm>
            <a:off x="8607775" y="4957200"/>
            <a:ext cx="261900" cy="105600"/>
          </a:xfrm>
          <a:prstGeom prst="rect">
            <a:avLst/>
          </a:prstGeom>
        </p:spPr>
        <p:txBody>
          <a:bodyPr anchorCtr="0" anchor="t" bIns="91425" lIns="0" spcFirstLastPara="1" rIns="0" wrap="square" tIns="0">
            <a:noAutofit/>
          </a:bodyPr>
          <a:lstStyle/>
          <a:p>
            <a:pPr indent="0" lvl="0" marL="0" rtl="0" algn="l">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482" name="Google Shape;482;p65"/>
          <p:cNvSpPr txBox="1"/>
          <p:nvPr>
            <p:ph type="title"/>
          </p:nvPr>
        </p:nvSpPr>
        <p:spPr>
          <a:xfrm>
            <a:off x="835612" y="1571175"/>
            <a:ext cx="2808900" cy="17451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0" lang="en" sz="1800">
                <a:solidFill>
                  <a:schemeClr val="lt1"/>
                </a:solidFill>
                <a:latin typeface="Roboto"/>
                <a:ea typeface="Roboto"/>
                <a:cs typeface="Roboto"/>
                <a:sym typeface="Roboto"/>
              </a:rPr>
              <a:t>We began this week by developing a training plan to improve GeldCorp’s security culture by changing employee behavior.</a:t>
            </a:r>
            <a:endParaRPr b="0" sz="1800">
              <a:solidFill>
                <a:schemeClr val="lt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6"/>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Policy and Framework</a:t>
            </a:r>
            <a:endParaRPr>
              <a:solidFill>
                <a:schemeClr val="dk2"/>
              </a:solidFill>
            </a:endParaRPr>
          </a:p>
        </p:txBody>
      </p:sp>
      <p:sp>
        <p:nvSpPr>
          <p:cNvPr id="488" name="Google Shape;488;p66"/>
          <p:cNvSpPr txBox="1"/>
          <p:nvPr>
            <p:ph idx="1" type="subTitle"/>
          </p:nvPr>
        </p:nvSpPr>
        <p:spPr>
          <a:xfrm>
            <a:off x="463231" y="548650"/>
            <a:ext cx="8229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 developed training plans by setting goals and determining the steps necessary to achieve </a:t>
            </a:r>
            <a:r>
              <a:rPr lang="en"/>
              <a:t>them.</a:t>
            </a:r>
            <a:endParaRPr/>
          </a:p>
        </p:txBody>
      </p:sp>
      <p:sp>
        <p:nvSpPr>
          <p:cNvPr id="489" name="Google Shape;489;p66"/>
          <p:cNvSpPr txBox="1"/>
          <p:nvPr/>
        </p:nvSpPr>
        <p:spPr>
          <a:xfrm>
            <a:off x="457200" y="1279400"/>
            <a:ext cx="2660700" cy="1692900"/>
          </a:xfrm>
          <a:prstGeom prst="rect">
            <a:avLst/>
          </a:prstGeom>
          <a:solidFill>
            <a:schemeClr val="dk1"/>
          </a:solidFill>
          <a:ln>
            <a:noFill/>
          </a:ln>
        </p:spPr>
        <p:txBody>
          <a:bodyPr anchorCtr="0" anchor="t" bIns="0" lIns="182875" spcFirstLastPara="1" rIns="182875" wrap="square" tIns="182875">
            <a:noAutofit/>
          </a:bodyPr>
          <a:lstStyle/>
          <a:p>
            <a:pPr indent="0" lvl="0" marL="0" rtl="0" algn="l">
              <a:lnSpc>
                <a:spcPct val="115000"/>
              </a:lnSpc>
              <a:spcBef>
                <a:spcPts val="0"/>
              </a:spcBef>
              <a:spcAft>
                <a:spcPts val="0"/>
              </a:spcAft>
              <a:buClr>
                <a:srgbClr val="000000"/>
              </a:buClr>
              <a:buSzPts val="1100"/>
              <a:buFont typeface="Arial"/>
              <a:buNone/>
            </a:pPr>
            <a:r>
              <a:rPr lang="en">
                <a:solidFill>
                  <a:schemeClr val="lt1"/>
                </a:solidFill>
                <a:latin typeface="Roboto"/>
                <a:ea typeface="Roboto"/>
                <a:cs typeface="Roboto"/>
                <a:sym typeface="Roboto"/>
              </a:rPr>
              <a:t>The training plan prescribed a specific rule that employees should follow. </a:t>
            </a:r>
            <a:endParaRPr>
              <a:solidFill>
                <a:schemeClr val="lt1"/>
              </a:solidFill>
              <a:latin typeface="Roboto"/>
              <a:ea typeface="Roboto"/>
              <a:cs typeface="Roboto"/>
              <a:sym typeface="Roboto"/>
            </a:endParaRPr>
          </a:p>
        </p:txBody>
      </p:sp>
      <p:sp>
        <p:nvSpPr>
          <p:cNvPr id="490" name="Google Shape;490;p66"/>
          <p:cNvSpPr txBox="1"/>
          <p:nvPr/>
        </p:nvSpPr>
        <p:spPr>
          <a:xfrm>
            <a:off x="3294150" y="1279400"/>
            <a:ext cx="2660700" cy="1692900"/>
          </a:xfrm>
          <a:prstGeom prst="rect">
            <a:avLst/>
          </a:prstGeom>
          <a:solidFill>
            <a:schemeClr val="accent1"/>
          </a:solidFill>
          <a:ln>
            <a:noFill/>
          </a:ln>
        </p:spPr>
        <p:txBody>
          <a:bodyPr anchorCtr="0" anchor="t" bIns="0" lIns="182875" spcFirstLastPara="1" rIns="91425" wrap="square" tIns="182875">
            <a:noAutofit/>
          </a:bodyPr>
          <a:lstStyle/>
          <a:p>
            <a:pPr indent="0" lvl="0" marL="0" rtl="0" algn="l">
              <a:lnSpc>
                <a:spcPct val="115000"/>
              </a:lnSpc>
              <a:spcBef>
                <a:spcPts val="0"/>
              </a:spcBef>
              <a:spcAft>
                <a:spcPts val="0"/>
              </a:spcAft>
              <a:buClr>
                <a:srgbClr val="000000"/>
              </a:buClr>
              <a:buSzPts val="1100"/>
              <a:buFont typeface="Arial"/>
              <a:buNone/>
            </a:pPr>
            <a:r>
              <a:rPr lang="en">
                <a:solidFill>
                  <a:schemeClr val="dk2"/>
                </a:solidFill>
                <a:latin typeface="Roboto"/>
                <a:ea typeface="Roboto"/>
                <a:cs typeface="Roboto"/>
                <a:sym typeface="Roboto"/>
              </a:rPr>
              <a:t>This rule is an example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of a policy</a:t>
            </a:r>
            <a:r>
              <a:rPr lang="en">
                <a:solidFill>
                  <a:schemeClr val="dk2"/>
                </a:solidFill>
                <a:latin typeface="Roboto"/>
                <a:ea typeface="Roboto"/>
                <a:cs typeface="Roboto"/>
                <a:sym typeface="Roboto"/>
              </a:rPr>
              <a:t>—a</a:t>
            </a:r>
            <a:r>
              <a:rPr lang="en">
                <a:solidFill>
                  <a:schemeClr val="dk2"/>
                </a:solidFill>
                <a:latin typeface="Roboto"/>
                <a:ea typeface="Roboto"/>
                <a:cs typeface="Roboto"/>
                <a:sym typeface="Roboto"/>
              </a:rPr>
              <a:t> course or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principle of action proposed by a business. </a:t>
            </a:r>
            <a:endParaRPr>
              <a:solidFill>
                <a:schemeClr val="dk2"/>
              </a:solidFill>
              <a:latin typeface="Roboto"/>
              <a:ea typeface="Roboto"/>
              <a:cs typeface="Roboto"/>
              <a:sym typeface="Roboto"/>
            </a:endParaRPr>
          </a:p>
        </p:txBody>
      </p:sp>
      <p:sp>
        <p:nvSpPr>
          <p:cNvPr id="491" name="Google Shape;491;p66"/>
          <p:cNvSpPr txBox="1"/>
          <p:nvPr/>
        </p:nvSpPr>
        <p:spPr>
          <a:xfrm>
            <a:off x="6140425" y="1279400"/>
            <a:ext cx="2724600" cy="1692900"/>
          </a:xfrm>
          <a:prstGeom prst="rect">
            <a:avLst/>
          </a:prstGeom>
          <a:solidFill>
            <a:srgbClr val="043461"/>
          </a:solidFill>
          <a:ln>
            <a:noFill/>
          </a:ln>
        </p:spPr>
        <p:txBody>
          <a:bodyPr anchorCtr="0" anchor="t" bIns="0" lIns="182875" spcFirstLastPara="1" rIns="182875" wrap="square" tIns="18287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Roboto"/>
                <a:ea typeface="Roboto"/>
                <a:cs typeface="Roboto"/>
                <a:sym typeface="Roboto"/>
              </a:rPr>
              <a:t>The goal of defining and implementing a new download policy was to reduce employee click- through rate to less than 5%.</a:t>
            </a:r>
            <a:endParaRPr>
              <a:solidFill>
                <a:schemeClr val="lt1"/>
              </a:solidFill>
              <a:latin typeface="Roboto"/>
              <a:ea typeface="Roboto"/>
              <a:cs typeface="Roboto"/>
              <a:sym typeface="Roboto"/>
            </a:endParaRPr>
          </a:p>
          <a:p>
            <a:pPr indent="0" lvl="0" marL="0" rtl="0" algn="l">
              <a:lnSpc>
                <a:spcPct val="115000"/>
              </a:lnSpc>
              <a:spcBef>
                <a:spcPts val="0"/>
              </a:spcBef>
              <a:spcAft>
                <a:spcPts val="0"/>
              </a:spcAft>
              <a:buClr>
                <a:srgbClr val="000000"/>
              </a:buClr>
              <a:buSzPts val="1100"/>
              <a:buFont typeface="Arial"/>
              <a:buNone/>
            </a:pPr>
            <a:r>
              <a:t/>
            </a:r>
            <a:endParaRPr>
              <a:solidFill>
                <a:schemeClr val="lt1"/>
              </a:solidFill>
              <a:latin typeface="Roboto"/>
              <a:ea typeface="Roboto"/>
              <a:cs typeface="Roboto"/>
              <a:sym typeface="Roboto"/>
            </a:endParaRPr>
          </a:p>
        </p:txBody>
      </p:sp>
      <p:sp>
        <p:nvSpPr>
          <p:cNvPr id="492" name="Google Shape;492;p66"/>
          <p:cNvSpPr/>
          <p:nvPr/>
        </p:nvSpPr>
        <p:spPr>
          <a:xfrm flipH="1">
            <a:off x="457200" y="3135227"/>
            <a:ext cx="2660700" cy="1746000"/>
          </a:xfrm>
          <a:prstGeom prst="round2DiagRect">
            <a:avLst>
              <a:gd fmla="val 12999" name="adj1"/>
              <a:gd fmla="val 0" name="adj2"/>
            </a:avLst>
          </a:prstGeom>
          <a:solidFill>
            <a:schemeClr val="lt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For e</a:t>
            </a:r>
            <a:r>
              <a:rPr lang="en" sz="1800">
                <a:solidFill>
                  <a:schemeClr val="dk2"/>
                </a:solidFill>
                <a:latin typeface="Roboto"/>
                <a:ea typeface="Roboto"/>
                <a:cs typeface="Roboto"/>
                <a:sym typeface="Roboto"/>
              </a:rPr>
              <a:t>xample, </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“Do not click on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links in emails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leading outside the corporate intranet.”</a:t>
            </a:r>
            <a:endParaRPr sz="1800">
              <a:solidFill>
                <a:schemeClr val="dk2"/>
              </a:solidFill>
              <a:latin typeface="Roboto"/>
              <a:ea typeface="Roboto"/>
              <a:cs typeface="Roboto"/>
              <a:sym typeface="Roboto"/>
            </a:endParaRPr>
          </a:p>
        </p:txBody>
      </p:sp>
      <p:sp>
        <p:nvSpPr>
          <p:cNvPr id="493" name="Google Shape;493;p66"/>
          <p:cNvSpPr/>
          <p:nvPr/>
        </p:nvSpPr>
        <p:spPr>
          <a:xfrm flipH="1">
            <a:off x="3292725" y="3135227"/>
            <a:ext cx="2660700" cy="1746000"/>
          </a:xfrm>
          <a:prstGeom prst="round2DiagRect">
            <a:avLst>
              <a:gd fmla="val 12999" name="adj1"/>
              <a:gd fmla="val 0" name="adj2"/>
            </a:avLst>
          </a:prstGeom>
          <a:solidFill>
            <a:schemeClr val="lt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In this case,</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rule specifies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 download policy.</a:t>
            </a:r>
            <a:endParaRPr sz="1800">
              <a:solidFill>
                <a:schemeClr val="dk2"/>
              </a:solidFill>
              <a:latin typeface="Roboto"/>
              <a:ea typeface="Roboto"/>
              <a:cs typeface="Roboto"/>
              <a:sym typeface="Roboto"/>
            </a:endParaRPr>
          </a:p>
        </p:txBody>
      </p:sp>
      <p:sp>
        <p:nvSpPr>
          <p:cNvPr id="494" name="Google Shape;494;p66"/>
          <p:cNvSpPr/>
          <p:nvPr/>
        </p:nvSpPr>
        <p:spPr>
          <a:xfrm flipH="1">
            <a:off x="6150225" y="3135227"/>
            <a:ext cx="2660700" cy="1746000"/>
          </a:xfrm>
          <a:prstGeom prst="round2DiagRect">
            <a:avLst>
              <a:gd fmla="val 12999" name="adj1"/>
              <a:gd fmla="val 0" name="adj2"/>
            </a:avLst>
          </a:prstGeom>
          <a:solidFill>
            <a:schemeClr val="lt2"/>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In other words, </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business implemented a policy as a means of achieving a goal.</a:t>
            </a:r>
            <a:endParaRPr sz="1800">
              <a:solidFill>
                <a:schemeClr val="dk2"/>
              </a:solidFill>
              <a:latin typeface="Roboto"/>
              <a:ea typeface="Roboto"/>
              <a:cs typeface="Roboto"/>
              <a:sym typeface="Roboto"/>
            </a:endParaRPr>
          </a:p>
        </p:txBody>
      </p:sp>
      <p:sp>
        <p:nvSpPr>
          <p:cNvPr id="495" name="Google Shape;495;p66"/>
          <p:cNvSpPr/>
          <p:nvPr/>
        </p:nvSpPr>
        <p:spPr>
          <a:xfrm rot="10800000">
            <a:off x="1657032" y="2896788"/>
            <a:ext cx="261029" cy="144694"/>
          </a:xfrm>
          <a:prstGeom prst="flowChartExtra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6"/>
          <p:cNvSpPr/>
          <p:nvPr/>
        </p:nvSpPr>
        <p:spPr>
          <a:xfrm rot="10800000">
            <a:off x="4499182" y="2896788"/>
            <a:ext cx="261029" cy="144694"/>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6"/>
          <p:cNvSpPr/>
          <p:nvPr/>
        </p:nvSpPr>
        <p:spPr>
          <a:xfrm rot="10800000">
            <a:off x="7372219" y="289678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1" name="Shape 501"/>
        <p:cNvGrpSpPr/>
        <p:nvPr/>
      </p:nvGrpSpPr>
      <p:grpSpPr>
        <a:xfrm>
          <a:off x="0" y="0"/>
          <a:ext cx="0" cy="0"/>
          <a:chOff x="0" y="0"/>
          <a:chExt cx="0" cy="0"/>
        </a:xfrm>
      </p:grpSpPr>
      <p:sp>
        <p:nvSpPr>
          <p:cNvPr id="502" name="Google Shape;502;p67"/>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Policy and Framework</a:t>
            </a:r>
            <a:endParaRPr>
              <a:solidFill>
                <a:schemeClr val="dk2"/>
              </a:solidFill>
            </a:endParaRPr>
          </a:p>
        </p:txBody>
      </p:sp>
      <p:graphicFrame>
        <p:nvGraphicFramePr>
          <p:cNvPr id="503" name="Google Shape;503;p67"/>
          <p:cNvGraphicFramePr/>
          <p:nvPr/>
        </p:nvGraphicFramePr>
        <p:xfrm>
          <a:off x="373613" y="1217350"/>
          <a:ext cx="3000000" cy="3000000"/>
        </p:xfrm>
        <a:graphic>
          <a:graphicData uri="http://schemas.openxmlformats.org/drawingml/2006/table">
            <a:tbl>
              <a:tblPr>
                <a:noFill/>
                <a:tableStyleId>{77D82E05-C7B0-4494-ACDF-EB02A9E300EF}</a:tableStyleId>
              </a:tblPr>
              <a:tblGrid>
                <a:gridCol w="1593950"/>
                <a:gridCol w="3272225"/>
              </a:tblGrid>
              <a:tr h="664975">
                <a:tc>
                  <a:txBody>
                    <a:bodyPr/>
                    <a:lstStyle/>
                    <a:p>
                      <a:pPr indent="0" lvl="0" marL="0" rtl="0" algn="l">
                        <a:spcBef>
                          <a:spcPts val="0"/>
                        </a:spcBef>
                        <a:spcAft>
                          <a:spcPts val="200"/>
                        </a:spcAft>
                        <a:buNone/>
                      </a:pPr>
                      <a:r>
                        <a:rPr lang="en" sz="1800">
                          <a:solidFill>
                            <a:srgbClr val="FFFFFF"/>
                          </a:solidFill>
                          <a:latin typeface="Roboto Medium"/>
                          <a:ea typeface="Roboto Medium"/>
                          <a:cs typeface="Roboto Medium"/>
                          <a:sym typeface="Roboto Medium"/>
                        </a:rPr>
                        <a:t>Policy</a:t>
                      </a:r>
                      <a:endParaRPr sz="1800">
                        <a:solidFill>
                          <a:srgbClr val="FFFFFF"/>
                        </a:solidFill>
                        <a:latin typeface="Roboto Medium"/>
                        <a:ea typeface="Roboto Medium"/>
                        <a:cs typeface="Roboto Medium"/>
                        <a:sym typeface="Roboto Medium"/>
                      </a:endParaRPr>
                    </a:p>
                  </a:txBody>
                  <a:tcPr marT="182875" marB="22860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A rule that defines the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“right” behavior.</a:t>
                      </a:r>
                      <a:endParaRPr sz="1800">
                        <a:solidFill>
                          <a:schemeClr val="dk2"/>
                        </a:solidFill>
                        <a:latin typeface="Roboto"/>
                        <a:ea typeface="Roboto"/>
                        <a:cs typeface="Roboto"/>
                        <a:sym typeface="Roboto"/>
                      </a:endParaRPr>
                    </a:p>
                  </a:txBody>
                  <a:tcPr marT="182875" marB="22860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664975">
                <a:tc>
                  <a:txBody>
                    <a:bodyPr/>
                    <a:lstStyle/>
                    <a:p>
                      <a:pPr indent="0" lvl="0" marL="0" rtl="0" algn="l">
                        <a:spcBef>
                          <a:spcPts val="0"/>
                        </a:spcBef>
                        <a:spcAft>
                          <a:spcPts val="200"/>
                        </a:spcAft>
                        <a:buNone/>
                      </a:pPr>
                      <a:r>
                        <a:rPr lang="en" sz="1800">
                          <a:solidFill>
                            <a:srgbClr val="FFFFFF"/>
                          </a:solidFill>
                          <a:latin typeface="Roboto Medium"/>
                          <a:ea typeface="Roboto Medium"/>
                          <a:cs typeface="Roboto Medium"/>
                          <a:sym typeface="Roboto Medium"/>
                        </a:rPr>
                        <a:t>Governance Framework</a:t>
                      </a:r>
                      <a:endParaRPr sz="1800">
                        <a:solidFill>
                          <a:srgbClr val="FFFFFF"/>
                        </a:solidFill>
                        <a:latin typeface="Roboto Medium"/>
                        <a:ea typeface="Roboto Medium"/>
                        <a:cs typeface="Roboto Medium"/>
                        <a:sym typeface="Roboto Medium"/>
                      </a:endParaRPr>
                    </a:p>
                  </a:txBody>
                  <a:tcPr marT="182875" marB="22860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lnSpc>
                          <a:spcPct val="115000"/>
                        </a:lnSpc>
                        <a:spcBef>
                          <a:spcPts val="400"/>
                        </a:spcBef>
                        <a:spcAft>
                          <a:spcPts val="0"/>
                        </a:spcAft>
                        <a:buNone/>
                      </a:pPr>
                      <a:r>
                        <a:rPr lang="en" sz="1800">
                          <a:solidFill>
                            <a:schemeClr val="dk2"/>
                          </a:solidFill>
                          <a:latin typeface="Roboto"/>
                          <a:ea typeface="Roboto"/>
                          <a:cs typeface="Roboto"/>
                          <a:sym typeface="Roboto"/>
                        </a:rPr>
                        <a:t>Defines the policies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an organization must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have in place. </a:t>
                      </a:r>
                      <a:endParaRPr sz="1800">
                        <a:solidFill>
                          <a:schemeClr val="dk2"/>
                        </a:solidFill>
                        <a:latin typeface="Roboto"/>
                        <a:ea typeface="Roboto"/>
                        <a:cs typeface="Roboto"/>
                        <a:sym typeface="Roboto"/>
                      </a:endParaRPr>
                    </a:p>
                  </a:txBody>
                  <a:tcPr marT="182875" marB="228600"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sp>
        <p:nvSpPr>
          <p:cNvPr id="504" name="Google Shape;504;p67"/>
          <p:cNvSpPr/>
          <p:nvPr/>
        </p:nvSpPr>
        <p:spPr>
          <a:xfrm>
            <a:off x="5239800" y="1217500"/>
            <a:ext cx="197400" cy="10716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7"/>
          <p:cNvSpPr/>
          <p:nvPr/>
        </p:nvSpPr>
        <p:spPr>
          <a:xfrm>
            <a:off x="5239800" y="2289122"/>
            <a:ext cx="197400" cy="13701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7"/>
          <p:cNvSpPr txBox="1"/>
          <p:nvPr/>
        </p:nvSpPr>
        <p:spPr>
          <a:xfrm>
            <a:off x="5486400" y="1216511"/>
            <a:ext cx="2914800" cy="1015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400"/>
              </a:spcBef>
              <a:spcAft>
                <a:spcPts val="0"/>
              </a:spcAft>
              <a:buClr>
                <a:schemeClr val="dk1"/>
              </a:buClr>
              <a:buSzPts val="1100"/>
              <a:buFont typeface="Arial"/>
              <a:buNone/>
            </a:pPr>
            <a:r>
              <a:rPr lang="en" sz="1800">
                <a:solidFill>
                  <a:schemeClr val="dk2"/>
                </a:solidFill>
                <a:latin typeface="Roboto"/>
                <a:ea typeface="Roboto"/>
                <a:cs typeface="Roboto"/>
                <a:sym typeface="Roboto"/>
              </a:rPr>
              <a:t>Policies inform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standards for behavior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and operations. </a:t>
            </a:r>
            <a:endParaRPr sz="1800">
              <a:solidFill>
                <a:schemeClr val="dk2"/>
              </a:solidFill>
              <a:latin typeface="Roboto"/>
              <a:ea typeface="Roboto"/>
              <a:cs typeface="Roboto"/>
              <a:sym typeface="Roboto"/>
            </a:endParaRPr>
          </a:p>
        </p:txBody>
      </p:sp>
      <p:sp>
        <p:nvSpPr>
          <p:cNvPr id="507" name="Google Shape;507;p67"/>
          <p:cNvSpPr txBox="1"/>
          <p:nvPr/>
        </p:nvSpPr>
        <p:spPr>
          <a:xfrm>
            <a:off x="5486400" y="2236625"/>
            <a:ext cx="3200400" cy="1569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400"/>
              </a:spcBef>
              <a:spcAft>
                <a:spcPts val="0"/>
              </a:spcAft>
              <a:buNone/>
            </a:pPr>
            <a:r>
              <a:rPr lang="en" sz="1800">
                <a:solidFill>
                  <a:schemeClr val="dk2"/>
                </a:solidFill>
                <a:latin typeface="Roboto"/>
                <a:ea typeface="Roboto"/>
                <a:cs typeface="Roboto"/>
                <a:sym typeface="Roboto"/>
              </a:rPr>
              <a:t>Organizations must use these frameworks to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remain compliant with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federal regulations and industry standards. </a:t>
            </a:r>
            <a:endParaRPr sz="1800">
              <a:solidFill>
                <a:schemeClr val="dk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8"/>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13" name="Google Shape;513;p68"/>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14" name="Google Shape;514;p68"/>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15" name="Google Shape;515;p68"/>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8"/>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17" name="Google Shape;517;p68"/>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18" name="Google Shape;518;p68"/>
          <p:cNvSpPr txBox="1"/>
          <p:nvPr/>
        </p:nvSpPr>
        <p:spPr>
          <a:xfrm>
            <a:off x="465975" y="1329825"/>
            <a:ext cx="36492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Internal/Volitional</a:t>
            </a:r>
            <a:endParaRPr sz="1800">
              <a:solidFill>
                <a:srgbClr val="FFFFFF"/>
              </a:solidFill>
              <a:latin typeface="Roboto"/>
              <a:ea typeface="Roboto"/>
              <a:cs typeface="Roboto"/>
              <a:sym typeface="Roboto"/>
            </a:endParaRPr>
          </a:p>
        </p:txBody>
      </p:sp>
      <p:sp>
        <p:nvSpPr>
          <p:cNvPr id="519" name="Google Shape;519;p68"/>
          <p:cNvSpPr txBox="1"/>
          <p:nvPr/>
        </p:nvSpPr>
        <p:spPr>
          <a:xfrm>
            <a:off x="4900000" y="1329825"/>
            <a:ext cx="36492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External/Imposed</a:t>
            </a:r>
            <a:endParaRPr sz="1800">
              <a:solidFill>
                <a:srgbClr val="FFFFFF"/>
              </a:solidFill>
              <a:latin typeface="Roboto"/>
              <a:ea typeface="Roboto"/>
              <a:cs typeface="Roboto"/>
              <a:sym typeface="Roboto"/>
            </a:endParaRPr>
          </a:p>
        </p:txBody>
      </p:sp>
      <p:sp>
        <p:nvSpPr>
          <p:cNvPr id="520" name="Google Shape;520;p68"/>
          <p:cNvSpPr txBox="1"/>
          <p:nvPr/>
        </p:nvSpPr>
        <p:spPr>
          <a:xfrm>
            <a:off x="389775" y="2004350"/>
            <a:ext cx="4098000" cy="28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Targets that the business sets in its own interest </a:t>
            </a:r>
            <a:endParaRPr sz="1800">
              <a:solidFill>
                <a:schemeClr val="dk2"/>
              </a:solidFill>
              <a:latin typeface="Roboto"/>
              <a:ea typeface="Roboto"/>
              <a:cs typeface="Roboto"/>
              <a:sym typeface="Roboto"/>
            </a:endParaRPr>
          </a:p>
          <a:p>
            <a:pPr indent="0" lvl="0" marL="0" rtl="0" algn="l">
              <a:spcBef>
                <a:spcPts val="1000"/>
              </a:spcBef>
              <a:spcAft>
                <a:spcPts val="0"/>
              </a:spcAft>
              <a:buNone/>
            </a:pPr>
            <a:r>
              <a:rPr b="1" lang="en" sz="1800">
                <a:solidFill>
                  <a:schemeClr val="dk2"/>
                </a:solidFill>
                <a:latin typeface="Roboto"/>
                <a:ea typeface="Roboto"/>
                <a:cs typeface="Roboto"/>
                <a:sym typeface="Roboto"/>
              </a:rPr>
              <a:t>For example:</a:t>
            </a:r>
            <a:endParaRPr b="1" sz="1800">
              <a:solidFill>
                <a:schemeClr val="dk2"/>
              </a:solidFill>
              <a:latin typeface="Roboto"/>
              <a:ea typeface="Roboto"/>
              <a:cs typeface="Roboto"/>
              <a:sym typeface="Roboto"/>
            </a:endParaRPr>
          </a:p>
          <a:p>
            <a:pPr indent="0" lvl="0" marL="0" rtl="0" algn="l">
              <a:spcBef>
                <a:spcPts val="1000"/>
              </a:spcBef>
              <a:spcAft>
                <a:spcPts val="1000"/>
              </a:spcAft>
              <a:buNone/>
            </a:pPr>
            <a:r>
              <a:rPr lang="en" sz="1800">
                <a:solidFill>
                  <a:schemeClr val="dk2"/>
                </a:solidFill>
                <a:latin typeface="Roboto"/>
                <a:ea typeface="Roboto"/>
                <a:cs typeface="Roboto"/>
                <a:sym typeface="Roboto"/>
              </a:rPr>
              <a:t>An organization might aim to reduce long-term security expenses to less than $400,000.</a:t>
            </a:r>
            <a:endParaRPr sz="1800">
              <a:solidFill>
                <a:schemeClr val="dk2"/>
              </a:solidFill>
              <a:latin typeface="Roboto"/>
              <a:ea typeface="Roboto"/>
              <a:cs typeface="Roboto"/>
              <a:sym typeface="Roboto"/>
            </a:endParaRPr>
          </a:p>
        </p:txBody>
      </p:sp>
      <p:sp>
        <p:nvSpPr>
          <p:cNvPr id="521" name="Google Shape;521;p68"/>
          <p:cNvSpPr txBox="1"/>
          <p:nvPr/>
        </p:nvSpPr>
        <p:spPr>
          <a:xfrm>
            <a:off x="4823800" y="2004350"/>
            <a:ext cx="3900900" cy="28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Targets that the business must hit because it will suffer consequences if it does not</a:t>
            </a:r>
            <a:endParaRPr sz="1800">
              <a:solidFill>
                <a:schemeClr val="dk2"/>
              </a:solidFill>
              <a:latin typeface="Roboto"/>
              <a:ea typeface="Roboto"/>
              <a:cs typeface="Roboto"/>
              <a:sym typeface="Roboto"/>
            </a:endParaRPr>
          </a:p>
          <a:p>
            <a:pPr indent="0" lvl="0" marL="0" rtl="0" algn="l">
              <a:spcBef>
                <a:spcPts val="1000"/>
              </a:spcBef>
              <a:spcAft>
                <a:spcPts val="0"/>
              </a:spcAft>
              <a:buNone/>
            </a:pPr>
            <a:r>
              <a:rPr b="1" lang="en" sz="1800">
                <a:solidFill>
                  <a:schemeClr val="dk2"/>
                </a:solidFill>
                <a:latin typeface="Roboto"/>
                <a:ea typeface="Roboto"/>
                <a:cs typeface="Roboto"/>
                <a:sym typeface="Roboto"/>
              </a:rPr>
              <a:t>For example:</a:t>
            </a:r>
            <a:endParaRPr b="1" sz="1800">
              <a:solidFill>
                <a:schemeClr val="dk2"/>
              </a:solidFill>
              <a:latin typeface="Roboto"/>
              <a:ea typeface="Roboto"/>
              <a:cs typeface="Roboto"/>
              <a:sym typeface="Roboto"/>
            </a:endParaRPr>
          </a:p>
          <a:p>
            <a:pPr indent="0" lvl="0" marL="0" rtl="0" algn="l">
              <a:spcBef>
                <a:spcPts val="1000"/>
              </a:spcBef>
              <a:spcAft>
                <a:spcPts val="1000"/>
              </a:spcAft>
              <a:buNone/>
            </a:pPr>
            <a:r>
              <a:rPr lang="en" sz="1800">
                <a:solidFill>
                  <a:schemeClr val="dk2"/>
                </a:solidFill>
                <a:latin typeface="Roboto"/>
                <a:ea typeface="Roboto"/>
                <a:cs typeface="Roboto"/>
                <a:sym typeface="Roboto"/>
              </a:rPr>
              <a:t>The requirement that online merchants process all credit card transactions securely, or suffer legal penalties if a customer’s PII is breached.</a:t>
            </a:r>
            <a:endParaRPr sz="1800">
              <a:solidFill>
                <a:schemeClr val="dk2"/>
              </a:solidFill>
              <a:latin typeface="Roboto"/>
              <a:ea typeface="Roboto"/>
              <a:cs typeface="Roboto"/>
              <a:sym typeface="Roboto"/>
            </a:endParaRPr>
          </a:p>
        </p:txBody>
      </p:sp>
      <p:pic>
        <p:nvPicPr>
          <p:cNvPr id="522" name="Google Shape;522;p68"/>
          <p:cNvPicPr preferRelativeResize="0"/>
          <p:nvPr/>
        </p:nvPicPr>
        <p:blipFill rotWithShape="1">
          <a:blip r:embed="rId3">
            <a:alphaModFix/>
          </a:blip>
          <a:srcRect b="0" l="0" r="0" t="0"/>
          <a:stretch/>
        </p:blipFill>
        <p:spPr>
          <a:xfrm>
            <a:off x="4250420" y="1183050"/>
            <a:ext cx="827470" cy="3662574"/>
          </a:xfrm>
          <a:prstGeom prst="rect">
            <a:avLst/>
          </a:prstGeom>
          <a:noFill/>
          <a:ln>
            <a:noFill/>
          </a:ln>
        </p:spPr>
      </p:pic>
      <p:sp>
        <p:nvSpPr>
          <p:cNvPr id="523" name="Google Shape;523;p68"/>
          <p:cNvSpPr txBox="1"/>
          <p:nvPr>
            <p:ph idx="1" type="subTitle"/>
          </p:nvPr>
        </p:nvSpPr>
        <p:spPr>
          <a:xfrm>
            <a:off x="463225" y="548650"/>
            <a:ext cx="78198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Business goals often drive policy creation. The two main types of business goals are:</a:t>
            </a:r>
            <a:endParaRPr/>
          </a:p>
        </p:txBody>
      </p:sp>
      <p:sp>
        <p:nvSpPr>
          <p:cNvPr id="524" name="Google Shape;524;p68"/>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Business Goals and Policy Implementation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p69"/>
          <p:cNvPicPr preferRelativeResize="0"/>
          <p:nvPr/>
        </p:nvPicPr>
        <p:blipFill>
          <a:blip r:embed="rId3">
            <a:alphaModFix/>
          </a:blip>
          <a:stretch>
            <a:fillRect/>
          </a:stretch>
        </p:blipFill>
        <p:spPr>
          <a:xfrm>
            <a:off x="-12306" y="0"/>
            <a:ext cx="5146015" cy="5143502"/>
          </a:xfrm>
          <a:prstGeom prst="rect">
            <a:avLst/>
          </a:prstGeom>
          <a:noFill/>
          <a:ln>
            <a:noFill/>
          </a:ln>
        </p:spPr>
      </p:pic>
      <p:sp>
        <p:nvSpPr>
          <p:cNvPr id="530" name="Google Shape;530;p69"/>
          <p:cNvSpPr txBox="1"/>
          <p:nvPr>
            <p:ph type="title"/>
          </p:nvPr>
        </p:nvSpPr>
        <p:spPr>
          <a:xfrm>
            <a:off x="5310550" y="387875"/>
            <a:ext cx="3481500" cy="8169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sz="2200"/>
              <a:t>Internal Objectives </a:t>
            </a:r>
            <a:br>
              <a:rPr lang="en" sz="2200"/>
            </a:br>
            <a:r>
              <a:rPr lang="en" sz="2200"/>
              <a:t>and Policy Example</a:t>
            </a:r>
            <a:endParaRPr sz="2200"/>
          </a:p>
        </p:txBody>
      </p:sp>
      <p:sp>
        <p:nvSpPr>
          <p:cNvPr id="531" name="Google Shape;531;p69"/>
          <p:cNvSpPr txBox="1"/>
          <p:nvPr/>
        </p:nvSpPr>
        <p:spPr>
          <a:xfrm rot="-539367">
            <a:off x="819818" y="1883021"/>
            <a:ext cx="2336600" cy="1292961"/>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1800">
                <a:solidFill>
                  <a:schemeClr val="dk2"/>
                </a:solidFill>
                <a:latin typeface="Roboto"/>
                <a:ea typeface="Roboto"/>
                <a:cs typeface="Roboto"/>
                <a:sym typeface="Roboto"/>
              </a:rPr>
              <a:t>GOAL</a:t>
            </a:r>
            <a:endParaRPr b="1" sz="1800">
              <a:solidFill>
                <a:schemeClr val="dk2"/>
              </a:solidFill>
              <a:latin typeface="Roboto"/>
              <a:ea typeface="Roboto"/>
              <a:cs typeface="Roboto"/>
              <a:sym typeface="Roboto"/>
            </a:endParaRPr>
          </a:p>
          <a:p>
            <a:pPr indent="0" lvl="0" marL="0" rtl="0" algn="ctr">
              <a:lnSpc>
                <a:spcPct val="80000"/>
              </a:lnSpc>
              <a:spcBef>
                <a:spcPts val="0"/>
              </a:spcBef>
              <a:spcAft>
                <a:spcPts val="0"/>
              </a:spcAft>
              <a:buNone/>
            </a:pPr>
            <a:r>
              <a:rPr lang="en" sz="1800">
                <a:solidFill>
                  <a:schemeClr val="dk2"/>
                </a:solidFill>
                <a:latin typeface="Roboto"/>
                <a:ea typeface="Roboto"/>
                <a:cs typeface="Roboto"/>
                <a:sym typeface="Roboto"/>
              </a:rPr>
              <a:t>Reduce unauthorized root-level login incidents on Domain Controllers to 0.</a:t>
            </a:r>
            <a:endParaRPr sz="1800">
              <a:solidFill>
                <a:schemeClr val="dk2"/>
              </a:solidFill>
              <a:latin typeface="Roboto"/>
              <a:ea typeface="Roboto"/>
              <a:cs typeface="Roboto"/>
              <a:sym typeface="Roboto"/>
            </a:endParaRPr>
          </a:p>
        </p:txBody>
      </p:sp>
      <p:sp>
        <p:nvSpPr>
          <p:cNvPr id="532" name="Google Shape;532;p69"/>
          <p:cNvSpPr txBox="1"/>
          <p:nvPr>
            <p:ph idx="1" type="body"/>
          </p:nvPr>
        </p:nvSpPr>
        <p:spPr>
          <a:xfrm>
            <a:off x="5385825" y="1271325"/>
            <a:ext cx="3406200" cy="939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An organization would hand this goal to the IT team, which would be responsible for determining how best to implement it.</a:t>
            </a:r>
            <a:endParaRPr/>
          </a:p>
        </p:txBody>
      </p:sp>
      <p:sp>
        <p:nvSpPr>
          <p:cNvPr id="533" name="Google Shape;533;p69"/>
          <p:cNvSpPr txBox="1"/>
          <p:nvPr>
            <p:ph idx="4294967295" type="subTitle"/>
          </p:nvPr>
        </p:nvSpPr>
        <p:spPr>
          <a:xfrm>
            <a:off x="5385825" y="2669575"/>
            <a:ext cx="3406200" cy="1353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latin typeface="Roboto"/>
                <a:ea typeface="Roboto"/>
                <a:cs typeface="Roboto"/>
                <a:sym typeface="Roboto"/>
              </a:rPr>
              <a:t>One possible implementation:</a:t>
            </a:r>
            <a:endParaRPr b="1">
              <a:latin typeface="Roboto"/>
              <a:ea typeface="Roboto"/>
              <a:cs typeface="Roboto"/>
              <a:sym typeface="Roboto"/>
            </a:endParaRPr>
          </a:p>
          <a:p>
            <a:pPr indent="0" lvl="0" marL="0" rtl="0" algn="l">
              <a:spcBef>
                <a:spcPts val="300"/>
              </a:spcBef>
              <a:spcAft>
                <a:spcPts val="0"/>
              </a:spcAft>
              <a:buNone/>
            </a:pPr>
            <a:r>
              <a:rPr lang="en"/>
              <a:t>Require all domain administrators to use strong passwords and create a new password every month.</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0"/>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70"/>
          <p:cNvSpPr txBox="1"/>
          <p:nvPr/>
        </p:nvSpPr>
        <p:spPr>
          <a:xfrm>
            <a:off x="714900" y="127400"/>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Internal Objectives and Polic</a:t>
            </a:r>
            <a:r>
              <a:rPr b="1" lang="en" sz="2600">
                <a:solidFill>
                  <a:schemeClr val="dk2"/>
                </a:solidFill>
                <a:latin typeface="Roboto"/>
                <a:ea typeface="Roboto"/>
                <a:cs typeface="Roboto"/>
                <a:sym typeface="Roboto"/>
              </a:rPr>
              <a:t>y</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Implementing a strong password policy might require that administrators c</a:t>
            </a:r>
            <a:r>
              <a:rPr lang="en" sz="1800">
                <a:solidFill>
                  <a:schemeClr val="dk2"/>
                </a:solidFill>
                <a:latin typeface="Roboto"/>
                <a:ea typeface="Roboto"/>
                <a:cs typeface="Roboto"/>
                <a:sym typeface="Roboto"/>
              </a:rPr>
              <a:t>r</a:t>
            </a:r>
            <a:r>
              <a:rPr lang="en" sz="1800">
                <a:solidFill>
                  <a:schemeClr val="dk2"/>
                </a:solidFill>
                <a:latin typeface="Roboto"/>
                <a:ea typeface="Roboto"/>
                <a:cs typeface="Roboto"/>
                <a:sym typeface="Roboto"/>
              </a:rPr>
              <a:t>eate passwords with:</a:t>
            </a:r>
            <a:endParaRPr sz="1800">
              <a:solidFill>
                <a:schemeClr val="dk2"/>
              </a:solidFill>
              <a:latin typeface="Roboto"/>
              <a:ea typeface="Roboto"/>
              <a:cs typeface="Roboto"/>
              <a:sym typeface="Roboto"/>
            </a:endParaRPr>
          </a:p>
        </p:txBody>
      </p:sp>
      <p:sp>
        <p:nvSpPr>
          <p:cNvPr id="540" name="Google Shape;540;p70"/>
          <p:cNvSpPr/>
          <p:nvPr/>
        </p:nvSpPr>
        <p:spPr>
          <a:xfrm>
            <a:off x="108875" y="206473"/>
            <a:ext cx="627000" cy="6270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50">
              <a:solidFill>
                <a:srgbClr val="082D49"/>
              </a:solidFill>
            </a:endParaRPr>
          </a:p>
        </p:txBody>
      </p:sp>
      <p:pic>
        <p:nvPicPr>
          <p:cNvPr id="541" name="Google Shape;541;p70"/>
          <p:cNvPicPr preferRelativeResize="0"/>
          <p:nvPr/>
        </p:nvPicPr>
        <p:blipFill>
          <a:blip r:embed="rId3">
            <a:alphaModFix/>
          </a:blip>
          <a:stretch>
            <a:fillRect/>
          </a:stretch>
        </p:blipFill>
        <p:spPr>
          <a:xfrm>
            <a:off x="222738" y="367562"/>
            <a:ext cx="399275" cy="304825"/>
          </a:xfrm>
          <a:prstGeom prst="rect">
            <a:avLst/>
          </a:prstGeom>
          <a:noFill/>
          <a:ln>
            <a:noFill/>
          </a:ln>
        </p:spPr>
      </p:pic>
      <p:sp>
        <p:nvSpPr>
          <p:cNvPr id="542" name="Google Shape;542;p70"/>
          <p:cNvSpPr/>
          <p:nvPr/>
        </p:nvSpPr>
        <p:spPr>
          <a:xfrm>
            <a:off x="607675" y="151562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70"/>
          <p:cNvSpPr/>
          <p:nvPr/>
        </p:nvSpPr>
        <p:spPr>
          <a:xfrm>
            <a:off x="607675" y="42593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70"/>
          <p:cNvSpPr/>
          <p:nvPr/>
        </p:nvSpPr>
        <p:spPr>
          <a:xfrm>
            <a:off x="607675" y="35733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70"/>
          <p:cNvSpPr/>
          <p:nvPr/>
        </p:nvSpPr>
        <p:spPr>
          <a:xfrm>
            <a:off x="607675" y="288747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70"/>
          <p:cNvSpPr/>
          <p:nvPr/>
        </p:nvSpPr>
        <p:spPr>
          <a:xfrm>
            <a:off x="607675" y="22015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70"/>
          <p:cNvSpPr/>
          <p:nvPr/>
        </p:nvSpPr>
        <p:spPr>
          <a:xfrm>
            <a:off x="457200" y="151567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48" name="Google Shape;548;p70"/>
          <p:cNvSpPr/>
          <p:nvPr/>
        </p:nvSpPr>
        <p:spPr>
          <a:xfrm>
            <a:off x="457200" y="220158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49" name="Google Shape;549;p70"/>
          <p:cNvSpPr/>
          <p:nvPr/>
        </p:nvSpPr>
        <p:spPr>
          <a:xfrm>
            <a:off x="457200" y="2887500"/>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50" name="Google Shape;550;p70"/>
          <p:cNvSpPr/>
          <p:nvPr/>
        </p:nvSpPr>
        <p:spPr>
          <a:xfrm>
            <a:off x="457200" y="357341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1" name="Google Shape;551;p70"/>
          <p:cNvSpPr/>
          <p:nvPr/>
        </p:nvSpPr>
        <p:spPr>
          <a:xfrm>
            <a:off x="457200" y="425932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52" name="Google Shape;552;p70"/>
          <p:cNvSpPr txBox="1"/>
          <p:nvPr/>
        </p:nvSpPr>
        <p:spPr>
          <a:xfrm>
            <a:off x="914400" y="156232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At least 16 characters.</a:t>
            </a:r>
            <a:endParaRPr sz="1800">
              <a:solidFill>
                <a:srgbClr val="082D49"/>
              </a:solidFill>
              <a:latin typeface="Roboto"/>
              <a:ea typeface="Roboto"/>
              <a:cs typeface="Roboto"/>
              <a:sym typeface="Roboto"/>
            </a:endParaRPr>
          </a:p>
        </p:txBody>
      </p:sp>
      <p:sp>
        <p:nvSpPr>
          <p:cNvPr id="553" name="Google Shape;553;p70"/>
          <p:cNvSpPr txBox="1"/>
          <p:nvPr/>
        </p:nvSpPr>
        <p:spPr>
          <a:xfrm>
            <a:off x="914400" y="224786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At least one letter and one number.</a:t>
            </a:r>
            <a:endParaRPr sz="1800">
              <a:solidFill>
                <a:srgbClr val="082D49"/>
              </a:solidFill>
              <a:latin typeface="Roboto"/>
              <a:ea typeface="Roboto"/>
              <a:cs typeface="Roboto"/>
              <a:sym typeface="Roboto"/>
            </a:endParaRPr>
          </a:p>
        </p:txBody>
      </p:sp>
      <p:sp>
        <p:nvSpPr>
          <p:cNvPr id="554" name="Google Shape;554;p70"/>
          <p:cNvSpPr txBox="1"/>
          <p:nvPr/>
        </p:nvSpPr>
        <p:spPr>
          <a:xfrm>
            <a:off x="914400" y="2933398"/>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At least one special character (', (, ], etc.).</a:t>
            </a:r>
            <a:endParaRPr sz="1800">
              <a:solidFill>
                <a:srgbClr val="082D49"/>
              </a:solidFill>
              <a:latin typeface="Roboto"/>
              <a:ea typeface="Roboto"/>
              <a:cs typeface="Roboto"/>
              <a:sym typeface="Roboto"/>
            </a:endParaRPr>
          </a:p>
        </p:txBody>
      </p:sp>
      <p:sp>
        <p:nvSpPr>
          <p:cNvPr id="555" name="Google Shape;555;p70"/>
          <p:cNvSpPr txBox="1"/>
          <p:nvPr/>
        </p:nvSpPr>
        <p:spPr>
          <a:xfrm>
            <a:off x="914400" y="361893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No portion of the administrator’s username.</a:t>
            </a:r>
            <a:endParaRPr sz="1800">
              <a:solidFill>
                <a:srgbClr val="082D49"/>
              </a:solidFill>
              <a:latin typeface="Roboto"/>
              <a:ea typeface="Roboto"/>
              <a:cs typeface="Roboto"/>
              <a:sym typeface="Roboto"/>
            </a:endParaRPr>
          </a:p>
        </p:txBody>
      </p:sp>
      <p:sp>
        <p:nvSpPr>
          <p:cNvPr id="556" name="Google Shape;556;p70"/>
          <p:cNvSpPr txBox="1"/>
          <p:nvPr/>
        </p:nvSpPr>
        <p:spPr>
          <a:xfrm>
            <a:off x="914400" y="430447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Required monthly updates.</a:t>
            </a:r>
            <a:endParaRPr sz="1800">
              <a:solidFill>
                <a:srgbClr val="082D49"/>
              </a:solidFill>
              <a:latin typeface="Roboto"/>
              <a:ea typeface="Roboto"/>
              <a:cs typeface="Roboto"/>
              <a:sym typeface="Roboto"/>
            </a:endParaRPr>
          </a:p>
        </p:txBody>
      </p:sp>
      <p:cxnSp>
        <p:nvCxnSpPr>
          <p:cNvPr id="557" name="Google Shape;557;p70"/>
          <p:cNvCxnSpPr/>
          <p:nvPr/>
        </p:nvCxnSpPr>
        <p:spPr>
          <a:xfrm>
            <a:off x="-9375" y="1276250"/>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pic>
        <p:nvPicPr>
          <p:cNvPr id="562" name="Google Shape;562;p71"/>
          <p:cNvPicPr preferRelativeResize="0"/>
          <p:nvPr/>
        </p:nvPicPr>
        <p:blipFill rotWithShape="1">
          <a:blip r:embed="rId3">
            <a:alphaModFix/>
          </a:blip>
          <a:srcRect b="0" l="0" r="18580" t="31299"/>
          <a:stretch/>
        </p:blipFill>
        <p:spPr>
          <a:xfrm>
            <a:off x="0" y="0"/>
            <a:ext cx="9144000" cy="5143498"/>
          </a:xfrm>
          <a:prstGeom prst="rect">
            <a:avLst/>
          </a:prstGeom>
          <a:noFill/>
          <a:ln>
            <a:noFill/>
          </a:ln>
        </p:spPr>
      </p:pic>
      <p:sp>
        <p:nvSpPr>
          <p:cNvPr id="563" name="Google Shape;563;p71"/>
          <p:cNvSpPr txBox="1"/>
          <p:nvPr>
            <p:ph idx="1" type="subTitle"/>
          </p:nvPr>
        </p:nvSpPr>
        <p:spPr>
          <a:xfrm>
            <a:off x="104425" y="461225"/>
            <a:ext cx="4924800" cy="4091400"/>
          </a:xfrm>
          <a:prstGeom prst="rect">
            <a:avLst/>
          </a:prstGeom>
        </p:spPr>
        <p:txBody>
          <a:bodyPr anchorCtr="0" anchor="t" bIns="0" lIns="457200" spcFirstLastPara="1" rIns="457200" wrap="square" tIns="91425">
            <a:noAutofit/>
          </a:bodyPr>
          <a:lstStyle/>
          <a:p>
            <a:pPr indent="0" lvl="0" marL="0" rtl="0" algn="l">
              <a:lnSpc>
                <a:spcPct val="100000"/>
              </a:lnSpc>
              <a:spcBef>
                <a:spcPts val="0"/>
              </a:spcBef>
              <a:spcAft>
                <a:spcPts val="0"/>
              </a:spcAft>
              <a:buNone/>
            </a:pPr>
            <a:r>
              <a:rPr b="1" lang="en" sz="2400">
                <a:solidFill>
                  <a:schemeClr val="dk2"/>
                </a:solidFill>
              </a:rPr>
              <a:t>This </a:t>
            </a:r>
            <a:r>
              <a:rPr b="1" lang="en" sz="2400"/>
              <a:t>P</a:t>
            </a:r>
            <a:r>
              <a:rPr b="1" lang="en" sz="2400">
                <a:solidFill>
                  <a:schemeClr val="dk2"/>
                </a:solidFill>
              </a:rPr>
              <a:t>olicy </a:t>
            </a:r>
            <a:r>
              <a:rPr b="1" lang="en" sz="2400"/>
              <a:t>D</a:t>
            </a:r>
            <a:r>
              <a:rPr b="1" lang="en" sz="2400">
                <a:solidFill>
                  <a:schemeClr val="dk2"/>
                </a:solidFill>
              </a:rPr>
              <a:t>efines </a:t>
            </a:r>
            <a:r>
              <a:rPr b="1" lang="en" sz="2400"/>
              <a:t>C</a:t>
            </a:r>
            <a:r>
              <a:rPr b="1" lang="en" sz="2400">
                <a:solidFill>
                  <a:schemeClr val="dk2"/>
                </a:solidFill>
              </a:rPr>
              <a:t>lear </a:t>
            </a:r>
            <a:r>
              <a:rPr b="1" lang="en" sz="2400"/>
              <a:t>S</a:t>
            </a:r>
            <a:r>
              <a:rPr b="1" lang="en" sz="2400">
                <a:solidFill>
                  <a:schemeClr val="dk2"/>
                </a:solidFill>
              </a:rPr>
              <a:t>tandards of </a:t>
            </a:r>
            <a:r>
              <a:rPr b="1" lang="en" sz="2400"/>
              <a:t>B</a:t>
            </a:r>
            <a:r>
              <a:rPr b="1" lang="en" sz="2400">
                <a:solidFill>
                  <a:schemeClr val="dk2"/>
                </a:solidFill>
              </a:rPr>
              <a:t>ehavior</a:t>
            </a:r>
            <a:endParaRPr b="1">
              <a:solidFill>
                <a:schemeClr val="dk2"/>
              </a:solidFill>
            </a:endParaRPr>
          </a:p>
          <a:p>
            <a:pPr indent="-205740" lvl="0" marL="320040" rtl="0" algn="l">
              <a:lnSpc>
                <a:spcPct val="115000"/>
              </a:lnSpc>
              <a:spcBef>
                <a:spcPts val="1600"/>
              </a:spcBef>
              <a:spcAft>
                <a:spcPts val="0"/>
              </a:spcAft>
              <a:buClr>
                <a:schemeClr val="dk2"/>
              </a:buClr>
              <a:buSzPts val="1800"/>
              <a:buChar char="●"/>
            </a:pPr>
            <a:r>
              <a:rPr lang="en">
                <a:solidFill>
                  <a:schemeClr val="dk2"/>
                </a:solidFill>
              </a:rPr>
              <a:t>Administrators must follow very specific rules for their passwords. Their computers will also enforce these rules. </a:t>
            </a:r>
            <a:endParaRPr>
              <a:solidFill>
                <a:schemeClr val="dk2"/>
              </a:solidFill>
            </a:endParaRPr>
          </a:p>
          <a:p>
            <a:pPr indent="-205740" lvl="0" marL="320040" rtl="0" algn="l">
              <a:lnSpc>
                <a:spcPct val="115000"/>
              </a:lnSpc>
              <a:spcBef>
                <a:spcPts val="1000"/>
              </a:spcBef>
              <a:spcAft>
                <a:spcPts val="0"/>
              </a:spcAft>
              <a:buClr>
                <a:schemeClr val="dk2"/>
              </a:buClr>
              <a:buSzPts val="1800"/>
              <a:buChar char="●"/>
            </a:pPr>
            <a:r>
              <a:rPr lang="en">
                <a:solidFill>
                  <a:schemeClr val="dk2"/>
                </a:solidFill>
              </a:rPr>
              <a:t>These rules are specifically designed to achieve the goal </a:t>
            </a:r>
            <a:br>
              <a:rPr lang="en">
                <a:solidFill>
                  <a:schemeClr val="dk2"/>
                </a:solidFill>
              </a:rPr>
            </a:br>
            <a:r>
              <a:rPr lang="en">
                <a:solidFill>
                  <a:schemeClr val="dk2"/>
                </a:solidFill>
              </a:rPr>
              <a:t>of reducing the incidence of unauthorized root-level logins </a:t>
            </a:r>
            <a:br>
              <a:rPr lang="en">
                <a:solidFill>
                  <a:schemeClr val="dk2"/>
                </a:solidFill>
              </a:rPr>
            </a:br>
            <a:r>
              <a:rPr lang="en">
                <a:solidFill>
                  <a:schemeClr val="dk2"/>
                </a:solidFill>
              </a:rPr>
              <a:t>on domain controllers to</a:t>
            </a:r>
            <a:r>
              <a:rPr lang="en">
                <a:solidFill>
                  <a:schemeClr val="dk2"/>
                </a:solidFill>
              </a:rPr>
              <a:t> </a:t>
            </a:r>
            <a:r>
              <a:rPr lang="en"/>
              <a:t>zero</a:t>
            </a:r>
            <a:r>
              <a:rPr lang="en">
                <a:solidFill>
                  <a:schemeClr val="dk2"/>
                </a:solidFill>
              </a:rPr>
              <a:t>.</a:t>
            </a:r>
            <a:endParaRPr>
              <a:solidFill>
                <a:schemeClr val="dk2"/>
              </a:solidFill>
            </a:endParaRPr>
          </a:p>
          <a:p>
            <a:pPr indent="0" lvl="0" marL="0" rtl="0" algn="l">
              <a:lnSpc>
                <a:spcPct val="100000"/>
              </a:lnSpc>
              <a:spcBef>
                <a:spcPts val="1600"/>
              </a:spcBef>
              <a:spcAft>
                <a:spcPts val="0"/>
              </a:spcAft>
              <a:buNone/>
            </a:pPr>
            <a:r>
              <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2"/>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569" name="Google Shape;569;p72"/>
          <p:cNvSpPr txBox="1"/>
          <p:nvPr>
            <p:ph type="title"/>
          </p:nvPr>
        </p:nvSpPr>
        <p:spPr>
          <a:xfrm>
            <a:off x="-12300" y="0"/>
            <a:ext cx="4464000" cy="10248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Password Policy: </a:t>
            </a:r>
            <a:r>
              <a:rPr lang="en"/>
              <a:t>Example</a:t>
            </a:r>
            <a:r>
              <a:rPr lang="en"/>
              <a:t> </a:t>
            </a:r>
            <a:r>
              <a:rPr b="0" lang="en" sz="1800">
                <a:latin typeface="Roboto"/>
                <a:ea typeface="Roboto"/>
                <a:cs typeface="Roboto"/>
                <a:sym typeface="Roboto"/>
              </a:rPr>
              <a:t>Part 1 </a:t>
            </a:r>
            <a:endParaRPr b="0" sz="1800">
              <a:latin typeface="Roboto"/>
              <a:ea typeface="Roboto"/>
              <a:cs typeface="Roboto"/>
              <a:sym typeface="Roboto"/>
            </a:endParaRPr>
          </a:p>
        </p:txBody>
      </p:sp>
      <p:sp>
        <p:nvSpPr>
          <p:cNvPr id="570" name="Google Shape;570;p72"/>
          <p:cNvSpPr/>
          <p:nvPr/>
        </p:nvSpPr>
        <p:spPr>
          <a:xfrm>
            <a:off x="669000" y="927100"/>
            <a:ext cx="7806000" cy="4216200"/>
          </a:xfrm>
          <a:prstGeom prst="rect">
            <a:avLst/>
          </a:prstGeom>
          <a:gradFill>
            <a:gsLst>
              <a:gs pos="0">
                <a:srgbClr val="FFFFFF"/>
              </a:gs>
              <a:gs pos="48000">
                <a:srgbClr val="FFFFFF"/>
              </a:gs>
              <a:gs pos="90000">
                <a:srgbClr val="EEEEEE"/>
              </a:gs>
              <a:gs pos="100000">
                <a:srgbClr val="E6E6E6"/>
              </a:gs>
            </a:gsLst>
            <a:lin ang="5400012" scaled="0"/>
          </a:gradFill>
          <a:ln>
            <a:noFill/>
          </a:ln>
          <a:effectLst>
            <a:outerShdw blurRad="385763" rotWithShape="0" algn="bl" dir="9660000" dist="19050">
              <a:srgbClr val="000000">
                <a:alpha val="1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2"/>
          <p:cNvSpPr txBox="1"/>
          <p:nvPr/>
        </p:nvSpPr>
        <p:spPr>
          <a:xfrm>
            <a:off x="5220475" y="961200"/>
            <a:ext cx="3263100" cy="567300"/>
          </a:xfrm>
          <a:prstGeom prst="rect">
            <a:avLst/>
          </a:prstGeom>
          <a:solidFill>
            <a:schemeClr val="lt1"/>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solidFill>
                  <a:schemeClr val="accent3"/>
                </a:solidFill>
                <a:latin typeface="Roboto Medium"/>
                <a:ea typeface="Roboto Medium"/>
                <a:cs typeface="Roboto Medium"/>
                <a:sym typeface="Roboto Medium"/>
              </a:rPr>
              <a:t>CONFIDENTIAL DOCUMENT</a:t>
            </a:r>
            <a:endParaRPr sz="1800">
              <a:solidFill>
                <a:schemeClr val="accent3"/>
              </a:solidFill>
              <a:latin typeface="Roboto Medium"/>
              <a:ea typeface="Roboto Medium"/>
              <a:cs typeface="Roboto Medium"/>
              <a:sym typeface="Roboto Medium"/>
            </a:endParaRPr>
          </a:p>
        </p:txBody>
      </p:sp>
      <p:sp>
        <p:nvSpPr>
          <p:cNvPr id="572" name="Google Shape;572;p72"/>
          <p:cNvSpPr txBox="1"/>
          <p:nvPr>
            <p:ph idx="3" type="body"/>
          </p:nvPr>
        </p:nvSpPr>
        <p:spPr>
          <a:xfrm>
            <a:off x="669000" y="1452300"/>
            <a:ext cx="8188500" cy="3691200"/>
          </a:xfrm>
          <a:prstGeom prst="rect">
            <a:avLst/>
          </a:prstGeom>
          <a:noFill/>
        </p:spPr>
        <p:txBody>
          <a:bodyPr anchorCtr="0" anchor="t" bIns="914400" lIns="457200" spcFirstLastPara="1" rIns="457200" wrap="square" tIns="0">
            <a:noAutofit/>
          </a:bodyPr>
          <a:lstStyle/>
          <a:p>
            <a:pPr indent="0" lvl="0" marL="0" marR="0" rtl="0" algn="l">
              <a:lnSpc>
                <a:spcPct val="100000"/>
              </a:lnSpc>
              <a:spcBef>
                <a:spcPts val="0"/>
              </a:spcBef>
              <a:spcAft>
                <a:spcPts val="0"/>
              </a:spcAft>
              <a:buNone/>
            </a:pPr>
            <a:r>
              <a:rPr b="1" lang="en" sz="1400">
                <a:latin typeface="Courier New"/>
                <a:ea typeface="Courier New"/>
                <a:cs typeface="Courier New"/>
                <a:sym typeface="Courier New"/>
              </a:rPr>
              <a:t>DATE</a:t>
            </a:r>
            <a:r>
              <a:rPr lang="en" sz="1400">
                <a:latin typeface="Courier New"/>
                <a:ea typeface="Courier New"/>
                <a:cs typeface="Courier New"/>
                <a:sym typeface="Courier New"/>
              </a:rPr>
              <a:t>: 5/17/2017</a:t>
            </a:r>
            <a:endParaRPr sz="1400">
              <a:latin typeface="Courier New"/>
              <a:ea typeface="Courier New"/>
              <a:cs typeface="Courier New"/>
              <a:sym typeface="Courier New"/>
            </a:endParaRPr>
          </a:p>
          <a:p>
            <a:pPr indent="0" lvl="0" marL="0" marR="0" rtl="0" algn="l">
              <a:lnSpc>
                <a:spcPct val="100000"/>
              </a:lnSpc>
              <a:spcBef>
                <a:spcPts val="200"/>
              </a:spcBef>
              <a:spcAft>
                <a:spcPts val="0"/>
              </a:spcAft>
              <a:buNone/>
            </a:pPr>
            <a:r>
              <a:rPr b="1" lang="en" sz="1400">
                <a:latin typeface="Courier New"/>
                <a:ea typeface="Courier New"/>
                <a:cs typeface="Courier New"/>
                <a:sym typeface="Courier New"/>
              </a:rPr>
              <a:t>AUTHOR</a:t>
            </a:r>
            <a:r>
              <a:rPr lang="en" sz="1400">
                <a:latin typeface="Courier New"/>
                <a:ea typeface="Courier New"/>
                <a:cs typeface="Courier New"/>
                <a:sym typeface="Courier New"/>
              </a:rPr>
              <a:t>: Jane Author</a:t>
            </a:r>
            <a:endParaRPr sz="1400">
              <a:latin typeface="Courier New"/>
              <a:ea typeface="Courier New"/>
              <a:cs typeface="Courier New"/>
              <a:sym typeface="Courier New"/>
            </a:endParaRPr>
          </a:p>
          <a:p>
            <a:pPr indent="0" lvl="0" marL="457200" marR="0" rtl="0" algn="l">
              <a:lnSpc>
                <a:spcPct val="100000"/>
              </a:lnSpc>
              <a:spcBef>
                <a:spcPts val="200"/>
              </a:spcBef>
              <a:spcAft>
                <a:spcPts val="0"/>
              </a:spcAft>
              <a:buNone/>
            </a:pPr>
            <a:r>
              <a:t/>
            </a:r>
            <a:endParaRPr sz="1400">
              <a:latin typeface="Courier New"/>
              <a:ea typeface="Courier New"/>
              <a:cs typeface="Courier New"/>
              <a:sym typeface="Courier New"/>
            </a:endParaRPr>
          </a:p>
          <a:p>
            <a:pPr indent="0" lvl="0" marL="0" marR="0" rtl="0" algn="l">
              <a:lnSpc>
                <a:spcPct val="100000"/>
              </a:lnSpc>
              <a:spcBef>
                <a:spcPts val="200"/>
              </a:spcBef>
              <a:spcAft>
                <a:spcPts val="0"/>
              </a:spcAft>
              <a:buNone/>
            </a:pPr>
            <a:r>
              <a:rPr b="1" lang="en" sz="1400">
                <a:latin typeface="Courier New"/>
                <a:ea typeface="Courier New"/>
                <a:cs typeface="Courier New"/>
                <a:sym typeface="Courier New"/>
              </a:rPr>
              <a:t>DOMAIN ADMINISTRATOR PASSWORD POLICY</a:t>
            </a:r>
            <a:endParaRPr b="1" sz="1400">
              <a:latin typeface="Courier New"/>
              <a:ea typeface="Courier New"/>
              <a:cs typeface="Courier New"/>
              <a:sym typeface="Courier New"/>
            </a:endParaRPr>
          </a:p>
          <a:p>
            <a:pPr indent="0" lvl="0" marL="0" marR="0" rtl="0" algn="l">
              <a:lnSpc>
                <a:spcPct val="100000"/>
              </a:lnSpc>
              <a:spcBef>
                <a:spcPts val="0"/>
              </a:spcBef>
              <a:spcAft>
                <a:spcPts val="0"/>
              </a:spcAft>
              <a:buNone/>
            </a:pPr>
            <a:r>
              <a:rPr lang="en" sz="1400">
                <a:latin typeface="Courier New"/>
                <a:ea typeface="Courier New"/>
                <a:cs typeface="Courier New"/>
                <a:sym typeface="Courier New"/>
              </a:rPr>
              <a:t>This document lays out a password policy for domain administrators.</a:t>
            </a:r>
            <a:endParaRPr sz="1400">
              <a:latin typeface="Courier New"/>
              <a:ea typeface="Courier New"/>
              <a:cs typeface="Courier New"/>
              <a:sym typeface="Courier New"/>
            </a:endParaRPr>
          </a:p>
          <a:p>
            <a:pPr indent="0" lvl="0" marL="0" marR="0" rtl="0" algn="l">
              <a:lnSpc>
                <a:spcPct val="100000"/>
              </a:lnSpc>
              <a:spcBef>
                <a:spcPts val="200"/>
              </a:spcBef>
              <a:spcAft>
                <a:spcPts val="0"/>
              </a:spcAft>
              <a:buNone/>
            </a:pPr>
            <a:r>
              <a:t/>
            </a:r>
            <a:endParaRPr sz="1400">
              <a:latin typeface="Courier New"/>
              <a:ea typeface="Courier New"/>
              <a:cs typeface="Courier New"/>
              <a:sym typeface="Courier New"/>
            </a:endParaRPr>
          </a:p>
          <a:p>
            <a:pPr indent="0" lvl="0" marL="0" marR="0" rtl="0" algn="l">
              <a:lnSpc>
                <a:spcPct val="100000"/>
              </a:lnSpc>
              <a:spcBef>
                <a:spcPts val="200"/>
              </a:spcBef>
              <a:spcAft>
                <a:spcPts val="0"/>
              </a:spcAft>
              <a:buNone/>
            </a:pPr>
            <a:r>
              <a:rPr b="1" lang="en" sz="1400">
                <a:latin typeface="Courier New"/>
                <a:ea typeface="Courier New"/>
                <a:cs typeface="Courier New"/>
                <a:sym typeface="Courier New"/>
              </a:rPr>
              <a:t>PURPOSE</a:t>
            </a:r>
            <a:endParaRPr b="1" sz="1400">
              <a:latin typeface="Courier New"/>
              <a:ea typeface="Courier New"/>
              <a:cs typeface="Courier New"/>
              <a:sym typeface="Courier New"/>
            </a:endParaRPr>
          </a:p>
          <a:p>
            <a:pPr indent="0" lvl="0" marL="0" marR="0" rtl="0" algn="l">
              <a:lnSpc>
                <a:spcPct val="100000"/>
              </a:lnSpc>
              <a:spcBef>
                <a:spcPts val="0"/>
              </a:spcBef>
              <a:spcAft>
                <a:spcPts val="0"/>
              </a:spcAft>
              <a:buNone/>
            </a:pPr>
            <a:r>
              <a:rPr lang="en" sz="1400">
                <a:latin typeface="Courier New"/>
                <a:ea typeface="Courier New"/>
                <a:cs typeface="Courier New"/>
                <a:sym typeface="Courier New"/>
              </a:rPr>
              <a:t>The purpose of implementing a domain administrator password policy is to reduce the incidence of unauthorized root-level logins on domain controllers.</a:t>
            </a:r>
            <a:endParaRPr sz="1400">
              <a:latin typeface="Courier New"/>
              <a:ea typeface="Courier New"/>
              <a:cs typeface="Courier New"/>
              <a:sym typeface="Courier New"/>
            </a:endParaRPr>
          </a:p>
          <a:p>
            <a:pPr indent="0" lvl="0" marL="0" marR="0" rtl="0" algn="l">
              <a:lnSpc>
                <a:spcPct val="100000"/>
              </a:lnSpc>
              <a:spcBef>
                <a:spcPts val="800"/>
              </a:spcBef>
              <a:spcAft>
                <a:spcPts val="200"/>
              </a:spcAft>
              <a:buNone/>
            </a:pPr>
            <a:r>
              <a:rPr lang="en" sz="1400">
                <a:latin typeface="Courier New"/>
                <a:ea typeface="Courier New"/>
                <a:cs typeface="Courier New"/>
                <a:sym typeface="Courier New"/>
              </a:rPr>
              <a:t>The organization has prioritized this objective in the interest </a:t>
            </a:r>
            <a:br>
              <a:rPr lang="en" sz="1400">
                <a:latin typeface="Courier New"/>
                <a:ea typeface="Courier New"/>
                <a:cs typeface="Courier New"/>
                <a:sym typeface="Courier New"/>
              </a:rPr>
            </a:br>
            <a:r>
              <a:rPr lang="en" sz="1400">
                <a:latin typeface="Courier New"/>
                <a:ea typeface="Courier New"/>
                <a:cs typeface="Courier New"/>
                <a:sym typeface="Courier New"/>
              </a:rPr>
              <a:t>of protecting the integrity and confidentiality of data on the corporate intranet.</a:t>
            </a:r>
            <a:endParaRPr sz="1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3"/>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3"/>
          <p:cNvSpPr/>
          <p:nvPr/>
        </p:nvSpPr>
        <p:spPr>
          <a:xfrm>
            <a:off x="669000" y="927100"/>
            <a:ext cx="7806000" cy="4216200"/>
          </a:xfrm>
          <a:prstGeom prst="rect">
            <a:avLst/>
          </a:prstGeom>
          <a:gradFill>
            <a:gsLst>
              <a:gs pos="0">
                <a:srgbClr val="FFFFFF"/>
              </a:gs>
              <a:gs pos="48000">
                <a:srgbClr val="FFFFFF"/>
              </a:gs>
              <a:gs pos="90000">
                <a:srgbClr val="EEEEEE"/>
              </a:gs>
              <a:gs pos="100000">
                <a:srgbClr val="E6E6E6"/>
              </a:gs>
            </a:gsLst>
            <a:lin ang="5400012" scaled="0"/>
          </a:gradFill>
          <a:ln>
            <a:noFill/>
          </a:ln>
          <a:effectLst>
            <a:outerShdw blurRad="385763" rotWithShape="0" algn="bl" dir="9660000" dist="19050">
              <a:srgbClr val="000000">
                <a:alpha val="1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3"/>
          <p:cNvSpPr txBox="1"/>
          <p:nvPr>
            <p:ph type="title"/>
          </p:nvPr>
        </p:nvSpPr>
        <p:spPr>
          <a:xfrm>
            <a:off x="-12300" y="0"/>
            <a:ext cx="4769400" cy="10248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Password Policy: Examp</a:t>
            </a:r>
            <a:r>
              <a:rPr lang="en"/>
              <a:t>le </a:t>
            </a:r>
            <a:endParaRPr/>
          </a:p>
          <a:p>
            <a:pPr indent="0" lvl="0" marL="0" rtl="0" algn="l">
              <a:spcBef>
                <a:spcPts val="0"/>
              </a:spcBef>
              <a:spcAft>
                <a:spcPts val="0"/>
              </a:spcAft>
              <a:buNone/>
            </a:pPr>
            <a:r>
              <a:rPr b="0" lang="en" sz="1800">
                <a:latin typeface="Roboto"/>
                <a:ea typeface="Roboto"/>
                <a:cs typeface="Roboto"/>
                <a:sym typeface="Roboto"/>
              </a:rPr>
              <a:t>Part 2</a:t>
            </a:r>
            <a:endParaRPr b="0" sz="1800">
              <a:latin typeface="Roboto"/>
              <a:ea typeface="Roboto"/>
              <a:cs typeface="Roboto"/>
              <a:sym typeface="Roboto"/>
            </a:endParaRPr>
          </a:p>
        </p:txBody>
      </p:sp>
      <p:sp>
        <p:nvSpPr>
          <p:cNvPr id="580" name="Google Shape;580;p73"/>
          <p:cNvSpPr txBox="1"/>
          <p:nvPr>
            <p:ph idx="3" type="body"/>
          </p:nvPr>
        </p:nvSpPr>
        <p:spPr>
          <a:xfrm>
            <a:off x="669000" y="1448825"/>
            <a:ext cx="7806000" cy="3555900"/>
          </a:xfrm>
          <a:prstGeom prst="rect">
            <a:avLst/>
          </a:prstGeom>
          <a:noFill/>
        </p:spPr>
        <p:txBody>
          <a:bodyPr anchorCtr="0" anchor="t" bIns="91425" lIns="365750" spcFirstLastPara="1" rIns="457200" wrap="square" tIns="91425">
            <a:noAutofit/>
          </a:bodyPr>
          <a:lstStyle/>
          <a:p>
            <a:pPr indent="0" lvl="0" marL="0" rtl="0" algn="l">
              <a:lnSpc>
                <a:spcPct val="8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POLICY DESCRIPTION</a:t>
            </a:r>
            <a:endParaRPr b="1"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Domain administrators will be required to create a new strong password every month. This password </a:t>
            </a:r>
            <a:r>
              <a:rPr lang="en" sz="1400">
                <a:solidFill>
                  <a:schemeClr val="accent3"/>
                </a:solidFill>
                <a:latin typeface="Courier New"/>
                <a:ea typeface="Courier New"/>
                <a:cs typeface="Courier New"/>
                <a:sym typeface="Courier New"/>
              </a:rPr>
              <a:t>MUST NOT</a:t>
            </a:r>
            <a:r>
              <a:rPr lang="en" sz="1400">
                <a:solidFill>
                  <a:srgbClr val="24292E"/>
                </a:solidFill>
                <a:latin typeface="Courier New"/>
                <a:ea typeface="Courier New"/>
                <a:cs typeface="Courier New"/>
                <a:sym typeface="Courier New"/>
              </a:rPr>
              <a:t> </a:t>
            </a:r>
            <a:r>
              <a:rPr lang="en" sz="1400">
                <a:latin typeface="Courier New"/>
                <a:ea typeface="Courier New"/>
                <a:cs typeface="Courier New"/>
                <a:sym typeface="Courier New"/>
              </a:rPr>
              <a:t>include any substring of the domain administrator's username.</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In addition, the password must include:</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least </a:t>
            </a:r>
            <a:r>
              <a:rPr lang="en" sz="1400">
                <a:solidFill>
                  <a:srgbClr val="005CC5"/>
                </a:solidFill>
                <a:latin typeface="Courier New"/>
                <a:ea typeface="Courier New"/>
                <a:cs typeface="Courier New"/>
                <a:sym typeface="Courier New"/>
              </a:rPr>
              <a:t>16</a:t>
            </a:r>
            <a:r>
              <a:rPr lang="en" sz="1400">
                <a:solidFill>
                  <a:srgbClr val="24292E"/>
                </a:solidFill>
                <a:latin typeface="Courier New"/>
                <a:ea typeface="Courier New"/>
                <a:cs typeface="Courier New"/>
                <a:sym typeface="Courier New"/>
              </a:rPr>
              <a:t> </a:t>
            </a:r>
            <a:r>
              <a:rPr lang="en" sz="1400">
                <a:latin typeface="Courier New"/>
                <a:ea typeface="Courier New"/>
                <a:cs typeface="Courier New"/>
                <a:sym typeface="Courier New"/>
              </a:rPr>
              <a:t>characters</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least</a:t>
            </a:r>
            <a:r>
              <a:rPr lang="en" sz="1400">
                <a:solidFill>
                  <a:srgbClr val="24292E"/>
                </a:solidFill>
                <a:latin typeface="Courier New"/>
                <a:ea typeface="Courier New"/>
                <a:cs typeface="Courier New"/>
                <a:sym typeface="Courier New"/>
              </a:rPr>
              <a:t> </a:t>
            </a:r>
            <a:r>
              <a:rPr lang="en" sz="1400">
                <a:solidFill>
                  <a:srgbClr val="005CC5"/>
                </a:solidFill>
                <a:latin typeface="Courier New"/>
                <a:ea typeface="Courier New"/>
                <a:cs typeface="Courier New"/>
                <a:sym typeface="Courier New"/>
              </a:rPr>
              <a:t>1</a:t>
            </a:r>
            <a:r>
              <a:rPr lang="en" sz="1400">
                <a:solidFill>
                  <a:srgbClr val="24292E"/>
                </a:solidFill>
                <a:latin typeface="Courier New"/>
                <a:ea typeface="Courier New"/>
                <a:cs typeface="Courier New"/>
                <a:sym typeface="Courier New"/>
              </a:rPr>
              <a:t> </a:t>
            </a:r>
            <a:r>
              <a:rPr lang="en" sz="1400">
                <a:latin typeface="Courier New"/>
                <a:ea typeface="Courier New"/>
                <a:cs typeface="Courier New"/>
                <a:sym typeface="Courier New"/>
              </a:rPr>
              <a:t>letter</a:t>
            </a:r>
            <a:r>
              <a:rPr lang="en" sz="1400">
                <a:solidFill>
                  <a:srgbClr val="24292E"/>
                </a:solidFill>
                <a:latin typeface="Courier New"/>
                <a:ea typeface="Courier New"/>
                <a:cs typeface="Courier New"/>
                <a:sym typeface="Courier New"/>
              </a:rPr>
              <a:t> </a:t>
            </a:r>
            <a:r>
              <a:rPr lang="en" sz="1400">
                <a:solidFill>
                  <a:srgbClr val="000000"/>
                </a:solidFill>
                <a:latin typeface="Courier New"/>
                <a:ea typeface="Courier New"/>
                <a:cs typeface="Courier New"/>
                <a:sym typeface="Courier New"/>
              </a:rPr>
              <a:t>and</a:t>
            </a:r>
            <a:r>
              <a:rPr lang="en" sz="1400">
                <a:solidFill>
                  <a:srgbClr val="24292E"/>
                </a:solidFill>
                <a:latin typeface="Courier New"/>
                <a:ea typeface="Courier New"/>
                <a:cs typeface="Courier New"/>
                <a:sym typeface="Courier New"/>
              </a:rPr>
              <a:t> </a:t>
            </a:r>
            <a:r>
              <a:rPr lang="en" sz="1400">
                <a:solidFill>
                  <a:srgbClr val="005CC5"/>
                </a:solidFill>
                <a:latin typeface="Courier New"/>
                <a:ea typeface="Courier New"/>
                <a:cs typeface="Courier New"/>
                <a:sym typeface="Courier New"/>
              </a:rPr>
              <a:t>1</a:t>
            </a:r>
            <a:r>
              <a:rPr lang="en" sz="1400">
                <a:solidFill>
                  <a:srgbClr val="24292E"/>
                </a:solidFill>
                <a:latin typeface="Courier New"/>
                <a:ea typeface="Courier New"/>
                <a:cs typeface="Courier New"/>
                <a:sym typeface="Courier New"/>
              </a:rPr>
              <a:t> </a:t>
            </a:r>
            <a:r>
              <a:rPr lang="en" sz="1400">
                <a:latin typeface="Courier New"/>
                <a:ea typeface="Courier New"/>
                <a:cs typeface="Courier New"/>
                <a:sym typeface="Courier New"/>
              </a:rPr>
              <a:t>number</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least </a:t>
            </a:r>
            <a:r>
              <a:rPr lang="en" sz="1400">
                <a:solidFill>
                  <a:srgbClr val="005CC5"/>
                </a:solidFill>
                <a:latin typeface="Courier New"/>
                <a:ea typeface="Courier New"/>
                <a:cs typeface="Courier New"/>
                <a:sym typeface="Courier New"/>
              </a:rPr>
              <a:t>1</a:t>
            </a:r>
            <a:r>
              <a:rPr lang="en" sz="1400">
                <a:solidFill>
                  <a:srgbClr val="24292E"/>
                </a:solidFill>
                <a:latin typeface="Courier New"/>
                <a:ea typeface="Courier New"/>
                <a:cs typeface="Courier New"/>
                <a:sym typeface="Courier New"/>
              </a:rPr>
              <a:t> </a:t>
            </a:r>
            <a:r>
              <a:rPr lang="en" sz="1400">
                <a:latin typeface="Courier New"/>
                <a:ea typeface="Courier New"/>
                <a:cs typeface="Courier New"/>
                <a:sym typeface="Courier New"/>
              </a:rPr>
              <a:t>special character (', ( , ], etc.)</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For example, the following passwords are legal for the user guest:</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CloGyPTioNEntEDist5$</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coffee&amp;Donuts975</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n0tparticularly!strong</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The following password is illegal:</a:t>
            </a:r>
            <a:endParaRPr sz="1400">
              <a:latin typeface="Courier New"/>
              <a:ea typeface="Courier New"/>
              <a:cs typeface="Courier New"/>
              <a:sym typeface="Courier New"/>
            </a:endParaRPr>
          </a:p>
          <a:p>
            <a:pPr indent="0" lvl="0" marL="0" rtl="0" algn="l">
              <a:lnSpc>
                <a:spcPct val="80000"/>
              </a:lnSpc>
              <a:spcBef>
                <a:spcPts val="0"/>
              </a:spcBef>
              <a:spcAft>
                <a:spcPts val="0"/>
              </a:spcAft>
              <a:buNone/>
            </a:pPr>
            <a:r>
              <a:rPr lang="en" sz="1400">
                <a:latin typeface="Courier New"/>
                <a:ea typeface="Courier New"/>
                <a:cs typeface="Courier New"/>
                <a:sym typeface="Courier New"/>
              </a:rPr>
              <a:t>- gue1st12345678901342</a:t>
            </a:r>
            <a:endParaRPr b="1" sz="1400">
              <a:latin typeface="Courier New"/>
              <a:ea typeface="Courier New"/>
              <a:cs typeface="Courier New"/>
              <a:sym typeface="Courier New"/>
            </a:endParaRPr>
          </a:p>
        </p:txBody>
      </p:sp>
      <p:sp>
        <p:nvSpPr>
          <p:cNvPr id="581" name="Google Shape;581;p73"/>
          <p:cNvSpPr txBox="1"/>
          <p:nvPr/>
        </p:nvSpPr>
        <p:spPr>
          <a:xfrm>
            <a:off x="5220475" y="961200"/>
            <a:ext cx="3263100" cy="567300"/>
          </a:xfrm>
          <a:prstGeom prst="rect">
            <a:avLst/>
          </a:prstGeom>
          <a:solidFill>
            <a:schemeClr val="lt1"/>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solidFill>
                  <a:schemeClr val="accent3"/>
                </a:solidFill>
                <a:latin typeface="Roboto Medium"/>
                <a:ea typeface="Roboto Medium"/>
                <a:cs typeface="Roboto Medium"/>
                <a:sym typeface="Roboto Medium"/>
              </a:rPr>
              <a:t>CONFIDENTIAL DOCUMENT</a:t>
            </a:r>
            <a:endParaRPr sz="1800">
              <a:solidFill>
                <a:schemeClr val="accent3"/>
              </a:solidFill>
              <a:latin typeface="Roboto Medium"/>
              <a:ea typeface="Roboto Medium"/>
              <a:cs typeface="Roboto Medium"/>
              <a:sym typeface="Roboto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4"/>
          <p:cNvSpPr/>
          <p:nvPr/>
        </p:nvSpPr>
        <p:spPr>
          <a:xfrm>
            <a:off x="0" y="0"/>
            <a:ext cx="9144000" cy="514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4"/>
          <p:cNvSpPr/>
          <p:nvPr/>
        </p:nvSpPr>
        <p:spPr>
          <a:xfrm>
            <a:off x="669000" y="927100"/>
            <a:ext cx="7806000" cy="4216200"/>
          </a:xfrm>
          <a:prstGeom prst="rect">
            <a:avLst/>
          </a:prstGeom>
          <a:gradFill>
            <a:gsLst>
              <a:gs pos="0">
                <a:srgbClr val="FFFFFF"/>
              </a:gs>
              <a:gs pos="48000">
                <a:srgbClr val="FFFFFF"/>
              </a:gs>
              <a:gs pos="90000">
                <a:srgbClr val="EEEEEE"/>
              </a:gs>
              <a:gs pos="100000">
                <a:srgbClr val="E6E6E6"/>
              </a:gs>
            </a:gsLst>
            <a:lin ang="5400012" scaled="0"/>
          </a:gradFill>
          <a:ln>
            <a:noFill/>
          </a:ln>
          <a:effectLst>
            <a:outerShdw blurRad="385763" rotWithShape="0" algn="bl" dir="9660000" dist="19050">
              <a:srgbClr val="000000">
                <a:alpha val="1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4"/>
          <p:cNvSpPr txBox="1"/>
          <p:nvPr>
            <p:ph type="title"/>
          </p:nvPr>
        </p:nvSpPr>
        <p:spPr>
          <a:xfrm>
            <a:off x="449036" y="163161"/>
            <a:ext cx="852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400"/>
              <a:t>Password Policy: Example </a:t>
            </a:r>
            <a:endParaRPr sz="2400"/>
          </a:p>
          <a:p>
            <a:pPr indent="0" lvl="0" marL="0" rtl="0" algn="l">
              <a:spcBef>
                <a:spcPts val="0"/>
              </a:spcBef>
              <a:spcAft>
                <a:spcPts val="0"/>
              </a:spcAft>
              <a:buNone/>
            </a:pPr>
            <a:r>
              <a:rPr b="0" lang="en" sz="1800"/>
              <a:t>Part 3</a:t>
            </a:r>
            <a:endParaRPr b="0" sz="1800"/>
          </a:p>
        </p:txBody>
      </p:sp>
      <p:sp>
        <p:nvSpPr>
          <p:cNvPr id="589" name="Google Shape;589;p74"/>
          <p:cNvSpPr txBox="1"/>
          <p:nvPr>
            <p:ph idx="1" type="body"/>
          </p:nvPr>
        </p:nvSpPr>
        <p:spPr>
          <a:xfrm>
            <a:off x="706000" y="1461500"/>
            <a:ext cx="7639500" cy="3040500"/>
          </a:xfrm>
          <a:prstGeom prst="rect">
            <a:avLst/>
          </a:prstGeom>
          <a:noFill/>
        </p:spPr>
        <p:txBody>
          <a:bodyPr anchorCtr="0" anchor="t" bIns="91425" lIns="365750" spcFirstLastPara="1" rIns="365750" wrap="square" tIns="91425">
            <a:noAutofit/>
          </a:bodyPr>
          <a:lstStyle/>
          <a:p>
            <a:pPr indent="0" lvl="0" marL="0" rtl="0" algn="l">
              <a:lnSpc>
                <a:spcPct val="8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ENFORCEMENT</a:t>
            </a:r>
            <a:endParaRPr b="1"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All workstations on the corporate domain have been configured </a:t>
            </a:r>
            <a:br>
              <a:rPr lang="en" sz="1400">
                <a:latin typeface="Courier New"/>
                <a:ea typeface="Courier New"/>
                <a:cs typeface="Courier New"/>
                <a:sym typeface="Courier New"/>
              </a:rPr>
            </a:br>
            <a:r>
              <a:rPr lang="en" sz="1400">
                <a:latin typeface="Courier New"/>
                <a:ea typeface="Courier New"/>
                <a:cs typeface="Courier New"/>
                <a:sym typeface="Courier New"/>
              </a:rPr>
              <a:t>to require administrators to adhere to the above password complexity constraints</a:t>
            </a:r>
            <a:r>
              <a:rPr lang="en" sz="1400">
                <a:solidFill>
                  <a:srgbClr val="24292E"/>
                </a:solidFill>
                <a:latin typeface="Courier New"/>
                <a:ea typeface="Courier New"/>
                <a:cs typeface="Courier New"/>
                <a:sym typeface="Courier New"/>
              </a:rPr>
              <a:t> </a:t>
            </a:r>
            <a:r>
              <a:rPr lang="en" sz="1400">
                <a:solidFill>
                  <a:schemeClr val="accent3"/>
                </a:solidFill>
                <a:latin typeface="Courier New"/>
                <a:ea typeface="Courier New"/>
                <a:cs typeface="Courier New"/>
                <a:sym typeface="Courier New"/>
              </a:rPr>
              <a:t>and</a:t>
            </a:r>
            <a:r>
              <a:rPr lang="en" sz="1400">
                <a:solidFill>
                  <a:srgbClr val="24292E"/>
                </a:solidFill>
                <a:latin typeface="Courier New"/>
                <a:ea typeface="Courier New"/>
                <a:cs typeface="Courier New"/>
                <a:sym typeface="Courier New"/>
              </a:rPr>
              <a:t> </a:t>
            </a:r>
            <a:r>
              <a:rPr lang="en" sz="1400">
                <a:latin typeface="Courier New"/>
                <a:ea typeface="Courier New"/>
                <a:cs typeface="Courier New"/>
                <a:sym typeface="Courier New"/>
              </a:rPr>
              <a:t>refresh intervals. Non-compliant passwords will be rejected by the operating system.</a:t>
            </a:r>
            <a:endParaRPr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MONITORING</a:t>
            </a:r>
            <a:endParaRPr b="1" sz="1400">
              <a:latin typeface="Courier New"/>
              <a:ea typeface="Courier New"/>
              <a:cs typeface="Courier New"/>
              <a:sym typeface="Courier New"/>
            </a:endParaRPr>
          </a:p>
          <a:p>
            <a:pPr indent="0" lvl="0" marL="0" marR="152400" rtl="0" algn="l">
              <a:lnSpc>
                <a:spcPct val="80000"/>
              </a:lnSpc>
              <a:spcBef>
                <a:spcPts val="0"/>
              </a:spcBef>
              <a:spcAft>
                <a:spcPts val="0"/>
              </a:spcAft>
              <a:buNone/>
            </a:pPr>
            <a:r>
              <a:rPr lang="en" sz="1400">
                <a:latin typeface="Courier New"/>
                <a:ea typeface="Courier New"/>
                <a:cs typeface="Courier New"/>
                <a:sym typeface="Courier New"/>
              </a:rPr>
              <a:t>All attempts to login as a domain administrator—both remote</a:t>
            </a:r>
            <a:r>
              <a:rPr lang="en" sz="1400">
                <a:solidFill>
                  <a:srgbClr val="24292E"/>
                </a:solidFill>
                <a:latin typeface="Courier New"/>
                <a:ea typeface="Courier New"/>
                <a:cs typeface="Courier New"/>
                <a:sym typeface="Courier New"/>
              </a:rPr>
              <a:t> </a:t>
            </a:r>
            <a:br>
              <a:rPr lang="en" sz="1400">
                <a:solidFill>
                  <a:srgbClr val="24292E"/>
                </a:solidFill>
                <a:latin typeface="Courier New"/>
                <a:ea typeface="Courier New"/>
                <a:cs typeface="Courier New"/>
                <a:sym typeface="Courier New"/>
              </a:rPr>
            </a:br>
            <a:r>
              <a:rPr lang="en" sz="1400">
                <a:solidFill>
                  <a:schemeClr val="accent3"/>
                </a:solidFill>
                <a:latin typeface="Courier New"/>
                <a:ea typeface="Courier New"/>
                <a:cs typeface="Courier New"/>
                <a:sym typeface="Courier New"/>
              </a:rPr>
              <a:t>and</a:t>
            </a:r>
            <a:r>
              <a:rPr lang="en" sz="1400">
                <a:solidFill>
                  <a:srgbClr val="24292E"/>
                </a:solidFill>
                <a:latin typeface="Courier New"/>
                <a:ea typeface="Courier New"/>
                <a:cs typeface="Courier New"/>
                <a:sym typeface="Courier New"/>
              </a:rPr>
              <a:t> </a:t>
            </a:r>
            <a:r>
              <a:rPr lang="en" sz="1400">
                <a:latin typeface="Courier New"/>
                <a:ea typeface="Courier New"/>
                <a:cs typeface="Courier New"/>
                <a:sym typeface="Courier New"/>
              </a:rPr>
              <a:t>local—will be monitored.</a:t>
            </a:r>
            <a:endParaRPr b="1" sz="1400">
              <a:latin typeface="Courier New"/>
              <a:ea typeface="Courier New"/>
              <a:cs typeface="Courier New"/>
              <a:sym typeface="Courier New"/>
            </a:endParaRPr>
          </a:p>
        </p:txBody>
      </p:sp>
      <p:sp>
        <p:nvSpPr>
          <p:cNvPr id="590" name="Google Shape;590;p74"/>
          <p:cNvSpPr txBox="1"/>
          <p:nvPr/>
        </p:nvSpPr>
        <p:spPr>
          <a:xfrm>
            <a:off x="4534675" y="961200"/>
            <a:ext cx="3940200" cy="567300"/>
          </a:xfrm>
          <a:prstGeom prst="rect">
            <a:avLst/>
          </a:prstGeom>
          <a:solidFill>
            <a:schemeClr val="lt1"/>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solidFill>
                  <a:schemeClr val="accent3"/>
                </a:solidFill>
                <a:latin typeface="Roboto Medium"/>
                <a:ea typeface="Roboto Medium"/>
                <a:cs typeface="Roboto Medium"/>
                <a:sym typeface="Roboto Medium"/>
              </a:rPr>
              <a:t>CONFIDENTIAL DOCUMENT</a:t>
            </a:r>
            <a:endParaRPr sz="1800">
              <a:solidFill>
                <a:schemeClr val="accent3"/>
              </a:solidFill>
              <a:latin typeface="Roboto Medium"/>
              <a:ea typeface="Roboto Medium"/>
              <a:cs typeface="Roboto Medium"/>
              <a:sym typeface="Roboto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5"/>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596" name="Google Shape;596;p75"/>
          <p:cNvSpPr txBox="1"/>
          <p:nvPr>
            <p:ph idx="4294967295" type="subTitle"/>
          </p:nvPr>
        </p:nvSpPr>
        <p:spPr>
          <a:xfrm>
            <a:off x="818575" y="1726975"/>
            <a:ext cx="6518700" cy="2116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this activity, you will develop and document policies to help GeldCorp address its most critical threats.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97" name="Google Shape;597;p75"/>
          <p:cNvSpPr txBox="1"/>
          <p:nvPr>
            <p:ph idx="4294967295" type="title"/>
          </p:nvPr>
        </p:nvSpPr>
        <p:spPr>
          <a:xfrm>
            <a:off x="902100" y="528750"/>
            <a:ext cx="9168600" cy="323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1800"/>
              <a:t>Documenting company policies</a:t>
            </a:r>
            <a:endParaRPr b="0"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7"/>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latin typeface="Roboto"/>
                <a:ea typeface="Roboto"/>
                <a:cs typeface="Roboto"/>
                <a:sym typeface="Roboto"/>
              </a:rPr>
              <a:t>‹#›</a:t>
            </a:fld>
            <a:endParaRPr sz="6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8"/>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Managing Risk</a:t>
            </a:r>
            <a:br>
              <a:rPr b="0" lang="en">
                <a:latin typeface="Roboto"/>
                <a:ea typeface="Roboto"/>
                <a:cs typeface="Roboto"/>
                <a:sym typeface="Roboto"/>
              </a:rPr>
            </a:br>
            <a:r>
              <a:rPr b="0" lang="en">
                <a:latin typeface="Roboto"/>
                <a:ea typeface="Roboto"/>
                <a:cs typeface="Roboto"/>
                <a:sym typeface="Roboto"/>
              </a:rPr>
              <a:t>in</a:t>
            </a:r>
            <a:r>
              <a:rPr b="0" lang="en"/>
              <a:t> </a:t>
            </a:r>
            <a:r>
              <a:rPr lang="en">
                <a:latin typeface="Roboto"/>
                <a:ea typeface="Roboto"/>
                <a:cs typeface="Roboto"/>
                <a:sym typeface="Roboto"/>
              </a:rPr>
              <a:t>IT Organizations</a:t>
            </a:r>
            <a:endParaRPr>
              <a:latin typeface="Roboto"/>
              <a:ea typeface="Roboto"/>
              <a:cs typeface="Roboto"/>
              <a:sym typeface="Roboto"/>
            </a:endParaRPr>
          </a:p>
        </p:txBody>
      </p:sp>
      <p:pic>
        <p:nvPicPr>
          <p:cNvPr id="612" name="Google Shape;612;p78"/>
          <p:cNvPicPr preferRelativeResize="0"/>
          <p:nvPr/>
        </p:nvPicPr>
        <p:blipFill>
          <a:blip r:embed="rId3">
            <a:alphaModFix/>
          </a:blip>
          <a:stretch>
            <a:fillRect/>
          </a:stretch>
        </p:blipFill>
        <p:spPr>
          <a:xfrm>
            <a:off x="4098775" y="1282250"/>
            <a:ext cx="946450" cy="1218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pic>
        <p:nvPicPr>
          <p:cNvPr id="617" name="Google Shape;617;p79"/>
          <p:cNvPicPr preferRelativeResize="0"/>
          <p:nvPr/>
        </p:nvPicPr>
        <p:blipFill rotWithShape="1">
          <a:blip r:embed="rId3">
            <a:alphaModFix/>
          </a:blip>
          <a:srcRect b="8859" l="1144" r="6527" t="13428"/>
          <a:stretch/>
        </p:blipFill>
        <p:spPr>
          <a:xfrm>
            <a:off x="-12300" y="-700"/>
            <a:ext cx="9168599" cy="5143501"/>
          </a:xfrm>
          <a:prstGeom prst="rect">
            <a:avLst/>
          </a:prstGeom>
          <a:noFill/>
          <a:ln>
            <a:noFill/>
          </a:ln>
        </p:spPr>
      </p:pic>
      <p:sp>
        <p:nvSpPr>
          <p:cNvPr id="618" name="Google Shape;618;p79"/>
          <p:cNvSpPr txBox="1"/>
          <p:nvPr>
            <p:ph type="title"/>
          </p:nvPr>
        </p:nvSpPr>
        <p:spPr>
          <a:xfrm>
            <a:off x="464100" y="1775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External Objectives and Policy</a:t>
            </a:r>
            <a:endParaRPr/>
          </a:p>
        </p:txBody>
      </p:sp>
      <p:sp>
        <p:nvSpPr>
          <p:cNvPr id="619" name="Google Shape;619;p79"/>
          <p:cNvSpPr txBox="1"/>
          <p:nvPr>
            <p:ph idx="4294967295" type="subTitle"/>
          </p:nvPr>
        </p:nvSpPr>
        <p:spPr>
          <a:xfrm>
            <a:off x="464100" y="671025"/>
            <a:ext cx="4159800" cy="16572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t>Businesses often have to follow external rules in addition to those they set for themselves. External rules don’t directly benefit the business, but might be mandated by law or industry standards.</a:t>
            </a:r>
            <a:endParaRPr/>
          </a:p>
        </p:txBody>
      </p:sp>
      <p:sp>
        <p:nvSpPr>
          <p:cNvPr id="620" name="Google Shape;620;p79"/>
          <p:cNvSpPr txBox="1"/>
          <p:nvPr>
            <p:ph idx="1" type="body"/>
          </p:nvPr>
        </p:nvSpPr>
        <p:spPr>
          <a:xfrm>
            <a:off x="464100" y="2421475"/>
            <a:ext cx="4608900" cy="2483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t>Example: </a:t>
            </a:r>
            <a:endParaRPr b="1"/>
          </a:p>
          <a:p>
            <a:pPr indent="0" lvl="0" marL="0" rtl="0" algn="l">
              <a:lnSpc>
                <a:spcPct val="100000"/>
              </a:lnSpc>
              <a:spcBef>
                <a:spcPts val="500"/>
              </a:spcBef>
              <a:spcAft>
                <a:spcPts val="0"/>
              </a:spcAft>
              <a:buNone/>
            </a:pPr>
            <a:r>
              <a:rPr lang="en"/>
              <a:t>Merchants that process financial transactions are legally required to guarantee that their customers’ data remains confidential. </a:t>
            </a:r>
            <a:endParaRPr/>
          </a:p>
          <a:p>
            <a:pPr indent="0" lvl="0" marL="0" rtl="0" algn="l">
              <a:lnSpc>
                <a:spcPct val="100000"/>
              </a:lnSpc>
              <a:spcBef>
                <a:spcPts val="1000"/>
              </a:spcBef>
              <a:spcAft>
                <a:spcPts val="0"/>
              </a:spcAft>
              <a:buClr>
                <a:schemeClr val="dk1"/>
              </a:buClr>
              <a:buSzPts val="1100"/>
              <a:buFont typeface="Arial"/>
              <a:buNone/>
            </a:pPr>
            <a:r>
              <a:rPr lang="en"/>
              <a:t>If a company suffers a breach resulting </a:t>
            </a:r>
            <a:br>
              <a:rPr lang="en"/>
            </a:br>
            <a:r>
              <a:rPr lang="en"/>
              <a:t>in the disclosure of customer PII, it may </a:t>
            </a:r>
            <a:br>
              <a:rPr lang="en"/>
            </a:br>
            <a:r>
              <a:rPr lang="en"/>
              <a:t>be fined and face other legal penalt</a:t>
            </a:r>
            <a:r>
              <a:rPr lang="en"/>
              <a:t>ies.</a:t>
            </a:r>
            <a:endParaRPr/>
          </a:p>
        </p:txBody>
      </p:sp>
      <p:sp>
        <p:nvSpPr>
          <p:cNvPr id="621" name="Google Shape;621;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80"/>
          <p:cNvSpPr txBox="1"/>
          <p:nvPr>
            <p:ph idx="2" type="title"/>
          </p:nvPr>
        </p:nvSpPr>
        <p:spPr>
          <a:xfrm>
            <a:off x="1775000" y="1039700"/>
            <a:ext cx="56409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b="1" lang="en">
                <a:latin typeface="Roboto"/>
                <a:ea typeface="Roboto"/>
                <a:cs typeface="Roboto"/>
                <a:sym typeface="Roboto"/>
              </a:rPr>
              <a:t>Governance frameworks</a:t>
            </a:r>
            <a:r>
              <a:rPr b="0" lang="en"/>
              <a:t> </a:t>
            </a:r>
            <a:r>
              <a:rPr lang="en">
                <a:latin typeface="Roboto"/>
                <a:ea typeface="Roboto"/>
                <a:cs typeface="Roboto"/>
                <a:sym typeface="Roboto"/>
              </a:rPr>
              <a:t>are rules and policies that must be followed by everyone in </a:t>
            </a:r>
            <a:br>
              <a:rPr lang="en">
                <a:latin typeface="Roboto"/>
                <a:ea typeface="Roboto"/>
                <a:cs typeface="Roboto"/>
                <a:sym typeface="Roboto"/>
              </a:rPr>
            </a:br>
            <a:r>
              <a:rPr lang="en">
                <a:latin typeface="Roboto"/>
                <a:ea typeface="Roboto"/>
                <a:cs typeface="Roboto"/>
                <a:sym typeface="Roboto"/>
              </a:rPr>
              <a:t>an organization or indust</a:t>
            </a:r>
            <a:r>
              <a:rPr lang="en">
                <a:latin typeface="Roboto"/>
                <a:ea typeface="Roboto"/>
                <a:cs typeface="Roboto"/>
                <a:sym typeface="Roboto"/>
              </a:rPr>
              <a:t>ry.</a:t>
            </a:r>
            <a:endParaRPr>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81"/>
          <p:cNvSpPr txBox="1"/>
          <p:nvPr>
            <p:ph type="title"/>
          </p:nvPr>
        </p:nvSpPr>
        <p:spPr>
          <a:xfrm>
            <a:off x="435225" y="2850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Governance Frameworks</a:t>
            </a:r>
            <a:endParaRPr/>
          </a:p>
        </p:txBody>
      </p:sp>
      <p:pic>
        <p:nvPicPr>
          <p:cNvPr id="632" name="Google Shape;632;p81"/>
          <p:cNvPicPr preferRelativeResize="0"/>
          <p:nvPr/>
        </p:nvPicPr>
        <p:blipFill rotWithShape="1">
          <a:blip r:embed="rId3">
            <a:alphaModFix/>
          </a:blip>
          <a:srcRect b="0" l="0" r="0" t="0"/>
          <a:stretch/>
        </p:blipFill>
        <p:spPr>
          <a:xfrm>
            <a:off x="1116120" y="1086138"/>
            <a:ext cx="6911760" cy="3571076"/>
          </a:xfrm>
          <a:prstGeom prst="rect">
            <a:avLst/>
          </a:prstGeom>
          <a:noFill/>
          <a:ln>
            <a:noFill/>
          </a:ln>
        </p:spPr>
      </p:pic>
      <p:sp>
        <p:nvSpPr>
          <p:cNvPr id="633" name="Google Shape;633;p81"/>
          <p:cNvSpPr txBox="1"/>
          <p:nvPr/>
        </p:nvSpPr>
        <p:spPr>
          <a:xfrm>
            <a:off x="1709125" y="2423325"/>
            <a:ext cx="2257200" cy="8967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Internal</a:t>
            </a:r>
            <a:endParaRPr b="1" sz="1800">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Developed by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the company</a:t>
            </a:r>
            <a:endParaRPr sz="1800">
              <a:solidFill>
                <a:schemeClr val="dk2"/>
              </a:solidFill>
              <a:latin typeface="Roboto"/>
              <a:ea typeface="Roboto"/>
              <a:cs typeface="Roboto"/>
              <a:sym typeface="Roboto"/>
            </a:endParaRPr>
          </a:p>
        </p:txBody>
      </p:sp>
      <p:sp>
        <p:nvSpPr>
          <p:cNvPr id="634" name="Google Shape;634;p81"/>
          <p:cNvSpPr txBox="1"/>
          <p:nvPr/>
        </p:nvSpPr>
        <p:spPr>
          <a:xfrm>
            <a:off x="5175625" y="2423325"/>
            <a:ext cx="2338200" cy="896700"/>
          </a:xfrm>
          <a:prstGeom prst="rect">
            <a:avLst/>
          </a:prstGeom>
          <a:noFill/>
          <a:ln>
            <a:noFill/>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External</a:t>
            </a:r>
            <a:r>
              <a:rPr lang="en" sz="1800">
                <a:solidFill>
                  <a:schemeClr val="dk2"/>
                </a:solidFill>
                <a:latin typeface="Roboto"/>
                <a:ea typeface="Roboto"/>
                <a:cs typeface="Roboto"/>
                <a:sym typeface="Roboto"/>
              </a:rPr>
              <a:t> </a:t>
            </a:r>
            <a:endParaRPr sz="1800">
              <a:solidFill>
                <a:schemeClr val="dk2"/>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Developed by standards bodies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or governments</a:t>
            </a:r>
            <a:endParaRPr i="0" sz="1800" u="none" cap="none" strike="noStrike">
              <a:solidFill>
                <a:schemeClr val="dk2"/>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2"/>
          <p:cNvSpPr txBox="1"/>
          <p:nvPr>
            <p:ph idx="1" type="subTitle"/>
          </p:nvPr>
        </p:nvSpPr>
        <p:spPr>
          <a:xfrm>
            <a:off x="463231" y="548650"/>
            <a:ext cx="8229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As information security professionals, it is important to understand the distinctions between:</a:t>
            </a:r>
            <a:endParaRPr/>
          </a:p>
        </p:txBody>
      </p:sp>
      <p:sp>
        <p:nvSpPr>
          <p:cNvPr id="640" name="Google Shape;640;p82"/>
          <p:cNvSpPr txBox="1"/>
          <p:nvPr>
            <p:ph idx="4294967295" type="body"/>
          </p:nvPr>
        </p:nvSpPr>
        <p:spPr>
          <a:xfrm>
            <a:off x="3005875" y="2565000"/>
            <a:ext cx="5462700" cy="623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All of these will help guide your decision-making process in everything you do.</a:t>
            </a:r>
            <a:endParaRPr/>
          </a:p>
        </p:txBody>
      </p:sp>
      <p:sp>
        <p:nvSpPr>
          <p:cNvPr id="641" name="Google Shape;641;p82"/>
          <p:cNvSpPr/>
          <p:nvPr/>
        </p:nvSpPr>
        <p:spPr>
          <a:xfrm>
            <a:off x="2675725" y="1391750"/>
            <a:ext cx="187800" cy="2999400"/>
          </a:xfrm>
          <a:prstGeom prst="rightBrace">
            <a:avLst>
              <a:gd fmla="val 38365"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82"/>
          <p:cNvSpPr/>
          <p:nvPr/>
        </p:nvSpPr>
        <p:spPr>
          <a:xfrm>
            <a:off x="607675" y="1391750"/>
            <a:ext cx="1925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2"/>
          <p:cNvSpPr/>
          <p:nvPr/>
        </p:nvSpPr>
        <p:spPr>
          <a:xfrm>
            <a:off x="607675" y="2034175"/>
            <a:ext cx="1925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82"/>
          <p:cNvSpPr txBox="1"/>
          <p:nvPr/>
        </p:nvSpPr>
        <p:spPr>
          <a:xfrm>
            <a:off x="1008754" y="1399400"/>
            <a:ext cx="12120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Policies </a:t>
            </a:r>
            <a:endParaRPr sz="1800">
              <a:solidFill>
                <a:schemeClr val="dk2"/>
              </a:solidFill>
              <a:latin typeface="Roboto"/>
              <a:ea typeface="Roboto"/>
              <a:cs typeface="Roboto"/>
              <a:sym typeface="Roboto"/>
            </a:endParaRPr>
          </a:p>
        </p:txBody>
      </p:sp>
      <p:sp>
        <p:nvSpPr>
          <p:cNvPr id="645" name="Google Shape;645;p82"/>
          <p:cNvSpPr txBox="1"/>
          <p:nvPr/>
        </p:nvSpPr>
        <p:spPr>
          <a:xfrm>
            <a:off x="1008750" y="2041825"/>
            <a:ext cx="14517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Guidelines</a:t>
            </a:r>
            <a:endParaRPr sz="1800">
              <a:solidFill>
                <a:schemeClr val="dk2"/>
              </a:solidFill>
              <a:latin typeface="Roboto"/>
              <a:ea typeface="Roboto"/>
              <a:cs typeface="Roboto"/>
              <a:sym typeface="Roboto"/>
            </a:endParaRPr>
          </a:p>
        </p:txBody>
      </p:sp>
      <p:sp>
        <p:nvSpPr>
          <p:cNvPr id="646" name="Google Shape;646;p82"/>
          <p:cNvSpPr/>
          <p:nvPr/>
        </p:nvSpPr>
        <p:spPr>
          <a:xfrm>
            <a:off x="457200" y="13623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647" name="Google Shape;647;p82"/>
          <p:cNvSpPr/>
          <p:nvPr/>
        </p:nvSpPr>
        <p:spPr>
          <a:xfrm>
            <a:off x="457200" y="200476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648" name="Google Shape;648;p82"/>
          <p:cNvSpPr/>
          <p:nvPr/>
        </p:nvSpPr>
        <p:spPr>
          <a:xfrm>
            <a:off x="607675" y="2676600"/>
            <a:ext cx="1925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82"/>
          <p:cNvSpPr txBox="1"/>
          <p:nvPr/>
        </p:nvSpPr>
        <p:spPr>
          <a:xfrm>
            <a:off x="1008750" y="2684250"/>
            <a:ext cx="12120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Laws</a:t>
            </a:r>
            <a:endParaRPr sz="1800">
              <a:solidFill>
                <a:schemeClr val="dk2"/>
              </a:solidFill>
              <a:latin typeface="Roboto"/>
              <a:ea typeface="Roboto"/>
              <a:cs typeface="Roboto"/>
              <a:sym typeface="Roboto"/>
            </a:endParaRPr>
          </a:p>
        </p:txBody>
      </p:sp>
      <p:sp>
        <p:nvSpPr>
          <p:cNvPr id="650" name="Google Shape;650;p82"/>
          <p:cNvSpPr/>
          <p:nvPr/>
        </p:nvSpPr>
        <p:spPr>
          <a:xfrm>
            <a:off x="457200" y="264719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651" name="Google Shape;651;p82"/>
          <p:cNvSpPr/>
          <p:nvPr/>
        </p:nvSpPr>
        <p:spPr>
          <a:xfrm>
            <a:off x="607675" y="3319025"/>
            <a:ext cx="1925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82"/>
          <p:cNvSpPr txBox="1"/>
          <p:nvPr/>
        </p:nvSpPr>
        <p:spPr>
          <a:xfrm>
            <a:off x="1008750" y="3326675"/>
            <a:ext cx="14517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Regulations</a:t>
            </a:r>
            <a:endParaRPr sz="1800">
              <a:solidFill>
                <a:schemeClr val="dk2"/>
              </a:solidFill>
              <a:latin typeface="Roboto"/>
              <a:ea typeface="Roboto"/>
              <a:cs typeface="Roboto"/>
              <a:sym typeface="Roboto"/>
            </a:endParaRPr>
          </a:p>
        </p:txBody>
      </p:sp>
      <p:sp>
        <p:nvSpPr>
          <p:cNvPr id="653" name="Google Shape;653;p82"/>
          <p:cNvSpPr/>
          <p:nvPr/>
        </p:nvSpPr>
        <p:spPr>
          <a:xfrm>
            <a:off x="457200" y="3289617"/>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654" name="Google Shape;654;p82"/>
          <p:cNvSpPr/>
          <p:nvPr/>
        </p:nvSpPr>
        <p:spPr>
          <a:xfrm>
            <a:off x="607675" y="3990850"/>
            <a:ext cx="1925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82"/>
          <p:cNvSpPr txBox="1"/>
          <p:nvPr/>
        </p:nvSpPr>
        <p:spPr>
          <a:xfrm>
            <a:off x="1008750" y="3998500"/>
            <a:ext cx="14517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Frameworks</a:t>
            </a:r>
            <a:endParaRPr sz="1800">
              <a:solidFill>
                <a:schemeClr val="dk2"/>
              </a:solidFill>
              <a:latin typeface="Roboto"/>
              <a:ea typeface="Roboto"/>
              <a:cs typeface="Roboto"/>
              <a:sym typeface="Roboto"/>
            </a:endParaRPr>
          </a:p>
        </p:txBody>
      </p:sp>
      <p:sp>
        <p:nvSpPr>
          <p:cNvPr id="656" name="Google Shape;656;p82"/>
          <p:cNvSpPr/>
          <p:nvPr/>
        </p:nvSpPr>
        <p:spPr>
          <a:xfrm>
            <a:off x="457200" y="3961442"/>
            <a:ext cx="459000" cy="459000"/>
          </a:xfrm>
          <a:prstGeom prst="ellipse">
            <a:avLst/>
          </a:prstGeom>
          <a:solidFill>
            <a:srgbClr val="FCB91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657" name="Google Shape;657;p82"/>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Governance Frameworks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3"/>
          <p:cNvSpPr txBox="1"/>
          <p:nvPr>
            <p:ph idx="2" type="title"/>
          </p:nvPr>
        </p:nvSpPr>
        <p:spPr>
          <a:xfrm>
            <a:off x="1725200" y="1039700"/>
            <a:ext cx="57174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lang="en">
                <a:latin typeface="Roboto"/>
                <a:ea typeface="Roboto"/>
                <a:cs typeface="Roboto"/>
                <a:sym typeface="Roboto"/>
              </a:rPr>
              <a:t>A </a:t>
            </a:r>
            <a:r>
              <a:rPr b="1" lang="en">
                <a:latin typeface="Roboto"/>
                <a:ea typeface="Roboto"/>
                <a:cs typeface="Roboto"/>
                <a:sym typeface="Roboto"/>
              </a:rPr>
              <a:t>policy</a:t>
            </a:r>
            <a:r>
              <a:rPr lang="en">
                <a:latin typeface="Roboto"/>
                <a:ea typeface="Roboto"/>
                <a:cs typeface="Roboto"/>
                <a:sym typeface="Roboto"/>
              </a:rPr>
              <a:t> is a set of rules </a:t>
            </a:r>
            <a:br>
              <a:rPr lang="en">
                <a:latin typeface="Roboto"/>
                <a:ea typeface="Roboto"/>
                <a:cs typeface="Roboto"/>
                <a:sym typeface="Roboto"/>
              </a:rPr>
            </a:br>
            <a:r>
              <a:rPr lang="en">
                <a:latin typeface="Roboto"/>
                <a:ea typeface="Roboto"/>
                <a:cs typeface="Roboto"/>
                <a:sym typeface="Roboto"/>
              </a:rPr>
              <a:t>that inform standa</a:t>
            </a:r>
            <a:r>
              <a:rPr lang="en">
                <a:latin typeface="Roboto"/>
                <a:ea typeface="Roboto"/>
                <a:cs typeface="Roboto"/>
                <a:sym typeface="Roboto"/>
              </a:rPr>
              <a:t>r</a:t>
            </a:r>
            <a:r>
              <a:rPr lang="en">
                <a:latin typeface="Roboto"/>
                <a:ea typeface="Roboto"/>
                <a:cs typeface="Roboto"/>
                <a:sym typeface="Roboto"/>
              </a:rPr>
              <a:t>ds for behavior and operations.</a:t>
            </a:r>
            <a:endParaRPr>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4"/>
          <p:cNvSpPr txBox="1"/>
          <p:nvPr>
            <p:ph type="title"/>
          </p:nvPr>
        </p:nvSpPr>
        <p:spPr>
          <a:xfrm>
            <a:off x="457150" y="189750"/>
            <a:ext cx="8375100" cy="47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Policy Examples</a:t>
            </a:r>
            <a:endParaRPr/>
          </a:p>
        </p:txBody>
      </p:sp>
      <p:sp>
        <p:nvSpPr>
          <p:cNvPr id="668" name="Google Shape;668;p84"/>
          <p:cNvSpPr/>
          <p:nvPr/>
        </p:nvSpPr>
        <p:spPr>
          <a:xfrm>
            <a:off x="457160" y="10643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669" name="Google Shape;669;p84"/>
          <p:cNvSpPr/>
          <p:nvPr/>
        </p:nvSpPr>
        <p:spPr>
          <a:xfrm rot="10800000">
            <a:off x="593369" y="14531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670" name="Google Shape;670;p84"/>
          <p:cNvSpPr/>
          <p:nvPr/>
        </p:nvSpPr>
        <p:spPr>
          <a:xfrm>
            <a:off x="4876760" y="10643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671" name="Google Shape;671;p84"/>
          <p:cNvSpPr/>
          <p:nvPr/>
        </p:nvSpPr>
        <p:spPr>
          <a:xfrm rot="10800000">
            <a:off x="5012969" y="14531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4"/>
          <p:cNvSpPr txBox="1"/>
          <p:nvPr/>
        </p:nvSpPr>
        <p:spPr>
          <a:xfrm>
            <a:off x="457150" y="10762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673" name="Google Shape;673;p84"/>
          <p:cNvSpPr txBox="1"/>
          <p:nvPr/>
        </p:nvSpPr>
        <p:spPr>
          <a:xfrm>
            <a:off x="4876750" y="10809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674" name="Google Shape;674;p84"/>
          <p:cNvSpPr txBox="1"/>
          <p:nvPr/>
        </p:nvSpPr>
        <p:spPr>
          <a:xfrm>
            <a:off x="465975" y="1101225"/>
            <a:ext cx="36492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Medium"/>
                <a:ea typeface="Roboto Medium"/>
                <a:cs typeface="Roboto Medium"/>
                <a:sym typeface="Roboto Medium"/>
              </a:rPr>
              <a:t>Bring Your Own Device (BYOD)</a:t>
            </a:r>
            <a:endParaRPr sz="1800">
              <a:solidFill>
                <a:srgbClr val="FFFFFF"/>
              </a:solidFill>
              <a:latin typeface="Roboto Medium"/>
              <a:ea typeface="Roboto Medium"/>
              <a:cs typeface="Roboto Medium"/>
              <a:sym typeface="Roboto Medium"/>
            </a:endParaRPr>
          </a:p>
        </p:txBody>
      </p:sp>
      <p:sp>
        <p:nvSpPr>
          <p:cNvPr id="675" name="Google Shape;675;p84"/>
          <p:cNvSpPr txBox="1"/>
          <p:nvPr/>
        </p:nvSpPr>
        <p:spPr>
          <a:xfrm>
            <a:off x="4900000" y="1101225"/>
            <a:ext cx="39324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Medium"/>
                <a:ea typeface="Roboto Medium"/>
                <a:cs typeface="Roboto Medium"/>
                <a:sym typeface="Roboto Medium"/>
              </a:rPr>
              <a:t>Mobile Device Management (MDM)</a:t>
            </a:r>
            <a:endParaRPr sz="1800">
              <a:solidFill>
                <a:srgbClr val="FFFFFF"/>
              </a:solidFill>
              <a:latin typeface="Roboto Medium"/>
              <a:ea typeface="Roboto Medium"/>
              <a:cs typeface="Roboto Medium"/>
              <a:sym typeface="Roboto Medium"/>
            </a:endParaRPr>
          </a:p>
        </p:txBody>
      </p:sp>
      <p:sp>
        <p:nvSpPr>
          <p:cNvPr id="676" name="Google Shape;676;p84"/>
          <p:cNvSpPr txBox="1"/>
          <p:nvPr/>
        </p:nvSpPr>
        <p:spPr>
          <a:xfrm>
            <a:off x="542175" y="1775750"/>
            <a:ext cx="3649200" cy="2841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Roboto"/>
              <a:buChar char="●"/>
            </a:pPr>
            <a:r>
              <a:rPr lang="en" sz="1600">
                <a:solidFill>
                  <a:schemeClr val="dk2"/>
                </a:solidFill>
                <a:latin typeface="Roboto"/>
                <a:ea typeface="Roboto"/>
                <a:cs typeface="Roboto"/>
                <a:sym typeface="Roboto"/>
              </a:rPr>
              <a:t>This is a form of non-intrusive policy adopted by organizations that specifically define the acceptable use of non company-owned devices. </a:t>
            </a:r>
            <a:endParaRPr sz="1600">
              <a:solidFill>
                <a:schemeClr val="dk2"/>
              </a:solidFill>
              <a:latin typeface="Roboto"/>
              <a:ea typeface="Roboto"/>
              <a:cs typeface="Roboto"/>
              <a:sym typeface="Roboto"/>
            </a:endParaRPr>
          </a:p>
          <a:p>
            <a:pPr indent="-330200" lvl="0" marL="457200" rtl="0" algn="l">
              <a:spcBef>
                <a:spcPts val="1000"/>
              </a:spcBef>
              <a:spcAft>
                <a:spcPts val="1000"/>
              </a:spcAft>
              <a:buClr>
                <a:schemeClr val="dk2"/>
              </a:buClr>
              <a:buSzPts val="1600"/>
              <a:buFont typeface="Roboto"/>
              <a:buChar char="●"/>
            </a:pPr>
            <a:r>
              <a:rPr lang="en" sz="1600">
                <a:solidFill>
                  <a:schemeClr val="dk2"/>
                </a:solidFill>
                <a:latin typeface="Roboto"/>
                <a:ea typeface="Roboto"/>
                <a:cs typeface="Roboto"/>
                <a:sym typeface="Roboto"/>
              </a:rPr>
              <a:t>Devices referenced in this policy may include desktop computers, routers, switches, test measurement equipment, and weather equipment.</a:t>
            </a:r>
            <a:endParaRPr sz="1600">
              <a:solidFill>
                <a:schemeClr val="dk2"/>
              </a:solidFill>
              <a:latin typeface="Roboto"/>
              <a:ea typeface="Roboto"/>
              <a:cs typeface="Roboto"/>
              <a:sym typeface="Roboto"/>
            </a:endParaRPr>
          </a:p>
        </p:txBody>
      </p:sp>
      <p:sp>
        <p:nvSpPr>
          <p:cNvPr id="677" name="Google Shape;677;p84"/>
          <p:cNvSpPr txBox="1"/>
          <p:nvPr/>
        </p:nvSpPr>
        <p:spPr>
          <a:xfrm>
            <a:off x="4976200" y="1775750"/>
            <a:ext cx="3649200" cy="2841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Font typeface="Roboto"/>
              <a:buChar char="●"/>
            </a:pPr>
            <a:r>
              <a:rPr lang="en" sz="1600">
                <a:solidFill>
                  <a:schemeClr val="dk2"/>
                </a:solidFill>
                <a:latin typeface="Roboto"/>
                <a:ea typeface="Roboto"/>
                <a:cs typeface="Roboto"/>
                <a:sym typeface="Roboto"/>
              </a:rPr>
              <a:t>This is an example of a restrictive or intrusive policy that is a subset of a BYOD policy. </a:t>
            </a:r>
            <a:endParaRPr sz="1600">
              <a:solidFill>
                <a:schemeClr val="dk2"/>
              </a:solidFill>
              <a:latin typeface="Roboto"/>
              <a:ea typeface="Roboto"/>
              <a:cs typeface="Roboto"/>
              <a:sym typeface="Roboto"/>
            </a:endParaRPr>
          </a:p>
          <a:p>
            <a:pPr indent="-330200" lvl="0" marL="457200" rtl="0" algn="l">
              <a:spcBef>
                <a:spcPts val="1000"/>
              </a:spcBef>
              <a:spcAft>
                <a:spcPts val="0"/>
              </a:spcAft>
              <a:buClr>
                <a:schemeClr val="dk2"/>
              </a:buClr>
              <a:buSzPts val="1600"/>
              <a:buFont typeface="Roboto"/>
              <a:buChar char="●"/>
            </a:pPr>
            <a:r>
              <a:rPr lang="en" sz="1600">
                <a:solidFill>
                  <a:schemeClr val="dk2"/>
                </a:solidFill>
                <a:latin typeface="Roboto"/>
                <a:ea typeface="Roboto"/>
                <a:cs typeface="Roboto"/>
                <a:sym typeface="Roboto"/>
              </a:rPr>
              <a:t>MDM is more specifically defined as an acceptable use policy of personally-owned mobile devices. Devices referenced in this policy include cell phones, laptops, and Wi-Fi hotspots.</a:t>
            </a:r>
            <a:endParaRPr sz="1600">
              <a:solidFill>
                <a:schemeClr val="dk2"/>
              </a:solidFill>
              <a:latin typeface="Roboto"/>
              <a:ea typeface="Roboto"/>
              <a:cs typeface="Roboto"/>
              <a:sym typeface="Roboto"/>
            </a:endParaRPr>
          </a:p>
          <a:p>
            <a:pPr indent="0" lvl="0" marL="0" rtl="0" algn="l">
              <a:spcBef>
                <a:spcPts val="1000"/>
              </a:spcBef>
              <a:spcAft>
                <a:spcPts val="0"/>
              </a:spcAft>
              <a:buNone/>
            </a:pPr>
            <a:r>
              <a:t/>
            </a:r>
            <a:endParaRPr sz="1600">
              <a:solidFill>
                <a:schemeClr val="dk2"/>
              </a:solidFill>
              <a:latin typeface="Roboto"/>
              <a:ea typeface="Roboto"/>
              <a:cs typeface="Roboto"/>
              <a:sym typeface="Roboto"/>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pic>
        <p:nvPicPr>
          <p:cNvPr id="678" name="Google Shape;678;p84"/>
          <p:cNvPicPr preferRelativeResize="0"/>
          <p:nvPr/>
        </p:nvPicPr>
        <p:blipFill rotWithShape="1">
          <a:blip r:embed="rId3">
            <a:alphaModFix/>
          </a:blip>
          <a:srcRect b="0" l="0" r="0" t="0"/>
          <a:stretch/>
        </p:blipFill>
        <p:spPr>
          <a:xfrm>
            <a:off x="4305138" y="954450"/>
            <a:ext cx="827470" cy="36625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85"/>
          <p:cNvSpPr txBox="1"/>
          <p:nvPr>
            <p:ph idx="2" type="title"/>
          </p:nvPr>
        </p:nvSpPr>
        <p:spPr>
          <a:xfrm>
            <a:off x="1745125" y="1039700"/>
            <a:ext cx="57255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b="1" lang="en" sz="2700">
                <a:latin typeface="Roboto"/>
                <a:ea typeface="Roboto"/>
                <a:cs typeface="Roboto"/>
                <a:sym typeface="Roboto"/>
              </a:rPr>
              <a:t>Guidelines</a:t>
            </a:r>
            <a:r>
              <a:rPr lang="en" sz="2700">
                <a:latin typeface="Roboto"/>
                <a:ea typeface="Roboto"/>
                <a:cs typeface="Roboto"/>
                <a:sym typeface="Roboto"/>
              </a:rPr>
              <a:t> are similar to policies </a:t>
            </a:r>
            <a:br>
              <a:rPr lang="en" sz="2700">
                <a:latin typeface="Roboto"/>
                <a:ea typeface="Roboto"/>
                <a:cs typeface="Roboto"/>
                <a:sym typeface="Roboto"/>
              </a:rPr>
            </a:br>
            <a:r>
              <a:rPr lang="en" sz="2700">
                <a:latin typeface="Roboto"/>
                <a:ea typeface="Roboto"/>
                <a:cs typeface="Roboto"/>
                <a:sym typeface="Roboto"/>
              </a:rPr>
              <a:t>as they are issued by organizations </a:t>
            </a:r>
            <a:br>
              <a:rPr lang="en" sz="2700">
                <a:latin typeface="Roboto"/>
                <a:ea typeface="Roboto"/>
                <a:cs typeface="Roboto"/>
                <a:sym typeface="Roboto"/>
              </a:rPr>
            </a:br>
            <a:r>
              <a:rPr lang="en" sz="2700">
                <a:latin typeface="Roboto"/>
                <a:ea typeface="Roboto"/>
                <a:cs typeface="Roboto"/>
                <a:sym typeface="Roboto"/>
              </a:rPr>
              <a:t>to make the actions o</a:t>
            </a:r>
            <a:r>
              <a:rPr lang="en" sz="2700">
                <a:latin typeface="Roboto"/>
                <a:ea typeface="Roboto"/>
                <a:cs typeface="Roboto"/>
                <a:sym typeface="Roboto"/>
              </a:rPr>
              <a:t>f</a:t>
            </a:r>
            <a:r>
              <a:rPr lang="en" sz="2700">
                <a:latin typeface="Roboto"/>
                <a:ea typeface="Roboto"/>
                <a:cs typeface="Roboto"/>
                <a:sym typeface="Roboto"/>
              </a:rPr>
              <a:t> employees </a:t>
            </a:r>
            <a:br>
              <a:rPr lang="en" sz="2700">
                <a:latin typeface="Roboto"/>
                <a:ea typeface="Roboto"/>
                <a:cs typeface="Roboto"/>
                <a:sym typeface="Roboto"/>
              </a:rPr>
            </a:br>
            <a:r>
              <a:rPr lang="en" sz="2700">
                <a:latin typeface="Roboto"/>
                <a:ea typeface="Roboto"/>
                <a:cs typeface="Roboto"/>
                <a:sym typeface="Roboto"/>
              </a:rPr>
              <a:t>or departments more predictable </a:t>
            </a:r>
            <a:br>
              <a:rPr lang="en" sz="2700">
                <a:latin typeface="Roboto"/>
                <a:ea typeface="Roboto"/>
                <a:cs typeface="Roboto"/>
                <a:sym typeface="Roboto"/>
              </a:rPr>
            </a:br>
            <a:r>
              <a:rPr lang="en" sz="2700">
                <a:latin typeface="Roboto"/>
                <a:ea typeface="Roboto"/>
                <a:cs typeface="Roboto"/>
                <a:sym typeface="Roboto"/>
              </a:rPr>
              <a:t>and presumably of a higher quality.</a:t>
            </a:r>
            <a:endParaRPr sz="3500">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86"/>
          <p:cNvSpPr txBox="1"/>
          <p:nvPr>
            <p:ph type="title"/>
          </p:nvPr>
        </p:nvSpPr>
        <p:spPr>
          <a:xfrm>
            <a:off x="3156950" y="880800"/>
            <a:ext cx="5555100" cy="338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Guidelines are not mandatory.</a:t>
            </a:r>
            <a:r>
              <a:rPr b="0" lang="en"/>
              <a:t> </a:t>
            </a:r>
            <a:r>
              <a:rPr b="0" lang="en">
                <a:latin typeface="Roboto"/>
                <a:ea typeface="Roboto"/>
                <a:cs typeface="Roboto"/>
                <a:sym typeface="Roboto"/>
              </a:rPr>
              <a:t>They a</a:t>
            </a:r>
            <a:r>
              <a:rPr b="0" lang="en">
                <a:latin typeface="Roboto"/>
                <a:ea typeface="Roboto"/>
                <a:cs typeface="Roboto"/>
                <a:sym typeface="Roboto"/>
              </a:rPr>
              <a:t>re</a:t>
            </a:r>
            <a:r>
              <a:rPr b="0" lang="en">
                <a:latin typeface="Roboto"/>
                <a:ea typeface="Roboto"/>
                <a:cs typeface="Roboto"/>
                <a:sym typeface="Roboto"/>
              </a:rPr>
              <a:t> only suggestions meant to be followed by those to whom they apply.</a:t>
            </a:r>
            <a:endParaRPr b="0">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87"/>
          <p:cNvSpPr txBox="1"/>
          <p:nvPr>
            <p:ph idx="2" type="title"/>
          </p:nvPr>
        </p:nvSpPr>
        <p:spPr>
          <a:xfrm>
            <a:off x="1715250" y="1039700"/>
            <a:ext cx="56478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b="1" lang="en" sz="3200">
                <a:latin typeface="Roboto"/>
                <a:ea typeface="Roboto"/>
                <a:cs typeface="Roboto"/>
                <a:sym typeface="Roboto"/>
              </a:rPr>
              <a:t>Laws</a:t>
            </a:r>
            <a:r>
              <a:rPr lang="en" sz="3200">
                <a:latin typeface="Roboto"/>
                <a:ea typeface="Roboto"/>
                <a:cs typeface="Roboto"/>
                <a:sym typeface="Roboto"/>
              </a:rPr>
              <a:t> are policies that ar</a:t>
            </a:r>
            <a:r>
              <a:rPr lang="en" sz="3200">
                <a:latin typeface="Roboto"/>
                <a:ea typeface="Roboto"/>
                <a:cs typeface="Roboto"/>
                <a:sym typeface="Roboto"/>
              </a:rPr>
              <a:t>e</a:t>
            </a:r>
            <a:r>
              <a:rPr lang="en" sz="3200">
                <a:latin typeface="Roboto"/>
                <a:ea typeface="Roboto"/>
                <a:cs typeface="Roboto"/>
                <a:sym typeface="Roboto"/>
              </a:rPr>
              <a:t> written in legal language </a:t>
            </a:r>
            <a:br>
              <a:rPr lang="en" sz="3200">
                <a:latin typeface="Roboto"/>
                <a:ea typeface="Roboto"/>
                <a:cs typeface="Roboto"/>
                <a:sym typeface="Roboto"/>
              </a:rPr>
            </a:br>
            <a:r>
              <a:rPr lang="en" sz="3200">
                <a:latin typeface="Roboto"/>
                <a:ea typeface="Roboto"/>
                <a:cs typeface="Roboto"/>
                <a:sym typeface="Roboto"/>
              </a:rPr>
              <a:t>and voted upon and passed </a:t>
            </a:r>
            <a:br>
              <a:rPr lang="en" sz="3200">
                <a:latin typeface="Roboto"/>
                <a:ea typeface="Roboto"/>
                <a:cs typeface="Roboto"/>
                <a:sym typeface="Roboto"/>
              </a:rPr>
            </a:br>
            <a:r>
              <a:rPr lang="en" sz="3200">
                <a:latin typeface="Roboto"/>
                <a:ea typeface="Roboto"/>
                <a:cs typeface="Roboto"/>
                <a:sym typeface="Roboto"/>
              </a:rPr>
              <a:t>by legislative bodies of government.</a:t>
            </a:r>
            <a:endParaRPr sz="3200">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97" name="Shape 697"/>
        <p:cNvGrpSpPr/>
        <p:nvPr/>
      </p:nvGrpSpPr>
      <p:grpSpPr>
        <a:xfrm>
          <a:off x="0" y="0"/>
          <a:ext cx="0" cy="0"/>
          <a:chOff x="0" y="0"/>
          <a:chExt cx="0" cy="0"/>
        </a:xfrm>
      </p:grpSpPr>
      <p:sp>
        <p:nvSpPr>
          <p:cNvPr id="698" name="Google Shape;698;p88"/>
          <p:cNvSpPr/>
          <p:nvPr/>
        </p:nvSpPr>
        <p:spPr>
          <a:xfrm>
            <a:off x="215050" y="595100"/>
            <a:ext cx="8692200" cy="10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88"/>
          <p:cNvSpPr txBox="1"/>
          <p:nvPr>
            <p:ph idx="1" type="body"/>
          </p:nvPr>
        </p:nvSpPr>
        <p:spPr>
          <a:xfrm>
            <a:off x="457200" y="863550"/>
            <a:ext cx="3909600" cy="34164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Laws are enforced by agencies tasked with overseeing and monitoring the rule of law.</a:t>
            </a:r>
            <a:endParaRPr/>
          </a:p>
          <a:p>
            <a:pPr indent="0" lvl="0" marL="0" rtl="0" algn="l">
              <a:spcBef>
                <a:spcPts val="1000"/>
              </a:spcBef>
              <a:spcAft>
                <a:spcPts val="0"/>
              </a:spcAft>
              <a:buNone/>
            </a:pPr>
            <a:r>
              <a:rPr lang="en"/>
              <a:t>One such organization is the </a:t>
            </a:r>
            <a:br>
              <a:rPr lang="en"/>
            </a:br>
            <a:r>
              <a:rPr b="1" lang="en"/>
              <a:t>US </a:t>
            </a:r>
            <a:r>
              <a:rPr b="1" lang="en">
                <a:latin typeface="Roboto"/>
                <a:ea typeface="Roboto"/>
                <a:cs typeface="Roboto"/>
                <a:sym typeface="Roboto"/>
              </a:rPr>
              <a:t>Securities and Exchange Commission (SEC)</a:t>
            </a:r>
            <a:r>
              <a:rPr lang="en"/>
              <a:t>.</a:t>
            </a:r>
            <a:endParaRPr/>
          </a:p>
          <a:p>
            <a:pPr indent="0" lvl="0" marL="0" rtl="0" algn="l">
              <a:spcBef>
                <a:spcPts val="1600"/>
              </a:spcBef>
              <a:spcAft>
                <a:spcPts val="1000"/>
              </a:spcAft>
              <a:buNone/>
            </a:pPr>
            <a:r>
              <a:rPr lang="en"/>
              <a:t>Frameworks originate from the SEC, the regulatory organization in charge of proposing and enforcing laws regarding financial instruments </a:t>
            </a:r>
            <a:br>
              <a:rPr lang="en"/>
            </a:br>
            <a:r>
              <a:rPr lang="en"/>
              <a:t>(e.g., stocks, bonds, options), and protecting consumers from fraud.</a:t>
            </a:r>
            <a:endParaRPr/>
          </a:p>
        </p:txBody>
      </p:sp>
      <p:pic>
        <p:nvPicPr>
          <p:cNvPr id="700" name="Google Shape;700;p88"/>
          <p:cNvPicPr preferRelativeResize="0"/>
          <p:nvPr/>
        </p:nvPicPr>
        <p:blipFill>
          <a:blip r:embed="rId3">
            <a:alphaModFix/>
          </a:blip>
          <a:stretch>
            <a:fillRect/>
          </a:stretch>
        </p:blipFill>
        <p:spPr>
          <a:xfrm>
            <a:off x="4589675" y="595100"/>
            <a:ext cx="3909499" cy="39094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89"/>
          <p:cNvSpPr txBox="1"/>
          <p:nvPr>
            <p:ph idx="4294967295" type="subTitle"/>
          </p:nvPr>
        </p:nvSpPr>
        <p:spPr>
          <a:xfrm>
            <a:off x="267250" y="4846225"/>
            <a:ext cx="7692300" cy="22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300">
                <a:solidFill>
                  <a:schemeClr val="dk1"/>
                </a:solidFill>
                <a:latin typeface="Roboto Light"/>
                <a:ea typeface="Roboto Light"/>
                <a:cs typeface="Roboto Light"/>
                <a:sym typeface="Roboto Light"/>
              </a:rPr>
              <a:t>Source: </a:t>
            </a:r>
            <a:r>
              <a:rPr lang="en" sz="1300" u="sng">
                <a:solidFill>
                  <a:schemeClr val="dk1"/>
                </a:solidFill>
                <a:latin typeface="Roboto Light"/>
                <a:ea typeface="Roboto Light"/>
                <a:cs typeface="Roboto Light"/>
                <a:sym typeface="Roboto Light"/>
                <a:hlinkClick r:id="rId3">
                  <a:extLst>
                    <a:ext uri="{A12FA001-AC4F-418D-AE19-62706E023703}">
                      <ahyp:hlinkClr val="tx"/>
                    </a:ext>
                  </a:extLst>
                </a:hlinkClick>
              </a:rPr>
              <a:t>sec.gov</a:t>
            </a:r>
            <a:endParaRPr sz="1300">
              <a:solidFill>
                <a:schemeClr val="dk1"/>
              </a:solidFill>
              <a:latin typeface="Roboto Light"/>
              <a:ea typeface="Roboto Light"/>
              <a:cs typeface="Roboto Light"/>
              <a:sym typeface="Roboto Light"/>
            </a:endParaRPr>
          </a:p>
        </p:txBody>
      </p:sp>
      <p:pic>
        <p:nvPicPr>
          <p:cNvPr id="706" name="Google Shape;706;p89"/>
          <p:cNvPicPr preferRelativeResize="0"/>
          <p:nvPr/>
        </p:nvPicPr>
        <p:blipFill rotWithShape="1">
          <a:blip r:embed="rId4">
            <a:alphaModFix/>
          </a:blip>
          <a:srcRect b="8558" l="0" r="0" t="0"/>
          <a:stretch/>
        </p:blipFill>
        <p:spPr>
          <a:xfrm>
            <a:off x="1109200" y="1685863"/>
            <a:ext cx="6901001" cy="3056525"/>
          </a:xfrm>
          <a:prstGeom prst="rect">
            <a:avLst/>
          </a:prstGeom>
          <a:noFill/>
          <a:ln cap="flat" cmpd="sng" w="9525">
            <a:solidFill>
              <a:schemeClr val="dk2"/>
            </a:solidFill>
            <a:prstDash val="solid"/>
            <a:round/>
            <a:headEnd len="sm" w="sm" type="none"/>
            <a:tailEnd len="sm" w="sm" type="none"/>
          </a:ln>
        </p:spPr>
      </p:pic>
      <p:sp>
        <p:nvSpPr>
          <p:cNvPr id="707" name="Google Shape;707;p89"/>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082D49"/>
                </a:solidFill>
                <a:latin typeface="Roboto"/>
                <a:ea typeface="Roboto"/>
                <a:cs typeface="Roboto"/>
                <a:sym typeface="Roboto"/>
              </a:rPr>
              <a:t>The SEC</a:t>
            </a:r>
            <a:endParaRPr b="1" sz="2600">
              <a:solidFill>
                <a:srgbClr val="082D49"/>
              </a:solidFill>
              <a:latin typeface="Roboto"/>
              <a:ea typeface="Roboto"/>
              <a:cs typeface="Roboto"/>
              <a:sym typeface="Roboto"/>
            </a:endParaRPr>
          </a:p>
        </p:txBody>
      </p:sp>
      <p:sp>
        <p:nvSpPr>
          <p:cNvPr id="708" name="Google Shape;708;p89"/>
          <p:cNvSpPr txBox="1"/>
          <p:nvPr/>
        </p:nvSpPr>
        <p:spPr>
          <a:xfrm>
            <a:off x="457200" y="548650"/>
            <a:ext cx="8229600" cy="274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During the 1990s, the SEC worked with the U</a:t>
            </a:r>
            <a:r>
              <a:rPr lang="en" sz="1800">
                <a:solidFill>
                  <a:schemeClr val="dk2"/>
                </a:solidFill>
                <a:latin typeface="Roboto"/>
                <a:ea typeface="Roboto"/>
                <a:cs typeface="Roboto"/>
                <a:sym typeface="Roboto"/>
              </a:rPr>
              <a:t>nited</a:t>
            </a:r>
            <a:r>
              <a:rPr lang="en" sz="1800">
                <a:solidFill>
                  <a:schemeClr val="dk2"/>
                </a:solidFill>
                <a:latin typeface="Roboto"/>
                <a:ea typeface="Roboto"/>
                <a:cs typeface="Roboto"/>
                <a:sym typeface="Roboto"/>
              </a:rPr>
              <a:t> States Congress to pass anti-fraud laws to discourage cybercrime. In 2000, the SEC moved past simple anti-fraud laws by adopting the regulatory statute Regulation S-P.</a:t>
            </a:r>
            <a:endParaRPr sz="1800">
              <a:solidFill>
                <a:schemeClr val="dk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0"/>
          <p:cNvSpPr txBox="1"/>
          <p:nvPr>
            <p:ph type="title"/>
          </p:nvPr>
        </p:nvSpPr>
        <p:spPr>
          <a:xfrm>
            <a:off x="436075" y="21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Industry-Specific Laws</a:t>
            </a:r>
            <a:endParaRPr/>
          </a:p>
        </p:txBody>
      </p:sp>
      <p:sp>
        <p:nvSpPr>
          <p:cNvPr id="714" name="Google Shape;714;p90"/>
          <p:cNvSpPr txBox="1"/>
          <p:nvPr>
            <p:ph idx="1" type="body"/>
          </p:nvPr>
        </p:nvSpPr>
        <p:spPr>
          <a:xfrm>
            <a:off x="464100" y="660550"/>
            <a:ext cx="8520600" cy="327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Different industries have different laws.</a:t>
            </a:r>
            <a:endParaRPr/>
          </a:p>
        </p:txBody>
      </p:sp>
      <p:sp>
        <p:nvSpPr>
          <p:cNvPr id="715" name="Google Shape;715;p90"/>
          <p:cNvSpPr/>
          <p:nvPr/>
        </p:nvSpPr>
        <p:spPr>
          <a:xfrm>
            <a:off x="2605134" y="1156325"/>
            <a:ext cx="2016300" cy="38157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0"/>
          <p:cNvSpPr/>
          <p:nvPr/>
        </p:nvSpPr>
        <p:spPr>
          <a:xfrm>
            <a:off x="4774156" y="1156325"/>
            <a:ext cx="2016300" cy="3815700"/>
          </a:xfrm>
          <a:prstGeom prst="snip1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90"/>
          <p:cNvSpPr/>
          <p:nvPr/>
        </p:nvSpPr>
        <p:spPr>
          <a:xfrm>
            <a:off x="6937278" y="1156325"/>
            <a:ext cx="2016300" cy="3815700"/>
          </a:xfrm>
          <a:prstGeom prst="snip1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90"/>
          <p:cNvSpPr/>
          <p:nvPr/>
        </p:nvSpPr>
        <p:spPr>
          <a:xfrm>
            <a:off x="436075" y="1156325"/>
            <a:ext cx="2016300" cy="3320700"/>
          </a:xfrm>
          <a:prstGeom prst="snip1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90"/>
          <p:cNvSpPr/>
          <p:nvPr/>
        </p:nvSpPr>
        <p:spPr>
          <a:xfrm>
            <a:off x="257400" y="2258800"/>
            <a:ext cx="8934000" cy="105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90"/>
          <p:cNvSpPr txBox="1"/>
          <p:nvPr/>
        </p:nvSpPr>
        <p:spPr>
          <a:xfrm>
            <a:off x="436075" y="1384875"/>
            <a:ext cx="2016300" cy="909000"/>
          </a:xfrm>
          <a:prstGeom prst="rect">
            <a:avLst/>
          </a:prstGeom>
          <a:noFill/>
          <a:ln>
            <a:noFill/>
          </a:ln>
        </p:spPr>
        <p:txBody>
          <a:bodyPr anchorCtr="0" anchor="b" bIns="91425" lIns="137150"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b="1" lang="en">
                <a:solidFill>
                  <a:schemeClr val="dk2"/>
                </a:solidFill>
                <a:latin typeface="Roboto"/>
                <a:ea typeface="Roboto"/>
                <a:cs typeface="Roboto"/>
                <a:sym typeface="Roboto"/>
              </a:rPr>
              <a:t>Family Educational Rights and Privacy Act (FERPA)</a:t>
            </a:r>
            <a:endParaRPr b="1">
              <a:solidFill>
                <a:schemeClr val="dk2"/>
              </a:solidFill>
              <a:latin typeface="Roboto"/>
              <a:ea typeface="Roboto"/>
              <a:cs typeface="Roboto"/>
              <a:sym typeface="Roboto"/>
            </a:endParaRPr>
          </a:p>
          <a:p>
            <a:pPr indent="0" lvl="0" marL="0" rtl="0" algn="l">
              <a:lnSpc>
                <a:spcPct val="100000"/>
              </a:lnSpc>
              <a:spcBef>
                <a:spcPts val="0"/>
              </a:spcBef>
              <a:spcAft>
                <a:spcPts val="0"/>
              </a:spcAft>
              <a:buClr>
                <a:srgbClr val="000000"/>
              </a:buClr>
              <a:buSzPts val="1100"/>
              <a:buFont typeface="Arial"/>
              <a:buNone/>
            </a:pPr>
            <a:r>
              <a:t/>
            </a:r>
            <a:endParaRPr b="1">
              <a:solidFill>
                <a:schemeClr val="dk2"/>
              </a:solidFill>
              <a:latin typeface="Roboto"/>
              <a:ea typeface="Roboto"/>
              <a:cs typeface="Roboto"/>
              <a:sym typeface="Roboto"/>
            </a:endParaRPr>
          </a:p>
        </p:txBody>
      </p:sp>
      <p:sp>
        <p:nvSpPr>
          <p:cNvPr id="721" name="Google Shape;721;p90"/>
          <p:cNvSpPr txBox="1"/>
          <p:nvPr/>
        </p:nvSpPr>
        <p:spPr>
          <a:xfrm>
            <a:off x="442975" y="2428346"/>
            <a:ext cx="2016300" cy="2543700"/>
          </a:xfrm>
          <a:prstGeom prst="rect">
            <a:avLst/>
          </a:prstGeom>
          <a:solidFill>
            <a:schemeClr val="accent4"/>
          </a:solidFill>
          <a:ln>
            <a:noFill/>
          </a:ln>
        </p:spPr>
        <p:txBody>
          <a:bodyPr anchorCtr="0" anchor="t" bIns="91425" lIns="137150" spcFirstLastPara="1" rIns="91425" wrap="square" tIns="182875">
            <a:noAutofit/>
          </a:bodyPr>
          <a:lstStyle/>
          <a:p>
            <a:pPr indent="0" lvl="0" marL="0" rtl="0" algn="l">
              <a:lnSpc>
                <a:spcPct val="110000"/>
              </a:lnSpc>
              <a:spcBef>
                <a:spcPts val="0"/>
              </a:spcBef>
              <a:spcAft>
                <a:spcPts val="0"/>
              </a:spcAft>
              <a:buClr>
                <a:schemeClr val="dk1"/>
              </a:buClr>
              <a:buSzPts val="1100"/>
              <a:buFont typeface="Arial"/>
              <a:buNone/>
            </a:pPr>
            <a:r>
              <a:rPr lang="en">
                <a:solidFill>
                  <a:schemeClr val="dk2"/>
                </a:solidFill>
                <a:latin typeface="Roboto"/>
                <a:ea typeface="Roboto"/>
                <a:cs typeface="Roboto"/>
                <a:sym typeface="Roboto"/>
              </a:rPr>
              <a:t>Protects the privacy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of student education records. Parents or eligible students have the right to request records be corrected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if they believe them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 be misleading or inaccurate.</a:t>
            </a:r>
            <a:endParaRPr>
              <a:solidFill>
                <a:schemeClr val="dk2"/>
              </a:solidFill>
              <a:latin typeface="Roboto"/>
              <a:ea typeface="Roboto"/>
              <a:cs typeface="Roboto"/>
              <a:sym typeface="Roboto"/>
            </a:endParaRPr>
          </a:p>
        </p:txBody>
      </p:sp>
      <p:sp>
        <p:nvSpPr>
          <p:cNvPr id="722" name="Google Shape;722;p90"/>
          <p:cNvSpPr txBox="1"/>
          <p:nvPr/>
        </p:nvSpPr>
        <p:spPr>
          <a:xfrm>
            <a:off x="2605325" y="1232525"/>
            <a:ext cx="1897800" cy="985200"/>
          </a:xfrm>
          <a:prstGeom prst="rect">
            <a:avLst/>
          </a:prstGeom>
          <a:noFill/>
          <a:ln>
            <a:noFill/>
          </a:ln>
        </p:spPr>
        <p:txBody>
          <a:bodyPr anchorCtr="0" anchor="t" bIns="91425" lIns="137150"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b="1" lang="en">
                <a:solidFill>
                  <a:schemeClr val="dk2"/>
                </a:solidFill>
                <a:latin typeface="Roboto"/>
                <a:ea typeface="Roboto"/>
                <a:cs typeface="Roboto"/>
                <a:sym typeface="Roboto"/>
              </a:rPr>
              <a:t>Gramm-Leach-</a:t>
            </a:r>
            <a:br>
              <a:rPr b="1" lang="en">
                <a:solidFill>
                  <a:schemeClr val="dk2"/>
                </a:solidFill>
                <a:latin typeface="Roboto"/>
                <a:ea typeface="Roboto"/>
                <a:cs typeface="Roboto"/>
                <a:sym typeface="Roboto"/>
              </a:rPr>
            </a:br>
            <a:r>
              <a:rPr b="1" lang="en">
                <a:solidFill>
                  <a:schemeClr val="dk2"/>
                </a:solidFill>
                <a:latin typeface="Roboto"/>
                <a:ea typeface="Roboto"/>
                <a:cs typeface="Roboto"/>
                <a:sym typeface="Roboto"/>
              </a:rPr>
              <a:t>Bliley Act (GLBA) </a:t>
            </a:r>
            <a:r>
              <a:rPr b="1" lang="en">
                <a:solidFill>
                  <a:schemeClr val="dk2"/>
                </a:solidFill>
                <a:latin typeface="Roboto"/>
                <a:ea typeface="Roboto"/>
                <a:cs typeface="Roboto"/>
                <a:sym typeface="Roboto"/>
              </a:rPr>
              <a:t> </a:t>
            </a:r>
            <a:endParaRPr>
              <a:solidFill>
                <a:schemeClr val="dk2"/>
              </a:solidFill>
              <a:latin typeface="Roboto"/>
              <a:ea typeface="Roboto"/>
              <a:cs typeface="Roboto"/>
              <a:sym typeface="Roboto"/>
            </a:endParaRPr>
          </a:p>
        </p:txBody>
      </p:sp>
      <p:sp>
        <p:nvSpPr>
          <p:cNvPr id="723" name="Google Shape;723;p90"/>
          <p:cNvSpPr txBox="1"/>
          <p:nvPr/>
        </p:nvSpPr>
        <p:spPr>
          <a:xfrm>
            <a:off x="2612222" y="2428346"/>
            <a:ext cx="2016300" cy="2543700"/>
          </a:xfrm>
          <a:prstGeom prst="rect">
            <a:avLst/>
          </a:prstGeom>
          <a:noFill/>
          <a:ln>
            <a:noFill/>
          </a:ln>
        </p:spPr>
        <p:txBody>
          <a:bodyPr anchorCtr="0" anchor="t" bIns="91425" lIns="137150" spcFirstLastPara="1" rIns="91425" wrap="square" tIns="182875">
            <a:noAutofit/>
          </a:bodyPr>
          <a:lstStyle/>
          <a:p>
            <a:pPr indent="0" lvl="0" marL="0" rtl="0" algn="l">
              <a:lnSpc>
                <a:spcPct val="110000"/>
              </a:lnSpc>
              <a:spcBef>
                <a:spcPts val="0"/>
              </a:spcBef>
              <a:spcAft>
                <a:spcPts val="0"/>
              </a:spcAft>
              <a:buClr>
                <a:srgbClr val="000000"/>
              </a:buClr>
              <a:buSzPts val="1100"/>
              <a:buFont typeface="Arial"/>
              <a:buNone/>
            </a:pPr>
            <a:r>
              <a:rPr lang="en">
                <a:solidFill>
                  <a:schemeClr val="dk2"/>
                </a:solidFill>
                <a:latin typeface="Roboto"/>
                <a:ea typeface="Roboto"/>
                <a:cs typeface="Roboto"/>
                <a:sym typeface="Roboto"/>
              </a:rPr>
              <a:t>Requires financial institutions that provide consumers with financial products and services to explain their information-sharing practices to safeguard sensitive data.</a:t>
            </a:r>
            <a:endParaRPr>
              <a:solidFill>
                <a:schemeClr val="dk2"/>
              </a:solidFill>
              <a:latin typeface="Roboto"/>
              <a:ea typeface="Roboto"/>
              <a:cs typeface="Roboto"/>
              <a:sym typeface="Roboto"/>
            </a:endParaRPr>
          </a:p>
        </p:txBody>
      </p:sp>
      <p:sp>
        <p:nvSpPr>
          <p:cNvPr id="724" name="Google Shape;724;p90"/>
          <p:cNvSpPr txBox="1"/>
          <p:nvPr/>
        </p:nvSpPr>
        <p:spPr>
          <a:xfrm>
            <a:off x="4766100" y="1232525"/>
            <a:ext cx="2016300" cy="985200"/>
          </a:xfrm>
          <a:prstGeom prst="rect">
            <a:avLst/>
          </a:prstGeom>
          <a:noFill/>
          <a:ln>
            <a:noFill/>
          </a:ln>
        </p:spPr>
        <p:txBody>
          <a:bodyPr anchorCtr="0" anchor="t" bIns="91425" lIns="137150"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lt1"/>
                </a:solidFill>
                <a:latin typeface="Roboto"/>
                <a:ea typeface="Roboto"/>
                <a:cs typeface="Roboto"/>
                <a:sym typeface="Roboto"/>
              </a:rPr>
              <a:t>Federal Information Security Management Act of 2002 (FISMA)</a:t>
            </a:r>
            <a:endParaRPr b="1">
              <a:solidFill>
                <a:schemeClr val="lt1"/>
              </a:solidFill>
              <a:latin typeface="Roboto"/>
              <a:ea typeface="Roboto"/>
              <a:cs typeface="Roboto"/>
              <a:sym typeface="Roboto"/>
            </a:endParaRPr>
          </a:p>
        </p:txBody>
      </p:sp>
      <p:sp>
        <p:nvSpPr>
          <p:cNvPr id="725" name="Google Shape;725;p90"/>
          <p:cNvSpPr txBox="1"/>
          <p:nvPr/>
        </p:nvSpPr>
        <p:spPr>
          <a:xfrm>
            <a:off x="4767294" y="2428346"/>
            <a:ext cx="2016300" cy="2543700"/>
          </a:xfrm>
          <a:prstGeom prst="rect">
            <a:avLst/>
          </a:prstGeom>
          <a:noFill/>
          <a:ln>
            <a:noFill/>
          </a:ln>
        </p:spPr>
        <p:txBody>
          <a:bodyPr anchorCtr="0" anchor="t" bIns="91425" lIns="137150" spcFirstLastPara="1" rIns="91425" wrap="square" tIns="182875">
            <a:noAutofit/>
          </a:bodyPr>
          <a:lstStyle/>
          <a:p>
            <a:pPr indent="0" lvl="0" marL="0" rtl="0" algn="l">
              <a:lnSpc>
                <a:spcPct val="110000"/>
              </a:lnSpc>
              <a:spcBef>
                <a:spcPts val="0"/>
              </a:spcBef>
              <a:spcAft>
                <a:spcPts val="0"/>
              </a:spcAft>
              <a:buClr>
                <a:srgbClr val="000000"/>
              </a:buClr>
              <a:buSzPts val="1100"/>
              <a:buFont typeface="Arial"/>
              <a:buNone/>
            </a:pPr>
            <a:r>
              <a:rPr lang="en">
                <a:solidFill>
                  <a:schemeClr val="lt1"/>
                </a:solidFill>
                <a:latin typeface="Roboto"/>
                <a:ea typeface="Roboto"/>
                <a:cs typeface="Roboto"/>
                <a:sym typeface="Roboto"/>
              </a:rPr>
              <a:t>Requires the protection of government data, operations, and assets against natural or man-made threats.</a:t>
            </a:r>
            <a:endParaRPr>
              <a:solidFill>
                <a:schemeClr val="lt1"/>
              </a:solidFill>
              <a:latin typeface="Roboto"/>
              <a:ea typeface="Roboto"/>
              <a:cs typeface="Roboto"/>
              <a:sym typeface="Roboto"/>
            </a:endParaRPr>
          </a:p>
        </p:txBody>
      </p:sp>
      <p:sp>
        <p:nvSpPr>
          <p:cNvPr id="726" name="Google Shape;726;p90"/>
          <p:cNvSpPr txBox="1"/>
          <p:nvPr/>
        </p:nvSpPr>
        <p:spPr>
          <a:xfrm>
            <a:off x="6943825" y="1232525"/>
            <a:ext cx="1897800" cy="985200"/>
          </a:xfrm>
          <a:prstGeom prst="rect">
            <a:avLst/>
          </a:prstGeom>
          <a:noFill/>
          <a:ln>
            <a:noFill/>
          </a:ln>
        </p:spPr>
        <p:txBody>
          <a:bodyPr anchorCtr="0" anchor="b" bIns="91425" lIns="137150"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b="1" lang="en">
                <a:solidFill>
                  <a:schemeClr val="dk2"/>
                </a:solidFill>
                <a:latin typeface="Roboto"/>
                <a:ea typeface="Roboto"/>
                <a:cs typeface="Roboto"/>
                <a:sym typeface="Roboto"/>
              </a:rPr>
              <a:t>Health Insurance Portability and Accountability Act (HIPAA)</a:t>
            </a:r>
            <a:endParaRPr>
              <a:solidFill>
                <a:schemeClr val="dk2"/>
              </a:solidFill>
              <a:latin typeface="Roboto"/>
              <a:ea typeface="Roboto"/>
              <a:cs typeface="Roboto"/>
              <a:sym typeface="Roboto"/>
            </a:endParaRPr>
          </a:p>
        </p:txBody>
      </p:sp>
      <p:sp>
        <p:nvSpPr>
          <p:cNvPr id="727" name="Google Shape;727;p90"/>
          <p:cNvSpPr txBox="1"/>
          <p:nvPr/>
        </p:nvSpPr>
        <p:spPr>
          <a:xfrm>
            <a:off x="6943825" y="2384150"/>
            <a:ext cx="2016300" cy="2093100"/>
          </a:xfrm>
          <a:prstGeom prst="rect">
            <a:avLst/>
          </a:prstGeom>
          <a:noFill/>
          <a:ln>
            <a:noFill/>
          </a:ln>
        </p:spPr>
        <p:txBody>
          <a:bodyPr anchorCtr="0" anchor="t" bIns="91425" lIns="137150" spcFirstLastPara="1" rIns="91425" wrap="square" tIns="182875">
            <a:noAutofit/>
          </a:bodyPr>
          <a:lstStyle/>
          <a:p>
            <a:pPr indent="0" lvl="0" marL="0" rtl="0" algn="l">
              <a:lnSpc>
                <a:spcPct val="110000"/>
              </a:lnSpc>
              <a:spcBef>
                <a:spcPts val="0"/>
              </a:spcBef>
              <a:spcAft>
                <a:spcPts val="0"/>
              </a:spcAft>
              <a:buClr>
                <a:srgbClr val="000000"/>
              </a:buClr>
              <a:buSzPts val="1100"/>
              <a:buFont typeface="Arial"/>
              <a:buNone/>
            </a:pPr>
            <a:r>
              <a:rPr lang="en">
                <a:solidFill>
                  <a:schemeClr val="dk2"/>
                </a:solidFill>
                <a:latin typeface="Roboto"/>
                <a:ea typeface="Roboto"/>
                <a:cs typeface="Roboto"/>
                <a:sym typeface="Roboto"/>
              </a:rPr>
              <a:t>Regulates the flow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of healthcare information and states how PII should be protected from misuse and theft within the healthcare industry.</a:t>
            </a:r>
            <a:endParaRPr>
              <a:solidFill>
                <a:schemeClr val="dk2"/>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1"/>
          <p:cNvSpPr txBox="1"/>
          <p:nvPr>
            <p:ph idx="2" type="title"/>
          </p:nvPr>
        </p:nvSpPr>
        <p:spPr>
          <a:xfrm>
            <a:off x="1755100" y="1039700"/>
            <a:ext cx="56478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b="1" lang="en" sz="3600">
                <a:latin typeface="Roboto"/>
                <a:ea typeface="Roboto"/>
                <a:cs typeface="Roboto"/>
                <a:sym typeface="Roboto"/>
              </a:rPr>
              <a:t>Regulations</a:t>
            </a:r>
            <a:r>
              <a:rPr lang="en" sz="3600">
                <a:latin typeface="Roboto"/>
                <a:ea typeface="Roboto"/>
                <a:cs typeface="Roboto"/>
                <a:sym typeface="Roboto"/>
              </a:rPr>
              <a:t> are </a:t>
            </a:r>
            <a:r>
              <a:rPr lang="en" sz="3600">
                <a:latin typeface="Roboto"/>
                <a:ea typeface="Roboto"/>
                <a:cs typeface="Roboto"/>
                <a:sym typeface="Roboto"/>
              </a:rPr>
              <a:t>detailed</a:t>
            </a:r>
            <a:r>
              <a:rPr lang="en" sz="3600">
                <a:latin typeface="Roboto"/>
                <a:ea typeface="Roboto"/>
                <a:cs typeface="Roboto"/>
                <a:sym typeface="Roboto"/>
              </a:rPr>
              <a:t> instructions on how laws should be enforced.</a:t>
            </a:r>
            <a:endParaRPr>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id="737" name="Google Shape;737;p92"/>
          <p:cNvPicPr preferRelativeResize="0"/>
          <p:nvPr/>
        </p:nvPicPr>
        <p:blipFill rotWithShape="1">
          <a:blip r:embed="rId3">
            <a:alphaModFix/>
          </a:blip>
          <a:srcRect b="1886" l="0" r="0" t="13881"/>
          <a:stretch/>
        </p:blipFill>
        <p:spPr>
          <a:xfrm>
            <a:off x="0" y="0"/>
            <a:ext cx="9168599" cy="5143501"/>
          </a:xfrm>
          <a:prstGeom prst="rect">
            <a:avLst/>
          </a:prstGeom>
          <a:noFill/>
          <a:ln>
            <a:noFill/>
          </a:ln>
        </p:spPr>
      </p:pic>
      <p:sp>
        <p:nvSpPr>
          <p:cNvPr id="738" name="Google Shape;738;p92"/>
          <p:cNvSpPr/>
          <p:nvPr/>
        </p:nvSpPr>
        <p:spPr>
          <a:xfrm>
            <a:off x="601925" y="657300"/>
            <a:ext cx="3814200" cy="3828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92"/>
          <p:cNvSpPr txBox="1"/>
          <p:nvPr>
            <p:ph type="title"/>
          </p:nvPr>
        </p:nvSpPr>
        <p:spPr>
          <a:xfrm>
            <a:off x="601925" y="1306700"/>
            <a:ext cx="3814200" cy="2743800"/>
          </a:xfrm>
          <a:prstGeom prst="rect">
            <a:avLst/>
          </a:prstGeom>
        </p:spPr>
        <p:txBody>
          <a:bodyPr anchorCtr="0" anchor="t" bIns="0" lIns="274300" spcFirstLastPara="1" rIns="274300" wrap="square" tIns="0">
            <a:noAutofit/>
          </a:bodyPr>
          <a:lstStyle/>
          <a:p>
            <a:pPr indent="0" lvl="0" marL="0" rtl="0" algn="ctr">
              <a:lnSpc>
                <a:spcPct val="100000"/>
              </a:lnSpc>
              <a:spcBef>
                <a:spcPts val="0"/>
              </a:spcBef>
              <a:spcAft>
                <a:spcPts val="0"/>
              </a:spcAft>
              <a:buClr>
                <a:schemeClr val="dk1"/>
              </a:buClr>
              <a:buSzPts val="1100"/>
              <a:buFont typeface="Arial"/>
              <a:buNone/>
            </a:pPr>
            <a:r>
              <a:rPr b="0" lang="en" sz="1800">
                <a:latin typeface="Roboto"/>
                <a:ea typeface="Roboto"/>
                <a:cs typeface="Roboto"/>
                <a:sym typeface="Roboto"/>
              </a:rPr>
              <a:t>Sometimes referred to </a:t>
            </a:r>
            <a:br>
              <a:rPr b="0" lang="en" sz="1800">
                <a:latin typeface="Roboto"/>
                <a:ea typeface="Roboto"/>
                <a:cs typeface="Roboto"/>
                <a:sym typeface="Roboto"/>
              </a:rPr>
            </a:br>
            <a:r>
              <a:rPr b="0" lang="en" sz="1800">
                <a:latin typeface="Roboto"/>
                <a:ea typeface="Roboto"/>
                <a:cs typeface="Roboto"/>
                <a:sym typeface="Roboto"/>
              </a:rPr>
              <a:t>as administrative laws, regulations are backed by </a:t>
            </a:r>
            <a:br>
              <a:rPr b="0" lang="en" sz="1800">
                <a:latin typeface="Roboto"/>
                <a:ea typeface="Roboto"/>
                <a:cs typeface="Roboto"/>
                <a:sym typeface="Roboto"/>
              </a:rPr>
            </a:br>
            <a:r>
              <a:rPr b="0" lang="en" sz="1800">
                <a:latin typeface="Roboto"/>
                <a:ea typeface="Roboto"/>
                <a:cs typeface="Roboto"/>
                <a:sym typeface="Roboto"/>
              </a:rPr>
              <a:t>the force of law, and their application </a:t>
            </a:r>
            <a:r>
              <a:rPr b="0" lang="en" sz="1800">
                <a:latin typeface="Roboto"/>
                <a:ea typeface="Roboto"/>
                <a:cs typeface="Roboto"/>
                <a:sym typeface="Roboto"/>
              </a:rPr>
              <a:t>is</a:t>
            </a:r>
            <a:r>
              <a:rPr b="0" lang="en" sz="1800">
                <a:latin typeface="Roboto"/>
                <a:ea typeface="Roboto"/>
                <a:cs typeface="Roboto"/>
                <a:sym typeface="Roboto"/>
              </a:rPr>
              <a:t> mandatory.</a:t>
            </a:r>
            <a:endParaRPr b="0" sz="1800">
              <a:latin typeface="Roboto"/>
              <a:ea typeface="Roboto"/>
              <a:cs typeface="Roboto"/>
              <a:sym typeface="Roboto"/>
            </a:endParaRPr>
          </a:p>
          <a:p>
            <a:pPr indent="0" lvl="0" marL="0" rtl="0" algn="ctr">
              <a:lnSpc>
                <a:spcPct val="100000"/>
              </a:lnSpc>
              <a:spcBef>
                <a:spcPts val="1000"/>
              </a:spcBef>
              <a:spcAft>
                <a:spcPts val="0"/>
              </a:spcAft>
              <a:buClr>
                <a:schemeClr val="dk1"/>
              </a:buClr>
              <a:buSzPts val="1100"/>
              <a:buFont typeface="Arial"/>
              <a:buNone/>
            </a:pPr>
            <a:r>
              <a:rPr b="0" lang="en" sz="1800">
                <a:latin typeface="Roboto"/>
                <a:ea typeface="Roboto"/>
                <a:cs typeface="Roboto"/>
                <a:sym typeface="Roboto"/>
              </a:rPr>
              <a:t>Legislative bodies pass laws and government agencies create regulations that implement the laws.</a:t>
            </a:r>
            <a:endParaRPr b="0" sz="1800">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A"/>
        </a:solidFill>
      </p:bgPr>
    </p:bg>
    <p:spTree>
      <p:nvGrpSpPr>
        <p:cNvPr id="743" name="Shape 743"/>
        <p:cNvGrpSpPr/>
        <p:nvPr/>
      </p:nvGrpSpPr>
      <p:grpSpPr>
        <a:xfrm>
          <a:off x="0" y="0"/>
          <a:ext cx="0" cy="0"/>
          <a:chOff x="0" y="0"/>
          <a:chExt cx="0" cy="0"/>
        </a:xfrm>
      </p:grpSpPr>
      <p:sp>
        <p:nvSpPr>
          <p:cNvPr id="744" name="Google Shape;744;p93"/>
          <p:cNvSpPr/>
          <p:nvPr/>
        </p:nvSpPr>
        <p:spPr>
          <a:xfrm>
            <a:off x="-12300" y="-20850"/>
            <a:ext cx="9168600" cy="5143500"/>
          </a:xfrm>
          <a:prstGeom prst="rect">
            <a:avLst/>
          </a:prstGeom>
          <a:solidFill>
            <a:srgbClr val="F8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93"/>
          <p:cNvPicPr preferRelativeResize="0"/>
          <p:nvPr/>
        </p:nvPicPr>
        <p:blipFill>
          <a:blip r:embed="rId3">
            <a:alphaModFix/>
          </a:blip>
          <a:stretch>
            <a:fillRect/>
          </a:stretch>
        </p:blipFill>
        <p:spPr>
          <a:xfrm>
            <a:off x="3624211" y="0"/>
            <a:ext cx="5553178" cy="5143500"/>
          </a:xfrm>
          <a:prstGeom prst="rect">
            <a:avLst/>
          </a:prstGeom>
          <a:noFill/>
          <a:ln>
            <a:noFill/>
          </a:ln>
        </p:spPr>
      </p:pic>
      <p:sp>
        <p:nvSpPr>
          <p:cNvPr id="746" name="Google Shape;746;p93"/>
          <p:cNvSpPr txBox="1"/>
          <p:nvPr>
            <p:ph type="title"/>
          </p:nvPr>
        </p:nvSpPr>
        <p:spPr>
          <a:xfrm>
            <a:off x="457200" y="277400"/>
            <a:ext cx="86037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Regulations</a:t>
            </a:r>
            <a:endParaRPr/>
          </a:p>
        </p:txBody>
      </p:sp>
      <p:sp>
        <p:nvSpPr>
          <p:cNvPr id="747" name="Google Shape;747;p93"/>
          <p:cNvSpPr txBox="1"/>
          <p:nvPr>
            <p:ph idx="4294967295" type="subTitle"/>
          </p:nvPr>
        </p:nvSpPr>
        <p:spPr>
          <a:xfrm>
            <a:off x="471349" y="782650"/>
            <a:ext cx="4247100" cy="572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600"/>
              <a:t>S</a:t>
            </a:r>
            <a:r>
              <a:rPr lang="en" sz="1600"/>
              <a:t>ome of the more popular regulations </a:t>
            </a:r>
            <a:br>
              <a:rPr lang="en" sz="1600"/>
            </a:br>
            <a:r>
              <a:rPr lang="en" sz="1600"/>
              <a:t>within information security include:</a:t>
            </a:r>
            <a:endParaRPr sz="1600"/>
          </a:p>
        </p:txBody>
      </p:sp>
      <p:sp>
        <p:nvSpPr>
          <p:cNvPr id="748" name="Google Shape;748;p93"/>
          <p:cNvSpPr txBox="1"/>
          <p:nvPr>
            <p:ph idx="1" type="body"/>
          </p:nvPr>
        </p:nvSpPr>
        <p:spPr>
          <a:xfrm>
            <a:off x="471349" y="1467375"/>
            <a:ext cx="3732300" cy="3416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600"/>
              <a:t>The </a:t>
            </a:r>
            <a:r>
              <a:rPr b="1" lang="en" sz="1600">
                <a:latin typeface="Roboto"/>
                <a:ea typeface="Roboto"/>
                <a:cs typeface="Roboto"/>
                <a:sym typeface="Roboto"/>
              </a:rPr>
              <a:t>Sarbanes</a:t>
            </a:r>
            <a:r>
              <a:rPr b="1" lang="en" sz="1600"/>
              <a:t>-</a:t>
            </a:r>
            <a:r>
              <a:rPr b="1" lang="en" sz="1600">
                <a:latin typeface="Roboto"/>
                <a:ea typeface="Roboto"/>
                <a:cs typeface="Roboto"/>
                <a:sym typeface="Roboto"/>
              </a:rPr>
              <a:t>Oxley Act of 2002 (SOX)</a:t>
            </a:r>
            <a:r>
              <a:rPr lang="en" sz="1600"/>
              <a:t>, a result of the Enron and WorldCom scandal, holds corporate officers, board members, and executive management liable if the organization they represent is not compliant with the law. </a:t>
            </a:r>
            <a:endParaRPr sz="1600"/>
          </a:p>
          <a:p>
            <a:pPr indent="0" lvl="0" marL="0" rtl="0" algn="l">
              <a:spcBef>
                <a:spcPts val="1200"/>
              </a:spcBef>
              <a:spcAft>
                <a:spcPts val="0"/>
              </a:spcAft>
              <a:buNone/>
            </a:pPr>
            <a:r>
              <a:rPr lang="en" sz="1600"/>
              <a:t>Noncompliance includes negligence </a:t>
            </a:r>
            <a:br>
              <a:rPr lang="en" sz="1600"/>
            </a:br>
            <a:r>
              <a:rPr lang="en" sz="1600"/>
              <a:t>and failure to implement any recommended precautions.</a:t>
            </a:r>
            <a:endParaRPr sz="1600"/>
          </a:p>
          <a:p>
            <a:pPr indent="0" lvl="0" marL="0" rtl="0" algn="l">
              <a:spcBef>
                <a:spcPts val="1200"/>
              </a:spcBef>
              <a:spcAft>
                <a:spcPts val="1200"/>
              </a:spcAft>
              <a:buNone/>
            </a:pPr>
            <a:r>
              <a:rPr b="1" lang="en" sz="1600">
                <a:latin typeface="Roboto"/>
                <a:ea typeface="Roboto"/>
                <a:cs typeface="Roboto"/>
                <a:sym typeface="Roboto"/>
              </a:rPr>
              <a:t>Due diligence</a:t>
            </a:r>
            <a:r>
              <a:rPr lang="en" sz="1600"/>
              <a:t> and </a:t>
            </a:r>
            <a:r>
              <a:rPr b="1" lang="en" sz="1600">
                <a:latin typeface="Roboto"/>
                <a:ea typeface="Roboto"/>
                <a:cs typeface="Roboto"/>
                <a:sym typeface="Roboto"/>
              </a:rPr>
              <a:t>due care</a:t>
            </a:r>
            <a:r>
              <a:rPr lang="en" sz="1600"/>
              <a:t> must be demonstrated at all times.</a:t>
            </a:r>
            <a:endParaRPr sz="16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752" name="Shape 752"/>
        <p:cNvGrpSpPr/>
        <p:nvPr/>
      </p:nvGrpSpPr>
      <p:grpSpPr>
        <a:xfrm>
          <a:off x="0" y="0"/>
          <a:ext cx="0" cy="0"/>
          <a:chOff x="0" y="0"/>
          <a:chExt cx="0" cy="0"/>
        </a:xfrm>
      </p:grpSpPr>
      <p:sp>
        <p:nvSpPr>
          <p:cNvPr id="753" name="Google Shape;753;p94"/>
          <p:cNvSpPr txBox="1"/>
          <p:nvPr>
            <p:ph type="title"/>
          </p:nvPr>
        </p:nvSpPr>
        <p:spPr>
          <a:xfrm>
            <a:off x="475350" y="2901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Regulations</a:t>
            </a:r>
            <a:endParaRPr/>
          </a:p>
        </p:txBody>
      </p:sp>
      <p:sp>
        <p:nvSpPr>
          <p:cNvPr id="754" name="Google Shape;754;p94"/>
          <p:cNvSpPr txBox="1"/>
          <p:nvPr>
            <p:ph idx="4294967295" type="subTitle"/>
          </p:nvPr>
        </p:nvSpPr>
        <p:spPr>
          <a:xfrm>
            <a:off x="475357" y="787675"/>
            <a:ext cx="4396500" cy="364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600"/>
              <a:t>Some of the more popular regulations </a:t>
            </a:r>
            <a:br>
              <a:rPr lang="en" sz="1600"/>
            </a:br>
            <a:r>
              <a:rPr lang="en" sz="1600"/>
              <a:t>within information security include:</a:t>
            </a:r>
            <a:endParaRPr sz="1600"/>
          </a:p>
        </p:txBody>
      </p:sp>
      <p:sp>
        <p:nvSpPr>
          <p:cNvPr id="755" name="Google Shape;755;p94"/>
          <p:cNvSpPr txBox="1"/>
          <p:nvPr>
            <p:ph idx="1" type="body"/>
          </p:nvPr>
        </p:nvSpPr>
        <p:spPr>
          <a:xfrm>
            <a:off x="475349" y="1472500"/>
            <a:ext cx="4514700" cy="3416400"/>
          </a:xfrm>
          <a:prstGeom prst="rect">
            <a:avLst/>
          </a:prstGeom>
        </p:spPr>
        <p:txBody>
          <a:bodyPr anchorCtr="0" anchor="t" bIns="91425" lIns="91425" spcFirstLastPara="1" rIns="0" wrap="square" tIns="91425">
            <a:noAutofit/>
          </a:bodyPr>
          <a:lstStyle/>
          <a:p>
            <a:pPr indent="0" lvl="0" marL="0" rtl="0" algn="l">
              <a:spcBef>
                <a:spcPts val="0"/>
              </a:spcBef>
              <a:spcAft>
                <a:spcPts val="0"/>
              </a:spcAft>
              <a:buNone/>
            </a:pPr>
            <a:r>
              <a:rPr lang="en" sz="1600"/>
              <a:t>The </a:t>
            </a:r>
            <a:r>
              <a:rPr b="1" lang="en" sz="1600">
                <a:latin typeface="Roboto"/>
                <a:ea typeface="Roboto"/>
                <a:cs typeface="Roboto"/>
                <a:sym typeface="Roboto"/>
              </a:rPr>
              <a:t>General Data Protection Regulation (GDPR)</a:t>
            </a:r>
            <a:r>
              <a:rPr lang="en" sz="1600">
                <a:solidFill>
                  <a:srgbClr val="005CC5"/>
                </a:solidFill>
              </a:rPr>
              <a:t> </a:t>
            </a:r>
            <a:br>
              <a:rPr lang="en" sz="1600"/>
            </a:br>
            <a:r>
              <a:rPr lang="en" sz="1600"/>
              <a:t>protects the private data of all citizens of the European Union (EU) and European Economic Area (EEA). </a:t>
            </a:r>
            <a:endParaRPr sz="1600"/>
          </a:p>
          <a:p>
            <a:pPr indent="-193040" lvl="0" marL="320040" rtl="0" algn="l">
              <a:spcBef>
                <a:spcPts val="800"/>
              </a:spcBef>
              <a:spcAft>
                <a:spcPts val="0"/>
              </a:spcAft>
              <a:buSzPts val="1600"/>
              <a:buChar char="●"/>
            </a:pPr>
            <a:r>
              <a:rPr lang="en" sz="1600"/>
              <a:t>R</a:t>
            </a:r>
            <a:r>
              <a:rPr lang="en" sz="1600"/>
              <a:t>equires organizations that process </a:t>
            </a:r>
            <a:br>
              <a:rPr lang="en" sz="1600"/>
            </a:br>
            <a:r>
              <a:rPr lang="en" sz="1600"/>
              <a:t>data belonging to EU citizens to protect </a:t>
            </a:r>
            <a:br>
              <a:rPr lang="en" sz="1600"/>
            </a:br>
            <a:r>
              <a:rPr lang="en" sz="1600"/>
              <a:t>the data sufficiently. </a:t>
            </a:r>
            <a:endParaRPr sz="1600"/>
          </a:p>
          <a:p>
            <a:pPr indent="-193040" lvl="0" marL="320040" rtl="0" algn="l">
              <a:spcBef>
                <a:spcPts val="1000"/>
              </a:spcBef>
              <a:spcAft>
                <a:spcPts val="0"/>
              </a:spcAft>
              <a:buSzPts val="1600"/>
              <a:buChar char="●"/>
            </a:pPr>
            <a:r>
              <a:rPr lang="en" sz="1600"/>
              <a:t>GDPR regulations apply to organizations based in the EU as well as those based elsewhere that process data belonging </a:t>
            </a:r>
            <a:br>
              <a:rPr lang="en" sz="1600"/>
            </a:br>
            <a:r>
              <a:rPr lang="en" sz="1600"/>
              <a:t>to EU citizens.</a:t>
            </a:r>
            <a:endParaRPr sz="1600"/>
          </a:p>
        </p:txBody>
      </p:sp>
      <p:pic>
        <p:nvPicPr>
          <p:cNvPr id="756" name="Google Shape;756;p94"/>
          <p:cNvPicPr preferRelativeResize="0"/>
          <p:nvPr/>
        </p:nvPicPr>
        <p:blipFill rotWithShape="1">
          <a:blip r:embed="rId3">
            <a:alphaModFix/>
          </a:blip>
          <a:srcRect b="0" l="0" r="0" t="0"/>
          <a:stretch/>
        </p:blipFill>
        <p:spPr>
          <a:xfrm>
            <a:off x="5164725" y="810712"/>
            <a:ext cx="3522076" cy="35220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95"/>
          <p:cNvSpPr txBox="1"/>
          <p:nvPr>
            <p:ph idx="2" type="title"/>
          </p:nvPr>
        </p:nvSpPr>
        <p:spPr>
          <a:xfrm>
            <a:off x="1828800" y="1039700"/>
            <a:ext cx="5546400" cy="3131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1200"/>
              </a:spcAft>
              <a:buNone/>
            </a:pPr>
            <a:r>
              <a:rPr b="1" lang="en" sz="3000">
                <a:latin typeface="Roboto"/>
                <a:ea typeface="Roboto"/>
                <a:cs typeface="Roboto"/>
                <a:sym typeface="Roboto"/>
              </a:rPr>
              <a:t>Stand</a:t>
            </a:r>
            <a:r>
              <a:rPr b="1" lang="en" sz="3000">
                <a:latin typeface="Roboto"/>
                <a:ea typeface="Roboto"/>
                <a:cs typeface="Roboto"/>
                <a:sym typeface="Roboto"/>
              </a:rPr>
              <a:t>a</a:t>
            </a:r>
            <a:r>
              <a:rPr b="1" lang="en" sz="3000">
                <a:latin typeface="Roboto"/>
                <a:ea typeface="Roboto"/>
                <a:cs typeface="Roboto"/>
                <a:sym typeface="Roboto"/>
              </a:rPr>
              <a:t>rds</a:t>
            </a:r>
            <a:r>
              <a:rPr lang="en" sz="3000">
                <a:latin typeface="Roboto"/>
                <a:ea typeface="Roboto"/>
                <a:cs typeface="Roboto"/>
                <a:sym typeface="Roboto"/>
              </a:rPr>
              <a:t> are published specifications used to establish a common language and technical criteria across an organization or industry.</a:t>
            </a:r>
            <a:endParaRPr>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765" name="Shape 765"/>
        <p:cNvGrpSpPr/>
        <p:nvPr/>
      </p:nvGrpSpPr>
      <p:grpSpPr>
        <a:xfrm>
          <a:off x="0" y="0"/>
          <a:ext cx="0" cy="0"/>
          <a:chOff x="0" y="0"/>
          <a:chExt cx="0" cy="0"/>
        </a:xfrm>
      </p:grpSpPr>
      <p:sp>
        <p:nvSpPr>
          <p:cNvPr id="766" name="Google Shape;766;p96"/>
          <p:cNvSpPr txBox="1"/>
          <p:nvPr>
            <p:ph type="title"/>
          </p:nvPr>
        </p:nvSpPr>
        <p:spPr>
          <a:xfrm>
            <a:off x="457200" y="2507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Standards Example</a:t>
            </a:r>
            <a:endParaRPr/>
          </a:p>
        </p:txBody>
      </p:sp>
      <p:sp>
        <p:nvSpPr>
          <p:cNvPr id="767" name="Google Shape;767;p96"/>
          <p:cNvSpPr txBox="1"/>
          <p:nvPr>
            <p:ph idx="1" type="body"/>
          </p:nvPr>
        </p:nvSpPr>
        <p:spPr>
          <a:xfrm>
            <a:off x="444250" y="752175"/>
            <a:ext cx="8432100" cy="1660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Merchants that process financial transactions are contractually required to comply with the </a:t>
            </a:r>
            <a:r>
              <a:rPr b="1" lang="en">
                <a:latin typeface="Roboto"/>
                <a:ea typeface="Roboto"/>
                <a:cs typeface="Roboto"/>
                <a:sym typeface="Roboto"/>
              </a:rPr>
              <a:t>Payment Card Industry Data Security Standard (PCI-DSS)</a:t>
            </a:r>
            <a:r>
              <a:rPr lang="en"/>
              <a:t> to guarantee that their customers’ data remains confidential. If a company suffers a breach that results in the disclosure of customer PII, it may have to pay large fines and face other legal penalties.</a:t>
            </a:r>
            <a:endParaRPr/>
          </a:p>
        </p:txBody>
      </p:sp>
      <p:pic>
        <p:nvPicPr>
          <p:cNvPr id="768" name="Google Shape;768;p96"/>
          <p:cNvPicPr preferRelativeResize="0"/>
          <p:nvPr/>
        </p:nvPicPr>
        <p:blipFill>
          <a:blip r:embed="rId3">
            <a:alphaModFix/>
          </a:blip>
          <a:stretch>
            <a:fillRect/>
          </a:stretch>
        </p:blipFill>
        <p:spPr>
          <a:xfrm>
            <a:off x="1788825" y="2571750"/>
            <a:ext cx="5566340" cy="21374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pic>
        <p:nvPicPr>
          <p:cNvPr id="773" name="Google Shape;773;p97"/>
          <p:cNvPicPr preferRelativeResize="0"/>
          <p:nvPr/>
        </p:nvPicPr>
        <p:blipFill>
          <a:blip r:embed="rId3">
            <a:alphaModFix/>
          </a:blip>
          <a:stretch>
            <a:fillRect/>
          </a:stretch>
        </p:blipFill>
        <p:spPr>
          <a:xfrm>
            <a:off x="-12300" y="0"/>
            <a:ext cx="9168601" cy="5165302"/>
          </a:xfrm>
          <a:prstGeom prst="rect">
            <a:avLst/>
          </a:prstGeom>
          <a:noFill/>
          <a:ln>
            <a:noFill/>
          </a:ln>
        </p:spPr>
      </p:pic>
      <p:sp>
        <p:nvSpPr>
          <p:cNvPr id="774" name="Google Shape;774;p97"/>
          <p:cNvSpPr txBox="1"/>
          <p:nvPr>
            <p:ph type="title"/>
          </p:nvPr>
        </p:nvSpPr>
        <p:spPr>
          <a:xfrm>
            <a:off x="457200" y="244379"/>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Risk Management Frameworks</a:t>
            </a:r>
            <a:endParaRPr>
              <a:solidFill>
                <a:srgbClr val="FFFFFF"/>
              </a:solidFill>
            </a:endParaRPr>
          </a:p>
        </p:txBody>
      </p:sp>
      <p:sp>
        <p:nvSpPr>
          <p:cNvPr id="775" name="Google Shape;775;p97"/>
          <p:cNvSpPr txBox="1"/>
          <p:nvPr>
            <p:ph idx="1" type="body"/>
          </p:nvPr>
        </p:nvSpPr>
        <p:spPr>
          <a:xfrm>
            <a:off x="464100" y="781700"/>
            <a:ext cx="3485400" cy="39741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sz="1600">
                <a:solidFill>
                  <a:srgbClr val="FFFFFF"/>
                </a:solidFill>
              </a:rPr>
              <a:t>P</a:t>
            </a:r>
            <a:r>
              <a:rPr lang="en" sz="1600">
                <a:solidFill>
                  <a:srgbClr val="FFFFFF"/>
                </a:solidFill>
              </a:rPr>
              <a:t>roperly implemented information security frameworks allow security professionals to intelligently manage cyber risks within their organizations.</a:t>
            </a:r>
            <a:endParaRPr sz="1600">
              <a:solidFill>
                <a:srgbClr val="FFFFFF"/>
              </a:solidFill>
            </a:endParaRPr>
          </a:p>
          <a:p>
            <a:pPr indent="-330200" lvl="0" marL="457200" rtl="0" algn="l">
              <a:spcBef>
                <a:spcPts val="0"/>
              </a:spcBef>
              <a:spcAft>
                <a:spcPts val="0"/>
              </a:spcAft>
              <a:buClr>
                <a:srgbClr val="FFFFFF"/>
              </a:buClr>
              <a:buSzPts val="1600"/>
              <a:buChar char="●"/>
            </a:pPr>
            <a:r>
              <a:rPr lang="en" sz="1600">
                <a:solidFill>
                  <a:srgbClr val="FFFFFF"/>
                </a:solidFill>
              </a:rPr>
              <a:t>Frameworks consist of various documents clearly defining adopted procedures, policies, </a:t>
            </a:r>
            <a:br>
              <a:rPr lang="en" sz="1600">
                <a:solidFill>
                  <a:srgbClr val="FFFFFF"/>
                </a:solidFill>
              </a:rPr>
            </a:br>
            <a:r>
              <a:rPr lang="en" sz="1600">
                <a:solidFill>
                  <a:srgbClr val="FFFFFF"/>
                </a:solidFill>
              </a:rPr>
              <a:t>and processes that an organization must follow.</a:t>
            </a:r>
            <a:endParaRPr sz="1600">
              <a:solidFill>
                <a:srgbClr val="FFFFFF"/>
              </a:solidFill>
            </a:endParaRPr>
          </a:p>
          <a:p>
            <a:pPr indent="-330200" lvl="0" marL="457200" rtl="0" algn="l">
              <a:spcBef>
                <a:spcPts val="1000"/>
              </a:spcBef>
              <a:spcAft>
                <a:spcPts val="0"/>
              </a:spcAft>
              <a:buClr>
                <a:srgbClr val="FFFFFF"/>
              </a:buClr>
              <a:buSzPts val="1600"/>
              <a:buChar char="●"/>
            </a:pPr>
            <a:r>
              <a:rPr lang="en" sz="1600">
                <a:solidFill>
                  <a:srgbClr val="FFFFFF"/>
                </a:solidFill>
              </a:rPr>
              <a:t>Having an information </a:t>
            </a:r>
            <a:br>
              <a:rPr lang="en" sz="1600">
                <a:solidFill>
                  <a:srgbClr val="FFFFFF"/>
                </a:solidFill>
              </a:rPr>
            </a:br>
            <a:r>
              <a:rPr lang="en" sz="1600">
                <a:solidFill>
                  <a:srgbClr val="FFFFFF"/>
                </a:solidFill>
              </a:rPr>
              <a:t>security framework reduces </a:t>
            </a:r>
            <a:br>
              <a:rPr lang="en" sz="1600">
                <a:solidFill>
                  <a:srgbClr val="FFFFFF"/>
                </a:solidFill>
              </a:rPr>
            </a:br>
            <a:r>
              <a:rPr lang="en" sz="1600">
                <a:solidFill>
                  <a:srgbClr val="FFFFFF"/>
                </a:solidFill>
              </a:rPr>
              <a:t>an organization’s risk and exposure to vulnerabilities.</a:t>
            </a:r>
            <a:endParaRPr sz="1600">
              <a:solidFill>
                <a:srgbClr val="FFFFFF"/>
              </a:solidFill>
            </a:endParaRPr>
          </a:p>
          <a:p>
            <a:pPr indent="0" lvl="0" marL="0" rtl="0" algn="l">
              <a:spcBef>
                <a:spcPts val="1000"/>
              </a:spcBef>
              <a:spcAft>
                <a:spcPts val="0"/>
              </a:spcAft>
              <a:buClr>
                <a:schemeClr val="dk1"/>
              </a:buClr>
              <a:buSzPts val="1100"/>
              <a:buFont typeface="Arial"/>
              <a:buNone/>
            </a:pPr>
            <a:r>
              <a:t/>
            </a:r>
            <a:endParaRPr sz="1600">
              <a:solidFill>
                <a:srgbClr val="FFFFFF"/>
              </a:solidFill>
            </a:endParaRPr>
          </a:p>
          <a:p>
            <a:pPr indent="0" lvl="0" marL="0" rtl="0" algn="l">
              <a:spcBef>
                <a:spcPts val="0"/>
              </a:spcBef>
              <a:spcAft>
                <a:spcPts val="0"/>
              </a:spcAft>
              <a:buNone/>
            </a:pPr>
            <a:r>
              <a:t/>
            </a:r>
            <a:endParaRPr sz="1600">
              <a:solidFill>
                <a:srgbClr val="FFFFFF"/>
              </a:solidFill>
            </a:endParaRPr>
          </a:p>
        </p:txBody>
      </p:sp>
      <p:sp>
        <p:nvSpPr>
          <p:cNvPr id="776" name="Google Shape;776;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grpSp>
        <p:nvGrpSpPr>
          <p:cNvPr id="781" name="Google Shape;781;p98"/>
          <p:cNvGrpSpPr/>
          <p:nvPr/>
        </p:nvGrpSpPr>
        <p:grpSpPr>
          <a:xfrm>
            <a:off x="457181" y="1345103"/>
            <a:ext cx="533372" cy="533480"/>
            <a:chOff x="457200" y="1378813"/>
            <a:chExt cx="695400" cy="695450"/>
          </a:xfrm>
        </p:grpSpPr>
        <p:sp>
          <p:nvSpPr>
            <p:cNvPr id="782" name="Google Shape;782;p9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Roboto"/>
                  <a:ea typeface="Roboto"/>
                  <a:cs typeface="Roboto"/>
                  <a:sym typeface="Roboto"/>
                </a:rPr>
                <a:t>01</a:t>
              </a:r>
              <a:endParaRPr sz="2100">
                <a:solidFill>
                  <a:schemeClr val="lt1"/>
                </a:solidFill>
                <a:latin typeface="Roboto"/>
                <a:ea typeface="Roboto"/>
                <a:cs typeface="Roboto"/>
                <a:sym typeface="Roboto"/>
              </a:endParaRPr>
            </a:p>
          </p:txBody>
        </p:sp>
        <p:sp>
          <p:nvSpPr>
            <p:cNvPr id="783" name="Google Shape;783;p9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784" name="Google Shape;784;p98"/>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Instills confidence in your industry.</a:t>
            </a:r>
            <a:endParaRPr sz="1800">
              <a:solidFill>
                <a:schemeClr val="dk2"/>
              </a:solidFill>
              <a:latin typeface="Roboto"/>
              <a:ea typeface="Roboto"/>
              <a:cs typeface="Roboto"/>
              <a:sym typeface="Roboto"/>
            </a:endParaRPr>
          </a:p>
        </p:txBody>
      </p:sp>
      <p:grpSp>
        <p:nvGrpSpPr>
          <p:cNvPr id="785" name="Google Shape;785;p98"/>
          <p:cNvGrpSpPr/>
          <p:nvPr/>
        </p:nvGrpSpPr>
        <p:grpSpPr>
          <a:xfrm>
            <a:off x="3305156" y="1345103"/>
            <a:ext cx="533372" cy="533480"/>
            <a:chOff x="457200" y="1378813"/>
            <a:chExt cx="695400" cy="695450"/>
          </a:xfrm>
        </p:grpSpPr>
        <p:sp>
          <p:nvSpPr>
            <p:cNvPr id="786" name="Google Shape;786;p98"/>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2"/>
                  </a:solidFill>
                  <a:latin typeface="Roboto"/>
                  <a:ea typeface="Roboto"/>
                  <a:cs typeface="Roboto"/>
                  <a:sym typeface="Roboto"/>
                </a:rPr>
                <a:t>02</a:t>
              </a:r>
              <a:endParaRPr sz="2100">
                <a:solidFill>
                  <a:schemeClr val="dk2"/>
                </a:solidFill>
                <a:latin typeface="Roboto"/>
                <a:ea typeface="Roboto"/>
                <a:cs typeface="Roboto"/>
                <a:sym typeface="Roboto"/>
              </a:endParaRPr>
            </a:p>
          </p:txBody>
        </p:sp>
        <p:sp>
          <p:nvSpPr>
            <p:cNvPr id="787" name="Google Shape;787;p98"/>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788" name="Google Shape;788;p98"/>
          <p:cNvSpPr/>
          <p:nvPr/>
        </p:nvSpPr>
        <p:spPr>
          <a:xfrm flipH="1">
            <a:off x="3572250" y="1937775"/>
            <a:ext cx="2428500" cy="2662800"/>
          </a:xfrm>
          <a:prstGeom prst="round2DiagRect">
            <a:avLst>
              <a:gd fmla="val 16667" name="adj1"/>
              <a:gd fmla="val 0" name="adj2"/>
            </a:avLst>
          </a:prstGeom>
          <a:solidFill>
            <a:srgbClr val="F3F3F3"/>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Establishes a strong reputation with business partners.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grpSp>
        <p:nvGrpSpPr>
          <p:cNvPr id="789" name="Google Shape;789;p98"/>
          <p:cNvGrpSpPr/>
          <p:nvPr/>
        </p:nvGrpSpPr>
        <p:grpSpPr>
          <a:xfrm>
            <a:off x="6134081" y="1345853"/>
            <a:ext cx="533372" cy="533480"/>
            <a:chOff x="457200" y="1378813"/>
            <a:chExt cx="695400" cy="695450"/>
          </a:xfrm>
        </p:grpSpPr>
        <p:sp>
          <p:nvSpPr>
            <p:cNvPr id="790" name="Google Shape;790;p98"/>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2"/>
                  </a:solidFill>
                  <a:latin typeface="Roboto"/>
                  <a:ea typeface="Roboto"/>
                  <a:cs typeface="Roboto"/>
                  <a:sym typeface="Roboto"/>
                </a:rPr>
                <a:t>03</a:t>
              </a:r>
              <a:endParaRPr sz="2100">
                <a:solidFill>
                  <a:schemeClr val="dk2"/>
                </a:solidFill>
                <a:latin typeface="Roboto"/>
                <a:ea typeface="Roboto"/>
                <a:cs typeface="Roboto"/>
                <a:sym typeface="Roboto"/>
              </a:endParaRPr>
            </a:p>
          </p:txBody>
        </p:sp>
        <p:sp>
          <p:nvSpPr>
            <p:cNvPr id="791" name="Google Shape;791;p98"/>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sp>
        <p:nvSpPr>
          <p:cNvPr id="792" name="Google Shape;792;p98"/>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Provides a reputable relationship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with customers.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793" name="Google Shape;793;p98"/>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082D49"/>
                </a:solidFill>
                <a:latin typeface="Roboto"/>
                <a:ea typeface="Roboto"/>
                <a:cs typeface="Roboto"/>
                <a:sym typeface="Roboto"/>
              </a:rPr>
              <a:t>Risk Management Frameworks</a:t>
            </a:r>
            <a:endParaRPr b="1" sz="2600">
              <a:solidFill>
                <a:srgbClr val="082D49"/>
              </a:solidFill>
              <a:latin typeface="Roboto"/>
              <a:ea typeface="Roboto"/>
              <a:cs typeface="Roboto"/>
              <a:sym typeface="Roboto"/>
            </a:endParaRPr>
          </a:p>
          <a:p>
            <a:pPr indent="0" lvl="0" marL="0" rtl="0" algn="l">
              <a:spcBef>
                <a:spcPts val="0"/>
              </a:spcBef>
              <a:spcAft>
                <a:spcPts val="0"/>
              </a:spcAft>
              <a:buNone/>
            </a:pPr>
            <a:r>
              <a:t/>
            </a:r>
            <a:endParaRPr b="1" sz="2600">
              <a:solidFill>
                <a:srgbClr val="082D49"/>
              </a:solidFill>
              <a:latin typeface="Roboto"/>
              <a:ea typeface="Roboto"/>
              <a:cs typeface="Roboto"/>
              <a:sym typeface="Roboto"/>
            </a:endParaRPr>
          </a:p>
        </p:txBody>
      </p:sp>
      <p:sp>
        <p:nvSpPr>
          <p:cNvPr id="794" name="Google Shape;794;p98"/>
          <p:cNvSpPr txBox="1"/>
          <p:nvPr/>
        </p:nvSpPr>
        <p:spPr>
          <a:xfrm>
            <a:off x="457200" y="6248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rgbClr val="082D49"/>
                </a:solidFill>
                <a:latin typeface="Roboto"/>
                <a:ea typeface="Roboto"/>
                <a:cs typeface="Roboto"/>
                <a:sym typeface="Roboto"/>
              </a:rPr>
              <a:t>Establishing a solid information security framework provides many advantages:</a:t>
            </a:r>
            <a:endParaRPr sz="1800">
              <a:solidFill>
                <a:srgbClr val="082D49"/>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rgbClr val="082D49"/>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rgbClr val="082D49"/>
              </a:solidFill>
              <a:latin typeface="Roboto"/>
              <a:ea typeface="Roboto"/>
              <a:cs typeface="Roboto"/>
              <a:sym typeface="Roboto"/>
            </a:endParaRPr>
          </a:p>
        </p:txBody>
      </p:sp>
      <p:pic>
        <p:nvPicPr>
          <p:cNvPr id="795" name="Google Shape;795;p98"/>
          <p:cNvPicPr preferRelativeResize="0"/>
          <p:nvPr/>
        </p:nvPicPr>
        <p:blipFill>
          <a:blip r:embed="rId3">
            <a:alphaModFix/>
          </a:blip>
          <a:stretch>
            <a:fillRect/>
          </a:stretch>
        </p:blipFill>
        <p:spPr>
          <a:xfrm>
            <a:off x="2150020" y="3778225"/>
            <a:ext cx="1002749" cy="790599"/>
          </a:xfrm>
          <a:prstGeom prst="rect">
            <a:avLst/>
          </a:prstGeom>
          <a:noFill/>
          <a:ln>
            <a:noFill/>
          </a:ln>
        </p:spPr>
      </p:pic>
      <p:pic>
        <p:nvPicPr>
          <p:cNvPr id="796" name="Google Shape;796;p98"/>
          <p:cNvPicPr preferRelativeResize="0"/>
          <p:nvPr/>
        </p:nvPicPr>
        <p:blipFill>
          <a:blip r:embed="rId4">
            <a:alphaModFix/>
          </a:blip>
          <a:stretch>
            <a:fillRect/>
          </a:stretch>
        </p:blipFill>
        <p:spPr>
          <a:xfrm>
            <a:off x="4837287" y="3707451"/>
            <a:ext cx="1450624" cy="932149"/>
          </a:xfrm>
          <a:prstGeom prst="rect">
            <a:avLst/>
          </a:prstGeom>
          <a:noFill/>
          <a:ln>
            <a:noFill/>
          </a:ln>
        </p:spPr>
      </p:pic>
      <p:pic>
        <p:nvPicPr>
          <p:cNvPr id="797" name="Google Shape;797;p98"/>
          <p:cNvPicPr preferRelativeResize="0"/>
          <p:nvPr/>
        </p:nvPicPr>
        <p:blipFill>
          <a:blip r:embed="rId5">
            <a:alphaModFix/>
          </a:blip>
          <a:stretch>
            <a:fillRect/>
          </a:stretch>
        </p:blipFill>
        <p:spPr>
          <a:xfrm>
            <a:off x="7972400" y="3916325"/>
            <a:ext cx="730666" cy="5334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99"/>
          <p:cNvSpPr txBox="1"/>
          <p:nvPr>
            <p:ph idx="4294967295" type="subTitle"/>
          </p:nvPr>
        </p:nvSpPr>
        <p:spPr>
          <a:xfrm>
            <a:off x="0" y="1039700"/>
            <a:ext cx="9187800" cy="3131700"/>
          </a:xfrm>
          <a:prstGeom prst="rect">
            <a:avLst/>
          </a:prstGeom>
        </p:spPr>
        <p:txBody>
          <a:bodyPr anchorCtr="0" anchor="ctr" bIns="91425" lIns="1828800" spcFirstLastPara="1" rIns="1828800" wrap="square" tIns="91425">
            <a:noAutofit/>
          </a:bodyPr>
          <a:lstStyle/>
          <a:p>
            <a:pPr indent="0" lvl="0" marL="0" rtl="0" algn="l">
              <a:lnSpc>
                <a:spcPct val="100000"/>
              </a:lnSpc>
              <a:spcBef>
                <a:spcPts val="0"/>
              </a:spcBef>
              <a:spcAft>
                <a:spcPts val="0"/>
              </a:spcAft>
              <a:buNone/>
            </a:pPr>
            <a:r>
              <a:rPr lang="en" sz="3000"/>
              <a:t>The </a:t>
            </a:r>
            <a:r>
              <a:rPr b="1" lang="en" sz="3000">
                <a:latin typeface="Roboto"/>
                <a:ea typeface="Roboto"/>
                <a:cs typeface="Roboto"/>
                <a:sym typeface="Roboto"/>
              </a:rPr>
              <a:t>Risk Management Framework (RMF)</a:t>
            </a:r>
            <a:r>
              <a:rPr lang="en" sz="3000"/>
              <a:t> is a set of standards developed by the National Institute of Standards and Technology (NIST).</a:t>
            </a:r>
            <a:endParaRPr sz="3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6" name="Shape 806"/>
        <p:cNvGrpSpPr/>
        <p:nvPr/>
      </p:nvGrpSpPr>
      <p:grpSpPr>
        <a:xfrm>
          <a:off x="0" y="0"/>
          <a:ext cx="0" cy="0"/>
          <a:chOff x="0" y="0"/>
          <a:chExt cx="0" cy="0"/>
        </a:xfrm>
      </p:grpSpPr>
      <p:pic>
        <p:nvPicPr>
          <p:cNvPr id="807" name="Google Shape;807;p100"/>
          <p:cNvPicPr preferRelativeResize="0"/>
          <p:nvPr/>
        </p:nvPicPr>
        <p:blipFill rotWithShape="1">
          <a:blip r:embed="rId3">
            <a:alphaModFix/>
          </a:blip>
          <a:srcRect b="33377" l="0" r="0" t="0"/>
          <a:stretch/>
        </p:blipFill>
        <p:spPr>
          <a:xfrm>
            <a:off x="0" y="3235050"/>
            <a:ext cx="9143999" cy="1901725"/>
          </a:xfrm>
          <a:prstGeom prst="rect">
            <a:avLst/>
          </a:prstGeom>
          <a:noFill/>
          <a:ln>
            <a:noFill/>
          </a:ln>
        </p:spPr>
      </p:pic>
      <p:sp>
        <p:nvSpPr>
          <p:cNvPr id="808" name="Google Shape;808;p100"/>
          <p:cNvSpPr txBox="1"/>
          <p:nvPr>
            <p:ph idx="4294967295" type="subTitle"/>
          </p:nvPr>
        </p:nvSpPr>
        <p:spPr>
          <a:xfrm>
            <a:off x="224825" y="4836550"/>
            <a:ext cx="7747200" cy="22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300">
                <a:solidFill>
                  <a:schemeClr val="dk1"/>
                </a:solidFill>
                <a:latin typeface="Roboto Light"/>
                <a:ea typeface="Roboto Light"/>
                <a:cs typeface="Roboto Light"/>
                <a:sym typeface="Roboto Light"/>
              </a:rPr>
              <a:t>Source: </a:t>
            </a:r>
            <a:r>
              <a:rPr lang="en" sz="1300" u="sng">
                <a:solidFill>
                  <a:schemeClr val="dk1"/>
                </a:solidFill>
                <a:latin typeface="Roboto Light"/>
                <a:ea typeface="Roboto Light"/>
                <a:cs typeface="Roboto Light"/>
                <a:sym typeface="Roboto Light"/>
                <a:hlinkClick r:id="rId4">
                  <a:extLst>
                    <a:ext uri="{A12FA001-AC4F-418D-AE19-62706E023703}">
                      <ahyp:hlinkClr val="tx"/>
                    </a:ext>
                  </a:extLst>
                </a:hlinkClick>
              </a:rPr>
              <a:t>nist.gov</a:t>
            </a:r>
            <a:endParaRPr sz="1300">
              <a:solidFill>
                <a:schemeClr val="dk1"/>
              </a:solidFill>
              <a:latin typeface="Roboto Light"/>
              <a:ea typeface="Roboto Light"/>
              <a:cs typeface="Roboto Light"/>
              <a:sym typeface="Roboto Light"/>
            </a:endParaRPr>
          </a:p>
        </p:txBody>
      </p:sp>
      <p:sp>
        <p:nvSpPr>
          <p:cNvPr id="809" name="Google Shape;809;p100"/>
          <p:cNvSpPr/>
          <p:nvPr/>
        </p:nvSpPr>
        <p:spPr>
          <a:xfrm>
            <a:off x="441525" y="1584450"/>
            <a:ext cx="3652200" cy="1498200"/>
          </a:xfrm>
          <a:prstGeom prst="round2DiagRect">
            <a:avLst>
              <a:gd fmla="val 10607" name="adj1"/>
              <a:gd fmla="val 0" name="adj2"/>
            </a:avLst>
          </a:prstGeom>
          <a:solidFill>
            <a:srgbClr val="F3F3F3"/>
          </a:solidFill>
          <a:ln>
            <a:noFill/>
          </a:ln>
        </p:spPr>
        <p:txBody>
          <a:bodyPr anchorCtr="0" anchor="t" bIns="0" lIns="91425" spcFirstLastPara="1" rIns="91425" wrap="square" tIns="45700">
            <a:noAutofit/>
          </a:bodyPr>
          <a:lstStyle/>
          <a:p>
            <a:pPr indent="0" lvl="0" marL="91440" rtl="0" algn="l">
              <a:lnSpc>
                <a:spcPct val="100000"/>
              </a:lnSpc>
              <a:spcBef>
                <a:spcPts val="0"/>
              </a:spcBef>
              <a:spcAft>
                <a:spcPts val="0"/>
              </a:spcAft>
              <a:buNone/>
            </a:pPr>
            <a:r>
              <a:rPr lang="en" sz="1500">
                <a:solidFill>
                  <a:schemeClr val="dk2"/>
                </a:solidFill>
                <a:latin typeface="Roboto"/>
                <a:ea typeface="Roboto"/>
                <a:cs typeface="Roboto"/>
                <a:sym typeface="Roboto"/>
              </a:rPr>
              <a:t>Describes NIST’s formal Risk Management Framework </a:t>
            </a:r>
            <a:br>
              <a:rPr lang="en" sz="1500">
                <a:solidFill>
                  <a:schemeClr val="dk2"/>
                </a:solidFill>
                <a:latin typeface="Roboto"/>
                <a:ea typeface="Roboto"/>
                <a:cs typeface="Roboto"/>
                <a:sym typeface="Roboto"/>
              </a:rPr>
            </a:br>
            <a:r>
              <a:rPr lang="en" sz="1500">
                <a:solidFill>
                  <a:schemeClr val="dk2"/>
                </a:solidFill>
                <a:latin typeface="Roboto"/>
                <a:ea typeface="Roboto"/>
                <a:cs typeface="Roboto"/>
                <a:sym typeface="Roboto"/>
              </a:rPr>
              <a:t>certification and accreditation process.</a:t>
            </a:r>
            <a:endParaRPr sz="1500">
              <a:solidFill>
                <a:schemeClr val="dk2"/>
              </a:solidFill>
              <a:latin typeface="Roboto"/>
              <a:ea typeface="Roboto"/>
              <a:cs typeface="Roboto"/>
              <a:sym typeface="Roboto"/>
            </a:endParaRPr>
          </a:p>
          <a:p>
            <a:pPr indent="0" lvl="0" marL="91440" rtl="0" algn="l">
              <a:lnSpc>
                <a:spcPct val="100000"/>
              </a:lnSpc>
              <a:spcBef>
                <a:spcPts val="0"/>
              </a:spcBef>
              <a:spcAft>
                <a:spcPts val="0"/>
              </a:spcAft>
              <a:buNone/>
            </a:pPr>
            <a:r>
              <a:t/>
            </a:r>
            <a:endParaRPr sz="1500">
              <a:solidFill>
                <a:schemeClr val="dk2"/>
              </a:solidFill>
              <a:latin typeface="Roboto"/>
              <a:ea typeface="Roboto"/>
              <a:cs typeface="Roboto"/>
              <a:sym typeface="Roboto"/>
            </a:endParaRPr>
          </a:p>
          <a:p>
            <a:pPr indent="0" lvl="0" marL="0" rtl="0" algn="ctr">
              <a:spcBef>
                <a:spcPts val="0"/>
              </a:spcBef>
              <a:spcAft>
                <a:spcPts val="0"/>
              </a:spcAft>
              <a:buNone/>
            </a:pPr>
            <a:r>
              <a:rPr lang="en" sz="1300">
                <a:solidFill>
                  <a:schemeClr val="dk1"/>
                </a:solidFill>
                <a:latin typeface="Roboto Light"/>
                <a:ea typeface="Roboto Light"/>
                <a:cs typeface="Roboto Light"/>
                <a:sym typeface="Roboto Light"/>
              </a:rPr>
              <a:t>Source: </a:t>
            </a:r>
            <a:r>
              <a:rPr i="1" lang="en" sz="1300">
                <a:solidFill>
                  <a:schemeClr val="dk1"/>
                </a:solidFill>
                <a:latin typeface="Roboto Light"/>
                <a:ea typeface="Roboto Light"/>
                <a:cs typeface="Roboto Light"/>
                <a:sym typeface="Roboto Light"/>
              </a:rPr>
              <a:t>NIST Special Publication 800-37 Rev. 2</a:t>
            </a:r>
            <a:endParaRPr sz="1300">
              <a:solidFill>
                <a:schemeClr val="dk1"/>
              </a:solidFill>
              <a:latin typeface="Roboto Light"/>
              <a:ea typeface="Roboto Light"/>
              <a:cs typeface="Roboto Light"/>
              <a:sym typeface="Roboto Light"/>
            </a:endParaRPr>
          </a:p>
        </p:txBody>
      </p:sp>
      <p:grpSp>
        <p:nvGrpSpPr>
          <p:cNvPr id="810" name="Google Shape;810;p100"/>
          <p:cNvGrpSpPr/>
          <p:nvPr/>
        </p:nvGrpSpPr>
        <p:grpSpPr>
          <a:xfrm>
            <a:off x="441525" y="711083"/>
            <a:ext cx="3770897" cy="963857"/>
            <a:chOff x="466725" y="1330821"/>
            <a:chExt cx="3652200" cy="579729"/>
          </a:xfrm>
        </p:grpSpPr>
        <p:sp>
          <p:nvSpPr>
            <p:cNvPr id="811" name="Google Shape;811;p100"/>
            <p:cNvSpPr/>
            <p:nvPr/>
          </p:nvSpPr>
          <p:spPr>
            <a:xfrm rot="10800000">
              <a:off x="2122663" y="1721925"/>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lt1"/>
                </a:solidFill>
              </a:endParaRPr>
            </a:p>
          </p:txBody>
        </p:sp>
        <p:sp>
          <p:nvSpPr>
            <p:cNvPr id="812" name="Google Shape;812;p100"/>
            <p:cNvSpPr/>
            <p:nvPr/>
          </p:nvSpPr>
          <p:spPr>
            <a:xfrm>
              <a:off x="466725" y="1330821"/>
              <a:ext cx="3652200" cy="4722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91440" rtl="0" algn="ctr">
                <a:spcBef>
                  <a:spcPts val="0"/>
                </a:spcBef>
                <a:spcAft>
                  <a:spcPts val="0"/>
                </a:spcAft>
                <a:buNone/>
              </a:pPr>
              <a:r>
                <a:rPr b="1" lang="en" sz="1500">
                  <a:solidFill>
                    <a:schemeClr val="lt1"/>
                  </a:solidFill>
                  <a:latin typeface="Roboto"/>
                  <a:ea typeface="Roboto"/>
                  <a:cs typeface="Roboto"/>
                  <a:sym typeface="Roboto"/>
                </a:rPr>
                <a:t>Risk Management Framework for Information Systems and Organizations </a:t>
              </a:r>
              <a:endParaRPr b="1" i="1" sz="1800">
                <a:solidFill>
                  <a:schemeClr val="lt1"/>
                </a:solidFill>
                <a:latin typeface="Roboto"/>
                <a:ea typeface="Roboto"/>
                <a:cs typeface="Roboto"/>
                <a:sym typeface="Roboto"/>
              </a:endParaRPr>
            </a:p>
          </p:txBody>
        </p:sp>
      </p:grpSp>
      <p:pic>
        <p:nvPicPr>
          <p:cNvPr id="813" name="Google Shape;813;p100"/>
          <p:cNvPicPr preferRelativeResize="0"/>
          <p:nvPr/>
        </p:nvPicPr>
        <p:blipFill>
          <a:blip r:embed="rId5">
            <a:alphaModFix/>
          </a:blip>
          <a:stretch>
            <a:fillRect/>
          </a:stretch>
        </p:blipFill>
        <p:spPr>
          <a:xfrm>
            <a:off x="4158275" y="802550"/>
            <a:ext cx="827450" cy="2130824"/>
          </a:xfrm>
          <a:prstGeom prst="rect">
            <a:avLst/>
          </a:prstGeom>
          <a:noFill/>
          <a:ln>
            <a:noFill/>
          </a:ln>
        </p:spPr>
      </p:pic>
      <p:sp>
        <p:nvSpPr>
          <p:cNvPr id="814" name="Google Shape;814;p100"/>
          <p:cNvSpPr/>
          <p:nvPr/>
        </p:nvSpPr>
        <p:spPr>
          <a:xfrm>
            <a:off x="4990075" y="1584400"/>
            <a:ext cx="3696600" cy="1498200"/>
          </a:xfrm>
          <a:prstGeom prst="round2DiagRect">
            <a:avLst>
              <a:gd fmla="val 10607" name="adj1"/>
              <a:gd fmla="val 0" name="adj2"/>
            </a:avLst>
          </a:prstGeom>
          <a:solidFill>
            <a:srgbClr val="F3F3F3"/>
          </a:solidFill>
          <a:ln>
            <a:noFill/>
          </a:ln>
        </p:spPr>
        <p:txBody>
          <a:bodyPr anchorCtr="0" anchor="t" bIns="0" lIns="91425" spcFirstLastPara="1" rIns="91425" wrap="square" tIns="45700">
            <a:noAutofit/>
          </a:bodyPr>
          <a:lstStyle/>
          <a:p>
            <a:pPr indent="0" lvl="0" marL="91440" rtl="0" algn="l">
              <a:lnSpc>
                <a:spcPct val="100000"/>
              </a:lnSpc>
              <a:spcBef>
                <a:spcPts val="0"/>
              </a:spcBef>
              <a:spcAft>
                <a:spcPts val="0"/>
              </a:spcAft>
              <a:buNone/>
            </a:pPr>
            <a:r>
              <a:rPr lang="en" sz="1500">
                <a:solidFill>
                  <a:schemeClr val="dk2"/>
                </a:solidFill>
                <a:latin typeface="Roboto"/>
                <a:ea typeface="Roboto"/>
                <a:cs typeface="Roboto"/>
                <a:sym typeface="Roboto"/>
              </a:rPr>
              <a:t>D</a:t>
            </a:r>
            <a:r>
              <a:rPr lang="en" sz="1500">
                <a:solidFill>
                  <a:schemeClr val="dk2"/>
                </a:solidFill>
                <a:latin typeface="Roboto"/>
                <a:ea typeface="Roboto"/>
                <a:cs typeface="Roboto"/>
                <a:sym typeface="Roboto"/>
              </a:rPr>
              <a:t>escribes a</a:t>
            </a:r>
            <a:r>
              <a:rPr lang="en" sz="1500">
                <a:solidFill>
                  <a:schemeClr val="dk2"/>
                </a:solidFill>
                <a:latin typeface="Roboto"/>
                <a:ea typeface="Roboto"/>
                <a:cs typeface="Roboto"/>
                <a:sym typeface="Roboto"/>
              </a:rPr>
              <a:t> structured process for an organization to select system security controls and integrate them as part of their risk management program. </a:t>
            </a:r>
            <a:endParaRPr sz="1500">
              <a:solidFill>
                <a:schemeClr val="dk2"/>
              </a:solidFill>
              <a:latin typeface="Roboto"/>
              <a:ea typeface="Roboto"/>
              <a:cs typeface="Roboto"/>
              <a:sym typeface="Roboto"/>
            </a:endParaRPr>
          </a:p>
          <a:p>
            <a:pPr indent="0" lvl="0" marL="91440" rtl="0" algn="l">
              <a:lnSpc>
                <a:spcPct val="100000"/>
              </a:lnSpc>
              <a:spcBef>
                <a:spcPts val="0"/>
              </a:spcBef>
              <a:spcAft>
                <a:spcPts val="0"/>
              </a:spcAft>
              <a:buNone/>
            </a:pPr>
            <a:r>
              <a:t/>
            </a:r>
            <a:endParaRPr sz="1500">
              <a:solidFill>
                <a:schemeClr val="dk2"/>
              </a:solidFill>
              <a:latin typeface="Roboto"/>
              <a:ea typeface="Roboto"/>
              <a:cs typeface="Roboto"/>
              <a:sym typeface="Roboto"/>
            </a:endParaRPr>
          </a:p>
          <a:p>
            <a:pPr indent="0" lvl="0" marL="91440" rtl="0" algn="l">
              <a:lnSpc>
                <a:spcPct val="100000"/>
              </a:lnSpc>
              <a:spcBef>
                <a:spcPts val="0"/>
              </a:spcBef>
              <a:spcAft>
                <a:spcPts val="0"/>
              </a:spcAft>
              <a:buNone/>
            </a:pPr>
            <a:r>
              <a:rPr lang="en" sz="1300">
                <a:solidFill>
                  <a:schemeClr val="dk1"/>
                </a:solidFill>
                <a:latin typeface="Roboto Light"/>
                <a:ea typeface="Roboto Light"/>
                <a:cs typeface="Roboto Light"/>
                <a:sym typeface="Roboto Light"/>
              </a:rPr>
              <a:t>Source:</a:t>
            </a:r>
            <a:r>
              <a:rPr lang="en" sz="1500">
                <a:solidFill>
                  <a:schemeClr val="dk2"/>
                </a:solidFill>
                <a:latin typeface="Roboto"/>
                <a:ea typeface="Roboto"/>
                <a:cs typeface="Roboto"/>
                <a:sym typeface="Roboto"/>
              </a:rPr>
              <a:t> </a:t>
            </a:r>
            <a:r>
              <a:rPr i="1" lang="en" sz="1300">
                <a:solidFill>
                  <a:schemeClr val="dk1"/>
                </a:solidFill>
                <a:latin typeface="Roboto Light"/>
                <a:ea typeface="Roboto Light"/>
                <a:cs typeface="Roboto Light"/>
                <a:sym typeface="Roboto Light"/>
              </a:rPr>
              <a:t>NIST Special Publication 800-53 Rev. 5</a:t>
            </a:r>
            <a:endParaRPr i="1" sz="1300">
              <a:solidFill>
                <a:schemeClr val="dk1"/>
              </a:solidFill>
              <a:latin typeface="Roboto Light"/>
              <a:ea typeface="Roboto Light"/>
              <a:cs typeface="Roboto Light"/>
              <a:sym typeface="Roboto Light"/>
            </a:endParaRPr>
          </a:p>
          <a:p>
            <a:pPr indent="0" lvl="0" marL="91440" rtl="0" algn="l">
              <a:lnSpc>
                <a:spcPct val="100000"/>
              </a:lnSpc>
              <a:spcBef>
                <a:spcPts val="0"/>
              </a:spcBef>
              <a:spcAft>
                <a:spcPts val="0"/>
              </a:spcAft>
              <a:buNone/>
            </a:pPr>
            <a:r>
              <a:t/>
            </a:r>
            <a:endParaRPr sz="1500">
              <a:solidFill>
                <a:schemeClr val="dk2"/>
              </a:solidFill>
              <a:latin typeface="Roboto"/>
              <a:ea typeface="Roboto"/>
              <a:cs typeface="Roboto"/>
              <a:sym typeface="Roboto"/>
            </a:endParaRPr>
          </a:p>
        </p:txBody>
      </p:sp>
      <p:grpSp>
        <p:nvGrpSpPr>
          <p:cNvPr id="815" name="Google Shape;815;p100"/>
          <p:cNvGrpSpPr/>
          <p:nvPr/>
        </p:nvGrpSpPr>
        <p:grpSpPr>
          <a:xfrm>
            <a:off x="4990075" y="708654"/>
            <a:ext cx="3652200" cy="963870"/>
            <a:chOff x="466725" y="1363633"/>
            <a:chExt cx="3652200" cy="437665"/>
          </a:xfrm>
        </p:grpSpPr>
        <p:sp>
          <p:nvSpPr>
            <p:cNvPr id="816" name="Google Shape;816;p100"/>
            <p:cNvSpPr/>
            <p:nvPr/>
          </p:nvSpPr>
          <p:spPr>
            <a:xfrm rot="10800000">
              <a:off x="2122675" y="1654451"/>
              <a:ext cx="340325" cy="146846"/>
            </a:xfrm>
            <a:prstGeom prst="flowChartExtra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lt1"/>
                </a:solidFill>
              </a:endParaRPr>
            </a:p>
          </p:txBody>
        </p:sp>
        <p:sp>
          <p:nvSpPr>
            <p:cNvPr id="817" name="Google Shape;817;p100"/>
            <p:cNvSpPr/>
            <p:nvPr/>
          </p:nvSpPr>
          <p:spPr>
            <a:xfrm>
              <a:off x="466725" y="1363633"/>
              <a:ext cx="3652200" cy="3648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91440" rtl="0" algn="ctr">
                <a:spcBef>
                  <a:spcPts val="0"/>
                </a:spcBef>
                <a:spcAft>
                  <a:spcPts val="0"/>
                </a:spcAft>
                <a:buNone/>
              </a:pPr>
              <a:r>
                <a:rPr b="1" lang="en" sz="1500">
                  <a:solidFill>
                    <a:schemeClr val="lt1"/>
                  </a:solidFill>
                  <a:latin typeface="Roboto"/>
                  <a:ea typeface="Roboto"/>
                  <a:cs typeface="Roboto"/>
                  <a:sym typeface="Roboto"/>
                </a:rPr>
                <a:t>Security and Privacy Controls for Federal Information Systems and Organizations </a:t>
              </a:r>
              <a:endParaRPr b="1" sz="1800">
                <a:solidFill>
                  <a:schemeClr val="lt1"/>
                </a:solidFill>
                <a:latin typeface="Roboto"/>
                <a:ea typeface="Roboto"/>
                <a:cs typeface="Roboto"/>
                <a:sym typeface="Roboto"/>
              </a:endParaRPr>
            </a:p>
          </p:txBody>
        </p:sp>
      </p:grpSp>
      <p:sp>
        <p:nvSpPr>
          <p:cNvPr id="818" name="Google Shape;818;p100"/>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082D49"/>
                </a:solidFill>
                <a:latin typeface="Roboto"/>
                <a:ea typeface="Roboto"/>
                <a:cs typeface="Roboto"/>
                <a:sym typeface="Roboto"/>
              </a:rPr>
              <a:t>Risk Management Frameworks</a:t>
            </a:r>
            <a:endParaRPr b="1" sz="2600">
              <a:solidFill>
                <a:srgbClr val="082D49"/>
              </a:solidFill>
              <a:latin typeface="Roboto"/>
              <a:ea typeface="Roboto"/>
              <a:cs typeface="Roboto"/>
              <a:sym typeface="Roboto"/>
            </a:endParaRPr>
          </a:p>
          <a:p>
            <a:pPr indent="0" lvl="0" marL="0" rtl="0" algn="l">
              <a:spcBef>
                <a:spcPts val="0"/>
              </a:spcBef>
              <a:spcAft>
                <a:spcPts val="0"/>
              </a:spcAft>
              <a:buNone/>
            </a:pPr>
            <a:r>
              <a:t/>
            </a:r>
            <a:endParaRPr b="1" sz="2600">
              <a:solidFill>
                <a:srgbClr val="082D49"/>
              </a:solidFill>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2" name="Shape 822"/>
        <p:cNvGrpSpPr/>
        <p:nvPr/>
      </p:nvGrpSpPr>
      <p:grpSpPr>
        <a:xfrm>
          <a:off x="0" y="0"/>
          <a:ext cx="0" cy="0"/>
          <a:chOff x="0" y="0"/>
          <a:chExt cx="0" cy="0"/>
        </a:xfrm>
      </p:grpSpPr>
      <p:sp>
        <p:nvSpPr>
          <p:cNvPr id="823" name="Google Shape;823;p101"/>
          <p:cNvSpPr txBox="1"/>
          <p:nvPr>
            <p:ph type="title"/>
          </p:nvPr>
        </p:nvSpPr>
        <p:spPr>
          <a:xfrm>
            <a:off x="762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National Institute of Standards and Technology </a:t>
            </a:r>
            <a:endParaRPr/>
          </a:p>
        </p:txBody>
      </p:sp>
      <p:sp>
        <p:nvSpPr>
          <p:cNvPr id="824" name="Google Shape;824;p101"/>
          <p:cNvSpPr txBox="1"/>
          <p:nvPr>
            <p:ph idx="1" type="body"/>
          </p:nvPr>
        </p:nvSpPr>
        <p:spPr>
          <a:xfrm>
            <a:off x="76250" y="1199150"/>
            <a:ext cx="4572000" cy="3445800"/>
          </a:xfrm>
          <a:prstGeom prst="rect">
            <a:avLst/>
          </a:prstGeom>
        </p:spPr>
        <p:txBody>
          <a:bodyPr anchorCtr="0" anchor="t" bIns="91425" lIns="182875" spcFirstLastPara="1" rIns="182875" wrap="square" tIns="0">
            <a:noAutofit/>
          </a:bodyPr>
          <a:lstStyle/>
          <a:p>
            <a:pPr indent="-342900" lvl="0" marL="457200" rtl="0" algn="l">
              <a:spcBef>
                <a:spcPts val="0"/>
              </a:spcBef>
              <a:spcAft>
                <a:spcPts val="0"/>
              </a:spcAft>
              <a:buSzPts val="1800"/>
              <a:buChar char="●"/>
            </a:pPr>
            <a:r>
              <a:rPr lang="en" sz="1800"/>
              <a:t>NIST’s mission is to develop and promote standards, measurements, and technology that enhance productivity, facilitate trade, and improve quality of life.</a:t>
            </a:r>
            <a:endParaRPr sz="1800"/>
          </a:p>
          <a:p>
            <a:pPr indent="-342900" lvl="0" marL="457200" rtl="0" algn="l">
              <a:spcBef>
                <a:spcPts val="1000"/>
              </a:spcBef>
              <a:spcAft>
                <a:spcPts val="1000"/>
              </a:spcAft>
              <a:buSzPts val="1800"/>
              <a:buChar char="●"/>
            </a:pPr>
            <a:r>
              <a:rPr lang="en" sz="1800"/>
              <a:t>Since 2014, the NIST Cybersecurity Framework (CSF) has provided guidance for critical infrastructure </a:t>
            </a:r>
            <a:br>
              <a:rPr lang="en" sz="1800"/>
            </a:br>
            <a:r>
              <a:rPr lang="en" sz="1800"/>
              <a:t>so that organizations can better manage and reduce cybersecurity risks.</a:t>
            </a:r>
            <a:endParaRPr sz="1800"/>
          </a:p>
        </p:txBody>
      </p:sp>
      <p:pic>
        <p:nvPicPr>
          <p:cNvPr id="825" name="Google Shape;825;p101"/>
          <p:cNvPicPr preferRelativeResize="0"/>
          <p:nvPr/>
        </p:nvPicPr>
        <p:blipFill>
          <a:blip r:embed="rId3">
            <a:alphaModFix/>
          </a:blip>
          <a:stretch>
            <a:fillRect/>
          </a:stretch>
        </p:blipFill>
        <p:spPr>
          <a:xfrm>
            <a:off x="4569350" y="1438949"/>
            <a:ext cx="4116650" cy="2856950"/>
          </a:xfrm>
          <a:prstGeom prst="rect">
            <a:avLst/>
          </a:prstGeom>
          <a:noFill/>
          <a:ln>
            <a:noFill/>
          </a:ln>
        </p:spPr>
      </p:pic>
      <p:sp>
        <p:nvSpPr>
          <p:cNvPr id="826" name="Google Shape;826;p101"/>
          <p:cNvSpPr txBox="1"/>
          <p:nvPr>
            <p:ph idx="2" type="title"/>
          </p:nvPr>
        </p:nvSpPr>
        <p:spPr>
          <a:xfrm>
            <a:off x="76250" y="597200"/>
            <a:ext cx="9192600" cy="3231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1200"/>
              </a:spcAft>
              <a:buNone/>
            </a:pPr>
            <a:r>
              <a:rPr lang="en" sz="1800">
                <a:latin typeface="Roboto"/>
                <a:ea typeface="Roboto"/>
                <a:cs typeface="Roboto"/>
                <a:sym typeface="Roboto"/>
              </a:rPr>
              <a:t>NIST is a federal agency within the United States Department of Commerce.</a:t>
            </a:r>
            <a:endParaRPr sz="1800">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30" name="Shape 830"/>
        <p:cNvGrpSpPr/>
        <p:nvPr/>
      </p:nvGrpSpPr>
      <p:grpSpPr>
        <a:xfrm>
          <a:off x="0" y="0"/>
          <a:ext cx="0" cy="0"/>
          <a:chOff x="0" y="0"/>
          <a:chExt cx="0" cy="0"/>
        </a:xfrm>
      </p:grpSpPr>
      <p:sp>
        <p:nvSpPr>
          <p:cNvPr id="831" name="Google Shape;831;p102"/>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NIST Cybersecurity Framework</a:t>
            </a:r>
            <a:endParaRPr/>
          </a:p>
        </p:txBody>
      </p:sp>
      <p:sp>
        <p:nvSpPr>
          <p:cNvPr id="832" name="Google Shape;832;p102"/>
          <p:cNvSpPr txBox="1"/>
          <p:nvPr>
            <p:ph idx="1" type="body"/>
          </p:nvPr>
        </p:nvSpPr>
        <p:spPr>
          <a:xfrm>
            <a:off x="457200" y="579025"/>
            <a:ext cx="8180700" cy="393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The</a:t>
            </a:r>
            <a:r>
              <a:rPr lang="en" sz="1800"/>
              <a:t> NIST </a:t>
            </a:r>
            <a:r>
              <a:rPr lang="en" sz="1800"/>
              <a:t>Cybersecurity</a:t>
            </a:r>
            <a:r>
              <a:rPr lang="en" sz="1800"/>
              <a:t> Framework is made up of categories, subcategories, and informative resources.</a:t>
            </a:r>
            <a:endParaRPr sz="1800"/>
          </a:p>
        </p:txBody>
      </p:sp>
      <p:graphicFrame>
        <p:nvGraphicFramePr>
          <p:cNvPr id="833" name="Google Shape;833;p102"/>
          <p:cNvGraphicFramePr/>
          <p:nvPr/>
        </p:nvGraphicFramePr>
        <p:xfrm>
          <a:off x="381000" y="1335447"/>
          <a:ext cx="3000000" cy="3000000"/>
        </p:xfrm>
        <a:graphic>
          <a:graphicData uri="http://schemas.openxmlformats.org/drawingml/2006/table">
            <a:tbl>
              <a:tblPr>
                <a:noFill/>
                <a:tableStyleId>{77D82E05-C7B0-4494-ACDF-EB02A9E300EF}</a:tableStyleId>
              </a:tblPr>
              <a:tblGrid>
                <a:gridCol w="2100900"/>
                <a:gridCol w="2100900"/>
                <a:gridCol w="2100900"/>
                <a:gridCol w="2100900"/>
              </a:tblGrid>
              <a:tr h="666800">
                <a:tc>
                  <a:txBody>
                    <a:bodyPr/>
                    <a:lstStyle/>
                    <a:p>
                      <a:pPr indent="0" lvl="0" marL="0" rtl="0" algn="ctr">
                        <a:spcBef>
                          <a:spcPts val="0"/>
                        </a:spcBef>
                        <a:spcAft>
                          <a:spcPts val="0"/>
                        </a:spcAft>
                        <a:buNone/>
                      </a:pPr>
                      <a:r>
                        <a:rPr lang="en" sz="1600">
                          <a:solidFill>
                            <a:srgbClr val="FFFFFF"/>
                          </a:solidFill>
                          <a:latin typeface="Roboto Medium"/>
                          <a:ea typeface="Roboto Medium"/>
                          <a:cs typeface="Roboto Medium"/>
                          <a:sym typeface="Roboto Medium"/>
                        </a:rPr>
                        <a:t>Functions</a:t>
                      </a:r>
                      <a:endParaRPr sz="1600">
                        <a:solidFill>
                          <a:srgbClr val="FFFFFF"/>
                        </a:solidFill>
                        <a:latin typeface="Roboto Medium"/>
                        <a:ea typeface="Roboto Medium"/>
                        <a:cs typeface="Roboto Medium"/>
                        <a:sym typeface="Roboto Medium"/>
                      </a:endParaRPr>
                    </a:p>
                  </a:txBody>
                  <a:tcPr marT="0" marB="0" marR="0" marL="0" anchor="ctr">
                    <a:lnL cap="flat" cmpd="sng" w="9525">
                      <a:solidFill>
                        <a:schemeClr val="dk2"/>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chemeClr val="dk1"/>
                        </a:buClr>
                        <a:buSzPts val="1100"/>
                        <a:buFont typeface="Arial"/>
                        <a:buNone/>
                      </a:pPr>
                      <a:r>
                        <a:rPr lang="en" sz="1600">
                          <a:solidFill>
                            <a:srgbClr val="FFFFFF"/>
                          </a:solidFill>
                          <a:latin typeface="Roboto Medium"/>
                          <a:ea typeface="Roboto Medium"/>
                          <a:cs typeface="Roboto Medium"/>
                          <a:sym typeface="Roboto Medium"/>
                        </a:rPr>
                        <a:t>Categories</a:t>
                      </a:r>
                      <a:endParaRPr sz="1600">
                        <a:solidFill>
                          <a:srgbClr val="FFFFFF"/>
                        </a:solidFill>
                        <a:latin typeface="Roboto Medium"/>
                        <a:ea typeface="Roboto Medium"/>
                        <a:cs typeface="Roboto Medium"/>
                        <a:sym typeface="Roboto Medium"/>
                      </a:endParaRPr>
                    </a:p>
                  </a:txBody>
                  <a:tcPr marT="0" marB="0" marR="0" marL="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chemeClr val="dk1"/>
                        </a:buClr>
                        <a:buSzPts val="1100"/>
                        <a:buFont typeface="Arial"/>
                        <a:buNone/>
                      </a:pPr>
                      <a:r>
                        <a:rPr lang="en" sz="1600">
                          <a:solidFill>
                            <a:srgbClr val="FFFFFF"/>
                          </a:solidFill>
                          <a:latin typeface="Roboto Medium"/>
                          <a:ea typeface="Roboto Medium"/>
                          <a:cs typeface="Roboto Medium"/>
                          <a:sym typeface="Roboto Medium"/>
                        </a:rPr>
                        <a:t>Subc</a:t>
                      </a:r>
                      <a:r>
                        <a:rPr lang="en" sz="1600">
                          <a:solidFill>
                            <a:srgbClr val="FFFFFF"/>
                          </a:solidFill>
                          <a:latin typeface="Roboto Medium"/>
                          <a:ea typeface="Roboto Medium"/>
                          <a:cs typeface="Roboto Medium"/>
                          <a:sym typeface="Roboto Medium"/>
                        </a:rPr>
                        <a:t>ategories</a:t>
                      </a:r>
                      <a:endParaRPr sz="1600">
                        <a:solidFill>
                          <a:srgbClr val="FFFFFF"/>
                        </a:solidFill>
                        <a:latin typeface="Roboto Medium"/>
                        <a:ea typeface="Roboto Medium"/>
                        <a:cs typeface="Roboto Medium"/>
                        <a:sym typeface="Roboto Medium"/>
                      </a:endParaRPr>
                    </a:p>
                  </a:txBody>
                  <a:tcPr marT="0" marB="0" marR="0" marL="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chemeClr val="dk1"/>
                        </a:buClr>
                        <a:buSzPts val="1100"/>
                        <a:buFont typeface="Arial"/>
                        <a:buNone/>
                      </a:pPr>
                      <a:r>
                        <a:rPr lang="en" sz="1600">
                          <a:solidFill>
                            <a:srgbClr val="FFFFFF"/>
                          </a:solidFill>
                          <a:latin typeface="Roboto Medium"/>
                          <a:ea typeface="Roboto Medium"/>
                          <a:cs typeface="Roboto Medium"/>
                          <a:sym typeface="Roboto Medium"/>
                        </a:rPr>
                        <a:t>Informative References</a:t>
                      </a:r>
                      <a:endParaRPr sz="1600">
                        <a:solidFill>
                          <a:srgbClr val="FFFFFF"/>
                        </a:solidFill>
                        <a:latin typeface="Roboto Medium"/>
                        <a:ea typeface="Roboto Medium"/>
                        <a:cs typeface="Roboto Medium"/>
                        <a:sym typeface="Roboto Medium"/>
                      </a:endParaRPr>
                    </a:p>
                  </a:txBody>
                  <a:tcPr marT="0" marB="0" marR="0" marL="0" anchor="ctr">
                    <a:lnL cap="flat" cmpd="sng" w="9525">
                      <a:solidFill>
                        <a:schemeClr val="lt1"/>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r>
              <a:tr h="100000">
                <a:tc rowSpan="8">
                  <a:txBody>
                    <a:bodyPr/>
                    <a:lstStyle/>
                    <a:p>
                      <a:pPr indent="0" lvl="0" marL="0" rtl="0" algn="ctr">
                        <a:spcBef>
                          <a:spcPts val="0"/>
                        </a:spcBef>
                        <a:spcAft>
                          <a:spcPts val="0"/>
                        </a:spcAft>
                        <a:buNone/>
                      </a:pPr>
                      <a:r>
                        <a:rPr lang="en" sz="1600">
                          <a:solidFill>
                            <a:schemeClr val="lt1"/>
                          </a:solidFill>
                          <a:latin typeface="Roboto Medium"/>
                          <a:ea typeface="Roboto Medium"/>
                          <a:cs typeface="Roboto Medium"/>
                          <a:sym typeface="Roboto Medium"/>
                        </a:rPr>
                        <a:t>Identify</a:t>
                      </a:r>
                      <a:endParaRPr sz="1600">
                        <a:solidFill>
                          <a:schemeClr val="lt1"/>
                        </a:solidFill>
                        <a:latin typeface="Roboto Medium"/>
                        <a:ea typeface="Roboto Medium"/>
                        <a:cs typeface="Roboto Medium"/>
                        <a:sym typeface="Roboto Medium"/>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1"/>
                    </a:solidFill>
                  </a:tcPr>
                </a:tc>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rowSpan="8">
                  <a:txBody>
                    <a:bodyPr/>
                    <a:lstStyle/>
                    <a:p>
                      <a:pPr indent="0" lvl="0" marL="0" rtl="0" algn="ctr">
                        <a:spcBef>
                          <a:spcPts val="0"/>
                        </a:spcBef>
                        <a:spcAft>
                          <a:spcPts val="0"/>
                        </a:spcAft>
                        <a:buNone/>
                      </a:pPr>
                      <a:r>
                        <a:rPr lang="en" sz="1600">
                          <a:solidFill>
                            <a:schemeClr val="dk2"/>
                          </a:solidFill>
                          <a:latin typeface="Roboto Medium"/>
                          <a:ea typeface="Roboto Medium"/>
                          <a:cs typeface="Roboto Medium"/>
                          <a:sym typeface="Roboto Medium"/>
                        </a:rPr>
                        <a:t>Protect</a:t>
                      </a:r>
                      <a:endParaRPr sz="1600">
                        <a:solidFill>
                          <a:schemeClr val="dk2"/>
                        </a:solidFill>
                        <a:latin typeface="Roboto Medium"/>
                        <a:ea typeface="Roboto Medium"/>
                        <a:cs typeface="Roboto Medium"/>
                        <a:sym typeface="Roboto Medium"/>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rowSpan="8">
                  <a:txBody>
                    <a:bodyPr/>
                    <a:lstStyle/>
                    <a:p>
                      <a:pPr indent="0" lvl="0" marL="0" rtl="0" algn="ctr">
                        <a:spcBef>
                          <a:spcPts val="0"/>
                        </a:spcBef>
                        <a:spcAft>
                          <a:spcPts val="0"/>
                        </a:spcAft>
                        <a:buNone/>
                      </a:pPr>
                      <a:r>
                        <a:rPr lang="en" sz="1600">
                          <a:solidFill>
                            <a:schemeClr val="dk2"/>
                          </a:solidFill>
                          <a:latin typeface="Roboto Medium"/>
                          <a:ea typeface="Roboto Medium"/>
                          <a:cs typeface="Roboto Medium"/>
                          <a:sym typeface="Roboto Medium"/>
                        </a:rPr>
                        <a:t>Detect</a:t>
                      </a:r>
                      <a:endParaRPr sz="1600">
                        <a:solidFill>
                          <a:schemeClr val="dk2"/>
                        </a:solidFill>
                        <a:latin typeface="Roboto Medium"/>
                        <a:ea typeface="Roboto Medium"/>
                        <a:cs typeface="Roboto Medium"/>
                        <a:sym typeface="Roboto Medium"/>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100000">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rowSpan="8">
                  <a:txBody>
                    <a:bodyPr/>
                    <a:lstStyle/>
                    <a:p>
                      <a:pPr indent="0" lvl="0" marL="0" rtl="0" algn="ctr">
                        <a:spcBef>
                          <a:spcPts val="0"/>
                        </a:spcBef>
                        <a:spcAft>
                          <a:spcPts val="0"/>
                        </a:spcAft>
                        <a:buNone/>
                      </a:pPr>
                      <a:r>
                        <a:rPr lang="en" sz="1600">
                          <a:solidFill>
                            <a:schemeClr val="lt1"/>
                          </a:solidFill>
                          <a:latin typeface="Roboto Medium"/>
                          <a:ea typeface="Roboto Medium"/>
                          <a:cs typeface="Roboto Medium"/>
                          <a:sym typeface="Roboto Medium"/>
                        </a:rPr>
                        <a:t>Respond</a:t>
                      </a:r>
                      <a:endParaRPr sz="1600">
                        <a:solidFill>
                          <a:schemeClr val="lt1"/>
                        </a:solidFill>
                        <a:latin typeface="Roboto Medium"/>
                        <a:ea typeface="Roboto Medium"/>
                        <a:cs typeface="Roboto Medium"/>
                        <a:sym typeface="Roboto Medium"/>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3"/>
                    </a:solidFill>
                  </a:tcPr>
                </a:tc>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CCCCCC"/>
                    </a:solidFill>
                  </a:tcPr>
                </a:tc>
              </a:tr>
              <a:tr h="75025">
                <a:tc rowSpan="8">
                  <a:txBody>
                    <a:bodyPr/>
                    <a:lstStyle/>
                    <a:p>
                      <a:pPr indent="0" lvl="0" marL="0" rtl="0" algn="ctr">
                        <a:spcBef>
                          <a:spcPts val="0"/>
                        </a:spcBef>
                        <a:spcAft>
                          <a:spcPts val="0"/>
                        </a:spcAft>
                        <a:buClr>
                          <a:schemeClr val="dk1"/>
                        </a:buClr>
                        <a:buSzPts val="1100"/>
                        <a:buFont typeface="Arial"/>
                        <a:buNone/>
                      </a:pPr>
                      <a:r>
                        <a:rPr lang="en" sz="1600">
                          <a:solidFill>
                            <a:schemeClr val="dk2"/>
                          </a:solidFill>
                          <a:latin typeface="Roboto Medium"/>
                          <a:ea typeface="Roboto Medium"/>
                          <a:cs typeface="Roboto Medium"/>
                          <a:sym typeface="Roboto Medium"/>
                        </a:rPr>
                        <a:t>Recover</a:t>
                      </a:r>
                      <a:endParaRPr sz="1600">
                        <a:solidFill>
                          <a:schemeClr val="dk2"/>
                        </a:solidFill>
                        <a:latin typeface="Roboto Medium"/>
                        <a:ea typeface="Roboto Medium"/>
                        <a:cs typeface="Roboto Medium"/>
                        <a:sym typeface="Roboto Medium"/>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rowSpan="4">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r h="75025">
                <a:tc vMerge="1"/>
                <a:tc vMerge="1"/>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t/>
                      </a:r>
                      <a:endParaRPr sz="300">
                        <a:latin typeface="Roboto"/>
                        <a:ea typeface="Roboto"/>
                        <a:cs typeface="Roboto"/>
                        <a:sym typeface="Roboto"/>
                      </a:endParaRPr>
                    </a:p>
                  </a:txBody>
                  <a:tcPr marT="0" marB="0" marR="0" marL="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EFEFE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103"/>
          <p:cNvSpPr txBox="1"/>
          <p:nvPr>
            <p:ph type="title"/>
          </p:nvPr>
        </p:nvSpPr>
        <p:spPr>
          <a:xfrm>
            <a:off x="3145525" y="1099050"/>
            <a:ext cx="5632500" cy="294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Let’s take a look at </a:t>
            </a:r>
            <a:br>
              <a:rPr b="0" lang="en">
                <a:latin typeface="Roboto"/>
                <a:ea typeface="Roboto"/>
                <a:cs typeface="Roboto"/>
                <a:sym typeface="Roboto"/>
              </a:rPr>
            </a:br>
            <a:r>
              <a:rPr b="0" lang="en">
                <a:latin typeface="Roboto"/>
                <a:ea typeface="Roboto"/>
                <a:cs typeface="Roboto"/>
                <a:sym typeface="Roboto"/>
              </a:rPr>
              <a:t>how an organization would implement the</a:t>
            </a:r>
            <a:r>
              <a:rPr b="0" lang="en"/>
              <a:t> </a:t>
            </a:r>
            <a:r>
              <a:rPr lang="en">
                <a:latin typeface="Roboto"/>
                <a:ea typeface="Roboto"/>
                <a:cs typeface="Roboto"/>
                <a:sym typeface="Roboto"/>
              </a:rPr>
              <a:t>NIST Cybersecurit</a:t>
            </a:r>
            <a:r>
              <a:rPr lang="en">
                <a:latin typeface="Roboto"/>
                <a:ea typeface="Roboto"/>
                <a:cs typeface="Roboto"/>
                <a:sym typeface="Roboto"/>
              </a:rPr>
              <a:t>y </a:t>
            </a:r>
            <a:r>
              <a:rPr lang="en">
                <a:latin typeface="Roboto"/>
                <a:ea typeface="Roboto"/>
                <a:cs typeface="Roboto"/>
                <a:sym typeface="Roboto"/>
              </a:rPr>
              <a:t>Framework</a:t>
            </a:r>
            <a:r>
              <a:rPr b="0" lang="en">
                <a:latin typeface="Roboto"/>
                <a:ea typeface="Roboto"/>
                <a:cs typeface="Roboto"/>
                <a:sym typeface="Roboto"/>
              </a:rPr>
              <a:t>.</a:t>
            </a:r>
            <a:endParaRPr b="0">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04"/>
          <p:cNvSpPr txBox="1"/>
          <p:nvPr>
            <p:ph type="title"/>
          </p:nvPr>
        </p:nvSpPr>
        <p:spPr>
          <a:xfrm>
            <a:off x="0" y="294375"/>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None/>
            </a:pPr>
            <a:r>
              <a:rPr lang="en"/>
              <a:t>NIST CSF Scenario</a:t>
            </a:r>
            <a:endParaRPr/>
          </a:p>
        </p:txBody>
      </p:sp>
      <p:sp>
        <p:nvSpPr>
          <p:cNvPr id="844" name="Google Shape;844;p104"/>
          <p:cNvSpPr txBox="1"/>
          <p:nvPr>
            <p:ph idx="4294967295" type="subTitle"/>
          </p:nvPr>
        </p:nvSpPr>
        <p:spPr>
          <a:xfrm>
            <a:off x="375675" y="1094525"/>
            <a:ext cx="7515000" cy="10368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An organization has just recovered from an attack. It must now consider what it can do to mitigate this attack from happening again.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845" name="Google Shape;845;p104"/>
          <p:cNvSpPr txBox="1"/>
          <p:nvPr>
            <p:ph idx="4294967295" type="subTitle"/>
          </p:nvPr>
        </p:nvSpPr>
        <p:spPr>
          <a:xfrm>
            <a:off x="444900" y="4916650"/>
            <a:ext cx="7971900" cy="22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300">
                <a:solidFill>
                  <a:schemeClr val="dk1"/>
                </a:solidFill>
                <a:latin typeface="Roboto Light"/>
                <a:ea typeface="Roboto Light"/>
                <a:cs typeface="Roboto Light"/>
                <a:sym typeface="Roboto Light"/>
              </a:rPr>
              <a:t>Source: </a:t>
            </a:r>
            <a:r>
              <a:rPr lang="en" sz="1300" u="sng">
                <a:solidFill>
                  <a:schemeClr val="dk1"/>
                </a:solidFill>
                <a:latin typeface="Roboto Light"/>
                <a:ea typeface="Roboto Light"/>
                <a:cs typeface="Roboto Light"/>
                <a:sym typeface="Roboto Light"/>
                <a:hlinkClick r:id="rId3">
                  <a:extLst>
                    <a:ext uri="{A12FA001-AC4F-418D-AE19-62706E023703}">
                      <ahyp:hlinkClr val="tx"/>
                    </a:ext>
                  </a:extLst>
                </a:hlinkClick>
              </a:rPr>
              <a:t>nist.gov</a:t>
            </a:r>
            <a:endParaRPr sz="1300">
              <a:solidFill>
                <a:schemeClr val="dk1"/>
              </a:solidFill>
              <a:latin typeface="Roboto Light"/>
              <a:ea typeface="Roboto Light"/>
              <a:cs typeface="Roboto Light"/>
              <a:sym typeface="Roboto Light"/>
            </a:endParaRPr>
          </a:p>
        </p:txBody>
      </p:sp>
      <p:sp>
        <p:nvSpPr>
          <p:cNvPr id="846" name="Google Shape;846;p104"/>
          <p:cNvSpPr txBox="1"/>
          <p:nvPr>
            <p:ph idx="4294967295" type="body"/>
          </p:nvPr>
        </p:nvSpPr>
        <p:spPr>
          <a:xfrm>
            <a:off x="407685" y="1914625"/>
            <a:ext cx="8344200" cy="1302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1" lang="en">
                <a:latin typeface="Roboto"/>
                <a:ea typeface="Roboto"/>
                <a:cs typeface="Roboto"/>
                <a:sym typeface="Roboto"/>
              </a:rPr>
              <a:t>Solution</a:t>
            </a:r>
            <a:endParaRPr b="1">
              <a:latin typeface="Roboto"/>
              <a:ea typeface="Roboto"/>
              <a:cs typeface="Roboto"/>
              <a:sym typeface="Roboto"/>
            </a:endParaRPr>
          </a:p>
          <a:p>
            <a:pPr indent="0" lvl="0" marL="0" rtl="0" algn="l">
              <a:spcBef>
                <a:spcPts val="500"/>
              </a:spcBef>
              <a:spcAft>
                <a:spcPts val="0"/>
              </a:spcAft>
              <a:buNone/>
            </a:pPr>
            <a:r>
              <a:rPr lang="en"/>
              <a:t>The organization decides to incorporate “lessons learned” as part of its incident response. It will adopt and incorporate a security control from the Improvements category of the NIST RMF with a subcategory of </a:t>
            </a:r>
            <a:r>
              <a:rPr b="1" lang="en"/>
              <a:t>RS.IM-1</a:t>
            </a:r>
            <a:r>
              <a:rPr lang="en"/>
              <a:t>.</a:t>
            </a:r>
            <a:endParaRPr/>
          </a:p>
        </p:txBody>
      </p:sp>
      <p:graphicFrame>
        <p:nvGraphicFramePr>
          <p:cNvPr id="847" name="Google Shape;847;p104"/>
          <p:cNvGraphicFramePr/>
          <p:nvPr/>
        </p:nvGraphicFramePr>
        <p:xfrm>
          <a:off x="383850" y="3287075"/>
          <a:ext cx="3000000" cy="3000000"/>
        </p:xfrm>
        <a:graphic>
          <a:graphicData uri="http://schemas.openxmlformats.org/drawingml/2006/table">
            <a:tbl>
              <a:tblPr>
                <a:noFill/>
                <a:tableStyleId>{77D82E05-C7B0-4494-ACDF-EB02A9E300EF}</a:tableStyleId>
              </a:tblPr>
              <a:tblGrid>
                <a:gridCol w="615075"/>
                <a:gridCol w="717250"/>
                <a:gridCol w="809975"/>
                <a:gridCol w="670800"/>
                <a:gridCol w="763625"/>
                <a:gridCol w="1469075"/>
                <a:gridCol w="977100"/>
                <a:gridCol w="1274175"/>
                <a:gridCol w="1079225"/>
              </a:tblGrid>
              <a:tr h="381000">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Function</a:t>
                      </a:r>
                      <a:endParaRPr b="1" sz="1000">
                        <a:solidFill>
                          <a:schemeClr val="lt1"/>
                        </a:solidFill>
                        <a:latin typeface="Roboto"/>
                        <a:ea typeface="Roboto"/>
                        <a:cs typeface="Roboto"/>
                        <a:sym typeface="Roboto"/>
                      </a:endParaRPr>
                    </a:p>
                  </a:txBody>
                  <a:tcPr marT="91425" marB="91425" marR="0" marL="0">
                    <a:solidFill>
                      <a:schemeClr val="dk2"/>
                    </a:solidFill>
                  </a:tcPr>
                </a:tc>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Category</a:t>
                      </a:r>
                      <a:endParaRPr b="1" sz="1000">
                        <a:solidFill>
                          <a:schemeClr val="lt1"/>
                        </a:solidFill>
                        <a:latin typeface="Roboto"/>
                        <a:ea typeface="Roboto"/>
                        <a:cs typeface="Roboto"/>
                        <a:sym typeface="Roboto"/>
                      </a:endParaRPr>
                    </a:p>
                  </a:txBody>
                  <a:tcPr marT="91425" marB="91425" marR="0" marL="0">
                    <a:solidFill>
                      <a:schemeClr val="dk2"/>
                    </a:solidFill>
                  </a:tcPr>
                </a:tc>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Subcategory</a:t>
                      </a:r>
                      <a:endParaRPr b="1" sz="1000">
                        <a:solidFill>
                          <a:schemeClr val="lt1"/>
                        </a:solidFill>
                        <a:latin typeface="Roboto"/>
                        <a:ea typeface="Roboto"/>
                        <a:cs typeface="Roboto"/>
                        <a:sym typeface="Roboto"/>
                      </a:endParaRPr>
                    </a:p>
                  </a:txBody>
                  <a:tcPr marT="91425" marB="91425" marR="0" marL="0">
                    <a:solidFill>
                      <a:schemeClr val="dk2"/>
                    </a:solidFill>
                  </a:tcPr>
                </a:tc>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CCS CSC</a:t>
                      </a:r>
                      <a:endParaRPr b="1" sz="1000">
                        <a:solidFill>
                          <a:schemeClr val="lt1"/>
                        </a:solidFill>
                        <a:latin typeface="Roboto"/>
                        <a:ea typeface="Roboto"/>
                        <a:cs typeface="Roboto"/>
                        <a:sym typeface="Roboto"/>
                      </a:endParaRPr>
                    </a:p>
                  </a:txBody>
                  <a:tcPr marT="91425" marB="91425" marR="0" marL="0">
                    <a:solidFill>
                      <a:schemeClr val="dk2"/>
                    </a:solidFill>
                  </a:tcPr>
                </a:tc>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COBIT 5</a:t>
                      </a:r>
                      <a:endParaRPr b="1" sz="1000">
                        <a:solidFill>
                          <a:schemeClr val="lt1"/>
                        </a:solidFill>
                        <a:latin typeface="Roboto"/>
                        <a:ea typeface="Roboto"/>
                        <a:cs typeface="Roboto"/>
                        <a:sym typeface="Roboto"/>
                      </a:endParaRPr>
                    </a:p>
                  </a:txBody>
                  <a:tcPr marT="91425" marB="91425" marR="0" marL="0">
                    <a:solidFill>
                      <a:schemeClr val="dk2"/>
                    </a:solidFill>
                  </a:tcPr>
                </a:tc>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ISA 62443-2-1: 2009</a:t>
                      </a:r>
                      <a:endParaRPr b="1" sz="1000">
                        <a:solidFill>
                          <a:schemeClr val="lt1"/>
                        </a:solidFill>
                        <a:latin typeface="Roboto"/>
                        <a:ea typeface="Roboto"/>
                        <a:cs typeface="Roboto"/>
                        <a:sym typeface="Roboto"/>
                      </a:endParaRPr>
                    </a:p>
                  </a:txBody>
                  <a:tcPr marT="91425" marB="91425" marR="0" marL="0">
                    <a:solidFill>
                      <a:schemeClr val="dk2"/>
                    </a:solidFill>
                  </a:tcPr>
                </a:tc>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ISA 62443-3-3: 2013</a:t>
                      </a:r>
                      <a:endParaRPr b="1" sz="1000">
                        <a:solidFill>
                          <a:schemeClr val="lt1"/>
                        </a:solidFill>
                        <a:latin typeface="Roboto"/>
                        <a:ea typeface="Roboto"/>
                        <a:cs typeface="Roboto"/>
                        <a:sym typeface="Roboto"/>
                      </a:endParaRPr>
                    </a:p>
                  </a:txBody>
                  <a:tcPr marT="91425" marB="91425" marR="0" marL="0">
                    <a:solidFill>
                      <a:schemeClr val="dk2"/>
                    </a:solidFill>
                  </a:tcPr>
                </a:tc>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ISO/IEC 27001:2013</a:t>
                      </a:r>
                      <a:endParaRPr b="1" sz="1000">
                        <a:solidFill>
                          <a:schemeClr val="lt1"/>
                        </a:solidFill>
                        <a:latin typeface="Roboto"/>
                        <a:ea typeface="Roboto"/>
                        <a:cs typeface="Roboto"/>
                        <a:sym typeface="Roboto"/>
                      </a:endParaRPr>
                    </a:p>
                  </a:txBody>
                  <a:tcPr marT="91425" marB="91425" marR="0" marL="0">
                    <a:solidFill>
                      <a:schemeClr val="dk2"/>
                    </a:solidFill>
                  </a:tcPr>
                </a:tc>
                <a:tc>
                  <a:txBody>
                    <a:bodyPr/>
                    <a:lstStyle/>
                    <a:p>
                      <a:pPr indent="0" lvl="0" marL="0" rtl="0" algn="ctr">
                        <a:spcBef>
                          <a:spcPts val="0"/>
                        </a:spcBef>
                        <a:spcAft>
                          <a:spcPts val="0"/>
                        </a:spcAft>
                        <a:buNone/>
                      </a:pPr>
                      <a:r>
                        <a:rPr b="1" lang="en" sz="1000">
                          <a:solidFill>
                            <a:schemeClr val="lt1"/>
                          </a:solidFill>
                          <a:latin typeface="Roboto"/>
                          <a:ea typeface="Roboto"/>
                          <a:cs typeface="Roboto"/>
                          <a:sym typeface="Roboto"/>
                        </a:rPr>
                        <a:t>NIST SP 800-53 REV. 4</a:t>
                      </a:r>
                      <a:endParaRPr b="1" sz="1000">
                        <a:solidFill>
                          <a:schemeClr val="lt1"/>
                        </a:solidFill>
                        <a:latin typeface="Roboto"/>
                        <a:ea typeface="Roboto"/>
                        <a:cs typeface="Roboto"/>
                        <a:sym typeface="Roboto"/>
                      </a:endParaRPr>
                    </a:p>
                  </a:txBody>
                  <a:tcPr marT="91425" marB="91425" marR="0" marL="0">
                    <a:solidFill>
                      <a:schemeClr val="dk2"/>
                    </a:solidFill>
                  </a:tcPr>
                </a:tc>
              </a:tr>
              <a:tr h="381000">
                <a:tc>
                  <a:txBody>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RS</a:t>
                      </a:r>
                      <a:endParaRPr b="1" sz="1200">
                        <a:solidFill>
                          <a:schemeClr val="dk2"/>
                        </a:solidFill>
                        <a:latin typeface="Roboto"/>
                        <a:ea typeface="Roboto"/>
                        <a:cs typeface="Roboto"/>
                        <a:sym typeface="Roboto"/>
                      </a:endParaRPr>
                    </a:p>
                  </a:txBody>
                  <a:tcPr marT="91425" marB="91425" marR="0" marL="0">
                    <a:solidFill>
                      <a:schemeClr val="accent1"/>
                    </a:solidFill>
                  </a:tcPr>
                </a:tc>
                <a:tc>
                  <a:txBody>
                    <a:bodyPr/>
                    <a:lstStyle/>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IM</a:t>
                      </a:r>
                      <a:endParaRPr sz="1100">
                        <a:solidFill>
                          <a:schemeClr val="dk2"/>
                        </a:solidFill>
                        <a:latin typeface="Roboto Medium"/>
                        <a:ea typeface="Roboto Medium"/>
                        <a:cs typeface="Roboto Medium"/>
                        <a:sym typeface="Roboto Medium"/>
                      </a:endParaRPr>
                    </a:p>
                  </a:txBody>
                  <a:tcPr marT="91425" marB="91425" marR="0" marL="0"/>
                </a:tc>
                <a:tc>
                  <a:txBody>
                    <a:bodyPr/>
                    <a:lstStyle/>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IM-1</a:t>
                      </a:r>
                      <a:endParaRPr sz="1100">
                        <a:solidFill>
                          <a:schemeClr val="dk2"/>
                        </a:solidFill>
                        <a:latin typeface="Roboto Medium"/>
                        <a:ea typeface="Roboto Medium"/>
                        <a:cs typeface="Roboto Medium"/>
                        <a:sym typeface="Roboto Medium"/>
                      </a:endParaRPr>
                    </a:p>
                  </a:txBody>
                  <a:tcPr marT="91425" marB="91425" marR="0" marL="0"/>
                </a:tc>
                <a:tc>
                  <a:txBody>
                    <a:bodyPr/>
                    <a:lstStyle/>
                    <a:p>
                      <a:pPr indent="0" lvl="0" marL="0" rtl="0" algn="ctr">
                        <a:spcBef>
                          <a:spcPts val="0"/>
                        </a:spcBef>
                        <a:spcAft>
                          <a:spcPts val="0"/>
                        </a:spcAft>
                        <a:buNone/>
                      </a:pPr>
                      <a:r>
                        <a:t/>
                      </a:r>
                      <a:endParaRPr sz="1100">
                        <a:solidFill>
                          <a:schemeClr val="dk2"/>
                        </a:solidFill>
                        <a:latin typeface="Roboto Medium"/>
                        <a:ea typeface="Roboto Medium"/>
                        <a:cs typeface="Roboto Medium"/>
                        <a:sym typeface="Roboto Medium"/>
                      </a:endParaRPr>
                    </a:p>
                  </a:txBody>
                  <a:tcPr marT="91425" marB="91425" marR="0" marL="0"/>
                </a:tc>
                <a:tc>
                  <a:txBody>
                    <a:bodyPr/>
                    <a:lstStyle/>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BA101.13</a:t>
                      </a:r>
                      <a:endParaRPr sz="1100">
                        <a:solidFill>
                          <a:schemeClr val="dk2"/>
                        </a:solidFill>
                        <a:latin typeface="Roboto Medium"/>
                        <a:ea typeface="Roboto Medium"/>
                        <a:cs typeface="Roboto Medium"/>
                        <a:sym typeface="Roboto Medium"/>
                      </a:endParaRPr>
                    </a:p>
                  </a:txBody>
                  <a:tcPr marT="91425" marB="91425" marR="0" marL="0"/>
                </a:tc>
                <a:tc>
                  <a:txBody>
                    <a:bodyPr/>
                    <a:lstStyle/>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4.3.4.5.10, 4.4.3.4</a:t>
                      </a:r>
                      <a:endParaRPr sz="1100">
                        <a:solidFill>
                          <a:schemeClr val="dk2"/>
                        </a:solidFill>
                        <a:latin typeface="Roboto Medium"/>
                        <a:ea typeface="Roboto Medium"/>
                        <a:cs typeface="Roboto Medium"/>
                        <a:sym typeface="Roboto Medium"/>
                      </a:endParaRPr>
                    </a:p>
                  </a:txBody>
                  <a:tcPr marT="91425" marB="91425" marR="0" marL="0"/>
                </a:tc>
                <a:tc>
                  <a:txBody>
                    <a:bodyPr/>
                    <a:lstStyle/>
                    <a:p>
                      <a:pPr indent="0" lvl="0" marL="0" rtl="0" algn="ctr">
                        <a:spcBef>
                          <a:spcPts val="0"/>
                        </a:spcBef>
                        <a:spcAft>
                          <a:spcPts val="0"/>
                        </a:spcAft>
                        <a:buNone/>
                      </a:pPr>
                      <a:r>
                        <a:t/>
                      </a:r>
                      <a:endParaRPr sz="1100">
                        <a:solidFill>
                          <a:schemeClr val="dk2"/>
                        </a:solidFill>
                        <a:latin typeface="Roboto Medium"/>
                        <a:ea typeface="Roboto Medium"/>
                        <a:cs typeface="Roboto Medium"/>
                        <a:sym typeface="Roboto Medium"/>
                      </a:endParaRPr>
                    </a:p>
                  </a:txBody>
                  <a:tcPr marT="91425" marB="91425" marR="0" marL="0"/>
                </a:tc>
                <a:tc>
                  <a:txBody>
                    <a:bodyPr/>
                    <a:lstStyle/>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A.16.1.6 </a:t>
                      </a:r>
                      <a:endParaRPr sz="1100">
                        <a:solidFill>
                          <a:schemeClr val="dk2"/>
                        </a:solidFill>
                        <a:latin typeface="Roboto Medium"/>
                        <a:ea typeface="Roboto Medium"/>
                        <a:cs typeface="Roboto Medium"/>
                        <a:sym typeface="Roboto Medium"/>
                      </a:endParaRPr>
                    </a:p>
                  </a:txBody>
                  <a:tcPr marT="91425" marB="91425" marR="0" marL="0"/>
                </a:tc>
                <a:tc>
                  <a:txBody>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edium"/>
                          <a:ea typeface="Roboto Medium"/>
                          <a:cs typeface="Roboto Medium"/>
                          <a:sym typeface="Roboto Medium"/>
                        </a:rPr>
                        <a:t>CP-2, IR-4, IR-8</a:t>
                      </a:r>
                      <a:endParaRPr sz="1100">
                        <a:latin typeface="Roboto Medium"/>
                        <a:ea typeface="Roboto Medium"/>
                        <a:cs typeface="Roboto Medium"/>
                        <a:sym typeface="Roboto Medium"/>
                      </a:endParaRPr>
                    </a:p>
                  </a:txBody>
                  <a:tcPr marT="91425" marB="91425" marR="0" marL="0"/>
                </a:tc>
              </a:tr>
            </a:tbl>
          </a:graphicData>
        </a:graphic>
      </p:graphicFrame>
      <p:sp>
        <p:nvSpPr>
          <p:cNvPr id="848" name="Google Shape;848;p104"/>
          <p:cNvSpPr txBox="1"/>
          <p:nvPr/>
        </p:nvSpPr>
        <p:spPr>
          <a:xfrm>
            <a:off x="383850" y="4333788"/>
            <a:ext cx="5337600" cy="261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1700">
                <a:solidFill>
                  <a:schemeClr val="dk2"/>
                </a:solidFill>
                <a:latin typeface="Roboto"/>
                <a:ea typeface="Roboto"/>
                <a:cs typeface="Roboto"/>
                <a:sym typeface="Roboto"/>
              </a:rPr>
              <a:t>Appendix A: Framework Core Informative References</a:t>
            </a:r>
            <a:endParaRPr b="1" sz="1700">
              <a:solidFill>
                <a:schemeClr val="dk2"/>
              </a:solidFill>
              <a:latin typeface="Roboto"/>
              <a:ea typeface="Roboto"/>
              <a:cs typeface="Roboto"/>
              <a:sym typeface="Roboto"/>
            </a:endParaRPr>
          </a:p>
        </p:txBody>
      </p:sp>
      <p:pic>
        <p:nvPicPr>
          <p:cNvPr id="849" name="Google Shape;849;p104"/>
          <p:cNvPicPr preferRelativeResize="0"/>
          <p:nvPr/>
        </p:nvPicPr>
        <p:blipFill>
          <a:blip r:embed="rId4">
            <a:alphaModFix/>
          </a:blip>
          <a:stretch>
            <a:fillRect/>
          </a:stretch>
        </p:blipFill>
        <p:spPr>
          <a:xfrm>
            <a:off x="7507050" y="105455"/>
            <a:ext cx="1589926" cy="1505840"/>
          </a:xfrm>
          <a:prstGeom prst="rect">
            <a:avLst/>
          </a:prstGeom>
          <a:noFill/>
          <a:ln>
            <a:noFill/>
          </a:ln>
        </p:spPr>
      </p:pic>
      <p:pic>
        <p:nvPicPr>
          <p:cNvPr id="850" name="Google Shape;850;p104"/>
          <p:cNvPicPr preferRelativeResize="0"/>
          <p:nvPr/>
        </p:nvPicPr>
        <p:blipFill>
          <a:blip r:embed="rId5">
            <a:alphaModFix/>
          </a:blip>
          <a:stretch>
            <a:fillRect/>
          </a:stretch>
        </p:blipFill>
        <p:spPr>
          <a:xfrm>
            <a:off x="154694" y="263843"/>
            <a:ext cx="632200" cy="498450"/>
          </a:xfrm>
          <a:prstGeom prst="rect">
            <a:avLst/>
          </a:prstGeom>
          <a:noFill/>
          <a:ln>
            <a:noFill/>
          </a:ln>
        </p:spPr>
      </p:pic>
      <p:cxnSp>
        <p:nvCxnSpPr>
          <p:cNvPr id="851" name="Google Shape;851;p104"/>
          <p:cNvCxnSpPr/>
          <p:nvPr/>
        </p:nvCxnSpPr>
        <p:spPr>
          <a:xfrm>
            <a:off x="-9375" y="929900"/>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05"/>
          <p:cNvSpPr txBox="1"/>
          <p:nvPr>
            <p:ph type="title"/>
          </p:nvPr>
        </p:nvSpPr>
        <p:spPr>
          <a:xfrm>
            <a:off x="50" y="279800"/>
            <a:ext cx="9144000" cy="393600"/>
          </a:xfrm>
          <a:prstGeom prst="rect">
            <a:avLst/>
          </a:prstGeom>
        </p:spPr>
        <p:txBody>
          <a:bodyPr anchorCtr="0" anchor="t" bIns="91425" lIns="822950" spcFirstLastPara="1" rIns="91425" wrap="square" tIns="91425">
            <a:noAutofit/>
          </a:bodyPr>
          <a:lstStyle/>
          <a:p>
            <a:pPr indent="0" lvl="0" marL="0" rtl="0" algn="l">
              <a:spcBef>
                <a:spcPts val="0"/>
              </a:spcBef>
              <a:spcAft>
                <a:spcPts val="0"/>
              </a:spcAft>
              <a:buClr>
                <a:schemeClr val="dk1"/>
              </a:buClr>
              <a:buSzPts val="1100"/>
              <a:buFont typeface="Arial"/>
              <a:buNone/>
            </a:pPr>
            <a:r>
              <a:rPr lang="en"/>
              <a:t>NIST</a:t>
            </a:r>
            <a:r>
              <a:rPr lang="en"/>
              <a:t> CSF Scenario</a:t>
            </a:r>
            <a:endParaRPr/>
          </a:p>
          <a:p>
            <a:pPr indent="0" lvl="0" marL="0" rtl="0" algn="l">
              <a:spcBef>
                <a:spcPts val="0"/>
              </a:spcBef>
              <a:spcAft>
                <a:spcPts val="0"/>
              </a:spcAft>
              <a:buNone/>
            </a:pPr>
            <a:r>
              <a:t/>
            </a:r>
            <a:endParaRPr/>
          </a:p>
        </p:txBody>
      </p:sp>
      <p:sp>
        <p:nvSpPr>
          <p:cNvPr id="857" name="Google Shape;857;p105"/>
          <p:cNvSpPr txBox="1"/>
          <p:nvPr>
            <p:ph idx="4294967295" type="subTitle"/>
          </p:nvPr>
        </p:nvSpPr>
        <p:spPr>
          <a:xfrm>
            <a:off x="-12300" y="4916650"/>
            <a:ext cx="7971900" cy="22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u="sng">
                <a:solidFill>
                  <a:srgbClr val="FFFFFF"/>
                </a:solidFill>
                <a:hlinkClick r:id="rId3">
                  <a:extLst>
                    <a:ext uri="{A12FA001-AC4F-418D-AE19-62706E023703}">
                      <ahyp:hlinkClr val="tx"/>
                    </a:ext>
                  </a:extLst>
                </a:hlinkClick>
              </a:rPr>
              <a:t>(nist.gov)</a:t>
            </a:r>
            <a:endParaRPr>
              <a:solidFill>
                <a:srgbClr val="FFFFFF"/>
              </a:solidFill>
            </a:endParaRPr>
          </a:p>
        </p:txBody>
      </p:sp>
      <p:sp>
        <p:nvSpPr>
          <p:cNvPr id="858" name="Google Shape;858;p105"/>
          <p:cNvSpPr txBox="1"/>
          <p:nvPr>
            <p:ph idx="4294967295" type="body"/>
          </p:nvPr>
        </p:nvSpPr>
        <p:spPr>
          <a:xfrm>
            <a:off x="311700" y="1032975"/>
            <a:ext cx="8656200" cy="632700"/>
          </a:xfrm>
          <a:prstGeom prst="rect">
            <a:avLst/>
          </a:prstGeom>
        </p:spPr>
        <p:txBody>
          <a:bodyPr anchorCtr="0" anchor="t" bIns="91425" lIns="91425" spcFirstLastPara="1" rIns="0" wrap="square" tIns="91425">
            <a:noAutofit/>
          </a:bodyPr>
          <a:lstStyle/>
          <a:p>
            <a:pPr indent="0" lvl="0" marL="0" rtl="0" algn="l">
              <a:spcBef>
                <a:spcPts val="0"/>
              </a:spcBef>
              <a:spcAft>
                <a:spcPts val="0"/>
              </a:spcAft>
              <a:buNone/>
            </a:pPr>
            <a:r>
              <a:rPr b="1" lang="en">
                <a:latin typeface="Roboto"/>
                <a:ea typeface="Roboto"/>
                <a:cs typeface="Roboto"/>
                <a:sym typeface="Roboto"/>
              </a:rPr>
              <a:t>Improvements (RS.IM):</a:t>
            </a:r>
            <a:r>
              <a:rPr b="1" lang="en">
                <a:latin typeface="Roboto"/>
                <a:ea typeface="Roboto"/>
                <a:cs typeface="Roboto"/>
                <a:sym typeface="Roboto"/>
              </a:rPr>
              <a:t> </a:t>
            </a:r>
            <a:r>
              <a:rPr lang="en"/>
              <a:t>Organizational response activities are improved by </a:t>
            </a:r>
            <a:br>
              <a:rPr lang="en"/>
            </a:br>
            <a:r>
              <a:rPr lang="en"/>
              <a:t>incorporating lessons learned from current and previous detection and response activities.</a:t>
            </a:r>
            <a:endParaRPr/>
          </a:p>
          <a:p>
            <a:pPr indent="0" lvl="0" marL="0" rtl="0" algn="l">
              <a:spcBef>
                <a:spcPts val="0"/>
              </a:spcBef>
              <a:spcAft>
                <a:spcPts val="0"/>
              </a:spcAft>
              <a:buNone/>
            </a:pPr>
            <a:r>
              <a:rPr b="1" lang="en">
                <a:latin typeface="Roboto"/>
                <a:ea typeface="Roboto"/>
                <a:cs typeface="Roboto"/>
                <a:sym typeface="Roboto"/>
              </a:rPr>
              <a:t>RS.IM-1</a:t>
            </a:r>
            <a:r>
              <a:rPr b="1" lang="en">
                <a:latin typeface="Roboto"/>
                <a:ea typeface="Roboto"/>
                <a:cs typeface="Roboto"/>
                <a:sym typeface="Roboto"/>
              </a:rPr>
              <a:t>: </a:t>
            </a:r>
            <a:r>
              <a:rPr lang="en"/>
              <a:t>Response plans incorporate lessons learned.</a:t>
            </a:r>
            <a:endParaRPr/>
          </a:p>
          <a:p>
            <a:pPr indent="0" lvl="0" marL="0" rtl="0" algn="l">
              <a:spcBef>
                <a:spcPts val="0"/>
              </a:spcBef>
              <a:spcAft>
                <a:spcPts val="0"/>
              </a:spcAft>
              <a:buNone/>
            </a:pPr>
            <a:r>
              <a:t/>
            </a:r>
            <a:endParaRPr/>
          </a:p>
        </p:txBody>
      </p:sp>
      <p:graphicFrame>
        <p:nvGraphicFramePr>
          <p:cNvPr id="859" name="Google Shape;859;p105"/>
          <p:cNvGraphicFramePr/>
          <p:nvPr/>
        </p:nvGraphicFramePr>
        <p:xfrm>
          <a:off x="234400" y="2536625"/>
          <a:ext cx="3000000" cy="3000000"/>
        </p:xfrm>
        <a:graphic>
          <a:graphicData uri="http://schemas.openxmlformats.org/drawingml/2006/table">
            <a:tbl>
              <a:tblPr>
                <a:noFill/>
                <a:tableStyleId>{77D82E05-C7B0-4494-ACDF-EB02A9E300EF}</a:tableStyleId>
              </a:tblPr>
              <a:tblGrid>
                <a:gridCol w="1502125"/>
                <a:gridCol w="2371725"/>
                <a:gridCol w="2229625"/>
                <a:gridCol w="2630025"/>
              </a:tblGrid>
              <a:tr h="494775">
                <a:tc>
                  <a:txBody>
                    <a:bodyPr/>
                    <a:lstStyle/>
                    <a:p>
                      <a:pPr indent="0" lvl="0" marL="0" rtl="0" algn="ctr">
                        <a:spcBef>
                          <a:spcPts val="0"/>
                        </a:spcBef>
                        <a:spcAft>
                          <a:spcPts val="0"/>
                        </a:spcAft>
                        <a:buNone/>
                      </a:pPr>
                      <a:r>
                        <a:rPr lang="en" sz="1600">
                          <a:solidFill>
                            <a:srgbClr val="FFFFFF"/>
                          </a:solidFill>
                          <a:latin typeface="Roboto Medium"/>
                          <a:ea typeface="Roboto Medium"/>
                          <a:cs typeface="Roboto Medium"/>
                          <a:sym typeface="Roboto Medium"/>
                        </a:rPr>
                        <a:t>Function</a:t>
                      </a:r>
                      <a:endParaRPr sz="1600">
                        <a:solidFill>
                          <a:srgbClr val="FFFFFF"/>
                        </a:solidFill>
                        <a:latin typeface="Roboto Medium"/>
                        <a:ea typeface="Roboto Medium"/>
                        <a:cs typeface="Roboto Medium"/>
                        <a:sym typeface="Roboto Medium"/>
                      </a:endParaRPr>
                    </a:p>
                  </a:txBody>
                  <a:tcPr marT="0" marB="0" marR="0" marL="0" anchor="ctr">
                    <a:lnL cap="flat" cmpd="sng" w="9525">
                      <a:solidFill>
                        <a:schemeClr val="dk2"/>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rgbClr val="FFFFFF"/>
                          </a:solidFill>
                          <a:latin typeface="Roboto Medium"/>
                          <a:ea typeface="Roboto Medium"/>
                          <a:cs typeface="Roboto Medium"/>
                          <a:sym typeface="Roboto Medium"/>
                        </a:rPr>
                        <a:t>Category</a:t>
                      </a:r>
                      <a:endParaRPr sz="1600">
                        <a:solidFill>
                          <a:srgbClr val="FFFFFF"/>
                        </a:solidFill>
                        <a:latin typeface="Roboto Medium"/>
                        <a:ea typeface="Roboto Medium"/>
                        <a:cs typeface="Roboto Medium"/>
                        <a:sym typeface="Roboto Medium"/>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rgbClr val="FFFFFF"/>
                          </a:solidFill>
                          <a:latin typeface="Roboto Medium"/>
                          <a:ea typeface="Roboto Medium"/>
                          <a:cs typeface="Roboto Medium"/>
                          <a:sym typeface="Roboto Medium"/>
                        </a:rPr>
                        <a:t>Subcategory</a:t>
                      </a:r>
                      <a:endParaRPr sz="1600">
                        <a:solidFill>
                          <a:srgbClr val="FFFFFF"/>
                        </a:solidFill>
                        <a:latin typeface="Roboto Medium"/>
                        <a:ea typeface="Roboto Medium"/>
                        <a:cs typeface="Roboto Medium"/>
                        <a:sym typeface="Roboto Medium"/>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rgbClr val="FFFFFF"/>
                          </a:solidFill>
                          <a:latin typeface="Roboto Medium"/>
                          <a:ea typeface="Roboto Medium"/>
                          <a:cs typeface="Roboto Medium"/>
                          <a:sym typeface="Roboto Medium"/>
                        </a:rPr>
                        <a:t>Informative Resources</a:t>
                      </a:r>
                      <a:endParaRPr sz="1600">
                        <a:solidFill>
                          <a:srgbClr val="FFFFFF"/>
                        </a:solidFill>
                        <a:latin typeface="Roboto Medium"/>
                        <a:ea typeface="Roboto Medium"/>
                        <a:cs typeface="Roboto Medium"/>
                        <a:sym typeface="Roboto Medium"/>
                      </a:endParaRPr>
                    </a:p>
                  </a:txBody>
                  <a:tcPr marT="0" marB="0" marR="0" marL="0" anchor="ctr">
                    <a:lnL cap="flat" cmpd="sng" w="9525">
                      <a:solidFill>
                        <a:srgbClr val="EFEFEF"/>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r>
              <a:tr h="1081100">
                <a:tc rowSpan="2">
                  <a:txBody>
                    <a:bodyPr/>
                    <a:lstStyle/>
                    <a:p>
                      <a:pPr indent="0" lvl="0" marL="0" rtl="0" algn="ctr">
                        <a:spcBef>
                          <a:spcPts val="0"/>
                        </a:spcBef>
                        <a:spcAft>
                          <a:spcPts val="0"/>
                        </a:spcAft>
                        <a:buClr>
                          <a:schemeClr val="dk1"/>
                        </a:buClr>
                        <a:buSzPts val="1100"/>
                        <a:buFont typeface="Arial"/>
                        <a:buNone/>
                      </a:pPr>
                      <a:r>
                        <a:rPr b="1" lang="en" sz="1600">
                          <a:solidFill>
                            <a:schemeClr val="dk2"/>
                          </a:solidFill>
                          <a:latin typeface="Roboto"/>
                          <a:ea typeface="Roboto"/>
                          <a:cs typeface="Roboto"/>
                          <a:sym typeface="Roboto"/>
                        </a:rPr>
                        <a:t>Respond</a:t>
                      </a:r>
                      <a:endParaRPr b="1" sz="1600">
                        <a:solidFill>
                          <a:schemeClr val="dk2"/>
                        </a:solidFill>
                        <a:latin typeface="Roboto"/>
                        <a:ea typeface="Roboto"/>
                        <a:cs typeface="Roboto"/>
                        <a:sym typeface="Roboto"/>
                      </a:endParaRPr>
                    </a:p>
                  </a:txBody>
                  <a:tcPr marT="91425"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rtl="0" algn="l">
                        <a:spcBef>
                          <a:spcPts val="0"/>
                        </a:spcBef>
                        <a:spcAft>
                          <a:spcPts val="0"/>
                        </a:spcAft>
                        <a:buNone/>
                      </a:pPr>
                      <a:r>
                        <a:rPr b="1" lang="en" sz="1300">
                          <a:solidFill>
                            <a:schemeClr val="dk2"/>
                          </a:solidFill>
                          <a:latin typeface="Roboto"/>
                          <a:ea typeface="Roboto"/>
                          <a:cs typeface="Roboto"/>
                          <a:sym typeface="Roboto"/>
                        </a:rPr>
                        <a:t>Improvements (RS.IM):</a:t>
                      </a:r>
                      <a:endParaRPr b="1"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Organizational response activities are improved by incorporating lessons learned from current and previous detection and</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response activities.</a:t>
                      </a:r>
                      <a:endParaRPr sz="1300">
                        <a:solidFill>
                          <a:schemeClr val="dk2"/>
                        </a:solidFill>
                        <a:latin typeface="Roboto"/>
                        <a:ea typeface="Roboto"/>
                        <a:cs typeface="Roboto"/>
                        <a:sym typeface="Roboto"/>
                      </a:endParaRPr>
                    </a:p>
                  </a:txBody>
                  <a:tcPr marT="91425" marB="0" marR="45700"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b="1" lang="en" sz="1300">
                          <a:solidFill>
                            <a:schemeClr val="dk2"/>
                          </a:solidFill>
                          <a:latin typeface="Roboto"/>
                          <a:ea typeface="Roboto"/>
                          <a:cs typeface="Roboto"/>
                          <a:sym typeface="Roboto"/>
                        </a:rPr>
                        <a:t>RS.IM-1</a:t>
                      </a:r>
                      <a:r>
                        <a:rPr lang="en" sz="1300">
                          <a:solidFill>
                            <a:schemeClr val="dk2"/>
                          </a:solidFill>
                          <a:latin typeface="Roboto"/>
                          <a:ea typeface="Roboto"/>
                          <a:cs typeface="Roboto"/>
                          <a:sym typeface="Roboto"/>
                        </a:rPr>
                        <a:t>: Response plans incorporate lessons learned.</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txBody>
                  <a:tcPr marT="91425"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 sz="1100">
                          <a:solidFill>
                            <a:schemeClr val="dk2"/>
                          </a:solidFill>
                          <a:latin typeface="Roboto"/>
                          <a:ea typeface="Roboto"/>
                          <a:cs typeface="Roboto"/>
                          <a:sym typeface="Roboto"/>
                        </a:rPr>
                        <a:t>COBIT 5 BAI01.13</a:t>
                      </a:r>
                      <a:endParaRPr sz="1100">
                        <a:solidFill>
                          <a:schemeClr val="dk2"/>
                        </a:solidFill>
                        <a:latin typeface="Roboto"/>
                        <a:ea typeface="Roboto"/>
                        <a:cs typeface="Roboto"/>
                        <a:sym typeface="Roboto"/>
                      </a:endParaRPr>
                    </a:p>
                    <a:p>
                      <a:pPr indent="0" lvl="0" marL="0" rtl="0" algn="l">
                        <a:spcBef>
                          <a:spcPts val="400"/>
                        </a:spcBef>
                        <a:spcAft>
                          <a:spcPts val="0"/>
                        </a:spcAft>
                        <a:buClr>
                          <a:schemeClr val="dk1"/>
                        </a:buClr>
                        <a:buSzPts val="1100"/>
                        <a:buFont typeface="Arial"/>
                        <a:buNone/>
                      </a:pPr>
                      <a:r>
                        <a:rPr lang="en" sz="1100">
                          <a:solidFill>
                            <a:schemeClr val="dk2"/>
                          </a:solidFill>
                          <a:latin typeface="Roboto"/>
                          <a:ea typeface="Roboto"/>
                          <a:cs typeface="Roboto"/>
                          <a:sym typeface="Roboto"/>
                        </a:rPr>
                        <a:t>ISA 62443-2-1:2009 4.3.4.5.10, 4.4.3.4 </a:t>
                      </a:r>
                      <a:endParaRPr sz="1100">
                        <a:solidFill>
                          <a:schemeClr val="dk2"/>
                        </a:solidFill>
                        <a:latin typeface="Roboto"/>
                        <a:ea typeface="Roboto"/>
                        <a:cs typeface="Roboto"/>
                        <a:sym typeface="Roboto"/>
                      </a:endParaRPr>
                    </a:p>
                    <a:p>
                      <a:pPr indent="0" lvl="0" marL="0" rtl="0" algn="l">
                        <a:spcBef>
                          <a:spcPts val="400"/>
                        </a:spcBef>
                        <a:spcAft>
                          <a:spcPts val="0"/>
                        </a:spcAft>
                        <a:buClr>
                          <a:schemeClr val="dk1"/>
                        </a:buClr>
                        <a:buSzPts val="1100"/>
                        <a:buFont typeface="Arial"/>
                        <a:buNone/>
                      </a:pPr>
                      <a:r>
                        <a:rPr lang="en" sz="1100">
                          <a:solidFill>
                            <a:schemeClr val="dk2"/>
                          </a:solidFill>
                          <a:latin typeface="Roboto"/>
                          <a:ea typeface="Roboto"/>
                          <a:cs typeface="Roboto"/>
                          <a:sym typeface="Roboto"/>
                        </a:rPr>
                        <a:t>ISO/IEC 27001:2013 A.16.1.6, Clause 10 </a:t>
                      </a:r>
                      <a:endParaRPr sz="1100">
                        <a:solidFill>
                          <a:schemeClr val="dk2"/>
                        </a:solidFill>
                        <a:latin typeface="Roboto"/>
                        <a:ea typeface="Roboto"/>
                        <a:cs typeface="Roboto"/>
                        <a:sym typeface="Roboto"/>
                      </a:endParaRPr>
                    </a:p>
                    <a:p>
                      <a:pPr indent="0" lvl="0" marL="0" rtl="0" algn="l">
                        <a:spcBef>
                          <a:spcPts val="400"/>
                        </a:spcBef>
                        <a:spcAft>
                          <a:spcPts val="400"/>
                        </a:spcAft>
                        <a:buClr>
                          <a:schemeClr val="dk1"/>
                        </a:buClr>
                        <a:buSzPts val="1100"/>
                        <a:buFont typeface="Arial"/>
                        <a:buNone/>
                      </a:pPr>
                      <a:r>
                        <a:rPr lang="en" sz="1100">
                          <a:solidFill>
                            <a:schemeClr val="dk2"/>
                          </a:solidFill>
                          <a:latin typeface="Roboto"/>
                          <a:ea typeface="Roboto"/>
                          <a:cs typeface="Roboto"/>
                          <a:sym typeface="Roboto"/>
                        </a:rPr>
                        <a:t>NIST SP 800-53 Rev. 4 CP-2, IR-4, IR-8</a:t>
                      </a:r>
                      <a:endParaRPr sz="1100">
                        <a:solidFill>
                          <a:schemeClr val="dk2"/>
                        </a:solidFill>
                        <a:latin typeface="Roboto"/>
                        <a:ea typeface="Roboto"/>
                        <a:cs typeface="Roboto"/>
                        <a:sym typeface="Roboto"/>
                      </a:endParaRPr>
                    </a:p>
                  </a:txBody>
                  <a:tcPr marT="91425"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r h="920300">
                <a:tc vMerge="1"/>
                <a:tc vMerge="1"/>
                <a:tc>
                  <a:txBody>
                    <a:bodyPr/>
                    <a:lstStyle/>
                    <a:p>
                      <a:pPr indent="0" lvl="0" marL="0" rtl="0" algn="l">
                        <a:spcBef>
                          <a:spcPts val="0"/>
                        </a:spcBef>
                        <a:spcAft>
                          <a:spcPts val="0"/>
                        </a:spcAft>
                        <a:buNone/>
                      </a:pPr>
                      <a:r>
                        <a:rPr b="1" lang="en" sz="1300">
                          <a:solidFill>
                            <a:schemeClr val="dk2"/>
                          </a:solidFill>
                          <a:latin typeface="Roboto"/>
                          <a:ea typeface="Roboto"/>
                          <a:cs typeface="Roboto"/>
                          <a:sym typeface="Roboto"/>
                        </a:rPr>
                        <a:t>RS.IM-2</a:t>
                      </a:r>
                      <a:r>
                        <a:rPr lang="en" sz="1300">
                          <a:solidFill>
                            <a:schemeClr val="dk2"/>
                          </a:solidFill>
                          <a:latin typeface="Roboto"/>
                          <a:ea typeface="Roboto"/>
                          <a:cs typeface="Roboto"/>
                          <a:sym typeface="Roboto"/>
                        </a:rPr>
                        <a:t>: Response strategies are updated.</a:t>
                      </a:r>
                      <a:endParaRPr sz="1300">
                        <a:solidFill>
                          <a:schemeClr val="dk2"/>
                        </a:solidFill>
                        <a:latin typeface="Roboto"/>
                        <a:ea typeface="Roboto"/>
                        <a:cs typeface="Roboto"/>
                        <a:sym typeface="Roboto"/>
                      </a:endParaRPr>
                    </a:p>
                  </a:txBody>
                  <a:tcPr marT="91425"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 sz="1100">
                          <a:solidFill>
                            <a:schemeClr val="dk2"/>
                          </a:solidFill>
                          <a:latin typeface="Roboto"/>
                          <a:ea typeface="Roboto"/>
                          <a:cs typeface="Roboto"/>
                          <a:sym typeface="Roboto"/>
                        </a:rPr>
                        <a:t>COBIT 5 BAI01.13, DSS04.08</a:t>
                      </a:r>
                      <a:endParaRPr sz="1100">
                        <a:solidFill>
                          <a:schemeClr val="dk2"/>
                        </a:solidFill>
                        <a:latin typeface="Roboto"/>
                        <a:ea typeface="Roboto"/>
                        <a:cs typeface="Roboto"/>
                        <a:sym typeface="Roboto"/>
                      </a:endParaRPr>
                    </a:p>
                    <a:p>
                      <a:pPr indent="0" lvl="0" marL="0" rtl="0" algn="l">
                        <a:spcBef>
                          <a:spcPts val="400"/>
                        </a:spcBef>
                        <a:spcAft>
                          <a:spcPts val="0"/>
                        </a:spcAft>
                        <a:buClr>
                          <a:schemeClr val="dk1"/>
                        </a:buClr>
                        <a:buSzPts val="1100"/>
                        <a:buFont typeface="Arial"/>
                        <a:buNone/>
                      </a:pPr>
                      <a:r>
                        <a:rPr lang="en" sz="1100">
                          <a:solidFill>
                            <a:schemeClr val="dk2"/>
                          </a:solidFill>
                          <a:latin typeface="Roboto"/>
                          <a:ea typeface="Roboto"/>
                          <a:cs typeface="Roboto"/>
                          <a:sym typeface="Roboto"/>
                        </a:rPr>
                        <a:t>ISO/IEC 27001:2013 A.16.1.6, Clause 10</a:t>
                      </a:r>
                      <a:endParaRPr sz="1100">
                        <a:solidFill>
                          <a:schemeClr val="dk2"/>
                        </a:solidFill>
                        <a:latin typeface="Roboto"/>
                        <a:ea typeface="Roboto"/>
                        <a:cs typeface="Roboto"/>
                        <a:sym typeface="Roboto"/>
                      </a:endParaRPr>
                    </a:p>
                    <a:p>
                      <a:pPr indent="0" lvl="0" marL="0" rtl="0" algn="l">
                        <a:spcBef>
                          <a:spcPts val="400"/>
                        </a:spcBef>
                        <a:spcAft>
                          <a:spcPts val="400"/>
                        </a:spcAft>
                        <a:buClr>
                          <a:schemeClr val="dk1"/>
                        </a:buClr>
                        <a:buSzPts val="1100"/>
                        <a:buFont typeface="Arial"/>
                        <a:buNone/>
                      </a:pPr>
                      <a:r>
                        <a:rPr lang="en" sz="1100">
                          <a:solidFill>
                            <a:schemeClr val="dk2"/>
                          </a:solidFill>
                          <a:latin typeface="Roboto"/>
                          <a:ea typeface="Roboto"/>
                          <a:cs typeface="Roboto"/>
                          <a:sym typeface="Roboto"/>
                        </a:rPr>
                        <a:t>NIST SP 800-53 Rev. 4 CP-2, IR-4, IR-8</a:t>
                      </a:r>
                      <a:endParaRPr sz="1100">
                        <a:solidFill>
                          <a:schemeClr val="dk2"/>
                        </a:solidFill>
                        <a:latin typeface="Roboto"/>
                        <a:ea typeface="Roboto"/>
                        <a:cs typeface="Roboto"/>
                        <a:sym typeface="Roboto"/>
                      </a:endParaRPr>
                    </a:p>
                  </a:txBody>
                  <a:tcPr marT="91425" marB="0"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bl>
          </a:graphicData>
        </a:graphic>
      </p:graphicFrame>
      <p:pic>
        <p:nvPicPr>
          <p:cNvPr id="860" name="Google Shape;860;p105"/>
          <p:cNvPicPr preferRelativeResize="0"/>
          <p:nvPr/>
        </p:nvPicPr>
        <p:blipFill>
          <a:blip r:embed="rId4">
            <a:alphaModFix/>
          </a:blip>
          <a:stretch>
            <a:fillRect/>
          </a:stretch>
        </p:blipFill>
        <p:spPr>
          <a:xfrm>
            <a:off x="154694" y="263843"/>
            <a:ext cx="632200" cy="498450"/>
          </a:xfrm>
          <a:prstGeom prst="rect">
            <a:avLst/>
          </a:prstGeom>
          <a:noFill/>
          <a:ln>
            <a:noFill/>
          </a:ln>
        </p:spPr>
      </p:pic>
      <p:cxnSp>
        <p:nvCxnSpPr>
          <p:cNvPr id="861" name="Google Shape;861;p105"/>
          <p:cNvCxnSpPr/>
          <p:nvPr/>
        </p:nvCxnSpPr>
        <p:spPr>
          <a:xfrm>
            <a:off x="-9375" y="929900"/>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06"/>
          <p:cNvSpPr txBox="1"/>
          <p:nvPr>
            <p:ph idx="4294967295" type="subTitle"/>
          </p:nvPr>
        </p:nvSpPr>
        <p:spPr>
          <a:xfrm>
            <a:off x="5345350" y="2264000"/>
            <a:ext cx="3640200" cy="1656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An RMF is a set of documents </a:t>
            </a:r>
            <a:br>
              <a:rPr lang="en"/>
            </a:br>
            <a:r>
              <a:rPr lang="en"/>
              <a:t>that define best practices. </a:t>
            </a:r>
            <a:endParaRPr/>
          </a:p>
          <a:p>
            <a:pPr indent="0" lvl="0" marL="0" rtl="0" algn="l">
              <a:spcBef>
                <a:spcPts val="1000"/>
              </a:spcBef>
              <a:spcAft>
                <a:spcPts val="0"/>
              </a:spcAft>
              <a:buClr>
                <a:schemeClr val="dk1"/>
              </a:buClr>
              <a:buSzPts val="1100"/>
              <a:buFont typeface="Arial"/>
              <a:buNone/>
            </a:pPr>
            <a:r>
              <a:rPr lang="en"/>
              <a:t>An organization may voluntarily follow these to efficiently manage its cybersecurity risks.</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07"/>
          <p:cNvSpPr txBox="1"/>
          <p:nvPr>
            <p:ph idx="1" type="body"/>
          </p:nvPr>
        </p:nvSpPr>
        <p:spPr>
          <a:xfrm>
            <a:off x="464100" y="799100"/>
            <a:ext cx="8520600" cy="5727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In the next activity, you will play the role of a security consultant for a new online auction company E-Auctions.com.</a:t>
            </a:r>
            <a:endParaRPr/>
          </a:p>
        </p:txBody>
      </p:sp>
      <p:pic>
        <p:nvPicPr>
          <p:cNvPr id="872" name="Google Shape;872;p107"/>
          <p:cNvPicPr preferRelativeResize="0"/>
          <p:nvPr/>
        </p:nvPicPr>
        <p:blipFill>
          <a:blip r:embed="rId3">
            <a:alphaModFix/>
          </a:blip>
          <a:stretch>
            <a:fillRect/>
          </a:stretch>
        </p:blipFill>
        <p:spPr>
          <a:xfrm>
            <a:off x="4848825" y="1278125"/>
            <a:ext cx="4091949" cy="3529212"/>
          </a:xfrm>
          <a:prstGeom prst="rect">
            <a:avLst/>
          </a:prstGeom>
          <a:noFill/>
          <a:ln>
            <a:noFill/>
          </a:ln>
        </p:spPr>
      </p:pic>
      <p:sp>
        <p:nvSpPr>
          <p:cNvPr id="873" name="Google Shape;873;p107"/>
          <p:cNvSpPr txBox="1"/>
          <p:nvPr>
            <p:ph type="title"/>
          </p:nvPr>
        </p:nvSpPr>
        <p:spPr>
          <a:xfrm>
            <a:off x="464100" y="226400"/>
            <a:ext cx="84147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Setup for Next Activity</a:t>
            </a:r>
            <a:endParaRPr/>
          </a:p>
        </p:txBody>
      </p:sp>
      <p:sp>
        <p:nvSpPr>
          <p:cNvPr id="874" name="Google Shape;874;p107"/>
          <p:cNvSpPr/>
          <p:nvPr/>
        </p:nvSpPr>
        <p:spPr>
          <a:xfrm>
            <a:off x="510000" y="2533476"/>
            <a:ext cx="3850200" cy="1018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07"/>
          <p:cNvSpPr/>
          <p:nvPr/>
        </p:nvSpPr>
        <p:spPr>
          <a:xfrm>
            <a:off x="510000" y="3762925"/>
            <a:ext cx="3850200" cy="1094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07"/>
          <p:cNvSpPr/>
          <p:nvPr/>
        </p:nvSpPr>
        <p:spPr>
          <a:xfrm>
            <a:off x="510000" y="1550923"/>
            <a:ext cx="3850200" cy="801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07"/>
          <p:cNvSpPr txBox="1"/>
          <p:nvPr/>
        </p:nvSpPr>
        <p:spPr>
          <a:xfrm>
            <a:off x="834875" y="1550936"/>
            <a:ext cx="3387600" cy="6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You are tasked with </a:t>
            </a:r>
            <a:r>
              <a:rPr lang="en">
                <a:solidFill>
                  <a:schemeClr val="dk2"/>
                </a:solidFill>
                <a:latin typeface="Roboto"/>
                <a:ea typeface="Roboto"/>
                <a:cs typeface="Roboto"/>
                <a:sym typeface="Roboto"/>
              </a:rPr>
              <a:t>determining</a:t>
            </a:r>
            <a:r>
              <a:rPr lang="en">
                <a:solidFill>
                  <a:schemeClr val="dk2"/>
                </a:solidFill>
                <a:latin typeface="Roboto"/>
                <a:ea typeface="Roboto"/>
                <a:cs typeface="Roboto"/>
                <a:sym typeface="Roboto"/>
              </a:rPr>
              <a:t> E-Auctions.com’s security posture before the business is launched.</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878" name="Google Shape;878;p107"/>
          <p:cNvSpPr txBox="1"/>
          <p:nvPr/>
        </p:nvSpPr>
        <p:spPr>
          <a:xfrm>
            <a:off x="834875" y="2526494"/>
            <a:ext cx="3387600" cy="9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You’ll accomplish this by conducting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an interview with the CEO of E-Auctions.com. </a:t>
            </a:r>
            <a:r>
              <a:rPr b="1" lang="en">
                <a:solidFill>
                  <a:schemeClr val="dk2"/>
                </a:solidFill>
                <a:latin typeface="Roboto"/>
                <a:ea typeface="Roboto"/>
                <a:cs typeface="Roboto"/>
                <a:sym typeface="Roboto"/>
              </a:rPr>
              <a:t>Your instructor will play the role of the CEO.</a:t>
            </a:r>
            <a:endParaRPr b="1" sz="1300">
              <a:solidFill>
                <a:schemeClr val="dk2"/>
              </a:solidFill>
              <a:latin typeface="Roboto"/>
              <a:ea typeface="Roboto"/>
              <a:cs typeface="Roboto"/>
              <a:sym typeface="Roboto"/>
            </a:endParaRPr>
          </a:p>
        </p:txBody>
      </p:sp>
      <p:sp>
        <p:nvSpPr>
          <p:cNvPr id="879" name="Google Shape;879;p107"/>
          <p:cNvSpPr txBox="1"/>
          <p:nvPr/>
        </p:nvSpPr>
        <p:spPr>
          <a:xfrm>
            <a:off x="766025" y="3792325"/>
            <a:ext cx="3456600" cy="10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As a class, you will each develop one question about E-Auctions.com's security posture and take turns interviewing the CEO.</a:t>
            </a:r>
            <a:endParaRPr sz="1300">
              <a:solidFill>
                <a:schemeClr val="dk2"/>
              </a:solidFill>
              <a:latin typeface="Roboto"/>
              <a:ea typeface="Roboto"/>
              <a:cs typeface="Roboto"/>
              <a:sym typeface="Roboto"/>
            </a:endParaRPr>
          </a:p>
        </p:txBody>
      </p:sp>
      <p:sp>
        <p:nvSpPr>
          <p:cNvPr id="880" name="Google Shape;880;p107"/>
          <p:cNvSpPr/>
          <p:nvPr/>
        </p:nvSpPr>
        <p:spPr>
          <a:xfrm>
            <a:off x="359525" y="15215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1</a:t>
            </a:r>
            <a:endParaRPr sz="1600">
              <a:solidFill>
                <a:srgbClr val="082D49"/>
              </a:solidFill>
            </a:endParaRPr>
          </a:p>
        </p:txBody>
      </p:sp>
      <p:sp>
        <p:nvSpPr>
          <p:cNvPr id="881" name="Google Shape;881;p107"/>
          <p:cNvSpPr/>
          <p:nvPr/>
        </p:nvSpPr>
        <p:spPr>
          <a:xfrm>
            <a:off x="359525" y="2504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2</a:t>
            </a:r>
            <a:endParaRPr sz="1600">
              <a:solidFill>
                <a:srgbClr val="082D49"/>
              </a:solidFill>
            </a:endParaRPr>
          </a:p>
        </p:txBody>
      </p:sp>
      <p:sp>
        <p:nvSpPr>
          <p:cNvPr id="882" name="Google Shape;882;p107"/>
          <p:cNvSpPr/>
          <p:nvPr/>
        </p:nvSpPr>
        <p:spPr>
          <a:xfrm>
            <a:off x="359525" y="373352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82D49"/>
                </a:solidFill>
              </a:rPr>
              <a:t>3</a:t>
            </a:r>
            <a:endParaRPr sz="1600">
              <a:solidFill>
                <a:srgbClr val="082D49"/>
              </a:solidFill>
            </a:endParaRPr>
          </a:p>
        </p:txBody>
      </p:sp>
      <p:cxnSp>
        <p:nvCxnSpPr>
          <p:cNvPr id="883" name="Google Shape;883;p107"/>
          <p:cNvCxnSpPr/>
          <p:nvPr/>
        </p:nvCxnSpPr>
        <p:spPr>
          <a:xfrm>
            <a:off x="-9375" y="6917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08"/>
          <p:cNvSpPr txBox="1"/>
          <p:nvPr>
            <p:ph idx="4294967295" type="subTitle"/>
          </p:nvPr>
        </p:nvSpPr>
        <p:spPr>
          <a:xfrm>
            <a:off x="464250" y="635275"/>
            <a:ext cx="8832300" cy="364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You will be assigned a number between </a:t>
            </a:r>
            <a:r>
              <a:rPr lang="en"/>
              <a:t>1</a:t>
            </a:r>
            <a:r>
              <a:rPr lang="en"/>
              <a:t> and 22. </a:t>
            </a:r>
            <a:endParaRPr/>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
        <p:nvSpPr>
          <p:cNvPr id="889" name="Google Shape;889;p108"/>
          <p:cNvSpPr txBox="1"/>
          <p:nvPr>
            <p:ph idx="1" type="body"/>
          </p:nvPr>
        </p:nvSpPr>
        <p:spPr>
          <a:xfrm>
            <a:off x="464100" y="1000075"/>
            <a:ext cx="8832300" cy="1012500"/>
          </a:xfrm>
          <a:prstGeom prst="rect">
            <a:avLst/>
          </a:prstGeom>
        </p:spPr>
        <p:txBody>
          <a:bodyPr anchorCtr="0" anchor="t" bIns="91425" lIns="0" spcFirstLastPara="1" rIns="91425" wrap="square" tIns="0">
            <a:noAutofit/>
          </a:bodyPr>
          <a:lstStyle/>
          <a:p>
            <a:pPr indent="-193040" lvl="0" marL="320040" rtl="0" algn="l">
              <a:spcBef>
                <a:spcPts val="0"/>
              </a:spcBef>
              <a:spcAft>
                <a:spcPts val="0"/>
              </a:spcAft>
              <a:buClr>
                <a:schemeClr val="dk2"/>
              </a:buClr>
              <a:buSzPts val="1600"/>
              <a:buChar char="●"/>
            </a:pPr>
            <a:r>
              <a:rPr lang="en" sz="1600"/>
              <a:t>This number will correspond to a NIST category.</a:t>
            </a:r>
            <a:endParaRPr sz="1600"/>
          </a:p>
          <a:p>
            <a:pPr indent="-193040" lvl="0" marL="320040" rtl="0" algn="l">
              <a:spcBef>
                <a:spcPts val="600"/>
              </a:spcBef>
              <a:spcAft>
                <a:spcPts val="0"/>
              </a:spcAft>
              <a:buClr>
                <a:schemeClr val="dk2"/>
              </a:buClr>
              <a:buSzPts val="1600"/>
              <a:buChar char="●"/>
            </a:pPr>
            <a:r>
              <a:rPr lang="en" sz="1600"/>
              <a:t>You</a:t>
            </a:r>
            <a:r>
              <a:rPr lang="en" sz="1600"/>
              <a:t> will develop a question relevant to the NIST category you are assigned.</a:t>
            </a:r>
            <a:endParaRPr sz="1600"/>
          </a:p>
          <a:p>
            <a:pPr indent="-193040" lvl="0" marL="320040" rtl="0" algn="l">
              <a:spcBef>
                <a:spcPts val="600"/>
              </a:spcBef>
              <a:spcAft>
                <a:spcPts val="600"/>
              </a:spcAft>
              <a:buClr>
                <a:schemeClr val="dk2"/>
              </a:buClr>
              <a:buSzPts val="1600"/>
              <a:buChar char="●"/>
            </a:pPr>
            <a:r>
              <a:rPr lang="en" sz="1600"/>
              <a:t>NIST documentation is provided so you can learn about your category and subcategories.</a:t>
            </a:r>
            <a:endParaRPr sz="1600"/>
          </a:p>
        </p:txBody>
      </p:sp>
      <p:graphicFrame>
        <p:nvGraphicFramePr>
          <p:cNvPr id="890" name="Google Shape;890;p108"/>
          <p:cNvGraphicFramePr/>
          <p:nvPr/>
        </p:nvGraphicFramePr>
        <p:xfrm>
          <a:off x="311700" y="2368300"/>
          <a:ext cx="3000000" cy="3000000"/>
        </p:xfrm>
        <a:graphic>
          <a:graphicData uri="http://schemas.openxmlformats.org/drawingml/2006/table">
            <a:tbl>
              <a:tblPr>
                <a:noFill/>
                <a:tableStyleId>{77D82E05-C7B0-4494-ACDF-EB02A9E300EF}</a:tableStyleId>
              </a:tblPr>
              <a:tblGrid>
                <a:gridCol w="407800"/>
                <a:gridCol w="3807925"/>
              </a:tblGrid>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Asset Management (ID.AM)</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2</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Business Environment (ID.BE)</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3</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Governance (ID.GV)</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4</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Risk Assessment (ID.RA)</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5</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Risk Management Strategy (ID.RM)</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6</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Access Control (PR.AC)</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7</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Awareness and Training (PR.AT)</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8</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Data Security (PR.DS)</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9</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Information Protection Processes and Procedures (PR.IP)</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10</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Maintenance (PR.MA)</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11</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Protective Technology (PR.PT)</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bl>
          </a:graphicData>
        </a:graphic>
      </p:graphicFrame>
      <p:graphicFrame>
        <p:nvGraphicFramePr>
          <p:cNvPr id="891" name="Google Shape;891;p108"/>
          <p:cNvGraphicFramePr/>
          <p:nvPr/>
        </p:nvGraphicFramePr>
        <p:xfrm>
          <a:off x="4687325" y="2368300"/>
          <a:ext cx="3000000" cy="3000000"/>
        </p:xfrm>
        <a:graphic>
          <a:graphicData uri="http://schemas.openxmlformats.org/drawingml/2006/table">
            <a:tbl>
              <a:tblPr>
                <a:noFill/>
                <a:tableStyleId>{77D82E05-C7B0-4494-ACDF-EB02A9E300EF}</a:tableStyleId>
              </a:tblPr>
              <a:tblGrid>
                <a:gridCol w="407800"/>
                <a:gridCol w="3807925"/>
              </a:tblGrid>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12</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Anomalies and Events (DE.AE)</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13</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Security Continuous Monitoring (DE.CM)</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14</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Clr>
                          <a:schemeClr val="dk1"/>
                        </a:buClr>
                        <a:buSzPts val="1100"/>
                        <a:buFont typeface="Arial"/>
                        <a:buNone/>
                      </a:pPr>
                      <a:r>
                        <a:rPr lang="en" sz="1100">
                          <a:solidFill>
                            <a:schemeClr val="dk2"/>
                          </a:solidFill>
                          <a:latin typeface="Roboto"/>
                          <a:ea typeface="Roboto"/>
                          <a:cs typeface="Roboto"/>
                          <a:sym typeface="Roboto"/>
                        </a:rPr>
                        <a:t>Detection Processes (DE.DP)</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15</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Response Planning (RS.RP)</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16</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Communications (RS.CO)</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17</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Analysis (RS.AN)</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18</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Mitigation (RS.MI)</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19</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Improvements (RS.IM)</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20</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Recovery Planning (RC.RP)</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21</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Improvements (RC.IM)</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r>
              <a:tr h="226350">
                <a:tc>
                  <a:txBody>
                    <a:bodyPr/>
                    <a:lstStyle/>
                    <a:p>
                      <a:pPr indent="0" lvl="0" marL="0" rtl="0" algn="ctr">
                        <a:spcBef>
                          <a:spcPts val="0"/>
                        </a:spcBef>
                        <a:spcAft>
                          <a:spcPts val="0"/>
                        </a:spcAft>
                        <a:buNone/>
                      </a:pPr>
                      <a:r>
                        <a:rPr lang="en" sz="1200">
                          <a:solidFill>
                            <a:srgbClr val="FFFFFF"/>
                          </a:solidFill>
                          <a:latin typeface="Roboto Medium"/>
                          <a:ea typeface="Roboto Medium"/>
                          <a:cs typeface="Roboto Medium"/>
                          <a:sym typeface="Roboto Medium"/>
                        </a:rPr>
                        <a:t>22</a:t>
                      </a:r>
                      <a:endParaRPr sz="1200">
                        <a:solidFill>
                          <a:srgbClr val="FFFFFF"/>
                        </a:solidFill>
                        <a:latin typeface="Roboto Medium"/>
                        <a:ea typeface="Roboto Medium"/>
                        <a:cs typeface="Roboto Medium"/>
                        <a:sym typeface="Roboto Medium"/>
                      </a:endParaRPr>
                    </a:p>
                  </a:txBody>
                  <a:tcPr marT="0" marB="0" marR="0" marL="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Communications (RC.CO)</a:t>
                      </a:r>
                      <a:endParaRPr sz="1100">
                        <a:solidFill>
                          <a:schemeClr val="dk2"/>
                        </a:solidFill>
                        <a:latin typeface="Roboto"/>
                        <a:ea typeface="Roboto"/>
                        <a:cs typeface="Roboto"/>
                        <a:sym typeface="Roboto"/>
                      </a:endParaRPr>
                    </a:p>
                  </a:txBody>
                  <a:tcPr marT="0" marB="0" marR="0" marL="91425"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bl>
          </a:graphicData>
        </a:graphic>
      </p:graphicFrame>
      <p:sp>
        <p:nvSpPr>
          <p:cNvPr id="892" name="Google Shape;892;p108"/>
          <p:cNvSpPr txBox="1"/>
          <p:nvPr>
            <p:ph type="title"/>
          </p:nvPr>
        </p:nvSpPr>
        <p:spPr>
          <a:xfrm>
            <a:off x="464100" y="150200"/>
            <a:ext cx="84147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Setup for Next Activity</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09"/>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10 minutes</a:t>
            </a:r>
            <a:endParaRPr/>
          </a:p>
        </p:txBody>
      </p:sp>
      <p:sp>
        <p:nvSpPr>
          <p:cNvPr id="898" name="Google Shape;898;p109"/>
          <p:cNvSpPr txBox="1"/>
          <p:nvPr>
            <p:ph idx="4294967295" type="subTitle"/>
          </p:nvPr>
        </p:nvSpPr>
        <p:spPr>
          <a:xfrm>
            <a:off x="818575" y="1726975"/>
            <a:ext cx="6518700" cy="2116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this activity, you will formulate a question and pose it to the CEO of E-Auctions.com.</a:t>
            </a:r>
            <a:endParaRPr/>
          </a:p>
          <a:p>
            <a:pPr indent="0" lvl="0" marL="0" rtl="0" algn="l">
              <a:spcBef>
                <a:spcPts val="0"/>
              </a:spcBef>
              <a:spcAft>
                <a:spcPts val="0"/>
              </a:spcAft>
              <a:buNone/>
            </a:pPr>
            <a:r>
              <a:t/>
            </a:r>
            <a:endParaRPr/>
          </a:p>
        </p:txBody>
      </p:sp>
      <p:sp>
        <p:nvSpPr>
          <p:cNvPr id="899" name="Google Shape;899;p109"/>
          <p:cNvSpPr txBox="1"/>
          <p:nvPr>
            <p:ph idx="4294967295" type="title"/>
          </p:nvPr>
        </p:nvSpPr>
        <p:spPr>
          <a:xfrm>
            <a:off x="902100" y="537100"/>
            <a:ext cx="9168600" cy="323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1800"/>
              <a:t>CEO interviews</a:t>
            </a:r>
            <a:endParaRPr b="0" sz="18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10"/>
          <p:cNvSpPr txBox="1"/>
          <p:nvPr>
            <p:ph idx="4294967295" type="subTitle"/>
          </p:nvPr>
        </p:nvSpPr>
        <p:spPr>
          <a:xfrm>
            <a:off x="274350" y="4402800"/>
            <a:ext cx="8703600" cy="740700"/>
          </a:xfrm>
          <a:prstGeom prst="rect">
            <a:avLst/>
          </a:prstGeom>
        </p:spPr>
        <p:txBody>
          <a:bodyPr anchorCtr="0" anchor="t" bIns="91425" lIns="0" spcFirstLastPara="1" rIns="91425" wrap="square" tIns="0">
            <a:noAutofit/>
          </a:bodyPr>
          <a:lstStyle/>
          <a:p>
            <a:pPr indent="0" lvl="0" marL="0" rtl="0" algn="r">
              <a:spcBef>
                <a:spcPts val="0"/>
              </a:spcBef>
              <a:spcAft>
                <a:spcPts val="0"/>
              </a:spcAft>
              <a:buNone/>
            </a:pPr>
            <a:r>
              <a:rPr b="1" lang="en" sz="1400">
                <a:solidFill>
                  <a:schemeClr val="lt1"/>
                </a:solidFill>
                <a:latin typeface="Roboto"/>
                <a:ea typeface="Roboto"/>
                <a:cs typeface="Roboto"/>
                <a:sym typeface="Roboto"/>
              </a:rPr>
              <a:t>Suggested </a:t>
            </a:r>
            <a:r>
              <a:rPr b="1" lang="en" sz="1400">
                <a:solidFill>
                  <a:schemeClr val="lt1"/>
                </a:solidFill>
              </a:rPr>
              <a:t>T</a:t>
            </a:r>
            <a:r>
              <a:rPr b="1" lang="en" sz="1400">
                <a:solidFill>
                  <a:schemeClr val="lt1"/>
                </a:solidFill>
                <a:latin typeface="Roboto"/>
                <a:ea typeface="Roboto"/>
                <a:cs typeface="Roboto"/>
                <a:sym typeface="Roboto"/>
              </a:rPr>
              <a:t>ime</a:t>
            </a:r>
            <a:endParaRPr b="1" sz="1400">
              <a:solidFill>
                <a:schemeClr val="lt1"/>
              </a:solidFill>
              <a:latin typeface="Roboto"/>
              <a:ea typeface="Roboto"/>
              <a:cs typeface="Roboto"/>
              <a:sym typeface="Roboto"/>
            </a:endParaRPr>
          </a:p>
          <a:p>
            <a:pPr indent="0" lvl="0" marL="0" rtl="0" algn="r">
              <a:spcBef>
                <a:spcPts val="0"/>
              </a:spcBef>
              <a:spcAft>
                <a:spcPts val="0"/>
              </a:spcAft>
              <a:buNone/>
            </a:pPr>
            <a:r>
              <a:rPr lang="en" sz="1400">
                <a:solidFill>
                  <a:schemeClr val="lt1"/>
                </a:solidFill>
              </a:rPr>
              <a:t>25</a:t>
            </a:r>
            <a:r>
              <a:rPr lang="en" sz="1400">
                <a:solidFill>
                  <a:schemeClr val="lt1"/>
                </a:solidFill>
              </a:rPr>
              <a:t> minutes</a:t>
            </a:r>
            <a:endParaRPr sz="1400">
              <a:solidFill>
                <a:schemeClr val="lt1"/>
              </a:solidFill>
            </a:endParaRPr>
          </a:p>
        </p:txBody>
      </p:sp>
      <p:sp>
        <p:nvSpPr>
          <p:cNvPr id="905" name="Google Shape;905;p110"/>
          <p:cNvSpPr txBox="1"/>
          <p:nvPr>
            <p:ph idx="4294967295" type="title"/>
          </p:nvPr>
        </p:nvSpPr>
        <p:spPr>
          <a:xfrm>
            <a:off x="0" y="3772475"/>
            <a:ext cx="9144000" cy="461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2400">
                <a:solidFill>
                  <a:schemeClr val="accent2"/>
                </a:solidFill>
              </a:rPr>
              <a:t>Take turns asking your questions</a:t>
            </a:r>
            <a:endParaRPr b="0" sz="2400">
              <a:solidFill>
                <a:schemeClr val="accent2"/>
              </a:solidFill>
            </a:endParaRPr>
          </a:p>
          <a:p>
            <a:pPr indent="0" lvl="0" marL="0" rtl="0" algn="ctr">
              <a:spcBef>
                <a:spcPts val="0"/>
              </a:spcBef>
              <a:spcAft>
                <a:spcPts val="0"/>
              </a:spcAft>
              <a:buNone/>
            </a:pPr>
            <a:r>
              <a:t/>
            </a:r>
            <a:endParaRPr b="0" sz="2400">
              <a:solidFill>
                <a:schemeClr val="accent2"/>
              </a:solidFill>
            </a:endParaRPr>
          </a:p>
        </p:txBody>
      </p:sp>
      <p:sp>
        <p:nvSpPr>
          <p:cNvPr id="906" name="Google Shape;906;p110"/>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lang="en" sz="4000">
                <a:solidFill>
                  <a:schemeClr val="lt1"/>
                </a:solidFill>
                <a:latin typeface="Roboto"/>
                <a:ea typeface="Roboto"/>
                <a:cs typeface="Roboto"/>
                <a:sym typeface="Roboto"/>
              </a:rPr>
              <a:t>Everyone Do: </a:t>
            </a:r>
            <a:r>
              <a:rPr b="1" lang="en" sz="4000">
                <a:solidFill>
                  <a:schemeClr val="lt1"/>
                </a:solidFill>
                <a:latin typeface="Roboto"/>
                <a:ea typeface="Roboto"/>
                <a:cs typeface="Roboto"/>
                <a:sym typeface="Roboto"/>
              </a:rPr>
              <a:t>CEO Interview</a:t>
            </a:r>
            <a:endParaRPr b="1" i="0" sz="2400" u="none" cap="none" strike="noStrike">
              <a:solidFill>
                <a:schemeClr val="lt1"/>
              </a:solidFill>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13"/>
          <p:cNvSpPr txBox="1"/>
          <p:nvPr>
            <p:ph type="title"/>
          </p:nvPr>
        </p:nvSpPr>
        <p:spPr>
          <a:xfrm>
            <a:off x="0" y="2628900"/>
            <a:ext cx="9144000" cy="8064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Business Continuity Planning (BCP)</a:t>
            </a:r>
            <a:endParaRPr b="0">
              <a:latin typeface="Roboto"/>
              <a:ea typeface="Roboto"/>
              <a:cs typeface="Roboto"/>
              <a:sym typeface="Roboto"/>
            </a:endParaRPr>
          </a:p>
          <a:p>
            <a:pPr indent="0" lvl="0" marL="0" rtl="0" algn="ctr">
              <a:spcBef>
                <a:spcPts val="0"/>
              </a:spcBef>
              <a:spcAft>
                <a:spcPts val="0"/>
              </a:spcAft>
              <a:buNone/>
            </a:pPr>
            <a:r>
              <a:rPr b="0" lang="en">
                <a:latin typeface="Roboto"/>
                <a:ea typeface="Roboto"/>
                <a:cs typeface="Roboto"/>
                <a:sym typeface="Roboto"/>
              </a:rPr>
              <a:t>and</a:t>
            </a:r>
            <a:r>
              <a:rPr b="0" lang="en"/>
              <a:t> </a:t>
            </a:r>
            <a:r>
              <a:rPr lang="en">
                <a:latin typeface="Roboto"/>
                <a:ea typeface="Roboto"/>
                <a:cs typeface="Roboto"/>
                <a:sym typeface="Roboto"/>
              </a:rPr>
              <a:t>Disaster Recovery (DR)</a:t>
            </a:r>
            <a:endParaRPr>
              <a:latin typeface="Roboto"/>
              <a:ea typeface="Roboto"/>
              <a:cs typeface="Roboto"/>
              <a:sym typeface="Roboto"/>
            </a:endParaRPr>
          </a:p>
        </p:txBody>
      </p:sp>
      <p:pic>
        <p:nvPicPr>
          <p:cNvPr id="920" name="Google Shape;920;p113"/>
          <p:cNvPicPr preferRelativeResize="0"/>
          <p:nvPr/>
        </p:nvPicPr>
        <p:blipFill>
          <a:blip r:embed="rId3">
            <a:alphaModFix/>
          </a:blip>
          <a:stretch>
            <a:fillRect/>
          </a:stretch>
        </p:blipFill>
        <p:spPr>
          <a:xfrm>
            <a:off x="4116913" y="1412000"/>
            <a:ext cx="910175" cy="9360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14"/>
          <p:cNvSpPr/>
          <p:nvPr/>
        </p:nvSpPr>
        <p:spPr>
          <a:xfrm>
            <a:off x="0" y="-1160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6" name="Google Shape;926;p114"/>
          <p:cNvPicPr preferRelativeResize="0"/>
          <p:nvPr/>
        </p:nvPicPr>
        <p:blipFill rotWithShape="1">
          <a:blip r:embed="rId3">
            <a:alphaModFix/>
          </a:blip>
          <a:srcRect b="1786" l="2536" r="32257" t="5181"/>
          <a:stretch/>
        </p:blipFill>
        <p:spPr>
          <a:xfrm>
            <a:off x="2734950" y="13"/>
            <a:ext cx="6409044" cy="5143473"/>
          </a:xfrm>
          <a:prstGeom prst="rect">
            <a:avLst/>
          </a:prstGeom>
          <a:noFill/>
          <a:ln>
            <a:noFill/>
          </a:ln>
        </p:spPr>
      </p:pic>
      <p:sp>
        <p:nvSpPr>
          <p:cNvPr id="927" name="Google Shape;927;p114"/>
          <p:cNvSpPr txBox="1"/>
          <p:nvPr>
            <p:ph idx="12" type="sldNum"/>
          </p:nvPr>
        </p:nvSpPr>
        <p:spPr>
          <a:xfrm>
            <a:off x="8607775" y="4957200"/>
            <a:ext cx="261900" cy="105600"/>
          </a:xfrm>
          <a:prstGeom prst="rect">
            <a:avLst/>
          </a:prstGeom>
        </p:spPr>
        <p:txBody>
          <a:bodyPr anchorCtr="0" anchor="t" bIns="91425" lIns="0" spcFirstLastPara="1" rIns="0" wrap="square" tIns="0">
            <a:noAutofit/>
          </a:bodyPr>
          <a:lstStyle/>
          <a:p>
            <a:pPr indent="0" lvl="0" marL="0" rtl="0" algn="l">
              <a:spcBef>
                <a:spcPts val="0"/>
              </a:spcBef>
              <a:spcAft>
                <a:spcPts val="0"/>
              </a:spcAft>
              <a:buNone/>
            </a:pPr>
            <a:fld id="{00000000-1234-1234-1234-123412341234}" type="slidenum">
              <a:rPr lang="en"/>
              <a:t>‹#›</a:t>
            </a:fld>
            <a:endParaRPr/>
          </a:p>
        </p:txBody>
      </p:sp>
      <p:sp>
        <p:nvSpPr>
          <p:cNvPr id="928" name="Google Shape;928;p114"/>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t/>
            </a:r>
            <a:endParaRPr/>
          </a:p>
        </p:txBody>
      </p:sp>
      <p:sp>
        <p:nvSpPr>
          <p:cNvPr id="929" name="Google Shape;929;p114"/>
          <p:cNvSpPr txBox="1"/>
          <p:nvPr>
            <p:ph idx="1" type="subTitle"/>
          </p:nvPr>
        </p:nvSpPr>
        <p:spPr>
          <a:xfrm>
            <a:off x="412950" y="-10447"/>
            <a:ext cx="2322000" cy="5143500"/>
          </a:xfrm>
          <a:prstGeom prst="rect">
            <a:avLst/>
          </a:prstGeom>
          <a:solidFill>
            <a:schemeClr val="lt1"/>
          </a:solidFill>
        </p:spPr>
        <p:txBody>
          <a:bodyPr anchorCtr="0" anchor="t" bIns="0" lIns="182875" spcFirstLastPara="1" rIns="182875" wrap="square" tIns="228600">
            <a:noAutofit/>
          </a:bodyPr>
          <a:lstStyle/>
          <a:p>
            <a:pPr indent="0" lvl="0" marL="0" rtl="0" algn="l">
              <a:spcBef>
                <a:spcPts val="0"/>
              </a:spcBef>
              <a:spcAft>
                <a:spcPts val="0"/>
              </a:spcAft>
              <a:buNone/>
            </a:pPr>
            <a:r>
              <a:rPr lang="en"/>
              <a:t>All of the machinery of governance and compliance can’t guarantee that an organization will not experience </a:t>
            </a:r>
            <a:br>
              <a:rPr lang="en"/>
            </a:br>
            <a:r>
              <a:rPr lang="en"/>
              <a:t>a security breach. </a:t>
            </a:r>
            <a:endParaRPr/>
          </a:p>
          <a:p>
            <a:pPr indent="0" lvl="0" marL="0" rtl="0" algn="l">
              <a:spcBef>
                <a:spcPts val="1000"/>
              </a:spcBef>
              <a:spcAft>
                <a:spcPts val="1000"/>
              </a:spcAft>
              <a:buNone/>
            </a:pPr>
            <a:r>
              <a:rPr b="1" lang="en"/>
              <a:t>Businesses </a:t>
            </a:r>
            <a:br>
              <a:rPr b="1" lang="en"/>
            </a:br>
            <a:r>
              <a:rPr b="1" lang="en"/>
              <a:t>must still have contingency plans in place to prepare for the worst.</a:t>
            </a:r>
            <a:endParaRPr b="1"/>
          </a:p>
        </p:txBody>
      </p:sp>
      <p:sp>
        <p:nvSpPr>
          <p:cNvPr id="930" name="Google Shape;930;p114"/>
          <p:cNvSpPr/>
          <p:nvPr/>
        </p:nvSpPr>
        <p:spPr>
          <a:xfrm>
            <a:off x="-12300" y="-11550"/>
            <a:ext cx="451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pic>
        <p:nvPicPr>
          <p:cNvPr id="935" name="Google Shape;935;p115"/>
          <p:cNvPicPr preferRelativeResize="0"/>
          <p:nvPr/>
        </p:nvPicPr>
        <p:blipFill>
          <a:blip r:embed="rId3">
            <a:alphaModFix/>
          </a:blip>
          <a:stretch>
            <a:fillRect/>
          </a:stretch>
        </p:blipFill>
        <p:spPr>
          <a:xfrm>
            <a:off x="274200" y="1017725"/>
            <a:ext cx="8595601" cy="3886998"/>
          </a:xfrm>
          <a:prstGeom prst="rect">
            <a:avLst/>
          </a:prstGeom>
          <a:noFill/>
          <a:ln>
            <a:noFill/>
          </a:ln>
        </p:spPr>
      </p:pic>
      <p:sp>
        <p:nvSpPr>
          <p:cNvPr id="936" name="Google Shape;936;p115"/>
          <p:cNvSpPr txBox="1"/>
          <p:nvPr>
            <p:ph type="title"/>
          </p:nvPr>
        </p:nvSpPr>
        <p:spPr>
          <a:xfrm>
            <a:off x="464100" y="216425"/>
            <a:ext cx="852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Contingency</a:t>
            </a:r>
            <a:r>
              <a:rPr lang="en"/>
              <a:t> Planning for Business </a:t>
            </a:r>
            <a:r>
              <a:rPr lang="en"/>
              <a:t>Continuity</a:t>
            </a:r>
            <a:endParaRPr/>
          </a:p>
        </p:txBody>
      </p:sp>
      <p:sp>
        <p:nvSpPr>
          <p:cNvPr id="937" name="Google Shape;937;p115"/>
          <p:cNvSpPr txBox="1"/>
          <p:nvPr>
            <p:ph idx="1" type="body"/>
          </p:nvPr>
        </p:nvSpPr>
        <p:spPr>
          <a:xfrm>
            <a:off x="464100" y="717300"/>
            <a:ext cx="8520600" cy="533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 breach can have one of two results: </a:t>
            </a:r>
            <a:endParaRPr/>
          </a:p>
        </p:txBody>
      </p:sp>
      <p:sp>
        <p:nvSpPr>
          <p:cNvPr id="938" name="Google Shape;938;p115"/>
          <p:cNvSpPr txBox="1"/>
          <p:nvPr/>
        </p:nvSpPr>
        <p:spPr>
          <a:xfrm>
            <a:off x="940250" y="2173950"/>
            <a:ext cx="2110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Mild or Moderate Breach </a:t>
            </a:r>
            <a:endParaRPr b="1" sz="1800">
              <a:solidFill>
                <a:schemeClr val="dk2"/>
              </a:solidFill>
              <a:latin typeface="Roboto"/>
              <a:ea typeface="Roboto"/>
              <a:cs typeface="Roboto"/>
              <a:sym typeface="Roboto"/>
            </a:endParaRPr>
          </a:p>
        </p:txBody>
      </p:sp>
      <p:sp>
        <p:nvSpPr>
          <p:cNvPr id="939" name="Google Shape;939;p115"/>
          <p:cNvSpPr txBox="1"/>
          <p:nvPr/>
        </p:nvSpPr>
        <p:spPr>
          <a:xfrm>
            <a:off x="6754225" y="2173725"/>
            <a:ext cx="2110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Serious or Catastrophic Breach</a:t>
            </a:r>
            <a:endParaRPr b="1" sz="1800">
              <a:solidFill>
                <a:schemeClr val="dk2"/>
              </a:solidFill>
              <a:latin typeface="Roboto"/>
              <a:ea typeface="Roboto"/>
              <a:cs typeface="Roboto"/>
              <a:sym typeface="Roboto"/>
            </a:endParaRPr>
          </a:p>
        </p:txBody>
      </p:sp>
      <p:sp>
        <p:nvSpPr>
          <p:cNvPr id="940" name="Google Shape;940;p115"/>
          <p:cNvSpPr txBox="1"/>
          <p:nvPr/>
        </p:nvSpPr>
        <p:spPr>
          <a:xfrm>
            <a:off x="274200" y="3200725"/>
            <a:ext cx="2638800" cy="861900"/>
          </a:xfrm>
          <a:prstGeom prst="rect">
            <a:avLst/>
          </a:prstGeom>
          <a:noFill/>
          <a:ln>
            <a:noFill/>
          </a:ln>
        </p:spPr>
        <p:txBody>
          <a:bodyPr anchorCtr="0" anchor="t" bIns="0" lIns="182875" spcFirstLastPara="1" rIns="91425" wrap="square" tIns="0">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The business has been impacted, but can still handle day-to-day operations at greater cost.</a:t>
            </a:r>
            <a:endParaRPr>
              <a:solidFill>
                <a:schemeClr val="dk2"/>
              </a:solidFill>
              <a:latin typeface="Roboto"/>
              <a:ea typeface="Roboto"/>
              <a:cs typeface="Roboto"/>
              <a:sym typeface="Roboto"/>
            </a:endParaRPr>
          </a:p>
        </p:txBody>
      </p:sp>
      <p:sp>
        <p:nvSpPr>
          <p:cNvPr id="941" name="Google Shape;941;p115"/>
          <p:cNvSpPr txBox="1"/>
          <p:nvPr/>
        </p:nvSpPr>
        <p:spPr>
          <a:xfrm>
            <a:off x="6088300" y="3200725"/>
            <a:ext cx="2782500" cy="1508400"/>
          </a:xfrm>
          <a:prstGeom prst="rect">
            <a:avLst/>
          </a:prstGeom>
          <a:noFill/>
          <a:ln>
            <a:noFill/>
          </a:ln>
        </p:spPr>
        <p:txBody>
          <a:bodyPr anchorCtr="0" anchor="t" bIns="0" lIns="182875" spcFirstLastPara="1" rIns="91425" wrap="square" tIns="0">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The business has been impacted so severely that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it cannot operate. Instead,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it must use its resources to contain the incident, recover from the disaster, and eventually return to operations.</a:t>
            </a:r>
            <a:endParaRPr>
              <a:solidFill>
                <a:schemeClr val="dk2"/>
              </a:solidFill>
              <a:latin typeface="Roboto"/>
              <a:ea typeface="Roboto"/>
              <a:cs typeface="Roboto"/>
              <a:sym typeface="Roboto"/>
            </a:endParaRPr>
          </a:p>
        </p:txBody>
      </p:sp>
      <p:grpSp>
        <p:nvGrpSpPr>
          <p:cNvPr id="942" name="Google Shape;942;p115"/>
          <p:cNvGrpSpPr/>
          <p:nvPr/>
        </p:nvGrpSpPr>
        <p:grpSpPr>
          <a:xfrm>
            <a:off x="274381" y="2173953"/>
            <a:ext cx="533372" cy="533480"/>
            <a:chOff x="457200" y="1378813"/>
            <a:chExt cx="695400" cy="695450"/>
          </a:xfrm>
        </p:grpSpPr>
        <p:sp>
          <p:nvSpPr>
            <p:cNvPr id="943" name="Google Shape;943;p115"/>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01</a:t>
              </a:r>
              <a:endParaRPr sz="2100">
                <a:solidFill>
                  <a:srgbClr val="FFFFFF"/>
                </a:solidFill>
                <a:latin typeface="Roboto Light"/>
                <a:ea typeface="Roboto Light"/>
                <a:cs typeface="Roboto Light"/>
                <a:sym typeface="Roboto Light"/>
              </a:endParaRPr>
            </a:p>
          </p:txBody>
        </p:sp>
        <p:sp>
          <p:nvSpPr>
            <p:cNvPr id="944" name="Google Shape;944;p115"/>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grpSp>
        <p:nvGrpSpPr>
          <p:cNvPr id="945" name="Google Shape;945;p115"/>
          <p:cNvGrpSpPr/>
          <p:nvPr/>
        </p:nvGrpSpPr>
        <p:grpSpPr>
          <a:xfrm>
            <a:off x="6088306" y="2173953"/>
            <a:ext cx="533372" cy="533480"/>
            <a:chOff x="457200" y="1378813"/>
            <a:chExt cx="695400" cy="695450"/>
          </a:xfrm>
        </p:grpSpPr>
        <p:sp>
          <p:nvSpPr>
            <p:cNvPr id="946" name="Google Shape;946;p115"/>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947" name="Google Shape;947;p115"/>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951" name="Shape 951"/>
        <p:cNvGrpSpPr/>
        <p:nvPr/>
      </p:nvGrpSpPr>
      <p:grpSpPr>
        <a:xfrm>
          <a:off x="0" y="0"/>
          <a:ext cx="0" cy="0"/>
          <a:chOff x="0" y="0"/>
          <a:chExt cx="0" cy="0"/>
        </a:xfrm>
      </p:grpSpPr>
      <p:sp>
        <p:nvSpPr>
          <p:cNvPr id="952" name="Google Shape;952;p116"/>
          <p:cNvSpPr txBox="1"/>
          <p:nvPr>
            <p:ph type="title"/>
          </p:nvPr>
        </p:nvSpPr>
        <p:spPr>
          <a:xfrm>
            <a:off x="381000" y="1839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Concerns vs. Business Concerns</a:t>
            </a:r>
            <a:endParaRPr/>
          </a:p>
        </p:txBody>
      </p:sp>
      <p:pic>
        <p:nvPicPr>
          <p:cNvPr id="953" name="Google Shape;953;p116"/>
          <p:cNvPicPr preferRelativeResize="0"/>
          <p:nvPr/>
        </p:nvPicPr>
        <p:blipFill>
          <a:blip r:embed="rId3">
            <a:alphaModFix/>
          </a:blip>
          <a:stretch>
            <a:fillRect/>
          </a:stretch>
        </p:blipFill>
        <p:spPr>
          <a:xfrm>
            <a:off x="0" y="756650"/>
            <a:ext cx="5405783" cy="4075461"/>
          </a:xfrm>
          <a:prstGeom prst="rect">
            <a:avLst/>
          </a:prstGeom>
          <a:noFill/>
          <a:ln>
            <a:noFill/>
          </a:ln>
        </p:spPr>
      </p:pic>
      <p:sp>
        <p:nvSpPr>
          <p:cNvPr id="954" name="Google Shape;954;p116"/>
          <p:cNvSpPr txBox="1"/>
          <p:nvPr>
            <p:ph idx="1" type="body"/>
          </p:nvPr>
        </p:nvSpPr>
        <p:spPr>
          <a:xfrm>
            <a:off x="5751600" y="2071075"/>
            <a:ext cx="3080700" cy="14466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2"/>
                </a:solidFill>
                <a:latin typeface="Roboto"/>
                <a:ea typeface="Roboto"/>
                <a:cs typeface="Roboto"/>
                <a:sym typeface="Roboto"/>
              </a:rPr>
              <a:t>BCP</a:t>
            </a:r>
            <a:r>
              <a:rPr b="1" lang="en">
                <a:solidFill>
                  <a:schemeClr val="dk2"/>
                </a:solidFill>
              </a:rPr>
              <a:t> </a:t>
            </a:r>
            <a:r>
              <a:rPr lang="en">
                <a:solidFill>
                  <a:schemeClr val="dk2"/>
                </a:solidFill>
              </a:rPr>
              <a:t>and </a:t>
            </a:r>
            <a:r>
              <a:rPr b="1" lang="en">
                <a:solidFill>
                  <a:schemeClr val="dk2"/>
                </a:solidFill>
                <a:latin typeface="Roboto"/>
                <a:ea typeface="Roboto"/>
                <a:cs typeface="Roboto"/>
                <a:sym typeface="Roboto"/>
              </a:rPr>
              <a:t>DR</a:t>
            </a:r>
            <a:r>
              <a:rPr b="1" lang="en">
                <a:solidFill>
                  <a:schemeClr val="dk2"/>
                </a:solidFill>
              </a:rPr>
              <a:t> </a:t>
            </a:r>
            <a:r>
              <a:rPr lang="en">
                <a:solidFill>
                  <a:schemeClr val="dk2"/>
                </a:solidFill>
              </a:rPr>
              <a:t>planning focus </a:t>
            </a:r>
            <a:br>
              <a:rPr lang="en">
                <a:solidFill>
                  <a:schemeClr val="dk2"/>
                </a:solidFill>
              </a:rPr>
            </a:br>
            <a:r>
              <a:rPr lang="en">
                <a:solidFill>
                  <a:schemeClr val="dk2"/>
                </a:solidFill>
              </a:rPr>
              <a:t>on contingency plans in the event of a disruption or disaster, and ensure that the business can resume daily operations.</a:t>
            </a:r>
            <a:endParaRPr>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1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a:latin typeface="Roboto"/>
                <a:ea typeface="Roboto"/>
                <a:cs typeface="Roboto"/>
                <a:sym typeface="Roboto"/>
              </a:rPr>
              <a:t>What are some possible disruptions or disasters? </a:t>
            </a:r>
            <a:endParaRPr b="0">
              <a:latin typeface="Roboto"/>
              <a:ea typeface="Roboto"/>
              <a:cs typeface="Roboto"/>
              <a:sym typeface="Robo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3" name="Shape 963"/>
        <p:cNvGrpSpPr/>
        <p:nvPr/>
      </p:nvGrpSpPr>
      <p:grpSpPr>
        <a:xfrm>
          <a:off x="0" y="0"/>
          <a:ext cx="0" cy="0"/>
          <a:chOff x="0" y="0"/>
          <a:chExt cx="0" cy="0"/>
        </a:xfrm>
      </p:grpSpPr>
      <p:pic>
        <p:nvPicPr>
          <p:cNvPr id="964" name="Google Shape;964;p118"/>
          <p:cNvPicPr preferRelativeResize="0"/>
          <p:nvPr/>
        </p:nvPicPr>
        <p:blipFill rotWithShape="1">
          <a:blip r:embed="rId3">
            <a:alphaModFix/>
          </a:blip>
          <a:srcRect b="15908" l="8222" r="65557" t="7644"/>
          <a:stretch/>
        </p:blipFill>
        <p:spPr>
          <a:xfrm>
            <a:off x="219363" y="1582100"/>
            <a:ext cx="2980757" cy="2942275"/>
          </a:xfrm>
          <a:prstGeom prst="rect">
            <a:avLst/>
          </a:prstGeom>
          <a:noFill/>
          <a:ln>
            <a:noFill/>
          </a:ln>
        </p:spPr>
      </p:pic>
      <p:sp>
        <p:nvSpPr>
          <p:cNvPr id="965" name="Google Shape;965;p118"/>
          <p:cNvSpPr txBox="1"/>
          <p:nvPr>
            <p:ph type="title"/>
          </p:nvPr>
        </p:nvSpPr>
        <p:spPr>
          <a:xfrm>
            <a:off x="457200" y="2507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Contingency Planning for Business Continuity</a:t>
            </a:r>
            <a:endParaRPr/>
          </a:p>
          <a:p>
            <a:pPr indent="0" lvl="0" marL="0" rtl="0" algn="l">
              <a:spcBef>
                <a:spcPts val="0"/>
              </a:spcBef>
              <a:spcAft>
                <a:spcPts val="0"/>
              </a:spcAft>
              <a:buNone/>
            </a:pPr>
            <a:r>
              <a:t/>
            </a:r>
            <a:endParaRPr/>
          </a:p>
        </p:txBody>
      </p:sp>
      <p:pic>
        <p:nvPicPr>
          <p:cNvPr id="966" name="Google Shape;966;p118"/>
          <p:cNvPicPr preferRelativeResize="0"/>
          <p:nvPr/>
        </p:nvPicPr>
        <p:blipFill rotWithShape="1">
          <a:blip r:embed="rId3">
            <a:alphaModFix/>
          </a:blip>
          <a:srcRect b="15908" l="36888" r="36891" t="7644"/>
          <a:stretch/>
        </p:blipFill>
        <p:spPr>
          <a:xfrm>
            <a:off x="3081635" y="1582100"/>
            <a:ext cx="2980757" cy="2942275"/>
          </a:xfrm>
          <a:prstGeom prst="rect">
            <a:avLst/>
          </a:prstGeom>
          <a:noFill/>
          <a:ln>
            <a:noFill/>
          </a:ln>
        </p:spPr>
      </p:pic>
      <p:pic>
        <p:nvPicPr>
          <p:cNvPr id="967" name="Google Shape;967;p118"/>
          <p:cNvPicPr preferRelativeResize="0"/>
          <p:nvPr/>
        </p:nvPicPr>
        <p:blipFill rotWithShape="1">
          <a:blip r:embed="rId3">
            <a:alphaModFix/>
          </a:blip>
          <a:srcRect b="15908" l="65358" r="8421" t="7644"/>
          <a:stretch/>
        </p:blipFill>
        <p:spPr>
          <a:xfrm>
            <a:off x="5943882" y="1582100"/>
            <a:ext cx="2980757" cy="2942275"/>
          </a:xfrm>
          <a:prstGeom prst="rect">
            <a:avLst/>
          </a:prstGeom>
          <a:noFill/>
          <a:ln>
            <a:noFill/>
          </a:ln>
        </p:spPr>
      </p:pic>
      <p:grpSp>
        <p:nvGrpSpPr>
          <p:cNvPr id="968" name="Google Shape;968;p118"/>
          <p:cNvGrpSpPr/>
          <p:nvPr/>
        </p:nvGrpSpPr>
        <p:grpSpPr>
          <a:xfrm>
            <a:off x="352388" y="1117100"/>
            <a:ext cx="2714700" cy="472275"/>
            <a:chOff x="466725" y="1438275"/>
            <a:chExt cx="2714700" cy="472275"/>
          </a:xfrm>
        </p:grpSpPr>
        <p:sp>
          <p:nvSpPr>
            <p:cNvPr id="969" name="Google Shape;969;p118"/>
            <p:cNvSpPr/>
            <p:nvPr/>
          </p:nvSpPr>
          <p:spPr>
            <a:xfrm rot="10800000">
              <a:off x="1653913" y="17219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970" name="Google Shape;970;p118"/>
            <p:cNvSpPr/>
            <p:nvPr/>
          </p:nvSpPr>
          <p:spPr>
            <a:xfrm>
              <a:off x="466725" y="1438275"/>
              <a:ext cx="2714700" cy="3648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Cyberattacks</a:t>
              </a:r>
              <a:endParaRPr sz="1800">
                <a:solidFill>
                  <a:schemeClr val="lt1"/>
                </a:solidFill>
                <a:latin typeface="Roboto Medium"/>
                <a:ea typeface="Roboto Medium"/>
                <a:cs typeface="Roboto Medium"/>
                <a:sym typeface="Roboto Medium"/>
              </a:endParaRPr>
            </a:p>
          </p:txBody>
        </p:sp>
      </p:grpSp>
      <p:grpSp>
        <p:nvGrpSpPr>
          <p:cNvPr id="971" name="Google Shape;971;p118"/>
          <p:cNvGrpSpPr/>
          <p:nvPr/>
        </p:nvGrpSpPr>
        <p:grpSpPr>
          <a:xfrm>
            <a:off x="3214650" y="1117100"/>
            <a:ext cx="2714700" cy="472275"/>
            <a:chOff x="3328988" y="1438275"/>
            <a:chExt cx="2714700" cy="472275"/>
          </a:xfrm>
        </p:grpSpPr>
        <p:sp>
          <p:nvSpPr>
            <p:cNvPr id="972" name="Google Shape;972;p118"/>
            <p:cNvSpPr/>
            <p:nvPr/>
          </p:nvSpPr>
          <p:spPr>
            <a:xfrm rot="10800000">
              <a:off x="4516175" y="17219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973" name="Google Shape;973;p118"/>
            <p:cNvSpPr/>
            <p:nvPr/>
          </p:nvSpPr>
          <p:spPr>
            <a:xfrm>
              <a:off x="3328988" y="1438275"/>
              <a:ext cx="2714700" cy="3648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Human Error</a:t>
              </a:r>
              <a:endParaRPr sz="1800">
                <a:solidFill>
                  <a:schemeClr val="lt1"/>
                </a:solidFill>
                <a:latin typeface="Roboto Medium"/>
                <a:ea typeface="Roboto Medium"/>
                <a:cs typeface="Roboto Medium"/>
                <a:sym typeface="Roboto Medium"/>
              </a:endParaRPr>
            </a:p>
          </p:txBody>
        </p:sp>
      </p:grpSp>
      <p:grpSp>
        <p:nvGrpSpPr>
          <p:cNvPr id="974" name="Google Shape;974;p118"/>
          <p:cNvGrpSpPr/>
          <p:nvPr/>
        </p:nvGrpSpPr>
        <p:grpSpPr>
          <a:xfrm>
            <a:off x="6076913" y="1117100"/>
            <a:ext cx="2714700" cy="472275"/>
            <a:chOff x="6191250" y="1438275"/>
            <a:chExt cx="2714700" cy="472275"/>
          </a:xfrm>
        </p:grpSpPr>
        <p:sp>
          <p:nvSpPr>
            <p:cNvPr id="975" name="Google Shape;975;p118"/>
            <p:cNvSpPr/>
            <p:nvPr/>
          </p:nvSpPr>
          <p:spPr>
            <a:xfrm rot="10800000">
              <a:off x="7378438" y="17219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976" name="Google Shape;976;p118"/>
            <p:cNvSpPr/>
            <p:nvPr/>
          </p:nvSpPr>
          <p:spPr>
            <a:xfrm>
              <a:off x="6191250" y="1438275"/>
              <a:ext cx="2714700" cy="3648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Medium"/>
                  <a:ea typeface="Roboto Medium"/>
                  <a:cs typeface="Roboto Medium"/>
                  <a:sym typeface="Roboto Medium"/>
                </a:rPr>
                <a:t>Environmental Disasters </a:t>
              </a:r>
              <a:endParaRPr sz="1800">
                <a:solidFill>
                  <a:schemeClr val="lt1"/>
                </a:solidFill>
                <a:latin typeface="Roboto Medium"/>
                <a:ea typeface="Roboto Medium"/>
                <a:cs typeface="Roboto Medium"/>
                <a:sym typeface="Roboto Medium"/>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19"/>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2" name="Google Shape;982;p119"/>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3" name="Google Shape;983;p119"/>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84" name="Google Shape;984;p119"/>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19"/>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86" name="Google Shape;986;p119"/>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87" name="Google Shape;987;p119"/>
          <p:cNvSpPr txBox="1"/>
          <p:nvPr/>
        </p:nvSpPr>
        <p:spPr>
          <a:xfrm>
            <a:off x="465975" y="1329825"/>
            <a:ext cx="36492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Medium"/>
                <a:ea typeface="Roboto Medium"/>
                <a:cs typeface="Roboto Medium"/>
                <a:sym typeface="Roboto Medium"/>
              </a:rPr>
              <a:t>Business Continuity Planning</a:t>
            </a:r>
            <a:endParaRPr sz="1800">
              <a:solidFill>
                <a:srgbClr val="FFFFFF"/>
              </a:solidFill>
              <a:latin typeface="Roboto Medium"/>
              <a:ea typeface="Roboto Medium"/>
              <a:cs typeface="Roboto Medium"/>
              <a:sym typeface="Roboto Medium"/>
            </a:endParaRPr>
          </a:p>
        </p:txBody>
      </p:sp>
      <p:sp>
        <p:nvSpPr>
          <p:cNvPr id="988" name="Google Shape;988;p119"/>
          <p:cNvSpPr txBox="1"/>
          <p:nvPr/>
        </p:nvSpPr>
        <p:spPr>
          <a:xfrm>
            <a:off x="4900000" y="1329825"/>
            <a:ext cx="36492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Medium"/>
                <a:ea typeface="Roboto Medium"/>
                <a:cs typeface="Roboto Medium"/>
                <a:sym typeface="Roboto Medium"/>
              </a:rPr>
              <a:t>Disaster Recovery</a:t>
            </a:r>
            <a:endParaRPr sz="1800">
              <a:solidFill>
                <a:srgbClr val="FFFFFF"/>
              </a:solidFill>
              <a:latin typeface="Roboto Medium"/>
              <a:ea typeface="Roboto Medium"/>
              <a:cs typeface="Roboto Medium"/>
              <a:sym typeface="Roboto Medium"/>
            </a:endParaRPr>
          </a:p>
        </p:txBody>
      </p:sp>
      <p:sp>
        <p:nvSpPr>
          <p:cNvPr id="989" name="Google Shape;989;p119"/>
          <p:cNvSpPr txBox="1"/>
          <p:nvPr/>
        </p:nvSpPr>
        <p:spPr>
          <a:xfrm>
            <a:off x="542175" y="2004350"/>
            <a:ext cx="3649200" cy="248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Focuses on processes and procedures to ensure business critical functions continue </a:t>
            </a:r>
            <a:br>
              <a:rPr lang="en" sz="1800">
                <a:solidFill>
                  <a:schemeClr val="dk2"/>
                </a:solidFill>
                <a:latin typeface="Roboto"/>
                <a:ea typeface="Roboto"/>
                <a:cs typeface="Roboto"/>
                <a:sym typeface="Roboto"/>
              </a:rPr>
            </a:br>
            <a:r>
              <a:rPr b="1" lang="en" sz="1800">
                <a:solidFill>
                  <a:schemeClr val="dk2"/>
                </a:solidFill>
                <a:latin typeface="Roboto"/>
                <a:ea typeface="Roboto"/>
                <a:cs typeface="Roboto"/>
                <a:sym typeface="Roboto"/>
              </a:rPr>
              <a:t>during and after</a:t>
            </a:r>
            <a:r>
              <a:rPr lang="en" sz="1800">
                <a:solidFill>
                  <a:schemeClr val="dk2"/>
                </a:solidFill>
                <a:latin typeface="Roboto"/>
                <a:ea typeface="Roboto"/>
                <a:cs typeface="Roboto"/>
                <a:sym typeface="Roboto"/>
              </a:rPr>
              <a:t> a disaster.</a:t>
            </a:r>
            <a:endParaRPr sz="1800">
              <a:solidFill>
                <a:schemeClr val="dk2"/>
              </a:solidFill>
              <a:latin typeface="Roboto"/>
              <a:ea typeface="Roboto"/>
              <a:cs typeface="Roboto"/>
              <a:sym typeface="Roboto"/>
            </a:endParaRPr>
          </a:p>
        </p:txBody>
      </p:sp>
      <p:sp>
        <p:nvSpPr>
          <p:cNvPr id="990" name="Google Shape;990;p119"/>
          <p:cNvSpPr txBox="1"/>
          <p:nvPr/>
        </p:nvSpPr>
        <p:spPr>
          <a:xfrm>
            <a:off x="4976200" y="2004350"/>
            <a:ext cx="3649200" cy="248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Focuses on the specific steps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an organization must take to resume work </a:t>
            </a:r>
            <a:r>
              <a:rPr b="1" lang="en" sz="1800">
                <a:solidFill>
                  <a:schemeClr val="dk2"/>
                </a:solidFill>
                <a:latin typeface="Roboto"/>
                <a:ea typeface="Roboto"/>
                <a:cs typeface="Roboto"/>
                <a:sym typeface="Roboto"/>
              </a:rPr>
              <a:t>after</a:t>
            </a:r>
            <a:r>
              <a:rPr lang="en" sz="1800">
                <a:solidFill>
                  <a:schemeClr val="dk2"/>
                </a:solidFill>
                <a:latin typeface="Roboto"/>
                <a:ea typeface="Roboto"/>
                <a:cs typeface="Roboto"/>
                <a:sym typeface="Roboto"/>
              </a:rPr>
              <a:t> a disaster. </a:t>
            </a:r>
            <a:endParaRPr sz="1800">
              <a:solidFill>
                <a:schemeClr val="dk2"/>
              </a:solidFill>
              <a:latin typeface="Roboto"/>
              <a:ea typeface="Roboto"/>
              <a:cs typeface="Roboto"/>
              <a:sym typeface="Roboto"/>
            </a:endParaRPr>
          </a:p>
        </p:txBody>
      </p:sp>
      <p:pic>
        <p:nvPicPr>
          <p:cNvPr id="991" name="Google Shape;991;p119"/>
          <p:cNvPicPr preferRelativeResize="0"/>
          <p:nvPr/>
        </p:nvPicPr>
        <p:blipFill rotWithShape="1">
          <a:blip r:embed="rId3">
            <a:alphaModFix/>
          </a:blip>
          <a:srcRect b="0" l="0" r="0" t="0"/>
          <a:stretch/>
        </p:blipFill>
        <p:spPr>
          <a:xfrm>
            <a:off x="4305138" y="1183050"/>
            <a:ext cx="827470" cy="3662574"/>
          </a:xfrm>
          <a:prstGeom prst="rect">
            <a:avLst/>
          </a:prstGeom>
          <a:noFill/>
          <a:ln>
            <a:noFill/>
          </a:ln>
        </p:spPr>
      </p:pic>
      <p:sp>
        <p:nvSpPr>
          <p:cNvPr id="992" name="Google Shape;992;p119"/>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chemeClr val="dk2"/>
                </a:solidFill>
                <a:latin typeface="Roboto"/>
                <a:ea typeface="Roboto"/>
                <a:cs typeface="Roboto"/>
                <a:sym typeface="Roboto"/>
              </a:rPr>
              <a:t>Business Continuity Planning vs. Disaster </a:t>
            </a:r>
            <a:r>
              <a:rPr b="1" lang="en" sz="2400">
                <a:solidFill>
                  <a:schemeClr val="dk2"/>
                </a:solidFill>
                <a:latin typeface="Roboto"/>
                <a:ea typeface="Roboto"/>
                <a:cs typeface="Roboto"/>
                <a:sym typeface="Roboto"/>
              </a:rPr>
              <a:t>Recovery</a:t>
            </a:r>
            <a:endParaRPr b="1" sz="2600">
              <a:solidFill>
                <a:schemeClr val="dk2"/>
              </a:solidFill>
              <a:latin typeface="Roboto"/>
              <a:ea typeface="Roboto"/>
              <a:cs typeface="Roboto"/>
              <a:sym typeface="Roboto"/>
            </a:endParaRPr>
          </a:p>
        </p:txBody>
      </p:sp>
      <p:sp>
        <p:nvSpPr>
          <p:cNvPr id="993" name="Google Shape;993;p119"/>
          <p:cNvSpPr txBox="1"/>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It is important to note the differences between BCP and DR. </a:t>
            </a:r>
            <a:endParaRPr sz="1800">
              <a:solidFill>
                <a:schemeClr val="dk2"/>
              </a:solidFill>
              <a:latin typeface="Roboto"/>
              <a:ea typeface="Roboto"/>
              <a:cs typeface="Roboto"/>
              <a:sym typeface="Roboto"/>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20"/>
          <p:cNvSpPr txBox="1"/>
          <p:nvPr>
            <p:ph type="title"/>
          </p:nvPr>
        </p:nvSpPr>
        <p:spPr>
          <a:xfrm>
            <a:off x="457200" y="239408"/>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Business Continuity Planning and Disaster Recovery</a:t>
            </a:r>
            <a:endParaRPr/>
          </a:p>
        </p:txBody>
      </p:sp>
      <p:cxnSp>
        <p:nvCxnSpPr>
          <p:cNvPr id="999" name="Google Shape;999;p120"/>
          <p:cNvCxnSpPr/>
          <p:nvPr/>
        </p:nvCxnSpPr>
        <p:spPr>
          <a:xfrm>
            <a:off x="30950" y="2087850"/>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1000" name="Google Shape;1000;p120"/>
          <p:cNvCxnSpPr/>
          <p:nvPr/>
        </p:nvCxnSpPr>
        <p:spPr>
          <a:xfrm>
            <a:off x="0" y="1299550"/>
            <a:ext cx="1045200" cy="0"/>
          </a:xfrm>
          <a:prstGeom prst="straightConnector1">
            <a:avLst/>
          </a:prstGeom>
          <a:noFill/>
          <a:ln cap="flat" cmpd="sng" w="19050">
            <a:solidFill>
              <a:srgbClr val="2E5E73"/>
            </a:solidFill>
            <a:prstDash val="solid"/>
            <a:round/>
            <a:headEnd len="med" w="med" type="none"/>
            <a:tailEnd len="med" w="med" type="oval"/>
          </a:ln>
        </p:spPr>
      </p:cxnSp>
      <p:cxnSp>
        <p:nvCxnSpPr>
          <p:cNvPr id="1001" name="Google Shape;1001;p120"/>
          <p:cNvCxnSpPr/>
          <p:nvPr/>
        </p:nvCxnSpPr>
        <p:spPr>
          <a:xfrm>
            <a:off x="0" y="2088625"/>
            <a:ext cx="1024500" cy="0"/>
          </a:xfrm>
          <a:prstGeom prst="straightConnector1">
            <a:avLst/>
          </a:prstGeom>
          <a:noFill/>
          <a:ln cap="flat" cmpd="sng" w="19050">
            <a:solidFill>
              <a:srgbClr val="2E5E73"/>
            </a:solidFill>
            <a:prstDash val="solid"/>
            <a:round/>
            <a:headEnd len="med" w="med" type="none"/>
            <a:tailEnd len="med" w="med" type="oval"/>
          </a:ln>
        </p:spPr>
      </p:cxnSp>
      <p:cxnSp>
        <p:nvCxnSpPr>
          <p:cNvPr id="1002" name="Google Shape;1002;p120"/>
          <p:cNvCxnSpPr/>
          <p:nvPr/>
        </p:nvCxnSpPr>
        <p:spPr>
          <a:xfrm>
            <a:off x="12" y="3075450"/>
            <a:ext cx="1014300" cy="0"/>
          </a:xfrm>
          <a:prstGeom prst="straightConnector1">
            <a:avLst/>
          </a:prstGeom>
          <a:noFill/>
          <a:ln cap="flat" cmpd="sng" w="19050">
            <a:solidFill>
              <a:srgbClr val="2E5E73"/>
            </a:solidFill>
            <a:prstDash val="solid"/>
            <a:round/>
            <a:headEnd len="med" w="med" type="none"/>
            <a:tailEnd len="med" w="med" type="oval"/>
          </a:ln>
        </p:spPr>
      </p:cxnSp>
      <p:cxnSp>
        <p:nvCxnSpPr>
          <p:cNvPr id="1003" name="Google Shape;1003;p120"/>
          <p:cNvCxnSpPr/>
          <p:nvPr/>
        </p:nvCxnSpPr>
        <p:spPr>
          <a:xfrm>
            <a:off x="0" y="4216475"/>
            <a:ext cx="1045200" cy="0"/>
          </a:xfrm>
          <a:prstGeom prst="straightConnector1">
            <a:avLst/>
          </a:prstGeom>
          <a:noFill/>
          <a:ln cap="flat" cmpd="sng" w="19050">
            <a:solidFill>
              <a:srgbClr val="2E5E73"/>
            </a:solidFill>
            <a:prstDash val="solid"/>
            <a:round/>
            <a:headEnd len="med" w="med" type="none"/>
            <a:tailEnd len="med" w="med" type="oval"/>
          </a:ln>
        </p:spPr>
      </p:cxnSp>
      <p:sp>
        <p:nvSpPr>
          <p:cNvPr id="1004" name="Google Shape;1004;p120"/>
          <p:cNvSpPr/>
          <p:nvPr/>
        </p:nvSpPr>
        <p:spPr>
          <a:xfrm>
            <a:off x="953325" y="1887775"/>
            <a:ext cx="7517100" cy="839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20"/>
          <p:cNvSpPr/>
          <p:nvPr/>
        </p:nvSpPr>
        <p:spPr>
          <a:xfrm>
            <a:off x="948225" y="2879038"/>
            <a:ext cx="7517100" cy="839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20"/>
          <p:cNvSpPr/>
          <p:nvPr/>
        </p:nvSpPr>
        <p:spPr>
          <a:xfrm>
            <a:off x="953325" y="4023625"/>
            <a:ext cx="7517100" cy="621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20"/>
          <p:cNvSpPr/>
          <p:nvPr/>
        </p:nvSpPr>
        <p:spPr>
          <a:xfrm>
            <a:off x="953325" y="1109550"/>
            <a:ext cx="7517100" cy="572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20"/>
          <p:cNvSpPr/>
          <p:nvPr/>
        </p:nvSpPr>
        <p:spPr>
          <a:xfrm>
            <a:off x="870800" y="405492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09" name="Google Shape;1009;p120"/>
          <p:cNvSpPr txBox="1"/>
          <p:nvPr/>
        </p:nvSpPr>
        <p:spPr>
          <a:xfrm>
            <a:off x="1193900" y="1129175"/>
            <a:ext cx="6952500" cy="40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010" name="Google Shape;1010;p120"/>
          <p:cNvSpPr txBox="1"/>
          <p:nvPr/>
        </p:nvSpPr>
        <p:spPr>
          <a:xfrm>
            <a:off x="1193900" y="1880725"/>
            <a:ext cx="6952500" cy="467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011" name="Google Shape;1011;p120"/>
          <p:cNvSpPr txBox="1"/>
          <p:nvPr/>
        </p:nvSpPr>
        <p:spPr>
          <a:xfrm>
            <a:off x="1188800" y="2875350"/>
            <a:ext cx="7061700" cy="839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012" name="Google Shape;1012;p120"/>
          <p:cNvSpPr txBox="1"/>
          <p:nvPr/>
        </p:nvSpPr>
        <p:spPr>
          <a:xfrm>
            <a:off x="1193900" y="4023325"/>
            <a:ext cx="7056600" cy="621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a:solidFill>
                <a:srgbClr val="2E5E73"/>
              </a:solidFill>
              <a:latin typeface="Roboto Light"/>
              <a:ea typeface="Roboto Light"/>
              <a:cs typeface="Roboto Light"/>
              <a:sym typeface="Roboto Light"/>
            </a:endParaRPr>
          </a:p>
        </p:txBody>
      </p:sp>
      <p:sp>
        <p:nvSpPr>
          <p:cNvPr id="1013" name="Google Shape;1013;p120"/>
          <p:cNvSpPr/>
          <p:nvPr/>
        </p:nvSpPr>
        <p:spPr>
          <a:xfrm>
            <a:off x="865700" y="2917585"/>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14" name="Google Shape;1014;p120"/>
          <p:cNvSpPr/>
          <p:nvPr/>
        </p:nvSpPr>
        <p:spPr>
          <a:xfrm>
            <a:off x="870800" y="192662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15" name="Google Shape;1015;p120"/>
          <p:cNvSpPr/>
          <p:nvPr/>
        </p:nvSpPr>
        <p:spPr>
          <a:xfrm>
            <a:off x="870800" y="114809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16" name="Google Shape;1016;p120"/>
          <p:cNvSpPr txBox="1"/>
          <p:nvPr/>
        </p:nvSpPr>
        <p:spPr>
          <a:xfrm>
            <a:off x="1354400" y="1099450"/>
            <a:ext cx="6896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BCP and DR both begin with a contingency planning policy and business impact analysis. </a:t>
            </a:r>
            <a:endParaRPr>
              <a:solidFill>
                <a:schemeClr val="dk2"/>
              </a:solidFill>
              <a:latin typeface="Roboto"/>
              <a:ea typeface="Roboto"/>
              <a:cs typeface="Roboto"/>
              <a:sym typeface="Roboto"/>
            </a:endParaRPr>
          </a:p>
        </p:txBody>
      </p:sp>
      <p:sp>
        <p:nvSpPr>
          <p:cNvPr id="1017" name="Google Shape;1017;p120"/>
          <p:cNvSpPr txBox="1"/>
          <p:nvPr/>
        </p:nvSpPr>
        <p:spPr>
          <a:xfrm>
            <a:off x="1354400" y="1880725"/>
            <a:ext cx="6896100" cy="7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Strategies for high-impact loss should consider high availability and redundancy options. For example, fully redundant load-balanced systems at alternate sites, data mirroring, and offsite database replication.</a:t>
            </a:r>
            <a:endParaRPr>
              <a:solidFill>
                <a:schemeClr val="dk2"/>
              </a:solidFill>
              <a:latin typeface="Roboto"/>
              <a:ea typeface="Roboto"/>
              <a:cs typeface="Roboto"/>
              <a:sym typeface="Roboto"/>
            </a:endParaRPr>
          </a:p>
        </p:txBody>
      </p:sp>
      <p:sp>
        <p:nvSpPr>
          <p:cNvPr id="1018" name="Google Shape;1018;p120"/>
          <p:cNvSpPr txBox="1"/>
          <p:nvPr/>
        </p:nvSpPr>
        <p:spPr>
          <a:xfrm>
            <a:off x="1349299" y="2864325"/>
            <a:ext cx="6807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High-availability options are normally expensive to set up, operate, and maintain and should be considered only for high-impact information systems categorized with a high-availability security objective.</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019" name="Google Shape;1019;p120"/>
          <p:cNvSpPr txBox="1"/>
          <p:nvPr/>
        </p:nvSpPr>
        <p:spPr>
          <a:xfrm>
            <a:off x="1354400" y="4023325"/>
            <a:ext cx="6717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Lower-impact information systems may be able to use less expensive contingency options and tolerate longer downtimes for recovery or restoration of data.</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3" name="Shape 1023"/>
        <p:cNvGrpSpPr/>
        <p:nvPr/>
      </p:nvGrpSpPr>
      <p:grpSpPr>
        <a:xfrm>
          <a:off x="0" y="0"/>
          <a:ext cx="0" cy="0"/>
          <a:chOff x="0" y="0"/>
          <a:chExt cx="0" cy="0"/>
        </a:xfrm>
      </p:grpSpPr>
      <p:sp>
        <p:nvSpPr>
          <p:cNvPr id="1024" name="Google Shape;1024;p121"/>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121"/>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1026" name="Google Shape;1026;p121"/>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The loss of confidentiality, integrity, or availability could be expected to have a </a:t>
            </a:r>
            <a:r>
              <a:rPr b="1" lang="en">
                <a:solidFill>
                  <a:schemeClr val="dk2"/>
                </a:solidFill>
                <a:latin typeface="Roboto"/>
                <a:ea typeface="Roboto"/>
                <a:cs typeface="Roboto"/>
                <a:sym typeface="Roboto"/>
              </a:rPr>
              <a:t>severe or catastrophic </a:t>
            </a:r>
            <a:r>
              <a:rPr lang="en">
                <a:solidFill>
                  <a:schemeClr val="dk2"/>
                </a:solidFill>
                <a:latin typeface="Roboto"/>
                <a:ea typeface="Roboto"/>
                <a:cs typeface="Roboto"/>
                <a:sym typeface="Roboto"/>
              </a:rPr>
              <a:t>adverse effect on organizational operations, assets,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and individuals.</a:t>
            </a:r>
            <a:endParaRPr>
              <a:solidFill>
                <a:schemeClr val="dk2"/>
              </a:solidFill>
              <a:latin typeface="Roboto"/>
              <a:ea typeface="Roboto"/>
              <a:cs typeface="Roboto"/>
              <a:sym typeface="Roboto"/>
            </a:endParaRPr>
          </a:p>
        </p:txBody>
      </p:sp>
      <p:sp>
        <p:nvSpPr>
          <p:cNvPr id="1027" name="Google Shape;1027;p121"/>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21"/>
          <p:cNvSpPr txBox="1"/>
          <p:nvPr/>
        </p:nvSpPr>
        <p:spPr>
          <a:xfrm>
            <a:off x="494250" y="190647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The loss of confidentiality, integrity, or availability could be expected to have a </a:t>
            </a:r>
            <a:r>
              <a:rPr b="1" lang="en">
                <a:solidFill>
                  <a:schemeClr val="dk2"/>
                </a:solidFill>
                <a:latin typeface="Roboto"/>
                <a:ea typeface="Roboto"/>
                <a:cs typeface="Roboto"/>
                <a:sym typeface="Roboto"/>
              </a:rPr>
              <a:t>limited</a:t>
            </a:r>
            <a:r>
              <a:rPr lang="en">
                <a:solidFill>
                  <a:schemeClr val="dk2"/>
                </a:solidFill>
                <a:latin typeface="Roboto"/>
                <a:ea typeface="Roboto"/>
                <a:cs typeface="Roboto"/>
                <a:sym typeface="Roboto"/>
              </a:rPr>
              <a:t> adverse effect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on organizational operations, assets,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and individuals.</a:t>
            </a:r>
            <a:endParaRPr>
              <a:solidFill>
                <a:schemeClr val="dk2"/>
              </a:solidFill>
              <a:latin typeface="Roboto"/>
              <a:ea typeface="Roboto"/>
              <a:cs typeface="Roboto"/>
              <a:sym typeface="Roboto"/>
            </a:endParaRPr>
          </a:p>
        </p:txBody>
      </p:sp>
      <p:sp>
        <p:nvSpPr>
          <p:cNvPr id="1029" name="Google Shape;1029;p121"/>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FFFFFF"/>
              </a:solidFill>
              <a:latin typeface="Roboto"/>
              <a:ea typeface="Roboto"/>
              <a:cs typeface="Roboto"/>
              <a:sym typeface="Roboto"/>
            </a:endParaRPr>
          </a:p>
        </p:txBody>
      </p:sp>
      <p:sp>
        <p:nvSpPr>
          <p:cNvPr id="1030" name="Google Shape;1030;p121"/>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121"/>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The loss of confidentiality, integrity, or availability could be expected to have a </a:t>
            </a:r>
            <a:r>
              <a:rPr b="1" lang="en">
                <a:solidFill>
                  <a:schemeClr val="dk2"/>
                </a:solidFill>
                <a:latin typeface="Roboto"/>
                <a:ea typeface="Roboto"/>
                <a:cs typeface="Roboto"/>
                <a:sym typeface="Roboto"/>
              </a:rPr>
              <a:t>serious</a:t>
            </a:r>
            <a:r>
              <a:rPr lang="en">
                <a:solidFill>
                  <a:schemeClr val="dk2"/>
                </a:solidFill>
                <a:latin typeface="Roboto"/>
                <a:ea typeface="Roboto"/>
                <a:cs typeface="Roboto"/>
                <a:sym typeface="Roboto"/>
              </a:rPr>
              <a:t> adverse effect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on organizational operations, assets,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and individuals. </a:t>
            </a:r>
            <a:endParaRPr>
              <a:solidFill>
                <a:schemeClr val="dk2"/>
              </a:solidFill>
              <a:latin typeface="Roboto"/>
              <a:ea typeface="Roboto"/>
              <a:cs typeface="Roboto"/>
              <a:sym typeface="Roboto"/>
            </a:endParaRPr>
          </a:p>
        </p:txBody>
      </p:sp>
      <p:sp>
        <p:nvSpPr>
          <p:cNvPr id="1032" name="Google Shape;1032;p121"/>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1033" name="Google Shape;1033;p121"/>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sp>
        <p:nvSpPr>
          <p:cNvPr id="1034" name="Google Shape;1034;p121"/>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1035" name="Google Shape;1035;p121"/>
          <p:cNvSpPr txBox="1"/>
          <p:nvPr/>
        </p:nvSpPr>
        <p:spPr>
          <a:xfrm>
            <a:off x="465975" y="134510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Low</a:t>
            </a:r>
            <a:endParaRPr sz="1800">
              <a:solidFill>
                <a:srgbClr val="FFFFFF"/>
              </a:solidFill>
              <a:latin typeface="Roboto"/>
              <a:ea typeface="Roboto"/>
              <a:cs typeface="Roboto"/>
              <a:sym typeface="Roboto"/>
            </a:endParaRPr>
          </a:p>
        </p:txBody>
      </p:sp>
      <p:sp>
        <p:nvSpPr>
          <p:cNvPr id="1036" name="Google Shape;1036;p121"/>
          <p:cNvSpPr txBox="1"/>
          <p:nvPr/>
        </p:nvSpPr>
        <p:spPr>
          <a:xfrm>
            <a:off x="3429000" y="134510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082D49"/>
                </a:solidFill>
                <a:latin typeface="Roboto"/>
                <a:ea typeface="Roboto"/>
                <a:cs typeface="Roboto"/>
                <a:sym typeface="Roboto"/>
              </a:rPr>
              <a:t>Moderate</a:t>
            </a:r>
            <a:endParaRPr sz="1800">
              <a:solidFill>
                <a:srgbClr val="082D49"/>
              </a:solidFill>
              <a:latin typeface="Roboto"/>
              <a:ea typeface="Roboto"/>
              <a:cs typeface="Roboto"/>
              <a:sym typeface="Roboto"/>
            </a:endParaRPr>
          </a:p>
        </p:txBody>
      </p:sp>
      <p:sp>
        <p:nvSpPr>
          <p:cNvPr id="1037" name="Google Shape;1037;p121"/>
          <p:cNvSpPr txBox="1"/>
          <p:nvPr/>
        </p:nvSpPr>
        <p:spPr>
          <a:xfrm>
            <a:off x="6343875" y="134510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High</a:t>
            </a:r>
            <a:endParaRPr sz="1800">
              <a:solidFill>
                <a:srgbClr val="FFFFFF"/>
              </a:solidFill>
              <a:latin typeface="Roboto"/>
              <a:ea typeface="Roboto"/>
              <a:cs typeface="Roboto"/>
              <a:sym typeface="Roboto"/>
            </a:endParaRPr>
          </a:p>
        </p:txBody>
      </p:sp>
      <p:sp>
        <p:nvSpPr>
          <p:cNvPr id="1038" name="Google Shape;1038;p121"/>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082D49"/>
                </a:solidFill>
                <a:latin typeface="Roboto"/>
                <a:ea typeface="Roboto"/>
                <a:cs typeface="Roboto"/>
                <a:sym typeface="Roboto"/>
              </a:rPr>
              <a:t>NIST Impact Levels</a:t>
            </a:r>
            <a:endParaRPr b="1" sz="2600">
              <a:solidFill>
                <a:srgbClr val="082D49"/>
              </a:solidFill>
              <a:latin typeface="Roboto"/>
              <a:ea typeface="Roboto"/>
              <a:cs typeface="Roboto"/>
              <a:sym typeface="Roboto"/>
            </a:endParaRPr>
          </a:p>
        </p:txBody>
      </p:sp>
      <p:sp>
        <p:nvSpPr>
          <p:cNvPr id="1039" name="Google Shape;1039;p121"/>
          <p:cNvSpPr txBox="1"/>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The following descriptions of impact levels originally appear in NIST’s </a:t>
            </a:r>
            <a:r>
              <a:rPr i="1" lang="en" sz="1800">
                <a:solidFill>
                  <a:srgbClr val="082D49"/>
                </a:solidFill>
                <a:latin typeface="Roboto"/>
                <a:ea typeface="Roboto"/>
                <a:cs typeface="Roboto"/>
                <a:sym typeface="Roboto"/>
              </a:rPr>
              <a:t>Contingency Planning Guide for Federal Information Systems</a:t>
            </a:r>
            <a:r>
              <a:rPr lang="en" sz="1800">
                <a:solidFill>
                  <a:srgbClr val="082D49"/>
                </a:solidFill>
                <a:latin typeface="Roboto"/>
                <a:ea typeface="Roboto"/>
                <a:cs typeface="Roboto"/>
                <a:sym typeface="Roboto"/>
              </a:rPr>
              <a:t>.</a:t>
            </a:r>
            <a:endParaRPr sz="1800">
              <a:solidFill>
                <a:srgbClr val="082D49"/>
              </a:solidFill>
              <a:latin typeface="Roboto"/>
              <a:ea typeface="Roboto"/>
              <a:cs typeface="Roboto"/>
              <a:sym typeface="Roboto"/>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22"/>
          <p:cNvSpPr txBox="1"/>
          <p:nvPr>
            <p:ph idx="4294967295" type="subTitle"/>
          </p:nvPr>
        </p:nvSpPr>
        <p:spPr>
          <a:xfrm>
            <a:off x="0" y="1039700"/>
            <a:ext cx="9187800" cy="3131700"/>
          </a:xfrm>
          <a:prstGeom prst="rect">
            <a:avLst/>
          </a:prstGeom>
        </p:spPr>
        <p:txBody>
          <a:bodyPr anchorCtr="0" anchor="ctr" bIns="91425" lIns="1828800" spcFirstLastPara="1" rIns="1828800" wrap="square" tIns="91425">
            <a:noAutofit/>
          </a:bodyPr>
          <a:lstStyle/>
          <a:p>
            <a:pPr indent="0" lvl="0" marL="0" rtl="0" algn="l">
              <a:lnSpc>
                <a:spcPct val="100000"/>
              </a:lnSpc>
              <a:spcBef>
                <a:spcPts val="0"/>
              </a:spcBef>
              <a:spcAft>
                <a:spcPts val="0"/>
              </a:spcAft>
              <a:buNone/>
            </a:pPr>
            <a:r>
              <a:rPr lang="en" sz="2700"/>
              <a:t>Contingency planning results in a </a:t>
            </a:r>
            <a:r>
              <a:rPr b="1" lang="en" sz="2700">
                <a:latin typeface="Roboto"/>
                <a:ea typeface="Roboto"/>
                <a:cs typeface="Roboto"/>
                <a:sym typeface="Roboto"/>
              </a:rPr>
              <a:t>contingency policy statement</a:t>
            </a:r>
            <a:r>
              <a:rPr lang="en" sz="2700"/>
              <a:t>, which establishes the organization’s framework and responsibilities for maintaining confidentiality, integrity, and availability of data. </a:t>
            </a:r>
            <a:endParaRPr sz="27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123"/>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082D49"/>
                </a:solidFill>
                <a:latin typeface="Roboto"/>
                <a:ea typeface="Roboto"/>
                <a:cs typeface="Roboto"/>
                <a:sym typeface="Roboto"/>
              </a:rPr>
              <a:t>Contingency Planning</a:t>
            </a:r>
            <a:endParaRPr b="1" sz="2600">
              <a:solidFill>
                <a:srgbClr val="082D49"/>
              </a:solidFill>
              <a:latin typeface="Roboto"/>
              <a:ea typeface="Roboto"/>
              <a:cs typeface="Roboto"/>
              <a:sym typeface="Roboto"/>
            </a:endParaRPr>
          </a:p>
          <a:p>
            <a:pPr indent="0" lvl="0" marL="0" rtl="0" algn="l">
              <a:spcBef>
                <a:spcPts val="0"/>
              </a:spcBef>
              <a:spcAft>
                <a:spcPts val="0"/>
              </a:spcAft>
              <a:buNone/>
            </a:pPr>
            <a:r>
              <a:t/>
            </a:r>
            <a:endParaRPr b="1" sz="2600">
              <a:solidFill>
                <a:srgbClr val="082D49"/>
              </a:solidFill>
              <a:latin typeface="Roboto"/>
              <a:ea typeface="Roboto"/>
              <a:cs typeface="Roboto"/>
              <a:sym typeface="Roboto"/>
            </a:endParaRPr>
          </a:p>
        </p:txBody>
      </p:sp>
      <p:sp>
        <p:nvSpPr>
          <p:cNvPr id="1050" name="Google Shape;1050;p123"/>
          <p:cNvSpPr txBox="1"/>
          <p:nvPr/>
        </p:nvSpPr>
        <p:spPr>
          <a:xfrm>
            <a:off x="457200"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rgbClr val="082D49"/>
                </a:solidFill>
                <a:latin typeface="Roboto"/>
                <a:ea typeface="Roboto"/>
                <a:cs typeface="Roboto"/>
                <a:sym typeface="Roboto"/>
              </a:rPr>
              <a:t>A contingency policy statement includes:</a:t>
            </a:r>
            <a:endParaRPr sz="1800">
              <a:solidFill>
                <a:srgbClr val="082D49"/>
              </a:solidFill>
              <a:latin typeface="Roboto"/>
              <a:ea typeface="Roboto"/>
              <a:cs typeface="Roboto"/>
              <a:sym typeface="Roboto"/>
            </a:endParaRPr>
          </a:p>
          <a:p>
            <a:pPr indent="0" lvl="0" marL="0" rtl="0" algn="l">
              <a:lnSpc>
                <a:spcPct val="115000"/>
              </a:lnSpc>
              <a:spcBef>
                <a:spcPts val="1200"/>
              </a:spcBef>
              <a:spcAft>
                <a:spcPts val="1200"/>
              </a:spcAft>
              <a:buNone/>
            </a:pPr>
            <a:r>
              <a:t/>
            </a:r>
            <a:endParaRPr sz="1800">
              <a:solidFill>
                <a:srgbClr val="082D49"/>
              </a:solidFill>
              <a:latin typeface="Roboto"/>
              <a:ea typeface="Roboto"/>
              <a:cs typeface="Roboto"/>
              <a:sym typeface="Roboto"/>
            </a:endParaRPr>
          </a:p>
        </p:txBody>
      </p:sp>
      <p:sp>
        <p:nvSpPr>
          <p:cNvPr id="1051" name="Google Shape;1051;p123"/>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23"/>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23"/>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23"/>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23"/>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1056" name="Google Shape;1056;p123"/>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1057" name="Google Shape;1057;p123"/>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1058" name="Google Shape;1058;p123"/>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1059" name="Google Shape;1059;p123"/>
          <p:cNvSpPr txBox="1"/>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Responsibilities of an emergency response team</a:t>
            </a:r>
            <a:endParaRPr sz="1800">
              <a:solidFill>
                <a:srgbClr val="082D49"/>
              </a:solidFill>
              <a:latin typeface="Roboto"/>
              <a:ea typeface="Roboto"/>
              <a:cs typeface="Roboto"/>
              <a:sym typeface="Roboto"/>
            </a:endParaRPr>
          </a:p>
        </p:txBody>
      </p:sp>
      <p:sp>
        <p:nvSpPr>
          <p:cNvPr id="1060" name="Google Shape;1060;p123"/>
          <p:cNvSpPr txBox="1"/>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Resource requirements</a:t>
            </a:r>
            <a:endParaRPr sz="1800">
              <a:solidFill>
                <a:srgbClr val="082D49"/>
              </a:solidFill>
              <a:latin typeface="Roboto"/>
              <a:ea typeface="Roboto"/>
              <a:cs typeface="Roboto"/>
              <a:sym typeface="Roboto"/>
            </a:endParaRPr>
          </a:p>
        </p:txBody>
      </p:sp>
      <p:sp>
        <p:nvSpPr>
          <p:cNvPr id="1061" name="Google Shape;1061;p123"/>
          <p:cNvSpPr txBox="1"/>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Training requirements</a:t>
            </a:r>
            <a:endParaRPr sz="1800">
              <a:solidFill>
                <a:srgbClr val="082D49"/>
              </a:solidFill>
              <a:latin typeface="Roboto"/>
              <a:ea typeface="Roboto"/>
              <a:cs typeface="Roboto"/>
              <a:sym typeface="Roboto"/>
            </a:endParaRPr>
          </a:p>
        </p:txBody>
      </p:sp>
      <p:sp>
        <p:nvSpPr>
          <p:cNvPr id="1062" name="Google Shape;1062;p123"/>
          <p:cNvSpPr txBox="1"/>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Schedule for plan maintenance</a:t>
            </a:r>
            <a:endParaRPr sz="1800">
              <a:solidFill>
                <a:srgbClr val="082D49"/>
              </a:solidFill>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24"/>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Business Impact Analysis (BIA) and Risk Assessment</a:t>
            </a:r>
            <a:endParaRPr b="1" sz="2600">
              <a:solidFill>
                <a:srgbClr val="082D49"/>
              </a:solidFill>
              <a:latin typeface="Roboto"/>
              <a:ea typeface="Roboto"/>
              <a:cs typeface="Roboto"/>
              <a:sym typeface="Roboto"/>
            </a:endParaRPr>
          </a:p>
        </p:txBody>
      </p:sp>
      <p:sp>
        <p:nvSpPr>
          <p:cNvPr id="1068" name="Google Shape;1068;p124"/>
          <p:cNvSpPr txBox="1"/>
          <p:nvPr/>
        </p:nvSpPr>
        <p:spPr>
          <a:xfrm>
            <a:off x="457200"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sz="1800">
                <a:solidFill>
                  <a:schemeClr val="dk2"/>
                </a:solidFill>
                <a:latin typeface="Roboto"/>
                <a:ea typeface="Roboto"/>
                <a:cs typeface="Roboto"/>
                <a:sym typeface="Roboto"/>
              </a:rPr>
              <a:t>A critical step in BCP and DR planning is BIA and risk assessment. Goals include:</a:t>
            </a:r>
            <a:endParaRPr sz="1800">
              <a:solidFill>
                <a:srgbClr val="082D49"/>
              </a:solidFill>
              <a:latin typeface="Roboto"/>
              <a:ea typeface="Roboto"/>
              <a:cs typeface="Roboto"/>
              <a:sym typeface="Roboto"/>
            </a:endParaRPr>
          </a:p>
        </p:txBody>
      </p:sp>
      <p:sp>
        <p:nvSpPr>
          <p:cNvPr id="1069" name="Google Shape;1069;p12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124"/>
          <p:cNvSpPr/>
          <p:nvPr/>
        </p:nvSpPr>
        <p:spPr>
          <a:xfrm>
            <a:off x="607675" y="27426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124"/>
          <p:cNvSpPr/>
          <p:nvPr/>
        </p:nvSpPr>
        <p:spPr>
          <a:xfrm>
            <a:off x="607675" y="22090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24"/>
          <p:cNvSpPr/>
          <p:nvPr/>
        </p:nvSpPr>
        <p:spPr>
          <a:xfrm>
            <a:off x="607675" y="16755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12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1074" name="Google Shape;1074;p124"/>
          <p:cNvSpPr/>
          <p:nvPr/>
        </p:nvSpPr>
        <p:spPr>
          <a:xfrm>
            <a:off x="457200" y="16756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1075" name="Google Shape;1075;p124"/>
          <p:cNvSpPr/>
          <p:nvPr/>
        </p:nvSpPr>
        <p:spPr>
          <a:xfrm>
            <a:off x="457200" y="22091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1076" name="Google Shape;1076;p124"/>
          <p:cNvSpPr/>
          <p:nvPr/>
        </p:nvSpPr>
        <p:spPr>
          <a:xfrm>
            <a:off x="457200" y="27426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1077" name="Google Shape;1077;p124"/>
          <p:cNvSpPr txBox="1"/>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Identifying key processes and functions of the business.</a:t>
            </a:r>
            <a:endParaRPr sz="1800">
              <a:solidFill>
                <a:srgbClr val="082D49"/>
              </a:solidFill>
              <a:latin typeface="Roboto"/>
              <a:ea typeface="Roboto"/>
              <a:cs typeface="Roboto"/>
              <a:sym typeface="Roboto"/>
            </a:endParaRPr>
          </a:p>
        </p:txBody>
      </p:sp>
      <p:sp>
        <p:nvSpPr>
          <p:cNvPr id="1078" name="Google Shape;1078;p124"/>
          <p:cNvSpPr txBox="1"/>
          <p:nvPr/>
        </p:nvSpPr>
        <p:spPr>
          <a:xfrm>
            <a:off x="914400" y="1721887"/>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Establishing a detailed list of requirements for business recovery.</a:t>
            </a:r>
            <a:endParaRPr sz="1800">
              <a:solidFill>
                <a:srgbClr val="082D49"/>
              </a:solidFill>
              <a:latin typeface="Roboto"/>
              <a:ea typeface="Roboto"/>
              <a:cs typeface="Roboto"/>
              <a:sym typeface="Roboto"/>
            </a:endParaRPr>
          </a:p>
        </p:txBody>
      </p:sp>
      <p:sp>
        <p:nvSpPr>
          <p:cNvPr id="1079" name="Google Shape;1079;p124"/>
          <p:cNvSpPr txBox="1"/>
          <p:nvPr/>
        </p:nvSpPr>
        <p:spPr>
          <a:xfrm>
            <a:off x="914400" y="2255023"/>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Determining the resource requirements needed to resume key processes. </a:t>
            </a:r>
            <a:endParaRPr sz="1800">
              <a:solidFill>
                <a:srgbClr val="082D49"/>
              </a:solidFill>
              <a:latin typeface="Roboto"/>
              <a:ea typeface="Roboto"/>
              <a:cs typeface="Roboto"/>
              <a:sym typeface="Roboto"/>
            </a:endParaRPr>
          </a:p>
        </p:txBody>
      </p:sp>
      <p:sp>
        <p:nvSpPr>
          <p:cNvPr id="1080" name="Google Shape;1080;p124"/>
          <p:cNvSpPr txBox="1"/>
          <p:nvPr/>
        </p:nvSpPr>
        <p:spPr>
          <a:xfrm>
            <a:off x="914400" y="2788160"/>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Evaluating the impact on daily operations.</a:t>
            </a:r>
            <a:endParaRPr sz="1800">
              <a:solidFill>
                <a:srgbClr val="082D49"/>
              </a:solidFill>
              <a:latin typeface="Roboto"/>
              <a:ea typeface="Roboto"/>
              <a:cs typeface="Roboto"/>
              <a:sym typeface="Roboto"/>
            </a:endParaRPr>
          </a:p>
        </p:txBody>
      </p:sp>
      <p:sp>
        <p:nvSpPr>
          <p:cNvPr id="1081" name="Google Shape;1081;p124"/>
          <p:cNvSpPr/>
          <p:nvPr/>
        </p:nvSpPr>
        <p:spPr>
          <a:xfrm>
            <a:off x="607675" y="4363831"/>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24"/>
          <p:cNvSpPr/>
          <p:nvPr/>
        </p:nvSpPr>
        <p:spPr>
          <a:xfrm>
            <a:off x="607675" y="3830306"/>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24"/>
          <p:cNvSpPr/>
          <p:nvPr/>
        </p:nvSpPr>
        <p:spPr>
          <a:xfrm>
            <a:off x="607675" y="3296782"/>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24"/>
          <p:cNvSpPr/>
          <p:nvPr/>
        </p:nvSpPr>
        <p:spPr>
          <a:xfrm>
            <a:off x="457200" y="3296821"/>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5</a:t>
            </a:r>
            <a:endParaRPr b="0" i="0" sz="1800" u="none" cap="none" strike="noStrike">
              <a:solidFill>
                <a:srgbClr val="082D49"/>
              </a:solidFill>
              <a:latin typeface="Arial"/>
              <a:ea typeface="Arial"/>
              <a:cs typeface="Arial"/>
              <a:sym typeface="Arial"/>
            </a:endParaRPr>
          </a:p>
        </p:txBody>
      </p:sp>
      <p:sp>
        <p:nvSpPr>
          <p:cNvPr id="1085" name="Google Shape;1085;p124"/>
          <p:cNvSpPr/>
          <p:nvPr/>
        </p:nvSpPr>
        <p:spPr>
          <a:xfrm>
            <a:off x="457200" y="383033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6</a:t>
            </a:r>
            <a:endParaRPr b="0" i="0" sz="1800" u="none" cap="none" strike="noStrike">
              <a:solidFill>
                <a:srgbClr val="082D49"/>
              </a:solidFill>
              <a:latin typeface="Arial"/>
              <a:ea typeface="Arial"/>
              <a:cs typeface="Arial"/>
              <a:sym typeface="Arial"/>
            </a:endParaRPr>
          </a:p>
        </p:txBody>
      </p:sp>
      <p:sp>
        <p:nvSpPr>
          <p:cNvPr id="1086" name="Google Shape;1086;p124"/>
          <p:cNvSpPr/>
          <p:nvPr/>
        </p:nvSpPr>
        <p:spPr>
          <a:xfrm>
            <a:off x="457200" y="436384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7</a:t>
            </a:r>
            <a:endParaRPr b="0" i="0" sz="1800" u="none" cap="none" strike="noStrike">
              <a:solidFill>
                <a:srgbClr val="082D49"/>
              </a:solidFill>
              <a:latin typeface="Arial"/>
              <a:ea typeface="Arial"/>
              <a:cs typeface="Arial"/>
              <a:sym typeface="Arial"/>
            </a:endParaRPr>
          </a:p>
        </p:txBody>
      </p:sp>
      <p:sp>
        <p:nvSpPr>
          <p:cNvPr id="1087" name="Google Shape;1087;p124"/>
          <p:cNvSpPr txBox="1"/>
          <p:nvPr/>
        </p:nvSpPr>
        <p:spPr>
          <a:xfrm>
            <a:off x="914400" y="3343094"/>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Developing priorities and classifications of processes and functions.</a:t>
            </a:r>
            <a:endParaRPr sz="1800">
              <a:solidFill>
                <a:srgbClr val="082D49"/>
              </a:solidFill>
              <a:latin typeface="Roboto"/>
              <a:ea typeface="Roboto"/>
              <a:cs typeface="Roboto"/>
              <a:sym typeface="Roboto"/>
            </a:endParaRPr>
          </a:p>
        </p:txBody>
      </p:sp>
      <p:sp>
        <p:nvSpPr>
          <p:cNvPr id="1088" name="Google Shape;1088;p124"/>
          <p:cNvSpPr txBox="1"/>
          <p:nvPr/>
        </p:nvSpPr>
        <p:spPr>
          <a:xfrm>
            <a:off x="914400" y="3876230"/>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Developing recovery time requirements.</a:t>
            </a:r>
            <a:endParaRPr sz="1800">
              <a:solidFill>
                <a:srgbClr val="082D49"/>
              </a:solidFill>
              <a:latin typeface="Roboto"/>
              <a:ea typeface="Roboto"/>
              <a:cs typeface="Roboto"/>
              <a:sym typeface="Roboto"/>
            </a:endParaRPr>
          </a:p>
        </p:txBody>
      </p:sp>
      <p:sp>
        <p:nvSpPr>
          <p:cNvPr id="1089" name="Google Shape;1089;p124"/>
          <p:cNvSpPr txBox="1"/>
          <p:nvPr/>
        </p:nvSpPr>
        <p:spPr>
          <a:xfrm>
            <a:off x="914400" y="4409367"/>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Determining the financial, operational, and legal impact of disruptions.</a:t>
            </a:r>
            <a:endParaRPr sz="1800">
              <a:solidFill>
                <a:srgbClr val="082D49"/>
              </a:solidFill>
              <a:latin typeface="Roboto"/>
              <a:ea typeface="Roboto"/>
              <a:cs typeface="Roboto"/>
              <a:sym typeface="Roboto"/>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25"/>
          <p:cNvSpPr txBox="1"/>
          <p:nvPr>
            <p:ph type="title"/>
          </p:nvPr>
        </p:nvSpPr>
        <p:spPr>
          <a:xfrm>
            <a:off x="457200" y="2964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BIA Metrics</a:t>
            </a:r>
            <a:endParaRPr/>
          </a:p>
        </p:txBody>
      </p:sp>
      <p:sp>
        <p:nvSpPr>
          <p:cNvPr id="1095" name="Google Shape;1095;p125"/>
          <p:cNvSpPr txBox="1"/>
          <p:nvPr>
            <p:ph idx="1" type="body"/>
          </p:nvPr>
        </p:nvSpPr>
        <p:spPr>
          <a:xfrm>
            <a:off x="457150" y="760675"/>
            <a:ext cx="8375100" cy="572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The results of the BIA impacts how the DR plan develops. In particular, it informs the following metrics: </a:t>
            </a:r>
            <a:endParaRPr/>
          </a:p>
        </p:txBody>
      </p:sp>
      <p:pic>
        <p:nvPicPr>
          <p:cNvPr id="1096" name="Google Shape;1096;p125"/>
          <p:cNvPicPr preferRelativeResize="0"/>
          <p:nvPr/>
        </p:nvPicPr>
        <p:blipFill>
          <a:blip r:embed="rId3">
            <a:alphaModFix/>
          </a:blip>
          <a:stretch>
            <a:fillRect/>
          </a:stretch>
        </p:blipFill>
        <p:spPr>
          <a:xfrm>
            <a:off x="4305138" y="1259250"/>
            <a:ext cx="827470" cy="3662574"/>
          </a:xfrm>
          <a:prstGeom prst="rect">
            <a:avLst/>
          </a:prstGeom>
          <a:noFill/>
          <a:ln>
            <a:noFill/>
          </a:ln>
        </p:spPr>
      </p:pic>
      <p:sp>
        <p:nvSpPr>
          <p:cNvPr id="1097" name="Google Shape;1097;p125"/>
          <p:cNvSpPr/>
          <p:nvPr/>
        </p:nvSpPr>
        <p:spPr>
          <a:xfrm>
            <a:off x="457160" y="1497500"/>
            <a:ext cx="3848100" cy="4767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1098" name="Google Shape;1098;p125"/>
          <p:cNvSpPr/>
          <p:nvPr/>
        </p:nvSpPr>
        <p:spPr>
          <a:xfrm rot="10800000">
            <a:off x="593369" y="1886288"/>
            <a:ext cx="261029" cy="144694"/>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099" name="Google Shape;1099;p125"/>
          <p:cNvSpPr txBox="1"/>
          <p:nvPr>
            <p:ph idx="4294967295" type="subTitle"/>
          </p:nvPr>
        </p:nvSpPr>
        <p:spPr>
          <a:xfrm>
            <a:off x="-12300" y="2212050"/>
            <a:ext cx="4298400" cy="2544600"/>
          </a:xfrm>
          <a:prstGeom prst="rect">
            <a:avLst/>
          </a:prstGeom>
        </p:spPr>
        <p:txBody>
          <a:bodyPr anchorCtr="0" anchor="t" bIns="0" lIns="457200" spcFirstLastPara="1" rIns="457200" wrap="square" tIns="0">
            <a:noAutofit/>
          </a:bodyPr>
          <a:lstStyle/>
          <a:p>
            <a:pPr indent="0" lvl="0" marL="0" rtl="0" algn="l">
              <a:spcBef>
                <a:spcPts val="0"/>
              </a:spcBef>
              <a:spcAft>
                <a:spcPts val="0"/>
              </a:spcAft>
              <a:buNone/>
            </a:pPr>
            <a:r>
              <a:rPr lang="en" sz="1400"/>
              <a:t>Amount of data that a business can afford to lose or recover (given the most recent backup copy of the data) after a disruption or system outage.</a:t>
            </a:r>
            <a:endParaRPr sz="1400"/>
          </a:p>
          <a:p>
            <a:pPr indent="0" lvl="0" marL="0" rtl="0" algn="l">
              <a:spcBef>
                <a:spcPts val="1000"/>
              </a:spcBef>
              <a:spcAft>
                <a:spcPts val="0"/>
              </a:spcAft>
              <a:buNone/>
            </a:pPr>
            <a:r>
              <a:rPr b="1" lang="en" sz="1400">
                <a:latin typeface="Roboto"/>
                <a:ea typeface="Roboto"/>
                <a:cs typeface="Roboto"/>
                <a:sym typeface="Roboto"/>
              </a:rPr>
              <a:t>For example</a:t>
            </a:r>
            <a:r>
              <a:rPr b="1" lang="en" sz="1400"/>
              <a:t>:</a:t>
            </a:r>
            <a:r>
              <a:rPr lang="en" sz="1400"/>
              <a:t> If a company performs weekly backups, it can tolerate or recover from a week’s loss of data. </a:t>
            </a:r>
            <a:endParaRPr sz="1400"/>
          </a:p>
        </p:txBody>
      </p:sp>
      <p:sp>
        <p:nvSpPr>
          <p:cNvPr id="1100" name="Google Shape;1100;p125"/>
          <p:cNvSpPr txBox="1"/>
          <p:nvPr>
            <p:ph idx="4294967295" type="subTitle"/>
          </p:nvPr>
        </p:nvSpPr>
        <p:spPr>
          <a:xfrm>
            <a:off x="4462150" y="2104650"/>
            <a:ext cx="4877400" cy="2544600"/>
          </a:xfrm>
          <a:prstGeom prst="rect">
            <a:avLst/>
          </a:prstGeom>
        </p:spPr>
        <p:txBody>
          <a:bodyPr anchorCtr="0" anchor="t" bIns="0" lIns="457200" spcFirstLastPara="1" rIns="457200" wrap="square" tIns="0">
            <a:noAutofit/>
          </a:bodyPr>
          <a:lstStyle/>
          <a:p>
            <a:pPr indent="0" lvl="0" marL="0" rtl="0" algn="l">
              <a:spcBef>
                <a:spcPts val="0"/>
              </a:spcBef>
              <a:spcAft>
                <a:spcPts val="0"/>
              </a:spcAft>
              <a:buClr>
                <a:schemeClr val="dk1"/>
              </a:buClr>
              <a:buSzPts val="1100"/>
              <a:buFont typeface="Arial"/>
              <a:buNone/>
            </a:pPr>
            <a:r>
              <a:rPr lang="en" sz="1400"/>
              <a:t>Total amount of time a system can afford </a:t>
            </a:r>
            <a:br>
              <a:rPr lang="en" sz="1400"/>
            </a:br>
            <a:r>
              <a:rPr lang="en" sz="1400"/>
              <a:t>to be unavailable for users and the business. </a:t>
            </a:r>
            <a:endParaRPr sz="1400"/>
          </a:p>
          <a:p>
            <a:pPr indent="0" lvl="0" marL="0" rtl="0" algn="l">
              <a:spcBef>
                <a:spcPts val="1000"/>
              </a:spcBef>
              <a:spcAft>
                <a:spcPts val="0"/>
              </a:spcAft>
              <a:buNone/>
            </a:pPr>
            <a:r>
              <a:rPr b="1" lang="en" sz="1400">
                <a:latin typeface="Roboto"/>
                <a:ea typeface="Roboto"/>
                <a:cs typeface="Roboto"/>
                <a:sym typeface="Roboto"/>
              </a:rPr>
              <a:t>Recovery time objective (RTO):</a:t>
            </a:r>
            <a:r>
              <a:rPr lang="en" sz="1400"/>
              <a:t> Maximum tolerable amount of time needed to bring all critical systems back online after a disaster occurs. </a:t>
            </a:r>
            <a:endParaRPr sz="1400"/>
          </a:p>
          <a:p>
            <a:pPr indent="0" lvl="0" marL="0" rtl="0" algn="l">
              <a:spcBef>
                <a:spcPts val="1000"/>
              </a:spcBef>
              <a:spcAft>
                <a:spcPts val="0"/>
              </a:spcAft>
              <a:buClr>
                <a:schemeClr val="dk1"/>
              </a:buClr>
              <a:buSzPts val="1100"/>
              <a:buFont typeface="Arial"/>
              <a:buNone/>
            </a:pPr>
            <a:r>
              <a:rPr b="1" lang="en" sz="1400">
                <a:latin typeface="Roboto"/>
                <a:ea typeface="Roboto"/>
                <a:cs typeface="Roboto"/>
                <a:sym typeface="Roboto"/>
              </a:rPr>
              <a:t>Work recovery time (WRT):</a:t>
            </a:r>
            <a:r>
              <a:rPr lang="en" sz="1400"/>
              <a:t> Time available to get the systems working again. WRT is the remainder of the MTD after the RTO. If MTD is four days and RTO is one day, WRT is three days. </a:t>
            </a:r>
            <a:endParaRPr sz="1400"/>
          </a:p>
          <a:p>
            <a:pPr indent="0" lvl="0" marL="0" rtl="0" algn="l">
              <a:spcBef>
                <a:spcPts val="0"/>
              </a:spcBef>
              <a:spcAft>
                <a:spcPts val="0"/>
              </a:spcAft>
              <a:buNone/>
            </a:pPr>
            <a:r>
              <a:t/>
            </a:r>
            <a:endParaRPr>
              <a:latin typeface="Roboto"/>
              <a:ea typeface="Roboto"/>
              <a:cs typeface="Roboto"/>
              <a:sym typeface="Roboto"/>
            </a:endParaRPr>
          </a:p>
        </p:txBody>
      </p:sp>
      <p:sp>
        <p:nvSpPr>
          <p:cNvPr id="1101" name="Google Shape;1101;p125"/>
          <p:cNvSpPr txBox="1"/>
          <p:nvPr>
            <p:ph idx="4294967295" type="subTitle"/>
          </p:nvPr>
        </p:nvSpPr>
        <p:spPr>
          <a:xfrm>
            <a:off x="457150" y="1509338"/>
            <a:ext cx="3848100" cy="476700"/>
          </a:xfrm>
          <a:prstGeom prst="rect">
            <a:avLst/>
          </a:prstGeom>
          <a:noFill/>
        </p:spPr>
        <p:txBody>
          <a:bodyPr anchorCtr="0" anchor="t" bIns="0" lIns="182875" spcFirstLastPara="1" rIns="0" wrap="square" tIns="91425">
            <a:noAutofit/>
          </a:bodyPr>
          <a:lstStyle/>
          <a:p>
            <a:pPr indent="0" lvl="0" marL="0" rtl="0" algn="l">
              <a:spcBef>
                <a:spcPts val="0"/>
              </a:spcBef>
              <a:spcAft>
                <a:spcPts val="0"/>
              </a:spcAft>
              <a:buNone/>
            </a:pPr>
            <a:r>
              <a:rPr lang="en" sz="1600">
                <a:solidFill>
                  <a:schemeClr val="lt1"/>
                </a:solidFill>
                <a:latin typeface="Roboto Medium"/>
                <a:ea typeface="Roboto Medium"/>
                <a:cs typeface="Roboto Medium"/>
                <a:sym typeface="Roboto Medium"/>
              </a:rPr>
              <a:t>Recovery Point Objective (RPO)</a:t>
            </a:r>
            <a:endParaRPr sz="1600">
              <a:solidFill>
                <a:schemeClr val="lt1"/>
              </a:solidFill>
              <a:latin typeface="Roboto Medium"/>
              <a:ea typeface="Roboto Medium"/>
              <a:cs typeface="Roboto Medium"/>
              <a:sym typeface="Roboto Medium"/>
            </a:endParaRPr>
          </a:p>
        </p:txBody>
      </p:sp>
      <p:sp>
        <p:nvSpPr>
          <p:cNvPr id="1102" name="Google Shape;1102;p125"/>
          <p:cNvSpPr/>
          <p:nvPr/>
        </p:nvSpPr>
        <p:spPr>
          <a:xfrm>
            <a:off x="4876760" y="1480963"/>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1103" name="Google Shape;1103;p125"/>
          <p:cNvSpPr/>
          <p:nvPr/>
        </p:nvSpPr>
        <p:spPr>
          <a:xfrm rot="10800000">
            <a:off x="5012969" y="1869751"/>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25"/>
          <p:cNvSpPr txBox="1"/>
          <p:nvPr>
            <p:ph idx="4294967295" type="subTitle"/>
          </p:nvPr>
        </p:nvSpPr>
        <p:spPr>
          <a:xfrm>
            <a:off x="4876750" y="1492800"/>
            <a:ext cx="3848100" cy="476700"/>
          </a:xfrm>
          <a:prstGeom prst="rect">
            <a:avLst/>
          </a:prstGeom>
          <a:noFill/>
        </p:spPr>
        <p:txBody>
          <a:bodyPr anchorCtr="0" anchor="t" bIns="0" lIns="182875" spcFirstLastPara="1" rIns="0" wrap="square" tIns="91425">
            <a:noAutofit/>
          </a:bodyPr>
          <a:lstStyle/>
          <a:p>
            <a:pPr indent="0" lvl="0" marL="0" rtl="0" algn="l">
              <a:spcBef>
                <a:spcPts val="0"/>
              </a:spcBef>
              <a:spcAft>
                <a:spcPts val="0"/>
              </a:spcAft>
              <a:buNone/>
            </a:pPr>
            <a:r>
              <a:rPr lang="en" sz="1600">
                <a:solidFill>
                  <a:schemeClr val="lt1"/>
                </a:solidFill>
                <a:latin typeface="Roboto Medium"/>
                <a:ea typeface="Roboto Medium"/>
                <a:cs typeface="Roboto Medium"/>
                <a:sym typeface="Roboto Medium"/>
              </a:rPr>
              <a:t>Maximum Tolerable Downtime (MTD)</a:t>
            </a:r>
            <a:endParaRPr sz="1600">
              <a:solidFill>
                <a:schemeClr val="lt1"/>
              </a:solidFill>
              <a:latin typeface="Roboto Medium"/>
              <a:ea typeface="Roboto Medium"/>
              <a:cs typeface="Roboto Medium"/>
              <a:sym typeface="Roboto Medium"/>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8" name="Shape 1108"/>
        <p:cNvGrpSpPr/>
        <p:nvPr/>
      </p:nvGrpSpPr>
      <p:grpSpPr>
        <a:xfrm>
          <a:off x="0" y="0"/>
          <a:ext cx="0" cy="0"/>
          <a:chOff x="0" y="0"/>
          <a:chExt cx="0" cy="0"/>
        </a:xfrm>
      </p:grpSpPr>
      <p:cxnSp>
        <p:nvCxnSpPr>
          <p:cNvPr id="1109" name="Google Shape;1109;p126"/>
          <p:cNvCxnSpPr/>
          <p:nvPr/>
        </p:nvCxnSpPr>
        <p:spPr>
          <a:xfrm>
            <a:off x="1272575" y="1752250"/>
            <a:ext cx="0" cy="1391700"/>
          </a:xfrm>
          <a:prstGeom prst="straightConnector1">
            <a:avLst/>
          </a:prstGeom>
          <a:noFill/>
          <a:ln cap="flat" cmpd="sng" w="28575">
            <a:solidFill>
              <a:schemeClr val="dk2"/>
            </a:solidFill>
            <a:prstDash val="solid"/>
            <a:round/>
            <a:headEnd len="med" w="med" type="none"/>
            <a:tailEnd len="med" w="med" type="none"/>
          </a:ln>
        </p:spPr>
      </p:cxnSp>
      <p:cxnSp>
        <p:nvCxnSpPr>
          <p:cNvPr id="1110" name="Google Shape;1110;p126"/>
          <p:cNvCxnSpPr/>
          <p:nvPr/>
        </p:nvCxnSpPr>
        <p:spPr>
          <a:xfrm>
            <a:off x="3208575" y="1752250"/>
            <a:ext cx="0" cy="1391700"/>
          </a:xfrm>
          <a:prstGeom prst="straightConnector1">
            <a:avLst/>
          </a:prstGeom>
          <a:noFill/>
          <a:ln cap="flat" cmpd="sng" w="28575">
            <a:solidFill>
              <a:schemeClr val="dk2"/>
            </a:solidFill>
            <a:prstDash val="solid"/>
            <a:round/>
            <a:headEnd len="med" w="med" type="none"/>
            <a:tailEnd len="med" w="med" type="none"/>
          </a:ln>
        </p:spPr>
      </p:cxnSp>
      <p:cxnSp>
        <p:nvCxnSpPr>
          <p:cNvPr id="1111" name="Google Shape;1111;p126"/>
          <p:cNvCxnSpPr/>
          <p:nvPr/>
        </p:nvCxnSpPr>
        <p:spPr>
          <a:xfrm>
            <a:off x="6043750" y="1752250"/>
            <a:ext cx="0" cy="1391700"/>
          </a:xfrm>
          <a:prstGeom prst="straightConnector1">
            <a:avLst/>
          </a:prstGeom>
          <a:noFill/>
          <a:ln cap="flat" cmpd="sng" w="28575">
            <a:solidFill>
              <a:schemeClr val="dk2"/>
            </a:solidFill>
            <a:prstDash val="solid"/>
            <a:round/>
            <a:headEnd len="med" w="med" type="none"/>
            <a:tailEnd len="med" w="med" type="none"/>
          </a:ln>
        </p:spPr>
      </p:cxnSp>
      <p:cxnSp>
        <p:nvCxnSpPr>
          <p:cNvPr id="1112" name="Google Shape;1112;p126"/>
          <p:cNvCxnSpPr/>
          <p:nvPr/>
        </p:nvCxnSpPr>
        <p:spPr>
          <a:xfrm>
            <a:off x="8006400" y="1752250"/>
            <a:ext cx="0" cy="1391700"/>
          </a:xfrm>
          <a:prstGeom prst="straightConnector1">
            <a:avLst/>
          </a:prstGeom>
          <a:noFill/>
          <a:ln cap="flat" cmpd="sng" w="28575">
            <a:solidFill>
              <a:schemeClr val="dk2"/>
            </a:solidFill>
            <a:prstDash val="solid"/>
            <a:round/>
            <a:headEnd len="med" w="med" type="none"/>
            <a:tailEnd len="med" w="med" type="none"/>
          </a:ln>
        </p:spPr>
      </p:cxnSp>
      <p:sp>
        <p:nvSpPr>
          <p:cNvPr id="1113" name="Google Shape;1113;p126"/>
          <p:cNvSpPr txBox="1"/>
          <p:nvPr>
            <p:ph type="title"/>
          </p:nvPr>
        </p:nvSpPr>
        <p:spPr>
          <a:xfrm>
            <a:off x="521100" y="2320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BIA Metrics</a:t>
            </a:r>
            <a:endParaRPr/>
          </a:p>
        </p:txBody>
      </p:sp>
      <p:sp>
        <p:nvSpPr>
          <p:cNvPr id="1114" name="Google Shape;1114;p126"/>
          <p:cNvSpPr txBox="1"/>
          <p:nvPr>
            <p:ph idx="4294967295" type="subTitle"/>
          </p:nvPr>
        </p:nvSpPr>
        <p:spPr>
          <a:xfrm>
            <a:off x="-12300" y="4916650"/>
            <a:ext cx="7971900" cy="22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i="1" lang="en" u="sng">
                <a:solidFill>
                  <a:srgbClr val="FFFFFF"/>
                </a:solidFill>
                <a:latin typeface="Roboto"/>
                <a:ea typeface="Roboto"/>
                <a:cs typeface="Roboto"/>
                <a:sym typeface="Roboto"/>
                <a:hlinkClick r:id="rId3">
                  <a:extLst>
                    <a:ext uri="{A12FA001-AC4F-418D-AE19-62706E023703}">
                      <ahyp:hlinkClr val="tx"/>
                    </a:ext>
                  </a:extLst>
                </a:hlinkClick>
              </a:rPr>
              <a:t>Source</a:t>
            </a:r>
            <a:endParaRPr i="1">
              <a:solidFill>
                <a:srgbClr val="FFFFFF"/>
              </a:solidFill>
              <a:latin typeface="Roboto"/>
              <a:ea typeface="Roboto"/>
              <a:cs typeface="Roboto"/>
              <a:sym typeface="Roboto"/>
            </a:endParaRPr>
          </a:p>
        </p:txBody>
      </p:sp>
      <p:sp>
        <p:nvSpPr>
          <p:cNvPr id="1115" name="Google Shape;1115;p126"/>
          <p:cNvSpPr txBox="1"/>
          <p:nvPr/>
        </p:nvSpPr>
        <p:spPr>
          <a:xfrm>
            <a:off x="3208575" y="974900"/>
            <a:ext cx="4797900" cy="42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MTD</a:t>
            </a:r>
            <a:endParaRPr b="1" sz="1800">
              <a:solidFill>
                <a:schemeClr val="dk2"/>
              </a:solidFill>
              <a:latin typeface="Roboto"/>
              <a:ea typeface="Roboto"/>
              <a:cs typeface="Roboto"/>
              <a:sym typeface="Roboto"/>
            </a:endParaRPr>
          </a:p>
        </p:txBody>
      </p:sp>
      <p:sp>
        <p:nvSpPr>
          <p:cNvPr id="1116" name="Google Shape;1116;p126"/>
          <p:cNvSpPr txBox="1"/>
          <p:nvPr/>
        </p:nvSpPr>
        <p:spPr>
          <a:xfrm>
            <a:off x="1272575" y="1697525"/>
            <a:ext cx="1768800" cy="42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RPO</a:t>
            </a:r>
            <a:endParaRPr b="1" sz="1600">
              <a:solidFill>
                <a:schemeClr val="dk2"/>
              </a:solidFill>
              <a:latin typeface="Roboto"/>
              <a:ea typeface="Roboto"/>
              <a:cs typeface="Roboto"/>
              <a:sym typeface="Roboto"/>
            </a:endParaRPr>
          </a:p>
        </p:txBody>
      </p:sp>
      <p:sp>
        <p:nvSpPr>
          <p:cNvPr id="1117" name="Google Shape;1117;p126"/>
          <p:cNvSpPr txBox="1"/>
          <p:nvPr/>
        </p:nvSpPr>
        <p:spPr>
          <a:xfrm>
            <a:off x="3674550" y="1697525"/>
            <a:ext cx="1794900" cy="42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RTO</a:t>
            </a:r>
            <a:endParaRPr b="1" sz="1600">
              <a:solidFill>
                <a:schemeClr val="dk2"/>
              </a:solidFill>
              <a:latin typeface="Roboto"/>
              <a:ea typeface="Roboto"/>
              <a:cs typeface="Roboto"/>
              <a:sym typeface="Roboto"/>
            </a:endParaRPr>
          </a:p>
        </p:txBody>
      </p:sp>
      <p:sp>
        <p:nvSpPr>
          <p:cNvPr id="1118" name="Google Shape;1118;p126"/>
          <p:cNvSpPr txBox="1"/>
          <p:nvPr/>
        </p:nvSpPr>
        <p:spPr>
          <a:xfrm>
            <a:off x="6102600" y="1697525"/>
            <a:ext cx="1857000" cy="42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WRT</a:t>
            </a:r>
            <a:endParaRPr b="1" sz="1600">
              <a:solidFill>
                <a:schemeClr val="dk2"/>
              </a:solidFill>
              <a:latin typeface="Roboto"/>
              <a:ea typeface="Roboto"/>
              <a:cs typeface="Roboto"/>
              <a:sym typeface="Roboto"/>
            </a:endParaRPr>
          </a:p>
        </p:txBody>
      </p:sp>
      <p:sp>
        <p:nvSpPr>
          <p:cNvPr id="1119" name="Google Shape;1119;p126"/>
          <p:cNvSpPr txBox="1"/>
          <p:nvPr/>
        </p:nvSpPr>
        <p:spPr>
          <a:xfrm>
            <a:off x="147125" y="2410000"/>
            <a:ext cx="7464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Medium"/>
                <a:ea typeface="Roboto Medium"/>
                <a:cs typeface="Roboto Medium"/>
                <a:sym typeface="Roboto Medium"/>
              </a:rPr>
              <a:t>Time</a:t>
            </a:r>
            <a:endParaRPr sz="1500">
              <a:solidFill>
                <a:schemeClr val="dk2"/>
              </a:solidFill>
              <a:latin typeface="Roboto Medium"/>
              <a:ea typeface="Roboto Medium"/>
              <a:cs typeface="Roboto Medium"/>
              <a:sym typeface="Roboto Medium"/>
            </a:endParaRPr>
          </a:p>
        </p:txBody>
      </p:sp>
      <p:sp>
        <p:nvSpPr>
          <p:cNvPr id="1120" name="Google Shape;1120;p126"/>
          <p:cNvSpPr txBox="1"/>
          <p:nvPr/>
        </p:nvSpPr>
        <p:spPr>
          <a:xfrm>
            <a:off x="2242225" y="3208900"/>
            <a:ext cx="1857000" cy="69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Stage 2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Disaster occurs</a:t>
            </a:r>
            <a:endParaRPr>
              <a:solidFill>
                <a:schemeClr val="dk2"/>
              </a:solidFill>
              <a:latin typeface="Roboto"/>
              <a:ea typeface="Roboto"/>
              <a:cs typeface="Roboto"/>
              <a:sym typeface="Roboto"/>
            </a:endParaRPr>
          </a:p>
        </p:txBody>
      </p:sp>
      <p:sp>
        <p:nvSpPr>
          <p:cNvPr id="1121" name="Google Shape;1121;p126"/>
          <p:cNvSpPr txBox="1"/>
          <p:nvPr/>
        </p:nvSpPr>
        <p:spPr>
          <a:xfrm>
            <a:off x="5447950" y="3208900"/>
            <a:ext cx="1191600" cy="69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Stage 3</a:t>
            </a:r>
            <a:r>
              <a:rPr lang="en">
                <a:solidFill>
                  <a:schemeClr val="dk2"/>
                </a:solidFill>
                <a:latin typeface="Roboto"/>
                <a:ea typeface="Roboto"/>
                <a:cs typeface="Roboto"/>
                <a:sym typeface="Roboto"/>
              </a:rPr>
              <a:t> Recovery</a:t>
            </a:r>
            <a:endParaRPr>
              <a:solidFill>
                <a:schemeClr val="dk2"/>
              </a:solidFill>
              <a:latin typeface="Roboto"/>
              <a:ea typeface="Roboto"/>
              <a:cs typeface="Roboto"/>
              <a:sym typeface="Roboto"/>
            </a:endParaRPr>
          </a:p>
        </p:txBody>
      </p:sp>
      <p:sp>
        <p:nvSpPr>
          <p:cNvPr id="1122" name="Google Shape;1122;p126"/>
          <p:cNvSpPr txBox="1"/>
          <p:nvPr/>
        </p:nvSpPr>
        <p:spPr>
          <a:xfrm>
            <a:off x="7128250" y="3208900"/>
            <a:ext cx="1768800" cy="69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Stage 4</a:t>
            </a:r>
            <a:r>
              <a:rPr lang="en">
                <a:solidFill>
                  <a:schemeClr val="dk2"/>
                </a:solidFill>
                <a:latin typeface="Roboto"/>
                <a:ea typeface="Roboto"/>
                <a:cs typeface="Roboto"/>
                <a:sym typeface="Roboto"/>
              </a:rPr>
              <a:t>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Resume production</a:t>
            </a:r>
            <a:endParaRPr>
              <a:solidFill>
                <a:schemeClr val="dk2"/>
              </a:solidFill>
              <a:latin typeface="Roboto"/>
              <a:ea typeface="Roboto"/>
              <a:cs typeface="Roboto"/>
              <a:sym typeface="Roboto"/>
            </a:endParaRPr>
          </a:p>
        </p:txBody>
      </p:sp>
      <p:cxnSp>
        <p:nvCxnSpPr>
          <p:cNvPr id="1123" name="Google Shape;1123;p126"/>
          <p:cNvCxnSpPr/>
          <p:nvPr/>
        </p:nvCxnSpPr>
        <p:spPr>
          <a:xfrm>
            <a:off x="696600" y="2623000"/>
            <a:ext cx="8143200" cy="0"/>
          </a:xfrm>
          <a:prstGeom prst="straightConnector1">
            <a:avLst/>
          </a:prstGeom>
          <a:noFill/>
          <a:ln cap="flat" cmpd="sng" w="28575">
            <a:solidFill>
              <a:schemeClr val="dk2"/>
            </a:solidFill>
            <a:prstDash val="solid"/>
            <a:round/>
            <a:headEnd len="med" w="med" type="none"/>
            <a:tailEnd len="med" w="med" type="stealth"/>
          </a:ln>
        </p:spPr>
      </p:cxnSp>
      <p:grpSp>
        <p:nvGrpSpPr>
          <p:cNvPr id="1124" name="Google Shape;1124;p126"/>
          <p:cNvGrpSpPr/>
          <p:nvPr/>
        </p:nvGrpSpPr>
        <p:grpSpPr>
          <a:xfrm rot="1377685">
            <a:off x="2612432" y="2027330"/>
            <a:ext cx="1191681" cy="1191681"/>
            <a:chOff x="1977175" y="1437656"/>
            <a:chExt cx="1304400" cy="1304400"/>
          </a:xfrm>
        </p:grpSpPr>
        <p:sp>
          <p:nvSpPr>
            <p:cNvPr id="1125" name="Google Shape;1125;p126"/>
            <p:cNvSpPr/>
            <p:nvPr/>
          </p:nvSpPr>
          <p:spPr>
            <a:xfrm>
              <a:off x="2168275" y="1628650"/>
              <a:ext cx="922200" cy="922200"/>
            </a:xfrm>
            <a:prstGeom prst="star4">
              <a:avLst>
                <a:gd fmla="val 125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26"/>
            <p:cNvSpPr/>
            <p:nvPr/>
          </p:nvSpPr>
          <p:spPr>
            <a:xfrm rot="2700000">
              <a:off x="2168200" y="1628681"/>
              <a:ext cx="922350" cy="922350"/>
            </a:xfrm>
            <a:prstGeom prst="star4">
              <a:avLst>
                <a:gd fmla="val 125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7" name="Google Shape;1127;p126"/>
          <p:cNvSpPr/>
          <p:nvPr/>
        </p:nvSpPr>
        <p:spPr>
          <a:xfrm>
            <a:off x="969725" y="2310202"/>
            <a:ext cx="605700" cy="605700"/>
          </a:xfrm>
          <a:prstGeom prst="re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26"/>
          <p:cNvSpPr/>
          <p:nvPr/>
        </p:nvSpPr>
        <p:spPr>
          <a:xfrm>
            <a:off x="7703550" y="2310202"/>
            <a:ext cx="605700" cy="605700"/>
          </a:xfrm>
          <a:prstGeom prst="re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26"/>
          <p:cNvSpPr/>
          <p:nvPr/>
        </p:nvSpPr>
        <p:spPr>
          <a:xfrm>
            <a:off x="5740902" y="2320154"/>
            <a:ext cx="605700" cy="605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26"/>
          <p:cNvSpPr txBox="1"/>
          <p:nvPr/>
        </p:nvSpPr>
        <p:spPr>
          <a:xfrm>
            <a:off x="333575" y="3208900"/>
            <a:ext cx="1857000" cy="69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Roboto"/>
                <a:ea typeface="Roboto"/>
                <a:cs typeface="Roboto"/>
                <a:sym typeface="Roboto"/>
              </a:rPr>
              <a:t>Stage 1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Business as usual</a:t>
            </a:r>
            <a:endParaRPr>
              <a:solidFill>
                <a:schemeClr val="dk2"/>
              </a:solidFill>
              <a:latin typeface="Roboto"/>
              <a:ea typeface="Roboto"/>
              <a:cs typeface="Roboto"/>
              <a:sym typeface="Roboto"/>
            </a:endParaRPr>
          </a:p>
        </p:txBody>
      </p:sp>
      <p:cxnSp>
        <p:nvCxnSpPr>
          <p:cNvPr id="1131" name="Google Shape;1131;p126"/>
          <p:cNvCxnSpPr/>
          <p:nvPr/>
        </p:nvCxnSpPr>
        <p:spPr>
          <a:xfrm>
            <a:off x="829825"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32" name="Google Shape;1132;p126"/>
          <p:cNvCxnSpPr/>
          <p:nvPr/>
        </p:nvCxnSpPr>
        <p:spPr>
          <a:xfrm>
            <a:off x="1789025"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33" name="Google Shape;1133;p126"/>
          <p:cNvCxnSpPr/>
          <p:nvPr/>
        </p:nvCxnSpPr>
        <p:spPr>
          <a:xfrm>
            <a:off x="2711275"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34" name="Google Shape;1134;p126"/>
          <p:cNvCxnSpPr/>
          <p:nvPr/>
        </p:nvCxnSpPr>
        <p:spPr>
          <a:xfrm>
            <a:off x="2397350"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35" name="Google Shape;1135;p126"/>
          <p:cNvCxnSpPr/>
          <p:nvPr/>
        </p:nvCxnSpPr>
        <p:spPr>
          <a:xfrm>
            <a:off x="2098100"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36" name="Google Shape;1136;p126"/>
          <p:cNvCxnSpPr>
            <a:stCxn id="1116" idx="3"/>
          </p:cNvCxnSpPr>
          <p:nvPr/>
        </p:nvCxnSpPr>
        <p:spPr>
          <a:xfrm rot="10800000">
            <a:off x="2408675" y="1904225"/>
            <a:ext cx="632700" cy="6300"/>
          </a:xfrm>
          <a:prstGeom prst="straightConnector1">
            <a:avLst/>
          </a:prstGeom>
          <a:noFill/>
          <a:ln cap="flat" cmpd="sng" w="19050">
            <a:solidFill>
              <a:schemeClr val="dk2"/>
            </a:solidFill>
            <a:prstDash val="solid"/>
            <a:round/>
            <a:headEnd len="med" w="med" type="stealth"/>
            <a:tailEnd len="med" w="med" type="none"/>
          </a:ln>
        </p:spPr>
      </p:cxnSp>
      <p:cxnSp>
        <p:nvCxnSpPr>
          <p:cNvPr id="1137" name="Google Shape;1137;p126"/>
          <p:cNvCxnSpPr/>
          <p:nvPr/>
        </p:nvCxnSpPr>
        <p:spPr>
          <a:xfrm>
            <a:off x="1365625" y="1909450"/>
            <a:ext cx="530100" cy="0"/>
          </a:xfrm>
          <a:prstGeom prst="straightConnector1">
            <a:avLst/>
          </a:prstGeom>
          <a:noFill/>
          <a:ln cap="flat" cmpd="sng" w="19050">
            <a:solidFill>
              <a:schemeClr val="dk2"/>
            </a:solidFill>
            <a:prstDash val="solid"/>
            <a:round/>
            <a:headEnd len="med" w="med" type="stealth"/>
            <a:tailEnd len="med" w="med" type="none"/>
          </a:ln>
        </p:spPr>
      </p:cxnSp>
      <p:cxnSp>
        <p:nvCxnSpPr>
          <p:cNvPr id="1138" name="Google Shape;1138;p126"/>
          <p:cNvCxnSpPr/>
          <p:nvPr/>
        </p:nvCxnSpPr>
        <p:spPr>
          <a:xfrm rot="10800000">
            <a:off x="4823925" y="1904225"/>
            <a:ext cx="1097100" cy="0"/>
          </a:xfrm>
          <a:prstGeom prst="straightConnector1">
            <a:avLst/>
          </a:prstGeom>
          <a:noFill/>
          <a:ln cap="flat" cmpd="sng" w="19050">
            <a:solidFill>
              <a:schemeClr val="dk2"/>
            </a:solidFill>
            <a:prstDash val="solid"/>
            <a:round/>
            <a:headEnd len="med" w="med" type="stealth"/>
            <a:tailEnd len="med" w="med" type="none"/>
          </a:ln>
        </p:spPr>
      </p:cxnSp>
      <p:cxnSp>
        <p:nvCxnSpPr>
          <p:cNvPr id="1139" name="Google Shape;1139;p126"/>
          <p:cNvCxnSpPr/>
          <p:nvPr/>
        </p:nvCxnSpPr>
        <p:spPr>
          <a:xfrm>
            <a:off x="3365225" y="1909450"/>
            <a:ext cx="945900" cy="0"/>
          </a:xfrm>
          <a:prstGeom prst="straightConnector1">
            <a:avLst/>
          </a:prstGeom>
          <a:noFill/>
          <a:ln cap="flat" cmpd="sng" w="19050">
            <a:solidFill>
              <a:schemeClr val="dk2"/>
            </a:solidFill>
            <a:prstDash val="solid"/>
            <a:round/>
            <a:headEnd len="med" w="med" type="stealth"/>
            <a:tailEnd len="med" w="med" type="none"/>
          </a:ln>
        </p:spPr>
      </p:cxnSp>
      <p:cxnSp>
        <p:nvCxnSpPr>
          <p:cNvPr id="1140" name="Google Shape;1140;p126"/>
          <p:cNvCxnSpPr/>
          <p:nvPr/>
        </p:nvCxnSpPr>
        <p:spPr>
          <a:xfrm>
            <a:off x="6166325" y="1904350"/>
            <a:ext cx="544500" cy="0"/>
          </a:xfrm>
          <a:prstGeom prst="straightConnector1">
            <a:avLst/>
          </a:prstGeom>
          <a:noFill/>
          <a:ln cap="flat" cmpd="sng" w="19050">
            <a:solidFill>
              <a:schemeClr val="dk2"/>
            </a:solidFill>
            <a:prstDash val="solid"/>
            <a:round/>
            <a:headEnd len="med" w="med" type="stealth"/>
            <a:tailEnd len="med" w="med" type="none"/>
          </a:ln>
        </p:spPr>
      </p:cxnSp>
      <p:cxnSp>
        <p:nvCxnSpPr>
          <p:cNvPr id="1141" name="Google Shape;1141;p126"/>
          <p:cNvCxnSpPr/>
          <p:nvPr/>
        </p:nvCxnSpPr>
        <p:spPr>
          <a:xfrm>
            <a:off x="7304925" y="1904350"/>
            <a:ext cx="544500" cy="0"/>
          </a:xfrm>
          <a:prstGeom prst="straightConnector1">
            <a:avLst/>
          </a:prstGeom>
          <a:noFill/>
          <a:ln cap="flat" cmpd="sng" w="19050">
            <a:solidFill>
              <a:schemeClr val="dk2"/>
            </a:solidFill>
            <a:prstDash val="solid"/>
            <a:round/>
            <a:headEnd len="med" w="med" type="none"/>
            <a:tailEnd len="med" w="med" type="stealth"/>
          </a:ln>
        </p:spPr>
      </p:cxnSp>
      <p:cxnSp>
        <p:nvCxnSpPr>
          <p:cNvPr id="1142" name="Google Shape;1142;p126"/>
          <p:cNvCxnSpPr/>
          <p:nvPr/>
        </p:nvCxnSpPr>
        <p:spPr>
          <a:xfrm>
            <a:off x="3682975"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43" name="Google Shape;1143;p126"/>
          <p:cNvCxnSpPr/>
          <p:nvPr/>
        </p:nvCxnSpPr>
        <p:spPr>
          <a:xfrm>
            <a:off x="4605225"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44" name="Google Shape;1144;p126"/>
          <p:cNvCxnSpPr/>
          <p:nvPr/>
        </p:nvCxnSpPr>
        <p:spPr>
          <a:xfrm>
            <a:off x="4291300"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45" name="Google Shape;1145;p126"/>
          <p:cNvCxnSpPr/>
          <p:nvPr/>
        </p:nvCxnSpPr>
        <p:spPr>
          <a:xfrm>
            <a:off x="3992050"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46" name="Google Shape;1146;p126"/>
          <p:cNvCxnSpPr/>
          <p:nvPr/>
        </p:nvCxnSpPr>
        <p:spPr>
          <a:xfrm>
            <a:off x="5511575"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47" name="Google Shape;1147;p126"/>
          <p:cNvCxnSpPr/>
          <p:nvPr/>
        </p:nvCxnSpPr>
        <p:spPr>
          <a:xfrm>
            <a:off x="5197650"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126"/>
          <p:cNvCxnSpPr/>
          <p:nvPr/>
        </p:nvCxnSpPr>
        <p:spPr>
          <a:xfrm>
            <a:off x="4898400"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126"/>
          <p:cNvCxnSpPr/>
          <p:nvPr/>
        </p:nvCxnSpPr>
        <p:spPr>
          <a:xfrm>
            <a:off x="6571900"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50" name="Google Shape;1150;p126"/>
          <p:cNvCxnSpPr/>
          <p:nvPr/>
        </p:nvCxnSpPr>
        <p:spPr>
          <a:xfrm>
            <a:off x="7478250"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51" name="Google Shape;1151;p126"/>
          <p:cNvCxnSpPr/>
          <p:nvPr/>
        </p:nvCxnSpPr>
        <p:spPr>
          <a:xfrm>
            <a:off x="7164325"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126"/>
          <p:cNvCxnSpPr/>
          <p:nvPr/>
        </p:nvCxnSpPr>
        <p:spPr>
          <a:xfrm>
            <a:off x="6865075" y="2623000"/>
            <a:ext cx="0" cy="152400"/>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126"/>
          <p:cNvCxnSpPr/>
          <p:nvPr/>
        </p:nvCxnSpPr>
        <p:spPr>
          <a:xfrm>
            <a:off x="8493700" y="2623000"/>
            <a:ext cx="0" cy="152400"/>
          </a:xfrm>
          <a:prstGeom prst="straightConnector1">
            <a:avLst/>
          </a:prstGeom>
          <a:noFill/>
          <a:ln cap="flat" cmpd="sng" w="9525">
            <a:solidFill>
              <a:schemeClr val="dk2"/>
            </a:solidFill>
            <a:prstDash val="solid"/>
            <a:round/>
            <a:headEnd len="med" w="med" type="none"/>
            <a:tailEnd len="med" w="med" type="none"/>
          </a:ln>
        </p:spPr>
      </p:cxnSp>
      <p:sp>
        <p:nvSpPr>
          <p:cNvPr id="1154" name="Google Shape;1154;p126"/>
          <p:cNvSpPr/>
          <p:nvPr/>
        </p:nvSpPr>
        <p:spPr>
          <a:xfrm flipH="1" rot="5400000">
            <a:off x="5520375" y="-905812"/>
            <a:ext cx="174300" cy="48090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8" name="Shape 1158"/>
        <p:cNvGrpSpPr/>
        <p:nvPr/>
      </p:nvGrpSpPr>
      <p:grpSpPr>
        <a:xfrm>
          <a:off x="0" y="0"/>
          <a:ext cx="0" cy="0"/>
          <a:chOff x="0" y="0"/>
          <a:chExt cx="0" cy="0"/>
        </a:xfrm>
      </p:grpSpPr>
      <p:pic>
        <p:nvPicPr>
          <p:cNvPr id="1159" name="Google Shape;1159;p127"/>
          <p:cNvPicPr preferRelativeResize="0"/>
          <p:nvPr/>
        </p:nvPicPr>
        <p:blipFill rotWithShape="1">
          <a:blip r:embed="rId3">
            <a:alphaModFix/>
          </a:blip>
          <a:srcRect b="10241" l="0" r="71577" t="8609"/>
          <a:stretch/>
        </p:blipFill>
        <p:spPr>
          <a:xfrm>
            <a:off x="303350" y="1437150"/>
            <a:ext cx="2436648" cy="1562075"/>
          </a:xfrm>
          <a:prstGeom prst="rect">
            <a:avLst/>
          </a:prstGeom>
          <a:noFill/>
          <a:ln>
            <a:noFill/>
          </a:ln>
        </p:spPr>
      </p:pic>
      <p:sp>
        <p:nvSpPr>
          <p:cNvPr id="1160" name="Google Shape;1160;p127"/>
          <p:cNvSpPr txBox="1"/>
          <p:nvPr>
            <p:ph type="title"/>
          </p:nvPr>
        </p:nvSpPr>
        <p:spPr>
          <a:xfrm>
            <a:off x="458625" y="174525"/>
            <a:ext cx="86808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Alternate Sites</a:t>
            </a:r>
            <a:endParaRPr/>
          </a:p>
        </p:txBody>
      </p:sp>
      <p:sp>
        <p:nvSpPr>
          <p:cNvPr id="1161" name="Google Shape;1161;p127"/>
          <p:cNvSpPr txBox="1"/>
          <p:nvPr>
            <p:ph idx="4294967295" type="subTitle"/>
          </p:nvPr>
        </p:nvSpPr>
        <p:spPr>
          <a:xfrm>
            <a:off x="457200" y="599775"/>
            <a:ext cx="8809200" cy="761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One last consideration for disaster recovery is the use of </a:t>
            </a:r>
            <a:r>
              <a:rPr b="1" lang="en">
                <a:latin typeface="Roboto"/>
                <a:ea typeface="Roboto"/>
                <a:cs typeface="Roboto"/>
                <a:sym typeface="Roboto"/>
              </a:rPr>
              <a:t>alternate sites</a:t>
            </a:r>
            <a:r>
              <a:rPr lang="en"/>
              <a:t> to house critical data technology functions. </a:t>
            </a:r>
            <a:r>
              <a:rPr lang="en"/>
              <a:t>While disasters are</a:t>
            </a:r>
            <a:r>
              <a:rPr lang="en"/>
              <a:t> rare</a:t>
            </a:r>
            <a:r>
              <a:rPr lang="en"/>
              <a:t>, they may require that operations move to an alternate site.</a:t>
            </a:r>
            <a:endParaRPr/>
          </a:p>
        </p:txBody>
      </p:sp>
      <p:sp>
        <p:nvSpPr>
          <p:cNvPr id="1162" name="Google Shape;1162;p127"/>
          <p:cNvSpPr txBox="1"/>
          <p:nvPr>
            <p:ph idx="1" type="body"/>
          </p:nvPr>
        </p:nvSpPr>
        <p:spPr>
          <a:xfrm>
            <a:off x="385850" y="2999225"/>
            <a:ext cx="2519400" cy="1943400"/>
          </a:xfrm>
          <a:prstGeom prst="rect">
            <a:avLst/>
          </a:prstGeom>
        </p:spPr>
        <p:txBody>
          <a:bodyPr anchorCtr="0" anchor="t" bIns="91425" lIns="0" spcFirstLastPara="1" rIns="0" wrap="square" tIns="0">
            <a:noAutofit/>
          </a:bodyPr>
          <a:lstStyle/>
          <a:p>
            <a:pPr indent="0" lvl="0" marL="0" rtl="0" algn="l">
              <a:spcBef>
                <a:spcPts val="0"/>
              </a:spcBef>
              <a:spcAft>
                <a:spcPts val="0"/>
              </a:spcAft>
              <a:buNone/>
            </a:pPr>
            <a:r>
              <a:rPr lang="en" sz="1700"/>
              <a:t>A </a:t>
            </a:r>
            <a:r>
              <a:rPr b="1" lang="en" sz="1700">
                <a:latin typeface="Roboto"/>
                <a:ea typeface="Roboto"/>
                <a:cs typeface="Roboto"/>
                <a:sym typeface="Roboto"/>
              </a:rPr>
              <a:t>hot site</a:t>
            </a:r>
            <a:r>
              <a:rPr lang="en" sz="1700"/>
              <a:t> is ready </a:t>
            </a:r>
            <a:br>
              <a:rPr lang="en" sz="1700"/>
            </a:br>
            <a:r>
              <a:rPr lang="en" sz="1700"/>
              <a:t>at all times.</a:t>
            </a:r>
            <a:r>
              <a:rPr lang="en" sz="1800"/>
              <a:t> </a:t>
            </a:r>
            <a:endParaRPr sz="1800"/>
          </a:p>
          <a:p>
            <a:pPr indent="0" lvl="0" marL="0" rtl="0" algn="l">
              <a:spcBef>
                <a:spcPts val="1000"/>
              </a:spcBef>
              <a:spcAft>
                <a:spcPts val="0"/>
              </a:spcAft>
              <a:buNone/>
            </a:pPr>
            <a:r>
              <a:rPr lang="en" sz="1300"/>
              <a:t>It has equipment loaded with currently available data and can immediately continue operations. It is costly, but important for mission-critical data.</a:t>
            </a:r>
            <a:endParaRPr sz="1300"/>
          </a:p>
        </p:txBody>
      </p:sp>
      <p:sp>
        <p:nvSpPr>
          <p:cNvPr id="1163" name="Google Shape;1163;p127"/>
          <p:cNvSpPr txBox="1"/>
          <p:nvPr>
            <p:ph idx="1" type="body"/>
          </p:nvPr>
        </p:nvSpPr>
        <p:spPr>
          <a:xfrm>
            <a:off x="3461763" y="2999225"/>
            <a:ext cx="2519400" cy="1645200"/>
          </a:xfrm>
          <a:prstGeom prst="rect">
            <a:avLst/>
          </a:prstGeom>
        </p:spPr>
        <p:txBody>
          <a:bodyPr anchorCtr="0" anchor="t" bIns="91425" lIns="0" spcFirstLastPara="1" rIns="0" wrap="square" tIns="0">
            <a:noAutofit/>
          </a:bodyPr>
          <a:lstStyle/>
          <a:p>
            <a:pPr indent="0" lvl="0" marL="0" rtl="0" algn="l">
              <a:spcBef>
                <a:spcPts val="0"/>
              </a:spcBef>
              <a:spcAft>
                <a:spcPts val="0"/>
              </a:spcAft>
              <a:buClr>
                <a:schemeClr val="dk1"/>
              </a:buClr>
              <a:buSzPts val="1100"/>
              <a:buFont typeface="Arial"/>
              <a:buNone/>
            </a:pPr>
            <a:r>
              <a:rPr lang="en" sz="1700"/>
              <a:t>A </a:t>
            </a:r>
            <a:r>
              <a:rPr b="1" lang="en" sz="1700">
                <a:latin typeface="Roboto"/>
                <a:ea typeface="Roboto"/>
                <a:cs typeface="Roboto"/>
                <a:sym typeface="Roboto"/>
              </a:rPr>
              <a:t>cold site</a:t>
            </a:r>
            <a:r>
              <a:rPr lang="en" sz="1700"/>
              <a:t> has very little existing infrastructure. </a:t>
            </a:r>
            <a:endParaRPr sz="1700"/>
          </a:p>
          <a:p>
            <a:pPr indent="0" lvl="0" marL="0" rtl="0" algn="l">
              <a:spcBef>
                <a:spcPts val="1000"/>
              </a:spcBef>
              <a:spcAft>
                <a:spcPts val="0"/>
              </a:spcAft>
              <a:buClr>
                <a:schemeClr val="dk1"/>
              </a:buClr>
              <a:buSzPts val="1100"/>
              <a:buFont typeface="Arial"/>
              <a:buNone/>
            </a:pPr>
            <a:r>
              <a:rPr lang="en" sz="1300"/>
              <a:t>It is not typically used until after a disaster occurs, so there must be a strategy for setting it up quickly when the time comes.</a:t>
            </a:r>
            <a:endParaRPr sz="1300"/>
          </a:p>
        </p:txBody>
      </p:sp>
      <p:sp>
        <p:nvSpPr>
          <p:cNvPr id="1164" name="Google Shape;1164;p127"/>
          <p:cNvSpPr txBox="1"/>
          <p:nvPr>
            <p:ph idx="4294967295" type="subTitle"/>
          </p:nvPr>
        </p:nvSpPr>
        <p:spPr>
          <a:xfrm>
            <a:off x="6442075" y="2999225"/>
            <a:ext cx="2165700" cy="1645200"/>
          </a:xfrm>
          <a:prstGeom prst="rect">
            <a:avLst/>
          </a:prstGeom>
        </p:spPr>
        <p:txBody>
          <a:bodyPr anchorCtr="0" anchor="t" bIns="91425"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sz="1700"/>
              <a:t>A </a:t>
            </a:r>
            <a:r>
              <a:rPr b="1" lang="en" sz="1700">
                <a:latin typeface="Roboto"/>
                <a:ea typeface="Roboto"/>
                <a:cs typeface="Roboto"/>
                <a:sym typeface="Roboto"/>
              </a:rPr>
              <a:t>warm site</a:t>
            </a:r>
            <a:r>
              <a:rPr b="1" lang="en" sz="1700"/>
              <a:t> </a:t>
            </a:r>
            <a:r>
              <a:rPr lang="en" sz="1700"/>
              <a:t>is in between. </a:t>
            </a:r>
            <a:endParaRPr sz="1700"/>
          </a:p>
          <a:p>
            <a:pPr indent="0" lvl="0" marL="0" rtl="0" algn="l">
              <a:lnSpc>
                <a:spcPct val="100000"/>
              </a:lnSpc>
              <a:spcBef>
                <a:spcPts val="1000"/>
              </a:spcBef>
              <a:spcAft>
                <a:spcPts val="0"/>
              </a:spcAft>
              <a:buClr>
                <a:schemeClr val="dk1"/>
              </a:buClr>
              <a:buSzPts val="1100"/>
              <a:buFont typeface="Arial"/>
              <a:buNone/>
            </a:pPr>
            <a:r>
              <a:rPr lang="en" sz="1300"/>
              <a:t>For example, servers, hardware, software, and other equipment might be </a:t>
            </a:r>
            <a:br>
              <a:rPr lang="en" sz="1300"/>
            </a:br>
            <a:r>
              <a:rPr lang="en" sz="1300"/>
              <a:t>set up but not loaded with the latest data.</a:t>
            </a:r>
            <a:endParaRPr sz="1300"/>
          </a:p>
        </p:txBody>
      </p:sp>
      <p:cxnSp>
        <p:nvCxnSpPr>
          <p:cNvPr id="1165" name="Google Shape;1165;p127"/>
          <p:cNvCxnSpPr/>
          <p:nvPr/>
        </p:nvCxnSpPr>
        <p:spPr>
          <a:xfrm>
            <a:off x="3250313" y="1573525"/>
            <a:ext cx="0" cy="2970000"/>
          </a:xfrm>
          <a:prstGeom prst="straightConnector1">
            <a:avLst/>
          </a:prstGeom>
          <a:noFill/>
          <a:ln cap="flat" cmpd="sng" w="9525">
            <a:solidFill>
              <a:schemeClr val="dk2"/>
            </a:solidFill>
            <a:prstDash val="dot"/>
            <a:round/>
            <a:headEnd len="med" w="med" type="none"/>
            <a:tailEnd len="med" w="med" type="none"/>
          </a:ln>
        </p:spPr>
      </p:cxnSp>
      <p:pic>
        <p:nvPicPr>
          <p:cNvPr id="1166" name="Google Shape;1166;p127"/>
          <p:cNvPicPr preferRelativeResize="0"/>
          <p:nvPr/>
        </p:nvPicPr>
        <p:blipFill rotWithShape="1">
          <a:blip r:embed="rId3">
            <a:alphaModFix/>
          </a:blip>
          <a:srcRect b="10241" l="34391" r="37185" t="8609"/>
          <a:stretch/>
        </p:blipFill>
        <p:spPr>
          <a:xfrm>
            <a:off x="3503138" y="1437150"/>
            <a:ext cx="2436648" cy="1562075"/>
          </a:xfrm>
          <a:prstGeom prst="rect">
            <a:avLst/>
          </a:prstGeom>
          <a:noFill/>
          <a:ln>
            <a:noFill/>
          </a:ln>
        </p:spPr>
      </p:pic>
      <p:cxnSp>
        <p:nvCxnSpPr>
          <p:cNvPr id="1167" name="Google Shape;1167;p127"/>
          <p:cNvCxnSpPr/>
          <p:nvPr/>
        </p:nvCxnSpPr>
        <p:spPr>
          <a:xfrm>
            <a:off x="6192588" y="1573525"/>
            <a:ext cx="0" cy="2970000"/>
          </a:xfrm>
          <a:prstGeom prst="straightConnector1">
            <a:avLst/>
          </a:prstGeom>
          <a:noFill/>
          <a:ln cap="flat" cmpd="sng" w="9525">
            <a:solidFill>
              <a:schemeClr val="dk2"/>
            </a:solidFill>
            <a:prstDash val="dot"/>
            <a:round/>
            <a:headEnd len="med" w="med" type="none"/>
            <a:tailEnd len="med" w="med" type="none"/>
          </a:ln>
        </p:spPr>
      </p:cxnSp>
      <p:pic>
        <p:nvPicPr>
          <p:cNvPr id="1168" name="Google Shape;1168;p127"/>
          <p:cNvPicPr preferRelativeResize="0"/>
          <p:nvPr/>
        </p:nvPicPr>
        <p:blipFill rotWithShape="1">
          <a:blip r:embed="rId3">
            <a:alphaModFix/>
          </a:blip>
          <a:srcRect b="10241" l="68885" r="2691" t="8609"/>
          <a:stretch/>
        </p:blipFill>
        <p:spPr>
          <a:xfrm>
            <a:off x="6417825" y="1437150"/>
            <a:ext cx="2436648" cy="156207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128"/>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10 minutes</a:t>
            </a:r>
            <a:endParaRPr/>
          </a:p>
        </p:txBody>
      </p:sp>
      <p:sp>
        <p:nvSpPr>
          <p:cNvPr id="1174" name="Google Shape;1174;p128"/>
          <p:cNvSpPr txBox="1"/>
          <p:nvPr>
            <p:ph idx="4294967295" type="subTitle"/>
          </p:nvPr>
        </p:nvSpPr>
        <p:spPr>
          <a:xfrm>
            <a:off x="818575" y="1726975"/>
            <a:ext cx="6173700" cy="12819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 this activity, you will continue to work in groups to create a high-level disaster recovery plan for GeldCorp.</a:t>
            </a:r>
            <a:endParaRPr/>
          </a:p>
          <a:p>
            <a:pPr indent="0" lvl="0" marL="0" rtl="0" algn="l">
              <a:spcBef>
                <a:spcPts val="800"/>
              </a:spcBef>
              <a:spcAft>
                <a:spcPts val="0"/>
              </a:spcAft>
              <a:buNone/>
            </a:pPr>
            <a:r>
              <a:t/>
            </a:r>
            <a:endParaRPr/>
          </a:p>
        </p:txBody>
      </p:sp>
      <p:sp>
        <p:nvSpPr>
          <p:cNvPr id="1175" name="Google Shape;1175;p128"/>
          <p:cNvSpPr txBox="1"/>
          <p:nvPr>
            <p:ph idx="4294967295" type="title"/>
          </p:nvPr>
        </p:nvSpPr>
        <p:spPr>
          <a:xfrm>
            <a:off x="902100" y="533400"/>
            <a:ext cx="9168600" cy="323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1800"/>
              <a:t>Disaster recovery planning</a:t>
            </a:r>
            <a:endParaRPr b="0" sz="18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