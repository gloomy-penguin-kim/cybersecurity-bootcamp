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5143500" cx="9144000"/>
  <p:notesSz cx="6858000" cy="9144000"/>
  <p:embeddedFontLst>
    <p:embeddedFont>
      <p:font typeface="Roboto"/>
      <p:regular r:id="rId67"/>
      <p:bold r:id="rId68"/>
      <p:italic r:id="rId69"/>
      <p:boldItalic r:id="rId70"/>
    </p:embeddedFont>
    <p:embeddedFont>
      <p:font typeface="Roboto Medium"/>
      <p:regular r:id="rId71"/>
      <p:bold r:id="rId72"/>
      <p:italic r:id="rId73"/>
      <p:boldItalic r:id="rId74"/>
    </p:embeddedFont>
    <p:embeddedFont>
      <p:font typeface="Roboto Light"/>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BD4661-467D-452B-BF03-7BB3B26ED939}">
  <a:tblStyle styleId="{53BD4661-467D-452B-BF03-7BB3B26ED93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Medium-italic.fntdata"/><Relationship Id="rId72" Type="http://schemas.openxmlformats.org/officeDocument/2006/relationships/font" Target="fonts/RobotoMedium-bold.fntdata"/><Relationship Id="rId75" Type="http://schemas.openxmlformats.org/officeDocument/2006/relationships/font" Target="fonts/RobotoLight-regular.fntdata"/><Relationship Id="rId74" Type="http://schemas.openxmlformats.org/officeDocument/2006/relationships/font" Target="fonts/RobotoMedium-boldItalic.fntdata"/><Relationship Id="rId77" Type="http://schemas.openxmlformats.org/officeDocument/2006/relationships/font" Target="fonts/RobotoLight-italic.fntdata"/><Relationship Id="rId76" Type="http://schemas.openxmlformats.org/officeDocument/2006/relationships/font" Target="fonts/RobotoLight-bold.fntdata"/><Relationship Id="rId78" Type="http://schemas.openxmlformats.org/officeDocument/2006/relationships/font" Target="fonts/RobotoLight-boldItalic.fntdata"/><Relationship Id="rId71" Type="http://schemas.openxmlformats.org/officeDocument/2006/relationships/font" Target="fonts/RobotoMedium-regular.fntdata"/><Relationship Id="rId70" Type="http://schemas.openxmlformats.org/officeDocument/2006/relationships/font" Target="fonts/Roboto-boldItalic.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font" Target="fonts/Roboto-bold.fntdata"/><Relationship Id="rId67" Type="http://schemas.openxmlformats.org/officeDocument/2006/relationships/font" Target="fonts/Roboto-regular.fntdata"/><Relationship Id="rId60" Type="http://schemas.openxmlformats.org/officeDocument/2006/relationships/slide" Target="slides/slide54.xml"/><Relationship Id="rId69" Type="http://schemas.openxmlformats.org/officeDocument/2006/relationships/font" Target="fonts/Roboto-italic.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cademia.edu/29461503/Digital_Marketing_Definition_History_Strategies_Developments_Advantages_and_Limitaion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0a878d6c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0a878d6c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01a21e8fc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301a21e8fc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shutterstock_1291533214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01a21e8fc5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5" name="Google Shape;1175;g301a21e8fc5_0_1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#3 Instructor Do</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The term </a:t>
            </a:r>
            <a:r>
              <a:rPr i="1" lang="en">
                <a:solidFill>
                  <a:schemeClr val="dk1"/>
                </a:solidFill>
                <a:latin typeface="Roboto"/>
                <a:ea typeface="Roboto"/>
                <a:cs typeface="Roboto"/>
                <a:sym typeface="Roboto"/>
              </a:rPr>
              <a:t>digital marketing</a:t>
            </a:r>
            <a:r>
              <a:rPr lang="en">
                <a:solidFill>
                  <a:schemeClr val="dk1"/>
                </a:solidFill>
                <a:latin typeface="Roboto"/>
                <a:ea typeface="Roboto"/>
                <a:cs typeface="Roboto"/>
                <a:sym typeface="Roboto"/>
              </a:rPr>
              <a:t> wasn’t even used before the 1990s (</a:t>
            </a:r>
            <a:r>
              <a:rPr lang="en" u="sng">
                <a:solidFill>
                  <a:srgbClr val="1155CC"/>
                </a:solidFill>
                <a:latin typeface="Roboto"/>
                <a:ea typeface="Roboto"/>
                <a:cs typeface="Roboto"/>
                <a:sym typeface="Roboto"/>
                <a:hlinkClick r:id="rId2">
                  <a:extLst>
                    <a:ext uri="{A12FA001-AC4F-418D-AE19-62706E023703}">
                      <ahyp:hlinkClr val="tx"/>
                    </a:ext>
                  </a:extLst>
                </a:hlinkClick>
              </a:rPr>
              <a:t>source</a:t>
            </a:r>
            <a:r>
              <a:rPr lang="en">
                <a:solidFill>
                  <a:schemeClr val="dk1"/>
                </a:solidFill>
                <a:latin typeface="Roboto"/>
                <a:ea typeface="Roboto"/>
                <a:cs typeface="Roboto"/>
                <a:sym typeface="Roboto"/>
              </a:rPr>
              <a:t>). Personal computers started becoming popular in the 1980s, but the advent of the internet in the 1990s is what pivoted the direction of marketing. Even into the early 2000s, marketers largely relied on traditional channels to promote their wares.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01a21e8fc5_0_2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01a21e8fc5_0_2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 : </a:t>
            </a:r>
            <a:r>
              <a:rPr lang="en"/>
              <a:t>2467103999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01a21e8fc5_0_2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01a21e8fc5_0_2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01a21e8fc5_0_3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01a21e8fc5_0_3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01a21e8fc5_0_3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301a21e8fc5_0_3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01a21e8fc5_0_3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301a21e8fc5_0_3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01a21e8f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01a21e8f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301a21e8fc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301a21e8fc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https://www.pexels.com/photo/top-view-photo-of-people-near-wooden-table-3183150/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01a21e8fc5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301a21e8fc5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01a21e8fc5_1_2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7" name="Google Shape;1247;g301a21e8fc5_1_2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301a21e8fc5_1_2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301a21e8fc5_1_2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01a21e8fc5_1_3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301a21e8fc5_1_3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01a21e8fc5_1_3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01a21e8fc5_1_3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01a21e8fc5_1_3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g301a21e8fc5_1_30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01a21e8fc5_1_4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301a21e8fc5_1_4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01a21e8fc5_1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301a21e8fc5_1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01a21e8fc5_1_4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301a21e8fc5_1_4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0a3240009e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0a3240009e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0a3240009e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30a3240009e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0a3240009e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30a3240009e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0a3240009e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0a3240009e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01a21e8fc5_1_4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01a21e8fc5_1_4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301a21e8fc5_1_4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8" name="Google Shape;1348;g301a21e8fc5_1_4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01a21e8fc5_1_5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5" name="Google Shape;1355;g301a21e8fc5_1_50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01a21e8fc5_1_5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01a21e8fc5_1_5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01a21e8fc5_1_5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01a21e8fc5_1_5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301a21e8fc5_1_5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1" name="Google Shape;1381;g301a21e8fc5_1_5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01a21e8fc5_1_6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301a21e8fc5_1_6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01a21e8fc5_1_6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301a21e8fc5_1_6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301a21e8fc5_1_6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301a21e8fc5_1_6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0a8c704c1c_0_27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0a8c704c1c_0_27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0a8c704c1c_0_27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0a8c704c1c_0_27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0a8c704c1c_0_27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0a8c704c1c_0_27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0b45a0dcde_0_13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0b45a0dcde_0_13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0b45a0dcde_0_13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30b45a0dcde_0_13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01a21e8fc5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01a21e8fc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30b45a0dcde_0_13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30b45a0dcde_0_13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01a21e8fc5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301a21e8fc5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01a21e8fc5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301a21e8fc5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01a21e8fc5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301a21e8fc5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301a21e8fc5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4" name="Google Shape;1484;g301a21e8fc5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301a21e8fc5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301a21e8fc5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301a21e8fc5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301a21e8fc5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301a21e8fc5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g301a21e8fc5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01a21e8fc5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301a21e8fc5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301a21e8fc5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301a21e8fc5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301a21e8fc5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301a21e8fc5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301a21e8fc5_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301a21e8fc5_2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01a21e8fc5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301a21e8fc5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30b45a0dcde_0_14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30b45a0dcde_0_14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30b45a0dcde_0_16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4" name="Google Shape;1564;g30b45a0dcde_0_16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g30b45a0dcde_0_16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2" name="Google Shape;1572;g30b45a0dcde_0_16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0b45a0dcde_0_16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30b45a0dcde_0_16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sp>
        <p:nvSpPr>
          <p:cNvPr id="39" name="Google Shape;39;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2" name="Google Shape;42;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3" name="Shape 43"/>
        <p:cNvGrpSpPr/>
        <p:nvPr/>
      </p:nvGrpSpPr>
      <p:grpSpPr>
        <a:xfrm>
          <a:off x="0" y="0"/>
          <a:ext cx="0" cy="0"/>
          <a:chOff x="0" y="0"/>
          <a:chExt cx="0" cy="0"/>
        </a:xfrm>
      </p:grpSpPr>
      <p:cxnSp>
        <p:nvCxnSpPr>
          <p:cNvPr id="44" name="Google Shape;44;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5" name="Google Shape;45;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1" name="Google Shape;51;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7" name="Google Shape;57;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8" name="Google Shape;58;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59" name="Google Shape;59;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3" name="Shape 63"/>
        <p:cNvGrpSpPr/>
        <p:nvPr/>
      </p:nvGrpSpPr>
      <p:grpSpPr>
        <a:xfrm>
          <a:off x="0" y="0"/>
          <a:ext cx="0" cy="0"/>
          <a:chOff x="0" y="0"/>
          <a:chExt cx="0" cy="0"/>
        </a:xfrm>
      </p:grpSpPr>
      <p:sp>
        <p:nvSpPr>
          <p:cNvPr id="64" name="Google Shape;64;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6" name="Google Shape;66;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7" name="Google Shape;67;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8" name="Shape 68"/>
        <p:cNvGrpSpPr/>
        <p:nvPr/>
      </p:nvGrpSpPr>
      <p:grpSpPr>
        <a:xfrm>
          <a:off x="0" y="0"/>
          <a:ext cx="0" cy="0"/>
          <a:chOff x="0" y="0"/>
          <a:chExt cx="0" cy="0"/>
        </a:xfrm>
      </p:grpSpPr>
      <p:sp>
        <p:nvSpPr>
          <p:cNvPr id="69" name="Google Shape;69;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5" name="Google Shape;75;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0" name="Google Shape;80;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6" name="Google Shape;86;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7" name="Shape 87"/>
        <p:cNvGrpSpPr/>
        <p:nvPr/>
      </p:nvGrpSpPr>
      <p:grpSpPr>
        <a:xfrm>
          <a:off x="0" y="0"/>
          <a:ext cx="0" cy="0"/>
          <a:chOff x="0" y="0"/>
          <a:chExt cx="0" cy="0"/>
        </a:xfrm>
      </p:grpSpPr>
      <p:sp>
        <p:nvSpPr>
          <p:cNvPr id="88" name="Google Shape;88;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9" name="Google Shape;89;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0" name="Shape 90"/>
        <p:cNvGrpSpPr/>
        <p:nvPr/>
      </p:nvGrpSpPr>
      <p:grpSpPr>
        <a:xfrm>
          <a:off x="0" y="0"/>
          <a:ext cx="0" cy="0"/>
          <a:chOff x="0" y="0"/>
          <a:chExt cx="0" cy="0"/>
        </a:xfrm>
      </p:grpSpPr>
      <p:cxnSp>
        <p:nvCxnSpPr>
          <p:cNvPr id="91" name="Google Shape;91;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2" name="Google Shape;92;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3" name="Google Shape;93;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4" name="Google Shape;94;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5" name="Google Shape;95;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6" name="Shape 96"/>
        <p:cNvGrpSpPr/>
        <p:nvPr/>
      </p:nvGrpSpPr>
      <p:grpSpPr>
        <a:xfrm>
          <a:off x="0" y="0"/>
          <a:ext cx="0" cy="0"/>
          <a:chOff x="0" y="0"/>
          <a:chExt cx="0" cy="0"/>
        </a:xfrm>
      </p:grpSpPr>
      <p:cxnSp>
        <p:nvCxnSpPr>
          <p:cNvPr id="97" name="Google Shape;97;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8" name="Google Shape;98;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9" name="Google Shape;99;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0" name="Google Shape;100;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1" name="Google Shape;101;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2" name="Google Shape;102;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0" name="Shape 330"/>
        <p:cNvGrpSpPr/>
        <p:nvPr/>
      </p:nvGrpSpPr>
      <p:grpSpPr>
        <a:xfrm>
          <a:off x="0" y="0"/>
          <a:ext cx="0" cy="0"/>
          <a:chOff x="0" y="0"/>
          <a:chExt cx="0" cy="0"/>
        </a:xfrm>
      </p:grpSpPr>
      <p:sp>
        <p:nvSpPr>
          <p:cNvPr id="331" name="Google Shape;331;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2" name="Google Shape;332;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3" name="Google Shape;33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4" name="Shape 334"/>
        <p:cNvGrpSpPr/>
        <p:nvPr/>
      </p:nvGrpSpPr>
      <p:grpSpPr>
        <a:xfrm>
          <a:off x="0" y="0"/>
          <a:ext cx="0" cy="0"/>
          <a:chOff x="0" y="0"/>
          <a:chExt cx="0" cy="0"/>
        </a:xfrm>
      </p:grpSpPr>
      <p:pic>
        <p:nvPicPr>
          <p:cNvPr id="335" name="Google Shape;335;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6" name="Google Shape;336;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7" name="Google Shape;337;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8" name="Google Shape;338;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0" name="Shape 340"/>
        <p:cNvGrpSpPr/>
        <p:nvPr/>
      </p:nvGrpSpPr>
      <p:grpSpPr>
        <a:xfrm>
          <a:off x="0" y="0"/>
          <a:ext cx="0" cy="0"/>
          <a:chOff x="0" y="0"/>
          <a:chExt cx="0" cy="0"/>
        </a:xfrm>
      </p:grpSpPr>
      <p:sp>
        <p:nvSpPr>
          <p:cNvPr id="341" name="Google Shape;341;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2" name="Google Shape;342;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4" name="Google Shape;344;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5" name="Google Shape;345;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6" name="Google Shape;346;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7" name="Shape 347"/>
        <p:cNvGrpSpPr/>
        <p:nvPr/>
      </p:nvGrpSpPr>
      <p:grpSpPr>
        <a:xfrm>
          <a:off x="0" y="0"/>
          <a:ext cx="0" cy="0"/>
          <a:chOff x="0" y="0"/>
          <a:chExt cx="0" cy="0"/>
        </a:xfrm>
      </p:grpSpPr>
      <p:sp>
        <p:nvSpPr>
          <p:cNvPr id="348" name="Google Shape;348;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49" name="Shape 349"/>
        <p:cNvGrpSpPr/>
        <p:nvPr/>
      </p:nvGrpSpPr>
      <p:grpSpPr>
        <a:xfrm>
          <a:off x="0" y="0"/>
          <a:ext cx="0" cy="0"/>
          <a:chOff x="0" y="0"/>
          <a:chExt cx="0" cy="0"/>
        </a:xfrm>
      </p:grpSpPr>
      <p:sp>
        <p:nvSpPr>
          <p:cNvPr id="350" name="Google Shape;350;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1" name="Google Shape;351;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2" name="Google Shape;352;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3" name="Google Shape;353;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4" name="Google Shape;354;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5" name="Google Shape;355;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6" name="Google Shape;356;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7" name="Shape 357"/>
        <p:cNvGrpSpPr/>
        <p:nvPr/>
      </p:nvGrpSpPr>
      <p:grpSpPr>
        <a:xfrm>
          <a:off x="0" y="0"/>
          <a:ext cx="0" cy="0"/>
          <a:chOff x="0" y="0"/>
          <a:chExt cx="0" cy="0"/>
        </a:xfrm>
      </p:grpSpPr>
      <p:sp>
        <p:nvSpPr>
          <p:cNvPr id="358" name="Google Shape;358;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9" name="Google Shape;359;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361" name="Google Shape;361;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2" name="Google Shape;362;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3" name="Shape 363"/>
        <p:cNvGrpSpPr/>
        <p:nvPr/>
      </p:nvGrpSpPr>
      <p:grpSpPr>
        <a:xfrm>
          <a:off x="0" y="0"/>
          <a:ext cx="0" cy="0"/>
          <a:chOff x="0" y="0"/>
          <a:chExt cx="0" cy="0"/>
        </a:xfrm>
      </p:grpSpPr>
      <p:sp>
        <p:nvSpPr>
          <p:cNvPr id="364" name="Google Shape;364;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5" name="Google Shape;365;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6" name="Google Shape;366;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7" name="Google Shape;367;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68" name="Shape 368"/>
        <p:cNvGrpSpPr/>
        <p:nvPr/>
      </p:nvGrpSpPr>
      <p:grpSpPr>
        <a:xfrm>
          <a:off x="0" y="0"/>
          <a:ext cx="0" cy="0"/>
          <a:chOff x="0" y="0"/>
          <a:chExt cx="0" cy="0"/>
        </a:xfrm>
      </p:grpSpPr>
      <p:sp>
        <p:nvSpPr>
          <p:cNvPr id="369" name="Google Shape;369;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1" name="Google Shape;371;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2" name="Google Shape;372;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5" name="Google Shape;375;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78" name="Google Shape;378;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79" name="Google Shape;379;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0" name="Google Shape;380;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1" name="Google Shape;381;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2" name="Shape 382"/>
        <p:cNvGrpSpPr/>
        <p:nvPr/>
      </p:nvGrpSpPr>
      <p:grpSpPr>
        <a:xfrm>
          <a:off x="0" y="0"/>
          <a:ext cx="0" cy="0"/>
          <a:chOff x="0" y="0"/>
          <a:chExt cx="0" cy="0"/>
        </a:xfrm>
      </p:grpSpPr>
      <p:sp>
        <p:nvSpPr>
          <p:cNvPr id="383" name="Google Shape;383;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4" name="Google Shape;384;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5" name="Google Shape;385;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6" name="Google Shape;386;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7" name="Google Shape;387;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88" name="Google Shape;388;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9" name="Google Shape;389;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0" name="Shape 390"/>
        <p:cNvGrpSpPr/>
        <p:nvPr/>
      </p:nvGrpSpPr>
      <p:grpSpPr>
        <a:xfrm>
          <a:off x="0" y="0"/>
          <a:ext cx="0" cy="0"/>
          <a:chOff x="0" y="0"/>
          <a:chExt cx="0" cy="0"/>
        </a:xfrm>
      </p:grpSpPr>
      <p:sp>
        <p:nvSpPr>
          <p:cNvPr id="391" name="Google Shape;391;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3" name="Google Shape;393;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4" name="Google Shape;394;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6" name="Google Shape;396;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7" name="Google Shape;397;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9" name="Google Shape;399;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0" name="Google Shape;400;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1" name="Google Shape;401;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2" name="Google Shape;402;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4" name="Shape 404"/>
        <p:cNvGrpSpPr/>
        <p:nvPr/>
      </p:nvGrpSpPr>
      <p:grpSpPr>
        <a:xfrm>
          <a:off x="0" y="0"/>
          <a:ext cx="0" cy="0"/>
          <a:chOff x="0" y="0"/>
          <a:chExt cx="0" cy="0"/>
        </a:xfrm>
      </p:grpSpPr>
      <p:cxnSp>
        <p:nvCxnSpPr>
          <p:cNvPr id="405" name="Google Shape;405;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6" name="Google Shape;406;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2" name="Google Shape;412;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3" name="Google Shape;413;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4" name="Google Shape;414;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5" name="Google Shape;415;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6" name="Google Shape;416;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7" name="Google Shape;417;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2" name="Google Shape;422;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3" name="Google Shape;423;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4" name="Google Shape;424;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6" name="Shape 426"/>
        <p:cNvGrpSpPr/>
        <p:nvPr/>
      </p:nvGrpSpPr>
      <p:grpSpPr>
        <a:xfrm>
          <a:off x="0" y="0"/>
          <a:ext cx="0" cy="0"/>
          <a:chOff x="0" y="0"/>
          <a:chExt cx="0" cy="0"/>
        </a:xfrm>
      </p:grpSpPr>
      <p:pic>
        <p:nvPicPr>
          <p:cNvPr id="427" name="Google Shape;427;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8" name="Google Shape;428;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29" name="Google Shape;429;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0" name="Google Shape;430;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1" name="Shape 431"/>
        <p:cNvGrpSpPr/>
        <p:nvPr/>
      </p:nvGrpSpPr>
      <p:grpSpPr>
        <a:xfrm>
          <a:off x="0" y="0"/>
          <a:ext cx="0" cy="0"/>
          <a:chOff x="0" y="0"/>
          <a:chExt cx="0" cy="0"/>
        </a:xfrm>
      </p:grpSpPr>
      <p:sp>
        <p:nvSpPr>
          <p:cNvPr id="432" name="Google Shape;432;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3" name="Google Shape;433;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4" name="Google Shape;434;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5" name="Google Shape;435;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6" name="Google Shape;436;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7" name="Shape 437"/>
        <p:cNvGrpSpPr/>
        <p:nvPr/>
      </p:nvGrpSpPr>
      <p:grpSpPr>
        <a:xfrm>
          <a:off x="0" y="0"/>
          <a:ext cx="0" cy="0"/>
          <a:chOff x="0" y="0"/>
          <a:chExt cx="0" cy="0"/>
        </a:xfrm>
      </p:grpSpPr>
      <p:sp>
        <p:nvSpPr>
          <p:cNvPr id="438" name="Google Shape;438;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39" name="Google Shape;439;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0" name="Google Shape;440;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1" name="Google Shape;441;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2" name="Google Shape;442;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3" name="Google Shape;443;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5" name="Google Shape;445;p61"/>
          <p:cNvGrpSpPr/>
          <p:nvPr/>
        </p:nvGrpSpPr>
        <p:grpSpPr>
          <a:xfrm>
            <a:off x="457181" y="1345103"/>
            <a:ext cx="533372" cy="533480"/>
            <a:chOff x="457200" y="1378813"/>
            <a:chExt cx="695400" cy="695450"/>
          </a:xfrm>
        </p:grpSpPr>
        <p:sp>
          <p:nvSpPr>
            <p:cNvPr id="446" name="Google Shape;446;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7" name="Google Shape;447;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61"/>
          <p:cNvGrpSpPr/>
          <p:nvPr/>
        </p:nvGrpSpPr>
        <p:grpSpPr>
          <a:xfrm>
            <a:off x="3228956" y="1345103"/>
            <a:ext cx="533372" cy="533480"/>
            <a:chOff x="457200" y="1378813"/>
            <a:chExt cx="695400" cy="695450"/>
          </a:xfrm>
        </p:grpSpPr>
        <p:sp>
          <p:nvSpPr>
            <p:cNvPr id="449" name="Google Shape;449;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0" name="Google Shape;450;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1" name="Google Shape;451;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3" name="Google Shape;453;p61"/>
          <p:cNvGrpSpPr/>
          <p:nvPr/>
        </p:nvGrpSpPr>
        <p:grpSpPr>
          <a:xfrm>
            <a:off x="6134081" y="1345853"/>
            <a:ext cx="533372" cy="533480"/>
            <a:chOff x="457200" y="1378813"/>
            <a:chExt cx="695400" cy="695450"/>
          </a:xfrm>
        </p:grpSpPr>
        <p:sp>
          <p:nvSpPr>
            <p:cNvPr id="454" name="Google Shape;454;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5" name="Google Shape;455;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6" name="Google Shape;456;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8" name="Google Shape;458;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59" name="Shape 459"/>
        <p:cNvGrpSpPr/>
        <p:nvPr/>
      </p:nvGrpSpPr>
      <p:grpSpPr>
        <a:xfrm>
          <a:off x="0" y="0"/>
          <a:ext cx="0" cy="0"/>
          <a:chOff x="0" y="0"/>
          <a:chExt cx="0" cy="0"/>
        </a:xfrm>
      </p:grpSpPr>
      <p:sp>
        <p:nvSpPr>
          <p:cNvPr id="460" name="Google Shape;460;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1" name="Google Shape;461;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2" name="Google Shape;462;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4" name="Shape 464"/>
        <p:cNvGrpSpPr/>
        <p:nvPr/>
      </p:nvGrpSpPr>
      <p:grpSpPr>
        <a:xfrm>
          <a:off x="0" y="0"/>
          <a:ext cx="0" cy="0"/>
          <a:chOff x="0" y="0"/>
          <a:chExt cx="0" cy="0"/>
        </a:xfrm>
      </p:grpSpPr>
      <p:sp>
        <p:nvSpPr>
          <p:cNvPr id="465" name="Google Shape;465;p63"/>
          <p:cNvSpPr/>
          <p:nvPr>
            <p:ph idx="2" type="pic"/>
          </p:nvPr>
        </p:nvSpPr>
        <p:spPr>
          <a:xfrm>
            <a:off x="5923375" y="150"/>
            <a:ext cx="3220500" cy="5143500"/>
          </a:xfrm>
          <a:prstGeom prst="rect">
            <a:avLst/>
          </a:prstGeom>
          <a:noFill/>
          <a:ln>
            <a:noFill/>
          </a:ln>
        </p:spPr>
      </p:sp>
      <p:sp>
        <p:nvSpPr>
          <p:cNvPr id="466" name="Google Shape;466;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7" name="Google Shape;467;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8" name="Google Shape;468;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69" name="Shape 469"/>
        <p:cNvGrpSpPr/>
        <p:nvPr/>
      </p:nvGrpSpPr>
      <p:grpSpPr>
        <a:xfrm>
          <a:off x="0" y="0"/>
          <a:ext cx="0" cy="0"/>
          <a:chOff x="0" y="0"/>
          <a:chExt cx="0" cy="0"/>
        </a:xfrm>
      </p:grpSpPr>
      <p:sp>
        <p:nvSpPr>
          <p:cNvPr id="470" name="Google Shape;470;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 name="Google Shape;471;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2" name="Google Shape;472;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3" name="Google Shape;473;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4" name="Shape 474"/>
        <p:cNvGrpSpPr/>
        <p:nvPr/>
      </p:nvGrpSpPr>
      <p:grpSpPr>
        <a:xfrm>
          <a:off x="0" y="0"/>
          <a:ext cx="0" cy="0"/>
          <a:chOff x="0" y="0"/>
          <a:chExt cx="0" cy="0"/>
        </a:xfrm>
      </p:grpSpPr>
      <p:sp>
        <p:nvSpPr>
          <p:cNvPr id="475" name="Google Shape;475;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6" name="Google Shape;476;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7" name="Google Shape;477;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8" name="Google Shape;478;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9" name="Google Shape;479;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0" name="Shape 480"/>
        <p:cNvGrpSpPr/>
        <p:nvPr/>
      </p:nvGrpSpPr>
      <p:grpSpPr>
        <a:xfrm>
          <a:off x="0" y="0"/>
          <a:ext cx="0" cy="0"/>
          <a:chOff x="0" y="0"/>
          <a:chExt cx="0" cy="0"/>
        </a:xfrm>
      </p:grpSpPr>
      <p:sp>
        <p:nvSpPr>
          <p:cNvPr id="481" name="Google Shape;481;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2" name="Google Shape;482;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3" name="Google Shape;483;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4" name="Google Shape;484;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5" name="Google Shape;485;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6" name="Shape 486"/>
        <p:cNvGrpSpPr/>
        <p:nvPr/>
      </p:nvGrpSpPr>
      <p:grpSpPr>
        <a:xfrm>
          <a:off x="0" y="0"/>
          <a:ext cx="0" cy="0"/>
          <a:chOff x="0" y="0"/>
          <a:chExt cx="0" cy="0"/>
        </a:xfrm>
      </p:grpSpPr>
      <p:grpSp>
        <p:nvGrpSpPr>
          <p:cNvPr id="487" name="Google Shape;487;p67"/>
          <p:cNvGrpSpPr/>
          <p:nvPr/>
        </p:nvGrpSpPr>
        <p:grpSpPr>
          <a:xfrm>
            <a:off x="511772" y="1190428"/>
            <a:ext cx="533372" cy="533480"/>
            <a:chOff x="457200" y="1378813"/>
            <a:chExt cx="695400" cy="695450"/>
          </a:xfrm>
        </p:grpSpPr>
        <p:sp>
          <p:nvSpPr>
            <p:cNvPr id="488" name="Google Shape;488;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89" name="Google Shape;489;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0" name="Google Shape;490;p67"/>
          <p:cNvGrpSpPr/>
          <p:nvPr/>
        </p:nvGrpSpPr>
        <p:grpSpPr>
          <a:xfrm>
            <a:off x="3283547" y="1190428"/>
            <a:ext cx="533372" cy="533480"/>
            <a:chOff x="457200" y="1378813"/>
            <a:chExt cx="695400" cy="695450"/>
          </a:xfrm>
        </p:grpSpPr>
        <p:sp>
          <p:nvSpPr>
            <p:cNvPr id="491" name="Google Shape;491;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2" name="Google Shape;492;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3" name="Google Shape;493;p67"/>
          <p:cNvGrpSpPr/>
          <p:nvPr/>
        </p:nvGrpSpPr>
        <p:grpSpPr>
          <a:xfrm>
            <a:off x="6188672" y="1191178"/>
            <a:ext cx="533372" cy="533480"/>
            <a:chOff x="457200" y="1378813"/>
            <a:chExt cx="695400" cy="695450"/>
          </a:xfrm>
        </p:grpSpPr>
        <p:sp>
          <p:nvSpPr>
            <p:cNvPr id="494" name="Google Shape;494;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5" name="Google Shape;495;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6" name="Google Shape;496;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7" name="Google Shape;497;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1" name="Shape 501"/>
        <p:cNvGrpSpPr/>
        <p:nvPr/>
      </p:nvGrpSpPr>
      <p:grpSpPr>
        <a:xfrm>
          <a:off x="0" y="0"/>
          <a:ext cx="0" cy="0"/>
          <a:chOff x="0" y="0"/>
          <a:chExt cx="0" cy="0"/>
        </a:xfrm>
      </p:grpSpPr>
      <p:sp>
        <p:nvSpPr>
          <p:cNvPr id="502" name="Google Shape;502;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3" name="Google Shape;503;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4" name="Google Shape;504;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5" name="Google Shape;505;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6" name="Google Shape;506;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7" name="Google Shape;507;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8" name="Google Shape;508;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09" name="Shape 509"/>
        <p:cNvGrpSpPr/>
        <p:nvPr/>
      </p:nvGrpSpPr>
      <p:grpSpPr>
        <a:xfrm>
          <a:off x="0" y="0"/>
          <a:ext cx="0" cy="0"/>
          <a:chOff x="0" y="0"/>
          <a:chExt cx="0" cy="0"/>
        </a:xfrm>
      </p:grpSpPr>
      <p:sp>
        <p:nvSpPr>
          <p:cNvPr id="510" name="Google Shape;510;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1" name="Google Shape;511;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2" name="Google Shape;512;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3" name="Google Shape;513;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4" name="Google Shape;514;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5" name="Shape 515"/>
        <p:cNvGrpSpPr/>
        <p:nvPr/>
      </p:nvGrpSpPr>
      <p:grpSpPr>
        <a:xfrm>
          <a:off x="0" y="0"/>
          <a:ext cx="0" cy="0"/>
          <a:chOff x="0" y="0"/>
          <a:chExt cx="0" cy="0"/>
        </a:xfrm>
      </p:grpSpPr>
      <p:sp>
        <p:nvSpPr>
          <p:cNvPr id="516" name="Google Shape;516;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7" name="Google Shape;517;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8" name="Google Shape;518;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9" name="Google Shape;519;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0" name="Google Shape;520;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1" name="Shape 521"/>
        <p:cNvGrpSpPr/>
        <p:nvPr/>
      </p:nvGrpSpPr>
      <p:grpSpPr>
        <a:xfrm>
          <a:off x="0" y="0"/>
          <a:ext cx="0" cy="0"/>
          <a:chOff x="0" y="0"/>
          <a:chExt cx="0" cy="0"/>
        </a:xfrm>
      </p:grpSpPr>
      <p:sp>
        <p:nvSpPr>
          <p:cNvPr id="522" name="Google Shape;522;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3" name="Google Shape;523;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4" name="Google Shape;524;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5" name="Google Shape;525;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7" name="Shape 527"/>
        <p:cNvGrpSpPr/>
        <p:nvPr/>
      </p:nvGrpSpPr>
      <p:grpSpPr>
        <a:xfrm>
          <a:off x="0" y="0"/>
          <a:ext cx="0" cy="0"/>
          <a:chOff x="0" y="0"/>
          <a:chExt cx="0" cy="0"/>
        </a:xfrm>
      </p:grpSpPr>
      <p:sp>
        <p:nvSpPr>
          <p:cNvPr id="528" name="Google Shape;528;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9" name="Google Shape;529;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0" name="Google Shape;530;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1" name="Google Shape;531;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3" name="Shape 533"/>
        <p:cNvGrpSpPr/>
        <p:nvPr/>
      </p:nvGrpSpPr>
      <p:grpSpPr>
        <a:xfrm>
          <a:off x="0" y="0"/>
          <a:ext cx="0" cy="0"/>
          <a:chOff x="0" y="0"/>
          <a:chExt cx="0" cy="0"/>
        </a:xfrm>
      </p:grpSpPr>
      <p:sp>
        <p:nvSpPr>
          <p:cNvPr id="534" name="Google Shape;534;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5" name="Google Shape;535;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6" name="Google Shape;536;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7" name="Google Shape;537;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8" name="Google Shape;538;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39" name="Shape 539"/>
        <p:cNvGrpSpPr/>
        <p:nvPr/>
      </p:nvGrpSpPr>
      <p:grpSpPr>
        <a:xfrm>
          <a:off x="0" y="0"/>
          <a:ext cx="0" cy="0"/>
          <a:chOff x="0" y="0"/>
          <a:chExt cx="0" cy="0"/>
        </a:xfrm>
      </p:grpSpPr>
      <p:sp>
        <p:nvSpPr>
          <p:cNvPr id="540" name="Google Shape;540;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1" name="Google Shape;541;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2" name="Google Shape;542;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3" name="Google Shape;543;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5" name="Shape 545"/>
        <p:cNvGrpSpPr/>
        <p:nvPr/>
      </p:nvGrpSpPr>
      <p:grpSpPr>
        <a:xfrm>
          <a:off x="0" y="0"/>
          <a:ext cx="0" cy="0"/>
          <a:chOff x="0" y="0"/>
          <a:chExt cx="0" cy="0"/>
        </a:xfrm>
      </p:grpSpPr>
      <p:sp>
        <p:nvSpPr>
          <p:cNvPr id="546" name="Google Shape;546;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7" name="Google Shape;547;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8" name="Google Shape;548;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9" name="Google Shape;549;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0" name="Google Shape;550;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1" name="Shape 551"/>
        <p:cNvGrpSpPr/>
        <p:nvPr/>
      </p:nvGrpSpPr>
      <p:grpSpPr>
        <a:xfrm>
          <a:off x="0" y="0"/>
          <a:ext cx="0" cy="0"/>
          <a:chOff x="0" y="0"/>
          <a:chExt cx="0" cy="0"/>
        </a:xfrm>
      </p:grpSpPr>
      <p:sp>
        <p:nvSpPr>
          <p:cNvPr id="552" name="Google Shape;552;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3" name="Google Shape;553;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4" name="Google Shape;554;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5" name="Google Shape;555;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6" name="Google Shape;556;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7" name="Shape 557"/>
        <p:cNvGrpSpPr/>
        <p:nvPr/>
      </p:nvGrpSpPr>
      <p:grpSpPr>
        <a:xfrm>
          <a:off x="0" y="0"/>
          <a:ext cx="0" cy="0"/>
          <a:chOff x="0" y="0"/>
          <a:chExt cx="0" cy="0"/>
        </a:xfrm>
      </p:grpSpPr>
      <p:sp>
        <p:nvSpPr>
          <p:cNvPr id="558" name="Google Shape;558;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9" name="Google Shape;559;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0" name="Google Shape;560;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1" name="Google Shape;561;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2" name="Google Shape;562;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3" name="Shape 563"/>
        <p:cNvGrpSpPr/>
        <p:nvPr/>
      </p:nvGrpSpPr>
      <p:grpSpPr>
        <a:xfrm>
          <a:off x="0" y="0"/>
          <a:ext cx="0" cy="0"/>
          <a:chOff x="0" y="0"/>
          <a:chExt cx="0" cy="0"/>
        </a:xfrm>
      </p:grpSpPr>
      <p:sp>
        <p:nvSpPr>
          <p:cNvPr id="564" name="Google Shape;564;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5" name="Google Shape;565;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6" name="Google Shape;566;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7" name="Google Shape;567;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8" name="Google Shape;568;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69" name="Shape 569"/>
        <p:cNvGrpSpPr/>
        <p:nvPr/>
      </p:nvGrpSpPr>
      <p:grpSpPr>
        <a:xfrm>
          <a:off x="0" y="0"/>
          <a:ext cx="0" cy="0"/>
          <a:chOff x="0" y="0"/>
          <a:chExt cx="0" cy="0"/>
        </a:xfrm>
      </p:grpSpPr>
      <p:sp>
        <p:nvSpPr>
          <p:cNvPr id="570" name="Google Shape;570;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1" name="Google Shape;571;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2" name="Google Shape;572;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3" name="Google Shape;573;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5" name="Shape 575"/>
        <p:cNvGrpSpPr/>
        <p:nvPr/>
      </p:nvGrpSpPr>
      <p:grpSpPr>
        <a:xfrm>
          <a:off x="0" y="0"/>
          <a:ext cx="0" cy="0"/>
          <a:chOff x="0" y="0"/>
          <a:chExt cx="0" cy="0"/>
        </a:xfrm>
      </p:grpSpPr>
      <p:sp>
        <p:nvSpPr>
          <p:cNvPr id="576" name="Google Shape;576;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7" name="Google Shape;577;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8" name="Google Shape;578;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79" name="Google Shape;579;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1" name="Google Shape;581;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2" name="Google Shape;582;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3" name="Google Shape;583;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4" name="Google Shape;584;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7" name="Google Shape;587;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8" name="Shape 588"/>
        <p:cNvGrpSpPr/>
        <p:nvPr/>
      </p:nvGrpSpPr>
      <p:grpSpPr>
        <a:xfrm>
          <a:off x="0" y="0"/>
          <a:ext cx="0" cy="0"/>
          <a:chOff x="0" y="0"/>
          <a:chExt cx="0" cy="0"/>
        </a:xfrm>
      </p:grpSpPr>
      <p:sp>
        <p:nvSpPr>
          <p:cNvPr id="589" name="Google Shape;589;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0" name="Google Shape;590;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1" name="Google Shape;591;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2" name="Google Shape;592;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4" name="Shape 594"/>
        <p:cNvGrpSpPr/>
        <p:nvPr/>
      </p:nvGrpSpPr>
      <p:grpSpPr>
        <a:xfrm>
          <a:off x="0" y="0"/>
          <a:ext cx="0" cy="0"/>
          <a:chOff x="0" y="0"/>
          <a:chExt cx="0" cy="0"/>
        </a:xfrm>
      </p:grpSpPr>
      <p:sp>
        <p:nvSpPr>
          <p:cNvPr id="595" name="Google Shape;595;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6" name="Google Shape;596;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7" name="Google Shape;597;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8" name="Google Shape;598;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9" name="Google Shape;599;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0" name="Shape 600"/>
        <p:cNvGrpSpPr/>
        <p:nvPr/>
      </p:nvGrpSpPr>
      <p:grpSpPr>
        <a:xfrm>
          <a:off x="0" y="0"/>
          <a:ext cx="0" cy="0"/>
          <a:chOff x="0" y="0"/>
          <a:chExt cx="0" cy="0"/>
        </a:xfrm>
      </p:grpSpPr>
      <p:sp>
        <p:nvSpPr>
          <p:cNvPr id="601" name="Google Shape;601;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3" name="Google Shape;603;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4" name="Google Shape;604;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6" name="Google Shape;606;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7" name="Google Shape;607;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9" name="Google Shape;609;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0" name="Google Shape;610;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1" name="Google Shape;611;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2" name="Google Shape;612;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3" name="Google Shape;613;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4" name="Shape 614"/>
        <p:cNvGrpSpPr/>
        <p:nvPr/>
      </p:nvGrpSpPr>
      <p:grpSpPr>
        <a:xfrm>
          <a:off x="0" y="0"/>
          <a:ext cx="0" cy="0"/>
          <a:chOff x="0" y="0"/>
          <a:chExt cx="0" cy="0"/>
        </a:xfrm>
      </p:grpSpPr>
      <p:pic>
        <p:nvPicPr>
          <p:cNvPr id="615" name="Google Shape;615;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6" name="Google Shape;616;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7" name="Google Shape;617;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0" name="Shape 620"/>
        <p:cNvGrpSpPr/>
        <p:nvPr/>
      </p:nvGrpSpPr>
      <p:grpSpPr>
        <a:xfrm>
          <a:off x="0" y="0"/>
          <a:ext cx="0" cy="0"/>
          <a:chOff x="0" y="0"/>
          <a:chExt cx="0" cy="0"/>
        </a:xfrm>
      </p:grpSpPr>
      <p:sp>
        <p:nvSpPr>
          <p:cNvPr id="621" name="Google Shape;621;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2" name="Google Shape;622;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3" name="Google Shape;623;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4" name="Google Shape;624;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5" name="Google Shape;625;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6" name="Shape 626"/>
        <p:cNvGrpSpPr/>
        <p:nvPr/>
      </p:nvGrpSpPr>
      <p:grpSpPr>
        <a:xfrm>
          <a:off x="0" y="0"/>
          <a:ext cx="0" cy="0"/>
          <a:chOff x="0" y="0"/>
          <a:chExt cx="0" cy="0"/>
        </a:xfrm>
      </p:grpSpPr>
      <p:sp>
        <p:nvSpPr>
          <p:cNvPr id="627" name="Google Shape;627;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8" name="Google Shape;628;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9" name="Google Shape;629;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0" name="Google Shape;630;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1" name="Google Shape;631;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2" name="Shape 632"/>
        <p:cNvGrpSpPr/>
        <p:nvPr/>
      </p:nvGrpSpPr>
      <p:grpSpPr>
        <a:xfrm>
          <a:off x="0" y="0"/>
          <a:ext cx="0" cy="0"/>
          <a:chOff x="0" y="0"/>
          <a:chExt cx="0" cy="0"/>
        </a:xfrm>
      </p:grpSpPr>
      <p:sp>
        <p:nvSpPr>
          <p:cNvPr id="633" name="Google Shape;633;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4" name="Google Shape;634;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5" name="Google Shape;635;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6" name="Google Shape;636;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7" name="Google Shape;637;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8" name="Shape 638"/>
        <p:cNvGrpSpPr/>
        <p:nvPr/>
      </p:nvGrpSpPr>
      <p:grpSpPr>
        <a:xfrm>
          <a:off x="0" y="0"/>
          <a:ext cx="0" cy="0"/>
          <a:chOff x="0" y="0"/>
          <a:chExt cx="0" cy="0"/>
        </a:xfrm>
      </p:grpSpPr>
      <p:sp>
        <p:nvSpPr>
          <p:cNvPr id="639" name="Google Shape;639;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0" name="Google Shape;640;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1" name="Google Shape;641;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2" name="Google Shape;642;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3" name="Google Shape;643;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4" name="Shape 644"/>
        <p:cNvGrpSpPr/>
        <p:nvPr/>
      </p:nvGrpSpPr>
      <p:grpSpPr>
        <a:xfrm>
          <a:off x="0" y="0"/>
          <a:ext cx="0" cy="0"/>
          <a:chOff x="0" y="0"/>
          <a:chExt cx="0" cy="0"/>
        </a:xfrm>
      </p:grpSpPr>
      <p:sp>
        <p:nvSpPr>
          <p:cNvPr id="645" name="Google Shape;645;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6" name="Google Shape;646;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7" name="Google Shape;647;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8" name="Google Shape;648;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9" name="Google Shape;649;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0" name="Shape 650"/>
        <p:cNvGrpSpPr/>
        <p:nvPr/>
      </p:nvGrpSpPr>
      <p:grpSpPr>
        <a:xfrm>
          <a:off x="0" y="0"/>
          <a:ext cx="0" cy="0"/>
          <a:chOff x="0" y="0"/>
          <a:chExt cx="0" cy="0"/>
        </a:xfrm>
      </p:grpSpPr>
      <p:sp>
        <p:nvSpPr>
          <p:cNvPr id="651" name="Google Shape;651;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2" name="Google Shape;652;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3" name="Google Shape;653;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4" name="Google Shape;654;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5" name="Google Shape;655;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6" name="Shape 656"/>
        <p:cNvGrpSpPr/>
        <p:nvPr/>
      </p:nvGrpSpPr>
      <p:grpSpPr>
        <a:xfrm>
          <a:off x="0" y="0"/>
          <a:ext cx="0" cy="0"/>
          <a:chOff x="0" y="0"/>
          <a:chExt cx="0" cy="0"/>
        </a:xfrm>
      </p:grpSpPr>
      <p:sp>
        <p:nvSpPr>
          <p:cNvPr id="657" name="Google Shape;657;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8" name="Google Shape;658;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9" name="Google Shape;659;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0" name="Google Shape;660;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1" name="Google Shape;661;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2" name="Shape 662"/>
        <p:cNvGrpSpPr/>
        <p:nvPr/>
      </p:nvGrpSpPr>
      <p:grpSpPr>
        <a:xfrm>
          <a:off x="0" y="0"/>
          <a:ext cx="0" cy="0"/>
          <a:chOff x="0" y="0"/>
          <a:chExt cx="0" cy="0"/>
        </a:xfrm>
      </p:grpSpPr>
      <p:sp>
        <p:nvSpPr>
          <p:cNvPr id="663" name="Google Shape;663;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4" name="Google Shape;664;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5" name="Google Shape;665;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6" name="Google Shape;666;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7" name="Google Shape;667;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8" name="Shape 668"/>
        <p:cNvGrpSpPr/>
        <p:nvPr/>
      </p:nvGrpSpPr>
      <p:grpSpPr>
        <a:xfrm>
          <a:off x="0" y="0"/>
          <a:ext cx="0" cy="0"/>
          <a:chOff x="0" y="0"/>
          <a:chExt cx="0" cy="0"/>
        </a:xfrm>
      </p:grpSpPr>
      <p:sp>
        <p:nvSpPr>
          <p:cNvPr id="669" name="Google Shape;669;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0" name="Google Shape;670;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1" name="Google Shape;671;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2" name="Google Shape;672;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3" name="Google Shape;673;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4" name="Shape 674"/>
        <p:cNvGrpSpPr/>
        <p:nvPr/>
      </p:nvGrpSpPr>
      <p:grpSpPr>
        <a:xfrm>
          <a:off x="0" y="0"/>
          <a:ext cx="0" cy="0"/>
          <a:chOff x="0" y="0"/>
          <a:chExt cx="0" cy="0"/>
        </a:xfrm>
      </p:grpSpPr>
      <p:sp>
        <p:nvSpPr>
          <p:cNvPr id="675" name="Google Shape;675;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6" name="Google Shape;676;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7" name="Google Shape;677;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8" name="Google Shape;678;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9" name="Google Shape;679;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0" name="Shape 680"/>
        <p:cNvGrpSpPr/>
        <p:nvPr/>
      </p:nvGrpSpPr>
      <p:grpSpPr>
        <a:xfrm>
          <a:off x="0" y="0"/>
          <a:ext cx="0" cy="0"/>
          <a:chOff x="0" y="0"/>
          <a:chExt cx="0" cy="0"/>
        </a:xfrm>
      </p:grpSpPr>
      <p:sp>
        <p:nvSpPr>
          <p:cNvPr id="681" name="Google Shape;681;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2" name="Google Shape;682;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3" name="Google Shape;683;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4" name="Google Shape;684;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5" name="Google Shape;685;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6" name="Shape 686"/>
        <p:cNvGrpSpPr/>
        <p:nvPr/>
      </p:nvGrpSpPr>
      <p:grpSpPr>
        <a:xfrm>
          <a:off x="0" y="0"/>
          <a:ext cx="0" cy="0"/>
          <a:chOff x="0" y="0"/>
          <a:chExt cx="0" cy="0"/>
        </a:xfrm>
      </p:grpSpPr>
      <p:sp>
        <p:nvSpPr>
          <p:cNvPr id="687" name="Google Shape;687;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8" name="Google Shape;688;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9" name="Google Shape;689;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0" name="Google Shape;690;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2" name="Shape 692"/>
        <p:cNvGrpSpPr/>
        <p:nvPr/>
      </p:nvGrpSpPr>
      <p:grpSpPr>
        <a:xfrm>
          <a:off x="0" y="0"/>
          <a:ext cx="0" cy="0"/>
          <a:chOff x="0" y="0"/>
          <a:chExt cx="0" cy="0"/>
        </a:xfrm>
      </p:grpSpPr>
      <p:sp>
        <p:nvSpPr>
          <p:cNvPr id="693" name="Google Shape;693;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4" name="Google Shape;694;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5" name="Google Shape;695;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6" name="Google Shape;696;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8" name="Shape 698"/>
        <p:cNvGrpSpPr/>
        <p:nvPr/>
      </p:nvGrpSpPr>
      <p:grpSpPr>
        <a:xfrm>
          <a:off x="0" y="0"/>
          <a:ext cx="0" cy="0"/>
          <a:chOff x="0" y="0"/>
          <a:chExt cx="0" cy="0"/>
        </a:xfrm>
      </p:grpSpPr>
      <p:sp>
        <p:nvSpPr>
          <p:cNvPr id="699" name="Google Shape;699;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0" name="Google Shape;700;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1" name="Google Shape;701;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2" name="Google Shape;702;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3" name="Google Shape;703;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4" name="Shape 704"/>
        <p:cNvGrpSpPr/>
        <p:nvPr/>
      </p:nvGrpSpPr>
      <p:grpSpPr>
        <a:xfrm>
          <a:off x="0" y="0"/>
          <a:ext cx="0" cy="0"/>
          <a:chOff x="0" y="0"/>
          <a:chExt cx="0" cy="0"/>
        </a:xfrm>
      </p:grpSpPr>
      <p:sp>
        <p:nvSpPr>
          <p:cNvPr id="705" name="Google Shape;705;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6" name="Google Shape;706;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7" name="Google Shape;707;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8" name="Google Shape;708;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9" name="Google Shape;709;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0" name="Shape 710"/>
        <p:cNvGrpSpPr/>
        <p:nvPr/>
      </p:nvGrpSpPr>
      <p:grpSpPr>
        <a:xfrm>
          <a:off x="0" y="0"/>
          <a:ext cx="0" cy="0"/>
          <a:chOff x="0" y="0"/>
          <a:chExt cx="0" cy="0"/>
        </a:xfrm>
      </p:grpSpPr>
      <p:sp>
        <p:nvSpPr>
          <p:cNvPr id="711" name="Google Shape;711;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2" name="Google Shape;712;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3" name="Google Shape;713;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4" name="Google Shape;714;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5" name="Google Shape;715;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6" name="Shape 716"/>
        <p:cNvGrpSpPr/>
        <p:nvPr/>
      </p:nvGrpSpPr>
      <p:grpSpPr>
        <a:xfrm>
          <a:off x="0" y="0"/>
          <a:ext cx="0" cy="0"/>
          <a:chOff x="0" y="0"/>
          <a:chExt cx="0" cy="0"/>
        </a:xfrm>
      </p:grpSpPr>
      <p:sp>
        <p:nvSpPr>
          <p:cNvPr id="717" name="Google Shape;717;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8" name="Google Shape;718;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9" name="Google Shape;719;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0" name="Google Shape;720;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2" name="Shape 722"/>
        <p:cNvGrpSpPr/>
        <p:nvPr/>
      </p:nvGrpSpPr>
      <p:grpSpPr>
        <a:xfrm>
          <a:off x="0" y="0"/>
          <a:ext cx="0" cy="0"/>
          <a:chOff x="0" y="0"/>
          <a:chExt cx="0" cy="0"/>
        </a:xfrm>
      </p:grpSpPr>
      <p:sp>
        <p:nvSpPr>
          <p:cNvPr id="723" name="Google Shape;723;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4" name="Google Shape;724;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5" name="Google Shape;725;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6" name="Google Shape;726;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7" name="Google Shape;727;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8" name="Shape 728"/>
        <p:cNvGrpSpPr/>
        <p:nvPr/>
      </p:nvGrpSpPr>
      <p:grpSpPr>
        <a:xfrm>
          <a:off x="0" y="0"/>
          <a:ext cx="0" cy="0"/>
          <a:chOff x="0" y="0"/>
          <a:chExt cx="0" cy="0"/>
        </a:xfrm>
      </p:grpSpPr>
      <p:sp>
        <p:nvSpPr>
          <p:cNvPr id="729" name="Google Shape;729;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0" name="Google Shape;730;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1" name="Google Shape;731;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2" name="Google Shape;732;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3" name="Google Shape;733;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4" name="Shape 734"/>
        <p:cNvGrpSpPr/>
        <p:nvPr/>
      </p:nvGrpSpPr>
      <p:grpSpPr>
        <a:xfrm>
          <a:off x="0" y="0"/>
          <a:ext cx="0" cy="0"/>
          <a:chOff x="0" y="0"/>
          <a:chExt cx="0" cy="0"/>
        </a:xfrm>
      </p:grpSpPr>
      <p:sp>
        <p:nvSpPr>
          <p:cNvPr id="735" name="Google Shape;735;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6" name="Google Shape;736;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7" name="Google Shape;737;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8" name="Google Shape;738;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9" name="Google Shape;739;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0" name="Shape 740"/>
        <p:cNvGrpSpPr/>
        <p:nvPr/>
      </p:nvGrpSpPr>
      <p:grpSpPr>
        <a:xfrm>
          <a:off x="0" y="0"/>
          <a:ext cx="0" cy="0"/>
          <a:chOff x="0" y="0"/>
          <a:chExt cx="0" cy="0"/>
        </a:xfrm>
      </p:grpSpPr>
      <p:sp>
        <p:nvSpPr>
          <p:cNvPr id="741" name="Google Shape;741;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2" name="Google Shape;742;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3" name="Google Shape;743;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4" name="Google Shape;744;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5" name="Google Shape;745;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6" name="Shape 746"/>
        <p:cNvGrpSpPr/>
        <p:nvPr/>
      </p:nvGrpSpPr>
      <p:grpSpPr>
        <a:xfrm>
          <a:off x="0" y="0"/>
          <a:ext cx="0" cy="0"/>
          <a:chOff x="0" y="0"/>
          <a:chExt cx="0" cy="0"/>
        </a:xfrm>
      </p:grpSpPr>
      <p:sp>
        <p:nvSpPr>
          <p:cNvPr id="747" name="Google Shape;747;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8" name="Google Shape;748;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9" name="Google Shape;749;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0" name="Google Shape;750;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1" name="Google Shape;751;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2" name="Shape 752"/>
        <p:cNvGrpSpPr/>
        <p:nvPr/>
      </p:nvGrpSpPr>
      <p:grpSpPr>
        <a:xfrm>
          <a:off x="0" y="0"/>
          <a:ext cx="0" cy="0"/>
          <a:chOff x="0" y="0"/>
          <a:chExt cx="0" cy="0"/>
        </a:xfrm>
      </p:grpSpPr>
      <p:sp>
        <p:nvSpPr>
          <p:cNvPr id="753" name="Google Shape;753;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7" name="Google Shape;757;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8" name="Google Shape;758;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59" name="Google Shape;759;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0" name="Google Shape;760;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3" name="Google Shape;763;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7" name="Google Shape;767;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8" name="Shape 768"/>
        <p:cNvGrpSpPr/>
        <p:nvPr/>
      </p:nvGrpSpPr>
      <p:grpSpPr>
        <a:xfrm>
          <a:off x="0" y="0"/>
          <a:ext cx="0" cy="0"/>
          <a:chOff x="0" y="0"/>
          <a:chExt cx="0" cy="0"/>
        </a:xfrm>
      </p:grpSpPr>
      <p:sp>
        <p:nvSpPr>
          <p:cNvPr id="769" name="Google Shape;769;p108"/>
          <p:cNvSpPr/>
          <p:nvPr>
            <p:ph idx="2" type="pic"/>
          </p:nvPr>
        </p:nvSpPr>
        <p:spPr>
          <a:xfrm>
            <a:off x="5923375" y="150"/>
            <a:ext cx="3220500" cy="5143500"/>
          </a:xfrm>
          <a:prstGeom prst="rect">
            <a:avLst/>
          </a:prstGeom>
          <a:noFill/>
          <a:ln>
            <a:noFill/>
          </a:ln>
        </p:spPr>
      </p:sp>
      <p:sp>
        <p:nvSpPr>
          <p:cNvPr id="770" name="Google Shape;770;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1" name="Google Shape;771;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2" name="Google Shape;772;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3" name="Shape 773"/>
        <p:cNvGrpSpPr/>
        <p:nvPr/>
      </p:nvGrpSpPr>
      <p:grpSpPr>
        <a:xfrm>
          <a:off x="0" y="0"/>
          <a:ext cx="0" cy="0"/>
          <a:chOff x="0" y="0"/>
          <a:chExt cx="0" cy="0"/>
        </a:xfrm>
      </p:grpSpPr>
      <p:sp>
        <p:nvSpPr>
          <p:cNvPr id="774" name="Google Shape;774;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5" name="Shape 775"/>
        <p:cNvGrpSpPr/>
        <p:nvPr/>
      </p:nvGrpSpPr>
      <p:grpSpPr>
        <a:xfrm>
          <a:off x="0" y="0"/>
          <a:ext cx="0" cy="0"/>
          <a:chOff x="0" y="0"/>
          <a:chExt cx="0" cy="0"/>
        </a:xfrm>
      </p:grpSpPr>
      <p:sp>
        <p:nvSpPr>
          <p:cNvPr id="776" name="Google Shape;776;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7" name="Shape 777"/>
        <p:cNvGrpSpPr/>
        <p:nvPr/>
      </p:nvGrpSpPr>
      <p:grpSpPr>
        <a:xfrm>
          <a:off x="0" y="0"/>
          <a:ext cx="0" cy="0"/>
          <a:chOff x="0" y="0"/>
          <a:chExt cx="0" cy="0"/>
        </a:xfrm>
      </p:grpSpPr>
      <p:sp>
        <p:nvSpPr>
          <p:cNvPr id="778" name="Google Shape;778;p111"/>
          <p:cNvSpPr/>
          <p:nvPr>
            <p:ph idx="2" type="pic"/>
          </p:nvPr>
        </p:nvSpPr>
        <p:spPr>
          <a:xfrm>
            <a:off x="5923375" y="150"/>
            <a:ext cx="3220500" cy="5143500"/>
          </a:xfrm>
          <a:prstGeom prst="rect">
            <a:avLst/>
          </a:prstGeom>
          <a:noFill/>
          <a:ln>
            <a:noFill/>
          </a:ln>
        </p:spPr>
      </p:sp>
      <p:sp>
        <p:nvSpPr>
          <p:cNvPr id="779" name="Google Shape;779;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0" name="Google Shape;780;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1" name="Google Shape;781;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2" name="Shape 782"/>
        <p:cNvGrpSpPr/>
        <p:nvPr/>
      </p:nvGrpSpPr>
      <p:grpSpPr>
        <a:xfrm>
          <a:off x="0" y="0"/>
          <a:ext cx="0" cy="0"/>
          <a:chOff x="0" y="0"/>
          <a:chExt cx="0" cy="0"/>
        </a:xfrm>
      </p:grpSpPr>
      <p:sp>
        <p:nvSpPr>
          <p:cNvPr id="783" name="Google Shape;783;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4" name="Google Shape;784;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5" name="Google Shape;785;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6" name="Google Shape;786;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7" name="Shape 787"/>
        <p:cNvGrpSpPr/>
        <p:nvPr/>
      </p:nvGrpSpPr>
      <p:grpSpPr>
        <a:xfrm>
          <a:off x="0" y="0"/>
          <a:ext cx="0" cy="0"/>
          <a:chOff x="0" y="0"/>
          <a:chExt cx="0" cy="0"/>
        </a:xfrm>
      </p:grpSpPr>
      <p:sp>
        <p:nvSpPr>
          <p:cNvPr id="788" name="Google Shape;788;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9" name="Google Shape;789;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1" name="Google Shape;791;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2" name="Shape 792"/>
        <p:cNvGrpSpPr/>
        <p:nvPr/>
      </p:nvGrpSpPr>
      <p:grpSpPr>
        <a:xfrm>
          <a:off x="0" y="0"/>
          <a:ext cx="0" cy="0"/>
          <a:chOff x="0" y="0"/>
          <a:chExt cx="0" cy="0"/>
        </a:xfrm>
      </p:grpSpPr>
      <p:sp>
        <p:nvSpPr>
          <p:cNvPr id="793" name="Google Shape;793;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4" name="Google Shape;794;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6" name="Shape 796"/>
        <p:cNvGrpSpPr/>
        <p:nvPr/>
      </p:nvGrpSpPr>
      <p:grpSpPr>
        <a:xfrm>
          <a:off x="0" y="0"/>
          <a:ext cx="0" cy="0"/>
          <a:chOff x="0" y="0"/>
          <a:chExt cx="0" cy="0"/>
        </a:xfrm>
      </p:grpSpPr>
      <p:sp>
        <p:nvSpPr>
          <p:cNvPr id="797" name="Google Shape;797;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8" name="Google Shape;798;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0" name="Google Shape;800;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1" name="Google Shape;801;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2" name="Shape 802"/>
        <p:cNvGrpSpPr/>
        <p:nvPr/>
      </p:nvGrpSpPr>
      <p:grpSpPr>
        <a:xfrm>
          <a:off x="0" y="0"/>
          <a:ext cx="0" cy="0"/>
          <a:chOff x="0" y="0"/>
          <a:chExt cx="0" cy="0"/>
        </a:xfrm>
      </p:grpSpPr>
      <p:cxnSp>
        <p:nvCxnSpPr>
          <p:cNvPr id="803" name="Google Shape;803;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4" name="Google Shape;804;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5" name="Google Shape;805;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6" name="Google Shape;806;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7" name="Shape 807"/>
        <p:cNvGrpSpPr/>
        <p:nvPr/>
      </p:nvGrpSpPr>
      <p:grpSpPr>
        <a:xfrm>
          <a:off x="0" y="0"/>
          <a:ext cx="0" cy="0"/>
          <a:chOff x="0" y="0"/>
          <a:chExt cx="0" cy="0"/>
        </a:xfrm>
      </p:grpSpPr>
      <p:cxnSp>
        <p:nvCxnSpPr>
          <p:cNvPr id="808" name="Google Shape;808;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9" name="Google Shape;809;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0" name="Google Shape;810;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1" name="Google Shape;811;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2" name="Shape 812"/>
        <p:cNvGrpSpPr/>
        <p:nvPr/>
      </p:nvGrpSpPr>
      <p:grpSpPr>
        <a:xfrm>
          <a:off x="0" y="0"/>
          <a:ext cx="0" cy="0"/>
          <a:chOff x="0" y="0"/>
          <a:chExt cx="0" cy="0"/>
        </a:xfrm>
      </p:grpSpPr>
      <p:cxnSp>
        <p:nvCxnSpPr>
          <p:cNvPr id="813" name="Google Shape;813;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4" name="Google Shape;814;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5" name="Google Shape;815;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6" name="Google Shape;816;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7" name="Shape 817"/>
        <p:cNvGrpSpPr/>
        <p:nvPr/>
      </p:nvGrpSpPr>
      <p:grpSpPr>
        <a:xfrm>
          <a:off x="0" y="0"/>
          <a:ext cx="0" cy="0"/>
          <a:chOff x="0" y="0"/>
          <a:chExt cx="0" cy="0"/>
        </a:xfrm>
      </p:grpSpPr>
      <p:sp>
        <p:nvSpPr>
          <p:cNvPr id="818" name="Google Shape;818;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 name="Google Shape;819;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1" name="Google Shape;821;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2" name="Google Shape;822;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3" name="Shape 823"/>
        <p:cNvGrpSpPr/>
        <p:nvPr/>
      </p:nvGrpSpPr>
      <p:grpSpPr>
        <a:xfrm>
          <a:off x="0" y="0"/>
          <a:ext cx="0" cy="0"/>
          <a:chOff x="0" y="0"/>
          <a:chExt cx="0" cy="0"/>
        </a:xfrm>
      </p:grpSpPr>
      <p:sp>
        <p:nvSpPr>
          <p:cNvPr id="824" name="Google Shape;824;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5" name="Google Shape;825;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6" name="Google Shape;826;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7" name="Google Shape;827;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8" name="Shape 828"/>
        <p:cNvGrpSpPr/>
        <p:nvPr/>
      </p:nvGrpSpPr>
      <p:grpSpPr>
        <a:xfrm>
          <a:off x="0" y="0"/>
          <a:ext cx="0" cy="0"/>
          <a:chOff x="0" y="0"/>
          <a:chExt cx="0" cy="0"/>
        </a:xfrm>
      </p:grpSpPr>
      <p:sp>
        <p:nvSpPr>
          <p:cNvPr id="829" name="Google Shape;829;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0" name="Google Shape;830;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1" name="Google Shape;831;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2" name="Google Shape;832;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3" name="Shape 833"/>
        <p:cNvGrpSpPr/>
        <p:nvPr/>
      </p:nvGrpSpPr>
      <p:grpSpPr>
        <a:xfrm>
          <a:off x="0" y="0"/>
          <a:ext cx="0" cy="0"/>
          <a:chOff x="0" y="0"/>
          <a:chExt cx="0" cy="0"/>
        </a:xfrm>
      </p:grpSpPr>
      <p:sp>
        <p:nvSpPr>
          <p:cNvPr id="834" name="Google Shape;834;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5" name="Google Shape;835;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6" name="Google Shape;836;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7" name="Google Shape;837;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8" name="Shape 838"/>
        <p:cNvGrpSpPr/>
        <p:nvPr/>
      </p:nvGrpSpPr>
      <p:grpSpPr>
        <a:xfrm>
          <a:off x="0" y="0"/>
          <a:ext cx="0" cy="0"/>
          <a:chOff x="0" y="0"/>
          <a:chExt cx="0" cy="0"/>
        </a:xfrm>
      </p:grpSpPr>
      <p:sp>
        <p:nvSpPr>
          <p:cNvPr id="839" name="Google Shape;839;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0" name="Google Shape;840;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1" name="Google Shape;841;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2" name="Google Shape;842;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3" name="Shape 843"/>
        <p:cNvGrpSpPr/>
        <p:nvPr/>
      </p:nvGrpSpPr>
      <p:grpSpPr>
        <a:xfrm>
          <a:off x="0" y="0"/>
          <a:ext cx="0" cy="0"/>
          <a:chOff x="0" y="0"/>
          <a:chExt cx="0" cy="0"/>
        </a:xfrm>
      </p:grpSpPr>
      <p:sp>
        <p:nvSpPr>
          <p:cNvPr id="844" name="Google Shape;844;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5" name="Google Shape;845;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6" name="Google Shape;846;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7" name="Google Shape;847;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8" name="Shape 848"/>
        <p:cNvGrpSpPr/>
        <p:nvPr/>
      </p:nvGrpSpPr>
      <p:grpSpPr>
        <a:xfrm>
          <a:off x="0" y="0"/>
          <a:ext cx="0" cy="0"/>
          <a:chOff x="0" y="0"/>
          <a:chExt cx="0" cy="0"/>
        </a:xfrm>
      </p:grpSpPr>
      <p:grpSp>
        <p:nvGrpSpPr>
          <p:cNvPr id="849" name="Google Shape;849;p125"/>
          <p:cNvGrpSpPr/>
          <p:nvPr/>
        </p:nvGrpSpPr>
        <p:grpSpPr>
          <a:xfrm>
            <a:off x="440125" y="1136875"/>
            <a:ext cx="776900" cy="486300"/>
            <a:chOff x="457200" y="1466425"/>
            <a:chExt cx="776900" cy="486300"/>
          </a:xfrm>
        </p:grpSpPr>
        <p:sp>
          <p:nvSpPr>
            <p:cNvPr id="850" name="Google Shape;850;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1" name="Google Shape;851;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2" name="Google Shape;852;p125"/>
          <p:cNvGrpSpPr/>
          <p:nvPr/>
        </p:nvGrpSpPr>
        <p:grpSpPr>
          <a:xfrm>
            <a:off x="440125" y="1791730"/>
            <a:ext cx="776900" cy="486300"/>
            <a:chOff x="457200" y="1466425"/>
            <a:chExt cx="776900" cy="486300"/>
          </a:xfrm>
        </p:grpSpPr>
        <p:sp>
          <p:nvSpPr>
            <p:cNvPr id="853" name="Google Shape;853;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4" name="Google Shape;854;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5" name="Google Shape;855;p125"/>
          <p:cNvGrpSpPr/>
          <p:nvPr/>
        </p:nvGrpSpPr>
        <p:grpSpPr>
          <a:xfrm>
            <a:off x="440125" y="2446585"/>
            <a:ext cx="776900" cy="486300"/>
            <a:chOff x="457200" y="1466425"/>
            <a:chExt cx="776900" cy="486300"/>
          </a:xfrm>
        </p:grpSpPr>
        <p:sp>
          <p:nvSpPr>
            <p:cNvPr id="856" name="Google Shape;856;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7" name="Google Shape;857;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8" name="Google Shape;858;p125"/>
          <p:cNvGrpSpPr/>
          <p:nvPr/>
        </p:nvGrpSpPr>
        <p:grpSpPr>
          <a:xfrm>
            <a:off x="440125" y="3101440"/>
            <a:ext cx="776900" cy="486300"/>
            <a:chOff x="457200" y="1466425"/>
            <a:chExt cx="776900" cy="486300"/>
          </a:xfrm>
        </p:grpSpPr>
        <p:sp>
          <p:nvSpPr>
            <p:cNvPr id="859" name="Google Shape;859;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0" name="Google Shape;860;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1" name="Google Shape;861;p125"/>
          <p:cNvGrpSpPr/>
          <p:nvPr/>
        </p:nvGrpSpPr>
        <p:grpSpPr>
          <a:xfrm>
            <a:off x="440125" y="3756295"/>
            <a:ext cx="776900" cy="486300"/>
            <a:chOff x="457200" y="1466425"/>
            <a:chExt cx="776900" cy="486300"/>
          </a:xfrm>
        </p:grpSpPr>
        <p:sp>
          <p:nvSpPr>
            <p:cNvPr id="862" name="Google Shape;862;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3" name="Google Shape;863;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4" name="Google Shape;864;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5" name="Google Shape;865;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6" name="Google Shape;866;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0" name="Google Shape;870;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2" name="Google Shape;872;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6" name="Google Shape;876;p125"/>
          <p:cNvGrpSpPr/>
          <p:nvPr/>
        </p:nvGrpSpPr>
        <p:grpSpPr>
          <a:xfrm>
            <a:off x="440125" y="4413095"/>
            <a:ext cx="776900" cy="486300"/>
            <a:chOff x="457200" y="1466425"/>
            <a:chExt cx="776900" cy="486300"/>
          </a:xfrm>
        </p:grpSpPr>
        <p:sp>
          <p:nvSpPr>
            <p:cNvPr id="877" name="Google Shape;877;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8" name="Google Shape;878;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79" name="Google Shape;879;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0" name="Google Shape;880;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1" name="Shape 881"/>
        <p:cNvGrpSpPr/>
        <p:nvPr/>
      </p:nvGrpSpPr>
      <p:grpSpPr>
        <a:xfrm>
          <a:off x="0" y="0"/>
          <a:ext cx="0" cy="0"/>
          <a:chOff x="0" y="0"/>
          <a:chExt cx="0" cy="0"/>
        </a:xfrm>
      </p:grpSpPr>
      <p:sp>
        <p:nvSpPr>
          <p:cNvPr id="882" name="Google Shape;882;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3" name="Google Shape;883;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4" name="Google Shape;884;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5" name="Google Shape;885;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6" name="Shape 886"/>
        <p:cNvGrpSpPr/>
        <p:nvPr/>
      </p:nvGrpSpPr>
      <p:grpSpPr>
        <a:xfrm>
          <a:off x="0" y="0"/>
          <a:ext cx="0" cy="0"/>
          <a:chOff x="0" y="0"/>
          <a:chExt cx="0" cy="0"/>
        </a:xfrm>
      </p:grpSpPr>
      <p:sp>
        <p:nvSpPr>
          <p:cNvPr id="887" name="Google Shape;887;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8" name="Google Shape;888;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9" name="Google Shape;889;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0" name="Google Shape;890;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1" name="Shape 891"/>
        <p:cNvGrpSpPr/>
        <p:nvPr/>
      </p:nvGrpSpPr>
      <p:grpSpPr>
        <a:xfrm>
          <a:off x="0" y="0"/>
          <a:ext cx="0" cy="0"/>
          <a:chOff x="0" y="0"/>
          <a:chExt cx="0" cy="0"/>
        </a:xfrm>
      </p:grpSpPr>
      <p:sp>
        <p:nvSpPr>
          <p:cNvPr id="892" name="Google Shape;892;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3" name="Google Shape;893;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4" name="Google Shape;894;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5" name="Google Shape;895;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6" name="Shape 896"/>
        <p:cNvGrpSpPr/>
        <p:nvPr/>
      </p:nvGrpSpPr>
      <p:grpSpPr>
        <a:xfrm>
          <a:off x="0" y="0"/>
          <a:ext cx="0" cy="0"/>
          <a:chOff x="0" y="0"/>
          <a:chExt cx="0" cy="0"/>
        </a:xfrm>
      </p:grpSpPr>
      <p:sp>
        <p:nvSpPr>
          <p:cNvPr id="897" name="Google Shape;897;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8" name="Google Shape;898;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9" name="Google Shape;899;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0" name="Google Shape;900;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1" name="Shape 901"/>
        <p:cNvGrpSpPr/>
        <p:nvPr/>
      </p:nvGrpSpPr>
      <p:grpSpPr>
        <a:xfrm>
          <a:off x="0" y="0"/>
          <a:ext cx="0" cy="0"/>
          <a:chOff x="0" y="0"/>
          <a:chExt cx="0" cy="0"/>
        </a:xfrm>
      </p:grpSpPr>
      <p:sp>
        <p:nvSpPr>
          <p:cNvPr id="902" name="Google Shape;902;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3" name="Google Shape;903;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4" name="Google Shape;904;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5" name="Google Shape;905;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6" name="Shape 906"/>
        <p:cNvGrpSpPr/>
        <p:nvPr/>
      </p:nvGrpSpPr>
      <p:grpSpPr>
        <a:xfrm>
          <a:off x="0" y="0"/>
          <a:ext cx="0" cy="0"/>
          <a:chOff x="0" y="0"/>
          <a:chExt cx="0" cy="0"/>
        </a:xfrm>
      </p:grpSpPr>
      <p:sp>
        <p:nvSpPr>
          <p:cNvPr id="907" name="Google Shape;907;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8" name="Google Shape;908;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9" name="Google Shape;909;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0" name="Google Shape;910;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1" name="Shape 911"/>
        <p:cNvGrpSpPr/>
        <p:nvPr/>
      </p:nvGrpSpPr>
      <p:grpSpPr>
        <a:xfrm>
          <a:off x="0" y="0"/>
          <a:ext cx="0" cy="0"/>
          <a:chOff x="0" y="0"/>
          <a:chExt cx="0" cy="0"/>
        </a:xfrm>
      </p:grpSpPr>
      <p:sp>
        <p:nvSpPr>
          <p:cNvPr id="912" name="Google Shape;912;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3" name="Google Shape;913;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4" name="Google Shape;914;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5" name="Google Shape;915;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6" name="Shape 916"/>
        <p:cNvGrpSpPr/>
        <p:nvPr/>
      </p:nvGrpSpPr>
      <p:grpSpPr>
        <a:xfrm>
          <a:off x="0" y="0"/>
          <a:ext cx="0" cy="0"/>
          <a:chOff x="0" y="0"/>
          <a:chExt cx="0" cy="0"/>
        </a:xfrm>
      </p:grpSpPr>
      <p:sp>
        <p:nvSpPr>
          <p:cNvPr id="917" name="Google Shape;917;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8" name="Google Shape;918;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9" name="Google Shape;919;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0" name="Google Shape;920;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1" name="Shape 921"/>
        <p:cNvGrpSpPr/>
        <p:nvPr/>
      </p:nvGrpSpPr>
      <p:grpSpPr>
        <a:xfrm>
          <a:off x="0" y="0"/>
          <a:ext cx="0" cy="0"/>
          <a:chOff x="0" y="0"/>
          <a:chExt cx="0" cy="0"/>
        </a:xfrm>
      </p:grpSpPr>
      <p:sp>
        <p:nvSpPr>
          <p:cNvPr id="922" name="Google Shape;922;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3" name="Google Shape;923;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5" name="Google Shape;925;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6" name="Google Shape;926;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7" name="Shape 927"/>
        <p:cNvGrpSpPr/>
        <p:nvPr/>
      </p:nvGrpSpPr>
      <p:grpSpPr>
        <a:xfrm>
          <a:off x="0" y="0"/>
          <a:ext cx="0" cy="0"/>
          <a:chOff x="0" y="0"/>
          <a:chExt cx="0" cy="0"/>
        </a:xfrm>
      </p:grpSpPr>
      <p:sp>
        <p:nvSpPr>
          <p:cNvPr id="928" name="Google Shape;928;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1" name="Google Shape;931;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2" name="Google Shape;932;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3" name="Shape 933"/>
        <p:cNvGrpSpPr/>
        <p:nvPr/>
      </p:nvGrpSpPr>
      <p:grpSpPr>
        <a:xfrm>
          <a:off x="0" y="0"/>
          <a:ext cx="0" cy="0"/>
          <a:chOff x="0" y="0"/>
          <a:chExt cx="0" cy="0"/>
        </a:xfrm>
      </p:grpSpPr>
      <p:sp>
        <p:nvSpPr>
          <p:cNvPr id="934" name="Google Shape;934;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5" name="Google Shape;935;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7" name="Google Shape;937;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8" name="Google Shape;938;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39" name="Shape 939"/>
        <p:cNvGrpSpPr/>
        <p:nvPr/>
      </p:nvGrpSpPr>
      <p:grpSpPr>
        <a:xfrm>
          <a:off x="0" y="0"/>
          <a:ext cx="0" cy="0"/>
          <a:chOff x="0" y="0"/>
          <a:chExt cx="0" cy="0"/>
        </a:xfrm>
      </p:grpSpPr>
      <p:cxnSp>
        <p:nvCxnSpPr>
          <p:cNvPr id="940" name="Google Shape;940;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1" name="Google Shape;941;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5" name="Google Shape;945;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6" name="Google Shape;946;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7" name="Google Shape;947;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8" name="Google Shape;948;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1" name="Google Shape;951;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3" name="Google Shape;953;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4" name="Shape 954"/>
        <p:cNvGrpSpPr/>
        <p:nvPr/>
      </p:nvGrpSpPr>
      <p:grpSpPr>
        <a:xfrm>
          <a:off x="0" y="0"/>
          <a:ext cx="0" cy="0"/>
          <a:chOff x="0" y="0"/>
          <a:chExt cx="0" cy="0"/>
        </a:xfrm>
      </p:grpSpPr>
      <p:sp>
        <p:nvSpPr>
          <p:cNvPr id="955" name="Google Shape;955;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6" name="Google Shape;956;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7" name="Google Shape;957;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8" name="Google Shape;958;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0" name="Google Shape;960;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1" name="Google Shape;961;p138"/>
          <p:cNvGrpSpPr/>
          <p:nvPr/>
        </p:nvGrpSpPr>
        <p:grpSpPr>
          <a:xfrm>
            <a:off x="457147" y="1190428"/>
            <a:ext cx="533372" cy="533480"/>
            <a:chOff x="457200" y="1378813"/>
            <a:chExt cx="695400" cy="695450"/>
          </a:xfrm>
        </p:grpSpPr>
        <p:sp>
          <p:nvSpPr>
            <p:cNvPr id="962" name="Google Shape;962;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3" name="Google Shape;963;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4" name="Google Shape;964;p138"/>
          <p:cNvGrpSpPr/>
          <p:nvPr/>
        </p:nvGrpSpPr>
        <p:grpSpPr>
          <a:xfrm>
            <a:off x="4876797" y="1190428"/>
            <a:ext cx="533372" cy="533480"/>
            <a:chOff x="2605668" y="1378813"/>
            <a:chExt cx="695400" cy="695450"/>
          </a:xfrm>
        </p:grpSpPr>
        <p:sp>
          <p:nvSpPr>
            <p:cNvPr id="965" name="Google Shape;965;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6" name="Google Shape;966;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7" name="Google Shape;967;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8" name="Google Shape;968;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69" name="Google Shape;969;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0" name="Shape 970"/>
        <p:cNvGrpSpPr/>
        <p:nvPr/>
      </p:nvGrpSpPr>
      <p:grpSpPr>
        <a:xfrm>
          <a:off x="0" y="0"/>
          <a:ext cx="0" cy="0"/>
          <a:chOff x="0" y="0"/>
          <a:chExt cx="0" cy="0"/>
        </a:xfrm>
      </p:grpSpPr>
      <p:sp>
        <p:nvSpPr>
          <p:cNvPr id="971" name="Google Shape;971;p139"/>
          <p:cNvSpPr/>
          <p:nvPr>
            <p:ph idx="2" type="pic"/>
          </p:nvPr>
        </p:nvSpPr>
        <p:spPr>
          <a:xfrm>
            <a:off x="5923375" y="150"/>
            <a:ext cx="3220500" cy="5143500"/>
          </a:xfrm>
          <a:prstGeom prst="rect">
            <a:avLst/>
          </a:prstGeom>
          <a:noFill/>
          <a:ln>
            <a:noFill/>
          </a:ln>
        </p:spPr>
      </p:sp>
      <p:sp>
        <p:nvSpPr>
          <p:cNvPr id="972" name="Google Shape;972;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3" name="Google Shape;973;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4" name="Google Shape;974;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5" name="Shape 975"/>
        <p:cNvGrpSpPr/>
        <p:nvPr/>
      </p:nvGrpSpPr>
      <p:grpSpPr>
        <a:xfrm>
          <a:off x="0" y="0"/>
          <a:ext cx="0" cy="0"/>
          <a:chOff x="0" y="0"/>
          <a:chExt cx="0" cy="0"/>
        </a:xfrm>
      </p:grpSpPr>
      <p:sp>
        <p:nvSpPr>
          <p:cNvPr id="976" name="Google Shape;976;p140"/>
          <p:cNvSpPr/>
          <p:nvPr>
            <p:ph idx="2" type="pic"/>
          </p:nvPr>
        </p:nvSpPr>
        <p:spPr>
          <a:xfrm>
            <a:off x="5923375" y="150"/>
            <a:ext cx="3220500" cy="5143500"/>
          </a:xfrm>
          <a:prstGeom prst="rect">
            <a:avLst/>
          </a:prstGeom>
          <a:noFill/>
          <a:ln>
            <a:noFill/>
          </a:ln>
        </p:spPr>
      </p:sp>
      <p:sp>
        <p:nvSpPr>
          <p:cNvPr id="977" name="Google Shape;977;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8" name="Google Shape;978;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9" name="Google Shape;979;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0" name="Shape 980"/>
        <p:cNvGrpSpPr/>
        <p:nvPr/>
      </p:nvGrpSpPr>
      <p:grpSpPr>
        <a:xfrm>
          <a:off x="0" y="0"/>
          <a:ext cx="0" cy="0"/>
          <a:chOff x="0" y="0"/>
          <a:chExt cx="0" cy="0"/>
        </a:xfrm>
      </p:grpSpPr>
      <p:sp>
        <p:nvSpPr>
          <p:cNvPr id="981" name="Google Shape;981;p141"/>
          <p:cNvSpPr/>
          <p:nvPr>
            <p:ph idx="2" type="pic"/>
          </p:nvPr>
        </p:nvSpPr>
        <p:spPr>
          <a:xfrm>
            <a:off x="5923375" y="150"/>
            <a:ext cx="3220500" cy="5143500"/>
          </a:xfrm>
          <a:prstGeom prst="rect">
            <a:avLst/>
          </a:prstGeom>
          <a:noFill/>
          <a:ln>
            <a:noFill/>
          </a:ln>
        </p:spPr>
      </p:sp>
      <p:sp>
        <p:nvSpPr>
          <p:cNvPr id="982" name="Google Shape;982;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3" name="Google Shape;983;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4" name="Google Shape;984;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5" name="Shape 985"/>
        <p:cNvGrpSpPr/>
        <p:nvPr/>
      </p:nvGrpSpPr>
      <p:grpSpPr>
        <a:xfrm>
          <a:off x="0" y="0"/>
          <a:ext cx="0" cy="0"/>
          <a:chOff x="0" y="0"/>
          <a:chExt cx="0" cy="0"/>
        </a:xfrm>
      </p:grpSpPr>
      <p:sp>
        <p:nvSpPr>
          <p:cNvPr id="986" name="Google Shape;986;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7" name="Google Shape;987;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8" name="Google Shape;988;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9" name="Google Shape;989;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1" name="Google Shape;991;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3" name="Google Shape;993;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4" name="Google Shape;994;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5" name="Google Shape;995;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6" name="Google Shape;996;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7" name="Google Shape;997;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8" name="Google Shape;998;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999" name="Shape 999"/>
        <p:cNvGrpSpPr/>
        <p:nvPr/>
      </p:nvGrpSpPr>
      <p:grpSpPr>
        <a:xfrm>
          <a:off x="0" y="0"/>
          <a:ext cx="0" cy="0"/>
          <a:chOff x="0" y="0"/>
          <a:chExt cx="0" cy="0"/>
        </a:xfrm>
      </p:grpSpPr>
      <p:sp>
        <p:nvSpPr>
          <p:cNvPr id="1000" name="Google Shape;1000;p143"/>
          <p:cNvSpPr/>
          <p:nvPr>
            <p:ph idx="2" type="pic"/>
          </p:nvPr>
        </p:nvSpPr>
        <p:spPr>
          <a:xfrm>
            <a:off x="5923375" y="150"/>
            <a:ext cx="3220500" cy="5143500"/>
          </a:xfrm>
          <a:prstGeom prst="rect">
            <a:avLst/>
          </a:prstGeom>
          <a:noFill/>
          <a:ln>
            <a:noFill/>
          </a:ln>
        </p:spPr>
      </p:sp>
      <p:sp>
        <p:nvSpPr>
          <p:cNvPr id="1001" name="Google Shape;1001;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2" name="Google Shape;1002;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3" name="Google Shape;1003;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4" name="Shape 1004"/>
        <p:cNvGrpSpPr/>
        <p:nvPr/>
      </p:nvGrpSpPr>
      <p:grpSpPr>
        <a:xfrm>
          <a:off x="0" y="0"/>
          <a:ext cx="0" cy="0"/>
          <a:chOff x="0" y="0"/>
          <a:chExt cx="0" cy="0"/>
        </a:xfrm>
      </p:grpSpPr>
      <p:sp>
        <p:nvSpPr>
          <p:cNvPr id="1005" name="Google Shape;1005;p144"/>
          <p:cNvSpPr/>
          <p:nvPr>
            <p:ph idx="2" type="pic"/>
          </p:nvPr>
        </p:nvSpPr>
        <p:spPr>
          <a:xfrm>
            <a:off x="5923375" y="150"/>
            <a:ext cx="3220500" cy="5143500"/>
          </a:xfrm>
          <a:prstGeom prst="rect">
            <a:avLst/>
          </a:prstGeom>
          <a:noFill/>
          <a:ln>
            <a:noFill/>
          </a:ln>
        </p:spPr>
      </p:sp>
      <p:sp>
        <p:nvSpPr>
          <p:cNvPr id="1006" name="Google Shape;1006;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7" name="Google Shape;1007;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8" name="Google Shape;1008;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09" name="Shape 1009"/>
        <p:cNvGrpSpPr/>
        <p:nvPr/>
      </p:nvGrpSpPr>
      <p:grpSpPr>
        <a:xfrm>
          <a:off x="0" y="0"/>
          <a:ext cx="0" cy="0"/>
          <a:chOff x="0" y="0"/>
          <a:chExt cx="0" cy="0"/>
        </a:xfrm>
      </p:grpSpPr>
      <p:sp>
        <p:nvSpPr>
          <p:cNvPr id="1010" name="Google Shape;1010;p145"/>
          <p:cNvSpPr/>
          <p:nvPr>
            <p:ph idx="2" type="pic"/>
          </p:nvPr>
        </p:nvSpPr>
        <p:spPr>
          <a:xfrm>
            <a:off x="5923375" y="150"/>
            <a:ext cx="3220500" cy="5143500"/>
          </a:xfrm>
          <a:prstGeom prst="rect">
            <a:avLst/>
          </a:prstGeom>
          <a:noFill/>
          <a:ln>
            <a:noFill/>
          </a:ln>
        </p:spPr>
      </p:sp>
      <p:sp>
        <p:nvSpPr>
          <p:cNvPr id="1011" name="Google Shape;1011;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2" name="Google Shape;1012;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3" name="Google Shape;1013;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4" name="Shape 1014"/>
        <p:cNvGrpSpPr/>
        <p:nvPr/>
      </p:nvGrpSpPr>
      <p:grpSpPr>
        <a:xfrm>
          <a:off x="0" y="0"/>
          <a:ext cx="0" cy="0"/>
          <a:chOff x="0" y="0"/>
          <a:chExt cx="0" cy="0"/>
        </a:xfrm>
      </p:grpSpPr>
      <p:sp>
        <p:nvSpPr>
          <p:cNvPr id="1015" name="Google Shape;1015;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6" name="Google Shape;1016;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7" name="Google Shape;1017;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8" name="Google Shape;1018;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19" name="Shape 1019"/>
        <p:cNvGrpSpPr/>
        <p:nvPr/>
      </p:nvGrpSpPr>
      <p:grpSpPr>
        <a:xfrm>
          <a:off x="0" y="0"/>
          <a:ext cx="0" cy="0"/>
          <a:chOff x="0" y="0"/>
          <a:chExt cx="0" cy="0"/>
        </a:xfrm>
      </p:grpSpPr>
      <p:sp>
        <p:nvSpPr>
          <p:cNvPr id="1020" name="Google Shape;1020;p147"/>
          <p:cNvSpPr/>
          <p:nvPr>
            <p:ph idx="2" type="pic"/>
          </p:nvPr>
        </p:nvSpPr>
        <p:spPr>
          <a:xfrm>
            <a:off x="5923375" y="150"/>
            <a:ext cx="3220500" cy="5143500"/>
          </a:xfrm>
          <a:prstGeom prst="rect">
            <a:avLst/>
          </a:prstGeom>
          <a:noFill/>
          <a:ln>
            <a:noFill/>
          </a:ln>
        </p:spPr>
      </p:sp>
      <p:sp>
        <p:nvSpPr>
          <p:cNvPr id="1021" name="Google Shape;1021;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2" name="Google Shape;1022;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3" name="Google Shape;1023;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4" name="Shape 1024"/>
        <p:cNvGrpSpPr/>
        <p:nvPr/>
      </p:nvGrpSpPr>
      <p:grpSpPr>
        <a:xfrm>
          <a:off x="0" y="0"/>
          <a:ext cx="0" cy="0"/>
          <a:chOff x="0" y="0"/>
          <a:chExt cx="0" cy="0"/>
        </a:xfrm>
      </p:grpSpPr>
      <p:sp>
        <p:nvSpPr>
          <p:cNvPr id="1025" name="Google Shape;1025;p148"/>
          <p:cNvSpPr/>
          <p:nvPr>
            <p:ph idx="2" type="pic"/>
          </p:nvPr>
        </p:nvSpPr>
        <p:spPr>
          <a:xfrm>
            <a:off x="5923375" y="150"/>
            <a:ext cx="3220500" cy="5143500"/>
          </a:xfrm>
          <a:prstGeom prst="rect">
            <a:avLst/>
          </a:prstGeom>
          <a:noFill/>
          <a:ln>
            <a:noFill/>
          </a:ln>
        </p:spPr>
      </p:sp>
      <p:sp>
        <p:nvSpPr>
          <p:cNvPr id="1026" name="Google Shape;1026;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7" name="Google Shape;1027;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8" name="Google Shape;1028;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29" name="Shape 1029"/>
        <p:cNvGrpSpPr/>
        <p:nvPr/>
      </p:nvGrpSpPr>
      <p:grpSpPr>
        <a:xfrm>
          <a:off x="0" y="0"/>
          <a:ext cx="0" cy="0"/>
          <a:chOff x="0" y="0"/>
          <a:chExt cx="0" cy="0"/>
        </a:xfrm>
      </p:grpSpPr>
      <p:grpSp>
        <p:nvGrpSpPr>
          <p:cNvPr id="1030" name="Google Shape;1030;p149"/>
          <p:cNvGrpSpPr/>
          <p:nvPr/>
        </p:nvGrpSpPr>
        <p:grpSpPr>
          <a:xfrm>
            <a:off x="440125" y="1136875"/>
            <a:ext cx="776900" cy="486300"/>
            <a:chOff x="457200" y="1466425"/>
            <a:chExt cx="776900" cy="486300"/>
          </a:xfrm>
        </p:grpSpPr>
        <p:sp>
          <p:nvSpPr>
            <p:cNvPr id="1031" name="Google Shape;1031;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2" name="Google Shape;1032;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3" name="Google Shape;1033;p149"/>
          <p:cNvGrpSpPr/>
          <p:nvPr/>
        </p:nvGrpSpPr>
        <p:grpSpPr>
          <a:xfrm>
            <a:off x="440125" y="1791730"/>
            <a:ext cx="776900" cy="486300"/>
            <a:chOff x="457200" y="1466425"/>
            <a:chExt cx="776900" cy="486300"/>
          </a:xfrm>
        </p:grpSpPr>
        <p:sp>
          <p:nvSpPr>
            <p:cNvPr id="1034" name="Google Shape;1034;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5" name="Google Shape;1035;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6" name="Google Shape;1036;p149"/>
          <p:cNvGrpSpPr/>
          <p:nvPr/>
        </p:nvGrpSpPr>
        <p:grpSpPr>
          <a:xfrm>
            <a:off x="440125" y="2446585"/>
            <a:ext cx="776900" cy="486300"/>
            <a:chOff x="457200" y="1466425"/>
            <a:chExt cx="776900" cy="486300"/>
          </a:xfrm>
        </p:grpSpPr>
        <p:sp>
          <p:nvSpPr>
            <p:cNvPr id="1037" name="Google Shape;1037;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8" name="Google Shape;1038;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9" name="Google Shape;1039;p149"/>
          <p:cNvGrpSpPr/>
          <p:nvPr/>
        </p:nvGrpSpPr>
        <p:grpSpPr>
          <a:xfrm>
            <a:off x="440125" y="3101440"/>
            <a:ext cx="776900" cy="486300"/>
            <a:chOff x="457200" y="1466425"/>
            <a:chExt cx="776900" cy="486300"/>
          </a:xfrm>
        </p:grpSpPr>
        <p:sp>
          <p:nvSpPr>
            <p:cNvPr id="1040" name="Google Shape;1040;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1" name="Google Shape;1041;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2" name="Google Shape;1042;p149"/>
          <p:cNvGrpSpPr/>
          <p:nvPr/>
        </p:nvGrpSpPr>
        <p:grpSpPr>
          <a:xfrm>
            <a:off x="440125" y="3756295"/>
            <a:ext cx="776900" cy="486300"/>
            <a:chOff x="457200" y="1466425"/>
            <a:chExt cx="776900" cy="486300"/>
          </a:xfrm>
        </p:grpSpPr>
        <p:sp>
          <p:nvSpPr>
            <p:cNvPr id="1043" name="Google Shape;1043;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4" name="Google Shape;1044;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5" name="Google Shape;1045;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6" name="Google Shape;1046;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7" name="Google Shape;1047;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1" name="Google Shape;1051;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2" name="Google Shape;1052;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7" name="Shape 1057"/>
        <p:cNvGrpSpPr/>
        <p:nvPr/>
      </p:nvGrpSpPr>
      <p:grpSpPr>
        <a:xfrm>
          <a:off x="0" y="0"/>
          <a:ext cx="0" cy="0"/>
          <a:chOff x="0" y="0"/>
          <a:chExt cx="0" cy="0"/>
        </a:xfrm>
      </p:grpSpPr>
      <p:sp>
        <p:nvSpPr>
          <p:cNvPr id="1058" name="Google Shape;1058;p150"/>
          <p:cNvSpPr/>
          <p:nvPr>
            <p:ph idx="2" type="pic"/>
          </p:nvPr>
        </p:nvSpPr>
        <p:spPr>
          <a:xfrm>
            <a:off x="5923375" y="150"/>
            <a:ext cx="3220500" cy="5143500"/>
          </a:xfrm>
          <a:prstGeom prst="rect">
            <a:avLst/>
          </a:prstGeom>
          <a:noFill/>
          <a:ln>
            <a:noFill/>
          </a:ln>
        </p:spPr>
      </p:sp>
      <p:sp>
        <p:nvSpPr>
          <p:cNvPr id="1059" name="Google Shape;1059;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0" name="Google Shape;1060;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1" name="Google Shape;1061;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2" name="Shape 1062"/>
        <p:cNvGrpSpPr/>
        <p:nvPr/>
      </p:nvGrpSpPr>
      <p:grpSpPr>
        <a:xfrm>
          <a:off x="0" y="0"/>
          <a:ext cx="0" cy="0"/>
          <a:chOff x="0" y="0"/>
          <a:chExt cx="0" cy="0"/>
        </a:xfrm>
      </p:grpSpPr>
      <p:sp>
        <p:nvSpPr>
          <p:cNvPr id="1063" name="Google Shape;1063;p151"/>
          <p:cNvSpPr/>
          <p:nvPr>
            <p:ph idx="2" type="pic"/>
          </p:nvPr>
        </p:nvSpPr>
        <p:spPr>
          <a:xfrm>
            <a:off x="5923375" y="150"/>
            <a:ext cx="3220500" cy="5143500"/>
          </a:xfrm>
          <a:prstGeom prst="rect">
            <a:avLst/>
          </a:prstGeom>
          <a:noFill/>
          <a:ln>
            <a:noFill/>
          </a:ln>
        </p:spPr>
      </p:sp>
      <p:sp>
        <p:nvSpPr>
          <p:cNvPr id="1064" name="Google Shape;1064;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5" name="Google Shape;1065;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6" name="Google Shape;1066;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7" name="Shape 1067"/>
        <p:cNvGrpSpPr/>
        <p:nvPr/>
      </p:nvGrpSpPr>
      <p:grpSpPr>
        <a:xfrm>
          <a:off x="0" y="0"/>
          <a:ext cx="0" cy="0"/>
          <a:chOff x="0" y="0"/>
          <a:chExt cx="0" cy="0"/>
        </a:xfrm>
      </p:grpSpPr>
      <p:sp>
        <p:nvSpPr>
          <p:cNvPr id="1068" name="Google Shape;1068;p152"/>
          <p:cNvSpPr/>
          <p:nvPr>
            <p:ph idx="2" type="pic"/>
          </p:nvPr>
        </p:nvSpPr>
        <p:spPr>
          <a:xfrm>
            <a:off x="5923375" y="150"/>
            <a:ext cx="3220500" cy="5143500"/>
          </a:xfrm>
          <a:prstGeom prst="rect">
            <a:avLst/>
          </a:prstGeom>
          <a:noFill/>
          <a:ln>
            <a:noFill/>
          </a:ln>
        </p:spPr>
      </p:sp>
      <p:sp>
        <p:nvSpPr>
          <p:cNvPr id="1069" name="Google Shape;1069;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0" name="Google Shape;1070;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1" name="Google Shape;1071;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2" name="Shape 1072"/>
        <p:cNvGrpSpPr/>
        <p:nvPr/>
      </p:nvGrpSpPr>
      <p:grpSpPr>
        <a:xfrm>
          <a:off x="0" y="0"/>
          <a:ext cx="0" cy="0"/>
          <a:chOff x="0" y="0"/>
          <a:chExt cx="0" cy="0"/>
        </a:xfrm>
      </p:grpSpPr>
      <p:sp>
        <p:nvSpPr>
          <p:cNvPr id="1073" name="Google Shape;1073;p153"/>
          <p:cNvSpPr/>
          <p:nvPr>
            <p:ph idx="2" type="pic"/>
          </p:nvPr>
        </p:nvSpPr>
        <p:spPr>
          <a:xfrm>
            <a:off x="5923375" y="150"/>
            <a:ext cx="3220500" cy="5143500"/>
          </a:xfrm>
          <a:prstGeom prst="rect">
            <a:avLst/>
          </a:prstGeom>
          <a:noFill/>
          <a:ln>
            <a:noFill/>
          </a:ln>
        </p:spPr>
      </p:sp>
      <p:sp>
        <p:nvSpPr>
          <p:cNvPr id="1074" name="Google Shape;1074;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5" name="Google Shape;1075;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6" name="Google Shape;1076;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7" name="Shape 1077"/>
        <p:cNvGrpSpPr/>
        <p:nvPr/>
      </p:nvGrpSpPr>
      <p:grpSpPr>
        <a:xfrm>
          <a:off x="0" y="0"/>
          <a:ext cx="0" cy="0"/>
          <a:chOff x="0" y="0"/>
          <a:chExt cx="0" cy="0"/>
        </a:xfrm>
      </p:grpSpPr>
      <p:sp>
        <p:nvSpPr>
          <p:cNvPr id="1078" name="Google Shape;1078;p154"/>
          <p:cNvSpPr/>
          <p:nvPr>
            <p:ph idx="2" type="pic"/>
          </p:nvPr>
        </p:nvSpPr>
        <p:spPr>
          <a:xfrm>
            <a:off x="5923375" y="150"/>
            <a:ext cx="3220500" cy="5143500"/>
          </a:xfrm>
          <a:prstGeom prst="rect">
            <a:avLst/>
          </a:prstGeom>
          <a:noFill/>
          <a:ln>
            <a:noFill/>
          </a:ln>
        </p:spPr>
      </p:sp>
      <p:sp>
        <p:nvSpPr>
          <p:cNvPr id="1079" name="Google Shape;1079;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0" name="Google Shape;1080;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1" name="Google Shape;1081;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2" name="Shape 1082"/>
        <p:cNvGrpSpPr/>
        <p:nvPr/>
      </p:nvGrpSpPr>
      <p:grpSpPr>
        <a:xfrm>
          <a:off x="0" y="0"/>
          <a:ext cx="0" cy="0"/>
          <a:chOff x="0" y="0"/>
          <a:chExt cx="0" cy="0"/>
        </a:xfrm>
      </p:grpSpPr>
      <p:sp>
        <p:nvSpPr>
          <p:cNvPr id="1083" name="Google Shape;1083;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4" name="Google Shape;1084;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5" name="Google Shape;1085;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6" name="Google Shape;1086;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7" name="Shape 1087"/>
        <p:cNvGrpSpPr/>
        <p:nvPr/>
      </p:nvGrpSpPr>
      <p:grpSpPr>
        <a:xfrm>
          <a:off x="0" y="0"/>
          <a:ext cx="0" cy="0"/>
          <a:chOff x="0" y="0"/>
          <a:chExt cx="0" cy="0"/>
        </a:xfrm>
      </p:grpSpPr>
      <p:cxnSp>
        <p:nvCxnSpPr>
          <p:cNvPr id="1088" name="Google Shape;1088;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89" name="Google Shape;1089;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0" name="Google Shape;1090;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2" name="Google Shape;1092;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6" name="Google Shape;1096;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7" name="Google Shape;1097;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8" name="Google Shape;1098;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0" name="Google Shape;1100;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1" name="Google Shape;1101;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2" name="Google Shape;1102;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3" name="Shape 1103"/>
        <p:cNvGrpSpPr/>
        <p:nvPr/>
      </p:nvGrpSpPr>
      <p:grpSpPr>
        <a:xfrm>
          <a:off x="0" y="0"/>
          <a:ext cx="0" cy="0"/>
          <a:chOff x="0" y="0"/>
          <a:chExt cx="0" cy="0"/>
        </a:xfrm>
      </p:grpSpPr>
      <p:sp>
        <p:nvSpPr>
          <p:cNvPr id="1104" name="Google Shape;1104;p157"/>
          <p:cNvSpPr/>
          <p:nvPr>
            <p:ph idx="2" type="pic"/>
          </p:nvPr>
        </p:nvSpPr>
        <p:spPr>
          <a:xfrm>
            <a:off x="5923375" y="150"/>
            <a:ext cx="3220500" cy="5143500"/>
          </a:xfrm>
          <a:prstGeom prst="rect">
            <a:avLst/>
          </a:prstGeom>
          <a:noFill/>
          <a:ln>
            <a:noFill/>
          </a:ln>
        </p:spPr>
      </p:sp>
      <p:sp>
        <p:nvSpPr>
          <p:cNvPr id="1105" name="Google Shape;1105;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6" name="Google Shape;1106;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7" name="Google Shape;1107;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8" name="Shape 1108"/>
        <p:cNvGrpSpPr/>
        <p:nvPr/>
      </p:nvGrpSpPr>
      <p:grpSpPr>
        <a:xfrm>
          <a:off x="0" y="0"/>
          <a:ext cx="0" cy="0"/>
          <a:chOff x="0" y="0"/>
          <a:chExt cx="0" cy="0"/>
        </a:xfrm>
      </p:grpSpPr>
      <p:sp>
        <p:nvSpPr>
          <p:cNvPr id="1109" name="Google Shape;1109;p158"/>
          <p:cNvSpPr/>
          <p:nvPr>
            <p:ph idx="2" type="pic"/>
          </p:nvPr>
        </p:nvSpPr>
        <p:spPr>
          <a:xfrm>
            <a:off x="5923375" y="150"/>
            <a:ext cx="3220500" cy="5143500"/>
          </a:xfrm>
          <a:prstGeom prst="rect">
            <a:avLst/>
          </a:prstGeom>
          <a:noFill/>
          <a:ln>
            <a:noFill/>
          </a:ln>
        </p:spPr>
      </p:sp>
      <p:sp>
        <p:nvSpPr>
          <p:cNvPr id="1110" name="Google Shape;1110;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1" name="Google Shape;1111;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2" name="Google Shape;1112;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3" name="Shape 1113"/>
        <p:cNvGrpSpPr/>
        <p:nvPr/>
      </p:nvGrpSpPr>
      <p:grpSpPr>
        <a:xfrm>
          <a:off x="0" y="0"/>
          <a:ext cx="0" cy="0"/>
          <a:chOff x="0" y="0"/>
          <a:chExt cx="0" cy="0"/>
        </a:xfrm>
      </p:grpSpPr>
      <p:sp>
        <p:nvSpPr>
          <p:cNvPr id="1114" name="Google Shape;1114;p159"/>
          <p:cNvSpPr/>
          <p:nvPr>
            <p:ph idx="2" type="pic"/>
          </p:nvPr>
        </p:nvSpPr>
        <p:spPr>
          <a:xfrm>
            <a:off x="5923375" y="150"/>
            <a:ext cx="3220500" cy="5143500"/>
          </a:xfrm>
          <a:prstGeom prst="rect">
            <a:avLst/>
          </a:prstGeom>
          <a:noFill/>
          <a:ln>
            <a:noFill/>
          </a:ln>
        </p:spPr>
      </p:sp>
      <p:sp>
        <p:nvSpPr>
          <p:cNvPr id="1115" name="Google Shape;1115;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6" name="Google Shape;1116;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7" name="Google Shape;1117;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8" name="Shape 1118"/>
        <p:cNvGrpSpPr/>
        <p:nvPr/>
      </p:nvGrpSpPr>
      <p:grpSpPr>
        <a:xfrm>
          <a:off x="0" y="0"/>
          <a:ext cx="0" cy="0"/>
          <a:chOff x="0" y="0"/>
          <a:chExt cx="0" cy="0"/>
        </a:xfrm>
      </p:grpSpPr>
      <p:sp>
        <p:nvSpPr>
          <p:cNvPr id="1119" name="Google Shape;1119;p160"/>
          <p:cNvSpPr/>
          <p:nvPr>
            <p:ph idx="2" type="pic"/>
          </p:nvPr>
        </p:nvSpPr>
        <p:spPr>
          <a:xfrm>
            <a:off x="5923375" y="150"/>
            <a:ext cx="3220500" cy="5143500"/>
          </a:xfrm>
          <a:prstGeom prst="rect">
            <a:avLst/>
          </a:prstGeom>
          <a:noFill/>
          <a:ln>
            <a:noFill/>
          </a:ln>
        </p:spPr>
      </p:sp>
      <p:sp>
        <p:nvSpPr>
          <p:cNvPr id="1120" name="Google Shape;1120;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1" name="Google Shape;1121;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2" name="Google Shape;1122;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3" name="Shape 1123"/>
        <p:cNvGrpSpPr/>
        <p:nvPr/>
      </p:nvGrpSpPr>
      <p:grpSpPr>
        <a:xfrm>
          <a:off x="0" y="0"/>
          <a:ext cx="0" cy="0"/>
          <a:chOff x="0" y="0"/>
          <a:chExt cx="0" cy="0"/>
        </a:xfrm>
      </p:grpSpPr>
      <p:sp>
        <p:nvSpPr>
          <p:cNvPr id="1124" name="Google Shape;1124;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5" name="Google Shape;1125;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6" name="Google Shape;1126;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7" name="Google Shape;1127;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theme" Target="../theme/theme2.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 Id="rId3"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7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7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7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4.png"/><Relationship Id="rId4" Type="http://schemas.openxmlformats.org/officeDocument/2006/relationships/image" Target="../media/image6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 Id="rId3"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30.xml"/><Relationship Id="rId3"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31.xml"/><Relationship Id="rId3" Type="http://schemas.openxmlformats.org/officeDocument/2006/relationships/image" Target="../media/image45.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2.xml"/><Relationship Id="rId3" Type="http://schemas.openxmlformats.org/officeDocument/2006/relationships/image" Target="../media/image68.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42.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0.xml"/><Relationship Id="rId3"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2.xml"/><Relationship Id="rId3"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58.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58.pn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58.pn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58.png"/><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 Id="rId3" Type="http://schemas.openxmlformats.org/officeDocument/2006/relationships/image" Target="../media/image6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73.jp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63.png"/><Relationship Id="rId4" Type="http://schemas.openxmlformats.org/officeDocument/2006/relationships/image" Target="../media/image6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4.xml"/><Relationship Id="rId3" Type="http://schemas.openxmlformats.org/officeDocument/2006/relationships/image" Target="../media/image17.png"/><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6.xml"/><Relationship Id="rId3"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62"/>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 to Incident Response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33" name="Google Shape;1133;p162"/>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134" name="Google Shape;1134;p162"/>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21.1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63"/>
          <p:cNvSpPr/>
          <p:nvPr/>
        </p:nvSpPr>
        <p:spPr>
          <a:xfrm>
            <a:off x="398575" y="3958003"/>
            <a:ext cx="8057100" cy="6990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140" name="Google Shape;1140;p163"/>
          <p:cNvSpPr/>
          <p:nvPr/>
        </p:nvSpPr>
        <p:spPr>
          <a:xfrm>
            <a:off x="398575" y="2293153"/>
            <a:ext cx="8057100" cy="6990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141" name="Google Shape;1141;p16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142" name="Google Shape;1142;p16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lesson, you will be able to:</a:t>
            </a:r>
            <a:endParaRPr/>
          </a:p>
          <a:p>
            <a:pPr indent="0" lvl="0" marL="0" rtl="0" algn="l">
              <a:spcBef>
                <a:spcPts val="1200"/>
              </a:spcBef>
              <a:spcAft>
                <a:spcPts val="0"/>
              </a:spcAft>
              <a:buNone/>
            </a:pPr>
            <a:r>
              <a:t/>
            </a:r>
            <a:endParaRPr/>
          </a:p>
        </p:txBody>
      </p:sp>
      <p:grpSp>
        <p:nvGrpSpPr>
          <p:cNvPr id="1143" name="Google Shape;1143;p163"/>
          <p:cNvGrpSpPr/>
          <p:nvPr/>
        </p:nvGrpSpPr>
        <p:grpSpPr>
          <a:xfrm>
            <a:off x="162900" y="173561"/>
            <a:ext cx="588600" cy="567300"/>
            <a:chOff x="914400" y="200161"/>
            <a:chExt cx="588600" cy="567300"/>
          </a:xfrm>
        </p:grpSpPr>
        <p:sp>
          <p:nvSpPr>
            <p:cNvPr id="1144" name="Google Shape;1144;p163"/>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145" name="Google Shape;1145;p163"/>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sp>
        <p:nvSpPr>
          <p:cNvPr id="1146" name="Google Shape;1146;p163"/>
          <p:cNvSpPr/>
          <p:nvPr/>
        </p:nvSpPr>
        <p:spPr>
          <a:xfrm>
            <a:off x="398575" y="3133378"/>
            <a:ext cx="8057100" cy="6990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147" name="Google Shape;1147;p163"/>
          <p:cNvSpPr/>
          <p:nvPr/>
        </p:nvSpPr>
        <p:spPr>
          <a:xfrm>
            <a:off x="322375" y="31246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148" name="Google Shape;1148;p163"/>
          <p:cNvSpPr txBox="1"/>
          <p:nvPr/>
        </p:nvSpPr>
        <p:spPr>
          <a:xfrm>
            <a:off x="825475" y="3133371"/>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how an incident response plan can guide the SIRT when an incident occurs.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49" name="Google Shape;1149;p163"/>
          <p:cNvSpPr/>
          <p:nvPr/>
        </p:nvSpPr>
        <p:spPr>
          <a:xfrm>
            <a:off x="398575" y="1456978"/>
            <a:ext cx="8057100" cy="6990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1150" name="Google Shape;1150;p163"/>
          <p:cNvSpPr/>
          <p:nvPr/>
        </p:nvSpPr>
        <p:spPr>
          <a:xfrm>
            <a:off x="322375" y="14482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51" name="Google Shape;1151;p163"/>
          <p:cNvSpPr txBox="1"/>
          <p:nvPr/>
        </p:nvSpPr>
        <p:spPr>
          <a:xfrm>
            <a:off x="825475" y="1477596"/>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Identify the types of incidents typically escalated to incident response managers.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52" name="Google Shape;1152;p163"/>
          <p:cNvSpPr/>
          <p:nvPr/>
        </p:nvSpPr>
        <p:spPr>
          <a:xfrm>
            <a:off x="322375" y="22864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153" name="Google Shape;1153;p163"/>
          <p:cNvSpPr txBox="1"/>
          <p:nvPr/>
        </p:nvSpPr>
        <p:spPr>
          <a:xfrm>
            <a:off x="825475" y="2295171"/>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List who makes up a Security Incident Response Team (SIRT) and their roles.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cxnSp>
        <p:nvCxnSpPr>
          <p:cNvPr id="1154" name="Google Shape;1154;p163"/>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
        <p:nvSpPr>
          <p:cNvPr id="1155" name="Google Shape;1155;p163"/>
          <p:cNvSpPr/>
          <p:nvPr/>
        </p:nvSpPr>
        <p:spPr>
          <a:xfrm>
            <a:off x="322375" y="396287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1156" name="Google Shape;1156;p163"/>
          <p:cNvSpPr txBox="1"/>
          <p:nvPr/>
        </p:nvSpPr>
        <p:spPr>
          <a:xfrm>
            <a:off x="825475" y="3971571"/>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Use the malware testing tool ANY.RUN to dynamically analyze ransomware.</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6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Introduction to </a:t>
            </a:r>
            <a:r>
              <a:rPr lang="en">
                <a:latin typeface="Roboto"/>
                <a:ea typeface="Roboto"/>
                <a:cs typeface="Roboto"/>
                <a:sym typeface="Roboto"/>
              </a:rPr>
              <a:t>Incident Response</a:t>
            </a:r>
            <a:endParaRPr>
              <a:latin typeface="Roboto"/>
              <a:ea typeface="Roboto"/>
              <a:cs typeface="Roboto"/>
              <a:sym typeface="Roboto"/>
            </a:endParaRPr>
          </a:p>
        </p:txBody>
      </p:sp>
      <p:pic>
        <p:nvPicPr>
          <p:cNvPr id="1166" name="Google Shape;1166;p165"/>
          <p:cNvPicPr preferRelativeResize="0"/>
          <p:nvPr/>
        </p:nvPicPr>
        <p:blipFill>
          <a:blip r:embed="rId3">
            <a:alphaModFix/>
          </a:blip>
          <a:stretch>
            <a:fillRect/>
          </a:stretch>
        </p:blipFill>
        <p:spPr>
          <a:xfrm>
            <a:off x="3279881" y="927100"/>
            <a:ext cx="2584241" cy="2037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pic>
        <p:nvPicPr>
          <p:cNvPr id="1171" name="Google Shape;1171;p166"/>
          <p:cNvPicPr preferRelativeResize="0"/>
          <p:nvPr/>
        </p:nvPicPr>
        <p:blipFill rotWithShape="1">
          <a:blip r:embed="rId3">
            <a:alphaModFix/>
          </a:blip>
          <a:srcRect b="22456" l="0" r="22456" t="0"/>
          <a:stretch/>
        </p:blipFill>
        <p:spPr>
          <a:xfrm>
            <a:off x="-25" y="-7575"/>
            <a:ext cx="9144024" cy="5143513"/>
          </a:xfrm>
          <a:prstGeom prst="rect">
            <a:avLst/>
          </a:prstGeom>
          <a:noFill/>
          <a:ln>
            <a:noFill/>
          </a:ln>
        </p:spPr>
      </p:pic>
      <p:sp>
        <p:nvSpPr>
          <p:cNvPr id="1172" name="Google Shape;1172;p166"/>
          <p:cNvSpPr txBox="1"/>
          <p:nvPr>
            <p:ph idx="1" type="subTitle"/>
          </p:nvPr>
        </p:nvSpPr>
        <p:spPr>
          <a:xfrm>
            <a:off x="0" y="1521450"/>
            <a:ext cx="4728300" cy="15291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sz="2400">
                <a:solidFill>
                  <a:schemeClr val="lt1"/>
                </a:solidFill>
              </a:rPr>
              <a:t>This week, we will learn about </a:t>
            </a:r>
            <a:r>
              <a:rPr b="1" lang="en" sz="2400">
                <a:solidFill>
                  <a:schemeClr val="lt1"/>
                </a:solidFill>
              </a:rPr>
              <a:t>DFIR</a:t>
            </a:r>
            <a:r>
              <a:rPr lang="en" sz="2400">
                <a:solidFill>
                  <a:schemeClr val="lt1"/>
                </a:solidFill>
              </a:rPr>
              <a:t>, which stands for Digital Forensics and Incident Response. </a:t>
            </a:r>
            <a:endParaRPr sz="2400">
              <a:solidFill>
                <a:schemeClr val="lt1"/>
              </a:solidFill>
            </a:endParaRPr>
          </a:p>
          <a:p>
            <a:pPr indent="0" lvl="0" marL="0" rtl="0" algn="l">
              <a:spcBef>
                <a:spcPts val="1200"/>
              </a:spcBef>
              <a:spcAft>
                <a:spcPts val="0"/>
              </a:spcAft>
              <a:buNone/>
            </a:pPr>
            <a:r>
              <a:t/>
            </a:r>
            <a:endParaRPr sz="15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67"/>
          <p:cNvSpPr txBox="1"/>
          <p:nvPr/>
        </p:nvSpPr>
        <p:spPr>
          <a:xfrm>
            <a:off x="4486650" y="2517125"/>
            <a:ext cx="2913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Focus on digital forensics</a:t>
            </a:r>
            <a:endParaRPr b="0" i="0" sz="1800" u="none" cap="none" strike="noStrike">
              <a:solidFill>
                <a:schemeClr val="dk2"/>
              </a:solidFill>
              <a:latin typeface="Roboto"/>
              <a:ea typeface="Roboto"/>
              <a:cs typeface="Roboto"/>
              <a:sym typeface="Roboto"/>
            </a:endParaRPr>
          </a:p>
        </p:txBody>
      </p:sp>
      <p:sp>
        <p:nvSpPr>
          <p:cNvPr id="1178" name="Google Shape;1178;p167"/>
          <p:cNvSpPr txBox="1"/>
          <p:nvPr/>
        </p:nvSpPr>
        <p:spPr>
          <a:xfrm>
            <a:off x="6459729" y="2229123"/>
            <a:ext cx="173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67"/>
          <p:cNvSpPr txBox="1"/>
          <p:nvPr/>
        </p:nvSpPr>
        <p:spPr>
          <a:xfrm>
            <a:off x="5904874" y="2444250"/>
            <a:ext cx="277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180" name="Google Shape;1180;p167"/>
          <p:cNvSpPr/>
          <p:nvPr/>
        </p:nvSpPr>
        <p:spPr>
          <a:xfrm>
            <a:off x="463450" y="2306863"/>
            <a:ext cx="1995300" cy="1656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67"/>
          <p:cNvSpPr/>
          <p:nvPr/>
        </p:nvSpPr>
        <p:spPr>
          <a:xfrm>
            <a:off x="6583600" y="2310700"/>
            <a:ext cx="1995300" cy="1656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82" name="Google Shape;1182;p167"/>
          <p:cNvCxnSpPr/>
          <p:nvPr/>
        </p:nvCxnSpPr>
        <p:spPr>
          <a:xfrm>
            <a:off x="469845" y="1783074"/>
            <a:ext cx="0" cy="662700"/>
          </a:xfrm>
          <a:prstGeom prst="straightConnector1">
            <a:avLst/>
          </a:prstGeom>
          <a:noFill/>
          <a:ln cap="flat" cmpd="sng" w="19050">
            <a:solidFill>
              <a:schemeClr val="dk2"/>
            </a:solidFill>
            <a:prstDash val="solid"/>
            <a:round/>
            <a:headEnd len="med" w="med" type="oval"/>
            <a:tailEnd len="sm" w="sm" type="none"/>
          </a:ln>
        </p:spPr>
      </p:cxnSp>
      <p:sp>
        <p:nvSpPr>
          <p:cNvPr id="1183" name="Google Shape;1183;p167"/>
          <p:cNvSpPr txBox="1"/>
          <p:nvPr/>
        </p:nvSpPr>
        <p:spPr>
          <a:xfrm>
            <a:off x="542099" y="1708270"/>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1</a:t>
            </a:r>
            <a:endParaRPr b="1" i="0" sz="2500" u="none" cap="none" strike="noStrike">
              <a:solidFill>
                <a:schemeClr val="dk2"/>
              </a:solidFill>
              <a:latin typeface="Roboto"/>
              <a:ea typeface="Roboto"/>
              <a:cs typeface="Roboto"/>
              <a:sym typeface="Roboto"/>
            </a:endParaRPr>
          </a:p>
        </p:txBody>
      </p:sp>
      <p:sp>
        <p:nvSpPr>
          <p:cNvPr id="1184" name="Google Shape;1184;p167"/>
          <p:cNvSpPr txBox="1"/>
          <p:nvPr/>
        </p:nvSpPr>
        <p:spPr>
          <a:xfrm>
            <a:off x="4857600" y="1708275"/>
            <a:ext cx="15432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Days 2-4</a:t>
            </a:r>
            <a:endParaRPr b="1" i="0" sz="2500" u="none" cap="none" strike="noStrike">
              <a:solidFill>
                <a:schemeClr val="dk2"/>
              </a:solidFill>
              <a:latin typeface="Roboto"/>
              <a:ea typeface="Roboto"/>
              <a:cs typeface="Roboto"/>
              <a:sym typeface="Roboto"/>
            </a:endParaRPr>
          </a:p>
        </p:txBody>
      </p:sp>
      <p:sp>
        <p:nvSpPr>
          <p:cNvPr id="1185" name="Google Shape;1185;p167"/>
          <p:cNvSpPr txBox="1"/>
          <p:nvPr/>
        </p:nvSpPr>
        <p:spPr>
          <a:xfrm>
            <a:off x="478600" y="2501650"/>
            <a:ext cx="2149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Introduction to </a:t>
            </a:r>
            <a:r>
              <a:rPr b="1" lang="en" sz="1800">
                <a:solidFill>
                  <a:schemeClr val="dk2"/>
                </a:solidFill>
                <a:latin typeface="Roboto"/>
                <a:ea typeface="Roboto"/>
                <a:cs typeface="Roboto"/>
                <a:sym typeface="Roboto"/>
              </a:rPr>
              <a:t>incident response</a:t>
            </a:r>
            <a:endParaRPr b="1" i="0" sz="1800" u="none" cap="none" strike="noStrike">
              <a:solidFill>
                <a:schemeClr val="dk2"/>
              </a:solidFill>
              <a:latin typeface="Roboto"/>
              <a:ea typeface="Roboto"/>
              <a:cs typeface="Roboto"/>
              <a:sym typeface="Roboto"/>
            </a:endParaRPr>
          </a:p>
        </p:txBody>
      </p:sp>
      <p:sp>
        <p:nvSpPr>
          <p:cNvPr id="1186" name="Google Shape;1186;p167"/>
          <p:cNvSpPr txBox="1"/>
          <p:nvPr/>
        </p:nvSpPr>
        <p:spPr>
          <a:xfrm>
            <a:off x="50" y="127400"/>
            <a:ext cx="8122800" cy="393600"/>
          </a:xfrm>
          <a:prstGeom prst="rect">
            <a:avLst/>
          </a:prstGeom>
          <a:noFill/>
          <a:ln>
            <a:noFill/>
          </a:ln>
        </p:spPr>
        <p:txBody>
          <a:bodyPr anchorCtr="0" anchor="t" bIns="91425" lIns="457200"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Incident Response and </a:t>
            </a:r>
            <a:r>
              <a:rPr b="1" lang="en" sz="2600">
                <a:solidFill>
                  <a:schemeClr val="dk2"/>
                </a:solidFill>
                <a:latin typeface="Roboto"/>
                <a:ea typeface="Roboto"/>
                <a:cs typeface="Roboto"/>
                <a:sym typeface="Roboto"/>
              </a:rPr>
              <a:t>Digital Forensics </a:t>
            </a:r>
            <a:r>
              <a:rPr b="1" lang="en" sz="2600">
                <a:solidFill>
                  <a:schemeClr val="dk2"/>
                </a:solidFill>
                <a:latin typeface="Roboto"/>
                <a:ea typeface="Roboto"/>
                <a:cs typeface="Roboto"/>
                <a:sym typeface="Roboto"/>
              </a:rPr>
              <a:t>Module</a:t>
            </a:r>
            <a:endParaRPr b="1" i="0" sz="2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p:txBody>
      </p:sp>
      <p:sp>
        <p:nvSpPr>
          <p:cNvPr id="1187" name="Google Shape;1187;p167"/>
          <p:cNvSpPr/>
          <p:nvPr/>
        </p:nvSpPr>
        <p:spPr>
          <a:xfrm>
            <a:off x="2482200" y="2306850"/>
            <a:ext cx="2059200" cy="1656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67"/>
          <p:cNvSpPr/>
          <p:nvPr/>
        </p:nvSpPr>
        <p:spPr>
          <a:xfrm>
            <a:off x="4564850" y="2310700"/>
            <a:ext cx="1995300" cy="165600"/>
          </a:xfrm>
          <a:prstGeom prst="re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89" name="Google Shape;1189;p167"/>
          <p:cNvCxnSpPr/>
          <p:nvPr/>
        </p:nvCxnSpPr>
        <p:spPr>
          <a:xfrm>
            <a:off x="8578900" y="1759675"/>
            <a:ext cx="0" cy="709500"/>
          </a:xfrm>
          <a:prstGeom prst="straightConnector1">
            <a:avLst/>
          </a:prstGeom>
          <a:noFill/>
          <a:ln cap="flat" cmpd="sng" w="19050">
            <a:solidFill>
              <a:schemeClr val="dk2"/>
            </a:solidFill>
            <a:prstDash val="solid"/>
            <a:round/>
            <a:headEnd len="med" w="med" type="oval"/>
            <a:tailEnd len="sm" w="sm" type="none"/>
          </a:ln>
        </p:spPr>
      </p:cxnSp>
      <p:cxnSp>
        <p:nvCxnSpPr>
          <p:cNvPr id="1190" name="Google Shape;1190;p167"/>
          <p:cNvCxnSpPr/>
          <p:nvPr/>
        </p:nvCxnSpPr>
        <p:spPr>
          <a:xfrm>
            <a:off x="4572000" y="1781275"/>
            <a:ext cx="0" cy="666300"/>
          </a:xfrm>
          <a:prstGeom prst="straightConnector1">
            <a:avLst/>
          </a:prstGeom>
          <a:noFill/>
          <a:ln cap="flat" cmpd="sng" w="19050">
            <a:solidFill>
              <a:schemeClr val="dk2"/>
            </a:solidFill>
            <a:prstDash val="solid"/>
            <a:round/>
            <a:headEnd len="med" w="med" type="oval"/>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68"/>
          <p:cNvSpPr txBox="1"/>
          <p:nvPr>
            <p:ph type="title"/>
          </p:nvPr>
        </p:nvSpPr>
        <p:spPr>
          <a:xfrm>
            <a:off x="457200" y="146300"/>
            <a:ext cx="4572000" cy="365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Intro to Incident Response</a:t>
            </a:r>
            <a:endParaRPr/>
          </a:p>
        </p:txBody>
      </p:sp>
      <p:sp>
        <p:nvSpPr>
          <p:cNvPr id="1196" name="Google Shape;1196;p168"/>
          <p:cNvSpPr txBox="1"/>
          <p:nvPr>
            <p:ph idx="1" type="subTitle"/>
          </p:nvPr>
        </p:nvSpPr>
        <p:spPr>
          <a:xfrm>
            <a:off x="457200" y="548650"/>
            <a:ext cx="4296000" cy="274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We have covered various threats that can negatively affect a company, including:</a:t>
            </a:r>
            <a:endParaRPr/>
          </a:p>
        </p:txBody>
      </p:sp>
      <p:sp>
        <p:nvSpPr>
          <p:cNvPr id="1197" name="Google Shape;1197;p168"/>
          <p:cNvSpPr txBox="1"/>
          <p:nvPr>
            <p:ph idx="3" type="body"/>
          </p:nvPr>
        </p:nvSpPr>
        <p:spPr>
          <a:xfrm>
            <a:off x="457200" y="1495775"/>
            <a:ext cx="5029200" cy="27555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Malware</a:t>
            </a:r>
            <a:endParaRPr/>
          </a:p>
          <a:p>
            <a:pPr indent="-342900" lvl="0" marL="457200" rtl="0" algn="l">
              <a:spcBef>
                <a:spcPts val="0"/>
              </a:spcBef>
              <a:spcAft>
                <a:spcPts val="0"/>
              </a:spcAft>
              <a:buSzPts val="1800"/>
              <a:buChar char="●"/>
            </a:pPr>
            <a:r>
              <a:rPr lang="en"/>
              <a:t>DDoS attacks</a:t>
            </a:r>
            <a:endParaRPr/>
          </a:p>
          <a:p>
            <a:pPr indent="-342900" lvl="0" marL="457200" rtl="0" algn="l">
              <a:spcBef>
                <a:spcPts val="0"/>
              </a:spcBef>
              <a:spcAft>
                <a:spcPts val="0"/>
              </a:spcAft>
              <a:buSzPts val="1800"/>
              <a:buChar char="●"/>
            </a:pPr>
            <a:r>
              <a:rPr lang="en"/>
              <a:t>Botnet attacks</a:t>
            </a:r>
            <a:endParaRPr/>
          </a:p>
          <a:p>
            <a:pPr indent="-342900" lvl="0" marL="457200" rtl="0" algn="l">
              <a:spcBef>
                <a:spcPts val="0"/>
              </a:spcBef>
              <a:spcAft>
                <a:spcPts val="0"/>
              </a:spcAft>
              <a:buSzPts val="1800"/>
              <a:buChar char="●"/>
            </a:pPr>
            <a:r>
              <a:rPr lang="en"/>
              <a:t>Phishing</a:t>
            </a:r>
            <a:endParaRPr/>
          </a:p>
          <a:p>
            <a:pPr indent="-342900" lvl="0" marL="457200" rtl="0" algn="l">
              <a:spcBef>
                <a:spcPts val="0"/>
              </a:spcBef>
              <a:spcAft>
                <a:spcPts val="0"/>
              </a:spcAft>
              <a:buSzPts val="1800"/>
              <a:buChar char="●"/>
            </a:pPr>
            <a:r>
              <a:rPr lang="en"/>
              <a:t>Data breaches</a:t>
            </a:r>
            <a:endParaRPr/>
          </a:p>
        </p:txBody>
      </p:sp>
      <p:pic>
        <p:nvPicPr>
          <p:cNvPr id="1198" name="Google Shape;1198;p168"/>
          <p:cNvPicPr preferRelativeResize="0"/>
          <p:nvPr/>
        </p:nvPicPr>
        <p:blipFill rotWithShape="1">
          <a:blip r:embed="rId3">
            <a:alphaModFix/>
          </a:blip>
          <a:srcRect b="0" l="39360" r="6482" t="0"/>
          <a:stretch/>
        </p:blipFill>
        <p:spPr>
          <a:xfrm>
            <a:off x="4983425" y="111100"/>
            <a:ext cx="3995699" cy="49212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69"/>
          <p:cNvSpPr txBox="1"/>
          <p:nvPr>
            <p:ph type="title"/>
          </p:nvPr>
        </p:nvSpPr>
        <p:spPr>
          <a:xfrm>
            <a:off x="4298650" y="146300"/>
            <a:ext cx="48453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Intro to Incident Response</a:t>
            </a:r>
            <a:endParaRPr>
              <a:solidFill>
                <a:schemeClr val="dk2"/>
              </a:solidFill>
            </a:endParaRPr>
          </a:p>
          <a:p>
            <a:pPr indent="0" lvl="0" marL="0" rtl="0" algn="l">
              <a:spcBef>
                <a:spcPts val="0"/>
              </a:spcBef>
              <a:spcAft>
                <a:spcPts val="0"/>
              </a:spcAft>
              <a:buNone/>
            </a:pPr>
            <a:r>
              <a:t/>
            </a:r>
            <a:endParaRPr/>
          </a:p>
        </p:txBody>
      </p:sp>
      <p:sp>
        <p:nvSpPr>
          <p:cNvPr id="1204" name="Google Shape;1204;p169"/>
          <p:cNvSpPr txBox="1"/>
          <p:nvPr>
            <p:ph idx="3" type="subTitle"/>
          </p:nvPr>
        </p:nvSpPr>
        <p:spPr>
          <a:xfrm>
            <a:off x="4358125" y="548650"/>
            <a:ext cx="45630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t>
            </a:r>
            <a:r>
              <a:rPr lang="en"/>
              <a:t>ompanies put in place security systems</a:t>
            </a:r>
            <a:endParaRPr/>
          </a:p>
          <a:p>
            <a:pPr indent="0" lvl="0" marL="0" rtl="0" algn="l">
              <a:spcBef>
                <a:spcPts val="0"/>
              </a:spcBef>
              <a:spcAft>
                <a:spcPts val="0"/>
              </a:spcAft>
              <a:buNone/>
            </a:pPr>
            <a:r>
              <a:rPr lang="en"/>
              <a:t>to prevent these incidents, such 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05" name="Google Shape;1205;p169"/>
          <p:cNvSpPr txBox="1"/>
          <p:nvPr>
            <p:ph idx="1" type="body"/>
          </p:nvPr>
        </p:nvSpPr>
        <p:spPr>
          <a:xfrm>
            <a:off x="4358125" y="1981700"/>
            <a:ext cx="4308900" cy="14154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System firewalls</a:t>
            </a:r>
            <a:endParaRPr/>
          </a:p>
          <a:p>
            <a:pPr indent="-342900" lvl="0" marL="457200" rtl="0" algn="l">
              <a:spcBef>
                <a:spcPts val="0"/>
              </a:spcBef>
              <a:spcAft>
                <a:spcPts val="0"/>
              </a:spcAft>
              <a:buSzPts val="1800"/>
              <a:buChar char="●"/>
            </a:pPr>
            <a:r>
              <a:rPr lang="en"/>
              <a:t>Intrusion Prevention Systems (IPS)</a:t>
            </a:r>
            <a:endParaRPr/>
          </a:p>
          <a:p>
            <a:pPr indent="-342900" lvl="0" marL="457200" rtl="0" algn="l">
              <a:spcBef>
                <a:spcPts val="0"/>
              </a:spcBef>
              <a:spcAft>
                <a:spcPts val="0"/>
              </a:spcAft>
              <a:buSzPts val="1800"/>
              <a:buChar char="●"/>
            </a:pPr>
            <a:r>
              <a:rPr lang="en"/>
              <a:t>Network security firewalls</a:t>
            </a:r>
            <a:endParaRPr/>
          </a:p>
          <a:p>
            <a:pPr indent="-342900" lvl="0" marL="457200" rtl="0" algn="l">
              <a:spcBef>
                <a:spcPts val="0"/>
              </a:spcBef>
              <a:spcAft>
                <a:spcPts val="0"/>
              </a:spcAft>
              <a:buSzPts val="1800"/>
              <a:buChar char="●"/>
            </a:pPr>
            <a:r>
              <a:rPr lang="en"/>
              <a:t>Application security</a:t>
            </a:r>
            <a:endParaRPr/>
          </a:p>
        </p:txBody>
      </p:sp>
      <p:pic>
        <p:nvPicPr>
          <p:cNvPr id="1206" name="Google Shape;1206;p169"/>
          <p:cNvPicPr preferRelativeResize="0"/>
          <p:nvPr/>
        </p:nvPicPr>
        <p:blipFill>
          <a:blip r:embed="rId3">
            <a:alphaModFix/>
          </a:blip>
          <a:stretch>
            <a:fillRect/>
          </a:stretch>
        </p:blipFill>
        <p:spPr>
          <a:xfrm>
            <a:off x="44400" y="931650"/>
            <a:ext cx="4254251" cy="36326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70"/>
          <p:cNvSpPr txBox="1"/>
          <p:nvPr>
            <p:ph idx="2" type="title"/>
          </p:nvPr>
        </p:nvSpPr>
        <p:spPr>
          <a:xfrm>
            <a:off x="1371600" y="1528400"/>
            <a:ext cx="6323100" cy="26430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300">
                <a:latin typeface="Roboto"/>
                <a:ea typeface="Roboto"/>
                <a:cs typeface="Roboto"/>
                <a:sym typeface="Roboto"/>
              </a:rPr>
              <a:t>Incident response </a:t>
            </a:r>
            <a:r>
              <a:rPr lang="en" sz="3300">
                <a:latin typeface="Roboto"/>
                <a:ea typeface="Roboto"/>
                <a:cs typeface="Roboto"/>
                <a:sym typeface="Roboto"/>
              </a:rPr>
              <a:t>is a procedure that an organization uses to react, mitigate, and respond to a security problem.</a:t>
            </a:r>
            <a:endParaRPr sz="3300">
              <a:latin typeface="Roboto"/>
              <a:ea typeface="Roboto"/>
              <a:cs typeface="Roboto"/>
              <a:sym typeface="Roboto"/>
            </a:endParaRPr>
          </a:p>
          <a:p>
            <a:pPr indent="0" lvl="0" marL="0" rtl="0" algn="l">
              <a:spcBef>
                <a:spcPts val="0"/>
              </a:spcBef>
              <a:spcAft>
                <a:spcPts val="0"/>
              </a:spcAft>
              <a:buNone/>
            </a:pPr>
            <a:r>
              <a:t/>
            </a:r>
            <a:endParaRPr b="1" sz="2600">
              <a:latin typeface="Roboto"/>
              <a:ea typeface="Roboto"/>
              <a:cs typeface="Roboto"/>
              <a:sym typeface="Roboto"/>
            </a:endParaRPr>
          </a:p>
          <a:p>
            <a:pPr indent="0" lvl="0" marL="0" rtl="0" algn="l">
              <a:spcBef>
                <a:spcPts val="0"/>
              </a:spcBef>
              <a:spcAft>
                <a:spcPts val="0"/>
              </a:spcAft>
              <a:buNone/>
            </a:pPr>
            <a:r>
              <a:t/>
            </a:r>
            <a:endParaRPr b="1" sz="26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7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Intro to Incident Response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7" name="Google Shape;1217;p171"/>
          <p:cNvSpPr txBox="1"/>
          <p:nvPr>
            <p:ph idx="3" type="body"/>
          </p:nvPr>
        </p:nvSpPr>
        <p:spPr>
          <a:xfrm>
            <a:off x="0" y="1021475"/>
            <a:ext cx="4861500" cy="3407400"/>
          </a:xfrm>
          <a:prstGeom prst="rect">
            <a:avLst/>
          </a:prstGeom>
        </p:spPr>
        <p:txBody>
          <a:bodyPr anchorCtr="0" anchor="t" bIns="914400" lIns="457200" spcFirstLastPara="1" rIns="457200" wrap="square" tIns="0">
            <a:noAutofit/>
          </a:bodyPr>
          <a:lstStyle/>
          <a:p>
            <a:pPr indent="0" lvl="0" marL="0" rtl="0" algn="l">
              <a:spcBef>
                <a:spcPts val="0"/>
              </a:spcBef>
              <a:spcAft>
                <a:spcPts val="0"/>
              </a:spcAft>
              <a:buNone/>
            </a:pPr>
            <a:r>
              <a:rPr lang="en"/>
              <a:t>I</a:t>
            </a:r>
            <a:r>
              <a:rPr lang="en"/>
              <a:t>f we think of a company as a bank,  </a:t>
            </a:r>
            <a:br>
              <a:rPr lang="en"/>
            </a:br>
            <a:r>
              <a:rPr lang="en"/>
              <a:t>its security systems are similar to the bank’s alarm and security guards. </a:t>
            </a:r>
            <a:endParaRPr/>
          </a:p>
          <a:p>
            <a:pPr indent="0" lvl="0" marL="0" rtl="0" algn="l">
              <a:spcBef>
                <a:spcPts val="800"/>
              </a:spcBef>
              <a:spcAft>
                <a:spcPts val="800"/>
              </a:spcAft>
              <a:buNone/>
            </a:pPr>
            <a:r>
              <a:rPr lang="en"/>
              <a:t>We can consider the threats to be bank robbers, and the </a:t>
            </a:r>
            <a:r>
              <a:rPr b="1" lang="en"/>
              <a:t>incident response</a:t>
            </a:r>
            <a:r>
              <a:rPr lang="en"/>
              <a:t> to be like the police responding after the bank alarm </a:t>
            </a:r>
            <a:br>
              <a:rPr lang="en"/>
            </a:br>
            <a:r>
              <a:rPr lang="en"/>
              <a:t>went off and the robbers broke in.</a:t>
            </a:r>
            <a:endParaRPr/>
          </a:p>
        </p:txBody>
      </p:sp>
      <p:pic>
        <p:nvPicPr>
          <p:cNvPr id="1218" name="Google Shape;1218;p171"/>
          <p:cNvPicPr preferRelativeResize="0"/>
          <p:nvPr/>
        </p:nvPicPr>
        <p:blipFill rotWithShape="1">
          <a:blip r:embed="rId3">
            <a:alphaModFix/>
          </a:blip>
          <a:srcRect b="0" l="2917" r="3886" t="0"/>
          <a:stretch/>
        </p:blipFill>
        <p:spPr>
          <a:xfrm>
            <a:off x="4572000" y="1110650"/>
            <a:ext cx="4355062" cy="30025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7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SIRT</a:t>
            </a:r>
            <a:r>
              <a:rPr b="0" lang="en">
                <a:latin typeface="Roboto"/>
                <a:ea typeface="Roboto"/>
                <a:cs typeface="Roboto"/>
                <a:sym typeface="Roboto"/>
              </a:rPr>
              <a:t> Structure</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224" name="Google Shape;1224;p172"/>
          <p:cNvPicPr preferRelativeResize="0"/>
          <p:nvPr/>
        </p:nvPicPr>
        <p:blipFill>
          <a:blip r:embed="rId3">
            <a:alphaModFix/>
          </a:blip>
          <a:stretch>
            <a:fillRect/>
          </a:stretch>
        </p:blipFill>
        <p:spPr>
          <a:xfrm>
            <a:off x="4161022" y="1690125"/>
            <a:ext cx="821950" cy="1039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73"/>
          <p:cNvSpPr txBox="1"/>
          <p:nvPr>
            <p:ph idx="2" type="title"/>
          </p:nvPr>
        </p:nvSpPr>
        <p:spPr>
          <a:xfrm>
            <a:off x="1240575" y="2286000"/>
            <a:ext cx="6531900" cy="18855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sz="2800">
                <a:latin typeface="Roboto"/>
                <a:ea typeface="Roboto"/>
                <a:cs typeface="Roboto"/>
                <a:sym typeface="Roboto"/>
              </a:rPr>
              <a:t>In order for an organization to </a:t>
            </a:r>
            <a:br>
              <a:rPr lang="en" sz="2800">
                <a:latin typeface="Roboto"/>
                <a:ea typeface="Roboto"/>
                <a:cs typeface="Roboto"/>
                <a:sym typeface="Roboto"/>
              </a:rPr>
            </a:br>
            <a:r>
              <a:rPr lang="en" sz="2800">
                <a:latin typeface="Roboto"/>
                <a:ea typeface="Roboto"/>
                <a:cs typeface="Roboto"/>
                <a:sym typeface="Roboto"/>
              </a:rPr>
              <a:t>manage these security incidents, </a:t>
            </a:r>
            <a:br>
              <a:rPr lang="en" sz="2800">
                <a:latin typeface="Roboto"/>
                <a:ea typeface="Roboto"/>
                <a:cs typeface="Roboto"/>
                <a:sym typeface="Roboto"/>
              </a:rPr>
            </a:br>
            <a:r>
              <a:rPr lang="en" sz="2800">
                <a:latin typeface="Roboto"/>
                <a:ea typeface="Roboto"/>
                <a:cs typeface="Roboto"/>
                <a:sym typeface="Roboto"/>
              </a:rPr>
              <a:t>they need an organized team to respond to them. This team is </a:t>
            </a:r>
            <a:br>
              <a:rPr lang="en" sz="2800">
                <a:latin typeface="Roboto"/>
                <a:ea typeface="Roboto"/>
                <a:cs typeface="Roboto"/>
                <a:sym typeface="Roboto"/>
              </a:rPr>
            </a:br>
            <a:r>
              <a:rPr lang="en" sz="2800">
                <a:latin typeface="Roboto"/>
                <a:ea typeface="Roboto"/>
                <a:cs typeface="Roboto"/>
                <a:sym typeface="Roboto"/>
              </a:rPr>
              <a:t>known as the </a:t>
            </a:r>
            <a:r>
              <a:rPr b="1" lang="en" sz="2800">
                <a:latin typeface="Roboto"/>
                <a:ea typeface="Roboto"/>
                <a:cs typeface="Roboto"/>
                <a:sym typeface="Roboto"/>
              </a:rPr>
              <a:t>Security Incident Response Team (SIRT)</a:t>
            </a:r>
            <a:r>
              <a:rPr lang="en" sz="2800">
                <a:latin typeface="Roboto"/>
                <a:ea typeface="Roboto"/>
                <a:cs typeface="Roboto"/>
                <a:sym typeface="Roboto"/>
              </a:rPr>
              <a:t>.</a:t>
            </a:r>
            <a:endParaRPr sz="2800">
              <a:latin typeface="Roboto"/>
              <a:ea typeface="Roboto"/>
              <a:cs typeface="Roboto"/>
              <a:sym typeface="Roboto"/>
            </a:endParaRPr>
          </a:p>
          <a:p>
            <a:pPr indent="0" lvl="0" marL="0" rtl="0" algn="l">
              <a:spcBef>
                <a:spcPts val="0"/>
              </a:spcBef>
              <a:spcAft>
                <a:spcPts val="0"/>
              </a:spcAft>
              <a:buNone/>
            </a:pPr>
            <a:r>
              <a:t/>
            </a:r>
            <a:endParaRPr b="1" sz="3300">
              <a:latin typeface="Roboto"/>
              <a:ea typeface="Roboto"/>
              <a:cs typeface="Roboto"/>
              <a:sym typeface="Roboto"/>
            </a:endParaRPr>
          </a:p>
          <a:p>
            <a:pPr indent="0" lvl="0" marL="0" rtl="0" algn="l">
              <a:spcBef>
                <a:spcPts val="0"/>
              </a:spcBef>
              <a:spcAft>
                <a:spcPts val="0"/>
              </a:spcAft>
              <a:buNone/>
            </a:pPr>
            <a:r>
              <a:t/>
            </a:r>
            <a:endParaRPr b="1" sz="2600">
              <a:latin typeface="Roboto"/>
              <a:ea typeface="Roboto"/>
              <a:cs typeface="Roboto"/>
              <a:sym typeface="Roboto"/>
            </a:endParaRPr>
          </a:p>
          <a:p>
            <a:pPr indent="0" lvl="0" marL="0" rtl="0" algn="l">
              <a:spcBef>
                <a:spcPts val="0"/>
              </a:spcBef>
              <a:spcAft>
                <a:spcPts val="0"/>
              </a:spcAft>
              <a:buNone/>
            </a:pPr>
            <a:r>
              <a:t/>
            </a:r>
            <a:endParaRPr b="1" sz="2600">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7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SIRT Structure</a:t>
            </a:r>
            <a:endParaRPr/>
          </a:p>
        </p:txBody>
      </p:sp>
      <p:sp>
        <p:nvSpPr>
          <p:cNvPr id="1235" name="Google Shape;1235;p17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t>
            </a:r>
            <a:r>
              <a:rPr lang="en"/>
              <a:t>ost SIRTs are typically made up of the following roles:</a:t>
            </a:r>
            <a:endParaRPr/>
          </a:p>
        </p:txBody>
      </p:sp>
      <p:sp>
        <p:nvSpPr>
          <p:cNvPr id="1236" name="Google Shape;1236;p174"/>
          <p:cNvSpPr txBox="1"/>
          <p:nvPr>
            <p:ph idx="2" type="body"/>
          </p:nvPr>
        </p:nvSpPr>
        <p:spPr>
          <a:xfrm>
            <a:off x="4983400" y="1371600"/>
            <a:ext cx="3516900" cy="32127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Security operations staff</a:t>
            </a:r>
            <a:endParaRPr/>
          </a:p>
          <a:p>
            <a:pPr indent="-342900" lvl="0" marL="457200" rtl="0" algn="l">
              <a:spcBef>
                <a:spcPts val="0"/>
              </a:spcBef>
              <a:spcAft>
                <a:spcPts val="0"/>
              </a:spcAft>
              <a:buSzPts val="1800"/>
              <a:buChar char="●"/>
            </a:pPr>
            <a:r>
              <a:rPr lang="en"/>
              <a:t>Incident responders and </a:t>
            </a:r>
            <a:br>
              <a:rPr lang="en"/>
            </a:br>
            <a:r>
              <a:rPr lang="en"/>
              <a:t>incident response managers</a:t>
            </a:r>
            <a:endParaRPr/>
          </a:p>
          <a:p>
            <a:pPr indent="-342900" lvl="0" marL="457200" rtl="0" algn="l">
              <a:spcBef>
                <a:spcPts val="0"/>
              </a:spcBef>
              <a:spcAft>
                <a:spcPts val="0"/>
              </a:spcAft>
              <a:buSzPts val="1800"/>
              <a:buChar char="●"/>
            </a:pPr>
            <a:r>
              <a:rPr lang="en"/>
              <a:t>Aligned staff:</a:t>
            </a:r>
            <a:endParaRPr/>
          </a:p>
          <a:p>
            <a:pPr indent="-342900" lvl="1" marL="914400" rtl="0" algn="l">
              <a:spcBef>
                <a:spcPts val="0"/>
              </a:spcBef>
              <a:spcAft>
                <a:spcPts val="0"/>
              </a:spcAft>
              <a:buSzPts val="1800"/>
              <a:buChar char="○"/>
            </a:pPr>
            <a:r>
              <a:rPr lang="en"/>
              <a:t>Legal</a:t>
            </a:r>
            <a:endParaRPr/>
          </a:p>
          <a:p>
            <a:pPr indent="-342900" lvl="1" marL="914400" rtl="0" algn="l">
              <a:spcBef>
                <a:spcPts val="0"/>
              </a:spcBef>
              <a:spcAft>
                <a:spcPts val="0"/>
              </a:spcAft>
              <a:buSzPts val="1800"/>
              <a:buChar char="○"/>
            </a:pPr>
            <a:r>
              <a:rPr lang="en"/>
              <a:t>Compliance</a:t>
            </a:r>
            <a:endParaRPr/>
          </a:p>
          <a:p>
            <a:pPr indent="-342900" lvl="1" marL="914400" rtl="0" algn="l">
              <a:spcBef>
                <a:spcPts val="0"/>
              </a:spcBef>
              <a:spcAft>
                <a:spcPts val="0"/>
              </a:spcAft>
              <a:buSzPts val="1800"/>
              <a:buChar char="○"/>
            </a:pPr>
            <a:r>
              <a:rPr lang="en"/>
              <a:t>Communications, PR</a:t>
            </a:r>
            <a:endParaRPr/>
          </a:p>
          <a:p>
            <a:pPr indent="-342900" lvl="1" marL="914400" rtl="0" algn="l">
              <a:spcBef>
                <a:spcPts val="0"/>
              </a:spcBef>
              <a:spcAft>
                <a:spcPts val="0"/>
              </a:spcAft>
              <a:buSzPts val="1800"/>
              <a:buChar char="○"/>
            </a:pPr>
            <a:r>
              <a:rPr lang="en"/>
              <a:t>Engineers</a:t>
            </a:r>
            <a:endParaRPr/>
          </a:p>
          <a:p>
            <a:pPr indent="0" lvl="0" marL="0" rtl="0" algn="l">
              <a:spcBef>
                <a:spcPts val="0"/>
              </a:spcBef>
              <a:spcAft>
                <a:spcPts val="0"/>
              </a:spcAft>
              <a:buNone/>
            </a:pPr>
            <a:r>
              <a:t/>
            </a:r>
            <a:endParaRPr/>
          </a:p>
        </p:txBody>
      </p:sp>
      <p:pic>
        <p:nvPicPr>
          <p:cNvPr id="1237" name="Google Shape;1237;p174"/>
          <p:cNvPicPr preferRelativeResize="0"/>
          <p:nvPr/>
        </p:nvPicPr>
        <p:blipFill>
          <a:blip r:embed="rId3">
            <a:alphaModFix/>
          </a:blip>
          <a:stretch>
            <a:fillRect/>
          </a:stretch>
        </p:blipFill>
        <p:spPr>
          <a:xfrm>
            <a:off x="278476" y="231201"/>
            <a:ext cx="384200" cy="485825"/>
          </a:xfrm>
          <a:prstGeom prst="rect">
            <a:avLst/>
          </a:prstGeom>
          <a:noFill/>
          <a:ln>
            <a:noFill/>
          </a:ln>
        </p:spPr>
      </p:pic>
      <p:cxnSp>
        <p:nvCxnSpPr>
          <p:cNvPr id="1238" name="Google Shape;1238;p174"/>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pic>
        <p:nvPicPr>
          <p:cNvPr id="1239" name="Google Shape;1239;p174"/>
          <p:cNvPicPr preferRelativeResize="0"/>
          <p:nvPr/>
        </p:nvPicPr>
        <p:blipFill>
          <a:blip r:embed="rId4">
            <a:alphaModFix/>
          </a:blip>
          <a:stretch>
            <a:fillRect/>
          </a:stretch>
        </p:blipFill>
        <p:spPr>
          <a:xfrm>
            <a:off x="330240" y="1430737"/>
            <a:ext cx="4454958" cy="29735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175"/>
          <p:cNvSpPr txBox="1"/>
          <p:nvPr>
            <p:ph type="title"/>
          </p:nvPr>
        </p:nvSpPr>
        <p:spPr>
          <a:xfrm>
            <a:off x="3035350" y="1470675"/>
            <a:ext cx="5874300" cy="20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t>
            </a:r>
            <a:r>
              <a:rPr lang="en"/>
              <a:t>irst responders to handle security issues work out of a </a:t>
            </a:r>
            <a:r>
              <a:rPr lang="en">
                <a:latin typeface="Roboto"/>
                <a:ea typeface="Roboto"/>
                <a:cs typeface="Roboto"/>
                <a:sym typeface="Roboto"/>
              </a:rPr>
              <a:t>security operations center</a:t>
            </a:r>
            <a:r>
              <a:rPr lang="en"/>
              <a:t>, or a </a:t>
            </a:r>
            <a:r>
              <a:rPr lang="en">
                <a:latin typeface="Roboto"/>
                <a:ea typeface="Roboto"/>
                <a:cs typeface="Roboto"/>
                <a:sym typeface="Roboto"/>
              </a:rPr>
              <a:t>SOC</a:t>
            </a:r>
            <a:r>
              <a:rPr lang="en"/>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76"/>
          <p:cNvSpPr/>
          <p:nvPr/>
        </p:nvSpPr>
        <p:spPr>
          <a:xfrm>
            <a:off x="1492700" y="1594775"/>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0" name="Google Shape;1250;p176"/>
          <p:cNvSpPr/>
          <p:nvPr/>
        </p:nvSpPr>
        <p:spPr>
          <a:xfrm>
            <a:off x="3563698" y="1594775"/>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176"/>
          <p:cNvSpPr/>
          <p:nvPr/>
        </p:nvSpPr>
        <p:spPr>
          <a:xfrm>
            <a:off x="5665900" y="1594775"/>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52" name="Google Shape;1252;p176"/>
          <p:cNvGrpSpPr/>
          <p:nvPr/>
        </p:nvGrpSpPr>
        <p:grpSpPr>
          <a:xfrm>
            <a:off x="3288208" y="2515767"/>
            <a:ext cx="459000" cy="459000"/>
            <a:chOff x="4898908" y="4195167"/>
            <a:chExt cx="459000" cy="459000"/>
          </a:xfrm>
        </p:grpSpPr>
        <p:sp>
          <p:nvSpPr>
            <p:cNvPr id="1253" name="Google Shape;1253;p176"/>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254" name="Google Shape;1254;p176"/>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5" name="Google Shape;1255;p176"/>
          <p:cNvGrpSpPr/>
          <p:nvPr/>
        </p:nvGrpSpPr>
        <p:grpSpPr>
          <a:xfrm>
            <a:off x="5378008" y="2515767"/>
            <a:ext cx="459000" cy="459000"/>
            <a:chOff x="4898908" y="4195167"/>
            <a:chExt cx="459000" cy="459000"/>
          </a:xfrm>
        </p:grpSpPr>
        <p:sp>
          <p:nvSpPr>
            <p:cNvPr id="1256" name="Google Shape;1256;p176"/>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1257" name="Google Shape;1257;p176"/>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8" name="Google Shape;1258;p176"/>
          <p:cNvSpPr txBox="1"/>
          <p:nvPr/>
        </p:nvSpPr>
        <p:spPr>
          <a:xfrm>
            <a:off x="3747200" y="1594775"/>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Tier 2</a:t>
            </a:r>
            <a:endParaRPr b="1" i="0" sz="1800" u="none" cap="none" strike="noStrike">
              <a:solidFill>
                <a:schemeClr val="dk2"/>
              </a:solidFill>
              <a:latin typeface="Roboto"/>
              <a:ea typeface="Roboto"/>
              <a:cs typeface="Roboto"/>
              <a:sym typeface="Roboto"/>
            </a:endParaRPr>
          </a:p>
        </p:txBody>
      </p:sp>
      <p:sp>
        <p:nvSpPr>
          <p:cNvPr id="1259" name="Google Shape;1259;p176"/>
          <p:cNvSpPr txBox="1"/>
          <p:nvPr/>
        </p:nvSpPr>
        <p:spPr>
          <a:xfrm>
            <a:off x="5837000" y="1594775"/>
            <a:ext cx="16245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Tier 3</a:t>
            </a:r>
            <a:endParaRPr b="1" i="0" sz="1800" u="none" cap="none" strike="noStrike">
              <a:solidFill>
                <a:schemeClr val="dk2"/>
              </a:solidFill>
              <a:latin typeface="Roboto"/>
              <a:ea typeface="Roboto"/>
              <a:cs typeface="Roboto"/>
              <a:sym typeface="Roboto"/>
            </a:endParaRPr>
          </a:p>
        </p:txBody>
      </p:sp>
      <p:sp>
        <p:nvSpPr>
          <p:cNvPr id="1260" name="Google Shape;1260;p176"/>
          <p:cNvSpPr txBox="1"/>
          <p:nvPr/>
        </p:nvSpPr>
        <p:spPr>
          <a:xfrm>
            <a:off x="1676275" y="1594775"/>
            <a:ext cx="1611900" cy="230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lt1"/>
                </a:solidFill>
                <a:latin typeface="Roboto"/>
                <a:ea typeface="Roboto"/>
                <a:cs typeface="Roboto"/>
                <a:sym typeface="Roboto"/>
              </a:rPr>
              <a:t>Tier 1	</a:t>
            </a:r>
            <a:endParaRPr b="1" i="0" sz="1800" u="none" cap="none" strike="noStrike">
              <a:solidFill>
                <a:schemeClr val="lt1"/>
              </a:solidFill>
              <a:latin typeface="Roboto"/>
              <a:ea typeface="Roboto"/>
              <a:cs typeface="Roboto"/>
              <a:sym typeface="Roboto"/>
            </a:endParaRPr>
          </a:p>
        </p:txBody>
      </p:sp>
      <p:sp>
        <p:nvSpPr>
          <p:cNvPr id="1261" name="Google Shape;1261;p176"/>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t>Security Operations Center (SOC)</a:t>
            </a:r>
            <a:endParaRPr/>
          </a:p>
        </p:txBody>
      </p:sp>
      <p:sp>
        <p:nvSpPr>
          <p:cNvPr id="1262" name="Google Shape;1262;p176"/>
          <p:cNvSpPr txBox="1"/>
          <p:nvPr/>
        </p:nvSpPr>
        <p:spPr>
          <a:xfrm>
            <a:off x="359075" y="742075"/>
            <a:ext cx="8361600" cy="46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1800">
                <a:solidFill>
                  <a:schemeClr val="dk2"/>
                </a:solidFill>
                <a:latin typeface="Roboto"/>
                <a:ea typeface="Roboto"/>
                <a:cs typeface="Roboto"/>
                <a:sym typeface="Roboto"/>
              </a:rPr>
              <a:t>Within a SOC are SOC analysts who are often organized in three tiers: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17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SOC Staff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68" name="Google Shape;1268;p177"/>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Tier 1</a:t>
            </a:r>
            <a:endParaRPr/>
          </a:p>
        </p:txBody>
      </p:sp>
      <p:sp>
        <p:nvSpPr>
          <p:cNvPr id="1269" name="Google Shape;1269;p177"/>
          <p:cNvSpPr txBox="1"/>
          <p:nvPr>
            <p:ph idx="2" type="body"/>
          </p:nvPr>
        </p:nvSpPr>
        <p:spPr>
          <a:xfrm>
            <a:off x="4348975" y="1056600"/>
            <a:ext cx="4337700" cy="3528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600"/>
              <a:t>J</a:t>
            </a:r>
            <a:r>
              <a:rPr b="1" lang="en" sz="1600"/>
              <a:t>unior a</a:t>
            </a:r>
            <a:r>
              <a:rPr b="1" lang="en" sz="1600"/>
              <a:t>nalysts</a:t>
            </a:r>
            <a:r>
              <a:rPr lang="en" sz="1600"/>
              <a:t> are the first responders and first line of defense.</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O</a:t>
            </a:r>
            <a:r>
              <a:rPr lang="en" sz="1600"/>
              <a:t>ften in charge of monitoring alerts and verifying that they are not false positives.</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Follow pre-planned procedures, perform an initial investigation, solve simple incidents, and escalate as needed.</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Entry-level role and starting point for most students who choose this career path.</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t/>
            </a:r>
            <a:endParaRPr sz="1600"/>
          </a:p>
        </p:txBody>
      </p:sp>
      <p:pic>
        <p:nvPicPr>
          <p:cNvPr id="1270" name="Google Shape;1270;p177"/>
          <p:cNvPicPr preferRelativeResize="0"/>
          <p:nvPr/>
        </p:nvPicPr>
        <p:blipFill>
          <a:blip r:embed="rId3">
            <a:alphaModFix/>
          </a:blip>
          <a:stretch>
            <a:fillRect/>
          </a:stretch>
        </p:blipFill>
        <p:spPr>
          <a:xfrm>
            <a:off x="278476" y="231201"/>
            <a:ext cx="384200" cy="485825"/>
          </a:xfrm>
          <a:prstGeom prst="rect">
            <a:avLst/>
          </a:prstGeom>
          <a:noFill/>
          <a:ln>
            <a:noFill/>
          </a:ln>
        </p:spPr>
      </p:pic>
      <p:pic>
        <p:nvPicPr>
          <p:cNvPr id="1271" name="Google Shape;1271;p177"/>
          <p:cNvPicPr preferRelativeResize="0"/>
          <p:nvPr/>
        </p:nvPicPr>
        <p:blipFill rotWithShape="1">
          <a:blip r:embed="rId4">
            <a:alphaModFix/>
          </a:blip>
          <a:srcRect b="0" l="34333" r="12943" t="0"/>
          <a:stretch/>
        </p:blipFill>
        <p:spPr>
          <a:xfrm>
            <a:off x="152400" y="1127725"/>
            <a:ext cx="3836324" cy="3837162"/>
          </a:xfrm>
          <a:prstGeom prst="rect">
            <a:avLst/>
          </a:prstGeom>
          <a:noFill/>
          <a:ln>
            <a:noFill/>
          </a:ln>
        </p:spPr>
      </p:pic>
      <p:cxnSp>
        <p:nvCxnSpPr>
          <p:cNvPr id="1272" name="Google Shape;1272;p177"/>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7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SOC Staff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8" name="Google Shape;1278;p17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Tier 2</a:t>
            </a:r>
            <a:endParaRPr/>
          </a:p>
        </p:txBody>
      </p:sp>
      <p:sp>
        <p:nvSpPr>
          <p:cNvPr id="1279" name="Google Shape;1279;p178"/>
          <p:cNvSpPr txBox="1"/>
          <p:nvPr>
            <p:ph idx="2" type="body"/>
          </p:nvPr>
        </p:nvSpPr>
        <p:spPr>
          <a:xfrm>
            <a:off x="149050" y="1019600"/>
            <a:ext cx="4745700" cy="3623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600"/>
              <a:t>Tier 2</a:t>
            </a:r>
            <a:r>
              <a:rPr lang="en" sz="1600"/>
              <a:t> is the first escalation point for Tier 1 analysts:</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H</a:t>
            </a:r>
            <a:r>
              <a:rPr lang="en" sz="1600"/>
              <a:t>elp get past any blockers that the Tier 1 analyst may have.</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Can perform the duties of Tier 1 as needed, </a:t>
            </a:r>
            <a:br>
              <a:rPr lang="en" sz="1600"/>
            </a:br>
            <a:r>
              <a:rPr lang="en" sz="1600"/>
              <a:t>but can also divert from written procedures.</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Also support Tier 3 as needed, and create documentation and procedures for Tier 1 </a:t>
            </a:r>
            <a:br>
              <a:rPr lang="en" sz="1600"/>
            </a:br>
            <a:r>
              <a:rPr lang="en" sz="1600"/>
              <a:t>and monitor Tier 1’s performance.</a:t>
            </a:r>
            <a:endParaRPr sz="1600"/>
          </a:p>
          <a:p>
            <a:pPr indent="0" lvl="0" marL="457200" rtl="0" algn="l">
              <a:spcBef>
                <a:spcPts val="0"/>
              </a:spcBef>
              <a:spcAft>
                <a:spcPts val="0"/>
              </a:spcAft>
              <a:buNone/>
            </a:pPr>
            <a:r>
              <a:t/>
            </a:r>
            <a:endParaRPr sz="1700"/>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280" name="Google Shape;1280;p178"/>
          <p:cNvPicPr preferRelativeResize="0"/>
          <p:nvPr/>
        </p:nvPicPr>
        <p:blipFill>
          <a:blip r:embed="rId3">
            <a:alphaModFix/>
          </a:blip>
          <a:stretch>
            <a:fillRect/>
          </a:stretch>
        </p:blipFill>
        <p:spPr>
          <a:xfrm>
            <a:off x="278476" y="231201"/>
            <a:ext cx="384200" cy="485825"/>
          </a:xfrm>
          <a:prstGeom prst="rect">
            <a:avLst/>
          </a:prstGeom>
          <a:noFill/>
          <a:ln>
            <a:noFill/>
          </a:ln>
        </p:spPr>
      </p:pic>
      <p:pic>
        <p:nvPicPr>
          <p:cNvPr id="1281" name="Google Shape;1281;p178"/>
          <p:cNvPicPr preferRelativeResize="0"/>
          <p:nvPr/>
        </p:nvPicPr>
        <p:blipFill rotWithShape="1">
          <a:blip r:embed="rId4">
            <a:alphaModFix/>
          </a:blip>
          <a:srcRect b="0" l="5174" r="22351" t="0"/>
          <a:stretch/>
        </p:blipFill>
        <p:spPr>
          <a:xfrm>
            <a:off x="5086675" y="1183050"/>
            <a:ext cx="3836324" cy="3528020"/>
          </a:xfrm>
          <a:prstGeom prst="rect">
            <a:avLst/>
          </a:prstGeom>
          <a:noFill/>
          <a:ln>
            <a:noFill/>
          </a:ln>
        </p:spPr>
      </p:pic>
      <p:cxnSp>
        <p:nvCxnSpPr>
          <p:cNvPr id="1282" name="Google Shape;1282;p178"/>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79"/>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SOC Staff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88" name="Google Shape;1288;p179"/>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Tier 3</a:t>
            </a:r>
            <a:endParaRPr/>
          </a:p>
        </p:txBody>
      </p:sp>
      <p:sp>
        <p:nvSpPr>
          <p:cNvPr id="1289" name="Google Shape;1289;p179"/>
          <p:cNvSpPr txBox="1"/>
          <p:nvPr>
            <p:ph idx="2" type="body"/>
          </p:nvPr>
        </p:nvSpPr>
        <p:spPr>
          <a:xfrm>
            <a:off x="4395225" y="1072675"/>
            <a:ext cx="4041300" cy="3511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600"/>
              <a:t>Tier 3 </a:t>
            </a:r>
            <a:r>
              <a:rPr lang="en" sz="1600"/>
              <a:t>is the s</a:t>
            </a:r>
            <a:r>
              <a:rPr lang="en" sz="1600"/>
              <a:t>econd escalation point for </a:t>
            </a:r>
            <a:br>
              <a:rPr lang="en" sz="1600"/>
            </a:br>
            <a:r>
              <a:rPr lang="en" sz="1600"/>
              <a:t>Tier 1 analysts and may serve more of </a:t>
            </a:r>
            <a:br>
              <a:rPr lang="en" sz="1600"/>
            </a:br>
            <a:r>
              <a:rPr lang="en" sz="1600"/>
              <a:t>a forensics or deep investigative role:</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O</a:t>
            </a:r>
            <a:r>
              <a:rPr lang="en" sz="1600"/>
              <a:t>ften own the tools used by the incident response team.</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Oversee complex incidents. </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Mentor and monitor the performance </a:t>
            </a:r>
            <a:br>
              <a:rPr lang="en" sz="1600"/>
            </a:br>
            <a:r>
              <a:rPr lang="en" sz="1600"/>
              <a:t>of all other tiers.</a:t>
            </a:r>
            <a:endParaRPr sz="1600"/>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290" name="Google Shape;1290;p179"/>
          <p:cNvPicPr preferRelativeResize="0"/>
          <p:nvPr/>
        </p:nvPicPr>
        <p:blipFill>
          <a:blip r:embed="rId3">
            <a:alphaModFix/>
          </a:blip>
          <a:stretch>
            <a:fillRect/>
          </a:stretch>
        </p:blipFill>
        <p:spPr>
          <a:xfrm>
            <a:off x="278476" y="231201"/>
            <a:ext cx="384200" cy="485825"/>
          </a:xfrm>
          <a:prstGeom prst="rect">
            <a:avLst/>
          </a:prstGeom>
          <a:noFill/>
          <a:ln>
            <a:noFill/>
          </a:ln>
        </p:spPr>
      </p:pic>
      <p:pic>
        <p:nvPicPr>
          <p:cNvPr id="1291" name="Google Shape;1291;p179"/>
          <p:cNvPicPr preferRelativeResize="0"/>
          <p:nvPr/>
        </p:nvPicPr>
        <p:blipFill rotWithShape="1">
          <a:blip r:embed="rId4">
            <a:alphaModFix/>
          </a:blip>
          <a:srcRect b="0" l="9951" r="15952" t="0"/>
          <a:stretch/>
        </p:blipFill>
        <p:spPr>
          <a:xfrm>
            <a:off x="193650" y="1254375"/>
            <a:ext cx="3966449" cy="3570625"/>
          </a:xfrm>
          <a:prstGeom prst="rect">
            <a:avLst/>
          </a:prstGeom>
          <a:noFill/>
          <a:ln>
            <a:noFill/>
          </a:ln>
        </p:spPr>
      </p:pic>
      <p:cxnSp>
        <p:nvCxnSpPr>
          <p:cNvPr id="1292" name="Google Shape;1292;p179"/>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80"/>
          <p:cNvSpPr txBox="1"/>
          <p:nvPr/>
        </p:nvSpPr>
        <p:spPr>
          <a:xfrm>
            <a:off x="-55500" y="1362725"/>
            <a:ext cx="4376700" cy="2401200"/>
          </a:xfrm>
          <a:prstGeom prst="rect">
            <a:avLst/>
          </a:prstGeom>
          <a:noFill/>
          <a:ln>
            <a:noFill/>
          </a:ln>
        </p:spPr>
        <p:txBody>
          <a:bodyPr anchorCtr="0" anchor="t" bIns="91425" lIns="45720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SOC managers </a:t>
            </a:r>
            <a:r>
              <a:rPr lang="en" sz="2400">
                <a:solidFill>
                  <a:schemeClr val="dk2"/>
                </a:solidFill>
                <a:latin typeface="Roboto"/>
                <a:ea typeface="Roboto"/>
                <a:cs typeface="Roboto"/>
                <a:sym typeface="Roboto"/>
              </a:rPr>
              <a:t>can perform all of the duties of a Tier 3 analyst, but also manage the team and have the HR responsibilities of growing and maintaining the team.</a:t>
            </a:r>
            <a:endParaRPr i="0" sz="2400" u="none" cap="none" strike="noStrike">
              <a:solidFill>
                <a:schemeClr val="dk2"/>
              </a:solidFill>
              <a:latin typeface="Roboto"/>
              <a:ea typeface="Roboto"/>
              <a:cs typeface="Roboto"/>
              <a:sym typeface="Roboto"/>
            </a:endParaRPr>
          </a:p>
        </p:txBody>
      </p:sp>
      <p:pic>
        <p:nvPicPr>
          <p:cNvPr id="1298" name="Google Shape;1298;p180"/>
          <p:cNvPicPr preferRelativeResize="0"/>
          <p:nvPr/>
        </p:nvPicPr>
        <p:blipFill>
          <a:blip r:embed="rId3">
            <a:alphaModFix/>
          </a:blip>
          <a:stretch>
            <a:fillRect/>
          </a:stretch>
        </p:blipFill>
        <p:spPr>
          <a:xfrm>
            <a:off x="4473600" y="1447300"/>
            <a:ext cx="4518001" cy="29031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81"/>
          <p:cNvSpPr txBox="1"/>
          <p:nvPr>
            <p:ph idx="1" type="body"/>
          </p:nvPr>
        </p:nvSpPr>
        <p:spPr>
          <a:xfrm>
            <a:off x="3322025" y="1377600"/>
            <a:ext cx="55692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600"/>
              <a:t>SOC staff responsibilities include determining if a security issue is </a:t>
            </a:r>
            <a:r>
              <a:rPr lang="en" sz="2600"/>
              <a:t>considered</a:t>
            </a:r>
            <a:r>
              <a:rPr lang="en" sz="2600"/>
              <a:t> to be a high priority incident that requires an </a:t>
            </a:r>
            <a:r>
              <a:rPr b="1" lang="en" sz="2600"/>
              <a:t>incident response manager</a:t>
            </a:r>
            <a:r>
              <a:rPr lang="en" sz="2600"/>
              <a:t> to intervene.</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82"/>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Operations Center (SOC)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09" name="Google Shape;1309;p182"/>
          <p:cNvSpPr txBox="1"/>
          <p:nvPr>
            <p:ph idx="1" type="subTitle"/>
          </p:nvPr>
        </p:nvSpPr>
        <p:spPr>
          <a:xfrm>
            <a:off x="914400" y="548650"/>
            <a:ext cx="6354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Analysts are typically provided with directives as to what type of incident requires escalation.</a:t>
            </a:r>
            <a:endParaRPr/>
          </a:p>
        </p:txBody>
      </p:sp>
      <p:pic>
        <p:nvPicPr>
          <p:cNvPr id="1310" name="Google Shape;1310;p182"/>
          <p:cNvPicPr preferRelativeResize="0"/>
          <p:nvPr/>
        </p:nvPicPr>
        <p:blipFill>
          <a:blip r:embed="rId3">
            <a:alphaModFix/>
          </a:blip>
          <a:stretch>
            <a:fillRect/>
          </a:stretch>
        </p:blipFill>
        <p:spPr>
          <a:xfrm>
            <a:off x="278476" y="231201"/>
            <a:ext cx="384200" cy="485825"/>
          </a:xfrm>
          <a:prstGeom prst="rect">
            <a:avLst/>
          </a:prstGeom>
          <a:noFill/>
          <a:ln>
            <a:noFill/>
          </a:ln>
        </p:spPr>
      </p:pic>
      <p:sp>
        <p:nvSpPr>
          <p:cNvPr id="1311" name="Google Shape;1311;p182"/>
          <p:cNvSpPr txBox="1"/>
          <p:nvPr>
            <p:ph idx="2" type="body"/>
          </p:nvPr>
        </p:nvSpPr>
        <p:spPr>
          <a:xfrm>
            <a:off x="4200875" y="1565400"/>
            <a:ext cx="4162200" cy="3018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There will be many times when analysts will encounter unique issues that will require their professional judgement.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Issues that can impact the entire organization technically, financially, or reputationally usually require </a:t>
            </a:r>
            <a:r>
              <a:rPr b="1" lang="en"/>
              <a:t>escalation</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312" name="Google Shape;1312;p182"/>
          <p:cNvPicPr preferRelativeResize="0"/>
          <p:nvPr/>
        </p:nvPicPr>
        <p:blipFill>
          <a:blip r:embed="rId4">
            <a:alphaModFix/>
          </a:blip>
          <a:stretch>
            <a:fillRect/>
          </a:stretch>
        </p:blipFill>
        <p:spPr>
          <a:xfrm>
            <a:off x="152400" y="1497050"/>
            <a:ext cx="3896074" cy="3071787"/>
          </a:xfrm>
          <a:prstGeom prst="rect">
            <a:avLst/>
          </a:prstGeom>
          <a:noFill/>
          <a:ln>
            <a:noFill/>
          </a:ln>
        </p:spPr>
      </p:pic>
      <p:cxnSp>
        <p:nvCxnSpPr>
          <p:cNvPr id="1313" name="Google Shape;1313;p182"/>
          <p:cNvCxnSpPr/>
          <p:nvPr/>
        </p:nvCxnSpPr>
        <p:spPr>
          <a:xfrm>
            <a:off x="-9375" y="124385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83"/>
          <p:cNvSpPr txBox="1"/>
          <p:nvPr>
            <p:ph idx="1" type="body"/>
          </p:nvPr>
        </p:nvSpPr>
        <p:spPr>
          <a:xfrm>
            <a:off x="3303525" y="1377600"/>
            <a:ext cx="56892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100"/>
              <a:t>A SOC analyst determined that one employee had their account breached, the employee had data of all the organization's customers obtained by the attacker.</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b="1" lang="en" sz="2100"/>
              <a:t>Does this situation require escalation?</a:t>
            </a:r>
            <a:endParaRPr b="1" sz="2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84"/>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324" name="Google Shape;1324;p184"/>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Escalation or not</a:t>
            </a:r>
            <a:endParaRPr/>
          </a:p>
        </p:txBody>
      </p:sp>
      <p:sp>
        <p:nvSpPr>
          <p:cNvPr id="1325" name="Google Shape;1325;p184"/>
          <p:cNvSpPr txBox="1"/>
          <p:nvPr>
            <p:ph idx="3" type="body"/>
          </p:nvPr>
        </p:nvSpPr>
        <p:spPr>
          <a:xfrm>
            <a:off x="914400" y="1176975"/>
            <a:ext cx="73965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You are a SOC analyst working for a financial services organization.</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There have been multiple security issues at your organization.</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Your task is to review the following issues and determine if these require escalation to the SIRT.</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326" name="Google Shape;1326;p184"/>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87"/>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Incident Response</a:t>
            </a:r>
            <a:r>
              <a:rPr b="0" lang="en" sz="3800">
                <a:solidFill>
                  <a:schemeClr val="accent5"/>
                </a:solidFill>
                <a:latin typeface="Roboto"/>
                <a:ea typeface="Roboto"/>
                <a:cs typeface="Roboto"/>
                <a:sym typeface="Roboto"/>
              </a:rPr>
              <a:t> Plans</a:t>
            </a:r>
            <a:endParaRPr b="0" sz="16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340" name="Google Shape;1340;p187"/>
          <p:cNvPicPr preferRelativeResize="0"/>
          <p:nvPr/>
        </p:nvPicPr>
        <p:blipFill>
          <a:blip r:embed="rId3">
            <a:alphaModFix/>
          </a:blip>
          <a:stretch>
            <a:fillRect/>
          </a:stretch>
        </p:blipFill>
        <p:spPr>
          <a:xfrm>
            <a:off x="4103950" y="1643075"/>
            <a:ext cx="1108700" cy="1089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88"/>
          <p:cNvSpPr txBox="1"/>
          <p:nvPr>
            <p:ph type="title"/>
          </p:nvPr>
        </p:nvSpPr>
        <p:spPr>
          <a:xfrm>
            <a:off x="3145525" y="1371600"/>
            <a:ext cx="5555100" cy="185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his next section will cover what takes place </a:t>
            </a:r>
            <a:r>
              <a:rPr lang="en">
                <a:latin typeface="Roboto"/>
                <a:ea typeface="Roboto"/>
                <a:cs typeface="Roboto"/>
                <a:sym typeface="Roboto"/>
              </a:rPr>
              <a:t>after</a:t>
            </a:r>
            <a:r>
              <a:rPr lang="en"/>
              <a:t> the SIRT has been assigned to an incident.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189"/>
          <p:cNvSpPr txBox="1"/>
          <p:nvPr>
            <p:ph type="title"/>
          </p:nvPr>
        </p:nvSpPr>
        <p:spPr>
          <a:xfrm>
            <a:off x="401700" y="18295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600"/>
              <a:buNone/>
            </a:pPr>
            <a:r>
              <a:rPr lang="en">
                <a:solidFill>
                  <a:schemeClr val="dk2"/>
                </a:solidFill>
              </a:rPr>
              <a:t>Incident Response Plans</a:t>
            </a:r>
            <a:endParaRPr>
              <a:solidFill>
                <a:schemeClr val="dk2"/>
              </a:solidFill>
            </a:endParaRPr>
          </a:p>
          <a:p>
            <a:pPr indent="0" lvl="0" marL="0" rtl="0" algn="l">
              <a:lnSpc>
                <a:spcPct val="100000"/>
              </a:lnSpc>
              <a:spcBef>
                <a:spcPts val="0"/>
              </a:spcBef>
              <a:spcAft>
                <a:spcPts val="0"/>
              </a:spcAft>
              <a:buSzPts val="2600"/>
              <a:buNone/>
            </a:pPr>
            <a:r>
              <a:t/>
            </a:r>
            <a:endParaRPr/>
          </a:p>
        </p:txBody>
      </p:sp>
      <p:sp>
        <p:nvSpPr>
          <p:cNvPr id="1351" name="Google Shape;1351;p189"/>
          <p:cNvSpPr txBox="1"/>
          <p:nvPr>
            <p:ph idx="1" type="subTitle"/>
          </p:nvPr>
        </p:nvSpPr>
        <p:spPr>
          <a:xfrm>
            <a:off x="401700" y="624850"/>
            <a:ext cx="8291100" cy="57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Let’s cover some important terms used by the SIRT:</a:t>
            </a:r>
            <a:endParaRPr/>
          </a:p>
        </p:txBody>
      </p:sp>
      <p:graphicFrame>
        <p:nvGraphicFramePr>
          <p:cNvPr id="1352" name="Google Shape;1352;p189"/>
          <p:cNvGraphicFramePr/>
          <p:nvPr/>
        </p:nvGraphicFramePr>
        <p:xfrm>
          <a:off x="267738" y="1038163"/>
          <a:ext cx="3000000" cy="3000000"/>
        </p:xfrm>
        <a:graphic>
          <a:graphicData uri="http://schemas.openxmlformats.org/drawingml/2006/table">
            <a:tbl>
              <a:tblPr>
                <a:noFill/>
                <a:tableStyleId>{53BD4661-467D-452B-BF03-7BB3B26ED939}</a:tableStyleId>
              </a:tblPr>
              <a:tblGrid>
                <a:gridCol w="2830075"/>
                <a:gridCol w="5556525"/>
              </a:tblGrid>
              <a:tr h="60675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Bridge (</a:t>
                      </a:r>
                      <a:r>
                        <a:rPr lang="en" sz="1800">
                          <a:solidFill>
                            <a:srgbClr val="FFFFFF"/>
                          </a:solidFill>
                          <a:latin typeface="Roboto Medium"/>
                          <a:ea typeface="Roboto Medium"/>
                          <a:cs typeface="Roboto Medium"/>
                          <a:sym typeface="Roboto Medium"/>
                        </a:rPr>
                        <a:t>B</a:t>
                      </a:r>
                      <a:r>
                        <a:rPr lang="en" sz="1800">
                          <a:solidFill>
                            <a:srgbClr val="FFFFFF"/>
                          </a:solidFill>
                          <a:latin typeface="Roboto Medium"/>
                          <a:ea typeface="Roboto Medium"/>
                          <a:cs typeface="Roboto Medium"/>
                          <a:sym typeface="Roboto Medium"/>
                        </a:rPr>
                        <a:t>ridge </a:t>
                      </a:r>
                      <a:r>
                        <a:rPr lang="en" sz="1800">
                          <a:solidFill>
                            <a:srgbClr val="FFFFFF"/>
                          </a:solidFill>
                          <a:latin typeface="Roboto Medium"/>
                          <a:ea typeface="Roboto Medium"/>
                          <a:cs typeface="Roboto Medium"/>
                          <a:sym typeface="Roboto Medium"/>
                        </a:rPr>
                        <a:t>C</a:t>
                      </a:r>
                      <a:r>
                        <a:rPr lang="en" sz="1800">
                          <a:solidFill>
                            <a:srgbClr val="FFFFFF"/>
                          </a:solidFill>
                          <a:latin typeface="Roboto Medium"/>
                          <a:ea typeface="Roboto Medium"/>
                          <a:cs typeface="Roboto Medium"/>
                          <a:sym typeface="Roboto Medium"/>
                        </a:rPr>
                        <a:t>all)</a:t>
                      </a:r>
                      <a:endParaRPr sz="1800">
                        <a:solidFill>
                          <a:srgbClr val="00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Conference call or communication channel where the SIRT discusses a specific security issue.</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2F2F2"/>
                    </a:solidFill>
                  </a:tcPr>
                </a:tc>
              </a:tr>
              <a:tr h="90300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Incident Response Plan</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Formal high-level document detailing how the organization will respond to incidents.</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60675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Response Process</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More general document not as formal as an incident response plan.</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2F2F2"/>
                    </a:solidFill>
                  </a:tcPr>
                </a:tc>
              </a:tr>
              <a:tr h="90300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Response Procedure</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Step-by-step workflow for a given part of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 response often organized in a flowchart.</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08525">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Incident Response Playbook</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Collection of procedures for a given type of incident. </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90"/>
          <p:cNvSpPr txBox="1"/>
          <p:nvPr>
            <p:ph type="title"/>
          </p:nvPr>
        </p:nvSpPr>
        <p:spPr>
          <a:xfrm>
            <a:off x="426450" y="193425"/>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600"/>
              <a:buNone/>
            </a:pPr>
            <a:r>
              <a:rPr lang="en">
                <a:solidFill>
                  <a:schemeClr val="dk2"/>
                </a:solidFill>
              </a:rPr>
              <a:t>Incident Response Plans</a:t>
            </a:r>
            <a:endParaRPr>
              <a:solidFill>
                <a:schemeClr val="dk2"/>
              </a:solidFill>
            </a:endParaRPr>
          </a:p>
          <a:p>
            <a:pPr indent="0" lvl="0" marL="0" rtl="0" algn="l">
              <a:lnSpc>
                <a:spcPct val="100000"/>
              </a:lnSpc>
              <a:spcBef>
                <a:spcPts val="0"/>
              </a:spcBef>
              <a:spcAft>
                <a:spcPts val="0"/>
              </a:spcAft>
              <a:buSzPts val="2600"/>
              <a:buNone/>
            </a:pPr>
            <a:r>
              <a:t/>
            </a:r>
            <a:endParaRPr/>
          </a:p>
        </p:txBody>
      </p:sp>
      <p:sp>
        <p:nvSpPr>
          <p:cNvPr id="1358" name="Google Shape;1358;p190"/>
          <p:cNvSpPr txBox="1"/>
          <p:nvPr>
            <p:ph idx="1" type="subTitle"/>
          </p:nvPr>
        </p:nvSpPr>
        <p:spPr>
          <a:xfrm>
            <a:off x="426450" y="635325"/>
            <a:ext cx="8291100" cy="57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lang="en"/>
              <a:t>Let’s cover some important terms used by the SIRT:</a:t>
            </a:r>
            <a:endParaRPr/>
          </a:p>
        </p:txBody>
      </p:sp>
      <p:graphicFrame>
        <p:nvGraphicFramePr>
          <p:cNvPr id="1359" name="Google Shape;1359;p190"/>
          <p:cNvGraphicFramePr/>
          <p:nvPr/>
        </p:nvGraphicFramePr>
        <p:xfrm>
          <a:off x="424738" y="1342963"/>
          <a:ext cx="3000000" cy="3000000"/>
        </p:xfrm>
        <a:graphic>
          <a:graphicData uri="http://schemas.openxmlformats.org/drawingml/2006/table">
            <a:tbl>
              <a:tblPr>
                <a:noFill/>
                <a:tableStyleId>{53BD4661-467D-452B-BF03-7BB3B26ED939}</a:tableStyleId>
              </a:tblPr>
              <a:tblGrid>
                <a:gridCol w="2693825"/>
                <a:gridCol w="5288975"/>
              </a:tblGrid>
              <a:tr h="98330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Root Cause Analysis (RCA)</a:t>
                      </a:r>
                      <a:endParaRPr sz="1800">
                        <a:solidFill>
                          <a:srgbClr val="00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Process or report that determines the root reason why the incident occurred.</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2F2F2"/>
                    </a:solidFill>
                  </a:tcPr>
                </a:tc>
              </a:tr>
              <a:tr h="99545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Post-Incident Report</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Process and document designed to provide an overview of what the analyst found and what they did in response to a particular incident.</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183250">
                <a:tc>
                  <a:txBody>
                    <a:bodyPr/>
                    <a:lstStyle/>
                    <a:p>
                      <a:pPr indent="0" lvl="0" marL="0" rtl="0" algn="l">
                        <a:lnSpc>
                          <a:spcPct val="115000"/>
                        </a:lnSpc>
                        <a:spcBef>
                          <a:spcPts val="0"/>
                        </a:spcBef>
                        <a:spcAft>
                          <a:spcPts val="1200"/>
                        </a:spcAft>
                        <a:buNone/>
                      </a:pPr>
                      <a:r>
                        <a:rPr lang="en" sz="1800">
                          <a:solidFill>
                            <a:srgbClr val="FFFFFF"/>
                          </a:solidFill>
                          <a:latin typeface="Roboto Medium"/>
                          <a:ea typeface="Roboto Medium"/>
                          <a:cs typeface="Roboto Medium"/>
                          <a:sym typeface="Roboto Medium"/>
                        </a:rPr>
                        <a:t>Tabletop Exercise</a:t>
                      </a:r>
                      <a:endParaRPr sz="1800">
                        <a:solidFill>
                          <a:srgbClr val="FFFFFF"/>
                        </a:solidFill>
                        <a:latin typeface="Roboto Medium"/>
                        <a:ea typeface="Roboto Medium"/>
                        <a:cs typeface="Roboto Medium"/>
                        <a:sym typeface="Roboto Medium"/>
                      </a:endParaRPr>
                    </a:p>
                  </a:txBody>
                  <a:tcPr marT="13715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5"/>
                    </a:solidFill>
                  </a:tcPr>
                </a:tc>
                <a:tc>
                  <a:txBody>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Common exercise where a security team is given an incident scenario and they detail the steps they would take to respond to it.</a:t>
                      </a:r>
                      <a:endParaRPr sz="1800">
                        <a:solidFill>
                          <a:schemeClr val="dk2"/>
                        </a:solidFill>
                        <a:latin typeface="Roboto"/>
                        <a:ea typeface="Roboto"/>
                        <a:cs typeface="Roboto"/>
                        <a:sym typeface="Roboto"/>
                      </a:endParaRPr>
                    </a:p>
                  </a:txBody>
                  <a:tcPr marT="0" marB="0" marR="91425" marL="2743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91"/>
          <p:cNvSpPr txBox="1"/>
          <p:nvPr>
            <p:ph idx="1" type="body"/>
          </p:nvPr>
        </p:nvSpPr>
        <p:spPr>
          <a:xfrm>
            <a:off x="306250" y="1482600"/>
            <a:ext cx="4172400" cy="2958300"/>
          </a:xfrm>
          <a:prstGeom prst="rect">
            <a:avLst/>
          </a:prstGeom>
        </p:spPr>
        <p:txBody>
          <a:bodyPr anchorCtr="0" anchor="t" bIns="91425" lIns="0" spcFirstLastPara="1" rIns="91425" wrap="square" tIns="0">
            <a:noAutofit/>
          </a:bodyPr>
          <a:lstStyle/>
          <a:p>
            <a:pPr indent="-342900" lvl="0" marL="457200" rtl="0" algn="l">
              <a:spcBef>
                <a:spcPts val="0"/>
              </a:spcBef>
              <a:spcAft>
                <a:spcPts val="0"/>
              </a:spcAft>
              <a:buSzPts val="1800"/>
              <a:buChar char="●"/>
            </a:pPr>
            <a:r>
              <a:rPr lang="en" sz="1800"/>
              <a:t>A common first step taken by an incident response manager is to open a </a:t>
            </a:r>
            <a:r>
              <a:rPr b="1" lang="en" sz="1800"/>
              <a:t>bridge</a:t>
            </a:r>
            <a:r>
              <a:rPr lang="en" sz="1800"/>
              <a:t>.</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All required teams that understand the issue will be invited.</a:t>
            </a:r>
            <a:endParaRPr sz="1800"/>
          </a:p>
        </p:txBody>
      </p:sp>
      <p:sp>
        <p:nvSpPr>
          <p:cNvPr id="1365" name="Google Shape;1365;p1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SIRT First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6" name="Google Shape;1366;p191"/>
          <p:cNvSpPr txBox="1"/>
          <p:nvPr>
            <p:ph idx="2" type="title"/>
          </p:nvPr>
        </p:nvSpPr>
        <p:spPr>
          <a:xfrm>
            <a:off x="-6000" y="554850"/>
            <a:ext cx="78249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Now that we know the terms used by the SIRT, let's get into the incident response process.</a:t>
            </a:r>
            <a:endParaRPr sz="1800"/>
          </a:p>
        </p:txBody>
      </p:sp>
      <p:pic>
        <p:nvPicPr>
          <p:cNvPr id="1367" name="Google Shape;1367;p191"/>
          <p:cNvPicPr preferRelativeResize="0"/>
          <p:nvPr/>
        </p:nvPicPr>
        <p:blipFill rotWithShape="1">
          <a:blip r:embed="rId3">
            <a:alphaModFix/>
          </a:blip>
          <a:srcRect b="13956" l="23841" r="17480" t="10026"/>
          <a:stretch/>
        </p:blipFill>
        <p:spPr>
          <a:xfrm>
            <a:off x="5152878" y="1281828"/>
            <a:ext cx="3156827" cy="32244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192"/>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SIRT First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3" name="Google Shape;1373;p192"/>
          <p:cNvSpPr txBox="1"/>
          <p:nvPr>
            <p:ph idx="2" type="title"/>
          </p:nvPr>
        </p:nvSpPr>
        <p:spPr>
          <a:xfrm>
            <a:off x="80875" y="554850"/>
            <a:ext cx="90054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Subject matter expert (SME)</a:t>
            </a:r>
            <a:endParaRPr/>
          </a:p>
        </p:txBody>
      </p:sp>
      <p:sp>
        <p:nvSpPr>
          <p:cNvPr id="1374" name="Google Shape;1374;p192"/>
          <p:cNvSpPr txBox="1"/>
          <p:nvPr>
            <p:ph idx="1" type="body"/>
          </p:nvPr>
        </p:nvSpPr>
        <p:spPr>
          <a:xfrm>
            <a:off x="463771" y="1232375"/>
            <a:ext cx="3961800" cy="3208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Next, the incident response manager will have a SME explain the issue and its potential impact.</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The SME will determine if </a:t>
            </a:r>
            <a:br>
              <a:rPr lang="en" sz="1800"/>
            </a:br>
            <a:r>
              <a:rPr lang="en" sz="1800"/>
              <a:t>the issue could potentially </a:t>
            </a:r>
            <a:br>
              <a:rPr lang="en" sz="1800"/>
            </a:br>
            <a:r>
              <a:rPr lang="en" sz="1800"/>
              <a:t>be a </a:t>
            </a:r>
            <a:r>
              <a:rPr b="1" lang="en" sz="1800"/>
              <a:t>false </a:t>
            </a:r>
            <a:r>
              <a:rPr b="1" lang="en" sz="1800"/>
              <a:t>positive</a:t>
            </a:r>
            <a:r>
              <a:rPr lang="en" sz="1800"/>
              <a:t> before </a:t>
            </a:r>
            <a:br>
              <a:rPr lang="en" sz="1800"/>
            </a:br>
            <a:r>
              <a:rPr lang="en" sz="1800"/>
              <a:t>escalating further. </a:t>
            </a:r>
            <a:endParaRPr sz="1800"/>
          </a:p>
        </p:txBody>
      </p:sp>
      <p:sp>
        <p:nvSpPr>
          <p:cNvPr id="1375" name="Google Shape;1375;p192"/>
          <p:cNvSpPr/>
          <p:nvPr/>
        </p:nvSpPr>
        <p:spPr>
          <a:xfrm>
            <a:off x="0" y="4313925"/>
            <a:ext cx="9144000" cy="8397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400050" lvl="0" marL="457200" rtl="0" algn="l">
              <a:spcBef>
                <a:spcPts val="0"/>
              </a:spcBef>
              <a:spcAft>
                <a:spcPts val="0"/>
              </a:spcAft>
              <a:buNone/>
            </a:pPr>
            <a:r>
              <a:rPr lang="en" sz="1600">
                <a:latin typeface="Roboto"/>
                <a:ea typeface="Roboto"/>
                <a:cs typeface="Roboto"/>
                <a:sym typeface="Roboto"/>
              </a:rPr>
              <a:t> </a:t>
            </a:r>
            <a:endParaRPr sz="1600">
              <a:latin typeface="Roboto"/>
              <a:ea typeface="Roboto"/>
              <a:cs typeface="Roboto"/>
              <a:sym typeface="Roboto"/>
            </a:endParaRPr>
          </a:p>
        </p:txBody>
      </p:sp>
      <p:pic>
        <p:nvPicPr>
          <p:cNvPr id="1376" name="Google Shape;1376;p192"/>
          <p:cNvPicPr preferRelativeResize="0"/>
          <p:nvPr/>
        </p:nvPicPr>
        <p:blipFill rotWithShape="1">
          <a:blip r:embed="rId3">
            <a:alphaModFix/>
          </a:blip>
          <a:srcRect b="0" l="0" r="0" t="0"/>
          <a:stretch/>
        </p:blipFill>
        <p:spPr>
          <a:xfrm>
            <a:off x="208027" y="4395341"/>
            <a:ext cx="706371" cy="669000"/>
          </a:xfrm>
          <a:prstGeom prst="rect">
            <a:avLst/>
          </a:prstGeom>
          <a:noFill/>
          <a:ln>
            <a:noFill/>
          </a:ln>
        </p:spPr>
      </p:pic>
      <p:sp>
        <p:nvSpPr>
          <p:cNvPr id="1377" name="Google Shape;1377;p192"/>
          <p:cNvSpPr txBox="1"/>
          <p:nvPr/>
        </p:nvSpPr>
        <p:spPr>
          <a:xfrm>
            <a:off x="1083325" y="4319750"/>
            <a:ext cx="79374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An incident response manager may not be an expert on every possible incident. It is very common to call in a </a:t>
            </a:r>
            <a:r>
              <a:rPr b="1" lang="en" sz="1800">
                <a:solidFill>
                  <a:schemeClr val="dk2"/>
                </a:solidFill>
                <a:latin typeface="Roboto"/>
                <a:ea typeface="Roboto"/>
                <a:cs typeface="Roboto"/>
                <a:sym typeface="Roboto"/>
              </a:rPr>
              <a:t>SME </a:t>
            </a:r>
            <a:r>
              <a:rPr lang="en" sz="1800">
                <a:solidFill>
                  <a:schemeClr val="dk2"/>
                </a:solidFill>
                <a:latin typeface="Roboto"/>
                <a:ea typeface="Roboto"/>
                <a:cs typeface="Roboto"/>
                <a:sym typeface="Roboto"/>
              </a:rPr>
              <a:t>to assist in the response effort.</a:t>
            </a:r>
            <a:endParaRPr sz="1800">
              <a:solidFill>
                <a:schemeClr val="dk2"/>
              </a:solidFill>
              <a:latin typeface="Roboto"/>
              <a:ea typeface="Roboto"/>
              <a:cs typeface="Roboto"/>
              <a:sym typeface="Roboto"/>
            </a:endParaRPr>
          </a:p>
        </p:txBody>
      </p:sp>
      <p:pic>
        <p:nvPicPr>
          <p:cNvPr id="1378" name="Google Shape;1378;p192"/>
          <p:cNvPicPr preferRelativeResize="0"/>
          <p:nvPr/>
        </p:nvPicPr>
        <p:blipFill>
          <a:blip r:embed="rId4">
            <a:alphaModFix/>
          </a:blip>
          <a:stretch>
            <a:fillRect/>
          </a:stretch>
        </p:blipFill>
        <p:spPr>
          <a:xfrm>
            <a:off x="4392525" y="667776"/>
            <a:ext cx="4445800" cy="3505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93"/>
          <p:cNvSpPr txBox="1"/>
          <p:nvPr/>
        </p:nvSpPr>
        <p:spPr>
          <a:xfrm>
            <a:off x="457200" y="923050"/>
            <a:ext cx="3657600" cy="1778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1800"/>
              <a:buFont typeface="Arial"/>
              <a:buNone/>
            </a:pPr>
            <a:r>
              <a:rPr lang="en" sz="1700">
                <a:solidFill>
                  <a:schemeClr val="dk2"/>
                </a:solidFill>
                <a:latin typeface="Roboto"/>
                <a:ea typeface="Roboto"/>
                <a:cs typeface="Roboto"/>
                <a:sym typeface="Roboto"/>
              </a:rPr>
              <a:t> </a:t>
            </a:r>
            <a:r>
              <a:rPr b="1" lang="en" sz="1700">
                <a:solidFill>
                  <a:schemeClr val="dk2"/>
                </a:solidFill>
                <a:latin typeface="Roboto"/>
                <a:ea typeface="Roboto"/>
                <a:cs typeface="Roboto"/>
                <a:sym typeface="Roboto"/>
              </a:rPr>
              <a:t>Phishing attacks </a:t>
            </a:r>
            <a:br>
              <a:rPr b="1" lang="en" sz="1700">
                <a:solidFill>
                  <a:schemeClr val="dk2"/>
                </a:solidFill>
                <a:latin typeface="Roboto"/>
                <a:ea typeface="Roboto"/>
                <a:cs typeface="Roboto"/>
                <a:sym typeface="Roboto"/>
              </a:rPr>
            </a:br>
            <a:r>
              <a:rPr b="1" lang="en" sz="1700">
                <a:solidFill>
                  <a:schemeClr val="dk2"/>
                </a:solidFill>
                <a:latin typeface="Roboto"/>
                <a:ea typeface="Roboto"/>
                <a:cs typeface="Roboto"/>
                <a:sym typeface="Roboto"/>
              </a:rPr>
              <a:t>or malware downloads</a:t>
            </a:r>
            <a:endParaRPr b="1" sz="1700">
              <a:solidFill>
                <a:schemeClr val="dk2"/>
              </a:solidFill>
              <a:latin typeface="Roboto"/>
              <a:ea typeface="Roboto"/>
              <a:cs typeface="Roboto"/>
              <a:sym typeface="Roboto"/>
            </a:endParaRPr>
          </a:p>
          <a:p>
            <a:pPr indent="0" lvl="0" marL="0" rtl="0" algn="ctr">
              <a:lnSpc>
                <a:spcPct val="115000"/>
              </a:lnSpc>
              <a:spcBef>
                <a:spcPts val="1000"/>
              </a:spcBef>
              <a:spcAft>
                <a:spcPts val="0"/>
              </a:spcAft>
              <a:buClr>
                <a:srgbClr val="000000"/>
              </a:buClr>
              <a:buSzPts val="1800"/>
              <a:buFont typeface="Arial"/>
              <a:buNone/>
            </a:pPr>
            <a:r>
              <a:rPr lang="en" sz="1700">
                <a:solidFill>
                  <a:schemeClr val="dk2"/>
                </a:solidFill>
                <a:latin typeface="Roboto"/>
                <a:ea typeface="Roboto"/>
                <a:cs typeface="Roboto"/>
                <a:sym typeface="Roboto"/>
              </a:rPr>
              <a:t>Usually opportunistic attacks that can be solved by junior analysts following specific steps.</a:t>
            </a:r>
            <a:endParaRPr b="1" sz="1700">
              <a:solidFill>
                <a:schemeClr val="dk2"/>
              </a:solidFill>
              <a:latin typeface="Roboto"/>
              <a:ea typeface="Roboto"/>
              <a:cs typeface="Roboto"/>
              <a:sym typeface="Roboto"/>
            </a:endParaRPr>
          </a:p>
        </p:txBody>
      </p:sp>
      <p:sp>
        <p:nvSpPr>
          <p:cNvPr id="1384" name="Google Shape;1384;p193"/>
          <p:cNvSpPr txBox="1"/>
          <p:nvPr/>
        </p:nvSpPr>
        <p:spPr>
          <a:xfrm>
            <a:off x="874200" y="343588"/>
            <a:ext cx="30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600"/>
              <a:buFont typeface="Arial"/>
              <a:buNone/>
            </a:pPr>
            <a:r>
              <a:rPr b="1" lang="en" sz="2600">
                <a:solidFill>
                  <a:schemeClr val="dk2"/>
                </a:solidFill>
                <a:latin typeface="Roboto"/>
                <a:ea typeface="Roboto"/>
                <a:cs typeface="Roboto"/>
                <a:sym typeface="Roboto"/>
              </a:rPr>
              <a:t>Simple Incidents</a:t>
            </a:r>
            <a:endParaRPr b="1" i="0" sz="2600" u="none" cap="none" strike="noStrike">
              <a:solidFill>
                <a:schemeClr val="dk2"/>
              </a:solidFill>
              <a:latin typeface="Roboto"/>
              <a:ea typeface="Roboto"/>
              <a:cs typeface="Roboto"/>
              <a:sym typeface="Roboto"/>
            </a:endParaRPr>
          </a:p>
        </p:txBody>
      </p:sp>
      <p:sp>
        <p:nvSpPr>
          <p:cNvPr id="1385" name="Google Shape;1385;p193"/>
          <p:cNvSpPr txBox="1"/>
          <p:nvPr/>
        </p:nvSpPr>
        <p:spPr>
          <a:xfrm>
            <a:off x="5226325" y="343588"/>
            <a:ext cx="30000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2600"/>
              <a:buFont typeface="Arial"/>
              <a:buNone/>
            </a:pPr>
            <a:r>
              <a:rPr b="1" lang="en" sz="2600">
                <a:solidFill>
                  <a:schemeClr val="dk2"/>
                </a:solidFill>
                <a:latin typeface="Roboto"/>
                <a:ea typeface="Roboto"/>
                <a:cs typeface="Roboto"/>
                <a:sym typeface="Roboto"/>
              </a:rPr>
              <a:t>Complex Incidents</a:t>
            </a:r>
            <a:endParaRPr b="1" i="0" sz="2600" u="none" cap="none" strike="noStrike">
              <a:solidFill>
                <a:schemeClr val="dk2"/>
              </a:solidFill>
              <a:latin typeface="Roboto"/>
              <a:ea typeface="Roboto"/>
              <a:cs typeface="Roboto"/>
              <a:sym typeface="Roboto"/>
            </a:endParaRPr>
          </a:p>
        </p:txBody>
      </p:sp>
      <p:sp>
        <p:nvSpPr>
          <p:cNvPr id="1386" name="Google Shape;1386;p193"/>
          <p:cNvSpPr txBox="1"/>
          <p:nvPr/>
        </p:nvSpPr>
        <p:spPr>
          <a:xfrm>
            <a:off x="4950975" y="923050"/>
            <a:ext cx="3799500" cy="207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000"/>
              </a:spcBef>
              <a:spcAft>
                <a:spcPts val="0"/>
              </a:spcAft>
              <a:buClr>
                <a:srgbClr val="000000"/>
              </a:buClr>
              <a:buSzPts val="1800"/>
              <a:buFont typeface="Arial"/>
              <a:buNone/>
            </a:pPr>
            <a:r>
              <a:rPr b="1" lang="en" sz="1700">
                <a:solidFill>
                  <a:schemeClr val="dk2"/>
                </a:solidFill>
                <a:latin typeface="Roboto"/>
                <a:ea typeface="Roboto"/>
                <a:cs typeface="Roboto"/>
                <a:sym typeface="Roboto"/>
              </a:rPr>
              <a:t>Attacks that affect multiple employees and/or servers</a:t>
            </a:r>
            <a:endParaRPr b="1" sz="1700">
              <a:solidFill>
                <a:schemeClr val="dk2"/>
              </a:solidFill>
              <a:latin typeface="Roboto"/>
              <a:ea typeface="Roboto"/>
              <a:cs typeface="Roboto"/>
              <a:sym typeface="Roboto"/>
            </a:endParaRPr>
          </a:p>
          <a:p>
            <a:pPr indent="0" lvl="0" marL="0" rtl="0" algn="ctr">
              <a:lnSpc>
                <a:spcPct val="115000"/>
              </a:lnSpc>
              <a:spcBef>
                <a:spcPts val="1000"/>
              </a:spcBef>
              <a:spcAft>
                <a:spcPts val="0"/>
              </a:spcAft>
              <a:buClr>
                <a:srgbClr val="000000"/>
              </a:buClr>
              <a:buSzPts val="1800"/>
              <a:buFont typeface="Arial"/>
              <a:buNone/>
            </a:pPr>
            <a:r>
              <a:rPr lang="en" sz="1700">
                <a:solidFill>
                  <a:schemeClr val="dk2"/>
                </a:solidFill>
                <a:latin typeface="Roboto"/>
                <a:ea typeface="Roboto"/>
                <a:cs typeface="Roboto"/>
                <a:sym typeface="Roboto"/>
              </a:rPr>
              <a:t>More coordinated attacks that have </a:t>
            </a:r>
            <a:br>
              <a:rPr lang="en" sz="1700">
                <a:solidFill>
                  <a:schemeClr val="dk2"/>
                </a:solidFill>
                <a:latin typeface="Roboto"/>
                <a:ea typeface="Roboto"/>
                <a:cs typeface="Roboto"/>
                <a:sym typeface="Roboto"/>
              </a:rPr>
            </a:br>
            <a:r>
              <a:rPr lang="en" sz="1700">
                <a:solidFill>
                  <a:schemeClr val="dk2"/>
                </a:solidFill>
                <a:latin typeface="Roboto"/>
                <a:ea typeface="Roboto"/>
                <a:cs typeface="Roboto"/>
                <a:sym typeface="Roboto"/>
              </a:rPr>
              <a:t>a higher severity. May involve multiple incident response team members and/or multiple IT teams.</a:t>
            </a:r>
            <a:endParaRPr b="1" sz="1700">
              <a:solidFill>
                <a:schemeClr val="dk2"/>
              </a:solidFill>
              <a:latin typeface="Roboto"/>
              <a:ea typeface="Roboto"/>
              <a:cs typeface="Roboto"/>
              <a:sym typeface="Roboto"/>
            </a:endParaRPr>
          </a:p>
        </p:txBody>
      </p:sp>
      <p:cxnSp>
        <p:nvCxnSpPr>
          <p:cNvPr id="1387" name="Google Shape;1387;p193"/>
          <p:cNvCxnSpPr/>
          <p:nvPr/>
        </p:nvCxnSpPr>
        <p:spPr>
          <a:xfrm>
            <a:off x="4569100" y="679375"/>
            <a:ext cx="0" cy="3897300"/>
          </a:xfrm>
          <a:prstGeom prst="straightConnector1">
            <a:avLst/>
          </a:prstGeom>
          <a:noFill/>
          <a:ln cap="flat" cmpd="sng" w="9525">
            <a:solidFill>
              <a:schemeClr val="dk2"/>
            </a:solidFill>
            <a:prstDash val="solid"/>
            <a:round/>
            <a:headEnd len="sm" w="sm" type="none"/>
            <a:tailEnd len="sm" w="sm" type="none"/>
          </a:ln>
        </p:spPr>
      </p:cxnSp>
      <p:pic>
        <p:nvPicPr>
          <p:cNvPr id="1388" name="Google Shape;1388;p193"/>
          <p:cNvPicPr preferRelativeResize="0"/>
          <p:nvPr/>
        </p:nvPicPr>
        <p:blipFill>
          <a:blip r:embed="rId3">
            <a:alphaModFix/>
          </a:blip>
          <a:stretch>
            <a:fillRect/>
          </a:stretch>
        </p:blipFill>
        <p:spPr>
          <a:xfrm>
            <a:off x="1154650" y="2995825"/>
            <a:ext cx="2218350" cy="1749002"/>
          </a:xfrm>
          <a:prstGeom prst="rect">
            <a:avLst/>
          </a:prstGeom>
          <a:noFill/>
          <a:ln>
            <a:noFill/>
          </a:ln>
        </p:spPr>
      </p:pic>
      <p:pic>
        <p:nvPicPr>
          <p:cNvPr id="1389" name="Google Shape;1389;p193"/>
          <p:cNvPicPr preferRelativeResize="0"/>
          <p:nvPr/>
        </p:nvPicPr>
        <p:blipFill>
          <a:blip r:embed="rId4">
            <a:alphaModFix/>
          </a:blip>
          <a:stretch>
            <a:fillRect/>
          </a:stretch>
        </p:blipFill>
        <p:spPr>
          <a:xfrm>
            <a:off x="5765200" y="3082450"/>
            <a:ext cx="2218350" cy="17490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94"/>
          <p:cNvSpPr txBox="1"/>
          <p:nvPr>
            <p:ph idx="1" type="body"/>
          </p:nvPr>
        </p:nvSpPr>
        <p:spPr>
          <a:xfrm>
            <a:off x="3333325" y="1377275"/>
            <a:ext cx="56595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sz="3800"/>
              <a:t>The next step of incident response is putting a </a:t>
            </a:r>
            <a:r>
              <a:rPr b="1" lang="en" sz="3800"/>
              <a:t>plan of action</a:t>
            </a:r>
            <a:r>
              <a:rPr lang="en" sz="3800"/>
              <a:t> in place. </a:t>
            </a:r>
            <a:endParaRPr sz="5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9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0" name="Google Shape;1400;p19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Every company should have a documented plan</a:t>
            </a:r>
            <a:endParaRPr/>
          </a:p>
        </p:txBody>
      </p:sp>
      <p:sp>
        <p:nvSpPr>
          <p:cNvPr id="1401" name="Google Shape;1401;p195"/>
          <p:cNvSpPr txBox="1"/>
          <p:nvPr>
            <p:ph idx="2" type="body"/>
          </p:nvPr>
        </p:nvSpPr>
        <p:spPr>
          <a:xfrm>
            <a:off x="914400" y="1155700"/>
            <a:ext cx="4433700" cy="3657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An incident response plan should cover:</a:t>
            </a:r>
            <a:endParaRPr/>
          </a:p>
          <a:p>
            <a:pPr indent="-342900" lvl="0" marL="457200" rtl="0" algn="l">
              <a:spcBef>
                <a:spcPts val="0"/>
              </a:spcBef>
              <a:spcAft>
                <a:spcPts val="0"/>
              </a:spcAft>
              <a:buSzPts val="1800"/>
              <a:buChar char="●"/>
            </a:pPr>
            <a:r>
              <a:rPr lang="en"/>
              <a:t>When to respond</a:t>
            </a:r>
            <a:endParaRPr/>
          </a:p>
          <a:p>
            <a:pPr indent="-342900" lvl="0" marL="457200" rtl="0" algn="l">
              <a:spcBef>
                <a:spcPts val="0"/>
              </a:spcBef>
              <a:spcAft>
                <a:spcPts val="0"/>
              </a:spcAft>
              <a:buSzPts val="1800"/>
              <a:buChar char="●"/>
            </a:pPr>
            <a:r>
              <a:rPr lang="en"/>
              <a:t>What to do and how to do it</a:t>
            </a:r>
            <a:endParaRPr/>
          </a:p>
          <a:p>
            <a:pPr indent="-342900" lvl="0" marL="457200" rtl="0" algn="l">
              <a:spcBef>
                <a:spcPts val="0"/>
              </a:spcBef>
              <a:spcAft>
                <a:spcPts val="0"/>
              </a:spcAft>
              <a:buSzPts val="1800"/>
              <a:buChar char="●"/>
            </a:pPr>
            <a:r>
              <a:rPr lang="en"/>
              <a:t>Who is in charge</a:t>
            </a:r>
            <a:endParaRPr/>
          </a:p>
          <a:p>
            <a:pPr indent="0" lvl="0" marL="914400" rtl="0" algn="l">
              <a:spcBef>
                <a:spcPts val="0"/>
              </a:spcBef>
              <a:spcAft>
                <a:spcPts val="0"/>
              </a:spcAft>
              <a:buNone/>
            </a:pPr>
            <a:r>
              <a:t/>
            </a:r>
            <a:endParaRPr/>
          </a:p>
          <a:p>
            <a:pPr indent="0" lvl="0" marL="0" rtl="0" algn="l">
              <a:spcBef>
                <a:spcPts val="0"/>
              </a:spcBef>
              <a:spcAft>
                <a:spcPts val="0"/>
              </a:spcAft>
              <a:buNone/>
            </a:pPr>
            <a:r>
              <a:rPr lang="en"/>
              <a:t>Organizations should also have different response plans for different incidents, like </a:t>
            </a:r>
            <a:endParaRPr/>
          </a:p>
          <a:p>
            <a:pPr indent="-342900" lvl="0" marL="457200" rtl="0" algn="l">
              <a:spcBef>
                <a:spcPts val="0"/>
              </a:spcBef>
              <a:spcAft>
                <a:spcPts val="0"/>
              </a:spcAft>
              <a:buSzPts val="1800"/>
              <a:buChar char="●"/>
            </a:pPr>
            <a:r>
              <a:rPr lang="en"/>
              <a:t>Data breaches</a:t>
            </a:r>
            <a:endParaRPr/>
          </a:p>
          <a:p>
            <a:pPr indent="-342900" lvl="0" marL="457200" rtl="0" algn="l">
              <a:spcBef>
                <a:spcPts val="0"/>
              </a:spcBef>
              <a:spcAft>
                <a:spcPts val="0"/>
              </a:spcAft>
              <a:buSzPts val="1800"/>
              <a:buChar char="●"/>
            </a:pPr>
            <a:r>
              <a:rPr lang="en"/>
              <a:t>DDoS attacks</a:t>
            </a:r>
            <a:endParaRPr/>
          </a:p>
          <a:p>
            <a:pPr indent="-342900" lvl="0" marL="457200" rtl="0" algn="l">
              <a:spcBef>
                <a:spcPts val="0"/>
              </a:spcBef>
              <a:spcAft>
                <a:spcPts val="0"/>
              </a:spcAft>
              <a:buSzPts val="1800"/>
              <a:buChar char="●"/>
            </a:pPr>
            <a:r>
              <a:rPr lang="en"/>
              <a:t>Application security </a:t>
            </a:r>
            <a:r>
              <a:rPr lang="en"/>
              <a:t>vulnerabilities</a:t>
            </a:r>
            <a:endParaRPr/>
          </a:p>
          <a:p>
            <a:pPr indent="0" lvl="0" marL="0" rtl="0" algn="l">
              <a:spcBef>
                <a:spcPts val="0"/>
              </a:spcBef>
              <a:spcAft>
                <a:spcPts val="0"/>
              </a:spcAft>
              <a:buNone/>
            </a:pPr>
            <a:r>
              <a:t/>
            </a:r>
            <a:endParaRPr/>
          </a:p>
        </p:txBody>
      </p:sp>
      <p:pic>
        <p:nvPicPr>
          <p:cNvPr id="1402" name="Google Shape;1402;p195"/>
          <p:cNvPicPr preferRelativeResize="0"/>
          <p:nvPr/>
        </p:nvPicPr>
        <p:blipFill>
          <a:blip r:embed="rId3">
            <a:alphaModFix/>
          </a:blip>
          <a:stretch>
            <a:fillRect/>
          </a:stretch>
        </p:blipFill>
        <p:spPr>
          <a:xfrm>
            <a:off x="259025" y="308303"/>
            <a:ext cx="396350" cy="389325"/>
          </a:xfrm>
          <a:prstGeom prst="rect">
            <a:avLst/>
          </a:prstGeom>
          <a:noFill/>
          <a:ln>
            <a:noFill/>
          </a:ln>
        </p:spPr>
      </p:pic>
      <p:pic>
        <p:nvPicPr>
          <p:cNvPr id="1403" name="Google Shape;1403;p195"/>
          <p:cNvPicPr preferRelativeResize="0"/>
          <p:nvPr/>
        </p:nvPicPr>
        <p:blipFill>
          <a:blip r:embed="rId4">
            <a:alphaModFix/>
          </a:blip>
          <a:stretch>
            <a:fillRect/>
          </a:stretch>
        </p:blipFill>
        <p:spPr>
          <a:xfrm>
            <a:off x="5029200" y="1294100"/>
            <a:ext cx="4089327" cy="3224150"/>
          </a:xfrm>
          <a:prstGeom prst="rect">
            <a:avLst/>
          </a:prstGeom>
          <a:noFill/>
          <a:ln>
            <a:noFill/>
          </a:ln>
        </p:spPr>
      </p:pic>
      <p:cxnSp>
        <p:nvCxnSpPr>
          <p:cNvPr id="1404" name="Google Shape;1404;p195"/>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9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10" name="Google Shape;1410;p196"/>
          <p:cNvSpPr txBox="1"/>
          <p:nvPr>
            <p:ph idx="1" type="subTitle"/>
          </p:nvPr>
        </p:nvSpPr>
        <p:spPr>
          <a:xfrm>
            <a:off x="914400" y="624850"/>
            <a:ext cx="67791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i</a:t>
            </a:r>
            <a:r>
              <a:rPr lang="en"/>
              <a:t>ncident response plan should help cover the process that needs to be followed and answer these common questions:</a:t>
            </a:r>
            <a:endParaRPr/>
          </a:p>
        </p:txBody>
      </p:sp>
      <p:pic>
        <p:nvPicPr>
          <p:cNvPr id="1411" name="Google Shape;1411;p196"/>
          <p:cNvPicPr preferRelativeResize="0"/>
          <p:nvPr/>
        </p:nvPicPr>
        <p:blipFill>
          <a:blip r:embed="rId3">
            <a:alphaModFix/>
          </a:blip>
          <a:stretch>
            <a:fillRect/>
          </a:stretch>
        </p:blipFill>
        <p:spPr>
          <a:xfrm>
            <a:off x="259025" y="308303"/>
            <a:ext cx="396350" cy="389325"/>
          </a:xfrm>
          <a:prstGeom prst="rect">
            <a:avLst/>
          </a:prstGeom>
          <a:noFill/>
          <a:ln>
            <a:noFill/>
          </a:ln>
        </p:spPr>
      </p:pic>
      <p:sp>
        <p:nvSpPr>
          <p:cNvPr id="1412" name="Google Shape;1412;p196"/>
          <p:cNvSpPr txBox="1"/>
          <p:nvPr>
            <p:ph idx="2" type="body"/>
          </p:nvPr>
        </p:nvSpPr>
        <p:spPr>
          <a:xfrm>
            <a:off x="2627275" y="1371600"/>
            <a:ext cx="6133500" cy="33612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Do you immediately take systems offline and just send a notification?</a:t>
            </a:r>
            <a:endParaRPr/>
          </a:p>
          <a:p>
            <a:pPr indent="-342900" lvl="0" marL="457200" rtl="0" algn="l">
              <a:spcBef>
                <a:spcPts val="0"/>
              </a:spcBef>
              <a:spcAft>
                <a:spcPts val="0"/>
              </a:spcAft>
              <a:buSzPts val="1800"/>
              <a:buChar char="●"/>
            </a:pPr>
            <a:r>
              <a:rPr lang="en"/>
              <a:t>Who makes the decision to shut down systems?</a:t>
            </a:r>
            <a:endParaRPr/>
          </a:p>
          <a:p>
            <a:pPr indent="-342900" lvl="0" marL="457200" rtl="0" algn="l">
              <a:spcBef>
                <a:spcPts val="0"/>
              </a:spcBef>
              <a:spcAft>
                <a:spcPts val="0"/>
              </a:spcAft>
              <a:buSzPts val="1800"/>
              <a:buChar char="●"/>
            </a:pPr>
            <a:r>
              <a:rPr lang="en"/>
              <a:t>Do you need management approval to shut down systems?</a:t>
            </a:r>
            <a:endParaRPr/>
          </a:p>
          <a:p>
            <a:pPr indent="-342900" lvl="0" marL="457200" rtl="0" algn="l">
              <a:spcBef>
                <a:spcPts val="0"/>
              </a:spcBef>
              <a:spcAft>
                <a:spcPts val="0"/>
              </a:spcAft>
              <a:buSzPts val="1800"/>
              <a:buChar char="●"/>
            </a:pPr>
            <a:r>
              <a:rPr lang="en"/>
              <a:t>Who needs to be notified?</a:t>
            </a:r>
            <a:endParaRPr/>
          </a:p>
          <a:p>
            <a:pPr indent="-342900" lvl="0" marL="457200" rtl="0" algn="l">
              <a:spcBef>
                <a:spcPts val="0"/>
              </a:spcBef>
              <a:spcAft>
                <a:spcPts val="0"/>
              </a:spcAft>
              <a:buSzPts val="1800"/>
              <a:buChar char="●"/>
            </a:pPr>
            <a:r>
              <a:rPr lang="en"/>
              <a:t>Will this affect company revenue or customer experience?</a:t>
            </a:r>
            <a:endParaRPr/>
          </a:p>
          <a:p>
            <a:pPr indent="-342900" lvl="0" marL="457200" rtl="0" algn="l">
              <a:spcBef>
                <a:spcPts val="0"/>
              </a:spcBef>
              <a:spcAft>
                <a:spcPts val="0"/>
              </a:spcAft>
              <a:buSzPts val="1800"/>
              <a:buChar char="●"/>
            </a:pPr>
            <a:r>
              <a:rPr lang="en"/>
              <a:t>At what point do you involve the PR department?</a:t>
            </a:r>
            <a:endParaRPr/>
          </a:p>
          <a:p>
            <a:pPr indent="-342900" lvl="0" marL="457200" rtl="0" algn="l">
              <a:spcBef>
                <a:spcPts val="0"/>
              </a:spcBef>
              <a:spcAft>
                <a:spcPts val="0"/>
              </a:spcAft>
              <a:buSzPts val="1800"/>
              <a:buChar char="●"/>
            </a:pPr>
            <a:r>
              <a:rPr lang="en"/>
              <a:t>At what point do you involve the legal team?</a:t>
            </a:r>
            <a:endParaRPr/>
          </a:p>
          <a:p>
            <a:pPr indent="-342900" lvl="0" marL="457200" rtl="0" algn="l">
              <a:spcBef>
                <a:spcPts val="0"/>
              </a:spcBef>
              <a:spcAft>
                <a:spcPts val="0"/>
              </a:spcAft>
              <a:buSzPts val="1800"/>
              <a:buChar char="●"/>
            </a:pPr>
            <a:r>
              <a:rPr lang="en"/>
              <a:t>Who communicates the issue to the executive team?</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413" name="Google Shape;1413;p196"/>
          <p:cNvPicPr preferRelativeResize="0"/>
          <p:nvPr/>
        </p:nvPicPr>
        <p:blipFill rotWithShape="1">
          <a:blip r:embed="rId4">
            <a:alphaModFix/>
          </a:blip>
          <a:srcRect b="0" l="27742" r="27438" t="0"/>
          <a:stretch/>
        </p:blipFill>
        <p:spPr>
          <a:xfrm>
            <a:off x="457200" y="1107950"/>
            <a:ext cx="2023926" cy="3560550"/>
          </a:xfrm>
          <a:prstGeom prst="rect">
            <a:avLst/>
          </a:prstGeom>
          <a:noFill/>
          <a:ln>
            <a:noFill/>
          </a:ln>
        </p:spPr>
      </p:pic>
      <p:cxnSp>
        <p:nvCxnSpPr>
          <p:cNvPr id="1414" name="Google Shape;1414;p196"/>
          <p:cNvCxnSpPr/>
          <p:nvPr/>
        </p:nvCxnSpPr>
        <p:spPr>
          <a:xfrm>
            <a:off x="-9375" y="128805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97"/>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40 minutes</a:t>
            </a:r>
            <a:endParaRPr/>
          </a:p>
        </p:txBody>
      </p:sp>
      <p:sp>
        <p:nvSpPr>
          <p:cNvPr id="1420" name="Google Shape;1420;p197"/>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Interpreting incident response plans</a:t>
            </a:r>
            <a:endParaRPr/>
          </a:p>
        </p:txBody>
      </p:sp>
      <p:sp>
        <p:nvSpPr>
          <p:cNvPr id="1421" name="Google Shape;1421;p197"/>
          <p:cNvSpPr txBox="1"/>
          <p:nvPr>
            <p:ph idx="3" type="body"/>
          </p:nvPr>
        </p:nvSpPr>
        <p:spPr>
          <a:xfrm>
            <a:off x="914400" y="1176975"/>
            <a:ext cx="75012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compare and contrast several incident response plans from different companies.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This activity is meant to provide an overview of real-world incident response plans from companies in different sectors and industries.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Try not to get overwhelmed by the volume of these documents. Focus your attention on each document's table of contents and </a:t>
            </a:r>
            <a:br>
              <a:rPr lang="en"/>
            </a:br>
            <a:r>
              <a:rPr lang="en"/>
              <a:t>one section of your choosing to compare across the documents.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422" name="Google Shape;1422;p197"/>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201"/>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Developing </a:t>
            </a:r>
            <a:r>
              <a:rPr b="0" lang="en" sz="3800">
                <a:solidFill>
                  <a:schemeClr val="accent5"/>
                </a:solidFill>
                <a:latin typeface="Roboto"/>
                <a:ea typeface="Roboto"/>
                <a:cs typeface="Roboto"/>
                <a:sym typeface="Roboto"/>
              </a:rPr>
              <a:t>an Incident</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rPr b="0" lang="en" sz="3800">
                <a:solidFill>
                  <a:schemeClr val="accent5"/>
                </a:solidFill>
                <a:latin typeface="Roboto"/>
                <a:ea typeface="Roboto"/>
                <a:cs typeface="Roboto"/>
                <a:sym typeface="Roboto"/>
              </a:rPr>
              <a:t>Response Plan </a:t>
            </a:r>
            <a:endParaRPr b="0" sz="3800">
              <a:solidFill>
                <a:schemeClr val="accent5"/>
              </a:solidFill>
              <a:latin typeface="Roboto"/>
              <a:ea typeface="Roboto"/>
              <a:cs typeface="Roboto"/>
              <a:sym typeface="Roboto"/>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440" name="Google Shape;1440;p201"/>
          <p:cNvPicPr preferRelativeResize="0"/>
          <p:nvPr/>
        </p:nvPicPr>
        <p:blipFill>
          <a:blip r:embed="rId3">
            <a:alphaModFix/>
          </a:blip>
          <a:stretch>
            <a:fillRect/>
          </a:stretch>
        </p:blipFill>
        <p:spPr>
          <a:xfrm>
            <a:off x="4038787" y="1896687"/>
            <a:ext cx="1066421" cy="778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202"/>
          <p:cNvSpPr txBox="1"/>
          <p:nvPr>
            <p:ph idx="1" type="body"/>
          </p:nvPr>
        </p:nvSpPr>
        <p:spPr>
          <a:xfrm>
            <a:off x="3340525" y="1377600"/>
            <a:ext cx="53463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700"/>
              <a:t>If</a:t>
            </a:r>
            <a:r>
              <a:rPr lang="en" sz="2700"/>
              <a:t> you had to write an incident response plan for your company, it would be useful if there were some kind of</a:t>
            </a:r>
            <a:r>
              <a:rPr b="1" lang="en" sz="2700"/>
              <a:t> standard framework </a:t>
            </a:r>
            <a:r>
              <a:rPr lang="en" sz="2700"/>
              <a:t>that your organization could follow.</a:t>
            </a:r>
            <a:endParaRPr sz="27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203"/>
          <p:cNvSpPr txBox="1"/>
          <p:nvPr/>
        </p:nvSpPr>
        <p:spPr>
          <a:xfrm>
            <a:off x="349359" y="99935"/>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Developing an Incident Response Plan</a:t>
            </a:r>
            <a:endParaRPr b="1" sz="2600">
              <a:solidFill>
                <a:schemeClr val="dk2"/>
              </a:solidFill>
              <a:latin typeface="Roboto"/>
              <a:ea typeface="Roboto"/>
              <a:cs typeface="Roboto"/>
              <a:sym typeface="Roboto"/>
            </a:endParaRPr>
          </a:p>
        </p:txBody>
      </p:sp>
      <p:sp>
        <p:nvSpPr>
          <p:cNvPr id="1451" name="Google Shape;1451;p203"/>
          <p:cNvSpPr txBox="1"/>
          <p:nvPr>
            <p:ph idx="4294967295" type="subTitle"/>
          </p:nvPr>
        </p:nvSpPr>
        <p:spPr>
          <a:xfrm>
            <a:off x="0" y="520050"/>
            <a:ext cx="9011400" cy="5727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800"/>
              </a:spcAft>
              <a:buSzPts val="1800"/>
              <a:buNone/>
            </a:pPr>
            <a:r>
              <a:rPr lang="en"/>
              <a:t>The</a:t>
            </a:r>
            <a:r>
              <a:rPr lang="en"/>
              <a:t> National Institute of Standards and Technology (NIST) sets </a:t>
            </a:r>
            <a:r>
              <a:rPr b="1" lang="en"/>
              <a:t>the</a:t>
            </a:r>
            <a:r>
              <a:rPr lang="en"/>
              <a:t> industry standard for incident response plans.</a:t>
            </a:r>
            <a:r>
              <a:rPr lang="en" sz="1050">
                <a:solidFill>
                  <a:srgbClr val="000000"/>
                </a:solidFill>
                <a:highlight>
                  <a:srgbClr val="FFFFFF"/>
                </a:highlight>
                <a:latin typeface="Arial"/>
                <a:ea typeface="Arial"/>
                <a:cs typeface="Arial"/>
                <a:sym typeface="Arial"/>
              </a:rPr>
              <a:t> </a:t>
            </a:r>
            <a:endParaRPr/>
          </a:p>
        </p:txBody>
      </p:sp>
      <p:sp>
        <p:nvSpPr>
          <p:cNvPr id="1452" name="Google Shape;1452;p203"/>
          <p:cNvSpPr txBox="1"/>
          <p:nvPr>
            <p:ph idx="1" type="body"/>
          </p:nvPr>
        </p:nvSpPr>
        <p:spPr>
          <a:xfrm>
            <a:off x="175" y="1371600"/>
            <a:ext cx="4959300" cy="3874800"/>
          </a:xfrm>
          <a:prstGeom prst="rect">
            <a:avLst/>
          </a:prstGeom>
          <a:noFill/>
          <a:ln>
            <a:noFill/>
          </a:ln>
        </p:spPr>
        <p:txBody>
          <a:bodyPr anchorCtr="0" anchor="t" bIns="914400" lIns="457200" spcFirstLastPara="1" rIns="457200" wrap="square" tIns="0">
            <a:noAutofit/>
          </a:bodyPr>
          <a:lstStyle/>
          <a:p>
            <a:pPr indent="0" lvl="0" marL="0" rtl="0" algn="l">
              <a:lnSpc>
                <a:spcPct val="100000"/>
              </a:lnSpc>
              <a:spcBef>
                <a:spcPts val="800"/>
              </a:spcBef>
              <a:spcAft>
                <a:spcPts val="0"/>
              </a:spcAft>
              <a:buSzPts val="1400"/>
              <a:buNone/>
            </a:pPr>
            <a:r>
              <a:rPr lang="en"/>
              <a:t>It offers a detailed plan and process descriptions for everything involved in an incident.</a:t>
            </a:r>
            <a:endParaRPr/>
          </a:p>
          <a:p>
            <a:pPr indent="0" lvl="0" marL="0" rtl="0" algn="l">
              <a:lnSpc>
                <a:spcPct val="100000"/>
              </a:lnSpc>
              <a:spcBef>
                <a:spcPts val="800"/>
              </a:spcBef>
              <a:spcAft>
                <a:spcPts val="0"/>
              </a:spcAft>
              <a:buSzPts val="1400"/>
              <a:buNone/>
            </a:pPr>
            <a:r>
              <a:rPr lang="en"/>
              <a:t>Companies can also use the NIST standard as a framework for building out their own plans.</a:t>
            </a:r>
            <a:endParaRPr/>
          </a:p>
          <a:p>
            <a:pPr indent="0" lvl="0" marL="0" rtl="0" algn="l">
              <a:lnSpc>
                <a:spcPct val="100000"/>
              </a:lnSpc>
              <a:spcBef>
                <a:spcPts val="800"/>
              </a:spcBef>
              <a:spcAft>
                <a:spcPts val="800"/>
              </a:spcAft>
              <a:buSzPts val="1400"/>
              <a:buNone/>
            </a:pPr>
            <a:r>
              <a:rPr lang="en"/>
              <a:t>An incident response plan must be </a:t>
            </a:r>
            <a:r>
              <a:rPr b="1" lang="en"/>
              <a:t>continually</a:t>
            </a:r>
            <a:r>
              <a:rPr lang="en"/>
              <a:t> executed, assessed, and updated to keep up with current threats.</a:t>
            </a:r>
            <a:endParaRPr/>
          </a:p>
        </p:txBody>
      </p:sp>
      <p:pic>
        <p:nvPicPr>
          <p:cNvPr id="1453" name="Google Shape;1453;p203"/>
          <p:cNvPicPr preferRelativeResize="0"/>
          <p:nvPr/>
        </p:nvPicPr>
        <p:blipFill>
          <a:blip r:embed="rId3">
            <a:alphaModFix/>
          </a:blip>
          <a:stretch>
            <a:fillRect/>
          </a:stretch>
        </p:blipFill>
        <p:spPr>
          <a:xfrm>
            <a:off x="5296900" y="968463"/>
            <a:ext cx="3574925" cy="355903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204"/>
          <p:cNvSpPr txBox="1"/>
          <p:nvPr>
            <p:ph idx="1" type="body"/>
          </p:nvPr>
        </p:nvSpPr>
        <p:spPr>
          <a:xfrm>
            <a:off x="460775" y="1828800"/>
            <a:ext cx="5482800" cy="283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AutoNum type="arabicPeriod"/>
            </a:pPr>
            <a:r>
              <a:rPr lang="en"/>
              <a:t>Prepare</a:t>
            </a:r>
            <a:endParaRPr/>
          </a:p>
          <a:p>
            <a:pPr indent="-342900" lvl="0" marL="457200" rtl="0" algn="l">
              <a:spcBef>
                <a:spcPts val="0"/>
              </a:spcBef>
              <a:spcAft>
                <a:spcPts val="0"/>
              </a:spcAft>
              <a:buSzPts val="1800"/>
              <a:buAutoNum type="arabicPeriod"/>
            </a:pPr>
            <a:r>
              <a:rPr lang="en"/>
              <a:t>Detect and analyze</a:t>
            </a:r>
            <a:endParaRPr/>
          </a:p>
          <a:p>
            <a:pPr indent="-342900" lvl="0" marL="457200" rtl="0" algn="l">
              <a:spcBef>
                <a:spcPts val="0"/>
              </a:spcBef>
              <a:spcAft>
                <a:spcPts val="0"/>
              </a:spcAft>
              <a:buSzPts val="1800"/>
              <a:buAutoNum type="arabicPeriod"/>
            </a:pPr>
            <a:r>
              <a:rPr lang="en"/>
              <a:t>Contain, eradicate, and recover</a:t>
            </a:r>
            <a:endParaRPr/>
          </a:p>
          <a:p>
            <a:pPr indent="-342900" lvl="0" marL="457200" rtl="0" algn="l">
              <a:spcBef>
                <a:spcPts val="0"/>
              </a:spcBef>
              <a:spcAft>
                <a:spcPts val="0"/>
              </a:spcAft>
              <a:buSzPts val="1800"/>
              <a:buAutoNum type="arabicPeriod"/>
            </a:pPr>
            <a:r>
              <a:rPr lang="en"/>
              <a:t>Post incident</a:t>
            </a:r>
            <a:endParaRPr/>
          </a:p>
        </p:txBody>
      </p:sp>
      <p:sp>
        <p:nvSpPr>
          <p:cNvPr id="1459" name="Google Shape;1459;p204"/>
          <p:cNvSpPr txBox="1"/>
          <p:nvPr>
            <p:ph type="title"/>
          </p:nvPr>
        </p:nvSpPr>
        <p:spPr>
          <a:xfrm>
            <a:off x="457164"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Playbook</a:t>
            </a:r>
            <a:endParaRPr/>
          </a:p>
        </p:txBody>
      </p:sp>
      <p:sp>
        <p:nvSpPr>
          <p:cNvPr id="1460" name="Google Shape;1460;p204"/>
          <p:cNvSpPr txBox="1"/>
          <p:nvPr>
            <p:ph idx="3" type="subTitle"/>
          </p:nvPr>
        </p:nvSpPr>
        <p:spPr>
          <a:xfrm>
            <a:off x="460838" y="624850"/>
            <a:ext cx="54828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incident response playbook lists the steps that need to be taken to respond to security incidents.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can be split into various procedures. The c</a:t>
            </a:r>
            <a:r>
              <a:rPr lang="en"/>
              <a:t>ommon </a:t>
            </a:r>
            <a:endParaRPr/>
          </a:p>
          <a:p>
            <a:pPr indent="0" lvl="0" marL="0" rtl="0" algn="l">
              <a:spcBef>
                <a:spcPts val="0"/>
              </a:spcBef>
              <a:spcAft>
                <a:spcPts val="0"/>
              </a:spcAft>
              <a:buNone/>
            </a:pPr>
            <a:r>
              <a:rPr lang="en"/>
              <a:t>phases of an incident response playbook include:</a:t>
            </a:r>
            <a:endParaRPr/>
          </a:p>
        </p:txBody>
      </p:sp>
      <p:pic>
        <p:nvPicPr>
          <p:cNvPr id="1461" name="Google Shape;1461;p204"/>
          <p:cNvPicPr preferRelativeResize="0"/>
          <p:nvPr/>
        </p:nvPicPr>
        <p:blipFill rotWithShape="1">
          <a:blip r:embed="rId3">
            <a:alphaModFix/>
          </a:blip>
          <a:srcRect b="0" l="22703" r="20793" t="0"/>
          <a:stretch/>
        </p:blipFill>
        <p:spPr>
          <a:xfrm>
            <a:off x="5794200" y="708075"/>
            <a:ext cx="3041999" cy="424462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205"/>
          <p:cNvSpPr txBox="1"/>
          <p:nvPr>
            <p:ph idx="2" type="body"/>
          </p:nvPr>
        </p:nvSpPr>
        <p:spPr>
          <a:xfrm>
            <a:off x="3368900" y="1172575"/>
            <a:ext cx="5520300" cy="3609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600"/>
              <a:t>Identify key contacts and steps taken</a:t>
            </a:r>
            <a:r>
              <a:rPr b="1" lang="en" sz="1600"/>
              <a:t> before</a:t>
            </a:r>
            <a:r>
              <a:rPr lang="en" sz="1600"/>
              <a:t> any analysis takes place. The </a:t>
            </a:r>
            <a:r>
              <a:rPr b="1" lang="en" sz="1600"/>
              <a:t>prepare phase</a:t>
            </a:r>
            <a:r>
              <a:rPr lang="en" sz="1600"/>
              <a:t> often includes determining and documenting the following:</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Systems, network diagrams, and baselines</a:t>
            </a:r>
            <a:endParaRPr sz="1600"/>
          </a:p>
          <a:p>
            <a:pPr indent="-330200" lvl="0" marL="457200" rtl="0" algn="l">
              <a:spcBef>
                <a:spcPts val="0"/>
              </a:spcBef>
              <a:spcAft>
                <a:spcPts val="0"/>
              </a:spcAft>
              <a:buSzPts val="1600"/>
              <a:buChar char="●"/>
            </a:pPr>
            <a:r>
              <a:rPr lang="en" sz="1600"/>
              <a:t>Clean OS and application images available</a:t>
            </a:r>
            <a:endParaRPr sz="1600"/>
          </a:p>
          <a:p>
            <a:pPr indent="-330200" lvl="0" marL="457200" rtl="0" algn="l">
              <a:spcBef>
                <a:spcPts val="0"/>
              </a:spcBef>
              <a:spcAft>
                <a:spcPts val="0"/>
              </a:spcAft>
              <a:buSzPts val="1600"/>
              <a:buChar char="●"/>
            </a:pPr>
            <a:r>
              <a:rPr lang="en" sz="1600"/>
              <a:t>How to handle hardware and software</a:t>
            </a:r>
            <a:endParaRPr sz="1600"/>
          </a:p>
          <a:p>
            <a:pPr indent="-330200" lvl="0" marL="457200" rtl="0" algn="l">
              <a:spcBef>
                <a:spcPts val="0"/>
              </a:spcBef>
              <a:spcAft>
                <a:spcPts val="0"/>
              </a:spcAft>
              <a:buSzPts val="1600"/>
              <a:buChar char="●"/>
            </a:pPr>
            <a:r>
              <a:rPr lang="en" sz="1600"/>
              <a:t>Who is going to monitor and who is going to respond</a:t>
            </a:r>
            <a:endParaRPr sz="1600"/>
          </a:p>
          <a:p>
            <a:pPr indent="-330200" lvl="0" marL="457200" rtl="0" algn="l">
              <a:spcBef>
                <a:spcPts val="0"/>
              </a:spcBef>
              <a:spcAft>
                <a:spcPts val="0"/>
              </a:spcAft>
              <a:buSzPts val="1600"/>
              <a:buChar char="●"/>
            </a:pPr>
            <a:r>
              <a:rPr lang="en" sz="1600"/>
              <a:t>Key stakeholders and their contact info</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1467" name="Google Shape;1467;p20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Playbook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68" name="Google Shape;1468;p20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Phase 1: Prepare</a:t>
            </a:r>
            <a:endParaRPr/>
          </a:p>
        </p:txBody>
      </p:sp>
      <p:pic>
        <p:nvPicPr>
          <p:cNvPr id="1469" name="Google Shape;1469;p205"/>
          <p:cNvPicPr preferRelativeResize="0"/>
          <p:nvPr/>
        </p:nvPicPr>
        <p:blipFill>
          <a:blip r:embed="rId3">
            <a:alphaModFix/>
          </a:blip>
          <a:stretch>
            <a:fillRect/>
          </a:stretch>
        </p:blipFill>
        <p:spPr>
          <a:xfrm>
            <a:off x="206772" y="274356"/>
            <a:ext cx="500856" cy="365700"/>
          </a:xfrm>
          <a:prstGeom prst="rect">
            <a:avLst/>
          </a:prstGeom>
          <a:noFill/>
          <a:ln>
            <a:noFill/>
          </a:ln>
        </p:spPr>
      </p:pic>
      <p:pic>
        <p:nvPicPr>
          <p:cNvPr id="1470" name="Google Shape;1470;p205"/>
          <p:cNvPicPr preferRelativeResize="0"/>
          <p:nvPr/>
        </p:nvPicPr>
        <p:blipFill rotWithShape="1">
          <a:blip r:embed="rId4">
            <a:alphaModFix/>
          </a:blip>
          <a:srcRect b="0" l="17024" r="15040" t="0"/>
          <a:stretch/>
        </p:blipFill>
        <p:spPr>
          <a:xfrm>
            <a:off x="457200" y="1503175"/>
            <a:ext cx="2539998" cy="2947801"/>
          </a:xfrm>
          <a:prstGeom prst="rect">
            <a:avLst/>
          </a:prstGeom>
          <a:noFill/>
          <a:ln>
            <a:noFill/>
          </a:ln>
        </p:spPr>
      </p:pic>
      <p:cxnSp>
        <p:nvCxnSpPr>
          <p:cNvPr id="1471" name="Google Shape;1471;p205"/>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206"/>
          <p:cNvSpPr txBox="1"/>
          <p:nvPr>
            <p:ph idx="2" type="body"/>
          </p:nvPr>
        </p:nvSpPr>
        <p:spPr>
          <a:xfrm>
            <a:off x="3499175" y="975250"/>
            <a:ext cx="5133600" cy="3609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600"/>
              <a:t>Validate, identify, and prioritize the issue. </a:t>
            </a:r>
            <a:br>
              <a:rPr lang="en" sz="1600"/>
            </a:br>
            <a:r>
              <a:rPr lang="en" sz="1600"/>
              <a:t>The </a:t>
            </a:r>
            <a:r>
              <a:rPr b="1" lang="en" sz="1600"/>
              <a:t>detect and analyze phase</a:t>
            </a:r>
            <a:r>
              <a:rPr lang="en" sz="1600"/>
              <a:t> often includes determining and completing the following:</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System logs and IDS/IPS system alerts</a:t>
            </a:r>
            <a:endParaRPr sz="1600"/>
          </a:p>
          <a:p>
            <a:pPr indent="-330200" lvl="0" marL="457200" rtl="0" algn="l">
              <a:spcBef>
                <a:spcPts val="0"/>
              </a:spcBef>
              <a:spcAft>
                <a:spcPts val="0"/>
              </a:spcAft>
              <a:buSzPts val="1600"/>
              <a:buChar char="●"/>
            </a:pPr>
            <a:r>
              <a:rPr lang="en" sz="1600"/>
              <a:t>Anti-virus software alerts</a:t>
            </a:r>
            <a:endParaRPr sz="1600"/>
          </a:p>
          <a:p>
            <a:pPr indent="-330200" lvl="0" marL="457200" rtl="0" algn="l">
              <a:spcBef>
                <a:spcPts val="0"/>
              </a:spcBef>
              <a:spcAft>
                <a:spcPts val="0"/>
              </a:spcAft>
              <a:buSzPts val="1600"/>
              <a:buChar char="●"/>
            </a:pPr>
            <a:r>
              <a:rPr lang="en" sz="1600"/>
              <a:t>Host-based monitor detecting configuration change</a:t>
            </a:r>
            <a:endParaRPr sz="1600"/>
          </a:p>
          <a:p>
            <a:pPr indent="-330200" lvl="0" marL="457200" rtl="0" algn="l">
              <a:spcBef>
                <a:spcPts val="0"/>
              </a:spcBef>
              <a:spcAft>
                <a:spcPts val="0"/>
              </a:spcAft>
              <a:buSzPts val="1600"/>
              <a:buChar char="●"/>
            </a:pPr>
            <a:r>
              <a:rPr lang="en" sz="1600"/>
              <a:t>Network traffic anomalies</a:t>
            </a:r>
            <a:endParaRPr sz="1600"/>
          </a:p>
          <a:p>
            <a:pPr indent="-330200" lvl="0" marL="457200" rtl="0" algn="l">
              <a:spcBef>
                <a:spcPts val="0"/>
              </a:spcBef>
              <a:spcAft>
                <a:spcPts val="0"/>
              </a:spcAft>
              <a:buSzPts val="1600"/>
              <a:buChar char="●"/>
            </a:pPr>
            <a:r>
              <a:rPr lang="en" sz="1600"/>
              <a:t>Characteristics and indicators of a threat</a:t>
            </a:r>
            <a:endParaRPr sz="1600"/>
          </a:p>
          <a:p>
            <a:pPr indent="-330200" lvl="0" marL="457200" rtl="0" algn="l">
              <a:spcBef>
                <a:spcPts val="0"/>
              </a:spcBef>
              <a:spcAft>
                <a:spcPts val="0"/>
              </a:spcAft>
              <a:buSzPts val="1600"/>
              <a:buChar char="●"/>
            </a:pPr>
            <a:r>
              <a:rPr lang="en" sz="1600"/>
              <a:t>Business impact</a:t>
            </a:r>
            <a:endParaRPr sz="1600"/>
          </a:p>
          <a:p>
            <a:pPr indent="-330200" lvl="0" marL="457200" rtl="0" algn="l">
              <a:spcBef>
                <a:spcPts val="0"/>
              </a:spcBef>
              <a:spcAft>
                <a:spcPts val="0"/>
              </a:spcAft>
              <a:buSzPts val="1600"/>
              <a:buChar char="●"/>
            </a:pPr>
            <a:r>
              <a:rPr lang="en" sz="1600"/>
              <a:t>I</a:t>
            </a:r>
            <a:r>
              <a:rPr lang="en" sz="1600"/>
              <a:t>ncident</a:t>
            </a:r>
            <a:r>
              <a:rPr lang="en" sz="1600"/>
              <a:t> priority</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1477" name="Google Shape;1477;p20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Playbook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78" name="Google Shape;1478;p206"/>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Phase 2: </a:t>
            </a:r>
            <a:r>
              <a:rPr lang="en"/>
              <a:t>Detect and analyze</a:t>
            </a:r>
            <a:endParaRPr/>
          </a:p>
        </p:txBody>
      </p:sp>
      <p:pic>
        <p:nvPicPr>
          <p:cNvPr id="1479" name="Google Shape;1479;p206"/>
          <p:cNvPicPr preferRelativeResize="0"/>
          <p:nvPr/>
        </p:nvPicPr>
        <p:blipFill>
          <a:blip r:embed="rId3">
            <a:alphaModFix/>
          </a:blip>
          <a:stretch>
            <a:fillRect/>
          </a:stretch>
        </p:blipFill>
        <p:spPr>
          <a:xfrm>
            <a:off x="206772" y="274356"/>
            <a:ext cx="500856" cy="365700"/>
          </a:xfrm>
          <a:prstGeom prst="rect">
            <a:avLst/>
          </a:prstGeom>
          <a:noFill/>
          <a:ln>
            <a:noFill/>
          </a:ln>
        </p:spPr>
      </p:pic>
      <p:pic>
        <p:nvPicPr>
          <p:cNvPr id="1480" name="Google Shape;1480;p206"/>
          <p:cNvPicPr preferRelativeResize="0"/>
          <p:nvPr/>
        </p:nvPicPr>
        <p:blipFill>
          <a:blip r:embed="rId4">
            <a:alphaModFix/>
          </a:blip>
          <a:stretch>
            <a:fillRect/>
          </a:stretch>
        </p:blipFill>
        <p:spPr>
          <a:xfrm>
            <a:off x="-239625" y="1544825"/>
            <a:ext cx="3738802" cy="2947789"/>
          </a:xfrm>
          <a:prstGeom prst="rect">
            <a:avLst/>
          </a:prstGeom>
          <a:noFill/>
          <a:ln>
            <a:noFill/>
          </a:ln>
        </p:spPr>
      </p:pic>
      <p:cxnSp>
        <p:nvCxnSpPr>
          <p:cNvPr id="1481" name="Google Shape;1481;p206"/>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207"/>
          <p:cNvSpPr txBox="1"/>
          <p:nvPr>
            <p:ph idx="2" type="body"/>
          </p:nvPr>
        </p:nvSpPr>
        <p:spPr>
          <a:xfrm>
            <a:off x="457200" y="927100"/>
            <a:ext cx="7778100" cy="3657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600"/>
              <a:t>Prevent the issue from worsening by removing and </a:t>
            </a:r>
            <a:br>
              <a:rPr lang="en" sz="1600"/>
            </a:br>
            <a:r>
              <a:rPr lang="en" sz="1600"/>
              <a:t>stopping it while recovering all business capabilities. </a:t>
            </a:r>
            <a:br>
              <a:rPr lang="en" sz="1600"/>
            </a:br>
            <a:r>
              <a:rPr lang="en" sz="1600"/>
              <a:t>The </a:t>
            </a:r>
            <a:r>
              <a:rPr b="1" lang="en" sz="1600"/>
              <a:t>contain</a:t>
            </a:r>
            <a:r>
              <a:rPr lang="en" sz="1600"/>
              <a:t>, </a:t>
            </a:r>
            <a:r>
              <a:rPr b="1" lang="en" sz="1600"/>
              <a:t>eradicate</a:t>
            </a:r>
            <a:r>
              <a:rPr lang="en" sz="1600"/>
              <a:t>,</a:t>
            </a:r>
            <a:r>
              <a:rPr b="1" lang="en" sz="1600"/>
              <a:t> and recover phase</a:t>
            </a:r>
            <a:r>
              <a:rPr lang="en" sz="1600"/>
              <a:t> includes:</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System isolation </a:t>
            </a:r>
            <a:endParaRPr sz="1600"/>
          </a:p>
          <a:p>
            <a:pPr indent="-330200" lvl="0" marL="457200" rtl="0" algn="l">
              <a:spcBef>
                <a:spcPts val="0"/>
              </a:spcBef>
              <a:spcAft>
                <a:spcPts val="0"/>
              </a:spcAft>
              <a:buSzPts val="1600"/>
              <a:buChar char="●"/>
            </a:pPr>
            <a:r>
              <a:rPr lang="en" sz="1600"/>
              <a:t>Disabling breached user accounts</a:t>
            </a:r>
            <a:endParaRPr sz="1600"/>
          </a:p>
          <a:p>
            <a:pPr indent="-330200" lvl="0" marL="457200" rtl="0" algn="l">
              <a:spcBef>
                <a:spcPts val="0"/>
              </a:spcBef>
              <a:spcAft>
                <a:spcPts val="0"/>
              </a:spcAft>
              <a:buSzPts val="1600"/>
              <a:buChar char="●"/>
            </a:pPr>
            <a:r>
              <a:rPr lang="en" sz="1600"/>
              <a:t>Replacing compromised files</a:t>
            </a:r>
            <a:endParaRPr sz="1600"/>
          </a:p>
          <a:p>
            <a:pPr indent="-330200" lvl="0" marL="457200" rtl="0" algn="l">
              <a:spcBef>
                <a:spcPts val="0"/>
              </a:spcBef>
              <a:spcAft>
                <a:spcPts val="0"/>
              </a:spcAft>
              <a:buSzPts val="1600"/>
              <a:buChar char="●"/>
            </a:pPr>
            <a:r>
              <a:rPr lang="en" sz="1600"/>
              <a:t>Determining affected systems</a:t>
            </a:r>
            <a:endParaRPr sz="1600"/>
          </a:p>
          <a:p>
            <a:pPr indent="-330200" lvl="0" marL="457200" rtl="0" algn="l">
              <a:spcBef>
                <a:spcPts val="0"/>
              </a:spcBef>
              <a:spcAft>
                <a:spcPts val="0"/>
              </a:spcAft>
              <a:buSzPts val="1600"/>
              <a:buChar char="●"/>
            </a:pPr>
            <a:r>
              <a:rPr lang="en" sz="1600"/>
              <a:t>Identifying attack tools, methods, and vectors </a:t>
            </a:r>
            <a:endParaRPr sz="1600"/>
          </a:p>
          <a:p>
            <a:pPr indent="-330200" lvl="0" marL="457200" rtl="0" algn="l">
              <a:spcBef>
                <a:spcPts val="0"/>
              </a:spcBef>
              <a:spcAft>
                <a:spcPts val="0"/>
              </a:spcAft>
              <a:buSzPts val="1600"/>
              <a:buChar char="●"/>
            </a:pPr>
            <a:r>
              <a:rPr lang="en" sz="1600"/>
              <a:t>Communicating needed actions with teams</a:t>
            </a:r>
            <a:endParaRPr sz="1600"/>
          </a:p>
          <a:p>
            <a:pPr indent="-330200" lvl="0" marL="457200" rtl="0" algn="l">
              <a:spcBef>
                <a:spcPts val="0"/>
              </a:spcBef>
              <a:spcAft>
                <a:spcPts val="0"/>
              </a:spcAft>
              <a:buSzPts val="1600"/>
              <a:buChar char="●"/>
            </a:pPr>
            <a:r>
              <a:rPr lang="en" sz="1600"/>
              <a:t>Verifying incident has been removed with updated monitoring</a:t>
            </a:r>
            <a:endParaRPr sz="1600"/>
          </a:p>
          <a:p>
            <a:pPr indent="-330200" lvl="0" marL="457200" rtl="0" algn="l">
              <a:spcBef>
                <a:spcPts val="0"/>
              </a:spcBef>
              <a:spcAft>
                <a:spcPts val="0"/>
              </a:spcAft>
              <a:buSzPts val="1600"/>
              <a:buChar char="●"/>
            </a:pPr>
            <a:r>
              <a:rPr lang="en" sz="1600"/>
              <a:t>Recovering affected systems or restoring from backup</a:t>
            </a:r>
            <a:endParaRPr sz="1600"/>
          </a:p>
          <a:p>
            <a:pPr indent="-330200" lvl="0" marL="457200" rtl="0" algn="l">
              <a:spcBef>
                <a:spcPts val="0"/>
              </a:spcBef>
              <a:spcAft>
                <a:spcPts val="0"/>
              </a:spcAft>
              <a:buSzPts val="1600"/>
              <a:buChar char="●"/>
            </a:pPr>
            <a:r>
              <a:rPr lang="en" sz="1600"/>
              <a:t>Determining steps that should be taken on affected servers or systems</a:t>
            </a:r>
            <a:endParaRPr sz="1600"/>
          </a:p>
          <a:p>
            <a:pPr indent="-330200" lvl="0" marL="457200" rtl="0" algn="l">
              <a:spcBef>
                <a:spcPts val="0"/>
              </a:spcBef>
              <a:spcAft>
                <a:spcPts val="0"/>
              </a:spcAft>
              <a:buSzPts val="1600"/>
              <a:buChar char="●"/>
            </a:pPr>
            <a:r>
              <a:rPr lang="en" sz="1600"/>
              <a:t>Erasing systems, firewall updates, patches etc.</a:t>
            </a:r>
            <a:endParaRPr sz="1600"/>
          </a:p>
          <a:p>
            <a:pPr indent="0" lvl="0" marL="457200" rtl="0" algn="l">
              <a:spcBef>
                <a:spcPts val="0"/>
              </a:spcBef>
              <a:spcAft>
                <a:spcPts val="0"/>
              </a:spcAft>
              <a:buNone/>
            </a:pPr>
            <a:r>
              <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1487" name="Google Shape;1487;p20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Playbook</a:t>
            </a:r>
            <a:endParaRPr/>
          </a:p>
        </p:txBody>
      </p:sp>
      <p:sp>
        <p:nvSpPr>
          <p:cNvPr id="1488" name="Google Shape;1488;p207"/>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Phase 3: </a:t>
            </a:r>
            <a:r>
              <a:rPr lang="en"/>
              <a:t>Contain, eradicate, and recover</a:t>
            </a:r>
            <a:endParaRPr/>
          </a:p>
        </p:txBody>
      </p:sp>
      <p:pic>
        <p:nvPicPr>
          <p:cNvPr id="1489" name="Google Shape;1489;p207"/>
          <p:cNvPicPr preferRelativeResize="0"/>
          <p:nvPr/>
        </p:nvPicPr>
        <p:blipFill>
          <a:blip r:embed="rId3">
            <a:alphaModFix/>
          </a:blip>
          <a:stretch>
            <a:fillRect/>
          </a:stretch>
        </p:blipFill>
        <p:spPr>
          <a:xfrm>
            <a:off x="206772" y="274356"/>
            <a:ext cx="500856" cy="365700"/>
          </a:xfrm>
          <a:prstGeom prst="rect">
            <a:avLst/>
          </a:prstGeom>
          <a:noFill/>
          <a:ln>
            <a:noFill/>
          </a:ln>
        </p:spPr>
      </p:pic>
      <p:pic>
        <p:nvPicPr>
          <p:cNvPr id="1490" name="Google Shape;1490;p207"/>
          <p:cNvPicPr preferRelativeResize="0"/>
          <p:nvPr/>
        </p:nvPicPr>
        <p:blipFill>
          <a:blip r:embed="rId4">
            <a:alphaModFix/>
          </a:blip>
          <a:stretch>
            <a:fillRect/>
          </a:stretch>
        </p:blipFill>
        <p:spPr>
          <a:xfrm>
            <a:off x="5198300" y="868900"/>
            <a:ext cx="3594776" cy="2834201"/>
          </a:xfrm>
          <a:prstGeom prst="rect">
            <a:avLst/>
          </a:prstGeom>
          <a:noFill/>
          <a:ln>
            <a:noFill/>
          </a:ln>
        </p:spPr>
      </p:pic>
      <p:cxnSp>
        <p:nvCxnSpPr>
          <p:cNvPr id="1491" name="Google Shape;1491;p207"/>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20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Incident Response Playbook</a:t>
            </a:r>
            <a:endParaRPr/>
          </a:p>
        </p:txBody>
      </p:sp>
      <p:sp>
        <p:nvSpPr>
          <p:cNvPr id="1497" name="Google Shape;1497;p20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Phase 4: Post incident</a:t>
            </a:r>
            <a:endParaRPr/>
          </a:p>
        </p:txBody>
      </p:sp>
      <p:pic>
        <p:nvPicPr>
          <p:cNvPr id="1498" name="Google Shape;1498;p208"/>
          <p:cNvPicPr preferRelativeResize="0"/>
          <p:nvPr/>
        </p:nvPicPr>
        <p:blipFill>
          <a:blip r:embed="rId3">
            <a:alphaModFix/>
          </a:blip>
          <a:stretch>
            <a:fillRect/>
          </a:stretch>
        </p:blipFill>
        <p:spPr>
          <a:xfrm>
            <a:off x="206772" y="274356"/>
            <a:ext cx="500856" cy="365700"/>
          </a:xfrm>
          <a:prstGeom prst="rect">
            <a:avLst/>
          </a:prstGeom>
          <a:noFill/>
          <a:ln>
            <a:noFill/>
          </a:ln>
        </p:spPr>
      </p:pic>
      <p:sp>
        <p:nvSpPr>
          <p:cNvPr id="1499" name="Google Shape;1499;p208"/>
          <p:cNvSpPr txBox="1"/>
          <p:nvPr>
            <p:ph idx="2" type="body"/>
          </p:nvPr>
        </p:nvSpPr>
        <p:spPr>
          <a:xfrm>
            <a:off x="914400" y="1079500"/>
            <a:ext cx="5029200" cy="3657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600"/>
              <a:t>Understand the specifics of what caused the issue, and how to improve on future responses and mitigate future issues. The </a:t>
            </a:r>
            <a:r>
              <a:rPr b="1" lang="en" sz="1600"/>
              <a:t>post incident phase </a:t>
            </a:r>
            <a:r>
              <a:rPr lang="en" sz="1600"/>
              <a:t>includes:</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Learning and improving</a:t>
            </a:r>
            <a:endParaRPr sz="1600"/>
          </a:p>
          <a:p>
            <a:pPr indent="-330200" lvl="0" marL="457200" rtl="0" algn="l">
              <a:spcBef>
                <a:spcPts val="0"/>
              </a:spcBef>
              <a:spcAft>
                <a:spcPts val="0"/>
              </a:spcAft>
              <a:buSzPts val="1600"/>
              <a:buChar char="●"/>
            </a:pPr>
            <a:r>
              <a:rPr lang="en" sz="1600"/>
              <a:t>Holding post-incident meeting</a:t>
            </a:r>
            <a:endParaRPr sz="1600"/>
          </a:p>
          <a:p>
            <a:pPr indent="-330200" lvl="0" marL="457200" rtl="0" algn="l">
              <a:spcBef>
                <a:spcPts val="0"/>
              </a:spcBef>
              <a:spcAft>
                <a:spcPts val="0"/>
              </a:spcAft>
              <a:buSzPts val="1600"/>
              <a:buChar char="●"/>
            </a:pPr>
            <a:r>
              <a:rPr lang="en" sz="1600"/>
              <a:t>Reviewing detailed </a:t>
            </a:r>
            <a:r>
              <a:rPr lang="en" sz="1600"/>
              <a:t>timestamp</a:t>
            </a:r>
            <a:r>
              <a:rPr lang="en" sz="1600"/>
              <a:t> of events</a:t>
            </a:r>
            <a:endParaRPr sz="1600"/>
          </a:p>
          <a:p>
            <a:pPr indent="-330200" lvl="0" marL="457200" rtl="0" algn="l">
              <a:spcBef>
                <a:spcPts val="0"/>
              </a:spcBef>
              <a:spcAft>
                <a:spcPts val="0"/>
              </a:spcAft>
              <a:buSzPts val="1600"/>
              <a:buChar char="●"/>
            </a:pPr>
            <a:r>
              <a:rPr lang="en" sz="1600"/>
              <a:t>Re-evaluating incident response plan</a:t>
            </a:r>
            <a:endParaRPr sz="1600"/>
          </a:p>
          <a:p>
            <a:pPr indent="-330200" lvl="0" marL="457200" rtl="0" algn="l">
              <a:spcBef>
                <a:spcPts val="0"/>
              </a:spcBef>
              <a:spcAft>
                <a:spcPts val="0"/>
              </a:spcAft>
              <a:buSzPts val="1600"/>
              <a:buChar char="●"/>
            </a:pPr>
            <a:r>
              <a:rPr lang="en" sz="1600"/>
              <a:t>Updating system alerts to </a:t>
            </a:r>
            <a:r>
              <a:rPr lang="en" sz="1600"/>
              <a:t>ensure</a:t>
            </a:r>
            <a:r>
              <a:rPr lang="en" sz="1600"/>
              <a:t> better accuracy</a:t>
            </a:r>
            <a:endParaRPr sz="1600"/>
          </a:p>
          <a:p>
            <a:pPr indent="-330200" lvl="0" marL="457200" rtl="0" algn="l">
              <a:spcBef>
                <a:spcPts val="0"/>
              </a:spcBef>
              <a:spcAft>
                <a:spcPts val="0"/>
              </a:spcAft>
              <a:buSzPts val="1600"/>
              <a:buChar char="●"/>
            </a:pPr>
            <a:r>
              <a:rPr lang="en" sz="1600"/>
              <a:t>Reviewing changes applied</a:t>
            </a:r>
            <a:endParaRPr sz="1600"/>
          </a:p>
          <a:p>
            <a:pPr indent="-330200" lvl="0" marL="457200" rtl="0" algn="l">
              <a:spcBef>
                <a:spcPts val="0"/>
              </a:spcBef>
              <a:spcAft>
                <a:spcPts val="0"/>
              </a:spcAft>
              <a:buSzPts val="1600"/>
              <a:buChar char="●"/>
            </a:pPr>
            <a:r>
              <a:rPr lang="en" sz="1600"/>
              <a:t>Updating response workflow</a:t>
            </a:r>
            <a:endParaRPr sz="1600"/>
          </a:p>
          <a:p>
            <a:pPr indent="-330200" lvl="0" marL="457200" rtl="0" algn="l">
              <a:spcBef>
                <a:spcPts val="0"/>
              </a:spcBef>
              <a:spcAft>
                <a:spcPts val="0"/>
              </a:spcAft>
              <a:buSzPts val="1600"/>
              <a:buChar char="●"/>
            </a:pPr>
            <a:r>
              <a:rPr lang="en" sz="1600"/>
              <a:t>Documenting and reporting</a:t>
            </a:r>
            <a:endParaRPr sz="1600"/>
          </a:p>
          <a:p>
            <a:pPr indent="0" lvl="0" marL="0" rtl="0" algn="l">
              <a:spcBef>
                <a:spcPts val="0"/>
              </a:spcBef>
              <a:spcAft>
                <a:spcPts val="0"/>
              </a:spcAft>
              <a:buNone/>
            </a:pPr>
            <a:r>
              <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pic>
        <p:nvPicPr>
          <p:cNvPr id="1500" name="Google Shape;1500;p208"/>
          <p:cNvPicPr preferRelativeResize="0"/>
          <p:nvPr/>
        </p:nvPicPr>
        <p:blipFill rotWithShape="1">
          <a:blip r:embed="rId4">
            <a:alphaModFix/>
          </a:blip>
          <a:srcRect b="0" l="15761" r="16007" t="0"/>
          <a:stretch/>
        </p:blipFill>
        <p:spPr>
          <a:xfrm>
            <a:off x="5943600" y="1482575"/>
            <a:ext cx="2487398" cy="2874276"/>
          </a:xfrm>
          <a:prstGeom prst="rect">
            <a:avLst/>
          </a:prstGeom>
          <a:noFill/>
          <a:ln>
            <a:noFill/>
          </a:ln>
        </p:spPr>
      </p:pic>
      <p:cxnSp>
        <p:nvCxnSpPr>
          <p:cNvPr id="1501" name="Google Shape;1501;p208"/>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210"/>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 Responding to a Malware Incident</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rPr b="0" lang="en" sz="3800">
                <a:solidFill>
                  <a:schemeClr val="accent5"/>
                </a:solidFill>
                <a:latin typeface="Roboto"/>
                <a:ea typeface="Roboto"/>
                <a:cs typeface="Roboto"/>
                <a:sym typeface="Roboto"/>
              </a:rPr>
              <a:t>With</a:t>
            </a:r>
            <a:r>
              <a:rPr lang="en" sz="3800">
                <a:solidFill>
                  <a:schemeClr val="accent5"/>
                </a:solidFill>
                <a:latin typeface="Roboto"/>
                <a:ea typeface="Roboto"/>
                <a:cs typeface="Roboto"/>
                <a:sym typeface="Roboto"/>
              </a:rPr>
              <a:t> ANY.RUN</a:t>
            </a:r>
            <a:endParaRPr b="0" sz="3800">
              <a:solidFill>
                <a:schemeClr val="accent5"/>
              </a:solidFill>
              <a:latin typeface="Roboto"/>
              <a:ea typeface="Roboto"/>
              <a:cs typeface="Roboto"/>
              <a:sym typeface="Roboto"/>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511" name="Google Shape;1511;p210"/>
          <p:cNvPicPr preferRelativeResize="0"/>
          <p:nvPr/>
        </p:nvPicPr>
        <p:blipFill>
          <a:blip r:embed="rId3">
            <a:alphaModFix/>
          </a:blip>
          <a:stretch>
            <a:fillRect/>
          </a:stretch>
        </p:blipFill>
        <p:spPr>
          <a:xfrm>
            <a:off x="3904625" y="1588250"/>
            <a:ext cx="1217200" cy="10406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11"/>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Responding to a Malware Incident</a:t>
            </a:r>
            <a:endParaRPr/>
          </a:p>
        </p:txBody>
      </p:sp>
      <p:sp>
        <p:nvSpPr>
          <p:cNvPr id="1517" name="Google Shape;1517;p211"/>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Many organizations are </a:t>
            </a:r>
            <a:r>
              <a:rPr lang="en"/>
              <a:t>concerned</a:t>
            </a:r>
            <a:r>
              <a:rPr lang="en"/>
              <a:t> with malware </a:t>
            </a:r>
            <a:r>
              <a:rPr lang="en"/>
              <a:t>infections</a:t>
            </a:r>
            <a:endParaRPr/>
          </a:p>
        </p:txBody>
      </p:sp>
      <p:sp>
        <p:nvSpPr>
          <p:cNvPr id="1518" name="Google Shape;1518;p211"/>
          <p:cNvSpPr txBox="1"/>
          <p:nvPr>
            <p:ph idx="2" type="body"/>
          </p:nvPr>
        </p:nvSpPr>
        <p:spPr>
          <a:xfrm>
            <a:off x="457200" y="1063525"/>
            <a:ext cx="42714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700"/>
              <a:t>If</a:t>
            </a:r>
            <a:r>
              <a:rPr lang="en" sz="1700"/>
              <a:t> a hospital were infected by </a:t>
            </a:r>
            <a:r>
              <a:rPr b="1" lang="en" sz="1700"/>
              <a:t>ransomware</a:t>
            </a:r>
            <a:r>
              <a:rPr lang="en" sz="1700"/>
              <a:t>, </a:t>
            </a:r>
            <a:br>
              <a:rPr lang="en" sz="1700"/>
            </a:br>
            <a:r>
              <a:rPr lang="en" sz="1700"/>
              <a:t>it may be </a:t>
            </a:r>
            <a:r>
              <a:rPr lang="en" sz="1700"/>
              <a:t>unable</a:t>
            </a:r>
            <a:r>
              <a:rPr lang="en" sz="1700"/>
              <a:t> to access medical data, which could affect the health of its patients.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Organizations are often challenged with how to respond to incidents when malware has potentially infected their network. Common questions they should ask include:</a:t>
            </a:r>
            <a:endParaRPr sz="1700"/>
          </a:p>
          <a:p>
            <a:pPr indent="-336550" lvl="0" marL="457200" rtl="0" algn="l">
              <a:spcBef>
                <a:spcPts val="0"/>
              </a:spcBef>
              <a:spcAft>
                <a:spcPts val="0"/>
              </a:spcAft>
              <a:buSzPts val="1700"/>
              <a:buChar char="●"/>
            </a:pPr>
            <a:r>
              <a:rPr lang="en" sz="1700"/>
              <a:t>How and when was the user or machine infected?</a:t>
            </a:r>
            <a:endParaRPr sz="1700"/>
          </a:p>
          <a:p>
            <a:pPr indent="-336550" lvl="0" marL="457200" rtl="0" algn="l">
              <a:spcBef>
                <a:spcPts val="0"/>
              </a:spcBef>
              <a:spcAft>
                <a:spcPts val="0"/>
              </a:spcAft>
              <a:buSzPts val="1700"/>
              <a:buChar char="●"/>
            </a:pPr>
            <a:r>
              <a:rPr lang="en" sz="1700"/>
              <a:t>Were any other users or machines infected?</a:t>
            </a:r>
            <a:endParaRPr sz="1700"/>
          </a:p>
          <a:p>
            <a:pPr indent="-336550" lvl="0" marL="457200" rtl="0" algn="l">
              <a:spcBef>
                <a:spcPts val="0"/>
              </a:spcBef>
              <a:spcAft>
                <a:spcPts val="0"/>
              </a:spcAft>
              <a:buSzPts val="1700"/>
              <a:buChar char="●"/>
            </a:pPr>
            <a:r>
              <a:rPr lang="en" sz="1700"/>
              <a:t>What was the impact of the malware?</a:t>
            </a:r>
            <a:endParaRPr sz="1700"/>
          </a:p>
          <a:p>
            <a:pPr indent="0" lvl="0" marL="457200" rtl="0" algn="l">
              <a:spcBef>
                <a:spcPts val="0"/>
              </a:spcBef>
              <a:spcAft>
                <a:spcPts val="0"/>
              </a:spcAft>
              <a:buNone/>
            </a:pPr>
            <a:r>
              <a:t/>
            </a:r>
            <a:endParaRPr sz="1700"/>
          </a:p>
        </p:txBody>
      </p:sp>
      <p:pic>
        <p:nvPicPr>
          <p:cNvPr id="1519" name="Google Shape;1519;p211"/>
          <p:cNvPicPr preferRelativeResize="0"/>
          <p:nvPr/>
        </p:nvPicPr>
        <p:blipFill rotWithShape="1">
          <a:blip r:embed="rId3">
            <a:alphaModFix/>
          </a:blip>
          <a:srcRect b="0" l="6778" r="5976" t="0"/>
          <a:stretch/>
        </p:blipFill>
        <p:spPr>
          <a:xfrm>
            <a:off x="5029200" y="1705119"/>
            <a:ext cx="3738598" cy="2856112"/>
          </a:xfrm>
          <a:prstGeom prst="rect">
            <a:avLst/>
          </a:prstGeom>
          <a:noFill/>
          <a:ln>
            <a:noFill/>
          </a:ln>
        </p:spPr>
      </p:pic>
      <p:pic>
        <p:nvPicPr>
          <p:cNvPr id="1520" name="Google Shape;1520;p211"/>
          <p:cNvPicPr preferRelativeResize="0"/>
          <p:nvPr/>
        </p:nvPicPr>
        <p:blipFill>
          <a:blip r:embed="rId4">
            <a:alphaModFix/>
          </a:blip>
          <a:stretch>
            <a:fillRect/>
          </a:stretch>
        </p:blipFill>
        <p:spPr>
          <a:xfrm>
            <a:off x="215228" y="272503"/>
            <a:ext cx="477875" cy="408550"/>
          </a:xfrm>
          <a:prstGeom prst="rect">
            <a:avLst/>
          </a:prstGeom>
          <a:noFill/>
          <a:ln>
            <a:noFill/>
          </a:ln>
        </p:spPr>
      </p:pic>
      <p:cxnSp>
        <p:nvCxnSpPr>
          <p:cNvPr id="1521" name="Google Shape;1521;p211"/>
          <p:cNvCxnSpPr/>
          <p:nvPr/>
        </p:nvCxnSpPr>
        <p:spPr>
          <a:xfrm>
            <a:off x="-9375" y="9271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212"/>
          <p:cNvSpPr txBox="1"/>
          <p:nvPr>
            <p:ph type="title"/>
          </p:nvPr>
        </p:nvSpPr>
        <p:spPr>
          <a:xfrm>
            <a:off x="4976200" y="1329825"/>
            <a:ext cx="3649200" cy="393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Dynamic Malware Analysis Tools</a:t>
            </a:r>
            <a:endParaRPr>
              <a:latin typeface="Roboto Medium"/>
              <a:ea typeface="Roboto Medium"/>
              <a:cs typeface="Roboto Medium"/>
              <a:sym typeface="Roboto Medium"/>
            </a:endParaRPr>
          </a:p>
        </p:txBody>
      </p:sp>
      <p:sp>
        <p:nvSpPr>
          <p:cNvPr id="1527" name="Google Shape;1527;p212"/>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Roboto"/>
                <a:ea typeface="Roboto"/>
                <a:cs typeface="Roboto"/>
                <a:sym typeface="Roboto"/>
              </a:rPr>
              <a:t>Analysis of raw source code.</a:t>
            </a:r>
            <a:r>
              <a:rPr lang="en" sz="1800">
                <a:latin typeface="Roboto"/>
                <a:ea typeface="Roboto"/>
                <a:cs typeface="Roboto"/>
                <a:sym typeface="Roboto"/>
              </a:rPr>
              <a:t>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rPr lang="en" sz="1800">
                <a:latin typeface="Roboto"/>
                <a:ea typeface="Roboto"/>
                <a:cs typeface="Roboto"/>
                <a:sym typeface="Roboto"/>
              </a:rPr>
              <a:t>Look for things like IP addresses (reveal C2 servers), ports, processes</a:t>
            </a:r>
            <a:endParaRPr sz="1800">
              <a:latin typeface="Roboto"/>
              <a:ea typeface="Roboto"/>
              <a:cs typeface="Roboto"/>
              <a:sym typeface="Roboto"/>
            </a:endParaRPr>
          </a:p>
        </p:txBody>
      </p:sp>
      <p:sp>
        <p:nvSpPr>
          <p:cNvPr id="1528" name="Google Shape;1528;p212"/>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Analysis of what the malware does when it runs.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Look for things like Wireshark captures to identify "phoning home" (communication with C2 servers), suspicious changes to the file system or registry, etc.</a:t>
            </a:r>
            <a:endParaRPr/>
          </a:p>
        </p:txBody>
      </p:sp>
      <p:sp>
        <p:nvSpPr>
          <p:cNvPr id="1529" name="Google Shape;1529;p212"/>
          <p:cNvSpPr txBox="1"/>
          <p:nvPr>
            <p:ph idx="4" type="title"/>
          </p:nvPr>
        </p:nvSpPr>
        <p:spPr>
          <a:xfrm>
            <a:off x="96212" y="127400"/>
            <a:ext cx="90477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Responding to a Malware Incident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30" name="Google Shape;1530;p212"/>
          <p:cNvSpPr txBox="1"/>
          <p:nvPr>
            <p:ph idx="5" type="title"/>
          </p:nvPr>
        </p:nvSpPr>
        <p:spPr>
          <a:xfrm>
            <a:off x="90225" y="554850"/>
            <a:ext cx="793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R</a:t>
            </a:r>
            <a:r>
              <a:rPr lang="en" sz="1800">
                <a:latin typeface="Roboto"/>
                <a:ea typeface="Roboto"/>
                <a:cs typeface="Roboto"/>
                <a:sym typeface="Roboto"/>
              </a:rPr>
              <a:t>unning live malware is inherently dangerous, so analysts need to use special environments.</a:t>
            </a:r>
            <a:endParaRPr sz="1800">
              <a:latin typeface="Roboto"/>
              <a:ea typeface="Roboto"/>
              <a:cs typeface="Roboto"/>
              <a:sym typeface="Roboto"/>
            </a:endParaRPr>
          </a:p>
        </p:txBody>
      </p:sp>
      <p:sp>
        <p:nvSpPr>
          <p:cNvPr id="1531" name="Google Shape;1531;p212"/>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Static Malware Analysis Tools</a:t>
            </a:r>
            <a:endParaRPr>
              <a:latin typeface="Roboto Medium"/>
              <a:ea typeface="Roboto Medium"/>
              <a:cs typeface="Roboto Medium"/>
              <a:sym typeface="Roboto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213"/>
          <p:cNvSpPr txBox="1"/>
          <p:nvPr>
            <p:ph idx="1" type="body"/>
          </p:nvPr>
        </p:nvSpPr>
        <p:spPr>
          <a:xfrm>
            <a:off x="3405300" y="1377600"/>
            <a:ext cx="52815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In this lesson, </a:t>
            </a:r>
            <a:r>
              <a:rPr lang="en"/>
              <a:t>we will learn how to use the dynamic malware analysis tool </a:t>
            </a:r>
            <a:r>
              <a:rPr b="1" lang="en"/>
              <a:t>ANY.RUN</a:t>
            </a:r>
            <a:r>
              <a:rPr lang="en"/>
              <a: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21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Responding to a Malware Incident with ANY.RUN</a:t>
            </a:r>
            <a:endParaRPr/>
          </a:p>
        </p:txBody>
      </p:sp>
      <p:sp>
        <p:nvSpPr>
          <p:cNvPr id="1542" name="Google Shape;1542;p21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ANY.RUN is a web-based dynamic malware analysis tool.</a:t>
            </a:r>
            <a:endParaRPr/>
          </a:p>
        </p:txBody>
      </p:sp>
      <p:sp>
        <p:nvSpPr>
          <p:cNvPr id="1543" name="Google Shape;1543;p214"/>
          <p:cNvSpPr txBox="1"/>
          <p:nvPr>
            <p:ph idx="2" type="body"/>
          </p:nvPr>
        </p:nvSpPr>
        <p:spPr>
          <a:xfrm>
            <a:off x="693100" y="1063525"/>
            <a:ext cx="47211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It can provide:</a:t>
            </a:r>
            <a:endParaRPr/>
          </a:p>
          <a:p>
            <a:pPr indent="-342900" lvl="0" marL="457200" rtl="0" algn="l">
              <a:spcBef>
                <a:spcPts val="0"/>
              </a:spcBef>
              <a:spcAft>
                <a:spcPts val="0"/>
              </a:spcAft>
              <a:buSzPts val="1800"/>
              <a:buChar char="●"/>
            </a:pPr>
            <a:r>
              <a:rPr lang="en"/>
              <a:t>An interactive sandbox where a security engineer can view how the malware responds to different scenarios.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Insights into how the organization may </a:t>
            </a:r>
            <a:br>
              <a:rPr lang="en"/>
            </a:br>
            <a:r>
              <a:rPr lang="en"/>
              <a:t>or may not be impacted.</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Network details showing how the malware communicates by identifying </a:t>
            </a:r>
            <a:br>
              <a:rPr lang="en"/>
            </a:br>
            <a:r>
              <a:rPr lang="en"/>
              <a:t>IP addresses and suspicious domains.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1544" name="Google Shape;1544;p214"/>
          <p:cNvPicPr preferRelativeResize="0"/>
          <p:nvPr/>
        </p:nvPicPr>
        <p:blipFill>
          <a:blip r:embed="rId3">
            <a:alphaModFix/>
          </a:blip>
          <a:stretch>
            <a:fillRect/>
          </a:stretch>
        </p:blipFill>
        <p:spPr>
          <a:xfrm>
            <a:off x="5813125" y="1408200"/>
            <a:ext cx="2879375" cy="3268675"/>
          </a:xfrm>
          <a:prstGeom prst="rect">
            <a:avLst/>
          </a:prstGeom>
          <a:noFill/>
          <a:ln>
            <a:noFill/>
          </a:ln>
        </p:spPr>
      </p:pic>
      <p:pic>
        <p:nvPicPr>
          <p:cNvPr id="1545" name="Google Shape;1545;p214"/>
          <p:cNvPicPr preferRelativeResize="0"/>
          <p:nvPr/>
        </p:nvPicPr>
        <p:blipFill>
          <a:blip r:embed="rId4">
            <a:alphaModFix/>
          </a:blip>
          <a:stretch>
            <a:fillRect/>
          </a:stretch>
        </p:blipFill>
        <p:spPr>
          <a:xfrm>
            <a:off x="215228" y="272503"/>
            <a:ext cx="477875" cy="4085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49" name="Shape 1549"/>
        <p:cNvGrpSpPr/>
        <p:nvPr/>
      </p:nvGrpSpPr>
      <p:grpSpPr>
        <a:xfrm>
          <a:off x="0" y="0"/>
          <a:ext cx="0" cy="0"/>
          <a:chOff x="0" y="0"/>
          <a:chExt cx="0" cy="0"/>
        </a:xfrm>
      </p:grpSpPr>
      <p:sp>
        <p:nvSpPr>
          <p:cNvPr id="1550" name="Google Shape;1550;p215"/>
          <p:cNvSpPr txBox="1"/>
          <p:nvPr>
            <p:ph idx="1" type="body"/>
          </p:nvPr>
        </p:nvSpPr>
        <p:spPr>
          <a:xfrm>
            <a:off x="5006700" y="1061875"/>
            <a:ext cx="37026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We will use the ANY.RUN tool to analyze the Adylkuzz malware.</a:t>
            </a:r>
            <a:endParaRPr/>
          </a:p>
          <a:p>
            <a:pPr indent="0" lvl="0" marL="0" rtl="0" algn="l">
              <a:spcBef>
                <a:spcPts val="0"/>
              </a:spcBef>
              <a:spcAft>
                <a:spcPts val="0"/>
              </a:spcAft>
              <a:buNone/>
            </a:pPr>
            <a:r>
              <a:t/>
            </a:r>
            <a:endParaRPr/>
          </a:p>
          <a:p>
            <a:pPr indent="-342900" lvl="0" marL="457200" rtl="0" algn="l">
              <a:spcBef>
                <a:spcPts val="0"/>
              </a:spcBef>
              <a:spcAft>
                <a:spcPts val="1000"/>
              </a:spcAft>
              <a:buSzPts val="1800"/>
              <a:buChar char="●"/>
            </a:pPr>
            <a:r>
              <a:rPr lang="en"/>
              <a:t>Adylkuzz is a cryptcurrency mining malware that hides in the background and uses a computer's resources to mine the digital currency Monero.</a:t>
            </a:r>
            <a:endParaRPr/>
          </a:p>
        </p:txBody>
      </p:sp>
      <p:sp>
        <p:nvSpPr>
          <p:cNvPr id="1551" name="Google Shape;1551;p215"/>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 Scenario</a:t>
            </a:r>
            <a:endParaRPr b="1" sz="2600">
              <a:solidFill>
                <a:schemeClr val="accent5"/>
              </a:solidFill>
              <a:latin typeface="Roboto"/>
              <a:ea typeface="Roboto"/>
              <a:cs typeface="Roboto"/>
              <a:sym typeface="Roboto"/>
            </a:endParaRPr>
          </a:p>
        </p:txBody>
      </p:sp>
      <p:sp>
        <p:nvSpPr>
          <p:cNvPr id="1552" name="Google Shape;1552;p215"/>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15"/>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554" name="Google Shape;1554;p215"/>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555" name="Google Shape;1555;p215"/>
          <p:cNvPicPr preferRelativeResize="0"/>
          <p:nvPr/>
        </p:nvPicPr>
        <p:blipFill>
          <a:blip r:embed="rId4">
            <a:alphaModFix/>
          </a:blip>
          <a:stretch>
            <a:fillRect/>
          </a:stretch>
        </p:blipFill>
        <p:spPr>
          <a:xfrm>
            <a:off x="222825" y="1371600"/>
            <a:ext cx="4701900" cy="3011920"/>
          </a:xfrm>
          <a:prstGeom prst="rect">
            <a:avLst/>
          </a:prstGeom>
          <a:noFill/>
          <a:ln>
            <a:noFill/>
          </a:ln>
        </p:spPr>
      </p:pic>
      <p:cxnSp>
        <p:nvCxnSpPr>
          <p:cNvPr id="1556" name="Google Shape;1556;p215"/>
          <p:cNvCxnSpPr/>
          <p:nvPr/>
        </p:nvCxnSpPr>
        <p:spPr>
          <a:xfrm>
            <a:off x="-9375" y="850900"/>
            <a:ext cx="7346700" cy="0"/>
          </a:xfrm>
          <a:prstGeom prst="straightConnector1">
            <a:avLst/>
          </a:prstGeom>
          <a:noFill/>
          <a:ln cap="flat" cmpd="sng" w="19050">
            <a:solidFill>
              <a:schemeClr val="dk2"/>
            </a:solidFill>
            <a:prstDash val="solid"/>
            <a:round/>
            <a:headEnd len="sm" w="sm" type="none"/>
            <a:tailEnd len="med" w="med" type="oval"/>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216"/>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3100">
                <a:latin typeface="Roboto"/>
                <a:ea typeface="Roboto"/>
                <a:cs typeface="Roboto"/>
                <a:sym typeface="Roboto"/>
              </a:rPr>
              <a:t>ANY.RUN</a:t>
            </a:r>
            <a:endParaRPr b="0" sz="3100">
              <a:latin typeface="Roboto"/>
              <a:ea typeface="Roboto"/>
              <a:cs typeface="Roboto"/>
              <a:sym typeface="Roboto"/>
            </a:endParaRPr>
          </a:p>
          <a:p>
            <a:pPr indent="0" lvl="0" marL="0" rtl="0" algn="l">
              <a:spcBef>
                <a:spcPts val="0"/>
              </a:spcBef>
              <a:spcAft>
                <a:spcPts val="0"/>
              </a:spcAft>
              <a:buNone/>
            </a:pPr>
            <a:r>
              <a:t/>
            </a:r>
            <a:endParaRPr b="0" sz="3100">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217"/>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30 minutes</a:t>
            </a:r>
            <a:endParaRPr/>
          </a:p>
        </p:txBody>
      </p:sp>
      <p:sp>
        <p:nvSpPr>
          <p:cNvPr id="1567" name="Google Shape;1567;p217"/>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Analyzing ransomware with ANY.RUN</a:t>
            </a:r>
            <a:endParaRPr/>
          </a:p>
        </p:txBody>
      </p:sp>
      <p:sp>
        <p:nvSpPr>
          <p:cNvPr id="1568" name="Google Shape;1568;p217"/>
          <p:cNvSpPr txBox="1"/>
          <p:nvPr>
            <p:ph idx="3" type="body"/>
          </p:nvPr>
        </p:nvSpPr>
        <p:spPr>
          <a:xfrm>
            <a:off x="914400" y="1176975"/>
            <a:ext cx="73152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today's final activity, you will play the role of an incident responder tasked with analyzing malware that has infected a user’s computer at your organization.</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safely analyzing the malware and completing </a:t>
            </a:r>
            <a:br>
              <a:rPr lang="en"/>
            </a:br>
            <a:r>
              <a:rPr lang="en"/>
              <a:t>a report about the impact of the incident to your organization.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569" name="Google Shape;1569;p217"/>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220"/>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Introduction to digital forensics</a:t>
            </a:r>
            <a:endParaRPr b="1" baseline="-25000" sz="22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