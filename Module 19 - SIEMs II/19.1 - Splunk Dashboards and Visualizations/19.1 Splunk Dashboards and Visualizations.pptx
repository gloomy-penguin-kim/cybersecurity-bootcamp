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y="5143500" cx="9144000"/>
  <p:notesSz cx="6858000" cy="9144000"/>
  <p:embeddedFontLst>
    <p:embeddedFont>
      <p:font typeface="Inconsolata ExtraBold"/>
      <p:bold r:id="rId65"/>
    </p:embeddedFont>
    <p:embeddedFont>
      <p:font typeface="Roboto"/>
      <p:regular r:id="rId66"/>
      <p:bold r:id="rId67"/>
      <p:italic r:id="rId68"/>
      <p:boldItalic r:id="rId69"/>
    </p:embeddedFont>
    <p:embeddedFont>
      <p:font typeface="Roboto Medium"/>
      <p:regular r:id="rId70"/>
      <p:bold r:id="rId71"/>
      <p:italic r:id="rId72"/>
      <p:boldItalic r:id="rId73"/>
    </p:embeddedFont>
    <p:embeddedFont>
      <p:font typeface="Inconsolata"/>
      <p:regular r:id="rId74"/>
      <p:bold r:id="rId75"/>
    </p:embeddedFont>
    <p:embeddedFont>
      <p:font typeface="Roboto Light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font" Target="fonts/RobotoMedium-boldItalic.fntdata"/><Relationship Id="rId72" Type="http://schemas.openxmlformats.org/officeDocument/2006/relationships/font" Target="fonts/RobotoMedium-italic.fntdata"/><Relationship Id="rId31" Type="http://schemas.openxmlformats.org/officeDocument/2006/relationships/slide" Target="slides/slide27.xml"/><Relationship Id="rId75" Type="http://schemas.openxmlformats.org/officeDocument/2006/relationships/font" Target="fonts/Inconsolata-bold.fntdata"/><Relationship Id="rId30" Type="http://schemas.openxmlformats.org/officeDocument/2006/relationships/slide" Target="slides/slide26.xml"/><Relationship Id="rId74" Type="http://schemas.openxmlformats.org/officeDocument/2006/relationships/font" Target="fonts/Inconsolata-regular.fntdata"/><Relationship Id="rId33" Type="http://schemas.openxmlformats.org/officeDocument/2006/relationships/slide" Target="slides/slide29.xml"/><Relationship Id="rId77" Type="http://schemas.openxmlformats.org/officeDocument/2006/relationships/font" Target="fonts/RobotoLight-bold.fntdata"/><Relationship Id="rId32" Type="http://schemas.openxmlformats.org/officeDocument/2006/relationships/slide" Target="slides/slide28.xml"/><Relationship Id="rId76" Type="http://schemas.openxmlformats.org/officeDocument/2006/relationships/font" Target="fonts/RobotoLight-regular.fntdata"/><Relationship Id="rId35" Type="http://schemas.openxmlformats.org/officeDocument/2006/relationships/slide" Target="slides/slide31.xml"/><Relationship Id="rId79" Type="http://schemas.openxmlformats.org/officeDocument/2006/relationships/font" Target="fonts/RobotoLight-boldItalic.fntdata"/><Relationship Id="rId34" Type="http://schemas.openxmlformats.org/officeDocument/2006/relationships/slide" Target="slides/slide30.xml"/><Relationship Id="rId78" Type="http://schemas.openxmlformats.org/officeDocument/2006/relationships/font" Target="fonts/RobotoLight-italic.fntdata"/><Relationship Id="rId71" Type="http://schemas.openxmlformats.org/officeDocument/2006/relationships/font" Target="fonts/RobotoMedium-bold.fntdata"/><Relationship Id="rId70" Type="http://schemas.openxmlformats.org/officeDocument/2006/relationships/font" Target="fonts/RobotoMedium-regular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Roboto-regular.fntdata"/><Relationship Id="rId21" Type="http://schemas.openxmlformats.org/officeDocument/2006/relationships/slide" Target="slides/slide17.xml"/><Relationship Id="rId65" Type="http://schemas.openxmlformats.org/officeDocument/2006/relationships/font" Target="fonts/InconsolataExtraBold-bold.fntdata"/><Relationship Id="rId24" Type="http://schemas.openxmlformats.org/officeDocument/2006/relationships/slide" Target="slides/slide20.xml"/><Relationship Id="rId68" Type="http://schemas.openxmlformats.org/officeDocument/2006/relationships/font" Target="fonts/Roboto-italic.fntdata"/><Relationship Id="rId23" Type="http://schemas.openxmlformats.org/officeDocument/2006/relationships/slide" Target="slides/slide19.xml"/><Relationship Id="rId67" Type="http://schemas.openxmlformats.org/officeDocument/2006/relationships/font" Target="fonts/Roboto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fb925c7b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fb925c7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0876f4cb0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10876f4cb0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0876f4cb0_1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0876f4cb0_1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0876f4cb0_1_2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10876f4cb0_1_2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0876f4cb0_1_2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10876f4cb0_1_2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10876f4cb0_1_2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10876f4cb0_1_2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10876f4cb0_1_2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10876f4cb0_1_2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10876f4cb0_1_3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10876f4cb0_1_3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shutterstock_1229109085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0a878d6c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0a878d6c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10876f4cb0_1_4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10876f4cb0_1_4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10876f4cb0_1_5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10876f4cb0_1_5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10876f4cb0_1_6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10876f4cb0_1_6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10876f4cb0_1_7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10876f4cb0_1_7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10876f4cb0_1_8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10876f4cb0_1_8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0876f4cb0_1_8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0876f4cb0_1_8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10876f4cb0_1_8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10876f4cb0_1_8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10876f4cb0_1_10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10876f4cb0_1_10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0a3240009e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0a3240009e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0a3240009e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0a3240009e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0a3240009e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0a3240009e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0a3240009e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0a3240009e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10876f4cb0_1_10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10876f4cb0_1_10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shutterstock_599075294_attack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10876f4cb0_1_10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10876f4cb0_1_10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0a3240009e_0_2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0a3240009e_0_2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0a8c704c1c_0_27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0a8c704c1c_0_27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0a8c704c1c_0_27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0a8c704c1c_0_27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0a8c704c1c_0_27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0a8c704c1c_0_27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0b45a0dcde_0_1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0b45a0dcde_0_1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10876f4cb0_1_1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10876f4cb0_1_1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10876f4cb0_1_1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10876f4cb0_1_1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10876f4cb0_1_1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10876f4cb0_1_1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0b45a0dcde_0_14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0b45a0dcde_0_14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0b45a0dcde_0_16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0b45a0dcde_0_16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0b45a0dcde_0_16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0b45a0dcde_0_16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0b45a0dcde_0_16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0b45a0dcde_0_16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10876f4cb0_1_13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10876f4cb0_1_13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0b45a0dcde_0_16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0b45a0dcde_0_16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10876f4cb0_1_13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10876f4cb0_1_13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10876f4cb0_1_13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10876f4cb0_1_13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10876f4cb0_1_14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10876f4cb0_1_14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10876f4cb0_1_15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10876f4cb0_1_15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shutterstock_1069439285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10876f4cb0_1_16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10876f4cb0_1_16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10876f4cb0_1_16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10876f4cb0_1_16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10876f4cb0_1_17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10876f4cb0_1_17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shutterstock_294087938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10876f4cb0_1_17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10876f4cb0_1_17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0b45a0dcde_0_16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0b45a0dcde_0_16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0b45a0dcde_0_16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0b45a0dcde_0_16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0b45a0dcde_0_16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0b45a0dcde_0_16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0b45a0dcde_0_16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0b45a0dcde_0_16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10876f4cb0_1_19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10876f4cb0_1_19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10876f4cb0_1_19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10876f4cb0_1_19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10876f4cb0_1_19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10876f4cb0_1_19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10876f4cb0_1_20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10876f4cb0_1_20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10876f4cb0_1_20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10876f4cb0_1_20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10876f4cb0_1_20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10876f4cb0_1_20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10876f4cb0_1_20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10876f4cb0_1_20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3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</a:t>
            </a: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35823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3592327" y="1823550"/>
            <a:ext cx="56634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24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35837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3583700" y="3314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6" name="Google Shape;106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8" name="Google Shape;178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5" name="Google Shape;185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1" name="Google Shape;191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2" name="Google Shape;212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8" name="Google Shape;218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1" name="Google Shape;251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4" name="Google Shape;254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69" name="Google Shape;269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0" name="Google Shape;27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2" name="Google Shape;272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9" name="Google Shape;279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2" name="Google Shape;282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1" name="Google Shape;301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2" name="Google Shape;322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2" name="Google Shape;332;p4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37" name="Google Shape;337;p49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38" name="Google Shape;338;p49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49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40" name="Google Shape;340;p49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">
  <p:cSld name="CUSTOM_11_1_1_2_2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51"/>
          <p:cNvGrpSpPr/>
          <p:nvPr/>
        </p:nvGrpSpPr>
        <p:grpSpPr>
          <a:xfrm>
            <a:off x="440125" y="1441675"/>
            <a:ext cx="776900" cy="486300"/>
            <a:chOff x="457200" y="1466425"/>
            <a:chExt cx="776900" cy="486300"/>
          </a:xfrm>
        </p:grpSpPr>
        <p:sp>
          <p:nvSpPr>
            <p:cNvPr id="348" name="Google Shape;348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9" name="Google Shape;349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50" name="Google Shape;350;p51"/>
          <p:cNvGrpSpPr/>
          <p:nvPr/>
        </p:nvGrpSpPr>
        <p:grpSpPr>
          <a:xfrm>
            <a:off x="440125" y="2096530"/>
            <a:ext cx="776900" cy="486300"/>
            <a:chOff x="457200" y="1466425"/>
            <a:chExt cx="776900" cy="486300"/>
          </a:xfrm>
        </p:grpSpPr>
        <p:sp>
          <p:nvSpPr>
            <p:cNvPr id="351" name="Google Shape;351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2" name="Google Shape;352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53" name="Google Shape;353;p51"/>
          <p:cNvGrpSpPr/>
          <p:nvPr/>
        </p:nvGrpSpPr>
        <p:grpSpPr>
          <a:xfrm>
            <a:off x="440125" y="2751385"/>
            <a:ext cx="776900" cy="486300"/>
            <a:chOff x="457200" y="1466425"/>
            <a:chExt cx="776900" cy="486300"/>
          </a:xfrm>
        </p:grpSpPr>
        <p:sp>
          <p:nvSpPr>
            <p:cNvPr id="354" name="Google Shape;354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5" name="Google Shape;355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56" name="Google Shape;356;p51"/>
          <p:cNvGrpSpPr/>
          <p:nvPr/>
        </p:nvGrpSpPr>
        <p:grpSpPr>
          <a:xfrm>
            <a:off x="440125" y="3406240"/>
            <a:ext cx="776900" cy="486300"/>
            <a:chOff x="457200" y="1466425"/>
            <a:chExt cx="776900" cy="486300"/>
          </a:xfrm>
        </p:grpSpPr>
        <p:sp>
          <p:nvSpPr>
            <p:cNvPr id="357" name="Google Shape;357;p5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8" name="Google Shape;358;p5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359" name="Google Shape;359;p51"/>
          <p:cNvSpPr/>
          <p:nvPr/>
        </p:nvSpPr>
        <p:spPr>
          <a:xfrm>
            <a:off x="1335475" y="14416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51"/>
          <p:cNvSpPr/>
          <p:nvPr/>
        </p:nvSpPr>
        <p:spPr>
          <a:xfrm>
            <a:off x="1335475" y="20965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1"/>
          <p:cNvSpPr/>
          <p:nvPr/>
        </p:nvSpPr>
        <p:spPr>
          <a:xfrm>
            <a:off x="1335475" y="27513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51"/>
          <p:cNvSpPr/>
          <p:nvPr/>
        </p:nvSpPr>
        <p:spPr>
          <a:xfrm>
            <a:off x="1335475" y="3406251"/>
            <a:ext cx="7116000" cy="577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5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51"/>
          <p:cNvSpPr txBox="1"/>
          <p:nvPr>
            <p:ph idx="1" type="subTitle"/>
          </p:nvPr>
        </p:nvSpPr>
        <p:spPr>
          <a:xfrm>
            <a:off x="1354400" y="14339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51"/>
          <p:cNvSpPr txBox="1"/>
          <p:nvPr>
            <p:ph idx="2" type="subTitle"/>
          </p:nvPr>
        </p:nvSpPr>
        <p:spPr>
          <a:xfrm>
            <a:off x="1354400" y="20926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51"/>
          <p:cNvSpPr txBox="1"/>
          <p:nvPr>
            <p:ph idx="3" type="subTitle"/>
          </p:nvPr>
        </p:nvSpPr>
        <p:spPr>
          <a:xfrm>
            <a:off x="1354400" y="27494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7" name="Google Shape;367;p51"/>
          <p:cNvSpPr txBox="1"/>
          <p:nvPr>
            <p:ph idx="4" type="subTitle"/>
          </p:nvPr>
        </p:nvSpPr>
        <p:spPr>
          <a:xfrm>
            <a:off x="1354400" y="3408172"/>
            <a:ext cx="71160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8" name="Google Shape;368;p51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72" name="Google Shape;37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9.png"/><Relationship Id="rId4" Type="http://schemas.openxmlformats.org/officeDocument/2006/relationships/hyperlink" Target="https://www.splunk.com/en_us/blog/platform/dashboard-studio-dashboard-customization-made-easy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splunk.com/" TargetMode="External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function1.com/2016/08/creating-and-using-new-custom-visualizations-in-splunk-6-4" TargetMode="External"/><Relationship Id="rId4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plunkbase.splunk.com/app/3117/" TargetMode="External"/><Relationship Id="rId4" Type="http://schemas.openxmlformats.org/officeDocument/2006/relationships/hyperlink" Target="https://splunkbase.splunk.com/app/3129/" TargetMode="External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jp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4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4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splunk.com/en_us/data-insider/what-is-it-monitoring.html" TargetMode="External"/><Relationship Id="rId4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jpg"/><Relationship Id="rId4" Type="http://schemas.openxmlformats.org/officeDocument/2006/relationships/image" Target="../media/image48.jpg"/><Relationship Id="rId5" Type="http://schemas.openxmlformats.org/officeDocument/2006/relationships/image" Target="../media/image1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2.png"/><Relationship Id="rId4" Type="http://schemas.openxmlformats.org/officeDocument/2006/relationships/image" Target="../media/image5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 txBox="1"/>
          <p:nvPr>
            <p:ph type="title"/>
          </p:nvPr>
        </p:nvSpPr>
        <p:spPr>
          <a:xfrm>
            <a:off x="4489575" y="1828800"/>
            <a:ext cx="4671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Dashboards and Visualizations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3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79" name="Google Shape;379;p53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19.1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385" name="Google Shape;385;p54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54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387" name="Google Shape;387;p54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88" name="Google Shape;388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89" name="Google Shape;389;p54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90" name="Google Shape;390;p54"/>
          <p:cNvSpPr/>
          <p:nvPr/>
        </p:nvSpPr>
        <p:spPr>
          <a:xfrm>
            <a:off x="398575" y="30571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54"/>
          <p:cNvSpPr/>
          <p:nvPr/>
        </p:nvSpPr>
        <p:spPr>
          <a:xfrm>
            <a:off x="322375" y="30484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54"/>
          <p:cNvSpPr txBox="1"/>
          <p:nvPr/>
        </p:nvSpPr>
        <p:spPr>
          <a:xfrm>
            <a:off x="825475" y="3063133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Combine multiple visualizations in a single dashboard.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54"/>
          <p:cNvSpPr/>
          <p:nvPr/>
        </p:nvSpPr>
        <p:spPr>
          <a:xfrm>
            <a:off x="398575" y="14569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54"/>
          <p:cNvSpPr/>
          <p:nvPr/>
        </p:nvSpPr>
        <p:spPr>
          <a:xfrm>
            <a:off x="322375" y="14482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54"/>
          <p:cNvSpPr txBox="1"/>
          <p:nvPr/>
        </p:nvSpPr>
        <p:spPr>
          <a:xfrm>
            <a:off x="825475" y="1428271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visualizations of single- and multiple-value searches.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6" name="Google Shape;396;p54"/>
          <p:cNvGrpSpPr/>
          <p:nvPr/>
        </p:nvGrpSpPr>
        <p:grpSpPr>
          <a:xfrm>
            <a:off x="322375" y="2126633"/>
            <a:ext cx="8133300" cy="651288"/>
            <a:chOff x="314850" y="1695589"/>
            <a:chExt cx="8133300" cy="651288"/>
          </a:xfrm>
        </p:grpSpPr>
        <p:sp>
          <p:nvSpPr>
            <p:cNvPr id="397" name="Google Shape;397;p54"/>
            <p:cNvSpPr/>
            <p:nvPr/>
          </p:nvSpPr>
          <p:spPr>
            <a:xfrm>
              <a:off x="391050" y="1779576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8" name="Google Shape;398;p54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9" name="Google Shape;399;p54"/>
            <p:cNvSpPr txBox="1"/>
            <p:nvPr/>
          </p:nvSpPr>
          <p:spPr>
            <a:xfrm>
              <a:off x="817950" y="1695589"/>
              <a:ext cx="76302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the </a:t>
              </a:r>
              <a:r>
                <a:rPr b="1" lang="en" sz="18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geostats </a:t>
              </a: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and </a:t>
              </a:r>
              <a:r>
                <a:rPr b="1" lang="en" sz="18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iplocation </a:t>
              </a: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commands to add location-based visualizations to searches.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00" name="Google Shape;400;p54"/>
          <p:cNvSpPr/>
          <p:nvPr/>
        </p:nvSpPr>
        <p:spPr>
          <a:xfrm>
            <a:off x="398575" y="3776146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54"/>
          <p:cNvSpPr/>
          <p:nvPr/>
        </p:nvSpPr>
        <p:spPr>
          <a:xfrm>
            <a:off x="322375" y="3767446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4"/>
          <p:cNvSpPr txBox="1"/>
          <p:nvPr/>
        </p:nvSpPr>
        <p:spPr>
          <a:xfrm>
            <a:off x="825475" y="3767446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Modify dashboards with time range input and drilldown capabilities.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</p:spPr>
        <p:txBody>
          <a:bodyPr anchorCtr="0" anchor="t" bIns="91425" lIns="457200" spcFirstLastPara="1" rIns="457200" wrap="square" tIns="2743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200">
                <a:latin typeface="Roboto"/>
                <a:ea typeface="Roboto"/>
                <a:cs typeface="Roboto"/>
                <a:sym typeface="Roboto"/>
              </a:rPr>
              <a:t>Today, we’ll learn how security professionals use Splunk’s visualization capabilities to identify and mitigate security issues.</a:t>
            </a:r>
            <a:endParaRPr b="0" sz="2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2" name="Google Shape;41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463" y="1129175"/>
            <a:ext cx="6250473" cy="35176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3" name="Google Shape;413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https://www.splunk.com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first review the last class: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8"/>
          <p:cNvSpPr/>
          <p:nvPr/>
        </p:nvSpPr>
        <p:spPr>
          <a:xfrm>
            <a:off x="398575" y="2106313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58"/>
          <p:cNvSpPr/>
          <p:nvPr/>
        </p:nvSpPr>
        <p:spPr>
          <a:xfrm>
            <a:off x="368275" y="2097613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8"/>
          <p:cNvSpPr txBox="1"/>
          <p:nvPr/>
        </p:nvSpPr>
        <p:spPr>
          <a:xfrm>
            <a:off x="825475" y="2116613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eval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 is used to design new fields or modify existing fields.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8"/>
          <p:cNvSpPr/>
          <p:nvPr/>
        </p:nvSpPr>
        <p:spPr>
          <a:xfrm>
            <a:off x="398575" y="1296221"/>
            <a:ext cx="8057100" cy="56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8"/>
          <p:cNvSpPr/>
          <p:nvPr/>
        </p:nvSpPr>
        <p:spPr>
          <a:xfrm>
            <a:off x="368275" y="128752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8"/>
          <p:cNvSpPr txBox="1"/>
          <p:nvPr/>
        </p:nvSpPr>
        <p:spPr>
          <a:xfrm>
            <a:off x="825475" y="1233396"/>
            <a:ext cx="76302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uses the Statistics feature to display specific values from search results in an easy-to-read spreadsheet.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8"/>
          <p:cNvSpPr/>
          <p:nvPr/>
        </p:nvSpPr>
        <p:spPr>
          <a:xfrm>
            <a:off x="398575" y="2788829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58"/>
          <p:cNvSpPr/>
          <p:nvPr/>
        </p:nvSpPr>
        <p:spPr>
          <a:xfrm>
            <a:off x="368275" y="2780129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58"/>
          <p:cNvSpPr txBox="1"/>
          <p:nvPr/>
        </p:nvSpPr>
        <p:spPr>
          <a:xfrm>
            <a:off x="825475" y="2809454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uses reports to save searches and run them at designated times.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58"/>
          <p:cNvSpPr/>
          <p:nvPr/>
        </p:nvSpPr>
        <p:spPr>
          <a:xfrm>
            <a:off x="398575" y="3506021"/>
            <a:ext cx="8057100" cy="56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58"/>
          <p:cNvSpPr/>
          <p:nvPr/>
        </p:nvSpPr>
        <p:spPr>
          <a:xfrm>
            <a:off x="368275" y="349732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58"/>
          <p:cNvSpPr txBox="1"/>
          <p:nvPr/>
        </p:nvSpPr>
        <p:spPr>
          <a:xfrm>
            <a:off x="825475" y="3417696"/>
            <a:ext cx="76302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Splunk alerts are designed to send automatic notifications when a specific condition, known as a trigger condition, is met.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poor alerts can cause two types of issues:</a:t>
            </a:r>
            <a:endParaRPr/>
          </a:p>
        </p:txBody>
      </p:sp>
      <p:pic>
        <p:nvPicPr>
          <p:cNvPr id="440" name="Google Shape;44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5250"/>
            <a:ext cx="5017808" cy="4015849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9"/>
          <p:cNvSpPr txBox="1"/>
          <p:nvPr/>
        </p:nvSpPr>
        <p:spPr>
          <a:xfrm>
            <a:off x="4820675" y="1213875"/>
            <a:ext cx="4218300" cy="3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False positives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occur when conditions are met and an alert is triggered, but the security situation being monitored did not actually occur.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False negatives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occur when the condition is met and an alert is not triggered, meaning the security situation occurred undetected.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Baselining</a:t>
            </a:r>
            <a:r>
              <a:rPr lang="en"/>
              <a:t> is a method of looking at historical data to determine how much activity is considered "normal."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1"/>
          <p:cNvSpPr/>
          <p:nvPr/>
        </p:nvSpPr>
        <p:spPr>
          <a:xfrm>
            <a:off x="0" y="3118800"/>
            <a:ext cx="9144000" cy="2024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61"/>
          <p:cNvSpPr txBox="1"/>
          <p:nvPr>
            <p:ph type="title"/>
          </p:nvPr>
        </p:nvSpPr>
        <p:spPr>
          <a:xfrm>
            <a:off x="344975" y="142275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Recap: Baselining</a:t>
            </a:r>
            <a:endParaRPr sz="2600"/>
          </a:p>
        </p:txBody>
      </p:sp>
      <p:sp>
        <p:nvSpPr>
          <p:cNvPr id="453" name="Google Shape;453;p61"/>
          <p:cNvSpPr txBox="1"/>
          <p:nvPr>
            <p:ph idx="1" type="subTitle"/>
          </p:nvPr>
        </p:nvSpPr>
        <p:spPr>
          <a:xfrm>
            <a:off x="0" y="1006800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825"/>
              <a:t>Security professionals use </a:t>
            </a:r>
            <a:r>
              <a:rPr b="1" lang="en" sz="1825"/>
              <a:t>baselining</a:t>
            </a:r>
            <a:r>
              <a:rPr lang="en" sz="1825"/>
              <a:t> to determine a threshold: The condition or level that, when met, triggers an alert.</a:t>
            </a:r>
            <a:endParaRPr sz="1825"/>
          </a:p>
        </p:txBody>
      </p:sp>
      <p:sp>
        <p:nvSpPr>
          <p:cNvPr id="454" name="Google Shape;454;p61"/>
          <p:cNvSpPr/>
          <p:nvPr/>
        </p:nvSpPr>
        <p:spPr>
          <a:xfrm rot="8336907">
            <a:off x="2241185" y="3080153"/>
            <a:ext cx="3080681" cy="1107194"/>
          </a:xfrm>
          <a:prstGeom prst="rightArrow">
            <a:avLst>
              <a:gd fmla="val 31740" name="adj1"/>
              <a:gd fmla="val 59957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/>
        </p:nvSpPr>
        <p:spPr>
          <a:xfrm>
            <a:off x="914400" y="2032425"/>
            <a:ext cx="3565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Setting the threshold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too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high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risks missing an alert.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61"/>
          <p:cNvSpPr txBox="1"/>
          <p:nvPr/>
        </p:nvSpPr>
        <p:spPr>
          <a:xfrm>
            <a:off x="4252300" y="3721875"/>
            <a:ext cx="37878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Setting the threshold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too low 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creates too many false positives.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7" name="Google Shape;457;p61"/>
          <p:cNvCxnSpPr/>
          <p:nvPr/>
        </p:nvCxnSpPr>
        <p:spPr>
          <a:xfrm>
            <a:off x="71400" y="3118800"/>
            <a:ext cx="9001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8" name="Google Shape;458;p61"/>
          <p:cNvSpPr/>
          <p:nvPr/>
        </p:nvSpPr>
        <p:spPr>
          <a:xfrm rot="-2463217">
            <a:off x="2508113" y="2234429"/>
            <a:ext cx="3140850" cy="1112951"/>
          </a:xfrm>
          <a:prstGeom prst="rightArrow">
            <a:avLst>
              <a:gd fmla="val 32267" name="adj1"/>
              <a:gd fmla="val 6523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38761D"/>
              </a:highlight>
            </a:endParaRPr>
          </a:p>
        </p:txBody>
      </p:sp>
      <p:cxnSp>
        <p:nvCxnSpPr>
          <p:cNvPr id="459" name="Google Shape;459;p6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0" name="Google Shape;460;p6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2"/>
          <p:cNvSpPr/>
          <p:nvPr/>
        </p:nvSpPr>
        <p:spPr>
          <a:xfrm>
            <a:off x="0" y="552450"/>
            <a:ext cx="90393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2"/>
          <p:cNvSpPr txBox="1"/>
          <p:nvPr>
            <p:ph idx="1" type="subTitle"/>
          </p:nvPr>
        </p:nvSpPr>
        <p:spPr>
          <a:xfrm>
            <a:off x="4791075" y="1372775"/>
            <a:ext cx="3924300" cy="1143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/>
              <a:t>Security professionals </a:t>
            </a:r>
            <a:br>
              <a:rPr lang="en" sz="2400"/>
            </a:br>
            <a:r>
              <a:rPr lang="en" sz="2400"/>
              <a:t>may encounter the challenge of</a:t>
            </a:r>
            <a:r>
              <a:rPr lang="en" sz="24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2400"/>
              <a:t>alert fatigue</a:t>
            </a:r>
            <a:r>
              <a:rPr lang="en" sz="2400">
                <a:latin typeface="Roboto Light"/>
                <a:ea typeface="Roboto Light"/>
                <a:cs typeface="Roboto Light"/>
                <a:sym typeface="Roboto Light"/>
              </a:rPr>
              <a:t>. </a:t>
            </a:r>
            <a:endParaRPr sz="24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68" name="Google Shape;468;p62"/>
          <p:cNvPicPr preferRelativeResize="0"/>
          <p:nvPr/>
        </p:nvPicPr>
        <p:blipFill rotWithShape="1">
          <a:blip r:embed="rId3">
            <a:alphaModFix/>
          </a:blip>
          <a:srcRect b="0" l="7961" r="0" t="8700"/>
          <a:stretch/>
        </p:blipFill>
        <p:spPr>
          <a:xfrm>
            <a:off x="-12301" y="0"/>
            <a:ext cx="4589200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2"/>
          <p:cNvSpPr txBox="1"/>
          <p:nvPr>
            <p:ph idx="3" type="body"/>
          </p:nvPr>
        </p:nvSpPr>
        <p:spPr>
          <a:xfrm>
            <a:off x="4791075" y="2764250"/>
            <a:ext cx="3924300" cy="1143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This occurs when they receive </a:t>
            </a:r>
            <a:br>
              <a:rPr lang="en"/>
            </a:br>
            <a:r>
              <a:rPr lang="en"/>
              <a:t>too many alerts to adequately respond to each one.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Introduction to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Visualizations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5" name="Google Shape;47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163" y="1180700"/>
            <a:ext cx="1719675" cy="1719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4"/>
          <p:cNvSpPr txBox="1"/>
          <p:nvPr>
            <p:ph type="title"/>
          </p:nvPr>
        </p:nvSpPr>
        <p:spPr>
          <a:xfrm>
            <a:off x="-12125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Introduction to Visualizations</a:t>
            </a:r>
            <a:endParaRPr sz="2600"/>
          </a:p>
        </p:txBody>
      </p:sp>
      <p:sp>
        <p:nvSpPr>
          <p:cNvPr id="481" name="Google Shape;481;p64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https://www.splunk.com/</a:t>
            </a:r>
            <a:endParaRPr/>
          </a:p>
        </p:txBody>
      </p:sp>
      <p:sp>
        <p:nvSpPr>
          <p:cNvPr id="482" name="Google Shape;482;p64"/>
          <p:cNvSpPr txBox="1"/>
          <p:nvPr>
            <p:ph idx="1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Today, we’ll use Splunk to create contextualized and informative visuals.</a:t>
            </a:r>
            <a:endParaRPr/>
          </a:p>
        </p:txBody>
      </p:sp>
      <p:sp>
        <p:nvSpPr>
          <p:cNvPr id="483" name="Google Shape;483;p64"/>
          <p:cNvSpPr txBox="1"/>
          <p:nvPr>
            <p:ph idx="3" type="body"/>
          </p:nvPr>
        </p:nvSpPr>
        <p:spPr>
          <a:xfrm>
            <a:off x="0" y="1548850"/>
            <a:ext cx="3200400" cy="13539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SzPts val="605"/>
              <a:buNone/>
            </a:pPr>
            <a:r>
              <a:rPr lang="en"/>
              <a:t>We’ll use these to analyze and research system and security issues.</a:t>
            </a:r>
            <a:endParaRPr/>
          </a:p>
        </p:txBody>
      </p:sp>
      <p:pic>
        <p:nvPicPr>
          <p:cNvPr id="484" name="Google Shape;48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7750" y="1090950"/>
            <a:ext cx="6372132" cy="405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5"/>
          <p:cNvSpPr txBox="1"/>
          <p:nvPr>
            <p:ph type="title"/>
          </p:nvPr>
        </p:nvSpPr>
        <p:spPr>
          <a:xfrm>
            <a:off x="-12125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Contextualizing Data</a:t>
            </a:r>
            <a:endParaRPr sz="2600"/>
          </a:p>
        </p:txBody>
      </p:sp>
      <p:sp>
        <p:nvSpPr>
          <p:cNvPr id="490" name="Google Shape;490;p65"/>
          <p:cNvSpPr txBox="1"/>
          <p:nvPr>
            <p:ph idx="1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Table showing the number of logins to a web application per minute</a:t>
            </a:r>
            <a:endParaRPr sz="1700"/>
          </a:p>
        </p:txBody>
      </p:sp>
      <p:pic>
        <p:nvPicPr>
          <p:cNvPr id="491" name="Google Shape;49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4525" y="1574775"/>
            <a:ext cx="8839202" cy="155985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2" name="Google Shape;49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625" y="1811725"/>
            <a:ext cx="8650750" cy="18269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93" name="Google Shape;493;p65"/>
          <p:cNvSpPr/>
          <p:nvPr/>
        </p:nvSpPr>
        <p:spPr>
          <a:xfrm>
            <a:off x="221050" y="3205275"/>
            <a:ext cx="8696400" cy="43320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5"/>
          <p:cNvSpPr/>
          <p:nvPr/>
        </p:nvSpPr>
        <p:spPr>
          <a:xfrm rot="-5400000">
            <a:off x="8057350" y="3767625"/>
            <a:ext cx="510900" cy="252900"/>
          </a:xfrm>
          <a:prstGeom prst="homePlate">
            <a:avLst>
              <a:gd fmla="val 44822" name="adj"/>
            </a:avLst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5"/>
          <p:cNvSpPr txBox="1"/>
          <p:nvPr/>
        </p:nvSpPr>
        <p:spPr>
          <a:xfrm>
            <a:off x="5061875" y="3780925"/>
            <a:ext cx="2988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rPr>
              <a:t>Number of logins per minute</a:t>
            </a:r>
            <a:endParaRPr sz="1800">
              <a:solidFill>
                <a:srgbClr val="0C34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6"/>
          <p:cNvSpPr txBox="1"/>
          <p:nvPr>
            <p:ph idx="1" type="subTitle"/>
          </p:nvPr>
        </p:nvSpPr>
        <p:spPr>
          <a:xfrm>
            <a:off x="470525" y="1784300"/>
            <a:ext cx="5231100" cy="20484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 </a:t>
            </a:r>
            <a:r>
              <a:rPr b="1" lang="en" sz="2800"/>
              <a:t>gauge visualization </a:t>
            </a:r>
            <a:r>
              <a:rPr lang="en" sz="2800"/>
              <a:t>contextualizes </a:t>
            </a:r>
            <a:r>
              <a:rPr lang="en" sz="2800"/>
              <a:t>the number</a:t>
            </a:r>
            <a:r>
              <a:rPr lang="en" sz="2800"/>
              <a:t> 879 by highlighting the severity of the login count.</a:t>
            </a:r>
            <a:endParaRPr sz="2800"/>
          </a:p>
        </p:txBody>
      </p:sp>
      <p:pic>
        <p:nvPicPr>
          <p:cNvPr id="501" name="Google Shape;50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4025" y="103950"/>
            <a:ext cx="2453400" cy="4698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02" name="Google Shape;502;p66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Contextualizing Data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7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(Source)</a:t>
            </a:r>
            <a:endParaRPr/>
          </a:p>
        </p:txBody>
      </p:sp>
      <p:sp>
        <p:nvSpPr>
          <p:cNvPr id="508" name="Google Shape;508;p67"/>
          <p:cNvSpPr txBox="1"/>
          <p:nvPr>
            <p:ph idx="1" type="subTitle"/>
          </p:nvPr>
        </p:nvSpPr>
        <p:spPr>
          <a:xfrm>
            <a:off x="0" y="92400"/>
            <a:ext cx="9144000" cy="364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365750" spcFirstLastPara="1" rIns="365750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Splunk uses</a:t>
            </a:r>
            <a:r>
              <a:rPr lang="en" sz="24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2400"/>
              <a:t>visualizations</a:t>
            </a:r>
            <a:r>
              <a:rPr lang="en" sz="24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2400"/>
              <a:t>to make complex data </a:t>
            </a:r>
            <a:br>
              <a:rPr lang="en" sz="2400"/>
            </a:br>
            <a:r>
              <a:rPr lang="en" sz="2400"/>
              <a:t>easier to understand and analyze. </a:t>
            </a:r>
            <a:endParaRPr sz="2400"/>
          </a:p>
        </p:txBody>
      </p:sp>
      <p:pic>
        <p:nvPicPr>
          <p:cNvPr id="509" name="Google Shape;509;p67"/>
          <p:cNvPicPr preferRelativeResize="0"/>
          <p:nvPr/>
        </p:nvPicPr>
        <p:blipFill rotWithShape="1">
          <a:blip r:embed="rId4">
            <a:alphaModFix/>
          </a:blip>
          <a:srcRect b="23732" l="2344" r="8504" t="14686"/>
          <a:stretch/>
        </p:blipFill>
        <p:spPr>
          <a:xfrm>
            <a:off x="2498400" y="1317263"/>
            <a:ext cx="4313875" cy="35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Visualizations</a:t>
            </a:r>
            <a:endParaRPr/>
          </a:p>
        </p:txBody>
      </p:sp>
      <p:sp>
        <p:nvSpPr>
          <p:cNvPr id="515" name="Google Shape;515;p68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91425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SzPts val="605"/>
              <a:buNone/>
            </a:pPr>
            <a:r>
              <a:rPr lang="en" sz="1817"/>
              <a:t>Splunk visualizations allow interactivity and offer more in-depth details.</a:t>
            </a:r>
            <a:endParaRPr sz="1817"/>
          </a:p>
        </p:txBody>
      </p:sp>
      <p:sp>
        <p:nvSpPr>
          <p:cNvPr id="516" name="Google Shape;516;p68"/>
          <p:cNvSpPr txBox="1"/>
          <p:nvPr>
            <p:ph idx="2" type="subTitle"/>
          </p:nvPr>
        </p:nvSpPr>
        <p:spPr>
          <a:xfrm>
            <a:off x="521100" y="4916650"/>
            <a:ext cx="2679300" cy="226800"/>
          </a:xfrm>
          <a:prstGeom prst="rect">
            <a:avLst/>
          </a:prstGeom>
        </p:spPr>
        <p:txBody>
          <a:bodyPr anchorCtr="0" anchor="t" bIns="91425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(Horizon Chart)</a:t>
            </a:r>
            <a:endParaRPr/>
          </a:p>
        </p:txBody>
      </p:sp>
      <p:sp>
        <p:nvSpPr>
          <p:cNvPr id="517" name="Google Shape;517;p68"/>
          <p:cNvSpPr txBox="1"/>
          <p:nvPr>
            <p:ph idx="3" type="body"/>
          </p:nvPr>
        </p:nvSpPr>
        <p:spPr>
          <a:xfrm>
            <a:off x="175" y="1131850"/>
            <a:ext cx="9144000" cy="746700"/>
          </a:xfrm>
          <a:prstGeom prst="rect">
            <a:avLst/>
          </a:prstGeom>
        </p:spPr>
        <p:txBody>
          <a:bodyPr anchorCtr="0" anchor="t" bIns="0" lIns="45720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visualizations range from simple bar and column charts to more complex horizon charts and punch cards.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8" name="Google Shape;518;p68"/>
          <p:cNvSpPr txBox="1"/>
          <p:nvPr>
            <p:ph idx="2" type="subTitle"/>
          </p:nvPr>
        </p:nvSpPr>
        <p:spPr>
          <a:xfrm>
            <a:off x="4974600" y="4833400"/>
            <a:ext cx="2505000" cy="226800"/>
          </a:xfrm>
          <a:prstGeom prst="rect">
            <a:avLst/>
          </a:prstGeom>
        </p:spPr>
        <p:txBody>
          <a:bodyPr anchorCtr="0" anchor="t" bIns="91425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(Punchcard)</a:t>
            </a:r>
            <a:endParaRPr/>
          </a:p>
        </p:txBody>
      </p:sp>
      <p:pic>
        <p:nvPicPr>
          <p:cNvPr id="519" name="Google Shape;519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050" y="2484888"/>
            <a:ext cx="3798199" cy="204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9103" y="2496351"/>
            <a:ext cx="3606070" cy="2083762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8"/>
          <p:cNvSpPr/>
          <p:nvPr/>
        </p:nvSpPr>
        <p:spPr>
          <a:xfrm>
            <a:off x="457160" y="187850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2" name="Google Shape;522;p68"/>
          <p:cNvSpPr/>
          <p:nvPr/>
        </p:nvSpPr>
        <p:spPr>
          <a:xfrm rot="10800000">
            <a:off x="593369" y="2267288"/>
            <a:ext cx="261029" cy="144694"/>
          </a:xfrm>
          <a:prstGeom prst="flowChartExtra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3" name="Google Shape;523;p68"/>
          <p:cNvSpPr txBox="1"/>
          <p:nvPr/>
        </p:nvSpPr>
        <p:spPr>
          <a:xfrm>
            <a:off x="446325" y="1889783"/>
            <a:ext cx="3848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Horizon chart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4876760" y="1861963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5" name="Google Shape;525;p68"/>
          <p:cNvSpPr/>
          <p:nvPr/>
        </p:nvSpPr>
        <p:spPr>
          <a:xfrm rot="10800000">
            <a:off x="5012969" y="2250751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8"/>
          <p:cNvSpPr txBox="1"/>
          <p:nvPr/>
        </p:nvSpPr>
        <p:spPr>
          <a:xfrm>
            <a:off x="4865925" y="1873800"/>
            <a:ext cx="3848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Punch card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7" name="Google Shape;527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5150" y="1873800"/>
            <a:ext cx="827450" cy="29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/>
          <p:nvPr/>
        </p:nvSpPr>
        <p:spPr>
          <a:xfrm>
            <a:off x="203825" y="4836025"/>
            <a:ext cx="8717700" cy="10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9"/>
          <p:cNvSpPr txBox="1"/>
          <p:nvPr>
            <p:ph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Visualizations</a:t>
            </a:r>
            <a:endParaRPr/>
          </a:p>
        </p:txBody>
      </p:sp>
      <p:sp>
        <p:nvSpPr>
          <p:cNvPr id="534" name="Google Shape;534;p69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Splunk visualizations can </a:t>
            </a:r>
            <a:r>
              <a:rPr lang="en" sz="1850"/>
              <a:t>display</a:t>
            </a:r>
            <a:r>
              <a:rPr lang="en" sz="1850"/>
              <a:t> single values, such as total attacks, or multiple values, such as attacks correlated by attack type.</a:t>
            </a:r>
            <a:endParaRPr sz="1850"/>
          </a:p>
        </p:txBody>
      </p:sp>
      <p:sp>
        <p:nvSpPr>
          <p:cNvPr id="535" name="Google Shape;535;p69"/>
          <p:cNvSpPr/>
          <p:nvPr/>
        </p:nvSpPr>
        <p:spPr>
          <a:xfrm>
            <a:off x="457152" y="1497500"/>
            <a:ext cx="2963100" cy="476700"/>
          </a:xfrm>
          <a:prstGeom prst="roundRect">
            <a:avLst>
              <a:gd fmla="val 16667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6" name="Google Shape;536;p69"/>
          <p:cNvSpPr/>
          <p:nvPr/>
        </p:nvSpPr>
        <p:spPr>
          <a:xfrm rot="10800000">
            <a:off x="593369" y="1886288"/>
            <a:ext cx="261029" cy="144694"/>
          </a:xfrm>
          <a:prstGeom prst="flowChartExtra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7" name="Google Shape;537;p69"/>
          <p:cNvSpPr txBox="1"/>
          <p:nvPr/>
        </p:nvSpPr>
        <p:spPr>
          <a:xfrm>
            <a:off x="446325" y="1508775"/>
            <a:ext cx="2963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Single-value visualizations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69"/>
          <p:cNvSpPr/>
          <p:nvPr/>
        </p:nvSpPr>
        <p:spPr>
          <a:xfrm>
            <a:off x="4061477" y="1480975"/>
            <a:ext cx="3083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9" name="Google Shape;539;p69"/>
          <p:cNvSpPr/>
          <p:nvPr/>
        </p:nvSpPr>
        <p:spPr>
          <a:xfrm rot="10800000">
            <a:off x="4197694" y="1869751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9"/>
          <p:cNvSpPr txBox="1"/>
          <p:nvPr/>
        </p:nvSpPr>
        <p:spPr>
          <a:xfrm>
            <a:off x="4050650" y="1492800"/>
            <a:ext cx="3083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Multiple-value visualizations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1" name="Google Shape;54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425" y="1492800"/>
            <a:ext cx="827450" cy="35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69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1475" y="2166850"/>
            <a:ext cx="4685946" cy="2897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p69"/>
          <p:cNvGrpSpPr/>
          <p:nvPr/>
        </p:nvGrpSpPr>
        <p:grpSpPr>
          <a:xfrm>
            <a:off x="7328175" y="1486950"/>
            <a:ext cx="1593400" cy="169200"/>
            <a:chOff x="7328175" y="1486950"/>
            <a:chExt cx="1593400" cy="169200"/>
          </a:xfrm>
        </p:grpSpPr>
        <p:sp>
          <p:nvSpPr>
            <p:cNvPr id="544" name="Google Shape;544;p69"/>
            <p:cNvSpPr/>
            <p:nvPr/>
          </p:nvSpPr>
          <p:spPr>
            <a:xfrm>
              <a:off x="7328175" y="1499250"/>
              <a:ext cx="157500" cy="1446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9"/>
            <p:cNvSpPr txBox="1"/>
            <p:nvPr/>
          </p:nvSpPr>
          <p:spPr>
            <a:xfrm>
              <a:off x="7573675" y="1486950"/>
              <a:ext cx="13479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Database attacks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6" name="Google Shape;546;p69"/>
          <p:cNvGrpSpPr/>
          <p:nvPr/>
        </p:nvGrpSpPr>
        <p:grpSpPr>
          <a:xfrm>
            <a:off x="7328175" y="1672225"/>
            <a:ext cx="1593400" cy="169200"/>
            <a:chOff x="7328175" y="1486950"/>
            <a:chExt cx="1593400" cy="169200"/>
          </a:xfrm>
        </p:grpSpPr>
        <p:sp>
          <p:nvSpPr>
            <p:cNvPr id="547" name="Google Shape;547;p69"/>
            <p:cNvSpPr/>
            <p:nvPr/>
          </p:nvSpPr>
          <p:spPr>
            <a:xfrm>
              <a:off x="7328175" y="1499250"/>
              <a:ext cx="157500" cy="144600"/>
            </a:xfrm>
            <a:prstGeom prst="re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9"/>
            <p:cNvSpPr txBox="1"/>
            <p:nvPr/>
          </p:nvSpPr>
          <p:spPr>
            <a:xfrm>
              <a:off x="7573675" y="1486950"/>
              <a:ext cx="13479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Server attacks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9" name="Google Shape;549;p69"/>
          <p:cNvGrpSpPr/>
          <p:nvPr/>
        </p:nvGrpSpPr>
        <p:grpSpPr>
          <a:xfrm>
            <a:off x="7328175" y="1866775"/>
            <a:ext cx="1593400" cy="169200"/>
            <a:chOff x="7328175" y="1486950"/>
            <a:chExt cx="1593400" cy="169200"/>
          </a:xfrm>
        </p:grpSpPr>
        <p:sp>
          <p:nvSpPr>
            <p:cNvPr id="550" name="Google Shape;550;p69"/>
            <p:cNvSpPr/>
            <p:nvPr/>
          </p:nvSpPr>
          <p:spPr>
            <a:xfrm>
              <a:off x="7328175" y="1499250"/>
              <a:ext cx="157500" cy="144600"/>
            </a:xfrm>
            <a:prstGeom prst="rect">
              <a:avLst/>
            </a:prstGeom>
            <a:solidFill>
              <a:srgbClr val="FECF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9"/>
            <p:cNvSpPr txBox="1"/>
            <p:nvPr/>
          </p:nvSpPr>
          <p:spPr>
            <a:xfrm>
              <a:off x="7573675" y="1486950"/>
              <a:ext cx="13479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Web attacks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2" name="Google Shape;552;p69"/>
          <p:cNvGrpSpPr/>
          <p:nvPr/>
        </p:nvGrpSpPr>
        <p:grpSpPr>
          <a:xfrm>
            <a:off x="7328175" y="2052050"/>
            <a:ext cx="1593400" cy="169200"/>
            <a:chOff x="7328175" y="1486950"/>
            <a:chExt cx="1593400" cy="169200"/>
          </a:xfrm>
        </p:grpSpPr>
        <p:sp>
          <p:nvSpPr>
            <p:cNvPr id="553" name="Google Shape;553;p69"/>
            <p:cNvSpPr/>
            <p:nvPr/>
          </p:nvSpPr>
          <p:spPr>
            <a:xfrm>
              <a:off x="7328175" y="1499250"/>
              <a:ext cx="157500" cy="144600"/>
            </a:xfrm>
            <a:prstGeom prst="rect">
              <a:avLst/>
            </a:prstGeom>
            <a:solidFill>
              <a:srgbClr val="9EE2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9"/>
            <p:cNvSpPr txBox="1"/>
            <p:nvPr/>
          </p:nvSpPr>
          <p:spPr>
            <a:xfrm>
              <a:off x="7573675" y="1486950"/>
              <a:ext cx="13479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User attacks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55" name="Google Shape;55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925" y="2071750"/>
            <a:ext cx="3065900" cy="299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0"/>
          <p:cNvSpPr txBox="1"/>
          <p:nvPr>
            <p:ph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Single-Value Visualizations </a:t>
            </a:r>
            <a:endParaRPr sz="2600"/>
          </a:p>
        </p:txBody>
      </p:sp>
      <p:sp>
        <p:nvSpPr>
          <p:cNvPr id="561" name="Google Shape;561;p70"/>
          <p:cNvSpPr txBox="1"/>
          <p:nvPr>
            <p:ph idx="1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first demonstration, we’ll use a single </a:t>
            </a:r>
            <a:br>
              <a:rPr lang="en"/>
            </a:br>
            <a:r>
              <a:rPr lang="en"/>
              <a:t>value to create a </a:t>
            </a:r>
            <a:r>
              <a:rPr b="1" lang="en"/>
              <a:t>radial gauge</a:t>
            </a:r>
            <a:r>
              <a:rPr lang="en"/>
              <a:t> visualization. </a:t>
            </a:r>
            <a:endParaRPr/>
          </a:p>
        </p:txBody>
      </p:sp>
      <p:pic>
        <p:nvPicPr>
          <p:cNvPr id="562" name="Google Shape;56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568" y="685019"/>
            <a:ext cx="2752274" cy="1989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63" name="Google Shape;563;p70"/>
          <p:cNvSpPr/>
          <p:nvPr/>
        </p:nvSpPr>
        <p:spPr>
          <a:xfrm>
            <a:off x="5361513" y="1937600"/>
            <a:ext cx="2603100" cy="2310400"/>
          </a:xfrm>
          <a:custGeom>
            <a:rect b="b" l="l" r="r" t="t"/>
            <a:pathLst>
              <a:path extrusionOk="0" h="92416" w="104124">
                <a:moveTo>
                  <a:pt x="0" y="652"/>
                </a:moveTo>
                <a:lnTo>
                  <a:pt x="55349" y="92416"/>
                </a:lnTo>
                <a:lnTo>
                  <a:pt x="104124" y="0"/>
                </a:lnTo>
                <a:close/>
              </a:path>
            </a:pathLst>
          </a:custGeom>
          <a:solidFill>
            <a:srgbClr val="67B5D9">
              <a:alpha val="30170"/>
            </a:srgbClr>
          </a:solidFill>
          <a:ln>
            <a:noFill/>
          </a:ln>
        </p:spPr>
      </p:sp>
      <p:pic>
        <p:nvPicPr>
          <p:cNvPr id="564" name="Google Shape;564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2763" y="1713850"/>
            <a:ext cx="3260375" cy="3185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65" name="Google Shape;565;p70"/>
          <p:cNvSpPr txBox="1"/>
          <p:nvPr>
            <p:ph idx="3" type="body"/>
          </p:nvPr>
        </p:nvSpPr>
        <p:spPr>
          <a:xfrm>
            <a:off x="-76025" y="1512850"/>
            <a:ext cx="41145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-205740" lvl="0" marL="32004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Radial gauges are similar </a:t>
            </a:r>
            <a:br>
              <a:rPr lang="en"/>
            </a:br>
            <a:r>
              <a:rPr lang="en"/>
              <a:t>to the RPM dial in a car dashboard.</a:t>
            </a:r>
            <a:endParaRPr/>
          </a:p>
          <a:p>
            <a:pPr indent="-205740" lvl="0" marL="32004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RPM (revolutions per minute) is a single value visualized in the dial.</a:t>
            </a:r>
            <a:endParaRPr/>
          </a:p>
          <a:p>
            <a:pPr indent="-205740" lvl="0" marL="32004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dial includes a red section that indicates when the level is too high.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Roboto"/>
                <a:ea typeface="Roboto"/>
                <a:cs typeface="Roboto"/>
                <a:sym typeface="Roboto"/>
              </a:rPr>
              <a:t>Single-Value</a:t>
            </a: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 Visualization</a:t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2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576" name="Google Shape;576;p7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Single-Value Visualizations</a:t>
            </a:r>
            <a:endParaRPr/>
          </a:p>
        </p:txBody>
      </p:sp>
      <p:sp>
        <p:nvSpPr>
          <p:cNvPr id="577" name="Google Shape;577;p72"/>
          <p:cNvSpPr txBox="1"/>
          <p:nvPr>
            <p:ph idx="3" type="body"/>
          </p:nvPr>
        </p:nvSpPr>
        <p:spPr>
          <a:xfrm>
            <a:off x="914400" y="1176975"/>
            <a:ext cx="73152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week, you will continue to play </a:t>
            </a:r>
            <a:r>
              <a:rPr lang="en"/>
              <a:t>your role as</a:t>
            </a:r>
            <a:r>
              <a:rPr lang="en"/>
              <a:t> SOC manager at OMP.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networking team notified you that OMP’s public-facing website experienced performance issues over the weekend.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designing a single-value radial gauge to help monitor attacks against OMP's website.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8" name="Google Shape;57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5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Multiple-Value</a:t>
            </a: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Visualizations</a:t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2" name="Google Shape;59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263" y="1089450"/>
            <a:ext cx="1855473" cy="1855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76"/>
          <p:cNvPicPr preferRelativeResize="0"/>
          <p:nvPr/>
        </p:nvPicPr>
        <p:blipFill rotWithShape="1">
          <a:blip r:embed="rId3">
            <a:alphaModFix/>
          </a:blip>
          <a:srcRect b="0" l="-14296" r="22712" t="-18948"/>
          <a:stretch/>
        </p:blipFill>
        <p:spPr>
          <a:xfrm>
            <a:off x="1696125" y="-50"/>
            <a:ext cx="744804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6"/>
          <p:cNvSpPr txBox="1"/>
          <p:nvPr>
            <p:ph idx="1" type="subTitle"/>
          </p:nvPr>
        </p:nvSpPr>
        <p:spPr>
          <a:xfrm>
            <a:off x="0" y="675975"/>
            <a:ext cx="3516300" cy="7920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Suppose a business </a:t>
            </a:r>
            <a:br>
              <a:rPr lang="en"/>
            </a:br>
            <a:r>
              <a:rPr lang="en"/>
              <a:t>is experiencing brute-force attacks against a web application.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99" name="Google Shape;599;p76"/>
          <p:cNvSpPr txBox="1"/>
          <p:nvPr>
            <p:ph idx="3" type="body"/>
          </p:nvPr>
        </p:nvSpPr>
        <p:spPr>
          <a:xfrm>
            <a:off x="0" y="2542175"/>
            <a:ext cx="3200400" cy="1131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 manager wants to visualize the list of users being attacked and the number of attacks experienced by each user.</a:t>
            </a:r>
            <a:endParaRPr/>
          </a:p>
        </p:txBody>
      </p:sp>
      <p:sp>
        <p:nvSpPr>
          <p:cNvPr id="600" name="Google Shape;600;p76"/>
          <p:cNvSpPr txBox="1"/>
          <p:nvPr>
            <p:ph type="title"/>
          </p:nvPr>
        </p:nvSpPr>
        <p:spPr>
          <a:xfrm>
            <a:off x="-12125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Multiple-Value Visualizations</a:t>
            </a:r>
            <a:endParaRPr sz="2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26525"/>
            <a:ext cx="8839198" cy="2371607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77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Multiple-Value Visualizations</a:t>
            </a:r>
            <a:endParaRPr sz="2600"/>
          </a:p>
        </p:txBody>
      </p:sp>
      <p:sp>
        <p:nvSpPr>
          <p:cNvPr id="607" name="Google Shape;607;p77"/>
          <p:cNvSpPr txBox="1"/>
          <p:nvPr>
            <p:ph idx="1" type="subTitle"/>
          </p:nvPr>
        </p:nvSpPr>
        <p:spPr>
          <a:xfrm>
            <a:off x="0" y="675975"/>
            <a:ext cx="8229600" cy="364800"/>
          </a:xfrm>
          <a:prstGeom prst="rect">
            <a:avLst/>
          </a:prstGeom>
        </p:spPr>
        <p:txBody>
          <a:bodyPr anchorCtr="0" anchor="t" bIns="91425" lIns="4572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convert Splunk stat spreadsheets into more informative and interactive visualizations. The data found in the spreadsheet can be displayed in a column chart.</a:t>
            </a:r>
            <a:endParaRPr/>
          </a:p>
        </p:txBody>
      </p:sp>
      <p:grpSp>
        <p:nvGrpSpPr>
          <p:cNvPr id="608" name="Google Shape;608;p77"/>
          <p:cNvGrpSpPr/>
          <p:nvPr/>
        </p:nvGrpSpPr>
        <p:grpSpPr>
          <a:xfrm>
            <a:off x="5262450" y="1573575"/>
            <a:ext cx="3243450" cy="1274550"/>
            <a:chOff x="6355100" y="2526900"/>
            <a:chExt cx="3243450" cy="1274550"/>
          </a:xfrm>
        </p:grpSpPr>
        <p:sp>
          <p:nvSpPr>
            <p:cNvPr id="609" name="Google Shape;609;p77"/>
            <p:cNvSpPr/>
            <p:nvPr/>
          </p:nvSpPr>
          <p:spPr>
            <a:xfrm rot="5400000">
              <a:off x="6333650" y="3498900"/>
              <a:ext cx="324000" cy="2811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77"/>
            <p:cNvSpPr/>
            <p:nvPr/>
          </p:nvSpPr>
          <p:spPr>
            <a:xfrm>
              <a:off x="6355250" y="2526900"/>
              <a:ext cx="3243300" cy="951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18287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When hovering the mouse over </a:t>
              </a:r>
              <a:br>
                <a:rPr lang="en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 user, the number of attacks experienced by this user is displayed.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8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 Multiple-Value Visualizations</a:t>
            </a:r>
            <a:endParaRPr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9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621" name="Google Shape;621;p7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Multiple-Value Visualizations</a:t>
            </a:r>
            <a:endParaRPr/>
          </a:p>
        </p:txBody>
      </p:sp>
      <p:sp>
        <p:nvSpPr>
          <p:cNvPr id="622" name="Google Shape;622;p79"/>
          <p:cNvSpPr txBox="1"/>
          <p:nvPr>
            <p:ph idx="3" type="body"/>
          </p:nvPr>
        </p:nvSpPr>
        <p:spPr>
          <a:xfrm>
            <a:off x="914400" y="1176975"/>
            <a:ext cx="73152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SOC staff are impressed with the radial gauge you designed to monitor attacks against the web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would like you to create a visualization of the exact URL paths targeted by attacks.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designing a multiple-value visualization to display the URL paths targeted by the POST requests.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3" name="Google Shape;62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2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Geographic Map </a:t>
            </a: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Visualizations</a:t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7" name="Google Shape;63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6449" y="3203575"/>
            <a:ext cx="939900" cy="10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9400" y="966550"/>
            <a:ext cx="1885199" cy="188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3"/>
          <p:cNvSpPr txBox="1"/>
          <p:nvPr>
            <p:ph idx="1" type="body"/>
          </p:nvPr>
        </p:nvSpPr>
        <p:spPr>
          <a:xfrm>
            <a:off x="3312775" y="1377600"/>
            <a:ext cx="53739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Organizations can monitor where users access the application from to help determine the source of security issues.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4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Geographic Map Visualization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649" name="Google Shape;649;p84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Example: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50" name="Google Shape;650;p84"/>
          <p:cNvPicPr preferRelativeResize="0"/>
          <p:nvPr/>
        </p:nvPicPr>
        <p:blipFill rotWithShape="1">
          <a:blip r:embed="rId3">
            <a:alphaModFix/>
          </a:blip>
          <a:srcRect b="3201" l="0" r="1758" t="2636"/>
          <a:stretch/>
        </p:blipFill>
        <p:spPr>
          <a:xfrm>
            <a:off x="0" y="2419350"/>
            <a:ext cx="9143999" cy="27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84"/>
          <p:cNvSpPr txBox="1"/>
          <p:nvPr>
            <p:ph idx="3" type="body"/>
          </p:nvPr>
        </p:nvSpPr>
        <p:spPr>
          <a:xfrm>
            <a:off x="0" y="1040775"/>
            <a:ext cx="9144000" cy="928200"/>
          </a:xfrm>
          <a:prstGeom prst="rect">
            <a:avLst/>
          </a:prstGeom>
        </p:spPr>
        <p:txBody>
          <a:bodyPr anchorCtr="0" anchor="t" bIns="91425" lIns="4572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A business knows that its application customers are primarily located in the United States. A significant number of users accessing the application from another </a:t>
            </a:r>
            <a:r>
              <a:rPr lang="en">
                <a:solidFill>
                  <a:schemeClr val="lt1"/>
                </a:solidFill>
              </a:rPr>
              <a:t>country</a:t>
            </a:r>
            <a:r>
              <a:rPr lang="en" sz="1800">
                <a:solidFill>
                  <a:schemeClr val="lt1"/>
                </a:solidFill>
              </a:rPr>
              <a:t> is a cue to investigate the activity.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5"/>
          <p:cNvSpPr txBox="1"/>
          <p:nvPr>
            <p:ph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Geographic Map Visualization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85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create these maps and gain insight into the locations of activity, we’ll use the </a:t>
            </a:r>
            <a:r>
              <a:rPr lang="en"/>
              <a:t>following commands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85"/>
          <p:cNvSpPr/>
          <p:nvPr/>
        </p:nvSpPr>
        <p:spPr>
          <a:xfrm>
            <a:off x="457200" y="2011725"/>
            <a:ext cx="8391600" cy="5649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sourcetype="stream:http" | </a:t>
            </a:r>
            <a:r>
              <a:rPr lang="en" sz="1800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rPr>
              <a:t>iplocation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src_ip</a:t>
            </a:r>
            <a:endParaRPr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59" name="Google Shape;659;p85"/>
          <p:cNvSpPr/>
          <p:nvPr/>
        </p:nvSpPr>
        <p:spPr>
          <a:xfrm>
            <a:off x="457200" y="3645198"/>
            <a:ext cx="8391600" cy="564900"/>
          </a:xfrm>
          <a:prstGeom prst="roundRect">
            <a:avLst>
              <a:gd fmla="val 10369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sourcetype="stream:http" |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iplocation 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src_ip | </a:t>
            </a:r>
            <a:r>
              <a:rPr lang="en" sz="1800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rPr>
              <a:t>geostats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count</a:t>
            </a:r>
            <a:endParaRPr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60" name="Google Shape;660;p85"/>
          <p:cNvSpPr txBox="1"/>
          <p:nvPr>
            <p:ph idx="4294967295" type="subTitle"/>
          </p:nvPr>
        </p:nvSpPr>
        <p:spPr>
          <a:xfrm>
            <a:off x="0" y="1593475"/>
            <a:ext cx="91686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iplocation </a:t>
            </a:r>
            <a:r>
              <a:rPr lang="en" sz="1400"/>
              <a:t>command </a:t>
            </a:r>
            <a:r>
              <a:rPr lang="en" sz="1400"/>
              <a:t>output</a:t>
            </a:r>
            <a:r>
              <a:rPr lang="en" sz="1400"/>
              <a:t>s the city and country data of an IP field, such as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src_ip </a:t>
            </a:r>
            <a:r>
              <a:rPr lang="en" sz="1400"/>
              <a:t>or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dest_ip</a:t>
            </a:r>
            <a:r>
              <a:rPr lang="en" sz="1400"/>
              <a:t>.</a:t>
            </a:r>
            <a:endParaRPr sz="1400"/>
          </a:p>
        </p:txBody>
      </p:sp>
      <p:sp>
        <p:nvSpPr>
          <p:cNvPr id="661" name="Google Shape;661;p85"/>
          <p:cNvSpPr txBox="1"/>
          <p:nvPr>
            <p:ph idx="4294967295" type="subTitle"/>
          </p:nvPr>
        </p:nvSpPr>
        <p:spPr>
          <a:xfrm>
            <a:off x="0" y="2955300"/>
            <a:ext cx="9168600" cy="621300"/>
          </a:xfrm>
          <a:prstGeom prst="rect">
            <a:avLst/>
          </a:prstGeom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b="1" lang="en"/>
              <a:t>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geostats</a:t>
            </a:r>
            <a:r>
              <a:rPr b="1" lang="en"/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command uses the location data found with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iplocation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command to map latitude and longitude data for each event.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6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Geographic Map Visualization</a:t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7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672" name="Google Shape;672;p8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Geographic Map Visualization </a:t>
            </a:r>
            <a:endParaRPr/>
          </a:p>
        </p:txBody>
      </p:sp>
      <p:sp>
        <p:nvSpPr>
          <p:cNvPr id="673" name="Google Shape;673;p87"/>
          <p:cNvSpPr txBox="1"/>
          <p:nvPr>
            <p:ph idx="3" type="body"/>
          </p:nvPr>
        </p:nvSpPr>
        <p:spPr>
          <a:xfrm>
            <a:off x="914400" y="1176975"/>
            <a:ext cx="73152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OMP would like you to expand your visualizations to provide more geographic information on the attacks.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security team can use this information to create firewall rules that restrict traffic from specific geographic locations.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designing a geographic map visualization to help your SOC team understand where attacks originated.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4" name="Google Shape;67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1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Splunk Dashboards</a:t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2" name="Google Shape;69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225" y="1912739"/>
            <a:ext cx="1133550" cy="746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2"/>
          <p:cNvSpPr/>
          <p:nvPr/>
        </p:nvSpPr>
        <p:spPr>
          <a:xfrm>
            <a:off x="3416763" y="1602625"/>
            <a:ext cx="2371500" cy="2864700"/>
          </a:xfrm>
          <a:prstGeom prst="roundRect">
            <a:avLst>
              <a:gd fmla="val 395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92"/>
          <p:cNvSpPr/>
          <p:nvPr/>
        </p:nvSpPr>
        <p:spPr>
          <a:xfrm>
            <a:off x="6485675" y="1602625"/>
            <a:ext cx="2371500" cy="2864700"/>
          </a:xfrm>
          <a:prstGeom prst="roundRect">
            <a:avLst>
              <a:gd fmla="val 395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2"/>
          <p:cNvSpPr/>
          <p:nvPr/>
        </p:nvSpPr>
        <p:spPr>
          <a:xfrm>
            <a:off x="347850" y="1602625"/>
            <a:ext cx="2371500" cy="2864700"/>
          </a:xfrm>
          <a:prstGeom prst="roundRect">
            <a:avLst>
              <a:gd fmla="val 395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92"/>
          <p:cNvSpPr txBox="1"/>
          <p:nvPr>
            <p:ph type="title"/>
          </p:nvPr>
        </p:nvSpPr>
        <p:spPr>
          <a:xfrm>
            <a:off x="-12125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Splunk Dashboards</a:t>
            </a:r>
            <a:endParaRPr sz="2600"/>
          </a:p>
        </p:txBody>
      </p:sp>
      <p:sp>
        <p:nvSpPr>
          <p:cNvPr id="701" name="Google Shape;701;p92"/>
          <p:cNvSpPr txBox="1"/>
          <p:nvPr>
            <p:ph idx="1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far, we’ve covered the following visualizations: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2" name="Google Shape;70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25" y="2179000"/>
            <a:ext cx="2097149" cy="2049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03" name="Google Shape;70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2075" y="2241600"/>
            <a:ext cx="1960250" cy="1924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04" name="Google Shape;704;p92"/>
          <p:cNvPicPr preferRelativeResize="0"/>
          <p:nvPr/>
        </p:nvPicPr>
        <p:blipFill rotWithShape="1">
          <a:blip r:embed="rId5">
            <a:alphaModFix/>
          </a:blip>
          <a:srcRect b="0" l="17979" r="50521" t="0"/>
          <a:stretch/>
        </p:blipFill>
        <p:spPr>
          <a:xfrm>
            <a:off x="6726725" y="2300925"/>
            <a:ext cx="1889400" cy="18648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05" name="Google Shape;705;p92"/>
          <p:cNvSpPr txBox="1"/>
          <p:nvPr>
            <p:ph idx="4294967295" type="subTitle"/>
          </p:nvPr>
        </p:nvSpPr>
        <p:spPr>
          <a:xfrm>
            <a:off x="347850" y="1645450"/>
            <a:ext cx="2371500" cy="53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Single value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6" name="Google Shape;706;p92"/>
          <p:cNvSpPr txBox="1"/>
          <p:nvPr>
            <p:ph idx="4294967295" type="subTitle"/>
          </p:nvPr>
        </p:nvSpPr>
        <p:spPr>
          <a:xfrm>
            <a:off x="3436450" y="1645602"/>
            <a:ext cx="2371500" cy="53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Multiple values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07" name="Google Shape;707;p92"/>
          <p:cNvSpPr txBox="1"/>
          <p:nvPr>
            <p:ph idx="4294967295" type="subTitle"/>
          </p:nvPr>
        </p:nvSpPr>
        <p:spPr>
          <a:xfrm>
            <a:off x="6485675" y="1645602"/>
            <a:ext cx="2371500" cy="53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Geographic maps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3"/>
          <p:cNvSpPr/>
          <p:nvPr/>
        </p:nvSpPr>
        <p:spPr>
          <a:xfrm>
            <a:off x="347850" y="1602625"/>
            <a:ext cx="8509200" cy="2864700"/>
          </a:xfrm>
          <a:prstGeom prst="roundRect">
            <a:avLst>
              <a:gd fmla="val 395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3" name="Google Shape;71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025" y="2179000"/>
            <a:ext cx="2097149" cy="2049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14" name="Google Shape;71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2075" y="2241600"/>
            <a:ext cx="1960250" cy="1924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15" name="Google Shape;715;p93"/>
          <p:cNvPicPr preferRelativeResize="0"/>
          <p:nvPr/>
        </p:nvPicPr>
        <p:blipFill rotWithShape="1">
          <a:blip r:embed="rId5">
            <a:alphaModFix/>
          </a:blip>
          <a:srcRect b="0" l="17979" r="50521" t="0"/>
          <a:stretch/>
        </p:blipFill>
        <p:spPr>
          <a:xfrm>
            <a:off x="6726725" y="2300925"/>
            <a:ext cx="1889400" cy="18648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16" name="Google Shape;716;p93"/>
          <p:cNvSpPr txBox="1"/>
          <p:nvPr>
            <p:ph idx="4294967295" type="subTitle"/>
          </p:nvPr>
        </p:nvSpPr>
        <p:spPr>
          <a:xfrm>
            <a:off x="347850" y="1645450"/>
            <a:ext cx="2371500" cy="53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Single value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7" name="Google Shape;717;p93"/>
          <p:cNvSpPr txBox="1"/>
          <p:nvPr>
            <p:ph idx="4294967295" type="subTitle"/>
          </p:nvPr>
        </p:nvSpPr>
        <p:spPr>
          <a:xfrm>
            <a:off x="3436450" y="1645602"/>
            <a:ext cx="2371500" cy="53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Multiple values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8" name="Google Shape;718;p93"/>
          <p:cNvSpPr txBox="1"/>
          <p:nvPr>
            <p:ph idx="4294967295" type="subTitle"/>
          </p:nvPr>
        </p:nvSpPr>
        <p:spPr>
          <a:xfrm>
            <a:off x="6485675" y="1645602"/>
            <a:ext cx="2371500" cy="5334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 Medium"/>
                <a:ea typeface="Roboto Medium"/>
                <a:cs typeface="Roboto Medium"/>
                <a:sym typeface="Roboto Medium"/>
              </a:rPr>
              <a:t>Geographic maps</a:t>
            </a:r>
            <a:endParaRPr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19" name="Google Shape;719;p93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Splunk Dashboards</a:t>
            </a:r>
            <a:endParaRPr sz="2600"/>
          </a:p>
        </p:txBody>
      </p:sp>
      <p:sp>
        <p:nvSpPr>
          <p:cNvPr id="720" name="Google Shape;720;p9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each of these visualizations is useful on its own, they are even more effective when grouped and displayed together.</a:t>
            </a:r>
            <a:endParaRPr/>
          </a:p>
        </p:txBody>
      </p:sp>
      <p:sp>
        <p:nvSpPr>
          <p:cNvPr id="721" name="Google Shape;721;p93"/>
          <p:cNvSpPr/>
          <p:nvPr/>
        </p:nvSpPr>
        <p:spPr>
          <a:xfrm>
            <a:off x="2765313" y="2847300"/>
            <a:ext cx="693600" cy="6936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93"/>
          <p:cNvSpPr/>
          <p:nvPr/>
        </p:nvSpPr>
        <p:spPr>
          <a:xfrm>
            <a:off x="5817713" y="2847300"/>
            <a:ext cx="693600" cy="6936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94"/>
          <p:cNvSpPr txBox="1"/>
          <p:nvPr>
            <p:ph type="title"/>
          </p:nvPr>
        </p:nvSpPr>
        <p:spPr>
          <a:xfrm>
            <a:off x="76250" y="512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Splunk Dashboards</a:t>
            </a:r>
            <a:endParaRPr/>
          </a:p>
        </p:txBody>
      </p:sp>
      <p:sp>
        <p:nvSpPr>
          <p:cNvPr id="728" name="Google Shape;728;p94"/>
          <p:cNvSpPr txBox="1"/>
          <p:nvPr>
            <p:ph idx="4" type="subTitle"/>
          </p:nvPr>
        </p:nvSpPr>
        <p:spPr>
          <a:xfrm>
            <a:off x="1430600" y="1518188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volume of successful logins on the website</a:t>
            </a:r>
            <a:endParaRPr sz="1800"/>
          </a:p>
        </p:txBody>
      </p:sp>
      <p:sp>
        <p:nvSpPr>
          <p:cNvPr id="729" name="Google Shape;729;p94"/>
          <p:cNvSpPr txBox="1"/>
          <p:nvPr>
            <p:ph idx="4294967295" type="subTitle"/>
          </p:nvPr>
        </p:nvSpPr>
        <p:spPr>
          <a:xfrm>
            <a:off x="1430600" y="2849100"/>
            <a:ext cx="6994800" cy="48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geographic map illustrating where the activity is coming from</a:t>
            </a:r>
            <a:endParaRPr/>
          </a:p>
        </p:txBody>
      </p:sp>
      <p:sp>
        <p:nvSpPr>
          <p:cNvPr id="730" name="Google Shape;730;p94"/>
          <p:cNvSpPr txBox="1"/>
          <p:nvPr>
            <p:ph idx="4294967295" type="subTitle"/>
          </p:nvPr>
        </p:nvSpPr>
        <p:spPr>
          <a:xfrm>
            <a:off x="1430600" y="3416050"/>
            <a:ext cx="6994800" cy="48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pie chart displaying the specific pages of the website that are being accessed</a:t>
            </a:r>
            <a:endParaRPr/>
          </a:p>
        </p:txBody>
      </p:sp>
      <p:sp>
        <p:nvSpPr>
          <p:cNvPr id="731" name="Google Shape;731;p94"/>
          <p:cNvSpPr txBox="1"/>
          <p:nvPr>
            <p:ph idx="2" type="subTitle"/>
          </p:nvPr>
        </p:nvSpPr>
        <p:spPr>
          <a:xfrm>
            <a:off x="1370000" y="2135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volume of unsuccessful logins on the website</a:t>
            </a:r>
            <a:endParaRPr sz="1800"/>
          </a:p>
        </p:txBody>
      </p:sp>
      <p:sp>
        <p:nvSpPr>
          <p:cNvPr id="732" name="Google Shape;732;p94"/>
          <p:cNvSpPr txBox="1"/>
          <p:nvPr>
            <p:ph idx="5" type="title"/>
          </p:nvPr>
        </p:nvSpPr>
        <p:spPr>
          <a:xfrm>
            <a:off x="70200" y="515275"/>
            <a:ext cx="77784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 organization that is monitoring a website may want to view all of the following simultaneously: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075" y="675975"/>
            <a:ext cx="5657851" cy="4525176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95"/>
          <p:cNvSpPr txBox="1"/>
          <p:nvPr>
            <p:ph idx="1" type="subTitle"/>
          </p:nvPr>
        </p:nvSpPr>
        <p:spPr>
          <a:xfrm>
            <a:off x="0" y="198600"/>
            <a:ext cx="9144000" cy="364800"/>
          </a:xfrm>
          <a:prstGeom prst="rect">
            <a:avLst/>
          </a:prstGeom>
        </p:spPr>
        <p:txBody>
          <a:bodyPr anchorCtr="0" anchor="t" bIns="91425" lIns="457200" spcFirstLastPara="1" rIns="457200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Displaying all this information together can provide a security analyst with </a:t>
            </a:r>
            <a:br>
              <a:rPr lang="en"/>
            </a:br>
            <a:r>
              <a:rPr lang="en"/>
              <a:t>a complete picture of the state of their web application.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6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Dashboards </a:t>
            </a:r>
            <a:r>
              <a:rPr lang="en"/>
              <a:t>are a collection of multiple visualizations in a single location.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7"/>
          <p:cNvSpPr txBox="1"/>
          <p:nvPr>
            <p:ph type="title"/>
          </p:nvPr>
        </p:nvSpPr>
        <p:spPr>
          <a:xfrm>
            <a:off x="-12125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Dashboards</a:t>
            </a:r>
            <a:endParaRPr sz="2600"/>
          </a:p>
        </p:txBody>
      </p:sp>
      <p:sp>
        <p:nvSpPr>
          <p:cNvPr id="749" name="Google Shape;749;p97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(Splunk.com)</a:t>
            </a:r>
            <a:endParaRPr/>
          </a:p>
        </p:txBody>
      </p:sp>
      <p:sp>
        <p:nvSpPr>
          <p:cNvPr id="750" name="Google Shape;750;p97"/>
          <p:cNvSpPr txBox="1"/>
          <p:nvPr>
            <p:ph idx="1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</a:t>
            </a:r>
            <a:r>
              <a:rPr b="1" lang="en"/>
              <a:t>visualizations</a:t>
            </a:r>
            <a:r>
              <a:rPr lang="en"/>
              <a:t> are placed in different sections, called </a:t>
            </a:r>
            <a:r>
              <a:rPr b="1" lang="en"/>
              <a:t>panels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97"/>
          <p:cNvPicPr preferRelativeResize="0"/>
          <p:nvPr/>
        </p:nvPicPr>
        <p:blipFill rotWithShape="1">
          <a:blip r:embed="rId4">
            <a:alphaModFix/>
          </a:blip>
          <a:srcRect b="-1185" l="0" r="0" t="-1011"/>
          <a:stretch/>
        </p:blipFill>
        <p:spPr>
          <a:xfrm>
            <a:off x="2775969" y="1412500"/>
            <a:ext cx="5940680" cy="3730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97"/>
          <p:cNvSpPr txBox="1"/>
          <p:nvPr>
            <p:ph idx="3" type="body"/>
          </p:nvPr>
        </p:nvSpPr>
        <p:spPr>
          <a:xfrm>
            <a:off x="175" y="1284250"/>
            <a:ext cx="32331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Panels can contain:</a:t>
            </a:r>
            <a:endParaRPr/>
          </a:p>
          <a:p>
            <a:pPr indent="-205740" lvl="0" marL="320040" rtl="0" algn="l"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</a:t>
            </a:r>
            <a:r>
              <a:rPr lang="en"/>
              <a:t>-value visualizations</a:t>
            </a:r>
            <a:endParaRPr/>
          </a:p>
          <a:p>
            <a:pPr indent="-205740" lvl="0" marL="32004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Multiple-value visualizations</a:t>
            </a:r>
            <a:endParaRPr/>
          </a:p>
          <a:p>
            <a:pPr indent="-205740" lvl="0" marL="320040" rtl="0" algn="l"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Geographic maps</a:t>
            </a:r>
            <a:endParaRPr/>
          </a:p>
          <a:p>
            <a:pPr indent="-205740" lvl="0" marL="320040" rtl="0" algn="l">
              <a:spcBef>
                <a:spcPts val="800"/>
              </a:spcBef>
              <a:spcAft>
                <a:spcPts val="800"/>
              </a:spcAft>
              <a:buSzPts val="1800"/>
              <a:buChar char="●"/>
            </a:pPr>
            <a:r>
              <a:rPr lang="en"/>
              <a:t>Statistical charts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8"/>
          <p:cNvSpPr/>
          <p:nvPr/>
        </p:nvSpPr>
        <p:spPr>
          <a:xfrm>
            <a:off x="-12300" y="0"/>
            <a:ext cx="3354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98"/>
          <p:cNvSpPr txBox="1"/>
          <p:nvPr>
            <p:ph idx="3" type="body"/>
          </p:nvPr>
        </p:nvSpPr>
        <p:spPr>
          <a:xfrm>
            <a:off x="-12300" y="927100"/>
            <a:ext cx="32001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FFFFFF"/>
                </a:solidFill>
              </a:rPr>
              <a:t>SOCs often have dashboards displayed on multiple screens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FFFFFF"/>
                </a:solidFill>
              </a:rPr>
              <a:t>in the operations room to provide availability and functionality across staff.</a:t>
            </a:r>
            <a:endParaRPr sz="2100">
              <a:solidFill>
                <a:srgbClr val="FFFFFF"/>
              </a:solidFill>
            </a:endParaRPr>
          </a:p>
        </p:txBody>
      </p:sp>
      <p:pic>
        <p:nvPicPr>
          <p:cNvPr id="759" name="Google Shape;759;p98"/>
          <p:cNvPicPr preferRelativeResize="0"/>
          <p:nvPr/>
        </p:nvPicPr>
        <p:blipFill rotWithShape="1">
          <a:blip r:embed="rId3">
            <a:alphaModFix/>
          </a:blip>
          <a:srcRect b="2744" l="30691" r="3656" t="22684"/>
          <a:stretch/>
        </p:blipFill>
        <p:spPr>
          <a:xfrm>
            <a:off x="3322800" y="0"/>
            <a:ext cx="58334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9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9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9"/>
          <p:cNvSpPr txBox="1"/>
          <p:nvPr>
            <p:ph type="title"/>
          </p:nvPr>
        </p:nvSpPr>
        <p:spPr>
          <a:xfrm>
            <a:off x="31195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Dashboard Demo Scenario</a:t>
            </a:r>
            <a:endParaRPr sz="2600"/>
          </a:p>
        </p:txBody>
      </p:sp>
      <p:sp>
        <p:nvSpPr>
          <p:cNvPr id="767" name="Google Shape;767;p99"/>
          <p:cNvSpPr txBox="1"/>
          <p:nvPr>
            <p:ph idx="1" type="subTitle"/>
          </p:nvPr>
        </p:nvSpPr>
        <p:spPr>
          <a:xfrm>
            <a:off x="0" y="853700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SOC manager, you would like to create a single </a:t>
            </a:r>
            <a:r>
              <a:rPr b="1" lang="en">
                <a:highlight>
                  <a:schemeClr val="accent1"/>
                </a:highlight>
              </a:rPr>
              <a:t>three-panel dashboard</a:t>
            </a:r>
            <a:r>
              <a:rPr lang="en"/>
              <a:t> </a:t>
            </a:r>
            <a:br>
              <a:rPr lang="en"/>
            </a:br>
            <a:r>
              <a:rPr lang="en"/>
              <a:t>to monitor your Windows server. You want the panels to include:</a:t>
            </a:r>
            <a:endParaRPr/>
          </a:p>
        </p:txBody>
      </p:sp>
      <p:sp>
        <p:nvSpPr>
          <p:cNvPr id="768" name="Google Shape;768;p99"/>
          <p:cNvSpPr txBox="1"/>
          <p:nvPr>
            <p:ph idx="4294967295" type="subTitle"/>
          </p:nvPr>
        </p:nvSpPr>
        <p:spPr>
          <a:xfrm>
            <a:off x="117300" y="2554850"/>
            <a:ext cx="2016300" cy="606900"/>
          </a:xfrm>
          <a:prstGeom prst="rect">
            <a:avLst/>
          </a:prstGeom>
        </p:spPr>
        <p:txBody>
          <a:bodyPr anchorCtr="0" anchor="ctr" bIns="0" lIns="22860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radial gauge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of successful logins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99"/>
          <p:cNvSpPr txBox="1"/>
          <p:nvPr>
            <p:ph idx="4294967295" type="subTitle"/>
          </p:nvPr>
        </p:nvSpPr>
        <p:spPr>
          <a:xfrm>
            <a:off x="7429650" y="2599450"/>
            <a:ext cx="1238100" cy="8262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pie chart</a:t>
            </a:r>
            <a:r>
              <a:rPr lang="en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of users logging in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99"/>
          <p:cNvSpPr txBox="1"/>
          <p:nvPr>
            <p:ph idx="4294967295" type="subTitle"/>
          </p:nvPr>
        </p:nvSpPr>
        <p:spPr>
          <a:xfrm>
            <a:off x="193925" y="4003900"/>
            <a:ext cx="1939800" cy="533700"/>
          </a:xfrm>
          <a:prstGeom prst="rect">
            <a:avLst/>
          </a:prstGeom>
        </p:spPr>
        <p:txBody>
          <a:bodyPr anchorCtr="0" anchor="ctr" bIns="0" lIns="228600" spcFirstLastPara="1" rIns="0" wrap="square" tIns="0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statistical chart</a:t>
            </a:r>
            <a:r>
              <a:rPr lang="en">
                <a:highlight>
                  <a:schemeClr val="accen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of the data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in the pie chart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71" name="Google Shape;771;p99"/>
          <p:cNvGrpSpPr/>
          <p:nvPr/>
        </p:nvGrpSpPr>
        <p:grpSpPr>
          <a:xfrm>
            <a:off x="2772150" y="1663800"/>
            <a:ext cx="4056900" cy="3268500"/>
            <a:chOff x="4812650" y="1486075"/>
            <a:chExt cx="4056900" cy="3268500"/>
          </a:xfrm>
        </p:grpSpPr>
        <p:sp>
          <p:nvSpPr>
            <p:cNvPr id="772" name="Google Shape;772;p99"/>
            <p:cNvSpPr/>
            <p:nvPr/>
          </p:nvSpPr>
          <p:spPr>
            <a:xfrm>
              <a:off x="4812650" y="1486075"/>
              <a:ext cx="4056900" cy="32685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99"/>
            <p:cNvSpPr txBox="1"/>
            <p:nvPr/>
          </p:nvSpPr>
          <p:spPr>
            <a:xfrm>
              <a:off x="4947950" y="1857375"/>
              <a:ext cx="1849800" cy="1569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Windows Login Count</a:t>
              </a:r>
              <a:endParaRPr sz="1000"/>
            </a:p>
          </p:txBody>
        </p:sp>
        <p:sp>
          <p:nvSpPr>
            <p:cNvPr id="774" name="Google Shape;774;p99"/>
            <p:cNvSpPr txBox="1"/>
            <p:nvPr/>
          </p:nvSpPr>
          <p:spPr>
            <a:xfrm>
              <a:off x="6876838" y="1857375"/>
              <a:ext cx="1849800" cy="1569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Top 10 Windows Users</a:t>
              </a:r>
              <a:endParaRPr sz="1000"/>
            </a:p>
          </p:txBody>
        </p:sp>
        <p:sp>
          <p:nvSpPr>
            <p:cNvPr id="775" name="Google Shape;775;p99"/>
            <p:cNvSpPr txBox="1"/>
            <p:nvPr/>
          </p:nvSpPr>
          <p:spPr>
            <a:xfrm>
              <a:off x="4888850" y="1505250"/>
              <a:ext cx="37302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Windows </a:t>
              </a:r>
              <a:r>
                <a:rPr b="1" lang="en"/>
                <a:t>Monitoring</a:t>
              </a:r>
              <a:r>
                <a:rPr b="1" lang="en"/>
                <a:t> Dashboard</a:t>
              </a:r>
              <a:endParaRPr b="1"/>
            </a:p>
          </p:txBody>
        </p:sp>
        <p:sp>
          <p:nvSpPr>
            <p:cNvPr id="776" name="Google Shape;776;p99"/>
            <p:cNvSpPr txBox="1"/>
            <p:nvPr/>
          </p:nvSpPr>
          <p:spPr>
            <a:xfrm>
              <a:off x="4947950" y="3538900"/>
              <a:ext cx="3826800" cy="109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Windows Users Login</a:t>
              </a:r>
              <a:endParaRPr sz="1000"/>
            </a:p>
          </p:txBody>
        </p:sp>
        <p:pic>
          <p:nvPicPr>
            <p:cNvPr id="777" name="Google Shape;777;p99"/>
            <p:cNvPicPr preferRelativeResize="0"/>
            <p:nvPr/>
          </p:nvPicPr>
          <p:blipFill rotWithShape="1">
            <a:blip r:embed="rId3">
              <a:alphaModFix/>
            </a:blip>
            <a:srcRect b="0" l="6881" r="56340" t="27662"/>
            <a:stretch/>
          </p:blipFill>
          <p:spPr>
            <a:xfrm>
              <a:off x="5319200" y="2187075"/>
              <a:ext cx="1107324" cy="10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8" name="Google Shape;778;p99"/>
            <p:cNvPicPr preferRelativeResize="0"/>
            <p:nvPr/>
          </p:nvPicPr>
          <p:blipFill rotWithShape="1">
            <a:blip r:embed="rId4">
              <a:alphaModFix/>
            </a:blip>
            <a:srcRect b="4572" l="66909" r="5505" t="41816"/>
            <a:stretch/>
          </p:blipFill>
          <p:spPr>
            <a:xfrm>
              <a:off x="7052945" y="2243525"/>
              <a:ext cx="1497609" cy="109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99"/>
            <p:cNvSpPr txBox="1"/>
            <p:nvPr/>
          </p:nvSpPr>
          <p:spPr>
            <a:xfrm>
              <a:off x="5063950" y="3848150"/>
              <a:ext cx="18129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0" name="Google Shape;780;p99"/>
            <p:cNvSpPr txBox="1"/>
            <p:nvPr/>
          </p:nvSpPr>
          <p:spPr>
            <a:xfrm>
              <a:off x="6524625" y="3848150"/>
              <a:ext cx="5556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count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1" name="Google Shape;781;p99"/>
            <p:cNvSpPr txBox="1"/>
            <p:nvPr/>
          </p:nvSpPr>
          <p:spPr>
            <a:xfrm>
              <a:off x="7119025" y="3848150"/>
              <a:ext cx="15786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782" name="Google Shape;782;p99"/>
            <p:cNvGrpSpPr/>
            <p:nvPr/>
          </p:nvGrpSpPr>
          <p:grpSpPr>
            <a:xfrm>
              <a:off x="5398075" y="3886138"/>
              <a:ext cx="82800" cy="96225"/>
              <a:chOff x="4374150" y="3942150"/>
              <a:chExt cx="82800" cy="96225"/>
            </a:xfrm>
          </p:grpSpPr>
          <p:sp>
            <p:nvSpPr>
              <p:cNvPr id="783" name="Google Shape;783;p99"/>
              <p:cNvSpPr/>
              <p:nvPr/>
            </p:nvSpPr>
            <p:spPr>
              <a:xfrm>
                <a:off x="4374150" y="3942150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99"/>
              <p:cNvSpPr/>
              <p:nvPr/>
            </p:nvSpPr>
            <p:spPr>
              <a:xfrm flipH="1" rot="10800000">
                <a:off x="4374150" y="3998475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5" name="Google Shape;785;p99"/>
            <p:cNvGrpSpPr/>
            <p:nvPr/>
          </p:nvGrpSpPr>
          <p:grpSpPr>
            <a:xfrm>
              <a:off x="6931600" y="3886138"/>
              <a:ext cx="82800" cy="96225"/>
              <a:chOff x="4374150" y="3942150"/>
              <a:chExt cx="82800" cy="96225"/>
            </a:xfrm>
          </p:grpSpPr>
          <p:sp>
            <p:nvSpPr>
              <p:cNvPr id="786" name="Google Shape;786;p99"/>
              <p:cNvSpPr/>
              <p:nvPr/>
            </p:nvSpPr>
            <p:spPr>
              <a:xfrm>
                <a:off x="4374150" y="3942150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99"/>
              <p:cNvSpPr/>
              <p:nvPr/>
            </p:nvSpPr>
            <p:spPr>
              <a:xfrm flipH="1" rot="10800000">
                <a:off x="4374150" y="3998475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8" name="Google Shape;788;p99"/>
            <p:cNvSpPr txBox="1"/>
            <p:nvPr/>
          </p:nvSpPr>
          <p:spPr>
            <a:xfrm>
              <a:off x="5063950" y="4081513"/>
              <a:ext cx="1812900" cy="1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user_1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9" name="Google Shape;789;p99"/>
            <p:cNvSpPr txBox="1"/>
            <p:nvPr/>
          </p:nvSpPr>
          <p:spPr>
            <a:xfrm>
              <a:off x="6524625" y="4081513"/>
              <a:ext cx="352200" cy="1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27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936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0" name="Google Shape;790;p99"/>
            <p:cNvSpPr txBox="1"/>
            <p:nvPr/>
          </p:nvSpPr>
          <p:spPr>
            <a:xfrm>
              <a:off x="5063950" y="4314875"/>
              <a:ext cx="20163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1" name="Google Shape;791;p99"/>
            <p:cNvSpPr txBox="1"/>
            <p:nvPr/>
          </p:nvSpPr>
          <p:spPr>
            <a:xfrm>
              <a:off x="6524625" y="4314875"/>
              <a:ext cx="3522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0" wrap="square" tIns="27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710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2" name="Google Shape;792;p99"/>
            <p:cNvSpPr txBox="1"/>
            <p:nvPr/>
          </p:nvSpPr>
          <p:spPr>
            <a:xfrm>
              <a:off x="7119025" y="4314875"/>
              <a:ext cx="15786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93" name="Google Shape;793;p99"/>
          <p:cNvCxnSpPr/>
          <p:nvPr/>
        </p:nvCxnSpPr>
        <p:spPr>
          <a:xfrm>
            <a:off x="6496050" y="2892350"/>
            <a:ext cx="9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794" name="Google Shape;794;p99"/>
          <p:cNvCxnSpPr/>
          <p:nvPr/>
        </p:nvCxnSpPr>
        <p:spPr>
          <a:xfrm>
            <a:off x="2228850" y="2892350"/>
            <a:ext cx="9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95" name="Google Shape;795;p99"/>
          <p:cNvCxnSpPr/>
          <p:nvPr/>
        </p:nvCxnSpPr>
        <p:spPr>
          <a:xfrm>
            <a:off x="2228850" y="4273475"/>
            <a:ext cx="93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96" name="Google Shape;796;p99"/>
          <p:cNvCxnSpPr/>
          <p:nvPr/>
        </p:nvCxnSpPr>
        <p:spPr>
          <a:xfrm>
            <a:off x="-9375" y="772625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97" name="Google Shape;797;p99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8" name="Google Shape;798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0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Creating </a:t>
            </a:r>
            <a:r>
              <a:rPr lang="en" sz="3100">
                <a:latin typeface="Roboto"/>
                <a:ea typeface="Roboto"/>
                <a:cs typeface="Roboto"/>
                <a:sym typeface="Roboto"/>
              </a:rPr>
              <a:t>Dashboards</a:t>
            </a:r>
            <a:endParaRPr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1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809" name="Google Shape;809;p10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Dashboards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0" name="Google Shape;810;p101"/>
          <p:cNvSpPr txBox="1"/>
          <p:nvPr>
            <p:ph idx="3" type="body"/>
          </p:nvPr>
        </p:nvSpPr>
        <p:spPr>
          <a:xfrm>
            <a:off x="914400" y="1176975"/>
            <a:ext cx="73152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your team would like to view all of these data visualizations in a single location.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designing a single dashboard to view all of the visualizations in a single location.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1" name="Google Shape;81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Drilldowns and Dashboard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Interactivity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5" name="Google Shape;825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0536" y="1705973"/>
            <a:ext cx="922925" cy="92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5"/>
          <p:cNvSpPr txBox="1"/>
          <p:nvPr>
            <p:ph type="title"/>
          </p:nvPr>
        </p:nvSpPr>
        <p:spPr>
          <a:xfrm>
            <a:off x="-12125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Drilldowns and Dashboard Interactivity</a:t>
            </a:r>
            <a:endParaRPr sz="2600"/>
          </a:p>
        </p:txBody>
      </p:sp>
      <p:sp>
        <p:nvSpPr>
          <p:cNvPr id="831" name="Google Shape;831;p105"/>
          <p:cNvSpPr txBox="1"/>
          <p:nvPr>
            <p:ph idx="1" type="subTitle"/>
          </p:nvPr>
        </p:nvSpPr>
        <p:spPr>
          <a:xfrm>
            <a:off x="0" y="457500"/>
            <a:ext cx="9144000" cy="5070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to many other applications in Splunk, dashboards have advanced features that can help information security professionals research security issues.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include:</a:t>
            </a:r>
            <a:endParaRPr/>
          </a:p>
        </p:txBody>
      </p:sp>
      <p:pic>
        <p:nvPicPr>
          <p:cNvPr id="832" name="Google Shape;832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224" y="1591494"/>
            <a:ext cx="5968550" cy="3083751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105"/>
          <p:cNvSpPr txBox="1"/>
          <p:nvPr/>
        </p:nvSpPr>
        <p:spPr>
          <a:xfrm>
            <a:off x="768049" y="2533569"/>
            <a:ext cx="2019300" cy="1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 input modifications within dashboards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105"/>
          <p:cNvSpPr txBox="1"/>
          <p:nvPr/>
        </p:nvSpPr>
        <p:spPr>
          <a:xfrm>
            <a:off x="3822750" y="2652962"/>
            <a:ext cx="20193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Drilldowns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within panels for further analysis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105"/>
          <p:cNvSpPr/>
          <p:nvPr/>
        </p:nvSpPr>
        <p:spPr>
          <a:xfrm>
            <a:off x="6379350" y="1770950"/>
            <a:ext cx="2449200" cy="22572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We will learn how to configure these features by using the dashboard and scenario from the </a:t>
            </a:r>
            <a:br>
              <a:rPr lang="en" sz="1500">
                <a:latin typeface="Roboto"/>
                <a:ea typeface="Roboto"/>
                <a:cs typeface="Roboto"/>
                <a:sym typeface="Roboto"/>
              </a:rPr>
            </a:br>
            <a:r>
              <a:rPr lang="en" sz="1500">
                <a:latin typeface="Roboto"/>
                <a:ea typeface="Roboto"/>
                <a:cs typeface="Roboto"/>
                <a:sym typeface="Roboto"/>
              </a:rPr>
              <a:t>last demonstration.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40005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6" name="Google Shape;836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6681" y="1894710"/>
            <a:ext cx="674557" cy="638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06"/>
          <p:cNvSpPr txBox="1"/>
          <p:nvPr>
            <p:ph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Drilldowns and Dashboard Interactivity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06"/>
          <p:cNvSpPr txBox="1"/>
          <p:nvPr>
            <p:ph idx="1" type="subTitle"/>
          </p:nvPr>
        </p:nvSpPr>
        <p:spPr>
          <a:xfrm>
            <a:off x="0" y="5235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SOC manager, you created a three-panel dashboard to monitor your Windows server. </a:t>
            </a:r>
            <a:endParaRPr/>
          </a:p>
        </p:txBody>
      </p:sp>
      <p:sp>
        <p:nvSpPr>
          <p:cNvPr id="843" name="Google Shape;843;p106"/>
          <p:cNvSpPr txBox="1"/>
          <p:nvPr>
            <p:ph idx="3" type="body"/>
          </p:nvPr>
        </p:nvSpPr>
        <p:spPr>
          <a:xfrm>
            <a:off x="175" y="1436650"/>
            <a:ext cx="47178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You will expand the functionality of this dashboard by</a:t>
            </a:r>
            <a:r>
              <a:rPr b="1" lang="en"/>
              <a:t>:</a:t>
            </a:r>
            <a:endParaRPr b="1"/>
          </a:p>
          <a:p>
            <a:pPr indent="-205740" lvl="0" marL="32004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Modifying the date and time ranges being analyzed directly on the dashboard</a:t>
            </a:r>
            <a:endParaRPr/>
          </a:p>
          <a:p>
            <a:pPr indent="-205740" lvl="0" marL="32004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Adding a drilldown into the visualizations to assist with further analysis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844" name="Google Shape;844;p106"/>
          <p:cNvGrpSpPr/>
          <p:nvPr/>
        </p:nvGrpSpPr>
        <p:grpSpPr>
          <a:xfrm>
            <a:off x="4717978" y="1257382"/>
            <a:ext cx="4151426" cy="3344656"/>
            <a:chOff x="4812650" y="1486075"/>
            <a:chExt cx="4056900" cy="3268500"/>
          </a:xfrm>
        </p:grpSpPr>
        <p:sp>
          <p:nvSpPr>
            <p:cNvPr id="845" name="Google Shape;845;p106"/>
            <p:cNvSpPr/>
            <p:nvPr/>
          </p:nvSpPr>
          <p:spPr>
            <a:xfrm>
              <a:off x="4812650" y="1486075"/>
              <a:ext cx="4056900" cy="32685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06"/>
            <p:cNvSpPr txBox="1"/>
            <p:nvPr/>
          </p:nvSpPr>
          <p:spPr>
            <a:xfrm>
              <a:off x="4947950" y="1857375"/>
              <a:ext cx="1849800" cy="1569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Windows Login Count</a:t>
              </a:r>
              <a:endParaRPr sz="1000"/>
            </a:p>
          </p:txBody>
        </p:sp>
        <p:sp>
          <p:nvSpPr>
            <p:cNvPr id="847" name="Google Shape;847;p106"/>
            <p:cNvSpPr txBox="1"/>
            <p:nvPr/>
          </p:nvSpPr>
          <p:spPr>
            <a:xfrm>
              <a:off x="6876838" y="1857375"/>
              <a:ext cx="1849800" cy="1569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Top 10 Windows Users</a:t>
              </a:r>
              <a:endParaRPr sz="1000"/>
            </a:p>
          </p:txBody>
        </p:sp>
        <p:sp>
          <p:nvSpPr>
            <p:cNvPr id="848" name="Google Shape;848;p106"/>
            <p:cNvSpPr txBox="1"/>
            <p:nvPr/>
          </p:nvSpPr>
          <p:spPr>
            <a:xfrm>
              <a:off x="4888850" y="1505250"/>
              <a:ext cx="37302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Windows </a:t>
              </a:r>
              <a:r>
                <a:rPr b="1" lang="en"/>
                <a:t>Monitoring</a:t>
              </a:r>
              <a:r>
                <a:rPr b="1" lang="en"/>
                <a:t> Dashboard</a:t>
              </a:r>
              <a:endParaRPr b="1"/>
            </a:p>
          </p:txBody>
        </p:sp>
        <p:sp>
          <p:nvSpPr>
            <p:cNvPr id="849" name="Google Shape;849;p106"/>
            <p:cNvSpPr txBox="1"/>
            <p:nvPr/>
          </p:nvSpPr>
          <p:spPr>
            <a:xfrm>
              <a:off x="4947950" y="3538900"/>
              <a:ext cx="3826800" cy="109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Windows Users Login</a:t>
              </a:r>
              <a:endParaRPr sz="1000"/>
            </a:p>
          </p:txBody>
        </p:sp>
        <p:pic>
          <p:nvPicPr>
            <p:cNvPr id="850" name="Google Shape;850;p106"/>
            <p:cNvPicPr preferRelativeResize="0"/>
            <p:nvPr/>
          </p:nvPicPr>
          <p:blipFill rotWithShape="1">
            <a:blip r:embed="rId3">
              <a:alphaModFix/>
            </a:blip>
            <a:srcRect b="0" l="6881" r="56340" t="27662"/>
            <a:stretch/>
          </p:blipFill>
          <p:spPr>
            <a:xfrm>
              <a:off x="5319200" y="2187075"/>
              <a:ext cx="1107324" cy="10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1" name="Google Shape;851;p106"/>
            <p:cNvPicPr preferRelativeResize="0"/>
            <p:nvPr/>
          </p:nvPicPr>
          <p:blipFill rotWithShape="1">
            <a:blip r:embed="rId4">
              <a:alphaModFix/>
            </a:blip>
            <a:srcRect b="4572" l="66909" r="5505" t="41816"/>
            <a:stretch/>
          </p:blipFill>
          <p:spPr>
            <a:xfrm>
              <a:off x="7052945" y="2243525"/>
              <a:ext cx="1497609" cy="109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106"/>
            <p:cNvSpPr txBox="1"/>
            <p:nvPr/>
          </p:nvSpPr>
          <p:spPr>
            <a:xfrm>
              <a:off x="5063950" y="3848150"/>
              <a:ext cx="18129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3" name="Google Shape;853;p106"/>
            <p:cNvSpPr txBox="1"/>
            <p:nvPr/>
          </p:nvSpPr>
          <p:spPr>
            <a:xfrm>
              <a:off x="6524625" y="3848150"/>
              <a:ext cx="5556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count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4" name="Google Shape;854;p106"/>
            <p:cNvSpPr txBox="1"/>
            <p:nvPr/>
          </p:nvSpPr>
          <p:spPr>
            <a:xfrm>
              <a:off x="7119025" y="3848150"/>
              <a:ext cx="15786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55" name="Google Shape;855;p106"/>
            <p:cNvGrpSpPr/>
            <p:nvPr/>
          </p:nvGrpSpPr>
          <p:grpSpPr>
            <a:xfrm>
              <a:off x="5398075" y="3886138"/>
              <a:ext cx="82800" cy="96225"/>
              <a:chOff x="4374150" y="3942150"/>
              <a:chExt cx="82800" cy="96225"/>
            </a:xfrm>
          </p:grpSpPr>
          <p:sp>
            <p:nvSpPr>
              <p:cNvPr id="856" name="Google Shape;856;p106"/>
              <p:cNvSpPr/>
              <p:nvPr/>
            </p:nvSpPr>
            <p:spPr>
              <a:xfrm>
                <a:off x="4374150" y="3942150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106"/>
              <p:cNvSpPr/>
              <p:nvPr/>
            </p:nvSpPr>
            <p:spPr>
              <a:xfrm flipH="1" rot="10800000">
                <a:off x="4374150" y="3998475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8" name="Google Shape;858;p106"/>
            <p:cNvGrpSpPr/>
            <p:nvPr/>
          </p:nvGrpSpPr>
          <p:grpSpPr>
            <a:xfrm>
              <a:off x="6931600" y="3886138"/>
              <a:ext cx="82800" cy="96225"/>
              <a:chOff x="4374150" y="3942150"/>
              <a:chExt cx="82800" cy="96225"/>
            </a:xfrm>
          </p:grpSpPr>
          <p:sp>
            <p:nvSpPr>
              <p:cNvPr id="859" name="Google Shape;859;p106"/>
              <p:cNvSpPr/>
              <p:nvPr/>
            </p:nvSpPr>
            <p:spPr>
              <a:xfrm>
                <a:off x="4374150" y="3942150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06"/>
              <p:cNvSpPr/>
              <p:nvPr/>
            </p:nvSpPr>
            <p:spPr>
              <a:xfrm flipH="1" rot="10800000">
                <a:off x="4374150" y="3998475"/>
                <a:ext cx="82800" cy="39900"/>
              </a:xfrm>
              <a:prstGeom prst="triangle">
                <a:avLst>
                  <a:gd fmla="val 50000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1" name="Google Shape;861;p106"/>
            <p:cNvSpPr txBox="1"/>
            <p:nvPr/>
          </p:nvSpPr>
          <p:spPr>
            <a:xfrm>
              <a:off x="5063950" y="4081513"/>
              <a:ext cx="1812900" cy="1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user_1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2" name="Google Shape;862;p106"/>
            <p:cNvSpPr txBox="1"/>
            <p:nvPr/>
          </p:nvSpPr>
          <p:spPr>
            <a:xfrm>
              <a:off x="6524625" y="4081513"/>
              <a:ext cx="352200" cy="17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0" wrap="square" tIns="27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936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3" name="Google Shape;863;p106"/>
            <p:cNvSpPr txBox="1"/>
            <p:nvPr/>
          </p:nvSpPr>
          <p:spPr>
            <a:xfrm>
              <a:off x="5063950" y="4314875"/>
              <a:ext cx="20163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user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4" name="Google Shape;864;p106"/>
            <p:cNvSpPr txBox="1"/>
            <p:nvPr/>
          </p:nvSpPr>
          <p:spPr>
            <a:xfrm>
              <a:off x="6524625" y="4314875"/>
              <a:ext cx="3522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0" wrap="square" tIns="27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710</a:t>
              </a:r>
              <a:endParaRPr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5" name="Google Shape;865;p106"/>
            <p:cNvSpPr txBox="1"/>
            <p:nvPr/>
          </p:nvSpPr>
          <p:spPr>
            <a:xfrm>
              <a:off x="7119025" y="4314875"/>
              <a:ext cx="1578600" cy="1722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t" bIns="91425" lIns="91425" spcFirstLastPara="1" rIns="91425" wrap="square" tIns="27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7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Drilldowns and Dashboard Interactivity</a:t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08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876" name="Google Shape;876;p10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Dashboards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77" name="Google Shape;877;p108"/>
          <p:cNvSpPr txBox="1"/>
          <p:nvPr>
            <p:ph idx="3" type="body"/>
          </p:nvPr>
        </p:nvSpPr>
        <p:spPr>
          <a:xfrm>
            <a:off x="914400" y="1176975"/>
            <a:ext cx="7315200" cy="3191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SOC staff appreciate the great work you did to build a robust dashboard to monitor attacks against the web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Several people have requested that you make the dashboard panels more interactive so they can quickly research attacks.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enhancing your dashboard to add drilldowns and interactivity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8" name="Google Shape;878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11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Advanced Security Monitoring Tools</a:t>
            </a:r>
            <a:endParaRPr b="1" baseline="-25000" sz="2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