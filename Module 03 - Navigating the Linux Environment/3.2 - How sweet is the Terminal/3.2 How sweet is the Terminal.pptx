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y="5143500" cx="9144000"/>
  <p:notesSz cx="6858000" cy="9144000"/>
  <p:embeddedFontLst>
    <p:embeddedFont>
      <p:font typeface="Roboto"/>
      <p:regular r:id="rId53"/>
      <p:bold r:id="rId54"/>
      <p:italic r:id="rId55"/>
      <p:boldItalic r:id="rId56"/>
    </p:embeddedFont>
    <p:embeddedFont>
      <p:font typeface="Roboto Medium"/>
      <p:regular r:id="rId57"/>
      <p:bold r:id="rId58"/>
      <p:italic r:id="rId59"/>
      <p:boldItalic r:id="rId60"/>
    </p:embeddedFont>
    <p:embeddedFont>
      <p:font typeface="Inconsolata"/>
      <p:regular r:id="rId61"/>
      <p:bold r:id="rId62"/>
    </p:embeddedFont>
    <p:embeddedFont>
      <p:font typeface="Inconsolata SemiBold"/>
      <p:regular r:id="rId63"/>
      <p:bold r:id="rId64"/>
    </p:embeddedFont>
    <p:embeddedFont>
      <p:font typeface="Roboto Light"/>
      <p:regular r:id="rId65"/>
      <p:bold r:id="rId66"/>
      <p:italic r:id="rId67"/>
      <p:boldItalic r:id="rId68"/>
    </p:embeddedFont>
    <p:embeddedFont>
      <p:font typeface="Inconsolata Medium"/>
      <p:regular r:id="rId69"/>
      <p:bold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BD3B75-B270-40FB-8327-EAD4090DE4E5}">
  <a:tblStyle styleId="{EEBD3B75-B270-40FB-8327-EAD4090DE4E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0" Type="http://schemas.openxmlformats.org/officeDocument/2006/relationships/font" Target="fonts/InconsolataMedium-bold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Inconsolata-bold.fntdata"/><Relationship Id="rId61" Type="http://schemas.openxmlformats.org/officeDocument/2006/relationships/font" Target="fonts/Inconsolata-regular.fntdata"/><Relationship Id="rId20" Type="http://schemas.openxmlformats.org/officeDocument/2006/relationships/slide" Target="slides/slide15.xml"/><Relationship Id="rId64" Type="http://schemas.openxmlformats.org/officeDocument/2006/relationships/font" Target="fonts/InconsolataSemiBold-bold.fntdata"/><Relationship Id="rId63" Type="http://schemas.openxmlformats.org/officeDocument/2006/relationships/font" Target="fonts/InconsolataSemiBold-regular.fntdata"/><Relationship Id="rId22" Type="http://schemas.openxmlformats.org/officeDocument/2006/relationships/slide" Target="slides/slide17.xml"/><Relationship Id="rId66" Type="http://schemas.openxmlformats.org/officeDocument/2006/relationships/font" Target="fonts/RobotoLight-bold.fntdata"/><Relationship Id="rId21" Type="http://schemas.openxmlformats.org/officeDocument/2006/relationships/slide" Target="slides/slide16.xml"/><Relationship Id="rId65" Type="http://schemas.openxmlformats.org/officeDocument/2006/relationships/font" Target="fonts/RobotoLight-regular.fntdata"/><Relationship Id="rId24" Type="http://schemas.openxmlformats.org/officeDocument/2006/relationships/slide" Target="slides/slide19.xml"/><Relationship Id="rId68" Type="http://schemas.openxmlformats.org/officeDocument/2006/relationships/font" Target="fonts/RobotoLight-boldItalic.fntdata"/><Relationship Id="rId23" Type="http://schemas.openxmlformats.org/officeDocument/2006/relationships/slide" Target="slides/slide18.xml"/><Relationship Id="rId67" Type="http://schemas.openxmlformats.org/officeDocument/2006/relationships/font" Target="fonts/RobotoLight-italic.fntdata"/><Relationship Id="rId60" Type="http://schemas.openxmlformats.org/officeDocument/2006/relationships/font" Target="fonts/RobotoMedium-bold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InconsolataMedium-regular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font" Target="fonts/Roboto-regular.fntdata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Roboto-italic.fntdata"/><Relationship Id="rId10" Type="http://schemas.openxmlformats.org/officeDocument/2006/relationships/slide" Target="slides/slide5.xml"/><Relationship Id="rId54" Type="http://schemas.openxmlformats.org/officeDocument/2006/relationships/font" Target="fonts/Roboto-bold.fntdata"/><Relationship Id="rId13" Type="http://schemas.openxmlformats.org/officeDocument/2006/relationships/slide" Target="slides/slide8.xml"/><Relationship Id="rId57" Type="http://schemas.openxmlformats.org/officeDocument/2006/relationships/font" Target="fonts/RobotoMedium-regular.fntdata"/><Relationship Id="rId12" Type="http://schemas.openxmlformats.org/officeDocument/2006/relationships/slide" Target="slides/slide7.xml"/><Relationship Id="rId56" Type="http://schemas.openxmlformats.org/officeDocument/2006/relationships/font" Target="fonts/Roboto-boldItalic.fntdata"/><Relationship Id="rId15" Type="http://schemas.openxmlformats.org/officeDocument/2006/relationships/slide" Target="slides/slide10.xml"/><Relationship Id="rId59" Type="http://schemas.openxmlformats.org/officeDocument/2006/relationships/font" Target="fonts/RobotoMedium-italic.fntdata"/><Relationship Id="rId14" Type="http://schemas.openxmlformats.org/officeDocument/2006/relationships/slide" Target="slides/slide9.xml"/><Relationship Id="rId58" Type="http://schemas.openxmlformats.org/officeDocument/2006/relationships/font" Target="fonts/RobotoMedium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eb00afe1db_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2eb00afe1db_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ec6178e3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g2ec6178e3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ec6178e38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2ec6178e38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ec6178e38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2ec6178e38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ec6178e382_0_8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2ec6178e382_0_8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efe1d7ed8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2efe1d7ed8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2efe1d7ed8c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2efe1d7ed8c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efe1d7ed8c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2efe1d7ed8c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efe1d7ed8c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2efe1d7ed8c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efe1d7ed8c_0_1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2efe1d7ed8c_0_1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2efe1d7ed8c_0_1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2efe1d7ed8c_0_1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2ec6178e382_0_36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2ec6178e382_0_36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ec6178e382_0_36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2ec6178e382_0_3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ec6178e382_0_3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2ec6178e382_0_3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2ec6178e382_0_3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2ec6178e382_0_3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ec6178e382_0_40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2ec6178e382_0_40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ec6178e382_0_4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g2ec6178e382_0_4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efe1d7ed8c_0_20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2efe1d7ed8c_0_20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2efe1d7ed8c_0_30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2efe1d7ed8c_0_3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2ec6178e382_0_49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2ec6178e382_0_49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2ec6178e382_0_49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2ec6178e382_0_49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2ec6178e382_0_49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2ec6178e382_0_49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2ec6178e382_0_57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2ec6178e382_0_57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2ec6178e382_0_57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2ec6178e382_0_5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2ec6178e382_0_57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2ec6178e382_0_5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2ec6178e382_0_57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2ec6178e382_0_57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2ec6178e382_0_57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2ec6178e382_0_57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2ec6178e382_0_58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2ec6178e382_0_58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2ec6178e382_0_58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2ec6178e382_0_58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2efe1d7ed8c_0_30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2efe1d7ed8c_0_3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2efe1d7ed8c_0_30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2efe1d7ed8c_0_30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Shutterstock_792833623 </a:t>
            </a:r>
            <a:r>
              <a:rPr lang="en"/>
              <a:t>shutterstock_693068344 shutterstock_693068344.png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2ec6178e382_0_80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2ec6178e382_0_80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2ec6178e382_0_80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2ec6178e382_0_80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2ec6178e382_0_8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2ec6178e382_0_8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2ec6178e382_0_80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2ec6178e382_0_8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efe1d7ed8c_0_4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2efe1d7ed8c_0_4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shutterstock_1888488028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2ec6178e382_0_80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2ec6178e382_0_80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2ec6178e382_0_8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2ec6178e382_0_8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2ec6178e382_0_8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2ec6178e382_0_8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2ec6178e382_0_80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2ec6178e382_0_8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2efe1d7ed8c_0_5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2efe1d7ed8c_0_5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shutterstock_1888488028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2ec6178e382_0_9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2ec6178e382_0_9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2ec6178e382_0_9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2ec6178e382_0_9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2ec6178e382_0_9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2ec6178e382_0_9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2ec6178e382_0_9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2ec6178e382_0_9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2efe1d7ed8c_0_5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2efe1d7ed8c_0_5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2ec6178e382_0_9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2ec6178e382_0_9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24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s + Body text">
  <p:cSld name="CUSTOM_1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Right image layout">
  <p:cSld name="CUSTOM_6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>
            <p:ph idx="2" type="pic"/>
          </p:nvPr>
        </p:nvSpPr>
        <p:spPr>
          <a:xfrm>
            <a:off x="5943725" y="150"/>
            <a:ext cx="3200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right text layout">
  <p:cSld name="CUSTOM_3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5943650" y="0"/>
            <a:ext cx="31965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6400800" y="725688"/>
            <a:ext cx="2286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6400800" y="1600088"/>
            <a:ext cx="2349300" cy="29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3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4"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image insert">
  <p:cSld name="CUSTOM_8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 rot="10800000">
            <a:off x="3453900" y="1729748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7" name="Google Shape;27;p5"/>
          <p:cNvCxnSpPr/>
          <p:nvPr/>
        </p:nvCxnSpPr>
        <p:spPr>
          <a:xfrm rot="10800000">
            <a:off x="3453900" y="3524825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" name="Google Shape;28;p5"/>
          <p:cNvSpPr/>
          <p:nvPr>
            <p:ph idx="2" type="pic"/>
          </p:nvPr>
        </p:nvSpPr>
        <p:spPr>
          <a:xfrm>
            <a:off x="3657600" y="1371600"/>
            <a:ext cx="5029200" cy="274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3" type="body"/>
          </p:nvPr>
        </p:nvSpPr>
        <p:spPr>
          <a:xfrm>
            <a:off x="457200" y="1592650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4" type="body"/>
          </p:nvPr>
        </p:nvSpPr>
        <p:spPr>
          <a:xfrm>
            <a:off x="457200" y="3413275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Left image layout">
  <p:cSld name="CUSTOM_7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 + Subheading blank">
  <p:cSld name="CUSTOM_21_2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0" name="Google Shape;40;p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 line (with bullets)">
  <p:cSld name="CUSTOM_2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6" name="Google Shape;46;p8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8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6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blank)">
  <p:cSld name="CUSTOM_21_2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With bullets)">
  <p:cSld name="CUSTOM_2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0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" name="Google Shape;78;p10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" name="Google Shape;80;p10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 + Subheading blank">
  <p:cSld name="CUSTOM_1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Longer title" type="secHead">
  <p:cSld name="SECTION_HEADER">
    <p:bg>
      <p:bgPr>
        <a:solidFill>
          <a:schemeClr val="dk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2"/>
          <p:cNvCxnSpPr/>
          <p:nvPr/>
        </p:nvCxnSpPr>
        <p:spPr>
          <a:xfrm>
            <a:off x="4580627" y="16187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93" name="Google Shape;93;p12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12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6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Shorter title">
  <p:cSld name="SECTION_HEADER_1_1">
    <p:bg>
      <p:bgPr>
        <a:solidFill>
          <a:schemeClr val="dk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Google Shape;98;p13"/>
          <p:cNvCxnSpPr/>
          <p:nvPr/>
        </p:nvCxnSpPr>
        <p:spPr>
          <a:xfrm>
            <a:off x="4570695" y="1823650"/>
            <a:ext cx="920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cxnSp>
        <p:nvCxnSpPr>
          <p:cNvPr id="99" name="Google Shape;99;p13"/>
          <p:cNvCxnSpPr/>
          <p:nvPr/>
        </p:nvCxnSpPr>
        <p:spPr>
          <a:xfrm>
            <a:off x="4580627" y="18235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100" name="Google Shape;100;p13"/>
          <p:cNvSpPr txBox="1"/>
          <p:nvPr>
            <p:ph type="title"/>
          </p:nvPr>
        </p:nvSpPr>
        <p:spPr>
          <a:xfrm>
            <a:off x="4570700" y="2028900"/>
            <a:ext cx="4557900" cy="71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1" type="subTitle"/>
          </p:nvPr>
        </p:nvSpPr>
        <p:spPr>
          <a:xfrm>
            <a:off x="4572000" y="1533250"/>
            <a:ext cx="4572000" cy="18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2" type="subTitle"/>
          </p:nvPr>
        </p:nvSpPr>
        <p:spPr>
          <a:xfrm>
            <a:off x="4572000" y="28820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3"/>
          <p:cNvSpPr txBox="1"/>
          <p:nvPr/>
        </p:nvSpPr>
        <p:spPr>
          <a:xfrm>
            <a:off x="6058325" y="3097550"/>
            <a:ext cx="309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Blank">
  <p:cSld name="CUSTOM_26_1">
    <p:bg>
      <p:bgPr>
        <a:solidFill>
          <a:schemeClr val="dk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07" name="Google Shape;107;p14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4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Next class">
  <p:cSld name="CUSTOM_10_1_1_1_2_2_1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lass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4429130" y="1541930"/>
            <a:ext cx="285844" cy="574072"/>
          </a:xfrm>
          <a:custGeom>
            <a:rect b="b" l="l" r="r" t="t"/>
            <a:pathLst>
              <a:path extrusionOk="0" fill="none" h="206130" w="102637">
                <a:moveTo>
                  <a:pt x="0" y="1"/>
                </a:moveTo>
                <a:lnTo>
                  <a:pt x="102637" y="103065"/>
                </a:lnTo>
                <a:lnTo>
                  <a:pt x="0" y="206129"/>
                </a:lnTo>
              </a:path>
            </a:pathLst>
          </a:custGeom>
          <a:solidFill>
            <a:srgbClr val="FFFFFF"/>
          </a:solidFill>
          <a:ln cap="rnd" cmpd="sng" w="28575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Time to Code">
  <p:cSld name="CUSTOM_10_1_1_1_2_2_1_1">
    <p:bg>
      <p:bgPr>
        <a:solidFill>
          <a:schemeClr val="dk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/>
        </p:nvSpPr>
        <p:spPr>
          <a:xfrm>
            <a:off x="5901175" y="3977950"/>
            <a:ext cx="2785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0" y="3086100"/>
            <a:ext cx="9144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to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ode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94290" y="1424853"/>
            <a:ext cx="1155368" cy="81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>
            <p:ph idx="1" type="subTitle"/>
          </p:nvPr>
        </p:nvSpPr>
        <p:spPr>
          <a:xfrm>
            <a:off x="5029200" y="4245725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hallenge">
  <p:cSld name="CUSTOM_10_1_1_1_2_1_1">
    <p:bg>
      <p:bgPr>
        <a:solidFill>
          <a:schemeClr val="dk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Challenge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2" name="Google Shape;122;p1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17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72546" y="1094559"/>
            <a:ext cx="1390807" cy="121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ourse overview">
  <p:cSld name="CUSTOM_10_1_1_1_2_1_1_1">
    <p:bg>
      <p:bgPr>
        <a:solidFill>
          <a:schemeClr val="dk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ourse overview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7" name="Google Shape;127;p1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8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6605" y="1339647"/>
            <a:ext cx="950800" cy="9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lank slide">
  <p:cSld name="CUSTOM_26_1_1">
    <p:bg>
      <p:bgPr>
        <a:solidFill>
          <a:schemeClr val="dk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0" y="3072384"/>
            <a:ext cx="91440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Welcome page">
  <p:cSld name="CUSTOM_26_1_1_1">
    <p:bg>
      <p:bgPr>
        <a:solidFill>
          <a:schemeClr val="dk2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Welcome</a:t>
            </a:r>
            <a:endParaRPr b="1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4112" y="1371590"/>
            <a:ext cx="1776025" cy="132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Conclusion">
  <p:cSld name="CUSTOM_26_1_1_1_1">
    <p:bg>
      <p:bgPr>
        <a:solidFill>
          <a:schemeClr val="dk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Conclusion</a:t>
            </a:r>
            <a:endParaRPr b="1" sz="4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275" y="1452275"/>
            <a:ext cx="1047450" cy="12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's up! Let's review">
  <p:cSld name="CUSTOM_10_2_1_1_1">
    <p:bg>
      <p:bgPr>
        <a:solidFill>
          <a:schemeClr val="dk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6863" y="1371602"/>
            <a:ext cx="1430525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Time’s up!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review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reak">
  <p:cSld name="CUSTOM_10_1">
    <p:bg>
      <p:bgPr>
        <a:solidFill>
          <a:schemeClr val="dk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61200" y="1371599"/>
            <a:ext cx="1421602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 mins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 for a quick review">
  <p:cSld name="CUSTOM_10_1_1_2">
    <p:bg>
      <p:bgPr>
        <a:solidFill>
          <a:schemeClr val="dk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2162" y="1448847"/>
            <a:ext cx="1699675" cy="122485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for a quick video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Peer review">
  <p:cSld name="CUSTOM_10_1_1_1_3">
    <p:bg>
      <p:bgPr>
        <a:solidFill>
          <a:schemeClr val="dk2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53000"/>
            <a:ext cx="1291550" cy="129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Peer review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Let's recap">
  <p:cSld name="CUSTOM_10_1_1_1_2">
    <p:bg>
      <p:bgPr>
        <a:solidFill>
          <a:schemeClr val="dk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35359"/>
            <a:ext cx="1291550" cy="132683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recap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Office hours">
  <p:cSld name="CUSTOM_10_1_1_1_2_3_2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2850" y="1583850"/>
            <a:ext cx="2158300" cy="11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7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Office hours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Slack slide">
  <p:cSld name="CUSTOM_10_1_1_1_2_3_1">
    <p:bg>
      <p:bgPr>
        <a:solidFill>
          <a:schemeClr val="dk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Class Slack Channel: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63" name="Google Shape;163;p28"/>
          <p:cNvPicPr preferRelativeResize="0"/>
          <p:nvPr/>
        </p:nvPicPr>
        <p:blipFill rotWithShape="1">
          <a:blip r:embed="rId2">
            <a:alphaModFix/>
          </a:blip>
          <a:srcRect b="24412" l="9534" r="69121" t="23790"/>
          <a:stretch/>
        </p:blipFill>
        <p:spPr>
          <a:xfrm>
            <a:off x="3876275" y="1390350"/>
            <a:ext cx="1391451" cy="1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hank you">
  <p:cSld name="CUSTOM_10_1_1_1_2_1_2">
    <p:bg>
      <p:bgPr>
        <a:solidFill>
          <a:schemeClr val="dk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/>
        </p:nvSpPr>
        <p:spPr>
          <a:xfrm>
            <a:off x="0" y="3073400"/>
            <a:ext cx="9144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6" name="Google Shape;16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3775" y="1371600"/>
            <a:ext cx="1376700" cy="13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Questions">
  <p:cSld name="CUSTOM_10_1_1_1_1_2">
    <p:bg>
      <p:bgPr>
        <a:solidFill>
          <a:schemeClr val="dk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/>
        </p:nvSpPr>
        <p:spPr>
          <a:xfrm>
            <a:off x="0" y="30549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6873" y="1589513"/>
            <a:ext cx="1690255" cy="13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41268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0"/>
          <p:cNvPicPr preferRelativeResize="0"/>
          <p:nvPr/>
        </p:nvPicPr>
        <p:blipFill rotWithShape="1">
          <a:blip r:embed="rId3">
            <a:alphaModFix/>
          </a:blip>
          <a:srcRect b="19664" l="0" r="0" t="0"/>
          <a:stretch/>
        </p:blipFill>
        <p:spPr>
          <a:xfrm flipH="1">
            <a:off x="1651350" y="43640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0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9732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41349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0"/>
          <p:cNvPicPr preferRelativeResize="0"/>
          <p:nvPr/>
        </p:nvPicPr>
        <p:blipFill rotWithShape="1">
          <a:blip r:embed="rId3">
            <a:alphaModFix/>
          </a:blip>
          <a:srcRect b="5686" l="0" r="0" t="0"/>
          <a:stretch/>
        </p:blipFill>
        <p:spPr>
          <a:xfrm flipH="1">
            <a:off x="5979175" y="41686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9732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C - Instructor Demonstration">
  <p:cSld name="CUSTOM_10_2">
    <p:bg>
      <p:bgPr>
        <a:solidFill>
          <a:schemeClr val="dk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79" name="Google Shape;179;p31"/>
          <p:cNvSpPr/>
          <p:nvPr/>
        </p:nvSpPr>
        <p:spPr>
          <a:xfrm>
            <a:off x="3657600" y="919500"/>
            <a:ext cx="1828800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1"/>
          <p:cNvSpPr txBox="1"/>
          <p:nvPr/>
        </p:nvSpPr>
        <p:spPr>
          <a:xfrm>
            <a:off x="311700" y="30731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Instructor</a:t>
            </a:r>
            <a:r>
              <a:rPr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Demonstration</a:t>
            </a:r>
            <a:endParaRPr i="0" sz="24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81" name="Google Shape;181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4596" y="1424818"/>
            <a:ext cx="1274808" cy="81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D - Blank chapter title slide">
  <p:cSld name="CUSTOM_26_2">
    <p:bg>
      <p:bgPr>
        <a:solidFill>
          <a:schemeClr val="accent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blank)">
  <p:cSld name="CUSTOM_21_2_2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5" name="Google Shape;185;p33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86" name="Google Shape;186;p33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89" name="Google Shape;189;p33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with bullets)">
  <p:cSld name="CUSTOM_21_2_3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1" name="Google Shape;191;p34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92" name="Google Shape;192;p34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4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4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4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4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4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4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4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1" name="Google Shape;201;p34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2" name="Google Shape;202;p34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3" name="Google Shape;203;p34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4" name="Google Shape;204;p34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5" name="Google Shape;205;p34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4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4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4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4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4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blank)">
  <p:cSld name="CUSTOM_21_2_2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2" name="Google Shape;212;p35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3" name="Google Shape;213;p35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5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3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with bullets)">
  <p:cSld name="CUSTOM_21_2_2_1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" name="Google Shape;218;p36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9" name="Google Shape;219;p36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6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6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6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6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6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6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36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36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0" name="Google Shape;230;p36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p36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6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6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6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6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6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36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7"/>
          <p:cNvSpPr txBox="1"/>
          <p:nvPr/>
        </p:nvSpPr>
        <p:spPr>
          <a:xfrm>
            <a:off x="4572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7"/>
          <p:cNvSpPr txBox="1"/>
          <p:nvPr/>
        </p:nvSpPr>
        <p:spPr>
          <a:xfrm>
            <a:off x="457197" y="206217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7"/>
          <p:cNvSpPr txBox="1"/>
          <p:nvPr/>
        </p:nvSpPr>
        <p:spPr>
          <a:xfrm>
            <a:off x="457204" y="253925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7"/>
          <p:cNvSpPr txBox="1"/>
          <p:nvPr/>
        </p:nvSpPr>
        <p:spPr>
          <a:xfrm>
            <a:off x="457197" y="298165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7"/>
          <p:cNvSpPr txBox="1"/>
          <p:nvPr/>
        </p:nvSpPr>
        <p:spPr>
          <a:xfrm>
            <a:off x="457200" y="344330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7"/>
          <p:cNvSpPr txBox="1"/>
          <p:nvPr/>
        </p:nvSpPr>
        <p:spPr>
          <a:xfrm>
            <a:off x="45638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37"/>
          <p:cNvSpPr txBox="1"/>
          <p:nvPr/>
        </p:nvSpPr>
        <p:spPr>
          <a:xfrm>
            <a:off x="4563800" y="206488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37"/>
          <p:cNvSpPr txBox="1"/>
          <p:nvPr/>
        </p:nvSpPr>
        <p:spPr>
          <a:xfrm>
            <a:off x="4563800" y="2529587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08.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37"/>
          <p:cNvSpPr txBox="1"/>
          <p:nvPr/>
        </p:nvSpPr>
        <p:spPr>
          <a:xfrm>
            <a:off x="4563800" y="298162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09.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37"/>
          <p:cNvSpPr txBox="1"/>
          <p:nvPr/>
        </p:nvSpPr>
        <p:spPr>
          <a:xfrm>
            <a:off x="4563800" y="344473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0" name="Google Shape;250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425" y="301475"/>
            <a:ext cx="287550" cy="36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p37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52" name="Google Shape;252;p3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3" name="Google Shape;253;p37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Table of Contents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37"/>
          <p:cNvSpPr txBox="1"/>
          <p:nvPr>
            <p:ph idx="2" type="body"/>
          </p:nvPr>
        </p:nvSpPr>
        <p:spPr>
          <a:xfrm>
            <a:off x="914400" y="160934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5" name="Google Shape;255;p37"/>
          <p:cNvSpPr txBox="1"/>
          <p:nvPr>
            <p:ph idx="3" type="body"/>
          </p:nvPr>
        </p:nvSpPr>
        <p:spPr>
          <a:xfrm>
            <a:off x="914400" y="343556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6" name="Google Shape;256;p37"/>
          <p:cNvSpPr txBox="1"/>
          <p:nvPr>
            <p:ph idx="4" type="body"/>
          </p:nvPr>
        </p:nvSpPr>
        <p:spPr>
          <a:xfrm>
            <a:off x="914400" y="206590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7" name="Google Shape;257;p37"/>
          <p:cNvSpPr txBox="1"/>
          <p:nvPr>
            <p:ph idx="5" type="body"/>
          </p:nvPr>
        </p:nvSpPr>
        <p:spPr>
          <a:xfrm>
            <a:off x="914400" y="2522456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8" name="Google Shape;258;p37"/>
          <p:cNvSpPr txBox="1"/>
          <p:nvPr>
            <p:ph idx="6" type="body"/>
          </p:nvPr>
        </p:nvSpPr>
        <p:spPr>
          <a:xfrm>
            <a:off x="914400" y="297900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9" name="Google Shape;259;p37"/>
          <p:cNvSpPr txBox="1"/>
          <p:nvPr>
            <p:ph idx="7" type="body"/>
          </p:nvPr>
        </p:nvSpPr>
        <p:spPr>
          <a:xfrm>
            <a:off x="5029200" y="16093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0" name="Google Shape;260;p37"/>
          <p:cNvSpPr txBox="1"/>
          <p:nvPr>
            <p:ph idx="8" type="body"/>
          </p:nvPr>
        </p:nvSpPr>
        <p:spPr>
          <a:xfrm>
            <a:off x="5029200" y="34355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1" name="Google Shape;261;p37"/>
          <p:cNvSpPr txBox="1"/>
          <p:nvPr>
            <p:ph idx="9" type="body"/>
          </p:nvPr>
        </p:nvSpPr>
        <p:spPr>
          <a:xfrm>
            <a:off x="5029200" y="20659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2" name="Google Shape;262;p37"/>
          <p:cNvSpPr txBox="1"/>
          <p:nvPr>
            <p:ph idx="13" type="body"/>
          </p:nvPr>
        </p:nvSpPr>
        <p:spPr>
          <a:xfrm>
            <a:off x="5029200" y="2522451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3" name="Google Shape;263;p37"/>
          <p:cNvSpPr txBox="1"/>
          <p:nvPr>
            <p:ph idx="14" type="body"/>
          </p:nvPr>
        </p:nvSpPr>
        <p:spPr>
          <a:xfrm>
            <a:off x="5029200" y="29790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72">
          <p15:clr>
            <a:srgbClr val="E46962"/>
          </p15:clr>
        </p15:guide>
        <p15:guide id="2" pos="2884">
          <p15:clr>
            <a:srgbClr val="E46962"/>
          </p15:clr>
        </p15:guide>
        <p15:guide id="3" pos="3168">
          <p15:clr>
            <a:srgbClr val="E46962"/>
          </p15:clr>
        </p15:guide>
        <p15:guide id="4" orient="horz" pos="288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">
  <p:cSld name="CUSTOM_23">
    <p:bg>
      <p:bgPr>
        <a:solidFill>
          <a:srgbClr val="F2F2F2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38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8" name="Google Shape;268;p38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38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70" name="Google Shape;270;p38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71" name="Google Shape;27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8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73" name="Google Shape;273;p38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(Class activity)">
  <p:cSld name="CUSTOM_23_2">
    <p:bg>
      <p:bgPr>
        <a:solidFill>
          <a:srgbClr val="F2F2F2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9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Class 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39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8" name="Google Shape;278;p39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9" name="Google Shape;279;p3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0" name="Google Shape;280;p39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81" name="Google Shape;28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9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83" name="Google Shape;283;p39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s">
  <p:cSld name="CUSTOM_22_1_1">
    <p:bg>
      <p:bgPr>
        <a:solidFill>
          <a:schemeClr val="lt2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0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0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40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0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indent="-444500" lvl="0" marL="4572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1pPr>
            <a:lvl2pPr indent="-444500" lvl="1" marL="9144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Key Idea">
  <p:cSld name="CUSTOM_4">
    <p:bg>
      <p:bgPr>
        <a:solidFill>
          <a:schemeClr val="lt2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550" y="18616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1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1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estion">
  <p:cSld name="CUSTOM_4_1_2_1">
    <p:bg>
      <p:bgPr>
        <a:solidFill>
          <a:schemeClr val="lt2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2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42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875" y="2012779"/>
            <a:ext cx="1003696" cy="1489696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2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otation">
  <p:cSld name="CUSTOM_4_1_1">
    <p:bg>
      <p:bgPr>
        <a:solidFill>
          <a:schemeClr val="lt2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1" name="Google Shape;301;p43"/>
          <p:cNvGrpSpPr/>
          <p:nvPr/>
        </p:nvGrpSpPr>
        <p:grpSpPr>
          <a:xfrm>
            <a:off x="1074625" y="2258150"/>
            <a:ext cx="1473491" cy="980288"/>
            <a:chOff x="1074625" y="2258150"/>
            <a:chExt cx="1473491" cy="980288"/>
          </a:xfrm>
        </p:grpSpPr>
        <p:sp>
          <p:nvSpPr>
            <p:cNvPr id="302" name="Google Shape;302;p43"/>
            <p:cNvSpPr/>
            <p:nvPr/>
          </p:nvSpPr>
          <p:spPr>
            <a:xfrm>
              <a:off x="1074625" y="2258150"/>
              <a:ext cx="704970" cy="980288"/>
            </a:xfrm>
            <a:custGeom>
              <a:rect b="b" l="l" r="r" t="t"/>
              <a:pathLst>
                <a:path extrusionOk="0" fill="none" h="79682" w="57303">
                  <a:moveTo>
                    <a:pt x="12677" y="79681"/>
                  </a:moveTo>
                  <a:lnTo>
                    <a:pt x="12677" y="79681"/>
                  </a:lnTo>
                  <a:lnTo>
                    <a:pt x="15652" y="75283"/>
                  </a:lnTo>
                  <a:lnTo>
                    <a:pt x="17980" y="71403"/>
                  </a:lnTo>
                  <a:lnTo>
                    <a:pt x="19920" y="67910"/>
                  </a:lnTo>
                  <a:lnTo>
                    <a:pt x="21343" y="64806"/>
                  </a:lnTo>
                  <a:lnTo>
                    <a:pt x="22378" y="62090"/>
                  </a:lnTo>
                  <a:lnTo>
                    <a:pt x="23025" y="59891"/>
                  </a:lnTo>
                  <a:lnTo>
                    <a:pt x="23413" y="58080"/>
                  </a:lnTo>
                  <a:lnTo>
                    <a:pt x="23542" y="56786"/>
                  </a:lnTo>
                  <a:lnTo>
                    <a:pt x="23542" y="56786"/>
                  </a:lnTo>
                  <a:lnTo>
                    <a:pt x="21084" y="56139"/>
                  </a:lnTo>
                  <a:lnTo>
                    <a:pt x="18627" y="55363"/>
                  </a:lnTo>
                  <a:lnTo>
                    <a:pt x="16428" y="54458"/>
                  </a:lnTo>
                  <a:lnTo>
                    <a:pt x="14229" y="53294"/>
                  </a:lnTo>
                  <a:lnTo>
                    <a:pt x="12159" y="52000"/>
                  </a:lnTo>
                  <a:lnTo>
                    <a:pt x="10219" y="50448"/>
                  </a:lnTo>
                  <a:lnTo>
                    <a:pt x="8408" y="48896"/>
                  </a:lnTo>
                  <a:lnTo>
                    <a:pt x="6726" y="47085"/>
                  </a:lnTo>
                  <a:lnTo>
                    <a:pt x="5304" y="45144"/>
                  </a:lnTo>
                  <a:lnTo>
                    <a:pt x="4010" y="43075"/>
                  </a:lnTo>
                  <a:lnTo>
                    <a:pt x="2846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518" y="33761"/>
                  </a:lnTo>
                  <a:lnTo>
                    <a:pt x="129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259" y="25742"/>
                  </a:lnTo>
                  <a:lnTo>
                    <a:pt x="647" y="22896"/>
                  </a:lnTo>
                  <a:lnTo>
                    <a:pt x="1294" y="20050"/>
                  </a:lnTo>
                  <a:lnTo>
                    <a:pt x="2328" y="17463"/>
                  </a:lnTo>
                  <a:lnTo>
                    <a:pt x="3493" y="15005"/>
                  </a:lnTo>
                  <a:lnTo>
                    <a:pt x="4915" y="12677"/>
                  </a:lnTo>
                  <a:lnTo>
                    <a:pt x="6597" y="10478"/>
                  </a:lnTo>
                  <a:lnTo>
                    <a:pt x="8408" y="8409"/>
                  </a:lnTo>
                  <a:lnTo>
                    <a:pt x="10478" y="6598"/>
                  </a:lnTo>
                  <a:lnTo>
                    <a:pt x="12677" y="4916"/>
                  </a:lnTo>
                  <a:lnTo>
                    <a:pt x="15005" y="3493"/>
                  </a:lnTo>
                  <a:lnTo>
                    <a:pt x="17592" y="2200"/>
                  </a:lnTo>
                  <a:lnTo>
                    <a:pt x="20179" y="1294"/>
                  </a:lnTo>
                  <a:lnTo>
                    <a:pt x="22895" y="647"/>
                  </a:lnTo>
                  <a:lnTo>
                    <a:pt x="25741" y="130"/>
                  </a:lnTo>
                  <a:lnTo>
                    <a:pt x="28716" y="1"/>
                  </a:lnTo>
                  <a:lnTo>
                    <a:pt x="28716" y="1"/>
                  </a:lnTo>
                  <a:lnTo>
                    <a:pt x="31562" y="130"/>
                  </a:lnTo>
                  <a:lnTo>
                    <a:pt x="34408" y="647"/>
                  </a:lnTo>
                  <a:lnTo>
                    <a:pt x="37124" y="1294"/>
                  </a:lnTo>
                  <a:lnTo>
                    <a:pt x="39840" y="2200"/>
                  </a:lnTo>
                  <a:lnTo>
                    <a:pt x="42298" y="3493"/>
                  </a:lnTo>
                  <a:lnTo>
                    <a:pt x="44626" y="4916"/>
                  </a:lnTo>
                  <a:lnTo>
                    <a:pt x="46825" y="6598"/>
                  </a:lnTo>
                  <a:lnTo>
                    <a:pt x="48895" y="8409"/>
                  </a:lnTo>
                  <a:lnTo>
                    <a:pt x="50706" y="10478"/>
                  </a:lnTo>
                  <a:lnTo>
                    <a:pt x="52388" y="12677"/>
                  </a:lnTo>
                  <a:lnTo>
                    <a:pt x="53810" y="15005"/>
                  </a:lnTo>
                  <a:lnTo>
                    <a:pt x="54975" y="17463"/>
                  </a:lnTo>
                  <a:lnTo>
                    <a:pt x="56009" y="20050"/>
                  </a:lnTo>
                  <a:lnTo>
                    <a:pt x="56656" y="22896"/>
                  </a:lnTo>
                  <a:lnTo>
                    <a:pt x="57174" y="25742"/>
                  </a:lnTo>
                  <a:lnTo>
                    <a:pt x="57303" y="28587"/>
                  </a:lnTo>
                  <a:lnTo>
                    <a:pt x="57303" y="28587"/>
                  </a:lnTo>
                  <a:lnTo>
                    <a:pt x="57174" y="31562"/>
                  </a:lnTo>
                  <a:lnTo>
                    <a:pt x="56915" y="34279"/>
                  </a:lnTo>
                  <a:lnTo>
                    <a:pt x="56398" y="37125"/>
                  </a:lnTo>
                  <a:lnTo>
                    <a:pt x="55751" y="39712"/>
                  </a:lnTo>
                  <a:lnTo>
                    <a:pt x="54845" y="42299"/>
                  </a:lnTo>
                  <a:lnTo>
                    <a:pt x="53940" y="44886"/>
                  </a:lnTo>
                  <a:lnTo>
                    <a:pt x="52776" y="47214"/>
                  </a:lnTo>
                  <a:lnTo>
                    <a:pt x="51611" y="49542"/>
                  </a:lnTo>
                  <a:lnTo>
                    <a:pt x="50189" y="51871"/>
                  </a:lnTo>
                  <a:lnTo>
                    <a:pt x="48766" y="54070"/>
                  </a:lnTo>
                  <a:lnTo>
                    <a:pt x="47214" y="56139"/>
                  </a:lnTo>
                  <a:lnTo>
                    <a:pt x="45532" y="58209"/>
                  </a:lnTo>
                  <a:lnTo>
                    <a:pt x="43850" y="60020"/>
                  </a:lnTo>
                  <a:lnTo>
                    <a:pt x="42039" y="61960"/>
                  </a:lnTo>
                  <a:lnTo>
                    <a:pt x="40229" y="63642"/>
                  </a:lnTo>
                  <a:lnTo>
                    <a:pt x="38288" y="65323"/>
                  </a:lnTo>
                  <a:lnTo>
                    <a:pt x="36477" y="66876"/>
                  </a:lnTo>
                  <a:lnTo>
                    <a:pt x="34537" y="68428"/>
                  </a:lnTo>
                  <a:lnTo>
                    <a:pt x="30786" y="71144"/>
                  </a:lnTo>
                  <a:lnTo>
                    <a:pt x="27035" y="73472"/>
                  </a:lnTo>
                  <a:lnTo>
                    <a:pt x="23413" y="75413"/>
                  </a:lnTo>
                  <a:lnTo>
                    <a:pt x="20050" y="77094"/>
                  </a:lnTo>
                  <a:lnTo>
                    <a:pt x="17204" y="78388"/>
                  </a:lnTo>
                  <a:lnTo>
                    <a:pt x="14617" y="79164"/>
                  </a:lnTo>
                  <a:lnTo>
                    <a:pt x="12677" y="79681"/>
                  </a:lnTo>
                  <a:lnTo>
                    <a:pt x="12677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3"/>
            <p:cNvSpPr/>
            <p:nvPr/>
          </p:nvSpPr>
          <p:spPr>
            <a:xfrm>
              <a:off x="1844733" y="2258150"/>
              <a:ext cx="703383" cy="980288"/>
            </a:xfrm>
            <a:custGeom>
              <a:rect b="b" l="l" r="r" t="t"/>
              <a:pathLst>
                <a:path extrusionOk="0" fill="none" h="79682" w="57174">
                  <a:moveTo>
                    <a:pt x="12548" y="79681"/>
                  </a:moveTo>
                  <a:lnTo>
                    <a:pt x="12548" y="79681"/>
                  </a:lnTo>
                  <a:lnTo>
                    <a:pt x="15523" y="75283"/>
                  </a:lnTo>
                  <a:lnTo>
                    <a:pt x="17980" y="71403"/>
                  </a:lnTo>
                  <a:lnTo>
                    <a:pt x="19791" y="67910"/>
                  </a:lnTo>
                  <a:lnTo>
                    <a:pt x="21214" y="64806"/>
                  </a:lnTo>
                  <a:lnTo>
                    <a:pt x="22249" y="62090"/>
                  </a:lnTo>
                  <a:lnTo>
                    <a:pt x="22896" y="59891"/>
                  </a:lnTo>
                  <a:lnTo>
                    <a:pt x="23284" y="58080"/>
                  </a:lnTo>
                  <a:lnTo>
                    <a:pt x="23413" y="56786"/>
                  </a:lnTo>
                  <a:lnTo>
                    <a:pt x="23413" y="56786"/>
                  </a:lnTo>
                  <a:lnTo>
                    <a:pt x="20955" y="56139"/>
                  </a:lnTo>
                  <a:lnTo>
                    <a:pt x="18498" y="55363"/>
                  </a:lnTo>
                  <a:lnTo>
                    <a:pt x="16299" y="54458"/>
                  </a:lnTo>
                  <a:lnTo>
                    <a:pt x="14100" y="53294"/>
                  </a:lnTo>
                  <a:lnTo>
                    <a:pt x="12030" y="52000"/>
                  </a:lnTo>
                  <a:lnTo>
                    <a:pt x="10090" y="50448"/>
                  </a:lnTo>
                  <a:lnTo>
                    <a:pt x="8279" y="48896"/>
                  </a:lnTo>
                  <a:lnTo>
                    <a:pt x="6727" y="47085"/>
                  </a:lnTo>
                  <a:lnTo>
                    <a:pt x="5174" y="45144"/>
                  </a:lnTo>
                  <a:lnTo>
                    <a:pt x="3881" y="43075"/>
                  </a:lnTo>
                  <a:lnTo>
                    <a:pt x="2717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388" y="33761"/>
                  </a:lnTo>
                  <a:lnTo>
                    <a:pt x="130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130" y="25742"/>
                  </a:lnTo>
                  <a:lnTo>
                    <a:pt x="518" y="22896"/>
                  </a:lnTo>
                  <a:lnTo>
                    <a:pt x="1294" y="20050"/>
                  </a:lnTo>
                  <a:lnTo>
                    <a:pt x="2199" y="17463"/>
                  </a:lnTo>
                  <a:lnTo>
                    <a:pt x="3364" y="15005"/>
                  </a:lnTo>
                  <a:lnTo>
                    <a:pt x="4786" y="12677"/>
                  </a:lnTo>
                  <a:lnTo>
                    <a:pt x="6468" y="10478"/>
                  </a:lnTo>
                  <a:lnTo>
                    <a:pt x="8279" y="8409"/>
                  </a:lnTo>
                  <a:lnTo>
                    <a:pt x="10349" y="6598"/>
                  </a:lnTo>
                  <a:lnTo>
                    <a:pt x="12548" y="4916"/>
                  </a:lnTo>
                  <a:lnTo>
                    <a:pt x="14876" y="3493"/>
                  </a:lnTo>
                  <a:lnTo>
                    <a:pt x="17463" y="2200"/>
                  </a:lnTo>
                  <a:lnTo>
                    <a:pt x="20050" y="1294"/>
                  </a:lnTo>
                  <a:lnTo>
                    <a:pt x="22766" y="647"/>
                  </a:lnTo>
                  <a:lnTo>
                    <a:pt x="25612" y="130"/>
                  </a:lnTo>
                  <a:lnTo>
                    <a:pt x="28587" y="1"/>
                  </a:lnTo>
                  <a:lnTo>
                    <a:pt x="28587" y="1"/>
                  </a:lnTo>
                  <a:lnTo>
                    <a:pt x="31433" y="130"/>
                  </a:lnTo>
                  <a:lnTo>
                    <a:pt x="34279" y="647"/>
                  </a:lnTo>
                  <a:lnTo>
                    <a:pt x="37124" y="1294"/>
                  </a:lnTo>
                  <a:lnTo>
                    <a:pt x="39711" y="2200"/>
                  </a:lnTo>
                  <a:lnTo>
                    <a:pt x="42169" y="3493"/>
                  </a:lnTo>
                  <a:lnTo>
                    <a:pt x="44627" y="4916"/>
                  </a:lnTo>
                  <a:lnTo>
                    <a:pt x="46826" y="6598"/>
                  </a:lnTo>
                  <a:lnTo>
                    <a:pt x="48766" y="8409"/>
                  </a:lnTo>
                  <a:lnTo>
                    <a:pt x="50706" y="10478"/>
                  </a:lnTo>
                  <a:lnTo>
                    <a:pt x="52259" y="12677"/>
                  </a:lnTo>
                  <a:lnTo>
                    <a:pt x="53681" y="15005"/>
                  </a:lnTo>
                  <a:lnTo>
                    <a:pt x="54975" y="17463"/>
                  </a:lnTo>
                  <a:lnTo>
                    <a:pt x="55880" y="20050"/>
                  </a:lnTo>
                  <a:lnTo>
                    <a:pt x="56657" y="22896"/>
                  </a:lnTo>
                  <a:lnTo>
                    <a:pt x="57045" y="25742"/>
                  </a:lnTo>
                  <a:lnTo>
                    <a:pt x="57174" y="28587"/>
                  </a:lnTo>
                  <a:lnTo>
                    <a:pt x="57174" y="28587"/>
                  </a:lnTo>
                  <a:lnTo>
                    <a:pt x="57045" y="31562"/>
                  </a:lnTo>
                  <a:lnTo>
                    <a:pt x="56786" y="34279"/>
                  </a:lnTo>
                  <a:lnTo>
                    <a:pt x="56268" y="37125"/>
                  </a:lnTo>
                  <a:lnTo>
                    <a:pt x="55622" y="39712"/>
                  </a:lnTo>
                  <a:lnTo>
                    <a:pt x="54846" y="42299"/>
                  </a:lnTo>
                  <a:lnTo>
                    <a:pt x="53811" y="44886"/>
                  </a:lnTo>
                  <a:lnTo>
                    <a:pt x="52776" y="47214"/>
                  </a:lnTo>
                  <a:lnTo>
                    <a:pt x="51482" y="49542"/>
                  </a:lnTo>
                  <a:lnTo>
                    <a:pt x="50060" y="51871"/>
                  </a:lnTo>
                  <a:lnTo>
                    <a:pt x="48637" y="54070"/>
                  </a:lnTo>
                  <a:lnTo>
                    <a:pt x="47084" y="56139"/>
                  </a:lnTo>
                  <a:lnTo>
                    <a:pt x="45403" y="58209"/>
                  </a:lnTo>
                  <a:lnTo>
                    <a:pt x="43721" y="60020"/>
                  </a:lnTo>
                  <a:lnTo>
                    <a:pt x="41910" y="61960"/>
                  </a:lnTo>
                  <a:lnTo>
                    <a:pt x="40099" y="63642"/>
                  </a:lnTo>
                  <a:lnTo>
                    <a:pt x="38289" y="65323"/>
                  </a:lnTo>
                  <a:lnTo>
                    <a:pt x="36348" y="66876"/>
                  </a:lnTo>
                  <a:lnTo>
                    <a:pt x="34408" y="68428"/>
                  </a:lnTo>
                  <a:lnTo>
                    <a:pt x="30657" y="71144"/>
                  </a:lnTo>
                  <a:lnTo>
                    <a:pt x="26906" y="73472"/>
                  </a:lnTo>
                  <a:lnTo>
                    <a:pt x="23284" y="75413"/>
                  </a:lnTo>
                  <a:lnTo>
                    <a:pt x="20050" y="77094"/>
                  </a:lnTo>
                  <a:lnTo>
                    <a:pt x="17075" y="78388"/>
                  </a:lnTo>
                  <a:lnTo>
                    <a:pt x="14488" y="79164"/>
                  </a:lnTo>
                  <a:lnTo>
                    <a:pt x="12548" y="79681"/>
                  </a:lnTo>
                  <a:lnTo>
                    <a:pt x="12548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4" name="Google Shape;304;p43"/>
          <p:cNvSpPr txBox="1"/>
          <p:nvPr>
            <p:ph idx="1" type="subTitle"/>
          </p:nvPr>
        </p:nvSpPr>
        <p:spPr>
          <a:xfrm>
            <a:off x="459100" y="4189950"/>
            <a:ext cx="27414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05" name="Google Shape;305;p43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3"/>
          <p:cNvSpPr txBox="1"/>
          <p:nvPr>
            <p:ph idx="2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Tip or Answer">
  <p:cSld name="CUSTOM_4_1_1_1">
    <p:bg>
      <p:bgPr>
        <a:solidFill>
          <a:schemeClr val="lt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4"/>
          <p:cNvSpPr/>
          <p:nvPr/>
        </p:nvSpPr>
        <p:spPr>
          <a:xfrm>
            <a:off x="459100" y="1380744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44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670" y="1896525"/>
            <a:ext cx="1724260" cy="16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4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re Your Answers">
  <p:cSld name="CUSTOM_10_1_1_1_1_1_2">
    <p:bg>
      <p:bgPr>
        <a:solidFill>
          <a:srgbClr val="F2F2F2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5"/>
          <p:cNvSpPr/>
          <p:nvPr/>
        </p:nvSpPr>
        <p:spPr>
          <a:xfrm flipH="1">
            <a:off x="1251238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5"/>
          <p:cNvSpPr/>
          <p:nvPr/>
        </p:nvSpPr>
        <p:spPr>
          <a:xfrm>
            <a:off x="5449563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5"/>
          <p:cNvSpPr/>
          <p:nvPr/>
        </p:nvSpPr>
        <p:spPr>
          <a:xfrm>
            <a:off x="3586938" y="1399275"/>
            <a:ext cx="1994400" cy="199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5"/>
          <p:cNvSpPr txBox="1"/>
          <p:nvPr/>
        </p:nvSpPr>
        <p:spPr>
          <a:xfrm>
            <a:off x="14183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5"/>
          <p:cNvSpPr txBox="1"/>
          <p:nvPr/>
        </p:nvSpPr>
        <p:spPr>
          <a:xfrm>
            <a:off x="35296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45"/>
          <p:cNvSpPr txBox="1"/>
          <p:nvPr/>
        </p:nvSpPr>
        <p:spPr>
          <a:xfrm>
            <a:off x="5469363" y="2020425"/>
            <a:ext cx="2403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Answers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member">
  <p:cSld name="CUSTOM_10_1_1_1_1_1_1">
    <p:bg>
      <p:bgPr>
        <a:solidFill>
          <a:srgbClr val="F2F2F2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6"/>
          <p:cNvSpPr txBox="1"/>
          <p:nvPr/>
        </p:nvSpPr>
        <p:spPr>
          <a:xfrm>
            <a:off x="4869500" y="1501000"/>
            <a:ext cx="3901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" sz="4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Remember, </a:t>
            </a:r>
            <a:endParaRPr b="1" i="0" sz="4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1" name="Google Shape;321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556324" y="1502075"/>
            <a:ext cx="5962899" cy="2537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p46"/>
          <p:cNvGrpSpPr/>
          <p:nvPr/>
        </p:nvGrpSpPr>
        <p:grpSpPr>
          <a:xfrm>
            <a:off x="3972318" y="1206125"/>
            <a:ext cx="1051285" cy="920372"/>
            <a:chOff x="587700" y="-13400"/>
            <a:chExt cx="5735325" cy="5021125"/>
          </a:xfrm>
        </p:grpSpPr>
        <p:sp>
          <p:nvSpPr>
            <p:cNvPr id="323" name="Google Shape;323;p46"/>
            <p:cNvSpPr/>
            <p:nvPr/>
          </p:nvSpPr>
          <p:spPr>
            <a:xfrm>
              <a:off x="3126550" y="3129550"/>
              <a:ext cx="449525" cy="1850775"/>
            </a:xfrm>
            <a:custGeom>
              <a:rect b="b" l="l" r="r" t="t"/>
              <a:pathLst>
                <a:path extrusionOk="0" fill="none" h="74031" w="17981">
                  <a:moveTo>
                    <a:pt x="1" y="68541"/>
                  </a:moveTo>
                  <a:cubicBezTo>
                    <a:pt x="7486" y="74031"/>
                    <a:pt x="17981" y="42278"/>
                    <a:pt x="5491" y="0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6"/>
            <p:cNvSpPr/>
            <p:nvPr/>
          </p:nvSpPr>
          <p:spPr>
            <a:xfrm>
              <a:off x="3253475" y="3038050"/>
              <a:ext cx="1008375" cy="1969675"/>
            </a:xfrm>
            <a:custGeom>
              <a:rect b="b" l="l" r="r" t="t"/>
              <a:pathLst>
                <a:path extrusionOk="0" fill="none" h="78787" w="40335">
                  <a:moveTo>
                    <a:pt x="0" y="69792"/>
                  </a:moveTo>
                  <a:cubicBezTo>
                    <a:pt x="16481" y="78787"/>
                    <a:pt x="40334" y="34844"/>
                    <a:pt x="28206" y="11125"/>
                  </a:cubicBezTo>
                  <a:cubicBezTo>
                    <a:pt x="22519" y="0"/>
                    <a:pt x="1541" y="5118"/>
                    <a:pt x="1913" y="9099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6"/>
            <p:cNvSpPr/>
            <p:nvPr/>
          </p:nvSpPr>
          <p:spPr>
            <a:xfrm>
              <a:off x="587700" y="131875"/>
              <a:ext cx="2878775" cy="2997700"/>
            </a:xfrm>
            <a:custGeom>
              <a:rect b="b" l="l" r="r" t="t"/>
              <a:pathLst>
                <a:path extrusionOk="0" fill="none" h="119908" w="115151">
                  <a:moveTo>
                    <a:pt x="115151" y="119907"/>
                  </a:moveTo>
                  <a:cubicBezTo>
                    <a:pt x="50602" y="114789"/>
                    <a:pt x="1" y="75106"/>
                    <a:pt x="30926" y="48761"/>
                  </a:cubicBezTo>
                  <a:cubicBezTo>
                    <a:pt x="88165" y="0"/>
                    <a:pt x="115151" y="119907"/>
                    <a:pt x="115151" y="119907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6"/>
            <p:cNvSpPr/>
            <p:nvPr/>
          </p:nvSpPr>
          <p:spPr>
            <a:xfrm>
              <a:off x="3408550" y="-13400"/>
              <a:ext cx="1796500" cy="3142975"/>
            </a:xfrm>
            <a:custGeom>
              <a:rect b="b" l="l" r="r" t="t"/>
              <a:pathLst>
                <a:path extrusionOk="0" fill="none" h="125719" w="71860">
                  <a:moveTo>
                    <a:pt x="2317" y="125718"/>
                  </a:moveTo>
                  <a:cubicBezTo>
                    <a:pt x="1" y="63568"/>
                    <a:pt x="64974" y="1"/>
                    <a:pt x="69492" y="63568"/>
                  </a:cubicBezTo>
                  <a:cubicBezTo>
                    <a:pt x="71860" y="96850"/>
                    <a:pt x="2317" y="125718"/>
                    <a:pt x="2317" y="125718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46"/>
            <p:cNvSpPr/>
            <p:nvPr/>
          </p:nvSpPr>
          <p:spPr>
            <a:xfrm>
              <a:off x="3466450" y="2580250"/>
              <a:ext cx="2856575" cy="1271275"/>
            </a:xfrm>
            <a:custGeom>
              <a:rect b="b" l="l" r="r" t="t"/>
              <a:pathLst>
                <a:path extrusionOk="0" fill="none" h="50851" w="114263">
                  <a:moveTo>
                    <a:pt x="1" y="21972"/>
                  </a:moveTo>
                  <a:cubicBezTo>
                    <a:pt x="52732" y="1"/>
                    <a:pt x="75965" y="50850"/>
                    <a:pt x="114262" y="13184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8" name="Google Shape;328;p46"/>
          <p:cNvSpPr txBox="1"/>
          <p:nvPr/>
        </p:nvSpPr>
        <p:spPr>
          <a:xfrm>
            <a:off x="5345350" y="2338950"/>
            <a:ext cx="3524400" cy="2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9" name="Google Shape;329;p46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3" name="Google Shape;333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34" name="Google Shape;33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 slide 1 1 1">
  <p:cSld name="CUSTOM_22_1_1_1">
    <p:bg>
      <p:bgPr>
        <a:solidFill>
          <a:schemeClr val="lt2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9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9"/>
          <p:cNvSpPr txBox="1"/>
          <p:nvPr>
            <p:ph type="title"/>
          </p:nvPr>
        </p:nvSpPr>
        <p:spPr>
          <a:xfrm>
            <a:off x="1959725" y="1641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38" name="Google Shape;338;p49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9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9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 sz="34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. Text Only">
  <p:cSld name="CUSTOM_2_7_2_2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0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3" name="Google Shape;343;p50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4" name="Google Shape;344;p50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5" name="Google Shape;345;p50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50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7" name="Google Shape;347;p50"/>
          <p:cNvSpPr txBox="1"/>
          <p:nvPr>
            <p:ph idx="3" type="body"/>
          </p:nvPr>
        </p:nvSpPr>
        <p:spPr>
          <a:xfrm>
            <a:off x="175" y="1284250"/>
            <a:ext cx="9144000" cy="36222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40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  <a:defRPr b="1" i="0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125" y="1143000"/>
            <a:ext cx="8229600" cy="3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title"/>
          </p:nvPr>
        </p:nvSpPr>
        <p:spPr>
          <a:xfrm>
            <a:off x="457200" y="4572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pos="5472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576">
          <p15:clr>
            <a:srgbClr val="E46962"/>
          </p15:clr>
        </p15:guide>
        <p15:guide id="7" pos="864">
          <p15:clr>
            <a:srgbClr val="E46962"/>
          </p15:clr>
        </p15:guide>
        <p15:guide id="8" pos="1152">
          <p15:clr>
            <a:srgbClr val="E46962"/>
          </p15:clr>
        </p15:guide>
        <p15:guide id="9" pos="1440">
          <p15:clr>
            <a:srgbClr val="E46962"/>
          </p15:clr>
        </p15:guide>
        <p15:guide id="10" pos="1728">
          <p15:clr>
            <a:srgbClr val="E46962"/>
          </p15:clr>
        </p15:guide>
        <p15:guide id="11" pos="2016">
          <p15:clr>
            <a:srgbClr val="E46962"/>
          </p15:clr>
        </p15:guide>
        <p15:guide id="12" pos="2304">
          <p15:clr>
            <a:srgbClr val="E46962"/>
          </p15:clr>
        </p15:guide>
        <p15:guide id="13" pos="2592">
          <p15:clr>
            <a:srgbClr val="E46962"/>
          </p15:clr>
        </p15:guide>
        <p15:guide id="14" pos="2880">
          <p15:clr>
            <a:srgbClr val="E46962"/>
          </p15:clr>
        </p15:guide>
        <p15:guide id="15" pos="3168">
          <p15:clr>
            <a:srgbClr val="E46962"/>
          </p15:clr>
        </p15:guide>
        <p15:guide id="16" pos="3456">
          <p15:clr>
            <a:srgbClr val="E46962"/>
          </p15:clr>
        </p15:guide>
        <p15:guide id="17" pos="3744">
          <p15:clr>
            <a:srgbClr val="E46962"/>
          </p15:clr>
        </p15:guide>
        <p15:guide id="18" pos="4032">
          <p15:clr>
            <a:srgbClr val="E46962"/>
          </p15:clr>
        </p15:guide>
        <p15:guide id="19" pos="4320">
          <p15:clr>
            <a:srgbClr val="E46962"/>
          </p15:clr>
        </p15:guide>
        <p15:guide id="20" pos="4608">
          <p15:clr>
            <a:srgbClr val="E46962"/>
          </p15:clr>
        </p15:guide>
        <p15:guide id="21" pos="4896">
          <p15:clr>
            <a:srgbClr val="E46962"/>
          </p15:clr>
        </p15:guide>
        <p15:guide id="22" pos="5184">
          <p15:clr>
            <a:srgbClr val="E46962"/>
          </p15:clr>
        </p15:guide>
        <p15:guide id="23" orient="horz" pos="584">
          <p15:clr>
            <a:srgbClr val="E46962"/>
          </p15:clr>
        </p15:guide>
        <p15:guide id="24" orient="horz" pos="1152">
          <p15:clr>
            <a:srgbClr val="E46962"/>
          </p15:clr>
        </p15:guide>
        <p15:guide id="25" orient="horz" pos="1440">
          <p15:clr>
            <a:srgbClr val="E46962"/>
          </p15:clr>
        </p15:guide>
        <p15:guide id="26" orient="horz" pos="1731">
          <p15:clr>
            <a:srgbClr val="E46962"/>
          </p15:clr>
        </p15:guide>
        <p15:guide id="27" orient="horz" pos="2018">
          <p15:clr>
            <a:srgbClr val="E46962"/>
          </p15:clr>
        </p15:guide>
        <p15:guide id="28" orient="horz" pos="2305">
          <p15:clr>
            <a:srgbClr val="E46962"/>
          </p15:clr>
        </p15:guide>
        <p15:guide id="29" orient="horz" pos="259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4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9.png"/><Relationship Id="rId4" Type="http://schemas.openxmlformats.org/officeDocument/2006/relationships/image" Target="../media/image41.png"/><Relationship Id="rId5" Type="http://schemas.openxmlformats.org/officeDocument/2006/relationships/image" Target="../media/image3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.png"/><Relationship Id="rId4" Type="http://schemas.openxmlformats.org/officeDocument/2006/relationships/image" Target="../media/image4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6.jpg"/><Relationship Id="rId4" Type="http://schemas.openxmlformats.org/officeDocument/2006/relationships/image" Target="../media/image1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1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Sweet </a:t>
            </a:r>
            <a:br>
              <a:rPr lang="en"/>
            </a:br>
            <a:r>
              <a:rPr lang="en"/>
              <a:t>is the Terminal?</a:t>
            </a:r>
            <a:endParaRPr/>
          </a:p>
        </p:txBody>
      </p:sp>
      <p:sp>
        <p:nvSpPr>
          <p:cNvPr id="353" name="Google Shape;353;p51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</a:t>
            </a:r>
            <a:endParaRPr/>
          </a:p>
        </p:txBody>
      </p:sp>
      <p:sp>
        <p:nvSpPr>
          <p:cNvPr id="354" name="Google Shape;354;p51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3.2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52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52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52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52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52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52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52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52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52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By the end of today’s class, you will be able to:</a:t>
            </a:r>
            <a:endParaRPr/>
          </a:p>
        </p:txBody>
      </p:sp>
      <p:sp>
        <p:nvSpPr>
          <p:cNvPr id="369" name="Google Shape;369;p52"/>
          <p:cNvSpPr txBox="1"/>
          <p:nvPr>
            <p:ph idx="4294967295" type="body"/>
          </p:nvPr>
        </p:nvSpPr>
        <p:spPr>
          <a:xfrm>
            <a:off x="914400" y="1189475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700"/>
              <a:t>Identify and explain the </a:t>
            </a:r>
            <a:r>
              <a:rPr lang="en" sz="1700"/>
              <a:t>structure</a:t>
            </a:r>
            <a:r>
              <a:rPr lang="en" sz="1700"/>
              <a:t> of a terminal command.</a:t>
            </a:r>
            <a:endParaRPr sz="1700"/>
          </a:p>
        </p:txBody>
      </p:sp>
      <p:sp>
        <p:nvSpPr>
          <p:cNvPr id="370" name="Google Shape;370;p52"/>
          <p:cNvSpPr txBox="1"/>
          <p:nvPr>
            <p:ph idx="4294967295" type="body"/>
          </p:nvPr>
        </p:nvSpPr>
        <p:spPr>
          <a:xfrm>
            <a:off x="914400" y="1875012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700"/>
              <a:t>Explain how options modify the default behavior of a terminal command.</a:t>
            </a:r>
            <a:endParaRPr sz="1700"/>
          </a:p>
        </p:txBody>
      </p:sp>
      <p:sp>
        <p:nvSpPr>
          <p:cNvPr id="371" name="Google Shape;371;p52"/>
          <p:cNvSpPr txBox="1"/>
          <p:nvPr>
            <p:ph idx="4294967295" type="body"/>
          </p:nvPr>
        </p:nvSpPr>
        <p:spPr>
          <a:xfrm>
            <a:off x="914400" y="2560548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700"/>
              <a:t>Use commands like </a:t>
            </a:r>
            <a:r>
              <a:rPr lang="en" sz="1700">
                <a:latin typeface="Inconsolata"/>
                <a:ea typeface="Inconsolata"/>
                <a:cs typeface="Inconsolata"/>
                <a:sym typeface="Inconsolata"/>
              </a:rPr>
              <a:t>head</a:t>
            </a:r>
            <a:r>
              <a:rPr lang="en" sz="1700"/>
              <a:t>, </a:t>
            </a:r>
            <a:r>
              <a:rPr lang="en" sz="1700">
                <a:latin typeface="Inconsolata"/>
                <a:ea typeface="Inconsolata"/>
                <a:cs typeface="Inconsolata"/>
                <a:sym typeface="Inconsolata"/>
              </a:rPr>
              <a:t>tail</a:t>
            </a:r>
            <a:r>
              <a:rPr lang="en" sz="1700"/>
              <a:t>, </a:t>
            </a:r>
            <a:r>
              <a:rPr lang="en" sz="1700">
                <a:latin typeface="Inconsolata"/>
                <a:ea typeface="Inconsolata"/>
                <a:cs typeface="Inconsolata"/>
                <a:sym typeface="Inconsolata"/>
              </a:rPr>
              <a:t>more</a:t>
            </a:r>
            <a:r>
              <a:rPr lang="en" sz="1700"/>
              <a:t>, and </a:t>
            </a:r>
            <a:r>
              <a:rPr lang="en" sz="1700">
                <a:latin typeface="Inconsolata"/>
                <a:ea typeface="Inconsolata"/>
                <a:cs typeface="Inconsolata"/>
                <a:sym typeface="Inconsolata"/>
              </a:rPr>
              <a:t>less</a:t>
            </a:r>
            <a:r>
              <a:rPr lang="en" sz="1700"/>
              <a:t> </a:t>
            </a:r>
            <a:r>
              <a:rPr lang="en" sz="1700"/>
              <a:t>to preview files.</a:t>
            </a:r>
            <a:endParaRPr sz="1700"/>
          </a:p>
        </p:txBody>
      </p:sp>
      <p:sp>
        <p:nvSpPr>
          <p:cNvPr id="372" name="Google Shape;372;p52"/>
          <p:cNvSpPr txBox="1"/>
          <p:nvPr>
            <p:ph idx="4294967295" type="body"/>
          </p:nvPr>
        </p:nvSpPr>
        <p:spPr>
          <a:xfrm>
            <a:off x="914400" y="3246085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700"/>
              <a:t>Combine multiple commands in sequence to accomplish relevant IT tasks.</a:t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4"/>
          <p:cNvSpPr txBox="1"/>
          <p:nvPr/>
        </p:nvSpPr>
        <p:spPr>
          <a:xfrm>
            <a:off x="368950" y="127400"/>
            <a:ext cx="846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Terminal Review</a:t>
            </a:r>
            <a:endParaRPr b="1" i="1" sz="24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Commands for navigating a file directory: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82" name="Google Shape;382;p54"/>
          <p:cNvGraphicFramePr/>
          <p:nvPr/>
        </p:nvGraphicFramePr>
        <p:xfrm>
          <a:off x="457150" y="1033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{EEBD3B75-B270-40FB-8327-EAD4090DE4E5}</a:tableStyleId>
              </a:tblPr>
              <a:tblGrid>
                <a:gridCol w="1092600"/>
                <a:gridCol w="6370725"/>
              </a:tblGrid>
              <a:tr h="3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pwd</a:t>
                      </a:r>
                      <a:endParaRPr sz="1800"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Displays the current working directory</a:t>
                      </a:r>
                      <a:endParaRPr sz="18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39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ls</a:t>
                      </a:r>
                      <a:endParaRPr sz="1800"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Lists the directories and files in the current directory</a:t>
                      </a:r>
                      <a:endParaRPr sz="18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8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cd</a:t>
                      </a:r>
                      <a:endParaRPr sz="1800"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Navigates into a directory</a:t>
                      </a:r>
                      <a:endParaRPr sz="18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cd ../</a:t>
                      </a:r>
                      <a:endParaRPr sz="1800"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Navigates out of a directory</a:t>
                      </a:r>
                      <a:endParaRPr sz="18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clear</a:t>
                      </a:r>
                      <a:endParaRPr sz="1800"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Clears the terminal history on the page</a:t>
                      </a:r>
                      <a:endParaRPr sz="18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5"/>
          <p:cNvSpPr txBox="1"/>
          <p:nvPr/>
        </p:nvSpPr>
        <p:spPr>
          <a:xfrm>
            <a:off x="368950" y="127400"/>
            <a:ext cx="846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Terminal Review</a:t>
            </a:r>
            <a:endParaRPr b="1" i="1" sz="24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aphicFrame>
        <p:nvGraphicFramePr>
          <p:cNvPr id="388" name="Google Shape;388;p55"/>
          <p:cNvGraphicFramePr/>
          <p:nvPr/>
        </p:nvGraphicFramePr>
        <p:xfrm>
          <a:off x="509550" y="132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{EEBD3B75-B270-40FB-8327-EAD4090DE4E5}</a:tableStyleId>
              </a:tblPr>
              <a:tblGrid>
                <a:gridCol w="1092600"/>
                <a:gridCol w="6370725"/>
              </a:tblGrid>
              <a:tr h="3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mkdir</a:t>
                      </a:r>
                      <a:endParaRPr sz="1800"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Creates a new directory</a:t>
                      </a:r>
                      <a:endParaRPr sz="18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39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rmdir</a:t>
                      </a:r>
                      <a:endParaRPr sz="1800"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Removes a directory</a:t>
                      </a:r>
                      <a:endParaRPr sz="18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9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touch</a:t>
                      </a:r>
                      <a:endParaRPr sz="1800"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Creates an empty file</a:t>
                      </a:r>
                      <a:endParaRPr sz="18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rm</a:t>
                      </a:r>
                      <a:endParaRPr sz="1800"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Removes a file</a:t>
                      </a:r>
                      <a:endParaRPr sz="18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89" name="Google Shape;389;p55"/>
          <p:cNvSpPr txBox="1"/>
          <p:nvPr/>
        </p:nvSpPr>
        <p:spPr>
          <a:xfrm>
            <a:off x="419225" y="3229388"/>
            <a:ext cx="74634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Commands for moving and copying files: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90" name="Google Shape;390;p55"/>
          <p:cNvGraphicFramePr/>
          <p:nvPr/>
        </p:nvGraphicFramePr>
        <p:xfrm>
          <a:off x="509538" y="378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{EEBD3B75-B270-40FB-8327-EAD4090DE4E5}</a:tableStyleId>
              </a:tblPr>
              <a:tblGrid>
                <a:gridCol w="1092600"/>
                <a:gridCol w="6370725"/>
              </a:tblGrid>
              <a:tr h="3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cp</a:t>
                      </a:r>
                      <a:endParaRPr sz="1800"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Copies files to a new location</a:t>
                      </a:r>
                      <a:endParaRPr sz="18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39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mv</a:t>
                      </a:r>
                      <a:endParaRPr sz="1800"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Moves files to a new location</a:t>
                      </a:r>
                      <a:endParaRPr sz="18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91" name="Google Shape;391;p55"/>
          <p:cNvSpPr txBox="1"/>
          <p:nvPr/>
        </p:nvSpPr>
        <p:spPr>
          <a:xfrm>
            <a:off x="405125" y="868825"/>
            <a:ext cx="74916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Commands for making and removing files and directories:</a:t>
            </a:r>
            <a:r>
              <a:rPr lang="en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endParaRPr sz="22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6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Preview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Commands</a:t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97" name="Google Shape;39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1825" y="1599400"/>
            <a:ext cx="1124100" cy="92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7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and IT professionals often </a:t>
            </a:r>
            <a:r>
              <a:rPr b="1" lang="en"/>
              <a:t>preview</a:t>
            </a:r>
            <a:r>
              <a:rPr lang="en"/>
              <a:t> the contents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 a file.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8"/>
          <p:cNvSpPr txBox="1"/>
          <p:nvPr>
            <p:ph idx="4" type="body"/>
          </p:nvPr>
        </p:nvSpPr>
        <p:spPr>
          <a:xfrm>
            <a:off x="381000" y="3413275"/>
            <a:ext cx="3115500" cy="115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</a:t>
            </a:r>
            <a:r>
              <a:rPr b="1" lang="en"/>
              <a:t> network a</a:t>
            </a:r>
            <a:r>
              <a:rPr b="1" lang="en"/>
              <a:t>dministrator</a:t>
            </a:r>
            <a:r>
              <a:rPr b="1" lang="en"/>
              <a:t> </a:t>
            </a:r>
            <a:br>
              <a:rPr b="1" lang="en"/>
            </a:br>
            <a:r>
              <a:rPr lang="en"/>
              <a:t>needs to preview the bottom </a:t>
            </a:r>
            <a:br>
              <a:rPr lang="en"/>
            </a:br>
            <a:r>
              <a:rPr lang="en"/>
              <a:t>of a log file. </a:t>
            </a:r>
            <a:endParaRPr/>
          </a:p>
        </p:txBody>
      </p:sp>
      <p:pic>
        <p:nvPicPr>
          <p:cNvPr id="408" name="Google Shape;408;p5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1028" l="0" r="0" t="11028"/>
          <a:stretch/>
        </p:blipFill>
        <p:spPr>
          <a:xfrm>
            <a:off x="3657600" y="1371600"/>
            <a:ext cx="5029200" cy="2742300"/>
          </a:xfrm>
          <a:prstGeom prst="rect">
            <a:avLst/>
          </a:prstGeom>
        </p:spPr>
      </p:pic>
      <p:sp>
        <p:nvSpPr>
          <p:cNvPr id="409" name="Google Shape;409;p58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Preview Commands</a:t>
            </a:r>
            <a:endParaRPr/>
          </a:p>
        </p:txBody>
      </p:sp>
      <p:sp>
        <p:nvSpPr>
          <p:cNvPr id="410" name="Google Shape;410;p58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Professional Examples</a:t>
            </a:r>
            <a:endParaRPr/>
          </a:p>
        </p:txBody>
      </p:sp>
      <p:sp>
        <p:nvSpPr>
          <p:cNvPr id="411" name="Google Shape;411;p58"/>
          <p:cNvSpPr txBox="1"/>
          <p:nvPr>
            <p:ph idx="3" type="body"/>
          </p:nvPr>
        </p:nvSpPr>
        <p:spPr>
          <a:xfrm>
            <a:off x="381000" y="1592650"/>
            <a:ext cx="3115500" cy="115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</a:t>
            </a:r>
            <a:r>
              <a:rPr b="1" lang="en"/>
              <a:t> security a</a:t>
            </a:r>
            <a:r>
              <a:rPr b="1" lang="en"/>
              <a:t>dministrator</a:t>
            </a:r>
            <a:r>
              <a:rPr lang="en"/>
              <a:t> </a:t>
            </a:r>
            <a:br>
              <a:rPr lang="en"/>
            </a:br>
            <a:r>
              <a:rPr lang="en"/>
              <a:t>needs to </a:t>
            </a:r>
            <a:r>
              <a:rPr lang="en"/>
              <a:t>preview</a:t>
            </a:r>
            <a:r>
              <a:rPr lang="en"/>
              <a:t> the top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 lines of an email.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9"/>
          <p:cNvSpPr txBox="1"/>
          <p:nvPr/>
        </p:nvSpPr>
        <p:spPr>
          <a:xfrm>
            <a:off x="368950" y="127400"/>
            <a:ext cx="846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More, Less, Head, and Tail</a:t>
            </a:r>
            <a:endParaRPr b="1" i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2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aphicFrame>
        <p:nvGraphicFramePr>
          <p:cNvPr id="417" name="Google Shape;417;p59"/>
          <p:cNvGraphicFramePr/>
          <p:nvPr/>
        </p:nvGraphicFramePr>
        <p:xfrm>
          <a:off x="457150" y="1567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{EEBD3B75-B270-40FB-8327-EAD4090DE4E5}</a:tableStyleId>
              </a:tblPr>
              <a:tblGrid>
                <a:gridCol w="1092600"/>
                <a:gridCol w="6370725"/>
              </a:tblGrid>
              <a:tr h="3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more</a:t>
                      </a:r>
                      <a:endParaRPr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View a file one page at a time. Space bar moves you to the next page.</a:t>
                      </a:r>
                      <a:endParaRPr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339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less</a:t>
                      </a:r>
                      <a:endParaRPr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Similar to more, but it allows more flexibility. You can scroll forward and  backward one line at a time, and it supports horizontal scrolling.</a:t>
                      </a:r>
                      <a:endParaRPr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18" name="Google Shape;418;p59"/>
          <p:cNvSpPr txBox="1"/>
          <p:nvPr/>
        </p:nvSpPr>
        <p:spPr>
          <a:xfrm>
            <a:off x="368950" y="2898450"/>
            <a:ext cx="8463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 preview a file by a certain number of lines, use the head or tail commands. </a:t>
            </a:r>
            <a:endParaRPr sz="2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19" name="Google Shape;419;p59"/>
          <p:cNvGraphicFramePr/>
          <p:nvPr/>
        </p:nvGraphicFramePr>
        <p:xfrm>
          <a:off x="457150" y="331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{EEBD3B75-B270-40FB-8327-EAD4090DE4E5}</a:tableStyleId>
              </a:tblPr>
              <a:tblGrid>
                <a:gridCol w="1092600"/>
                <a:gridCol w="6370725"/>
              </a:tblGrid>
              <a:tr h="3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head</a:t>
                      </a:r>
                      <a:endParaRPr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Displays the top 10 lines of a file</a:t>
                      </a:r>
                      <a:endParaRPr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339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tail</a:t>
                      </a:r>
                      <a:endParaRPr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Displays the bottom 10 lines of a file</a:t>
                      </a:r>
                      <a:endParaRPr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20" name="Google Shape;420;p59"/>
          <p:cNvSpPr txBox="1"/>
          <p:nvPr/>
        </p:nvSpPr>
        <p:spPr>
          <a:xfrm>
            <a:off x="368950" y="1155525"/>
            <a:ext cx="8463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 preview and scroll through a whole file, use the more or less commands.</a:t>
            </a:r>
            <a:endParaRPr sz="2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0"/>
          <p:cNvSpPr txBox="1"/>
          <p:nvPr/>
        </p:nvSpPr>
        <p:spPr>
          <a:xfrm>
            <a:off x="350850" y="1153600"/>
            <a:ext cx="7703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The syntax for </a:t>
            </a:r>
            <a:r>
              <a:rPr lang="en">
                <a:solidFill>
                  <a:srgbClr val="2E5E73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head</a:t>
            </a:r>
            <a:r>
              <a:rPr lang="en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 is:</a:t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26" name="Google Shape;426;p60"/>
          <p:cNvSpPr txBox="1"/>
          <p:nvPr/>
        </p:nvSpPr>
        <p:spPr>
          <a:xfrm>
            <a:off x="724200" y="127400"/>
            <a:ext cx="77895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Modify the Preview</a:t>
            </a:r>
            <a:endParaRPr b="1" i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2E5E73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head</a:t>
            </a:r>
            <a:r>
              <a:rPr lang="en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 and </a:t>
            </a:r>
            <a:r>
              <a:rPr lang="en">
                <a:solidFill>
                  <a:srgbClr val="2E5E73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tail</a:t>
            </a:r>
            <a:r>
              <a:rPr lang="en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 commands preview 10 lines by default. This number can be changed easily.</a:t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27" name="Google Shape;427;p60"/>
          <p:cNvSpPr/>
          <p:nvPr/>
        </p:nvSpPr>
        <p:spPr>
          <a:xfrm>
            <a:off x="136025" y="2272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60"/>
          <p:cNvSpPr/>
          <p:nvPr/>
        </p:nvSpPr>
        <p:spPr>
          <a:xfrm>
            <a:off x="108875" y="206473"/>
            <a:ext cx="627000" cy="627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082D49"/>
              </a:solidFill>
            </a:endParaRPr>
          </a:p>
        </p:txBody>
      </p:sp>
      <p:pic>
        <p:nvPicPr>
          <p:cNvPr id="429" name="Google Shape;429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700" y="384975"/>
            <a:ext cx="381350" cy="27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60"/>
          <p:cNvSpPr txBox="1"/>
          <p:nvPr/>
        </p:nvSpPr>
        <p:spPr>
          <a:xfrm>
            <a:off x="378425" y="2775125"/>
            <a:ext cx="7703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For example, the following shows the top 50 lines in </a:t>
            </a:r>
            <a:r>
              <a:rPr lang="en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logfile.txt</a:t>
            </a:r>
            <a: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 :</a:t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31" name="Google Shape;431;p60"/>
          <p:cNvSpPr txBox="1"/>
          <p:nvPr>
            <p:ph idx="1" type="body"/>
          </p:nvPr>
        </p:nvSpPr>
        <p:spPr>
          <a:xfrm>
            <a:off x="350850" y="1487200"/>
            <a:ext cx="8536200" cy="7431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3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head -number file</a:t>
            </a:r>
            <a:endParaRPr sz="3300">
              <a:solidFill>
                <a:schemeClr val="lt1"/>
              </a:solidFill>
            </a:endParaRPr>
          </a:p>
        </p:txBody>
      </p:sp>
      <p:sp>
        <p:nvSpPr>
          <p:cNvPr id="432" name="Google Shape;432;p60"/>
          <p:cNvSpPr txBox="1"/>
          <p:nvPr/>
        </p:nvSpPr>
        <p:spPr>
          <a:xfrm>
            <a:off x="350850" y="3931525"/>
            <a:ext cx="7703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The same syntax applies for the </a:t>
            </a:r>
            <a:r>
              <a:rPr lang="en">
                <a:solidFill>
                  <a:srgbClr val="2E5E73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tail</a:t>
            </a:r>
            <a:r>
              <a:rPr lang="en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 command.</a:t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33" name="Google Shape;433;p60"/>
          <p:cNvSpPr txBox="1"/>
          <p:nvPr>
            <p:ph idx="1" type="body"/>
          </p:nvPr>
        </p:nvSpPr>
        <p:spPr>
          <a:xfrm>
            <a:off x="350850" y="3100800"/>
            <a:ext cx="8536200" cy="7431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3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head -50 logfile.txt</a:t>
            </a:r>
            <a:endParaRPr sz="3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Preview Commands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2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 Minutes</a:t>
            </a:r>
            <a:endParaRPr/>
          </a:p>
        </p:txBody>
      </p:sp>
      <p:sp>
        <p:nvSpPr>
          <p:cNvPr id="444" name="Google Shape;444;p62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Oh Henry, What Did You Do?</a:t>
            </a:r>
            <a:endParaRPr/>
          </a:p>
        </p:txBody>
      </p:sp>
      <p:sp>
        <p:nvSpPr>
          <p:cNvPr id="445" name="Google Shape;445;p62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Continue in your role as a security analyst at Candy Corp.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manager identified two employees who may be working with Sugar Corp—Henry and Ruth—and quickly pulled some files from their computers.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must preview the files to determine which have readable text data that can be used for analysis.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6" name="Google Shape;44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5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 Streams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 and the</a:t>
            </a:r>
            <a:endParaRPr b="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Inconsolata SemiBold"/>
                <a:ea typeface="Inconsolata SemiBold"/>
                <a:cs typeface="Inconsolata SemiBold"/>
                <a:sym typeface="Inconsolata SemiBold"/>
              </a:rPr>
              <a:t>cat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Command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0" name="Google Shape;460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1825" y="1599400"/>
            <a:ext cx="1124100" cy="92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6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c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at</a:t>
            </a:r>
            <a:r>
              <a:rPr lang="en">
                <a:latin typeface="Inconsolata SemiBold"/>
                <a:ea typeface="Inconsolata SemiBold"/>
                <a:cs typeface="Inconsolata SemiBold"/>
                <a:sym typeface="Inconsolata SemiBold"/>
              </a:rPr>
              <a:t> </a:t>
            </a:r>
            <a:r>
              <a:rPr lang="en"/>
              <a:t>(concatenate) combines files and displays the results.</a:t>
            </a: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7"/>
          <p:cNvSpPr/>
          <p:nvPr/>
        </p:nvSpPr>
        <p:spPr>
          <a:xfrm>
            <a:off x="457200" y="1371600"/>
            <a:ext cx="1985400" cy="2301000"/>
          </a:xfrm>
          <a:prstGeom prst="rect">
            <a:avLst/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67"/>
          <p:cNvSpPr/>
          <p:nvPr/>
        </p:nvSpPr>
        <p:spPr>
          <a:xfrm>
            <a:off x="2528198" y="1371600"/>
            <a:ext cx="1985400" cy="2301000"/>
          </a:xfrm>
          <a:prstGeom prst="rect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67"/>
          <p:cNvSpPr/>
          <p:nvPr/>
        </p:nvSpPr>
        <p:spPr>
          <a:xfrm>
            <a:off x="4630400" y="1371600"/>
            <a:ext cx="1985400" cy="2301000"/>
          </a:xfrm>
          <a:prstGeom prst="rect">
            <a:avLst/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67"/>
          <p:cNvSpPr/>
          <p:nvPr/>
        </p:nvSpPr>
        <p:spPr>
          <a:xfrm>
            <a:off x="6732600" y="1371600"/>
            <a:ext cx="1954200" cy="2301000"/>
          </a:xfrm>
          <a:prstGeom prst="rect">
            <a:avLst/>
          </a:prstGeom>
          <a:solidFill>
            <a:srgbClr val="AAD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4" name="Google Shape;474;p67"/>
          <p:cNvGrpSpPr/>
          <p:nvPr/>
        </p:nvGrpSpPr>
        <p:grpSpPr>
          <a:xfrm>
            <a:off x="2252708" y="2292592"/>
            <a:ext cx="459000" cy="459000"/>
            <a:chOff x="4898908" y="4195167"/>
            <a:chExt cx="459000" cy="459000"/>
          </a:xfrm>
        </p:grpSpPr>
        <p:sp>
          <p:nvSpPr>
            <p:cNvPr id="475" name="Google Shape;475;p67"/>
            <p:cNvSpPr/>
            <p:nvPr/>
          </p:nvSpPr>
          <p:spPr>
            <a:xfrm>
              <a:off x="4898908" y="4195167"/>
              <a:ext cx="459000" cy="459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67"/>
            <p:cNvSpPr/>
            <p:nvPr/>
          </p:nvSpPr>
          <p:spPr>
            <a:xfrm>
              <a:off x="5101067" y="4330887"/>
              <a:ext cx="93400" cy="187578"/>
            </a:xfrm>
            <a:custGeom>
              <a:rect b="b" l="l" r="r" t="t"/>
              <a:pathLst>
                <a:path extrusionOk="0" fill="none" h="206130" w="102637">
                  <a:moveTo>
                    <a:pt x="0" y="1"/>
                  </a:moveTo>
                  <a:lnTo>
                    <a:pt x="102637" y="103065"/>
                  </a:lnTo>
                  <a:lnTo>
                    <a:pt x="0" y="206129"/>
                  </a:lnTo>
                </a:path>
              </a:pathLst>
            </a:custGeom>
            <a:noFill/>
            <a:ln cap="rnd" cmpd="sng" w="19050">
              <a:solidFill>
                <a:srgbClr val="082D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7" name="Google Shape;477;p67"/>
          <p:cNvGrpSpPr/>
          <p:nvPr/>
        </p:nvGrpSpPr>
        <p:grpSpPr>
          <a:xfrm>
            <a:off x="4342508" y="2292592"/>
            <a:ext cx="459000" cy="459000"/>
            <a:chOff x="4898908" y="4195167"/>
            <a:chExt cx="459000" cy="459000"/>
          </a:xfrm>
        </p:grpSpPr>
        <p:sp>
          <p:nvSpPr>
            <p:cNvPr id="478" name="Google Shape;478;p67"/>
            <p:cNvSpPr/>
            <p:nvPr/>
          </p:nvSpPr>
          <p:spPr>
            <a:xfrm>
              <a:off x="4898908" y="4195167"/>
              <a:ext cx="459000" cy="459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67"/>
            <p:cNvSpPr/>
            <p:nvPr/>
          </p:nvSpPr>
          <p:spPr>
            <a:xfrm>
              <a:off x="5101067" y="4330887"/>
              <a:ext cx="93400" cy="187578"/>
            </a:xfrm>
            <a:custGeom>
              <a:rect b="b" l="l" r="r" t="t"/>
              <a:pathLst>
                <a:path extrusionOk="0" fill="none" h="206130" w="102637">
                  <a:moveTo>
                    <a:pt x="0" y="1"/>
                  </a:moveTo>
                  <a:lnTo>
                    <a:pt x="102637" y="103065"/>
                  </a:lnTo>
                  <a:lnTo>
                    <a:pt x="0" y="206129"/>
                  </a:lnTo>
                </a:path>
              </a:pathLst>
            </a:custGeom>
            <a:noFill/>
            <a:ln cap="rnd" cmpd="sng" w="19050">
              <a:solidFill>
                <a:srgbClr val="082D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0" name="Google Shape;480;p67"/>
          <p:cNvGrpSpPr/>
          <p:nvPr/>
        </p:nvGrpSpPr>
        <p:grpSpPr>
          <a:xfrm>
            <a:off x="6432308" y="2292592"/>
            <a:ext cx="459000" cy="459000"/>
            <a:chOff x="4898908" y="4195167"/>
            <a:chExt cx="459000" cy="459000"/>
          </a:xfrm>
        </p:grpSpPr>
        <p:sp>
          <p:nvSpPr>
            <p:cNvPr id="481" name="Google Shape;481;p67"/>
            <p:cNvSpPr/>
            <p:nvPr/>
          </p:nvSpPr>
          <p:spPr>
            <a:xfrm>
              <a:off x="4898908" y="4195167"/>
              <a:ext cx="459000" cy="459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67"/>
            <p:cNvSpPr/>
            <p:nvPr/>
          </p:nvSpPr>
          <p:spPr>
            <a:xfrm>
              <a:off x="5101067" y="4330887"/>
              <a:ext cx="93400" cy="187578"/>
            </a:xfrm>
            <a:custGeom>
              <a:rect b="b" l="l" r="r" t="t"/>
              <a:pathLst>
                <a:path extrusionOk="0" fill="none" h="206130" w="102637">
                  <a:moveTo>
                    <a:pt x="0" y="1"/>
                  </a:moveTo>
                  <a:lnTo>
                    <a:pt x="102637" y="103065"/>
                  </a:lnTo>
                  <a:lnTo>
                    <a:pt x="0" y="206129"/>
                  </a:lnTo>
                </a:path>
              </a:pathLst>
            </a:custGeom>
            <a:noFill/>
            <a:ln cap="rnd" cmpd="sng" w="19050">
              <a:solidFill>
                <a:srgbClr val="082D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3" name="Google Shape;483;p67"/>
          <p:cNvSpPr txBox="1"/>
          <p:nvPr/>
        </p:nvSpPr>
        <p:spPr>
          <a:xfrm>
            <a:off x="2711700" y="1371600"/>
            <a:ext cx="1611900" cy="23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2.txt:</a:t>
            </a:r>
            <a:endParaRPr sz="1800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 F G H 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4" name="Google Shape;484;p67"/>
          <p:cNvSpPr txBox="1"/>
          <p:nvPr/>
        </p:nvSpPr>
        <p:spPr>
          <a:xfrm>
            <a:off x="6891300" y="1371600"/>
            <a:ext cx="1795500" cy="23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B C D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 F G H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" name="Google Shape;485;p67"/>
          <p:cNvSpPr txBox="1"/>
          <p:nvPr/>
        </p:nvSpPr>
        <p:spPr>
          <a:xfrm>
            <a:off x="4801500" y="1371600"/>
            <a:ext cx="1624500" cy="23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c</a:t>
            </a:r>
            <a:r>
              <a:rPr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at 1.txt 2.txt</a:t>
            </a:r>
            <a:endParaRPr i="0" sz="18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486" name="Google Shape;486;p67"/>
          <p:cNvSpPr txBox="1"/>
          <p:nvPr/>
        </p:nvSpPr>
        <p:spPr>
          <a:xfrm>
            <a:off x="640775" y="1371600"/>
            <a:ext cx="1611900" cy="23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1.txt:</a:t>
            </a:r>
            <a:endParaRPr sz="1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 B C D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67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The cat Command</a:t>
            </a:r>
            <a:endParaRPr/>
          </a:p>
        </p:txBody>
      </p:sp>
      <p:sp>
        <p:nvSpPr>
          <p:cNvPr id="488" name="Google Shape;488;p67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Security</a:t>
            </a:r>
            <a:r>
              <a:rPr lang="en"/>
              <a:t> and IT Professionals often have to combine files</a:t>
            </a:r>
            <a:endParaRPr/>
          </a:p>
        </p:txBody>
      </p:sp>
      <p:sp>
        <p:nvSpPr>
          <p:cNvPr id="489" name="Google Shape;489;p67"/>
          <p:cNvSpPr/>
          <p:nvPr/>
        </p:nvSpPr>
        <p:spPr>
          <a:xfrm>
            <a:off x="0" y="3968975"/>
            <a:ext cx="9144000" cy="9144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-57150" lvl="0" marL="2171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Note</a:t>
            </a:r>
            <a:r>
              <a:rPr b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This command </a:t>
            </a:r>
            <a:r>
              <a:rPr b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does not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save the results. To save results of the cat command, you have to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redirect 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b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data stream.</a:t>
            </a:r>
            <a:endParaRPr b="1"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90" name="Google Shape;49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7552" y="4073705"/>
            <a:ext cx="706371" cy="66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8"/>
          <p:cNvSpPr txBox="1"/>
          <p:nvPr/>
        </p:nvSpPr>
        <p:spPr>
          <a:xfrm>
            <a:off x="1537500" y="1338875"/>
            <a:ext cx="6234900" cy="25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b="1" lang="en" sz="3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data stream </a:t>
            </a:r>
            <a:r>
              <a:rPr lang="en" sz="3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describes channels of data as they are processed and moved through a system.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Streams</a:t>
            </a:r>
            <a:endParaRPr/>
          </a:p>
        </p:txBody>
      </p:sp>
      <p:sp>
        <p:nvSpPr>
          <p:cNvPr id="501" name="Google Shape;501;p6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Move data from one process or program to another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02" name="Google Shape;502;p69"/>
          <p:cNvSpPr txBox="1"/>
          <p:nvPr>
            <p:ph idx="2" type="body"/>
          </p:nvPr>
        </p:nvSpPr>
        <p:spPr>
          <a:xfrm>
            <a:off x="461225" y="1063525"/>
            <a:ext cx="45681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common data streams: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</a:t>
            </a:r>
            <a:r>
              <a:rPr lang="en"/>
              <a:t>tdin 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</a:t>
            </a:r>
            <a:r>
              <a:rPr lang="en"/>
              <a:t>tdout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Input data streamed using </a:t>
            </a:r>
            <a:r>
              <a:rPr b="1" lang="en"/>
              <a:t>stdin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Output data streamed using </a:t>
            </a:r>
            <a:r>
              <a:rPr b="1" lang="en"/>
              <a:t>stdout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3" name="Google Shape;50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087" y="287250"/>
            <a:ext cx="438225" cy="33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84225" y="1158450"/>
            <a:ext cx="5112516" cy="352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70"/>
          <p:cNvSpPr/>
          <p:nvPr/>
        </p:nvSpPr>
        <p:spPr>
          <a:xfrm rot="10800000">
            <a:off x="593369" y="1681756"/>
            <a:ext cx="261029" cy="144694"/>
          </a:xfrm>
          <a:prstGeom prst="flowChartExtract">
            <a:avLst/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10" name="Google Shape;510;p70"/>
          <p:cNvSpPr/>
          <p:nvPr/>
        </p:nvSpPr>
        <p:spPr>
          <a:xfrm rot="10800000">
            <a:off x="5012969" y="1681768"/>
            <a:ext cx="261029" cy="144694"/>
          </a:xfrm>
          <a:prstGeom prst="flowChartExtract">
            <a:avLst/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70"/>
          <p:cNvSpPr txBox="1"/>
          <p:nvPr/>
        </p:nvSpPr>
        <p:spPr>
          <a:xfrm>
            <a:off x="542175" y="2571750"/>
            <a:ext cx="3649200" cy="19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command combines two separate files, </a:t>
            </a:r>
            <a:r>
              <a:rPr lang="en" sz="1800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1.txt</a:t>
            </a: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and </a:t>
            </a:r>
            <a:r>
              <a:rPr lang="en" sz="1800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2.txt</a:t>
            </a: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,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into a single file called </a:t>
            </a:r>
            <a:r>
              <a:rPr lang="en" sz="1800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combined_1_and_2.txt</a:t>
            </a: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12" name="Google Shape;512;p70"/>
          <p:cNvSpPr txBox="1"/>
          <p:nvPr/>
        </p:nvSpPr>
        <p:spPr>
          <a:xfrm>
            <a:off x="4976200" y="2571650"/>
            <a:ext cx="3649200" cy="19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If </a:t>
            </a:r>
            <a:r>
              <a:rPr lang="en" sz="1800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combined_1_and_2.txt</a:t>
            </a: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already exists, it will overwrite the file with the combined data from</a:t>
            </a: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1800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1.txt</a:t>
            </a: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and </a:t>
            </a:r>
            <a:r>
              <a:rPr lang="en" sz="1800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2.txt</a:t>
            </a: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13" name="Google Shape;513;p70"/>
          <p:cNvPicPr preferRelativeResize="0"/>
          <p:nvPr/>
        </p:nvPicPr>
        <p:blipFill rotWithShape="1">
          <a:blip r:embed="rId3">
            <a:alphaModFix/>
          </a:blip>
          <a:srcRect b="0" l="0" r="0" t="37915"/>
          <a:stretch/>
        </p:blipFill>
        <p:spPr>
          <a:xfrm>
            <a:off x="4305150" y="2465400"/>
            <a:ext cx="827450" cy="2273875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70"/>
          <p:cNvSpPr txBox="1"/>
          <p:nvPr/>
        </p:nvSpPr>
        <p:spPr>
          <a:xfrm>
            <a:off x="368950" y="127400"/>
            <a:ext cx="846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cat</a:t>
            </a:r>
            <a:r>
              <a:rPr b="1" lang="en" sz="2400">
                <a:solidFill>
                  <a:schemeClr val="accent5"/>
                </a:solidFill>
                <a:latin typeface="Roboto Medium"/>
                <a:ea typeface="Roboto Medium"/>
                <a:cs typeface="Roboto Medium"/>
                <a:sym typeface="Roboto Medium"/>
              </a:rPr>
              <a:t> with</a:t>
            </a:r>
            <a:r>
              <a:rPr b="1" lang="en" sz="24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 &gt;</a:t>
            </a:r>
            <a:endParaRPr b="1" sz="24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2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15" name="Google Shape;515;p70"/>
          <p:cNvSpPr txBox="1"/>
          <p:nvPr>
            <p:ph idx="1" type="body"/>
          </p:nvPr>
        </p:nvSpPr>
        <p:spPr>
          <a:xfrm>
            <a:off x="350850" y="1609750"/>
            <a:ext cx="8536200" cy="9048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3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cat 1.txt 2.txt &gt; combined_1_and_2.txt</a:t>
            </a:r>
            <a:endParaRPr sz="3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71"/>
          <p:cNvSpPr/>
          <p:nvPr/>
        </p:nvSpPr>
        <p:spPr>
          <a:xfrm rot="10800000">
            <a:off x="593369" y="1681756"/>
            <a:ext cx="261029" cy="144694"/>
          </a:xfrm>
          <a:prstGeom prst="flowChartExtract">
            <a:avLst/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21" name="Google Shape;521;p71"/>
          <p:cNvSpPr/>
          <p:nvPr/>
        </p:nvSpPr>
        <p:spPr>
          <a:xfrm rot="10800000">
            <a:off x="5012969" y="1681768"/>
            <a:ext cx="261029" cy="144694"/>
          </a:xfrm>
          <a:prstGeom prst="flowChartExtract">
            <a:avLst/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71"/>
          <p:cNvSpPr txBox="1"/>
          <p:nvPr/>
        </p:nvSpPr>
        <p:spPr>
          <a:xfrm>
            <a:off x="542175" y="2571750"/>
            <a:ext cx="3649200" cy="19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command combines two separate files,</a:t>
            </a: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1800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3.txt</a:t>
            </a: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and </a:t>
            </a:r>
            <a:r>
              <a:rPr lang="en" sz="1800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4.txt</a:t>
            </a: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,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into a single file called </a:t>
            </a:r>
            <a:r>
              <a:rPr lang="en" sz="1800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combined_3_and_4.txt</a:t>
            </a: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23" name="Google Shape;523;p71"/>
          <p:cNvSpPr txBox="1"/>
          <p:nvPr/>
        </p:nvSpPr>
        <p:spPr>
          <a:xfrm>
            <a:off x="4976200" y="2571650"/>
            <a:ext cx="3649200" cy="19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If it already exists, it will append the combined data from </a:t>
            </a:r>
            <a:r>
              <a:rPr lang="en" sz="1800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3.txt</a:t>
            </a: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and</a:t>
            </a: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1800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4.txt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 the end of the file</a:t>
            </a: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24" name="Google Shape;524;p71"/>
          <p:cNvPicPr preferRelativeResize="0"/>
          <p:nvPr/>
        </p:nvPicPr>
        <p:blipFill rotWithShape="1">
          <a:blip r:embed="rId3">
            <a:alphaModFix/>
          </a:blip>
          <a:srcRect b="0" l="0" r="0" t="20229"/>
          <a:stretch/>
        </p:blipFill>
        <p:spPr>
          <a:xfrm>
            <a:off x="4305150" y="1923975"/>
            <a:ext cx="827450" cy="2921651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71"/>
          <p:cNvSpPr txBox="1"/>
          <p:nvPr/>
        </p:nvSpPr>
        <p:spPr>
          <a:xfrm>
            <a:off x="368950" y="127400"/>
            <a:ext cx="846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cat</a:t>
            </a:r>
            <a:r>
              <a:rPr b="1" lang="en" sz="2400">
                <a:solidFill>
                  <a:schemeClr val="accent5"/>
                </a:solidFill>
                <a:latin typeface="Roboto Medium"/>
                <a:ea typeface="Roboto Medium"/>
                <a:cs typeface="Roboto Medium"/>
                <a:sym typeface="Roboto Medium"/>
              </a:rPr>
              <a:t> with</a:t>
            </a:r>
            <a:r>
              <a:rPr b="1" lang="en" sz="24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 &gt;</a:t>
            </a:r>
            <a:endParaRPr b="1" sz="24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2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26" name="Google Shape;526;p71"/>
          <p:cNvSpPr txBox="1"/>
          <p:nvPr>
            <p:ph idx="1" type="body"/>
          </p:nvPr>
        </p:nvSpPr>
        <p:spPr>
          <a:xfrm>
            <a:off x="350850" y="1609750"/>
            <a:ext cx="8536200" cy="9048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3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cat 3.txt 4.txt &gt;&gt; combined_3_and_4.txt</a:t>
            </a:r>
            <a:endParaRPr sz="3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72"/>
          <p:cNvSpPr/>
          <p:nvPr/>
        </p:nvSpPr>
        <p:spPr>
          <a:xfrm rot="10800000">
            <a:off x="593369" y="1681756"/>
            <a:ext cx="261029" cy="144694"/>
          </a:xfrm>
          <a:prstGeom prst="flowChartExtract">
            <a:avLst/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32" name="Google Shape;532;p72"/>
          <p:cNvSpPr/>
          <p:nvPr/>
        </p:nvSpPr>
        <p:spPr>
          <a:xfrm rot="10800000">
            <a:off x="5012969" y="1681768"/>
            <a:ext cx="261029" cy="144694"/>
          </a:xfrm>
          <a:prstGeom prst="flowChartExtract">
            <a:avLst/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72"/>
          <p:cNvSpPr txBox="1"/>
          <p:nvPr/>
        </p:nvSpPr>
        <p:spPr>
          <a:xfrm>
            <a:off x="368950" y="127400"/>
            <a:ext cx="846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cat</a:t>
            </a:r>
            <a:r>
              <a:rPr b="1" lang="en" sz="2400">
                <a:solidFill>
                  <a:schemeClr val="accent5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24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and Data Streams</a:t>
            </a:r>
            <a:endParaRPr sz="24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2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34" name="Google Shape;534;p72"/>
          <p:cNvSpPr txBox="1"/>
          <p:nvPr>
            <p:ph idx="1" type="body"/>
          </p:nvPr>
        </p:nvSpPr>
        <p:spPr>
          <a:xfrm>
            <a:off x="350850" y="1609750"/>
            <a:ext cx="8536200" cy="9048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3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cat 1.txt 2.txt &gt; combined_1_and_2.txt</a:t>
            </a:r>
            <a:endParaRPr sz="3300">
              <a:solidFill>
                <a:schemeClr val="lt1"/>
              </a:solidFill>
            </a:endParaRPr>
          </a:p>
        </p:txBody>
      </p:sp>
      <p:sp>
        <p:nvSpPr>
          <p:cNvPr id="535" name="Google Shape;535;p72"/>
          <p:cNvSpPr txBox="1"/>
          <p:nvPr/>
        </p:nvSpPr>
        <p:spPr>
          <a:xfrm>
            <a:off x="350850" y="2765100"/>
            <a:ext cx="8254200" cy="19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Light"/>
              <a:buChar char="●"/>
            </a:pPr>
            <a:r>
              <a:rPr lang="en" sz="1800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cat</a:t>
            </a: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takes data directly from</a:t>
            </a: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1800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stdin</a:t>
            </a: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and directs it to</a:t>
            </a: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1800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stdout</a:t>
            </a: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Light"/>
              <a:buChar char="●"/>
            </a:pPr>
            <a:r>
              <a:rPr lang="en" sz="1800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1.txt</a:t>
            </a: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and </a:t>
            </a:r>
            <a:r>
              <a:rPr lang="en" sz="1800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2.txt</a:t>
            </a: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are sent to</a:t>
            </a: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1800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stdin</a:t>
            </a: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Light"/>
              <a:buChar char="●"/>
            </a:pPr>
            <a:r>
              <a:rPr lang="en" sz="1800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cat</a:t>
            </a: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is taking</a:t>
            </a: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1800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stdin</a:t>
            </a: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,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concatenating the data, and sending it to </a:t>
            </a:r>
            <a:r>
              <a:rPr lang="en" sz="1800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stdout</a:t>
            </a: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Light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result of combining </a:t>
            </a:r>
            <a:r>
              <a:rPr lang="en" sz="1800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1.txt</a:t>
            </a: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and</a:t>
            </a:r>
            <a:r>
              <a:rPr lang="en" sz="1800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2.txt</a:t>
            </a: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is </a:t>
            </a:r>
            <a:r>
              <a:rPr lang="en" sz="1800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stdout</a:t>
            </a: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Light"/>
              <a:buChar char="●"/>
            </a:pPr>
            <a:r>
              <a:rPr lang="en" sz="1800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stdout</a:t>
            </a: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is redirected and written to a file called</a:t>
            </a:r>
            <a:r>
              <a:rPr lang="en" sz="1800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combined_1_and_2.txt</a:t>
            </a: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73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Instructor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Demonstration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1" name="Google Shape;541;p73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consolata SemiBold"/>
                <a:ea typeface="Inconsolata SemiBold"/>
                <a:cs typeface="Inconsolata SemiBold"/>
                <a:sym typeface="Inconsolata SemiBold"/>
              </a:rPr>
              <a:t>cat</a:t>
            </a:r>
            <a:endParaRPr>
              <a:latin typeface="Inconsolata SemiBold"/>
              <a:ea typeface="Inconsolata SemiBold"/>
              <a:cs typeface="Inconsolata SemiBold"/>
              <a:sym typeface="Inconsolata SemiBold"/>
            </a:endParaRPr>
          </a:p>
        </p:txBody>
      </p:sp>
      <p:pic>
        <p:nvPicPr>
          <p:cNvPr id="542" name="Google Shape;542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6100" y="1343674"/>
            <a:ext cx="1468288" cy="94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74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 </a:t>
            </a:r>
            <a:r>
              <a:rPr lang="en"/>
              <a:t>Minutes</a:t>
            </a:r>
            <a:endParaRPr/>
          </a:p>
        </p:txBody>
      </p:sp>
      <p:sp>
        <p:nvSpPr>
          <p:cNvPr id="548" name="Google Shape;548;p74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Internal Investigation: Find the Kit 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cat</a:t>
            </a:r>
            <a:r>
              <a:rPr lang="en"/>
              <a:t> </a:t>
            </a:r>
            <a:r>
              <a:rPr lang="en"/>
              <a:t>Burglar</a:t>
            </a:r>
            <a:endParaRPr/>
          </a:p>
        </p:txBody>
      </p:sp>
      <p:sp>
        <p:nvSpPr>
          <p:cNvPr id="549" name="Google Shape;549;p74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Continue in your role as a security analyst at Candy Corp.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manager believes Henry and Ruth are sharing secret recipes and collected some files from their computers to help you build your case.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must analyze this additional data and prepare a combined evidence file for the local authorities.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0" name="Google Shape;550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78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Command-Line 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Structure</a:t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68" name="Google Shape;568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9512" y="1942811"/>
            <a:ext cx="884975" cy="68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79"/>
          <p:cNvSpPr txBox="1"/>
          <p:nvPr>
            <p:ph type="title"/>
          </p:nvPr>
        </p:nvSpPr>
        <p:spPr>
          <a:xfrm>
            <a:off x="311700" y="232675"/>
            <a:ext cx="88323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Command-Line Structure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574" name="Google Shape;574;p79"/>
          <p:cNvSpPr txBox="1"/>
          <p:nvPr>
            <p:ph idx="4294967295" type="subTitle"/>
          </p:nvPr>
        </p:nvSpPr>
        <p:spPr>
          <a:xfrm>
            <a:off x="311700" y="592300"/>
            <a:ext cx="9242100" cy="36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We’re familiar with the following structure: </a:t>
            </a:r>
            <a:endParaRPr/>
          </a:p>
        </p:txBody>
      </p:sp>
      <p:sp>
        <p:nvSpPr>
          <p:cNvPr id="575" name="Google Shape;575;p79"/>
          <p:cNvSpPr txBox="1"/>
          <p:nvPr/>
        </p:nvSpPr>
        <p:spPr>
          <a:xfrm rot="605">
            <a:off x="311700" y="1258100"/>
            <a:ext cx="8520600" cy="723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3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&lt;command&gt; &lt;argument&gt;</a:t>
            </a:r>
            <a:endParaRPr sz="33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576" name="Google Shape;576;p79"/>
          <p:cNvSpPr txBox="1"/>
          <p:nvPr>
            <p:ph idx="1" type="body"/>
          </p:nvPr>
        </p:nvSpPr>
        <p:spPr>
          <a:xfrm>
            <a:off x="311700" y="2233590"/>
            <a:ext cx="8520600" cy="450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Example: </a:t>
            </a:r>
            <a:endParaRPr b="1"/>
          </a:p>
        </p:txBody>
      </p:sp>
      <p:sp>
        <p:nvSpPr>
          <p:cNvPr id="577" name="Google Shape;577;p79"/>
          <p:cNvSpPr txBox="1"/>
          <p:nvPr/>
        </p:nvSpPr>
        <p:spPr>
          <a:xfrm>
            <a:off x="311700" y="2738900"/>
            <a:ext cx="8520600" cy="7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touch myfile</a:t>
            </a:r>
            <a:endParaRPr sz="33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578" name="Google Shape;578;p79"/>
          <p:cNvSpPr txBox="1"/>
          <p:nvPr/>
        </p:nvSpPr>
        <p:spPr>
          <a:xfrm>
            <a:off x="2568925" y="4114750"/>
            <a:ext cx="19800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Command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9" name="Google Shape;579;p79"/>
          <p:cNvSpPr txBox="1"/>
          <p:nvPr/>
        </p:nvSpPr>
        <p:spPr>
          <a:xfrm>
            <a:off x="4242225" y="4112125"/>
            <a:ext cx="246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Argument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0" name="Google Shape;580;p79"/>
          <p:cNvCxnSpPr/>
          <p:nvPr/>
        </p:nvCxnSpPr>
        <p:spPr>
          <a:xfrm rot="5400000">
            <a:off x="3302425" y="3756961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81" name="Google Shape;581;p79"/>
          <p:cNvCxnSpPr/>
          <p:nvPr/>
        </p:nvCxnSpPr>
        <p:spPr>
          <a:xfrm rot="5400000">
            <a:off x="4957125" y="3756962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80"/>
          <p:cNvSpPr txBox="1"/>
          <p:nvPr>
            <p:ph idx="1" type="body"/>
          </p:nvPr>
        </p:nvSpPr>
        <p:spPr>
          <a:xfrm>
            <a:off x="3380550" y="1377600"/>
            <a:ext cx="54666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IT professionals often need to run commands with more </a:t>
            </a:r>
            <a:r>
              <a:rPr b="1" lang="en"/>
              <a:t>specific parameters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81"/>
          <p:cNvSpPr/>
          <p:nvPr/>
        </p:nvSpPr>
        <p:spPr>
          <a:xfrm flipH="1">
            <a:off x="724275" y="2090175"/>
            <a:ext cx="2428500" cy="22326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81"/>
          <p:cNvSpPr txBox="1"/>
          <p:nvPr/>
        </p:nvSpPr>
        <p:spPr>
          <a:xfrm>
            <a:off x="724275" y="2090225"/>
            <a:ext cx="2466600" cy="22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Add an </a:t>
            </a:r>
            <a:r>
              <a:rPr b="1" lang="en" sz="1500">
                <a:solidFill>
                  <a:schemeClr val="dk1"/>
                </a:solidFill>
              </a:rPr>
              <a:t>option to modify the command's default behavior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93" name="Google Shape;593;p81"/>
          <p:cNvGrpSpPr/>
          <p:nvPr/>
        </p:nvGrpSpPr>
        <p:grpSpPr>
          <a:xfrm>
            <a:off x="457181" y="1497503"/>
            <a:ext cx="533372" cy="533480"/>
            <a:chOff x="457200" y="1378813"/>
            <a:chExt cx="695400" cy="695450"/>
          </a:xfrm>
        </p:grpSpPr>
        <p:sp>
          <p:nvSpPr>
            <p:cNvPr id="594" name="Google Shape;594;p81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sz="2100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95" name="Google Shape;595;p81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6" name="Google Shape;596;p81"/>
          <p:cNvGrpSpPr/>
          <p:nvPr/>
        </p:nvGrpSpPr>
        <p:grpSpPr>
          <a:xfrm>
            <a:off x="3228956" y="1497503"/>
            <a:ext cx="533372" cy="533480"/>
            <a:chOff x="457200" y="1378813"/>
            <a:chExt cx="695400" cy="695450"/>
          </a:xfrm>
        </p:grpSpPr>
        <p:sp>
          <p:nvSpPr>
            <p:cNvPr id="597" name="Google Shape;597;p81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sz="21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98" name="Google Shape;598;p81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599" name="Google Shape;599;p81"/>
          <p:cNvSpPr/>
          <p:nvPr/>
        </p:nvSpPr>
        <p:spPr>
          <a:xfrm flipH="1">
            <a:off x="3496050" y="2090175"/>
            <a:ext cx="2428500" cy="22326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81"/>
          <p:cNvSpPr txBox="1"/>
          <p:nvPr/>
        </p:nvSpPr>
        <p:spPr>
          <a:xfrm>
            <a:off x="3496050" y="2090229"/>
            <a:ext cx="23715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Add an </a:t>
            </a:r>
            <a:r>
              <a:rPr b="1" lang="en" sz="1500">
                <a:solidFill>
                  <a:schemeClr val="dk1"/>
                </a:solidFill>
              </a:rPr>
              <a:t>option and an argument to modify the default behavior on files or directories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01" name="Google Shape;601;p81"/>
          <p:cNvGrpSpPr/>
          <p:nvPr/>
        </p:nvGrpSpPr>
        <p:grpSpPr>
          <a:xfrm>
            <a:off x="6134081" y="1498253"/>
            <a:ext cx="533372" cy="533480"/>
            <a:chOff x="457200" y="1378813"/>
            <a:chExt cx="695400" cy="695450"/>
          </a:xfrm>
        </p:grpSpPr>
        <p:sp>
          <p:nvSpPr>
            <p:cNvPr id="602" name="Google Shape;602;p81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sz="21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03" name="Google Shape;603;p81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604" name="Google Shape;604;p81"/>
          <p:cNvSpPr/>
          <p:nvPr/>
        </p:nvSpPr>
        <p:spPr>
          <a:xfrm flipH="1">
            <a:off x="6401175" y="2090925"/>
            <a:ext cx="2428500" cy="22692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81"/>
          <p:cNvSpPr txBox="1"/>
          <p:nvPr/>
        </p:nvSpPr>
        <p:spPr>
          <a:xfrm>
            <a:off x="6401175" y="2090458"/>
            <a:ext cx="23715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Add </a:t>
            </a:r>
            <a:r>
              <a:rPr b="1" lang="en" sz="1500">
                <a:solidFill>
                  <a:schemeClr val="dk1"/>
                </a:solidFill>
              </a:rPr>
              <a:t>options that require their own arguments, called parameters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6" name="Google Shape;606;p81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Command-Line Parameters</a:t>
            </a:r>
            <a:endParaRPr/>
          </a:p>
        </p:txBody>
      </p:sp>
      <p:sp>
        <p:nvSpPr>
          <p:cNvPr id="607" name="Google Shape;607;p81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Commands have options that can modify their behavior.</a:t>
            </a:r>
            <a:endParaRPr sz="1400"/>
          </a:p>
        </p:txBody>
      </p:sp>
      <p:pic>
        <p:nvPicPr>
          <p:cNvPr id="608" name="Google Shape;608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4848" y="3430975"/>
            <a:ext cx="1405601" cy="96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19398" y="3430975"/>
            <a:ext cx="1405601" cy="96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47549" y="3430975"/>
            <a:ext cx="1405601" cy="96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82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 1</a:t>
            </a:r>
            <a:endParaRPr/>
          </a:p>
        </p:txBody>
      </p:sp>
      <p:sp>
        <p:nvSpPr>
          <p:cNvPr id="616" name="Google Shape;616;p82"/>
          <p:cNvSpPr txBox="1"/>
          <p:nvPr>
            <p:ph idx="1" type="subTitle"/>
          </p:nvPr>
        </p:nvSpPr>
        <p:spPr>
          <a:xfrm>
            <a:off x="457200" y="548650"/>
            <a:ext cx="82296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an option to modify the command’s default behaviour.</a:t>
            </a:r>
            <a:endParaRPr/>
          </a:p>
        </p:txBody>
      </p:sp>
      <p:sp>
        <p:nvSpPr>
          <p:cNvPr id="617" name="Google Shape;617;p82"/>
          <p:cNvSpPr txBox="1"/>
          <p:nvPr>
            <p:ph idx="2" type="body"/>
          </p:nvPr>
        </p:nvSpPr>
        <p:spPr>
          <a:xfrm>
            <a:off x="461225" y="1063525"/>
            <a:ext cx="44538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the command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ls</a:t>
            </a:r>
            <a:r>
              <a:rPr b="1" lang="en"/>
              <a:t>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-S</a:t>
            </a:r>
            <a:r>
              <a:rPr lang="en"/>
              <a:t> to list files by size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By default,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ls </a:t>
            </a:r>
            <a:r>
              <a:rPr lang="en"/>
              <a:t>simply lists the files in the current directory. The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-S</a:t>
            </a:r>
            <a:r>
              <a:rPr lang="en"/>
              <a:t> option modifies that behaviour to list by size, largest first.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syntax: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l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s</a:t>
            </a:r>
            <a:r>
              <a:rPr lang="en"/>
              <a:t> is the command.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-S</a:t>
            </a:r>
            <a:r>
              <a:rPr lang="en"/>
              <a:t> is the option.</a:t>
            </a:r>
            <a:endParaRPr/>
          </a:p>
        </p:txBody>
      </p:sp>
      <p:pic>
        <p:nvPicPr>
          <p:cNvPr id="618" name="Google Shape;618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0875" y="1050200"/>
            <a:ext cx="4286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82"/>
          <p:cNvSpPr/>
          <p:nvPr/>
        </p:nvSpPr>
        <p:spPr>
          <a:xfrm>
            <a:off x="5705500" y="2924050"/>
            <a:ext cx="28770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59BE86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ls -S</a:t>
            </a:r>
            <a:endParaRPr sz="4800">
              <a:solidFill>
                <a:srgbClr val="59BE86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83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 1</a:t>
            </a:r>
            <a:endParaRPr/>
          </a:p>
        </p:txBody>
      </p:sp>
      <p:sp>
        <p:nvSpPr>
          <p:cNvPr id="625" name="Google Shape;625;p83"/>
          <p:cNvSpPr txBox="1"/>
          <p:nvPr>
            <p:ph idx="1" type="subTitle"/>
          </p:nvPr>
        </p:nvSpPr>
        <p:spPr>
          <a:xfrm>
            <a:off x="457200" y="548650"/>
            <a:ext cx="82296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an option to modify the command’s default behaviour.</a:t>
            </a:r>
            <a:endParaRPr/>
          </a:p>
        </p:txBody>
      </p:sp>
      <p:sp>
        <p:nvSpPr>
          <p:cNvPr id="626" name="Google Shape;626;p83"/>
          <p:cNvSpPr txBox="1"/>
          <p:nvPr>
            <p:ph idx="2" type="body"/>
          </p:nvPr>
        </p:nvSpPr>
        <p:spPr>
          <a:xfrm>
            <a:off x="461225" y="1063525"/>
            <a:ext cx="44538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in mind: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Options always use a hyphen.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Options, just like commands, are case sensitive: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-s</a:t>
            </a:r>
            <a:r>
              <a:rPr lang="en"/>
              <a:t> and 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-S</a:t>
            </a:r>
            <a:r>
              <a:rPr lang="en"/>
              <a:t> provide different results.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Options have different uses for different commands: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l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s</a:t>
            </a:r>
            <a:r>
              <a:rPr lang="en"/>
              <a:t> 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-s</a:t>
            </a:r>
            <a:r>
              <a:rPr lang="en"/>
              <a:t> will print the size of each file.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c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at -s</a:t>
            </a:r>
            <a:r>
              <a:rPr lang="en"/>
              <a:t> will suppress repeated empty output lines.</a:t>
            </a:r>
            <a:endParaRPr/>
          </a:p>
        </p:txBody>
      </p:sp>
      <p:pic>
        <p:nvPicPr>
          <p:cNvPr id="627" name="Google Shape;627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0875" y="717975"/>
            <a:ext cx="4286250" cy="4583550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83"/>
          <p:cNvSpPr/>
          <p:nvPr/>
        </p:nvSpPr>
        <p:spPr>
          <a:xfrm>
            <a:off x="5705500" y="2216250"/>
            <a:ext cx="28770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59BE86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ls -S</a:t>
            </a:r>
            <a:endParaRPr sz="4800">
              <a:solidFill>
                <a:srgbClr val="59BE86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  <p:sp>
        <p:nvSpPr>
          <p:cNvPr id="629" name="Google Shape;629;p83"/>
          <p:cNvSpPr/>
          <p:nvPr/>
        </p:nvSpPr>
        <p:spPr>
          <a:xfrm>
            <a:off x="5705500" y="2848075"/>
            <a:ext cx="28770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59BE86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ls -s</a:t>
            </a:r>
            <a:endParaRPr sz="4800">
              <a:solidFill>
                <a:srgbClr val="59BE86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  <p:sp>
        <p:nvSpPr>
          <p:cNvPr id="630" name="Google Shape;630;p83"/>
          <p:cNvSpPr/>
          <p:nvPr/>
        </p:nvSpPr>
        <p:spPr>
          <a:xfrm>
            <a:off x="5859550" y="3504475"/>
            <a:ext cx="25689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59BE86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c</a:t>
            </a:r>
            <a:r>
              <a:rPr lang="en" sz="4800">
                <a:solidFill>
                  <a:srgbClr val="59BE86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at </a:t>
            </a:r>
            <a:r>
              <a:rPr lang="en" sz="4800">
                <a:solidFill>
                  <a:srgbClr val="59BE86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-s</a:t>
            </a:r>
            <a:endParaRPr sz="4800">
              <a:solidFill>
                <a:srgbClr val="59BE86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84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 2</a:t>
            </a:r>
            <a:endParaRPr/>
          </a:p>
        </p:txBody>
      </p:sp>
      <p:sp>
        <p:nvSpPr>
          <p:cNvPr id="636" name="Google Shape;636;p84"/>
          <p:cNvSpPr txBox="1"/>
          <p:nvPr>
            <p:ph idx="1" type="subTitle"/>
          </p:nvPr>
        </p:nvSpPr>
        <p:spPr>
          <a:xfrm>
            <a:off x="457200" y="548650"/>
            <a:ext cx="82296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an option and an argument to modify the default behavior.</a:t>
            </a:r>
            <a:endParaRPr/>
          </a:p>
        </p:txBody>
      </p:sp>
      <p:sp>
        <p:nvSpPr>
          <p:cNvPr id="637" name="Google Shape;637;p84"/>
          <p:cNvSpPr txBox="1"/>
          <p:nvPr>
            <p:ph idx="2" type="body"/>
          </p:nvPr>
        </p:nvSpPr>
        <p:spPr>
          <a:xfrm>
            <a:off x="461225" y="1063525"/>
            <a:ext cx="44538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command displays the line numbers of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logfile1.txt.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By default, the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cat</a:t>
            </a:r>
            <a:r>
              <a:rPr lang="en"/>
              <a:t> command concatenates multiple files or displays the contents of a single file.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Adding the option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-n</a:t>
            </a:r>
            <a:r>
              <a:rPr lang="en"/>
              <a:t> modifies the behavior by displaying the line numbers preceding each line.</a:t>
            </a:r>
            <a:endParaRPr/>
          </a:p>
        </p:txBody>
      </p:sp>
      <p:pic>
        <p:nvPicPr>
          <p:cNvPr id="638" name="Google Shape;638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0875" y="1050200"/>
            <a:ext cx="4286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84"/>
          <p:cNvSpPr/>
          <p:nvPr/>
        </p:nvSpPr>
        <p:spPr>
          <a:xfrm>
            <a:off x="5705500" y="2924050"/>
            <a:ext cx="28770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59BE86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c</a:t>
            </a:r>
            <a:r>
              <a:rPr lang="en" sz="2200">
                <a:solidFill>
                  <a:srgbClr val="59BE86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at -n logfile1.txt</a:t>
            </a:r>
            <a:endParaRPr sz="2200">
              <a:solidFill>
                <a:srgbClr val="59BE86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8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 3</a:t>
            </a:r>
            <a:endParaRPr/>
          </a:p>
        </p:txBody>
      </p:sp>
      <p:sp>
        <p:nvSpPr>
          <p:cNvPr id="645" name="Google Shape;645;p85"/>
          <p:cNvSpPr txBox="1"/>
          <p:nvPr>
            <p:ph idx="1" type="subTitle"/>
          </p:nvPr>
        </p:nvSpPr>
        <p:spPr>
          <a:xfrm>
            <a:off x="457200" y="548650"/>
            <a:ext cx="82296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options that require their own arguments, called parameters.</a:t>
            </a:r>
            <a:endParaRPr/>
          </a:p>
        </p:txBody>
      </p:sp>
      <p:sp>
        <p:nvSpPr>
          <p:cNvPr id="646" name="Google Shape;646;p85"/>
          <p:cNvSpPr txBox="1"/>
          <p:nvPr>
            <p:ph idx="2" type="body"/>
          </p:nvPr>
        </p:nvSpPr>
        <p:spPr>
          <a:xfrm>
            <a:off x="461225" y="1063525"/>
            <a:ext cx="44538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command previews the first four lines of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logfile.txt.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By default,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head</a:t>
            </a:r>
            <a:r>
              <a:rPr b="1" lang="en"/>
              <a:t> </a:t>
            </a:r>
            <a:r>
              <a:rPr lang="en"/>
              <a:t>displays the top ten lines of a file.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option 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-n</a:t>
            </a:r>
            <a:r>
              <a:rPr lang="en"/>
              <a:t> changes the number of lines displayed.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-n</a:t>
            </a:r>
            <a:r>
              <a:rPr lang="en"/>
              <a:t> requires a </a:t>
            </a:r>
            <a:r>
              <a:rPr b="1" lang="en"/>
              <a:t>parameter </a:t>
            </a:r>
            <a:r>
              <a:rPr lang="en"/>
              <a:t>specifying the number of lines.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Parameters provide additional details on how to </a:t>
            </a:r>
            <a:r>
              <a:rPr lang="en"/>
              <a:t>modify a command’s default behavior.</a:t>
            </a:r>
            <a:endParaRPr/>
          </a:p>
        </p:txBody>
      </p:sp>
      <p:pic>
        <p:nvPicPr>
          <p:cNvPr id="647" name="Google Shape;647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0875" y="1050200"/>
            <a:ext cx="4286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85"/>
          <p:cNvSpPr/>
          <p:nvPr/>
        </p:nvSpPr>
        <p:spPr>
          <a:xfrm>
            <a:off x="5607350" y="2924050"/>
            <a:ext cx="30795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59BE86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h</a:t>
            </a:r>
            <a:r>
              <a:rPr lang="en" sz="2100">
                <a:solidFill>
                  <a:srgbClr val="59BE86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ead -n 4 logfile.txt</a:t>
            </a:r>
            <a:endParaRPr sz="2100">
              <a:solidFill>
                <a:srgbClr val="59BE86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86"/>
          <p:cNvSpPr txBox="1"/>
          <p:nvPr>
            <p:ph idx="1" type="body"/>
          </p:nvPr>
        </p:nvSpPr>
        <p:spPr>
          <a:xfrm>
            <a:off x="311700" y="1044400"/>
            <a:ext cx="3915900" cy="3111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are security analysts at ACME Corp who must clean up some evidence files, as server space is low.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need to delete the three largest evidence files, as long as they don’t contain the user </a:t>
            </a:r>
            <a:r>
              <a:rPr b="1" lang="en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Sheila</a:t>
            </a:r>
            <a:r>
              <a:rPr lang="en"/>
              <a:t>. 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The log files are not more than              40 lines each.</a:t>
            </a:r>
            <a:endParaRPr/>
          </a:p>
        </p:txBody>
      </p:sp>
      <p:cxnSp>
        <p:nvCxnSpPr>
          <p:cNvPr id="654" name="Google Shape;654;p86"/>
          <p:cNvCxnSpPr/>
          <p:nvPr/>
        </p:nvCxnSpPr>
        <p:spPr>
          <a:xfrm>
            <a:off x="-9375" y="8537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655" name="Google Shape;655;p86"/>
          <p:cNvSpPr txBox="1"/>
          <p:nvPr/>
        </p:nvSpPr>
        <p:spPr>
          <a:xfrm>
            <a:off x="724200" y="203600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Demonstration</a:t>
            </a:r>
            <a:r>
              <a:rPr lang="en" sz="26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Scenario</a:t>
            </a:r>
            <a:endParaRPr sz="26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56" name="Google Shape;656;p86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86"/>
          <p:cNvSpPr txBox="1"/>
          <p:nvPr/>
        </p:nvSpPr>
        <p:spPr>
          <a:xfrm>
            <a:off x="724200" y="478650"/>
            <a:ext cx="66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658" name="Google Shape;658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86"/>
          <p:cNvPicPr preferRelativeResize="0"/>
          <p:nvPr/>
        </p:nvPicPr>
        <p:blipFill rotWithShape="1">
          <a:blip r:embed="rId4">
            <a:alphaModFix/>
          </a:blip>
          <a:srcRect b="0" l="13762" r="13762" t="0"/>
          <a:stretch/>
        </p:blipFill>
        <p:spPr>
          <a:xfrm>
            <a:off x="4334025" y="775988"/>
            <a:ext cx="4150512" cy="394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87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Instructor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Demonstration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5" name="Google Shape;665;p8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Options</a:t>
            </a:r>
            <a:endParaRPr/>
          </a:p>
        </p:txBody>
      </p:sp>
      <p:pic>
        <p:nvPicPr>
          <p:cNvPr id="666" name="Google Shape;666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6100" y="1343674"/>
            <a:ext cx="1468288" cy="94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88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Welcome to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Man Pages</a:t>
            </a:r>
            <a:endParaRPr b="0"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672" name="Google Shape;672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802" y="1730700"/>
            <a:ext cx="914400" cy="898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89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and security professionals can </a:t>
            </a:r>
            <a:br>
              <a:rPr lang="en"/>
            </a:br>
            <a:r>
              <a:rPr lang="en"/>
              <a:t>learn and manage options with </a:t>
            </a:r>
            <a:r>
              <a:rPr b="1" lang="en"/>
              <a:t>man </a:t>
            </a:r>
            <a:r>
              <a:rPr lang="en"/>
              <a:t>(manual) </a:t>
            </a:r>
            <a:r>
              <a:rPr b="1" lang="en"/>
              <a:t>pages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90"/>
          <p:cNvSpPr/>
          <p:nvPr/>
        </p:nvSpPr>
        <p:spPr>
          <a:xfrm>
            <a:off x="4079875" y="0"/>
            <a:ext cx="506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90"/>
          <p:cNvSpPr txBox="1"/>
          <p:nvPr>
            <p:ph type="title"/>
          </p:nvPr>
        </p:nvSpPr>
        <p:spPr>
          <a:xfrm>
            <a:off x="486150" y="284900"/>
            <a:ext cx="88323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Man Pages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684" name="Google Shape;684;p90"/>
          <p:cNvSpPr txBox="1"/>
          <p:nvPr>
            <p:ph idx="1" type="body"/>
          </p:nvPr>
        </p:nvSpPr>
        <p:spPr>
          <a:xfrm>
            <a:off x="354275" y="794525"/>
            <a:ext cx="3878100" cy="3906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Each man page contains:</a:t>
            </a:r>
            <a:endParaRPr/>
          </a:p>
          <a:p>
            <a:pPr indent="-2057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/>
              <a:t>Name of the command</a:t>
            </a:r>
            <a:endParaRPr/>
          </a:p>
          <a:p>
            <a:pPr indent="-205740" lvl="0" marL="32004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/>
              <a:t>Synopsis (includes syntax)</a:t>
            </a:r>
            <a:endParaRPr/>
          </a:p>
          <a:p>
            <a:pPr indent="-205740" lvl="0" marL="32004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/>
              <a:t>Description</a:t>
            </a:r>
            <a:endParaRPr/>
          </a:p>
          <a:p>
            <a:pPr indent="-205740" lvl="0" marL="32004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/>
              <a:t>Options and option parameters</a:t>
            </a:r>
            <a:endParaRPr/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The command:</a:t>
            </a:r>
            <a:r>
              <a:rPr lang="en"/>
              <a:t> </a:t>
            </a:r>
            <a:endParaRPr/>
          </a:p>
          <a:p>
            <a:pPr indent="0" lvl="0" marL="4572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man &lt;command&gt;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For example: 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man ls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 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5" name="Google Shape;685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0650" y="343950"/>
            <a:ext cx="4834374" cy="4372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91"/>
          <p:cNvPicPr preferRelativeResize="0"/>
          <p:nvPr/>
        </p:nvPicPr>
        <p:blipFill rotWithShape="1">
          <a:blip r:embed="rId3">
            <a:alphaModFix/>
          </a:blip>
          <a:srcRect b="0" l="47827" r="3680" t="0"/>
          <a:stretch/>
        </p:blipFill>
        <p:spPr>
          <a:xfrm>
            <a:off x="5401725" y="0"/>
            <a:ext cx="3742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91"/>
          <p:cNvSpPr txBox="1"/>
          <p:nvPr>
            <p:ph idx="1" type="body"/>
          </p:nvPr>
        </p:nvSpPr>
        <p:spPr>
          <a:xfrm>
            <a:off x="311700" y="1044400"/>
            <a:ext cx="4717500" cy="3111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 are security analysts at ACME Corp </a:t>
            </a:r>
            <a:r>
              <a:rPr lang="en">
                <a:solidFill>
                  <a:schemeClr val="dk1"/>
                </a:solidFill>
              </a:rPr>
              <a:t>and our manager asks you to count the number of server logins on October 13, 2019, as they believe it is higher than usual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They tell us to use the command </a:t>
            </a:r>
            <a:r>
              <a:rPr lang="en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wc</a:t>
            </a:r>
            <a:r>
              <a:rPr lang="en">
                <a:solidFill>
                  <a:schemeClr val="dk1"/>
                </a:solidFill>
              </a:rPr>
              <a:t> to count the logins on the server login file.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We </a:t>
            </a:r>
            <a:r>
              <a:rPr lang="en">
                <a:solidFill>
                  <a:schemeClr val="dk1"/>
                </a:solidFill>
              </a:rPr>
              <a:t>have not used the </a:t>
            </a:r>
            <a:r>
              <a:rPr lang="en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wc</a:t>
            </a:r>
            <a:r>
              <a:rPr lang="en">
                <a:solidFill>
                  <a:schemeClr val="dk1"/>
                </a:solidFill>
              </a:rPr>
              <a:t> command before and will need to use the man page to learn how.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692" name="Google Shape;692;p91"/>
          <p:cNvCxnSpPr/>
          <p:nvPr/>
        </p:nvCxnSpPr>
        <p:spPr>
          <a:xfrm>
            <a:off x="-9375" y="8537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693" name="Google Shape;693;p91"/>
          <p:cNvSpPr txBox="1"/>
          <p:nvPr/>
        </p:nvSpPr>
        <p:spPr>
          <a:xfrm>
            <a:off x="724200" y="203600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Demonstration</a:t>
            </a:r>
            <a:r>
              <a:rPr lang="en" sz="26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Scenario</a:t>
            </a:r>
            <a:endParaRPr sz="26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94" name="Google Shape;694;p91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91"/>
          <p:cNvSpPr txBox="1"/>
          <p:nvPr/>
        </p:nvSpPr>
        <p:spPr>
          <a:xfrm>
            <a:off x="724200" y="478650"/>
            <a:ext cx="66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696" name="Google Shape;696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92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Instructor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Demonstration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2" name="Google Shape;702;p92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 Pages</a:t>
            </a:r>
            <a:endParaRPr/>
          </a:p>
        </p:txBody>
      </p:sp>
      <p:pic>
        <p:nvPicPr>
          <p:cNvPr id="703" name="Google Shape;703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6100" y="1343674"/>
            <a:ext cx="1468288" cy="94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93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</a:t>
            </a:r>
            <a:r>
              <a:rPr lang="en"/>
              <a:t> Minutes</a:t>
            </a:r>
            <a:endParaRPr/>
          </a:p>
        </p:txBody>
      </p:sp>
      <p:sp>
        <p:nvSpPr>
          <p:cNvPr id="709" name="Google Shape;709;p93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 New Commands</a:t>
            </a:r>
            <a:endParaRPr/>
          </a:p>
        </p:txBody>
      </p:sp>
      <p:sp>
        <p:nvSpPr>
          <p:cNvPr id="710" name="Google Shape;710;p93"/>
          <p:cNvSpPr txBox="1"/>
          <p:nvPr>
            <p:ph idx="3" type="body"/>
          </p:nvPr>
        </p:nvSpPr>
        <p:spPr>
          <a:xfrm>
            <a:off x="903300" y="1555325"/>
            <a:ext cx="7337400" cy="2385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Continue in your role as a security analyst at Candy Corp.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has been a network attack on Candy Corp’s websites.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manager provides you with log files for each of the websites.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log file contains the IP addresses that were connecting to that website on the day of the attack.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determine which website was the main target, you will count the IP addresses in each of these log files.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1" name="Google Shape;711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96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streams and the cat command</a:t>
            </a:r>
            <a:endParaRPr/>
          </a:p>
        </p:txBody>
      </p:sp>
      <p:sp>
        <p:nvSpPr>
          <p:cNvPr id="725" name="Google Shape;725;p96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wc</a:t>
            </a:r>
            <a:r>
              <a:rPr b="1" lang="en"/>
              <a:t> </a:t>
            </a:r>
            <a:r>
              <a:rPr lang="en"/>
              <a:t>for counting</a:t>
            </a:r>
            <a:endParaRPr/>
          </a:p>
        </p:txBody>
      </p:sp>
      <p:sp>
        <p:nvSpPr>
          <p:cNvPr id="726" name="Google Shape;726;p96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 pages</a:t>
            </a:r>
            <a:endParaRPr/>
          </a:p>
        </p:txBody>
      </p:sp>
      <p:sp>
        <p:nvSpPr>
          <p:cNvPr id="727" name="Google Shape;727;p96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Command-Line Navigation</a:t>
            </a:r>
            <a:endParaRPr/>
          </a:p>
        </p:txBody>
      </p:sp>
      <p:sp>
        <p:nvSpPr>
          <p:cNvPr id="728" name="Google Shape;728;p96"/>
          <p:cNvSpPr/>
          <p:nvPr/>
        </p:nvSpPr>
        <p:spPr>
          <a:xfrm>
            <a:off x="301575" y="3132925"/>
            <a:ext cx="8671500" cy="1493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ootcamp Slides New Theme - July 2024">
  <a:themeElements>
    <a:clrScheme name="Simple Light">
      <a:dk1>
        <a:srgbClr val="2E5E73"/>
      </a:dk1>
      <a:lt1>
        <a:srgbClr val="FFFFFF"/>
      </a:lt1>
      <a:dk2>
        <a:srgbClr val="082D49"/>
      </a:dk2>
      <a:lt2>
        <a:srgbClr val="F2F2F2"/>
      </a:lt2>
      <a:accent1>
        <a:srgbClr val="FCB912"/>
      </a:accent1>
      <a:accent2>
        <a:srgbClr val="AADCF2"/>
      </a:accent2>
      <a:accent3>
        <a:srgbClr val="1475D4"/>
      </a:accent3>
      <a:accent4>
        <a:srgbClr val="00C7CC"/>
      </a:accent4>
      <a:accent5>
        <a:srgbClr val="082D49"/>
      </a:accent5>
      <a:accent6>
        <a:srgbClr val="2E5E73"/>
      </a:accent6>
      <a:hlink>
        <a:srgbClr val="2E5E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