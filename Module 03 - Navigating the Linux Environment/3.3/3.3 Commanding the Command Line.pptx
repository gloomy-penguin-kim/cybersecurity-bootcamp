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y="5143500" cx="9144000"/>
  <p:notesSz cx="6858000" cy="9144000"/>
  <p:embeddedFontLst>
    <p:embeddedFont>
      <p:font typeface="Roboto"/>
      <p:regular r:id="rId57"/>
      <p:bold r:id="rId58"/>
      <p:italic r:id="rId59"/>
      <p:boldItalic r:id="rId60"/>
    </p:embeddedFont>
    <p:embeddedFont>
      <p:font typeface="Roboto Medium"/>
      <p:regular r:id="rId61"/>
      <p:bold r:id="rId62"/>
      <p:italic r:id="rId63"/>
      <p:boldItalic r:id="rId64"/>
    </p:embeddedFont>
    <p:embeddedFont>
      <p:font typeface="Inconsolata"/>
      <p:regular r:id="rId65"/>
      <p:bold r:id="rId66"/>
    </p:embeddedFont>
    <p:embeddedFont>
      <p:font typeface="Inconsolata SemiBold"/>
      <p:regular r:id="rId67"/>
      <p:bold r:id="rId68"/>
    </p:embeddedFont>
    <p:embeddedFont>
      <p:font typeface="Roboto Light"/>
      <p:regular r:id="rId69"/>
      <p:bold r:id="rId70"/>
      <p:italic r:id="rId71"/>
      <p:boldItalic r:id="rId72"/>
    </p:embeddedFont>
    <p:embeddedFont>
      <p:font typeface="Inconsolata Medium"/>
      <p:regular r:id="rId73"/>
      <p:bold r:id="rId7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BCBBEF0-89CD-43CE-8AD3-455422690FDA}">
  <a:tblStyle styleId="{4BCBBEF0-89CD-43CE-8AD3-455422690F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InconsolataMedium-regular.fntdata"/><Relationship Id="rId72" Type="http://schemas.openxmlformats.org/officeDocument/2006/relationships/font" Target="fonts/RobotoLight-boldItalic.fntdata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74" Type="http://schemas.openxmlformats.org/officeDocument/2006/relationships/font" Target="fonts/InconsolataMedium-bold.fntdata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71" Type="http://schemas.openxmlformats.org/officeDocument/2006/relationships/font" Target="fonts/RobotoLight-italic.fntdata"/><Relationship Id="rId70" Type="http://schemas.openxmlformats.org/officeDocument/2006/relationships/font" Target="fonts/RobotoLight-bold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RobotoMedium-bold.fntdata"/><Relationship Id="rId61" Type="http://schemas.openxmlformats.org/officeDocument/2006/relationships/font" Target="fonts/RobotoMedium-regular.fntdata"/><Relationship Id="rId20" Type="http://schemas.openxmlformats.org/officeDocument/2006/relationships/slide" Target="slides/slide15.xml"/><Relationship Id="rId64" Type="http://schemas.openxmlformats.org/officeDocument/2006/relationships/font" Target="fonts/RobotoMedium-boldItalic.fntdata"/><Relationship Id="rId63" Type="http://schemas.openxmlformats.org/officeDocument/2006/relationships/font" Target="fonts/RobotoMedium-italic.fntdata"/><Relationship Id="rId22" Type="http://schemas.openxmlformats.org/officeDocument/2006/relationships/slide" Target="slides/slide17.xml"/><Relationship Id="rId66" Type="http://schemas.openxmlformats.org/officeDocument/2006/relationships/font" Target="fonts/Inconsolata-bold.fntdata"/><Relationship Id="rId21" Type="http://schemas.openxmlformats.org/officeDocument/2006/relationships/slide" Target="slides/slide16.xml"/><Relationship Id="rId65" Type="http://schemas.openxmlformats.org/officeDocument/2006/relationships/font" Target="fonts/Inconsolata-regular.fntdata"/><Relationship Id="rId24" Type="http://schemas.openxmlformats.org/officeDocument/2006/relationships/slide" Target="slides/slide19.xml"/><Relationship Id="rId68" Type="http://schemas.openxmlformats.org/officeDocument/2006/relationships/font" Target="fonts/InconsolataSemiBold-bold.fntdata"/><Relationship Id="rId23" Type="http://schemas.openxmlformats.org/officeDocument/2006/relationships/slide" Target="slides/slide18.xml"/><Relationship Id="rId67" Type="http://schemas.openxmlformats.org/officeDocument/2006/relationships/font" Target="fonts/InconsolataSemiBold-regular.fntdata"/><Relationship Id="rId60" Type="http://schemas.openxmlformats.org/officeDocument/2006/relationships/font" Target="fonts/Roboto-boldItalic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RobotoLight-regular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Roboto-regular.fntdata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Roboto-italic.fntdata"/><Relationship Id="rId14" Type="http://schemas.openxmlformats.org/officeDocument/2006/relationships/slide" Target="slides/slide9.xml"/><Relationship Id="rId58" Type="http://schemas.openxmlformats.org/officeDocument/2006/relationships/font" Target="fonts/Roboto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eb00afe1db_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2eb00afe1db_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ec649b31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2ec649b31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f0136018fe_0_2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f0136018fe_0_2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2ec649b311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2ec649b311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ec649b3119_0_1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ec649b3119_0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ec649b3119_0_1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ec649b3119_0_1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2ec649b3119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2ec649b3119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f0136018fe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2f0136018f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ec649b3119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2ec649b3119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ec649b3119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2ec649b3119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ec649b3119_0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ec649b3119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ec649b3119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ec649b3119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2ec649b3119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2ec649b3119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2ec649b3119_0_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2ec649b3119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2ec649b3119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2ec649b3119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f0136018f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2f0136018f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ec649b3119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2ec649b3119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f0136018fe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f0136018fe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ec649b3119_0_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2ec649b3119_0_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ec649b3119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2ec649b3119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ec649b3119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2ec649b3119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ec649b3119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ec649b3119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ec649b3119_0_1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2ec649b3119_0_1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ec649b3119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2ec649b3119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2f0136018fe_0_1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2f0136018fe_0_1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ec649b3119_0_1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2ec649b3119_0_1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2ec649b3119_0_1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2ec649b3119_0_1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2ec649b3119_0_1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2ec649b3119_0_1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2ec649b3119_0_1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2ec649b3119_0_1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2ec649b3119_0_1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2ec649b3119_0_1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2ec649b3119_0_1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2ec649b3119_0_1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2f0136018fe_0_2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2f0136018fe_0_2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ec649b3119_0_1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2ec649b3119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2f0136018fe_0_1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2f0136018fe_0_1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ec649b3119_0_1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2ec649b3119_0_1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2ec649b3119_0_1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2ec649b3119_0_1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ec649b3119_0_1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ec649b3119_0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2ec649b3119_0_1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2ec649b3119_0_1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2f0136018fe_0_1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g2f0136018fe_0_1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f0136018fe_0_2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2f0136018fe_0_2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ec649b3119_0_1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g2ec649b3119_0_1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2f0136018fe_0_2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2f0136018fe_0_2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f0136018fe_0_2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2f0136018fe_0_2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2f0136018fe_0_27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2f0136018fe_0_27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shutterstock_1888488028</a:t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ec649b3119_0_1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2ec649b3119_0_1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2f0136018fe_0_2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6" name="Google Shape;736;g2f0136018fe_0_2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ec649b3119_0_1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2ec649b3119_0_1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ec649b3119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ec649b3119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ec649b3119_0_1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ec649b3119_0_1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f0136018fe_0_2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f0136018fe_0_2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ec649b3119_0_1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ec649b3119_0_1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7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7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8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7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p5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p5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p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7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p8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8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8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8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8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8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8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8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0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0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0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p10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p10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p10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p1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0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0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0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0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0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2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93" name="Google Shape;93;p12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1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p13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cxnSp>
        <p:nvCxnSpPr>
          <p:cNvPr id="99" name="Google Shape;99;p13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</p:cxnSp>
      <p:sp>
        <p:nvSpPr>
          <p:cNvPr id="100" name="Google Shape;100;p13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3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3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p1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17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p1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18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2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3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p23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p27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p28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p28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0"/>
          <p:cNvPicPr preferRelativeResize="0"/>
          <p:nvPr/>
        </p:nvPicPr>
        <p:blipFill rotWithShape="1">
          <a:blip r:embed="rId3">
            <a:alphaModFix/>
          </a:blip>
          <a:srcRect b="19664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0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0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0"/>
          <p:cNvPicPr preferRelativeResize="0"/>
          <p:nvPr/>
        </p:nvPicPr>
        <p:blipFill rotWithShape="1">
          <a:blip r:embed="rId3">
            <a:alphaModFix/>
          </a:blip>
          <a:srcRect b="5686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p31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p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p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p34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p3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4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3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3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p3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p3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p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p3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p3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6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6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6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6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6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36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6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6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6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6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36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7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37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p37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p37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p37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p37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p37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7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p3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p37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7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p37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p37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p37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p37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p37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p37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p37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p37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p37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8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8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p38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38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8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p38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p3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p3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p3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p3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p3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0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0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0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1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1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1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2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4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3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p43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p43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43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p43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p43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43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4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4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600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5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5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p45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p45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6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p46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p46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46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46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6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46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p46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p46"/>
          <p:cNvPicPr preferRelativeResize="0"/>
          <p:nvPr/>
        </p:nvPicPr>
        <p:blipFill rotWithShape="1">
          <a:blip r:embed="rId3">
            <a:alphaModFix amt="11000"/>
          </a:blip>
          <a:srcRect b="7135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3" name="Google Shape;333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4" name="Google Shape;33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48" Type="http://schemas.openxmlformats.org/officeDocument/2006/relationships/theme" Target="../theme/theme1.xml"/><Relationship Id="rId25" Type="http://schemas.openxmlformats.org/officeDocument/2006/relationships/slideLayout" Target="../slideLayouts/slideLayout25.xml"/><Relationship Id="rId47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32.png"/><Relationship Id="rId5" Type="http://schemas.openxmlformats.org/officeDocument/2006/relationships/image" Target="../media/image35.png"/><Relationship Id="rId6" Type="http://schemas.openxmlformats.org/officeDocument/2006/relationships/image" Target="../media/image4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3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7.png"/><Relationship Id="rId4" Type="http://schemas.openxmlformats.org/officeDocument/2006/relationships/image" Target="../media/image46.png"/><Relationship Id="rId5" Type="http://schemas.openxmlformats.org/officeDocument/2006/relationships/image" Target="../media/image4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5.png"/><Relationship Id="rId4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7.png"/><Relationship Id="rId4" Type="http://schemas.openxmlformats.org/officeDocument/2006/relationships/image" Target="../media/image4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9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Commanding the Command Line</a:t>
            </a:r>
            <a:endParaRPr/>
          </a:p>
        </p:txBody>
      </p:sp>
      <p:sp>
        <p:nvSpPr>
          <p:cNvPr id="340" name="Google Shape;340;p49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341" name="Google Shape;341;p49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3.3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50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0"/>
          <p:cNvSpPr/>
          <p:nvPr/>
        </p:nvSpPr>
        <p:spPr>
          <a:xfrm>
            <a:off x="607675" y="35809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0"/>
          <p:cNvSpPr/>
          <p:nvPr/>
        </p:nvSpPr>
        <p:spPr>
          <a:xfrm>
            <a:off x="607675" y="29712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0"/>
          <p:cNvSpPr/>
          <p:nvPr/>
        </p:nvSpPr>
        <p:spPr>
          <a:xfrm>
            <a:off x="607675" y="23614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50"/>
          <p:cNvSpPr/>
          <p:nvPr/>
        </p:nvSpPr>
        <p:spPr>
          <a:xfrm>
            <a:off x="607675" y="17517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50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50"/>
          <p:cNvSpPr/>
          <p:nvPr/>
        </p:nvSpPr>
        <p:spPr>
          <a:xfrm>
            <a:off x="457200" y="17518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0"/>
          <p:cNvSpPr/>
          <p:nvPr/>
        </p:nvSpPr>
        <p:spPr>
          <a:xfrm>
            <a:off x="457200" y="23615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0"/>
          <p:cNvSpPr/>
          <p:nvPr/>
        </p:nvSpPr>
        <p:spPr>
          <a:xfrm>
            <a:off x="457200" y="29712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0"/>
          <p:cNvSpPr/>
          <p:nvPr/>
        </p:nvSpPr>
        <p:spPr>
          <a:xfrm>
            <a:off x="457200" y="35809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0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By the end of today’s class, you will be able to: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58" name="Google Shape;358;p50"/>
          <p:cNvSpPr txBox="1"/>
          <p:nvPr>
            <p:ph idx="4294967295" type="body"/>
          </p:nvPr>
        </p:nvSpPr>
        <p:spPr>
          <a:xfrm>
            <a:off x="914400" y="118947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Explain how options </a:t>
            </a:r>
            <a:r>
              <a:rPr lang="en" sz="1700"/>
              <a:t>modify</a:t>
            </a:r>
            <a:r>
              <a:rPr lang="en" sz="1700"/>
              <a:t> the default behavior of a terminal command.</a:t>
            </a:r>
            <a:endParaRPr sz="1700"/>
          </a:p>
        </p:txBody>
      </p:sp>
      <p:sp>
        <p:nvSpPr>
          <p:cNvPr id="359" name="Google Shape;359;p50"/>
          <p:cNvSpPr txBox="1"/>
          <p:nvPr>
            <p:ph idx="4294967295" type="body"/>
          </p:nvPr>
        </p:nvSpPr>
        <p:spPr>
          <a:xfrm>
            <a:off x="914400" y="179881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Use the </a:t>
            </a:r>
            <a:r>
              <a:rPr b="1" lang="en" sz="1700"/>
              <a:t>man </a:t>
            </a:r>
            <a:r>
              <a:rPr lang="en" sz="1700"/>
              <a:t>command to list instructions and options for each command.</a:t>
            </a:r>
            <a:endParaRPr sz="1700"/>
          </a:p>
        </p:txBody>
      </p:sp>
      <p:sp>
        <p:nvSpPr>
          <p:cNvPr id="360" name="Google Shape;360;p50"/>
          <p:cNvSpPr txBox="1"/>
          <p:nvPr>
            <p:ph idx="4294967295" type="body"/>
          </p:nvPr>
        </p:nvSpPr>
        <p:spPr>
          <a:xfrm>
            <a:off x="914400" y="2408148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Use the </a:t>
            </a:r>
            <a:r>
              <a:rPr b="1" lang="en" sz="1700"/>
              <a:t>find </a:t>
            </a:r>
            <a:r>
              <a:rPr lang="en" sz="1700"/>
              <a:t>command to locate files based on search parameters.</a:t>
            </a:r>
            <a:endParaRPr sz="1700"/>
          </a:p>
        </p:txBody>
      </p:sp>
      <p:sp>
        <p:nvSpPr>
          <p:cNvPr id="361" name="Google Shape;361;p50"/>
          <p:cNvSpPr txBox="1"/>
          <p:nvPr>
            <p:ph idx="4294967295" type="body"/>
          </p:nvPr>
        </p:nvSpPr>
        <p:spPr>
          <a:xfrm>
            <a:off x="914400" y="3017485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Use the </a:t>
            </a:r>
            <a:r>
              <a:rPr b="1" lang="en" sz="1700"/>
              <a:t>grep</a:t>
            </a:r>
            <a:r>
              <a:rPr lang="en" sz="1700"/>
              <a:t> command to search within the contents of files.</a:t>
            </a:r>
            <a:endParaRPr sz="1700"/>
          </a:p>
        </p:txBody>
      </p:sp>
      <p:sp>
        <p:nvSpPr>
          <p:cNvPr id="362" name="Google Shape;362;p50"/>
          <p:cNvSpPr txBox="1"/>
          <p:nvPr>
            <p:ph idx="4294967295" type="body"/>
          </p:nvPr>
        </p:nvSpPr>
        <p:spPr>
          <a:xfrm>
            <a:off x="914400" y="3626822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Combine multiple commands in sequence with pipes for intermediate IT tasks.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2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 Minutes</a:t>
            </a:r>
            <a:endParaRPr/>
          </a:p>
        </p:txBody>
      </p:sp>
      <p:sp>
        <p:nvSpPr>
          <p:cNvPr id="372" name="Google Shape;372;p52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Warm-Up</a:t>
            </a:r>
            <a:endParaRPr/>
          </a:p>
        </p:txBody>
      </p:sp>
      <p:sp>
        <p:nvSpPr>
          <p:cNvPr id="373" name="Google Shape;373;p52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 in your role as a security analyst at Candy Corp.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Candy Corp's management apprehended Ruth and Henry, and they're grateful for all your work so far.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local authorities have video evidence that Sugar Corp delivered a cash payment to Candy Corp's back door on October 13, 2019.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are tasked with gathering physical access logs to prove Henry or Ruth opened the back door for the delivery. </a:t>
            </a:r>
            <a:endParaRPr/>
          </a:p>
        </p:txBody>
      </p:sp>
      <p:pic>
        <p:nvPicPr>
          <p:cNvPr id="374" name="Google Shape;37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5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find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Command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8" name="Google Shape;388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825" y="1599400"/>
            <a:ext cx="1124100" cy="92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6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The </a:t>
            </a:r>
            <a:r>
              <a:rPr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find</a:t>
            </a:r>
            <a:r>
              <a:rPr lang="en">
                <a:solidFill>
                  <a:schemeClr val="dk2"/>
                </a:solidFill>
              </a:rPr>
              <a:t> Command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56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Looking for our files</a:t>
            </a:r>
            <a:endParaRPr/>
          </a:p>
        </p:txBody>
      </p:sp>
      <p:sp>
        <p:nvSpPr>
          <p:cNvPr id="395" name="Google Shape;395;p56"/>
          <p:cNvSpPr txBox="1"/>
          <p:nvPr>
            <p:ph idx="3" type="body"/>
          </p:nvPr>
        </p:nvSpPr>
        <p:spPr>
          <a:xfrm>
            <a:off x="350325" y="1063525"/>
            <a:ext cx="5021100" cy="35208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Using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cd</a:t>
            </a:r>
            <a:r>
              <a:rPr b="1" lang="en"/>
              <a:t> </a:t>
            </a:r>
            <a:r>
              <a:rPr lang="en"/>
              <a:t>to navigate the file structure is time consuming.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 a cybersecurity professional, you often are not given the location to: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User files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Logs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Configuration files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6" name="Google Shape;396;p56"/>
          <p:cNvPicPr preferRelativeResize="0"/>
          <p:nvPr/>
        </p:nvPicPr>
        <p:blipFill rotWithShape="1">
          <a:blip r:embed="rId3">
            <a:alphaModFix/>
          </a:blip>
          <a:srcRect b="0" l="21281" r="36584" t="0"/>
          <a:stretch/>
        </p:blipFill>
        <p:spPr>
          <a:xfrm>
            <a:off x="5426600" y="0"/>
            <a:ext cx="37174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7"/>
          <p:cNvSpPr/>
          <p:nvPr/>
        </p:nvSpPr>
        <p:spPr>
          <a:xfrm>
            <a:off x="1108875" y="1133250"/>
            <a:ext cx="30057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02" name="Google Shape;402;p57"/>
          <p:cNvSpPr txBox="1"/>
          <p:nvPr>
            <p:ph idx="4294967295" type="title"/>
          </p:nvPr>
        </p:nvSpPr>
        <p:spPr>
          <a:xfrm>
            <a:off x="1137063" y="1170100"/>
            <a:ext cx="297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" sz="1800">
                <a:latin typeface="Roboto Medium"/>
                <a:ea typeface="Roboto Medium"/>
                <a:cs typeface="Roboto Medium"/>
                <a:sym typeface="Roboto Medium"/>
              </a:rPr>
              <a:t>Will</a:t>
            </a:r>
            <a:endParaRPr b="0" sz="18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403" name="Google Shape;403;p57"/>
          <p:cNvGrpSpPr/>
          <p:nvPr/>
        </p:nvGrpSpPr>
        <p:grpSpPr>
          <a:xfrm>
            <a:off x="457147" y="1133252"/>
            <a:ext cx="533372" cy="533480"/>
            <a:chOff x="457200" y="1378813"/>
            <a:chExt cx="695400" cy="695450"/>
          </a:xfrm>
        </p:grpSpPr>
        <p:sp>
          <p:nvSpPr>
            <p:cNvPr id="404" name="Google Shape;404;p57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☑</a:t>
              </a:r>
              <a:endParaRPr b="0" i="0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5" name="Google Shape;405;p57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57"/>
          <p:cNvGrpSpPr/>
          <p:nvPr/>
        </p:nvGrpSpPr>
        <p:grpSpPr>
          <a:xfrm>
            <a:off x="5029196" y="1133252"/>
            <a:ext cx="533372" cy="533480"/>
            <a:chOff x="2605668" y="1378813"/>
            <a:chExt cx="695400" cy="695450"/>
          </a:xfrm>
        </p:grpSpPr>
        <p:sp>
          <p:nvSpPr>
            <p:cNvPr id="407" name="Google Shape;407;p57"/>
            <p:cNvSpPr/>
            <p:nvPr/>
          </p:nvSpPr>
          <p:spPr>
            <a:xfrm>
              <a:off x="2605668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lang="en" sz="21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☒</a:t>
              </a:r>
              <a:endParaRPr b="0" i="0" sz="2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08" name="Google Shape;408;p57"/>
            <p:cNvSpPr/>
            <p:nvPr/>
          </p:nvSpPr>
          <p:spPr>
            <a:xfrm rot="10800000">
              <a:off x="2783210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9" name="Google Shape;409;p57"/>
          <p:cNvSpPr/>
          <p:nvPr/>
        </p:nvSpPr>
        <p:spPr>
          <a:xfrm>
            <a:off x="5681375" y="1133250"/>
            <a:ext cx="3005700" cy="47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10" name="Google Shape;410;p57"/>
          <p:cNvSpPr txBox="1"/>
          <p:nvPr>
            <p:ph idx="4294967295" type="title"/>
          </p:nvPr>
        </p:nvSpPr>
        <p:spPr>
          <a:xfrm>
            <a:off x="5709700" y="1170100"/>
            <a:ext cx="2977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" sz="1800">
                <a:latin typeface="Roboto Medium"/>
                <a:ea typeface="Roboto Medium"/>
                <a:cs typeface="Roboto Medium"/>
                <a:sym typeface="Roboto Medium"/>
              </a:rPr>
              <a:t>Will not</a:t>
            </a:r>
            <a:endParaRPr b="0" sz="18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11" name="Google Shape;411;p57"/>
          <p:cNvSpPr txBox="1"/>
          <p:nvPr>
            <p:ph idx="4294967295" type="title"/>
          </p:nvPr>
        </p:nvSpPr>
        <p:spPr>
          <a:xfrm>
            <a:off x="5029200" y="1828801"/>
            <a:ext cx="36576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b="0" lang="en" sz="1800"/>
              <a:t>However, </a:t>
            </a:r>
            <a:r>
              <a:rPr lang="en" sz="1800">
                <a:latin typeface="Inconsolata"/>
                <a:ea typeface="Inconsolata"/>
                <a:cs typeface="Inconsolata"/>
                <a:sym typeface="Inconsolata"/>
              </a:rPr>
              <a:t>find</a:t>
            </a:r>
            <a:r>
              <a:rPr b="0" lang="en" sz="1800"/>
              <a:t> does not review the contents within a file; it only reviews the file name or directory name.</a:t>
            </a:r>
            <a:endParaRPr b="0"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b="0" sz="1800"/>
          </a:p>
        </p:txBody>
      </p:sp>
      <p:pic>
        <p:nvPicPr>
          <p:cNvPr id="412" name="Google Shape;41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2538" y="1183050"/>
            <a:ext cx="827470" cy="3662574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7"/>
          <p:cNvSpPr txBox="1"/>
          <p:nvPr>
            <p:ph idx="4294967295" type="body"/>
          </p:nvPr>
        </p:nvSpPr>
        <p:spPr>
          <a:xfrm>
            <a:off x="457150" y="1837402"/>
            <a:ext cx="3657600" cy="27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By default,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find</a:t>
            </a:r>
            <a:r>
              <a:rPr lang="en"/>
              <a:t> will search through the current directory and the subdirectories within that current directory.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414" name="Google Shape;414;p57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The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find</a:t>
            </a:r>
            <a:r>
              <a:rPr lang="en"/>
              <a:t> Command</a:t>
            </a:r>
            <a:endParaRPr/>
          </a:p>
        </p:txBody>
      </p:sp>
      <p:sp>
        <p:nvSpPr>
          <p:cNvPr id="415" name="Google Shape;415;p57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find</a:t>
            </a:r>
            <a:r>
              <a:rPr lang="en"/>
              <a:t> command searches for files and directories with one command.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5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f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ind</a:t>
            </a:r>
            <a:r>
              <a:rPr lang="en"/>
              <a:t> Syntax</a:t>
            </a:r>
            <a:endParaRPr/>
          </a:p>
        </p:txBody>
      </p:sp>
      <p:sp>
        <p:nvSpPr>
          <p:cNvPr id="421" name="Google Shape;421;p5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command finds </a:t>
            </a:r>
            <a:r>
              <a:rPr b="1" lang="en"/>
              <a:t>all </a:t>
            </a:r>
            <a:r>
              <a:rPr lang="en"/>
              <a:t>files.</a:t>
            </a:r>
            <a:endParaRPr/>
          </a:p>
        </p:txBody>
      </p:sp>
      <p:sp>
        <p:nvSpPr>
          <p:cNvPr id="422" name="Google Shape;422;p58"/>
          <p:cNvSpPr txBox="1"/>
          <p:nvPr/>
        </p:nvSpPr>
        <p:spPr>
          <a:xfrm>
            <a:off x="3489250" y="2838450"/>
            <a:ext cx="34551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option </a:t>
            </a: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-type</a:t>
            </a: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required parameter</a:t>
            </a: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f</a:t>
            </a: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indicate that we are searching for files.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58"/>
          <p:cNvSpPr txBox="1"/>
          <p:nvPr/>
        </p:nvSpPr>
        <p:spPr>
          <a:xfrm>
            <a:off x="311700" y="1539750"/>
            <a:ext cx="8520600" cy="76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find </a:t>
            </a:r>
            <a:r>
              <a:rPr lang="en" sz="3600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-type f</a:t>
            </a:r>
            <a:endParaRPr sz="3600">
              <a:solidFill>
                <a:schemeClr val="accent4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24" name="Google Shape;424;p58"/>
          <p:cNvSpPr/>
          <p:nvPr/>
        </p:nvSpPr>
        <p:spPr>
          <a:xfrm flipH="1" rot="5400000">
            <a:off x="5150050" y="1804950"/>
            <a:ext cx="133500" cy="15336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</a:endParaRPr>
          </a:p>
        </p:txBody>
      </p:sp>
      <p:pic>
        <p:nvPicPr>
          <p:cNvPr id="425" name="Google Shape;42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042" y="227450"/>
            <a:ext cx="450300" cy="459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f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ind</a:t>
            </a:r>
            <a:r>
              <a:rPr lang="en"/>
              <a:t> Syntax</a:t>
            </a:r>
            <a:endParaRPr/>
          </a:p>
        </p:txBody>
      </p:sp>
      <p:sp>
        <p:nvSpPr>
          <p:cNvPr id="431" name="Google Shape;431;p5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example finds a </a:t>
            </a:r>
            <a:r>
              <a:rPr b="1" lang="en"/>
              <a:t>specific </a:t>
            </a:r>
            <a:r>
              <a:rPr lang="en"/>
              <a:t>file.</a:t>
            </a:r>
            <a:endParaRPr/>
          </a:p>
        </p:txBody>
      </p:sp>
      <p:sp>
        <p:nvSpPr>
          <p:cNvPr id="432" name="Google Shape;432;p59"/>
          <p:cNvSpPr txBox="1"/>
          <p:nvPr/>
        </p:nvSpPr>
        <p:spPr>
          <a:xfrm>
            <a:off x="4311400" y="2965025"/>
            <a:ext cx="33948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option</a:t>
            </a: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-name</a:t>
            </a: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searches for an exact match of the specified parameter</a:t>
            </a: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log.txt</a:t>
            </a: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33" name="Google Shape;433;p59"/>
          <p:cNvSpPr txBox="1"/>
          <p:nvPr/>
        </p:nvSpPr>
        <p:spPr>
          <a:xfrm>
            <a:off x="485775" y="1534425"/>
            <a:ext cx="7971900" cy="76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find -type f </a:t>
            </a:r>
            <a:r>
              <a:rPr lang="en" sz="3600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-name</a:t>
            </a:r>
            <a:r>
              <a:rPr lang="en" sz="3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log.txt</a:t>
            </a:r>
            <a:endParaRPr sz="36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34" name="Google Shape;434;p59"/>
          <p:cNvSpPr/>
          <p:nvPr/>
        </p:nvSpPr>
        <p:spPr>
          <a:xfrm flipH="1" rot="5400000">
            <a:off x="5910225" y="1004850"/>
            <a:ext cx="133500" cy="3038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</a:endParaRPr>
          </a:p>
        </p:txBody>
      </p:sp>
      <p:pic>
        <p:nvPicPr>
          <p:cNvPr id="435" name="Google Shape;43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042" y="227450"/>
            <a:ext cx="450300" cy="459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0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f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ind</a:t>
            </a:r>
            <a:r>
              <a:rPr lang="en"/>
              <a:t> Syntax</a:t>
            </a:r>
            <a:endParaRPr/>
          </a:p>
        </p:txBody>
      </p:sp>
      <p:sp>
        <p:nvSpPr>
          <p:cNvPr id="441" name="Google Shape;441;p60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Finding a file with case insensitivity, change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-name</a:t>
            </a:r>
            <a:r>
              <a:rPr lang="en"/>
              <a:t> option to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-iname</a:t>
            </a:r>
            <a:r>
              <a:rPr lang="en"/>
              <a:t>.</a:t>
            </a:r>
            <a:endParaRPr/>
          </a:p>
        </p:txBody>
      </p:sp>
      <p:sp>
        <p:nvSpPr>
          <p:cNvPr id="442" name="Google Shape;442;p60"/>
          <p:cNvSpPr txBox="1"/>
          <p:nvPr/>
        </p:nvSpPr>
        <p:spPr>
          <a:xfrm>
            <a:off x="4381500" y="2873600"/>
            <a:ext cx="3416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will find the files called</a:t>
            </a: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log.txt</a:t>
            </a: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(lowercase) or</a:t>
            </a: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LOG.TXT</a:t>
            </a:r>
            <a:r>
              <a:rPr lang="en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(uppercase).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0"/>
          <p:cNvSpPr txBox="1"/>
          <p:nvPr/>
        </p:nvSpPr>
        <p:spPr>
          <a:xfrm>
            <a:off x="485775" y="1534425"/>
            <a:ext cx="7971900" cy="76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find -type f </a:t>
            </a:r>
            <a:r>
              <a:rPr lang="en" sz="3600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-iname</a:t>
            </a:r>
            <a:r>
              <a:rPr lang="en" sz="3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 sz="36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log.txt</a:t>
            </a:r>
            <a:endParaRPr sz="3600">
              <a:solidFill>
                <a:schemeClr val="accent1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44" name="Google Shape;444;p60"/>
          <p:cNvSpPr/>
          <p:nvPr/>
        </p:nvSpPr>
        <p:spPr>
          <a:xfrm flipH="1" rot="5400000">
            <a:off x="5914950" y="923850"/>
            <a:ext cx="133500" cy="32004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</a:endParaRPr>
          </a:p>
        </p:txBody>
      </p:sp>
      <p:pic>
        <p:nvPicPr>
          <p:cNvPr id="445" name="Google Shape;44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042" y="227450"/>
            <a:ext cx="450300" cy="459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61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f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ind</a:t>
            </a:r>
            <a:r>
              <a:rPr lang="en"/>
              <a:t> </a:t>
            </a:r>
            <a:r>
              <a:rPr lang="en"/>
              <a:t>Syntax</a:t>
            </a:r>
            <a:endParaRPr/>
          </a:p>
        </p:txBody>
      </p:sp>
      <p:sp>
        <p:nvSpPr>
          <p:cNvPr id="451" name="Google Shape;451;p61"/>
          <p:cNvSpPr txBox="1"/>
          <p:nvPr>
            <p:ph idx="1" type="subTitle"/>
          </p:nvPr>
        </p:nvSpPr>
        <p:spPr>
          <a:xfrm>
            <a:off x="804425" y="548650"/>
            <a:ext cx="78822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symbol known as a </a:t>
            </a:r>
            <a:r>
              <a:rPr b="1" lang="en" sz="1700"/>
              <a:t>wildcard </a:t>
            </a:r>
            <a:r>
              <a:rPr lang="en" sz="1700"/>
              <a:t>searches for all files ending with </a:t>
            </a:r>
            <a:r>
              <a:rPr b="1" lang="en" sz="1700">
                <a:latin typeface="Inconsolata"/>
                <a:ea typeface="Inconsolata"/>
                <a:cs typeface="Inconsolata"/>
                <a:sym typeface="Inconsolata"/>
              </a:rPr>
              <a:t>.txt</a:t>
            </a:r>
            <a:r>
              <a:rPr lang="en" sz="1700"/>
              <a:t>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452" name="Google Shape;452;p61"/>
          <p:cNvSpPr txBox="1"/>
          <p:nvPr/>
        </p:nvSpPr>
        <p:spPr>
          <a:xfrm>
            <a:off x="404825" y="3319525"/>
            <a:ext cx="8421900" cy="9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With the addition of </a:t>
            </a:r>
            <a:r>
              <a:rPr b="1" lang="en" sz="17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-iname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, this example finds all files that end with </a:t>
            </a:r>
            <a:b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1" lang="en" sz="17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.txt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b="1" lang="en" sz="17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.TXT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in your current directory and its subdirectories. 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1"/>
          <p:cNvSpPr txBox="1"/>
          <p:nvPr/>
        </p:nvSpPr>
        <p:spPr>
          <a:xfrm>
            <a:off x="433625" y="2174950"/>
            <a:ext cx="7974600" cy="76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find -type f -iname `</a:t>
            </a:r>
            <a:r>
              <a:rPr lang="en" sz="3600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*</a:t>
            </a:r>
            <a:r>
              <a:rPr lang="en" sz="3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.txt`</a:t>
            </a:r>
            <a:endParaRPr sz="36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454" name="Google Shape;45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042" y="227450"/>
            <a:ext cx="450300" cy="45949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61"/>
          <p:cNvSpPr txBox="1"/>
          <p:nvPr/>
        </p:nvSpPr>
        <p:spPr>
          <a:xfrm>
            <a:off x="404825" y="1222725"/>
            <a:ext cx="8132700" cy="6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b="1" lang="en" sz="17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*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wildcard symbol indicates that any file ending with </a:t>
            </a:r>
            <a:r>
              <a:rPr b="1" lang="en" sz="17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.txt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will be displayed regardless of what comes before </a:t>
            </a:r>
            <a:r>
              <a:rPr b="1" lang="en" sz="17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.txt.</a:t>
            </a:r>
            <a:endParaRPr b="1" sz="1700"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2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f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ind</a:t>
            </a:r>
            <a:r>
              <a:rPr lang="en"/>
              <a:t> Syntax</a:t>
            </a:r>
            <a:endParaRPr/>
          </a:p>
        </p:txBody>
      </p:sp>
      <p:sp>
        <p:nvSpPr>
          <p:cNvPr id="461" name="Google Shape;461;p6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Search for a file located in another directory.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62" name="Google Shape;462;p62"/>
          <p:cNvSpPr txBox="1"/>
          <p:nvPr/>
        </p:nvSpPr>
        <p:spPr>
          <a:xfrm>
            <a:off x="364925" y="3505374"/>
            <a:ext cx="8520600" cy="46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Place the desired directory after the</a:t>
            </a:r>
            <a:r>
              <a:rPr lang="en" sz="17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17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find</a:t>
            </a:r>
            <a:r>
              <a:rPr lang="en" sz="17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command and before the the</a:t>
            </a:r>
            <a:r>
              <a:rPr lang="en" sz="17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b="1" lang="en" sz="17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-type</a:t>
            </a:r>
            <a:r>
              <a:rPr lang="en" sz="17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option</a:t>
            </a:r>
            <a:r>
              <a:rPr lang="en" sz="17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.</a:t>
            </a:r>
            <a:endParaRPr sz="17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63" name="Google Shape;463;p62"/>
          <p:cNvSpPr txBox="1"/>
          <p:nvPr/>
        </p:nvSpPr>
        <p:spPr>
          <a:xfrm>
            <a:off x="485775" y="2357750"/>
            <a:ext cx="7971900" cy="76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find </a:t>
            </a:r>
            <a:r>
              <a:rPr lang="en" sz="2800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/root/desktop</a:t>
            </a:r>
            <a:r>
              <a:rPr lang="en" sz="2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-type f -iname `log.txt`</a:t>
            </a:r>
            <a:endParaRPr sz="28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464" name="Google Shape;464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042" y="227450"/>
            <a:ext cx="450300" cy="45949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62"/>
          <p:cNvSpPr txBox="1"/>
          <p:nvPr/>
        </p:nvSpPr>
        <p:spPr>
          <a:xfrm>
            <a:off x="364925" y="1520850"/>
            <a:ext cx="7971900" cy="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Specifically, we’re looking for the case-insensitive </a:t>
            </a:r>
            <a:r>
              <a:rPr b="1" lang="en" sz="17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log.txt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in the </a:t>
            </a:r>
            <a:r>
              <a:rPr b="1" lang="en" sz="17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/root/desktop</a:t>
            </a:r>
            <a:r>
              <a:rPr lang="en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directory.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Syntax for Finding a Directory</a:t>
            </a:r>
            <a:endParaRPr/>
          </a:p>
        </p:txBody>
      </p:sp>
      <p:sp>
        <p:nvSpPr>
          <p:cNvPr id="471" name="Google Shape;471;p6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d</a:t>
            </a:r>
            <a:r>
              <a:rPr lang="en"/>
              <a:t> as the parameter for the option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-type</a:t>
            </a:r>
            <a:r>
              <a:rPr lang="en"/>
              <a:t>.</a:t>
            </a:r>
            <a:endParaRPr/>
          </a:p>
        </p:txBody>
      </p:sp>
      <p:graphicFrame>
        <p:nvGraphicFramePr>
          <p:cNvPr id="472" name="Google Shape;472;p63"/>
          <p:cNvGraphicFramePr/>
          <p:nvPr/>
        </p:nvGraphicFramePr>
        <p:xfrm>
          <a:off x="609113" y="132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{4BCBBEF0-89CD-43CE-8AD3-455422690FDA}</a:tableStyleId>
              </a:tblPr>
              <a:tblGrid>
                <a:gridCol w="7907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find</a:t>
                      </a:r>
                      <a:r>
                        <a:rPr lang="en" sz="1800">
                          <a:solidFill>
                            <a:srgbClr val="3BE73B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</a:t>
                      </a:r>
                      <a:r>
                        <a:rPr lang="en" sz="1800">
                          <a:solidFill>
                            <a:schemeClr val="accent4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-type d</a:t>
                      </a:r>
                      <a:endParaRPr sz="1800">
                        <a:solidFill>
                          <a:schemeClr val="accent4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137150" marB="0" marR="91425" marL="2743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find -type d</a:t>
                      </a:r>
                      <a:r>
                        <a:rPr lang="en" sz="1800">
                          <a:solidFill>
                            <a:srgbClr val="3BE73B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</a:t>
                      </a:r>
                      <a:r>
                        <a:rPr lang="en" sz="1800">
                          <a:solidFill>
                            <a:schemeClr val="accent4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-</a:t>
                      </a:r>
                      <a:r>
                        <a:rPr lang="en" sz="1800">
                          <a:solidFill>
                            <a:schemeClr val="accent4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name</a:t>
                      </a:r>
                      <a:r>
                        <a:rPr lang="en" sz="1800">
                          <a:solidFill>
                            <a:srgbClr val="00FF00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</a:t>
                      </a: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logs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137150" marB="0" marR="91425" marL="2743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find -type d</a:t>
                      </a:r>
                      <a:r>
                        <a:rPr lang="en" sz="1800">
                          <a:solidFill>
                            <a:srgbClr val="3BE73B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</a:t>
                      </a:r>
                      <a:r>
                        <a:rPr lang="en" sz="1800">
                          <a:solidFill>
                            <a:schemeClr val="accent4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-iname</a:t>
                      </a:r>
                      <a:r>
                        <a:rPr lang="en" sz="1800">
                          <a:solidFill>
                            <a:srgbClr val="3BE73B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</a:t>
                      </a: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logs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137150" marB="0" marR="91425" marL="2743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find -type d -iname</a:t>
                      </a:r>
                      <a:r>
                        <a:rPr lang="en" sz="1800">
                          <a:solidFill>
                            <a:srgbClr val="3BE73B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</a:t>
                      </a: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`*1013`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137150" marB="0" marR="91425" marL="2743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find</a:t>
                      </a:r>
                      <a:r>
                        <a:rPr lang="en" sz="1800">
                          <a:solidFill>
                            <a:srgbClr val="3BE73B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</a:t>
                      </a:r>
                      <a:r>
                        <a:rPr lang="en" sz="1800">
                          <a:solidFill>
                            <a:schemeClr val="accent4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/root/desktop</a:t>
                      </a:r>
                      <a:r>
                        <a:rPr lang="en" sz="1800">
                          <a:solidFill>
                            <a:srgbClr val="3BE73B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 </a:t>
                      </a:r>
                      <a:r>
                        <a:rPr lang="en" sz="1800">
                          <a:solidFill>
                            <a:srgbClr val="FFFFFF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-type d -iname logs</a:t>
                      </a:r>
                      <a:endParaRPr sz="1800">
                        <a:solidFill>
                          <a:srgbClr val="FF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137150" marB="0" marR="91425" marL="2743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pic>
        <p:nvPicPr>
          <p:cNvPr id="473" name="Google Shape;4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042" y="227450"/>
            <a:ext cx="450300" cy="459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4"/>
          <p:cNvSpPr txBox="1"/>
          <p:nvPr>
            <p:ph idx="1" type="body"/>
          </p:nvPr>
        </p:nvSpPr>
        <p:spPr>
          <a:xfrm>
            <a:off x="311700" y="1044400"/>
            <a:ext cx="4131300" cy="311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Your manager at ACME Corp has tasked you with finding logs for a certain type of web server called </a:t>
            </a:r>
            <a:r>
              <a:rPr b="1" lang="en" sz="1400"/>
              <a:t>Apache</a:t>
            </a:r>
            <a:r>
              <a:rPr lang="en" sz="1400"/>
              <a:t> for the date of October 13.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</a:t>
            </a:r>
            <a:r>
              <a:rPr lang="en" sz="1400"/>
              <a:t>he directory should be named </a:t>
            </a:r>
            <a:r>
              <a:rPr b="1" lang="en" sz="1400"/>
              <a:t>apache</a:t>
            </a:r>
            <a:r>
              <a:rPr lang="en" sz="1400"/>
              <a:t> and the log files should have the date noted as </a:t>
            </a:r>
            <a:r>
              <a:rPr b="1" lang="en" sz="1400"/>
              <a:t>1013 </a:t>
            </a:r>
            <a:r>
              <a:rPr lang="en" sz="1400"/>
              <a:t>in their file names.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 sz="1400"/>
              <a:t>Since there are many directories, you will use the</a:t>
            </a:r>
            <a:r>
              <a:rPr b="1" lang="en" sz="1400"/>
              <a:t> </a:t>
            </a:r>
            <a:r>
              <a:rPr b="1" lang="en" sz="1400">
                <a:latin typeface="Inconsolata"/>
                <a:ea typeface="Inconsolata"/>
                <a:cs typeface="Inconsolata"/>
                <a:sym typeface="Inconsolata"/>
              </a:rPr>
              <a:t>find</a:t>
            </a:r>
            <a:r>
              <a:rPr b="1" lang="en" sz="1400"/>
              <a:t> </a:t>
            </a:r>
            <a:r>
              <a:rPr lang="en" sz="1400"/>
              <a:t>command to complete these tasks</a:t>
            </a:r>
            <a:r>
              <a:rPr lang="en" sz="1400"/>
              <a:t>.</a:t>
            </a:r>
            <a:endParaRPr sz="1400"/>
          </a:p>
        </p:txBody>
      </p:sp>
      <p:cxnSp>
        <p:nvCxnSpPr>
          <p:cNvPr id="479" name="Google Shape;479;p64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80" name="Google Shape;480;p64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4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481" name="Google Shape;481;p64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64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483" name="Google Shape;48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64"/>
          <p:cNvPicPr preferRelativeResize="0"/>
          <p:nvPr/>
        </p:nvPicPr>
        <p:blipFill rotWithShape="1">
          <a:blip r:embed="rId4">
            <a:alphaModFix/>
          </a:blip>
          <a:srcRect b="465" l="0" r="0" t="455"/>
          <a:stretch/>
        </p:blipFill>
        <p:spPr>
          <a:xfrm>
            <a:off x="4786408" y="1164938"/>
            <a:ext cx="4043547" cy="2759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44200" y="2329675"/>
            <a:ext cx="953390" cy="41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46788" y="2158375"/>
            <a:ext cx="3433264" cy="300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65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Demonstration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2" name="Google Shape;492;p6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 SemiBold"/>
                <a:ea typeface="Inconsolata SemiBold"/>
                <a:cs typeface="Inconsolata SemiBold"/>
                <a:sym typeface="Inconsolata SemiBold"/>
              </a:rPr>
              <a:t>find</a:t>
            </a:r>
            <a:endParaRPr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  <p:pic>
        <p:nvPicPr>
          <p:cNvPr id="493" name="Google Shape;49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100" y="1343674"/>
            <a:ext cx="1468288" cy="9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66"/>
          <p:cNvSpPr txBox="1"/>
          <p:nvPr>
            <p:ph type="title"/>
          </p:nvPr>
        </p:nvSpPr>
        <p:spPr>
          <a:xfrm>
            <a:off x="308250" y="119075"/>
            <a:ext cx="88323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Demo Summary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99" name="Google Shape;499;p66"/>
          <p:cNvGraphicFramePr/>
          <p:nvPr/>
        </p:nvGraphicFramePr>
        <p:xfrm>
          <a:off x="424738" y="1389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{4BCBBEF0-89CD-43CE-8AD3-455422690FDA}</a:tableStyleId>
              </a:tblPr>
              <a:tblGrid>
                <a:gridCol w="1725425"/>
                <a:gridCol w="62573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find</a:t>
                      </a:r>
                      <a:endParaRPr>
                        <a:solidFill>
                          <a:srgbClr val="00FFFF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137150" marB="0" marR="91425" marL="2743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Command-line command used to locate a file or directory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2743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type f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137150" marB="0" marR="91425" marL="2743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 option used to find files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2743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type d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137150" marB="0" marR="91425" marL="2743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An option used to find directories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2743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name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137150" marB="0" marR="91425" marL="2743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Additional option used to find specific file of directory names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2743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  <a:latin typeface="Inconsolata Medium"/>
                          <a:ea typeface="Inconsolata Medium"/>
                          <a:cs typeface="Inconsolata Medium"/>
                          <a:sym typeface="Inconsolata Medium"/>
                        </a:rPr>
                        <a:t>iname</a:t>
                      </a:r>
                      <a:endParaRPr>
                        <a:solidFill>
                          <a:schemeClr val="lt1"/>
                        </a:solidFill>
                        <a:latin typeface="Inconsolata Medium"/>
                        <a:ea typeface="Inconsolata Medium"/>
                        <a:cs typeface="Inconsolata Medium"/>
                        <a:sym typeface="Inconsolata Medium"/>
                      </a:endParaRPr>
                    </a:p>
                  </a:txBody>
                  <a:tcPr marT="137150" marB="0" marR="91425" marL="2743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Additional option used to find case-insensitive names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0" marB="0" marR="91425" marL="2743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500" name="Google Shape;500;p66"/>
          <p:cNvSpPr txBox="1"/>
          <p:nvPr>
            <p:ph idx="4294967295" type="subTitle"/>
          </p:nvPr>
        </p:nvSpPr>
        <p:spPr>
          <a:xfrm>
            <a:off x="308250" y="493775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f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ind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 </a:t>
            </a:r>
            <a:r>
              <a:rPr lang="en"/>
              <a:t>simplifies the searching process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7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r>
              <a:rPr lang="en"/>
              <a:t> Minutes</a:t>
            </a:r>
            <a:endParaRPr/>
          </a:p>
        </p:txBody>
      </p:sp>
      <p:sp>
        <p:nvSpPr>
          <p:cNvPr id="506" name="Google Shape;506;p67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f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ind</a:t>
            </a:r>
            <a:r>
              <a:rPr lang="en"/>
              <a:t> Your Way</a:t>
            </a:r>
            <a:endParaRPr/>
          </a:p>
        </p:txBody>
      </p:sp>
      <p:sp>
        <p:nvSpPr>
          <p:cNvPr id="507" name="Google Shape;507;p67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 in your role as a security analyst at Candy Corp.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manager has identified why PeanutButtery.net was targeted: Henry had hidden a secret recipe for a revolutionary candy within the file system, and Sugar Corp was trying to find it.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manager at Candy Corp needs you to search through the files and file directories of the PeanutButtery.net server to find the hidden recipes in its file system.</a:t>
            </a:r>
            <a:endParaRPr/>
          </a:p>
        </p:txBody>
      </p:sp>
      <p:pic>
        <p:nvPicPr>
          <p:cNvPr id="508" name="Google Shape;50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1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The 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grep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Command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6" name="Google Shape;52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1825" y="1599400"/>
            <a:ext cx="1124100" cy="92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7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find</a:t>
            </a:r>
            <a:r>
              <a:rPr lang="en"/>
              <a:t> command only searches for the names of files, </a:t>
            </a:r>
            <a:r>
              <a:rPr b="1" lang="en"/>
              <a:t>not</a:t>
            </a:r>
            <a:r>
              <a:rPr i="1" lang="en"/>
              <a:t> </a:t>
            </a:r>
            <a:r>
              <a:rPr lang="en"/>
              <a:t>the contents.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73"/>
          <p:cNvSpPr txBox="1"/>
          <p:nvPr>
            <p:ph idx="4" type="body"/>
          </p:nvPr>
        </p:nvSpPr>
        <p:spPr>
          <a:xfrm>
            <a:off x="457200" y="3386200"/>
            <a:ext cx="30132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Only</a:t>
            </a:r>
            <a:r>
              <a:rPr lang="en"/>
              <a:t> searches for data in the current directory </a:t>
            </a:r>
            <a:endParaRPr/>
          </a:p>
        </p:txBody>
      </p:sp>
      <p:sp>
        <p:nvSpPr>
          <p:cNvPr id="537" name="Google Shape;537;p73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grep</a:t>
            </a:r>
            <a:endParaRPr>
              <a:solidFill>
                <a:schemeClr val="dk2"/>
              </a:solidFill>
              <a:latin typeface="Inconsolata"/>
              <a:ea typeface="Inconsolata"/>
              <a:cs typeface="Inconsolata"/>
              <a:sym typeface="Inconsolat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73"/>
          <p:cNvSpPr txBox="1"/>
          <p:nvPr>
            <p:ph idx="1" type="subTitle"/>
          </p:nvPr>
        </p:nvSpPr>
        <p:spPr>
          <a:xfrm>
            <a:off x="460206" y="512000"/>
            <a:ext cx="8223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/>
              <a:t>g</a:t>
            </a:r>
            <a:r>
              <a:rPr lang="en"/>
              <a:t>lobal </a:t>
            </a:r>
            <a:r>
              <a:rPr b="1" lang="en"/>
              <a:t>r</a:t>
            </a:r>
            <a:r>
              <a:rPr lang="en"/>
              <a:t>egular </a:t>
            </a:r>
            <a:r>
              <a:rPr b="1" lang="en"/>
              <a:t>e</a:t>
            </a:r>
            <a:r>
              <a:rPr lang="en"/>
              <a:t>xpression </a:t>
            </a:r>
            <a:r>
              <a:rPr b="1" lang="en"/>
              <a:t>p</a:t>
            </a:r>
            <a:r>
              <a:rPr lang="en"/>
              <a:t>oint is used to search for data inside files.</a:t>
            </a:r>
            <a:endParaRPr/>
          </a:p>
        </p:txBody>
      </p:sp>
      <p:sp>
        <p:nvSpPr>
          <p:cNvPr id="539" name="Google Shape;539;p73"/>
          <p:cNvSpPr txBox="1"/>
          <p:nvPr>
            <p:ph idx="3" type="body"/>
          </p:nvPr>
        </p:nvSpPr>
        <p:spPr>
          <a:xfrm>
            <a:off x="533400" y="1668575"/>
            <a:ext cx="30132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eturns the </a:t>
            </a:r>
            <a:r>
              <a:rPr b="1" lang="en"/>
              <a:t>entire line</a:t>
            </a:r>
            <a:r>
              <a:rPr lang="en"/>
              <a:t> that the desired data is found </a:t>
            </a:r>
            <a:endParaRPr/>
          </a:p>
        </p:txBody>
      </p:sp>
      <p:sp>
        <p:nvSpPr>
          <p:cNvPr id="540" name="Google Shape;540;p73"/>
          <p:cNvSpPr txBox="1"/>
          <p:nvPr/>
        </p:nvSpPr>
        <p:spPr>
          <a:xfrm>
            <a:off x="547500" y="1005900"/>
            <a:ext cx="28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g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rep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by default: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1" name="Google Shape;541;p73"/>
          <p:cNvPicPr preferRelativeResize="0"/>
          <p:nvPr/>
        </p:nvPicPr>
        <p:blipFill rotWithShape="1">
          <a:blip r:embed="rId3">
            <a:alphaModFix/>
          </a:blip>
          <a:srcRect b="7325" l="15135" r="15941" t="10922"/>
          <a:stretch/>
        </p:blipFill>
        <p:spPr>
          <a:xfrm>
            <a:off x="4572000" y="1211305"/>
            <a:ext cx="3849426" cy="31441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7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grep</a:t>
            </a:r>
            <a:r>
              <a:rPr lang="en"/>
              <a:t> </a:t>
            </a:r>
            <a:r>
              <a:rPr lang="en"/>
              <a:t>Syntax</a:t>
            </a:r>
            <a:endParaRPr/>
          </a:p>
        </p:txBody>
      </p:sp>
      <p:sp>
        <p:nvSpPr>
          <p:cNvPr id="547" name="Google Shape;547;p74"/>
          <p:cNvSpPr txBox="1"/>
          <p:nvPr>
            <p:ph idx="1" type="subTitle"/>
          </p:nvPr>
        </p:nvSpPr>
        <p:spPr>
          <a:xfrm>
            <a:off x="685800" y="12134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example,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grep</a:t>
            </a:r>
            <a:r>
              <a:rPr lang="en"/>
              <a:t> finds the lines in which user bob is mentioned in the file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log1.txt.</a:t>
            </a:r>
            <a:endParaRPr b="1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548" name="Google Shape;548;p74"/>
          <p:cNvSpPr txBox="1"/>
          <p:nvPr/>
        </p:nvSpPr>
        <p:spPr>
          <a:xfrm>
            <a:off x="375300" y="2189100"/>
            <a:ext cx="8393400" cy="76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&lt;</a:t>
            </a:r>
            <a:r>
              <a:rPr lang="en" sz="2800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grep</a:t>
            </a:r>
            <a:r>
              <a:rPr lang="en" sz="28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data_point File_to_search_inside&gt;</a:t>
            </a:r>
            <a:endParaRPr sz="2800">
              <a:solidFill>
                <a:srgbClr val="00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549" name="Google Shape;549;p74" title="File:Toicon-icon-lines-and-angles-filter.sv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50" y="239125"/>
            <a:ext cx="522501" cy="52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75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g</a:t>
            </a: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rep</a:t>
            </a:r>
            <a:r>
              <a:rPr lang="en"/>
              <a:t> Syntax</a:t>
            </a:r>
            <a:endParaRPr/>
          </a:p>
        </p:txBody>
      </p:sp>
      <p:sp>
        <p:nvSpPr>
          <p:cNvPr id="555" name="Google Shape;555;p75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grep</a:t>
            </a:r>
            <a:r>
              <a:rPr lang="en"/>
              <a:t> to find a specific data point within a single file.</a:t>
            </a:r>
            <a:endParaRPr/>
          </a:p>
        </p:txBody>
      </p:sp>
      <p:sp>
        <p:nvSpPr>
          <p:cNvPr id="556" name="Google Shape;556;p75"/>
          <p:cNvSpPr txBox="1"/>
          <p:nvPr/>
        </p:nvSpPr>
        <p:spPr>
          <a:xfrm>
            <a:off x="375300" y="2080500"/>
            <a:ext cx="8393400" cy="76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4"/>
                </a:solidFill>
                <a:latin typeface="Inconsolata"/>
                <a:ea typeface="Inconsolata"/>
                <a:cs typeface="Inconsolata"/>
                <a:sym typeface="Inconsolata"/>
              </a:rPr>
              <a:t>grep </a:t>
            </a:r>
            <a:r>
              <a:rPr lang="en" sz="2800">
                <a:solidFill>
                  <a:schemeClr val="accent1"/>
                </a:solidFill>
                <a:latin typeface="Inconsolata"/>
                <a:ea typeface="Inconsolata"/>
                <a:cs typeface="Inconsolata"/>
                <a:sym typeface="Inconsolata"/>
              </a:rPr>
              <a:t>bob </a:t>
            </a:r>
            <a:r>
              <a:rPr lang="en" sz="2800">
                <a:solidFill>
                  <a:schemeClr val="accent2"/>
                </a:solidFill>
                <a:latin typeface="Inconsolata"/>
                <a:ea typeface="Inconsolata"/>
                <a:cs typeface="Inconsolata"/>
                <a:sym typeface="Inconsolata"/>
              </a:rPr>
              <a:t>log1.txt</a:t>
            </a:r>
            <a:endParaRPr sz="2800">
              <a:solidFill>
                <a:schemeClr val="accent2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557" name="Google Shape;557;p75"/>
          <p:cNvSpPr txBox="1"/>
          <p:nvPr/>
        </p:nvSpPr>
        <p:spPr>
          <a:xfrm>
            <a:off x="375300" y="3688200"/>
            <a:ext cx="85206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This command displays all the lines where the data point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bob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was found inside the </a:t>
            </a:r>
            <a:b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file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log1.txt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. If no matches of </a:t>
            </a: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bob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are found in the file, nothing is returned.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5"/>
          <p:cNvSpPr txBox="1"/>
          <p:nvPr/>
        </p:nvSpPr>
        <p:spPr>
          <a:xfrm>
            <a:off x="2880000" y="1477400"/>
            <a:ext cx="10824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Command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75"/>
          <p:cNvSpPr/>
          <p:nvPr/>
        </p:nvSpPr>
        <p:spPr>
          <a:xfrm flipH="1" rot="5400000">
            <a:off x="4110975" y="2563350"/>
            <a:ext cx="133500" cy="804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560" name="Google Shape;560;p75"/>
          <p:cNvSpPr/>
          <p:nvPr/>
        </p:nvSpPr>
        <p:spPr>
          <a:xfrm rot="5400000">
            <a:off x="3306975" y="1563225"/>
            <a:ext cx="133500" cy="8040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</a:endParaRPr>
          </a:p>
        </p:txBody>
      </p:sp>
      <p:sp>
        <p:nvSpPr>
          <p:cNvPr id="561" name="Google Shape;561;p75"/>
          <p:cNvSpPr txBox="1"/>
          <p:nvPr/>
        </p:nvSpPr>
        <p:spPr>
          <a:xfrm>
            <a:off x="2375925" y="3166050"/>
            <a:ext cx="41676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specific data point searched for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5"/>
          <p:cNvSpPr txBox="1"/>
          <p:nvPr/>
        </p:nvSpPr>
        <p:spPr>
          <a:xfrm>
            <a:off x="4358650" y="1477388"/>
            <a:ext cx="4217700" cy="46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The file being searched for the data point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5"/>
          <p:cNvSpPr/>
          <p:nvPr/>
        </p:nvSpPr>
        <p:spPr>
          <a:xfrm rot="5400000">
            <a:off x="5321475" y="1234575"/>
            <a:ext cx="133500" cy="14613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</a:endParaRPr>
          </a:p>
        </p:txBody>
      </p:sp>
      <p:pic>
        <p:nvPicPr>
          <p:cNvPr id="564" name="Google Shape;564;p75" title="File:Toicon-icon-lines-and-angles-filter.sv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50" y="239125"/>
            <a:ext cx="522501" cy="52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76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grep</a:t>
            </a:r>
            <a:r>
              <a:rPr lang="en"/>
              <a:t> Syntax</a:t>
            </a:r>
            <a:endParaRPr/>
          </a:p>
        </p:txBody>
      </p:sp>
      <p:sp>
        <p:nvSpPr>
          <p:cNvPr id="570" name="Google Shape;570;p76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grep</a:t>
            </a:r>
            <a:r>
              <a:rPr lang="en"/>
              <a:t> to find a specific data point within </a:t>
            </a:r>
            <a:r>
              <a:rPr b="1" lang="en"/>
              <a:t>multiple </a:t>
            </a:r>
            <a:r>
              <a:rPr lang="en"/>
              <a:t>files.</a:t>
            </a:r>
            <a:endParaRPr/>
          </a:p>
        </p:txBody>
      </p:sp>
      <p:sp>
        <p:nvSpPr>
          <p:cNvPr id="571" name="Google Shape;571;p76"/>
          <p:cNvSpPr txBox="1"/>
          <p:nvPr>
            <p:ph idx="2" type="body"/>
          </p:nvPr>
        </p:nvSpPr>
        <p:spPr>
          <a:xfrm>
            <a:off x="461225" y="1241925"/>
            <a:ext cx="8229600" cy="3723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where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bob</a:t>
            </a:r>
            <a:r>
              <a:rPr lang="en"/>
              <a:t> exists in all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.txt</a:t>
            </a:r>
            <a:r>
              <a:rPr lang="en"/>
              <a:t> files.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bob</a:t>
            </a:r>
            <a:r>
              <a:rPr lang="en"/>
              <a:t> is the specific data point being searched for.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*</a:t>
            </a:r>
            <a:r>
              <a:rPr lang="en"/>
              <a:t> indicates that it will search through all files that end with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.txt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command will display all the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.txt</a:t>
            </a:r>
            <a:r>
              <a:rPr lang="en"/>
              <a:t> files where the value of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bob</a:t>
            </a:r>
            <a:r>
              <a:rPr lang="en"/>
              <a:t> was found, followed by the </a:t>
            </a:r>
            <a:r>
              <a:rPr lang="en"/>
              <a:t>lines where it was found.</a:t>
            </a:r>
            <a:endParaRPr/>
          </a:p>
        </p:txBody>
      </p:sp>
      <p:sp>
        <p:nvSpPr>
          <p:cNvPr id="572" name="Google Shape;572;p76"/>
          <p:cNvSpPr txBox="1"/>
          <p:nvPr/>
        </p:nvSpPr>
        <p:spPr>
          <a:xfrm>
            <a:off x="590075" y="2365325"/>
            <a:ext cx="7971900" cy="76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grep bob </a:t>
            </a:r>
            <a:r>
              <a:rPr lang="en" sz="3600">
                <a:solidFill>
                  <a:srgbClr val="00D6CB"/>
                </a:solidFill>
                <a:latin typeface="Inconsolata"/>
                <a:ea typeface="Inconsolata"/>
                <a:cs typeface="Inconsolata"/>
                <a:sym typeface="Inconsolata"/>
              </a:rPr>
              <a:t>*</a:t>
            </a:r>
            <a:r>
              <a:rPr lang="en" sz="3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.txt</a:t>
            </a:r>
            <a:endParaRPr sz="36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573" name="Google Shape;573;p76" title="File:Toicon-icon-lines-and-angles-filter.sv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50" y="239125"/>
            <a:ext cx="522501" cy="52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7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this command do?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 Medium"/>
                <a:ea typeface="Inconsolata Medium"/>
                <a:cs typeface="Inconsolata Medium"/>
                <a:sym typeface="Inconsolata Medium"/>
              </a:rPr>
              <a:t>grep </a:t>
            </a:r>
            <a:r>
              <a:rPr b="1" lang="en">
                <a:solidFill>
                  <a:schemeClr val="accent4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-i</a:t>
            </a:r>
            <a:r>
              <a:rPr b="1" lang="en">
                <a:solidFill>
                  <a:schemeClr val="dk1"/>
                </a:solidFill>
                <a:latin typeface="Inconsolata Medium"/>
                <a:ea typeface="Inconsolata Medium"/>
                <a:cs typeface="Inconsolata Medium"/>
                <a:sym typeface="Inconsolata Medium"/>
              </a:rPr>
              <a:t> </a:t>
            </a:r>
            <a:r>
              <a:rPr b="1" lang="en">
                <a:latin typeface="Inconsolata Medium"/>
                <a:ea typeface="Inconsolata Medium"/>
                <a:cs typeface="Inconsolata Medium"/>
                <a:sym typeface="Inconsolata Medium"/>
              </a:rPr>
              <a:t>bob *.txt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8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grep</a:t>
            </a:r>
            <a:r>
              <a:rPr lang="en"/>
              <a:t> Syntax</a:t>
            </a:r>
            <a:endParaRPr/>
          </a:p>
        </p:txBody>
      </p:sp>
      <p:sp>
        <p:nvSpPr>
          <p:cNvPr id="584" name="Google Shape;584;p78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a </a:t>
            </a:r>
            <a:r>
              <a:rPr b="1" lang="en"/>
              <a:t>case-insensitive</a:t>
            </a:r>
            <a:r>
              <a:rPr lang="en"/>
              <a:t> specific data point.</a:t>
            </a:r>
            <a:endParaRPr/>
          </a:p>
        </p:txBody>
      </p:sp>
      <p:sp>
        <p:nvSpPr>
          <p:cNvPr id="585" name="Google Shape;585;p78"/>
          <p:cNvSpPr txBox="1"/>
          <p:nvPr>
            <p:ph idx="2" type="body"/>
          </p:nvPr>
        </p:nvSpPr>
        <p:spPr>
          <a:xfrm>
            <a:off x="457200" y="1421550"/>
            <a:ext cx="8229600" cy="6621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command finds the </a:t>
            </a:r>
            <a:r>
              <a:rPr lang="en"/>
              <a:t>line</a:t>
            </a:r>
            <a:r>
              <a:rPr lang="en"/>
              <a:t> where the user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bob</a:t>
            </a:r>
            <a:r>
              <a:rPr lang="en"/>
              <a:t> or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BOB</a:t>
            </a:r>
            <a:r>
              <a:rPr lang="en"/>
              <a:t> exists within all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.txt</a:t>
            </a:r>
            <a:r>
              <a:rPr lang="en"/>
              <a:t> files.</a:t>
            </a:r>
            <a:endParaRPr/>
          </a:p>
        </p:txBody>
      </p:sp>
      <p:sp>
        <p:nvSpPr>
          <p:cNvPr id="586" name="Google Shape;586;p78"/>
          <p:cNvSpPr txBox="1"/>
          <p:nvPr/>
        </p:nvSpPr>
        <p:spPr>
          <a:xfrm>
            <a:off x="586050" y="2092975"/>
            <a:ext cx="7971900" cy="76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grep </a:t>
            </a:r>
            <a:r>
              <a:rPr lang="en" sz="3600">
                <a:solidFill>
                  <a:srgbClr val="00D6CB"/>
                </a:solidFill>
                <a:latin typeface="Inconsolata"/>
                <a:ea typeface="Inconsolata"/>
                <a:cs typeface="Inconsolata"/>
                <a:sym typeface="Inconsolata"/>
              </a:rPr>
              <a:t>-i</a:t>
            </a:r>
            <a:r>
              <a:rPr lang="en" sz="3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bob *.txt</a:t>
            </a:r>
            <a:endParaRPr sz="36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587" name="Google Shape;587;p78" title="File:Toicon-icon-lines-and-angles-filter.sv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50" y="239125"/>
            <a:ext cx="522501" cy="522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"/>
                <a:ea typeface="Inconsolata"/>
                <a:cs typeface="Inconsolata"/>
                <a:sym typeface="Inconsolata"/>
              </a:rPr>
              <a:t>grep</a:t>
            </a:r>
            <a:r>
              <a:rPr lang="en"/>
              <a:t> Syntax</a:t>
            </a:r>
            <a:endParaRPr/>
          </a:p>
        </p:txBody>
      </p:sp>
      <p:sp>
        <p:nvSpPr>
          <p:cNvPr id="593" name="Google Shape;593;p79"/>
          <p:cNvSpPr txBox="1"/>
          <p:nvPr>
            <p:ph idx="1" type="subTitle"/>
          </p:nvPr>
        </p:nvSpPr>
        <p:spPr>
          <a:xfrm>
            <a:off x="377400" y="1197800"/>
            <a:ext cx="80319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command outputs the file names of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.txt</a:t>
            </a:r>
            <a:r>
              <a:rPr lang="en"/>
              <a:t> files containing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bob</a:t>
            </a:r>
            <a:r>
              <a:rPr lang="en"/>
              <a:t> or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BOB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79"/>
          <p:cNvSpPr txBox="1"/>
          <p:nvPr>
            <p:ph idx="2" type="body"/>
          </p:nvPr>
        </p:nvSpPr>
        <p:spPr>
          <a:xfrm>
            <a:off x="457200" y="1547575"/>
            <a:ext cx="8229600" cy="3248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Note:</a:t>
            </a:r>
            <a:r>
              <a:rPr lang="en"/>
              <a:t>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-il</a:t>
            </a:r>
            <a:r>
              <a:rPr lang="en"/>
              <a:t> are two </a:t>
            </a:r>
            <a:r>
              <a:rPr lang="en"/>
              <a:t>separate options.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lang="en"/>
              <a:t> indicates case insensitivity.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l</a:t>
            </a:r>
            <a:r>
              <a:rPr lang="en"/>
              <a:t> indicates to only return the file name.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lang="en"/>
              <a:t> and </a:t>
            </a: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l</a:t>
            </a:r>
            <a:r>
              <a:rPr lang="en"/>
              <a:t> use a single hyphen.</a:t>
            </a:r>
            <a:endParaRPr/>
          </a:p>
        </p:txBody>
      </p:sp>
      <p:sp>
        <p:nvSpPr>
          <p:cNvPr id="595" name="Google Shape;595;p79"/>
          <p:cNvSpPr txBox="1"/>
          <p:nvPr/>
        </p:nvSpPr>
        <p:spPr>
          <a:xfrm>
            <a:off x="457200" y="1711975"/>
            <a:ext cx="7872300" cy="765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grep </a:t>
            </a:r>
            <a:r>
              <a:rPr lang="en" sz="3600">
                <a:solidFill>
                  <a:srgbClr val="00D6CB"/>
                </a:solidFill>
                <a:latin typeface="Inconsolata"/>
                <a:ea typeface="Inconsolata"/>
                <a:cs typeface="Inconsolata"/>
                <a:sym typeface="Inconsolata"/>
              </a:rPr>
              <a:t>-il</a:t>
            </a:r>
            <a:r>
              <a:rPr lang="en" sz="36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bob *.txt</a:t>
            </a:r>
            <a:endParaRPr sz="36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pic>
        <p:nvPicPr>
          <p:cNvPr id="596" name="Google Shape;596;p79" title="File:Toicon-icon-lines-and-angles-filter.svg - Wikimedia Common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950" y="239125"/>
            <a:ext cx="522501" cy="522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7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Find a </a:t>
            </a:r>
            <a:r>
              <a:rPr b="1" lang="en"/>
              <a:t>filename</a:t>
            </a:r>
            <a:r>
              <a:rPr lang="en"/>
              <a:t> containing a specific data point.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80"/>
          <p:cNvSpPr txBox="1"/>
          <p:nvPr>
            <p:ph idx="1" type="body"/>
          </p:nvPr>
        </p:nvSpPr>
        <p:spPr>
          <a:xfrm>
            <a:off x="4803526" y="1061875"/>
            <a:ext cx="3702600" cy="311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Your manager asks for your help with a security investigation into an illegal money transfer that took place on May 17.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They tell you the suspect, Sally Stealer, stated that she never logged in to the company's banking website and definitely did not transfer any money on May 17.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 sz="1400"/>
              <a:t>You must use the </a:t>
            </a:r>
            <a:r>
              <a:rPr lang="en" sz="1400">
                <a:latin typeface="Inconsolata"/>
                <a:ea typeface="Inconsolata"/>
                <a:cs typeface="Inconsolata"/>
                <a:sym typeface="Inconsolata"/>
              </a:rPr>
              <a:t>grep</a:t>
            </a:r>
            <a:r>
              <a:rPr lang="en" sz="1400"/>
              <a:t> command to search the application logs to see if Sally Stealer logged in on that day and, if so, whether she transferred any funds.</a:t>
            </a:r>
            <a:endParaRPr sz="1400"/>
          </a:p>
        </p:txBody>
      </p:sp>
      <p:cxnSp>
        <p:nvCxnSpPr>
          <p:cNvPr id="603" name="Google Shape;603;p80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604" name="Google Shape;604;p80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4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605" name="Google Shape;605;p80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80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607" name="Google Shape;60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80"/>
          <p:cNvPicPr preferRelativeResize="0"/>
          <p:nvPr/>
        </p:nvPicPr>
        <p:blipFill rotWithShape="1">
          <a:blip r:embed="rId4">
            <a:alphaModFix/>
          </a:blip>
          <a:srcRect b="0" l="14060" r="14053" t="0"/>
          <a:stretch/>
        </p:blipFill>
        <p:spPr>
          <a:xfrm>
            <a:off x="283369" y="1019525"/>
            <a:ext cx="4009583" cy="3841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81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Demonstration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81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 SemiBold"/>
                <a:ea typeface="Inconsolata SemiBold"/>
                <a:cs typeface="Inconsolata SemiBold"/>
                <a:sym typeface="Inconsolata SemiBold"/>
              </a:rPr>
              <a:t>grep</a:t>
            </a:r>
            <a:endParaRPr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  <p:pic>
        <p:nvPicPr>
          <p:cNvPr id="615" name="Google Shape;615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100" y="1343674"/>
            <a:ext cx="1468288" cy="9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2"/>
          <p:cNvSpPr txBox="1"/>
          <p:nvPr>
            <p:ph type="title"/>
          </p:nvPr>
        </p:nvSpPr>
        <p:spPr>
          <a:xfrm>
            <a:off x="308250" y="119075"/>
            <a:ext cx="88323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Demo Summary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82"/>
          <p:cNvSpPr txBox="1"/>
          <p:nvPr/>
        </p:nvSpPr>
        <p:spPr>
          <a:xfrm>
            <a:off x="152400" y="927100"/>
            <a:ext cx="5074800" cy="29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Basic syntax: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indicates case insensitivity.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b="1" lang="en" sz="18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l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indicates to only return the file name.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82"/>
          <p:cNvSpPr txBox="1"/>
          <p:nvPr/>
        </p:nvSpPr>
        <p:spPr>
          <a:xfrm>
            <a:off x="275250" y="1722225"/>
            <a:ext cx="4829100" cy="65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grep </a:t>
            </a:r>
            <a:r>
              <a:rPr lang="en" sz="2400">
                <a:solidFill>
                  <a:srgbClr val="00D6CB"/>
                </a:solidFill>
                <a:latin typeface="Inconsolata"/>
                <a:ea typeface="Inconsolata"/>
                <a:cs typeface="Inconsolata"/>
                <a:sym typeface="Inconsolata"/>
              </a:rPr>
              <a:t>data_point</a:t>
            </a:r>
            <a:r>
              <a:rPr lang="en" sz="2400">
                <a:solidFill>
                  <a:srgbClr val="FFFFFF"/>
                </a:solidFill>
                <a:latin typeface="Inconsolata"/>
                <a:ea typeface="Inconsolata"/>
                <a:cs typeface="Inconsolata"/>
                <a:sym typeface="Inconsolata"/>
              </a:rPr>
              <a:t> file_to_search</a:t>
            </a:r>
            <a:endParaRPr sz="2400">
              <a:solidFill>
                <a:srgbClr val="FFFFFF"/>
              </a:solidFill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23" name="Google Shape;623;p82"/>
          <p:cNvSpPr txBox="1"/>
          <p:nvPr>
            <p:ph idx="4294967295" type="subTitle"/>
          </p:nvPr>
        </p:nvSpPr>
        <p:spPr>
          <a:xfrm>
            <a:off x="308250" y="493775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grep </a:t>
            </a:r>
            <a:r>
              <a:rPr lang="en"/>
              <a:t>is used to find data points within a file</a:t>
            </a:r>
            <a:endParaRPr/>
          </a:p>
        </p:txBody>
      </p:sp>
      <p:pic>
        <p:nvPicPr>
          <p:cNvPr id="624" name="Google Shape;624;p82"/>
          <p:cNvPicPr preferRelativeResize="0"/>
          <p:nvPr/>
        </p:nvPicPr>
        <p:blipFill rotWithShape="1">
          <a:blip r:embed="rId3">
            <a:alphaModFix/>
          </a:blip>
          <a:srcRect b="0" l="14372" r="14372" t="0"/>
          <a:stretch/>
        </p:blipFill>
        <p:spPr>
          <a:xfrm>
            <a:off x="5287350" y="1491175"/>
            <a:ext cx="3721274" cy="359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83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r>
              <a:rPr lang="en"/>
              <a:t> Minutes</a:t>
            </a:r>
            <a:endParaRPr/>
          </a:p>
        </p:txBody>
      </p:sp>
      <p:sp>
        <p:nvSpPr>
          <p:cNvPr id="630" name="Google Shape;630;p83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Inconsolata"/>
                <a:ea typeface="Inconsolata"/>
                <a:cs typeface="Inconsolata"/>
                <a:sym typeface="Inconsolata"/>
              </a:rPr>
              <a:t>grep</a:t>
            </a:r>
            <a:endParaRPr/>
          </a:p>
        </p:txBody>
      </p:sp>
      <p:sp>
        <p:nvSpPr>
          <p:cNvPr id="631" name="Google Shape;631;p83"/>
          <p:cNvSpPr txBox="1"/>
          <p:nvPr>
            <p:ph idx="3" type="body"/>
          </p:nvPr>
        </p:nvSpPr>
        <p:spPr>
          <a:xfrm>
            <a:off x="903300" y="1371600"/>
            <a:ext cx="7337400" cy="2804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 in your role as a security analyst at Candy Corp.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manager found out that Sugar Corp recently made a large purchase of guavaberries. Sugar Corp currently does not have any candy that includes guavaberries, but Candy Corp does.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manager suspects that Sugar Corp is trying to reproduce some of Candy Corp’s secret recipes that use guavaberries.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task is to determine which of the secret recipes contain guavaberries in their list of ingredients.</a:t>
            </a:r>
            <a:endParaRPr/>
          </a:p>
        </p:txBody>
      </p:sp>
      <p:pic>
        <p:nvPicPr>
          <p:cNvPr id="632" name="Google Shape;632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86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Combine Commands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with Piping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6" name="Google Shape;64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6650" y="1310825"/>
            <a:ext cx="1271425" cy="143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1" name="Google Shape;651;p87"/>
          <p:cNvGrpSpPr/>
          <p:nvPr/>
        </p:nvGrpSpPr>
        <p:grpSpPr>
          <a:xfrm>
            <a:off x="6257800" y="1371600"/>
            <a:ext cx="2429025" cy="2868874"/>
            <a:chOff x="6257775" y="1133250"/>
            <a:chExt cx="2429025" cy="3435366"/>
          </a:xfrm>
        </p:grpSpPr>
        <p:sp>
          <p:nvSpPr>
            <p:cNvPr id="652" name="Google Shape;652;p87"/>
            <p:cNvSpPr/>
            <p:nvPr/>
          </p:nvSpPr>
          <p:spPr>
            <a:xfrm flipH="1">
              <a:off x="6258300" y="1134216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87"/>
            <p:cNvSpPr/>
            <p:nvPr/>
          </p:nvSpPr>
          <p:spPr>
            <a:xfrm>
              <a:off x="6257775" y="1133250"/>
              <a:ext cx="2427300" cy="459600"/>
            </a:xfrm>
            <a:prstGeom prst="roundRect">
              <a:avLst>
                <a:gd fmla="val 1334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wc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54" name="Google Shape;654;p87"/>
          <p:cNvGrpSpPr/>
          <p:nvPr/>
        </p:nvGrpSpPr>
        <p:grpSpPr>
          <a:xfrm>
            <a:off x="457225" y="1371624"/>
            <a:ext cx="2439025" cy="2846774"/>
            <a:chOff x="457200" y="1133250"/>
            <a:chExt cx="2439025" cy="3434400"/>
          </a:xfrm>
        </p:grpSpPr>
        <p:sp>
          <p:nvSpPr>
            <p:cNvPr id="655" name="Google Shape;655;p87"/>
            <p:cNvSpPr/>
            <p:nvPr/>
          </p:nvSpPr>
          <p:spPr>
            <a:xfrm flipH="1">
              <a:off x="467725" y="1133250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6" name="Google Shape;656;p87"/>
            <p:cNvSpPr/>
            <p:nvPr/>
          </p:nvSpPr>
          <p:spPr>
            <a:xfrm>
              <a:off x="457200" y="1133250"/>
              <a:ext cx="2438400" cy="503700"/>
            </a:xfrm>
            <a:prstGeom prst="roundRect">
              <a:avLst>
                <a:gd fmla="val 1334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find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57" name="Google Shape;657;p87"/>
          <p:cNvGrpSpPr/>
          <p:nvPr/>
        </p:nvGrpSpPr>
        <p:grpSpPr>
          <a:xfrm>
            <a:off x="3359408" y="1371600"/>
            <a:ext cx="2435188" cy="2846774"/>
            <a:chOff x="3399100" y="1133249"/>
            <a:chExt cx="2435188" cy="3434400"/>
          </a:xfrm>
        </p:grpSpPr>
        <p:sp>
          <p:nvSpPr>
            <p:cNvPr id="658" name="Google Shape;658;p87"/>
            <p:cNvSpPr/>
            <p:nvPr/>
          </p:nvSpPr>
          <p:spPr>
            <a:xfrm flipH="1">
              <a:off x="3405788" y="1133249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59" name="Google Shape;659;p87"/>
            <p:cNvSpPr/>
            <p:nvPr/>
          </p:nvSpPr>
          <p:spPr>
            <a:xfrm>
              <a:off x="3399100" y="1133250"/>
              <a:ext cx="2427300" cy="466500"/>
            </a:xfrm>
            <a:prstGeom prst="roundRect">
              <a:avLst>
                <a:gd fmla="val 13342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grep</a:t>
              </a:r>
              <a:endParaRPr b="1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60" name="Google Shape;660;p87"/>
          <p:cNvSpPr txBox="1"/>
          <p:nvPr>
            <p:ph idx="4294967295" type="body"/>
          </p:nvPr>
        </p:nvSpPr>
        <p:spPr>
          <a:xfrm>
            <a:off x="457200" y="1973625"/>
            <a:ext cx="2521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Searches for </a:t>
            </a:r>
            <a:r>
              <a:rPr b="1" lang="en" sz="1500"/>
              <a:t>file</a:t>
            </a:r>
            <a:r>
              <a:rPr lang="en" sz="1500"/>
              <a:t> names or </a:t>
            </a:r>
            <a:r>
              <a:rPr b="1" lang="en" sz="1500"/>
              <a:t>directories</a:t>
            </a:r>
            <a:endParaRPr b="1" sz="1500"/>
          </a:p>
        </p:txBody>
      </p:sp>
      <p:sp>
        <p:nvSpPr>
          <p:cNvPr id="661" name="Google Shape;661;p87"/>
          <p:cNvSpPr txBox="1"/>
          <p:nvPr>
            <p:ph idx="4294967295" type="body"/>
          </p:nvPr>
        </p:nvSpPr>
        <p:spPr>
          <a:xfrm>
            <a:off x="3362750" y="1862100"/>
            <a:ext cx="2428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Searches for </a:t>
            </a:r>
            <a:r>
              <a:rPr b="1" lang="en" sz="1500"/>
              <a:t>data points</a:t>
            </a:r>
            <a:r>
              <a:rPr lang="en" sz="1500"/>
              <a:t> inside files </a:t>
            </a:r>
            <a:endParaRPr sz="1500"/>
          </a:p>
        </p:txBody>
      </p:sp>
      <p:sp>
        <p:nvSpPr>
          <p:cNvPr id="662" name="Google Shape;662;p87"/>
          <p:cNvSpPr txBox="1"/>
          <p:nvPr>
            <p:ph idx="4294967295" type="body"/>
          </p:nvPr>
        </p:nvSpPr>
        <p:spPr>
          <a:xfrm>
            <a:off x="6257750" y="1828800"/>
            <a:ext cx="2428500" cy="22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Counts </a:t>
            </a:r>
            <a:r>
              <a:rPr lang="en" sz="1600"/>
              <a:t>lines or words inside a file</a:t>
            </a:r>
            <a:endParaRPr sz="1400"/>
          </a:p>
        </p:txBody>
      </p:sp>
      <p:sp>
        <p:nvSpPr>
          <p:cNvPr id="663" name="Google Shape;663;p87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Terminal Review</a:t>
            </a:r>
            <a:endParaRPr i="1" sz="24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/>
          </a:p>
        </p:txBody>
      </p:sp>
      <p:sp>
        <p:nvSpPr>
          <p:cNvPr id="664" name="Google Shape;664;p87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Commands we’ve discussed for working with files: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665" name="Google Shape;665;p87"/>
          <p:cNvPicPr preferRelativeResize="0"/>
          <p:nvPr/>
        </p:nvPicPr>
        <p:blipFill rotWithShape="1">
          <a:blip r:embed="rId3">
            <a:alphaModFix/>
          </a:blip>
          <a:srcRect b="0" l="13305" r="13305" t="0"/>
          <a:stretch/>
        </p:blipFill>
        <p:spPr>
          <a:xfrm>
            <a:off x="1714938" y="3114125"/>
            <a:ext cx="1142128" cy="1071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87"/>
          <p:cNvPicPr preferRelativeResize="0"/>
          <p:nvPr/>
        </p:nvPicPr>
        <p:blipFill rotWithShape="1">
          <a:blip r:embed="rId4">
            <a:alphaModFix/>
          </a:blip>
          <a:srcRect b="0" l="13305" r="13305" t="0"/>
          <a:stretch/>
        </p:blipFill>
        <p:spPr>
          <a:xfrm>
            <a:off x="4697811" y="3115387"/>
            <a:ext cx="1031533" cy="96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87"/>
          <p:cNvPicPr preferRelativeResize="0"/>
          <p:nvPr/>
        </p:nvPicPr>
        <p:blipFill rotWithShape="1">
          <a:blip r:embed="rId5">
            <a:alphaModFix/>
          </a:blip>
          <a:srcRect b="0" l="13304" r="13311" t="0"/>
          <a:stretch/>
        </p:blipFill>
        <p:spPr>
          <a:xfrm>
            <a:off x="7490748" y="3204282"/>
            <a:ext cx="1142128" cy="10717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88"/>
          <p:cNvSpPr txBox="1"/>
          <p:nvPr>
            <p:ph idx="1" type="body"/>
          </p:nvPr>
        </p:nvSpPr>
        <p:spPr>
          <a:xfrm>
            <a:off x="3657600" y="1217825"/>
            <a:ext cx="5038800" cy="30603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professionals are often tasked with </a:t>
            </a:r>
            <a:r>
              <a:rPr b="1" lang="en"/>
              <a:t>combining</a:t>
            </a:r>
            <a:r>
              <a:rPr lang="en"/>
              <a:t> </a:t>
            </a:r>
            <a:r>
              <a:rPr b="1" lang="en"/>
              <a:t>commands </a:t>
            </a:r>
            <a:r>
              <a:rPr lang="en"/>
              <a:t>to complete certain tasks.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7" name="Google Shape;677;p89"/>
          <p:cNvCxnSpPr/>
          <p:nvPr/>
        </p:nvCxnSpPr>
        <p:spPr>
          <a:xfrm>
            <a:off x="-3" y="1524013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678" name="Google Shape;678;p89"/>
          <p:cNvSpPr/>
          <p:nvPr/>
        </p:nvSpPr>
        <p:spPr>
          <a:xfrm>
            <a:off x="596125" y="1323927"/>
            <a:ext cx="8090700" cy="4023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89"/>
          <p:cNvSpPr/>
          <p:nvPr/>
        </p:nvSpPr>
        <p:spPr>
          <a:xfrm>
            <a:off x="513600" y="1362463"/>
            <a:ext cx="323100" cy="323100"/>
          </a:xfrm>
          <a:prstGeom prst="ellipse">
            <a:avLst/>
          </a:pr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89"/>
          <p:cNvSpPr/>
          <p:nvPr/>
        </p:nvSpPr>
        <p:spPr>
          <a:xfrm>
            <a:off x="593400" y="1442263"/>
            <a:ext cx="163500" cy="163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81" name="Google Shape;681;p89"/>
          <p:cNvGrpSpPr/>
          <p:nvPr/>
        </p:nvGrpSpPr>
        <p:grpSpPr>
          <a:xfrm>
            <a:off x="-3" y="2009642"/>
            <a:ext cx="8686828" cy="400200"/>
            <a:chOff x="-3" y="1885788"/>
            <a:chExt cx="8686828" cy="400200"/>
          </a:xfrm>
        </p:grpSpPr>
        <p:cxnSp>
          <p:nvCxnSpPr>
            <p:cNvPr id="682" name="Google Shape;682;p89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83" name="Google Shape;683;p89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84" name="Google Shape;684;p89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89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89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87" name="Google Shape;687;p89"/>
          <p:cNvGrpSpPr/>
          <p:nvPr/>
        </p:nvGrpSpPr>
        <p:grpSpPr>
          <a:xfrm>
            <a:off x="-3" y="2695384"/>
            <a:ext cx="8686828" cy="400200"/>
            <a:chOff x="-3" y="2566213"/>
            <a:chExt cx="8686828" cy="400200"/>
          </a:xfrm>
        </p:grpSpPr>
        <p:cxnSp>
          <p:nvCxnSpPr>
            <p:cNvPr id="688" name="Google Shape;688;p89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89" name="Google Shape;689;p89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89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89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92" name="Google Shape;692;p89"/>
          <p:cNvGrpSpPr/>
          <p:nvPr/>
        </p:nvGrpSpPr>
        <p:grpSpPr>
          <a:xfrm>
            <a:off x="-3" y="3381126"/>
            <a:ext cx="8684268" cy="402300"/>
            <a:chOff x="-3" y="3236976"/>
            <a:chExt cx="8684268" cy="402300"/>
          </a:xfrm>
        </p:grpSpPr>
        <p:cxnSp>
          <p:nvCxnSpPr>
            <p:cNvPr id="693" name="Google Shape;693;p89"/>
            <p:cNvCxnSpPr/>
            <p:nvPr/>
          </p:nvCxnSpPr>
          <p:spPr>
            <a:xfrm>
              <a:off x="-3" y="3438126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94" name="Google Shape;694;p89"/>
            <p:cNvSpPr/>
            <p:nvPr/>
          </p:nvSpPr>
          <p:spPr>
            <a:xfrm>
              <a:off x="593565" y="3236976"/>
              <a:ext cx="8090700" cy="4023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89"/>
            <p:cNvSpPr/>
            <p:nvPr/>
          </p:nvSpPr>
          <p:spPr>
            <a:xfrm>
              <a:off x="511040" y="3275676"/>
              <a:ext cx="323100" cy="3249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89"/>
            <p:cNvSpPr/>
            <p:nvPr/>
          </p:nvSpPr>
          <p:spPr>
            <a:xfrm>
              <a:off x="590840" y="3355926"/>
              <a:ext cx="163500" cy="1644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97" name="Google Shape;697;p89"/>
          <p:cNvSpPr txBox="1"/>
          <p:nvPr>
            <p:ph idx="4294967295" type="body"/>
          </p:nvPr>
        </p:nvSpPr>
        <p:spPr>
          <a:xfrm>
            <a:off x="914400" y="1246825"/>
            <a:ext cx="77724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Redirects the output of commands to another to complete additional tasks</a:t>
            </a:r>
            <a:endParaRPr/>
          </a:p>
        </p:txBody>
      </p:sp>
      <p:sp>
        <p:nvSpPr>
          <p:cNvPr id="698" name="Google Shape;698;p89"/>
          <p:cNvSpPr txBox="1"/>
          <p:nvPr>
            <p:ph idx="4294967295" type="body"/>
          </p:nvPr>
        </p:nvSpPr>
        <p:spPr>
          <a:xfrm>
            <a:off x="914400" y="20266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Designated by the symbol: </a:t>
            </a:r>
            <a:r>
              <a:rPr b="1" lang="en" sz="2100">
                <a:latin typeface="Inconsolata"/>
                <a:ea typeface="Inconsolata"/>
                <a:cs typeface="Inconsolata"/>
                <a:sym typeface="Inconsolata"/>
              </a:rPr>
              <a:t>|</a:t>
            </a:r>
            <a:endParaRPr b="1" sz="2100">
              <a:latin typeface="Inconsolata"/>
              <a:ea typeface="Inconsolata"/>
              <a:cs typeface="Inconsolata"/>
              <a:sym typeface="Inconsolata"/>
            </a:endParaRPr>
          </a:p>
        </p:txBody>
      </p:sp>
      <p:sp>
        <p:nvSpPr>
          <p:cNvPr id="699" name="Google Shape;699;p89"/>
          <p:cNvSpPr txBox="1"/>
          <p:nvPr>
            <p:ph idx="4294967295" type="body"/>
          </p:nvPr>
        </p:nvSpPr>
        <p:spPr>
          <a:xfrm>
            <a:off x="914400" y="27122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Multiple can be used in a single command</a:t>
            </a:r>
            <a:endParaRPr/>
          </a:p>
        </p:txBody>
      </p:sp>
      <p:sp>
        <p:nvSpPr>
          <p:cNvPr id="700" name="Google Shape;700;p89"/>
          <p:cNvSpPr txBox="1"/>
          <p:nvPr>
            <p:ph idx="4294967295" type="body"/>
          </p:nvPr>
        </p:nvSpPr>
        <p:spPr>
          <a:xfrm>
            <a:off x="914400" y="33977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Process data flows from left to right</a:t>
            </a:r>
            <a:endParaRPr/>
          </a:p>
        </p:txBody>
      </p:sp>
      <p:sp>
        <p:nvSpPr>
          <p:cNvPr id="701" name="Google Shape;701;p89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Pipes</a:t>
            </a:r>
            <a:endParaRPr/>
          </a:p>
        </p:txBody>
      </p:sp>
      <p:sp>
        <p:nvSpPr>
          <p:cNvPr id="702" name="Google Shape;702;p89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Use pipes to combine commands in a single line.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90"/>
          <p:cNvSpPr txBox="1"/>
          <p:nvPr/>
        </p:nvSpPr>
        <p:spPr>
          <a:xfrm>
            <a:off x="4288725" y="2307300"/>
            <a:ext cx="4453500" cy="23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</a:t>
            </a:r>
            <a:r>
              <a:rPr b="1" lang="en" sz="19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tdin</a:t>
            </a:r>
            <a:r>
              <a:rPr b="1" lang="en"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and </a:t>
            </a:r>
            <a:r>
              <a:rPr b="1" lang="en" sz="1900">
                <a:solidFill>
                  <a:schemeClr val="dk2"/>
                </a:solidFill>
                <a:latin typeface="Inconsolata"/>
                <a:ea typeface="Inconsolata"/>
                <a:cs typeface="Inconsolata"/>
                <a:sym typeface="Inconsolata"/>
              </a:rPr>
              <a:t>stdout</a:t>
            </a:r>
            <a:r>
              <a:rPr lang="en"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are our most common </a:t>
            </a:r>
            <a:r>
              <a:rPr b="1" lang="en"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data streams</a:t>
            </a:r>
            <a:r>
              <a:rPr lang="en" sz="1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to handle data.</a:t>
            </a:r>
            <a:endParaRPr sz="1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91"/>
          <p:cNvSpPr txBox="1"/>
          <p:nvPr>
            <p:ph type="title"/>
          </p:nvPr>
        </p:nvSpPr>
        <p:spPr>
          <a:xfrm>
            <a:off x="914400" y="137775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 Commands with Piping</a:t>
            </a:r>
            <a:endParaRPr/>
          </a:p>
        </p:txBody>
      </p:sp>
      <p:sp>
        <p:nvSpPr>
          <p:cNvPr id="713" name="Google Shape;713;p91"/>
          <p:cNvSpPr txBox="1"/>
          <p:nvPr>
            <p:ph idx="1" type="subTitle"/>
          </p:nvPr>
        </p:nvSpPr>
        <p:spPr>
          <a:xfrm>
            <a:off x="91725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Pipes are used with data streams</a:t>
            </a:r>
            <a:endParaRPr/>
          </a:p>
        </p:txBody>
      </p:sp>
      <p:pic>
        <p:nvPicPr>
          <p:cNvPr id="714" name="Google Shape;714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038" y="197838"/>
            <a:ext cx="458325" cy="518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91"/>
          <p:cNvPicPr preferRelativeResize="0"/>
          <p:nvPr/>
        </p:nvPicPr>
        <p:blipFill rotWithShape="1">
          <a:blip r:embed="rId4">
            <a:alphaModFix/>
          </a:blip>
          <a:srcRect b="9935" l="0" r="0" t="9943"/>
          <a:stretch/>
        </p:blipFill>
        <p:spPr>
          <a:xfrm>
            <a:off x="1371600" y="956425"/>
            <a:ext cx="6547075" cy="3612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92"/>
          <p:cNvSpPr txBox="1"/>
          <p:nvPr>
            <p:ph idx="1" type="body"/>
          </p:nvPr>
        </p:nvSpPr>
        <p:spPr>
          <a:xfrm>
            <a:off x="5006700" y="1061875"/>
            <a:ext cx="3805500" cy="3111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Your manager has tasked you with continuing the investigation against Sally Stealer. They believe she may have transferred other large amounts of money.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Your manager created a single file called </a:t>
            </a:r>
            <a:r>
              <a:rPr b="1" lang="en" sz="1400"/>
              <a:t>largetransfers.txt</a:t>
            </a:r>
            <a:r>
              <a:rPr lang="en" sz="1400"/>
              <a:t> that contains all transfers over one million dollars.</a:t>
            </a:r>
            <a:endParaRPr sz="1400"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 sz="1400"/>
              <a:t>Your manager asks you to count how many of those transfers belong to Sally Stealer.</a:t>
            </a:r>
            <a:endParaRPr sz="1400"/>
          </a:p>
        </p:txBody>
      </p:sp>
      <p:cxnSp>
        <p:nvCxnSpPr>
          <p:cNvPr id="721" name="Google Shape;721;p92"/>
          <p:cNvCxnSpPr/>
          <p:nvPr/>
        </p:nvCxnSpPr>
        <p:spPr>
          <a:xfrm>
            <a:off x="-9375" y="8537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722" name="Google Shape;722;p92"/>
          <p:cNvSpPr txBox="1"/>
          <p:nvPr/>
        </p:nvSpPr>
        <p:spPr>
          <a:xfrm>
            <a:off x="724200" y="203600"/>
            <a:ext cx="5685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Demonstration</a:t>
            </a:r>
            <a:r>
              <a:rPr lang="en" sz="2400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rPr>
              <a:t> Scenario</a:t>
            </a:r>
            <a:endParaRPr sz="2400">
              <a:solidFill>
                <a:schemeClr val="dk2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723" name="Google Shape;723;p92"/>
          <p:cNvSpPr/>
          <p:nvPr/>
        </p:nvSpPr>
        <p:spPr>
          <a:xfrm>
            <a:off x="136025" y="115175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92"/>
          <p:cNvSpPr txBox="1"/>
          <p:nvPr/>
        </p:nvSpPr>
        <p:spPr>
          <a:xfrm>
            <a:off x="724200" y="478650"/>
            <a:ext cx="6613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725" name="Google Shape;725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825" y="203600"/>
            <a:ext cx="399097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92"/>
          <p:cNvPicPr preferRelativeResize="0"/>
          <p:nvPr/>
        </p:nvPicPr>
        <p:blipFill rotWithShape="1">
          <a:blip r:embed="rId4">
            <a:alphaModFix/>
          </a:blip>
          <a:srcRect b="11443" l="14389" r="12570" t="9090"/>
          <a:stretch/>
        </p:blipFill>
        <p:spPr>
          <a:xfrm>
            <a:off x="344061" y="1267275"/>
            <a:ext cx="4152940" cy="311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93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Instructor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Demonstration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2" name="Google Shape;732;p93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Inconsolata SemiBold"/>
                <a:ea typeface="Inconsolata SemiBold"/>
                <a:cs typeface="Inconsolata SemiBold"/>
                <a:sym typeface="Inconsolata SemiBold"/>
              </a:rPr>
              <a:t>Pipes</a:t>
            </a:r>
            <a:endParaRPr>
              <a:latin typeface="Inconsolata SemiBold"/>
              <a:ea typeface="Inconsolata SemiBold"/>
              <a:cs typeface="Inconsolata SemiBold"/>
              <a:sym typeface="Inconsolata SemiBold"/>
            </a:endParaRPr>
          </a:p>
        </p:txBody>
      </p:sp>
      <p:pic>
        <p:nvPicPr>
          <p:cNvPr id="733" name="Google Shape;73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6100" y="1343674"/>
            <a:ext cx="1468288" cy="94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94"/>
          <p:cNvSpPr txBox="1"/>
          <p:nvPr>
            <p:ph type="title"/>
          </p:nvPr>
        </p:nvSpPr>
        <p:spPr>
          <a:xfrm>
            <a:off x="308250" y="119075"/>
            <a:ext cx="88323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Demo Summary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94"/>
          <p:cNvSpPr txBox="1"/>
          <p:nvPr>
            <p:ph idx="4294967295" type="subTitle"/>
          </p:nvPr>
        </p:nvSpPr>
        <p:spPr>
          <a:xfrm>
            <a:off x="308250" y="493775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Pipes r</a:t>
            </a:r>
            <a:r>
              <a:rPr lang="en"/>
              <a:t>edirect the output of a command to another</a:t>
            </a:r>
            <a:endParaRPr/>
          </a:p>
        </p:txBody>
      </p:sp>
      <p:sp>
        <p:nvSpPr>
          <p:cNvPr id="740" name="Google Shape;740;p94"/>
          <p:cNvSpPr/>
          <p:nvPr/>
        </p:nvSpPr>
        <p:spPr>
          <a:xfrm>
            <a:off x="1138225" y="1377113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94"/>
          <p:cNvSpPr/>
          <p:nvPr/>
        </p:nvSpPr>
        <p:spPr>
          <a:xfrm>
            <a:off x="1138225" y="2752500"/>
            <a:ext cx="7399500" cy="6378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94"/>
          <p:cNvSpPr/>
          <p:nvPr/>
        </p:nvSpPr>
        <p:spPr>
          <a:xfrm>
            <a:off x="1138225" y="2052213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3" name="Google Shape;743;p94"/>
          <p:cNvGrpSpPr/>
          <p:nvPr/>
        </p:nvGrpSpPr>
        <p:grpSpPr>
          <a:xfrm>
            <a:off x="308250" y="1377116"/>
            <a:ext cx="776900" cy="459019"/>
            <a:chOff x="457200" y="1466425"/>
            <a:chExt cx="776900" cy="486300"/>
          </a:xfrm>
        </p:grpSpPr>
        <p:sp>
          <p:nvSpPr>
            <p:cNvPr id="744" name="Google Shape;744;p9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5" name="Google Shape;745;p9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746" name="Google Shape;746;p94"/>
          <p:cNvGrpSpPr/>
          <p:nvPr/>
        </p:nvGrpSpPr>
        <p:grpSpPr>
          <a:xfrm>
            <a:off x="308250" y="2031993"/>
            <a:ext cx="776900" cy="486300"/>
            <a:chOff x="457200" y="1466425"/>
            <a:chExt cx="776900" cy="486300"/>
          </a:xfrm>
        </p:grpSpPr>
        <p:sp>
          <p:nvSpPr>
            <p:cNvPr id="747" name="Google Shape;747;p9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8" name="Google Shape;748;p9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749" name="Google Shape;749;p94"/>
          <p:cNvGrpSpPr/>
          <p:nvPr/>
        </p:nvGrpSpPr>
        <p:grpSpPr>
          <a:xfrm>
            <a:off x="308250" y="2825048"/>
            <a:ext cx="776900" cy="437378"/>
            <a:chOff x="457200" y="1466425"/>
            <a:chExt cx="776900" cy="486300"/>
          </a:xfrm>
        </p:grpSpPr>
        <p:sp>
          <p:nvSpPr>
            <p:cNvPr id="750" name="Google Shape;750;p94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51" name="Google Shape;751;p94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752" name="Google Shape;752;p94"/>
          <p:cNvSpPr txBox="1"/>
          <p:nvPr/>
        </p:nvSpPr>
        <p:spPr>
          <a:xfrm>
            <a:off x="1138300" y="1398488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A pipe is designated with the </a:t>
            </a:r>
            <a:r>
              <a:rPr b="1"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| 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symbol.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3" name="Google Shape;753;p94"/>
          <p:cNvSpPr txBox="1"/>
          <p:nvPr/>
        </p:nvSpPr>
        <p:spPr>
          <a:xfrm>
            <a:off x="1138300" y="2073663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Multiple pipes can be used in a single command.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4" name="Google Shape;754;p94"/>
          <p:cNvSpPr txBox="1"/>
          <p:nvPr/>
        </p:nvSpPr>
        <p:spPr>
          <a:xfrm>
            <a:off x="1138300" y="2757504"/>
            <a:ext cx="648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Pipes are unidirectional, meaning the processing of the data flows from left to right through the pipeline.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95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</a:t>
            </a:r>
            <a:r>
              <a:rPr lang="en"/>
              <a:t> Minutes</a:t>
            </a:r>
            <a:endParaRPr/>
          </a:p>
        </p:txBody>
      </p:sp>
      <p:sp>
        <p:nvSpPr>
          <p:cNvPr id="760" name="Google Shape;760;p95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Gather Evidence</a:t>
            </a:r>
            <a:endParaRPr/>
          </a:p>
        </p:txBody>
      </p:sp>
      <p:sp>
        <p:nvSpPr>
          <p:cNvPr id="761" name="Google Shape;761;p95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Continue in your role as a security analyst at Candy Corp.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Candy Corp believes it has enough evidence to send to the authorities to charge Sugar Corp with a cyber crime.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task is to gather several points of evidence from your file systems that can be provided to the authorities to prove that Sugar Corp is stealing data.</a:t>
            </a:r>
            <a:endParaRPr/>
          </a:p>
        </p:txBody>
      </p:sp>
      <p:pic>
        <p:nvPicPr>
          <p:cNvPr id="762" name="Google Shape;76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98"/>
          <p:cNvSpPr txBox="1"/>
          <p:nvPr>
            <p:ph idx="1" type="subTitle"/>
          </p:nvPr>
        </p:nvSpPr>
        <p:spPr>
          <a:xfrm>
            <a:off x="41700" y="3746925"/>
            <a:ext cx="9102300" cy="9006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We will learn about permissions</a:t>
            </a:r>
            <a:r>
              <a:rPr lang="en" sz="1800"/>
              <a:t>, file ownership, and access controls.</a:t>
            </a:r>
            <a:endParaRPr baseline="-25000" sz="18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