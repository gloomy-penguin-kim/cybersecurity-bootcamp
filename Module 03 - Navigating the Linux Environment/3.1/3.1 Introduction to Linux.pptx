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</p:sldIdLst>
  <p:sldSz cy="5143500" cx="9144000"/>
  <p:notesSz cx="6858000" cy="9144000"/>
  <p:embeddedFontLst>
    <p:embeddedFont>
      <p:font typeface="Roboto"/>
      <p:regular r:id="rId77"/>
      <p:bold r:id="rId78"/>
      <p:italic r:id="rId79"/>
      <p:boldItalic r:id="rId80"/>
    </p:embeddedFont>
    <p:embeddedFont>
      <p:font typeface="Roboto Medium"/>
      <p:regular r:id="rId81"/>
      <p:bold r:id="rId82"/>
      <p:italic r:id="rId83"/>
      <p:boldItalic r:id="rId84"/>
    </p:embeddedFont>
    <p:embeddedFont>
      <p:font typeface="Inconsolata"/>
      <p:regular r:id="rId85"/>
      <p:bold r:id="rId86"/>
    </p:embeddedFont>
    <p:embeddedFont>
      <p:font typeface="Inconsolata SemiBold"/>
      <p:regular r:id="rId87"/>
      <p:bold r:id="rId88"/>
    </p:embeddedFont>
    <p:embeddedFont>
      <p:font typeface="Roboto Light"/>
      <p:regular r:id="rId89"/>
      <p:bold r:id="rId90"/>
      <p:italic r:id="rId91"/>
      <p:boldItalic r:id="rId92"/>
    </p:embeddedFont>
    <p:embeddedFont>
      <p:font typeface="Inconsolata Medium"/>
      <p:regular r:id="rId93"/>
      <p:bold r:id="rId9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F512AA-73CF-4F4C-81B4-9781E988C86A}">
  <a:tblStyle styleId="{81F512AA-73CF-4F4C-81B4-9781E988C8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RobotoMedium-boldItalic.fntdata"/><Relationship Id="rId83" Type="http://schemas.openxmlformats.org/officeDocument/2006/relationships/font" Target="fonts/RobotoMedium-italic.fntdata"/><Relationship Id="rId42" Type="http://schemas.openxmlformats.org/officeDocument/2006/relationships/slide" Target="slides/slide37.xml"/><Relationship Id="rId86" Type="http://schemas.openxmlformats.org/officeDocument/2006/relationships/font" Target="fonts/Inconsolata-bold.fntdata"/><Relationship Id="rId41" Type="http://schemas.openxmlformats.org/officeDocument/2006/relationships/slide" Target="slides/slide36.xml"/><Relationship Id="rId85" Type="http://schemas.openxmlformats.org/officeDocument/2006/relationships/font" Target="fonts/Inconsolata-regular.fntdata"/><Relationship Id="rId44" Type="http://schemas.openxmlformats.org/officeDocument/2006/relationships/slide" Target="slides/slide39.xml"/><Relationship Id="rId88" Type="http://schemas.openxmlformats.org/officeDocument/2006/relationships/font" Target="fonts/InconsolataSemiBold-bold.fntdata"/><Relationship Id="rId43" Type="http://schemas.openxmlformats.org/officeDocument/2006/relationships/slide" Target="slides/slide38.xml"/><Relationship Id="rId87" Type="http://schemas.openxmlformats.org/officeDocument/2006/relationships/font" Target="fonts/InconsolataSemiBold-regular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RobotoLight-regular.fntdata"/><Relationship Id="rId80" Type="http://schemas.openxmlformats.org/officeDocument/2006/relationships/font" Target="fonts/Roboto-boldItalic.fntdata"/><Relationship Id="rId82" Type="http://schemas.openxmlformats.org/officeDocument/2006/relationships/font" Target="fonts/RobotoMedium-bold.fntdata"/><Relationship Id="rId81" Type="http://schemas.openxmlformats.org/officeDocument/2006/relationships/font" Target="fonts/RobotoMedium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font" Target="fonts/Roboto-regular.fntdata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font" Target="fonts/Roboto-italic.fntdata"/><Relationship Id="rId34" Type="http://schemas.openxmlformats.org/officeDocument/2006/relationships/slide" Target="slides/slide29.xml"/><Relationship Id="rId78" Type="http://schemas.openxmlformats.org/officeDocument/2006/relationships/font" Target="fonts/Roboto-bold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94" Type="http://schemas.openxmlformats.org/officeDocument/2006/relationships/font" Target="fonts/InconsolataMedium-bold.fntdata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RobotoLight-italic.fntdata"/><Relationship Id="rId90" Type="http://schemas.openxmlformats.org/officeDocument/2006/relationships/font" Target="fonts/RobotoLight-bold.fntdata"/><Relationship Id="rId93" Type="http://schemas.openxmlformats.org/officeDocument/2006/relationships/font" Target="fonts/InconsolataMedium-regular.fntdata"/><Relationship Id="rId92" Type="http://schemas.openxmlformats.org/officeDocument/2006/relationships/font" Target="fonts/RobotoLight-boldItalic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8f964f5c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8f964f5c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8f964f5c8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28f964f5c8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8f964f5c8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8f964f5c8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ef9e5fc22e_0_1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2ef9e5fc22e_0_1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https://www.shutterstock.com/image-photo/technicians-examining-equipment-network-server-room-2216456543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ef9e5fc22e_0_2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ef9e5fc22e_0_2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shutterstock_534253945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8f964f5c8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8f964f5c8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8f964f5c8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28f964f5c8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8f964f5c8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8f964f5c8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ef9e5fc22e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2ef9e5fc22e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ef9e5fc22e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2ef9e5fc22e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8f964f5c8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28f964f5c8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8f964f5c8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g28f964f5c8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ed8697079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g2ed8697079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8f964f5c8b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8f964f5c8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ef9e5fc22e_0_3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ef9e5fc22e_0_3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Shutterstock_792833623 </a:t>
            </a:r>
            <a:r>
              <a:rPr lang="en"/>
              <a:t>shutterstock_693068344 shutterstock_693068344.png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8f964f5c8b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28f964f5c8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8f964f5c8b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28f964f5c8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8f964f5c8b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28f964f5c8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ef9e5fc22e_0_6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2ef9e5fc22e_0_6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8f964f5c8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28f964f5c8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shutterstock_185734466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ef9e5fc22e_0_4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ef9e5fc22e_0_4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shutterstock_1202854222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8f964f5c8b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8f964f5c8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8f964f5c8b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8f964f5c8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8f964f5c8b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8f964f5c8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8f964f5c8b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28f964f5c8b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8f964f5c8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g28f964f5c8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8f964f5c8b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28f964f5c8b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8f964f5c8b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8f964f5c8b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8f964f5c8b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28f964f5c8b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28f964f5c8b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28f964f5c8b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8f964f5c8b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28f964f5c8b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8f964f5c8b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28f964f5c8b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8f964f5c8b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8f964f5c8b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ef9e5fc22e_0_7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ef9e5fc22e_0_7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28f964f5c8b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28f964f5c8b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8f964f5c8b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g28f964f5c8b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28f964f5c8b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g28f964f5c8b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ef9e5fc22e_0_7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g2ef9e5fc22e_0_7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ef9e5fc22e_0_7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g2ef9e5fc22e_0_7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8f964f5c8b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g28f964f5c8b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ef9e5fc22e_0_7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ef9e5fc22e_0_7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8f964f5c8b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8f964f5c8b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8f964f5c8b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8f964f5c8b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ef9e5fc22e_0_7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ef9e5fc22e_0_7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ef9e5fc22e_0_7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ef9e5fc22e_0_7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8f964f5c8b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28f964f5c8b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28f964f5c8b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28f964f5c8b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8f964f5c8b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8f964f5c8b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8f964f5c8b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8f964f5c8b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8f964f5c8b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8f964f5c8b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8f964f5c8b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8f964f5c8b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8f964f5c8b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28f964f5c8b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8f964f5c8b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8f964f5c8b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8f964f5c8b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g28f964f5c8b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ef9e5fc22e_0_7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ef9e5fc22e_0_7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ef9e5fc22e_0_8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ef9e5fc22e_0_8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2ef9e5fc22e_0_8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2ef9e5fc22e_0_8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8f964f5c8b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8f964f5c8b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ef9e5fc22e_0_9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ef9e5fc22e_0_9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28f964f5c8b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8f964f5c8b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2ef9e5fc22e_0_10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2ef9e5fc22e_0_10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ef9e5fc22e_0_10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6" name="Google Shape;986;g2ef9e5fc22e_0_10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ef9e5fc22e_0_10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" name="Google Shape;1013;g2ef9e5fc22e_0_10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28f964f5c8b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28f964f5c8b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8f964f5c8b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28f964f5c8b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8f964f5c8b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8f964f5c8b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8f964f5c8b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8f964f5c8b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28f964f5c8b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28f964f5c8b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f964f5c8b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f964f5c8b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2ef9e5fc22e_0_10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0" name="Google Shape;1080;g2ef9e5fc22e_0_10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8f964f5c8b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28f964f5c8b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1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1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14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36.png"/><Relationship Id="rId7" Type="http://schemas.openxmlformats.org/officeDocument/2006/relationships/image" Target="../media/image3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1">
  <p:cSld name="CUSTOM_28_1"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/>
          <p:nvPr/>
        </p:nvSpPr>
        <p:spPr>
          <a:xfrm>
            <a:off x="11088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33" name="Google Shape;333;p48"/>
          <p:cNvSpPr txBox="1"/>
          <p:nvPr>
            <p:ph type="title"/>
          </p:nvPr>
        </p:nvSpPr>
        <p:spPr>
          <a:xfrm>
            <a:off x="11794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4" name="Google Shape;334;p48"/>
          <p:cNvSpPr txBox="1"/>
          <p:nvPr>
            <p:ph idx="2" type="title"/>
          </p:nvPr>
        </p:nvSpPr>
        <p:spPr>
          <a:xfrm>
            <a:off x="896225" y="1871375"/>
            <a:ext cx="34089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5" name="Google Shape;335;p48"/>
          <p:cNvSpPr txBox="1"/>
          <p:nvPr>
            <p:ph idx="3" type="title"/>
          </p:nvPr>
        </p:nvSpPr>
        <p:spPr>
          <a:xfrm>
            <a:off x="5323925" y="1871375"/>
            <a:ext cx="36075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6" name="Google Shape;336;p48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7" name="Google Shape;337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p48"/>
          <p:cNvGrpSpPr/>
          <p:nvPr/>
        </p:nvGrpSpPr>
        <p:grpSpPr>
          <a:xfrm>
            <a:off x="457147" y="1190428"/>
            <a:ext cx="533372" cy="533480"/>
            <a:chOff x="457200" y="1378813"/>
            <a:chExt cx="695400" cy="695450"/>
          </a:xfrm>
        </p:grpSpPr>
        <p:sp>
          <p:nvSpPr>
            <p:cNvPr id="339" name="Google Shape;339;p4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0" name="Google Shape;340;p48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1" name="Google Shape;341;p48"/>
          <p:cNvGrpSpPr/>
          <p:nvPr/>
        </p:nvGrpSpPr>
        <p:grpSpPr>
          <a:xfrm>
            <a:off x="4876797" y="1190428"/>
            <a:ext cx="533372" cy="533480"/>
            <a:chOff x="2605668" y="1378813"/>
            <a:chExt cx="695400" cy="695450"/>
          </a:xfrm>
        </p:grpSpPr>
        <p:sp>
          <p:nvSpPr>
            <p:cNvPr id="342" name="Google Shape;342;p48"/>
            <p:cNvSpPr/>
            <p:nvPr/>
          </p:nvSpPr>
          <p:spPr>
            <a:xfrm>
              <a:off x="2605668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3" name="Google Shape;343;p48"/>
            <p:cNvSpPr/>
            <p:nvPr/>
          </p:nvSpPr>
          <p:spPr>
            <a:xfrm rot="10800000">
              <a:off x="2783210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4" name="Google Shape;344;p48"/>
          <p:cNvSpPr/>
          <p:nvPr/>
        </p:nvSpPr>
        <p:spPr>
          <a:xfrm>
            <a:off x="55289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45" name="Google Shape;345;p48"/>
          <p:cNvSpPr txBox="1"/>
          <p:nvPr>
            <p:ph idx="5" type="title"/>
          </p:nvPr>
        </p:nvSpPr>
        <p:spPr>
          <a:xfrm>
            <a:off x="55995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6" name="Google Shape;346;p48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9" name="Google Shape;349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50" name="Google Shape;35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st to Five Slide">
  <p:cSld name="CUSTOM_23_1">
    <p:bg>
      <p:bgPr>
        <a:solidFill>
          <a:srgbClr val="F2F2F2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0"/>
          <p:cNvSpPr/>
          <p:nvPr/>
        </p:nvSpPr>
        <p:spPr>
          <a:xfrm>
            <a:off x="136025" y="12740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0"/>
          <p:cNvSpPr txBox="1"/>
          <p:nvPr/>
        </p:nvSpPr>
        <p:spPr>
          <a:xfrm>
            <a:off x="0" y="26955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Fist to Five </a:t>
            </a:r>
            <a:endParaRPr b="1"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4" name="Google Shape;354;p50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55" name="Google Shape;355;p50"/>
          <p:cNvSpPr txBox="1"/>
          <p:nvPr>
            <p:ph idx="1" type="subTitle"/>
          </p:nvPr>
        </p:nvSpPr>
        <p:spPr>
          <a:xfrm>
            <a:off x="818575" y="1255850"/>
            <a:ext cx="7386900" cy="2310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356" name="Google Shape;356;p50"/>
          <p:cNvPicPr preferRelativeResize="0"/>
          <p:nvPr/>
        </p:nvPicPr>
        <p:blipFill rotWithShape="1">
          <a:blip r:embed="rId2">
            <a:alphaModFix/>
          </a:blip>
          <a:srcRect b="11668" l="0" r="0" t="0"/>
          <a:stretch/>
        </p:blipFill>
        <p:spPr>
          <a:xfrm>
            <a:off x="5855050" y="3612276"/>
            <a:ext cx="828675" cy="153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0"/>
          <p:cNvPicPr preferRelativeResize="0"/>
          <p:nvPr/>
        </p:nvPicPr>
        <p:blipFill rotWithShape="1">
          <a:blip r:embed="rId3">
            <a:alphaModFix/>
          </a:blip>
          <a:srcRect b="13517" l="0" r="0" t="0"/>
          <a:stretch/>
        </p:blipFill>
        <p:spPr>
          <a:xfrm>
            <a:off x="4646300" y="3636099"/>
            <a:ext cx="666750" cy="15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0"/>
          <p:cNvPicPr preferRelativeResize="0"/>
          <p:nvPr/>
        </p:nvPicPr>
        <p:blipFill rotWithShape="1">
          <a:blip r:embed="rId4">
            <a:alphaModFix/>
          </a:blip>
          <a:srcRect b="13770" l="0" r="0" t="0"/>
          <a:stretch/>
        </p:blipFill>
        <p:spPr>
          <a:xfrm>
            <a:off x="3294675" y="3698001"/>
            <a:ext cx="733425" cy="14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0"/>
          <p:cNvPicPr preferRelativeResize="0"/>
          <p:nvPr/>
        </p:nvPicPr>
        <p:blipFill rotWithShape="1">
          <a:blip r:embed="rId5">
            <a:alphaModFix/>
          </a:blip>
          <a:srcRect b="12495" l="0" r="0" t="0"/>
          <a:stretch/>
        </p:blipFill>
        <p:spPr>
          <a:xfrm>
            <a:off x="7103825" y="3659901"/>
            <a:ext cx="1114425" cy="14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0"/>
          <p:cNvPicPr preferRelativeResize="0"/>
          <p:nvPr/>
        </p:nvPicPr>
        <p:blipFill rotWithShape="1">
          <a:blip r:embed="rId6">
            <a:alphaModFix/>
          </a:blip>
          <a:srcRect b="19955" l="0" r="0" t="0"/>
          <a:stretch/>
        </p:blipFill>
        <p:spPr>
          <a:xfrm>
            <a:off x="731900" y="4198076"/>
            <a:ext cx="771525" cy="94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0"/>
          <p:cNvPicPr preferRelativeResize="0"/>
          <p:nvPr/>
        </p:nvPicPr>
        <p:blipFill rotWithShape="1">
          <a:blip r:embed="rId7">
            <a:alphaModFix/>
          </a:blip>
          <a:srcRect b="12495" l="0" r="0" t="0"/>
          <a:stretch/>
        </p:blipFill>
        <p:spPr>
          <a:xfrm>
            <a:off x="2059400" y="3659901"/>
            <a:ext cx="762000" cy="14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50"/>
          <p:cNvPicPr preferRelativeResize="0"/>
          <p:nvPr/>
        </p:nvPicPr>
        <p:blipFill rotWithShape="1">
          <a:blip r:embed="rId5">
            <a:alphaModFix/>
          </a:blip>
          <a:srcRect b="12495" l="0" r="0" t="0"/>
          <a:stretch/>
        </p:blipFill>
        <p:spPr>
          <a:xfrm rot="-3">
            <a:off x="270339" y="151751"/>
            <a:ext cx="384136" cy="5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1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5" name="Google Shape;365;p51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6" name="Google Shape;366;p5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7" name="Google Shape;367;p51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51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9" name="Google Shape;369;p51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72" name="Google Shape;372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73" name="Google Shape;373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75" name="Google Shape;375;p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77" name="Google Shape;377;p52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1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3techs.com/technologies/overview/operating_system/all" TargetMode="External"/><Relationship Id="rId4" Type="http://schemas.openxmlformats.org/officeDocument/2006/relationships/image" Target="../media/image7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3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Relationship Id="rId6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Relationship Id="rId4" Type="http://schemas.openxmlformats.org/officeDocument/2006/relationships/image" Target="../media/image52.jpg"/><Relationship Id="rId5" Type="http://schemas.openxmlformats.org/officeDocument/2006/relationships/image" Target="../media/image4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0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6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1.png"/><Relationship Id="rId4" Type="http://schemas.openxmlformats.org/officeDocument/2006/relationships/image" Target="../media/image66.png"/><Relationship Id="rId5" Type="http://schemas.openxmlformats.org/officeDocument/2006/relationships/image" Target="../media/image73.png"/><Relationship Id="rId6" Type="http://schemas.openxmlformats.org/officeDocument/2006/relationships/image" Target="../media/image7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4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6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4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</a:t>
            </a:r>
            <a:br>
              <a:rPr lang="en"/>
            </a:br>
            <a:r>
              <a:rPr lang="en"/>
              <a:t>to Linux</a:t>
            </a:r>
            <a:endParaRPr/>
          </a:p>
        </p:txBody>
      </p:sp>
      <p:sp>
        <p:nvSpPr>
          <p:cNvPr id="385" name="Google Shape;385;p54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386" name="Google Shape;386;p54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3.1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5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5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5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5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5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5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5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5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5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5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5"/>
          <p:cNvSpPr txBox="1"/>
          <p:nvPr>
            <p:ph idx="4294967295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Name three of the most important distributions of Linux.</a:t>
            </a:r>
            <a:endParaRPr/>
          </a:p>
        </p:txBody>
      </p:sp>
      <p:sp>
        <p:nvSpPr>
          <p:cNvPr id="402" name="Google Shape;402;p55"/>
          <p:cNvSpPr txBox="1"/>
          <p:nvPr>
            <p:ph idx="4294967295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Navigate the Linux file structure by using the command line.</a:t>
            </a:r>
            <a:endParaRPr/>
          </a:p>
        </p:txBody>
      </p:sp>
      <p:sp>
        <p:nvSpPr>
          <p:cNvPr id="403" name="Google Shape;403;p55"/>
          <p:cNvSpPr txBox="1"/>
          <p:nvPr>
            <p:ph idx="4294967295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Discuss the prominence and utility of the command line for IT and security.</a:t>
            </a:r>
            <a:endParaRPr/>
          </a:p>
        </p:txBody>
      </p:sp>
      <p:sp>
        <p:nvSpPr>
          <p:cNvPr id="404" name="Google Shape;404;p55"/>
          <p:cNvSpPr txBox="1"/>
          <p:nvPr>
            <p:ph idx="429496729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Use commands for basic file navigation and manipulation.</a:t>
            </a:r>
            <a:endParaRPr/>
          </a:p>
        </p:txBody>
      </p:sp>
      <p:sp>
        <p:nvSpPr>
          <p:cNvPr id="405" name="Google Shape;405;p55"/>
          <p:cNvSpPr txBox="1"/>
          <p:nvPr>
            <p:ph idx="4294967295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Navigate deeply nested folder structures using file paths.</a:t>
            </a:r>
            <a:endParaRPr/>
          </a:p>
        </p:txBody>
      </p:sp>
      <p:sp>
        <p:nvSpPr>
          <p:cNvPr id="406" name="Google Shape;406;p5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Class Objectives</a:t>
            </a:r>
            <a:endParaRPr/>
          </a:p>
        </p:txBody>
      </p:sp>
      <p:sp>
        <p:nvSpPr>
          <p:cNvPr id="407" name="Google Shape;407;p5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By the end of class, you will be able to:</a:t>
            </a:r>
            <a:endParaRPr/>
          </a:p>
        </p:txBody>
      </p:sp>
      <p:pic>
        <p:nvPicPr>
          <p:cNvPr id="408" name="Google Shape;40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6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Why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Linux</a:t>
            </a:r>
            <a:r>
              <a:rPr lang="en"/>
              <a:t>?</a:t>
            </a:r>
            <a:endParaRPr/>
          </a:p>
        </p:txBody>
      </p:sp>
      <p:pic>
        <p:nvPicPr>
          <p:cNvPr id="414" name="Google Shape;41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8100" y="1626875"/>
            <a:ext cx="1133475" cy="100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7"/>
          <p:cNvSpPr txBox="1"/>
          <p:nvPr>
            <p:ph type="title"/>
          </p:nvPr>
        </p:nvSpPr>
        <p:spPr>
          <a:xfrm>
            <a:off x="387900" y="290850"/>
            <a:ext cx="86304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Linux</a:t>
            </a:r>
            <a:endParaRPr/>
          </a:p>
        </p:txBody>
      </p:sp>
      <p:sp>
        <p:nvSpPr>
          <p:cNvPr id="420" name="Google Shape;420;p57"/>
          <p:cNvSpPr txBox="1"/>
          <p:nvPr>
            <p:ph idx="4294967295" type="subTitle"/>
          </p:nvPr>
        </p:nvSpPr>
        <p:spPr>
          <a:xfrm>
            <a:off x="128850" y="4916700"/>
            <a:ext cx="7971900" cy="226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hlinkClick r:id="rId3"/>
              </a:rPr>
              <a:t>w3techs.com</a:t>
            </a:r>
            <a:endParaRPr sz="1000"/>
          </a:p>
        </p:txBody>
      </p:sp>
      <p:sp>
        <p:nvSpPr>
          <p:cNvPr id="421" name="Google Shape;421;p57"/>
          <p:cNvSpPr txBox="1"/>
          <p:nvPr>
            <p:ph idx="1" type="body"/>
          </p:nvPr>
        </p:nvSpPr>
        <p:spPr>
          <a:xfrm>
            <a:off x="387900" y="863550"/>
            <a:ext cx="2711100" cy="79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Millions of websites run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version of Linux.</a:t>
            </a:r>
            <a:endParaRPr/>
          </a:p>
        </p:txBody>
      </p:sp>
      <p:pic>
        <p:nvPicPr>
          <p:cNvPr id="422" name="Google Shape;42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9663" y="632125"/>
            <a:ext cx="6127877" cy="4084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8"/>
          <p:cNvSpPr txBox="1"/>
          <p:nvPr>
            <p:ph type="title"/>
          </p:nvPr>
        </p:nvSpPr>
        <p:spPr>
          <a:xfrm>
            <a:off x="344500" y="170850"/>
            <a:ext cx="88323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Linux</a:t>
            </a:r>
            <a:endParaRPr/>
          </a:p>
        </p:txBody>
      </p:sp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311700" y="711150"/>
            <a:ext cx="7460700" cy="572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ubiquity of Linux machines on modern networks makes it a common target for attackers. </a:t>
            </a:r>
            <a:endParaRPr/>
          </a:p>
        </p:txBody>
      </p:sp>
      <p:pic>
        <p:nvPicPr>
          <p:cNvPr id="429" name="Google Shape;42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7500" y="1581000"/>
            <a:ext cx="6809002" cy="321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9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Familiarity with the </a:t>
            </a:r>
            <a:r>
              <a:rPr b="1" lang="en"/>
              <a:t>operating system</a:t>
            </a:r>
            <a:r>
              <a:rPr lang="en"/>
              <a:t> is crucial for cybersecurity professionals.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9" name="Google Shape;439;p60"/>
          <p:cNvGrpSpPr/>
          <p:nvPr/>
        </p:nvGrpSpPr>
        <p:grpSpPr>
          <a:xfrm>
            <a:off x="-3" y="1171513"/>
            <a:ext cx="8686828" cy="400200"/>
            <a:chOff x="-3" y="1185750"/>
            <a:chExt cx="8686828" cy="400200"/>
          </a:xfrm>
        </p:grpSpPr>
        <p:cxnSp>
          <p:nvCxnSpPr>
            <p:cNvPr id="440" name="Google Shape;440;p60"/>
            <p:cNvCxnSpPr/>
            <p:nvPr/>
          </p:nvCxnSpPr>
          <p:spPr>
            <a:xfrm>
              <a:off x="-3" y="1385850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41" name="Google Shape;441;p60"/>
            <p:cNvSpPr/>
            <p:nvPr/>
          </p:nvSpPr>
          <p:spPr>
            <a:xfrm>
              <a:off x="596125" y="1185750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60"/>
            <p:cNvSpPr/>
            <p:nvPr/>
          </p:nvSpPr>
          <p:spPr>
            <a:xfrm>
              <a:off x="513600" y="1224300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60"/>
            <p:cNvSpPr/>
            <p:nvPr/>
          </p:nvSpPr>
          <p:spPr>
            <a:xfrm>
              <a:off x="593400" y="1304100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4" name="Google Shape;444;p60"/>
          <p:cNvGrpSpPr/>
          <p:nvPr/>
        </p:nvGrpSpPr>
        <p:grpSpPr>
          <a:xfrm>
            <a:off x="-3" y="1857242"/>
            <a:ext cx="8686828" cy="400200"/>
            <a:chOff x="-3" y="1885788"/>
            <a:chExt cx="8686828" cy="400200"/>
          </a:xfrm>
        </p:grpSpPr>
        <p:cxnSp>
          <p:nvCxnSpPr>
            <p:cNvPr id="445" name="Google Shape;445;p60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446" name="Google Shape;446;p60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47" name="Google Shape;447;p60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60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60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50" name="Google Shape;450;p60"/>
          <p:cNvGrpSpPr/>
          <p:nvPr/>
        </p:nvGrpSpPr>
        <p:grpSpPr>
          <a:xfrm>
            <a:off x="-3" y="2542984"/>
            <a:ext cx="8686828" cy="400200"/>
            <a:chOff x="-3" y="2566213"/>
            <a:chExt cx="8686828" cy="400200"/>
          </a:xfrm>
        </p:grpSpPr>
        <p:cxnSp>
          <p:nvCxnSpPr>
            <p:cNvPr id="451" name="Google Shape;451;p60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52" name="Google Shape;452;p60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60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60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55" name="Google Shape;455;p60"/>
          <p:cNvGrpSpPr/>
          <p:nvPr/>
        </p:nvGrpSpPr>
        <p:grpSpPr>
          <a:xfrm>
            <a:off x="-3" y="3228726"/>
            <a:ext cx="8684268" cy="402300"/>
            <a:chOff x="-3" y="3236976"/>
            <a:chExt cx="8684268" cy="402300"/>
          </a:xfrm>
        </p:grpSpPr>
        <p:cxnSp>
          <p:nvCxnSpPr>
            <p:cNvPr id="456" name="Google Shape;456;p60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57" name="Google Shape;457;p60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60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60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60" name="Google Shape;460;p60"/>
          <p:cNvSpPr txBox="1"/>
          <p:nvPr>
            <p:ph idx="4294967295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Helpdesk/IT support</a:t>
            </a:r>
            <a:endParaRPr/>
          </a:p>
        </p:txBody>
      </p:sp>
      <p:sp>
        <p:nvSpPr>
          <p:cNvPr id="461" name="Google Shape;461;p60"/>
          <p:cNvSpPr txBox="1"/>
          <p:nvPr>
            <p:ph idx="4294967295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System administration</a:t>
            </a:r>
            <a:endParaRPr/>
          </a:p>
        </p:txBody>
      </p:sp>
      <p:sp>
        <p:nvSpPr>
          <p:cNvPr id="462" name="Google Shape;462;p60"/>
          <p:cNvSpPr txBox="1"/>
          <p:nvPr>
            <p:ph idx="4294967295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Penetration testing</a:t>
            </a:r>
            <a:endParaRPr/>
          </a:p>
        </p:txBody>
      </p:sp>
      <p:sp>
        <p:nvSpPr>
          <p:cNvPr id="463" name="Google Shape;463;p60"/>
          <p:cNvSpPr txBox="1"/>
          <p:nvPr>
            <p:ph idx="429496729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Network forensics</a:t>
            </a:r>
            <a:endParaRPr/>
          </a:p>
        </p:txBody>
      </p:sp>
      <p:sp>
        <p:nvSpPr>
          <p:cNvPr id="464" name="Google Shape;464;p60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Linux in a Professional Context</a:t>
            </a:r>
            <a:endParaRPr/>
          </a:p>
        </p:txBody>
      </p:sp>
      <p:sp>
        <p:nvSpPr>
          <p:cNvPr id="465" name="Google Shape;465;p60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Knowledge is essential for the following technical roles, among others: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you ever used </a:t>
            </a:r>
            <a:r>
              <a:rPr b="1" lang="en"/>
              <a:t>Linux </a:t>
            </a:r>
            <a:r>
              <a:rPr lang="en"/>
              <a:t>before? In what context?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/>
          <p:nvPr/>
        </p:nvSpPr>
        <p:spPr>
          <a:xfrm>
            <a:off x="457200" y="1371600"/>
            <a:ext cx="1985400" cy="23010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62"/>
          <p:cNvSpPr/>
          <p:nvPr/>
        </p:nvSpPr>
        <p:spPr>
          <a:xfrm>
            <a:off x="2528198" y="1371600"/>
            <a:ext cx="1985400" cy="23010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62"/>
          <p:cNvSpPr/>
          <p:nvPr/>
        </p:nvSpPr>
        <p:spPr>
          <a:xfrm>
            <a:off x="4630400" y="1371600"/>
            <a:ext cx="1985400" cy="23010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62"/>
          <p:cNvSpPr/>
          <p:nvPr/>
        </p:nvSpPr>
        <p:spPr>
          <a:xfrm>
            <a:off x="6732600" y="1371600"/>
            <a:ext cx="1954200" cy="2301000"/>
          </a:xfrm>
          <a:prstGeom prst="rect">
            <a:avLst/>
          </a:prstGeom>
          <a:solidFill>
            <a:srgbClr val="AAD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62"/>
          <p:cNvSpPr txBox="1"/>
          <p:nvPr/>
        </p:nvSpPr>
        <p:spPr>
          <a:xfrm>
            <a:off x="2635600" y="2429875"/>
            <a:ext cx="1611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Smartphones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62"/>
          <p:cNvSpPr txBox="1"/>
          <p:nvPr/>
        </p:nvSpPr>
        <p:spPr>
          <a:xfrm>
            <a:off x="6897450" y="2429875"/>
            <a:ext cx="1624500" cy="14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Government and military systems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62"/>
          <p:cNvSpPr txBox="1"/>
          <p:nvPr/>
        </p:nvSpPr>
        <p:spPr>
          <a:xfrm>
            <a:off x="4801500" y="2429875"/>
            <a:ext cx="16245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Embedded systems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62"/>
          <p:cNvSpPr txBox="1"/>
          <p:nvPr/>
        </p:nvSpPr>
        <p:spPr>
          <a:xfrm>
            <a:off x="640775" y="2429875"/>
            <a:ext cx="16119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Web servers and websites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6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Common Linux Applications</a:t>
            </a:r>
            <a:endParaRPr/>
          </a:p>
        </p:txBody>
      </p:sp>
      <p:pic>
        <p:nvPicPr>
          <p:cNvPr id="484" name="Google Shape;48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4444" y="1467649"/>
            <a:ext cx="1048883" cy="722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8399" y="1509607"/>
            <a:ext cx="916650" cy="631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850" y="1467643"/>
            <a:ext cx="1048883" cy="722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41355" y="1578637"/>
            <a:ext cx="1048883" cy="722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3"/>
          <p:cNvSpPr txBox="1"/>
          <p:nvPr/>
        </p:nvSpPr>
        <p:spPr>
          <a:xfrm>
            <a:off x="4279950" y="2307300"/>
            <a:ext cx="48117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our previous class, we discussed various AI platforms and technologies.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Linux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plays a pivotal role in the AI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landscape.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4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History and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Distributions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8" name="Google Shape;49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7150" y="1822500"/>
            <a:ext cx="912188" cy="8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5"/>
          <p:cNvSpPr/>
          <p:nvPr/>
        </p:nvSpPr>
        <p:spPr>
          <a:xfrm>
            <a:off x="1201475" y="1430013"/>
            <a:ext cx="7399500" cy="10785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65"/>
          <p:cNvSpPr/>
          <p:nvPr/>
        </p:nvSpPr>
        <p:spPr>
          <a:xfrm>
            <a:off x="1201475" y="3294375"/>
            <a:ext cx="7399500" cy="801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65"/>
          <p:cNvSpPr/>
          <p:nvPr/>
        </p:nvSpPr>
        <p:spPr>
          <a:xfrm>
            <a:off x="424575" y="1739767"/>
            <a:ext cx="695400" cy="459000"/>
          </a:xfrm>
          <a:prstGeom prst="roundRect">
            <a:avLst>
              <a:gd fmla="val 16667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30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65"/>
          <p:cNvSpPr/>
          <p:nvPr/>
        </p:nvSpPr>
        <p:spPr>
          <a:xfrm rot="5400000">
            <a:off x="949826" y="1884108"/>
            <a:ext cx="314673" cy="188625"/>
          </a:xfrm>
          <a:prstGeom prst="flowChartExtra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07" name="Google Shape;507;p65"/>
          <p:cNvSpPr/>
          <p:nvPr/>
        </p:nvSpPr>
        <p:spPr>
          <a:xfrm>
            <a:off x="371500" y="3426555"/>
            <a:ext cx="695400" cy="486300"/>
          </a:xfrm>
          <a:prstGeom prst="roundRect">
            <a:avLst>
              <a:gd fmla="val 16667" name="adj"/>
            </a:avLst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3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65"/>
          <p:cNvSpPr/>
          <p:nvPr/>
        </p:nvSpPr>
        <p:spPr>
          <a:xfrm rot="5400000">
            <a:off x="887400" y="3585080"/>
            <a:ext cx="333375" cy="188625"/>
          </a:xfrm>
          <a:prstGeom prst="flowChartExtract">
            <a:avLst/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09" name="Google Shape;509;p65"/>
          <p:cNvSpPr txBox="1"/>
          <p:nvPr>
            <p:ph idx="4294967295" type="body"/>
          </p:nvPr>
        </p:nvSpPr>
        <p:spPr>
          <a:xfrm>
            <a:off x="1287250" y="1589050"/>
            <a:ext cx="7278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In 1969–1970, Dennis Ritchie, Kenneth Thompson, and several others at AT&amp;T Bell Labs began developing a small operating system called Unix.</a:t>
            </a:r>
            <a:endParaRPr/>
          </a:p>
        </p:txBody>
      </p:sp>
      <p:sp>
        <p:nvSpPr>
          <p:cNvPr id="510" name="Google Shape;510;p65"/>
          <p:cNvSpPr txBox="1"/>
          <p:nvPr>
            <p:ph idx="4294967295" type="body"/>
          </p:nvPr>
        </p:nvSpPr>
        <p:spPr>
          <a:xfrm>
            <a:off x="1201550" y="3315825"/>
            <a:ext cx="72279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Within the next two decades, different updates and distributions of Unix were created. Most were proprietary.</a:t>
            </a:r>
            <a:endParaRPr/>
          </a:p>
        </p:txBody>
      </p:sp>
      <p:sp>
        <p:nvSpPr>
          <p:cNvPr id="511" name="Google Shape;511;p65"/>
          <p:cNvSpPr txBox="1"/>
          <p:nvPr>
            <p:ph type="title"/>
          </p:nvPr>
        </p:nvSpPr>
        <p:spPr>
          <a:xfrm>
            <a:off x="457200" y="2987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A (very) Brief History of Linux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6"/>
          <p:cNvSpPr txBox="1"/>
          <p:nvPr>
            <p:ph type="title"/>
          </p:nvPr>
        </p:nvSpPr>
        <p:spPr>
          <a:xfrm>
            <a:off x="457200" y="2987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A (very) Brief History of Linux</a:t>
            </a:r>
            <a:endParaRPr/>
          </a:p>
        </p:txBody>
      </p:sp>
      <p:sp>
        <p:nvSpPr>
          <p:cNvPr id="517" name="Google Shape;517;p66"/>
          <p:cNvSpPr/>
          <p:nvPr/>
        </p:nvSpPr>
        <p:spPr>
          <a:xfrm>
            <a:off x="1299913" y="1459266"/>
            <a:ext cx="7399500" cy="10155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66"/>
          <p:cNvSpPr/>
          <p:nvPr/>
        </p:nvSpPr>
        <p:spPr>
          <a:xfrm>
            <a:off x="444588" y="1706410"/>
            <a:ext cx="695400" cy="437400"/>
          </a:xfrm>
          <a:prstGeom prst="roundRect">
            <a:avLst>
              <a:gd fmla="val 16667" name="adj"/>
            </a:avLst>
          </a:prstGeom>
          <a:solidFill>
            <a:srgbClr val="0077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3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" name="Google Shape;519;p66"/>
          <p:cNvSpPr/>
          <p:nvPr/>
        </p:nvSpPr>
        <p:spPr>
          <a:xfrm rot="5400000">
            <a:off x="977256" y="1839499"/>
            <a:ext cx="299837" cy="188625"/>
          </a:xfrm>
          <a:prstGeom prst="flowChartExtract">
            <a:avLst/>
          </a:prstGeom>
          <a:solidFill>
            <a:srgbClr val="0077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0" name="Google Shape;520;p66"/>
          <p:cNvSpPr txBox="1"/>
          <p:nvPr>
            <p:ph idx="4294967295" type="body"/>
          </p:nvPr>
        </p:nvSpPr>
        <p:spPr>
          <a:xfrm>
            <a:off x="1249313" y="1517750"/>
            <a:ext cx="72786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In 1984, Richard Stallman's Free Software Foundation (FSF) started the GNU project, which created a free distribution of the Unix operating system.</a:t>
            </a:r>
            <a:endParaRPr/>
          </a:p>
        </p:txBody>
      </p:sp>
      <p:sp>
        <p:nvSpPr>
          <p:cNvPr id="521" name="Google Shape;521;p66"/>
          <p:cNvSpPr/>
          <p:nvPr/>
        </p:nvSpPr>
        <p:spPr>
          <a:xfrm>
            <a:off x="1274588" y="3186215"/>
            <a:ext cx="7399500" cy="993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2" name="Google Shape;522;p66"/>
          <p:cNvGrpSpPr/>
          <p:nvPr/>
        </p:nvGrpSpPr>
        <p:grpSpPr>
          <a:xfrm>
            <a:off x="444613" y="3489217"/>
            <a:ext cx="776900" cy="459019"/>
            <a:chOff x="457200" y="1466425"/>
            <a:chExt cx="776900" cy="486300"/>
          </a:xfrm>
        </p:grpSpPr>
        <p:sp>
          <p:nvSpPr>
            <p:cNvPr id="523" name="Google Shape;523;p66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4" name="Google Shape;524;p66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525" name="Google Shape;525;p66"/>
          <p:cNvSpPr txBox="1"/>
          <p:nvPr>
            <p:ph idx="4294967295" type="body"/>
          </p:nvPr>
        </p:nvSpPr>
        <p:spPr>
          <a:xfrm>
            <a:off x="1274663" y="3267475"/>
            <a:ext cx="7247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In 1991, Linus Torvalds used many of the components from the GNU project to create a free, open source operating system, now known as Linux.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7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An </a:t>
            </a:r>
            <a:r>
              <a:rPr b="1" lang="en" sz="2800"/>
              <a:t>operating system (OS)</a:t>
            </a:r>
            <a:r>
              <a:rPr lang="en" sz="2800"/>
              <a:t> is the software that supports a computer’s basic functions, such as scheduling tasks, executing applications, and controlling peripherals.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8"/>
          <p:cNvSpPr/>
          <p:nvPr/>
        </p:nvSpPr>
        <p:spPr>
          <a:xfrm flipH="1">
            <a:off x="648075" y="17853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68"/>
          <p:cNvSpPr txBox="1"/>
          <p:nvPr/>
        </p:nvSpPr>
        <p:spPr>
          <a:xfrm>
            <a:off x="648075" y="1785425"/>
            <a:ext cx="24666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Windows	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37" name="Google Shape;537;p68"/>
          <p:cNvGrpSpPr/>
          <p:nvPr/>
        </p:nvGrpSpPr>
        <p:grpSpPr>
          <a:xfrm>
            <a:off x="380981" y="1192703"/>
            <a:ext cx="533372" cy="533480"/>
            <a:chOff x="457200" y="1378813"/>
            <a:chExt cx="695400" cy="695450"/>
          </a:xfrm>
        </p:grpSpPr>
        <p:sp>
          <p:nvSpPr>
            <p:cNvPr id="538" name="Google Shape;538;p6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sz="2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39" name="Google Shape;539;p68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0" name="Google Shape;540;p68"/>
          <p:cNvGrpSpPr/>
          <p:nvPr/>
        </p:nvGrpSpPr>
        <p:grpSpPr>
          <a:xfrm>
            <a:off x="3152756" y="1192703"/>
            <a:ext cx="533372" cy="533480"/>
            <a:chOff x="457200" y="1378813"/>
            <a:chExt cx="695400" cy="695450"/>
          </a:xfrm>
        </p:grpSpPr>
        <p:sp>
          <p:nvSpPr>
            <p:cNvPr id="541" name="Google Shape;541;p6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42" name="Google Shape;542;p68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543" name="Google Shape;543;p68"/>
          <p:cNvSpPr/>
          <p:nvPr/>
        </p:nvSpPr>
        <p:spPr>
          <a:xfrm flipH="1">
            <a:off x="3419850" y="17853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68"/>
          <p:cNvSpPr txBox="1"/>
          <p:nvPr/>
        </p:nvSpPr>
        <p:spPr>
          <a:xfrm>
            <a:off x="3419850" y="1785429"/>
            <a:ext cx="2371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macOS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45" name="Google Shape;545;p68"/>
          <p:cNvGrpSpPr/>
          <p:nvPr/>
        </p:nvGrpSpPr>
        <p:grpSpPr>
          <a:xfrm>
            <a:off x="6057881" y="1193453"/>
            <a:ext cx="533372" cy="533480"/>
            <a:chOff x="457200" y="1378813"/>
            <a:chExt cx="695400" cy="695450"/>
          </a:xfrm>
        </p:grpSpPr>
        <p:sp>
          <p:nvSpPr>
            <p:cNvPr id="546" name="Google Shape;546;p6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47" name="Google Shape;547;p68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548" name="Google Shape;548;p68"/>
          <p:cNvSpPr/>
          <p:nvPr/>
        </p:nvSpPr>
        <p:spPr>
          <a:xfrm flipH="1">
            <a:off x="6324975" y="178612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68"/>
          <p:cNvSpPr txBox="1"/>
          <p:nvPr/>
        </p:nvSpPr>
        <p:spPr>
          <a:xfrm>
            <a:off x="6324975" y="1785658"/>
            <a:ext cx="2371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Linux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68"/>
          <p:cNvSpPr txBox="1"/>
          <p:nvPr>
            <p:ph type="title"/>
          </p:nvPr>
        </p:nvSpPr>
        <p:spPr>
          <a:xfrm>
            <a:off x="-12300" y="13970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Operating Systems (OS)</a:t>
            </a:r>
            <a:endParaRPr/>
          </a:p>
        </p:txBody>
      </p:sp>
      <p:pic>
        <p:nvPicPr>
          <p:cNvPr id="551" name="Google Shape;55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250" y="2528223"/>
            <a:ext cx="1666500" cy="1605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7803" y="2400650"/>
            <a:ext cx="1344494" cy="160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3973" y="2400650"/>
            <a:ext cx="1470525" cy="17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9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Unlike Windows and OS X, Linux is </a:t>
            </a:r>
            <a:r>
              <a:rPr b="1" lang="en"/>
              <a:t>F</a:t>
            </a:r>
            <a:r>
              <a:rPr lang="en"/>
              <a:t>ree, </a:t>
            </a:r>
            <a:r>
              <a:rPr b="1" lang="en"/>
              <a:t>O</a:t>
            </a:r>
            <a:r>
              <a:rPr lang="en"/>
              <a:t>pen </a:t>
            </a:r>
            <a:r>
              <a:rPr b="1" lang="en"/>
              <a:t>S</a:t>
            </a:r>
            <a:r>
              <a:rPr lang="en"/>
              <a:t>ource </a:t>
            </a:r>
            <a:r>
              <a:rPr b="1" lang="en"/>
              <a:t>S</a:t>
            </a:r>
            <a:r>
              <a:rPr lang="en"/>
              <a:t>oftware (</a:t>
            </a:r>
            <a:r>
              <a:rPr b="1" lang="en"/>
              <a:t>FOSS</a:t>
            </a:r>
            <a:r>
              <a:rPr lang="en"/>
              <a:t>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Anyone </a:t>
            </a:r>
            <a:r>
              <a:rPr lang="en"/>
              <a:t>can modify the source code.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tools in the hacker/security community are still published as open source.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Free software and information is prevalent in the industry.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This includes almost all the tools we’ll use in class.</a:t>
            </a:r>
            <a:endParaRPr/>
          </a:p>
        </p:txBody>
      </p:sp>
      <p:sp>
        <p:nvSpPr>
          <p:cNvPr id="559" name="Google Shape;559;p69"/>
          <p:cNvSpPr txBox="1"/>
          <p:nvPr>
            <p:ph idx="4" type="title"/>
          </p:nvPr>
        </p:nvSpPr>
        <p:spPr>
          <a:xfrm>
            <a:off x="228600" y="222500"/>
            <a:ext cx="54864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Linux?</a:t>
            </a:r>
            <a:endParaRPr/>
          </a:p>
        </p:txBody>
      </p:sp>
      <p:pic>
        <p:nvPicPr>
          <p:cNvPr id="560" name="Google Shape;560;p69"/>
          <p:cNvPicPr preferRelativeResize="0"/>
          <p:nvPr/>
        </p:nvPicPr>
        <p:blipFill rotWithShape="1">
          <a:blip r:embed="rId3">
            <a:alphaModFix/>
          </a:blip>
          <a:srcRect b="0" l="27078" r="29090" t="0"/>
          <a:stretch/>
        </p:blipFill>
        <p:spPr>
          <a:xfrm>
            <a:off x="5761675" y="0"/>
            <a:ext cx="338232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Distributions </a:t>
            </a:r>
            <a:r>
              <a:rPr lang="en" sz="2800"/>
              <a:t>are special-purpose variants of the operating system.</a:t>
            </a:r>
            <a:endParaRPr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1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5"/>
                </a:solidFill>
              </a:rPr>
              <a:t>Linux Distributions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571" name="Google Shape;57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962" y="2904449"/>
            <a:ext cx="2072480" cy="1763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2361" y="2688575"/>
            <a:ext cx="1613476" cy="2032899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71"/>
          <p:cNvSpPr txBox="1"/>
          <p:nvPr>
            <p:ph type="title"/>
          </p:nvPr>
        </p:nvSpPr>
        <p:spPr>
          <a:xfrm>
            <a:off x="11794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Ubuntu</a:t>
            </a:r>
            <a:endParaRPr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74" name="Google Shape;574;p71"/>
          <p:cNvSpPr txBox="1"/>
          <p:nvPr>
            <p:ph idx="2" type="title"/>
          </p:nvPr>
        </p:nvSpPr>
        <p:spPr>
          <a:xfrm>
            <a:off x="896225" y="1871375"/>
            <a:ext cx="3408900" cy="81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Ubuntu</a:t>
            </a:r>
            <a:r>
              <a:rPr lang="en" sz="1400">
                <a:solidFill>
                  <a:schemeClr val="dk2"/>
                </a:solidFill>
              </a:rPr>
              <a:t> </a:t>
            </a:r>
            <a: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 geared towards general-purpose users.</a:t>
            </a:r>
            <a:endParaRPr sz="1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71"/>
          <p:cNvSpPr txBox="1"/>
          <p:nvPr>
            <p:ph idx="3" type="title"/>
          </p:nvPr>
        </p:nvSpPr>
        <p:spPr>
          <a:xfrm>
            <a:off x="5323925" y="1871375"/>
            <a:ext cx="3031200" cy="81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Kali</a:t>
            </a:r>
            <a:r>
              <a:rPr b="1" lang="en" sz="1400">
                <a:solidFill>
                  <a:schemeClr val="dk2"/>
                </a:solidFill>
              </a:rPr>
              <a:t> </a:t>
            </a:r>
            <a: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 designed specifically </a:t>
            </a:r>
            <a:endParaRPr sz="1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security professionals.</a:t>
            </a:r>
            <a:endParaRPr sz="1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71"/>
          <p:cNvSpPr txBox="1"/>
          <p:nvPr>
            <p:ph idx="5" type="title"/>
          </p:nvPr>
        </p:nvSpPr>
        <p:spPr>
          <a:xfrm>
            <a:off x="55995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Kali Linux</a:t>
            </a:r>
            <a:endParaRPr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77" name="Google Shape;577;p71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 this course, we’ll use two distributions: Ubuntu and Kali Linux.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2"/>
          <p:cNvSpPr txBox="1"/>
          <p:nvPr>
            <p:ph type="title"/>
          </p:nvPr>
        </p:nvSpPr>
        <p:spPr>
          <a:xfrm>
            <a:off x="304800" y="353600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Linux Distributions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72"/>
          <p:cNvSpPr txBox="1"/>
          <p:nvPr>
            <p:ph idx="1" type="body"/>
          </p:nvPr>
        </p:nvSpPr>
        <p:spPr>
          <a:xfrm>
            <a:off x="311700" y="1152475"/>
            <a:ext cx="4651200" cy="1332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Ubuntu and Kali Linux are both specialized distributions</a:t>
            </a:r>
            <a:r>
              <a:rPr lang="en"/>
              <a:t> </a:t>
            </a:r>
            <a:r>
              <a:rPr lang="en"/>
              <a:t>of </a:t>
            </a:r>
            <a:r>
              <a:rPr b="1" lang="en"/>
              <a:t>Debian</a:t>
            </a:r>
            <a:r>
              <a:rPr lang="en"/>
              <a:t>, which is itself a distribution. </a:t>
            </a:r>
            <a:endParaRPr/>
          </a:p>
        </p:txBody>
      </p:sp>
      <p:pic>
        <p:nvPicPr>
          <p:cNvPr id="584" name="Google Shape;58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599" y="1182005"/>
            <a:ext cx="2111000" cy="2779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/>
          <p:nvPr>
            <p:ph type="title"/>
          </p:nvPr>
        </p:nvSpPr>
        <p:spPr>
          <a:xfrm>
            <a:off x="311700" y="2911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Command Line 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90" name="Google Shape;590;p73"/>
          <p:cNvSpPr txBox="1"/>
          <p:nvPr>
            <p:ph idx="1" type="body"/>
          </p:nvPr>
        </p:nvSpPr>
        <p:spPr>
          <a:xfrm>
            <a:off x="311700" y="1371600"/>
            <a:ext cx="43524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 to conserve as many resources as possible, most production Linux servers don’t offer a graphical interface.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Therefore knowledge of the command line</a:t>
            </a:r>
            <a:r>
              <a:rPr b="1" lang="en"/>
              <a:t>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is essential for understanding Linux.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1" name="Google Shape;59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2600" y="465613"/>
            <a:ext cx="4270801" cy="42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4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74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74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74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pic>
        <p:nvPicPr>
          <p:cNvPr id="600" name="Google Shape;60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74"/>
          <p:cNvSpPr/>
          <p:nvPr/>
        </p:nvSpPr>
        <p:spPr>
          <a:xfrm>
            <a:off x="5222200" y="895700"/>
            <a:ext cx="967200" cy="96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accent1"/>
                </a:solidFill>
                <a:latin typeface="Inconsolata SemiBold"/>
                <a:ea typeface="Inconsolata SemiBold"/>
                <a:cs typeface="Inconsolata SemiBold"/>
                <a:sym typeface="Inconsolata SemiBold"/>
              </a:rPr>
              <a:t>&gt;_</a:t>
            </a:r>
            <a:endParaRPr sz="3000">
              <a:solidFill>
                <a:schemeClr val="accent1"/>
              </a:solidFill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  <p:sp>
        <p:nvSpPr>
          <p:cNvPr id="602" name="Google Shape;602;p74"/>
          <p:cNvSpPr txBox="1"/>
          <p:nvPr>
            <p:ph type="title"/>
          </p:nvPr>
        </p:nvSpPr>
        <p:spPr>
          <a:xfrm>
            <a:off x="175" y="761550"/>
            <a:ext cx="4344600" cy="30108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ommand line-only machines are called</a:t>
            </a:r>
            <a:r>
              <a:rPr b="0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>
                <a:solidFill>
                  <a:srgbClr val="FCB912"/>
                </a:solidFill>
                <a:latin typeface="Roboto"/>
                <a:ea typeface="Roboto"/>
                <a:cs typeface="Roboto"/>
                <a:sym typeface="Roboto"/>
              </a:rPr>
              <a:t>headless servers.</a:t>
            </a:r>
            <a:r>
              <a:rPr b="0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8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rPr>
              <a:t>Benefits of headless servers:</a:t>
            </a:r>
            <a:endParaRPr b="0" sz="1800">
              <a:solidFill>
                <a:srgbClr val="F3F3F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800">
              <a:solidFill>
                <a:srgbClr val="F3F3F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Char char="●"/>
            </a:pPr>
            <a:r>
              <a:rPr b="0" lang="en" sz="18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0" lang="en" sz="18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rPr>
              <a:t>equire</a:t>
            </a:r>
            <a:r>
              <a:rPr b="0" lang="en" sz="18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rPr>
              <a:t> very few resources </a:t>
            </a:r>
            <a:endParaRPr b="0" sz="1800">
              <a:solidFill>
                <a:srgbClr val="F3F3F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Char char="●"/>
            </a:pPr>
            <a:r>
              <a:rPr b="0" lang="en" sz="18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rPr>
              <a:t>Give the server maximum </a:t>
            </a:r>
            <a:r>
              <a:rPr b="0" lang="en" sz="18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rPr>
              <a:t>resources</a:t>
            </a:r>
            <a:r>
              <a:rPr b="0" lang="en" sz="18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rPr>
              <a:t> to run its services and </a:t>
            </a:r>
            <a:r>
              <a:rPr b="0" lang="en" sz="18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rPr>
              <a:t>applications</a:t>
            </a:r>
            <a:endParaRPr b="0" sz="1800">
              <a:solidFill>
                <a:srgbClr val="F3F3F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Char char="●"/>
            </a:pPr>
            <a:r>
              <a:rPr b="0" lang="en" sz="18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rPr>
              <a:t>Do not require GUI-based system </a:t>
            </a:r>
            <a:endParaRPr b="0" sz="1800">
              <a:solidFill>
                <a:srgbClr val="F3F3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5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608" name="Google Shape;608;p75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Research</a:t>
            </a:r>
            <a:endParaRPr/>
          </a:p>
        </p:txBody>
      </p:sp>
      <p:sp>
        <p:nvSpPr>
          <p:cNvPr id="609" name="Google Shape;609;p75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are a system administrator at X Corp, which has recently experienced a number of breaches involving servers running outdated Linux distributions.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response, the IT Department has decided to upgrade the affected servers with newer distributions of Linux.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must conduct research to determine which distribution is most appropriate for each machine.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0" name="Google Shape;61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78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Linux File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System Structure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4" name="Google Shape;62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1" y="1986624"/>
            <a:ext cx="568575" cy="71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9"/>
          <p:cNvSpPr txBox="1"/>
          <p:nvPr>
            <p:ph type="title"/>
          </p:nvPr>
        </p:nvSpPr>
        <p:spPr>
          <a:xfrm>
            <a:off x="304800" y="2225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Linux File System Structure</a:t>
            </a:r>
            <a:endParaRPr/>
          </a:p>
        </p:txBody>
      </p:sp>
      <p:cxnSp>
        <p:nvCxnSpPr>
          <p:cNvPr id="630" name="Google Shape;630;p79"/>
          <p:cNvCxnSpPr/>
          <p:nvPr/>
        </p:nvCxnSpPr>
        <p:spPr>
          <a:xfrm>
            <a:off x="-3" y="2676467"/>
            <a:ext cx="6624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631" name="Google Shape;631;p79"/>
          <p:cNvCxnSpPr/>
          <p:nvPr/>
        </p:nvCxnSpPr>
        <p:spPr>
          <a:xfrm>
            <a:off x="-3" y="2676467"/>
            <a:ext cx="6729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632" name="Google Shape;632;p79"/>
          <p:cNvSpPr/>
          <p:nvPr/>
        </p:nvSpPr>
        <p:spPr>
          <a:xfrm>
            <a:off x="596125" y="2171587"/>
            <a:ext cx="8090700" cy="977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79"/>
          <p:cNvSpPr/>
          <p:nvPr/>
        </p:nvSpPr>
        <p:spPr>
          <a:xfrm>
            <a:off x="513600" y="251491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79"/>
          <p:cNvSpPr/>
          <p:nvPr/>
        </p:nvSpPr>
        <p:spPr>
          <a:xfrm>
            <a:off x="593400" y="2594717"/>
            <a:ext cx="163500" cy="1635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79"/>
          <p:cNvSpPr txBox="1"/>
          <p:nvPr>
            <p:ph idx="4294967295" type="body"/>
          </p:nvPr>
        </p:nvSpPr>
        <p:spPr>
          <a:xfrm>
            <a:off x="866250" y="2101289"/>
            <a:ext cx="7716300" cy="11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Consistent conventions across distributions</a:t>
            </a:r>
            <a:r>
              <a:rPr lang="en"/>
              <a:t> </a:t>
            </a:r>
            <a:endParaRPr/>
          </a:p>
        </p:txBody>
      </p:sp>
      <p:cxnSp>
        <p:nvCxnSpPr>
          <p:cNvPr id="636" name="Google Shape;636;p79"/>
          <p:cNvCxnSpPr/>
          <p:nvPr/>
        </p:nvCxnSpPr>
        <p:spPr>
          <a:xfrm>
            <a:off x="-3" y="3956967"/>
            <a:ext cx="6624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637" name="Google Shape;637;p79"/>
          <p:cNvCxnSpPr/>
          <p:nvPr/>
        </p:nvCxnSpPr>
        <p:spPr>
          <a:xfrm>
            <a:off x="-3" y="3956967"/>
            <a:ext cx="6729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638" name="Google Shape;638;p79"/>
          <p:cNvSpPr/>
          <p:nvPr/>
        </p:nvSpPr>
        <p:spPr>
          <a:xfrm>
            <a:off x="596125" y="3452087"/>
            <a:ext cx="8090700" cy="977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79"/>
          <p:cNvSpPr/>
          <p:nvPr/>
        </p:nvSpPr>
        <p:spPr>
          <a:xfrm>
            <a:off x="513600" y="379541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79"/>
          <p:cNvSpPr/>
          <p:nvPr/>
        </p:nvSpPr>
        <p:spPr>
          <a:xfrm>
            <a:off x="593400" y="3875217"/>
            <a:ext cx="163500" cy="1635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79"/>
          <p:cNvSpPr txBox="1"/>
          <p:nvPr>
            <p:ph idx="4294967295" type="body"/>
          </p:nvPr>
        </p:nvSpPr>
        <p:spPr>
          <a:xfrm>
            <a:off x="914400" y="3307174"/>
            <a:ext cx="7772400" cy="12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Mostly uses bash shell by default </a:t>
            </a:r>
            <a:endParaRPr sz="2200"/>
          </a:p>
        </p:txBody>
      </p:sp>
      <p:cxnSp>
        <p:nvCxnSpPr>
          <p:cNvPr id="642" name="Google Shape;642;p79"/>
          <p:cNvCxnSpPr/>
          <p:nvPr/>
        </p:nvCxnSpPr>
        <p:spPr>
          <a:xfrm>
            <a:off x="-3" y="1389480"/>
            <a:ext cx="6624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643" name="Google Shape;643;p79"/>
          <p:cNvCxnSpPr/>
          <p:nvPr/>
        </p:nvCxnSpPr>
        <p:spPr>
          <a:xfrm>
            <a:off x="-3" y="1389480"/>
            <a:ext cx="6729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644" name="Google Shape;644;p79"/>
          <p:cNvSpPr/>
          <p:nvPr/>
        </p:nvSpPr>
        <p:spPr>
          <a:xfrm>
            <a:off x="596125" y="884599"/>
            <a:ext cx="8090700" cy="977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79"/>
          <p:cNvSpPr/>
          <p:nvPr/>
        </p:nvSpPr>
        <p:spPr>
          <a:xfrm>
            <a:off x="513600" y="1227930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79"/>
          <p:cNvSpPr/>
          <p:nvPr/>
        </p:nvSpPr>
        <p:spPr>
          <a:xfrm>
            <a:off x="593400" y="1307730"/>
            <a:ext cx="163500" cy="1635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79"/>
          <p:cNvSpPr txBox="1"/>
          <p:nvPr>
            <p:ph idx="4294967295" type="body"/>
          </p:nvPr>
        </p:nvSpPr>
        <p:spPr>
          <a:xfrm>
            <a:off x="914400" y="970504"/>
            <a:ext cx="77724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Conventional file system structure </a:t>
            </a:r>
            <a:endParaRPr sz="2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2" name="Google Shape;652;p80"/>
          <p:cNvGraphicFramePr/>
          <p:nvPr/>
        </p:nvGraphicFramePr>
        <p:xfrm>
          <a:off x="315825" y="1613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{81F512AA-73CF-4F4C-81B4-9781E988C86A}</a:tableStyleId>
              </a:tblPr>
              <a:tblGrid>
                <a:gridCol w="3755550"/>
              </a:tblGrid>
              <a:tr h="1043600">
                <a:tc>
                  <a:txBody>
                    <a:bodyPr/>
                    <a:lstStyle/>
                    <a:p>
                      <a:pPr indent="-3365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00"/>
                        <a:buFont typeface="Roboto"/>
                        <a:buChar char="●"/>
                      </a:pPr>
                      <a:r>
                        <a:rPr lang="en" sz="17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user account for the administrator</a:t>
                      </a:r>
                      <a:endParaRPr sz="17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3600">
                <a:tc>
                  <a:txBody>
                    <a:bodyPr/>
                    <a:lstStyle/>
                    <a:p>
                      <a:pPr indent="-3365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00"/>
                        <a:buFont typeface="Roboto"/>
                        <a:buChar char="●"/>
                      </a:pPr>
                      <a:r>
                        <a:rPr lang="en" sz="17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root directory that contains every other directory</a:t>
                      </a:r>
                      <a:endParaRPr sz="17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3600">
                <a:tc>
                  <a:txBody>
                    <a:bodyPr/>
                    <a:lstStyle/>
                    <a:p>
                      <a:pPr indent="-3365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700"/>
                        <a:buFont typeface="Roboto"/>
                        <a:buChar char="●"/>
                      </a:pPr>
                      <a:r>
                        <a:rPr lang="en" sz="17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home directory for the root user</a:t>
                      </a:r>
                      <a:endParaRPr sz="17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53" name="Google Shape;653;p80"/>
          <p:cNvSpPr txBox="1"/>
          <p:nvPr>
            <p:ph type="title"/>
          </p:nvPr>
        </p:nvSpPr>
        <p:spPr>
          <a:xfrm>
            <a:off x="392025" y="331225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Root</a:t>
            </a:r>
            <a:endParaRPr/>
          </a:p>
        </p:txBody>
      </p:sp>
      <p:sp>
        <p:nvSpPr>
          <p:cNvPr id="654" name="Google Shape;654;p80"/>
          <p:cNvSpPr txBox="1"/>
          <p:nvPr>
            <p:ph idx="1" type="body"/>
          </p:nvPr>
        </p:nvSpPr>
        <p:spPr>
          <a:xfrm>
            <a:off x="376500" y="876775"/>
            <a:ext cx="46527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R</a:t>
            </a:r>
            <a:r>
              <a:rPr lang="en" sz="1700"/>
              <a:t>oot can have multiple meanings in Linux. Depending on the context, root can be either:</a:t>
            </a:r>
            <a:endParaRPr sz="1700"/>
          </a:p>
        </p:txBody>
      </p:sp>
      <p:pic>
        <p:nvPicPr>
          <p:cNvPr id="655" name="Google Shape;655;p80"/>
          <p:cNvPicPr preferRelativeResize="0"/>
          <p:nvPr/>
        </p:nvPicPr>
        <p:blipFill rotWithShape="1">
          <a:blip r:embed="rId3">
            <a:alphaModFix/>
          </a:blip>
          <a:srcRect b="0" l="12965" r="13238" t="0"/>
          <a:stretch/>
        </p:blipFill>
        <p:spPr>
          <a:xfrm>
            <a:off x="4851663" y="1057025"/>
            <a:ext cx="4012661" cy="3744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81"/>
          <p:cNvSpPr txBox="1"/>
          <p:nvPr>
            <p:ph type="title"/>
          </p:nvPr>
        </p:nvSpPr>
        <p:spPr>
          <a:xfrm>
            <a:off x="389275" y="250425"/>
            <a:ext cx="88323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File Systems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661" name="Google Shape;661;p81"/>
          <p:cNvSpPr txBox="1"/>
          <p:nvPr>
            <p:ph idx="1" type="body"/>
          </p:nvPr>
        </p:nvSpPr>
        <p:spPr>
          <a:xfrm>
            <a:off x="421800" y="730300"/>
            <a:ext cx="8532900" cy="39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Linux maintains certain conventions for storing files: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62" name="Google Shape;662;p81"/>
          <p:cNvGraphicFramePr/>
          <p:nvPr/>
        </p:nvGraphicFramePr>
        <p:xfrm>
          <a:off x="389275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{81F512AA-73CF-4F4C-81B4-9781E988C86A}</a:tableStyleId>
              </a:tblPr>
              <a:tblGrid>
                <a:gridCol w="1663050"/>
                <a:gridCol w="6550000"/>
              </a:tblGrid>
              <a:tr h="5361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/ </a:t>
                      </a:r>
                      <a:endParaRPr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every other directory. 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361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/home</a:t>
                      </a:r>
                      <a:endParaRPr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users’ private files. Users should not be able to save files elsewhere. 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61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/root</a:t>
                      </a:r>
                      <a:endParaRPr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home directory of the root user.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361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/etc</a:t>
                      </a:r>
                      <a:endParaRPr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configuration files, defining how a machine runs and who can use it.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1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/bin, /sbin</a:t>
                      </a:r>
                      <a:endParaRPr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main binary or program files. 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361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/var </a:t>
                      </a:r>
                      <a:endParaRPr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files that change over time. 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1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/tmp</a:t>
                      </a:r>
                      <a:endParaRPr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files that are only needed for a short period of time. 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2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Demonstration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82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Tour Linux File System</a:t>
            </a:r>
            <a:endParaRPr/>
          </a:p>
        </p:txBody>
      </p:sp>
      <p:pic>
        <p:nvPicPr>
          <p:cNvPr id="669" name="Google Shape;66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100" y="1343674"/>
            <a:ext cx="1468288" cy="9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83"/>
          <p:cNvSpPr txBox="1"/>
          <p:nvPr>
            <p:ph type="title"/>
          </p:nvPr>
        </p:nvSpPr>
        <p:spPr>
          <a:xfrm>
            <a:off x="385925" y="258900"/>
            <a:ext cx="87867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Demo Takeaways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5" name="Google Shape;675;p83"/>
          <p:cNvSpPr txBox="1"/>
          <p:nvPr>
            <p:ph idx="1" type="body"/>
          </p:nvPr>
        </p:nvSpPr>
        <p:spPr>
          <a:xfrm>
            <a:off x="389275" y="654100"/>
            <a:ext cx="8532900" cy="39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audit took us to the following directories: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76" name="Google Shape;676;p83"/>
          <p:cNvGraphicFramePr/>
          <p:nvPr/>
        </p:nvGraphicFramePr>
        <p:xfrm>
          <a:off x="385925" y="1310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{81F512AA-73CF-4F4C-81B4-9781E988C86A}</a:tableStyleId>
              </a:tblPr>
              <a:tblGrid>
                <a:gridCol w="1655850"/>
                <a:gridCol w="6481650"/>
              </a:tblGrid>
              <a:tr h="6982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/etc</a:t>
                      </a:r>
                      <a:endParaRPr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Stores specific, system-wide configuration files, as well as the most sensitive files on a Linux system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982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/var</a:t>
                      </a:r>
                      <a:endParaRPr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Stores files that are continually updated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982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/home</a:t>
                      </a:r>
                      <a:endParaRPr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Stores user home folders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982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/tmp</a:t>
                      </a:r>
                      <a:endParaRPr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Where applications write temporary files that can be deleted on reboot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982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/bin </a:t>
                      </a:r>
                      <a:r>
                        <a:rPr lang="en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and</a:t>
                      </a:r>
                      <a:r>
                        <a:rPr lang="en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 /sbin</a:t>
                      </a:r>
                      <a:endParaRPr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Where the system keeps its main binary or program files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4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Why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Terminal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Matters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2" name="Google Shape;68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6175" y="1371600"/>
            <a:ext cx="1457325" cy="128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85"/>
          <p:cNvSpPr txBox="1"/>
          <p:nvPr/>
        </p:nvSpPr>
        <p:spPr>
          <a:xfrm>
            <a:off x="368950" y="127400"/>
            <a:ext cx="694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Graphical User Interfaces</a:t>
            </a:r>
            <a:endParaRPr b="1" i="1" sz="24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are used to GUIs with their familiar icons, windows, buttons, and mouse pointers.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85"/>
          <p:cNvSpPr/>
          <p:nvPr/>
        </p:nvSpPr>
        <p:spPr>
          <a:xfrm>
            <a:off x="457160" y="1445368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89" name="Google Shape;689;p85"/>
          <p:cNvSpPr/>
          <p:nvPr/>
        </p:nvSpPr>
        <p:spPr>
          <a:xfrm rot="10800000">
            <a:off x="593369" y="1834156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90" name="Google Shape;690;p85"/>
          <p:cNvSpPr/>
          <p:nvPr/>
        </p:nvSpPr>
        <p:spPr>
          <a:xfrm>
            <a:off x="4876760" y="14453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91" name="Google Shape;691;p85"/>
          <p:cNvSpPr/>
          <p:nvPr/>
        </p:nvSpPr>
        <p:spPr>
          <a:xfrm rot="10800000">
            <a:off x="5012969" y="18341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85"/>
          <p:cNvSpPr txBox="1"/>
          <p:nvPr/>
        </p:nvSpPr>
        <p:spPr>
          <a:xfrm>
            <a:off x="457150" y="1457205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93" name="Google Shape;693;p85"/>
          <p:cNvSpPr txBox="1"/>
          <p:nvPr/>
        </p:nvSpPr>
        <p:spPr>
          <a:xfrm>
            <a:off x="4876750" y="14619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94" name="Google Shape;694;p85"/>
          <p:cNvSpPr txBox="1"/>
          <p:nvPr/>
        </p:nvSpPr>
        <p:spPr>
          <a:xfrm>
            <a:off x="465975" y="1482225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Mac</a:t>
            </a:r>
            <a:endParaRPr sz="18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95" name="Google Shape;695;p85"/>
          <p:cNvSpPr txBox="1"/>
          <p:nvPr/>
        </p:nvSpPr>
        <p:spPr>
          <a:xfrm>
            <a:off x="4900000" y="1482225"/>
            <a:ext cx="364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PC</a:t>
            </a:r>
            <a:endParaRPr sz="18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96" name="Google Shape;696;p85"/>
          <p:cNvSpPr txBox="1"/>
          <p:nvPr/>
        </p:nvSpPr>
        <p:spPr>
          <a:xfrm>
            <a:off x="4976200" y="2156750"/>
            <a:ext cx="36492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Text</a:t>
            </a:r>
            <a:endParaRPr sz="160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97" name="Google Shape;697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5138" y="1335450"/>
            <a:ext cx="827470" cy="366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075" y="2338141"/>
            <a:ext cx="4309500" cy="2578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85"/>
          <p:cNvPicPr preferRelativeResize="0"/>
          <p:nvPr/>
        </p:nvPicPr>
        <p:blipFill rotWithShape="1">
          <a:blip r:embed="rId5">
            <a:alphaModFix/>
          </a:blip>
          <a:srcRect b="0" l="0" r="21303" t="0"/>
          <a:stretch/>
        </p:blipFill>
        <p:spPr>
          <a:xfrm>
            <a:off x="4951875" y="2206025"/>
            <a:ext cx="4002875" cy="27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86"/>
          <p:cNvSpPr txBox="1"/>
          <p:nvPr>
            <p:ph idx="4294967295" type="title"/>
          </p:nvPr>
        </p:nvSpPr>
        <p:spPr>
          <a:xfrm>
            <a:off x="-154700" y="1271575"/>
            <a:ext cx="8734800" cy="1561500"/>
          </a:xfrm>
          <a:prstGeom prst="rect">
            <a:avLst/>
          </a:prstGeom>
        </p:spPr>
        <p:txBody>
          <a:bodyPr anchorCtr="0" anchor="t" bIns="91425" lIns="1005825" spcFirstLastPara="1" rIns="9142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Raise</a:t>
            </a: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 a Fist:</a:t>
            </a:r>
            <a:r>
              <a:rPr lang="en" sz="1800"/>
              <a:t> </a:t>
            </a:r>
            <a:r>
              <a:rPr b="0" lang="en" sz="1800"/>
              <a:t>If you’ve never worked with the command line and barely know what it is</a:t>
            </a:r>
            <a:endParaRPr b="0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Raise a Five: </a:t>
            </a:r>
            <a:r>
              <a:rPr b="0" lang="en" sz="1800"/>
              <a:t>If you work with the command line on a daily basis</a:t>
            </a:r>
            <a:endParaRPr b="0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Raise One, Two, Three, or Four:</a:t>
            </a:r>
            <a:r>
              <a:rPr lang="en" sz="1800"/>
              <a:t> </a:t>
            </a:r>
            <a:r>
              <a:rPr b="0" lang="en" sz="1800"/>
              <a:t>If you fall somewhere in between </a:t>
            </a:r>
            <a:endParaRPr b="0"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87"/>
          <p:cNvSpPr txBox="1"/>
          <p:nvPr>
            <p:ph idx="1" type="body"/>
          </p:nvPr>
        </p:nvSpPr>
        <p:spPr>
          <a:xfrm>
            <a:off x="3494100" y="1377600"/>
            <a:ext cx="56499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command line?</a:t>
            </a:r>
            <a:endParaRPr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88"/>
          <p:cNvSpPr txBox="1"/>
          <p:nvPr/>
        </p:nvSpPr>
        <p:spPr>
          <a:xfrm>
            <a:off x="347250" y="127400"/>
            <a:ext cx="4066200" cy="4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What Is the Command Line?</a:t>
            </a:r>
            <a:endParaRPr b="1" i="1" sz="24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Command line users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don’t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directly interact with icons and buttons on the screen.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Users complete tasks on their computers by issuing commands in the terminal.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15" name="Google Shape;715;p88"/>
          <p:cNvSpPr txBox="1"/>
          <p:nvPr/>
        </p:nvSpPr>
        <p:spPr>
          <a:xfrm>
            <a:off x="4610125" y="1102050"/>
            <a:ext cx="43773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Sams-MacBook-Pro-2:~ sam$ cd Documents</a:t>
            </a:r>
            <a:endParaRPr sz="11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Sams-MacBook-Pro-2:Documents sam$ ls</a:t>
            </a:r>
            <a:endParaRPr sz="11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Assessment.docx    Day-1-Notes.docx    </a:t>
            </a:r>
            <a:endParaRPr sz="11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Project-1          Homework-1.docx</a:t>
            </a:r>
            <a:endParaRPr sz="11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Project-2          Homework-2.docx</a:t>
            </a:r>
            <a:endParaRPr sz="11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Sams-MacBook-Pro-2:~ sam$ cd Documents/Project-1</a:t>
            </a:r>
            <a:endParaRPr sz="11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Sams-MacBook-Pro-2:Project-1 sam$ ls</a:t>
            </a:r>
            <a:endParaRPr sz="11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Assessment.docx Presentation Notes.docx Report.docx</a:t>
            </a:r>
            <a:endParaRPr sz="11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Sams-MacBook-Pro-2:Project-1 sam$ open Report.docx</a:t>
            </a:r>
            <a:endParaRPr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716" name="Google Shape;716;p88"/>
          <p:cNvPicPr preferRelativeResize="0"/>
          <p:nvPr/>
        </p:nvPicPr>
        <p:blipFill rotWithShape="1">
          <a:blip r:embed="rId3">
            <a:alphaModFix/>
          </a:blip>
          <a:srcRect b="0" l="41402" r="3838" t="0"/>
          <a:stretch/>
        </p:blipFill>
        <p:spPr>
          <a:xfrm>
            <a:off x="4921399" y="0"/>
            <a:ext cx="422260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89"/>
          <p:cNvSpPr/>
          <p:nvPr/>
        </p:nvSpPr>
        <p:spPr>
          <a:xfrm flipH="1">
            <a:off x="457200" y="1828800"/>
            <a:ext cx="2428500" cy="27393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22" name="Google Shape;722;p89"/>
          <p:cNvGrpSpPr/>
          <p:nvPr/>
        </p:nvGrpSpPr>
        <p:grpSpPr>
          <a:xfrm>
            <a:off x="457197" y="1129027"/>
            <a:ext cx="533372" cy="533480"/>
            <a:chOff x="457200" y="1378813"/>
            <a:chExt cx="695400" cy="695450"/>
          </a:xfrm>
        </p:grpSpPr>
        <p:sp>
          <p:nvSpPr>
            <p:cNvPr id="723" name="Google Shape;723;p89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4" name="Google Shape;724;p89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5" name="Google Shape;725;p89"/>
          <p:cNvGrpSpPr/>
          <p:nvPr/>
        </p:nvGrpSpPr>
        <p:grpSpPr>
          <a:xfrm>
            <a:off x="3357750" y="1129027"/>
            <a:ext cx="533372" cy="533480"/>
            <a:chOff x="457200" y="1378813"/>
            <a:chExt cx="695400" cy="695450"/>
          </a:xfrm>
        </p:grpSpPr>
        <p:sp>
          <p:nvSpPr>
            <p:cNvPr id="726" name="Google Shape;726;p89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7" name="Google Shape;727;p89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8" name="Google Shape;728;p89"/>
          <p:cNvSpPr/>
          <p:nvPr/>
        </p:nvSpPr>
        <p:spPr>
          <a:xfrm flipH="1">
            <a:off x="3357750" y="1828800"/>
            <a:ext cx="2428500" cy="27393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29" name="Google Shape;729;p89"/>
          <p:cNvGrpSpPr/>
          <p:nvPr/>
        </p:nvGrpSpPr>
        <p:grpSpPr>
          <a:xfrm>
            <a:off x="6258297" y="1129777"/>
            <a:ext cx="533372" cy="533480"/>
            <a:chOff x="457200" y="1378813"/>
            <a:chExt cx="695400" cy="695450"/>
          </a:xfrm>
        </p:grpSpPr>
        <p:sp>
          <p:nvSpPr>
            <p:cNvPr id="730" name="Google Shape;730;p89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2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1" name="Google Shape;731;p89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2" name="Google Shape;732;p89"/>
          <p:cNvSpPr/>
          <p:nvPr/>
        </p:nvSpPr>
        <p:spPr>
          <a:xfrm flipH="1">
            <a:off x="6258300" y="1829572"/>
            <a:ext cx="2428500" cy="27393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89"/>
          <p:cNvSpPr txBox="1"/>
          <p:nvPr>
            <p:ph idx="4294967295" type="body"/>
          </p:nvPr>
        </p:nvSpPr>
        <p:spPr>
          <a:xfrm>
            <a:off x="457150" y="1840225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The only way to achieve a desired outcome</a:t>
            </a:r>
            <a:endParaRPr/>
          </a:p>
        </p:txBody>
      </p:sp>
      <p:sp>
        <p:nvSpPr>
          <p:cNvPr id="734" name="Google Shape;734;p89"/>
          <p:cNvSpPr txBox="1"/>
          <p:nvPr>
            <p:ph idx="4294967295" type="body"/>
          </p:nvPr>
        </p:nvSpPr>
        <p:spPr>
          <a:xfrm>
            <a:off x="3357725" y="1840225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The fastest way to achieve a desired outcome</a:t>
            </a:r>
            <a:endParaRPr/>
          </a:p>
        </p:txBody>
      </p:sp>
      <p:sp>
        <p:nvSpPr>
          <p:cNvPr id="735" name="Google Shape;735;p89"/>
          <p:cNvSpPr txBox="1"/>
          <p:nvPr>
            <p:ph idx="4294967295" type="body"/>
          </p:nvPr>
        </p:nvSpPr>
        <p:spPr>
          <a:xfrm>
            <a:off x="6258300" y="1840225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The most flexible way to achieve a desired outcome</a:t>
            </a:r>
            <a:endParaRPr/>
          </a:p>
        </p:txBody>
      </p:sp>
      <p:sp>
        <p:nvSpPr>
          <p:cNvPr id="736" name="Google Shape;736;p89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Why the Command Line?</a:t>
            </a:r>
            <a:endParaRPr/>
          </a:p>
        </p:txBody>
      </p:sp>
      <p:sp>
        <p:nvSpPr>
          <p:cNvPr id="737" name="Google Shape;737;p89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Using the command line is a critical skill. At different times, it may be: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2" name="Google Shape;742;p90"/>
          <p:cNvGrpSpPr/>
          <p:nvPr/>
        </p:nvGrpSpPr>
        <p:grpSpPr>
          <a:xfrm rot="-5400000">
            <a:off x="212196" y="1417353"/>
            <a:ext cx="497559" cy="602190"/>
            <a:chOff x="457200" y="1378813"/>
            <a:chExt cx="695400" cy="695450"/>
          </a:xfrm>
        </p:grpSpPr>
        <p:sp>
          <p:nvSpPr>
            <p:cNvPr id="743" name="Google Shape;743;p90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4" name="Google Shape;744;p90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5" name="Google Shape;745;p90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Why the Command Line?</a:t>
            </a:r>
            <a:endParaRPr/>
          </a:p>
        </p:txBody>
      </p:sp>
      <p:sp>
        <p:nvSpPr>
          <p:cNvPr id="746" name="Google Shape;746;p90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Using the command line is a critical skill. At different times, it may be:</a:t>
            </a:r>
            <a:endParaRPr/>
          </a:p>
        </p:txBody>
      </p:sp>
      <p:sp>
        <p:nvSpPr>
          <p:cNvPr id="747" name="Google Shape;747;p90"/>
          <p:cNvSpPr/>
          <p:nvPr/>
        </p:nvSpPr>
        <p:spPr>
          <a:xfrm>
            <a:off x="754350" y="1469675"/>
            <a:ext cx="4884600" cy="497700"/>
          </a:xfrm>
          <a:prstGeom prst="roundRect">
            <a:avLst>
              <a:gd fmla="val 930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The only way to achieve a desired outcome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90"/>
          <p:cNvSpPr txBox="1"/>
          <p:nvPr/>
        </p:nvSpPr>
        <p:spPr>
          <a:xfrm>
            <a:off x="190488" y="1487588"/>
            <a:ext cx="53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90"/>
          <p:cNvSpPr txBox="1"/>
          <p:nvPr>
            <p:ph idx="4294967295" type="body"/>
          </p:nvPr>
        </p:nvSpPr>
        <p:spPr>
          <a:xfrm>
            <a:off x="78000" y="2307000"/>
            <a:ext cx="5782500" cy="17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You may have to work with systems and tools that have no GUI interface.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50" name="Google Shape;750;p90"/>
          <p:cNvPicPr preferRelativeResize="0"/>
          <p:nvPr/>
        </p:nvPicPr>
        <p:blipFill rotWithShape="1">
          <a:blip r:embed="rId3">
            <a:alphaModFix/>
          </a:blip>
          <a:srcRect b="19687" l="25364" r="27715" t="18285"/>
          <a:stretch/>
        </p:blipFill>
        <p:spPr>
          <a:xfrm>
            <a:off x="5669400" y="1319550"/>
            <a:ext cx="3344224" cy="304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9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Why the Command Line?</a:t>
            </a:r>
            <a:endParaRPr/>
          </a:p>
        </p:txBody>
      </p:sp>
      <p:sp>
        <p:nvSpPr>
          <p:cNvPr id="756" name="Google Shape;756;p9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Using the command line is a critical skill. At different times, it may be:</a:t>
            </a:r>
            <a:endParaRPr/>
          </a:p>
        </p:txBody>
      </p:sp>
      <p:sp>
        <p:nvSpPr>
          <p:cNvPr id="757" name="Google Shape;757;p91"/>
          <p:cNvSpPr/>
          <p:nvPr/>
        </p:nvSpPr>
        <p:spPr>
          <a:xfrm>
            <a:off x="601950" y="1235675"/>
            <a:ext cx="3305700" cy="887100"/>
          </a:xfrm>
          <a:prstGeom prst="roundRect">
            <a:avLst>
              <a:gd fmla="val 930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fastest way to achieve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desired outcome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8" name="Google Shape;758;p91"/>
          <p:cNvSpPr txBox="1"/>
          <p:nvPr>
            <p:ph idx="4294967295" type="body"/>
          </p:nvPr>
        </p:nvSpPr>
        <p:spPr>
          <a:xfrm>
            <a:off x="78000" y="2307000"/>
            <a:ext cx="5782500" cy="17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The command line has tools that can speed </a:t>
            </a:r>
            <a:br>
              <a:rPr lang="en"/>
            </a:br>
            <a:r>
              <a:rPr lang="en"/>
              <a:t>up a task.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759" name="Google Shape;759;p91"/>
          <p:cNvGrpSpPr/>
          <p:nvPr/>
        </p:nvGrpSpPr>
        <p:grpSpPr>
          <a:xfrm rot="-5400000">
            <a:off x="76197" y="1433827"/>
            <a:ext cx="533372" cy="533480"/>
            <a:chOff x="457200" y="1378813"/>
            <a:chExt cx="695400" cy="695450"/>
          </a:xfrm>
        </p:grpSpPr>
        <p:sp>
          <p:nvSpPr>
            <p:cNvPr id="760" name="Google Shape;760;p9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1" name="Google Shape;761;p9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2" name="Google Shape;762;p91"/>
          <p:cNvSpPr txBox="1"/>
          <p:nvPr/>
        </p:nvSpPr>
        <p:spPr>
          <a:xfrm>
            <a:off x="76188" y="1469713"/>
            <a:ext cx="53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3" name="Google Shape;763;p91"/>
          <p:cNvPicPr preferRelativeResize="0"/>
          <p:nvPr/>
        </p:nvPicPr>
        <p:blipFill rotWithShape="1">
          <a:blip r:embed="rId3">
            <a:alphaModFix/>
          </a:blip>
          <a:srcRect b="12675" l="13345" r="12552" t="12764"/>
          <a:stretch/>
        </p:blipFill>
        <p:spPr>
          <a:xfrm>
            <a:off x="4659149" y="1235675"/>
            <a:ext cx="4559124" cy="315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9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Why the Command Line?</a:t>
            </a:r>
            <a:endParaRPr/>
          </a:p>
        </p:txBody>
      </p:sp>
      <p:sp>
        <p:nvSpPr>
          <p:cNvPr id="769" name="Google Shape;769;p92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Using the command line is a critical skill. At different times, it may be:</a:t>
            </a:r>
            <a:endParaRPr/>
          </a:p>
        </p:txBody>
      </p:sp>
      <p:sp>
        <p:nvSpPr>
          <p:cNvPr id="770" name="Google Shape;770;p92"/>
          <p:cNvSpPr/>
          <p:nvPr/>
        </p:nvSpPr>
        <p:spPr>
          <a:xfrm>
            <a:off x="601950" y="1235675"/>
            <a:ext cx="4734600" cy="887100"/>
          </a:xfrm>
          <a:prstGeom prst="roundRect">
            <a:avLst>
              <a:gd fmla="val 930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most flexible way to achieve a desired outcome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1" name="Google Shape;771;p92"/>
          <p:cNvSpPr txBox="1"/>
          <p:nvPr>
            <p:ph idx="4294967295" type="body"/>
          </p:nvPr>
        </p:nvSpPr>
        <p:spPr>
          <a:xfrm>
            <a:off x="78000" y="2307000"/>
            <a:ext cx="5782500" cy="17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Working directly with the command line provides greater control.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772" name="Google Shape;772;p92"/>
          <p:cNvGrpSpPr/>
          <p:nvPr/>
        </p:nvGrpSpPr>
        <p:grpSpPr>
          <a:xfrm rot="-5400000">
            <a:off x="76197" y="1433827"/>
            <a:ext cx="533372" cy="533480"/>
            <a:chOff x="457200" y="1378813"/>
            <a:chExt cx="695400" cy="695450"/>
          </a:xfrm>
        </p:grpSpPr>
        <p:sp>
          <p:nvSpPr>
            <p:cNvPr id="773" name="Google Shape;773;p9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4" name="Google Shape;774;p9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5" name="Google Shape;775;p92"/>
          <p:cNvSpPr txBox="1"/>
          <p:nvPr/>
        </p:nvSpPr>
        <p:spPr>
          <a:xfrm>
            <a:off x="76188" y="1469713"/>
            <a:ext cx="53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6" name="Google Shape;776;p92"/>
          <p:cNvPicPr preferRelativeResize="0"/>
          <p:nvPr/>
        </p:nvPicPr>
        <p:blipFill rotWithShape="1">
          <a:blip r:embed="rId3">
            <a:alphaModFix/>
          </a:blip>
          <a:srcRect b="0" l="14605" r="14285" t="0"/>
          <a:stretch/>
        </p:blipFill>
        <p:spPr>
          <a:xfrm>
            <a:off x="5092012" y="1619325"/>
            <a:ext cx="3710525" cy="359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93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Words to the Wise</a:t>
            </a:r>
            <a:endParaRPr/>
          </a:p>
        </p:txBody>
      </p:sp>
      <p:sp>
        <p:nvSpPr>
          <p:cNvPr id="782" name="Google Shape;782;p93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A few things to remember</a:t>
            </a:r>
            <a:endParaRPr/>
          </a:p>
        </p:txBody>
      </p:sp>
      <p:sp>
        <p:nvSpPr>
          <p:cNvPr id="783" name="Google Shape;783;p93"/>
          <p:cNvSpPr/>
          <p:nvPr/>
        </p:nvSpPr>
        <p:spPr>
          <a:xfrm>
            <a:off x="175" y="3657600"/>
            <a:ext cx="9144000" cy="9144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-57150" lvl="0" marL="2171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Remember: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Practice makes perfect!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84" name="Google Shape;78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727" y="3762330"/>
            <a:ext cx="706371" cy="669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5" name="Google Shape;785;p93"/>
          <p:cNvGrpSpPr/>
          <p:nvPr/>
        </p:nvGrpSpPr>
        <p:grpSpPr>
          <a:xfrm>
            <a:off x="-3" y="1171500"/>
            <a:ext cx="8686828" cy="400200"/>
            <a:chOff x="-3" y="1185750"/>
            <a:chExt cx="8686828" cy="400200"/>
          </a:xfrm>
        </p:grpSpPr>
        <p:cxnSp>
          <p:nvCxnSpPr>
            <p:cNvPr id="786" name="Google Shape;786;p93"/>
            <p:cNvCxnSpPr/>
            <p:nvPr/>
          </p:nvCxnSpPr>
          <p:spPr>
            <a:xfrm>
              <a:off x="-3" y="1385850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787" name="Google Shape;787;p93"/>
            <p:cNvSpPr/>
            <p:nvPr/>
          </p:nvSpPr>
          <p:spPr>
            <a:xfrm>
              <a:off x="596125" y="1185750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93"/>
            <p:cNvSpPr/>
            <p:nvPr/>
          </p:nvSpPr>
          <p:spPr>
            <a:xfrm>
              <a:off x="513600" y="1224300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93"/>
            <p:cNvSpPr/>
            <p:nvPr/>
          </p:nvSpPr>
          <p:spPr>
            <a:xfrm>
              <a:off x="593400" y="1304100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0" name="Google Shape;790;p93"/>
          <p:cNvGrpSpPr/>
          <p:nvPr/>
        </p:nvGrpSpPr>
        <p:grpSpPr>
          <a:xfrm>
            <a:off x="-3" y="1857242"/>
            <a:ext cx="8686828" cy="400200"/>
            <a:chOff x="-3" y="1885788"/>
            <a:chExt cx="8686828" cy="400200"/>
          </a:xfrm>
        </p:grpSpPr>
        <p:cxnSp>
          <p:nvCxnSpPr>
            <p:cNvPr id="791" name="Google Shape;791;p93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792" name="Google Shape;792;p93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793" name="Google Shape;793;p93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93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93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6" name="Google Shape;796;p93"/>
          <p:cNvGrpSpPr/>
          <p:nvPr/>
        </p:nvGrpSpPr>
        <p:grpSpPr>
          <a:xfrm>
            <a:off x="-3" y="2542984"/>
            <a:ext cx="8686828" cy="400200"/>
            <a:chOff x="-3" y="2566213"/>
            <a:chExt cx="8686828" cy="400200"/>
          </a:xfrm>
        </p:grpSpPr>
        <p:cxnSp>
          <p:nvCxnSpPr>
            <p:cNvPr id="797" name="Google Shape;797;p93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798" name="Google Shape;798;p93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93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93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01" name="Google Shape;801;p93"/>
          <p:cNvSpPr txBox="1"/>
          <p:nvPr>
            <p:ph idx="4294967295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The best way to learn the command line is to use it.</a:t>
            </a:r>
            <a:endParaRPr/>
          </a:p>
        </p:txBody>
      </p:sp>
      <p:sp>
        <p:nvSpPr>
          <p:cNvPr id="802" name="Google Shape;802;p93"/>
          <p:cNvSpPr txBox="1"/>
          <p:nvPr>
            <p:ph idx="4294967295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This section is heavily focused on practical activities.</a:t>
            </a:r>
            <a:endParaRPr/>
          </a:p>
        </p:txBody>
      </p:sp>
      <p:sp>
        <p:nvSpPr>
          <p:cNvPr id="803" name="Google Shape;803;p93"/>
          <p:cNvSpPr txBox="1"/>
          <p:nvPr>
            <p:ph idx="4294967295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Take notes during each demo and try your best on activities.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9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Scenario</a:t>
            </a:r>
            <a:endParaRPr/>
          </a:p>
        </p:txBody>
      </p:sp>
      <p:sp>
        <p:nvSpPr>
          <p:cNvPr id="809" name="Google Shape;809;p94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Candy Corp</a:t>
            </a:r>
            <a:endParaRPr/>
          </a:p>
        </p:txBody>
      </p:sp>
      <p:sp>
        <p:nvSpPr>
          <p:cNvPr id="810" name="Google Shape;810;p94"/>
          <p:cNvSpPr txBox="1"/>
          <p:nvPr>
            <p:ph idx="2" type="body"/>
          </p:nvPr>
        </p:nvSpPr>
        <p:spPr>
          <a:xfrm>
            <a:off x="461225" y="1320525"/>
            <a:ext cx="8229600" cy="3263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You are a security analysts at a candy manufacturing company called Candy Corp.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You will be using the command line to investigate a potential rogue employee who may be selling secret Candy Corp recipes to a rival organization, Sugar Corp.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You will be tasked with using the command line to identify evidence on the system of suspicious activity from this rogue employee</a:t>
            </a:r>
            <a:endParaRPr/>
          </a:p>
        </p:txBody>
      </p:sp>
      <p:pic>
        <p:nvPicPr>
          <p:cNvPr id="811" name="Google Shape;811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95"/>
          <p:cNvSpPr txBox="1"/>
          <p:nvPr>
            <p:ph idx="4294967295"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Demonstrati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7" name="Google Shape;817;p95"/>
          <p:cNvSpPr txBox="1"/>
          <p:nvPr>
            <p:ph idx="4294967295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Text Commands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96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Basic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Terminal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Commands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3" name="Google Shape;82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500" y="2014378"/>
            <a:ext cx="746750" cy="6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97"/>
          <p:cNvSpPr txBox="1"/>
          <p:nvPr/>
        </p:nvSpPr>
        <p:spPr>
          <a:xfrm>
            <a:off x="368950" y="127400"/>
            <a:ext cx="84633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Basic Commands</a:t>
            </a:r>
            <a:endParaRPr b="1" i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In the next demo, we’ll cover the following text commands: </a:t>
            </a:r>
            <a:endParaRPr sz="22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29" name="Google Shape;829;p97"/>
          <p:cNvGraphicFramePr/>
          <p:nvPr/>
        </p:nvGraphicFramePr>
        <p:xfrm>
          <a:off x="457150" y="103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{81F512AA-73CF-4F4C-81B4-9781E988C86A}</a:tableStyleId>
              </a:tblPr>
              <a:tblGrid>
                <a:gridCol w="1092600"/>
                <a:gridCol w="6370725"/>
              </a:tblGrid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pwd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Displays the current working directory (“print working directory”)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ls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Lists directories and files in the current directory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cd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Navigates into a directory (“change directory”)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mkdir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Makes a directory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rmdir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Removes a directory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touch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Creates an empty file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rm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Removes a file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clear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Clears the terminal history of a page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echo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Displays text on the terminal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history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Displays a list of commands previously run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E5E7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98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Terminal Commands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99"/>
          <p:cNvSpPr txBox="1"/>
          <p:nvPr/>
        </p:nvSpPr>
        <p:spPr>
          <a:xfrm>
            <a:off x="368950" y="1274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Demonstration Review</a:t>
            </a:r>
            <a:endParaRPr b="1" i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does each of the commands do? 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40" name="Google Shape;840;p99"/>
          <p:cNvGraphicFramePr/>
          <p:nvPr/>
        </p:nvGraphicFramePr>
        <p:xfrm>
          <a:off x="457150" y="103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{81F512AA-73CF-4F4C-81B4-9781E988C86A}</a:tableStyleId>
              </a:tblPr>
              <a:tblGrid>
                <a:gridCol w="1092600"/>
                <a:gridCol w="6370725"/>
              </a:tblGrid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pwd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Displays the current working directory (“print working directory”)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ls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Lists directories and files in the current directory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cd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Navigates into a directory (“change directory”)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mkdir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Makes a directory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rmdir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Removes a directory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touch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Creates an empty file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rm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Removes a file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clear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Clears the terminal history of a page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echo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Displays text on the terminal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history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Displays a list of command previously ran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00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</a:t>
            </a:r>
            <a:endParaRPr/>
          </a:p>
        </p:txBody>
      </p:sp>
      <p:sp>
        <p:nvSpPr>
          <p:cNvPr id="846" name="Google Shape;846;p100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Five and Practice the Command Line</a:t>
            </a:r>
            <a:endParaRPr/>
          </a:p>
        </p:txBody>
      </p:sp>
      <p:sp>
        <p:nvSpPr>
          <p:cNvPr id="847" name="Google Shape;847;p100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are a security analyst at Candy Corp.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Candy Corp believes an employee is selling secret recipes.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must create evidence directories for email, logs, and web access to organize your investigation.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8" name="Google Shape;848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04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Relative vs. Absolute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Paths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6" name="Google Shape;866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4275" y="1608175"/>
            <a:ext cx="1314450" cy="127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05"/>
          <p:cNvSpPr txBox="1"/>
          <p:nvPr>
            <p:ph type="title"/>
          </p:nvPr>
        </p:nvSpPr>
        <p:spPr>
          <a:xfrm>
            <a:off x="914400" y="27435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Paths</a:t>
            </a:r>
            <a:endParaRPr/>
          </a:p>
        </p:txBody>
      </p:sp>
      <p:sp>
        <p:nvSpPr>
          <p:cNvPr id="872" name="Google Shape;872;p105"/>
          <p:cNvSpPr txBox="1"/>
          <p:nvPr>
            <p:ph idx="2" type="body"/>
          </p:nvPr>
        </p:nvSpPr>
        <p:spPr>
          <a:xfrm>
            <a:off x="911550" y="952025"/>
            <a:ext cx="7778100" cy="3079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file path is a unique location in the file system where a file is located.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cat.jpg</a:t>
            </a:r>
            <a:r>
              <a:rPr lang="en"/>
              <a:t> image file is located in the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my_images </a:t>
            </a:r>
            <a:r>
              <a:rPr lang="en"/>
              <a:t>directory, which is in the Desktop directory, in the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Sally </a:t>
            </a:r>
            <a:r>
              <a:rPr lang="en"/>
              <a:t>directory, in the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home </a:t>
            </a:r>
            <a:r>
              <a:rPr lang="en"/>
              <a:t>directory</a:t>
            </a:r>
            <a:endParaRPr/>
          </a:p>
        </p:txBody>
      </p:sp>
      <p:pic>
        <p:nvPicPr>
          <p:cNvPr id="873" name="Google Shape;873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607" y="320100"/>
            <a:ext cx="387194" cy="2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105"/>
          <p:cNvSpPr txBox="1"/>
          <p:nvPr/>
        </p:nvSpPr>
        <p:spPr>
          <a:xfrm>
            <a:off x="723150" y="4011263"/>
            <a:ext cx="37215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The directory path is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/home/Sally/Desktop/my_images/</a:t>
            </a:r>
            <a:endParaRPr sz="1800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cxnSp>
        <p:nvCxnSpPr>
          <p:cNvPr id="875" name="Google Shape;875;p105"/>
          <p:cNvCxnSpPr/>
          <p:nvPr/>
        </p:nvCxnSpPr>
        <p:spPr>
          <a:xfrm rot="5400000">
            <a:off x="1748775" y="369219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76" name="Google Shape;876;p105"/>
          <p:cNvSpPr txBox="1"/>
          <p:nvPr/>
        </p:nvSpPr>
        <p:spPr>
          <a:xfrm>
            <a:off x="5792450" y="4037688"/>
            <a:ext cx="3231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The file is an image called</a:t>
            </a:r>
            <a:b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cat.jpg</a:t>
            </a:r>
            <a:endParaRPr sz="1800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cxnSp>
        <p:nvCxnSpPr>
          <p:cNvPr id="877" name="Google Shape;877;p105"/>
          <p:cNvCxnSpPr/>
          <p:nvPr/>
        </p:nvCxnSpPr>
        <p:spPr>
          <a:xfrm rot="5400000">
            <a:off x="7574275" y="3692200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78" name="Google Shape;878;p105"/>
          <p:cNvSpPr txBox="1"/>
          <p:nvPr/>
        </p:nvSpPr>
        <p:spPr>
          <a:xfrm>
            <a:off x="263600" y="2494738"/>
            <a:ext cx="8536200" cy="90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18287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3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/home/Sally/Desktop/my_images/cat.jpg</a:t>
            </a:r>
            <a:endParaRPr sz="33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06"/>
          <p:cNvSpPr txBox="1"/>
          <p:nvPr>
            <p:ph type="title"/>
          </p:nvPr>
        </p:nvSpPr>
        <p:spPr>
          <a:xfrm>
            <a:off x="914400" y="27435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Paths in IT</a:t>
            </a:r>
            <a:endParaRPr/>
          </a:p>
        </p:txBody>
      </p:sp>
      <p:sp>
        <p:nvSpPr>
          <p:cNvPr id="884" name="Google Shape;884;p106"/>
          <p:cNvSpPr txBox="1"/>
          <p:nvPr>
            <p:ph idx="2" type="body"/>
          </p:nvPr>
        </p:nvSpPr>
        <p:spPr>
          <a:xfrm>
            <a:off x="914400" y="1208225"/>
            <a:ext cx="7778100" cy="2697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are a security administrator and need to access a network log for an investigation.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might ask the network team for the location or path of the file.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network team would provide you with a file path such as:</a:t>
            </a:r>
            <a:endParaRPr/>
          </a:p>
        </p:txBody>
      </p:sp>
      <p:pic>
        <p:nvPicPr>
          <p:cNvPr id="885" name="Google Shape;885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607" y="320100"/>
            <a:ext cx="387194" cy="2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106"/>
          <p:cNvSpPr txBox="1"/>
          <p:nvPr/>
        </p:nvSpPr>
        <p:spPr>
          <a:xfrm>
            <a:off x="350850" y="3587800"/>
            <a:ext cx="8536200" cy="90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182875">
            <a:normAutofit fontScale="85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/var/log/logfile1.txt</a:t>
            </a:r>
            <a:endParaRPr sz="33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07"/>
          <p:cNvSpPr/>
          <p:nvPr/>
        </p:nvSpPr>
        <p:spPr>
          <a:xfrm>
            <a:off x="1108875" y="1133250"/>
            <a:ext cx="30057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2" name="Google Shape;892;p107"/>
          <p:cNvSpPr txBox="1"/>
          <p:nvPr>
            <p:ph idx="4294967295" type="title"/>
          </p:nvPr>
        </p:nvSpPr>
        <p:spPr>
          <a:xfrm>
            <a:off x="1137071" y="1170100"/>
            <a:ext cx="1929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" sz="1800">
                <a:latin typeface="Roboto Medium"/>
                <a:ea typeface="Roboto Medium"/>
                <a:cs typeface="Roboto Medium"/>
                <a:sym typeface="Roboto Medium"/>
              </a:rPr>
              <a:t>Absolute paths</a:t>
            </a:r>
            <a:endParaRPr b="0" sz="18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893" name="Google Shape;893;p107"/>
          <p:cNvGrpSpPr/>
          <p:nvPr/>
        </p:nvGrpSpPr>
        <p:grpSpPr>
          <a:xfrm>
            <a:off x="457147" y="1133252"/>
            <a:ext cx="533372" cy="533480"/>
            <a:chOff x="457200" y="1378813"/>
            <a:chExt cx="695400" cy="695450"/>
          </a:xfrm>
        </p:grpSpPr>
        <p:sp>
          <p:nvSpPr>
            <p:cNvPr id="894" name="Google Shape;894;p10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5" name="Google Shape;895;p10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6" name="Google Shape;896;p107"/>
          <p:cNvGrpSpPr/>
          <p:nvPr/>
        </p:nvGrpSpPr>
        <p:grpSpPr>
          <a:xfrm>
            <a:off x="5029196" y="1133252"/>
            <a:ext cx="533372" cy="533480"/>
            <a:chOff x="2605668" y="1378813"/>
            <a:chExt cx="695400" cy="695450"/>
          </a:xfrm>
        </p:grpSpPr>
        <p:sp>
          <p:nvSpPr>
            <p:cNvPr id="897" name="Google Shape;897;p107"/>
            <p:cNvSpPr/>
            <p:nvPr/>
          </p:nvSpPr>
          <p:spPr>
            <a:xfrm>
              <a:off x="2605668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8" name="Google Shape;898;p107"/>
            <p:cNvSpPr/>
            <p:nvPr/>
          </p:nvSpPr>
          <p:spPr>
            <a:xfrm rot="10800000">
              <a:off x="2783210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9" name="Google Shape;899;p107"/>
          <p:cNvSpPr/>
          <p:nvPr/>
        </p:nvSpPr>
        <p:spPr>
          <a:xfrm>
            <a:off x="5681375" y="1133250"/>
            <a:ext cx="30057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0" name="Google Shape;900;p107"/>
          <p:cNvSpPr txBox="1"/>
          <p:nvPr>
            <p:ph idx="4294967295" type="title"/>
          </p:nvPr>
        </p:nvSpPr>
        <p:spPr>
          <a:xfrm>
            <a:off x="5709700" y="1170100"/>
            <a:ext cx="297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" sz="1800">
                <a:latin typeface="Roboto Medium"/>
                <a:ea typeface="Roboto Medium"/>
                <a:cs typeface="Roboto Medium"/>
                <a:sym typeface="Roboto Medium"/>
              </a:rPr>
              <a:t>Relative paths</a:t>
            </a:r>
            <a:endParaRPr b="0" sz="18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01" name="Google Shape;901;p107"/>
          <p:cNvSpPr txBox="1"/>
          <p:nvPr>
            <p:ph idx="4294967295" type="title"/>
          </p:nvPr>
        </p:nvSpPr>
        <p:spPr>
          <a:xfrm>
            <a:off x="5029200" y="1828801"/>
            <a:ext cx="36576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" sz="1800"/>
              <a:t>A </a:t>
            </a:r>
            <a:r>
              <a:rPr lang="en" sz="1800"/>
              <a:t>relative path</a:t>
            </a:r>
            <a:r>
              <a:rPr b="0" lang="en" sz="1800"/>
              <a:t> starts at your current location in the file system and doesn't require using the root directory ("/").</a:t>
            </a:r>
            <a:endParaRPr b="0" sz="1800"/>
          </a:p>
        </p:txBody>
      </p:sp>
      <p:pic>
        <p:nvPicPr>
          <p:cNvPr id="902" name="Google Shape;902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5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107"/>
          <p:cNvSpPr txBox="1"/>
          <p:nvPr>
            <p:ph idx="4294967295" type="body"/>
          </p:nvPr>
        </p:nvSpPr>
        <p:spPr>
          <a:xfrm>
            <a:off x="457150" y="1837402"/>
            <a:ext cx="36576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An</a:t>
            </a:r>
            <a:r>
              <a:rPr b="1" lang="en"/>
              <a:t> absolute path</a:t>
            </a:r>
            <a:r>
              <a:rPr lang="en"/>
              <a:t> indicates the location of a file regardless of your current location in the file system.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04" name="Google Shape;904;p107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File Paths</a:t>
            </a:r>
            <a:endParaRPr/>
          </a:p>
        </p:txBody>
      </p:sp>
      <p:sp>
        <p:nvSpPr>
          <p:cNvPr id="905" name="Google Shape;905;p107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There are two types of file paths:</a:t>
            </a:r>
            <a:endParaRPr/>
          </a:p>
        </p:txBody>
      </p:sp>
      <p:sp>
        <p:nvSpPr>
          <p:cNvPr id="906" name="Google Shape;906;p107"/>
          <p:cNvSpPr txBox="1"/>
          <p:nvPr/>
        </p:nvSpPr>
        <p:spPr>
          <a:xfrm>
            <a:off x="311650" y="3203575"/>
            <a:ext cx="3948600" cy="60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182875">
            <a:normAutofit fontScale="325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3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/home/Sally/Desktop/Sallysfiles/textfiles/Sallyfile.txt</a:t>
            </a:r>
            <a:endParaRPr sz="33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7" name="Google Shape;907;p107"/>
          <p:cNvSpPr txBox="1"/>
          <p:nvPr/>
        </p:nvSpPr>
        <p:spPr>
          <a:xfrm>
            <a:off x="5029200" y="3203500"/>
            <a:ext cx="3657600" cy="60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18287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5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Sallysfiles/textfiles/Sallyfile.txt</a:t>
            </a:r>
            <a:endParaRPr sz="105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08"/>
          <p:cNvSpPr txBox="1"/>
          <p:nvPr/>
        </p:nvSpPr>
        <p:spPr>
          <a:xfrm>
            <a:off x="810400" y="2211875"/>
            <a:ext cx="7703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                                    </a:t>
            </a: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If we are located in a different directory, such as: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3" name="Google Shape;913;p108"/>
          <p:cNvSpPr txBox="1"/>
          <p:nvPr>
            <p:ph idx="1" type="body"/>
          </p:nvPr>
        </p:nvSpPr>
        <p:spPr>
          <a:xfrm>
            <a:off x="350850" y="1381150"/>
            <a:ext cx="8536200" cy="7431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/home/Sally/Desktop/Sallysfiles/textfiles/Sallyfile.txt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914" name="Google Shape;914;p108"/>
          <p:cNvSpPr txBox="1"/>
          <p:nvPr/>
        </p:nvSpPr>
        <p:spPr>
          <a:xfrm>
            <a:off x="724200" y="127400"/>
            <a:ext cx="77895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Absolute Paths</a:t>
            </a:r>
            <a:endParaRPr b="1" i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5" name="Google Shape;915;p108"/>
          <p:cNvSpPr/>
          <p:nvPr/>
        </p:nvSpPr>
        <p:spPr>
          <a:xfrm>
            <a:off x="124350" y="2062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08"/>
          <p:cNvSpPr/>
          <p:nvPr/>
        </p:nvSpPr>
        <p:spPr>
          <a:xfrm>
            <a:off x="97200" y="185448"/>
            <a:ext cx="627000" cy="627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82D49"/>
              </a:solidFill>
            </a:endParaRPr>
          </a:p>
        </p:txBody>
      </p:sp>
      <p:pic>
        <p:nvPicPr>
          <p:cNvPr id="917" name="Google Shape;917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25" y="363950"/>
            <a:ext cx="381350" cy="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108"/>
          <p:cNvSpPr txBox="1"/>
          <p:nvPr/>
        </p:nvSpPr>
        <p:spPr>
          <a:xfrm>
            <a:off x="810400" y="3308525"/>
            <a:ext cx="7703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                                                      </a:t>
            </a: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We can use the absolute path: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9" name="Google Shape;919;p108"/>
          <p:cNvSpPr txBox="1"/>
          <p:nvPr>
            <p:ph idx="1" type="body"/>
          </p:nvPr>
        </p:nvSpPr>
        <p:spPr>
          <a:xfrm>
            <a:off x="350850" y="2491550"/>
            <a:ext cx="8536200" cy="7431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/home/bob/file_logs/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920" name="Google Shape;920;p108"/>
          <p:cNvSpPr txBox="1"/>
          <p:nvPr>
            <p:ph idx="1" type="body"/>
          </p:nvPr>
        </p:nvSpPr>
        <p:spPr>
          <a:xfrm>
            <a:off x="350850" y="3634200"/>
            <a:ext cx="8536200" cy="7431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/home/Sally/Desktop/Sallysfiles/textfiles/Sallyfile.txt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921" name="Google Shape;921;p108"/>
          <p:cNvSpPr txBox="1"/>
          <p:nvPr/>
        </p:nvSpPr>
        <p:spPr>
          <a:xfrm>
            <a:off x="2502150" y="1087725"/>
            <a:ext cx="4139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    We want to access a file located at: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0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Relative Paths</a:t>
            </a:r>
            <a:endParaRPr i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0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utilize the dotslash</a:t>
            </a:r>
            <a:endParaRPr/>
          </a:p>
        </p:txBody>
      </p:sp>
      <p:sp>
        <p:nvSpPr>
          <p:cNvPr id="928" name="Google Shape;928;p10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utilize </a:t>
            </a:r>
            <a:r>
              <a:rPr b="1" lang="en"/>
              <a:t>./ </a:t>
            </a:r>
            <a:r>
              <a:rPr lang="en"/>
              <a:t>to indicate a relative path from our current location: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. </a:t>
            </a:r>
            <a:r>
              <a:rPr lang="en"/>
              <a:t>indicates current directory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/>
              <a:t>/ </a:t>
            </a:r>
            <a:r>
              <a:rPr lang="en"/>
              <a:t>start of the relative path</a:t>
            </a:r>
            <a:endParaRPr/>
          </a:p>
        </p:txBody>
      </p:sp>
      <p:pic>
        <p:nvPicPr>
          <p:cNvPr id="929" name="Google Shape;929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525" y="359750"/>
            <a:ext cx="381350" cy="2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109"/>
          <p:cNvSpPr txBox="1"/>
          <p:nvPr/>
        </p:nvSpPr>
        <p:spPr>
          <a:xfrm>
            <a:off x="2385025" y="3380375"/>
            <a:ext cx="421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To Access Sallyfile.txt, you can use: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1" name="Google Shape;931;p109"/>
          <p:cNvSpPr txBox="1"/>
          <p:nvPr>
            <p:ph idx="2" type="body"/>
          </p:nvPr>
        </p:nvSpPr>
        <p:spPr>
          <a:xfrm>
            <a:off x="359100" y="3601900"/>
            <a:ext cx="8536200" cy="7431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lang="en" sz="23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/Sallysfiles/textfiles/Sallyfile.txt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932" name="Google Shape;932;p109"/>
          <p:cNvSpPr txBox="1"/>
          <p:nvPr/>
        </p:nvSpPr>
        <p:spPr>
          <a:xfrm>
            <a:off x="2518350" y="2379525"/>
            <a:ext cx="421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If we are working in the directory: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3" name="Google Shape;933;p109"/>
          <p:cNvSpPr txBox="1"/>
          <p:nvPr>
            <p:ph idx="2" type="body"/>
          </p:nvPr>
        </p:nvSpPr>
        <p:spPr>
          <a:xfrm>
            <a:off x="359100" y="2611300"/>
            <a:ext cx="8536200" cy="7431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/home/Sally/Desktop</a:t>
            </a:r>
            <a:endParaRPr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10"/>
          <p:cNvSpPr txBox="1"/>
          <p:nvPr/>
        </p:nvSpPr>
        <p:spPr>
          <a:xfrm>
            <a:off x="304800" y="127400"/>
            <a:ext cx="81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File Paths on the Command Line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9" name="Google Shape;939;p110"/>
          <p:cNvSpPr txBox="1"/>
          <p:nvPr/>
        </p:nvSpPr>
        <p:spPr>
          <a:xfrm>
            <a:off x="304800" y="597020"/>
            <a:ext cx="81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Relative and absolute paths function as helpful shortcuts on the command line.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40" name="Google Shape;940;p110"/>
          <p:cNvSpPr/>
          <p:nvPr/>
        </p:nvSpPr>
        <p:spPr>
          <a:xfrm flipH="1" rot="10800000">
            <a:off x="4494775" y="1375600"/>
            <a:ext cx="4374900" cy="1922100"/>
          </a:xfrm>
          <a:prstGeom prst="round2DiagRect">
            <a:avLst>
              <a:gd fmla="val 0" name="adj1"/>
              <a:gd fmla="val 1776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110"/>
          <p:cNvSpPr txBox="1"/>
          <p:nvPr/>
        </p:nvSpPr>
        <p:spPr>
          <a:xfrm>
            <a:off x="4850025" y="1572300"/>
            <a:ext cx="3919800" cy="10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082D49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cd Desktop/Sallysfiles/textfiles/</a:t>
            </a:r>
            <a:endParaRPr sz="1800">
              <a:solidFill>
                <a:srgbClr val="082D49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42" name="Google Shape;942;p110"/>
          <p:cNvSpPr/>
          <p:nvPr/>
        </p:nvSpPr>
        <p:spPr>
          <a:xfrm>
            <a:off x="293175" y="1381050"/>
            <a:ext cx="4124400" cy="1916700"/>
          </a:xfrm>
          <a:prstGeom prst="round2DiagRect">
            <a:avLst>
              <a:gd fmla="val 0" name="adj1"/>
              <a:gd fmla="val 17764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110"/>
          <p:cNvSpPr txBox="1"/>
          <p:nvPr/>
        </p:nvSpPr>
        <p:spPr>
          <a:xfrm>
            <a:off x="674650" y="1862790"/>
            <a:ext cx="3216900" cy="12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cd Desktop </a:t>
            </a:r>
            <a:endParaRPr sz="1800">
              <a:solidFill>
                <a:srgbClr val="082D49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cd Sallysfiles</a:t>
            </a:r>
            <a:endParaRPr sz="1800">
              <a:solidFill>
                <a:srgbClr val="082D49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cd textfiles</a:t>
            </a:r>
            <a:endParaRPr sz="1800">
              <a:solidFill>
                <a:srgbClr val="082D49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82D4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944" name="Google Shape;944;p110"/>
          <p:cNvGrpSpPr/>
          <p:nvPr/>
        </p:nvGrpSpPr>
        <p:grpSpPr>
          <a:xfrm>
            <a:off x="4064937" y="1762575"/>
            <a:ext cx="725449" cy="725449"/>
            <a:chOff x="4898908" y="4195167"/>
            <a:chExt cx="459000" cy="459000"/>
          </a:xfrm>
        </p:grpSpPr>
        <p:sp>
          <p:nvSpPr>
            <p:cNvPr id="945" name="Google Shape;945;p110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82D49"/>
                </a:solidFill>
              </a:endParaRPr>
            </a:p>
          </p:txBody>
        </p:sp>
        <p:sp>
          <p:nvSpPr>
            <p:cNvPr id="946" name="Google Shape;946;p110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11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Demonstration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111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and absolute paths</a:t>
            </a:r>
            <a:endParaRPr/>
          </a:p>
        </p:txBody>
      </p:sp>
      <p:pic>
        <p:nvPicPr>
          <p:cNvPr id="953" name="Google Shape;953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100" y="1343674"/>
            <a:ext cx="1468288" cy="9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12"/>
          <p:cNvSpPr/>
          <p:nvPr/>
        </p:nvSpPr>
        <p:spPr>
          <a:xfrm>
            <a:off x="566825" y="3986625"/>
            <a:ext cx="7400400" cy="512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12"/>
          <p:cNvSpPr/>
          <p:nvPr/>
        </p:nvSpPr>
        <p:spPr>
          <a:xfrm>
            <a:off x="399658" y="3968793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82D49"/>
                </a:solidFill>
              </a:rPr>
              <a:t>3</a:t>
            </a:r>
            <a:endParaRPr sz="1600">
              <a:solidFill>
                <a:srgbClr val="082D49"/>
              </a:solidFill>
            </a:endParaRPr>
          </a:p>
        </p:txBody>
      </p:sp>
      <p:sp>
        <p:nvSpPr>
          <p:cNvPr id="960" name="Google Shape;960;p112"/>
          <p:cNvSpPr/>
          <p:nvPr/>
        </p:nvSpPr>
        <p:spPr>
          <a:xfrm>
            <a:off x="566825" y="2051025"/>
            <a:ext cx="7400400" cy="783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112"/>
          <p:cNvSpPr/>
          <p:nvPr/>
        </p:nvSpPr>
        <p:spPr>
          <a:xfrm>
            <a:off x="399658" y="2188868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82D49"/>
                </a:solidFill>
              </a:rPr>
              <a:t>1</a:t>
            </a:r>
            <a:endParaRPr sz="1600">
              <a:solidFill>
                <a:srgbClr val="082D49"/>
              </a:solidFill>
            </a:endParaRPr>
          </a:p>
        </p:txBody>
      </p:sp>
      <p:sp>
        <p:nvSpPr>
          <p:cNvPr id="962" name="Google Shape;962;p112"/>
          <p:cNvSpPr/>
          <p:nvPr/>
        </p:nvSpPr>
        <p:spPr>
          <a:xfrm>
            <a:off x="566825" y="3133125"/>
            <a:ext cx="7400400" cy="512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112"/>
          <p:cNvSpPr/>
          <p:nvPr/>
        </p:nvSpPr>
        <p:spPr>
          <a:xfrm>
            <a:off x="399658" y="3115293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82D49"/>
                </a:solidFill>
              </a:rPr>
              <a:t>2</a:t>
            </a:r>
            <a:endParaRPr sz="1600">
              <a:solidFill>
                <a:srgbClr val="082D49"/>
              </a:solidFill>
            </a:endParaRPr>
          </a:p>
        </p:txBody>
      </p:sp>
      <p:cxnSp>
        <p:nvCxnSpPr>
          <p:cNvPr id="964" name="Google Shape;964;p112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65" name="Google Shape;965;p112"/>
          <p:cNvSpPr txBox="1"/>
          <p:nvPr/>
        </p:nvSpPr>
        <p:spPr>
          <a:xfrm>
            <a:off x="1075825" y="4124700"/>
            <a:ext cx="67380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Navigate back to the </a:t>
            </a:r>
            <a:r>
              <a:rPr lang="en">
                <a:solidFill>
                  <a:srgbClr val="2E5E73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home</a:t>
            </a: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 folder.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66" name="Google Shape;966;p112"/>
          <p:cNvSpPr txBox="1"/>
          <p:nvPr/>
        </p:nvSpPr>
        <p:spPr>
          <a:xfrm>
            <a:off x="1075825" y="2091975"/>
            <a:ext cx="6738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Navigate to the directory </a:t>
            </a:r>
            <a:r>
              <a:rPr lang="en">
                <a:solidFill>
                  <a:srgbClr val="2E5E73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/03-instructor/day1/pathnav_demonstration/security_evidence/Case2/</a:t>
            </a: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. 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Create an empty file called </a:t>
            </a:r>
            <a:r>
              <a:rPr lang="en">
                <a:solidFill>
                  <a:srgbClr val="2E5E73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case2_evidence</a:t>
            </a: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67" name="Google Shape;967;p112"/>
          <p:cNvSpPr txBox="1"/>
          <p:nvPr/>
        </p:nvSpPr>
        <p:spPr>
          <a:xfrm>
            <a:off x="1075825" y="3284250"/>
            <a:ext cx="67380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Navigate to the directory </a:t>
            </a:r>
            <a:r>
              <a:rPr lang="en">
                <a:solidFill>
                  <a:srgbClr val="2E5E73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Case1</a:t>
            </a: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 and create an empty file called </a:t>
            </a:r>
            <a:r>
              <a:rPr lang="en">
                <a:solidFill>
                  <a:srgbClr val="2E5E73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Web_logs</a:t>
            </a: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68" name="Google Shape;968;p112"/>
          <p:cNvSpPr txBox="1"/>
          <p:nvPr/>
        </p:nvSpPr>
        <p:spPr>
          <a:xfrm>
            <a:off x="228600" y="974801"/>
            <a:ext cx="81174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Our manager at ACME Corp needs us to create several additional evidence files for our investigation. They provide the following instructions: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69" name="Google Shape;969;p112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4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70" name="Google Shape;970;p112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12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972" name="Google Shape;972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13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Copying and Moving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Files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8" name="Google Shape;978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7475" y="1740706"/>
            <a:ext cx="631200" cy="1090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1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ecurity and IT professionals are often asked to </a:t>
            </a:r>
            <a:r>
              <a:rPr b="1" lang="en"/>
              <a:t>copy</a:t>
            </a:r>
            <a:r>
              <a:rPr lang="en"/>
              <a:t> files from one location to another.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15"/>
          <p:cNvSpPr/>
          <p:nvPr/>
        </p:nvSpPr>
        <p:spPr>
          <a:xfrm>
            <a:off x="457200" y="1371600"/>
            <a:ext cx="1985400" cy="23010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115"/>
          <p:cNvSpPr/>
          <p:nvPr/>
        </p:nvSpPr>
        <p:spPr>
          <a:xfrm>
            <a:off x="2528198" y="1371600"/>
            <a:ext cx="1985400" cy="23010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115"/>
          <p:cNvSpPr/>
          <p:nvPr/>
        </p:nvSpPr>
        <p:spPr>
          <a:xfrm>
            <a:off x="4630400" y="1371600"/>
            <a:ext cx="1985400" cy="23010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115"/>
          <p:cNvSpPr/>
          <p:nvPr/>
        </p:nvSpPr>
        <p:spPr>
          <a:xfrm>
            <a:off x="6732600" y="1371600"/>
            <a:ext cx="1954200" cy="2301000"/>
          </a:xfrm>
          <a:prstGeom prst="rect">
            <a:avLst/>
          </a:prstGeom>
          <a:solidFill>
            <a:srgbClr val="AAD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2" name="Google Shape;992;p115"/>
          <p:cNvGrpSpPr/>
          <p:nvPr/>
        </p:nvGrpSpPr>
        <p:grpSpPr>
          <a:xfrm>
            <a:off x="2252708" y="2292592"/>
            <a:ext cx="459000" cy="459000"/>
            <a:chOff x="4898908" y="4195167"/>
            <a:chExt cx="459000" cy="459000"/>
          </a:xfrm>
        </p:grpSpPr>
        <p:sp>
          <p:nvSpPr>
            <p:cNvPr id="993" name="Google Shape;993;p115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15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5" name="Google Shape;995;p115"/>
          <p:cNvGrpSpPr/>
          <p:nvPr/>
        </p:nvGrpSpPr>
        <p:grpSpPr>
          <a:xfrm>
            <a:off x="4342508" y="2292592"/>
            <a:ext cx="459000" cy="459000"/>
            <a:chOff x="4898908" y="4195167"/>
            <a:chExt cx="459000" cy="459000"/>
          </a:xfrm>
        </p:grpSpPr>
        <p:sp>
          <p:nvSpPr>
            <p:cNvPr id="996" name="Google Shape;996;p115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15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8" name="Google Shape;998;p115"/>
          <p:cNvGrpSpPr/>
          <p:nvPr/>
        </p:nvGrpSpPr>
        <p:grpSpPr>
          <a:xfrm>
            <a:off x="6432308" y="2292592"/>
            <a:ext cx="459000" cy="459000"/>
            <a:chOff x="4898908" y="4195167"/>
            <a:chExt cx="459000" cy="459000"/>
          </a:xfrm>
        </p:grpSpPr>
        <p:sp>
          <p:nvSpPr>
            <p:cNvPr id="999" name="Google Shape;999;p115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15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1" name="Google Shape;1001;p115"/>
          <p:cNvSpPr txBox="1"/>
          <p:nvPr/>
        </p:nvSpPr>
        <p:spPr>
          <a:xfrm>
            <a:off x="2730550" y="2140100"/>
            <a:ext cx="1611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(copy) command is entered on the terminal.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2" name="Google Shape;1002;p115"/>
          <p:cNvSpPr txBox="1"/>
          <p:nvPr/>
        </p:nvSpPr>
        <p:spPr>
          <a:xfrm>
            <a:off x="6891300" y="1828800"/>
            <a:ext cx="1795500" cy="18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copy is placed in new location.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115"/>
          <p:cNvSpPr txBox="1"/>
          <p:nvPr/>
        </p:nvSpPr>
        <p:spPr>
          <a:xfrm>
            <a:off x="4801500" y="2070750"/>
            <a:ext cx="1624500" cy="16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original file remains in current directory.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4" name="Google Shape;1004;p115"/>
          <p:cNvSpPr txBox="1"/>
          <p:nvPr/>
        </p:nvSpPr>
        <p:spPr>
          <a:xfrm>
            <a:off x="628400" y="2070750"/>
            <a:ext cx="16119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original file is located in the directory.</a:t>
            </a:r>
            <a:endParaRPr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5" name="Google Shape;1005;p11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Copying Files</a:t>
            </a:r>
            <a:endParaRPr/>
          </a:p>
        </p:txBody>
      </p:sp>
      <p:sp>
        <p:nvSpPr>
          <p:cNvPr id="1006" name="Google Shape;1006;p115"/>
          <p:cNvSpPr txBox="1"/>
          <p:nvPr/>
        </p:nvSpPr>
        <p:spPr>
          <a:xfrm>
            <a:off x="428925" y="735425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command “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” creates a copy of the file.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7" name="Google Shape;1007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6049" y="1566863"/>
            <a:ext cx="9820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49" y="1623075"/>
            <a:ext cx="9820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1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949" y="1546875"/>
            <a:ext cx="9820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1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33211" y="1546875"/>
            <a:ext cx="982000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116"/>
          <p:cNvSpPr/>
          <p:nvPr/>
        </p:nvSpPr>
        <p:spPr>
          <a:xfrm>
            <a:off x="1492700" y="1324550"/>
            <a:ext cx="1985400" cy="23010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16"/>
          <p:cNvSpPr/>
          <p:nvPr/>
        </p:nvSpPr>
        <p:spPr>
          <a:xfrm>
            <a:off x="3563698" y="1324550"/>
            <a:ext cx="1985400" cy="23010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16"/>
          <p:cNvSpPr/>
          <p:nvPr/>
        </p:nvSpPr>
        <p:spPr>
          <a:xfrm>
            <a:off x="5665900" y="1324550"/>
            <a:ext cx="1985400" cy="23010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8" name="Google Shape;1018;p116"/>
          <p:cNvGrpSpPr/>
          <p:nvPr/>
        </p:nvGrpSpPr>
        <p:grpSpPr>
          <a:xfrm>
            <a:off x="3288208" y="2245542"/>
            <a:ext cx="459000" cy="459000"/>
            <a:chOff x="4898908" y="4195167"/>
            <a:chExt cx="459000" cy="459000"/>
          </a:xfrm>
        </p:grpSpPr>
        <p:sp>
          <p:nvSpPr>
            <p:cNvPr id="1019" name="Google Shape;1019;p116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16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1" name="Google Shape;1021;p116"/>
          <p:cNvGrpSpPr/>
          <p:nvPr/>
        </p:nvGrpSpPr>
        <p:grpSpPr>
          <a:xfrm>
            <a:off x="5378008" y="2245542"/>
            <a:ext cx="459000" cy="459000"/>
            <a:chOff x="4898908" y="4195167"/>
            <a:chExt cx="459000" cy="459000"/>
          </a:xfrm>
        </p:grpSpPr>
        <p:sp>
          <p:nvSpPr>
            <p:cNvPr id="1022" name="Google Shape;1022;p116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16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4" name="Google Shape;1024;p116"/>
          <p:cNvSpPr txBox="1"/>
          <p:nvPr/>
        </p:nvSpPr>
        <p:spPr>
          <a:xfrm>
            <a:off x="3766050" y="2119250"/>
            <a:ext cx="1611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mv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(move) command is entered on the terminal.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5" name="Google Shape;1025;p116"/>
          <p:cNvSpPr txBox="1"/>
          <p:nvPr/>
        </p:nvSpPr>
        <p:spPr>
          <a:xfrm>
            <a:off x="5837000" y="2023700"/>
            <a:ext cx="1624500" cy="16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file is moved from the current directory to a new location.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6" name="Google Shape;1026;p116"/>
          <p:cNvSpPr txBox="1"/>
          <p:nvPr/>
        </p:nvSpPr>
        <p:spPr>
          <a:xfrm>
            <a:off x="1663900" y="2023700"/>
            <a:ext cx="16119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f</a:t>
            </a: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ile is located in the directory.</a:t>
            </a:r>
            <a:endParaRPr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7" name="Google Shape;1027;p116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Moving</a:t>
            </a:r>
            <a:r>
              <a:rPr lang="en"/>
              <a:t> Files</a:t>
            </a:r>
            <a:endParaRPr/>
          </a:p>
        </p:txBody>
      </p:sp>
      <p:sp>
        <p:nvSpPr>
          <p:cNvPr id="1028" name="Google Shape;1028;p116"/>
          <p:cNvSpPr txBox="1"/>
          <p:nvPr/>
        </p:nvSpPr>
        <p:spPr>
          <a:xfrm>
            <a:off x="324125" y="735425"/>
            <a:ext cx="833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command “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mv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”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moves the file from the current location into a new location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p116"/>
          <p:cNvSpPr/>
          <p:nvPr/>
        </p:nvSpPr>
        <p:spPr>
          <a:xfrm>
            <a:off x="0" y="4033100"/>
            <a:ext cx="9144000" cy="9144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-57150" lvl="0" marL="2171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Remember: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Unlike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the original file doesn’t remain.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0" name="Google Shape;1030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014" y="4155805"/>
            <a:ext cx="706371" cy="66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1778" y="1490663"/>
            <a:ext cx="9820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1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11499" y="1490675"/>
            <a:ext cx="9820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1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72482" y="1546875"/>
            <a:ext cx="982000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17"/>
          <p:cNvSpPr txBox="1"/>
          <p:nvPr/>
        </p:nvSpPr>
        <p:spPr>
          <a:xfrm>
            <a:off x="4466800" y="2366700"/>
            <a:ext cx="4429500" cy="25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command moves the file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cat.jpg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from the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dirC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directory over to the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dirB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directory.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117"/>
          <p:cNvSpPr txBox="1"/>
          <p:nvPr/>
        </p:nvSpPr>
        <p:spPr>
          <a:xfrm>
            <a:off x="-12300" y="2364450"/>
            <a:ext cx="4479000" cy="25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0">
            <a:noAutofit/>
          </a:bodyPr>
          <a:lstStyle/>
          <a:p>
            <a:pPr indent="-205740" lvl="0" marL="32004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command copies the file cat.jpg into the directory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dirA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05740" lvl="0" marL="32004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&lt;file&gt;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&lt;location&gt;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can be indicated with an absolute or relative path.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40" name="Google Shape;1040;p117"/>
          <p:cNvGrpSpPr/>
          <p:nvPr/>
        </p:nvGrpSpPr>
        <p:grpSpPr>
          <a:xfrm>
            <a:off x="457150" y="1633688"/>
            <a:ext cx="3848100" cy="532825"/>
            <a:chOff x="457150" y="768450"/>
            <a:chExt cx="3848100" cy="532825"/>
          </a:xfrm>
        </p:grpSpPr>
        <p:sp>
          <p:nvSpPr>
            <p:cNvPr id="1041" name="Google Shape;1041;p117"/>
            <p:cNvSpPr/>
            <p:nvPr/>
          </p:nvSpPr>
          <p:spPr>
            <a:xfrm>
              <a:off x="457150" y="768450"/>
              <a:ext cx="3848100" cy="4767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FFFFFF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cp</a:t>
              </a:r>
              <a:r>
                <a:rPr b="1" lang="en" sz="1700">
                  <a:solidFill>
                    <a:srgbClr val="FFFFFF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 cat.jpg /dirA</a:t>
              </a:r>
              <a:endParaRPr b="1" sz="1700"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  <p:sp>
          <p:nvSpPr>
            <p:cNvPr id="1042" name="Google Shape;1042;p117"/>
            <p:cNvSpPr/>
            <p:nvPr/>
          </p:nvSpPr>
          <p:spPr>
            <a:xfrm rot="10800000">
              <a:off x="645075" y="1212475"/>
              <a:ext cx="157800" cy="88800"/>
            </a:xfrm>
            <a:prstGeom prst="triangle">
              <a:avLst>
                <a:gd fmla="val 50000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043" name="Google Shape;1043;p117"/>
          <p:cNvGrpSpPr/>
          <p:nvPr/>
        </p:nvGrpSpPr>
        <p:grpSpPr>
          <a:xfrm>
            <a:off x="4876800" y="1633688"/>
            <a:ext cx="3848100" cy="532825"/>
            <a:chOff x="457150" y="768450"/>
            <a:chExt cx="3848100" cy="532825"/>
          </a:xfrm>
        </p:grpSpPr>
        <p:sp>
          <p:nvSpPr>
            <p:cNvPr id="1044" name="Google Shape;1044;p117"/>
            <p:cNvSpPr/>
            <p:nvPr/>
          </p:nvSpPr>
          <p:spPr>
            <a:xfrm>
              <a:off x="457150" y="768450"/>
              <a:ext cx="3848100" cy="4767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FFFFFF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mv dirA/dirB/dirC/cat.jpg</a:t>
              </a:r>
              <a:endParaRPr b="1" sz="17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FFFFFF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/dirA/dirB</a:t>
              </a:r>
              <a:endParaRPr b="1" sz="17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  <p:sp>
          <p:nvSpPr>
            <p:cNvPr id="1045" name="Google Shape;1045;p117"/>
            <p:cNvSpPr/>
            <p:nvPr/>
          </p:nvSpPr>
          <p:spPr>
            <a:xfrm rot="10800000">
              <a:off x="645075" y="1212475"/>
              <a:ext cx="157800" cy="88800"/>
            </a:xfrm>
            <a:prstGeom prst="triangle">
              <a:avLst>
                <a:gd fmla="val 50000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</p:grpSp>
      <p:sp>
        <p:nvSpPr>
          <p:cNvPr id="1046" name="Google Shape;1046;p117"/>
          <p:cNvSpPr txBox="1"/>
          <p:nvPr/>
        </p:nvSpPr>
        <p:spPr>
          <a:xfrm>
            <a:off x="368950" y="1274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Similar Syntax</a:t>
            </a:r>
            <a:endParaRPr b="1" i="1" sz="24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7" name="Google Shape;1047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538" y="16402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117"/>
          <p:cNvSpPr txBox="1"/>
          <p:nvPr>
            <p:ph idx="1" type="body"/>
          </p:nvPr>
        </p:nvSpPr>
        <p:spPr>
          <a:xfrm>
            <a:off x="188700" y="704700"/>
            <a:ext cx="8536200" cy="7431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&lt;command&gt; &lt;file&gt; &lt;location to copy or move&gt;</a:t>
            </a:r>
            <a:endParaRPr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18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Demonstration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1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and Move Files</a:t>
            </a:r>
            <a:endParaRPr/>
          </a:p>
        </p:txBody>
      </p:sp>
      <p:pic>
        <p:nvPicPr>
          <p:cNvPr id="1055" name="Google Shape;1055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100" y="1343674"/>
            <a:ext cx="1468288" cy="9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19"/>
          <p:cNvSpPr txBox="1"/>
          <p:nvPr/>
        </p:nvSpPr>
        <p:spPr>
          <a:xfrm>
            <a:off x="368950" y="1274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1" i="1" sz="24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Let’s review the following concepts and commands: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61" name="Google Shape;1061;p119"/>
          <p:cNvGraphicFramePr/>
          <p:nvPr/>
        </p:nvGraphicFramePr>
        <p:xfrm>
          <a:off x="617663" y="142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{81F512AA-73CF-4F4C-81B4-9781E988C86A}</a:tableStyleId>
              </a:tblPr>
              <a:tblGrid>
                <a:gridCol w="1659850"/>
                <a:gridCol w="6248825"/>
              </a:tblGrid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File path</a:t>
                      </a:r>
                      <a:endParaRPr sz="1800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Identifies a unique location in a file system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Absolute path</a:t>
                      </a:r>
                      <a:endParaRPr sz="1800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Starts at the top directory of the file system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Relative path</a:t>
                      </a:r>
                      <a:endParaRPr sz="1800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Begins from the current directory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cp</a:t>
                      </a:r>
                      <a:endParaRPr sz="18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Copies files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mv</a:t>
                      </a:r>
                      <a:endParaRPr sz="18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Moves files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20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</a:t>
            </a:r>
            <a:endParaRPr/>
          </a:p>
        </p:txBody>
      </p:sp>
      <p:sp>
        <p:nvSpPr>
          <p:cNvPr id="1067" name="Google Shape;1067;p120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your Milky Way</a:t>
            </a:r>
            <a:endParaRPr/>
          </a:p>
        </p:txBody>
      </p:sp>
      <p:sp>
        <p:nvSpPr>
          <p:cNvPr id="1068" name="Google Shape;1068;p120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 in your role as a security analyst at Candy Corp.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manager at Candy Corp needs you to create an additional directory, as they believe there is a second employee working with Sugar Corp.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must also copy and move several of the evidence files after creating this new directory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9" name="Google Shape;1069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12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3" name="Google Shape;1083;p12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id="1084" name="Google Shape;1084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123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1086" name="Google Shape;1086;p123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today’s class you:</a:t>
            </a:r>
            <a:endParaRPr/>
          </a:p>
        </p:txBody>
      </p:sp>
      <p:sp>
        <p:nvSpPr>
          <p:cNvPr id="1087" name="Google Shape;1087;p123"/>
          <p:cNvSpPr/>
          <p:nvPr/>
        </p:nvSpPr>
        <p:spPr>
          <a:xfrm>
            <a:off x="1287175" y="1371600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123"/>
          <p:cNvSpPr/>
          <p:nvPr/>
        </p:nvSpPr>
        <p:spPr>
          <a:xfrm>
            <a:off x="1287175" y="4113475"/>
            <a:ext cx="7399500" cy="437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123"/>
          <p:cNvSpPr/>
          <p:nvPr/>
        </p:nvSpPr>
        <p:spPr>
          <a:xfrm>
            <a:off x="1287175" y="3428575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123"/>
          <p:cNvSpPr/>
          <p:nvPr/>
        </p:nvSpPr>
        <p:spPr>
          <a:xfrm>
            <a:off x="1287175" y="2746988"/>
            <a:ext cx="7399500" cy="437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123"/>
          <p:cNvSpPr/>
          <p:nvPr/>
        </p:nvSpPr>
        <p:spPr>
          <a:xfrm>
            <a:off x="1287175" y="2046700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2" name="Google Shape;1092;p123"/>
          <p:cNvGrpSpPr/>
          <p:nvPr/>
        </p:nvGrpSpPr>
        <p:grpSpPr>
          <a:xfrm>
            <a:off x="457200" y="1371604"/>
            <a:ext cx="776900" cy="459019"/>
            <a:chOff x="457200" y="1466425"/>
            <a:chExt cx="776900" cy="486300"/>
          </a:xfrm>
        </p:grpSpPr>
        <p:sp>
          <p:nvSpPr>
            <p:cNvPr id="1093" name="Google Shape;1093;p12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4" name="Google Shape;1094;p12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95" name="Google Shape;1095;p123"/>
          <p:cNvGrpSpPr/>
          <p:nvPr/>
        </p:nvGrpSpPr>
        <p:grpSpPr>
          <a:xfrm>
            <a:off x="457200" y="2026480"/>
            <a:ext cx="776900" cy="486300"/>
            <a:chOff x="457200" y="1466425"/>
            <a:chExt cx="776900" cy="486300"/>
          </a:xfrm>
        </p:grpSpPr>
        <p:sp>
          <p:nvSpPr>
            <p:cNvPr id="1096" name="Google Shape;1096;p12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7" name="Google Shape;1097;p12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98" name="Google Shape;1098;p123"/>
          <p:cNvGrpSpPr/>
          <p:nvPr/>
        </p:nvGrpSpPr>
        <p:grpSpPr>
          <a:xfrm>
            <a:off x="457200" y="2743336"/>
            <a:ext cx="776900" cy="437378"/>
            <a:chOff x="457200" y="1466425"/>
            <a:chExt cx="776900" cy="486300"/>
          </a:xfrm>
        </p:grpSpPr>
        <p:sp>
          <p:nvSpPr>
            <p:cNvPr id="1099" name="Google Shape;1099;p12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0" name="Google Shape;1100;p12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101" name="Google Shape;1101;p123"/>
          <p:cNvGrpSpPr/>
          <p:nvPr/>
        </p:nvGrpSpPr>
        <p:grpSpPr>
          <a:xfrm>
            <a:off x="457200" y="3426804"/>
            <a:ext cx="776900" cy="459019"/>
            <a:chOff x="457200" y="1466425"/>
            <a:chExt cx="776900" cy="486300"/>
          </a:xfrm>
        </p:grpSpPr>
        <p:sp>
          <p:nvSpPr>
            <p:cNvPr id="1102" name="Google Shape;1102;p12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3" name="Google Shape;1103;p12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104" name="Google Shape;1104;p123"/>
          <p:cNvGrpSpPr/>
          <p:nvPr/>
        </p:nvGrpSpPr>
        <p:grpSpPr>
          <a:xfrm>
            <a:off x="457200" y="4115361"/>
            <a:ext cx="776900" cy="437378"/>
            <a:chOff x="457200" y="1466425"/>
            <a:chExt cx="776900" cy="486300"/>
          </a:xfrm>
        </p:grpSpPr>
        <p:sp>
          <p:nvSpPr>
            <p:cNvPr id="1105" name="Google Shape;1105;p12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6" name="Google Shape;1106;p12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107" name="Google Shape;1107;p123"/>
          <p:cNvSpPr txBox="1"/>
          <p:nvPr/>
        </p:nvSpPr>
        <p:spPr>
          <a:xfrm>
            <a:off x="1287250" y="139297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Discussed Linux distributions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8" name="Google Shape;1108;p123"/>
          <p:cNvSpPr txBox="1"/>
          <p:nvPr/>
        </p:nvSpPr>
        <p:spPr>
          <a:xfrm>
            <a:off x="1287250" y="2068150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Navigated Linux file structure using command line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9" name="Google Shape;1109;p123"/>
          <p:cNvSpPr txBox="1"/>
          <p:nvPr/>
        </p:nvSpPr>
        <p:spPr>
          <a:xfrm>
            <a:off x="1287250" y="275197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Described utility of command line in 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security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professions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0" name="Google Shape;1110;p123"/>
          <p:cNvSpPr txBox="1"/>
          <p:nvPr/>
        </p:nvSpPr>
        <p:spPr>
          <a:xfrm>
            <a:off x="1287250" y="343367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5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Performed basic file manipulation</a:t>
            </a:r>
            <a:endParaRPr sz="185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1" name="Google Shape;1111;p123"/>
          <p:cNvSpPr txBox="1"/>
          <p:nvPr/>
        </p:nvSpPr>
        <p:spPr>
          <a:xfrm>
            <a:off x="1287250" y="4126775"/>
            <a:ext cx="74052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Discussed relative and absolute file paths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