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y="5143500" cx="9144000"/>
  <p:notesSz cx="6858000" cy="9144000"/>
  <p:embeddedFontLst>
    <p:embeddedFont>
      <p:font typeface="Roboto Thin"/>
      <p:regular r:id="rId78"/>
      <p:bold r:id="rId79"/>
      <p:italic r:id="rId80"/>
      <p:boldItalic r:id="rId81"/>
    </p:embeddedFont>
    <p:embeddedFont>
      <p:font typeface="Roboto"/>
      <p:regular r:id="rId82"/>
      <p:bold r:id="rId83"/>
      <p:italic r:id="rId84"/>
      <p:boldItalic r:id="rId85"/>
    </p:embeddedFont>
    <p:embeddedFont>
      <p:font typeface="Roboto Medium"/>
      <p:regular r:id="rId86"/>
      <p:bold r:id="rId87"/>
      <p:italic r:id="rId88"/>
      <p:boldItalic r:id="rId89"/>
    </p:embeddedFont>
    <p:embeddedFont>
      <p:font typeface="Inconsolata"/>
      <p:regular r:id="rId90"/>
      <p:bold r:id="rId91"/>
    </p:embeddedFont>
    <p:embeddedFont>
      <p:font typeface="Roboto Light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FBFC0F-B79A-4C5C-B96F-9771597DCFEA}">
  <a:tblStyle styleId="{C8FBFC0F-B79A-4C5C-B96F-9771597DC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4F9CF46-17E8-4CB7-A3CE-B50F3AF297B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Light-boldItalic.fntdata"/><Relationship Id="rId94" Type="http://schemas.openxmlformats.org/officeDocument/2006/relationships/font" Target="fonts/Roboto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Inconsolata-bold.fntdata"/><Relationship Id="rId90" Type="http://schemas.openxmlformats.org/officeDocument/2006/relationships/font" Target="fonts/Inconsolata-regular.fntdata"/><Relationship Id="rId93" Type="http://schemas.openxmlformats.org/officeDocument/2006/relationships/font" Target="fonts/RobotoLight-bold.fntdata"/><Relationship Id="rId92" Type="http://schemas.openxmlformats.org/officeDocument/2006/relationships/font" Target="fonts/RobotoLight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Roboto-italic.fntdata"/><Relationship Id="rId83" Type="http://schemas.openxmlformats.org/officeDocument/2006/relationships/font" Target="fonts/Roboto-bold.fntdata"/><Relationship Id="rId86" Type="http://schemas.openxmlformats.org/officeDocument/2006/relationships/font" Target="fonts/RobotoMedium-regular.fntdata"/><Relationship Id="rId85" Type="http://schemas.openxmlformats.org/officeDocument/2006/relationships/font" Target="fonts/Roboto-boldItalic.fntdata"/><Relationship Id="rId88" Type="http://schemas.openxmlformats.org/officeDocument/2006/relationships/font" Target="fonts/RobotoMedium-italic.fntdata"/><Relationship Id="rId87" Type="http://schemas.openxmlformats.org/officeDocument/2006/relationships/font" Target="fonts/RobotoMedium-bold.fntdata"/><Relationship Id="rId89" Type="http://schemas.openxmlformats.org/officeDocument/2006/relationships/font" Target="fonts/RobotoMedium-boldItalic.fntdata"/><Relationship Id="rId80" Type="http://schemas.openxmlformats.org/officeDocument/2006/relationships/font" Target="fonts/RobotoThin-italic.fntdata"/><Relationship Id="rId82" Type="http://schemas.openxmlformats.org/officeDocument/2006/relationships/font" Target="fonts/Roboto-regular.fntdata"/><Relationship Id="rId81" Type="http://schemas.openxmlformats.org/officeDocument/2006/relationships/font" Target="fonts/RobotoThin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font" Target="fonts/RobotoThin-bold.fntdata"/><Relationship Id="rId78" Type="http://schemas.openxmlformats.org/officeDocument/2006/relationships/font" Target="fonts/RobotoThin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fb925c7b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fb925c7b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7f7de4c6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307f7de4c6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059e59544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3059e59544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07f7de4c64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07f7de4c64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07f7de4c64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307f7de4c64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07f7de4c64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07f7de4c64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07f7de4c64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307f7de4c64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07f7de4c64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07f7de4c64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07f7de4c64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307f7de4c64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07f7de4c64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307f7de4c64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07f7de4c64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307f7de4c64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07f7de4c64_0_1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307f7de4c64_0_1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307f7de4c64_0_2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4" name="Google Shape;1224;g307f7de4c64_0_2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07f7de4c64_0_3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307f7de4c64_0_3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07f7de4c64_0_3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07f7de4c64_0_3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07f7de4c64_0_4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307f7de4c64_0_4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07f7de4c64_0_4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307f7de4c64_0_4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shutterstock_1223372530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07f7de4c64_0_5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307f7de4c64_0_5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07f7de4c64_0_6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07f7de4c64_0_6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07f7de4c64_0_8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07f7de4c64_0_8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07f7de4c64_0_9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307f7de4c64_0_9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307f7de4c64_0_10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307f7de4c64_0_10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07f7de4c64_0_1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07f7de4c64_0_1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07f7de4c64_0_12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2" name="Google Shape;1392;g307f7de4c64_0_12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07f7de4c64_0_13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7" name="Google Shape;1407;g307f7de4c64_0_13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07f7de4c64_0_13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3" name="Google Shape;1433;g307f7de4c64_0_13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307f7de4c64_0_14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307f7de4c64_0_14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307f7de4c64_0_14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307f7de4c64_0_14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fb667c8cb4_0_12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fb667c8cb4_0_12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2fb667c8cb4_0_12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2fb667c8cb4_0_12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fbcef633a6_0_5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fbcef633a6_0_5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fcb524e581_0_4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fcb524e581_0_4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07f7de4c64_0_15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307f7de4c64_0_15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07f7de4c64_0_15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307f7de4c64_0_15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307f7de4c64_0_15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307f7de4c64_0_15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shutterstock_295554713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307f7de4c64_0_16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307f7de4c64_0_16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07f7de4c64_0_16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07f7de4c64_0_16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07f7de4c64_0_16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7" name="Google Shape;1537;g307f7de4c64_0_16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307f7de4c64_0_16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2" name="Google Shape;1582;g307f7de4c64_0_16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g307f7de4c64_0_16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307f7de4c64_0_16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307f7de4c64_0_17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307f7de4c64_0_17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307f7de4c64_0_17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307f7de4c64_0_17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307f7de4c64_0_20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307f7de4c64_0_20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07f7de4c64_0_19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9" name="Google Shape;1719;g307f7de4c64_0_19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07f7de4c64_0_20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307f7de4c64_0_20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307f7de4c64_0_20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307f7de4c64_0_20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307f7de4c64_0_20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307f7de4c64_0_20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307f7de4c64_0_2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307f7de4c64_0_2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307f7de4c64_0_21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307f7de4c64_0_21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307f7de4c64_0_21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307f7de4c64_0_2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307f7de4c64_0_21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307f7de4c64_0_2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307f7de4c64_0_22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307f7de4c64_0_22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307f7de4c64_0_23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307f7de4c64_0_23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307f7de4c64_0_23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307f7de4c64_0_23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307f7de4c64_0_24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307f7de4c64_0_24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307f7de4c64_0_25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307f7de4c64_0_25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2fcb524e581_0_22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2fcb524e581_0_22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2fcb524e581_0_22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2fcb524e581_0_22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g2fcb524e581_0_22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7" name="Google Shape;1877;g2fcb524e581_0_22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307f7de4c64_0_26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1" name="Google Shape;1881;g307f7de4c64_0_26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2fcb524e581_0_22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2fcb524e581_0_22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307f7de4c64_0_26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307f7de4c64_0_26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07f7de4c64_0_27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307f7de4c64_0_27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307499ca46d_2_2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307499ca46d_2_2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2fcb524e581_0_30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2fcb524e581_0_30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2fcb524e581_0_30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2fcb524e581_0_30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g2fcb524e581_0_30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1" name="Google Shape;1921;g2fcb524e581_0_30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 1 1">
  <p:cSld name="CUSTOM_21_1_2_1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5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9" name="Google Shape;409;p58"/>
          <p:cNvSpPr/>
          <p:nvPr/>
        </p:nvSpPr>
        <p:spPr>
          <a:xfrm>
            <a:off x="953325" y="2007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8"/>
          <p:cNvSpPr/>
          <p:nvPr/>
        </p:nvSpPr>
        <p:spPr>
          <a:xfrm>
            <a:off x="953325" y="26496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8"/>
          <p:cNvSpPr/>
          <p:nvPr/>
        </p:nvSpPr>
        <p:spPr>
          <a:xfrm>
            <a:off x="953325" y="3343150"/>
            <a:ext cx="7517100" cy="61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953325" y="4208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8"/>
          <p:cNvSpPr/>
          <p:nvPr/>
        </p:nvSpPr>
        <p:spPr>
          <a:xfrm>
            <a:off x="953325" y="13654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8"/>
          <p:cNvSpPr/>
          <p:nvPr/>
        </p:nvSpPr>
        <p:spPr>
          <a:xfrm>
            <a:off x="802850" y="13360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5" name="Google Shape;415;p58"/>
          <p:cNvSpPr/>
          <p:nvPr/>
        </p:nvSpPr>
        <p:spPr>
          <a:xfrm>
            <a:off x="802850" y="1977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6" name="Google Shape;416;p58"/>
          <p:cNvSpPr/>
          <p:nvPr/>
        </p:nvSpPr>
        <p:spPr>
          <a:xfrm>
            <a:off x="802850" y="26202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7" name="Google Shape;417;p58"/>
          <p:cNvSpPr/>
          <p:nvPr/>
        </p:nvSpPr>
        <p:spPr>
          <a:xfrm>
            <a:off x="802850" y="34142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8" name="Google Shape;418;p58"/>
          <p:cNvSpPr/>
          <p:nvPr/>
        </p:nvSpPr>
        <p:spPr>
          <a:xfrm>
            <a:off x="802850" y="41649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9" name="Google Shape;419;p58"/>
          <p:cNvSpPr txBox="1"/>
          <p:nvPr>
            <p:ph idx="1" type="subTitle"/>
          </p:nvPr>
        </p:nvSpPr>
        <p:spPr>
          <a:xfrm>
            <a:off x="1224625" y="13577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0" name="Google Shape;420;p58"/>
          <p:cNvSpPr txBox="1"/>
          <p:nvPr>
            <p:ph idx="2" type="subTitle"/>
          </p:nvPr>
        </p:nvSpPr>
        <p:spPr>
          <a:xfrm>
            <a:off x="1224625" y="20222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1" name="Google Shape;421;p58"/>
          <p:cNvSpPr txBox="1"/>
          <p:nvPr>
            <p:ph idx="3" type="subTitle"/>
          </p:nvPr>
        </p:nvSpPr>
        <p:spPr>
          <a:xfrm>
            <a:off x="1224625" y="26643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58"/>
          <p:cNvSpPr txBox="1"/>
          <p:nvPr>
            <p:ph idx="4" type="subTitle"/>
          </p:nvPr>
        </p:nvSpPr>
        <p:spPr>
          <a:xfrm>
            <a:off x="1224625" y="3343150"/>
            <a:ext cx="7110300" cy="558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58"/>
          <p:cNvSpPr txBox="1"/>
          <p:nvPr>
            <p:ph idx="5" type="subTitle"/>
          </p:nvPr>
        </p:nvSpPr>
        <p:spPr>
          <a:xfrm>
            <a:off x="1224625" y="42309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58"/>
          <p:cNvSpPr txBox="1"/>
          <p:nvPr>
            <p:ph type="title"/>
          </p:nvPr>
        </p:nvSpPr>
        <p:spPr>
          <a:xfrm>
            <a:off x="6225" y="130125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58"/>
          <p:cNvSpPr txBox="1"/>
          <p:nvPr>
            <p:ph idx="6" type="title"/>
          </p:nvPr>
        </p:nvSpPr>
        <p:spPr>
          <a:xfrm>
            <a:off x="18525" y="478650"/>
            <a:ext cx="91440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7" name="Google Shape;427;p58"/>
          <p:cNvSpPr/>
          <p:nvPr/>
        </p:nvSpPr>
        <p:spPr>
          <a:xfrm>
            <a:off x="176163" y="229038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4076" y="26695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Transition Slide">
  <p:cSld name="CUSTOM_17_2_1_2_3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9"/>
          <p:cNvSpPr txBox="1"/>
          <p:nvPr>
            <p:ph type="title"/>
          </p:nvPr>
        </p:nvSpPr>
        <p:spPr>
          <a:xfrm>
            <a:off x="237100" y="2088475"/>
            <a:ext cx="8595300" cy="7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2" name="Google Shape;432;p5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9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6" name="Google Shape;436;p6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9" name="Google Shape;439;p6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2" name="Google Shape;442;p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43" name="Google Shape;443;p6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5" name="Google Shape;445;p6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61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1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48" name="Google Shape;448;p61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449" name="Google Shape;449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0" name="Google Shape;450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61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452" name="Google Shape;452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3" name="Google Shape;453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4" name="Google Shape;454;p61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1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56" name="Google Shape;456;p61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457" name="Google Shape;457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8" name="Google Shape;458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9" name="Google Shape;459;p61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1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1" name="Google Shape;461;p61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4" name="Google Shape;46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p6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63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9" name="Google Shape;479;p6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6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5" name="Google Shape;485;p6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6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27_1_1"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67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491" name="Google Shape;491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2" name="Google Shape;492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67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494" name="Google Shape;494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67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497" name="Google Shape;497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8" name="Google Shape;498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6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67"/>
          <p:cNvSpPr/>
          <p:nvPr/>
        </p:nvSpPr>
        <p:spPr>
          <a:xfrm flipH="1">
            <a:off x="5118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7"/>
          <p:cNvSpPr/>
          <p:nvPr/>
        </p:nvSpPr>
        <p:spPr>
          <a:xfrm flipH="1">
            <a:off x="32835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7"/>
          <p:cNvSpPr/>
          <p:nvPr/>
        </p:nvSpPr>
        <p:spPr>
          <a:xfrm flipH="1">
            <a:off x="6188675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6" name="Google Shape;506;p6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507" name="Google Shape;507;p6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6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09" name="Google Shape;509;p6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1" name="Google Shape;511;p68"/>
          <p:cNvSpPr txBox="1"/>
          <p:nvPr>
            <p:ph idx="3" type="body"/>
          </p:nvPr>
        </p:nvSpPr>
        <p:spPr>
          <a:xfrm>
            <a:off x="175" y="1284250"/>
            <a:ext cx="9144000" cy="340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">
  <p:cSld name="CUSTOM_2_4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4" name="Google Shape;514;p6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6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">
  <p:cSld name="CUSTOM_2_5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0" name="Google Shape;520;p7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7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7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6">
  <p:cSld name="CUSTOM_2_6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6" name="Google Shape;526;p7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7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7">
  <p:cSld name="CUSTOM_2_7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2" name="Google Shape;532;p7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7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8">
  <p:cSld name="CUSTOM_2_8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8" name="Google Shape;538;p7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7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9">
  <p:cSld name="CUSTOM_2_9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4" name="Google Shape;544;p7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0">
  <p:cSld name="CUSTOM_2_10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0" name="Google Shape;550;p7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3" name="Google Shape;553;p7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1">
  <p:cSld name="CUSTOM_2_1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6" name="Google Shape;556;p7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9" name="Google Shape;559;p7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2">
  <p:cSld name="CUSTOM_2_1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2" name="Google Shape;562;p7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3">
  <p:cSld name="CUSTOM_2_13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8" name="Google Shape;568;p7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7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7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4">
  <p:cSld name="CUSTOM_2_14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4" name="Google Shape;574;p7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7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2">
  <p:cSld name="CUSTOM_28_2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0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0" name="Google Shape;580;p80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1" name="Google Shape;581;p80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2" name="Google Shape;582;p80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0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4" name="Google Shape;584;p80"/>
          <p:cNvSpPr txBox="1"/>
          <p:nvPr>
            <p:ph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5" name="Google Shape;585;p80"/>
          <p:cNvSpPr txBox="1"/>
          <p:nvPr>
            <p:ph idx="2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None/>
              <a:defRPr b="0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6" name="Google Shape;586;p80"/>
          <p:cNvSpPr txBox="1"/>
          <p:nvPr>
            <p:ph idx="3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7" name="Google Shape;587;p80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8" name="Google Shape;588;p80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9" name="Google Shape;58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0"/>
          <p:cNvSpPr txBox="1"/>
          <p:nvPr>
            <p:ph idx="6"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5">
  <p:cSld name="CUSTOM_2_15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3" name="Google Shape;593;p8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8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6">
  <p:cSld name="CUSTOM_2_16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9" name="Google Shape;599;p8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2">
  <p:cSld name="CUSTOM_27_2"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3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6" name="Google Shape;606;p83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7" name="Google Shape;607;p83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3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9" name="Google Shape;609;p83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83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3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2" name="Google Shape;612;p83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3" name="Google Shape;613;p83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83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6" name="Google Shape;616;p8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84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4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0" name="Google Shape;620;p84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4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7">
  <p:cSld name="CUSTOM_2_17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5" name="Google Shape;625;p8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8" name="Google Shape;628;p8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8">
  <p:cSld name="CUSTOM_2_18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1" name="Google Shape;631;p8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8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1">
  <p:cSld name="CUSTOM_4_2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7" name="Google Shape;63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0" name="Google Shape;640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9">
  <p:cSld name="CUSTOM_2_19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3" name="Google Shape;643;p8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8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6" name="Google Shape;646;p8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0">
  <p:cSld name="CUSTOM_2_20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9" name="Google Shape;649;p8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8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1">
  <p:cSld name="CUSTOM_2_21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5" name="Google Shape;655;p9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2">
  <p:cSld name="CUSTOM_2_22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1" name="Google Shape;661;p9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9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3">
  <p:cSld name="CUSTOM_2_23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7" name="Google Shape;667;p9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9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0" name="Google Shape;670;p9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4">
  <p:cSld name="CUSTOM_2_24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3" name="Google Shape;673;p9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9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9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5">
  <p:cSld name="CUSTOM_2_25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9" name="Google Shape;679;p9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9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9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6">
  <p:cSld name="CUSTOM_2_26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85" name="Google Shape;685;p9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9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8" name="Google Shape;688;p9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7">
  <p:cSld name="CUSTOM_2_27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1" name="Google Shape;691;p9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4" name="Google Shape;694;p9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8">
  <p:cSld name="CUSTOM_2_28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7" name="Google Shape;697;p9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9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9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9">
  <p:cSld name="CUSTOM_2_29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3" name="Google Shape;703;p9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9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6" name="Google Shape;706;p9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0">
  <p:cSld name="CUSTOM_2_30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9" name="Google Shape;709;p9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9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9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1">
  <p:cSld name="CUSTOM_2_3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15" name="Google Shape;715;p10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10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10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2">
  <p:cSld name="CUSTOM_2_3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1" name="Google Shape;721;p10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10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10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3">
  <p:cSld name="CUSTOM_2_33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7" name="Google Shape;727;p10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10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10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4">
  <p:cSld name="CUSTOM_2_34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3" name="Google Shape;733;p10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0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p10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5">
  <p:cSld name="CUSTOM_2_35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9" name="Google Shape;739;p10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10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10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6">
  <p:cSld name="CUSTOM_2_36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5" name="Google Shape;745;p10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10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10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7">
  <p:cSld name="CUSTOM_2_37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1" name="Google Shape;751;p10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10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10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 1">
  <p:cSld name="CUSTOM_11_1_1_3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7"/>
          <p:cNvSpPr/>
          <p:nvPr/>
        </p:nvSpPr>
        <p:spPr>
          <a:xfrm>
            <a:off x="953325" y="1857573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7"/>
          <p:cNvSpPr/>
          <p:nvPr/>
        </p:nvSpPr>
        <p:spPr>
          <a:xfrm>
            <a:off x="953325" y="256325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7"/>
          <p:cNvSpPr/>
          <p:nvPr/>
        </p:nvSpPr>
        <p:spPr>
          <a:xfrm>
            <a:off x="953325" y="1136875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0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0" name="Google Shape;760;p107"/>
          <p:cNvSpPr/>
          <p:nvPr/>
        </p:nvSpPr>
        <p:spPr>
          <a:xfrm>
            <a:off x="802850" y="184255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1" name="Google Shape;761;p107"/>
          <p:cNvSpPr/>
          <p:nvPr/>
        </p:nvSpPr>
        <p:spPr>
          <a:xfrm>
            <a:off x="802850" y="2563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2" name="Google Shape;76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10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4" name="Google Shape;764;p10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107"/>
          <p:cNvSpPr txBox="1"/>
          <p:nvPr>
            <p:ph idx="1" type="subTitle"/>
          </p:nvPr>
        </p:nvSpPr>
        <p:spPr>
          <a:xfrm>
            <a:off x="1354400" y="1129175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6" name="Google Shape;766;p107"/>
          <p:cNvSpPr txBox="1"/>
          <p:nvPr>
            <p:ph idx="3" type="subTitle"/>
          </p:nvPr>
        </p:nvSpPr>
        <p:spPr>
          <a:xfrm>
            <a:off x="1354400" y="1857451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7" name="Google Shape;767;p107"/>
          <p:cNvSpPr txBox="1"/>
          <p:nvPr>
            <p:ph idx="4" type="subTitle"/>
          </p:nvPr>
        </p:nvSpPr>
        <p:spPr>
          <a:xfrm>
            <a:off x="1354400" y="257827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8" name="Google Shape;768;p107"/>
          <p:cNvSpPr/>
          <p:nvPr/>
        </p:nvSpPr>
        <p:spPr>
          <a:xfrm>
            <a:off x="953325" y="327620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07"/>
          <p:cNvSpPr/>
          <p:nvPr/>
        </p:nvSpPr>
        <p:spPr>
          <a:xfrm>
            <a:off x="802850" y="3276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70" name="Google Shape;770;p107"/>
          <p:cNvSpPr txBox="1"/>
          <p:nvPr>
            <p:ph idx="5" type="subTitle"/>
          </p:nvPr>
        </p:nvSpPr>
        <p:spPr>
          <a:xfrm>
            <a:off x="1354400" y="329122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">
  <p:cSld name="CUSTOM_6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10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4" name="Google Shape;774;p10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5" name="Google Shape;775;p10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1">
  <p:cSld name="CUSTOM_26_4">
    <p:bg>
      <p:bgPr>
        <a:solidFill>
          <a:srgbClr val="F2F2F2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10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2">
  <p:cSld name="CUSTOM_6_3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11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3" name="Google Shape;783;p11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111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8">
  <p:cSld name="CUSTOM_2_38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7" name="Google Shape;787;p11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9" name="Google Shape;789;p11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2 2">
  <p:cSld name="CUSTOM_21_2_4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3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113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4" name="Google Shape;7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650" y="27155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">
  <p:cSld name="CUSTOM_11_1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7" name="Google Shape;797;p11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8" name="Google Shape;798;p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9">
  <p:cSld name="CUSTOM_2_39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1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1" name="Google Shape;801;p11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2" name="Google Shape;802;p11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03" name="Google Shape;803;p11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">
  <p:cSld name="SECTION_HEADER_1_2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116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07" name="Google Shape;807;p116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8" name="Google Shape;808;p116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9" name="Google Shape;809;p1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1">
  <p:cSld name="SECTION_HEADER_1_3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1" name="Google Shape;811;p117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2" name="Google Shape;812;p117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3" name="Google Shape;813;p117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4" name="Google Shape;814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2">
  <p:cSld name="SECTION_HEADER_1_4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6" name="Google Shape;816;p118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7" name="Google Shape;817;p118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8" name="Google Shape;818;p118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9" name="Google Shape;819;p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0">
  <p:cSld name="CUSTOM_2_40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19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2" name="Google Shape;822;p119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11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4" name="Google Shape;824;p11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1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1">
  <p:cSld name="CUSTOM_2_41"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2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8" name="Google Shape;828;p12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12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0" name="Google Shape;830;p12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2">
  <p:cSld name="CUSTOM_2_42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2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3" name="Google Shape;833;p12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12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5" name="Google Shape;835;p12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3">
  <p:cSld name="CUSTOM_2_43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2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8" name="Google Shape;838;p12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12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0" name="Google Shape;840;p12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4">
  <p:cSld name="CUSTOM_2_44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2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3" name="Google Shape;843;p12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12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5" name="Google Shape;845;p12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5">
  <p:cSld name="CUSTOM_2_45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2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8" name="Google Shape;848;p12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12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0" name="Google Shape;850;p12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 1">
  <p:cSld name="CUSTOM_11_1_1_2_3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2" name="Google Shape;852;p125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853" name="Google Shape;853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4" name="Google Shape;854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5" name="Google Shape;855;p125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856" name="Google Shape;856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7" name="Google Shape;857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8" name="Google Shape;858;p125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859" name="Google Shape;859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0" name="Google Shape;860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61" name="Google Shape;861;p125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862" name="Google Shape;862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3" name="Google Shape;863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64" name="Google Shape;864;p125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865" name="Google Shape;865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6" name="Google Shape;866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67" name="Google Shape;867;p125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125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125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125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125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12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3" name="Google Shape;873;p12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4" name="Google Shape;874;p125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5" name="Google Shape;875;p125"/>
          <p:cNvSpPr txBox="1"/>
          <p:nvPr>
            <p:ph idx="3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6" name="Google Shape;876;p125"/>
          <p:cNvSpPr txBox="1"/>
          <p:nvPr>
            <p:ph idx="4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7" name="Google Shape;877;p125"/>
          <p:cNvSpPr txBox="1"/>
          <p:nvPr>
            <p:ph idx="5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8" name="Google Shape;878;p125"/>
          <p:cNvSpPr txBox="1"/>
          <p:nvPr>
            <p:ph idx="6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879" name="Google Shape;879;p125"/>
          <p:cNvGrpSpPr/>
          <p:nvPr/>
        </p:nvGrpSpPr>
        <p:grpSpPr>
          <a:xfrm>
            <a:off x="440125" y="4413095"/>
            <a:ext cx="776900" cy="486300"/>
            <a:chOff x="457200" y="1466425"/>
            <a:chExt cx="776900" cy="486300"/>
          </a:xfrm>
        </p:grpSpPr>
        <p:sp>
          <p:nvSpPr>
            <p:cNvPr id="880" name="Google Shape;880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6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81" name="Google Shape;881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82" name="Google Shape;882;p125"/>
          <p:cNvSpPr/>
          <p:nvPr/>
        </p:nvSpPr>
        <p:spPr>
          <a:xfrm>
            <a:off x="1335475" y="44130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125"/>
          <p:cNvSpPr txBox="1"/>
          <p:nvPr>
            <p:ph idx="7" type="subTitle"/>
          </p:nvPr>
        </p:nvSpPr>
        <p:spPr>
          <a:xfrm>
            <a:off x="1354400" y="44169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6">
  <p:cSld name="CUSTOM_2_46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2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86" name="Google Shape;886;p12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12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8" name="Google Shape;888;p12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7">
  <p:cSld name="CUSTOM_2_47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2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1" name="Google Shape;891;p12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12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3" name="Google Shape;893;p12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8">
  <p:cSld name="CUSTOM_2_48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2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6" name="Google Shape;896;p12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12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8" name="Google Shape;898;p128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9">
  <p:cSld name="CUSTOM_2_49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2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1" name="Google Shape;901;p12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12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3" name="Google Shape;903;p129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0">
  <p:cSld name="CUSTOM_2_50"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3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6" name="Google Shape;906;p13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13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8" name="Google Shape;908;p13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1">
  <p:cSld name="CUSTOM_2_51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3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1" name="Google Shape;911;p13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13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3" name="Google Shape;913;p13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2">
  <p:cSld name="CUSTOM_2_52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3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6" name="Google Shape;916;p13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13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8" name="Google Shape;918;p13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3">
  <p:cSld name="CUSTOM_2_53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3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1" name="Google Shape;921;p13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13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3" name="Google Shape;923;p13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4">
  <p:cSld name="CUSTOM_2_5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3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6" name="Google Shape;926;p13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7" name="Google Shape;927;p13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8" name="Google Shape;928;p13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5">
  <p:cSld name="CUSTOM_2_55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3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2" name="Google Shape;932;p13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3" name="Google Shape;933;p13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34" name="Google Shape;934;p13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6">
  <p:cSld name="CUSTOM_2_56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36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8" name="Google Shape;938;p136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9" name="Google Shape;939;p136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40" name="Google Shape;940;p13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3">
  <p:cSld name="CUSTOM_21_1_1_1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3" name="Google Shape;943;p13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44" name="Google Shape;944;p137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37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37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3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8" name="Google Shape;948;p137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9" name="Google Shape;949;p137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50" name="Google Shape;950;p137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1" name="Google Shape;951;p137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2" name="Google Shape;952;p137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3" name="Google Shape;953;p13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4" name="Google Shape;954;p137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5" name="Google Shape;955;p137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6" name="Google Shape;956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38"/>
          <p:cNvSpPr/>
          <p:nvPr/>
        </p:nvSpPr>
        <p:spPr>
          <a:xfrm>
            <a:off x="1032677" y="10306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9" name="Google Shape;959;p138"/>
          <p:cNvSpPr txBox="1"/>
          <p:nvPr>
            <p:ph type="title"/>
          </p:nvPr>
        </p:nvSpPr>
        <p:spPr>
          <a:xfrm>
            <a:off x="1103293" y="10675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0" name="Google Shape;960;p138"/>
          <p:cNvSpPr txBox="1"/>
          <p:nvPr>
            <p:ph idx="2" type="title"/>
          </p:nvPr>
        </p:nvSpPr>
        <p:spPr>
          <a:xfrm>
            <a:off x="820025" y="1718975"/>
            <a:ext cx="34089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1" name="Google Shape;961;p138"/>
          <p:cNvSpPr txBox="1"/>
          <p:nvPr>
            <p:ph idx="3" type="title"/>
          </p:nvPr>
        </p:nvSpPr>
        <p:spPr>
          <a:xfrm>
            <a:off x="5247725" y="1718975"/>
            <a:ext cx="36075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2" name="Google Shape;962;p138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3" name="Google Shape;963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8938" y="10306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4" name="Google Shape;964;p138"/>
          <p:cNvGrpSpPr/>
          <p:nvPr/>
        </p:nvGrpSpPr>
        <p:grpSpPr>
          <a:xfrm>
            <a:off x="380947" y="1038028"/>
            <a:ext cx="533372" cy="533480"/>
            <a:chOff x="457200" y="1378813"/>
            <a:chExt cx="695400" cy="695450"/>
          </a:xfrm>
        </p:grpSpPr>
        <p:sp>
          <p:nvSpPr>
            <p:cNvPr id="965" name="Google Shape;965;p13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6" name="Google Shape;966;p13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7" name="Google Shape;967;p138"/>
          <p:cNvGrpSpPr/>
          <p:nvPr/>
        </p:nvGrpSpPr>
        <p:grpSpPr>
          <a:xfrm>
            <a:off x="4800597" y="1038028"/>
            <a:ext cx="533372" cy="533480"/>
            <a:chOff x="2605668" y="1378813"/>
            <a:chExt cx="695400" cy="695450"/>
          </a:xfrm>
        </p:grpSpPr>
        <p:sp>
          <p:nvSpPr>
            <p:cNvPr id="968" name="Google Shape;968;p138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9" name="Google Shape;969;p138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p138"/>
          <p:cNvSpPr/>
          <p:nvPr/>
        </p:nvSpPr>
        <p:spPr>
          <a:xfrm>
            <a:off x="5452777" y="10306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71" name="Google Shape;971;p138"/>
          <p:cNvSpPr txBox="1"/>
          <p:nvPr>
            <p:ph idx="5" type="title"/>
          </p:nvPr>
        </p:nvSpPr>
        <p:spPr>
          <a:xfrm>
            <a:off x="5523393" y="10675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72" name="Google Shape;972;p13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3">
  <p:cSld name="CUSTOM_6_4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39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p13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76" name="Google Shape;976;p139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7" name="Google Shape;977;p139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4">
  <p:cSld name="CUSTOM_6_5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4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0" name="Google Shape;980;p14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81" name="Google Shape;981;p14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2" name="Google Shape;982;p140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5">
  <p:cSld name="CUSTOM_6_6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4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5" name="Google Shape;985;p14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86" name="Google Shape;986;p14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7" name="Google Shape;987;p141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28_3">
    <p:bg>
      <p:bgPr>
        <a:solidFill>
          <a:srgbClr val="FFFFFF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42"/>
          <p:cNvSpPr/>
          <p:nvPr/>
        </p:nvSpPr>
        <p:spPr>
          <a:xfrm>
            <a:off x="457160" y="11405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0" name="Google Shape;990;p142"/>
          <p:cNvSpPr/>
          <p:nvPr/>
        </p:nvSpPr>
        <p:spPr>
          <a:xfrm rot="10800000">
            <a:off x="593369" y="15293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91" name="Google Shape;991;p142"/>
          <p:cNvSpPr/>
          <p:nvPr/>
        </p:nvSpPr>
        <p:spPr>
          <a:xfrm>
            <a:off x="4876760" y="11405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2" name="Google Shape;992;p142"/>
          <p:cNvSpPr/>
          <p:nvPr/>
        </p:nvSpPr>
        <p:spPr>
          <a:xfrm rot="10800000">
            <a:off x="5012969" y="15293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42"/>
          <p:cNvSpPr txBox="1"/>
          <p:nvPr/>
        </p:nvSpPr>
        <p:spPr>
          <a:xfrm>
            <a:off x="457150" y="11524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4" name="Google Shape;994;p142"/>
          <p:cNvSpPr txBox="1"/>
          <p:nvPr/>
        </p:nvSpPr>
        <p:spPr>
          <a:xfrm>
            <a:off x="4876750" y="11571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5" name="Google Shape;995;p142"/>
          <p:cNvSpPr txBox="1"/>
          <p:nvPr>
            <p:ph type="title"/>
          </p:nvPr>
        </p:nvSpPr>
        <p:spPr>
          <a:xfrm>
            <a:off x="542175" y="11774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6" name="Google Shape;996;p142"/>
          <p:cNvSpPr txBox="1"/>
          <p:nvPr>
            <p:ph idx="2" type="title"/>
          </p:nvPr>
        </p:nvSpPr>
        <p:spPr>
          <a:xfrm>
            <a:off x="4976200" y="11774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7" name="Google Shape;997;p142"/>
          <p:cNvSpPr txBox="1"/>
          <p:nvPr>
            <p:ph idx="3" type="title"/>
          </p:nvPr>
        </p:nvSpPr>
        <p:spPr>
          <a:xfrm>
            <a:off x="542175" y="18519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b="0"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8" name="Google Shape;998;p142"/>
          <p:cNvSpPr txBox="1"/>
          <p:nvPr>
            <p:ph idx="4" type="title"/>
          </p:nvPr>
        </p:nvSpPr>
        <p:spPr>
          <a:xfrm>
            <a:off x="4976200" y="18519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9" name="Google Shape;999;p142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0" name="Google Shape;1000;p142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6">
  <p:cSld name="CUSTOM_6_7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4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14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4" name="Google Shape;1004;p14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5" name="Google Shape;1005;p143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7">
  <p:cSld name="CUSTOM_6_8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44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14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9" name="Google Shape;1009;p144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0" name="Google Shape;1010;p144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8">
  <p:cSld name="CUSTOM_6_9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45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3" name="Google Shape;1013;p14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4" name="Google Shape;1014;p145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5" name="Google Shape;1015;p145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7">
  <p:cSld name="CUSTOM_2_57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4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8" name="Google Shape;1018;p14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14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0" name="Google Shape;1020;p14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9">
  <p:cSld name="CUSTOM_6_10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47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3" name="Google Shape;1023;p147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4" name="Google Shape;1024;p147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5" name="Google Shape;1025;p147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0">
  <p:cSld name="CUSTOM_6_1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4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8" name="Google Shape;1028;p14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9" name="Google Shape;1029;p14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0" name="Google Shape;1030;p148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_4"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oogle Shape;1032;p149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033" name="Google Shape;1033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4" name="Google Shape;1034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5" name="Google Shape;1035;p149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036" name="Google Shape;1036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7" name="Google Shape;1037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8" name="Google Shape;1038;p149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039" name="Google Shape;1039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0" name="Google Shape;1040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41" name="Google Shape;1041;p149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042" name="Google Shape;1042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3" name="Google Shape;1043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44" name="Google Shape;1044;p149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045" name="Google Shape;1045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6" name="Google Shape;1046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47" name="Google Shape;1047;p149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149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149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149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149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14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3" name="Google Shape;1053;p149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4" name="Google Shape;1054;p149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149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149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149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8" name="Google Shape;1058;p149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1">
  <p:cSld name="CUSTOM_6_12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5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1" name="Google Shape;1061;p15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2" name="Google Shape;1062;p15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150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2">
  <p:cSld name="CUSTOM_6_13"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5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6" name="Google Shape;1066;p15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7" name="Google Shape;1067;p15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8" name="Google Shape;1068;p151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3">
  <p:cSld name="CUSTOM_6_14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52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1" name="Google Shape;1071;p152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2" name="Google Shape;1072;p152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3" name="Google Shape;1073;p152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4">
  <p:cSld name="CUSTOM_6_15"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5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6" name="Google Shape;1076;p15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7" name="Google Shape;1077;p15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8" name="Google Shape;1078;p153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5">
  <p:cSld name="CUSTOM_6_16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54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1" name="Google Shape;1081;p15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82" name="Google Shape;1082;p154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154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2">
  <p:cSld name="CUSTOM_4_3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55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6" name="Google Shape;1086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155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55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29" Type="http://schemas.openxmlformats.org/officeDocument/2006/relationships/slideLayout" Target="../slideLayouts/slideLayout129.xml"/><Relationship Id="rId128" Type="http://schemas.openxmlformats.org/officeDocument/2006/relationships/slideLayout" Target="../slideLayouts/slideLayout128.xml"/><Relationship Id="rId127" Type="http://schemas.openxmlformats.org/officeDocument/2006/relationships/slideLayout" Target="../slideLayouts/slideLayout127.xml"/><Relationship Id="rId126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26.xml"/><Relationship Id="rId121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25.xml"/><Relationship Id="rId120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125" Type="http://schemas.openxmlformats.org/officeDocument/2006/relationships/slideLayout" Target="../slideLayouts/slideLayout125.xml"/><Relationship Id="rId29" Type="http://schemas.openxmlformats.org/officeDocument/2006/relationships/slideLayout" Target="../slideLayouts/slideLayout29.xml"/><Relationship Id="rId124" Type="http://schemas.openxmlformats.org/officeDocument/2006/relationships/slideLayout" Target="../slideLayouts/slideLayout124.xml"/><Relationship Id="rId123" Type="http://schemas.openxmlformats.org/officeDocument/2006/relationships/slideLayout" Target="../slideLayouts/slideLayout123.xml"/><Relationship Id="rId122" Type="http://schemas.openxmlformats.org/officeDocument/2006/relationships/slideLayout" Target="../slideLayouts/slideLayout122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9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14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8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150" Type="http://schemas.openxmlformats.org/officeDocument/2006/relationships/slideLayout" Target="../slideLayouts/slideLayout150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149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4.xml"/><Relationship Id="rId14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9.xml"/><Relationship Id="rId143" Type="http://schemas.openxmlformats.org/officeDocument/2006/relationships/slideLayout" Target="../slideLayouts/slideLayout143.xml"/><Relationship Id="rId142" Type="http://schemas.openxmlformats.org/officeDocument/2006/relationships/slideLayout" Target="../slideLayouts/slideLayout142.xml"/><Relationship Id="rId141" Type="http://schemas.openxmlformats.org/officeDocument/2006/relationships/slideLayout" Target="../slideLayouts/slideLayout141.xml"/><Relationship Id="rId140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5.xml"/><Relationship Id="rId14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6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145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8.xml"/><Relationship Id="rId144" Type="http://schemas.openxmlformats.org/officeDocument/2006/relationships/slideLayout" Target="../slideLayouts/slideLayout14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139" Type="http://schemas.openxmlformats.org/officeDocument/2006/relationships/slideLayout" Target="../slideLayouts/slideLayout139.xml"/><Relationship Id="rId138" Type="http://schemas.openxmlformats.org/officeDocument/2006/relationships/slideLayout" Target="../slideLayouts/slideLayout138.xml"/><Relationship Id="rId137" Type="http://schemas.openxmlformats.org/officeDocument/2006/relationships/slideLayout" Target="../slideLayouts/slideLayout137.xml"/><Relationship Id="rId132" Type="http://schemas.openxmlformats.org/officeDocument/2006/relationships/slideLayout" Target="../slideLayouts/slideLayout132.xml"/><Relationship Id="rId131" Type="http://schemas.openxmlformats.org/officeDocument/2006/relationships/slideLayout" Target="../slideLayouts/slideLayout131.xml"/><Relationship Id="rId130" Type="http://schemas.openxmlformats.org/officeDocument/2006/relationships/slideLayout" Target="../slideLayouts/slideLayout130.xml"/><Relationship Id="rId136" Type="http://schemas.openxmlformats.org/officeDocument/2006/relationships/slideLayout" Target="../slideLayouts/slideLayout136.xml"/><Relationship Id="rId135" Type="http://schemas.openxmlformats.org/officeDocument/2006/relationships/slideLayout" Target="../slideLayouts/slideLayout135.xml"/><Relationship Id="rId134" Type="http://schemas.openxmlformats.org/officeDocument/2006/relationships/slideLayout" Target="../slideLayouts/slideLayout134.xml"/><Relationship Id="rId133" Type="http://schemas.openxmlformats.org/officeDocument/2006/relationships/slideLayout" Target="../slideLayouts/slideLayout13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9" Type="http://schemas.openxmlformats.org/officeDocument/2006/relationships/slideLayout" Target="../slideLayouts/slideLayout59.xml"/><Relationship Id="rId154" Type="http://schemas.openxmlformats.org/officeDocument/2006/relationships/slideLayout" Target="../slideLayouts/slideLayout154.xml"/><Relationship Id="rId58" Type="http://schemas.openxmlformats.org/officeDocument/2006/relationships/slideLayout" Target="../slideLayouts/slideLayout58.xml"/><Relationship Id="rId153" Type="http://schemas.openxmlformats.org/officeDocument/2006/relationships/slideLayout" Target="../slideLayouts/slideLayout153.xml"/><Relationship Id="rId152" Type="http://schemas.openxmlformats.org/officeDocument/2006/relationships/slideLayout" Target="../slideLayouts/slideLayout152.xml"/><Relationship Id="rId151" Type="http://schemas.openxmlformats.org/officeDocument/2006/relationships/slideLayout" Target="../slideLayouts/slideLayout151.xml"/><Relationship Id="rId15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  <p:sldLayoutId id="2147483771" r:id="rId124"/>
    <p:sldLayoutId id="2147483772" r:id="rId125"/>
    <p:sldLayoutId id="2147483773" r:id="rId126"/>
    <p:sldLayoutId id="2147483774" r:id="rId127"/>
    <p:sldLayoutId id="2147483775" r:id="rId128"/>
    <p:sldLayoutId id="2147483776" r:id="rId129"/>
    <p:sldLayoutId id="2147483777" r:id="rId130"/>
    <p:sldLayoutId id="2147483778" r:id="rId131"/>
    <p:sldLayoutId id="2147483779" r:id="rId132"/>
    <p:sldLayoutId id="2147483780" r:id="rId133"/>
    <p:sldLayoutId id="2147483781" r:id="rId134"/>
    <p:sldLayoutId id="2147483782" r:id="rId135"/>
    <p:sldLayoutId id="2147483783" r:id="rId136"/>
    <p:sldLayoutId id="2147483784" r:id="rId137"/>
    <p:sldLayoutId id="2147483785" r:id="rId138"/>
    <p:sldLayoutId id="2147483786" r:id="rId139"/>
    <p:sldLayoutId id="2147483787" r:id="rId140"/>
    <p:sldLayoutId id="2147483788" r:id="rId141"/>
    <p:sldLayoutId id="2147483789" r:id="rId142"/>
    <p:sldLayoutId id="2147483790" r:id="rId143"/>
    <p:sldLayoutId id="2147483791" r:id="rId144"/>
    <p:sldLayoutId id="2147483792" r:id="rId145"/>
    <p:sldLayoutId id="2147483793" r:id="rId146"/>
    <p:sldLayoutId id="2147483794" r:id="rId147"/>
    <p:sldLayoutId id="2147483795" r:id="rId148"/>
    <p:sldLayoutId id="2147483796" r:id="rId149"/>
    <p:sldLayoutId id="2147483797" r:id="rId150"/>
    <p:sldLayoutId id="2147483798" r:id="rId151"/>
    <p:sldLayoutId id="2147483799" r:id="rId152"/>
    <p:sldLayoutId id="2147483800" r:id="rId153"/>
    <p:sldLayoutId id="2147483801" r:id="rId1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5.png"/><Relationship Id="rId4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7.png"/><Relationship Id="rId4" Type="http://schemas.openxmlformats.org/officeDocument/2006/relationships/image" Target="../media/image48.png"/><Relationship Id="rId5" Type="http://schemas.openxmlformats.org/officeDocument/2006/relationships/image" Target="../media/image60.png"/><Relationship Id="rId6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67.png"/><Relationship Id="rId5" Type="http://schemas.openxmlformats.org/officeDocument/2006/relationships/image" Target="../media/image60.png"/><Relationship Id="rId6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7.png"/><Relationship Id="rId4" Type="http://schemas.openxmlformats.org/officeDocument/2006/relationships/image" Target="../media/image60.png"/><Relationship Id="rId5" Type="http://schemas.openxmlformats.org/officeDocument/2006/relationships/image" Target="../media/image43.png"/><Relationship Id="rId6" Type="http://schemas.openxmlformats.org/officeDocument/2006/relationships/image" Target="../media/image5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2.png"/><Relationship Id="rId7" Type="http://schemas.openxmlformats.org/officeDocument/2006/relationships/image" Target="../media/image6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Relationship Id="rId5" Type="http://schemas.openxmlformats.org/officeDocument/2006/relationships/image" Target="../media/image62.png"/><Relationship Id="rId6" Type="http://schemas.openxmlformats.org/officeDocument/2006/relationships/image" Target="../media/image58.png"/><Relationship Id="rId7" Type="http://schemas.openxmlformats.org/officeDocument/2006/relationships/image" Target="../media/image6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7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8.png"/><Relationship Id="rId4" Type="http://schemas.openxmlformats.org/officeDocument/2006/relationships/image" Target="../media/image7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8.png"/><Relationship Id="rId4" Type="http://schemas.openxmlformats.org/officeDocument/2006/relationships/image" Target="../media/image67.png"/><Relationship Id="rId5" Type="http://schemas.openxmlformats.org/officeDocument/2006/relationships/image" Target="../media/image48.png"/><Relationship Id="rId6" Type="http://schemas.openxmlformats.org/officeDocument/2006/relationships/image" Target="../media/image60.png"/><Relationship Id="rId7" Type="http://schemas.openxmlformats.org/officeDocument/2006/relationships/image" Target="../media/image51.png"/><Relationship Id="rId8" Type="http://schemas.openxmlformats.org/officeDocument/2006/relationships/image" Target="../media/image5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97.png"/><Relationship Id="rId7" Type="http://schemas.openxmlformats.org/officeDocument/2006/relationships/image" Target="../media/image8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9.png"/><Relationship Id="rId4" Type="http://schemas.openxmlformats.org/officeDocument/2006/relationships/image" Target="../media/image78.png"/><Relationship Id="rId9" Type="http://schemas.openxmlformats.org/officeDocument/2006/relationships/image" Target="../media/image87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8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0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0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9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56"/>
          <p:cNvSpPr txBox="1"/>
          <p:nvPr>
            <p:ph type="title"/>
          </p:nvPr>
        </p:nvSpPr>
        <p:spPr>
          <a:xfrm>
            <a:off x="4489575" y="1828800"/>
            <a:ext cx="46713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Intrusion Detection, Snort, and Network Security Monitoring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56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1095" name="Google Shape;1095;p156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12.2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57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1101" name="Google Shape;1101;p157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lesson,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2" name="Google Shape;1102;p157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1103" name="Google Shape;1103;p157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04" name="Google Shape;1104;p1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05" name="Google Shape;1105;p157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106" name="Google Shape;1106;p157"/>
          <p:cNvGrpSpPr/>
          <p:nvPr/>
        </p:nvGrpSpPr>
        <p:grpSpPr>
          <a:xfrm>
            <a:off x="322375" y="1981671"/>
            <a:ext cx="8133300" cy="448425"/>
            <a:chOff x="314850" y="1770875"/>
            <a:chExt cx="8133300" cy="448425"/>
          </a:xfrm>
        </p:grpSpPr>
        <p:sp>
          <p:nvSpPr>
            <p:cNvPr id="1107" name="Google Shape;1107;p157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8" name="Google Shape;1108;p157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9" name="Google Shape;1109;p157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Explain how intrusion detection systems work and how they differ from firewalls.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0" name="Google Shape;1110;p157"/>
          <p:cNvGrpSpPr/>
          <p:nvPr/>
        </p:nvGrpSpPr>
        <p:grpSpPr>
          <a:xfrm>
            <a:off x="322375" y="1448271"/>
            <a:ext cx="8133300" cy="448425"/>
            <a:chOff x="314850" y="1770875"/>
            <a:chExt cx="8133300" cy="448425"/>
          </a:xfrm>
        </p:grpSpPr>
        <p:sp>
          <p:nvSpPr>
            <p:cNvPr id="1111" name="Google Shape;1111;p157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2" name="Google Shape;1112;p157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3" name="Google Shape;1113;p157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Interpret and define Snort rules and alerts.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4" name="Google Shape;1114;p157"/>
          <p:cNvGrpSpPr/>
          <p:nvPr/>
        </p:nvGrpSpPr>
        <p:grpSpPr>
          <a:xfrm>
            <a:off x="322375" y="4017075"/>
            <a:ext cx="8133300" cy="634347"/>
            <a:chOff x="314850" y="1712517"/>
            <a:chExt cx="8133300" cy="634347"/>
          </a:xfrm>
        </p:grpSpPr>
        <p:sp>
          <p:nvSpPr>
            <p:cNvPr id="1115" name="Google Shape;1115;p157"/>
            <p:cNvSpPr/>
            <p:nvPr/>
          </p:nvSpPr>
          <p:spPr>
            <a:xfrm>
              <a:off x="391050" y="1779564"/>
              <a:ext cx="8057100" cy="56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6" name="Google Shape;1116;p157"/>
            <p:cNvSpPr/>
            <p:nvPr/>
          </p:nvSpPr>
          <p:spPr>
            <a:xfrm>
              <a:off x="314850" y="18470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7" name="Google Shape;1117;p157"/>
            <p:cNvSpPr txBox="1"/>
            <p:nvPr/>
          </p:nvSpPr>
          <p:spPr>
            <a:xfrm>
              <a:off x="817950" y="1712517"/>
              <a:ext cx="7135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Apply knowledge of NSM, Snort rules, and Security Onion to establish situational awareness within a network.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8" name="Google Shape;1118;p157"/>
          <p:cNvGrpSpPr/>
          <p:nvPr/>
        </p:nvGrpSpPr>
        <p:grpSpPr>
          <a:xfrm>
            <a:off x="322375" y="2493075"/>
            <a:ext cx="8133300" cy="634347"/>
            <a:chOff x="314850" y="1712517"/>
            <a:chExt cx="8133300" cy="634347"/>
          </a:xfrm>
        </p:grpSpPr>
        <p:sp>
          <p:nvSpPr>
            <p:cNvPr id="1119" name="Google Shape;1119;p157"/>
            <p:cNvSpPr/>
            <p:nvPr/>
          </p:nvSpPr>
          <p:spPr>
            <a:xfrm>
              <a:off x="391050" y="1779564"/>
              <a:ext cx="8057100" cy="56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0" name="Google Shape;1120;p157"/>
            <p:cNvSpPr/>
            <p:nvPr/>
          </p:nvSpPr>
          <p:spPr>
            <a:xfrm>
              <a:off x="314850" y="18470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1" name="Google Shape;1121;p157"/>
            <p:cNvSpPr txBox="1"/>
            <p:nvPr/>
          </p:nvSpPr>
          <p:spPr>
            <a:xfrm>
              <a:off x="817950" y="1712517"/>
              <a:ext cx="7135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Security Onion and its suite of network security monitoring tools to trace the path of network attacks.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2" name="Google Shape;1122;p157"/>
          <p:cNvGrpSpPr/>
          <p:nvPr/>
        </p:nvGrpSpPr>
        <p:grpSpPr>
          <a:xfrm>
            <a:off x="322375" y="3255075"/>
            <a:ext cx="8133300" cy="634347"/>
            <a:chOff x="314850" y="1712517"/>
            <a:chExt cx="8133300" cy="634347"/>
          </a:xfrm>
        </p:grpSpPr>
        <p:sp>
          <p:nvSpPr>
            <p:cNvPr id="1123" name="Google Shape;1123;p157"/>
            <p:cNvSpPr/>
            <p:nvPr/>
          </p:nvSpPr>
          <p:spPr>
            <a:xfrm>
              <a:off x="391050" y="1779564"/>
              <a:ext cx="8057100" cy="56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4" name="Google Shape;1124;p157"/>
            <p:cNvSpPr/>
            <p:nvPr/>
          </p:nvSpPr>
          <p:spPr>
            <a:xfrm>
              <a:off x="314850" y="18470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5" name="Google Shape;1125;p157"/>
            <p:cNvSpPr txBox="1"/>
            <p:nvPr/>
          </p:nvSpPr>
          <p:spPr>
            <a:xfrm>
              <a:off x="817950" y="1712517"/>
              <a:ext cx="71358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Collect and analyze indicators of attack (IOA) and indicators of compromise (IOC) using NSM tools.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59"/>
          <p:cNvSpPr txBox="1"/>
          <p:nvPr>
            <p:ph idx="1" type="body"/>
          </p:nvPr>
        </p:nvSpPr>
        <p:spPr>
          <a:xfrm>
            <a:off x="4610125" y="1399350"/>
            <a:ext cx="3737100" cy="234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get started, we will need to log in to Azure and launch an instance of Security Onion.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Then we will generate alert data that we'll use later in the lesson. Specifically, a Security Onion VM will spin up and loaded PCAPs will be replayed.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cxnSp>
        <p:nvCxnSpPr>
          <p:cNvPr id="1135" name="Google Shape;1135;p159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36" name="Google Shape;1136;p159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Security Onion Setup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159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59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139" name="Google Shape;1139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54150"/>
            <a:ext cx="4036951" cy="403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6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security</a:t>
            </a:r>
            <a:endParaRPr/>
          </a:p>
        </p:txBody>
      </p:sp>
      <p:sp>
        <p:nvSpPr>
          <p:cNvPr id="1150" name="Google Shape;1150;p161"/>
          <p:cNvSpPr txBox="1"/>
          <p:nvPr/>
        </p:nvSpPr>
        <p:spPr>
          <a:xfrm>
            <a:off x="411950" y="1368300"/>
            <a:ext cx="3861000" cy="3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Firewalls play a critical role in establishing a perimeter defense.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Firewalls do have their limitations. Advanced hackers can easily fool them through packet manipulation.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It's crucial to have a strong defense to help protect sensitive data.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1" name="Google Shape;1151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350" y="1115050"/>
            <a:ext cx="3860925" cy="36105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6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Intrusion Detection </a:t>
            </a:r>
            <a:br>
              <a:rPr lang="en"/>
            </a:br>
            <a:r>
              <a:rPr lang="en"/>
              <a:t>Systems (IDSs) and Snort</a:t>
            </a:r>
            <a:endParaRPr/>
          </a:p>
        </p:txBody>
      </p:sp>
      <p:pic>
        <p:nvPicPr>
          <p:cNvPr id="1157" name="Google Shape;1157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500" y="755200"/>
            <a:ext cx="2680100" cy="26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63"/>
          <p:cNvSpPr txBox="1"/>
          <p:nvPr/>
        </p:nvSpPr>
        <p:spPr>
          <a:xfrm>
            <a:off x="4364625" y="2448925"/>
            <a:ext cx="4503000" cy="22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firewall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 device used in network security designed to filter inbound and outbound traffic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based on rules.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64"/>
          <p:cNvSpPr txBox="1"/>
          <p:nvPr>
            <p:ph type="title"/>
          </p:nvPr>
        </p:nvSpPr>
        <p:spPr>
          <a:xfrm>
            <a:off x="914400" y="2987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Firewalls Vs. IDSs</a:t>
            </a:r>
            <a:endParaRPr/>
          </a:p>
        </p:txBody>
      </p:sp>
      <p:sp>
        <p:nvSpPr>
          <p:cNvPr id="1168" name="Google Shape;1168;p164"/>
          <p:cNvSpPr txBox="1"/>
          <p:nvPr>
            <p:ph idx="2" type="body"/>
          </p:nvPr>
        </p:nvSpPr>
        <p:spPr>
          <a:xfrm>
            <a:off x="461225" y="1063525"/>
            <a:ext cx="41109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Firewalls make decisions to either allow or block </a:t>
            </a:r>
            <a:r>
              <a:rPr lang="en"/>
              <a:t>traffic</a:t>
            </a:r>
            <a:r>
              <a:rPr lang="en"/>
              <a:t> based 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and destination IP address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and destination Port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Protocol type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Firewalls can be fooled through packet manipulation by clever hackers.</a:t>
            </a:r>
            <a:endParaRPr/>
          </a:p>
        </p:txBody>
      </p:sp>
      <p:pic>
        <p:nvPicPr>
          <p:cNvPr id="1169" name="Google Shape;1169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525" y="816800"/>
            <a:ext cx="4174300" cy="41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164"/>
          <p:cNvPicPr preferRelativeResize="0"/>
          <p:nvPr/>
        </p:nvPicPr>
        <p:blipFill rotWithShape="1">
          <a:blip r:embed="rId4">
            <a:alphaModFix/>
          </a:blip>
          <a:srcRect b="709" l="0" r="0" t="709"/>
          <a:stretch/>
        </p:blipFill>
        <p:spPr>
          <a:xfrm>
            <a:off x="222826" y="258125"/>
            <a:ext cx="468750" cy="4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65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Intrusion detection systems (IDSs)</a:t>
            </a:r>
            <a:r>
              <a:rPr lang="en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are tools that can both analyze traffic and look for malicious signatures.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66"/>
          <p:cNvSpPr txBox="1"/>
          <p:nvPr>
            <p:ph idx="1" type="body"/>
          </p:nvPr>
        </p:nvSpPr>
        <p:spPr>
          <a:xfrm>
            <a:off x="3657600" y="1054550"/>
            <a:ext cx="46239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IDS is like a firewall in that it also: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Reads the data in the packets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Performs inspections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 alerts or alarms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Blocks malicious traffic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IDSs, but today’s lesson </a:t>
            </a:r>
            <a:br>
              <a:rPr lang="en"/>
            </a:br>
            <a:r>
              <a:rPr lang="en"/>
              <a:t>will be focusing on </a:t>
            </a:r>
            <a:r>
              <a:rPr b="1" lang="en"/>
              <a:t>Snort</a:t>
            </a:r>
            <a:r>
              <a:rPr lang="en"/>
              <a:t>. </a:t>
            </a:r>
            <a:endParaRPr/>
          </a:p>
        </p:txBody>
      </p:sp>
      <p:sp>
        <p:nvSpPr>
          <p:cNvPr id="1181" name="Google Shape;1181;p16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6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Intrusion</a:t>
            </a:r>
            <a:r>
              <a:rPr lang="en"/>
              <a:t> detection system</a:t>
            </a:r>
            <a:endParaRPr/>
          </a:p>
        </p:txBody>
      </p:sp>
      <p:sp>
        <p:nvSpPr>
          <p:cNvPr id="1183" name="Google Shape;1183;p166"/>
          <p:cNvSpPr txBox="1"/>
          <p:nvPr/>
        </p:nvSpPr>
        <p:spPr>
          <a:xfrm>
            <a:off x="1994731" y="1828836"/>
            <a:ext cx="2056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IDS</a:t>
            </a:r>
            <a:endParaRPr sz="11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184" name="Google Shape;1184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04" y="952227"/>
            <a:ext cx="3103982" cy="3239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85" name="Google Shape;1185;p166"/>
          <p:cNvSpPr txBox="1"/>
          <p:nvPr/>
        </p:nvSpPr>
        <p:spPr>
          <a:xfrm>
            <a:off x="1263975" y="2182825"/>
            <a:ext cx="11850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" sz="3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IDS</a:t>
            </a:r>
            <a:endParaRPr b="1" sz="3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67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Network Security Monitoring (NSM)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is the process of identifying weaknesses within a network’s defense.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68"/>
          <p:cNvSpPr txBox="1"/>
          <p:nvPr>
            <p:ph idx="1" type="subTitle"/>
          </p:nvPr>
        </p:nvSpPr>
        <p:spPr>
          <a:xfrm>
            <a:off x="1390538" y="1209375"/>
            <a:ext cx="6963300" cy="183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IDS is passive. </a:t>
            </a:r>
            <a:endParaRPr/>
          </a:p>
        </p:txBody>
      </p:sp>
      <p:sp>
        <p:nvSpPr>
          <p:cNvPr id="1196" name="Google Shape;1196;p168"/>
          <p:cNvSpPr txBox="1"/>
          <p:nvPr>
            <p:ph idx="2" type="subTitle"/>
          </p:nvPr>
        </p:nvSpPr>
        <p:spPr>
          <a:xfrm>
            <a:off x="1349550" y="1860763"/>
            <a:ext cx="7359300" cy="39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does not respond to attacks, it only logs and documents information for future analysis.</a:t>
            </a:r>
            <a:endParaRPr/>
          </a:p>
        </p:txBody>
      </p:sp>
      <p:sp>
        <p:nvSpPr>
          <p:cNvPr id="1197" name="Google Shape;1197;p168"/>
          <p:cNvSpPr txBox="1"/>
          <p:nvPr>
            <p:ph idx="3" type="subTitle"/>
          </p:nvPr>
        </p:nvSpPr>
        <p:spPr>
          <a:xfrm>
            <a:off x="1310600" y="2507313"/>
            <a:ext cx="7123200" cy="23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helps organizations establish situational awareness of attackers and harden defenses.</a:t>
            </a:r>
            <a:endParaRPr/>
          </a:p>
        </p:txBody>
      </p:sp>
      <p:sp>
        <p:nvSpPr>
          <p:cNvPr id="1198" name="Google Shape;1198;p16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Intrusion Detection Systems</a:t>
            </a:r>
            <a:endParaRPr/>
          </a:p>
        </p:txBody>
      </p:sp>
      <p:sp>
        <p:nvSpPr>
          <p:cNvPr id="1199" name="Google Shape;1199;p168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An I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DS detects and alerts of an attack.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0" name="Google Shape;1200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023" y="3206109"/>
            <a:ext cx="673146" cy="4614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01" name="Google Shape;1201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023" y="3779997"/>
            <a:ext cx="673146" cy="4614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02" name="Google Shape;1202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023" y="4353373"/>
            <a:ext cx="673146" cy="4614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203" name="Google Shape;1203;p168"/>
          <p:cNvCxnSpPr>
            <a:stCxn id="1200" idx="3"/>
            <a:endCxn id="1202" idx="3"/>
          </p:cNvCxnSpPr>
          <p:nvPr/>
        </p:nvCxnSpPr>
        <p:spPr>
          <a:xfrm>
            <a:off x="2852169" y="3436822"/>
            <a:ext cx="600" cy="1147200"/>
          </a:xfrm>
          <a:prstGeom prst="bentConnector3">
            <a:avLst>
              <a:gd fmla="val 5484729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168"/>
          <p:cNvCxnSpPr>
            <a:stCxn id="1201" idx="3"/>
            <a:endCxn id="1205" idx="2"/>
          </p:cNvCxnSpPr>
          <p:nvPr/>
        </p:nvCxnSpPr>
        <p:spPr>
          <a:xfrm flipH="1" rot="10800000">
            <a:off x="2852169" y="3829210"/>
            <a:ext cx="3549300" cy="1815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06" name="Google Shape;1206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5487" y="3597116"/>
            <a:ext cx="1213423" cy="760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3899" y="3189756"/>
            <a:ext cx="894969" cy="60366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05" name="Google Shape;1205;p168"/>
          <p:cNvSpPr txBox="1"/>
          <p:nvPr/>
        </p:nvSpPr>
        <p:spPr>
          <a:xfrm>
            <a:off x="5960697" y="3429134"/>
            <a:ext cx="88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Internet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208" name="Google Shape;1208;p168"/>
          <p:cNvCxnSpPr/>
          <p:nvPr/>
        </p:nvCxnSpPr>
        <p:spPr>
          <a:xfrm rot="10800000">
            <a:off x="3824227" y="3796211"/>
            <a:ext cx="0" cy="18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1209" name="Google Shape;1209;p1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0114" y="3121937"/>
            <a:ext cx="668226" cy="69727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10" name="Google Shape;1210;p168"/>
          <p:cNvSpPr txBox="1"/>
          <p:nvPr/>
        </p:nvSpPr>
        <p:spPr>
          <a:xfrm>
            <a:off x="3615867" y="3313367"/>
            <a:ext cx="43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IDS</a:t>
            </a:r>
            <a:endParaRPr sz="11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11" name="Google Shape;1211;p168"/>
          <p:cNvSpPr txBox="1"/>
          <p:nvPr/>
        </p:nvSpPr>
        <p:spPr>
          <a:xfrm>
            <a:off x="4265487" y="4299578"/>
            <a:ext cx="108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Firewall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69"/>
          <p:cNvSpPr txBox="1"/>
          <p:nvPr>
            <p:ph type="title"/>
          </p:nvPr>
        </p:nvSpPr>
        <p:spPr>
          <a:xfrm>
            <a:off x="1103293" y="10675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Signature-based IDS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7" name="Google Shape;1217;p169"/>
          <p:cNvSpPr txBox="1"/>
          <p:nvPr>
            <p:ph idx="2" type="title"/>
          </p:nvPr>
        </p:nvSpPr>
        <p:spPr>
          <a:xfrm>
            <a:off x="457200" y="1718975"/>
            <a:ext cx="39558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Compares patterns of traffic to predefined signatures.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Good for identifying well-known attacks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Can be updated as new attack signatures are released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Vulnerable to attacks through packet manipulation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Unable to detect zero-day attacks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169"/>
          <p:cNvSpPr txBox="1"/>
          <p:nvPr>
            <p:ph idx="3" type="title"/>
          </p:nvPr>
        </p:nvSpPr>
        <p:spPr>
          <a:xfrm>
            <a:off x="4805750" y="1718975"/>
            <a:ext cx="40536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Compares patterns of traffic against </a:t>
            </a:r>
            <a:b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well-known baseline. </a:t>
            </a:r>
            <a:endParaRPr sz="1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Good for detecting suspicious traffic that deviates from well-known baselines</a:t>
            </a:r>
            <a:endParaRPr sz="1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Excellent at detecting when attackers probe and sweep a network</a:t>
            </a:r>
            <a:endParaRPr sz="1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Prone to false alerts</a:t>
            </a:r>
            <a:endParaRPr sz="1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Assumes network behavior does not deviate from well-known baselines</a:t>
            </a:r>
            <a:endParaRPr sz="1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169"/>
          <p:cNvSpPr txBox="1"/>
          <p:nvPr>
            <p:ph idx="4"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 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69"/>
          <p:cNvSpPr txBox="1"/>
          <p:nvPr>
            <p:ph idx="5" type="title"/>
          </p:nvPr>
        </p:nvSpPr>
        <p:spPr>
          <a:xfrm>
            <a:off x="5523393" y="10675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Anomaly-based IDS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p169"/>
          <p:cNvSpPr txBox="1"/>
          <p:nvPr>
            <p:ph idx="6" type="title"/>
          </p:nvPr>
        </p:nvSpPr>
        <p:spPr>
          <a:xfrm>
            <a:off x="70200" y="4390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There are two types of IDSs: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70"/>
          <p:cNvSpPr txBox="1"/>
          <p:nvPr/>
        </p:nvSpPr>
        <p:spPr>
          <a:xfrm>
            <a:off x="349275" y="2919000"/>
            <a:ext cx="39681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Network IDS (NIDS)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Filters an entire subnet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on a network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170"/>
          <p:cNvCxnSpPr/>
          <p:nvPr/>
        </p:nvCxnSpPr>
        <p:spPr>
          <a:xfrm>
            <a:off x="4537850" y="1619650"/>
            <a:ext cx="0" cy="247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8" name="Google Shape;1228;p170"/>
          <p:cNvSpPr txBox="1"/>
          <p:nvPr/>
        </p:nvSpPr>
        <p:spPr>
          <a:xfrm>
            <a:off x="5029200" y="2919000"/>
            <a:ext cx="36576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Host-Based IDS (HIDS)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Runs locally on a host-based system, or user’s workstation or server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170"/>
          <p:cNvSpPr txBox="1"/>
          <p:nvPr>
            <p:ph type="title"/>
          </p:nvPr>
        </p:nvSpPr>
        <p:spPr>
          <a:xfrm>
            <a:off x="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IDSs Have Two Basic Architectures </a:t>
            </a:r>
            <a:endParaRPr/>
          </a:p>
        </p:txBody>
      </p:sp>
      <p:pic>
        <p:nvPicPr>
          <p:cNvPr id="1230" name="Google Shape;1230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100" y="744100"/>
            <a:ext cx="2456300" cy="24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275" y="665400"/>
            <a:ext cx="2708500" cy="27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71"/>
          <p:cNvSpPr txBox="1"/>
          <p:nvPr>
            <p:ph idx="1" type="body"/>
          </p:nvPr>
        </p:nvSpPr>
        <p:spPr>
          <a:xfrm>
            <a:off x="590350" y="1121725"/>
            <a:ext cx="4027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Matches all traffic to a known library of attack signatures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Passively examines network traffic at points that it’s deployed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Relatively easy to deploy and difficult to detect by attackers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71"/>
          <p:cNvSpPr txBox="1"/>
          <p:nvPr>
            <p:ph type="title"/>
          </p:nvPr>
        </p:nvSpPr>
        <p:spPr>
          <a:xfrm>
            <a:off x="-78287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Network IDS (NIDS)</a:t>
            </a:r>
            <a:endParaRPr/>
          </a:p>
        </p:txBody>
      </p:sp>
      <p:cxnSp>
        <p:nvCxnSpPr>
          <p:cNvPr id="1238" name="Google Shape;1238;p171"/>
          <p:cNvCxnSpPr>
            <a:stCxn id="1239" idx="2"/>
            <a:endCxn id="1240" idx="0"/>
          </p:cNvCxnSpPr>
          <p:nvPr/>
        </p:nvCxnSpPr>
        <p:spPr>
          <a:xfrm>
            <a:off x="6634450" y="1808238"/>
            <a:ext cx="0" cy="20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171"/>
          <p:cNvCxnSpPr/>
          <p:nvPr/>
        </p:nvCxnSpPr>
        <p:spPr>
          <a:xfrm>
            <a:off x="7173475" y="2568450"/>
            <a:ext cx="41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242" name="Google Shape;1242;p171"/>
          <p:cNvSpPr/>
          <p:nvPr/>
        </p:nvSpPr>
        <p:spPr>
          <a:xfrm>
            <a:off x="7640350" y="2085588"/>
            <a:ext cx="971100" cy="9711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71"/>
          <p:cNvSpPr/>
          <p:nvPr/>
        </p:nvSpPr>
        <p:spPr>
          <a:xfrm>
            <a:off x="7774217" y="2194944"/>
            <a:ext cx="703200" cy="272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NIDS</a:t>
            </a:r>
            <a:endParaRPr sz="1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244" name="Google Shape;1244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7777" y="2526032"/>
            <a:ext cx="616102" cy="280036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71"/>
          <p:cNvSpPr txBox="1"/>
          <p:nvPr/>
        </p:nvSpPr>
        <p:spPr>
          <a:xfrm>
            <a:off x="4940475" y="2506663"/>
            <a:ext cx="1132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Packet Sniffer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46" name="Google Shape;1246;p171"/>
          <p:cNvSpPr/>
          <p:nvPr/>
        </p:nvSpPr>
        <p:spPr>
          <a:xfrm>
            <a:off x="6151600" y="2085588"/>
            <a:ext cx="965700" cy="9657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7" name="Google Shape;1247;p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513" y="3860965"/>
            <a:ext cx="1086299" cy="7446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40" name="Google Shape;1240;p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300" y="3860965"/>
            <a:ext cx="1086299" cy="7446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48" name="Google Shape;1248;p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3813" y="3860965"/>
            <a:ext cx="1086299" cy="7446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39" name="Google Shape;1239;p1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7812" y="922438"/>
            <a:ext cx="1313275" cy="88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49" name="Google Shape;1249;p171"/>
          <p:cNvSpPr txBox="1"/>
          <p:nvPr/>
        </p:nvSpPr>
        <p:spPr>
          <a:xfrm>
            <a:off x="6068350" y="1279288"/>
            <a:ext cx="113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Internet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250" name="Google Shape;1250;p171"/>
          <p:cNvCxnSpPr>
            <a:stCxn id="1247" idx="0"/>
            <a:endCxn id="1248" idx="0"/>
          </p:cNvCxnSpPr>
          <p:nvPr/>
        </p:nvCxnSpPr>
        <p:spPr>
          <a:xfrm flipH="1" rot="-5400000">
            <a:off x="6660462" y="2635165"/>
            <a:ext cx="600" cy="2452200"/>
          </a:xfrm>
          <a:prstGeom prst="bentConnector3">
            <a:avLst>
              <a:gd fmla="val -396875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51" name="Google Shape;1251;p1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342650" y="2276875"/>
            <a:ext cx="583600" cy="5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72"/>
          <p:cNvSpPr txBox="1"/>
          <p:nvPr>
            <p:ph idx="1" type="body"/>
          </p:nvPr>
        </p:nvSpPr>
        <p:spPr>
          <a:xfrm>
            <a:off x="590350" y="1121725"/>
            <a:ext cx="4027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Acts as a second line of defense against malicious traffic that successfully gets past a NIDS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Examines entire file systems </a:t>
            </a:r>
            <a:br>
              <a:rPr lang="en" sz="1800"/>
            </a:br>
            <a:r>
              <a:rPr lang="en" sz="1800"/>
              <a:t>on a host, compares them to previous snapshots or baselines, and generates an alert if there are significant differences between the two 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7" name="Google Shape;1257;p172"/>
          <p:cNvSpPr txBox="1"/>
          <p:nvPr>
            <p:ph type="title"/>
          </p:nvPr>
        </p:nvSpPr>
        <p:spPr>
          <a:xfrm>
            <a:off x="-2087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Host-Based IDS (HIDS)</a:t>
            </a:r>
            <a:endParaRPr/>
          </a:p>
        </p:txBody>
      </p:sp>
      <p:cxnSp>
        <p:nvCxnSpPr>
          <p:cNvPr id="1258" name="Google Shape;1258;p172"/>
          <p:cNvCxnSpPr>
            <a:endCxn id="1259" idx="0"/>
          </p:cNvCxnSpPr>
          <p:nvPr/>
        </p:nvCxnSpPr>
        <p:spPr>
          <a:xfrm>
            <a:off x="6634394" y="3043776"/>
            <a:ext cx="0" cy="125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260" name="Google Shape;1260;p172"/>
          <p:cNvCxnSpPr>
            <a:stCxn id="1261" idx="2"/>
            <a:endCxn id="1262" idx="0"/>
          </p:cNvCxnSpPr>
          <p:nvPr/>
        </p:nvCxnSpPr>
        <p:spPr>
          <a:xfrm>
            <a:off x="6634450" y="1808238"/>
            <a:ext cx="0" cy="50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263" name="Google Shape;1263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513" y="2316228"/>
            <a:ext cx="1086299" cy="7446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62" name="Google Shape;1262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300" y="2316228"/>
            <a:ext cx="1086299" cy="7446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64" name="Google Shape;1264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813" y="2316228"/>
            <a:ext cx="1086299" cy="7446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61" name="Google Shape;1261;p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7812" y="922438"/>
            <a:ext cx="1313275" cy="88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65" name="Google Shape;1265;p172"/>
          <p:cNvSpPr txBox="1"/>
          <p:nvPr/>
        </p:nvSpPr>
        <p:spPr>
          <a:xfrm>
            <a:off x="6068350" y="1279288"/>
            <a:ext cx="113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Internet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266" name="Google Shape;1266;p172"/>
          <p:cNvCxnSpPr>
            <a:stCxn id="1263" idx="0"/>
            <a:endCxn id="1264" idx="0"/>
          </p:cNvCxnSpPr>
          <p:nvPr/>
        </p:nvCxnSpPr>
        <p:spPr>
          <a:xfrm flipH="1" rot="-5400000">
            <a:off x="6660462" y="1090428"/>
            <a:ext cx="600" cy="2452200"/>
          </a:xfrm>
          <a:prstGeom prst="bentConnector3">
            <a:avLst>
              <a:gd fmla="val -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pic>
        <p:nvPicPr>
          <p:cNvPr id="1259" name="Google Shape;1259;p1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9525" y="4302276"/>
            <a:ext cx="729738" cy="3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72"/>
          <p:cNvSpPr txBox="1"/>
          <p:nvPr/>
        </p:nvSpPr>
        <p:spPr>
          <a:xfrm>
            <a:off x="4821650" y="4256600"/>
            <a:ext cx="11106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 Medium"/>
                <a:ea typeface="Roboto Medium"/>
                <a:cs typeface="Roboto Medium"/>
                <a:sym typeface="Roboto Medium"/>
              </a:rPr>
              <a:t>Centralized</a:t>
            </a:r>
            <a:r>
              <a:rPr lang="en" sz="1200">
                <a:latin typeface="Roboto Medium"/>
                <a:ea typeface="Roboto Medium"/>
                <a:cs typeface="Roboto Medium"/>
                <a:sym typeface="Roboto Medium"/>
              </a:rPr>
              <a:t> Control Model</a:t>
            </a:r>
            <a:endParaRPr sz="12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268" name="Google Shape;1268;p172"/>
          <p:cNvGrpSpPr/>
          <p:nvPr/>
        </p:nvGrpSpPr>
        <p:grpSpPr>
          <a:xfrm>
            <a:off x="6360425" y="3299662"/>
            <a:ext cx="529125" cy="634150"/>
            <a:chOff x="6360425" y="3299662"/>
            <a:chExt cx="529125" cy="634150"/>
          </a:xfrm>
        </p:grpSpPr>
        <p:pic>
          <p:nvPicPr>
            <p:cNvPr id="1269" name="Google Shape;1269;p1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60425" y="3299662"/>
              <a:ext cx="529125" cy="6341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sp>
          <p:nvSpPr>
            <p:cNvPr id="1270" name="Google Shape;1270;p172"/>
            <p:cNvSpPr txBox="1"/>
            <p:nvPr/>
          </p:nvSpPr>
          <p:spPr>
            <a:xfrm>
              <a:off x="6430405" y="3530066"/>
              <a:ext cx="3891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 Medium"/>
                  <a:ea typeface="Roboto Medium"/>
                  <a:cs typeface="Roboto Medium"/>
                  <a:sym typeface="Roboto Medium"/>
                </a:rPr>
                <a:t>Log</a:t>
              </a:r>
              <a:endParaRPr sz="15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cxnSp>
        <p:nvCxnSpPr>
          <p:cNvPr id="1271" name="Google Shape;1271;p172"/>
          <p:cNvCxnSpPr/>
          <p:nvPr/>
        </p:nvCxnSpPr>
        <p:spPr>
          <a:xfrm rot="-5400000">
            <a:off x="6660462" y="1817963"/>
            <a:ext cx="600" cy="2452200"/>
          </a:xfrm>
          <a:prstGeom prst="bentConnector3">
            <a:avLst>
              <a:gd fmla="val -170439583" name="adj1"/>
            </a:avLst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1272" name="Google Shape;1272;p172"/>
          <p:cNvGrpSpPr/>
          <p:nvPr/>
        </p:nvGrpSpPr>
        <p:grpSpPr>
          <a:xfrm>
            <a:off x="5170100" y="3299662"/>
            <a:ext cx="529125" cy="634150"/>
            <a:chOff x="5170100" y="3299662"/>
            <a:chExt cx="529125" cy="634150"/>
          </a:xfrm>
        </p:grpSpPr>
        <p:pic>
          <p:nvPicPr>
            <p:cNvPr id="1273" name="Google Shape;1273;p1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70100" y="3299662"/>
              <a:ext cx="529125" cy="6341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sp>
          <p:nvSpPr>
            <p:cNvPr id="1274" name="Google Shape;1274;p172"/>
            <p:cNvSpPr txBox="1"/>
            <p:nvPr/>
          </p:nvSpPr>
          <p:spPr>
            <a:xfrm>
              <a:off x="5240080" y="3530066"/>
              <a:ext cx="3891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 Medium"/>
                  <a:ea typeface="Roboto Medium"/>
                  <a:cs typeface="Roboto Medium"/>
                  <a:sym typeface="Roboto Medium"/>
                </a:rPr>
                <a:t>Log</a:t>
              </a:r>
              <a:endParaRPr sz="15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275" name="Google Shape;1275;p172"/>
          <p:cNvGrpSpPr/>
          <p:nvPr/>
        </p:nvGrpSpPr>
        <p:grpSpPr>
          <a:xfrm>
            <a:off x="7604875" y="3299662"/>
            <a:ext cx="529125" cy="634150"/>
            <a:chOff x="7604875" y="3299662"/>
            <a:chExt cx="529125" cy="634150"/>
          </a:xfrm>
        </p:grpSpPr>
        <p:pic>
          <p:nvPicPr>
            <p:cNvPr id="1276" name="Google Shape;1276;p1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04875" y="3299662"/>
              <a:ext cx="529125" cy="6341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sp>
          <p:nvSpPr>
            <p:cNvPr id="1277" name="Google Shape;1277;p172"/>
            <p:cNvSpPr txBox="1"/>
            <p:nvPr/>
          </p:nvSpPr>
          <p:spPr>
            <a:xfrm>
              <a:off x="7674855" y="3530066"/>
              <a:ext cx="3891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 Medium"/>
                  <a:ea typeface="Roboto Medium"/>
                  <a:cs typeface="Roboto Medium"/>
                  <a:sym typeface="Roboto Medium"/>
                </a:rPr>
                <a:t>Log</a:t>
              </a:r>
              <a:endParaRPr sz="15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278" name="Google Shape;1278;p172"/>
          <p:cNvSpPr txBox="1"/>
          <p:nvPr/>
        </p:nvSpPr>
        <p:spPr>
          <a:xfrm>
            <a:off x="5066475" y="2356200"/>
            <a:ext cx="72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37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HIDS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79" name="Google Shape;1279;p172"/>
          <p:cNvSpPr txBox="1"/>
          <p:nvPr/>
        </p:nvSpPr>
        <p:spPr>
          <a:xfrm>
            <a:off x="6265825" y="2356200"/>
            <a:ext cx="72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37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HIDS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280" name="Google Shape;1280;p172"/>
          <p:cNvSpPr txBox="1"/>
          <p:nvPr/>
        </p:nvSpPr>
        <p:spPr>
          <a:xfrm>
            <a:off x="7501250" y="2356200"/>
            <a:ext cx="72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37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HIDS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73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Intrusion</a:t>
            </a:r>
            <a:r>
              <a:rPr lang="en"/>
              <a:t> Prevention System (IPS)</a:t>
            </a:r>
            <a:endParaRPr/>
          </a:p>
        </p:txBody>
      </p:sp>
      <p:pic>
        <p:nvPicPr>
          <p:cNvPr id="1286" name="Google Shape;1286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5273" y="508251"/>
            <a:ext cx="3008323" cy="3008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291;p174"/>
          <p:cNvPicPr preferRelativeResize="0"/>
          <p:nvPr/>
        </p:nvPicPr>
        <p:blipFill rotWithShape="1">
          <a:blip r:embed="rId3">
            <a:alphaModFix/>
          </a:blip>
          <a:srcRect b="0" l="2157" r="5249" t="0"/>
          <a:stretch/>
        </p:blipFill>
        <p:spPr>
          <a:xfrm>
            <a:off x="0" y="-32400"/>
            <a:ext cx="9143999" cy="51758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74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74"/>
          <p:cNvSpPr txBox="1"/>
          <p:nvPr>
            <p:ph idx="3" type="body"/>
          </p:nvPr>
        </p:nvSpPr>
        <p:spPr>
          <a:xfrm>
            <a:off x="4441675" y="2017300"/>
            <a:ext cx="4166100" cy="23043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</a:rPr>
              <a:t>An </a:t>
            </a:r>
            <a:r>
              <a:rPr b="1" lang="en" sz="2000">
                <a:solidFill>
                  <a:schemeClr val="lt1"/>
                </a:solidFill>
              </a:rPr>
              <a:t>intrusion prevention system (IPS) </a:t>
            </a:r>
            <a:r>
              <a:rPr lang="en" sz="2000">
                <a:solidFill>
                  <a:schemeClr val="lt1"/>
                </a:solidFill>
              </a:rPr>
              <a:t>can do everything an IDS can, but it can also respond to attacks.  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An IPS can react to packets by blocking malicious traffic, preventing it from being delivered to a host on </a:t>
            </a:r>
            <a:br>
              <a:rPr lang="en" sz="2000">
                <a:solidFill>
                  <a:schemeClr val="lt1"/>
                </a:solidFill>
              </a:rPr>
            </a:br>
            <a:r>
              <a:rPr lang="en" sz="2000">
                <a:solidFill>
                  <a:schemeClr val="lt1"/>
                </a:solidFill>
              </a:rPr>
              <a:t>the network. 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75"/>
          <p:cNvSpPr txBox="1"/>
          <p:nvPr>
            <p:ph idx="1" type="body"/>
          </p:nvPr>
        </p:nvSpPr>
        <p:spPr>
          <a:xfrm>
            <a:off x="457200" y="1121725"/>
            <a:ext cx="43362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Network TAP</a:t>
            </a:r>
            <a:r>
              <a:rPr lang="en" sz="1600"/>
              <a:t> is a hardware device that provides access to a network. Network TAPs transit both inbound and outbound data streams on separate channels at the same time so all data will arrive at the monitoring device in real time.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SPAN</a:t>
            </a:r>
            <a:r>
              <a:rPr lang="en" sz="1600"/>
              <a:t> sends a mirror image of all network data to another physical port where the packets can be captured and analyzed.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IDS </a:t>
            </a:r>
            <a:r>
              <a:rPr lang="en" sz="1600"/>
              <a:t>requires an administrator to react to an alert by examining what was flagged.</a:t>
            </a:r>
            <a:endParaRPr sz="1600"/>
          </a:p>
        </p:txBody>
      </p:sp>
      <p:sp>
        <p:nvSpPr>
          <p:cNvPr id="1299" name="Google Shape;1299;p175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 Vs. IPS</a:t>
            </a:r>
            <a:endParaRPr/>
          </a:p>
        </p:txBody>
      </p:sp>
      <p:sp>
        <p:nvSpPr>
          <p:cNvPr id="1300" name="Google Shape;1300;p175"/>
          <p:cNvSpPr txBox="1"/>
          <p:nvPr>
            <p:ph idx="3" type="title"/>
          </p:nvPr>
        </p:nvSpPr>
        <p:spPr>
          <a:xfrm>
            <a:off x="70200" y="4390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An IDS connects via a network TAP or mirrored SPAN port.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75"/>
          <p:cNvSpPr txBox="1"/>
          <p:nvPr/>
        </p:nvSpPr>
        <p:spPr>
          <a:xfrm>
            <a:off x="8646911" y="4972983"/>
            <a:ext cx="222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302" name="Google Shape;1302;p175"/>
          <p:cNvSpPr txBox="1"/>
          <p:nvPr/>
        </p:nvSpPr>
        <p:spPr>
          <a:xfrm>
            <a:off x="5295290" y="1024123"/>
            <a:ext cx="311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IDS</a:t>
            </a:r>
            <a:endParaRPr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303" name="Google Shape;1303;p175"/>
          <p:cNvCxnSpPr/>
          <p:nvPr/>
        </p:nvCxnSpPr>
        <p:spPr>
          <a:xfrm flipH="1">
            <a:off x="7434034" y="2015130"/>
            <a:ext cx="2400" cy="2370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p175"/>
          <p:cNvSpPr/>
          <p:nvPr/>
        </p:nvSpPr>
        <p:spPr>
          <a:xfrm>
            <a:off x="6752294" y="3350997"/>
            <a:ext cx="1894500" cy="66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75"/>
          <p:cNvSpPr/>
          <p:nvPr/>
        </p:nvSpPr>
        <p:spPr>
          <a:xfrm>
            <a:off x="6752294" y="1464884"/>
            <a:ext cx="1894500" cy="66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75"/>
          <p:cNvSpPr/>
          <p:nvPr/>
        </p:nvSpPr>
        <p:spPr>
          <a:xfrm>
            <a:off x="6752294" y="2275335"/>
            <a:ext cx="1894500" cy="93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7" name="Google Shape;1307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171" y="1503108"/>
            <a:ext cx="936526" cy="5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75"/>
          <p:cNvSpPr txBox="1"/>
          <p:nvPr/>
        </p:nvSpPr>
        <p:spPr>
          <a:xfrm>
            <a:off x="8041710" y="1772729"/>
            <a:ext cx="5670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r>
              <a:rPr lang="en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nternet</a:t>
            </a:r>
            <a:endParaRPr sz="12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09" name="Google Shape;1309;p1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1695" y="2350442"/>
            <a:ext cx="1009477" cy="789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75"/>
          <p:cNvSpPr txBox="1"/>
          <p:nvPr/>
        </p:nvSpPr>
        <p:spPr>
          <a:xfrm>
            <a:off x="8041710" y="2688372"/>
            <a:ext cx="5670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Firewall</a:t>
            </a:r>
            <a:endParaRPr sz="12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11" name="Google Shape;1311;p175"/>
          <p:cNvSpPr txBox="1"/>
          <p:nvPr/>
        </p:nvSpPr>
        <p:spPr>
          <a:xfrm>
            <a:off x="8041710" y="3604016"/>
            <a:ext cx="5670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Switch</a:t>
            </a:r>
            <a:endParaRPr sz="12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312" name="Google Shape;1312;p175"/>
          <p:cNvCxnSpPr/>
          <p:nvPr/>
        </p:nvCxnSpPr>
        <p:spPr>
          <a:xfrm rot="10800000">
            <a:off x="6077597" y="2924209"/>
            <a:ext cx="986400" cy="75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175"/>
          <p:cNvCxnSpPr/>
          <p:nvPr/>
        </p:nvCxnSpPr>
        <p:spPr>
          <a:xfrm flipH="1">
            <a:off x="5973099" y="3643451"/>
            <a:ext cx="1100400" cy="450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14" name="Google Shape;1314;p175"/>
          <p:cNvPicPr preferRelativeResize="0"/>
          <p:nvPr/>
        </p:nvPicPr>
        <p:blipFill rotWithShape="1">
          <a:blip r:embed="rId5">
            <a:alphaModFix/>
          </a:blip>
          <a:srcRect b="0" l="0" r="0" t="9"/>
          <a:stretch/>
        </p:blipFill>
        <p:spPr>
          <a:xfrm>
            <a:off x="7008906" y="3520920"/>
            <a:ext cx="855054" cy="306166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175"/>
          <p:cNvSpPr/>
          <p:nvPr/>
        </p:nvSpPr>
        <p:spPr>
          <a:xfrm>
            <a:off x="6752273" y="4379033"/>
            <a:ext cx="1894500" cy="233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Corporate Network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16" name="Google Shape;1316;p175"/>
          <p:cNvSpPr/>
          <p:nvPr/>
        </p:nvSpPr>
        <p:spPr>
          <a:xfrm>
            <a:off x="5052382" y="2034839"/>
            <a:ext cx="1145400" cy="1170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7" name="Google Shape;1317;p1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2417" y="2298886"/>
            <a:ext cx="855066" cy="7530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175"/>
          <p:cNvSpPr txBox="1"/>
          <p:nvPr/>
        </p:nvSpPr>
        <p:spPr>
          <a:xfrm>
            <a:off x="5043705" y="2100138"/>
            <a:ext cx="11454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IDS</a:t>
            </a:r>
            <a:endParaRPr sz="12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319" name="Google Shape;1319;p175"/>
          <p:cNvGrpSpPr/>
          <p:nvPr/>
        </p:nvGrpSpPr>
        <p:grpSpPr>
          <a:xfrm>
            <a:off x="5036275" y="3331459"/>
            <a:ext cx="1161134" cy="1280088"/>
            <a:chOff x="4362663" y="3027250"/>
            <a:chExt cx="1365237" cy="1505100"/>
          </a:xfrm>
        </p:grpSpPr>
        <p:sp>
          <p:nvSpPr>
            <p:cNvPr id="1320" name="Google Shape;1320;p175"/>
            <p:cNvSpPr/>
            <p:nvPr/>
          </p:nvSpPr>
          <p:spPr>
            <a:xfrm>
              <a:off x="4381500" y="3027250"/>
              <a:ext cx="1346400" cy="1505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21" name="Google Shape;1321;p17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616692" y="3538781"/>
              <a:ext cx="847101" cy="8653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75"/>
            <p:cNvSpPr txBox="1"/>
            <p:nvPr/>
          </p:nvSpPr>
          <p:spPr>
            <a:xfrm>
              <a:off x="4362663" y="3112068"/>
              <a:ext cx="13464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Management System</a:t>
              </a:r>
              <a:endParaRPr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76"/>
          <p:cNvSpPr txBox="1"/>
          <p:nvPr>
            <p:ph idx="1" type="body"/>
          </p:nvPr>
        </p:nvSpPr>
        <p:spPr>
          <a:xfrm>
            <a:off x="590350" y="1371600"/>
            <a:ext cx="4027800" cy="313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 IPS r</a:t>
            </a:r>
            <a:r>
              <a:rPr lang="en" sz="1800"/>
              <a:t>equires more robust hardware due to the amount </a:t>
            </a:r>
            <a:br>
              <a:rPr lang="en" sz="1800"/>
            </a:br>
            <a:r>
              <a:rPr lang="en" sz="1800"/>
              <a:t>of traffic.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will automatically take </a:t>
            </a:r>
            <a:br>
              <a:rPr lang="en" sz="1800"/>
            </a:br>
            <a:r>
              <a:rPr lang="en" sz="1800"/>
              <a:t>action by blocking and logging </a:t>
            </a:r>
            <a:br>
              <a:rPr lang="en" sz="1800"/>
            </a:br>
            <a:r>
              <a:rPr lang="en" sz="1800"/>
              <a:t>a threat, so it doesn’t require administrative intervention.</a:t>
            </a:r>
            <a:endParaRPr sz="1800"/>
          </a:p>
        </p:txBody>
      </p:sp>
      <p:sp>
        <p:nvSpPr>
          <p:cNvPr id="1328" name="Google Shape;1328;p176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 Vs. IPS</a:t>
            </a:r>
            <a:endParaRPr/>
          </a:p>
        </p:txBody>
      </p:sp>
      <p:sp>
        <p:nvSpPr>
          <p:cNvPr id="1329" name="Google Shape;1329;p176"/>
          <p:cNvSpPr txBox="1"/>
          <p:nvPr>
            <p:ph idx="3" type="title"/>
          </p:nvPr>
        </p:nvSpPr>
        <p:spPr>
          <a:xfrm>
            <a:off x="70200" y="439075"/>
            <a:ext cx="8041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An IPS connects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inline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with the flow of data, typically between the firewall and network switch.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76"/>
          <p:cNvSpPr txBox="1"/>
          <p:nvPr/>
        </p:nvSpPr>
        <p:spPr>
          <a:xfrm>
            <a:off x="8646911" y="4972983"/>
            <a:ext cx="222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331" name="Google Shape;1331;p176"/>
          <p:cNvSpPr txBox="1"/>
          <p:nvPr/>
        </p:nvSpPr>
        <p:spPr>
          <a:xfrm>
            <a:off x="5289914" y="1029775"/>
            <a:ext cx="301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IPS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332" name="Google Shape;1332;p176"/>
          <p:cNvCxnSpPr/>
          <p:nvPr/>
        </p:nvCxnSpPr>
        <p:spPr>
          <a:xfrm>
            <a:off x="6036892" y="1842750"/>
            <a:ext cx="0" cy="255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3" name="Google Shape;1333;p176"/>
          <p:cNvGrpSpPr/>
          <p:nvPr/>
        </p:nvGrpSpPr>
        <p:grpSpPr>
          <a:xfrm>
            <a:off x="5101709" y="1419189"/>
            <a:ext cx="1709171" cy="519173"/>
            <a:chOff x="4438650" y="739775"/>
            <a:chExt cx="2076000" cy="630600"/>
          </a:xfrm>
        </p:grpSpPr>
        <p:sp>
          <p:nvSpPr>
            <p:cNvPr id="1334" name="Google Shape;1334;p176"/>
            <p:cNvSpPr/>
            <p:nvPr/>
          </p:nvSpPr>
          <p:spPr>
            <a:xfrm>
              <a:off x="4438650" y="739775"/>
              <a:ext cx="2076000" cy="630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5" name="Google Shape;1335;p1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30016" y="777436"/>
              <a:ext cx="899245" cy="5381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76"/>
            <p:cNvSpPr txBox="1"/>
            <p:nvPr/>
          </p:nvSpPr>
          <p:spPr>
            <a:xfrm>
              <a:off x="4481201" y="1021440"/>
              <a:ext cx="691500" cy="17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Internet</a:t>
              </a:r>
              <a:endParaRPr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37" name="Google Shape;1337;p176"/>
          <p:cNvGrpSpPr/>
          <p:nvPr/>
        </p:nvGrpSpPr>
        <p:grpSpPr>
          <a:xfrm>
            <a:off x="5101709" y="2053946"/>
            <a:ext cx="1709171" cy="609077"/>
            <a:chOff x="4438650" y="1481053"/>
            <a:chExt cx="2076000" cy="739800"/>
          </a:xfrm>
        </p:grpSpPr>
        <p:sp>
          <p:nvSpPr>
            <p:cNvPr id="1338" name="Google Shape;1338;p176"/>
            <p:cNvSpPr/>
            <p:nvPr/>
          </p:nvSpPr>
          <p:spPr>
            <a:xfrm>
              <a:off x="4438650" y="1481053"/>
              <a:ext cx="2076000" cy="739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9" name="Google Shape;1339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76421" y="1525470"/>
              <a:ext cx="806436" cy="6305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0" name="Google Shape;1340;p176"/>
            <p:cNvSpPr txBox="1"/>
            <p:nvPr/>
          </p:nvSpPr>
          <p:spPr>
            <a:xfrm>
              <a:off x="4481201" y="1748759"/>
              <a:ext cx="691500" cy="17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Firewall</a:t>
              </a:r>
              <a:endParaRPr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41" name="Google Shape;1341;p176"/>
          <p:cNvGrpSpPr/>
          <p:nvPr/>
        </p:nvGrpSpPr>
        <p:grpSpPr>
          <a:xfrm>
            <a:off x="5101709" y="2787351"/>
            <a:ext cx="1709171" cy="851375"/>
            <a:chOff x="4438650" y="2331425"/>
            <a:chExt cx="2076000" cy="1034100"/>
          </a:xfrm>
        </p:grpSpPr>
        <p:sp>
          <p:nvSpPr>
            <p:cNvPr id="1342" name="Google Shape;1342;p176"/>
            <p:cNvSpPr/>
            <p:nvPr/>
          </p:nvSpPr>
          <p:spPr>
            <a:xfrm>
              <a:off x="4438650" y="2331425"/>
              <a:ext cx="2076000" cy="103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43" name="Google Shape;1343;p1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95690" y="2398305"/>
              <a:ext cx="1023607" cy="9014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4" name="Google Shape;1344;p176"/>
            <p:cNvSpPr txBox="1"/>
            <p:nvPr/>
          </p:nvSpPr>
          <p:spPr>
            <a:xfrm>
              <a:off x="4632768" y="2818975"/>
              <a:ext cx="540000" cy="17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11430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 Medium"/>
                  <a:ea typeface="Roboto Medium"/>
                  <a:cs typeface="Roboto Medium"/>
                  <a:sym typeface="Roboto Medium"/>
                </a:rPr>
                <a:t>IPS</a:t>
              </a:r>
              <a:endParaRPr sz="12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345" name="Google Shape;1345;p176"/>
          <p:cNvGrpSpPr/>
          <p:nvPr/>
        </p:nvGrpSpPr>
        <p:grpSpPr>
          <a:xfrm>
            <a:off x="5101709" y="3763046"/>
            <a:ext cx="1709171" cy="504107"/>
            <a:chOff x="4438650" y="3471951"/>
            <a:chExt cx="2076000" cy="612300"/>
          </a:xfrm>
        </p:grpSpPr>
        <p:sp>
          <p:nvSpPr>
            <p:cNvPr id="1346" name="Google Shape;1346;p176"/>
            <p:cNvSpPr/>
            <p:nvPr/>
          </p:nvSpPr>
          <p:spPr>
            <a:xfrm>
              <a:off x="4438650" y="3471951"/>
              <a:ext cx="2076000" cy="612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76"/>
            <p:cNvSpPr txBox="1"/>
            <p:nvPr/>
          </p:nvSpPr>
          <p:spPr>
            <a:xfrm>
              <a:off x="4481201" y="3556241"/>
              <a:ext cx="691500" cy="17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Switch</a:t>
              </a:r>
              <a:endParaRPr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pic>
          <p:nvPicPr>
            <p:cNvPr id="1348" name="Google Shape;1348;p176"/>
            <p:cNvPicPr preferRelativeResize="0"/>
            <p:nvPr/>
          </p:nvPicPr>
          <p:blipFill rotWithShape="1">
            <a:blip r:embed="rId6">
              <a:alphaModFix/>
            </a:blip>
            <a:srcRect b="9" l="0" r="0" t="9"/>
            <a:stretch/>
          </p:blipFill>
          <p:spPr>
            <a:xfrm>
              <a:off x="5365201" y="3556252"/>
              <a:ext cx="828875" cy="2967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9" name="Google Shape;1349;p176"/>
          <p:cNvSpPr/>
          <p:nvPr/>
        </p:nvSpPr>
        <p:spPr>
          <a:xfrm>
            <a:off x="5104511" y="4400349"/>
            <a:ext cx="1709100" cy="234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Corporate Network</a:t>
            </a:r>
            <a:endParaRPr sz="13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350" name="Google Shape;1350;p176"/>
          <p:cNvGrpSpPr/>
          <p:nvPr/>
        </p:nvGrpSpPr>
        <p:grpSpPr>
          <a:xfrm>
            <a:off x="7362554" y="3395235"/>
            <a:ext cx="1124010" cy="1239149"/>
            <a:chOff x="4362650" y="3027250"/>
            <a:chExt cx="1365250" cy="1505100"/>
          </a:xfrm>
        </p:grpSpPr>
        <p:sp>
          <p:nvSpPr>
            <p:cNvPr id="1351" name="Google Shape;1351;p176"/>
            <p:cNvSpPr/>
            <p:nvPr/>
          </p:nvSpPr>
          <p:spPr>
            <a:xfrm>
              <a:off x="4381500" y="3027250"/>
              <a:ext cx="1346400" cy="1505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2" name="Google Shape;1352;p17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616692" y="3538781"/>
              <a:ext cx="847101" cy="8653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3" name="Google Shape;1353;p176"/>
            <p:cNvSpPr txBox="1"/>
            <p:nvPr/>
          </p:nvSpPr>
          <p:spPr>
            <a:xfrm>
              <a:off x="4362650" y="3112075"/>
              <a:ext cx="13464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Management System</a:t>
              </a:r>
              <a:endParaRPr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cxnSp>
        <p:nvCxnSpPr>
          <p:cNvPr id="1354" name="Google Shape;1354;p176"/>
          <p:cNvCxnSpPr/>
          <p:nvPr/>
        </p:nvCxnSpPr>
        <p:spPr>
          <a:xfrm rot="10800000">
            <a:off x="6537973" y="3953768"/>
            <a:ext cx="822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77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</a:t>
            </a:r>
            <a:endParaRPr/>
          </a:p>
        </p:txBody>
      </p:sp>
      <p:sp>
        <p:nvSpPr>
          <p:cNvPr id="1360" name="Google Shape;1360;p177"/>
          <p:cNvSpPr txBox="1"/>
          <p:nvPr>
            <p:ph idx="3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Alerts are generated when a rule detects a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malicious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signature or traffic.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1" name="Google Shape;1361;p177"/>
          <p:cNvSpPr txBox="1"/>
          <p:nvPr/>
        </p:nvSpPr>
        <p:spPr>
          <a:xfrm>
            <a:off x="8646911" y="4972983"/>
            <a:ext cx="222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pic>
        <p:nvPicPr>
          <p:cNvPr id="1362" name="Google Shape;1362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24" y="1413763"/>
            <a:ext cx="4707550" cy="26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77"/>
          <p:cNvSpPr txBox="1"/>
          <p:nvPr/>
        </p:nvSpPr>
        <p:spPr>
          <a:xfrm>
            <a:off x="5391600" y="1828800"/>
            <a:ext cx="31707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alert message that’s created and sent goes to the analyst’s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console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as an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IOA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 are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two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primary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types of indicators: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IOA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IOC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78"/>
          <p:cNvSpPr txBox="1"/>
          <p:nvPr>
            <p:ph type="title"/>
          </p:nvPr>
        </p:nvSpPr>
        <p:spPr>
          <a:xfrm>
            <a:off x="914400" y="1177425"/>
            <a:ext cx="327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Indicator of attack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9" name="Google Shape;1369;p178"/>
          <p:cNvSpPr txBox="1"/>
          <p:nvPr>
            <p:ph idx="2" type="title"/>
          </p:nvPr>
        </p:nvSpPr>
        <p:spPr>
          <a:xfrm>
            <a:off x="5348500" y="1177425"/>
            <a:ext cx="327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Indicator of compromise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0" name="Google Shape;1370;p178"/>
          <p:cNvSpPr txBox="1"/>
          <p:nvPr>
            <p:ph idx="3" type="title"/>
          </p:nvPr>
        </p:nvSpPr>
        <p:spPr>
          <a:xfrm>
            <a:off x="466675" y="1851950"/>
            <a:ext cx="4033200" cy="29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IOAs indicate attacks happening in real time.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Proactive approach to intrusion attempts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Indicate that an attack is in progress, but a full breach has not been determined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Focus on revealing the intent and </a:t>
            </a:r>
            <a:b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end goal of an attacker, regardless </a:t>
            </a:r>
            <a:b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of the exploit or malware used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1" name="Google Shape;1371;p178"/>
          <p:cNvSpPr txBox="1"/>
          <p:nvPr>
            <p:ph idx="4" type="title"/>
          </p:nvPr>
        </p:nvSpPr>
        <p:spPr>
          <a:xfrm>
            <a:off x="4818875" y="1851950"/>
            <a:ext cx="3867900" cy="29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IOCs indicate previous malicious activity.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Indicate that an attack has occurred, resulting in a breach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Used to establish an adversary’s techniques, tactics, and procedures (TTPs)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Char char="●"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Expose all vulnerabilities used in an attack, giving network defenders the opportunity to revamp their defense as part of their mitigation strategy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p178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 Alerts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17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Indicators can be either: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4" name="Google Shape;1374;p178"/>
          <p:cNvCxnSpPr/>
          <p:nvPr/>
        </p:nvCxnSpPr>
        <p:spPr>
          <a:xfrm flipH="1">
            <a:off x="4625925" y="1574825"/>
            <a:ext cx="600" cy="29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79"/>
          <p:cNvSpPr txBox="1"/>
          <p:nvPr/>
        </p:nvSpPr>
        <p:spPr>
          <a:xfrm>
            <a:off x="0" y="3326750"/>
            <a:ext cx="9144000" cy="1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Snort</a:t>
            </a:r>
            <a: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is one of </a:t>
            </a:r>
            <a: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world’s most popular </a:t>
            </a:r>
            <a:b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open-source network IDSs/IPSs. </a:t>
            </a:r>
            <a:endParaRPr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80" name="Google Shape;1380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9150" y="783375"/>
            <a:ext cx="4085700" cy="22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80"/>
          <p:cNvSpPr txBox="1"/>
          <p:nvPr>
            <p:ph idx="1" type="body"/>
          </p:nvPr>
        </p:nvSpPr>
        <p:spPr>
          <a:xfrm>
            <a:off x="457200" y="1121725"/>
            <a:ext cx="41610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It adds additional layers of defense that can be applied at various layers of the defense-in-depth model, including: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Perimeter IDS and IPS architecture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Network IDS and IPS architecture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Host IDS and IPS architecture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80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Snort</a:t>
            </a:r>
            <a:endParaRPr/>
          </a:p>
        </p:txBody>
      </p:sp>
      <p:sp>
        <p:nvSpPr>
          <p:cNvPr id="1387" name="Google Shape;1387;p180"/>
          <p:cNvSpPr txBox="1"/>
          <p:nvPr>
            <p:ph idx="3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Snort can perform real-time traffic analysis and log packets on a network.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180"/>
          <p:cNvSpPr txBox="1"/>
          <p:nvPr/>
        </p:nvSpPr>
        <p:spPr>
          <a:xfrm>
            <a:off x="8646911" y="4972983"/>
            <a:ext cx="222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pic>
        <p:nvPicPr>
          <p:cNvPr id="1389" name="Google Shape;1389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300" y="1195800"/>
            <a:ext cx="3523699" cy="28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81"/>
          <p:cNvSpPr txBox="1"/>
          <p:nvPr/>
        </p:nvSpPr>
        <p:spPr>
          <a:xfrm>
            <a:off x="0" y="549800"/>
            <a:ext cx="79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Snort can operate in three different modes: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181"/>
          <p:cNvSpPr txBox="1"/>
          <p:nvPr/>
        </p:nvSpPr>
        <p:spPr>
          <a:xfrm>
            <a:off x="553050" y="1970275"/>
            <a:ext cx="2342400" cy="1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Reads network packets and displays them on screen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6" name="Google Shape;1396;p181"/>
          <p:cNvSpPr txBox="1"/>
          <p:nvPr/>
        </p:nvSpPr>
        <p:spPr>
          <a:xfrm>
            <a:off x="3537549" y="1956475"/>
            <a:ext cx="22353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Performs packet captures by logging all traffic to disk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7" name="Google Shape;1397;p181"/>
          <p:cNvSpPr txBox="1"/>
          <p:nvPr/>
        </p:nvSpPr>
        <p:spPr>
          <a:xfrm>
            <a:off x="6434951" y="1970275"/>
            <a:ext cx="22353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Monitors network traffic, analyzes it, and performs specific actions based on administratively defined rules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8" name="Google Shape;1398;p181"/>
          <p:cNvSpPr txBox="1"/>
          <p:nvPr/>
        </p:nvSpPr>
        <p:spPr>
          <a:xfrm>
            <a:off x="465975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Sniffer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9" name="Google Shape;1399;p181"/>
          <p:cNvSpPr txBox="1"/>
          <p:nvPr/>
        </p:nvSpPr>
        <p:spPr>
          <a:xfrm>
            <a:off x="3429000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Packet Logger</a:t>
            </a:r>
            <a:endParaRPr b="0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0" name="Google Shape;1400;p181"/>
          <p:cNvSpPr txBox="1"/>
          <p:nvPr/>
        </p:nvSpPr>
        <p:spPr>
          <a:xfrm>
            <a:off x="6343875" y="1345100"/>
            <a:ext cx="2461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NIDS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1" name="Google Shape;1401;p181"/>
          <p:cNvSpPr txBox="1"/>
          <p:nvPr>
            <p:ph type="title"/>
          </p:nvPr>
        </p:nvSpPr>
        <p:spPr>
          <a:xfrm>
            <a:off x="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Snort</a:t>
            </a:r>
            <a:endParaRPr sz="2600">
              <a:solidFill>
                <a:schemeClr val="dk2"/>
              </a:solidFill>
            </a:endParaRPr>
          </a:p>
        </p:txBody>
      </p:sp>
      <p:pic>
        <p:nvPicPr>
          <p:cNvPr id="1402" name="Google Shape;1402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5626" y="3882324"/>
            <a:ext cx="672750" cy="68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1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4" y="3886355"/>
            <a:ext cx="622861" cy="6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1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9005" y="3913961"/>
            <a:ext cx="729395" cy="6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82"/>
          <p:cNvSpPr/>
          <p:nvPr/>
        </p:nvSpPr>
        <p:spPr>
          <a:xfrm>
            <a:off x="1287175" y="115282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82"/>
          <p:cNvSpPr/>
          <p:nvPr/>
        </p:nvSpPr>
        <p:spPr>
          <a:xfrm>
            <a:off x="1287175" y="3438400"/>
            <a:ext cx="7399500" cy="675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82"/>
          <p:cNvSpPr/>
          <p:nvPr/>
        </p:nvSpPr>
        <p:spPr>
          <a:xfrm>
            <a:off x="1287175" y="2528230"/>
            <a:ext cx="7399500" cy="675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182"/>
          <p:cNvSpPr/>
          <p:nvPr/>
        </p:nvSpPr>
        <p:spPr>
          <a:xfrm>
            <a:off x="1287175" y="182792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3" name="Google Shape;1413;p182"/>
          <p:cNvGrpSpPr/>
          <p:nvPr/>
        </p:nvGrpSpPr>
        <p:grpSpPr>
          <a:xfrm>
            <a:off x="457200" y="1152829"/>
            <a:ext cx="776900" cy="459019"/>
            <a:chOff x="457200" y="1466425"/>
            <a:chExt cx="776900" cy="486300"/>
          </a:xfrm>
        </p:grpSpPr>
        <p:sp>
          <p:nvSpPr>
            <p:cNvPr id="1414" name="Google Shape;1414;p18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5" name="Google Shape;1415;p18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416" name="Google Shape;1416;p182"/>
          <p:cNvGrpSpPr/>
          <p:nvPr/>
        </p:nvGrpSpPr>
        <p:grpSpPr>
          <a:xfrm>
            <a:off x="457200" y="1807705"/>
            <a:ext cx="776900" cy="486300"/>
            <a:chOff x="457200" y="1466425"/>
            <a:chExt cx="776900" cy="486300"/>
          </a:xfrm>
        </p:grpSpPr>
        <p:sp>
          <p:nvSpPr>
            <p:cNvPr id="1417" name="Google Shape;1417;p18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8" name="Google Shape;1418;p18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419" name="Google Shape;1419;p182"/>
          <p:cNvGrpSpPr/>
          <p:nvPr/>
        </p:nvGrpSpPr>
        <p:grpSpPr>
          <a:xfrm>
            <a:off x="457200" y="2600761"/>
            <a:ext cx="776900" cy="437378"/>
            <a:chOff x="457200" y="1551148"/>
            <a:chExt cx="776900" cy="486300"/>
          </a:xfrm>
        </p:grpSpPr>
        <p:sp>
          <p:nvSpPr>
            <p:cNvPr id="1420" name="Google Shape;1420;p182"/>
            <p:cNvSpPr/>
            <p:nvPr/>
          </p:nvSpPr>
          <p:spPr>
            <a:xfrm>
              <a:off x="457200" y="1551148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1" name="Google Shape;1421;p18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422" name="Google Shape;1422;p182"/>
          <p:cNvGrpSpPr/>
          <p:nvPr/>
        </p:nvGrpSpPr>
        <p:grpSpPr>
          <a:xfrm>
            <a:off x="457200" y="3512829"/>
            <a:ext cx="776900" cy="459019"/>
            <a:chOff x="457200" y="1466425"/>
            <a:chExt cx="776900" cy="486300"/>
          </a:xfrm>
        </p:grpSpPr>
        <p:sp>
          <p:nvSpPr>
            <p:cNvPr id="1423" name="Google Shape;1423;p18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4" name="Google Shape;1424;p18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425" name="Google Shape;1425;p182"/>
          <p:cNvSpPr txBox="1"/>
          <p:nvPr>
            <p:ph idx="4294967295" type="body"/>
          </p:nvPr>
        </p:nvSpPr>
        <p:spPr>
          <a:xfrm>
            <a:off x="1287250" y="117420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Reading a configuration file</a:t>
            </a:r>
            <a:endParaRPr/>
          </a:p>
        </p:txBody>
      </p:sp>
      <p:sp>
        <p:nvSpPr>
          <p:cNvPr id="1426" name="Google Shape;1426;p182"/>
          <p:cNvSpPr txBox="1"/>
          <p:nvPr>
            <p:ph idx="4294967295" type="body"/>
          </p:nvPr>
        </p:nvSpPr>
        <p:spPr>
          <a:xfrm>
            <a:off x="1287250" y="18493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Loading the rules and plugins</a:t>
            </a:r>
            <a:endParaRPr/>
          </a:p>
        </p:txBody>
      </p:sp>
      <p:sp>
        <p:nvSpPr>
          <p:cNvPr id="1427" name="Google Shape;1427;p182"/>
          <p:cNvSpPr txBox="1"/>
          <p:nvPr>
            <p:ph idx="4294967295" type="body"/>
          </p:nvPr>
        </p:nvSpPr>
        <p:spPr>
          <a:xfrm>
            <a:off x="1335025" y="2647175"/>
            <a:ext cx="73038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Capturing packets and monitoring traffic for patterns specified in the loaded rules</a:t>
            </a:r>
            <a:endParaRPr/>
          </a:p>
        </p:txBody>
      </p:sp>
      <p:sp>
        <p:nvSpPr>
          <p:cNvPr id="1428" name="Google Shape;1428;p182"/>
          <p:cNvSpPr txBox="1"/>
          <p:nvPr>
            <p:ph idx="4294967295" type="body"/>
          </p:nvPr>
        </p:nvSpPr>
        <p:spPr>
          <a:xfrm>
            <a:off x="1287250" y="3606700"/>
            <a:ext cx="73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/>
              <a:t>generating an alert </a:t>
            </a:r>
            <a:r>
              <a:rPr lang="en" sz="1850"/>
              <a:t>when traffic matches a rule pattern </a:t>
            </a:r>
            <a:r>
              <a:rPr lang="en" sz="1850"/>
              <a:t>or else logging the matching packet for later inspection </a:t>
            </a:r>
            <a:endParaRPr sz="1850"/>
          </a:p>
        </p:txBody>
      </p:sp>
      <p:sp>
        <p:nvSpPr>
          <p:cNvPr id="1429" name="Google Shape;1429;p182"/>
          <p:cNvSpPr txBox="1"/>
          <p:nvPr>
            <p:ph type="title"/>
          </p:nvPr>
        </p:nvSpPr>
        <p:spPr>
          <a:xfrm>
            <a:off x="457200" y="14245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Snort Rules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430" name="Google Shape;1430;p182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Snort uses rules to detect and prevent intrusions. It operates by: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83"/>
          <p:cNvSpPr txBox="1"/>
          <p:nvPr>
            <p:ph type="title"/>
          </p:nvPr>
        </p:nvSpPr>
        <p:spPr>
          <a:xfrm>
            <a:off x="432475" y="91500"/>
            <a:ext cx="400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Snort Rules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436" name="Google Shape;1436;p183"/>
          <p:cNvSpPr txBox="1"/>
          <p:nvPr>
            <p:ph idx="1" type="subTitle"/>
          </p:nvPr>
        </p:nvSpPr>
        <p:spPr>
          <a:xfrm>
            <a:off x="463225" y="548650"/>
            <a:ext cx="3940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Rules direct Snort to monitor for:</a:t>
            </a:r>
            <a:endParaRPr/>
          </a:p>
        </p:txBody>
      </p:sp>
      <p:sp>
        <p:nvSpPr>
          <p:cNvPr id="1437" name="Google Shape;1437;p183"/>
          <p:cNvSpPr txBox="1"/>
          <p:nvPr/>
        </p:nvSpPr>
        <p:spPr>
          <a:xfrm>
            <a:off x="552975" y="1224475"/>
            <a:ext cx="46806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OSI Layer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Watch for IP and TCP data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 and Destination Address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Traffic flow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Byte Sequences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Patterns in packets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8" name="Google Shape;1438;p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014" y="1224475"/>
            <a:ext cx="4495023" cy="24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84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Snort Rules</a:t>
            </a:r>
            <a:endParaRPr/>
          </a:p>
        </p:txBody>
      </p:sp>
      <p:sp>
        <p:nvSpPr>
          <p:cNvPr id="1444" name="Google Shape;1444;p184"/>
          <p:cNvSpPr txBox="1"/>
          <p:nvPr>
            <p:ph idx="3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This rule logs the message “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IP Packet Detected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” when it detects an IP packet.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84"/>
          <p:cNvSpPr txBox="1"/>
          <p:nvPr/>
        </p:nvSpPr>
        <p:spPr>
          <a:xfrm>
            <a:off x="8646911" y="4972983"/>
            <a:ext cx="222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46" name="Google Shape;1446;p184"/>
          <p:cNvSpPr/>
          <p:nvPr/>
        </p:nvSpPr>
        <p:spPr>
          <a:xfrm>
            <a:off x="438000" y="2073438"/>
            <a:ext cx="8431500" cy="996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alert ip any any -&gt; any any {msg: "IP Packet Detected";}</a:t>
            </a:r>
            <a:endParaRPr b="1" sz="22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85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Snort Rules</a:t>
            </a:r>
            <a:endParaRPr/>
          </a:p>
        </p:txBody>
      </p:sp>
      <p:sp>
        <p:nvSpPr>
          <p:cNvPr id="1452" name="Google Shape;1452;p185"/>
          <p:cNvSpPr txBox="1"/>
          <p:nvPr/>
        </p:nvSpPr>
        <p:spPr>
          <a:xfrm>
            <a:off x="8646911" y="4972983"/>
            <a:ext cx="222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453" name="Google Shape;1453;p185"/>
          <p:cNvSpPr txBox="1"/>
          <p:nvPr>
            <p:ph idx="1" type="body"/>
          </p:nvPr>
        </p:nvSpPr>
        <p:spPr>
          <a:xfrm>
            <a:off x="429750" y="767750"/>
            <a:ext cx="4572000" cy="48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Rule Header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4" name="Google Shape;1454;p185"/>
          <p:cNvSpPr txBox="1"/>
          <p:nvPr>
            <p:ph idx="1" type="body"/>
          </p:nvPr>
        </p:nvSpPr>
        <p:spPr>
          <a:xfrm>
            <a:off x="5001750" y="767750"/>
            <a:ext cx="3645300" cy="48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Rule Option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5" name="Google Shape;1455;p185"/>
          <p:cNvSpPr txBox="1"/>
          <p:nvPr/>
        </p:nvSpPr>
        <p:spPr>
          <a:xfrm>
            <a:off x="524200" y="1346300"/>
            <a:ext cx="93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alert</a:t>
            </a:r>
            <a:endParaRPr b="1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Action Snort will take when triggered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6" name="Google Shape;1456;p185"/>
          <p:cNvSpPr/>
          <p:nvPr/>
        </p:nvSpPr>
        <p:spPr>
          <a:xfrm>
            <a:off x="447675" y="2539475"/>
            <a:ext cx="8338200" cy="9810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latin typeface="Inconsolata"/>
                <a:ea typeface="Inconsolata"/>
                <a:cs typeface="Inconsolata"/>
                <a:sym typeface="Inconsolata"/>
              </a:rPr>
              <a:t>alert tcp any any -&gt; 10.199.12.8 21   {msg: "TCP Packet Detected";}</a:t>
            </a:r>
            <a:endParaRPr b="1" sz="1800">
              <a:solidFill>
                <a:srgbClr val="333333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457" name="Google Shape;1457;p185"/>
          <p:cNvCxnSpPr/>
          <p:nvPr/>
        </p:nvCxnSpPr>
        <p:spPr>
          <a:xfrm>
            <a:off x="1047750" y="2182550"/>
            <a:ext cx="0" cy="69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8" name="Google Shape;1458;p185"/>
          <p:cNvSpPr txBox="1"/>
          <p:nvPr/>
        </p:nvSpPr>
        <p:spPr>
          <a:xfrm>
            <a:off x="1333500" y="3877425"/>
            <a:ext cx="8574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tcp</a:t>
            </a:r>
            <a:endParaRPr b="1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Applies rule to all TCP packets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cxnSp>
        <p:nvCxnSpPr>
          <p:cNvPr id="1459" name="Google Shape;1459;p185"/>
          <p:cNvCxnSpPr/>
          <p:nvPr/>
        </p:nvCxnSpPr>
        <p:spPr>
          <a:xfrm rot="10800000">
            <a:off x="2515750" y="3238575"/>
            <a:ext cx="0" cy="52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0" name="Google Shape;1460;p185"/>
          <p:cNvSpPr txBox="1"/>
          <p:nvPr/>
        </p:nvSpPr>
        <p:spPr>
          <a:xfrm>
            <a:off x="2462800" y="3877425"/>
            <a:ext cx="9333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any</a:t>
            </a:r>
            <a:endParaRPr b="1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Applies the rule to packets from any port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1461" name="Google Shape;1461;p185"/>
          <p:cNvSpPr txBox="1"/>
          <p:nvPr/>
        </p:nvSpPr>
        <p:spPr>
          <a:xfrm>
            <a:off x="2786250" y="1346300"/>
            <a:ext cx="11145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10.199.12.8</a:t>
            </a:r>
            <a:endParaRPr b="1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destination </a:t>
            </a:r>
            <a:b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IP address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rPr>
              <a:t> </a:t>
            </a:r>
            <a:endParaRPr>
              <a:latin typeface="Roboto Thin"/>
              <a:ea typeface="Roboto Thin"/>
              <a:cs typeface="Roboto Thin"/>
              <a:sym typeface="Roboto Thin"/>
            </a:endParaRPr>
          </a:p>
        </p:txBody>
      </p:sp>
      <p:cxnSp>
        <p:nvCxnSpPr>
          <p:cNvPr id="1462" name="Google Shape;1462;p185"/>
          <p:cNvCxnSpPr/>
          <p:nvPr/>
        </p:nvCxnSpPr>
        <p:spPr>
          <a:xfrm>
            <a:off x="3343500" y="2182550"/>
            <a:ext cx="0" cy="69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185"/>
          <p:cNvCxnSpPr/>
          <p:nvPr/>
        </p:nvCxnSpPr>
        <p:spPr>
          <a:xfrm flipH="1" rot="10800000">
            <a:off x="4171950" y="3238575"/>
            <a:ext cx="466800" cy="60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4" name="Google Shape;1464;p185"/>
          <p:cNvSpPr txBox="1"/>
          <p:nvPr/>
        </p:nvSpPr>
        <p:spPr>
          <a:xfrm>
            <a:off x="3668000" y="3877425"/>
            <a:ext cx="1226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21</a:t>
            </a:r>
            <a:endParaRPr b="1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Applies the rule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traffic to destination port 21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Thin"/>
              <a:ea typeface="Roboto Thin"/>
              <a:cs typeface="Roboto Thin"/>
              <a:sym typeface="Roboto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cxnSp>
        <p:nvCxnSpPr>
          <p:cNvPr id="1465" name="Google Shape;1465;p185"/>
          <p:cNvCxnSpPr/>
          <p:nvPr/>
        </p:nvCxnSpPr>
        <p:spPr>
          <a:xfrm>
            <a:off x="5001750" y="752525"/>
            <a:ext cx="0" cy="39909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66" name="Google Shape;1466;p185"/>
          <p:cNvGrpSpPr/>
          <p:nvPr/>
        </p:nvGrpSpPr>
        <p:grpSpPr>
          <a:xfrm>
            <a:off x="5200818" y="3229075"/>
            <a:ext cx="3190909" cy="699600"/>
            <a:chOff x="5134350" y="2924275"/>
            <a:chExt cx="3352500" cy="699600"/>
          </a:xfrm>
        </p:grpSpPr>
        <p:cxnSp>
          <p:nvCxnSpPr>
            <p:cNvPr id="1467" name="Google Shape;1467;p185"/>
            <p:cNvCxnSpPr/>
            <p:nvPr/>
          </p:nvCxnSpPr>
          <p:spPr>
            <a:xfrm rot="10800000">
              <a:off x="5134350" y="2924275"/>
              <a:ext cx="0" cy="69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68" name="Google Shape;1468;p185"/>
            <p:cNvCxnSpPr/>
            <p:nvPr/>
          </p:nvCxnSpPr>
          <p:spPr>
            <a:xfrm rot="10800000">
              <a:off x="8477543" y="2924275"/>
              <a:ext cx="0" cy="699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69" name="Google Shape;1469;p185"/>
            <p:cNvCxnSpPr/>
            <p:nvPr/>
          </p:nvCxnSpPr>
          <p:spPr>
            <a:xfrm>
              <a:off x="5134350" y="3613675"/>
              <a:ext cx="3352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0" name="Google Shape;1470;p185"/>
          <p:cNvSpPr txBox="1"/>
          <p:nvPr/>
        </p:nvSpPr>
        <p:spPr>
          <a:xfrm>
            <a:off x="5566700" y="4038600"/>
            <a:ext cx="2605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{msg: "TCP Packet Detected";}</a:t>
            </a:r>
            <a:endParaRPr b="1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message printed with the alert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1" name="Google Shape;1471;p185"/>
          <p:cNvCxnSpPr/>
          <p:nvPr/>
        </p:nvCxnSpPr>
        <p:spPr>
          <a:xfrm>
            <a:off x="2124300" y="2182550"/>
            <a:ext cx="0" cy="69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2" name="Google Shape;1472;p185"/>
          <p:cNvSpPr txBox="1"/>
          <p:nvPr/>
        </p:nvSpPr>
        <p:spPr>
          <a:xfrm>
            <a:off x="1564625" y="1297550"/>
            <a:ext cx="11145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any</a:t>
            </a:r>
            <a:endParaRPr b="1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Applies to packets coming from any source IP address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Thin"/>
                <a:ea typeface="Roboto Thin"/>
                <a:cs typeface="Roboto Thin"/>
                <a:sym typeface="Roboto Thin"/>
              </a:rPr>
              <a:t> </a:t>
            </a:r>
            <a:endParaRPr>
              <a:latin typeface="Roboto Thin"/>
              <a:ea typeface="Roboto Thin"/>
              <a:cs typeface="Roboto Thin"/>
              <a:sym typeface="Roboto Thin"/>
            </a:endParaRPr>
          </a:p>
        </p:txBody>
      </p:sp>
      <p:cxnSp>
        <p:nvCxnSpPr>
          <p:cNvPr id="1473" name="Google Shape;1473;p185"/>
          <p:cNvCxnSpPr/>
          <p:nvPr/>
        </p:nvCxnSpPr>
        <p:spPr>
          <a:xfrm rot="10800000">
            <a:off x="1668025" y="3238575"/>
            <a:ext cx="0" cy="52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86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1479" name="Google Shape;1479;p18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Intrusion detection systems and Snort</a:t>
            </a:r>
            <a:endParaRPr/>
          </a:p>
        </p:txBody>
      </p:sp>
      <p:sp>
        <p:nvSpPr>
          <p:cNvPr id="1480" name="Google Shape;1480;p186"/>
          <p:cNvSpPr txBox="1"/>
          <p:nvPr>
            <p:ph idx="3" type="body"/>
          </p:nvPr>
        </p:nvSpPr>
        <p:spPr>
          <a:xfrm>
            <a:off x="457200" y="1176975"/>
            <a:ext cx="77724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play the role of an SOC analyst for the California Department of Motor Vehicles (DMV).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CISO has advised you to implement new security controls as an added layer of protection for the driving records of all state citizens.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activity, you will strengthen your knowledge of the concepts related to IDSs and Snort.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1" name="Google Shape;1481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89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NSM </a:t>
            </a:r>
            <a:r>
              <a:rPr b="0"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b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Security Onion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5" name="Google Shape;1495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700" y="1341150"/>
            <a:ext cx="152400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9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Security Monitoring</a:t>
            </a:r>
            <a:endParaRPr/>
          </a:p>
        </p:txBody>
      </p:sp>
      <p:sp>
        <p:nvSpPr>
          <p:cNvPr id="1501" name="Google Shape;1501;p19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NSMs can provide situational awareness for an entire network.</a:t>
            </a:r>
            <a:endParaRPr/>
          </a:p>
        </p:txBody>
      </p:sp>
      <p:sp>
        <p:nvSpPr>
          <p:cNvPr id="1502" name="Google Shape;1502;p190"/>
          <p:cNvSpPr txBox="1"/>
          <p:nvPr>
            <p:ph idx="2" type="body"/>
          </p:nvPr>
        </p:nvSpPr>
        <p:spPr>
          <a:xfrm>
            <a:off x="4404125" y="1063525"/>
            <a:ext cx="41787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review Security Onion, which uses </a:t>
            </a:r>
            <a:r>
              <a:rPr b="1" lang="en"/>
              <a:t>Suricata</a:t>
            </a:r>
            <a:r>
              <a:rPr lang="en"/>
              <a:t> as its event-driven mechanism.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Suricata provides Security Onion with alerts based upon configured rules similar to </a:t>
            </a:r>
            <a:r>
              <a:rPr b="1" lang="en"/>
              <a:t>Snort</a:t>
            </a:r>
            <a:r>
              <a:rPr lang="en"/>
              <a:t> rules.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Suricata provides features such as: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TLS certificates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transactions</a:t>
            </a:r>
            <a:endParaRPr/>
          </a:p>
        </p:txBody>
      </p:sp>
      <p:pic>
        <p:nvPicPr>
          <p:cNvPr id="1503" name="Google Shape;1503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75" y="244098"/>
            <a:ext cx="596250" cy="5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p1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5250"/>
            <a:ext cx="4015852" cy="4015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91"/>
          <p:cNvSpPr txBox="1"/>
          <p:nvPr>
            <p:ph idx="1" type="body"/>
          </p:nvPr>
        </p:nvSpPr>
        <p:spPr>
          <a:xfrm>
            <a:off x="448650" y="2437750"/>
            <a:ext cx="4732800" cy="2929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Assailants had lurked on 23andMe’s network for about two months.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compromise was achieved using a technique known as “</a:t>
            </a:r>
            <a:r>
              <a:rPr b="1" lang="en" sz="1800"/>
              <a:t>credential stuffing</a:t>
            </a:r>
            <a:r>
              <a:rPr lang="en" sz="1800"/>
              <a:t>.</a:t>
            </a:r>
            <a:r>
              <a:rPr lang="en" sz="1800"/>
              <a:t>”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PII of many of its users was exposed.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23andMe suffered enormous damage </a:t>
            </a:r>
            <a:br>
              <a:rPr lang="en" sz="1800"/>
            </a:br>
            <a:r>
              <a:rPr lang="en" sz="1800"/>
              <a:t>to its reputation.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91"/>
          <p:cNvSpPr txBox="1"/>
          <p:nvPr>
            <p:ph type="title"/>
          </p:nvPr>
        </p:nvSpPr>
        <p:spPr>
          <a:xfrm>
            <a:off x="74126" y="51200"/>
            <a:ext cx="64542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Case Study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91"/>
          <p:cNvSpPr txBox="1"/>
          <p:nvPr>
            <p:ph idx="3" type="title"/>
          </p:nvPr>
        </p:nvSpPr>
        <p:spPr>
          <a:xfrm>
            <a:off x="70200" y="591475"/>
            <a:ext cx="8652900" cy="13134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On October 2023, a group of attackers released confidential information 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from 23andMe, a company that offers DNA testing. The exposed information contained personally identifiable information (PII) for many of its users, 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including usernames, full names, home addresses, social security numbers, 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and genealogical information.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191"/>
          <p:cNvSpPr txBox="1"/>
          <p:nvPr/>
        </p:nvSpPr>
        <p:spPr>
          <a:xfrm>
            <a:off x="8646911" y="4972983"/>
            <a:ext cx="222600" cy="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  <p:pic>
        <p:nvPicPr>
          <p:cNvPr id="1513" name="Google Shape;1513;p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450" y="2437750"/>
            <a:ext cx="3707049" cy="213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Google Shape;1518;p192"/>
          <p:cNvPicPr preferRelativeResize="0"/>
          <p:nvPr/>
        </p:nvPicPr>
        <p:blipFill rotWithShape="1">
          <a:blip r:embed="rId3">
            <a:alphaModFix/>
          </a:blip>
          <a:srcRect b="4016" l="495" r="504" t="12657"/>
          <a:stretch/>
        </p:blipFill>
        <p:spPr>
          <a:xfrm>
            <a:off x="-12302" y="0"/>
            <a:ext cx="91685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9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192"/>
          <p:cNvSpPr/>
          <p:nvPr/>
        </p:nvSpPr>
        <p:spPr>
          <a:xfrm>
            <a:off x="-16300" y="2300875"/>
            <a:ext cx="9168600" cy="180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192"/>
          <p:cNvSpPr txBox="1"/>
          <p:nvPr/>
        </p:nvSpPr>
        <p:spPr>
          <a:xfrm>
            <a:off x="357950" y="2300875"/>
            <a:ext cx="8420100" cy="18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2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23andMe had a strong </a:t>
            </a:r>
            <a:r>
              <a:rPr b="1"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NSM program</a:t>
            </a:r>
            <a: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in place, </a:t>
            </a:r>
            <a:b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it would have discovered the attack much sooner—perhaps within hours—stopped it, and got </a:t>
            </a:r>
            <a:b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better understanding of the TTPs of the attacker.</a:t>
            </a:r>
            <a:endParaRPr sz="25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93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is most useful when the </a:t>
            </a:r>
            <a:r>
              <a:rPr b="1" lang="en"/>
              <a:t>frontend layers</a:t>
            </a:r>
            <a:r>
              <a:rPr lang="en"/>
              <a:t> of defense </a:t>
            </a:r>
            <a:br>
              <a:rPr lang="en"/>
            </a:br>
            <a:r>
              <a:rPr lang="en"/>
              <a:t>are compromised.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94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NSMs are: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Threat-Centric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Primary focus is adversary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Focused on Visibility of Attack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Not the response to the attack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Reveal Statistical Data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Specific </a:t>
            </a:r>
            <a:r>
              <a:rPr b="1" lang="en"/>
              <a:t>IOAs</a:t>
            </a:r>
            <a:r>
              <a:rPr lang="en"/>
              <a:t> and </a:t>
            </a:r>
            <a:r>
              <a:rPr b="1" lang="en"/>
              <a:t>IOCs</a:t>
            </a:r>
            <a:r>
              <a:rPr lang="en"/>
              <a:t> from attacks</a:t>
            </a:r>
            <a:endParaRPr/>
          </a:p>
        </p:txBody>
      </p:sp>
      <p:sp>
        <p:nvSpPr>
          <p:cNvPr id="1532" name="Google Shape;1532;p194"/>
          <p:cNvSpPr txBox="1"/>
          <p:nvPr>
            <p:ph type="title"/>
          </p:nvPr>
        </p:nvSpPr>
        <p:spPr>
          <a:xfrm>
            <a:off x="408801" y="98150"/>
            <a:ext cx="5029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</a:t>
            </a:r>
            <a:endParaRPr/>
          </a:p>
        </p:txBody>
      </p:sp>
      <p:sp>
        <p:nvSpPr>
          <p:cNvPr id="1533" name="Google Shape;1533;p194"/>
          <p:cNvSpPr txBox="1"/>
          <p:nvPr>
            <p:ph idx="3" type="subTitle"/>
          </p:nvPr>
        </p:nvSpPr>
        <p:spPr>
          <a:xfrm>
            <a:off x="412475" y="576700"/>
            <a:ext cx="53643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to slow or eliminate threat-based attacks</a:t>
            </a:r>
            <a:endParaRPr/>
          </a:p>
        </p:txBody>
      </p:sp>
      <p:pic>
        <p:nvPicPr>
          <p:cNvPr id="1534" name="Google Shape;1534;p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8500" y="873400"/>
            <a:ext cx="4173952" cy="4173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9" name="Google Shape;1539;p195"/>
          <p:cNvGrpSpPr/>
          <p:nvPr/>
        </p:nvGrpSpPr>
        <p:grpSpPr>
          <a:xfrm>
            <a:off x="-3" y="992017"/>
            <a:ext cx="8686828" cy="400200"/>
            <a:chOff x="-3" y="1885788"/>
            <a:chExt cx="8686828" cy="400200"/>
          </a:xfrm>
        </p:grpSpPr>
        <p:cxnSp>
          <p:nvCxnSpPr>
            <p:cNvPr id="1540" name="Google Shape;1540;p19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41" name="Google Shape;1541;p19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42" name="Google Shape;1542;p195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9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9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45" name="Google Shape;1545;p195"/>
          <p:cNvGrpSpPr/>
          <p:nvPr/>
        </p:nvGrpSpPr>
        <p:grpSpPr>
          <a:xfrm>
            <a:off x="-3" y="1677759"/>
            <a:ext cx="8686828" cy="400200"/>
            <a:chOff x="-3" y="2566213"/>
            <a:chExt cx="8686828" cy="400200"/>
          </a:xfrm>
        </p:grpSpPr>
        <p:cxnSp>
          <p:nvCxnSpPr>
            <p:cNvPr id="1546" name="Google Shape;1546;p195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47" name="Google Shape;1547;p195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95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95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0" name="Google Shape;1550;p195"/>
          <p:cNvGrpSpPr/>
          <p:nvPr/>
        </p:nvGrpSpPr>
        <p:grpSpPr>
          <a:xfrm>
            <a:off x="-3" y="2363501"/>
            <a:ext cx="8684268" cy="402300"/>
            <a:chOff x="-3" y="3236976"/>
            <a:chExt cx="8684268" cy="402300"/>
          </a:xfrm>
        </p:grpSpPr>
        <p:cxnSp>
          <p:nvCxnSpPr>
            <p:cNvPr id="1551" name="Google Shape;1551;p195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52" name="Google Shape;1552;p195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95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95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5" name="Google Shape;1555;p195"/>
          <p:cNvGrpSpPr/>
          <p:nvPr/>
        </p:nvGrpSpPr>
        <p:grpSpPr>
          <a:xfrm>
            <a:off x="-3" y="3048422"/>
            <a:ext cx="8686828" cy="400200"/>
            <a:chOff x="-3" y="2566213"/>
            <a:chExt cx="8686828" cy="400200"/>
          </a:xfrm>
        </p:grpSpPr>
        <p:cxnSp>
          <p:nvCxnSpPr>
            <p:cNvPr id="1556" name="Google Shape;1556;p195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57" name="Google Shape;1557;p195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95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95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60" name="Google Shape;1560;p195"/>
          <p:cNvSpPr txBox="1"/>
          <p:nvPr>
            <p:ph idx="4294967295" type="body"/>
          </p:nvPr>
        </p:nvSpPr>
        <p:spPr>
          <a:xfrm>
            <a:off x="914400" y="10090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Track adversaries through a network and determine their intent</a:t>
            </a:r>
            <a:endParaRPr/>
          </a:p>
        </p:txBody>
      </p:sp>
      <p:sp>
        <p:nvSpPr>
          <p:cNvPr id="1561" name="Google Shape;1561;p195"/>
          <p:cNvSpPr txBox="1"/>
          <p:nvPr>
            <p:ph idx="4294967295" type="body"/>
          </p:nvPr>
        </p:nvSpPr>
        <p:spPr>
          <a:xfrm>
            <a:off x="914400" y="16945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Acquire intelligence and situational awareness</a:t>
            </a:r>
            <a:endParaRPr/>
          </a:p>
        </p:txBody>
      </p:sp>
      <p:sp>
        <p:nvSpPr>
          <p:cNvPr id="1562" name="Google Shape;1562;p195"/>
          <p:cNvSpPr txBox="1"/>
          <p:nvPr>
            <p:ph idx="4294967295" type="body"/>
          </p:nvPr>
        </p:nvSpPr>
        <p:spPr>
          <a:xfrm>
            <a:off x="914400" y="23801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Be proactive by identifying vulnerabilities</a:t>
            </a:r>
            <a:endParaRPr/>
          </a:p>
        </p:txBody>
      </p:sp>
      <p:sp>
        <p:nvSpPr>
          <p:cNvPr id="1563" name="Google Shape;1563;p195"/>
          <p:cNvSpPr txBox="1"/>
          <p:nvPr>
            <p:ph idx="4294967295" type="body"/>
          </p:nvPr>
        </p:nvSpPr>
        <p:spPr>
          <a:xfrm>
            <a:off x="914400" y="30656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Be reactive through incident response and network forensics</a:t>
            </a:r>
            <a:endParaRPr/>
          </a:p>
        </p:txBody>
      </p:sp>
      <p:sp>
        <p:nvSpPr>
          <p:cNvPr id="1564" name="Google Shape;1564;p19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NSM Strengths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565" name="Google Shape;1565;p195"/>
          <p:cNvSpPr txBox="1"/>
          <p:nvPr>
            <p:ph idx="1" type="subTitle"/>
          </p:nvPr>
        </p:nvSpPr>
        <p:spPr>
          <a:xfrm>
            <a:off x="463225" y="548650"/>
            <a:ext cx="8229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NSM allows organizations to:</a:t>
            </a:r>
            <a:endParaRPr/>
          </a:p>
        </p:txBody>
      </p:sp>
      <p:grpSp>
        <p:nvGrpSpPr>
          <p:cNvPr id="1566" name="Google Shape;1566;p195"/>
          <p:cNvGrpSpPr/>
          <p:nvPr/>
        </p:nvGrpSpPr>
        <p:grpSpPr>
          <a:xfrm>
            <a:off x="-3" y="3731242"/>
            <a:ext cx="8686828" cy="400200"/>
            <a:chOff x="-3" y="1885788"/>
            <a:chExt cx="8686828" cy="400200"/>
          </a:xfrm>
        </p:grpSpPr>
        <p:cxnSp>
          <p:nvCxnSpPr>
            <p:cNvPr id="1567" name="Google Shape;1567;p19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68" name="Google Shape;1568;p19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69" name="Google Shape;1569;p195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9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9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72" name="Google Shape;1572;p195"/>
          <p:cNvSpPr txBox="1"/>
          <p:nvPr>
            <p:ph idx="4294967295" type="body"/>
          </p:nvPr>
        </p:nvSpPr>
        <p:spPr>
          <a:xfrm>
            <a:off x="914400" y="3748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Provide insights related to advanced persistent threats (APTs)</a:t>
            </a:r>
            <a:endParaRPr/>
          </a:p>
        </p:txBody>
      </p:sp>
      <p:grpSp>
        <p:nvGrpSpPr>
          <p:cNvPr id="1573" name="Google Shape;1573;p195"/>
          <p:cNvGrpSpPr/>
          <p:nvPr/>
        </p:nvGrpSpPr>
        <p:grpSpPr>
          <a:xfrm>
            <a:off x="-3" y="4414067"/>
            <a:ext cx="8686828" cy="400200"/>
            <a:chOff x="-3" y="1885788"/>
            <a:chExt cx="8686828" cy="400200"/>
          </a:xfrm>
        </p:grpSpPr>
        <p:cxnSp>
          <p:nvCxnSpPr>
            <p:cNvPr id="1574" name="Google Shape;1574;p19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75" name="Google Shape;1575;p19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76" name="Google Shape;1576;p195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9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9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79" name="Google Shape;1579;p195"/>
          <p:cNvSpPr txBox="1"/>
          <p:nvPr>
            <p:ph idx="4294967295" type="body"/>
          </p:nvPr>
        </p:nvSpPr>
        <p:spPr>
          <a:xfrm>
            <a:off x="914400" y="443111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Uncover and track malware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4" name="Google Shape;1584;p196"/>
          <p:cNvGrpSpPr/>
          <p:nvPr/>
        </p:nvGrpSpPr>
        <p:grpSpPr>
          <a:xfrm>
            <a:off x="-3" y="1220617"/>
            <a:ext cx="8686828" cy="400200"/>
            <a:chOff x="-3" y="1885788"/>
            <a:chExt cx="8686828" cy="400200"/>
          </a:xfrm>
        </p:grpSpPr>
        <p:cxnSp>
          <p:nvCxnSpPr>
            <p:cNvPr id="1585" name="Google Shape;1585;p19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86" name="Google Shape;1586;p19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87" name="Google Shape;1587;p19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9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9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90" name="Google Shape;1590;p196"/>
          <p:cNvGrpSpPr/>
          <p:nvPr/>
        </p:nvGrpSpPr>
        <p:grpSpPr>
          <a:xfrm>
            <a:off x="-3" y="1906359"/>
            <a:ext cx="8686828" cy="400200"/>
            <a:chOff x="-3" y="2566213"/>
            <a:chExt cx="8686828" cy="400200"/>
          </a:xfrm>
        </p:grpSpPr>
        <p:cxnSp>
          <p:nvCxnSpPr>
            <p:cNvPr id="1591" name="Google Shape;1591;p19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92" name="Google Shape;1592;p19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9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9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95" name="Google Shape;1595;p196"/>
          <p:cNvGrpSpPr/>
          <p:nvPr/>
        </p:nvGrpSpPr>
        <p:grpSpPr>
          <a:xfrm>
            <a:off x="-3" y="2592101"/>
            <a:ext cx="8684268" cy="402300"/>
            <a:chOff x="-3" y="3236976"/>
            <a:chExt cx="8684268" cy="402300"/>
          </a:xfrm>
        </p:grpSpPr>
        <p:cxnSp>
          <p:nvCxnSpPr>
            <p:cNvPr id="1596" name="Google Shape;1596;p196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97" name="Google Shape;1597;p196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96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96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00" name="Google Shape;1600;p196"/>
          <p:cNvGrpSpPr/>
          <p:nvPr/>
        </p:nvGrpSpPr>
        <p:grpSpPr>
          <a:xfrm>
            <a:off x="-3" y="3277022"/>
            <a:ext cx="8686828" cy="400200"/>
            <a:chOff x="-3" y="2566213"/>
            <a:chExt cx="8686828" cy="400200"/>
          </a:xfrm>
        </p:grpSpPr>
        <p:cxnSp>
          <p:nvCxnSpPr>
            <p:cNvPr id="1601" name="Google Shape;1601;p19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602" name="Google Shape;1602;p19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9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9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5" name="Google Shape;1605;p196"/>
          <p:cNvSpPr txBox="1"/>
          <p:nvPr>
            <p:ph idx="4294967295" type="body"/>
          </p:nvPr>
        </p:nvSpPr>
        <p:spPr>
          <a:xfrm>
            <a:off x="914400" y="12376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Encrypted traffic and VPNs</a:t>
            </a:r>
            <a:endParaRPr/>
          </a:p>
        </p:txBody>
      </p:sp>
      <p:sp>
        <p:nvSpPr>
          <p:cNvPr id="1606" name="Google Shape;1606;p196"/>
          <p:cNvSpPr txBox="1"/>
          <p:nvPr>
            <p:ph idx="4294967295" type="body"/>
          </p:nvPr>
        </p:nvSpPr>
        <p:spPr>
          <a:xfrm>
            <a:off x="914400" y="19231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Underpowered hardware</a:t>
            </a:r>
            <a:endParaRPr/>
          </a:p>
        </p:txBody>
      </p:sp>
      <p:sp>
        <p:nvSpPr>
          <p:cNvPr id="1607" name="Google Shape;1607;p196"/>
          <p:cNvSpPr txBox="1"/>
          <p:nvPr>
            <p:ph idx="4294967295" type="body"/>
          </p:nvPr>
        </p:nvSpPr>
        <p:spPr>
          <a:xfrm>
            <a:off x="914400" y="26087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Mobile communication platforms</a:t>
            </a:r>
            <a:endParaRPr/>
          </a:p>
        </p:txBody>
      </p:sp>
      <p:sp>
        <p:nvSpPr>
          <p:cNvPr id="1608" name="Google Shape;1608;p196"/>
          <p:cNvSpPr txBox="1"/>
          <p:nvPr>
            <p:ph idx="4294967295" type="body"/>
          </p:nvPr>
        </p:nvSpPr>
        <p:spPr>
          <a:xfrm>
            <a:off x="914400" y="32942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Legal and privacy issues</a:t>
            </a:r>
            <a:endParaRPr/>
          </a:p>
        </p:txBody>
      </p:sp>
      <p:sp>
        <p:nvSpPr>
          <p:cNvPr id="1609" name="Google Shape;1609;p19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NSM Weaknesses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610" name="Google Shape;1610;p196"/>
          <p:cNvSpPr txBox="1"/>
          <p:nvPr>
            <p:ph idx="1" type="subTitle"/>
          </p:nvPr>
        </p:nvSpPr>
        <p:spPr>
          <a:xfrm>
            <a:off x="463225" y="54865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NSM capabilities are extremely limited in the following situations:</a:t>
            </a:r>
            <a:endParaRPr/>
          </a:p>
        </p:txBody>
      </p:sp>
      <p:grpSp>
        <p:nvGrpSpPr>
          <p:cNvPr id="1611" name="Google Shape;1611;p196"/>
          <p:cNvGrpSpPr/>
          <p:nvPr/>
        </p:nvGrpSpPr>
        <p:grpSpPr>
          <a:xfrm>
            <a:off x="-3" y="3959842"/>
            <a:ext cx="8686828" cy="400200"/>
            <a:chOff x="-3" y="1885788"/>
            <a:chExt cx="8686828" cy="400200"/>
          </a:xfrm>
        </p:grpSpPr>
        <p:cxnSp>
          <p:nvCxnSpPr>
            <p:cNvPr id="1612" name="Google Shape;1612;p19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613" name="Google Shape;1613;p19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614" name="Google Shape;1614;p19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9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9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17" name="Google Shape;1617;p196"/>
          <p:cNvSpPr txBox="1"/>
          <p:nvPr>
            <p:ph idx="4294967295" type="body"/>
          </p:nvPr>
        </p:nvSpPr>
        <p:spPr>
          <a:xfrm>
            <a:off x="914400" y="39768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Limited access to network taps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9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Stages and Processes</a:t>
            </a:r>
            <a:endParaRPr/>
          </a:p>
        </p:txBody>
      </p:sp>
      <p:sp>
        <p:nvSpPr>
          <p:cNvPr id="1623" name="Google Shape;1623;p19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operates in two stages, each involving two processes: </a:t>
            </a:r>
            <a:endParaRPr/>
          </a:p>
        </p:txBody>
      </p:sp>
      <p:pic>
        <p:nvPicPr>
          <p:cNvPr id="1624" name="Google Shape;1624;p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75" y="244098"/>
            <a:ext cx="596250" cy="525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5" name="Google Shape;1625;p197"/>
          <p:cNvGrpSpPr/>
          <p:nvPr/>
        </p:nvGrpSpPr>
        <p:grpSpPr>
          <a:xfrm>
            <a:off x="457194" y="1408365"/>
            <a:ext cx="533372" cy="579455"/>
            <a:chOff x="279625" y="1415868"/>
            <a:chExt cx="695400" cy="755384"/>
          </a:xfrm>
        </p:grpSpPr>
        <p:sp>
          <p:nvSpPr>
            <p:cNvPr id="1626" name="Google Shape;1626;p197"/>
            <p:cNvSpPr/>
            <p:nvPr/>
          </p:nvSpPr>
          <p:spPr>
            <a:xfrm>
              <a:off x="279625" y="1415868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Medium"/>
                  <a:ea typeface="Roboto Medium"/>
                  <a:cs typeface="Roboto Medium"/>
                  <a:sym typeface="Roboto Medium"/>
                </a:rPr>
                <a:t>01</a:t>
              </a:r>
              <a:endParaRPr sz="21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627" name="Google Shape;1627;p197"/>
            <p:cNvSpPr/>
            <p:nvPr/>
          </p:nvSpPr>
          <p:spPr>
            <a:xfrm rot="10800000">
              <a:off x="457184" y="1982626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628" name="Google Shape;1628;p197"/>
          <p:cNvGrpSpPr/>
          <p:nvPr/>
        </p:nvGrpSpPr>
        <p:grpSpPr>
          <a:xfrm>
            <a:off x="462956" y="3310328"/>
            <a:ext cx="533372" cy="578130"/>
            <a:chOff x="457200" y="1378813"/>
            <a:chExt cx="695400" cy="753656"/>
          </a:xfrm>
        </p:grpSpPr>
        <p:sp>
          <p:nvSpPr>
            <p:cNvPr id="1629" name="Google Shape;1629;p19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02</a:t>
              </a:r>
              <a:endParaRPr sz="21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630" name="Google Shape;1630;p197"/>
            <p:cNvSpPr/>
            <p:nvPr/>
          </p:nvSpPr>
          <p:spPr>
            <a:xfrm rot="10800000">
              <a:off x="634726" y="1943844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1631" name="Google Shape;1631;p197"/>
          <p:cNvSpPr txBox="1"/>
          <p:nvPr/>
        </p:nvSpPr>
        <p:spPr>
          <a:xfrm>
            <a:off x="1151925" y="1456696"/>
            <a:ext cx="303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Detection</a:t>
            </a:r>
            <a:endParaRPr b="1" sz="20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197"/>
          <p:cNvSpPr txBox="1"/>
          <p:nvPr/>
        </p:nvSpPr>
        <p:spPr>
          <a:xfrm>
            <a:off x="920125" y="1764525"/>
            <a:ext cx="38712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 alert is generated in the Security Onion analyst console.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3" name="Google Shape;1633;p197"/>
          <p:cNvSpPr txBox="1"/>
          <p:nvPr/>
        </p:nvSpPr>
        <p:spPr>
          <a:xfrm>
            <a:off x="863775" y="3564205"/>
            <a:ext cx="36075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security team responds </a:t>
            </a:r>
            <a:b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to a security incident.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34" name="Google Shape;1634;p197"/>
          <p:cNvSpPr txBox="1"/>
          <p:nvPr/>
        </p:nvSpPr>
        <p:spPr>
          <a:xfrm>
            <a:off x="1139443" y="3378242"/>
            <a:ext cx="30312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 b="1" sz="20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5" name="Google Shape;1635;p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3175" y="1020300"/>
            <a:ext cx="4615101" cy="436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98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Stages and Processes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198"/>
          <p:cNvSpPr txBox="1"/>
          <p:nvPr>
            <p:ph idx="2" type="title"/>
          </p:nvPr>
        </p:nvSpPr>
        <p:spPr>
          <a:xfrm>
            <a:off x="70200" y="5914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Detection:</a:t>
            </a:r>
            <a:r>
              <a:rPr lang="en" sz="1800"/>
              <a:t>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An alert is generated in the Security Onion analyst console.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2" name="Google Shape;1642;p198"/>
          <p:cNvSpPr/>
          <p:nvPr/>
        </p:nvSpPr>
        <p:spPr>
          <a:xfrm>
            <a:off x="5114225" y="1199888"/>
            <a:ext cx="3026700" cy="295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alert data is identified, validated, documented, and categorized </a:t>
            </a:r>
            <a:b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according to its threat level.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3" name="Google Shape;1643;p198"/>
          <p:cNvSpPr/>
          <p:nvPr/>
        </p:nvSpPr>
        <p:spPr>
          <a:xfrm>
            <a:off x="474200" y="1199888"/>
            <a:ext cx="3026700" cy="295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Collection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event is observed and the data 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is stored in the form of a PCAP file.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4" name="Google Shape;1644;p198"/>
          <p:cNvSpPr/>
          <p:nvPr/>
        </p:nvSpPr>
        <p:spPr>
          <a:xfrm>
            <a:off x="7915138" y="2481675"/>
            <a:ext cx="849900" cy="3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98"/>
          <p:cNvSpPr/>
          <p:nvPr/>
        </p:nvSpPr>
        <p:spPr>
          <a:xfrm>
            <a:off x="3957700" y="2481675"/>
            <a:ext cx="849900" cy="3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98"/>
          <p:cNvSpPr txBox="1"/>
          <p:nvPr/>
        </p:nvSpPr>
        <p:spPr>
          <a:xfrm>
            <a:off x="233300" y="4419050"/>
            <a:ext cx="18981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Event Observed/Stored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7" name="Google Shape;1647;p198"/>
          <p:cNvSpPr txBox="1"/>
          <p:nvPr/>
        </p:nvSpPr>
        <p:spPr>
          <a:xfrm>
            <a:off x="3279051" y="4419050"/>
            <a:ext cx="1176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Identification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8" name="Google Shape;1648;p198"/>
          <p:cNvSpPr txBox="1"/>
          <p:nvPr/>
        </p:nvSpPr>
        <p:spPr>
          <a:xfrm>
            <a:off x="5454474" y="4396550"/>
            <a:ext cx="8871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Validation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198"/>
          <p:cNvSpPr txBox="1"/>
          <p:nvPr/>
        </p:nvSpPr>
        <p:spPr>
          <a:xfrm>
            <a:off x="7383625" y="4410050"/>
            <a:ext cx="10278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Documented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0" name="Google Shape;1650;p198"/>
          <p:cNvSpPr txBox="1"/>
          <p:nvPr/>
        </p:nvSpPr>
        <p:spPr>
          <a:xfrm>
            <a:off x="4975650" y="4864350"/>
            <a:ext cx="18981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Request for More 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1" name="Google Shape;1651;p198"/>
          <p:cNvSpPr txBox="1"/>
          <p:nvPr/>
        </p:nvSpPr>
        <p:spPr>
          <a:xfrm>
            <a:off x="705925" y="2035313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Host data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198"/>
          <p:cNvSpPr txBox="1"/>
          <p:nvPr/>
        </p:nvSpPr>
        <p:spPr>
          <a:xfrm>
            <a:off x="705925" y="2432601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Net data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3" name="Google Shape;1653;p198"/>
          <p:cNvSpPr txBox="1"/>
          <p:nvPr/>
        </p:nvSpPr>
        <p:spPr>
          <a:xfrm>
            <a:off x="705925" y="2829889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Application logs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4" name="Google Shape;1654;p198"/>
          <p:cNvSpPr txBox="1"/>
          <p:nvPr/>
        </p:nvSpPr>
        <p:spPr>
          <a:xfrm>
            <a:off x="705925" y="3227178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from third party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198"/>
          <p:cNvSpPr txBox="1"/>
          <p:nvPr/>
        </p:nvSpPr>
        <p:spPr>
          <a:xfrm>
            <a:off x="705925" y="3624466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from constituent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6" name="Google Shape;1656;p198"/>
          <p:cNvSpPr txBox="1"/>
          <p:nvPr/>
        </p:nvSpPr>
        <p:spPr>
          <a:xfrm>
            <a:off x="5373550" y="2353312"/>
            <a:ext cx="2541600" cy="7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IOC-centric analysis </a:t>
            </a:r>
            <a:b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 “matching”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7" name="Google Shape;1657;p198"/>
          <p:cNvSpPr txBox="1"/>
          <p:nvPr/>
        </p:nvSpPr>
        <p:spPr>
          <a:xfrm>
            <a:off x="5373550" y="3228234"/>
            <a:ext cx="2541600" cy="7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IOC-free analysis </a:t>
            </a:r>
            <a:b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 “hunting”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8" name="Google Shape;1658;p198"/>
          <p:cNvSpPr txBox="1"/>
          <p:nvPr/>
        </p:nvSpPr>
        <p:spPr>
          <a:xfrm>
            <a:off x="3939100" y="1927463"/>
            <a:ext cx="8871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Analyst Console(s)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9" name="Google Shape;1659;p198"/>
          <p:cNvSpPr/>
          <p:nvPr/>
        </p:nvSpPr>
        <p:spPr>
          <a:xfrm>
            <a:off x="2280271" y="4419050"/>
            <a:ext cx="849900" cy="20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0" name="Google Shape;1660;p198"/>
          <p:cNvSpPr/>
          <p:nvPr/>
        </p:nvSpPr>
        <p:spPr>
          <a:xfrm>
            <a:off x="4455713" y="4419050"/>
            <a:ext cx="849900" cy="20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1" name="Google Shape;1661;p198"/>
          <p:cNvSpPr/>
          <p:nvPr/>
        </p:nvSpPr>
        <p:spPr>
          <a:xfrm>
            <a:off x="6384854" y="4396550"/>
            <a:ext cx="849900" cy="20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2" name="Google Shape;1662;p198"/>
          <p:cNvSpPr/>
          <p:nvPr/>
        </p:nvSpPr>
        <p:spPr>
          <a:xfrm rot="5400000">
            <a:off x="5680706" y="4664511"/>
            <a:ext cx="177000" cy="13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3" name="Google Shape;1663;p198"/>
          <p:cNvSpPr/>
          <p:nvPr/>
        </p:nvSpPr>
        <p:spPr>
          <a:xfrm rot="-5400000">
            <a:off x="5836188" y="4637838"/>
            <a:ext cx="177000" cy="13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99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Stages and Processes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99"/>
          <p:cNvSpPr txBox="1"/>
          <p:nvPr>
            <p:ph idx="2" type="title"/>
          </p:nvPr>
        </p:nvSpPr>
        <p:spPr>
          <a:xfrm>
            <a:off x="702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Response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800"/>
              <a:t>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Security team responds to a security incident with two processes: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199"/>
          <p:cNvSpPr/>
          <p:nvPr/>
        </p:nvSpPr>
        <p:spPr>
          <a:xfrm>
            <a:off x="5495225" y="1199888"/>
            <a:ext cx="3026700" cy="29589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Resolution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process of containment, remediation, and any additional necessary response.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1" name="Google Shape;1671;p199"/>
          <p:cNvSpPr/>
          <p:nvPr/>
        </p:nvSpPr>
        <p:spPr>
          <a:xfrm>
            <a:off x="855200" y="1199888"/>
            <a:ext cx="3026700" cy="295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Escalation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parties are notified.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2" name="Google Shape;1672;p199"/>
          <p:cNvSpPr/>
          <p:nvPr/>
        </p:nvSpPr>
        <p:spPr>
          <a:xfrm>
            <a:off x="8296138" y="2409213"/>
            <a:ext cx="849900" cy="3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3" name="Google Shape;1673;p199"/>
          <p:cNvSpPr/>
          <p:nvPr/>
        </p:nvSpPr>
        <p:spPr>
          <a:xfrm>
            <a:off x="4184100" y="4471125"/>
            <a:ext cx="849900" cy="3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4" name="Google Shape;1674;p199"/>
          <p:cNvSpPr txBox="1"/>
          <p:nvPr/>
        </p:nvSpPr>
        <p:spPr>
          <a:xfrm>
            <a:off x="1086925" y="2035313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Constituent notification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5" name="Google Shape;1675;p199"/>
          <p:cNvSpPr txBox="1"/>
          <p:nvPr/>
        </p:nvSpPr>
        <p:spPr>
          <a:xfrm>
            <a:off x="1086925" y="2432601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New IOC creation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6" name="Google Shape;1676;p199"/>
          <p:cNvSpPr txBox="1"/>
          <p:nvPr/>
        </p:nvSpPr>
        <p:spPr>
          <a:xfrm>
            <a:off x="1086925" y="2829889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New collection requirement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7" name="Google Shape;1677;p199"/>
          <p:cNvSpPr txBox="1"/>
          <p:nvPr/>
        </p:nvSpPr>
        <p:spPr>
          <a:xfrm>
            <a:off x="1086925" y="3227178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New analysis requirement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8" name="Google Shape;1678;p199"/>
          <p:cNvSpPr txBox="1"/>
          <p:nvPr/>
        </p:nvSpPr>
        <p:spPr>
          <a:xfrm>
            <a:off x="4460075" y="1927471"/>
            <a:ext cx="887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Constituent Portal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199"/>
          <p:cNvSpPr/>
          <p:nvPr/>
        </p:nvSpPr>
        <p:spPr>
          <a:xfrm>
            <a:off x="-12300" y="2409213"/>
            <a:ext cx="849900" cy="3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0" name="Google Shape;1680;p199"/>
          <p:cNvSpPr txBox="1"/>
          <p:nvPr/>
        </p:nvSpPr>
        <p:spPr>
          <a:xfrm>
            <a:off x="61150" y="1927471"/>
            <a:ext cx="887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Analyst Console(s)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1" name="Google Shape;1681;p199"/>
          <p:cNvSpPr txBox="1"/>
          <p:nvPr/>
        </p:nvSpPr>
        <p:spPr>
          <a:xfrm>
            <a:off x="199076" y="4520325"/>
            <a:ext cx="10269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Notification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2" name="Google Shape;1682;p199"/>
          <p:cNvSpPr txBox="1"/>
          <p:nvPr/>
        </p:nvSpPr>
        <p:spPr>
          <a:xfrm>
            <a:off x="2465359" y="4520325"/>
            <a:ext cx="15240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Acknowledgement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3" name="Google Shape;1683;p199"/>
          <p:cNvSpPr txBox="1"/>
          <p:nvPr/>
        </p:nvSpPr>
        <p:spPr>
          <a:xfrm>
            <a:off x="5228742" y="4520325"/>
            <a:ext cx="10269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Containment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199"/>
          <p:cNvSpPr txBox="1"/>
          <p:nvPr/>
        </p:nvSpPr>
        <p:spPr>
          <a:xfrm>
            <a:off x="7495025" y="4551825"/>
            <a:ext cx="10269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Remediation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5" name="Google Shape;1685;p199"/>
          <p:cNvSpPr txBox="1"/>
          <p:nvPr/>
        </p:nvSpPr>
        <p:spPr>
          <a:xfrm>
            <a:off x="5744650" y="2035313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Constituent response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6" name="Google Shape;1686;p199"/>
          <p:cNvSpPr txBox="1"/>
          <p:nvPr/>
        </p:nvSpPr>
        <p:spPr>
          <a:xfrm>
            <a:off x="5744650" y="2432601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Additional response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7" name="Google Shape;1687;p199"/>
          <p:cNvSpPr txBox="1"/>
          <p:nvPr/>
        </p:nvSpPr>
        <p:spPr>
          <a:xfrm>
            <a:off x="5744650" y="2829889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Collection improvement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8" name="Google Shape;1688;p199"/>
          <p:cNvSpPr txBox="1"/>
          <p:nvPr/>
        </p:nvSpPr>
        <p:spPr>
          <a:xfrm>
            <a:off x="5744650" y="3227178"/>
            <a:ext cx="2541600" cy="31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548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Analysis improvement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9" name="Google Shape;1689;p199"/>
          <p:cNvSpPr/>
          <p:nvPr/>
        </p:nvSpPr>
        <p:spPr>
          <a:xfrm flipH="1" rot="-5400000">
            <a:off x="3956813" y="2077400"/>
            <a:ext cx="345469" cy="364941"/>
          </a:xfrm>
          <a:custGeom>
            <a:rect b="b" l="l" r="r" t="t"/>
            <a:pathLst>
              <a:path extrusionOk="0" h="185249" w="175365">
                <a:moveTo>
                  <a:pt x="141701" y="1"/>
                </a:moveTo>
                <a:lnTo>
                  <a:pt x="108005" y="33664"/>
                </a:lnTo>
                <a:lnTo>
                  <a:pt x="120987" y="46647"/>
                </a:lnTo>
                <a:lnTo>
                  <a:pt x="132535" y="35100"/>
                </a:lnTo>
                <a:lnTo>
                  <a:pt x="132535" y="109799"/>
                </a:lnTo>
                <a:cubicBezTo>
                  <a:pt x="132535" y="141180"/>
                  <a:pt x="106830" y="166884"/>
                  <a:pt x="75450" y="166884"/>
                </a:cubicBezTo>
                <a:cubicBezTo>
                  <a:pt x="44070" y="166884"/>
                  <a:pt x="18365" y="141180"/>
                  <a:pt x="18365" y="109799"/>
                </a:cubicBezTo>
                <a:lnTo>
                  <a:pt x="18365" y="12951"/>
                </a:lnTo>
                <a:lnTo>
                  <a:pt x="0" y="12951"/>
                </a:lnTo>
                <a:lnTo>
                  <a:pt x="0" y="109799"/>
                </a:lnTo>
                <a:cubicBezTo>
                  <a:pt x="0" y="151324"/>
                  <a:pt x="33925" y="185249"/>
                  <a:pt x="75418" y="185249"/>
                </a:cubicBezTo>
                <a:cubicBezTo>
                  <a:pt x="116943" y="185249"/>
                  <a:pt x="150867" y="151324"/>
                  <a:pt x="150867" y="109799"/>
                </a:cubicBezTo>
                <a:lnTo>
                  <a:pt x="150867" y="35100"/>
                </a:lnTo>
                <a:lnTo>
                  <a:pt x="162382" y="46647"/>
                </a:lnTo>
                <a:lnTo>
                  <a:pt x="175365" y="33664"/>
                </a:lnTo>
                <a:lnTo>
                  <a:pt x="14170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0" name="Google Shape;1690;p199"/>
          <p:cNvSpPr/>
          <p:nvPr/>
        </p:nvSpPr>
        <p:spPr>
          <a:xfrm flipH="1" rot="-5400000">
            <a:off x="3956813" y="2791775"/>
            <a:ext cx="345469" cy="364941"/>
          </a:xfrm>
          <a:custGeom>
            <a:rect b="b" l="l" r="r" t="t"/>
            <a:pathLst>
              <a:path extrusionOk="0" h="185249" w="175365">
                <a:moveTo>
                  <a:pt x="141701" y="1"/>
                </a:moveTo>
                <a:lnTo>
                  <a:pt x="108005" y="33664"/>
                </a:lnTo>
                <a:lnTo>
                  <a:pt x="120987" y="46647"/>
                </a:lnTo>
                <a:lnTo>
                  <a:pt x="132535" y="35100"/>
                </a:lnTo>
                <a:lnTo>
                  <a:pt x="132535" y="109799"/>
                </a:lnTo>
                <a:cubicBezTo>
                  <a:pt x="132535" y="141180"/>
                  <a:pt x="106830" y="166884"/>
                  <a:pt x="75450" y="166884"/>
                </a:cubicBezTo>
                <a:cubicBezTo>
                  <a:pt x="44070" y="166884"/>
                  <a:pt x="18365" y="141180"/>
                  <a:pt x="18365" y="109799"/>
                </a:cubicBezTo>
                <a:lnTo>
                  <a:pt x="18365" y="12951"/>
                </a:lnTo>
                <a:lnTo>
                  <a:pt x="0" y="12951"/>
                </a:lnTo>
                <a:lnTo>
                  <a:pt x="0" y="109799"/>
                </a:lnTo>
                <a:cubicBezTo>
                  <a:pt x="0" y="151324"/>
                  <a:pt x="33925" y="185249"/>
                  <a:pt x="75418" y="185249"/>
                </a:cubicBezTo>
                <a:cubicBezTo>
                  <a:pt x="116943" y="185249"/>
                  <a:pt x="150867" y="151324"/>
                  <a:pt x="150867" y="109799"/>
                </a:cubicBezTo>
                <a:lnTo>
                  <a:pt x="150867" y="35100"/>
                </a:lnTo>
                <a:lnTo>
                  <a:pt x="162382" y="46647"/>
                </a:lnTo>
                <a:lnTo>
                  <a:pt x="175365" y="33664"/>
                </a:lnTo>
                <a:lnTo>
                  <a:pt x="14170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1" name="Google Shape;1691;p199"/>
          <p:cNvSpPr/>
          <p:nvPr/>
        </p:nvSpPr>
        <p:spPr>
          <a:xfrm flipH="1" rot="-5400000">
            <a:off x="3956813" y="3229925"/>
            <a:ext cx="345469" cy="364941"/>
          </a:xfrm>
          <a:custGeom>
            <a:rect b="b" l="l" r="r" t="t"/>
            <a:pathLst>
              <a:path extrusionOk="0" h="185249" w="175365">
                <a:moveTo>
                  <a:pt x="141701" y="1"/>
                </a:moveTo>
                <a:lnTo>
                  <a:pt x="108005" y="33664"/>
                </a:lnTo>
                <a:lnTo>
                  <a:pt x="120987" y="46647"/>
                </a:lnTo>
                <a:lnTo>
                  <a:pt x="132535" y="35100"/>
                </a:lnTo>
                <a:lnTo>
                  <a:pt x="132535" y="109799"/>
                </a:lnTo>
                <a:cubicBezTo>
                  <a:pt x="132535" y="141180"/>
                  <a:pt x="106830" y="166884"/>
                  <a:pt x="75450" y="166884"/>
                </a:cubicBezTo>
                <a:cubicBezTo>
                  <a:pt x="44070" y="166884"/>
                  <a:pt x="18365" y="141180"/>
                  <a:pt x="18365" y="109799"/>
                </a:cubicBezTo>
                <a:lnTo>
                  <a:pt x="18365" y="12951"/>
                </a:lnTo>
                <a:lnTo>
                  <a:pt x="0" y="12951"/>
                </a:lnTo>
                <a:lnTo>
                  <a:pt x="0" y="109799"/>
                </a:lnTo>
                <a:cubicBezTo>
                  <a:pt x="0" y="151324"/>
                  <a:pt x="33925" y="185249"/>
                  <a:pt x="75418" y="185249"/>
                </a:cubicBezTo>
                <a:cubicBezTo>
                  <a:pt x="116943" y="185249"/>
                  <a:pt x="150867" y="151324"/>
                  <a:pt x="150867" y="109799"/>
                </a:cubicBezTo>
                <a:lnTo>
                  <a:pt x="150867" y="35100"/>
                </a:lnTo>
                <a:lnTo>
                  <a:pt x="162382" y="46647"/>
                </a:lnTo>
                <a:lnTo>
                  <a:pt x="175365" y="33664"/>
                </a:lnTo>
                <a:lnTo>
                  <a:pt x="14170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2" name="Google Shape;1692;p199"/>
          <p:cNvSpPr/>
          <p:nvPr/>
        </p:nvSpPr>
        <p:spPr>
          <a:xfrm>
            <a:off x="1420717" y="4471125"/>
            <a:ext cx="849900" cy="3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3" name="Google Shape;1693;p199"/>
          <p:cNvSpPr/>
          <p:nvPr/>
        </p:nvSpPr>
        <p:spPr>
          <a:xfrm>
            <a:off x="6450383" y="4471125"/>
            <a:ext cx="849900" cy="3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4" name="Google Shape;1694;p199"/>
          <p:cNvSpPr/>
          <p:nvPr/>
        </p:nvSpPr>
        <p:spPr>
          <a:xfrm>
            <a:off x="4064100" y="2409225"/>
            <a:ext cx="1248900" cy="3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20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IDSs</a:t>
            </a:r>
            <a:endParaRPr/>
          </a:p>
        </p:txBody>
      </p:sp>
      <p:sp>
        <p:nvSpPr>
          <p:cNvPr id="1700" name="Google Shape;1700;p20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IDSs are generally placed at strategic points where traffic is most vulnerable.</a:t>
            </a:r>
            <a:endParaRPr/>
          </a:p>
        </p:txBody>
      </p:sp>
      <p:pic>
        <p:nvPicPr>
          <p:cNvPr id="1701" name="Google Shape;1701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75" y="244098"/>
            <a:ext cx="596250" cy="5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200"/>
          <p:cNvSpPr txBox="1"/>
          <p:nvPr>
            <p:ph idx="2" type="body"/>
          </p:nvPr>
        </p:nvSpPr>
        <p:spPr>
          <a:xfrm>
            <a:off x="914400" y="1121725"/>
            <a:ext cx="7058700" cy="86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These devices are typically placed next to a router or switch that filters traffic.</a:t>
            </a:r>
            <a:endParaRPr sz="1800"/>
          </a:p>
        </p:txBody>
      </p:sp>
      <p:pic>
        <p:nvPicPr>
          <p:cNvPr id="1703" name="Google Shape;1703;p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100" y="2214275"/>
            <a:ext cx="930274" cy="6376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04" name="Google Shape;1704;p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100" y="3007376"/>
            <a:ext cx="930274" cy="6376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05" name="Google Shape;1705;p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100" y="3799770"/>
            <a:ext cx="930274" cy="63768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706" name="Google Shape;1706;p200"/>
          <p:cNvCxnSpPr>
            <a:stCxn id="1703" idx="3"/>
            <a:endCxn id="1705" idx="3"/>
          </p:cNvCxnSpPr>
          <p:nvPr/>
        </p:nvCxnSpPr>
        <p:spPr>
          <a:xfrm>
            <a:off x="1677374" y="2533115"/>
            <a:ext cx="600" cy="15855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200"/>
          <p:cNvCxnSpPr>
            <a:stCxn id="1704" idx="3"/>
            <a:endCxn id="1708" idx="2"/>
          </p:cNvCxnSpPr>
          <p:nvPr/>
        </p:nvCxnSpPr>
        <p:spPr>
          <a:xfrm flipH="1" rot="10800000">
            <a:off x="1677374" y="2953616"/>
            <a:ext cx="6295800" cy="3726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09" name="Google Shape;1709;p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2700" y="2754638"/>
            <a:ext cx="1676925" cy="10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0" name="Google Shape;1710;p2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4550" y="2191675"/>
            <a:ext cx="1236826" cy="834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08" name="Google Shape;1708;p200"/>
          <p:cNvSpPr txBox="1"/>
          <p:nvPr/>
        </p:nvSpPr>
        <p:spPr>
          <a:xfrm>
            <a:off x="7363944" y="2522491"/>
            <a:ext cx="121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Internet</a:t>
            </a:r>
            <a:endParaRPr sz="16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711" name="Google Shape;1711;p200"/>
          <p:cNvCxnSpPr/>
          <p:nvPr/>
        </p:nvCxnSpPr>
        <p:spPr>
          <a:xfrm rot="10800000">
            <a:off x="2877862" y="3029900"/>
            <a:ext cx="0" cy="25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1712" name="Google Shape;1712;p2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16125" y="2097950"/>
            <a:ext cx="923475" cy="963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13" name="Google Shape;1713;p200"/>
          <p:cNvSpPr txBox="1"/>
          <p:nvPr/>
        </p:nvSpPr>
        <p:spPr>
          <a:xfrm>
            <a:off x="2589913" y="2362502"/>
            <a:ext cx="60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IDS</a:t>
            </a:r>
            <a:endParaRPr sz="2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14" name="Google Shape;1714;p200"/>
          <p:cNvSpPr txBox="1"/>
          <p:nvPr/>
        </p:nvSpPr>
        <p:spPr>
          <a:xfrm>
            <a:off x="5592700" y="3725425"/>
            <a:ext cx="149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Firewall</a:t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15" name="Google Shape;1715;p200"/>
          <p:cNvSpPr txBox="1"/>
          <p:nvPr/>
        </p:nvSpPr>
        <p:spPr>
          <a:xfrm>
            <a:off x="3611500" y="3725425"/>
            <a:ext cx="11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Switch</a:t>
            </a:r>
            <a:endParaRPr sz="16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716" name="Google Shape;1716;p200"/>
          <p:cNvPicPr preferRelativeResize="0"/>
          <p:nvPr/>
        </p:nvPicPr>
        <p:blipFill rotWithShape="1">
          <a:blip r:embed="rId8">
            <a:alphaModFix/>
          </a:blip>
          <a:srcRect b="0" l="0" r="0" t="9"/>
          <a:stretch/>
        </p:blipFill>
        <p:spPr>
          <a:xfrm>
            <a:off x="3693825" y="3100323"/>
            <a:ext cx="1005331" cy="35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201"/>
          <p:cNvSpPr txBox="1"/>
          <p:nvPr/>
        </p:nvSpPr>
        <p:spPr>
          <a:xfrm>
            <a:off x="457200" y="2316300"/>
            <a:ext cx="36576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SPAN or Mirrored Port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Function of an enterprise-level switch that allows you to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mirror one or more physical switch ports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another port.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2" name="Google Shape;1722;p201"/>
          <p:cNvCxnSpPr/>
          <p:nvPr/>
        </p:nvCxnSpPr>
        <p:spPr>
          <a:xfrm>
            <a:off x="4537850" y="1391050"/>
            <a:ext cx="0" cy="247170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3" name="Google Shape;1723;p201"/>
          <p:cNvSpPr txBox="1"/>
          <p:nvPr/>
        </p:nvSpPr>
        <p:spPr>
          <a:xfrm>
            <a:off x="4875500" y="2288500"/>
            <a:ext cx="3811200" cy="27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Network TAP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most common type is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 aggregated TAP in which a cable connects the TAP monitor port with the NIC on the sensor. This specific placement allows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traffic to be monitored between the router and switch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4" name="Google Shape;1724;p201"/>
          <p:cNvSpPr txBox="1"/>
          <p:nvPr>
            <p:ph type="title"/>
          </p:nvPr>
        </p:nvSpPr>
        <p:spPr>
          <a:xfrm>
            <a:off x="50" y="51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NSM Sensor Connectivity </a:t>
            </a:r>
            <a:endParaRPr b="0"/>
          </a:p>
        </p:txBody>
      </p:sp>
      <p:pic>
        <p:nvPicPr>
          <p:cNvPr id="1725" name="Google Shape;1725;p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650" y="-69350"/>
            <a:ext cx="3468549" cy="346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6" name="Google Shape;1726;p2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7725" y="0"/>
            <a:ext cx="3506749" cy="350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20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Sensor Connectivity</a:t>
            </a:r>
            <a:endParaRPr/>
          </a:p>
        </p:txBody>
      </p:sp>
      <p:sp>
        <p:nvSpPr>
          <p:cNvPr id="1732" name="Google Shape;1732;p20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 or mirrored port</a:t>
            </a:r>
            <a:endParaRPr/>
          </a:p>
        </p:txBody>
      </p:sp>
      <p:pic>
        <p:nvPicPr>
          <p:cNvPr id="1733" name="Google Shape;1733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75" y="244098"/>
            <a:ext cx="596250" cy="5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202"/>
          <p:cNvSpPr txBox="1"/>
          <p:nvPr>
            <p:ph idx="2" type="body"/>
          </p:nvPr>
        </p:nvSpPr>
        <p:spPr>
          <a:xfrm>
            <a:off x="457200" y="1121725"/>
            <a:ext cx="7408800" cy="86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 SPAN port, the IDS can perform packet captures on all inbound and outbound traffic in a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5" name="Google Shape;1735;p202"/>
          <p:cNvCxnSpPr/>
          <p:nvPr/>
        </p:nvCxnSpPr>
        <p:spPr>
          <a:xfrm>
            <a:off x="4385663" y="2909400"/>
            <a:ext cx="0" cy="98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reflection blurRad="0" dir="5400000" dist="38100" endA="0" endPos="30000" fadeDir="5400012" kx="0" rotWithShape="0" algn="bl" stPos="0" sy="-100000" ky="0"/>
          </a:effectLst>
        </p:spPr>
      </p:cxnSp>
      <p:cxnSp>
        <p:nvCxnSpPr>
          <p:cNvPr id="1736" name="Google Shape;1736;p202"/>
          <p:cNvCxnSpPr/>
          <p:nvPr/>
        </p:nvCxnSpPr>
        <p:spPr>
          <a:xfrm>
            <a:off x="1689338" y="2848050"/>
            <a:ext cx="234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reflection blurRad="0" dir="5400000" dist="38100" endA="0" endPos="30000" fadeDir="5400012" kx="0" rotWithShape="0" algn="bl" stPos="0" sy="-100000" ky="0"/>
          </a:effectLst>
        </p:spPr>
      </p:cxnSp>
      <p:sp>
        <p:nvSpPr>
          <p:cNvPr id="1737" name="Google Shape;1737;p202"/>
          <p:cNvSpPr txBox="1"/>
          <p:nvPr/>
        </p:nvSpPr>
        <p:spPr>
          <a:xfrm>
            <a:off x="2638089" y="2746350"/>
            <a:ext cx="603600" cy="2034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Port 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8" name="Google Shape;1738;p2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738" y="2588775"/>
            <a:ext cx="683700" cy="518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39" name="Google Shape;1739;p202"/>
          <p:cNvSpPr txBox="1"/>
          <p:nvPr/>
        </p:nvSpPr>
        <p:spPr>
          <a:xfrm>
            <a:off x="4519162" y="3112200"/>
            <a:ext cx="11745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Attached to port 24;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mirrored traffic </a:t>
            </a:r>
            <a:br>
              <a:rPr lang="en" sz="1000"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latin typeface="Roboto"/>
                <a:ea typeface="Roboto"/>
                <a:cs typeface="Roboto"/>
                <a:sym typeface="Roboto"/>
              </a:rPr>
              <a:t>from port 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0" name="Google Shape;1740;p202"/>
          <p:cNvPicPr preferRelativeResize="0"/>
          <p:nvPr/>
        </p:nvPicPr>
        <p:blipFill rotWithShape="1">
          <a:blip r:embed="rId5">
            <a:alphaModFix/>
          </a:blip>
          <a:srcRect b="-4606" l="-6673" r="-10203" t="-8579"/>
          <a:stretch/>
        </p:blipFill>
        <p:spPr>
          <a:xfrm>
            <a:off x="3861375" y="3541550"/>
            <a:ext cx="1048600" cy="797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741" name="Google Shape;1741;p202"/>
          <p:cNvCxnSpPr/>
          <p:nvPr/>
        </p:nvCxnSpPr>
        <p:spPr>
          <a:xfrm>
            <a:off x="4682213" y="2848050"/>
            <a:ext cx="241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reflection blurRad="0" dir="5400000" dist="38100" endA="0" endPos="30000" fadeDir="5400012" kx="0" rotWithShape="0" algn="bl" stPos="0" sy="-100000" ky="0"/>
          </a:effectLst>
        </p:spPr>
      </p:cxnSp>
      <p:sp>
        <p:nvSpPr>
          <p:cNvPr id="1742" name="Google Shape;1742;p202"/>
          <p:cNvSpPr txBox="1"/>
          <p:nvPr/>
        </p:nvSpPr>
        <p:spPr>
          <a:xfrm>
            <a:off x="5463862" y="2746350"/>
            <a:ext cx="851100" cy="2034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Port 2-23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3" name="Google Shape;1743;p2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2875" y="2427300"/>
            <a:ext cx="1564350" cy="14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202"/>
          <p:cNvSpPr/>
          <p:nvPr/>
        </p:nvSpPr>
        <p:spPr>
          <a:xfrm>
            <a:off x="1001000" y="3245100"/>
            <a:ext cx="1027200" cy="296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0" spcFirstLastPara="1" rIns="0" wrap="square" tIns="12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Router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45" name="Google Shape;1745;p202"/>
          <p:cNvSpPr/>
          <p:nvPr/>
        </p:nvSpPr>
        <p:spPr>
          <a:xfrm>
            <a:off x="3872075" y="4339225"/>
            <a:ext cx="1027200" cy="296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0" spcFirstLastPara="1" rIns="0" wrap="square" tIns="12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Sensor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46" name="Google Shape;1746;p202"/>
          <p:cNvSpPr/>
          <p:nvPr/>
        </p:nvSpPr>
        <p:spPr>
          <a:xfrm>
            <a:off x="3644625" y="2104488"/>
            <a:ext cx="1645800" cy="296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0" spcFirstLastPara="1" rIns="0" wrap="square" tIns="12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24 Port Switch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47" name="Google Shape;1747;p202"/>
          <p:cNvSpPr/>
          <p:nvPr/>
        </p:nvSpPr>
        <p:spPr>
          <a:xfrm>
            <a:off x="6882150" y="3999700"/>
            <a:ext cx="1804800" cy="296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0" spcFirstLastPara="1" rIns="0" wrap="square" tIns="12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Assets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748" name="Google Shape;1748;p2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0062" y="2446475"/>
            <a:ext cx="851226" cy="73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20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Sensor Connectivity</a:t>
            </a:r>
            <a:endParaRPr/>
          </a:p>
        </p:txBody>
      </p:sp>
      <p:sp>
        <p:nvSpPr>
          <p:cNvPr id="1754" name="Google Shape;1754;p20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TAP</a:t>
            </a:r>
            <a:endParaRPr/>
          </a:p>
        </p:txBody>
      </p:sp>
      <p:pic>
        <p:nvPicPr>
          <p:cNvPr id="1755" name="Google Shape;1755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075" y="244098"/>
            <a:ext cx="596250" cy="5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6" name="Google Shape;1756;p203"/>
          <p:cNvSpPr txBox="1"/>
          <p:nvPr>
            <p:ph idx="2" type="body"/>
          </p:nvPr>
        </p:nvSpPr>
        <p:spPr>
          <a:xfrm>
            <a:off x="590350" y="1121725"/>
            <a:ext cx="7423800" cy="86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TAPs allow us to access our network and send that data in real time </a:t>
            </a:r>
            <a:br>
              <a:rPr lang="en"/>
            </a:br>
            <a:r>
              <a:rPr lang="en"/>
              <a:t>to our monitoring systems.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7" name="Google Shape;1757;p203"/>
          <p:cNvCxnSpPr/>
          <p:nvPr/>
        </p:nvCxnSpPr>
        <p:spPr>
          <a:xfrm>
            <a:off x="4492895" y="2986906"/>
            <a:ext cx="0" cy="9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203"/>
          <p:cNvCxnSpPr/>
          <p:nvPr/>
        </p:nvCxnSpPr>
        <p:spPr>
          <a:xfrm>
            <a:off x="1909346" y="2928122"/>
            <a:ext cx="22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59" name="Google Shape;1759;p2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4354" y="2679691"/>
            <a:ext cx="655104" cy="49686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60" name="Google Shape;1760;p203"/>
          <p:cNvPicPr preferRelativeResize="0"/>
          <p:nvPr/>
        </p:nvPicPr>
        <p:blipFill rotWithShape="1">
          <a:blip r:embed="rId5">
            <a:alphaModFix/>
          </a:blip>
          <a:srcRect b="-4606" l="-6673" r="-10203" t="-8579"/>
          <a:stretch/>
        </p:blipFill>
        <p:spPr>
          <a:xfrm>
            <a:off x="3990536" y="3592617"/>
            <a:ext cx="1004741" cy="76431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761" name="Google Shape;1761;p203"/>
          <p:cNvCxnSpPr/>
          <p:nvPr/>
        </p:nvCxnSpPr>
        <p:spPr>
          <a:xfrm>
            <a:off x="4777041" y="2928122"/>
            <a:ext cx="231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2" name="Google Shape;1762;p203"/>
          <p:cNvSpPr/>
          <p:nvPr/>
        </p:nvSpPr>
        <p:spPr>
          <a:xfrm>
            <a:off x="1249799" y="3381579"/>
            <a:ext cx="984300" cy="30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0" spcFirstLastPara="1" rIns="0" wrap="square" tIns="12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Router</a:t>
            </a:r>
            <a:endParaRPr sz="18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63" name="Google Shape;1763;p203"/>
          <p:cNvSpPr/>
          <p:nvPr/>
        </p:nvSpPr>
        <p:spPr>
          <a:xfrm>
            <a:off x="4000788" y="4418805"/>
            <a:ext cx="984300" cy="30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0" spcFirstLastPara="1" rIns="0" wrap="square" tIns="12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Sensor</a:t>
            </a:r>
            <a:endParaRPr sz="18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64" name="Google Shape;1764;p203"/>
          <p:cNvSpPr/>
          <p:nvPr/>
        </p:nvSpPr>
        <p:spPr>
          <a:xfrm>
            <a:off x="4165355" y="2143687"/>
            <a:ext cx="655200" cy="30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0" spcFirstLastPara="1" rIns="0" wrap="square" tIns="12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TAP</a:t>
            </a:r>
            <a:endParaRPr sz="18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65" name="Google Shape;1765;p203"/>
          <p:cNvSpPr/>
          <p:nvPr/>
        </p:nvSpPr>
        <p:spPr>
          <a:xfrm>
            <a:off x="6708181" y="3381579"/>
            <a:ext cx="984300" cy="30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0" spcFirstLastPara="1" rIns="0" wrap="square" tIns="128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Switch</a:t>
            </a:r>
            <a:endParaRPr sz="18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766" name="Google Shape;1766;p203"/>
          <p:cNvPicPr preferRelativeResize="0"/>
          <p:nvPr/>
        </p:nvPicPr>
        <p:blipFill rotWithShape="1">
          <a:blip r:embed="rId6">
            <a:alphaModFix/>
          </a:blip>
          <a:srcRect b="-5211" l="-6987" r="-6998" t="-5200"/>
          <a:stretch/>
        </p:blipFill>
        <p:spPr>
          <a:xfrm>
            <a:off x="3990536" y="2511447"/>
            <a:ext cx="1004741" cy="76431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67" name="Google Shape;1767;p20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2487" y="2543342"/>
            <a:ext cx="815623" cy="7005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204"/>
          <p:cNvSpPr txBox="1"/>
          <p:nvPr>
            <p:ph idx="4294967295" type="subTitle"/>
          </p:nvPr>
        </p:nvSpPr>
        <p:spPr>
          <a:xfrm>
            <a:off x="331475" y="740350"/>
            <a:ext cx="3777300" cy="3703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Security Onion</a:t>
            </a:r>
            <a:r>
              <a:rPr lang="en" sz="2000">
                <a:solidFill>
                  <a:schemeClr val="accent5"/>
                </a:solidFill>
              </a:rPr>
              <a:t> is an NSM platform that provides context, intelligence, and situational awareness of a network.</a:t>
            </a:r>
            <a:endParaRPr sz="2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Security Onion 2.4 is based upon Oracle Linux 9.</a:t>
            </a:r>
            <a:endParaRPr sz="20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773" name="Google Shape;1773;p204"/>
          <p:cNvPicPr preferRelativeResize="0"/>
          <p:nvPr/>
        </p:nvPicPr>
        <p:blipFill rotWithShape="1">
          <a:blip r:embed="rId3">
            <a:alphaModFix/>
          </a:blip>
          <a:srcRect b="0" l="2775" r="2813" t="0"/>
          <a:stretch/>
        </p:blipFill>
        <p:spPr>
          <a:xfrm>
            <a:off x="4342050" y="558050"/>
            <a:ext cx="4563076" cy="402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3540000" dist="19050">
              <a:srgbClr val="000000">
                <a:alpha val="23000"/>
              </a:srgbClr>
            </a:outerShdw>
          </a:effec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20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</a:t>
            </a:r>
            <a:endParaRPr/>
          </a:p>
        </p:txBody>
      </p:sp>
      <p:sp>
        <p:nvSpPr>
          <p:cNvPr id="1779" name="Google Shape;1779;p205"/>
          <p:cNvSpPr txBox="1"/>
          <p:nvPr>
            <p:ph idx="1" type="subTitle"/>
          </p:nvPr>
        </p:nvSpPr>
        <p:spPr>
          <a:xfrm>
            <a:off x="463231" y="6248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two ways to work with Security Onion:</a:t>
            </a:r>
            <a:endParaRPr/>
          </a:p>
        </p:txBody>
      </p:sp>
      <p:sp>
        <p:nvSpPr>
          <p:cNvPr id="1780" name="Google Shape;1780;p205"/>
          <p:cNvSpPr txBox="1"/>
          <p:nvPr>
            <p:ph idx="3" type="body"/>
          </p:nvPr>
        </p:nvSpPr>
        <p:spPr>
          <a:xfrm>
            <a:off x="1101600" y="1592650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 Interface</a:t>
            </a:r>
            <a:endParaRPr/>
          </a:p>
        </p:txBody>
      </p:sp>
      <p:sp>
        <p:nvSpPr>
          <p:cNvPr id="1781" name="Google Shape;1781;p205"/>
          <p:cNvSpPr txBox="1"/>
          <p:nvPr>
            <p:ph idx="4" type="body"/>
          </p:nvPr>
        </p:nvSpPr>
        <p:spPr>
          <a:xfrm>
            <a:off x="1101600" y="3441850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Browser</a:t>
            </a:r>
            <a:endParaRPr/>
          </a:p>
        </p:txBody>
      </p:sp>
      <p:pic>
        <p:nvPicPr>
          <p:cNvPr id="1782" name="Google Shape;1782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400" y="365650"/>
            <a:ext cx="4625449" cy="462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206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 contains a variety of </a:t>
            </a:r>
            <a:r>
              <a:rPr b="1" lang="en"/>
              <a:t>NSM tools</a:t>
            </a:r>
            <a:r>
              <a:rPr lang="en"/>
              <a:t> used to monitor and protect networks from attacks.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20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</a:t>
            </a:r>
            <a:endParaRPr/>
          </a:p>
        </p:txBody>
      </p:sp>
      <p:sp>
        <p:nvSpPr>
          <p:cNvPr id="1793" name="Google Shape;1793;p20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NSM tools</a:t>
            </a:r>
            <a:endParaRPr/>
          </a:p>
        </p:txBody>
      </p:sp>
      <p:pic>
        <p:nvPicPr>
          <p:cNvPr id="1794" name="Google Shape;1794;p2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075" y="244098"/>
            <a:ext cx="596250" cy="5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207"/>
          <p:cNvSpPr/>
          <p:nvPr/>
        </p:nvSpPr>
        <p:spPr>
          <a:xfrm>
            <a:off x="228600" y="1676400"/>
            <a:ext cx="1654500" cy="2301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207"/>
          <p:cNvSpPr/>
          <p:nvPr/>
        </p:nvSpPr>
        <p:spPr>
          <a:xfrm>
            <a:off x="1954432" y="1676400"/>
            <a:ext cx="16545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207"/>
          <p:cNvSpPr/>
          <p:nvPr/>
        </p:nvSpPr>
        <p:spPr>
          <a:xfrm>
            <a:off x="3706267" y="1676400"/>
            <a:ext cx="16545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207"/>
          <p:cNvSpPr/>
          <p:nvPr/>
        </p:nvSpPr>
        <p:spPr>
          <a:xfrm>
            <a:off x="5458100" y="1676400"/>
            <a:ext cx="1628400" cy="23010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207"/>
          <p:cNvSpPr txBox="1"/>
          <p:nvPr/>
        </p:nvSpPr>
        <p:spPr>
          <a:xfrm>
            <a:off x="1954425" y="2617800"/>
            <a:ext cx="1654500" cy="13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Hunt</a:t>
            </a:r>
            <a:endParaRPr b="1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0" name="Google Shape;1800;p207"/>
          <p:cNvSpPr txBox="1"/>
          <p:nvPr/>
        </p:nvSpPr>
        <p:spPr>
          <a:xfrm>
            <a:off x="5458350" y="2617800"/>
            <a:ext cx="1628400" cy="13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Cases</a:t>
            </a:r>
            <a:endParaRPr b="1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1" name="Google Shape;1801;p207"/>
          <p:cNvSpPr txBox="1"/>
          <p:nvPr/>
        </p:nvSpPr>
        <p:spPr>
          <a:xfrm>
            <a:off x="3848850" y="2689300"/>
            <a:ext cx="1353600" cy="12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PCAP</a:t>
            </a:r>
            <a:endParaRPr b="1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2" name="Google Shape;1802;p207"/>
          <p:cNvSpPr txBox="1"/>
          <p:nvPr/>
        </p:nvSpPr>
        <p:spPr>
          <a:xfrm>
            <a:off x="371375" y="2564500"/>
            <a:ext cx="13536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Alerts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3" name="Google Shape;1803;p207"/>
          <p:cNvSpPr/>
          <p:nvPr/>
        </p:nvSpPr>
        <p:spPr>
          <a:xfrm>
            <a:off x="7240125" y="1676400"/>
            <a:ext cx="1654500" cy="230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4" name="Google Shape;1804;p207"/>
          <p:cNvSpPr txBox="1"/>
          <p:nvPr/>
        </p:nvSpPr>
        <p:spPr>
          <a:xfrm>
            <a:off x="7241675" y="2564500"/>
            <a:ext cx="16545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NetworkMiner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5" name="Google Shape;1805;p2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37575" y="1371600"/>
            <a:ext cx="2301000" cy="23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2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2700" y="1371600"/>
            <a:ext cx="2301000" cy="23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7" name="Google Shape;1807;p20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9225" y="1455325"/>
            <a:ext cx="2232852" cy="223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20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0771" y="1455325"/>
            <a:ext cx="1970452" cy="1970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9" name="Google Shape;1809;p20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36362" y="1310662"/>
            <a:ext cx="2062039" cy="2062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208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 Alerts</a:t>
            </a:r>
            <a:endParaRPr/>
          </a:p>
        </p:txBody>
      </p:sp>
      <p:sp>
        <p:nvSpPr>
          <p:cNvPr id="1815" name="Google Shape;1815;p208"/>
          <p:cNvSpPr txBox="1"/>
          <p:nvPr>
            <p:ph idx="1" type="subTitle"/>
          </p:nvPr>
        </p:nvSpPr>
        <p:spPr>
          <a:xfrm>
            <a:off x="1491775" y="117722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Performs simple aggregation of alert data records </a:t>
            </a:r>
            <a:endParaRPr sz="1600"/>
          </a:p>
        </p:txBody>
      </p:sp>
      <p:sp>
        <p:nvSpPr>
          <p:cNvPr id="1816" name="Google Shape;1816;p208"/>
          <p:cNvSpPr txBox="1"/>
          <p:nvPr>
            <p:ph idx="2" type="subTitle"/>
          </p:nvPr>
        </p:nvSpPr>
        <p:spPr>
          <a:xfrm>
            <a:off x="1491775" y="1828800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Makes available certain types of metadata</a:t>
            </a:r>
            <a:endParaRPr sz="1600"/>
          </a:p>
        </p:txBody>
      </p:sp>
      <p:sp>
        <p:nvSpPr>
          <p:cNvPr id="1817" name="Google Shape;1817;p208"/>
          <p:cNvSpPr txBox="1"/>
          <p:nvPr>
            <p:ph idx="3" type="subTitle"/>
          </p:nvPr>
        </p:nvSpPr>
        <p:spPr>
          <a:xfrm>
            <a:off x="1491775" y="24803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Allows queries and review of alert data</a:t>
            </a:r>
            <a:endParaRPr sz="1600"/>
          </a:p>
        </p:txBody>
      </p:sp>
      <p:sp>
        <p:nvSpPr>
          <p:cNvPr id="1818" name="Google Shape;1818;p208"/>
          <p:cNvSpPr txBox="1"/>
          <p:nvPr>
            <p:ph idx="4" type="subTitle"/>
          </p:nvPr>
        </p:nvSpPr>
        <p:spPr>
          <a:xfrm>
            <a:off x="1491775" y="3172888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Allows queries and review of session data</a:t>
            </a:r>
            <a:endParaRPr sz="1600"/>
          </a:p>
        </p:txBody>
      </p:sp>
      <p:sp>
        <p:nvSpPr>
          <p:cNvPr id="1819" name="Google Shape;1819;p208"/>
          <p:cNvSpPr txBox="1"/>
          <p:nvPr>
            <p:ph idx="5" type="subTitle"/>
          </p:nvPr>
        </p:nvSpPr>
        <p:spPr>
          <a:xfrm>
            <a:off x="1491775" y="37968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Allows easy transitions between alert or session data and full content data</a:t>
            </a:r>
            <a:endParaRPr sz="1600"/>
          </a:p>
        </p:txBody>
      </p:sp>
      <p:sp>
        <p:nvSpPr>
          <p:cNvPr id="1820" name="Google Shape;1820;p208"/>
          <p:cNvSpPr txBox="1"/>
          <p:nvPr>
            <p:ph idx="6" type="title"/>
          </p:nvPr>
        </p:nvSpPr>
        <p:spPr>
          <a:xfrm>
            <a:off x="70200" y="4390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Security Onion Alerts has six key functions that help with analysis: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21" name="Google Shape;1821;p208"/>
          <p:cNvGrpSpPr/>
          <p:nvPr/>
        </p:nvGrpSpPr>
        <p:grpSpPr>
          <a:xfrm>
            <a:off x="440125" y="4416970"/>
            <a:ext cx="776900" cy="486300"/>
            <a:chOff x="457200" y="1466425"/>
            <a:chExt cx="776900" cy="486300"/>
          </a:xfrm>
        </p:grpSpPr>
        <p:sp>
          <p:nvSpPr>
            <p:cNvPr id="1822" name="Google Shape;1822;p20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6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23" name="Google Shape;1823;p20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824" name="Google Shape;1824;p208"/>
          <p:cNvSpPr/>
          <p:nvPr/>
        </p:nvSpPr>
        <p:spPr>
          <a:xfrm>
            <a:off x="1335475" y="4416974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5" name="Google Shape;1825;p208"/>
          <p:cNvSpPr txBox="1"/>
          <p:nvPr/>
        </p:nvSpPr>
        <p:spPr>
          <a:xfrm>
            <a:off x="1354400" y="4420850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26" name="Google Shape;1826;p208"/>
          <p:cNvSpPr/>
          <p:nvPr/>
        </p:nvSpPr>
        <p:spPr>
          <a:xfrm>
            <a:off x="1354400" y="4416975"/>
            <a:ext cx="70971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rPr lang="en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Counts and classifies events, enabling escalation and other incident response decisions</a:t>
            </a:r>
            <a:endParaRPr sz="1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209"/>
          <p:cNvSpPr txBox="1"/>
          <p:nvPr>
            <p:ph type="title"/>
          </p:nvPr>
        </p:nvSpPr>
        <p:spPr>
          <a:xfrm>
            <a:off x="74126" y="51200"/>
            <a:ext cx="64644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 Interface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209"/>
          <p:cNvSpPr txBox="1"/>
          <p:nvPr>
            <p:ph idx="3" type="title"/>
          </p:nvPr>
        </p:nvSpPr>
        <p:spPr>
          <a:xfrm>
            <a:off x="70200" y="4390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Security Onion has four main sections: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33" name="Google Shape;1833;p209"/>
          <p:cNvGraphicFramePr/>
          <p:nvPr/>
        </p:nvGraphicFramePr>
        <p:xfrm>
          <a:off x="133963" y="1365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{C8FBFC0F-B79A-4C5C-B96F-9771597DCFEA}</a:tableStyleId>
              </a:tblPr>
              <a:tblGrid>
                <a:gridCol w="2217925"/>
                <a:gridCol w="6285125"/>
              </a:tblGrid>
              <a:tr h="48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Alert Count</a:t>
                      </a:r>
                      <a:endParaRPr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137150" marR="137150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a total for the number of events of a specific type</a:t>
                      </a:r>
                      <a:endParaRPr sz="18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37150" marB="137150" marR="182875" marL="18287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Rule Name</a:t>
                      </a:r>
                      <a:endParaRPr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37150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Suricata rule that generated the alert, obtained from the IDS engine</a:t>
                      </a:r>
                      <a:endParaRPr sz="18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Event Module</a:t>
                      </a:r>
                      <a:endParaRPr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37150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module that detected the event (Suricata)</a:t>
                      </a:r>
                      <a:endParaRPr sz="18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 Event Severity</a:t>
                      </a:r>
                      <a:endParaRPr sz="2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37150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Provides a rating for how severe an event should be considered</a:t>
                      </a:r>
                      <a:endParaRPr sz="1800">
                        <a:solidFill>
                          <a:schemeClr val="accent5"/>
                        </a:solidFill>
                        <a:highlight>
                          <a:srgbClr val="0000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210"/>
          <p:cNvSpPr txBox="1"/>
          <p:nvPr>
            <p:ph type="title"/>
          </p:nvPr>
        </p:nvSpPr>
        <p:spPr>
          <a:xfrm>
            <a:off x="74126" y="51200"/>
            <a:ext cx="64644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 Alert Panel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9" name="Google Shape;1839;p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686100"/>
            <a:ext cx="7104049" cy="42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211"/>
          <p:cNvSpPr txBox="1"/>
          <p:nvPr>
            <p:ph type="title"/>
          </p:nvPr>
        </p:nvSpPr>
        <p:spPr>
          <a:xfrm>
            <a:off x="74126" y="51200"/>
            <a:ext cx="64644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 Alert Panel Drilldown</a:t>
            </a:r>
            <a:endParaRPr/>
          </a:p>
        </p:txBody>
      </p:sp>
      <p:graphicFrame>
        <p:nvGraphicFramePr>
          <p:cNvPr id="1845" name="Google Shape;1845;p211"/>
          <p:cNvGraphicFramePr/>
          <p:nvPr/>
        </p:nvGraphicFramePr>
        <p:xfrm>
          <a:off x="457188" y="327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{24F9CF46-17E8-4CB7-A3CE-B50F3AF297BC}</a:tableStyleId>
              </a:tblPr>
              <a:tblGrid>
                <a:gridCol w="4807550"/>
                <a:gridCol w="3588425"/>
              </a:tblGrid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rule.name</a:t>
                      </a:r>
                      <a:endParaRPr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6575" marB="18275" marR="63500" marL="91425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Packet Data</a:t>
                      </a:r>
                      <a:endParaRPr b="1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6575" marB="18275" marR="63500" marL="91425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30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 the top portion of this window is the Suricata engine that generated the alert data when traffic matched one of its rules.</a:t>
                      </a:r>
                      <a:endParaRPr sz="11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161290" lvl="0" marL="210312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100"/>
                        <a:buFont typeface="Roboto"/>
                        <a:buChar char="●"/>
                      </a:pPr>
                      <a:r>
                        <a:rPr lang="en" sz="11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Alert data is an indicator of attack (IOA). An analyst may have to determine if it represents benign or malicious activity.</a:t>
                      </a:r>
                      <a:endParaRPr sz="11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161290" lvl="0" marL="210312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100"/>
                        <a:buFont typeface="Roboto"/>
                        <a:buChar char="●"/>
                      </a:pPr>
                      <a:r>
                        <a:rPr lang="en" sz="11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Alert data from the Suricata NIDS stores entries in the Event Messages column that begin with text like “ET” (for “Emerging Threats,” an IDS rule source).</a:t>
                      </a:r>
                      <a:endParaRPr sz="11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3150" marB="0" marR="63500" marL="91425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lower portion of the panel displays a network packet analysis matching the filter criteria.</a:t>
                      </a:r>
                      <a:endParaRPr sz="11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161290" lvl="0" marL="210312" rtl="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100"/>
                        <a:buFont typeface="Roboto"/>
                        <a:buChar char="●"/>
                      </a:pPr>
                      <a:r>
                        <a:rPr lang="en" sz="11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Expanding the entries in the packet analyzer presents a detailed view of the</a:t>
                      </a:r>
                      <a:br>
                        <a:rPr lang="en" sz="11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1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capture.</a:t>
                      </a:r>
                      <a:endParaRPr sz="11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3150" marB="0" marR="63500" marL="91425">
                    <a:lnL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0075">
                <a:tc vMerge="1"/>
                <a:tc vMerge="1"/>
              </a:tr>
            </a:tbl>
          </a:graphicData>
        </a:graphic>
      </p:graphicFrame>
      <p:pic>
        <p:nvPicPr>
          <p:cNvPr id="1846" name="Google Shape;1846;p211"/>
          <p:cNvPicPr preferRelativeResize="0"/>
          <p:nvPr/>
        </p:nvPicPr>
        <p:blipFill rotWithShape="1">
          <a:blip r:embed="rId3">
            <a:alphaModFix/>
          </a:blip>
          <a:srcRect b="32537" l="0" r="0" t="0"/>
          <a:stretch/>
        </p:blipFill>
        <p:spPr>
          <a:xfrm>
            <a:off x="1081850" y="640625"/>
            <a:ext cx="6738227" cy="250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212"/>
          <p:cNvSpPr txBox="1"/>
          <p:nvPr>
            <p:ph idx="1" type="body"/>
          </p:nvPr>
        </p:nvSpPr>
        <p:spPr>
          <a:xfrm>
            <a:off x="335750" y="1121725"/>
            <a:ext cx="34179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information is used </a:t>
            </a:r>
            <a:br>
              <a:rPr lang="en" sz="1800"/>
            </a:br>
            <a:r>
              <a:rPr lang="en" sz="1800"/>
              <a:t>to reveal identifying information about the attacker, including domain name registries and IP addresses.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Other information may include country of origin and possibly the names, email addresses, and time of the event.</a:t>
            </a:r>
            <a:endParaRPr sz="1800"/>
          </a:p>
        </p:txBody>
      </p:sp>
      <p:sp>
        <p:nvSpPr>
          <p:cNvPr id="1852" name="Google Shape;1852;p212"/>
          <p:cNvSpPr txBox="1"/>
          <p:nvPr>
            <p:ph type="title"/>
          </p:nvPr>
        </p:nvSpPr>
        <p:spPr>
          <a:xfrm>
            <a:off x="74126" y="51200"/>
            <a:ext cx="64644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Expanding Security Onion Alert Data</a:t>
            </a:r>
            <a:endParaRPr/>
          </a:p>
        </p:txBody>
      </p:sp>
      <p:sp>
        <p:nvSpPr>
          <p:cNvPr id="1853" name="Google Shape;1853;p212"/>
          <p:cNvSpPr txBox="1"/>
          <p:nvPr>
            <p:ph idx="3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This section of Security Onion’s console provides information regarding the alert.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4" name="Google Shape;1854;p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7675" y="1193175"/>
            <a:ext cx="5053926" cy="278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213"/>
          <p:cNvSpPr txBox="1"/>
          <p:nvPr>
            <p:ph idx="1" type="body"/>
          </p:nvPr>
        </p:nvSpPr>
        <p:spPr>
          <a:xfrm>
            <a:off x="177750" y="1121725"/>
            <a:ext cx="26661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Security Onion lets you create a new case or add to an existing one.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Creating a case allows analysts to manage incidents and involve senior analysts when needed.</a:t>
            </a:r>
            <a:endParaRPr sz="1800"/>
          </a:p>
        </p:txBody>
      </p:sp>
      <p:sp>
        <p:nvSpPr>
          <p:cNvPr id="1860" name="Google Shape;1860;p213"/>
          <p:cNvSpPr txBox="1"/>
          <p:nvPr>
            <p:ph type="title"/>
          </p:nvPr>
        </p:nvSpPr>
        <p:spPr>
          <a:xfrm>
            <a:off x="74125" y="51200"/>
            <a:ext cx="86889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Management and Case Creation</a:t>
            </a:r>
            <a:endParaRPr/>
          </a:p>
        </p:txBody>
      </p:sp>
      <p:sp>
        <p:nvSpPr>
          <p:cNvPr id="1861" name="Google Shape;1861;p213"/>
          <p:cNvSpPr txBox="1"/>
          <p:nvPr>
            <p:ph idx="3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Inspecting an alert might lead to a decision to escalate for further investigation.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2" name="Google Shape;1862;p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3925" y="1155875"/>
            <a:ext cx="6300073" cy="31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214"/>
          <p:cNvSpPr txBox="1"/>
          <p:nvPr>
            <p:ph idx="1" type="subTitle"/>
          </p:nvPr>
        </p:nvSpPr>
        <p:spPr>
          <a:xfrm>
            <a:off x="6174975" y="4568875"/>
            <a:ext cx="29691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</a:t>
            </a:r>
            <a:r>
              <a:rPr lang="en"/>
              <a:t>inutes</a:t>
            </a:r>
            <a:endParaRPr/>
          </a:p>
        </p:txBody>
      </p:sp>
      <p:sp>
        <p:nvSpPr>
          <p:cNvPr id="1868" name="Google Shape;1868;p21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 and NSM</a:t>
            </a:r>
            <a:endParaRPr/>
          </a:p>
        </p:txBody>
      </p:sp>
      <p:sp>
        <p:nvSpPr>
          <p:cNvPr id="1869" name="Google Shape;1869;p214"/>
          <p:cNvSpPr txBox="1"/>
          <p:nvPr>
            <p:ph idx="3" type="body"/>
          </p:nvPr>
        </p:nvSpPr>
        <p:spPr>
          <a:xfrm>
            <a:off x="457200" y="1306375"/>
            <a:ext cx="7665900" cy="2806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your role as an SOC analyst for the California DMV.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critical for your organization to understand the limits of what it can detect, adversarial tactics, and how to quickly apply lessons learned to mitigate newly discovered security vulnerabilities.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this activity, you will strengthen your knowledge of concepts related to Security Onion and network security monitoring (NSM).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0" name="Google Shape;1870;p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21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HTTP</a:t>
            </a:r>
            <a:r>
              <a:rPr b="0"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File Extraction</a:t>
            </a:r>
            <a:endParaRPr sz="38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88" name="Google Shape;1888;p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0950" y="1226800"/>
            <a:ext cx="136207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219"/>
          <p:cNvSpPr txBox="1"/>
          <p:nvPr>
            <p:ph idx="1" type="body"/>
          </p:nvPr>
        </p:nvSpPr>
        <p:spPr>
          <a:xfrm>
            <a:off x="590350" y="1121725"/>
            <a:ext cx="39207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security analyst must have a thorough understanding of how NSM tools are integrated.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These skills help speed up incident and response efforts.</a:t>
            </a:r>
            <a:endParaRPr sz="1800"/>
          </a:p>
        </p:txBody>
      </p:sp>
      <p:sp>
        <p:nvSpPr>
          <p:cNvPr id="1894" name="Google Shape;1894;p219"/>
          <p:cNvSpPr txBox="1"/>
          <p:nvPr>
            <p:ph type="title"/>
          </p:nvPr>
        </p:nvSpPr>
        <p:spPr>
          <a:xfrm>
            <a:off x="74126" y="51200"/>
            <a:ext cx="64644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Onion Demonstration Setup</a:t>
            </a:r>
            <a:endParaRPr/>
          </a:p>
        </p:txBody>
      </p:sp>
      <p:sp>
        <p:nvSpPr>
          <p:cNvPr id="1895" name="Google Shape;1895;p219"/>
          <p:cNvSpPr txBox="1"/>
          <p:nvPr>
            <p:ph idx="3" type="title"/>
          </p:nvPr>
        </p:nvSpPr>
        <p:spPr>
          <a:xfrm>
            <a:off x="702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Sometimes an alert requires an analyst to do data mining.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6" name="Google Shape;1896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7250" y="1205700"/>
            <a:ext cx="3920725" cy="344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220"/>
          <p:cNvSpPr txBox="1"/>
          <p:nvPr>
            <p:ph type="title"/>
          </p:nvPr>
        </p:nvSpPr>
        <p:spPr>
          <a:xfrm>
            <a:off x="3094800" y="1247250"/>
            <a:ext cx="5555100" cy="26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00">
                <a:latin typeface="Roboto"/>
                <a:ea typeface="Roboto"/>
                <a:cs typeface="Roboto"/>
                <a:sym typeface="Roboto"/>
              </a:rPr>
              <a:t>In the next guided tour, </a:t>
            </a:r>
            <a:endParaRPr b="0" sz="3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00">
                <a:latin typeface="Roboto"/>
                <a:ea typeface="Roboto"/>
                <a:cs typeface="Roboto"/>
                <a:sym typeface="Roboto"/>
              </a:rPr>
              <a:t>we’ll use Security Onion </a:t>
            </a:r>
            <a:br>
              <a:rPr b="0" lang="en" sz="3300">
                <a:latin typeface="Roboto"/>
                <a:ea typeface="Roboto"/>
                <a:cs typeface="Roboto"/>
                <a:sym typeface="Roboto"/>
              </a:rPr>
            </a:br>
            <a:r>
              <a:rPr b="0" lang="en" sz="3300">
                <a:latin typeface="Roboto"/>
                <a:ea typeface="Roboto"/>
                <a:cs typeface="Roboto"/>
                <a:sym typeface="Roboto"/>
              </a:rPr>
              <a:t>as the starting point for learning other NSM tools </a:t>
            </a:r>
            <a:endParaRPr b="0" sz="3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300">
                <a:latin typeface="Roboto"/>
                <a:ea typeface="Roboto"/>
                <a:cs typeface="Roboto"/>
                <a:sym typeface="Roboto"/>
              </a:rPr>
              <a:t>for security investigations.</a:t>
            </a:r>
            <a:endParaRPr b="0" sz="3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22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Security Onion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222"/>
          <p:cNvSpPr txBox="1"/>
          <p:nvPr>
            <p:ph idx="1" type="subTitle"/>
          </p:nvPr>
        </p:nvSpPr>
        <p:spPr>
          <a:xfrm>
            <a:off x="6174975" y="4568875"/>
            <a:ext cx="29691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r>
              <a:rPr lang="en"/>
              <a:t> minutes</a:t>
            </a:r>
            <a:endParaRPr/>
          </a:p>
        </p:txBody>
      </p:sp>
      <p:sp>
        <p:nvSpPr>
          <p:cNvPr id="1912" name="Google Shape;1912;p22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FTP File Extraction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913" name="Google Shape;1913;p222"/>
          <p:cNvSpPr txBox="1"/>
          <p:nvPr>
            <p:ph idx="3" type="body"/>
          </p:nvPr>
        </p:nvSpPr>
        <p:spPr>
          <a:xfrm>
            <a:off x="457200" y="1306375"/>
            <a:ext cx="7630800" cy="2211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 this activity, you will continue your role as an SOC analyst for the California DMV.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Immediately after deploying your new defenses, your organization experienced an attack.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need to examine an alert to determine if any systems were breached and if any data was supplanted or exfiltrated from the network.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4" name="Google Shape;1914;p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225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Enterprise security management (ESM)</a:t>
            </a:r>
            <a:endParaRPr b="1" baseline="-25000" sz="22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