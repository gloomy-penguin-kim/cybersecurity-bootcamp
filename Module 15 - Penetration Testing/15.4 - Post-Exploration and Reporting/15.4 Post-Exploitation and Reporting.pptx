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embeddedFontLst>
    <p:embeddedFont>
      <p:font typeface="Roboto Black"/>
      <p:bold r:id="rId62"/>
      <p:boldItalic r:id="rId63"/>
    </p:embeddedFont>
    <p:embeddedFont>
      <p:font typeface="Roboto"/>
      <p:regular r:id="rId64"/>
      <p:bold r:id="rId65"/>
      <p:italic r:id="rId66"/>
      <p:boldItalic r:id="rId67"/>
    </p:embeddedFont>
    <p:embeddedFont>
      <p:font typeface="Roboto Medium"/>
      <p:regular r:id="rId68"/>
      <p:bold r:id="rId69"/>
      <p:italic r:id="rId70"/>
      <p:boldItalic r:id="rId71"/>
    </p:embeddedFont>
    <p:embeddedFont>
      <p:font typeface="Inconsolata"/>
      <p:regular r:id="rId72"/>
      <p:bold r:id="rId73"/>
    </p:embeddedFont>
    <p:embeddedFont>
      <p:font typeface="Roboto Light"/>
      <p:regular r:id="rId74"/>
      <p:bold r:id="rId75"/>
      <p:italic r:id="rId76"/>
      <p:boldItalic r:id="rId77"/>
    </p:embeddedFont>
    <p:embeddedFont>
      <p:font typeface="Inconsolata Medium"/>
      <p:regular r:id="rId78"/>
      <p:bold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6231D1-5B3C-49AE-984C-7692F801E09B}">
  <a:tblStyle styleId="{9B6231D1-5B3C-49AE-984C-7692F801E09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Inconsolata-bold.fntdata"/><Relationship Id="rId72" Type="http://schemas.openxmlformats.org/officeDocument/2006/relationships/font" Target="fonts/Inconsolata-regular.fntdata"/><Relationship Id="rId31" Type="http://schemas.openxmlformats.org/officeDocument/2006/relationships/slide" Target="slides/slide25.xml"/><Relationship Id="rId75" Type="http://schemas.openxmlformats.org/officeDocument/2006/relationships/font" Target="fonts/RobotoLight-bold.fntdata"/><Relationship Id="rId30" Type="http://schemas.openxmlformats.org/officeDocument/2006/relationships/slide" Target="slides/slide24.xml"/><Relationship Id="rId74" Type="http://schemas.openxmlformats.org/officeDocument/2006/relationships/font" Target="fonts/RobotoLight-regular.fntdata"/><Relationship Id="rId33" Type="http://schemas.openxmlformats.org/officeDocument/2006/relationships/slide" Target="slides/slide27.xml"/><Relationship Id="rId77" Type="http://schemas.openxmlformats.org/officeDocument/2006/relationships/font" Target="fonts/RobotoLight-boldItalic.fntdata"/><Relationship Id="rId32" Type="http://schemas.openxmlformats.org/officeDocument/2006/relationships/slide" Target="slides/slide26.xml"/><Relationship Id="rId76" Type="http://schemas.openxmlformats.org/officeDocument/2006/relationships/font" Target="fonts/RobotoLight-italic.fntdata"/><Relationship Id="rId35" Type="http://schemas.openxmlformats.org/officeDocument/2006/relationships/slide" Target="slides/slide29.xml"/><Relationship Id="rId79" Type="http://schemas.openxmlformats.org/officeDocument/2006/relationships/font" Target="fonts/InconsolataMedium-bold.fntdata"/><Relationship Id="rId34" Type="http://schemas.openxmlformats.org/officeDocument/2006/relationships/slide" Target="slides/slide28.xml"/><Relationship Id="rId78" Type="http://schemas.openxmlformats.org/officeDocument/2006/relationships/font" Target="fonts/InconsolataMedium-regular.fntdata"/><Relationship Id="rId71" Type="http://schemas.openxmlformats.org/officeDocument/2006/relationships/font" Target="fonts/RobotoMedium-boldItalic.fntdata"/><Relationship Id="rId70" Type="http://schemas.openxmlformats.org/officeDocument/2006/relationships/font" Target="fonts/RobotoMedium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Black-bold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regular.fntdata"/><Relationship Id="rId63" Type="http://schemas.openxmlformats.org/officeDocument/2006/relationships/font" Target="fonts/RobotoBlack-boldItalic.fntdata"/><Relationship Id="rId22" Type="http://schemas.openxmlformats.org/officeDocument/2006/relationships/slide" Target="slides/slide16.xml"/><Relationship Id="rId66" Type="http://schemas.openxmlformats.org/officeDocument/2006/relationships/font" Target="fonts/Roboto-italic.fntdata"/><Relationship Id="rId21" Type="http://schemas.openxmlformats.org/officeDocument/2006/relationships/slide" Target="slides/slide15.xml"/><Relationship Id="rId65" Type="http://schemas.openxmlformats.org/officeDocument/2006/relationships/font" Target="fonts/Roboto-bold.fntdata"/><Relationship Id="rId24" Type="http://schemas.openxmlformats.org/officeDocument/2006/relationships/slide" Target="slides/slide18.xml"/><Relationship Id="rId68" Type="http://schemas.openxmlformats.org/officeDocument/2006/relationships/font" Target="fonts/RobotoMedium-regular.fntdata"/><Relationship Id="rId23" Type="http://schemas.openxmlformats.org/officeDocument/2006/relationships/slide" Target="slides/slide17.xml"/><Relationship Id="rId67" Type="http://schemas.openxmlformats.org/officeDocument/2006/relationships/font" Target="fonts/Roboto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edium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0fb7d85d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0fb7d85d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0b5e0e96a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0b5e0e96a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0fb7d85d75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0fb7d85d75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0c12dddb75_0_3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0c12dddb75_0_3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c12dddb75_0_3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0c12dddb75_0_3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0c12dddb75_0_3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0c12dddb75_0_3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shutterstock_1750908701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0c12dddb75_0_4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0c12dddb75_0_4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0c12dddb75_0_5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0c12dddb75_0_5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0c12dddb75_0_5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0c12dddb75_0_5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0c12dddb75_0_6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0c12dddb75_0_6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0c12dddb75_0_6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0c12dddb75_0_6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0c12dddb75_0_7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0c12dddb75_0_7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0c12dddb75_0_7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0c12dddb75_0_7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shutterstock_782515144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0c12dddb75_0_8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0c12dddb75_0_8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0c12dddb75_0_9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0c12dddb75_0_9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0c12dddb75_0_1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0c12dddb75_0_1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Shutterstock_792833623 </a:t>
            </a:r>
            <a:r>
              <a:rPr lang="en"/>
              <a:t>shutterstock_693068344 shutterstock_693068344.png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fc4da4874e_1_12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fc4da4874e_1_12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0a3240009e_0_2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0a3240009e_0_2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0a8c704c1c_0_27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0a8c704c1c_0_27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0a8c704c1c_0_27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0a8c704c1c_0_27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0a8c704c1c_0_27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0a8c704c1c_0_27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0b45a0dcde_0_1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0b45a0dcde_0_1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0c12dddb75_0_12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0c12dddb75_0_12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0c12dddb75_0_13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0c12dddb75_0_13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0c12dddb75_0_13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0c12dddb75_0_13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0c12dddb75_0_14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0c12dddb75_0_14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shutterstock_102766751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0c12dddb75_0_15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0c12dddb75_0_15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0c12dddb75_0_15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0c12dddb75_0_15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shutterstock_102766751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0c12dddb75_0_16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0c12dddb75_0_16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0c12dddb75_0_17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0c12dddb75_0_17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0c12dddb75_0_18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0c12dddb75_0_18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c4da4874e_1_23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fc4da4874e_1_23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0b45a0dcde_0_16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0b45a0dcde_0_16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0b45a0dcde_0_16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0b45a0dcde_0_16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0b45a0dcde_0_16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0b45a0dcde_0_16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fc4b27e731_0_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fc4b27e731_0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fc4da4874e_1_23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fc4da4874e_1_23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0c12dddb75_0_19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g30c12dddb75_0_19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0c12dddb75_0_19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0c12dddb75_0_19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shutterstock_1750908701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0c12dddb75_0_20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g30c12dddb75_0_20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0c12dddb75_0_2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30c12dddb75_0_2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fc4da4874e_1_35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fc4da4874e_1_35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fc4da4874e_1_35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fc4da4874e_1_35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fc4da4874e_1_35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fc4da4874e_1_35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fc4da4874e_1_35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fc4da4874e_1_35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0c12dddb75_0_2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0c12dddb75_0_2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0c12dddb75_0_21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g30c12dddb75_0_21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0c12dddb75_0_22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g30c12dddb75_0_22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0c12dddb75_0_23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0c12dddb75_0_23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0c12dddb75_0_24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0c12dddb75_0_24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0c12dddb75_0_24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0c12dddb75_0_24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5" name="Google Shape;185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1" name="Google Shape;191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2" name="Google Shape;212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8" name="Google Shape;218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1" name="Google Shape;251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9" name="Google Shape;269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0" name="Google Shape;27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2" name="Google Shape;272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9" name="Google Shape;279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2" name="Google Shape;282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1" name="Google Shape;301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2" name="Google Shape;322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4" name="Google Shape;334;p49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35" name="Google Shape;335;p49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4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9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8" name="Google Shape;338;p49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50"/>
          <p:cNvSpPr txBox="1"/>
          <p:nvPr>
            <p:ph idx="2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9" name="Google Shape;349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0" name="Google Shape;350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3" name="Google Shape;353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4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kahoot.com/" TargetMode="External"/><Relationship Id="rId4" Type="http://schemas.openxmlformats.org/officeDocument/2006/relationships/image" Target="../media/image4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kahoot.com/" TargetMode="External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type="title"/>
          </p:nvPr>
        </p:nvSpPr>
        <p:spPr>
          <a:xfrm>
            <a:off x="4489575" y="1828800"/>
            <a:ext cx="46713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Post-Exploitation and Reporting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3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60" name="Google Shape;360;p53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15.4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4"/>
          <p:cNvSpPr/>
          <p:nvPr/>
        </p:nvSpPr>
        <p:spPr>
          <a:xfrm>
            <a:off x="607675" y="1142050"/>
            <a:ext cx="8079000" cy="685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4"/>
          <p:cNvSpPr/>
          <p:nvPr/>
        </p:nvSpPr>
        <p:spPr>
          <a:xfrm>
            <a:off x="607675" y="34220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4"/>
          <p:cNvSpPr/>
          <p:nvPr/>
        </p:nvSpPr>
        <p:spPr>
          <a:xfrm>
            <a:off x="607675" y="273617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4"/>
          <p:cNvSpPr/>
          <p:nvPr/>
        </p:nvSpPr>
        <p:spPr>
          <a:xfrm>
            <a:off x="607675" y="20502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4"/>
          <p:cNvSpPr/>
          <p:nvPr/>
        </p:nvSpPr>
        <p:spPr>
          <a:xfrm>
            <a:off x="457200" y="205028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4"/>
          <p:cNvSpPr/>
          <p:nvPr/>
        </p:nvSpPr>
        <p:spPr>
          <a:xfrm>
            <a:off x="457200" y="2736200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4"/>
          <p:cNvSpPr/>
          <p:nvPr/>
        </p:nvSpPr>
        <p:spPr>
          <a:xfrm>
            <a:off x="457200" y="342211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4"/>
          <p:cNvSpPr txBox="1"/>
          <p:nvPr/>
        </p:nvSpPr>
        <p:spPr>
          <a:xfrm>
            <a:off x="914400" y="1278775"/>
            <a:ext cx="66372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Describe the common tasks that are included in privileged post exploitation.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54"/>
          <p:cNvSpPr txBox="1"/>
          <p:nvPr/>
        </p:nvSpPr>
        <p:spPr>
          <a:xfrm>
            <a:off x="914400" y="20965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Perform post-exploitation tasks, such as gathering password hashes.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 txBox="1"/>
          <p:nvPr/>
        </p:nvSpPr>
        <p:spPr>
          <a:xfrm>
            <a:off x="914400" y="27820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Explain how password crackers work and perform password cracking.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54"/>
          <p:cNvSpPr txBox="1"/>
          <p:nvPr/>
        </p:nvSpPr>
        <p:spPr>
          <a:xfrm>
            <a:off x="914400" y="34676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Understand the importance of reporting and fill out a strong report.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5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378" name="Google Shape;378;p5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 end of today’s class, you will be able to:</a:t>
            </a:r>
            <a:endParaRPr/>
          </a:p>
        </p:txBody>
      </p:sp>
      <p:pic>
        <p:nvPicPr>
          <p:cNvPr id="379" name="Google Shape;37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51" y="242363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and Control</a:t>
            </a:r>
            <a:endParaRPr/>
          </a:p>
        </p:txBody>
      </p:sp>
      <p:sp>
        <p:nvSpPr>
          <p:cNvPr id="393" name="Google Shape;393;p57"/>
          <p:cNvSpPr txBox="1"/>
          <p:nvPr/>
        </p:nvSpPr>
        <p:spPr>
          <a:xfrm>
            <a:off x="332550" y="3533900"/>
            <a:ext cx="3531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attacker’s server, where the attacker communicates with the compromised machines.</a:t>
            </a:r>
            <a:endParaRPr b="0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57"/>
          <p:cNvSpPr txBox="1"/>
          <p:nvPr/>
        </p:nvSpPr>
        <p:spPr>
          <a:xfrm>
            <a:off x="332550" y="3104142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C2 Server</a:t>
            </a:r>
            <a:endParaRPr b="1" i="0" sz="26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4718163" y="3104142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C2 Agents</a:t>
            </a:r>
            <a:endParaRPr b="1" i="0" sz="26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4619750" y="3533925"/>
            <a:ext cx="4124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payload that is run on the compromised machine in order to open up a connection back to the C2 server.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" name="Google Shape;397;p57"/>
          <p:cNvCxnSpPr/>
          <p:nvPr/>
        </p:nvCxnSpPr>
        <p:spPr>
          <a:xfrm>
            <a:off x="4265575" y="2939550"/>
            <a:ext cx="0" cy="175560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8" name="Google Shape;39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525" y="1824418"/>
            <a:ext cx="1739648" cy="12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682" y="1746209"/>
            <a:ext cx="2140795" cy="1513634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7"/>
          <p:cNvSpPr txBox="1"/>
          <p:nvPr/>
        </p:nvSpPr>
        <p:spPr>
          <a:xfrm>
            <a:off x="457200" y="1063525"/>
            <a:ext cx="864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Command and control (C2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) is a framework that consists of tools and techniques </a:t>
            </a:r>
            <a:b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that attackers use to maintain communication with compromised devices.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2" y="12490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8"/>
          <p:cNvSpPr txBox="1"/>
          <p:nvPr>
            <p:ph idx="4294967295" type="subTitle"/>
          </p:nvPr>
        </p:nvSpPr>
        <p:spPr>
          <a:xfrm>
            <a:off x="382800" y="1801427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600">
                <a:latin typeface="Inconsolata"/>
                <a:ea typeface="Inconsolata"/>
                <a:cs typeface="Inconsolata"/>
                <a:sym typeface="Inconsolata"/>
              </a:rPr>
              <a:t>MSFconsole</a:t>
            </a:r>
            <a:endParaRPr b="1" sz="26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07" name="Google Shape;407;p58"/>
          <p:cNvSpPr txBox="1"/>
          <p:nvPr>
            <p:ph idx="4294967295" type="subTitle"/>
          </p:nvPr>
        </p:nvSpPr>
        <p:spPr>
          <a:xfrm>
            <a:off x="3285075" y="1801435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600">
                <a:latin typeface="Inconsolata"/>
                <a:ea typeface="Inconsolata"/>
                <a:cs typeface="Inconsolata"/>
                <a:sym typeface="Inconsolata"/>
              </a:rPr>
              <a:t>Meterpreter </a:t>
            </a:r>
            <a:endParaRPr b="1" sz="26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08" name="Google Shape;408;p58"/>
          <p:cNvSpPr txBox="1"/>
          <p:nvPr>
            <p:ph idx="4294967295" type="subTitle"/>
          </p:nvPr>
        </p:nvSpPr>
        <p:spPr>
          <a:xfrm>
            <a:off x="6401175" y="1801905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600">
                <a:latin typeface="Inconsolata"/>
                <a:ea typeface="Inconsolata"/>
                <a:cs typeface="Inconsolata"/>
                <a:sym typeface="Inconsolata"/>
              </a:rPr>
              <a:t>msfvenom</a:t>
            </a:r>
            <a:endParaRPr b="1" sz="26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09" name="Google Shape;409;p5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Tools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Google Shape;414;p59"/>
          <p:cNvGraphicFramePr/>
          <p:nvPr/>
        </p:nvGraphicFramePr>
        <p:xfrm>
          <a:off x="350138" y="18623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{9B6231D1-5B3C-49AE-984C-7692F801E09B}</a:tableStyleId>
              </a:tblPr>
              <a:tblGrid>
                <a:gridCol w="1911475"/>
                <a:gridCol w="6532250"/>
              </a:tblGrid>
              <a:tr h="484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Auxiliary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for information gathering, enumeration, and port scanning.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Exploit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Generally used to deliver exploit code to a target system.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Offer post-exploitation tools.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370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to create malicious payloads to use with an exploit.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2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Encoder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to ensure that payloads make it to their destination intact.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15" name="Google Shape;415;p59"/>
          <p:cNvSpPr txBox="1"/>
          <p:nvPr>
            <p:ph idx="1" type="subTitle"/>
          </p:nvPr>
        </p:nvSpPr>
        <p:spPr>
          <a:xfrm>
            <a:off x="175" y="1232375"/>
            <a:ext cx="91440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The five main types of Metasploit modules are: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5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MSFconsole is a unified interface for a variety of functions, called modules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/>
          <p:nvPr/>
        </p:nvSpPr>
        <p:spPr>
          <a:xfrm>
            <a:off x="9525" y="-3475"/>
            <a:ext cx="9144000" cy="51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00" y="-3528"/>
            <a:ext cx="9143999" cy="514697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0"/>
          <p:cNvSpPr txBox="1"/>
          <p:nvPr>
            <p:ph idx="4294967295" type="subTitle"/>
          </p:nvPr>
        </p:nvSpPr>
        <p:spPr>
          <a:xfrm>
            <a:off x="525025" y="2049675"/>
            <a:ext cx="3937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315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Post Exploitation </a:t>
            </a:r>
            <a:r>
              <a:rPr lang="en"/>
              <a:t> is the next phase after Exploitation and involves any actions performed after exploitation.</a:t>
            </a:r>
            <a:endParaRPr/>
          </a:p>
        </p:txBody>
      </p:sp>
      <p:grpSp>
        <p:nvGrpSpPr>
          <p:cNvPr id="424" name="Google Shape;424;p60"/>
          <p:cNvGrpSpPr/>
          <p:nvPr/>
        </p:nvGrpSpPr>
        <p:grpSpPr>
          <a:xfrm>
            <a:off x="2270925" y="2379300"/>
            <a:ext cx="6218275" cy="2556542"/>
            <a:chOff x="289725" y="2379300"/>
            <a:chExt cx="6218275" cy="2556542"/>
          </a:xfrm>
        </p:grpSpPr>
        <p:sp>
          <p:nvSpPr>
            <p:cNvPr id="425" name="Google Shape;425;p60"/>
            <p:cNvSpPr txBox="1"/>
            <p:nvPr/>
          </p:nvSpPr>
          <p:spPr>
            <a:xfrm>
              <a:off x="289725" y="4547942"/>
              <a:ext cx="1428900" cy="3879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0" lIns="91425" spcFirstLastPara="1" rIns="91425" wrap="square" tIns="27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Planning and Reconnaissance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26" name="Google Shape;426;p60"/>
            <p:cNvSpPr txBox="1"/>
            <p:nvPr/>
          </p:nvSpPr>
          <p:spPr>
            <a:xfrm>
              <a:off x="1544475" y="398125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Scanning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27" name="Google Shape;427;p60"/>
            <p:cNvSpPr txBox="1"/>
            <p:nvPr/>
          </p:nvSpPr>
          <p:spPr>
            <a:xfrm>
              <a:off x="2689450" y="34638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Exploitation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28" name="Google Shape;428;p60"/>
            <p:cNvSpPr txBox="1"/>
            <p:nvPr/>
          </p:nvSpPr>
          <p:spPr>
            <a:xfrm>
              <a:off x="3887775" y="2938625"/>
              <a:ext cx="142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Post Exploitation</a:t>
              </a:r>
              <a:endParaRPr b="1" i="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9" name="Google Shape;429;p60"/>
            <p:cNvSpPr txBox="1"/>
            <p:nvPr/>
          </p:nvSpPr>
          <p:spPr>
            <a:xfrm>
              <a:off x="5079100" y="23793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Reporting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430" name="Google Shape;430;p60"/>
          <p:cNvSpPr/>
          <p:nvPr/>
        </p:nvSpPr>
        <p:spPr>
          <a:xfrm>
            <a:off x="5861300" y="2904325"/>
            <a:ext cx="1684500" cy="459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0"/>
          <p:cNvSpPr/>
          <p:nvPr/>
        </p:nvSpPr>
        <p:spPr>
          <a:xfrm>
            <a:off x="7066225" y="235591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9B7C0"/>
              </a:solidFill>
            </a:endParaRPr>
          </a:p>
        </p:txBody>
      </p:sp>
      <p:sp>
        <p:nvSpPr>
          <p:cNvPr id="432" name="Google Shape;432;p60"/>
          <p:cNvSpPr/>
          <p:nvPr/>
        </p:nvSpPr>
        <p:spPr>
          <a:xfrm>
            <a:off x="4537813" y="343391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0"/>
          <p:cNvSpPr txBox="1"/>
          <p:nvPr/>
        </p:nvSpPr>
        <p:spPr>
          <a:xfrm>
            <a:off x="4596113" y="3433923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Exploitation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60"/>
          <p:cNvSpPr/>
          <p:nvPr/>
        </p:nvSpPr>
        <p:spPr>
          <a:xfrm>
            <a:off x="3404250" y="397326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0"/>
          <p:cNvSpPr txBox="1"/>
          <p:nvPr/>
        </p:nvSpPr>
        <p:spPr>
          <a:xfrm>
            <a:off x="3462550" y="3973273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Scanning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60"/>
          <p:cNvSpPr/>
          <p:nvPr/>
        </p:nvSpPr>
        <p:spPr>
          <a:xfrm>
            <a:off x="2156758" y="4507750"/>
            <a:ext cx="1684500" cy="4281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Planning and </a:t>
            </a: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0"/>
          <p:cNvSpPr txBox="1"/>
          <p:nvPr/>
        </p:nvSpPr>
        <p:spPr>
          <a:xfrm>
            <a:off x="7111730" y="2362320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60"/>
          <p:cNvSpPr txBox="1"/>
          <p:nvPr/>
        </p:nvSpPr>
        <p:spPr>
          <a:xfrm>
            <a:off x="5893287" y="2933725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Post Exploitation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1"/>
          <p:cNvSpPr txBox="1"/>
          <p:nvPr>
            <p:ph idx="4294967295"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Post Exploitation</a:t>
            </a:r>
            <a:endParaRPr/>
          </a:p>
        </p:txBody>
      </p:sp>
      <p:sp>
        <p:nvSpPr>
          <p:cNvPr id="444" name="Google Shape;444;p61"/>
          <p:cNvSpPr txBox="1"/>
          <p:nvPr>
            <p:ph idx="4294967295" type="subTitle"/>
          </p:nvPr>
        </p:nvSpPr>
        <p:spPr>
          <a:xfrm>
            <a:off x="0" y="47165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Post Exploitation includes three common tasks:</a:t>
            </a:r>
            <a:endParaRPr/>
          </a:p>
        </p:txBody>
      </p:sp>
      <p:sp>
        <p:nvSpPr>
          <p:cNvPr id="445" name="Google Shape;445;p61"/>
          <p:cNvSpPr/>
          <p:nvPr/>
        </p:nvSpPr>
        <p:spPr>
          <a:xfrm>
            <a:off x="502200" y="1282250"/>
            <a:ext cx="2497500" cy="32013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1"/>
          <p:cNvSpPr/>
          <p:nvPr/>
        </p:nvSpPr>
        <p:spPr>
          <a:xfrm>
            <a:off x="3146589" y="1282250"/>
            <a:ext cx="2497500" cy="32013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1"/>
          <p:cNvSpPr/>
          <p:nvPr/>
        </p:nvSpPr>
        <p:spPr>
          <a:xfrm>
            <a:off x="5790978" y="1282250"/>
            <a:ext cx="2497500" cy="320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1"/>
          <p:cNvSpPr txBox="1"/>
          <p:nvPr/>
        </p:nvSpPr>
        <p:spPr>
          <a:xfrm>
            <a:off x="5832050" y="1282225"/>
            <a:ext cx="24564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Privilege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escalation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49" name="Google Shape;449;p61"/>
          <p:cNvSpPr txBox="1"/>
          <p:nvPr/>
        </p:nvSpPr>
        <p:spPr>
          <a:xfrm>
            <a:off x="3146425" y="1282225"/>
            <a:ext cx="24975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Persistence: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005E77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5E7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400"/>
              </a:spcBef>
              <a:spcAft>
                <a:spcPts val="24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61"/>
          <p:cNvSpPr txBox="1"/>
          <p:nvPr/>
        </p:nvSpPr>
        <p:spPr>
          <a:xfrm>
            <a:off x="502200" y="1282250"/>
            <a:ext cx="2327400" cy="2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Enumeration and searching for 	useful data: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Similar to the enumeration process during the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Reconnaissance phase, except we are enumerating and searching for data from inside the target after it has been exploited.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1" name="Google Shape;451;p61"/>
          <p:cNvCxnSpPr/>
          <p:nvPr/>
        </p:nvCxnSpPr>
        <p:spPr>
          <a:xfrm>
            <a:off x="370850" y="2442775"/>
            <a:ext cx="8017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61"/>
          <p:cNvSpPr txBox="1"/>
          <p:nvPr/>
        </p:nvSpPr>
        <p:spPr>
          <a:xfrm>
            <a:off x="3146600" y="1356200"/>
            <a:ext cx="24975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method of attempting to maintain long-term access into your target.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1"/>
          <p:cNvSpPr txBox="1"/>
          <p:nvPr/>
        </p:nvSpPr>
        <p:spPr>
          <a:xfrm>
            <a:off x="5790975" y="2474725"/>
            <a:ext cx="2497500" cy="1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24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method of escalating privileges from a less privileged user to a more privileged user </a:t>
            </a:r>
            <a:b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(or a low-privilege to high-privilege user)</a:t>
            </a:r>
            <a:endParaRPr i="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Re-performing</a:t>
            </a:r>
            <a:r>
              <a:rPr lang="en"/>
              <a:t> Enumeration After Privilege Escalation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9" name="Google Shape;459;p62"/>
          <p:cNvGrpSpPr/>
          <p:nvPr/>
        </p:nvGrpSpPr>
        <p:grpSpPr>
          <a:xfrm>
            <a:off x="4201667" y="1505815"/>
            <a:ext cx="740653" cy="1038765"/>
            <a:chOff x="1949050" y="285025"/>
            <a:chExt cx="3721875" cy="5144950"/>
          </a:xfrm>
        </p:grpSpPr>
        <p:sp>
          <p:nvSpPr>
            <p:cNvPr id="460" name="Google Shape;460;p62"/>
            <p:cNvSpPr/>
            <p:nvPr/>
          </p:nvSpPr>
          <p:spPr>
            <a:xfrm>
              <a:off x="2449475" y="3201525"/>
              <a:ext cx="2705400" cy="1853125"/>
            </a:xfrm>
            <a:custGeom>
              <a:rect b="b" l="l" r="r" t="t"/>
              <a:pathLst>
                <a:path extrusionOk="0" fill="none" h="74125" w="108216">
                  <a:moveTo>
                    <a:pt x="108215" y="74125"/>
                  </a:moveTo>
                  <a:lnTo>
                    <a:pt x="0" y="74125"/>
                  </a:lnTo>
                  <a:lnTo>
                    <a:pt x="0" y="4692"/>
                  </a:lnTo>
                  <a:lnTo>
                    <a:pt x="0" y="4692"/>
                  </a:lnTo>
                  <a:lnTo>
                    <a:pt x="0" y="3754"/>
                  </a:lnTo>
                  <a:lnTo>
                    <a:pt x="313" y="2815"/>
                  </a:lnTo>
                  <a:lnTo>
                    <a:pt x="1251" y="1252"/>
                  </a:lnTo>
                  <a:lnTo>
                    <a:pt x="2815" y="313"/>
                  </a:lnTo>
                  <a:lnTo>
                    <a:pt x="3441" y="0"/>
                  </a:lnTo>
                  <a:lnTo>
                    <a:pt x="4379" y="0"/>
                  </a:lnTo>
                  <a:lnTo>
                    <a:pt x="103837" y="0"/>
                  </a:lnTo>
                  <a:lnTo>
                    <a:pt x="103837" y="0"/>
                  </a:lnTo>
                  <a:lnTo>
                    <a:pt x="104775" y="0"/>
                  </a:lnTo>
                  <a:lnTo>
                    <a:pt x="105400" y="313"/>
                  </a:lnTo>
                  <a:lnTo>
                    <a:pt x="106964" y="1252"/>
                  </a:lnTo>
                  <a:lnTo>
                    <a:pt x="107903" y="2815"/>
                  </a:lnTo>
                  <a:lnTo>
                    <a:pt x="108215" y="3754"/>
                  </a:lnTo>
                  <a:lnTo>
                    <a:pt x="108215" y="4692"/>
                  </a:lnTo>
                  <a:lnTo>
                    <a:pt x="108215" y="74125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2"/>
            <p:cNvSpPr/>
            <p:nvPr/>
          </p:nvSpPr>
          <p:spPr>
            <a:xfrm>
              <a:off x="2285275" y="5054625"/>
              <a:ext cx="3041600" cy="375350"/>
            </a:xfrm>
            <a:custGeom>
              <a:rect b="b" l="l" r="r" t="t"/>
              <a:pathLst>
                <a:path extrusionOk="0" fill="none" h="15014" w="121664">
                  <a:moveTo>
                    <a:pt x="115409" y="15013"/>
                  </a:moveTo>
                  <a:lnTo>
                    <a:pt x="5943" y="15013"/>
                  </a:lnTo>
                  <a:lnTo>
                    <a:pt x="5943" y="15013"/>
                  </a:lnTo>
                  <a:lnTo>
                    <a:pt x="4692" y="15013"/>
                  </a:lnTo>
                  <a:lnTo>
                    <a:pt x="3753" y="14701"/>
                  </a:lnTo>
                  <a:lnTo>
                    <a:pt x="2502" y="14075"/>
                  </a:lnTo>
                  <a:lnTo>
                    <a:pt x="1564" y="13450"/>
                  </a:lnTo>
                  <a:lnTo>
                    <a:pt x="939" y="12511"/>
                  </a:lnTo>
                  <a:lnTo>
                    <a:pt x="313" y="11260"/>
                  </a:lnTo>
                  <a:lnTo>
                    <a:pt x="0" y="10322"/>
                  </a:lnTo>
                  <a:lnTo>
                    <a:pt x="0" y="9071"/>
                  </a:lnTo>
                  <a:lnTo>
                    <a:pt x="0" y="1"/>
                  </a:lnTo>
                  <a:lnTo>
                    <a:pt x="121664" y="1"/>
                  </a:lnTo>
                  <a:lnTo>
                    <a:pt x="121664" y="9071"/>
                  </a:lnTo>
                  <a:lnTo>
                    <a:pt x="121664" y="9071"/>
                  </a:lnTo>
                  <a:lnTo>
                    <a:pt x="121351" y="10322"/>
                  </a:lnTo>
                  <a:lnTo>
                    <a:pt x="121038" y="11260"/>
                  </a:lnTo>
                  <a:lnTo>
                    <a:pt x="120413" y="12511"/>
                  </a:lnTo>
                  <a:lnTo>
                    <a:pt x="119787" y="13450"/>
                  </a:lnTo>
                  <a:lnTo>
                    <a:pt x="118849" y="14075"/>
                  </a:lnTo>
                  <a:lnTo>
                    <a:pt x="117598" y="14701"/>
                  </a:lnTo>
                  <a:lnTo>
                    <a:pt x="116660" y="15013"/>
                  </a:lnTo>
                  <a:lnTo>
                    <a:pt x="115409" y="15013"/>
                  </a:lnTo>
                  <a:lnTo>
                    <a:pt x="115409" y="15013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2"/>
            <p:cNvSpPr/>
            <p:nvPr/>
          </p:nvSpPr>
          <p:spPr>
            <a:xfrm>
              <a:off x="3379925" y="3756675"/>
              <a:ext cx="844475" cy="836650"/>
            </a:xfrm>
            <a:custGeom>
              <a:rect b="b" l="l" r="r" t="t"/>
              <a:pathLst>
                <a:path extrusionOk="0" fill="none" h="33466" w="33779">
                  <a:moveTo>
                    <a:pt x="33779" y="16577"/>
                  </a:moveTo>
                  <a:lnTo>
                    <a:pt x="33779" y="16577"/>
                  </a:lnTo>
                  <a:lnTo>
                    <a:pt x="33466" y="20017"/>
                  </a:lnTo>
                  <a:lnTo>
                    <a:pt x="32215" y="23145"/>
                  </a:lnTo>
                  <a:lnTo>
                    <a:pt x="30964" y="25960"/>
                  </a:lnTo>
                  <a:lnTo>
                    <a:pt x="28775" y="28462"/>
                  </a:lnTo>
                  <a:lnTo>
                    <a:pt x="26273" y="30651"/>
                  </a:lnTo>
                  <a:lnTo>
                    <a:pt x="23458" y="32215"/>
                  </a:lnTo>
                  <a:lnTo>
                    <a:pt x="20330" y="33153"/>
                  </a:lnTo>
                  <a:lnTo>
                    <a:pt x="16890" y="33466"/>
                  </a:lnTo>
                  <a:lnTo>
                    <a:pt x="16890" y="33466"/>
                  </a:lnTo>
                  <a:lnTo>
                    <a:pt x="13449" y="33153"/>
                  </a:lnTo>
                  <a:lnTo>
                    <a:pt x="10322" y="32215"/>
                  </a:lnTo>
                  <a:lnTo>
                    <a:pt x="7507" y="30651"/>
                  </a:lnTo>
                  <a:lnTo>
                    <a:pt x="5005" y="28462"/>
                  </a:lnTo>
                  <a:lnTo>
                    <a:pt x="3128" y="25960"/>
                  </a:lnTo>
                  <a:lnTo>
                    <a:pt x="1564" y="23145"/>
                  </a:lnTo>
                  <a:lnTo>
                    <a:pt x="313" y="20017"/>
                  </a:lnTo>
                  <a:lnTo>
                    <a:pt x="1" y="16577"/>
                  </a:lnTo>
                  <a:lnTo>
                    <a:pt x="1" y="16577"/>
                  </a:lnTo>
                  <a:lnTo>
                    <a:pt x="313" y="13137"/>
                  </a:lnTo>
                  <a:lnTo>
                    <a:pt x="1564" y="10009"/>
                  </a:lnTo>
                  <a:lnTo>
                    <a:pt x="3128" y="7194"/>
                  </a:lnTo>
                  <a:lnTo>
                    <a:pt x="5005" y="4692"/>
                  </a:lnTo>
                  <a:lnTo>
                    <a:pt x="7507" y="2815"/>
                  </a:lnTo>
                  <a:lnTo>
                    <a:pt x="10322" y="1252"/>
                  </a:lnTo>
                  <a:lnTo>
                    <a:pt x="13449" y="313"/>
                  </a:lnTo>
                  <a:lnTo>
                    <a:pt x="16890" y="1"/>
                  </a:lnTo>
                  <a:lnTo>
                    <a:pt x="16890" y="1"/>
                  </a:lnTo>
                  <a:lnTo>
                    <a:pt x="20330" y="313"/>
                  </a:lnTo>
                  <a:lnTo>
                    <a:pt x="23458" y="1252"/>
                  </a:lnTo>
                  <a:lnTo>
                    <a:pt x="26273" y="2815"/>
                  </a:lnTo>
                  <a:lnTo>
                    <a:pt x="28775" y="4692"/>
                  </a:lnTo>
                  <a:lnTo>
                    <a:pt x="30964" y="7194"/>
                  </a:lnTo>
                  <a:lnTo>
                    <a:pt x="32215" y="10009"/>
                  </a:lnTo>
                  <a:lnTo>
                    <a:pt x="33466" y="13137"/>
                  </a:lnTo>
                  <a:lnTo>
                    <a:pt x="33779" y="16577"/>
                  </a:lnTo>
                  <a:lnTo>
                    <a:pt x="33779" y="16577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2"/>
            <p:cNvSpPr/>
            <p:nvPr/>
          </p:nvSpPr>
          <p:spPr>
            <a:xfrm>
              <a:off x="2824775" y="285025"/>
              <a:ext cx="1954775" cy="1211975"/>
            </a:xfrm>
            <a:custGeom>
              <a:rect b="b" l="l" r="r" t="t"/>
              <a:pathLst>
                <a:path extrusionOk="0" fill="none" h="48479" w="78191">
                  <a:moveTo>
                    <a:pt x="39096" y="48479"/>
                  </a:moveTo>
                  <a:lnTo>
                    <a:pt x="39096" y="48479"/>
                  </a:lnTo>
                  <a:lnTo>
                    <a:pt x="72874" y="48479"/>
                  </a:lnTo>
                  <a:lnTo>
                    <a:pt x="72874" y="48479"/>
                  </a:lnTo>
                  <a:lnTo>
                    <a:pt x="73812" y="48166"/>
                  </a:lnTo>
                  <a:lnTo>
                    <a:pt x="75063" y="47853"/>
                  </a:lnTo>
                  <a:lnTo>
                    <a:pt x="75689" y="47540"/>
                  </a:lnTo>
                  <a:lnTo>
                    <a:pt x="76627" y="46915"/>
                  </a:lnTo>
                  <a:lnTo>
                    <a:pt x="77252" y="45976"/>
                  </a:lnTo>
                  <a:lnTo>
                    <a:pt x="77878" y="45038"/>
                  </a:lnTo>
                  <a:lnTo>
                    <a:pt x="78191" y="44100"/>
                  </a:lnTo>
                  <a:lnTo>
                    <a:pt x="78191" y="43162"/>
                  </a:lnTo>
                  <a:lnTo>
                    <a:pt x="78191" y="43162"/>
                  </a:lnTo>
                  <a:lnTo>
                    <a:pt x="78191" y="41911"/>
                  </a:lnTo>
                  <a:lnTo>
                    <a:pt x="77878" y="40972"/>
                  </a:lnTo>
                  <a:lnTo>
                    <a:pt x="77252" y="40034"/>
                  </a:lnTo>
                  <a:lnTo>
                    <a:pt x="76627" y="39408"/>
                  </a:lnTo>
                  <a:lnTo>
                    <a:pt x="75689" y="38783"/>
                  </a:lnTo>
                  <a:lnTo>
                    <a:pt x="75063" y="38157"/>
                  </a:lnTo>
                  <a:lnTo>
                    <a:pt x="73812" y="37845"/>
                  </a:lnTo>
                  <a:lnTo>
                    <a:pt x="72874" y="37845"/>
                  </a:lnTo>
                  <a:lnTo>
                    <a:pt x="72874" y="37845"/>
                  </a:lnTo>
                  <a:lnTo>
                    <a:pt x="70059" y="37845"/>
                  </a:lnTo>
                  <a:lnTo>
                    <a:pt x="70059" y="37845"/>
                  </a:lnTo>
                  <a:lnTo>
                    <a:pt x="69433" y="31902"/>
                  </a:lnTo>
                  <a:lnTo>
                    <a:pt x="68808" y="25960"/>
                  </a:lnTo>
                  <a:lnTo>
                    <a:pt x="67557" y="18766"/>
                  </a:lnTo>
                  <a:lnTo>
                    <a:pt x="66619" y="15326"/>
                  </a:lnTo>
                  <a:lnTo>
                    <a:pt x="65680" y="11885"/>
                  </a:lnTo>
                  <a:lnTo>
                    <a:pt x="64429" y="8758"/>
                  </a:lnTo>
                  <a:lnTo>
                    <a:pt x="62866" y="5943"/>
                  </a:lnTo>
                  <a:lnTo>
                    <a:pt x="61302" y="3441"/>
                  </a:lnTo>
                  <a:lnTo>
                    <a:pt x="59112" y="1564"/>
                  </a:lnTo>
                  <a:lnTo>
                    <a:pt x="58174" y="939"/>
                  </a:lnTo>
                  <a:lnTo>
                    <a:pt x="56923" y="313"/>
                  </a:lnTo>
                  <a:lnTo>
                    <a:pt x="55672" y="1"/>
                  </a:lnTo>
                  <a:lnTo>
                    <a:pt x="54108" y="1"/>
                  </a:lnTo>
                  <a:lnTo>
                    <a:pt x="54108" y="1"/>
                  </a:lnTo>
                  <a:lnTo>
                    <a:pt x="52232" y="1"/>
                  </a:lnTo>
                  <a:lnTo>
                    <a:pt x="50355" y="626"/>
                  </a:lnTo>
                  <a:lnTo>
                    <a:pt x="47540" y="2190"/>
                  </a:lnTo>
                  <a:lnTo>
                    <a:pt x="45976" y="2815"/>
                  </a:lnTo>
                  <a:lnTo>
                    <a:pt x="44100" y="3754"/>
                  </a:lnTo>
                  <a:lnTo>
                    <a:pt x="41911" y="4066"/>
                  </a:lnTo>
                  <a:lnTo>
                    <a:pt x="39096" y="4379"/>
                  </a:lnTo>
                  <a:lnTo>
                    <a:pt x="39096" y="4379"/>
                  </a:lnTo>
                  <a:lnTo>
                    <a:pt x="36281" y="4066"/>
                  </a:lnTo>
                  <a:lnTo>
                    <a:pt x="34092" y="3754"/>
                  </a:lnTo>
                  <a:lnTo>
                    <a:pt x="32215" y="2815"/>
                  </a:lnTo>
                  <a:lnTo>
                    <a:pt x="30651" y="2190"/>
                  </a:lnTo>
                  <a:lnTo>
                    <a:pt x="27836" y="626"/>
                  </a:lnTo>
                  <a:lnTo>
                    <a:pt x="25960" y="1"/>
                  </a:lnTo>
                  <a:lnTo>
                    <a:pt x="24083" y="1"/>
                  </a:lnTo>
                  <a:lnTo>
                    <a:pt x="24083" y="1"/>
                  </a:lnTo>
                  <a:lnTo>
                    <a:pt x="22519" y="1"/>
                  </a:lnTo>
                  <a:lnTo>
                    <a:pt x="21268" y="313"/>
                  </a:lnTo>
                  <a:lnTo>
                    <a:pt x="20017" y="939"/>
                  </a:lnTo>
                  <a:lnTo>
                    <a:pt x="19079" y="1564"/>
                  </a:lnTo>
                  <a:lnTo>
                    <a:pt x="16890" y="3441"/>
                  </a:lnTo>
                  <a:lnTo>
                    <a:pt x="15326" y="5943"/>
                  </a:lnTo>
                  <a:lnTo>
                    <a:pt x="13762" y="8758"/>
                  </a:lnTo>
                  <a:lnTo>
                    <a:pt x="12511" y="11885"/>
                  </a:lnTo>
                  <a:lnTo>
                    <a:pt x="11573" y="15326"/>
                  </a:lnTo>
                  <a:lnTo>
                    <a:pt x="10635" y="18766"/>
                  </a:lnTo>
                  <a:lnTo>
                    <a:pt x="9384" y="25960"/>
                  </a:lnTo>
                  <a:lnTo>
                    <a:pt x="8758" y="31902"/>
                  </a:lnTo>
                  <a:lnTo>
                    <a:pt x="8132" y="37845"/>
                  </a:lnTo>
                  <a:lnTo>
                    <a:pt x="8132" y="37845"/>
                  </a:lnTo>
                  <a:lnTo>
                    <a:pt x="5318" y="37845"/>
                  </a:lnTo>
                  <a:lnTo>
                    <a:pt x="5318" y="37845"/>
                  </a:lnTo>
                  <a:lnTo>
                    <a:pt x="4379" y="37845"/>
                  </a:lnTo>
                  <a:lnTo>
                    <a:pt x="3128" y="38157"/>
                  </a:lnTo>
                  <a:lnTo>
                    <a:pt x="2503" y="38783"/>
                  </a:lnTo>
                  <a:lnTo>
                    <a:pt x="1565" y="39408"/>
                  </a:lnTo>
                  <a:lnTo>
                    <a:pt x="939" y="40034"/>
                  </a:lnTo>
                  <a:lnTo>
                    <a:pt x="313" y="40972"/>
                  </a:lnTo>
                  <a:lnTo>
                    <a:pt x="313" y="41911"/>
                  </a:lnTo>
                  <a:lnTo>
                    <a:pt x="1" y="43162"/>
                  </a:lnTo>
                  <a:lnTo>
                    <a:pt x="1" y="43162"/>
                  </a:lnTo>
                  <a:lnTo>
                    <a:pt x="313" y="44100"/>
                  </a:lnTo>
                  <a:lnTo>
                    <a:pt x="313" y="45038"/>
                  </a:lnTo>
                  <a:lnTo>
                    <a:pt x="939" y="45976"/>
                  </a:lnTo>
                  <a:lnTo>
                    <a:pt x="1565" y="46915"/>
                  </a:lnTo>
                  <a:lnTo>
                    <a:pt x="2503" y="47540"/>
                  </a:lnTo>
                  <a:lnTo>
                    <a:pt x="3128" y="47853"/>
                  </a:lnTo>
                  <a:lnTo>
                    <a:pt x="4379" y="48166"/>
                  </a:lnTo>
                  <a:lnTo>
                    <a:pt x="5318" y="48479"/>
                  </a:lnTo>
                  <a:lnTo>
                    <a:pt x="5318" y="48479"/>
                  </a:lnTo>
                  <a:lnTo>
                    <a:pt x="39096" y="48479"/>
                  </a:lnTo>
                  <a:lnTo>
                    <a:pt x="39096" y="48479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2"/>
            <p:cNvSpPr/>
            <p:nvPr/>
          </p:nvSpPr>
          <p:spPr>
            <a:xfrm>
              <a:off x="1949050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20017" y="76314"/>
                  </a:moveTo>
                  <a:lnTo>
                    <a:pt x="20017" y="76314"/>
                  </a:lnTo>
                  <a:lnTo>
                    <a:pt x="12511" y="69121"/>
                  </a:lnTo>
                  <a:lnTo>
                    <a:pt x="3128" y="59425"/>
                  </a:lnTo>
                  <a:lnTo>
                    <a:pt x="3128" y="59425"/>
                  </a:lnTo>
                  <a:lnTo>
                    <a:pt x="1877" y="58487"/>
                  </a:lnTo>
                  <a:lnTo>
                    <a:pt x="1252" y="57236"/>
                  </a:lnTo>
                  <a:lnTo>
                    <a:pt x="626" y="55672"/>
                  </a:lnTo>
                  <a:lnTo>
                    <a:pt x="1" y="54108"/>
                  </a:lnTo>
                  <a:lnTo>
                    <a:pt x="1" y="51919"/>
                  </a:lnTo>
                  <a:lnTo>
                    <a:pt x="1" y="49730"/>
                  </a:lnTo>
                  <a:lnTo>
                    <a:pt x="313" y="46915"/>
                  </a:lnTo>
                  <a:lnTo>
                    <a:pt x="939" y="43787"/>
                  </a:lnTo>
                  <a:lnTo>
                    <a:pt x="939" y="43787"/>
                  </a:lnTo>
                  <a:lnTo>
                    <a:pt x="8445" y="7820"/>
                  </a:lnTo>
                  <a:lnTo>
                    <a:pt x="8445" y="7820"/>
                  </a:lnTo>
                  <a:lnTo>
                    <a:pt x="8758" y="5630"/>
                  </a:lnTo>
                  <a:lnTo>
                    <a:pt x="9383" y="4066"/>
                  </a:lnTo>
                  <a:lnTo>
                    <a:pt x="10322" y="2815"/>
                  </a:lnTo>
                  <a:lnTo>
                    <a:pt x="11260" y="1877"/>
                  </a:lnTo>
                  <a:lnTo>
                    <a:pt x="12511" y="939"/>
                  </a:lnTo>
                  <a:lnTo>
                    <a:pt x="14075" y="626"/>
                  </a:lnTo>
                  <a:lnTo>
                    <a:pt x="15951" y="313"/>
                  </a:lnTo>
                  <a:lnTo>
                    <a:pt x="17828" y="1"/>
                  </a:lnTo>
                  <a:lnTo>
                    <a:pt x="17828" y="1"/>
                  </a:lnTo>
                  <a:lnTo>
                    <a:pt x="3596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62"/>
            <p:cNvSpPr/>
            <p:nvPr/>
          </p:nvSpPr>
          <p:spPr>
            <a:xfrm>
              <a:off x="2566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33779" y="50980"/>
                  </a:moveTo>
                  <a:lnTo>
                    <a:pt x="1" y="0"/>
                  </a:lnTo>
                  <a:lnTo>
                    <a:pt x="25334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62"/>
            <p:cNvSpPr/>
            <p:nvPr/>
          </p:nvSpPr>
          <p:spPr>
            <a:xfrm>
              <a:off x="29889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7828" y="2721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62"/>
            <p:cNvSpPr/>
            <p:nvPr/>
          </p:nvSpPr>
          <p:spPr>
            <a:xfrm>
              <a:off x="4771725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15951" y="76314"/>
                  </a:moveTo>
                  <a:lnTo>
                    <a:pt x="15951" y="76314"/>
                  </a:lnTo>
                  <a:lnTo>
                    <a:pt x="23457" y="69121"/>
                  </a:lnTo>
                  <a:lnTo>
                    <a:pt x="32840" y="59425"/>
                  </a:lnTo>
                  <a:lnTo>
                    <a:pt x="32840" y="59425"/>
                  </a:lnTo>
                  <a:lnTo>
                    <a:pt x="34091" y="58487"/>
                  </a:lnTo>
                  <a:lnTo>
                    <a:pt x="34716" y="57236"/>
                  </a:lnTo>
                  <a:lnTo>
                    <a:pt x="35342" y="55672"/>
                  </a:lnTo>
                  <a:lnTo>
                    <a:pt x="35967" y="54108"/>
                  </a:lnTo>
                  <a:lnTo>
                    <a:pt x="35967" y="51919"/>
                  </a:lnTo>
                  <a:lnTo>
                    <a:pt x="35967" y="49730"/>
                  </a:lnTo>
                  <a:lnTo>
                    <a:pt x="35655" y="46915"/>
                  </a:lnTo>
                  <a:lnTo>
                    <a:pt x="35029" y="43787"/>
                  </a:lnTo>
                  <a:lnTo>
                    <a:pt x="35029" y="43787"/>
                  </a:lnTo>
                  <a:lnTo>
                    <a:pt x="27523" y="7820"/>
                  </a:lnTo>
                  <a:lnTo>
                    <a:pt x="27523" y="7820"/>
                  </a:lnTo>
                  <a:lnTo>
                    <a:pt x="27210" y="5630"/>
                  </a:lnTo>
                  <a:lnTo>
                    <a:pt x="26585" y="4066"/>
                  </a:lnTo>
                  <a:lnTo>
                    <a:pt x="25646" y="2815"/>
                  </a:lnTo>
                  <a:lnTo>
                    <a:pt x="24708" y="1877"/>
                  </a:lnTo>
                  <a:lnTo>
                    <a:pt x="23457" y="939"/>
                  </a:lnTo>
                  <a:lnTo>
                    <a:pt x="21893" y="626"/>
                  </a:lnTo>
                  <a:lnTo>
                    <a:pt x="20017" y="313"/>
                  </a:lnTo>
                  <a:lnTo>
                    <a:pt x="18140" y="1"/>
                  </a:lnTo>
                  <a:lnTo>
                    <a:pt x="18140" y="1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2"/>
            <p:cNvSpPr/>
            <p:nvPr/>
          </p:nvSpPr>
          <p:spPr>
            <a:xfrm>
              <a:off x="4208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0" y="50980"/>
                  </a:moveTo>
                  <a:lnTo>
                    <a:pt x="33778" y="0"/>
                  </a:lnTo>
                  <a:lnTo>
                    <a:pt x="8445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2"/>
            <p:cNvSpPr/>
            <p:nvPr/>
          </p:nvSpPr>
          <p:spPr>
            <a:xfrm>
              <a:off x="41852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" y="27211"/>
                  </a:moveTo>
                  <a:lnTo>
                    <a:pt x="1782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2"/>
            <p:cNvSpPr/>
            <p:nvPr/>
          </p:nvSpPr>
          <p:spPr>
            <a:xfrm>
              <a:off x="3028075" y="1231125"/>
              <a:ext cx="1548175" cy="25"/>
            </a:xfrm>
            <a:custGeom>
              <a:rect b="b" l="l" r="r" t="t"/>
              <a:pathLst>
                <a:path extrusionOk="0" fill="none" h="1" w="61927">
                  <a:moveTo>
                    <a:pt x="0" y="1"/>
                  </a:moveTo>
                  <a:lnTo>
                    <a:pt x="61927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2"/>
            <p:cNvSpPr/>
            <p:nvPr/>
          </p:nvSpPr>
          <p:spPr>
            <a:xfrm>
              <a:off x="3161000" y="1504800"/>
              <a:ext cx="1282350" cy="1047775"/>
            </a:xfrm>
            <a:custGeom>
              <a:rect b="b" l="l" r="r" t="t"/>
              <a:pathLst>
                <a:path extrusionOk="0" fill="none" h="41911" w="51294">
                  <a:moveTo>
                    <a:pt x="51293" y="0"/>
                  </a:moveTo>
                  <a:lnTo>
                    <a:pt x="51293" y="0"/>
                  </a:lnTo>
                  <a:lnTo>
                    <a:pt x="51293" y="3753"/>
                  </a:lnTo>
                  <a:lnTo>
                    <a:pt x="51293" y="3753"/>
                  </a:lnTo>
                  <a:lnTo>
                    <a:pt x="51293" y="7819"/>
                  </a:lnTo>
                  <a:lnTo>
                    <a:pt x="50980" y="11572"/>
                  </a:lnTo>
                  <a:lnTo>
                    <a:pt x="50355" y="15326"/>
                  </a:lnTo>
                  <a:lnTo>
                    <a:pt x="49417" y="18766"/>
                  </a:lnTo>
                  <a:lnTo>
                    <a:pt x="48165" y="21894"/>
                  </a:lnTo>
                  <a:lnTo>
                    <a:pt x="46914" y="25021"/>
                  </a:lnTo>
                  <a:lnTo>
                    <a:pt x="45663" y="28149"/>
                  </a:lnTo>
                  <a:lnTo>
                    <a:pt x="43787" y="30651"/>
                  </a:lnTo>
                  <a:lnTo>
                    <a:pt x="41910" y="33153"/>
                  </a:lnTo>
                  <a:lnTo>
                    <a:pt x="40034" y="35342"/>
                  </a:lnTo>
                  <a:lnTo>
                    <a:pt x="37844" y="37219"/>
                  </a:lnTo>
                  <a:lnTo>
                    <a:pt x="35655" y="39095"/>
                  </a:lnTo>
                  <a:lnTo>
                    <a:pt x="33466" y="40347"/>
                  </a:lnTo>
                  <a:lnTo>
                    <a:pt x="30964" y="41285"/>
                  </a:lnTo>
                  <a:lnTo>
                    <a:pt x="28149" y="41598"/>
                  </a:lnTo>
                  <a:lnTo>
                    <a:pt x="25647" y="41910"/>
                  </a:lnTo>
                  <a:lnTo>
                    <a:pt x="25647" y="41910"/>
                  </a:lnTo>
                  <a:lnTo>
                    <a:pt x="23145" y="41598"/>
                  </a:lnTo>
                  <a:lnTo>
                    <a:pt x="20330" y="41285"/>
                  </a:lnTo>
                  <a:lnTo>
                    <a:pt x="18141" y="40347"/>
                  </a:lnTo>
                  <a:lnTo>
                    <a:pt x="15638" y="39095"/>
                  </a:lnTo>
                  <a:lnTo>
                    <a:pt x="13449" y="37219"/>
                  </a:lnTo>
                  <a:lnTo>
                    <a:pt x="11260" y="35342"/>
                  </a:lnTo>
                  <a:lnTo>
                    <a:pt x="9383" y="33153"/>
                  </a:lnTo>
                  <a:lnTo>
                    <a:pt x="7507" y="30651"/>
                  </a:lnTo>
                  <a:lnTo>
                    <a:pt x="5630" y="28149"/>
                  </a:lnTo>
                  <a:lnTo>
                    <a:pt x="4379" y="25021"/>
                  </a:lnTo>
                  <a:lnTo>
                    <a:pt x="3128" y="21894"/>
                  </a:lnTo>
                  <a:lnTo>
                    <a:pt x="1877" y="18766"/>
                  </a:lnTo>
                  <a:lnTo>
                    <a:pt x="939" y="15326"/>
                  </a:lnTo>
                  <a:lnTo>
                    <a:pt x="313" y="11572"/>
                  </a:lnTo>
                  <a:lnTo>
                    <a:pt x="0" y="7819"/>
                  </a:lnTo>
                  <a:lnTo>
                    <a:pt x="0" y="3753"/>
                  </a:lnTo>
                  <a:lnTo>
                    <a:pt x="0" y="3753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3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Re-performing Enumeration After Privilege Escalation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77" name="Google Shape;477;p63"/>
          <p:cNvSpPr txBox="1"/>
          <p:nvPr>
            <p:ph idx="4294967295" type="subTitle"/>
          </p:nvPr>
        </p:nvSpPr>
        <p:spPr>
          <a:xfrm>
            <a:off x="0" y="778450"/>
            <a:ext cx="91440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We finished the previous lesson by performing the post-exploitation task of enumeration and utilizing that data to conduct privilege escalation.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78" name="Google Shape;47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8950" y="1700125"/>
            <a:ext cx="827450" cy="256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63"/>
          <p:cNvSpPr/>
          <p:nvPr/>
        </p:nvSpPr>
        <p:spPr>
          <a:xfrm>
            <a:off x="457150" y="1835437"/>
            <a:ext cx="37422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0" name="Google Shape;480;p63"/>
          <p:cNvSpPr/>
          <p:nvPr/>
        </p:nvSpPr>
        <p:spPr>
          <a:xfrm rot="10800000">
            <a:off x="593369" y="2224213"/>
            <a:ext cx="261029" cy="144694"/>
          </a:xfrm>
          <a:prstGeom prst="flowChartExtra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3"/>
          <p:cNvSpPr txBox="1"/>
          <p:nvPr/>
        </p:nvSpPr>
        <p:spPr>
          <a:xfrm>
            <a:off x="181625" y="2549975"/>
            <a:ext cx="41949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Means having limited access to the machine. In Linux, this typically means not being able to browse through configuration files or other home folders.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63"/>
          <p:cNvSpPr txBox="1"/>
          <p:nvPr/>
        </p:nvSpPr>
        <p:spPr>
          <a:xfrm>
            <a:off x="4659650" y="2551450"/>
            <a:ext cx="40926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Means having a high amount of access. In the case of root, privileges are unrestricted.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63"/>
          <p:cNvSpPr txBox="1"/>
          <p:nvPr/>
        </p:nvSpPr>
        <p:spPr>
          <a:xfrm>
            <a:off x="457150" y="1827441"/>
            <a:ext cx="3620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Low privileged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63"/>
          <p:cNvSpPr/>
          <p:nvPr/>
        </p:nvSpPr>
        <p:spPr>
          <a:xfrm>
            <a:off x="4909200" y="1818900"/>
            <a:ext cx="3588300" cy="476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5" name="Google Shape;485;p63"/>
          <p:cNvSpPr/>
          <p:nvPr/>
        </p:nvSpPr>
        <p:spPr>
          <a:xfrm rot="10800000">
            <a:off x="5012969" y="2207676"/>
            <a:ext cx="261029" cy="144694"/>
          </a:xfrm>
          <a:prstGeom prst="flowChartExtra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4876750" y="1810891"/>
            <a:ext cx="3620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High privileged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 can now </a:t>
            </a:r>
            <a:r>
              <a:rPr b="1" lang="en" sz="2800"/>
              <a:t>re-perform enumeration</a:t>
            </a:r>
            <a:r>
              <a:rPr lang="en" sz="2800"/>
              <a:t> as a high-privilege user to see if there are any other files that may be useful.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5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High-Privilege Escalation </a:t>
            </a:r>
            <a:endParaRPr/>
          </a:p>
        </p:txBody>
      </p:sp>
      <p:sp>
        <p:nvSpPr>
          <p:cNvPr id="497" name="Google Shape;497;p65"/>
          <p:cNvSpPr txBox="1"/>
          <p:nvPr>
            <p:ph idx="4294967295" type="subTitle"/>
          </p:nvPr>
        </p:nvSpPr>
        <p:spPr>
          <a:xfrm>
            <a:off x="0" y="675975"/>
            <a:ext cx="8443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Linux, there are several files that would now be accessible and could offer additional information to an attacker, such as:</a:t>
            </a:r>
            <a:endParaRPr sz="2000"/>
          </a:p>
        </p:txBody>
      </p:sp>
      <p:graphicFrame>
        <p:nvGraphicFramePr>
          <p:cNvPr id="498" name="Google Shape;498;p65"/>
          <p:cNvGraphicFramePr/>
          <p:nvPr/>
        </p:nvGraphicFramePr>
        <p:xfrm>
          <a:off x="457188" y="1568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{9B6231D1-5B3C-49AE-984C-7692F801E09B}</a:tableStyleId>
              </a:tblPr>
              <a:tblGrid>
                <a:gridCol w="3235850"/>
                <a:gridCol w="4750750"/>
              </a:tblGrid>
              <a:tr h="899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65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/var/lib/mysql/mysql/user.MYD</a:t>
                      </a:r>
                      <a:endParaRPr sz="165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28600" marB="228600" marR="18287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" sz="145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r>
                        <a:rPr lang="en" sz="145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 MySQL database file, which may contain SQL login credentials.</a:t>
                      </a:r>
                      <a:endParaRPr sz="145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28600" marB="228600" marR="91425" marL="137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86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65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/home/[USER]/.bash_history</a:t>
                      </a:r>
                      <a:endParaRPr sz="165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28600" marB="228600" marR="18287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" sz="145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a history of a user’s bash commands.</a:t>
                      </a:r>
                      <a:endParaRPr sz="145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28600" marB="228600" marR="91425" marL="137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86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" sz="165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/home/[USER]/.ssh/</a:t>
                      </a:r>
                      <a:endParaRPr sz="165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28600" marB="228600" marR="18287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" sz="145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private SSH keys.</a:t>
                      </a:r>
                      <a:endParaRPr sz="145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28600" marB="228600" marR="91425" marL="137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6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Can you think of any other file in Linux that holds </a:t>
            </a:r>
            <a:r>
              <a:rPr b="1" lang="en" sz="3400"/>
              <a:t>extremely sensitive</a:t>
            </a:r>
            <a:r>
              <a:rPr lang="en" sz="3400"/>
              <a:t> information and would be fruitful for an attack?</a:t>
            </a:r>
            <a:endParaRPr sz="3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67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600"/>
              <a:t>High-Privilege Escalation </a:t>
            </a:r>
            <a:endParaRPr sz="2600"/>
          </a:p>
        </p:txBody>
      </p:sp>
      <p:sp>
        <p:nvSpPr>
          <p:cNvPr id="510" name="Google Shape;510;p67"/>
          <p:cNvSpPr txBox="1"/>
          <p:nvPr>
            <p:ph idx="1" type="subTitle"/>
          </p:nvPr>
        </p:nvSpPr>
        <p:spPr>
          <a:xfrm>
            <a:off x="-12300" y="1108200"/>
            <a:ext cx="38454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/etc/shadow</a:t>
            </a:r>
            <a:r>
              <a:rPr lang="en"/>
              <a:t> file is one of the most sensitive files on Linux, because it houses the password hashes for all users on the machine.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file is typically limited to root-level access.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8"/>
          <p:cNvSpPr txBox="1"/>
          <p:nvPr>
            <p:ph idx="4294967295" type="subTitle"/>
          </p:nvPr>
        </p:nvSpPr>
        <p:spPr>
          <a:xfrm>
            <a:off x="0" y="825325"/>
            <a:ext cx="9144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While the </a:t>
            </a:r>
            <a:r>
              <a:rPr b="1" lang="en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/etc/shadow</a:t>
            </a:r>
            <a:r>
              <a:rPr lang="en"/>
              <a:t> file appears nearly identical to </a:t>
            </a:r>
            <a:r>
              <a:rPr b="1" lang="en">
                <a:highlight>
                  <a:schemeClr val="accent4"/>
                </a:highlight>
                <a:latin typeface="Roboto"/>
                <a:ea typeface="Roboto"/>
                <a:cs typeface="Roboto"/>
                <a:sym typeface="Roboto"/>
              </a:rPr>
              <a:t>/etc/passwd</a:t>
            </a:r>
            <a:r>
              <a:rPr lang="en"/>
              <a:t>, there is one stark difference.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16" name="Google Shape;516;p68"/>
          <p:cNvSpPr/>
          <p:nvPr/>
        </p:nvSpPr>
        <p:spPr>
          <a:xfrm>
            <a:off x="457200" y="1664313"/>
            <a:ext cx="8099700" cy="116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36575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highlight>
                  <a:schemeClr val="accent4"/>
                </a:highlight>
              </a:rPr>
              <a:t>/etc/passwd:</a:t>
            </a:r>
            <a:endParaRPr b="1" sz="1800"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</a:rPr>
              <a:t>timmy:x:1016:1019::/home/timmy:/bin/sh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68"/>
          <p:cNvSpPr/>
          <p:nvPr/>
        </p:nvSpPr>
        <p:spPr>
          <a:xfrm>
            <a:off x="457200" y="3134750"/>
            <a:ext cx="8099700" cy="1247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365750" spcFirstLastPara="1" rIns="2743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/etc/shadow:</a:t>
            </a:r>
            <a:endParaRPr b="1" sz="18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8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timmy:$6$6Y/fI1nx$zQJj6AH9asTNfhxV7NoVgxByJyE.rVKK6tKXiOGNCfWBsrTGY7wtC6Cep6co9eVNkRFrpK6koXs1NU3AZQF8v/</a:t>
            </a:r>
            <a:endParaRPr i="0" sz="18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8" name="Google Shape;518;p68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High-Privilege Escalation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9"/>
          <p:cNvSpPr txBox="1"/>
          <p:nvPr>
            <p:ph idx="4294967295" type="subTitle"/>
          </p:nvPr>
        </p:nvSpPr>
        <p:spPr>
          <a:xfrm>
            <a:off x="0" y="788325"/>
            <a:ext cx="9144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an </a:t>
            </a:r>
            <a:r>
              <a:rPr lang="en">
                <a:highlight>
                  <a:schemeClr val="dk2"/>
                </a:highlight>
                <a:latin typeface="Roboto Black"/>
                <a:ea typeface="Roboto Black"/>
                <a:cs typeface="Roboto Black"/>
                <a:sym typeface="Roboto Black"/>
              </a:rPr>
              <a:t> </a:t>
            </a:r>
            <a:r>
              <a:rPr lang="en">
                <a:solidFill>
                  <a:schemeClr val="lt1"/>
                </a:solidFill>
                <a:highlight>
                  <a:schemeClr val="dk2"/>
                </a:highlight>
                <a:latin typeface="Roboto Black"/>
                <a:ea typeface="Roboto Black"/>
                <a:cs typeface="Roboto Black"/>
                <a:sym typeface="Roboto Black"/>
              </a:rPr>
              <a:t>x </a:t>
            </a:r>
            <a:r>
              <a:rPr lang="en"/>
              <a:t> like in the </a:t>
            </a:r>
            <a:r>
              <a:rPr b="1" lang="en">
                <a:highlight>
                  <a:schemeClr val="accent4"/>
                </a:highlight>
                <a:latin typeface="Roboto"/>
                <a:ea typeface="Roboto"/>
                <a:cs typeface="Roboto"/>
                <a:sym typeface="Roboto"/>
              </a:rPr>
              <a:t>passwd</a:t>
            </a:r>
            <a:r>
              <a:rPr lang="en">
                <a:highlight>
                  <a:schemeClr val="lt1"/>
                </a:highlight>
              </a:rPr>
              <a:t> </a:t>
            </a:r>
            <a:r>
              <a:rPr lang="en"/>
              <a:t>file, the second field in the </a:t>
            </a:r>
            <a:r>
              <a:rPr b="1" lang="en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shadow</a:t>
            </a:r>
            <a:r>
              <a:rPr b="1" lang="en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/>
              <a:t>file (after the colon) contains a long, complex string: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24" name="Google Shape;524;p69"/>
          <p:cNvSpPr/>
          <p:nvPr/>
        </p:nvSpPr>
        <p:spPr>
          <a:xfrm>
            <a:off x="457200" y="1664323"/>
            <a:ext cx="8099700" cy="98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365750" spcFirstLastPara="1" rIns="274300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$6$6Y/fI1nx$zQJj6AH9asTNfhxV7NoVgxByJyE.rVKK6tKXiOGNCfWBsrTGY7wtC6Cep6co9eVNkRFrpK6koXs1NU3AZQF8v/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69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High-Privilege Escalation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6" name="Google Shape;526;p69"/>
          <p:cNvSpPr txBox="1"/>
          <p:nvPr/>
        </p:nvSpPr>
        <p:spPr>
          <a:xfrm>
            <a:off x="457200" y="2879025"/>
            <a:ext cx="8250900" cy="18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034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string is a password hash.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3200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hash cannot be used to log in, but can be cracked to retrieve the user’s original password.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3200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a row in </a:t>
            </a:r>
            <a:r>
              <a:rPr lang="en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/etc/shadow</a:t>
            </a:r>
            <a:r>
              <a:rPr lang="en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an </a:t>
            </a:r>
            <a:r>
              <a:rPr lang="en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 !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instead of a password hash, it means the account is locked.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32004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a row in </a:t>
            </a:r>
            <a:r>
              <a:rPr lang="en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/etc/shadow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contains an </a:t>
            </a:r>
            <a:r>
              <a:rPr lang="en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 *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instead of a password hash, it means the user is not allowed to log in.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197" y="2361722"/>
            <a:ext cx="1583750" cy="15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0213" y="2189700"/>
            <a:ext cx="1927800" cy="19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70"/>
          <p:cNvSpPr txBox="1"/>
          <p:nvPr/>
        </p:nvSpPr>
        <p:spPr>
          <a:xfrm>
            <a:off x="815375" y="1628025"/>
            <a:ext cx="1927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john</a:t>
            </a:r>
            <a:endParaRPr b="1" sz="18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534" name="Google Shape;534;p70"/>
          <p:cNvGrpSpPr/>
          <p:nvPr/>
        </p:nvGrpSpPr>
        <p:grpSpPr>
          <a:xfrm>
            <a:off x="385756" y="1705003"/>
            <a:ext cx="533372" cy="533480"/>
            <a:chOff x="457200" y="1378813"/>
            <a:chExt cx="695400" cy="695450"/>
          </a:xfrm>
        </p:grpSpPr>
        <p:sp>
          <p:nvSpPr>
            <p:cNvPr id="535" name="Google Shape;535;p70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latin typeface="Roboto Medium"/>
                  <a:ea typeface="Roboto Medium"/>
                  <a:cs typeface="Roboto Medium"/>
                  <a:sym typeface="Roboto Medium"/>
                </a:rPr>
                <a:t>01</a:t>
              </a:r>
              <a:endParaRPr sz="20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36" name="Google Shape;536;p70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537" name="Google Shape;537;p70"/>
          <p:cNvGrpSpPr/>
          <p:nvPr/>
        </p:nvGrpSpPr>
        <p:grpSpPr>
          <a:xfrm>
            <a:off x="3642906" y="1705003"/>
            <a:ext cx="533372" cy="533480"/>
            <a:chOff x="457200" y="1378813"/>
            <a:chExt cx="695400" cy="695450"/>
          </a:xfrm>
        </p:grpSpPr>
        <p:sp>
          <p:nvSpPr>
            <p:cNvPr id="538" name="Google Shape;538;p70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</a:t>
              </a:r>
              <a:endParaRPr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39" name="Google Shape;539;p70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540" name="Google Shape;540;p70"/>
          <p:cNvSpPr txBox="1"/>
          <p:nvPr/>
        </p:nvSpPr>
        <p:spPr>
          <a:xfrm>
            <a:off x="4072525" y="1628025"/>
            <a:ext cx="1483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Hydra</a:t>
            </a:r>
            <a:endParaRPr b="1" sz="17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541" name="Google Shape;541;p70"/>
          <p:cNvGrpSpPr/>
          <p:nvPr/>
        </p:nvGrpSpPr>
        <p:grpSpPr>
          <a:xfrm>
            <a:off x="6435019" y="1705753"/>
            <a:ext cx="533372" cy="533480"/>
            <a:chOff x="457200" y="1378813"/>
            <a:chExt cx="695400" cy="695450"/>
          </a:xfrm>
        </p:grpSpPr>
        <p:sp>
          <p:nvSpPr>
            <p:cNvPr id="542" name="Google Shape;542;p70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03</a:t>
              </a:r>
              <a:endParaRPr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43" name="Google Shape;543;p70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544" name="Google Shape;544;p70"/>
          <p:cNvSpPr txBox="1"/>
          <p:nvPr/>
        </p:nvSpPr>
        <p:spPr>
          <a:xfrm>
            <a:off x="6864638" y="1628250"/>
            <a:ext cx="1746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Hashcat</a:t>
            </a:r>
            <a:endParaRPr b="1" sz="18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45" name="Google Shape;545;p7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Password Cracking Refresher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546" name="Google Shape;546;p7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hile we use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 john</a:t>
            </a:r>
            <a:r>
              <a:rPr lang="en"/>
              <a:t> in class (John the Ripper), there are also other tools that can be used for password cracking.</a:t>
            </a:r>
            <a:endParaRPr/>
          </a:p>
        </p:txBody>
      </p:sp>
      <p:pic>
        <p:nvPicPr>
          <p:cNvPr id="547" name="Google Shape;54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10" y="2361725"/>
            <a:ext cx="1746565" cy="1583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70"/>
          <p:cNvCxnSpPr/>
          <p:nvPr/>
        </p:nvCxnSpPr>
        <p:spPr>
          <a:xfrm>
            <a:off x="3200400" y="1705750"/>
            <a:ext cx="0" cy="223980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p70"/>
          <p:cNvCxnSpPr/>
          <p:nvPr/>
        </p:nvCxnSpPr>
        <p:spPr>
          <a:xfrm>
            <a:off x="6019175" y="1705750"/>
            <a:ext cx="0" cy="223980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1"/>
          <p:cNvSpPr txBox="1"/>
          <p:nvPr>
            <p:ph idx="1" type="body"/>
          </p:nvPr>
        </p:nvSpPr>
        <p:spPr>
          <a:xfrm>
            <a:off x="4672350" y="1371600"/>
            <a:ext cx="4037100" cy="3366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we have sudo or root access, we’re able to read this file and obtain the hashes, which we can crack offline.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 the next demonstration, we will continue our post-exploitation activities by revisiting the tool John the Ripper to crack the hashes from the shadow file.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555" name="Google Shape;555;p71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56" name="Google Shape;556;p71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1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71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59" name="Google Shape;55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71"/>
          <p:cNvPicPr preferRelativeResize="0"/>
          <p:nvPr/>
        </p:nvPicPr>
        <p:blipFill rotWithShape="1">
          <a:blip r:embed="rId4">
            <a:alphaModFix/>
          </a:blip>
          <a:srcRect b="0" l="18974" r="18974" t="0"/>
          <a:stretch/>
        </p:blipFill>
        <p:spPr>
          <a:xfrm>
            <a:off x="457190" y="1110200"/>
            <a:ext cx="3673650" cy="3331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2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100">
                <a:latin typeface="Roboto"/>
                <a:ea typeface="Roboto"/>
                <a:cs typeface="Roboto"/>
                <a:sym typeface="Roboto"/>
              </a:rPr>
              <a:t>John the Ripper Refresher</a:t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3"/>
          <p:cNvSpPr txBox="1"/>
          <p:nvPr>
            <p:ph idx="1" type="subTitle"/>
          </p:nvPr>
        </p:nvSpPr>
        <p:spPr>
          <a:xfrm>
            <a:off x="6463600" y="4568825"/>
            <a:ext cx="26805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571" name="Google Shape;571;p7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Cracking</a:t>
            </a:r>
            <a:endParaRPr/>
          </a:p>
        </p:txBody>
      </p:sp>
      <p:sp>
        <p:nvSpPr>
          <p:cNvPr id="572" name="Google Shape;572;p73"/>
          <p:cNvSpPr txBox="1"/>
          <p:nvPr>
            <p:ph idx="3" type="body"/>
          </p:nvPr>
        </p:nvSpPr>
        <p:spPr>
          <a:xfrm>
            <a:off x="457200" y="1176975"/>
            <a:ext cx="7857900" cy="219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pen testers conducting an engagement on MegaCorpOne.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previous activity, you successfully elevated your privileges to </a:t>
            </a:r>
            <a:br>
              <a:rPr lang="en"/>
            </a:br>
            <a:r>
              <a:rPr lang="en"/>
              <a:t>a privileged user.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you are tasked with re-performing enumeration as a high-privileged user to see what additional information you can gather, since you can now access more files.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Persistence</a:t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7" name="Google Shape;58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632305"/>
            <a:ext cx="914400" cy="940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7"/>
          <p:cNvSpPr txBox="1"/>
          <p:nvPr/>
        </p:nvSpPr>
        <p:spPr>
          <a:xfrm>
            <a:off x="0" y="1001700"/>
            <a:ext cx="4314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Now that we have completed the post-exploitation task of enumerating data after privilege escalation, we'll move on to another post-exploitation task:</a:t>
            </a: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establishing persistence.</a:t>
            </a:r>
            <a:endParaRPr b="0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3" name="Google Shape;593;p77"/>
          <p:cNvPicPr preferRelativeResize="0"/>
          <p:nvPr/>
        </p:nvPicPr>
        <p:blipFill rotWithShape="1">
          <a:blip r:embed="rId3">
            <a:alphaModFix/>
          </a:blip>
          <a:srcRect b="0" l="18753" r="18753" t="0"/>
          <a:stretch/>
        </p:blipFill>
        <p:spPr>
          <a:xfrm>
            <a:off x="4314300" y="0"/>
            <a:ext cx="4829701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8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MITRE</a:t>
            </a:r>
            <a:endParaRPr/>
          </a:p>
        </p:txBody>
      </p:sp>
      <p:sp>
        <p:nvSpPr>
          <p:cNvPr id="599" name="Google Shape;599;p78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Persistence </a:t>
            </a:r>
            <a:r>
              <a:rPr lang="en" sz="2000"/>
              <a:t>consists of techniques that adversaries use to keep access to systems across restarts, changed credentials, and other interruptions. </a:t>
            </a:r>
            <a:br>
              <a:rPr lang="en" sz="2000"/>
            </a:br>
            <a:br>
              <a:rPr lang="en" sz="2000"/>
            </a:br>
            <a:r>
              <a:rPr b="1" lang="en" sz="2000"/>
              <a:t>Techniques </a:t>
            </a:r>
            <a:r>
              <a:rPr lang="en" sz="2000"/>
              <a:t>include any access, action, or configuration changes that let them maintain their foothold on systems, such as replacing or hijacking legitimate code or adding startup code.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9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Persistence</a:t>
            </a:r>
            <a:endParaRPr/>
          </a:p>
        </p:txBody>
      </p:sp>
      <p:sp>
        <p:nvSpPr>
          <p:cNvPr id="605" name="Google Shape;605;p79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Persistence refers to an adversary maintaining their access to the target.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But there are several techniques that can be used to maintain persistence: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606" name="Google Shape;606;p79"/>
          <p:cNvGraphicFramePr/>
          <p:nvPr/>
        </p:nvGraphicFramePr>
        <p:xfrm>
          <a:off x="438700" y="160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{9B6231D1-5B3C-49AE-984C-7692F801E09B}</a:tableStyleId>
              </a:tblPr>
              <a:tblGrid>
                <a:gridCol w="4212600"/>
                <a:gridCol w="4218375"/>
              </a:tblGrid>
              <a:tr h="145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" sz="2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Technique 1</a:t>
                      </a:r>
                      <a:endParaRPr b="1" sz="2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Utilizing </a:t>
                      </a:r>
                      <a:r>
                        <a:rPr lang="en" sz="21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xisting </a:t>
                      </a:r>
                      <a:r>
                        <a:rPr lang="en" sz="21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ervices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" sz="2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Technique 2</a:t>
                      </a:r>
                      <a:endParaRPr b="1" sz="2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1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Blending into the </a:t>
                      </a:r>
                      <a:r>
                        <a:rPr lang="en" sz="2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r>
                        <a:rPr lang="en" sz="21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nvironment</a:t>
                      </a:r>
                      <a:endParaRPr sz="21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82875" marB="182875" marR="182875" marL="18287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145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" sz="2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Technique 3</a:t>
                      </a:r>
                      <a:endParaRPr b="1" sz="2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Maintaining </a:t>
                      </a:r>
                      <a:r>
                        <a:rPr lang="en" sz="21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urrent </a:t>
                      </a:r>
                      <a:b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21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</a:t>
                      </a:r>
                      <a: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evel of </a:t>
                      </a:r>
                      <a:r>
                        <a:rPr lang="en" sz="21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r>
                        <a:rPr lang="en" sz="2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ccess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" sz="22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Technique 4</a:t>
                      </a:r>
                      <a:endParaRPr b="1" sz="22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Privesc </a:t>
                      </a:r>
                      <a:r>
                        <a:rPr lang="en" sz="21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" sz="21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ersistence</a:t>
                      </a:r>
                      <a:endParaRPr sz="21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80"/>
          <p:cNvPicPr preferRelativeResize="0"/>
          <p:nvPr/>
        </p:nvPicPr>
        <p:blipFill rotWithShape="1">
          <a:blip r:embed="rId3">
            <a:alphaModFix/>
          </a:blip>
          <a:srcRect b="0" l="18862" r="6610" t="-4504"/>
          <a:stretch/>
        </p:blipFill>
        <p:spPr>
          <a:xfrm>
            <a:off x="4435200" y="-232529"/>
            <a:ext cx="5119724" cy="5373954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80"/>
          <p:cNvSpPr/>
          <p:nvPr/>
        </p:nvSpPr>
        <p:spPr>
          <a:xfrm>
            <a:off x="-12300" y="685800"/>
            <a:ext cx="3724200" cy="445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80"/>
          <p:cNvSpPr txBox="1"/>
          <p:nvPr>
            <p:ph idx="4294967295" type="subTitle"/>
          </p:nvPr>
        </p:nvSpPr>
        <p:spPr>
          <a:xfrm>
            <a:off x="50" y="1282325"/>
            <a:ext cx="4098000" cy="2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Persistence is less about exploitation of vulnerable software and services and more about utilizing existing system services.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Utilizing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useradd </a:t>
            </a:r>
            <a:r>
              <a:rPr lang="en"/>
              <a:t>to create a new user as a “backdoor.”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4" name="Google Shape;614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80"/>
          <p:cNvSpPr txBox="1"/>
          <p:nvPr>
            <p:ph idx="4294967295" type="title"/>
          </p:nvPr>
        </p:nvSpPr>
        <p:spPr>
          <a:xfrm>
            <a:off x="-12300" y="0"/>
            <a:ext cx="44475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highlight>
                  <a:schemeClr val="lt1"/>
                </a:highlight>
              </a:rPr>
              <a:t>Technique #1: Utilizing Existing Services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How else might you use </a:t>
            </a:r>
            <a:r>
              <a:rPr b="1" lang="en" sz="3400"/>
              <a:t>existing system services or functions</a:t>
            </a:r>
            <a:r>
              <a:rPr lang="en" sz="3400"/>
              <a:t> for persistence?</a:t>
            </a:r>
            <a:endParaRPr sz="3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2"/>
          <p:cNvSpPr/>
          <p:nvPr/>
        </p:nvSpPr>
        <p:spPr>
          <a:xfrm>
            <a:off x="-12300" y="685800"/>
            <a:ext cx="3724200" cy="445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82"/>
          <p:cNvSpPr txBox="1"/>
          <p:nvPr>
            <p:ph idx="4294967295" type="subTitle"/>
          </p:nvPr>
        </p:nvSpPr>
        <p:spPr>
          <a:xfrm>
            <a:off x="74975" y="1124550"/>
            <a:ext cx="4680900" cy="3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/>
              <a:t>An important part of persistence is making sure that the attacker’s work blends in with the current environment and can’t be detected.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Knowledge of the system you’re on is crucial for this.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/>
              <a:t>If creating a backdoor account, you want to blend in with current account names, instead of naming the account backdoor.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7" name="Google Shape;627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p82"/>
          <p:cNvSpPr/>
          <p:nvPr/>
        </p:nvSpPr>
        <p:spPr>
          <a:xfrm>
            <a:off x="4572000" y="4950"/>
            <a:ext cx="4559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9" name="Google Shape;629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2025" y="914363"/>
            <a:ext cx="29718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82"/>
          <p:cNvSpPr/>
          <p:nvPr/>
        </p:nvSpPr>
        <p:spPr>
          <a:xfrm>
            <a:off x="5492975" y="2436150"/>
            <a:ext cx="27099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sysadmin</a:t>
            </a:r>
            <a:endParaRPr b="1" i="0" sz="28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31" name="Google Shape;631;p82"/>
          <p:cNvSpPr txBox="1"/>
          <p:nvPr>
            <p:ph idx="4294967295" type="title"/>
          </p:nvPr>
        </p:nvSpPr>
        <p:spPr>
          <a:xfrm>
            <a:off x="-12300" y="0"/>
            <a:ext cx="44475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Technique #2: Blending into the Environment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3"/>
          <p:cNvSpPr txBox="1"/>
          <p:nvPr>
            <p:ph idx="4294967295" type="subTitle"/>
          </p:nvPr>
        </p:nvSpPr>
        <p:spPr>
          <a:xfrm>
            <a:off x="0" y="47892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Another key aspect of persistence is maintaining your current level of access.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37" name="Google Shape;637;p83"/>
          <p:cNvSpPr/>
          <p:nvPr/>
        </p:nvSpPr>
        <p:spPr>
          <a:xfrm>
            <a:off x="1352550" y="13824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83"/>
          <p:cNvSpPr/>
          <p:nvPr/>
        </p:nvSpPr>
        <p:spPr>
          <a:xfrm>
            <a:off x="1352550" y="22311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83"/>
          <p:cNvSpPr/>
          <p:nvPr/>
        </p:nvSpPr>
        <p:spPr>
          <a:xfrm>
            <a:off x="1352550" y="3053394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83"/>
          <p:cNvSpPr txBox="1"/>
          <p:nvPr/>
        </p:nvSpPr>
        <p:spPr>
          <a:xfrm>
            <a:off x="0" y="1382400"/>
            <a:ext cx="8869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could, and typically should, establish persistence as a low-privilege user before privilege escalation, just in case you lose access to the machine.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83"/>
          <p:cNvSpPr txBox="1"/>
          <p:nvPr/>
        </p:nvSpPr>
        <p:spPr>
          <a:xfrm>
            <a:off x="0" y="2238336"/>
            <a:ext cx="91440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should then re-establish persistence as an elevated user.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83"/>
          <p:cNvSpPr txBox="1"/>
          <p:nvPr/>
        </p:nvSpPr>
        <p:spPr>
          <a:xfrm>
            <a:off x="0" y="3060594"/>
            <a:ext cx="91440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important to establish persistence and ensure persistence with the highest privileges possible, to avoid having to re-step through the privilege-escalation phase.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3" name="Google Shape;643;p83"/>
          <p:cNvGrpSpPr/>
          <p:nvPr/>
        </p:nvGrpSpPr>
        <p:grpSpPr>
          <a:xfrm>
            <a:off x="414050" y="1397726"/>
            <a:ext cx="776900" cy="590709"/>
            <a:chOff x="457200" y="1466425"/>
            <a:chExt cx="776900" cy="486300"/>
          </a:xfrm>
        </p:grpSpPr>
        <p:sp>
          <p:nvSpPr>
            <p:cNvPr id="644" name="Google Shape;644;p8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5" name="Google Shape;645;p8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46" name="Google Shape;646;p83"/>
          <p:cNvGrpSpPr/>
          <p:nvPr/>
        </p:nvGrpSpPr>
        <p:grpSpPr>
          <a:xfrm>
            <a:off x="414050" y="3060609"/>
            <a:ext cx="776900" cy="606902"/>
            <a:chOff x="457200" y="1466425"/>
            <a:chExt cx="776900" cy="486300"/>
          </a:xfrm>
        </p:grpSpPr>
        <p:sp>
          <p:nvSpPr>
            <p:cNvPr id="647" name="Google Shape;647;p8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8" name="Google Shape;648;p8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49" name="Google Shape;649;p83"/>
          <p:cNvGrpSpPr/>
          <p:nvPr/>
        </p:nvGrpSpPr>
        <p:grpSpPr>
          <a:xfrm>
            <a:off x="414050" y="2246464"/>
            <a:ext cx="776900" cy="590709"/>
            <a:chOff x="457200" y="1466425"/>
            <a:chExt cx="776900" cy="486300"/>
          </a:xfrm>
        </p:grpSpPr>
        <p:sp>
          <p:nvSpPr>
            <p:cNvPr id="650" name="Google Shape;650;p8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1" name="Google Shape;651;p8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652" name="Google Shape;652;p83"/>
          <p:cNvSpPr txBox="1"/>
          <p:nvPr>
            <p:ph idx="4294967295" type="title"/>
          </p:nvPr>
        </p:nvSpPr>
        <p:spPr>
          <a:xfrm>
            <a:off x="-12300" y="0"/>
            <a:ext cx="87474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Technique #3: Maintaining Current Level of Access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4"/>
          <p:cNvSpPr txBox="1"/>
          <p:nvPr>
            <p:ph type="title"/>
          </p:nvPr>
        </p:nvSpPr>
        <p:spPr>
          <a:xfrm>
            <a:off x="-12300" y="0"/>
            <a:ext cx="9168600" cy="675900"/>
          </a:xfrm>
          <a:prstGeom prst="rect">
            <a:avLst/>
          </a:prstGeom>
          <a:noFill/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 #4: Privesc Persistence</a:t>
            </a:r>
            <a:endParaRPr/>
          </a:p>
        </p:txBody>
      </p:sp>
      <p:sp>
        <p:nvSpPr>
          <p:cNvPr id="658" name="Google Shape;658;p84"/>
          <p:cNvSpPr txBox="1"/>
          <p:nvPr>
            <p:ph idx="1" type="subTitle"/>
          </p:nvPr>
        </p:nvSpPr>
        <p:spPr>
          <a:xfrm>
            <a:off x="0" y="675975"/>
            <a:ext cx="9144000" cy="10575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Privesc persistence</a:t>
            </a:r>
            <a:r>
              <a:rPr lang="en"/>
              <a:t> means purposely establishing opportunities for low-privilege users to escalate their privileges.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For example, the SUID bit technique:</a:t>
            </a:r>
            <a:endParaRPr/>
          </a:p>
        </p:txBody>
      </p:sp>
      <p:sp>
        <p:nvSpPr>
          <p:cNvPr id="659" name="Google Shape;659;p84"/>
          <p:cNvSpPr/>
          <p:nvPr/>
        </p:nvSpPr>
        <p:spPr>
          <a:xfrm>
            <a:off x="463950" y="1838625"/>
            <a:ext cx="8143800" cy="76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2286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https://attack.mitre.org/techniques/T1548/001/</a:t>
            </a:r>
            <a:endParaRPr sz="26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660" name="Google Shape;660;p84"/>
          <p:cNvSpPr txBox="1"/>
          <p:nvPr>
            <p:ph idx="3" type="body"/>
          </p:nvPr>
        </p:nvSpPr>
        <p:spPr>
          <a:xfrm>
            <a:off x="0" y="2962300"/>
            <a:ext cx="9144000" cy="891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12090" lvl="0" marL="32004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On Linux or macOS, when the setuid or setgid bits are set for an application, the application will run with the privileges of the owning user or group.</a:t>
            </a:r>
            <a:endParaRPr sz="1500"/>
          </a:p>
          <a:p>
            <a:pPr indent="-212090" lvl="0" marL="320040" rtl="0" algn="l">
              <a:spcBef>
                <a:spcPts val="1000"/>
              </a:spcBef>
              <a:spcAft>
                <a:spcPts val="1000"/>
              </a:spcAft>
              <a:buSzPts val="1900"/>
              <a:buChar char="●"/>
            </a:pPr>
            <a:r>
              <a:rPr lang="en" sz="1500"/>
              <a:t>As an attacker with root privileges, you could establish a privesc persistence script by creating a reverse shell in a Python script and setting the SUID bit to root.</a:t>
            </a:r>
            <a:endParaRPr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5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66" name="Google Shape;666;p85"/>
          <p:cNvSpPr txBox="1"/>
          <p:nvPr>
            <p:ph idx="4294967295" type="subTitle"/>
          </p:nvPr>
        </p:nvSpPr>
        <p:spPr>
          <a:xfrm>
            <a:off x="0" y="533700"/>
            <a:ext cx="83271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Post Exploitation</a:t>
            </a:r>
            <a:r>
              <a:rPr lang="en"/>
              <a:t> stage, after privilege escalation has been accomplished, we can now re-perform enumeration.</a:t>
            </a:r>
            <a:endParaRPr/>
          </a:p>
        </p:txBody>
      </p:sp>
      <p:sp>
        <p:nvSpPr>
          <p:cNvPr id="667" name="Google Shape;667;p85"/>
          <p:cNvSpPr txBox="1"/>
          <p:nvPr>
            <p:ph idx="4294967295" type="body"/>
          </p:nvPr>
        </p:nvSpPr>
        <p:spPr>
          <a:xfrm>
            <a:off x="175" y="2967690"/>
            <a:ext cx="9144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Persistence</a:t>
            </a:r>
            <a:r>
              <a:rPr lang="en" sz="1700"/>
              <a:t> is another post-exploitation method that an attacker can utilize to maintain access to their target. Techniques that can be used for persistence include: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668" name="Google Shape;668;p85"/>
          <p:cNvCxnSpPr/>
          <p:nvPr/>
        </p:nvCxnSpPr>
        <p:spPr>
          <a:xfrm>
            <a:off x="274375" y="2784405"/>
            <a:ext cx="8595600" cy="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69" name="Google Shape;669;p85"/>
          <p:cNvSpPr/>
          <p:nvPr/>
        </p:nvSpPr>
        <p:spPr>
          <a:xfrm>
            <a:off x="1121225" y="1428625"/>
            <a:ext cx="7377900" cy="533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could, and typically should, establish persistence as a low-privilege user before privilege escalation, just in case you lose access to the machine.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85"/>
          <p:cNvSpPr/>
          <p:nvPr/>
        </p:nvSpPr>
        <p:spPr>
          <a:xfrm>
            <a:off x="1121225" y="3720275"/>
            <a:ext cx="3159600" cy="407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Utilizing existing services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85"/>
          <p:cNvSpPr/>
          <p:nvPr/>
        </p:nvSpPr>
        <p:spPr>
          <a:xfrm>
            <a:off x="1121225" y="4295723"/>
            <a:ext cx="3159600" cy="407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Blending into the environment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85"/>
          <p:cNvSpPr/>
          <p:nvPr/>
        </p:nvSpPr>
        <p:spPr>
          <a:xfrm>
            <a:off x="5236775" y="3720275"/>
            <a:ext cx="3262500" cy="407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Maintaining current level of access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85"/>
          <p:cNvSpPr/>
          <p:nvPr/>
        </p:nvSpPr>
        <p:spPr>
          <a:xfrm>
            <a:off x="5236775" y="4295724"/>
            <a:ext cx="3262500" cy="407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Privesc persistence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85"/>
          <p:cNvSpPr/>
          <p:nvPr/>
        </p:nvSpPr>
        <p:spPr>
          <a:xfrm>
            <a:off x="1121225" y="2127000"/>
            <a:ext cx="7377900" cy="428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is because we now have access to higher-privileged files, such as the shadow file.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5" name="Google Shape;675;p85"/>
          <p:cNvGrpSpPr/>
          <p:nvPr/>
        </p:nvGrpSpPr>
        <p:grpSpPr>
          <a:xfrm>
            <a:off x="464782" y="1449899"/>
            <a:ext cx="614062" cy="394924"/>
            <a:chOff x="457200" y="1466425"/>
            <a:chExt cx="776900" cy="486300"/>
          </a:xfrm>
        </p:grpSpPr>
        <p:sp>
          <p:nvSpPr>
            <p:cNvPr id="676" name="Google Shape;676;p8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7" name="Google Shape;677;p8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78" name="Google Shape;678;p85"/>
          <p:cNvGrpSpPr/>
          <p:nvPr/>
        </p:nvGrpSpPr>
        <p:grpSpPr>
          <a:xfrm>
            <a:off x="464782" y="2139162"/>
            <a:ext cx="614062" cy="394924"/>
            <a:chOff x="457200" y="1466425"/>
            <a:chExt cx="776900" cy="486300"/>
          </a:xfrm>
        </p:grpSpPr>
        <p:sp>
          <p:nvSpPr>
            <p:cNvPr id="679" name="Google Shape;679;p8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0" name="Google Shape;680;p8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81" name="Google Shape;681;p85"/>
          <p:cNvGrpSpPr/>
          <p:nvPr/>
        </p:nvGrpSpPr>
        <p:grpSpPr>
          <a:xfrm>
            <a:off x="464782" y="3726529"/>
            <a:ext cx="614062" cy="394924"/>
            <a:chOff x="457200" y="1466425"/>
            <a:chExt cx="776900" cy="486300"/>
          </a:xfrm>
        </p:grpSpPr>
        <p:sp>
          <p:nvSpPr>
            <p:cNvPr id="682" name="Google Shape;682;p8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3" name="Google Shape;683;p8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84" name="Google Shape;684;p85"/>
          <p:cNvGrpSpPr/>
          <p:nvPr/>
        </p:nvGrpSpPr>
        <p:grpSpPr>
          <a:xfrm>
            <a:off x="464782" y="4301974"/>
            <a:ext cx="614062" cy="394924"/>
            <a:chOff x="457200" y="1466425"/>
            <a:chExt cx="776900" cy="486300"/>
          </a:xfrm>
        </p:grpSpPr>
        <p:sp>
          <p:nvSpPr>
            <p:cNvPr id="685" name="Google Shape;685;p8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6" name="Google Shape;686;p8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87" name="Google Shape;687;p85"/>
          <p:cNvGrpSpPr/>
          <p:nvPr/>
        </p:nvGrpSpPr>
        <p:grpSpPr>
          <a:xfrm>
            <a:off x="4546532" y="3726529"/>
            <a:ext cx="614062" cy="394924"/>
            <a:chOff x="457200" y="1466425"/>
            <a:chExt cx="776900" cy="486300"/>
          </a:xfrm>
        </p:grpSpPr>
        <p:sp>
          <p:nvSpPr>
            <p:cNvPr id="688" name="Google Shape;688;p8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9" name="Google Shape;689;p8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90" name="Google Shape;690;p85"/>
          <p:cNvGrpSpPr/>
          <p:nvPr/>
        </p:nvGrpSpPr>
        <p:grpSpPr>
          <a:xfrm>
            <a:off x="4546532" y="4301974"/>
            <a:ext cx="614062" cy="394924"/>
            <a:chOff x="457200" y="1466425"/>
            <a:chExt cx="776900" cy="486300"/>
          </a:xfrm>
        </p:grpSpPr>
        <p:sp>
          <p:nvSpPr>
            <p:cNvPr id="691" name="Google Shape;691;p8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2" name="Google Shape;692;p8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7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702" name="Google Shape;702;p8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Persistence </a:t>
            </a:r>
            <a:endParaRPr/>
          </a:p>
        </p:txBody>
      </p:sp>
      <p:sp>
        <p:nvSpPr>
          <p:cNvPr id="703" name="Google Shape;703;p87"/>
          <p:cNvSpPr txBox="1"/>
          <p:nvPr>
            <p:ph idx="3" type="body"/>
          </p:nvPr>
        </p:nvSpPr>
        <p:spPr>
          <a:xfrm>
            <a:off x="457200" y="1176975"/>
            <a:ext cx="7732800" cy="2358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pen testers conducting an engagement on MegaCorpOne.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now conduct the post-exploitation task of persistence by adding an additional port for the SSH service to listen on, and then opening the port on a firewall.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4" name="Google Shape;70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Reporting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2" name="Google Shape;7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342" y="1504050"/>
            <a:ext cx="1129316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92"/>
          <p:cNvPicPr preferRelativeResize="0"/>
          <p:nvPr/>
        </p:nvPicPr>
        <p:blipFill rotWithShape="1">
          <a:blip r:embed="rId3">
            <a:alphaModFix/>
          </a:blip>
          <a:srcRect b="0" l="22500" r="22500" t="0"/>
          <a:stretch/>
        </p:blipFill>
        <p:spPr>
          <a:xfrm>
            <a:off x="4572000" y="0"/>
            <a:ext cx="50292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92"/>
          <p:cNvSpPr txBox="1"/>
          <p:nvPr/>
        </p:nvSpPr>
        <p:spPr>
          <a:xfrm>
            <a:off x="457200" y="1740600"/>
            <a:ext cx="3657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Although we have completed all the technical aspects of our penetration test, we have one important step left.</a:t>
            </a:r>
            <a:endParaRPr sz="24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We will complete the penetration test by </a:t>
            </a:r>
            <a:r>
              <a:rPr b="1" lang="en" sz="24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Reporting.</a:t>
            </a:r>
            <a:endParaRPr b="1" sz="24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3"/>
          <p:cNvSpPr/>
          <p:nvPr/>
        </p:nvSpPr>
        <p:spPr>
          <a:xfrm>
            <a:off x="9525" y="-3475"/>
            <a:ext cx="9144000" cy="51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4" name="Google Shape;73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00" y="-3528"/>
            <a:ext cx="9143999" cy="51469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5" name="Google Shape;735;p93"/>
          <p:cNvGrpSpPr/>
          <p:nvPr/>
        </p:nvGrpSpPr>
        <p:grpSpPr>
          <a:xfrm>
            <a:off x="2270925" y="2379300"/>
            <a:ext cx="6218275" cy="2556542"/>
            <a:chOff x="289725" y="2379300"/>
            <a:chExt cx="6218275" cy="2556542"/>
          </a:xfrm>
        </p:grpSpPr>
        <p:sp>
          <p:nvSpPr>
            <p:cNvPr id="736" name="Google Shape;736;p93"/>
            <p:cNvSpPr txBox="1"/>
            <p:nvPr/>
          </p:nvSpPr>
          <p:spPr>
            <a:xfrm>
              <a:off x="289725" y="4547942"/>
              <a:ext cx="1428900" cy="3879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0" lIns="91425" spcFirstLastPara="1" rIns="91425" wrap="square" tIns="27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Planning and Reconnaissance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37" name="Google Shape;737;p93"/>
            <p:cNvSpPr txBox="1"/>
            <p:nvPr/>
          </p:nvSpPr>
          <p:spPr>
            <a:xfrm>
              <a:off x="1544475" y="398125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Scanning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38" name="Google Shape;738;p93"/>
            <p:cNvSpPr txBox="1"/>
            <p:nvPr/>
          </p:nvSpPr>
          <p:spPr>
            <a:xfrm>
              <a:off x="2689450" y="34638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Exploitation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39" name="Google Shape;739;p93"/>
            <p:cNvSpPr txBox="1"/>
            <p:nvPr/>
          </p:nvSpPr>
          <p:spPr>
            <a:xfrm>
              <a:off x="3887775" y="2938625"/>
              <a:ext cx="142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Post Exploitation</a:t>
              </a:r>
              <a:endParaRPr b="1" i="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0" name="Google Shape;740;p93"/>
            <p:cNvSpPr txBox="1"/>
            <p:nvPr/>
          </p:nvSpPr>
          <p:spPr>
            <a:xfrm>
              <a:off x="5079100" y="23793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Reporting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741" name="Google Shape;741;p93"/>
          <p:cNvSpPr/>
          <p:nvPr/>
        </p:nvSpPr>
        <p:spPr>
          <a:xfrm>
            <a:off x="5861300" y="2904325"/>
            <a:ext cx="1684500" cy="4590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93"/>
          <p:cNvSpPr/>
          <p:nvPr/>
        </p:nvSpPr>
        <p:spPr>
          <a:xfrm>
            <a:off x="4537813" y="343391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93"/>
          <p:cNvSpPr txBox="1"/>
          <p:nvPr/>
        </p:nvSpPr>
        <p:spPr>
          <a:xfrm>
            <a:off x="4596113" y="3433923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Exploitation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93"/>
          <p:cNvSpPr/>
          <p:nvPr/>
        </p:nvSpPr>
        <p:spPr>
          <a:xfrm>
            <a:off x="3404250" y="397326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93"/>
          <p:cNvSpPr txBox="1"/>
          <p:nvPr/>
        </p:nvSpPr>
        <p:spPr>
          <a:xfrm>
            <a:off x="3462550" y="3973273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Scanning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93"/>
          <p:cNvSpPr/>
          <p:nvPr/>
        </p:nvSpPr>
        <p:spPr>
          <a:xfrm>
            <a:off x="2156758" y="4507750"/>
            <a:ext cx="1684500" cy="4281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Planning and </a:t>
            </a: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93"/>
          <p:cNvSpPr txBox="1"/>
          <p:nvPr>
            <p:ph idx="4294967295" type="subTitle"/>
          </p:nvPr>
        </p:nvSpPr>
        <p:spPr>
          <a:xfrm>
            <a:off x="222975" y="1828800"/>
            <a:ext cx="42387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315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Reporting </a:t>
            </a:r>
            <a:r>
              <a:rPr lang="en">
                <a:highlight>
                  <a:schemeClr val="lt1"/>
                </a:highlight>
              </a:rPr>
              <a:t>i</a:t>
            </a:r>
            <a:r>
              <a:rPr lang="en"/>
              <a:t>s important because it’s where the pen tester describes their actions in words, which will eventually be communicated to stakeholders and leadership who will interpret the results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93"/>
          <p:cNvSpPr txBox="1"/>
          <p:nvPr/>
        </p:nvSpPr>
        <p:spPr>
          <a:xfrm>
            <a:off x="5893287" y="2933725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Post Exploitation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93"/>
          <p:cNvSpPr txBox="1"/>
          <p:nvPr/>
        </p:nvSpPr>
        <p:spPr>
          <a:xfrm>
            <a:off x="7042950" y="2371650"/>
            <a:ext cx="1458900" cy="400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4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Communication is the key component in linking actions to results. </a:t>
            </a:r>
            <a:endParaRPr/>
          </a:p>
        </p:txBody>
      </p:sp>
      <p:sp>
        <p:nvSpPr>
          <p:cNvPr id="755" name="Google Shape;755;p94"/>
          <p:cNvSpPr/>
          <p:nvPr/>
        </p:nvSpPr>
        <p:spPr>
          <a:xfrm>
            <a:off x="1352550" y="2136400"/>
            <a:ext cx="7517100" cy="629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poorly written report could make the client believe the pen tester is incompetent and the pen test was a failure, even if the pen tester had several important findings.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94"/>
          <p:cNvSpPr/>
          <p:nvPr/>
        </p:nvSpPr>
        <p:spPr>
          <a:xfrm>
            <a:off x="1352550" y="2955996"/>
            <a:ext cx="7517100" cy="840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well-written report will help establish the pen tester’s reputation and perhaps even generate repeat business, while also taking a positive step toward remediating any findings within the client’s network.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94"/>
          <p:cNvSpPr/>
          <p:nvPr/>
        </p:nvSpPr>
        <p:spPr>
          <a:xfrm>
            <a:off x="1352550" y="13249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the client, the quality of the report reflects the quality of the pen tester’s work.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8" name="Google Shape;758;p94"/>
          <p:cNvGrpSpPr/>
          <p:nvPr/>
        </p:nvGrpSpPr>
        <p:grpSpPr>
          <a:xfrm>
            <a:off x="414050" y="1324891"/>
            <a:ext cx="776900" cy="621297"/>
            <a:chOff x="457200" y="1466425"/>
            <a:chExt cx="776900" cy="486300"/>
          </a:xfrm>
        </p:grpSpPr>
        <p:sp>
          <p:nvSpPr>
            <p:cNvPr id="759" name="Google Shape;759;p9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0" name="Google Shape;760;p9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1" name="Google Shape;761;p94"/>
          <p:cNvGrpSpPr/>
          <p:nvPr/>
        </p:nvGrpSpPr>
        <p:grpSpPr>
          <a:xfrm>
            <a:off x="414050" y="2956005"/>
            <a:ext cx="776900" cy="621297"/>
            <a:chOff x="457200" y="1466425"/>
            <a:chExt cx="776900" cy="486300"/>
          </a:xfrm>
        </p:grpSpPr>
        <p:sp>
          <p:nvSpPr>
            <p:cNvPr id="762" name="Google Shape;762;p9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3" name="Google Shape;763;p9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4" name="Google Shape;764;p94"/>
          <p:cNvGrpSpPr/>
          <p:nvPr/>
        </p:nvGrpSpPr>
        <p:grpSpPr>
          <a:xfrm>
            <a:off x="414050" y="2144590"/>
            <a:ext cx="776900" cy="621297"/>
            <a:chOff x="457200" y="1466425"/>
            <a:chExt cx="776900" cy="486300"/>
          </a:xfrm>
        </p:grpSpPr>
        <p:sp>
          <p:nvSpPr>
            <p:cNvPr id="765" name="Google Shape;765;p9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6" name="Google Shape;766;p9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67" name="Google Shape;767;p94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Phase 5: Reporting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5"/>
          <p:cNvSpPr/>
          <p:nvPr/>
        </p:nvSpPr>
        <p:spPr>
          <a:xfrm>
            <a:off x="457200" y="1778375"/>
            <a:ext cx="1985400" cy="18276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95"/>
          <p:cNvSpPr/>
          <p:nvPr/>
        </p:nvSpPr>
        <p:spPr>
          <a:xfrm>
            <a:off x="2528198" y="1778375"/>
            <a:ext cx="1985400" cy="18276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95"/>
          <p:cNvSpPr/>
          <p:nvPr/>
        </p:nvSpPr>
        <p:spPr>
          <a:xfrm>
            <a:off x="4630400" y="1778375"/>
            <a:ext cx="1985400" cy="18276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95"/>
          <p:cNvSpPr/>
          <p:nvPr/>
        </p:nvSpPr>
        <p:spPr>
          <a:xfrm>
            <a:off x="6732600" y="1778375"/>
            <a:ext cx="1954200" cy="18276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95"/>
          <p:cNvSpPr txBox="1"/>
          <p:nvPr/>
        </p:nvSpPr>
        <p:spPr>
          <a:xfrm>
            <a:off x="2510700" y="1778375"/>
            <a:ext cx="1985400" cy="1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Findings should be understandable by management, but also a section that gets more technical for sysadmins</a:t>
            </a:r>
            <a:endParaRPr b="1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95"/>
          <p:cNvSpPr txBox="1"/>
          <p:nvPr/>
        </p:nvSpPr>
        <p:spPr>
          <a:xfrm>
            <a:off x="6732600" y="1778375"/>
            <a:ext cx="1954200" cy="1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Report should also contain any notable failed actions</a:t>
            </a:r>
            <a:endParaRPr b="1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95"/>
          <p:cNvSpPr txBox="1"/>
          <p:nvPr/>
        </p:nvSpPr>
        <p:spPr>
          <a:xfrm>
            <a:off x="4630500" y="1778375"/>
            <a:ext cx="1985400" cy="1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Document and log all actions taken</a:t>
            </a:r>
            <a:endParaRPr b="1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95"/>
          <p:cNvSpPr txBox="1"/>
          <p:nvPr/>
        </p:nvSpPr>
        <p:spPr>
          <a:xfrm>
            <a:off x="482075" y="1778375"/>
            <a:ext cx="1954200" cy="1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Well balanced between technical and non-technical results</a:t>
            </a:r>
            <a:endParaRPr b="1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9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Writing Best Practices</a:t>
            </a:r>
            <a:endParaRPr/>
          </a:p>
        </p:txBody>
      </p:sp>
      <p:sp>
        <p:nvSpPr>
          <p:cNvPr id="781" name="Google Shape;781;p95"/>
          <p:cNvSpPr txBox="1"/>
          <p:nvPr/>
        </p:nvSpPr>
        <p:spPr>
          <a:xfrm>
            <a:off x="491250" y="631075"/>
            <a:ext cx="8131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95"/>
          <p:cNvSpPr txBox="1"/>
          <p:nvPr/>
        </p:nvSpPr>
        <p:spPr>
          <a:xfrm>
            <a:off x="500500" y="1259375"/>
            <a:ext cx="818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Tips for creating a high-quality report: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6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Walkthrough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97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 Minutes</a:t>
            </a:r>
            <a:endParaRPr/>
          </a:p>
        </p:txBody>
      </p:sp>
      <p:sp>
        <p:nvSpPr>
          <p:cNvPr id="793" name="Google Shape;793;p9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Reporting </a:t>
            </a:r>
            <a:endParaRPr/>
          </a:p>
        </p:txBody>
      </p:sp>
      <p:sp>
        <p:nvSpPr>
          <p:cNvPr id="794" name="Google Shape;794;p97"/>
          <p:cNvSpPr txBox="1"/>
          <p:nvPr>
            <p:ph idx="3" type="body"/>
          </p:nvPr>
        </p:nvSpPr>
        <p:spPr>
          <a:xfrm>
            <a:off x="257650" y="1176975"/>
            <a:ext cx="8732700" cy="2358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pen testers conducting an engagement on MegaCorpOne.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completing a summary report of the work you have completed this week.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report should be filled out as accurately as possible. Be sure to fill in all highlighted areas.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0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Week 1</a:t>
            </a:r>
            <a:r>
              <a:rPr lang="en"/>
              <a:t> Review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9" name="Google Shape;80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650" y="1896675"/>
            <a:ext cx="792700" cy="77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1"/>
          <p:cNvSpPr/>
          <p:nvPr/>
        </p:nvSpPr>
        <p:spPr>
          <a:xfrm>
            <a:off x="-50" y="0"/>
            <a:ext cx="9144000" cy="5143500"/>
          </a:xfrm>
          <a:prstGeom prst="rect">
            <a:avLst/>
          </a:prstGeom>
          <a:solidFill>
            <a:srgbClr val="8A5C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0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816" name="Google Shape;816;p101"/>
          <p:cNvPicPr preferRelativeResize="0"/>
          <p:nvPr/>
        </p:nvPicPr>
        <p:blipFill rotWithShape="1">
          <a:blip r:embed="rId3">
            <a:alphaModFix/>
          </a:blip>
          <a:srcRect b="27568" l="0" r="0" t="23342"/>
          <a:stretch/>
        </p:blipFill>
        <p:spPr>
          <a:xfrm>
            <a:off x="1130700" y="1764225"/>
            <a:ext cx="6858000" cy="25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101"/>
          <p:cNvSpPr txBox="1"/>
          <p:nvPr>
            <p:ph type="title"/>
          </p:nvPr>
        </p:nvSpPr>
        <p:spPr>
          <a:xfrm>
            <a:off x="-12300" y="1530750"/>
            <a:ext cx="91440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     Now we will conduct a review competition using:</a:t>
            </a:r>
            <a:endParaRPr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2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What’s Kahoot?</a:t>
            </a:r>
            <a:endParaRPr/>
          </a:p>
        </p:txBody>
      </p:sp>
      <p:sp>
        <p:nvSpPr>
          <p:cNvPr id="823" name="Google Shape;823;p102"/>
          <p:cNvSpPr txBox="1"/>
          <p:nvPr>
            <p:ph idx="4294967295" type="subTitle"/>
          </p:nvPr>
        </p:nvSpPr>
        <p:spPr>
          <a:xfrm>
            <a:off x="-12300" y="481225"/>
            <a:ext cx="45456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Kahoot is a web-based tool that:</a:t>
            </a:r>
            <a:endParaRPr/>
          </a:p>
        </p:txBody>
      </p:sp>
      <p:sp>
        <p:nvSpPr>
          <p:cNvPr id="824" name="Google Shape;824;p102"/>
          <p:cNvSpPr txBox="1"/>
          <p:nvPr>
            <p:ph idx="4294967295" type="subTitle"/>
          </p:nvPr>
        </p:nvSpPr>
        <p:spPr>
          <a:xfrm>
            <a:off x="4325200" y="4548125"/>
            <a:ext cx="421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10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(kahoot.com)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825" name="Google Shape;825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7300" y="1117024"/>
            <a:ext cx="4150501" cy="336967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826" name="Google Shape;826;p102"/>
          <p:cNvSpPr txBox="1"/>
          <p:nvPr>
            <p:ph idx="4294967295" type="body"/>
          </p:nvPr>
        </p:nvSpPr>
        <p:spPr>
          <a:xfrm>
            <a:off x="0" y="1815625"/>
            <a:ext cx="4212600" cy="1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400" spcFirstLastPara="1" rIns="0" wrap="square" tIns="0">
            <a:noAutofit/>
          </a:bodyPr>
          <a:lstStyle/>
          <a:p>
            <a:pPr indent="-2286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Displays questions and answers to select from in real time.</a:t>
            </a:r>
            <a:endParaRPr/>
          </a:p>
          <a:p>
            <a:pPr indent="-2286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track of individual and 	team scores.</a:t>
            </a:r>
            <a:endParaRPr/>
          </a:p>
          <a:p>
            <a:pPr indent="-2286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track of remaining time for each question.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3"/>
          <p:cNvSpPr/>
          <p:nvPr/>
        </p:nvSpPr>
        <p:spPr>
          <a:xfrm>
            <a:off x="271800" y="345525"/>
            <a:ext cx="8600400" cy="4353900"/>
          </a:xfrm>
          <a:prstGeom prst="roundRect">
            <a:avLst>
              <a:gd fmla="val 4846" name="adj"/>
            </a:avLst>
          </a:prstGeom>
          <a:solidFill>
            <a:srgbClr val="FFFFFF"/>
          </a:solidFill>
          <a:ln cap="flat" cmpd="sng" w="152400">
            <a:solidFill>
              <a:srgbClr val="8A5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03"/>
          <p:cNvSpPr txBox="1"/>
          <p:nvPr>
            <p:ph type="title"/>
          </p:nvPr>
        </p:nvSpPr>
        <p:spPr>
          <a:xfrm>
            <a:off x="4127075" y="729563"/>
            <a:ext cx="29850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Rules and Guidelines</a:t>
            </a:r>
            <a:endParaRPr/>
          </a:p>
        </p:txBody>
      </p:sp>
      <p:sp>
        <p:nvSpPr>
          <p:cNvPr id="833" name="Google Shape;833;p10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(kahoot.com)</a:t>
            </a:r>
            <a:endParaRPr/>
          </a:p>
        </p:txBody>
      </p:sp>
      <p:pic>
        <p:nvPicPr>
          <p:cNvPr id="834" name="Google Shape;834;p103"/>
          <p:cNvPicPr preferRelativeResize="0"/>
          <p:nvPr/>
        </p:nvPicPr>
        <p:blipFill rotWithShape="1">
          <a:blip r:embed="rId4">
            <a:alphaModFix/>
          </a:blip>
          <a:srcRect b="27568" l="0" r="0" t="23342"/>
          <a:stretch/>
        </p:blipFill>
        <p:spPr>
          <a:xfrm>
            <a:off x="2031925" y="580025"/>
            <a:ext cx="1817848" cy="6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103"/>
          <p:cNvSpPr/>
          <p:nvPr/>
        </p:nvSpPr>
        <p:spPr>
          <a:xfrm>
            <a:off x="586050" y="1402700"/>
            <a:ext cx="3867000" cy="897600"/>
          </a:xfrm>
          <a:prstGeom prst="roundRect">
            <a:avLst>
              <a:gd fmla="val 8753" name="adj"/>
            </a:avLst>
          </a:prstGeom>
          <a:solidFill>
            <a:srgbClr val="DF0305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There are a total of 29 pen testing questions.</a:t>
            </a:r>
            <a:endParaRPr sz="1600"/>
          </a:p>
        </p:txBody>
      </p:sp>
      <p:sp>
        <p:nvSpPr>
          <p:cNvPr id="836" name="Google Shape;836;p103"/>
          <p:cNvSpPr/>
          <p:nvPr/>
        </p:nvSpPr>
        <p:spPr>
          <a:xfrm>
            <a:off x="586050" y="2457525"/>
            <a:ext cx="3867000" cy="897600"/>
          </a:xfrm>
          <a:prstGeom prst="roundRect">
            <a:avLst>
              <a:gd fmla="val 8753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 will have 20 seconds to answer each question.</a:t>
            </a:r>
            <a:endParaRPr sz="1600"/>
          </a:p>
        </p:txBody>
      </p:sp>
      <p:sp>
        <p:nvSpPr>
          <p:cNvPr id="837" name="Google Shape;837;p103"/>
          <p:cNvSpPr/>
          <p:nvPr/>
        </p:nvSpPr>
        <p:spPr>
          <a:xfrm>
            <a:off x="586050" y="3512350"/>
            <a:ext cx="3867000" cy="897600"/>
          </a:xfrm>
          <a:prstGeom prst="roundRect">
            <a:avLst>
              <a:gd fmla="val 8753" name="adj"/>
            </a:avLst>
          </a:prstGeom>
          <a:solidFill>
            <a:srgbClr val="F3A93C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Points are awarded for correct answers and for how quickly you answer the questions compared to your classmates.</a:t>
            </a:r>
            <a:endParaRPr sz="1300"/>
          </a:p>
        </p:txBody>
      </p:sp>
      <p:sp>
        <p:nvSpPr>
          <p:cNvPr id="838" name="Google Shape;838;p103"/>
          <p:cNvSpPr/>
          <p:nvPr/>
        </p:nvSpPr>
        <p:spPr>
          <a:xfrm>
            <a:off x="4690939" y="1402700"/>
            <a:ext cx="3867000" cy="897600"/>
          </a:xfrm>
          <a:prstGeom prst="roundRect">
            <a:avLst>
              <a:gd fmla="val 8753" name="adj"/>
            </a:avLst>
          </a:prstGeom>
          <a:solidFill>
            <a:srgbClr val="398E3D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Points are not deducted for </a:t>
            </a:r>
            <a:b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incorrect answers.</a:t>
            </a:r>
            <a:endParaRPr sz="1600"/>
          </a:p>
        </p:txBody>
      </p:sp>
      <p:sp>
        <p:nvSpPr>
          <p:cNvPr id="839" name="Google Shape;839;p103"/>
          <p:cNvSpPr/>
          <p:nvPr/>
        </p:nvSpPr>
        <p:spPr>
          <a:xfrm>
            <a:off x="4690939" y="2457525"/>
            <a:ext cx="3867000" cy="897600"/>
          </a:xfrm>
          <a:prstGeom prst="roundRect">
            <a:avLst>
              <a:gd fmla="val 8753" name="adj"/>
            </a:avLst>
          </a:prstGeom>
          <a:solidFill>
            <a:srgbClr val="28ACC0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If you are competing as a team, </a:t>
            </a:r>
            <a:b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select a team captain to answer the questions.</a:t>
            </a:r>
            <a:endParaRPr sz="1600"/>
          </a:p>
        </p:txBody>
      </p:sp>
      <p:pic>
        <p:nvPicPr>
          <p:cNvPr id="840" name="Google Shape;840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325" y="1548450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325" y="2603275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325" y="3658100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9450" y="1548450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9450" y="2603275"/>
            <a:ext cx="183500" cy="6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4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 Minutes</a:t>
            </a:r>
            <a:endParaRPr/>
          </a:p>
        </p:txBody>
      </p:sp>
      <p:sp>
        <p:nvSpPr>
          <p:cNvPr id="850" name="Google Shape;850;p10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Kahoot</a:t>
            </a:r>
            <a:endParaRPr/>
          </a:p>
        </p:txBody>
      </p:sp>
      <p:sp>
        <p:nvSpPr>
          <p:cNvPr id="851" name="Google Shape;851;p104"/>
          <p:cNvSpPr txBox="1"/>
          <p:nvPr>
            <p:ph idx="3" type="body"/>
          </p:nvPr>
        </p:nvSpPr>
        <p:spPr>
          <a:xfrm>
            <a:off x="3621750" y="2158650"/>
            <a:ext cx="1900500" cy="826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Kahoot!!</a:t>
            </a:r>
            <a:endParaRPr sz="3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6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Introduction to Windows Penetration Testing</a:t>
            </a:r>
            <a:endParaRPr b="1" baseline="-25000" sz="2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