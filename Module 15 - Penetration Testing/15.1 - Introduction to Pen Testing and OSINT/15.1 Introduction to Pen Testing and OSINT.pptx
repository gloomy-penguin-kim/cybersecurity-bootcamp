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y="5143500" cx="9144000"/>
  <p:notesSz cx="6858000" cy="9144000"/>
  <p:embeddedFontLst>
    <p:embeddedFont>
      <p:font typeface="Roboto"/>
      <p:regular r:id="rId88"/>
      <p:bold r:id="rId89"/>
      <p:italic r:id="rId90"/>
      <p:boldItalic r:id="rId91"/>
    </p:embeddedFont>
    <p:embeddedFont>
      <p:font typeface="Roboto Medium"/>
      <p:regular r:id="rId92"/>
      <p:bold r:id="rId93"/>
      <p:italic r:id="rId94"/>
      <p:boldItalic r:id="rId95"/>
    </p:embeddedFont>
    <p:embeddedFont>
      <p:font typeface="Inconsolata"/>
      <p:regular r:id="rId96"/>
      <p:bold r:id="rId97"/>
    </p:embeddedFont>
    <p:embeddedFont>
      <p:font typeface="Roboto Light"/>
      <p:regular r:id="rId98"/>
      <p:bold r:id="rId99"/>
      <p:italic r:id="rId100"/>
      <p:boldItalic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D8F788-836A-4B15-804E-45C680846998}">
  <a:tblStyle styleId="{C8D8F788-836A-4B15-804E-45C68084699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1" Type="http://schemas.openxmlformats.org/officeDocument/2006/relationships/font" Target="fonts/RobotoLight-boldItalic.fntdata"/><Relationship Id="rId100" Type="http://schemas.openxmlformats.org/officeDocument/2006/relationships/font" Target="fonts/RobotoLight-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Medium-boldItalic.fntdata"/><Relationship Id="rId94" Type="http://schemas.openxmlformats.org/officeDocument/2006/relationships/font" Target="fonts/RobotoMedium-italic.fntdata"/><Relationship Id="rId97" Type="http://schemas.openxmlformats.org/officeDocument/2006/relationships/font" Target="fonts/Inconsolata-bold.fntdata"/><Relationship Id="rId96" Type="http://schemas.openxmlformats.org/officeDocument/2006/relationships/font" Target="fonts/Inconsolata-regular.fntdata"/><Relationship Id="rId11" Type="http://schemas.openxmlformats.org/officeDocument/2006/relationships/slide" Target="slides/slide5.xml"/><Relationship Id="rId99" Type="http://schemas.openxmlformats.org/officeDocument/2006/relationships/font" Target="fonts/RobotoLight-bold.fntdata"/><Relationship Id="rId10" Type="http://schemas.openxmlformats.org/officeDocument/2006/relationships/slide" Target="slides/slide4.xml"/><Relationship Id="rId98" Type="http://schemas.openxmlformats.org/officeDocument/2006/relationships/font" Target="fonts/RobotoLight-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oboto-boldItalic.fntdata"/><Relationship Id="rId90" Type="http://schemas.openxmlformats.org/officeDocument/2006/relationships/font" Target="fonts/Roboto-italic.fntdata"/><Relationship Id="rId93" Type="http://schemas.openxmlformats.org/officeDocument/2006/relationships/font" Target="fonts/RobotoMedium-bold.fntdata"/><Relationship Id="rId92" Type="http://schemas.openxmlformats.org/officeDocument/2006/relationships/font" Target="fonts/RobotoMedium-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font" Target="fonts/Roboto-regular.fntdata"/><Relationship Id="rId87" Type="http://schemas.openxmlformats.org/officeDocument/2006/relationships/slide" Target="slides/slide81.xml"/><Relationship Id="rId89" Type="http://schemas.openxmlformats.org/officeDocument/2006/relationships/font" Target="fonts/Roboto-bold.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0a878d6c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30a878d6c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0b3653754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30b3653754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0b36537546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0b36537546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0b36537546_0_2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0b36537546_0_2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0b36537546_0_2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30b36537546_0_2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0b36537546_0_3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0b36537546_0_3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0b36537546_0_3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0b36537546_0_3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0b36537546_0_3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0b36537546_0_3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0b36537546_0_3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30b36537546_0_3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0b36537546_0_4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30b36537546_0_4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0b36537546_0_5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0b36537546_0_5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30b36537546_0_6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30b36537546_0_6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0b36537546_0_7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0b36537546_0_7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0b36537546_0_7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30b36537546_0_7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0b36537546_0_8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30b36537546_0_8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0b36537546_0_9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0b36537546_0_9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0b45a0dc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0b45a0dc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0b45a0dc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g30b45a0dc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30b45a0dcde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30b45a0dcde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0b45a0dcde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30b45a0dcde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0b45a0dcde_0_1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30b45a0dcde_0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0b45a0dcde_0_2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1" name="Google Shape;1441;g30b45a0dcde_0_2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0b45a0dcde_0_2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30b45a0dcde_0_2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30b45a0dcde_0_2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30b45a0dcde_0_2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30b45a0dcde_0_3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30b45a0dcde_0_3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0b45a0dcde_0_3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30b45a0dcde_0_3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30b45a0dcde_0_4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2" name="Google Shape;1472;g30b45a0dcde_0_4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shutterstock_1036284196</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0b45a0dcde_0_4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9" name="Google Shape;1479;g30b45a0dcde_0_4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shutterstock_1036284196</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0b45a0dcde_0_4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2" name="Google Shape;1492;g30b45a0dcde_0_4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shutterstock_1036284196</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0b45a0dcde_0_4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9" name="Google Shape;1499;g30b45a0dcde_0_4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shutterstock_1036284196</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30a8c704c1c_0_18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30a8c704c1c_0_18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30b45a0dcde_0_5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6" name="Google Shape;1516;g30b45a0dcde_0_5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30a3240009e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1" name="Google Shape;1551;g30a3240009e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30a3240009e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30a3240009e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30a3240009e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g30a3240009e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30a3240009e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30a3240009e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30b45a0dcde_0_5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30b45a0dcde_0_5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0b45a0dcde_0_7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0b45a0dcde_0_7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0b45a0dcde_0_7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30b45a0dcde_0_7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30b45a0dcde_0_7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30b45a0dcde_0_7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0b45a0dcde_0_8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30b45a0dcde_0_8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30b45a0dcde_0_8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30b45a0dcde_0_8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30b45a0dcde_0_9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30b45a0dcde_0_9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g30b45a0dcde_0_9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3" name="Google Shape;1653;g30b45a0dcde_0_9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30b45a0dcde_0_9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30b45a0dcde_0_9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0b45a0dcde_0_9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30b45a0dcde_0_9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0b45a0dcde_0_10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9" name="Google Shape;1679;g30b45a0dcde_0_10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0b45a0dcde_0_8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30b45a0dcde_0_8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30b45a0dcde_0_11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30b45a0dcde_0_11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30b45a0dcde_0_11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30b45a0dcde_0_11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g30a3240009e_0_2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1" name="Google Shape;1711;g30a3240009e_0_2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g30b45a0dcde_0_12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6" name="Google Shape;1716;g30b45a0dcde_0_12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30a8c704c1c_0_27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30a8c704c1c_0_27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30a8c704c1c_0_27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30a8c704c1c_0_27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30a8c704c1c_0_27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30a8c704c1c_0_27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30b45a0dcde_0_13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2" name="Google Shape;1742;g30b45a0dcde_0_13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30b45a0dcde_0_13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30b45a0dcde_0_13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30b45a0dcde_0_13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30b45a0dcde_0_13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30b45a0dcde_0_14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0" name="Google Shape;1760;g30b45a0dcde_0_14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g30b45a0dcde_0_14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5" name="Google Shape;1765;g30b45a0dcde_0_14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0b45a0dcde_0_14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1" name="Google Shape;1771;g30b45a0dcde_0_14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g30b45a0dcde_0_15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9" name="Google Shape;1779;g30b45a0dcde_0_15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30b45a0dcde_0_15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4" name="Google Shape;1784;g30b45a0dcde_0_155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3" name="Shape 1793"/>
        <p:cNvGrpSpPr/>
        <p:nvPr/>
      </p:nvGrpSpPr>
      <p:grpSpPr>
        <a:xfrm>
          <a:off x="0" y="0"/>
          <a:ext cx="0" cy="0"/>
          <a:chOff x="0" y="0"/>
          <a:chExt cx="0" cy="0"/>
        </a:xfrm>
      </p:grpSpPr>
      <p:sp>
        <p:nvSpPr>
          <p:cNvPr id="1794" name="Google Shape;1794;g30b45a0dcde_0_16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5" name="Google Shape;1795;g30b45a0dcde_0_16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g30b45a0dcde_0_16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3" name="Google Shape;1803;g30b45a0dcde_0_16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30b45a0dcde_0_16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30b45a0dcde_0_16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30b45a0dcde_0_16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30b45a0dcde_0_16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g30b45a0dcde_0_16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g30b45a0dcde_0_16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g30a8c704c1c_0_27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1" name="Google Shape;1821;g30a8c704c1c_0_279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0b45a0dcde_0_16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30b45a0dcde_0_16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30b45a0dcde_0_16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g30b45a0dcde_0_16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30b45a0dcde_0_16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30b45a0dcde_0_16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30b45a0dcde_0_16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30b45a0dcde_0_16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g30b45a0dcde_0_16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3" name="Google Shape;1873;g30b45a0dcde_0_16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g30b45a0dcde_0_16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1" name="Google Shape;1881;g30b45a0dcde_0_16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g30b45a0dcde_0_16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5" name="Google Shape;1885;g30b45a0dcde_0_16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9" name="Google Shape;1889;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4" name="Google Shape;1894;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8.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8.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2">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0" name="Shape 330"/>
        <p:cNvGrpSpPr/>
        <p:nvPr/>
      </p:nvGrpSpPr>
      <p:grpSpPr>
        <a:xfrm>
          <a:off x="0" y="0"/>
          <a:ext cx="0" cy="0"/>
          <a:chOff x="0" y="0"/>
          <a:chExt cx="0" cy="0"/>
        </a:xfrm>
      </p:grpSpPr>
      <p:sp>
        <p:nvSpPr>
          <p:cNvPr id="331" name="Google Shape;331;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2" name="Google Shape;332;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3" name="Google Shape;33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4" name="Shape 334"/>
        <p:cNvGrpSpPr/>
        <p:nvPr/>
      </p:nvGrpSpPr>
      <p:grpSpPr>
        <a:xfrm>
          <a:off x="0" y="0"/>
          <a:ext cx="0" cy="0"/>
          <a:chOff x="0" y="0"/>
          <a:chExt cx="0" cy="0"/>
        </a:xfrm>
      </p:grpSpPr>
      <p:pic>
        <p:nvPicPr>
          <p:cNvPr id="335" name="Google Shape;335;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6" name="Google Shape;336;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7" name="Google Shape;337;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8" name="Google Shape;338;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0" name="Shape 340"/>
        <p:cNvGrpSpPr/>
        <p:nvPr/>
      </p:nvGrpSpPr>
      <p:grpSpPr>
        <a:xfrm>
          <a:off x="0" y="0"/>
          <a:ext cx="0" cy="0"/>
          <a:chOff x="0" y="0"/>
          <a:chExt cx="0" cy="0"/>
        </a:xfrm>
      </p:grpSpPr>
      <p:sp>
        <p:nvSpPr>
          <p:cNvPr id="341" name="Google Shape;341;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2" name="Google Shape;342;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4" name="Google Shape;344;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5" name="Google Shape;345;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6" name="Google Shape;346;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7" name="Shape 347"/>
        <p:cNvGrpSpPr/>
        <p:nvPr/>
      </p:nvGrpSpPr>
      <p:grpSpPr>
        <a:xfrm>
          <a:off x="0" y="0"/>
          <a:ext cx="0" cy="0"/>
          <a:chOff x="0" y="0"/>
          <a:chExt cx="0" cy="0"/>
        </a:xfrm>
      </p:grpSpPr>
      <p:sp>
        <p:nvSpPr>
          <p:cNvPr id="348" name="Google Shape;348;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49" name="Shape 349"/>
        <p:cNvGrpSpPr/>
        <p:nvPr/>
      </p:nvGrpSpPr>
      <p:grpSpPr>
        <a:xfrm>
          <a:off x="0" y="0"/>
          <a:ext cx="0" cy="0"/>
          <a:chOff x="0" y="0"/>
          <a:chExt cx="0" cy="0"/>
        </a:xfrm>
      </p:grpSpPr>
      <p:sp>
        <p:nvSpPr>
          <p:cNvPr id="350" name="Google Shape;350;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1" name="Google Shape;351;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2" name="Google Shape;352;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3" name="Google Shape;353;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4" name="Google Shape;354;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5" name="Google Shape;355;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6" name="Google Shape;356;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7" name="Shape 357"/>
        <p:cNvGrpSpPr/>
        <p:nvPr/>
      </p:nvGrpSpPr>
      <p:grpSpPr>
        <a:xfrm>
          <a:off x="0" y="0"/>
          <a:ext cx="0" cy="0"/>
          <a:chOff x="0" y="0"/>
          <a:chExt cx="0" cy="0"/>
        </a:xfrm>
      </p:grpSpPr>
      <p:sp>
        <p:nvSpPr>
          <p:cNvPr id="358" name="Google Shape;358;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9" name="Google Shape;359;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0" name="Google Shape;360;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1" name="Google Shape;361;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2" name="Google Shape;362;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3" name="Google Shape;363;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4" name="Google Shape;364;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5" name="Shape 365"/>
        <p:cNvGrpSpPr/>
        <p:nvPr/>
      </p:nvGrpSpPr>
      <p:grpSpPr>
        <a:xfrm>
          <a:off x="0" y="0"/>
          <a:ext cx="0" cy="0"/>
          <a:chOff x="0" y="0"/>
          <a:chExt cx="0" cy="0"/>
        </a:xfrm>
      </p:grpSpPr>
      <p:sp>
        <p:nvSpPr>
          <p:cNvPr id="366" name="Google Shape;366;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7" name="Google Shape;367;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8" name="Google Shape;368;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9" name="Google Shape;369;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0" name="Shape 370"/>
        <p:cNvGrpSpPr/>
        <p:nvPr/>
      </p:nvGrpSpPr>
      <p:grpSpPr>
        <a:xfrm>
          <a:off x="0" y="0"/>
          <a:ext cx="0" cy="0"/>
          <a:chOff x="0" y="0"/>
          <a:chExt cx="0" cy="0"/>
        </a:xfrm>
      </p:grpSpPr>
      <p:sp>
        <p:nvSpPr>
          <p:cNvPr id="371" name="Google Shape;371;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3" name="Google Shape;373;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6" name="Google Shape;376;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7" name="Google Shape;377;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9" name="Google Shape;379;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0" name="Google Shape;380;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1" name="Google Shape;381;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2" name="Google Shape;382;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3" name="Google Shape;383;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4" name="Shape 384"/>
        <p:cNvGrpSpPr/>
        <p:nvPr/>
      </p:nvGrpSpPr>
      <p:grpSpPr>
        <a:xfrm>
          <a:off x="0" y="0"/>
          <a:ext cx="0" cy="0"/>
          <a:chOff x="0" y="0"/>
          <a:chExt cx="0" cy="0"/>
        </a:xfrm>
      </p:grpSpPr>
      <p:sp>
        <p:nvSpPr>
          <p:cNvPr id="385" name="Google Shape;385;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6" name="Google Shape;386;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87" name="Google Shape;387;p56"/>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8" name="Google Shape;388;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89" name="Google Shape;389;p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90" name="Google Shape;390;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1" name="Google Shape;391;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2" name="Shape 392"/>
        <p:cNvGrpSpPr/>
        <p:nvPr/>
      </p:nvGrpSpPr>
      <p:grpSpPr>
        <a:xfrm>
          <a:off x="0" y="0"/>
          <a:ext cx="0" cy="0"/>
          <a:chOff x="0" y="0"/>
          <a:chExt cx="0" cy="0"/>
        </a:xfrm>
      </p:grpSpPr>
      <p:sp>
        <p:nvSpPr>
          <p:cNvPr id="393" name="Google Shape;393;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5" name="Google Shape;395;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6" name="Google Shape;396;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8" name="Google Shape;398;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9" name="Google Shape;399;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401" name="Google Shape;401;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2" name="Google Shape;402;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3" name="Google Shape;403;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4" name="Google Shape;404;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5" name="Google Shape;405;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6" name="Shape 406"/>
        <p:cNvGrpSpPr/>
        <p:nvPr/>
      </p:nvGrpSpPr>
      <p:grpSpPr>
        <a:xfrm>
          <a:off x="0" y="0"/>
          <a:ext cx="0" cy="0"/>
          <a:chOff x="0" y="0"/>
          <a:chExt cx="0" cy="0"/>
        </a:xfrm>
      </p:grpSpPr>
      <p:cxnSp>
        <p:nvCxnSpPr>
          <p:cNvPr id="407" name="Google Shape;407;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8" name="Google Shape;408;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4" name="Google Shape;414;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5" name="Google Shape;415;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6" name="Google Shape;416;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7" name="Google Shape;417;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8" name="Google Shape;418;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2" name="Google Shape;422;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3" name="Google Shape;423;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4" name="Google Shape;424;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7" name="Google Shape;427;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8" name="Shape 428"/>
        <p:cNvGrpSpPr/>
        <p:nvPr/>
      </p:nvGrpSpPr>
      <p:grpSpPr>
        <a:xfrm>
          <a:off x="0" y="0"/>
          <a:ext cx="0" cy="0"/>
          <a:chOff x="0" y="0"/>
          <a:chExt cx="0" cy="0"/>
        </a:xfrm>
      </p:grpSpPr>
      <p:pic>
        <p:nvPicPr>
          <p:cNvPr id="429" name="Google Shape;429;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30" name="Google Shape;430;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31" name="Google Shape;431;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2" name="Google Shape;432;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3" name="Shape 433"/>
        <p:cNvGrpSpPr/>
        <p:nvPr/>
      </p:nvGrpSpPr>
      <p:grpSpPr>
        <a:xfrm>
          <a:off x="0" y="0"/>
          <a:ext cx="0" cy="0"/>
          <a:chOff x="0" y="0"/>
          <a:chExt cx="0" cy="0"/>
        </a:xfrm>
      </p:grpSpPr>
      <p:sp>
        <p:nvSpPr>
          <p:cNvPr id="434" name="Google Shape;434;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5" name="Google Shape;435;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6" name="Google Shape;436;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7" name="Google Shape;437;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8" name="Google Shape;438;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9" name="Shape 439"/>
        <p:cNvGrpSpPr/>
        <p:nvPr/>
      </p:nvGrpSpPr>
      <p:grpSpPr>
        <a:xfrm>
          <a:off x="0" y="0"/>
          <a:ext cx="0" cy="0"/>
          <a:chOff x="0" y="0"/>
          <a:chExt cx="0" cy="0"/>
        </a:xfrm>
      </p:grpSpPr>
      <p:sp>
        <p:nvSpPr>
          <p:cNvPr id="440" name="Google Shape;440;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1" name="Google Shape;441;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2" name="Google Shape;442;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3" name="Google Shape;443;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4" name="Google Shape;444;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5" name="Google Shape;445;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7" name="Google Shape;447;p61"/>
          <p:cNvGrpSpPr/>
          <p:nvPr/>
        </p:nvGrpSpPr>
        <p:grpSpPr>
          <a:xfrm>
            <a:off x="457181" y="1345103"/>
            <a:ext cx="533372" cy="533480"/>
            <a:chOff x="457200" y="1378813"/>
            <a:chExt cx="695400" cy="695450"/>
          </a:xfrm>
        </p:grpSpPr>
        <p:sp>
          <p:nvSpPr>
            <p:cNvPr id="448" name="Google Shape;448;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9" name="Google Shape;449;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61"/>
          <p:cNvGrpSpPr/>
          <p:nvPr/>
        </p:nvGrpSpPr>
        <p:grpSpPr>
          <a:xfrm>
            <a:off x="3228956" y="1345103"/>
            <a:ext cx="533372" cy="533480"/>
            <a:chOff x="457200" y="1378813"/>
            <a:chExt cx="695400" cy="695450"/>
          </a:xfrm>
        </p:grpSpPr>
        <p:sp>
          <p:nvSpPr>
            <p:cNvPr id="451" name="Google Shape;451;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2" name="Google Shape;452;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3" name="Google Shape;453;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5" name="Google Shape;455;p61"/>
          <p:cNvGrpSpPr/>
          <p:nvPr/>
        </p:nvGrpSpPr>
        <p:grpSpPr>
          <a:xfrm>
            <a:off x="6134081" y="1345853"/>
            <a:ext cx="533372" cy="533480"/>
            <a:chOff x="457200" y="1378813"/>
            <a:chExt cx="695400" cy="695450"/>
          </a:xfrm>
        </p:grpSpPr>
        <p:sp>
          <p:nvSpPr>
            <p:cNvPr id="456" name="Google Shape;456;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7" name="Google Shape;457;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8" name="Google Shape;458;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60" name="Google Shape;460;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61" name="Shape 461"/>
        <p:cNvGrpSpPr/>
        <p:nvPr/>
      </p:nvGrpSpPr>
      <p:grpSpPr>
        <a:xfrm>
          <a:off x="0" y="0"/>
          <a:ext cx="0" cy="0"/>
          <a:chOff x="0" y="0"/>
          <a:chExt cx="0" cy="0"/>
        </a:xfrm>
      </p:grpSpPr>
      <p:sp>
        <p:nvSpPr>
          <p:cNvPr id="462" name="Google Shape;462;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3" name="Google Shape;463;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4" name="Google Shape;464;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5" name="Google Shape;465;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6" name="Shape 466"/>
        <p:cNvGrpSpPr/>
        <p:nvPr/>
      </p:nvGrpSpPr>
      <p:grpSpPr>
        <a:xfrm>
          <a:off x="0" y="0"/>
          <a:ext cx="0" cy="0"/>
          <a:chOff x="0" y="0"/>
          <a:chExt cx="0" cy="0"/>
        </a:xfrm>
      </p:grpSpPr>
      <p:sp>
        <p:nvSpPr>
          <p:cNvPr id="467" name="Google Shape;467;p63"/>
          <p:cNvSpPr/>
          <p:nvPr>
            <p:ph idx="2" type="pic"/>
          </p:nvPr>
        </p:nvSpPr>
        <p:spPr>
          <a:xfrm>
            <a:off x="5923375" y="150"/>
            <a:ext cx="3220500" cy="5143500"/>
          </a:xfrm>
          <a:prstGeom prst="rect">
            <a:avLst/>
          </a:prstGeom>
          <a:noFill/>
          <a:ln>
            <a:noFill/>
          </a:ln>
        </p:spPr>
      </p:sp>
      <p:sp>
        <p:nvSpPr>
          <p:cNvPr id="468" name="Google Shape;468;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9" name="Google Shape;469;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0" name="Google Shape;470;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71" name="Shape 471"/>
        <p:cNvGrpSpPr/>
        <p:nvPr/>
      </p:nvGrpSpPr>
      <p:grpSpPr>
        <a:xfrm>
          <a:off x="0" y="0"/>
          <a:ext cx="0" cy="0"/>
          <a:chOff x="0" y="0"/>
          <a:chExt cx="0" cy="0"/>
        </a:xfrm>
      </p:grpSpPr>
      <p:sp>
        <p:nvSpPr>
          <p:cNvPr id="472" name="Google Shape;472;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3" name="Google Shape;473;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4" name="Google Shape;474;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5" name="Google Shape;475;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6" name="Shape 476"/>
        <p:cNvGrpSpPr/>
        <p:nvPr/>
      </p:nvGrpSpPr>
      <p:grpSpPr>
        <a:xfrm>
          <a:off x="0" y="0"/>
          <a:ext cx="0" cy="0"/>
          <a:chOff x="0" y="0"/>
          <a:chExt cx="0" cy="0"/>
        </a:xfrm>
      </p:grpSpPr>
      <p:sp>
        <p:nvSpPr>
          <p:cNvPr id="477" name="Google Shape;477;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8" name="Google Shape;478;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9" name="Google Shape;479;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0" name="Google Shape;480;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1" name="Google Shape;481;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2" name="Shape 482"/>
        <p:cNvGrpSpPr/>
        <p:nvPr/>
      </p:nvGrpSpPr>
      <p:grpSpPr>
        <a:xfrm>
          <a:off x="0" y="0"/>
          <a:ext cx="0" cy="0"/>
          <a:chOff x="0" y="0"/>
          <a:chExt cx="0" cy="0"/>
        </a:xfrm>
      </p:grpSpPr>
      <p:sp>
        <p:nvSpPr>
          <p:cNvPr id="483" name="Google Shape;483;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4" name="Google Shape;484;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5" name="Google Shape;485;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6" name="Google Shape;486;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7" name="Google Shape;487;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8" name="Shape 488"/>
        <p:cNvGrpSpPr/>
        <p:nvPr/>
      </p:nvGrpSpPr>
      <p:grpSpPr>
        <a:xfrm>
          <a:off x="0" y="0"/>
          <a:ext cx="0" cy="0"/>
          <a:chOff x="0" y="0"/>
          <a:chExt cx="0" cy="0"/>
        </a:xfrm>
      </p:grpSpPr>
      <p:grpSp>
        <p:nvGrpSpPr>
          <p:cNvPr id="489" name="Google Shape;489;p67"/>
          <p:cNvGrpSpPr/>
          <p:nvPr/>
        </p:nvGrpSpPr>
        <p:grpSpPr>
          <a:xfrm>
            <a:off x="511772" y="1190428"/>
            <a:ext cx="533372" cy="533480"/>
            <a:chOff x="457200" y="1378813"/>
            <a:chExt cx="695400" cy="695450"/>
          </a:xfrm>
        </p:grpSpPr>
        <p:sp>
          <p:nvSpPr>
            <p:cNvPr id="490" name="Google Shape;490;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91" name="Google Shape;491;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2" name="Google Shape;492;p67"/>
          <p:cNvGrpSpPr/>
          <p:nvPr/>
        </p:nvGrpSpPr>
        <p:grpSpPr>
          <a:xfrm>
            <a:off x="3283547" y="1190428"/>
            <a:ext cx="533372" cy="533480"/>
            <a:chOff x="457200" y="1378813"/>
            <a:chExt cx="695400" cy="695450"/>
          </a:xfrm>
        </p:grpSpPr>
        <p:sp>
          <p:nvSpPr>
            <p:cNvPr id="493" name="Google Shape;493;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4" name="Google Shape;494;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5" name="Google Shape;495;p67"/>
          <p:cNvGrpSpPr/>
          <p:nvPr/>
        </p:nvGrpSpPr>
        <p:grpSpPr>
          <a:xfrm>
            <a:off x="6188672" y="1191178"/>
            <a:ext cx="533372" cy="533480"/>
            <a:chOff x="457200" y="1378813"/>
            <a:chExt cx="695400" cy="695450"/>
          </a:xfrm>
        </p:grpSpPr>
        <p:sp>
          <p:nvSpPr>
            <p:cNvPr id="496" name="Google Shape;496;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7" name="Google Shape;497;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8" name="Google Shape;498;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0" name="Google Shape;500;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3" name="Shape 503"/>
        <p:cNvGrpSpPr/>
        <p:nvPr/>
      </p:nvGrpSpPr>
      <p:grpSpPr>
        <a:xfrm>
          <a:off x="0" y="0"/>
          <a:ext cx="0" cy="0"/>
          <a:chOff x="0" y="0"/>
          <a:chExt cx="0" cy="0"/>
        </a:xfrm>
      </p:grpSpPr>
      <p:sp>
        <p:nvSpPr>
          <p:cNvPr id="504" name="Google Shape;504;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5" name="Google Shape;505;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6" name="Google Shape;506;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7" name="Google Shape;507;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8" name="Google Shape;508;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9" name="Google Shape;509;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10" name="Google Shape;510;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11" name="Shape 511"/>
        <p:cNvGrpSpPr/>
        <p:nvPr/>
      </p:nvGrpSpPr>
      <p:grpSpPr>
        <a:xfrm>
          <a:off x="0" y="0"/>
          <a:ext cx="0" cy="0"/>
          <a:chOff x="0" y="0"/>
          <a:chExt cx="0" cy="0"/>
        </a:xfrm>
      </p:grpSpPr>
      <p:sp>
        <p:nvSpPr>
          <p:cNvPr id="512" name="Google Shape;512;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3" name="Google Shape;513;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4" name="Google Shape;514;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5" name="Google Shape;515;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6" name="Google Shape;516;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7" name="Shape 517"/>
        <p:cNvGrpSpPr/>
        <p:nvPr/>
      </p:nvGrpSpPr>
      <p:grpSpPr>
        <a:xfrm>
          <a:off x="0" y="0"/>
          <a:ext cx="0" cy="0"/>
          <a:chOff x="0" y="0"/>
          <a:chExt cx="0" cy="0"/>
        </a:xfrm>
      </p:grpSpPr>
      <p:sp>
        <p:nvSpPr>
          <p:cNvPr id="518" name="Google Shape;518;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9" name="Google Shape;519;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0" name="Google Shape;520;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1" name="Google Shape;521;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2" name="Google Shape;522;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3" name="Shape 523"/>
        <p:cNvGrpSpPr/>
        <p:nvPr/>
      </p:nvGrpSpPr>
      <p:grpSpPr>
        <a:xfrm>
          <a:off x="0" y="0"/>
          <a:ext cx="0" cy="0"/>
          <a:chOff x="0" y="0"/>
          <a:chExt cx="0" cy="0"/>
        </a:xfrm>
      </p:grpSpPr>
      <p:sp>
        <p:nvSpPr>
          <p:cNvPr id="524" name="Google Shape;524;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5" name="Google Shape;525;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6" name="Google Shape;526;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7" name="Google Shape;527;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9" name="Shape 529"/>
        <p:cNvGrpSpPr/>
        <p:nvPr/>
      </p:nvGrpSpPr>
      <p:grpSpPr>
        <a:xfrm>
          <a:off x="0" y="0"/>
          <a:ext cx="0" cy="0"/>
          <a:chOff x="0" y="0"/>
          <a:chExt cx="0" cy="0"/>
        </a:xfrm>
      </p:grpSpPr>
      <p:sp>
        <p:nvSpPr>
          <p:cNvPr id="530" name="Google Shape;530;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1" name="Google Shape;531;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2" name="Google Shape;532;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3" name="Google Shape;533;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4" name="Google Shape;534;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5" name="Shape 535"/>
        <p:cNvGrpSpPr/>
        <p:nvPr/>
      </p:nvGrpSpPr>
      <p:grpSpPr>
        <a:xfrm>
          <a:off x="0" y="0"/>
          <a:ext cx="0" cy="0"/>
          <a:chOff x="0" y="0"/>
          <a:chExt cx="0" cy="0"/>
        </a:xfrm>
      </p:grpSpPr>
      <p:sp>
        <p:nvSpPr>
          <p:cNvPr id="536" name="Google Shape;536;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7" name="Google Shape;537;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8" name="Google Shape;538;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9" name="Google Shape;539;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0" name="Google Shape;540;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41" name="Shape 541"/>
        <p:cNvGrpSpPr/>
        <p:nvPr/>
      </p:nvGrpSpPr>
      <p:grpSpPr>
        <a:xfrm>
          <a:off x="0" y="0"/>
          <a:ext cx="0" cy="0"/>
          <a:chOff x="0" y="0"/>
          <a:chExt cx="0" cy="0"/>
        </a:xfrm>
      </p:grpSpPr>
      <p:sp>
        <p:nvSpPr>
          <p:cNvPr id="542" name="Google Shape;542;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3" name="Google Shape;543;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4" name="Google Shape;544;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5" name="Google Shape;545;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6" name="Google Shape;546;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7" name="Shape 547"/>
        <p:cNvGrpSpPr/>
        <p:nvPr/>
      </p:nvGrpSpPr>
      <p:grpSpPr>
        <a:xfrm>
          <a:off x="0" y="0"/>
          <a:ext cx="0" cy="0"/>
          <a:chOff x="0" y="0"/>
          <a:chExt cx="0" cy="0"/>
        </a:xfrm>
      </p:grpSpPr>
      <p:sp>
        <p:nvSpPr>
          <p:cNvPr id="548" name="Google Shape;548;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9" name="Google Shape;549;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0" name="Google Shape;550;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1" name="Google Shape;551;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3" name="Shape 553"/>
        <p:cNvGrpSpPr/>
        <p:nvPr/>
      </p:nvGrpSpPr>
      <p:grpSpPr>
        <a:xfrm>
          <a:off x="0" y="0"/>
          <a:ext cx="0" cy="0"/>
          <a:chOff x="0" y="0"/>
          <a:chExt cx="0" cy="0"/>
        </a:xfrm>
      </p:grpSpPr>
      <p:sp>
        <p:nvSpPr>
          <p:cNvPr id="554" name="Google Shape;554;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5" name="Google Shape;555;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6" name="Google Shape;556;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7" name="Google Shape;557;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8" name="Google Shape;558;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9" name="Shape 559"/>
        <p:cNvGrpSpPr/>
        <p:nvPr/>
      </p:nvGrpSpPr>
      <p:grpSpPr>
        <a:xfrm>
          <a:off x="0" y="0"/>
          <a:ext cx="0" cy="0"/>
          <a:chOff x="0" y="0"/>
          <a:chExt cx="0" cy="0"/>
        </a:xfrm>
      </p:grpSpPr>
      <p:sp>
        <p:nvSpPr>
          <p:cNvPr id="560" name="Google Shape;560;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1" name="Google Shape;561;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2" name="Google Shape;562;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3" name="Google Shape;563;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4" name="Google Shape;564;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5" name="Shape 565"/>
        <p:cNvGrpSpPr/>
        <p:nvPr/>
      </p:nvGrpSpPr>
      <p:grpSpPr>
        <a:xfrm>
          <a:off x="0" y="0"/>
          <a:ext cx="0" cy="0"/>
          <a:chOff x="0" y="0"/>
          <a:chExt cx="0" cy="0"/>
        </a:xfrm>
      </p:grpSpPr>
      <p:sp>
        <p:nvSpPr>
          <p:cNvPr id="566" name="Google Shape;566;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7" name="Google Shape;567;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8" name="Google Shape;568;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9" name="Google Shape;569;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71" name="Shape 571"/>
        <p:cNvGrpSpPr/>
        <p:nvPr/>
      </p:nvGrpSpPr>
      <p:grpSpPr>
        <a:xfrm>
          <a:off x="0" y="0"/>
          <a:ext cx="0" cy="0"/>
          <a:chOff x="0" y="0"/>
          <a:chExt cx="0" cy="0"/>
        </a:xfrm>
      </p:grpSpPr>
      <p:sp>
        <p:nvSpPr>
          <p:cNvPr id="572" name="Google Shape;572;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3" name="Google Shape;573;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4" name="Google Shape;574;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5" name="Google Shape;575;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6" name="Google Shape;576;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7" name="Shape 577"/>
        <p:cNvGrpSpPr/>
        <p:nvPr/>
      </p:nvGrpSpPr>
      <p:grpSpPr>
        <a:xfrm>
          <a:off x="0" y="0"/>
          <a:ext cx="0" cy="0"/>
          <a:chOff x="0" y="0"/>
          <a:chExt cx="0" cy="0"/>
        </a:xfrm>
      </p:grpSpPr>
      <p:sp>
        <p:nvSpPr>
          <p:cNvPr id="578" name="Google Shape;578;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9" name="Google Shape;579;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80" name="Google Shape;580;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81" name="Google Shape;581;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3" name="Google Shape;583;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4" name="Google Shape;584;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5" name="Google Shape;585;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6" name="Google Shape;586;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7" name="Google Shape;587;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8" name="Google Shape;588;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9" name="Google Shape;589;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90" name="Shape 590"/>
        <p:cNvGrpSpPr/>
        <p:nvPr/>
      </p:nvGrpSpPr>
      <p:grpSpPr>
        <a:xfrm>
          <a:off x="0" y="0"/>
          <a:ext cx="0" cy="0"/>
          <a:chOff x="0" y="0"/>
          <a:chExt cx="0" cy="0"/>
        </a:xfrm>
      </p:grpSpPr>
      <p:sp>
        <p:nvSpPr>
          <p:cNvPr id="591" name="Google Shape;591;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2" name="Google Shape;592;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3" name="Google Shape;593;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4" name="Google Shape;594;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5" name="Google Shape;595;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6" name="Shape 596"/>
        <p:cNvGrpSpPr/>
        <p:nvPr/>
      </p:nvGrpSpPr>
      <p:grpSpPr>
        <a:xfrm>
          <a:off x="0" y="0"/>
          <a:ext cx="0" cy="0"/>
          <a:chOff x="0" y="0"/>
          <a:chExt cx="0" cy="0"/>
        </a:xfrm>
      </p:grpSpPr>
      <p:sp>
        <p:nvSpPr>
          <p:cNvPr id="597" name="Google Shape;597;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8" name="Google Shape;598;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9" name="Google Shape;599;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00" name="Google Shape;600;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1" name="Google Shape;601;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2" name="Shape 602"/>
        <p:cNvGrpSpPr/>
        <p:nvPr/>
      </p:nvGrpSpPr>
      <p:grpSpPr>
        <a:xfrm>
          <a:off x="0" y="0"/>
          <a:ext cx="0" cy="0"/>
          <a:chOff x="0" y="0"/>
          <a:chExt cx="0" cy="0"/>
        </a:xfrm>
      </p:grpSpPr>
      <p:sp>
        <p:nvSpPr>
          <p:cNvPr id="603" name="Google Shape;603;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5" name="Google Shape;605;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6" name="Google Shape;606;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8" name="Google Shape;608;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9" name="Google Shape;609;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11" name="Google Shape;611;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2" name="Google Shape;612;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3" name="Google Shape;613;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4" name="Google Shape;614;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5" name="Google Shape;615;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6" name="Shape 616"/>
        <p:cNvGrpSpPr/>
        <p:nvPr/>
      </p:nvGrpSpPr>
      <p:grpSpPr>
        <a:xfrm>
          <a:off x="0" y="0"/>
          <a:ext cx="0" cy="0"/>
          <a:chOff x="0" y="0"/>
          <a:chExt cx="0" cy="0"/>
        </a:xfrm>
      </p:grpSpPr>
      <p:pic>
        <p:nvPicPr>
          <p:cNvPr id="617" name="Google Shape;617;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8" name="Google Shape;618;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9" name="Google Shape;619;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2" name="Shape 622"/>
        <p:cNvGrpSpPr/>
        <p:nvPr/>
      </p:nvGrpSpPr>
      <p:grpSpPr>
        <a:xfrm>
          <a:off x="0" y="0"/>
          <a:ext cx="0" cy="0"/>
          <a:chOff x="0" y="0"/>
          <a:chExt cx="0" cy="0"/>
        </a:xfrm>
      </p:grpSpPr>
      <p:sp>
        <p:nvSpPr>
          <p:cNvPr id="623" name="Google Shape;623;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4" name="Google Shape;624;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5" name="Google Shape;625;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6" name="Google Shape;626;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8" name="Shape 628"/>
        <p:cNvGrpSpPr/>
        <p:nvPr/>
      </p:nvGrpSpPr>
      <p:grpSpPr>
        <a:xfrm>
          <a:off x="0" y="0"/>
          <a:ext cx="0" cy="0"/>
          <a:chOff x="0" y="0"/>
          <a:chExt cx="0" cy="0"/>
        </a:xfrm>
      </p:grpSpPr>
      <p:sp>
        <p:nvSpPr>
          <p:cNvPr id="629" name="Google Shape;629;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30" name="Google Shape;630;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31" name="Google Shape;631;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2" name="Google Shape;632;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3" name="Google Shape;633;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4" name="Shape 634"/>
        <p:cNvGrpSpPr/>
        <p:nvPr/>
      </p:nvGrpSpPr>
      <p:grpSpPr>
        <a:xfrm>
          <a:off x="0" y="0"/>
          <a:ext cx="0" cy="0"/>
          <a:chOff x="0" y="0"/>
          <a:chExt cx="0" cy="0"/>
        </a:xfrm>
      </p:grpSpPr>
      <p:sp>
        <p:nvSpPr>
          <p:cNvPr id="635" name="Google Shape;635;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6" name="Google Shape;636;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7" name="Google Shape;637;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8" name="Google Shape;638;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9" name="Google Shape;639;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40" name="Shape 640"/>
        <p:cNvGrpSpPr/>
        <p:nvPr/>
      </p:nvGrpSpPr>
      <p:grpSpPr>
        <a:xfrm>
          <a:off x="0" y="0"/>
          <a:ext cx="0" cy="0"/>
          <a:chOff x="0" y="0"/>
          <a:chExt cx="0" cy="0"/>
        </a:xfrm>
      </p:grpSpPr>
      <p:sp>
        <p:nvSpPr>
          <p:cNvPr id="641" name="Google Shape;641;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2" name="Google Shape;642;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3" name="Google Shape;643;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4" name="Google Shape;644;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5" name="Google Shape;645;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6" name="Shape 646"/>
        <p:cNvGrpSpPr/>
        <p:nvPr/>
      </p:nvGrpSpPr>
      <p:grpSpPr>
        <a:xfrm>
          <a:off x="0" y="0"/>
          <a:ext cx="0" cy="0"/>
          <a:chOff x="0" y="0"/>
          <a:chExt cx="0" cy="0"/>
        </a:xfrm>
      </p:grpSpPr>
      <p:sp>
        <p:nvSpPr>
          <p:cNvPr id="647" name="Google Shape;647;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8" name="Google Shape;648;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9" name="Google Shape;649;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0" name="Google Shape;650;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1" name="Google Shape;651;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2" name="Shape 652"/>
        <p:cNvGrpSpPr/>
        <p:nvPr/>
      </p:nvGrpSpPr>
      <p:grpSpPr>
        <a:xfrm>
          <a:off x="0" y="0"/>
          <a:ext cx="0" cy="0"/>
          <a:chOff x="0" y="0"/>
          <a:chExt cx="0" cy="0"/>
        </a:xfrm>
      </p:grpSpPr>
      <p:sp>
        <p:nvSpPr>
          <p:cNvPr id="653" name="Google Shape;653;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4" name="Google Shape;654;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5" name="Google Shape;655;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6" name="Google Shape;656;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7" name="Google Shape;657;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8" name="Shape 658"/>
        <p:cNvGrpSpPr/>
        <p:nvPr/>
      </p:nvGrpSpPr>
      <p:grpSpPr>
        <a:xfrm>
          <a:off x="0" y="0"/>
          <a:ext cx="0" cy="0"/>
          <a:chOff x="0" y="0"/>
          <a:chExt cx="0" cy="0"/>
        </a:xfrm>
      </p:grpSpPr>
      <p:sp>
        <p:nvSpPr>
          <p:cNvPr id="659" name="Google Shape;659;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0" name="Google Shape;660;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1" name="Google Shape;661;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2" name="Google Shape;662;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3" name="Google Shape;663;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4" name="Shape 664"/>
        <p:cNvGrpSpPr/>
        <p:nvPr/>
      </p:nvGrpSpPr>
      <p:grpSpPr>
        <a:xfrm>
          <a:off x="0" y="0"/>
          <a:ext cx="0" cy="0"/>
          <a:chOff x="0" y="0"/>
          <a:chExt cx="0" cy="0"/>
        </a:xfrm>
      </p:grpSpPr>
      <p:sp>
        <p:nvSpPr>
          <p:cNvPr id="665" name="Google Shape;665;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6" name="Google Shape;666;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7" name="Google Shape;667;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8" name="Google Shape;668;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9" name="Google Shape;669;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70" name="Shape 670"/>
        <p:cNvGrpSpPr/>
        <p:nvPr/>
      </p:nvGrpSpPr>
      <p:grpSpPr>
        <a:xfrm>
          <a:off x="0" y="0"/>
          <a:ext cx="0" cy="0"/>
          <a:chOff x="0" y="0"/>
          <a:chExt cx="0" cy="0"/>
        </a:xfrm>
      </p:grpSpPr>
      <p:sp>
        <p:nvSpPr>
          <p:cNvPr id="671" name="Google Shape;671;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2" name="Google Shape;672;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3" name="Google Shape;673;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4" name="Google Shape;674;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5" name="Google Shape;675;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6" name="Shape 676"/>
        <p:cNvGrpSpPr/>
        <p:nvPr/>
      </p:nvGrpSpPr>
      <p:grpSpPr>
        <a:xfrm>
          <a:off x="0" y="0"/>
          <a:ext cx="0" cy="0"/>
          <a:chOff x="0" y="0"/>
          <a:chExt cx="0" cy="0"/>
        </a:xfrm>
      </p:grpSpPr>
      <p:sp>
        <p:nvSpPr>
          <p:cNvPr id="677" name="Google Shape;677;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8" name="Google Shape;678;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9" name="Google Shape;679;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0" name="Google Shape;680;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1" name="Google Shape;681;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2" name="Shape 682"/>
        <p:cNvGrpSpPr/>
        <p:nvPr/>
      </p:nvGrpSpPr>
      <p:grpSpPr>
        <a:xfrm>
          <a:off x="0" y="0"/>
          <a:ext cx="0" cy="0"/>
          <a:chOff x="0" y="0"/>
          <a:chExt cx="0" cy="0"/>
        </a:xfrm>
      </p:grpSpPr>
      <p:sp>
        <p:nvSpPr>
          <p:cNvPr id="683" name="Google Shape;683;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4" name="Google Shape;684;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5" name="Google Shape;685;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6" name="Google Shape;686;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7" name="Google Shape;687;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8" name="Shape 688"/>
        <p:cNvGrpSpPr/>
        <p:nvPr/>
      </p:nvGrpSpPr>
      <p:grpSpPr>
        <a:xfrm>
          <a:off x="0" y="0"/>
          <a:ext cx="0" cy="0"/>
          <a:chOff x="0" y="0"/>
          <a:chExt cx="0" cy="0"/>
        </a:xfrm>
      </p:grpSpPr>
      <p:sp>
        <p:nvSpPr>
          <p:cNvPr id="689" name="Google Shape;689;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0" name="Google Shape;690;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1" name="Google Shape;691;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2" name="Google Shape;692;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3" name="Google Shape;693;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4" name="Shape 694"/>
        <p:cNvGrpSpPr/>
        <p:nvPr/>
      </p:nvGrpSpPr>
      <p:grpSpPr>
        <a:xfrm>
          <a:off x="0" y="0"/>
          <a:ext cx="0" cy="0"/>
          <a:chOff x="0" y="0"/>
          <a:chExt cx="0" cy="0"/>
        </a:xfrm>
      </p:grpSpPr>
      <p:sp>
        <p:nvSpPr>
          <p:cNvPr id="695" name="Google Shape;695;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6" name="Google Shape;696;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7" name="Google Shape;697;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8" name="Google Shape;698;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9" name="Google Shape;699;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700" name="Shape 700"/>
        <p:cNvGrpSpPr/>
        <p:nvPr/>
      </p:nvGrpSpPr>
      <p:grpSpPr>
        <a:xfrm>
          <a:off x="0" y="0"/>
          <a:ext cx="0" cy="0"/>
          <a:chOff x="0" y="0"/>
          <a:chExt cx="0" cy="0"/>
        </a:xfrm>
      </p:grpSpPr>
      <p:sp>
        <p:nvSpPr>
          <p:cNvPr id="701" name="Google Shape;701;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2" name="Google Shape;702;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3" name="Google Shape;703;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4" name="Google Shape;704;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5" name="Google Shape;705;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6" name="Shape 706"/>
        <p:cNvGrpSpPr/>
        <p:nvPr/>
      </p:nvGrpSpPr>
      <p:grpSpPr>
        <a:xfrm>
          <a:off x="0" y="0"/>
          <a:ext cx="0" cy="0"/>
          <a:chOff x="0" y="0"/>
          <a:chExt cx="0" cy="0"/>
        </a:xfrm>
      </p:grpSpPr>
      <p:sp>
        <p:nvSpPr>
          <p:cNvPr id="707" name="Google Shape;707;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8" name="Google Shape;708;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9" name="Google Shape;709;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0" name="Google Shape;710;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1" name="Google Shape;711;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2" name="Shape 712"/>
        <p:cNvGrpSpPr/>
        <p:nvPr/>
      </p:nvGrpSpPr>
      <p:grpSpPr>
        <a:xfrm>
          <a:off x="0" y="0"/>
          <a:ext cx="0" cy="0"/>
          <a:chOff x="0" y="0"/>
          <a:chExt cx="0" cy="0"/>
        </a:xfrm>
      </p:grpSpPr>
      <p:sp>
        <p:nvSpPr>
          <p:cNvPr id="713" name="Google Shape;713;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4" name="Google Shape;714;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5" name="Google Shape;715;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6" name="Google Shape;716;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7" name="Google Shape;717;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8" name="Shape 718"/>
        <p:cNvGrpSpPr/>
        <p:nvPr/>
      </p:nvGrpSpPr>
      <p:grpSpPr>
        <a:xfrm>
          <a:off x="0" y="0"/>
          <a:ext cx="0" cy="0"/>
          <a:chOff x="0" y="0"/>
          <a:chExt cx="0" cy="0"/>
        </a:xfrm>
      </p:grpSpPr>
      <p:sp>
        <p:nvSpPr>
          <p:cNvPr id="719" name="Google Shape;719;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0" name="Google Shape;720;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1" name="Google Shape;721;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2" name="Google Shape;722;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3" name="Google Shape;723;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4" name="Shape 724"/>
        <p:cNvGrpSpPr/>
        <p:nvPr/>
      </p:nvGrpSpPr>
      <p:grpSpPr>
        <a:xfrm>
          <a:off x="0" y="0"/>
          <a:ext cx="0" cy="0"/>
          <a:chOff x="0" y="0"/>
          <a:chExt cx="0" cy="0"/>
        </a:xfrm>
      </p:grpSpPr>
      <p:sp>
        <p:nvSpPr>
          <p:cNvPr id="725" name="Google Shape;725;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6" name="Google Shape;726;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7" name="Google Shape;727;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8" name="Google Shape;728;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9" name="Google Shape;729;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30" name="Shape 730"/>
        <p:cNvGrpSpPr/>
        <p:nvPr/>
      </p:nvGrpSpPr>
      <p:grpSpPr>
        <a:xfrm>
          <a:off x="0" y="0"/>
          <a:ext cx="0" cy="0"/>
          <a:chOff x="0" y="0"/>
          <a:chExt cx="0" cy="0"/>
        </a:xfrm>
      </p:grpSpPr>
      <p:sp>
        <p:nvSpPr>
          <p:cNvPr id="731" name="Google Shape;731;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2" name="Google Shape;732;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3" name="Google Shape;733;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4" name="Google Shape;734;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5" name="Google Shape;735;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6" name="Shape 736"/>
        <p:cNvGrpSpPr/>
        <p:nvPr/>
      </p:nvGrpSpPr>
      <p:grpSpPr>
        <a:xfrm>
          <a:off x="0" y="0"/>
          <a:ext cx="0" cy="0"/>
          <a:chOff x="0" y="0"/>
          <a:chExt cx="0" cy="0"/>
        </a:xfrm>
      </p:grpSpPr>
      <p:sp>
        <p:nvSpPr>
          <p:cNvPr id="737" name="Google Shape;737;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8" name="Google Shape;738;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9" name="Google Shape;739;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0" name="Google Shape;740;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1" name="Google Shape;741;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2" name="Shape 742"/>
        <p:cNvGrpSpPr/>
        <p:nvPr/>
      </p:nvGrpSpPr>
      <p:grpSpPr>
        <a:xfrm>
          <a:off x="0" y="0"/>
          <a:ext cx="0" cy="0"/>
          <a:chOff x="0" y="0"/>
          <a:chExt cx="0" cy="0"/>
        </a:xfrm>
      </p:grpSpPr>
      <p:sp>
        <p:nvSpPr>
          <p:cNvPr id="743" name="Google Shape;743;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4" name="Google Shape;744;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5" name="Google Shape;745;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6" name="Google Shape;746;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7" name="Google Shape;747;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8" name="Shape 748"/>
        <p:cNvGrpSpPr/>
        <p:nvPr/>
      </p:nvGrpSpPr>
      <p:grpSpPr>
        <a:xfrm>
          <a:off x="0" y="0"/>
          <a:ext cx="0" cy="0"/>
          <a:chOff x="0" y="0"/>
          <a:chExt cx="0" cy="0"/>
        </a:xfrm>
      </p:grpSpPr>
      <p:sp>
        <p:nvSpPr>
          <p:cNvPr id="749" name="Google Shape;749;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50" name="Google Shape;750;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51" name="Google Shape;751;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2" name="Google Shape;752;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3" name="Google Shape;753;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4" name="Shape 754"/>
        <p:cNvGrpSpPr/>
        <p:nvPr/>
      </p:nvGrpSpPr>
      <p:grpSpPr>
        <a:xfrm>
          <a:off x="0" y="0"/>
          <a:ext cx="0" cy="0"/>
          <a:chOff x="0" y="0"/>
          <a:chExt cx="0" cy="0"/>
        </a:xfrm>
      </p:grpSpPr>
      <p:sp>
        <p:nvSpPr>
          <p:cNvPr id="755" name="Google Shape;755;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9" name="Google Shape;759;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60" name="Google Shape;760;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61" name="Google Shape;761;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2" name="Google Shape;762;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3" name="Google Shape;763;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4" name="Google Shape;764;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6" name="Google Shape;766;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7" name="Google Shape;767;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9" name="Google Shape;769;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70" name="Shape 770"/>
        <p:cNvGrpSpPr/>
        <p:nvPr/>
      </p:nvGrpSpPr>
      <p:grpSpPr>
        <a:xfrm>
          <a:off x="0" y="0"/>
          <a:ext cx="0" cy="0"/>
          <a:chOff x="0" y="0"/>
          <a:chExt cx="0" cy="0"/>
        </a:xfrm>
      </p:grpSpPr>
      <p:sp>
        <p:nvSpPr>
          <p:cNvPr id="771" name="Google Shape;771;p108"/>
          <p:cNvSpPr/>
          <p:nvPr>
            <p:ph idx="2" type="pic"/>
          </p:nvPr>
        </p:nvSpPr>
        <p:spPr>
          <a:xfrm>
            <a:off x="5923375" y="150"/>
            <a:ext cx="3220500" cy="5143500"/>
          </a:xfrm>
          <a:prstGeom prst="rect">
            <a:avLst/>
          </a:prstGeom>
          <a:noFill/>
          <a:ln>
            <a:noFill/>
          </a:ln>
        </p:spPr>
      </p:sp>
      <p:sp>
        <p:nvSpPr>
          <p:cNvPr id="772" name="Google Shape;772;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3" name="Google Shape;773;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4" name="Google Shape;774;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5" name="Shape 775"/>
        <p:cNvGrpSpPr/>
        <p:nvPr/>
      </p:nvGrpSpPr>
      <p:grpSpPr>
        <a:xfrm>
          <a:off x="0" y="0"/>
          <a:ext cx="0" cy="0"/>
          <a:chOff x="0" y="0"/>
          <a:chExt cx="0" cy="0"/>
        </a:xfrm>
      </p:grpSpPr>
      <p:sp>
        <p:nvSpPr>
          <p:cNvPr id="776" name="Google Shape;776;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7" name="Shape 777"/>
        <p:cNvGrpSpPr/>
        <p:nvPr/>
      </p:nvGrpSpPr>
      <p:grpSpPr>
        <a:xfrm>
          <a:off x="0" y="0"/>
          <a:ext cx="0" cy="0"/>
          <a:chOff x="0" y="0"/>
          <a:chExt cx="0" cy="0"/>
        </a:xfrm>
      </p:grpSpPr>
      <p:sp>
        <p:nvSpPr>
          <p:cNvPr id="778" name="Google Shape;778;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9" name="Shape 779"/>
        <p:cNvGrpSpPr/>
        <p:nvPr/>
      </p:nvGrpSpPr>
      <p:grpSpPr>
        <a:xfrm>
          <a:off x="0" y="0"/>
          <a:ext cx="0" cy="0"/>
          <a:chOff x="0" y="0"/>
          <a:chExt cx="0" cy="0"/>
        </a:xfrm>
      </p:grpSpPr>
      <p:sp>
        <p:nvSpPr>
          <p:cNvPr id="780" name="Google Shape;780;p111"/>
          <p:cNvSpPr/>
          <p:nvPr>
            <p:ph idx="2" type="pic"/>
          </p:nvPr>
        </p:nvSpPr>
        <p:spPr>
          <a:xfrm>
            <a:off x="5923375" y="150"/>
            <a:ext cx="3220500" cy="5143500"/>
          </a:xfrm>
          <a:prstGeom prst="rect">
            <a:avLst/>
          </a:prstGeom>
          <a:noFill/>
          <a:ln>
            <a:noFill/>
          </a:ln>
        </p:spPr>
      </p:sp>
      <p:sp>
        <p:nvSpPr>
          <p:cNvPr id="781" name="Google Shape;781;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2" name="Google Shape;782;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3" name="Google Shape;783;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4" name="Shape 784"/>
        <p:cNvGrpSpPr/>
        <p:nvPr/>
      </p:nvGrpSpPr>
      <p:grpSpPr>
        <a:xfrm>
          <a:off x="0" y="0"/>
          <a:ext cx="0" cy="0"/>
          <a:chOff x="0" y="0"/>
          <a:chExt cx="0" cy="0"/>
        </a:xfrm>
      </p:grpSpPr>
      <p:sp>
        <p:nvSpPr>
          <p:cNvPr id="785" name="Google Shape;785;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6" name="Google Shape;786;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7" name="Google Shape;787;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8" name="Google Shape;788;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9" name="Shape 789"/>
        <p:cNvGrpSpPr/>
        <p:nvPr/>
      </p:nvGrpSpPr>
      <p:grpSpPr>
        <a:xfrm>
          <a:off x="0" y="0"/>
          <a:ext cx="0" cy="0"/>
          <a:chOff x="0" y="0"/>
          <a:chExt cx="0" cy="0"/>
        </a:xfrm>
      </p:grpSpPr>
      <p:sp>
        <p:nvSpPr>
          <p:cNvPr id="790" name="Google Shape;790;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1" name="Google Shape;791;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2" name="Google Shape;792;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3" name="Google Shape;793;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4" name="Shape 794"/>
        <p:cNvGrpSpPr/>
        <p:nvPr/>
      </p:nvGrpSpPr>
      <p:grpSpPr>
        <a:xfrm>
          <a:off x="0" y="0"/>
          <a:ext cx="0" cy="0"/>
          <a:chOff x="0" y="0"/>
          <a:chExt cx="0" cy="0"/>
        </a:xfrm>
      </p:grpSpPr>
      <p:sp>
        <p:nvSpPr>
          <p:cNvPr id="795" name="Google Shape;795;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7" name="Google Shape;797;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8" name="Shape 798"/>
        <p:cNvGrpSpPr/>
        <p:nvPr/>
      </p:nvGrpSpPr>
      <p:grpSpPr>
        <a:xfrm>
          <a:off x="0" y="0"/>
          <a:ext cx="0" cy="0"/>
          <a:chOff x="0" y="0"/>
          <a:chExt cx="0" cy="0"/>
        </a:xfrm>
      </p:grpSpPr>
      <p:sp>
        <p:nvSpPr>
          <p:cNvPr id="799" name="Google Shape;799;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0" name="Google Shape;800;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1" name="Google Shape;801;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2" name="Google Shape;802;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3" name="Google Shape;803;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4" name="Shape 804"/>
        <p:cNvGrpSpPr/>
        <p:nvPr/>
      </p:nvGrpSpPr>
      <p:grpSpPr>
        <a:xfrm>
          <a:off x="0" y="0"/>
          <a:ext cx="0" cy="0"/>
          <a:chOff x="0" y="0"/>
          <a:chExt cx="0" cy="0"/>
        </a:xfrm>
      </p:grpSpPr>
      <p:cxnSp>
        <p:nvCxnSpPr>
          <p:cNvPr id="805" name="Google Shape;805;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6" name="Google Shape;806;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7" name="Google Shape;807;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8" name="Google Shape;808;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9" name="Shape 809"/>
        <p:cNvGrpSpPr/>
        <p:nvPr/>
      </p:nvGrpSpPr>
      <p:grpSpPr>
        <a:xfrm>
          <a:off x="0" y="0"/>
          <a:ext cx="0" cy="0"/>
          <a:chOff x="0" y="0"/>
          <a:chExt cx="0" cy="0"/>
        </a:xfrm>
      </p:grpSpPr>
      <p:cxnSp>
        <p:nvCxnSpPr>
          <p:cNvPr id="810" name="Google Shape;810;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1" name="Google Shape;811;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2" name="Google Shape;812;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3" name="Google Shape;813;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4" name="Shape 814"/>
        <p:cNvGrpSpPr/>
        <p:nvPr/>
      </p:nvGrpSpPr>
      <p:grpSpPr>
        <a:xfrm>
          <a:off x="0" y="0"/>
          <a:ext cx="0" cy="0"/>
          <a:chOff x="0" y="0"/>
          <a:chExt cx="0" cy="0"/>
        </a:xfrm>
      </p:grpSpPr>
      <p:cxnSp>
        <p:nvCxnSpPr>
          <p:cNvPr id="815" name="Google Shape;815;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6" name="Google Shape;816;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7" name="Google Shape;817;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8" name="Google Shape;818;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9" name="Shape 819"/>
        <p:cNvGrpSpPr/>
        <p:nvPr/>
      </p:nvGrpSpPr>
      <p:grpSpPr>
        <a:xfrm>
          <a:off x="0" y="0"/>
          <a:ext cx="0" cy="0"/>
          <a:chOff x="0" y="0"/>
          <a:chExt cx="0" cy="0"/>
        </a:xfrm>
      </p:grpSpPr>
      <p:sp>
        <p:nvSpPr>
          <p:cNvPr id="820" name="Google Shape;820;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1" name="Google Shape;821;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2" name="Google Shape;822;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3" name="Google Shape;823;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4" name="Google Shape;824;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5" name="Shape 825"/>
        <p:cNvGrpSpPr/>
        <p:nvPr/>
      </p:nvGrpSpPr>
      <p:grpSpPr>
        <a:xfrm>
          <a:off x="0" y="0"/>
          <a:ext cx="0" cy="0"/>
          <a:chOff x="0" y="0"/>
          <a:chExt cx="0" cy="0"/>
        </a:xfrm>
      </p:grpSpPr>
      <p:sp>
        <p:nvSpPr>
          <p:cNvPr id="826" name="Google Shape;826;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7" name="Google Shape;827;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8" name="Google Shape;828;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9" name="Google Shape;829;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30" name="Shape 830"/>
        <p:cNvGrpSpPr/>
        <p:nvPr/>
      </p:nvGrpSpPr>
      <p:grpSpPr>
        <a:xfrm>
          <a:off x="0" y="0"/>
          <a:ext cx="0" cy="0"/>
          <a:chOff x="0" y="0"/>
          <a:chExt cx="0" cy="0"/>
        </a:xfrm>
      </p:grpSpPr>
      <p:sp>
        <p:nvSpPr>
          <p:cNvPr id="831" name="Google Shape;831;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2" name="Google Shape;832;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3" name="Google Shape;833;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4" name="Google Shape;834;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5" name="Shape 835"/>
        <p:cNvGrpSpPr/>
        <p:nvPr/>
      </p:nvGrpSpPr>
      <p:grpSpPr>
        <a:xfrm>
          <a:off x="0" y="0"/>
          <a:ext cx="0" cy="0"/>
          <a:chOff x="0" y="0"/>
          <a:chExt cx="0" cy="0"/>
        </a:xfrm>
      </p:grpSpPr>
      <p:sp>
        <p:nvSpPr>
          <p:cNvPr id="836" name="Google Shape;836;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7" name="Google Shape;837;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8" name="Google Shape;838;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9" name="Google Shape;839;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40" name="Shape 840"/>
        <p:cNvGrpSpPr/>
        <p:nvPr/>
      </p:nvGrpSpPr>
      <p:grpSpPr>
        <a:xfrm>
          <a:off x="0" y="0"/>
          <a:ext cx="0" cy="0"/>
          <a:chOff x="0" y="0"/>
          <a:chExt cx="0" cy="0"/>
        </a:xfrm>
      </p:grpSpPr>
      <p:sp>
        <p:nvSpPr>
          <p:cNvPr id="841" name="Google Shape;841;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2" name="Google Shape;842;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3" name="Google Shape;843;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4" name="Google Shape;844;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5" name="Shape 845"/>
        <p:cNvGrpSpPr/>
        <p:nvPr/>
      </p:nvGrpSpPr>
      <p:grpSpPr>
        <a:xfrm>
          <a:off x="0" y="0"/>
          <a:ext cx="0" cy="0"/>
          <a:chOff x="0" y="0"/>
          <a:chExt cx="0" cy="0"/>
        </a:xfrm>
      </p:grpSpPr>
      <p:sp>
        <p:nvSpPr>
          <p:cNvPr id="846" name="Google Shape;846;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7" name="Google Shape;847;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8" name="Google Shape;848;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9" name="Google Shape;849;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50" name="Shape 850"/>
        <p:cNvGrpSpPr/>
        <p:nvPr/>
      </p:nvGrpSpPr>
      <p:grpSpPr>
        <a:xfrm>
          <a:off x="0" y="0"/>
          <a:ext cx="0" cy="0"/>
          <a:chOff x="0" y="0"/>
          <a:chExt cx="0" cy="0"/>
        </a:xfrm>
      </p:grpSpPr>
      <p:grpSp>
        <p:nvGrpSpPr>
          <p:cNvPr id="851" name="Google Shape;851;p125"/>
          <p:cNvGrpSpPr/>
          <p:nvPr/>
        </p:nvGrpSpPr>
        <p:grpSpPr>
          <a:xfrm>
            <a:off x="440125" y="1136875"/>
            <a:ext cx="776900" cy="486300"/>
            <a:chOff x="457200" y="1466425"/>
            <a:chExt cx="776900" cy="486300"/>
          </a:xfrm>
        </p:grpSpPr>
        <p:sp>
          <p:nvSpPr>
            <p:cNvPr id="852" name="Google Shape;852;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3" name="Google Shape;853;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4" name="Google Shape;854;p125"/>
          <p:cNvGrpSpPr/>
          <p:nvPr/>
        </p:nvGrpSpPr>
        <p:grpSpPr>
          <a:xfrm>
            <a:off x="440125" y="1791730"/>
            <a:ext cx="776900" cy="486300"/>
            <a:chOff x="457200" y="1466425"/>
            <a:chExt cx="776900" cy="486300"/>
          </a:xfrm>
        </p:grpSpPr>
        <p:sp>
          <p:nvSpPr>
            <p:cNvPr id="855" name="Google Shape;855;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6" name="Google Shape;856;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7" name="Google Shape;857;p125"/>
          <p:cNvGrpSpPr/>
          <p:nvPr/>
        </p:nvGrpSpPr>
        <p:grpSpPr>
          <a:xfrm>
            <a:off x="440125" y="2446585"/>
            <a:ext cx="776900" cy="486300"/>
            <a:chOff x="457200" y="1466425"/>
            <a:chExt cx="776900" cy="486300"/>
          </a:xfrm>
        </p:grpSpPr>
        <p:sp>
          <p:nvSpPr>
            <p:cNvPr id="858" name="Google Shape;858;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9" name="Google Shape;859;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0" name="Google Shape;860;p125"/>
          <p:cNvGrpSpPr/>
          <p:nvPr/>
        </p:nvGrpSpPr>
        <p:grpSpPr>
          <a:xfrm>
            <a:off x="440125" y="3101440"/>
            <a:ext cx="776900" cy="486300"/>
            <a:chOff x="457200" y="1466425"/>
            <a:chExt cx="776900" cy="486300"/>
          </a:xfrm>
        </p:grpSpPr>
        <p:sp>
          <p:nvSpPr>
            <p:cNvPr id="861" name="Google Shape;861;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2" name="Google Shape;862;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3" name="Google Shape;863;p125"/>
          <p:cNvGrpSpPr/>
          <p:nvPr/>
        </p:nvGrpSpPr>
        <p:grpSpPr>
          <a:xfrm>
            <a:off x="440125" y="3756295"/>
            <a:ext cx="776900" cy="486300"/>
            <a:chOff x="457200" y="1466425"/>
            <a:chExt cx="776900" cy="486300"/>
          </a:xfrm>
        </p:grpSpPr>
        <p:sp>
          <p:nvSpPr>
            <p:cNvPr id="864" name="Google Shape;864;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5" name="Google Shape;865;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6" name="Google Shape;866;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7" name="Google Shape;867;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70" name="Google Shape;870;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71" name="Google Shape;871;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2" name="Google Shape;872;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3" name="Google Shape;873;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6" name="Google Shape;876;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7" name="Google Shape;877;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8" name="Google Shape;878;p125"/>
          <p:cNvGrpSpPr/>
          <p:nvPr/>
        </p:nvGrpSpPr>
        <p:grpSpPr>
          <a:xfrm>
            <a:off x="440125" y="4413095"/>
            <a:ext cx="776900" cy="486300"/>
            <a:chOff x="457200" y="1466425"/>
            <a:chExt cx="776900" cy="486300"/>
          </a:xfrm>
        </p:grpSpPr>
        <p:sp>
          <p:nvSpPr>
            <p:cNvPr id="879" name="Google Shape;879;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80" name="Google Shape;880;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81" name="Google Shape;881;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2" name="Google Shape;882;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3" name="Shape 883"/>
        <p:cNvGrpSpPr/>
        <p:nvPr/>
      </p:nvGrpSpPr>
      <p:grpSpPr>
        <a:xfrm>
          <a:off x="0" y="0"/>
          <a:ext cx="0" cy="0"/>
          <a:chOff x="0" y="0"/>
          <a:chExt cx="0" cy="0"/>
        </a:xfrm>
      </p:grpSpPr>
      <p:sp>
        <p:nvSpPr>
          <p:cNvPr id="884" name="Google Shape;884;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5" name="Google Shape;885;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6" name="Google Shape;886;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7" name="Google Shape;887;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8" name="Shape 888"/>
        <p:cNvGrpSpPr/>
        <p:nvPr/>
      </p:nvGrpSpPr>
      <p:grpSpPr>
        <a:xfrm>
          <a:off x="0" y="0"/>
          <a:ext cx="0" cy="0"/>
          <a:chOff x="0" y="0"/>
          <a:chExt cx="0" cy="0"/>
        </a:xfrm>
      </p:grpSpPr>
      <p:sp>
        <p:nvSpPr>
          <p:cNvPr id="889" name="Google Shape;889;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0" name="Google Shape;890;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1" name="Google Shape;891;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2" name="Google Shape;892;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3" name="Shape 893"/>
        <p:cNvGrpSpPr/>
        <p:nvPr/>
      </p:nvGrpSpPr>
      <p:grpSpPr>
        <a:xfrm>
          <a:off x="0" y="0"/>
          <a:ext cx="0" cy="0"/>
          <a:chOff x="0" y="0"/>
          <a:chExt cx="0" cy="0"/>
        </a:xfrm>
      </p:grpSpPr>
      <p:sp>
        <p:nvSpPr>
          <p:cNvPr id="894" name="Google Shape;894;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5" name="Google Shape;895;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6" name="Google Shape;896;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7" name="Google Shape;897;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8" name="Shape 898"/>
        <p:cNvGrpSpPr/>
        <p:nvPr/>
      </p:nvGrpSpPr>
      <p:grpSpPr>
        <a:xfrm>
          <a:off x="0" y="0"/>
          <a:ext cx="0" cy="0"/>
          <a:chOff x="0" y="0"/>
          <a:chExt cx="0" cy="0"/>
        </a:xfrm>
      </p:grpSpPr>
      <p:sp>
        <p:nvSpPr>
          <p:cNvPr id="899" name="Google Shape;899;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0" name="Google Shape;900;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1" name="Google Shape;901;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2" name="Google Shape;902;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3" name="Shape 903"/>
        <p:cNvGrpSpPr/>
        <p:nvPr/>
      </p:nvGrpSpPr>
      <p:grpSpPr>
        <a:xfrm>
          <a:off x="0" y="0"/>
          <a:ext cx="0" cy="0"/>
          <a:chOff x="0" y="0"/>
          <a:chExt cx="0" cy="0"/>
        </a:xfrm>
      </p:grpSpPr>
      <p:sp>
        <p:nvSpPr>
          <p:cNvPr id="904" name="Google Shape;904;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5" name="Google Shape;905;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6" name="Google Shape;906;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7" name="Google Shape;907;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8" name="Shape 908"/>
        <p:cNvGrpSpPr/>
        <p:nvPr/>
      </p:nvGrpSpPr>
      <p:grpSpPr>
        <a:xfrm>
          <a:off x="0" y="0"/>
          <a:ext cx="0" cy="0"/>
          <a:chOff x="0" y="0"/>
          <a:chExt cx="0" cy="0"/>
        </a:xfrm>
      </p:grpSpPr>
      <p:sp>
        <p:nvSpPr>
          <p:cNvPr id="909" name="Google Shape;909;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0" name="Google Shape;910;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1" name="Google Shape;911;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2" name="Google Shape;912;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3" name="Shape 913"/>
        <p:cNvGrpSpPr/>
        <p:nvPr/>
      </p:nvGrpSpPr>
      <p:grpSpPr>
        <a:xfrm>
          <a:off x="0" y="0"/>
          <a:ext cx="0" cy="0"/>
          <a:chOff x="0" y="0"/>
          <a:chExt cx="0" cy="0"/>
        </a:xfrm>
      </p:grpSpPr>
      <p:sp>
        <p:nvSpPr>
          <p:cNvPr id="914" name="Google Shape;914;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5" name="Google Shape;915;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6" name="Google Shape;916;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7" name="Google Shape;917;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8" name="Shape 918"/>
        <p:cNvGrpSpPr/>
        <p:nvPr/>
      </p:nvGrpSpPr>
      <p:grpSpPr>
        <a:xfrm>
          <a:off x="0" y="0"/>
          <a:ext cx="0" cy="0"/>
          <a:chOff x="0" y="0"/>
          <a:chExt cx="0" cy="0"/>
        </a:xfrm>
      </p:grpSpPr>
      <p:sp>
        <p:nvSpPr>
          <p:cNvPr id="919" name="Google Shape;919;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0" name="Google Shape;920;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1" name="Google Shape;921;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2" name="Google Shape;922;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3" name="Shape 923"/>
        <p:cNvGrpSpPr/>
        <p:nvPr/>
      </p:nvGrpSpPr>
      <p:grpSpPr>
        <a:xfrm>
          <a:off x="0" y="0"/>
          <a:ext cx="0" cy="0"/>
          <a:chOff x="0" y="0"/>
          <a:chExt cx="0" cy="0"/>
        </a:xfrm>
      </p:grpSpPr>
      <p:sp>
        <p:nvSpPr>
          <p:cNvPr id="924" name="Google Shape;924;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5" name="Google Shape;925;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6" name="Google Shape;926;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7" name="Google Shape;927;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8" name="Google Shape;928;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9" name="Shape 929"/>
        <p:cNvGrpSpPr/>
        <p:nvPr/>
      </p:nvGrpSpPr>
      <p:grpSpPr>
        <a:xfrm>
          <a:off x="0" y="0"/>
          <a:ext cx="0" cy="0"/>
          <a:chOff x="0" y="0"/>
          <a:chExt cx="0" cy="0"/>
        </a:xfrm>
      </p:grpSpPr>
      <p:sp>
        <p:nvSpPr>
          <p:cNvPr id="930" name="Google Shape;930;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1" name="Google Shape;931;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2" name="Google Shape;932;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3" name="Google Shape;933;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4" name="Google Shape;934;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5" name="Shape 935"/>
        <p:cNvGrpSpPr/>
        <p:nvPr/>
      </p:nvGrpSpPr>
      <p:grpSpPr>
        <a:xfrm>
          <a:off x="0" y="0"/>
          <a:ext cx="0" cy="0"/>
          <a:chOff x="0" y="0"/>
          <a:chExt cx="0" cy="0"/>
        </a:xfrm>
      </p:grpSpPr>
      <p:sp>
        <p:nvSpPr>
          <p:cNvPr id="936" name="Google Shape;936;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7" name="Google Shape;937;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8" name="Google Shape;938;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9" name="Google Shape;939;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40" name="Google Shape;940;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41" name="Shape 941"/>
        <p:cNvGrpSpPr/>
        <p:nvPr/>
      </p:nvGrpSpPr>
      <p:grpSpPr>
        <a:xfrm>
          <a:off x="0" y="0"/>
          <a:ext cx="0" cy="0"/>
          <a:chOff x="0" y="0"/>
          <a:chExt cx="0" cy="0"/>
        </a:xfrm>
      </p:grpSpPr>
      <p:cxnSp>
        <p:nvCxnSpPr>
          <p:cNvPr id="942" name="Google Shape;942;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3" name="Google Shape;943;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7" name="Google Shape;947;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8" name="Google Shape;948;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9" name="Google Shape;949;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1" name="Google Shape;951;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2" name="Google Shape;952;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3" name="Google Shape;953;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4" name="Google Shape;954;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5" name="Google Shape;955;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6" name="Shape 956"/>
        <p:cNvGrpSpPr/>
        <p:nvPr/>
      </p:nvGrpSpPr>
      <p:grpSpPr>
        <a:xfrm>
          <a:off x="0" y="0"/>
          <a:ext cx="0" cy="0"/>
          <a:chOff x="0" y="0"/>
          <a:chExt cx="0" cy="0"/>
        </a:xfrm>
      </p:grpSpPr>
      <p:sp>
        <p:nvSpPr>
          <p:cNvPr id="957" name="Google Shape;957;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8" name="Google Shape;958;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9" name="Google Shape;959;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60" name="Google Shape;960;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61" name="Google Shape;961;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2" name="Google Shape;962;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3" name="Google Shape;963;p138"/>
          <p:cNvGrpSpPr/>
          <p:nvPr/>
        </p:nvGrpSpPr>
        <p:grpSpPr>
          <a:xfrm>
            <a:off x="457147" y="1190428"/>
            <a:ext cx="533372" cy="533480"/>
            <a:chOff x="457200" y="1378813"/>
            <a:chExt cx="695400" cy="695450"/>
          </a:xfrm>
        </p:grpSpPr>
        <p:sp>
          <p:nvSpPr>
            <p:cNvPr id="964" name="Google Shape;964;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5" name="Google Shape;965;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6" name="Google Shape;966;p138"/>
          <p:cNvGrpSpPr/>
          <p:nvPr/>
        </p:nvGrpSpPr>
        <p:grpSpPr>
          <a:xfrm>
            <a:off x="4876797" y="1190428"/>
            <a:ext cx="533372" cy="533480"/>
            <a:chOff x="2605668" y="1378813"/>
            <a:chExt cx="695400" cy="695450"/>
          </a:xfrm>
        </p:grpSpPr>
        <p:sp>
          <p:nvSpPr>
            <p:cNvPr id="967" name="Google Shape;967;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8" name="Google Shape;968;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9" name="Google Shape;969;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70" name="Google Shape;970;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71" name="Google Shape;971;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2" name="Shape 972"/>
        <p:cNvGrpSpPr/>
        <p:nvPr/>
      </p:nvGrpSpPr>
      <p:grpSpPr>
        <a:xfrm>
          <a:off x="0" y="0"/>
          <a:ext cx="0" cy="0"/>
          <a:chOff x="0" y="0"/>
          <a:chExt cx="0" cy="0"/>
        </a:xfrm>
      </p:grpSpPr>
      <p:sp>
        <p:nvSpPr>
          <p:cNvPr id="973" name="Google Shape;973;p139"/>
          <p:cNvSpPr/>
          <p:nvPr>
            <p:ph idx="2" type="pic"/>
          </p:nvPr>
        </p:nvSpPr>
        <p:spPr>
          <a:xfrm>
            <a:off x="5923375" y="150"/>
            <a:ext cx="3220500" cy="5143500"/>
          </a:xfrm>
          <a:prstGeom prst="rect">
            <a:avLst/>
          </a:prstGeom>
          <a:noFill/>
          <a:ln>
            <a:noFill/>
          </a:ln>
        </p:spPr>
      </p:sp>
      <p:sp>
        <p:nvSpPr>
          <p:cNvPr id="974" name="Google Shape;974;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5" name="Google Shape;975;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6" name="Google Shape;976;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7" name="Shape 977"/>
        <p:cNvGrpSpPr/>
        <p:nvPr/>
      </p:nvGrpSpPr>
      <p:grpSpPr>
        <a:xfrm>
          <a:off x="0" y="0"/>
          <a:ext cx="0" cy="0"/>
          <a:chOff x="0" y="0"/>
          <a:chExt cx="0" cy="0"/>
        </a:xfrm>
      </p:grpSpPr>
      <p:sp>
        <p:nvSpPr>
          <p:cNvPr id="978" name="Google Shape;978;p140"/>
          <p:cNvSpPr/>
          <p:nvPr>
            <p:ph idx="2" type="pic"/>
          </p:nvPr>
        </p:nvSpPr>
        <p:spPr>
          <a:xfrm>
            <a:off x="5923375" y="150"/>
            <a:ext cx="3220500" cy="5143500"/>
          </a:xfrm>
          <a:prstGeom prst="rect">
            <a:avLst/>
          </a:prstGeom>
          <a:noFill/>
          <a:ln>
            <a:noFill/>
          </a:ln>
        </p:spPr>
      </p:sp>
      <p:sp>
        <p:nvSpPr>
          <p:cNvPr id="979" name="Google Shape;979;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0" name="Google Shape;980;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1" name="Google Shape;981;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2" name="Shape 982"/>
        <p:cNvGrpSpPr/>
        <p:nvPr/>
      </p:nvGrpSpPr>
      <p:grpSpPr>
        <a:xfrm>
          <a:off x="0" y="0"/>
          <a:ext cx="0" cy="0"/>
          <a:chOff x="0" y="0"/>
          <a:chExt cx="0" cy="0"/>
        </a:xfrm>
      </p:grpSpPr>
      <p:sp>
        <p:nvSpPr>
          <p:cNvPr id="983" name="Google Shape;983;p141"/>
          <p:cNvSpPr/>
          <p:nvPr>
            <p:ph idx="2" type="pic"/>
          </p:nvPr>
        </p:nvSpPr>
        <p:spPr>
          <a:xfrm>
            <a:off x="5923375" y="150"/>
            <a:ext cx="3220500" cy="5143500"/>
          </a:xfrm>
          <a:prstGeom prst="rect">
            <a:avLst/>
          </a:prstGeom>
          <a:noFill/>
          <a:ln>
            <a:noFill/>
          </a:ln>
        </p:spPr>
      </p:sp>
      <p:sp>
        <p:nvSpPr>
          <p:cNvPr id="984" name="Google Shape;984;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5" name="Google Shape;985;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6" name="Google Shape;986;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7" name="Shape 987"/>
        <p:cNvGrpSpPr/>
        <p:nvPr/>
      </p:nvGrpSpPr>
      <p:grpSpPr>
        <a:xfrm>
          <a:off x="0" y="0"/>
          <a:ext cx="0" cy="0"/>
          <a:chOff x="0" y="0"/>
          <a:chExt cx="0" cy="0"/>
        </a:xfrm>
      </p:grpSpPr>
      <p:sp>
        <p:nvSpPr>
          <p:cNvPr id="988" name="Google Shape;988;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9" name="Google Shape;989;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90" name="Google Shape;990;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91" name="Google Shape;991;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3" name="Google Shape;993;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4" name="Google Shape;994;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5" name="Google Shape;995;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6" name="Google Shape;996;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7" name="Google Shape;997;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8" name="Google Shape;998;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9" name="Google Shape;999;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1000" name="Google Shape;1000;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1001" name="Shape 1001"/>
        <p:cNvGrpSpPr/>
        <p:nvPr/>
      </p:nvGrpSpPr>
      <p:grpSpPr>
        <a:xfrm>
          <a:off x="0" y="0"/>
          <a:ext cx="0" cy="0"/>
          <a:chOff x="0" y="0"/>
          <a:chExt cx="0" cy="0"/>
        </a:xfrm>
      </p:grpSpPr>
      <p:sp>
        <p:nvSpPr>
          <p:cNvPr id="1002" name="Google Shape;1002;p143"/>
          <p:cNvSpPr/>
          <p:nvPr>
            <p:ph idx="2" type="pic"/>
          </p:nvPr>
        </p:nvSpPr>
        <p:spPr>
          <a:xfrm>
            <a:off x="5923375" y="150"/>
            <a:ext cx="3220500" cy="5143500"/>
          </a:xfrm>
          <a:prstGeom prst="rect">
            <a:avLst/>
          </a:prstGeom>
          <a:noFill/>
          <a:ln>
            <a:noFill/>
          </a:ln>
        </p:spPr>
      </p:sp>
      <p:sp>
        <p:nvSpPr>
          <p:cNvPr id="1003" name="Google Shape;1003;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4" name="Google Shape;1004;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5" name="Google Shape;1005;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6" name="Shape 1006"/>
        <p:cNvGrpSpPr/>
        <p:nvPr/>
      </p:nvGrpSpPr>
      <p:grpSpPr>
        <a:xfrm>
          <a:off x="0" y="0"/>
          <a:ext cx="0" cy="0"/>
          <a:chOff x="0" y="0"/>
          <a:chExt cx="0" cy="0"/>
        </a:xfrm>
      </p:grpSpPr>
      <p:sp>
        <p:nvSpPr>
          <p:cNvPr id="1007" name="Google Shape;1007;p144"/>
          <p:cNvSpPr/>
          <p:nvPr>
            <p:ph idx="2" type="pic"/>
          </p:nvPr>
        </p:nvSpPr>
        <p:spPr>
          <a:xfrm>
            <a:off x="5923375" y="150"/>
            <a:ext cx="3220500" cy="5143500"/>
          </a:xfrm>
          <a:prstGeom prst="rect">
            <a:avLst/>
          </a:prstGeom>
          <a:noFill/>
          <a:ln>
            <a:noFill/>
          </a:ln>
        </p:spPr>
      </p:sp>
      <p:sp>
        <p:nvSpPr>
          <p:cNvPr id="1008" name="Google Shape;1008;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9" name="Google Shape;1009;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0" name="Google Shape;1010;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11" name="Shape 1011"/>
        <p:cNvGrpSpPr/>
        <p:nvPr/>
      </p:nvGrpSpPr>
      <p:grpSpPr>
        <a:xfrm>
          <a:off x="0" y="0"/>
          <a:ext cx="0" cy="0"/>
          <a:chOff x="0" y="0"/>
          <a:chExt cx="0" cy="0"/>
        </a:xfrm>
      </p:grpSpPr>
      <p:sp>
        <p:nvSpPr>
          <p:cNvPr id="1012" name="Google Shape;1012;p145"/>
          <p:cNvSpPr/>
          <p:nvPr>
            <p:ph idx="2" type="pic"/>
          </p:nvPr>
        </p:nvSpPr>
        <p:spPr>
          <a:xfrm>
            <a:off x="5923375" y="150"/>
            <a:ext cx="3220500" cy="5143500"/>
          </a:xfrm>
          <a:prstGeom prst="rect">
            <a:avLst/>
          </a:prstGeom>
          <a:noFill/>
          <a:ln>
            <a:noFill/>
          </a:ln>
        </p:spPr>
      </p:sp>
      <p:sp>
        <p:nvSpPr>
          <p:cNvPr id="1013" name="Google Shape;1013;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4" name="Google Shape;1014;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5" name="Google Shape;1015;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6" name="Shape 1016"/>
        <p:cNvGrpSpPr/>
        <p:nvPr/>
      </p:nvGrpSpPr>
      <p:grpSpPr>
        <a:xfrm>
          <a:off x="0" y="0"/>
          <a:ext cx="0" cy="0"/>
          <a:chOff x="0" y="0"/>
          <a:chExt cx="0" cy="0"/>
        </a:xfrm>
      </p:grpSpPr>
      <p:sp>
        <p:nvSpPr>
          <p:cNvPr id="1017" name="Google Shape;1017;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8" name="Google Shape;1018;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9" name="Google Shape;1019;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0" name="Google Shape;1020;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21" name="Shape 1021"/>
        <p:cNvGrpSpPr/>
        <p:nvPr/>
      </p:nvGrpSpPr>
      <p:grpSpPr>
        <a:xfrm>
          <a:off x="0" y="0"/>
          <a:ext cx="0" cy="0"/>
          <a:chOff x="0" y="0"/>
          <a:chExt cx="0" cy="0"/>
        </a:xfrm>
      </p:grpSpPr>
      <p:sp>
        <p:nvSpPr>
          <p:cNvPr id="1022" name="Google Shape;1022;p147"/>
          <p:cNvSpPr/>
          <p:nvPr>
            <p:ph idx="2" type="pic"/>
          </p:nvPr>
        </p:nvSpPr>
        <p:spPr>
          <a:xfrm>
            <a:off x="5923375" y="150"/>
            <a:ext cx="3220500" cy="5143500"/>
          </a:xfrm>
          <a:prstGeom prst="rect">
            <a:avLst/>
          </a:prstGeom>
          <a:noFill/>
          <a:ln>
            <a:noFill/>
          </a:ln>
        </p:spPr>
      </p:sp>
      <p:sp>
        <p:nvSpPr>
          <p:cNvPr id="1023" name="Google Shape;1023;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4" name="Google Shape;1024;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5" name="Google Shape;1025;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6" name="Shape 1026"/>
        <p:cNvGrpSpPr/>
        <p:nvPr/>
      </p:nvGrpSpPr>
      <p:grpSpPr>
        <a:xfrm>
          <a:off x="0" y="0"/>
          <a:ext cx="0" cy="0"/>
          <a:chOff x="0" y="0"/>
          <a:chExt cx="0" cy="0"/>
        </a:xfrm>
      </p:grpSpPr>
      <p:sp>
        <p:nvSpPr>
          <p:cNvPr id="1027" name="Google Shape;1027;p148"/>
          <p:cNvSpPr/>
          <p:nvPr>
            <p:ph idx="2" type="pic"/>
          </p:nvPr>
        </p:nvSpPr>
        <p:spPr>
          <a:xfrm>
            <a:off x="5923375" y="150"/>
            <a:ext cx="3220500" cy="5143500"/>
          </a:xfrm>
          <a:prstGeom prst="rect">
            <a:avLst/>
          </a:prstGeom>
          <a:noFill/>
          <a:ln>
            <a:noFill/>
          </a:ln>
        </p:spPr>
      </p:sp>
      <p:sp>
        <p:nvSpPr>
          <p:cNvPr id="1028" name="Google Shape;1028;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9" name="Google Shape;1029;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0" name="Google Shape;1030;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31" name="Shape 1031"/>
        <p:cNvGrpSpPr/>
        <p:nvPr/>
      </p:nvGrpSpPr>
      <p:grpSpPr>
        <a:xfrm>
          <a:off x="0" y="0"/>
          <a:ext cx="0" cy="0"/>
          <a:chOff x="0" y="0"/>
          <a:chExt cx="0" cy="0"/>
        </a:xfrm>
      </p:grpSpPr>
      <p:grpSp>
        <p:nvGrpSpPr>
          <p:cNvPr id="1032" name="Google Shape;1032;p149"/>
          <p:cNvGrpSpPr/>
          <p:nvPr/>
        </p:nvGrpSpPr>
        <p:grpSpPr>
          <a:xfrm>
            <a:off x="440125" y="1136875"/>
            <a:ext cx="776900" cy="486300"/>
            <a:chOff x="457200" y="1466425"/>
            <a:chExt cx="776900" cy="486300"/>
          </a:xfrm>
        </p:grpSpPr>
        <p:sp>
          <p:nvSpPr>
            <p:cNvPr id="1033" name="Google Shape;1033;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4" name="Google Shape;1034;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5" name="Google Shape;1035;p149"/>
          <p:cNvGrpSpPr/>
          <p:nvPr/>
        </p:nvGrpSpPr>
        <p:grpSpPr>
          <a:xfrm>
            <a:off x="440125" y="1791730"/>
            <a:ext cx="776900" cy="486300"/>
            <a:chOff x="457200" y="1466425"/>
            <a:chExt cx="776900" cy="486300"/>
          </a:xfrm>
        </p:grpSpPr>
        <p:sp>
          <p:nvSpPr>
            <p:cNvPr id="1036" name="Google Shape;1036;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7" name="Google Shape;1037;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8" name="Google Shape;1038;p149"/>
          <p:cNvGrpSpPr/>
          <p:nvPr/>
        </p:nvGrpSpPr>
        <p:grpSpPr>
          <a:xfrm>
            <a:off x="440125" y="2446585"/>
            <a:ext cx="776900" cy="486300"/>
            <a:chOff x="457200" y="1466425"/>
            <a:chExt cx="776900" cy="486300"/>
          </a:xfrm>
        </p:grpSpPr>
        <p:sp>
          <p:nvSpPr>
            <p:cNvPr id="1039" name="Google Shape;1039;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40" name="Google Shape;1040;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1" name="Google Shape;1041;p149"/>
          <p:cNvGrpSpPr/>
          <p:nvPr/>
        </p:nvGrpSpPr>
        <p:grpSpPr>
          <a:xfrm>
            <a:off x="440125" y="3101440"/>
            <a:ext cx="776900" cy="486300"/>
            <a:chOff x="457200" y="1466425"/>
            <a:chExt cx="776900" cy="486300"/>
          </a:xfrm>
        </p:grpSpPr>
        <p:sp>
          <p:nvSpPr>
            <p:cNvPr id="1042" name="Google Shape;1042;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3" name="Google Shape;1043;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4" name="Google Shape;1044;p149"/>
          <p:cNvGrpSpPr/>
          <p:nvPr/>
        </p:nvGrpSpPr>
        <p:grpSpPr>
          <a:xfrm>
            <a:off x="440125" y="3756295"/>
            <a:ext cx="776900" cy="486300"/>
            <a:chOff x="457200" y="1466425"/>
            <a:chExt cx="776900" cy="486300"/>
          </a:xfrm>
        </p:grpSpPr>
        <p:sp>
          <p:nvSpPr>
            <p:cNvPr id="1045" name="Google Shape;1045;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6" name="Google Shape;1046;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7" name="Google Shape;1047;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8" name="Google Shape;1048;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1" name="Google Shape;1051;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2" name="Google Shape;1052;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3" name="Google Shape;1053;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7" name="Google Shape;1057;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8" name="Google Shape;1058;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9" name="Shape 1059"/>
        <p:cNvGrpSpPr/>
        <p:nvPr/>
      </p:nvGrpSpPr>
      <p:grpSpPr>
        <a:xfrm>
          <a:off x="0" y="0"/>
          <a:ext cx="0" cy="0"/>
          <a:chOff x="0" y="0"/>
          <a:chExt cx="0" cy="0"/>
        </a:xfrm>
      </p:grpSpPr>
      <p:sp>
        <p:nvSpPr>
          <p:cNvPr id="1060" name="Google Shape;1060;p150"/>
          <p:cNvSpPr/>
          <p:nvPr>
            <p:ph idx="2" type="pic"/>
          </p:nvPr>
        </p:nvSpPr>
        <p:spPr>
          <a:xfrm>
            <a:off x="5923375" y="150"/>
            <a:ext cx="3220500" cy="5143500"/>
          </a:xfrm>
          <a:prstGeom prst="rect">
            <a:avLst/>
          </a:prstGeom>
          <a:noFill/>
          <a:ln>
            <a:noFill/>
          </a:ln>
        </p:spPr>
      </p:sp>
      <p:sp>
        <p:nvSpPr>
          <p:cNvPr id="1061" name="Google Shape;1061;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2" name="Google Shape;1062;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3" name="Google Shape;1063;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4" name="Shape 1064"/>
        <p:cNvGrpSpPr/>
        <p:nvPr/>
      </p:nvGrpSpPr>
      <p:grpSpPr>
        <a:xfrm>
          <a:off x="0" y="0"/>
          <a:ext cx="0" cy="0"/>
          <a:chOff x="0" y="0"/>
          <a:chExt cx="0" cy="0"/>
        </a:xfrm>
      </p:grpSpPr>
      <p:sp>
        <p:nvSpPr>
          <p:cNvPr id="1065" name="Google Shape;1065;p151"/>
          <p:cNvSpPr/>
          <p:nvPr>
            <p:ph idx="2" type="pic"/>
          </p:nvPr>
        </p:nvSpPr>
        <p:spPr>
          <a:xfrm>
            <a:off x="5923375" y="150"/>
            <a:ext cx="3220500" cy="5143500"/>
          </a:xfrm>
          <a:prstGeom prst="rect">
            <a:avLst/>
          </a:prstGeom>
          <a:noFill/>
          <a:ln>
            <a:noFill/>
          </a:ln>
        </p:spPr>
      </p:sp>
      <p:sp>
        <p:nvSpPr>
          <p:cNvPr id="1066" name="Google Shape;1066;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7" name="Google Shape;1067;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8" name="Google Shape;1068;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9" name="Shape 1069"/>
        <p:cNvGrpSpPr/>
        <p:nvPr/>
      </p:nvGrpSpPr>
      <p:grpSpPr>
        <a:xfrm>
          <a:off x="0" y="0"/>
          <a:ext cx="0" cy="0"/>
          <a:chOff x="0" y="0"/>
          <a:chExt cx="0" cy="0"/>
        </a:xfrm>
      </p:grpSpPr>
      <p:sp>
        <p:nvSpPr>
          <p:cNvPr id="1070" name="Google Shape;1070;p152"/>
          <p:cNvSpPr/>
          <p:nvPr>
            <p:ph idx="2" type="pic"/>
          </p:nvPr>
        </p:nvSpPr>
        <p:spPr>
          <a:xfrm>
            <a:off x="5923375" y="150"/>
            <a:ext cx="3220500" cy="5143500"/>
          </a:xfrm>
          <a:prstGeom prst="rect">
            <a:avLst/>
          </a:prstGeom>
          <a:noFill/>
          <a:ln>
            <a:noFill/>
          </a:ln>
        </p:spPr>
      </p:sp>
      <p:sp>
        <p:nvSpPr>
          <p:cNvPr id="1071" name="Google Shape;1071;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2" name="Google Shape;1072;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3" name="Google Shape;1073;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4" name="Shape 1074"/>
        <p:cNvGrpSpPr/>
        <p:nvPr/>
      </p:nvGrpSpPr>
      <p:grpSpPr>
        <a:xfrm>
          <a:off x="0" y="0"/>
          <a:ext cx="0" cy="0"/>
          <a:chOff x="0" y="0"/>
          <a:chExt cx="0" cy="0"/>
        </a:xfrm>
      </p:grpSpPr>
      <p:sp>
        <p:nvSpPr>
          <p:cNvPr id="1075" name="Google Shape;1075;p153"/>
          <p:cNvSpPr/>
          <p:nvPr>
            <p:ph idx="2" type="pic"/>
          </p:nvPr>
        </p:nvSpPr>
        <p:spPr>
          <a:xfrm>
            <a:off x="5923375" y="150"/>
            <a:ext cx="3220500" cy="5143500"/>
          </a:xfrm>
          <a:prstGeom prst="rect">
            <a:avLst/>
          </a:prstGeom>
          <a:noFill/>
          <a:ln>
            <a:noFill/>
          </a:ln>
        </p:spPr>
      </p:sp>
      <p:sp>
        <p:nvSpPr>
          <p:cNvPr id="1076" name="Google Shape;1076;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7" name="Google Shape;1077;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8" name="Google Shape;1078;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9" name="Shape 1079"/>
        <p:cNvGrpSpPr/>
        <p:nvPr/>
      </p:nvGrpSpPr>
      <p:grpSpPr>
        <a:xfrm>
          <a:off x="0" y="0"/>
          <a:ext cx="0" cy="0"/>
          <a:chOff x="0" y="0"/>
          <a:chExt cx="0" cy="0"/>
        </a:xfrm>
      </p:grpSpPr>
      <p:sp>
        <p:nvSpPr>
          <p:cNvPr id="1080" name="Google Shape;1080;p154"/>
          <p:cNvSpPr/>
          <p:nvPr>
            <p:ph idx="2" type="pic"/>
          </p:nvPr>
        </p:nvSpPr>
        <p:spPr>
          <a:xfrm>
            <a:off x="5923375" y="150"/>
            <a:ext cx="3220500" cy="5143500"/>
          </a:xfrm>
          <a:prstGeom prst="rect">
            <a:avLst/>
          </a:prstGeom>
          <a:noFill/>
          <a:ln>
            <a:noFill/>
          </a:ln>
        </p:spPr>
      </p:sp>
      <p:sp>
        <p:nvSpPr>
          <p:cNvPr id="1081" name="Google Shape;1081;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2" name="Google Shape;1082;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3" name="Google Shape;1083;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4" name="Shape 1084"/>
        <p:cNvGrpSpPr/>
        <p:nvPr/>
      </p:nvGrpSpPr>
      <p:grpSpPr>
        <a:xfrm>
          <a:off x="0" y="0"/>
          <a:ext cx="0" cy="0"/>
          <a:chOff x="0" y="0"/>
          <a:chExt cx="0" cy="0"/>
        </a:xfrm>
      </p:grpSpPr>
      <p:sp>
        <p:nvSpPr>
          <p:cNvPr id="1085" name="Google Shape;1085;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6" name="Google Shape;1086;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7" name="Google Shape;1087;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8" name="Google Shape;1088;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9" name="Shape 1089"/>
        <p:cNvGrpSpPr/>
        <p:nvPr/>
      </p:nvGrpSpPr>
      <p:grpSpPr>
        <a:xfrm>
          <a:off x="0" y="0"/>
          <a:ext cx="0" cy="0"/>
          <a:chOff x="0" y="0"/>
          <a:chExt cx="0" cy="0"/>
        </a:xfrm>
      </p:grpSpPr>
      <p:cxnSp>
        <p:nvCxnSpPr>
          <p:cNvPr id="1090" name="Google Shape;1090;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91" name="Google Shape;1091;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92" name="Google Shape;1092;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93" name="Google Shape;1093;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94" name="Google Shape;1094;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8" name="Google Shape;1098;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9" name="Google Shape;1099;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00" name="Google Shape;1100;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01" name="Google Shape;1101;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2" name="Google Shape;1102;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3" name="Google Shape;1103;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4" name="Google Shape;1104;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105" name="Shape 1105"/>
        <p:cNvGrpSpPr/>
        <p:nvPr/>
      </p:nvGrpSpPr>
      <p:grpSpPr>
        <a:xfrm>
          <a:off x="0" y="0"/>
          <a:ext cx="0" cy="0"/>
          <a:chOff x="0" y="0"/>
          <a:chExt cx="0" cy="0"/>
        </a:xfrm>
      </p:grpSpPr>
      <p:sp>
        <p:nvSpPr>
          <p:cNvPr id="1106" name="Google Shape;1106;p157"/>
          <p:cNvSpPr/>
          <p:nvPr>
            <p:ph idx="2" type="pic"/>
          </p:nvPr>
        </p:nvSpPr>
        <p:spPr>
          <a:xfrm>
            <a:off x="5923375" y="150"/>
            <a:ext cx="3220500" cy="5143500"/>
          </a:xfrm>
          <a:prstGeom prst="rect">
            <a:avLst/>
          </a:prstGeom>
          <a:noFill/>
          <a:ln>
            <a:noFill/>
          </a:ln>
        </p:spPr>
      </p:sp>
      <p:sp>
        <p:nvSpPr>
          <p:cNvPr id="1107" name="Google Shape;1107;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8" name="Google Shape;1108;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9" name="Google Shape;1109;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10" name="Shape 1110"/>
        <p:cNvGrpSpPr/>
        <p:nvPr/>
      </p:nvGrpSpPr>
      <p:grpSpPr>
        <a:xfrm>
          <a:off x="0" y="0"/>
          <a:ext cx="0" cy="0"/>
          <a:chOff x="0" y="0"/>
          <a:chExt cx="0" cy="0"/>
        </a:xfrm>
      </p:grpSpPr>
      <p:sp>
        <p:nvSpPr>
          <p:cNvPr id="1111" name="Google Shape;1111;p158"/>
          <p:cNvSpPr/>
          <p:nvPr>
            <p:ph idx="2" type="pic"/>
          </p:nvPr>
        </p:nvSpPr>
        <p:spPr>
          <a:xfrm>
            <a:off x="5923375" y="150"/>
            <a:ext cx="3220500" cy="5143500"/>
          </a:xfrm>
          <a:prstGeom prst="rect">
            <a:avLst/>
          </a:prstGeom>
          <a:noFill/>
          <a:ln>
            <a:noFill/>
          </a:ln>
        </p:spPr>
      </p:sp>
      <p:sp>
        <p:nvSpPr>
          <p:cNvPr id="1112" name="Google Shape;1112;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3" name="Google Shape;1113;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4" name="Google Shape;1114;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15" name="Shape 1115"/>
        <p:cNvGrpSpPr/>
        <p:nvPr/>
      </p:nvGrpSpPr>
      <p:grpSpPr>
        <a:xfrm>
          <a:off x="0" y="0"/>
          <a:ext cx="0" cy="0"/>
          <a:chOff x="0" y="0"/>
          <a:chExt cx="0" cy="0"/>
        </a:xfrm>
      </p:grpSpPr>
      <p:sp>
        <p:nvSpPr>
          <p:cNvPr id="1116" name="Google Shape;1116;p159"/>
          <p:cNvSpPr/>
          <p:nvPr>
            <p:ph idx="2" type="pic"/>
          </p:nvPr>
        </p:nvSpPr>
        <p:spPr>
          <a:xfrm>
            <a:off x="5923375" y="150"/>
            <a:ext cx="3220500" cy="5143500"/>
          </a:xfrm>
          <a:prstGeom prst="rect">
            <a:avLst/>
          </a:prstGeom>
          <a:noFill/>
          <a:ln>
            <a:noFill/>
          </a:ln>
        </p:spPr>
      </p:sp>
      <p:sp>
        <p:nvSpPr>
          <p:cNvPr id="1117" name="Google Shape;1117;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8" name="Google Shape;1118;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9" name="Google Shape;1119;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20" name="Shape 1120"/>
        <p:cNvGrpSpPr/>
        <p:nvPr/>
      </p:nvGrpSpPr>
      <p:grpSpPr>
        <a:xfrm>
          <a:off x="0" y="0"/>
          <a:ext cx="0" cy="0"/>
          <a:chOff x="0" y="0"/>
          <a:chExt cx="0" cy="0"/>
        </a:xfrm>
      </p:grpSpPr>
      <p:sp>
        <p:nvSpPr>
          <p:cNvPr id="1121" name="Google Shape;1121;p160"/>
          <p:cNvSpPr/>
          <p:nvPr>
            <p:ph idx="2" type="pic"/>
          </p:nvPr>
        </p:nvSpPr>
        <p:spPr>
          <a:xfrm>
            <a:off x="5923375" y="150"/>
            <a:ext cx="3220500" cy="5143500"/>
          </a:xfrm>
          <a:prstGeom prst="rect">
            <a:avLst/>
          </a:prstGeom>
          <a:noFill/>
          <a:ln>
            <a:noFill/>
          </a:ln>
        </p:spPr>
      </p:sp>
      <p:sp>
        <p:nvSpPr>
          <p:cNvPr id="1122" name="Google Shape;1122;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3" name="Google Shape;1123;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4" name="Google Shape;1124;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25" name="Shape 1125"/>
        <p:cNvGrpSpPr/>
        <p:nvPr/>
      </p:nvGrpSpPr>
      <p:grpSpPr>
        <a:xfrm>
          <a:off x="0" y="0"/>
          <a:ext cx="0" cy="0"/>
          <a:chOff x="0" y="0"/>
          <a:chExt cx="0" cy="0"/>
        </a:xfrm>
      </p:grpSpPr>
      <p:sp>
        <p:nvSpPr>
          <p:cNvPr id="1126" name="Google Shape;1126;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7" name="Google Shape;1127;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8" name="Google Shape;1128;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9" name="Google Shape;1129;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69" Type="http://schemas.openxmlformats.org/officeDocument/2006/relationships/slideLayout" Target="../slideLayouts/slideLayout6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theme" Target="../theme/theme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 Id="rId3"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 Id="rId3"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image" Target="../media/image48.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69.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 Id="rId3"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3.xml"/><Relationship Id="rId3" Type="http://schemas.openxmlformats.org/officeDocument/2006/relationships/image" Target="../media/image6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xml"/><Relationship Id="rId3" Type="http://schemas.openxmlformats.org/officeDocument/2006/relationships/image" Target="../media/image6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7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7.xml"/><Relationship Id="rId3"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0.xml"/><Relationship Id="rId3"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1.xml"/><Relationship Id="rId3"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2.xml"/><Relationship Id="rId3" Type="http://schemas.openxmlformats.org/officeDocument/2006/relationships/image" Target="../media/image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3.xml"/><Relationship Id="rId3" Type="http://schemas.openxmlformats.org/officeDocument/2006/relationships/image" Target="../media/image6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 Id="rId3" Type="http://schemas.openxmlformats.org/officeDocument/2006/relationships/image" Target="../media/image7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0.xml"/><Relationship Id="rId3"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1.xml"/><Relationship Id="rId3" Type="http://schemas.openxmlformats.org/officeDocument/2006/relationships/image" Target="../media/image6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2.xml"/><Relationship Id="rId3" Type="http://schemas.openxmlformats.org/officeDocument/2006/relationships/image" Target="../media/image6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3.xml"/><Relationship Id="rId3" Type="http://schemas.openxmlformats.org/officeDocument/2006/relationships/image" Target="../media/image8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6.xml"/><Relationship Id="rId3" Type="http://schemas.openxmlformats.org/officeDocument/2006/relationships/image" Target="../media/image7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0.xml"/><Relationship Id="rId3" Type="http://schemas.openxmlformats.org/officeDocument/2006/relationships/image" Target="../media/image7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1.xml"/><Relationship Id="rId3" Type="http://schemas.openxmlformats.org/officeDocument/2006/relationships/image" Target="../media/image7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2.xml"/><Relationship Id="rId3" Type="http://schemas.openxmlformats.org/officeDocument/2006/relationships/image" Target="../media/image7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3.xml"/><Relationship Id="rId3" Type="http://schemas.openxmlformats.org/officeDocument/2006/relationships/image" Target="../media/image20.png"/><Relationship Id="rId4" Type="http://schemas.openxmlformats.org/officeDocument/2006/relationships/image" Target="../media/image8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5.xml"/><Relationship Id="rId3"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6.xml"/><Relationship Id="rId3"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0.xml"/><Relationship Id="rId3" Type="http://schemas.openxmlformats.org/officeDocument/2006/relationships/image" Target="../media/image8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1.xml"/><Relationship Id="rId3" Type="http://schemas.openxmlformats.org/officeDocument/2006/relationships/image" Target="../media/image8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3.xml"/><Relationship Id="rId3" Type="http://schemas.openxmlformats.org/officeDocument/2006/relationships/image" Target="../media/image7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4.xml"/><Relationship Id="rId3" Type="http://schemas.openxmlformats.org/officeDocument/2006/relationships/image" Target="../media/image8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66.xml"/><Relationship Id="rId3" Type="http://schemas.openxmlformats.org/officeDocument/2006/relationships/image" Target="../media/image83.png"/><Relationship Id="rId4" Type="http://schemas.openxmlformats.org/officeDocument/2006/relationships/image" Target="../media/image7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7.xml"/><Relationship Id="rId3" Type="http://schemas.openxmlformats.org/officeDocument/2006/relationships/image" Target="../media/image2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0.xml"/><Relationship Id="rId3" Type="http://schemas.openxmlformats.org/officeDocument/2006/relationships/image" Target="../media/image8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2.xml"/><Relationship Id="rId3" Type="http://schemas.openxmlformats.org/officeDocument/2006/relationships/image" Target="../media/image1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 Id="rId3" Type="http://schemas.openxmlformats.org/officeDocument/2006/relationships/image" Target="../media/image85.png"/><Relationship Id="rId4" Type="http://schemas.openxmlformats.org/officeDocument/2006/relationships/image" Target="../media/image7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 Id="rId3" Type="http://schemas.openxmlformats.org/officeDocument/2006/relationships/image" Target="../media/image79.png"/><Relationship Id="rId4" Type="http://schemas.openxmlformats.org/officeDocument/2006/relationships/image" Target="../media/image7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7.xml"/><Relationship Id="rId3" Type="http://schemas.openxmlformats.org/officeDocument/2006/relationships/image" Target="../media/image2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162"/>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Introduction to Pen Testing and OSINT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35" name="Google Shape;1135;p162"/>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136" name="Google Shape;1136;p162"/>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15.1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16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142" name="Google Shape;1142;p16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class, you will be able to:</a:t>
            </a:r>
            <a:endParaRPr/>
          </a:p>
          <a:p>
            <a:pPr indent="0" lvl="0" marL="0" rtl="0" algn="l">
              <a:spcBef>
                <a:spcPts val="1200"/>
              </a:spcBef>
              <a:spcAft>
                <a:spcPts val="0"/>
              </a:spcAft>
              <a:buNone/>
            </a:pPr>
            <a:r>
              <a:t/>
            </a:r>
            <a:endParaRPr/>
          </a:p>
        </p:txBody>
      </p:sp>
      <p:grpSp>
        <p:nvGrpSpPr>
          <p:cNvPr id="1143" name="Google Shape;1143;p163"/>
          <p:cNvGrpSpPr/>
          <p:nvPr/>
        </p:nvGrpSpPr>
        <p:grpSpPr>
          <a:xfrm>
            <a:off x="162900" y="173561"/>
            <a:ext cx="588600" cy="567300"/>
            <a:chOff x="914400" y="200161"/>
            <a:chExt cx="588600" cy="567300"/>
          </a:xfrm>
        </p:grpSpPr>
        <p:sp>
          <p:nvSpPr>
            <p:cNvPr id="1144" name="Google Shape;1144;p163"/>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145" name="Google Shape;1145;p163"/>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1146" name="Google Shape;1146;p163"/>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grpSp>
        <p:nvGrpSpPr>
          <p:cNvPr id="1147" name="Google Shape;1147;p163"/>
          <p:cNvGrpSpPr/>
          <p:nvPr/>
        </p:nvGrpSpPr>
        <p:grpSpPr>
          <a:xfrm>
            <a:off x="322375" y="2319646"/>
            <a:ext cx="8133300" cy="610675"/>
            <a:chOff x="314850" y="1736201"/>
            <a:chExt cx="8133300" cy="610675"/>
          </a:xfrm>
        </p:grpSpPr>
        <p:sp>
          <p:nvSpPr>
            <p:cNvPr id="1148" name="Google Shape;1148;p163"/>
            <p:cNvSpPr/>
            <p:nvPr/>
          </p:nvSpPr>
          <p:spPr>
            <a:xfrm>
              <a:off x="391050" y="1779576"/>
              <a:ext cx="8057100" cy="567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49" name="Google Shape;1149;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150" name="Google Shape;1150;p163"/>
            <p:cNvSpPr txBox="1"/>
            <p:nvPr/>
          </p:nvSpPr>
          <p:spPr>
            <a:xfrm>
              <a:off x="817950" y="1736201"/>
              <a:ext cx="76302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Collect domain information by using OSINT techniques and tools like Google hacking, Shodan, and certificate transparency.</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51" name="Google Shape;1151;p163"/>
          <p:cNvGrpSpPr/>
          <p:nvPr/>
        </p:nvGrpSpPr>
        <p:grpSpPr>
          <a:xfrm>
            <a:off x="322375" y="3353271"/>
            <a:ext cx="8133300" cy="448425"/>
            <a:chOff x="314850" y="1770875"/>
            <a:chExt cx="8133300" cy="448425"/>
          </a:xfrm>
        </p:grpSpPr>
        <p:sp>
          <p:nvSpPr>
            <p:cNvPr id="1152" name="Google Shape;1152;p163"/>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3" name="Google Shape;1153;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154" name="Google Shape;1154;p163"/>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Use Shodan and Recon-ng to discover domain server information.</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55" name="Google Shape;1155;p163"/>
          <p:cNvGrpSpPr/>
          <p:nvPr/>
        </p:nvGrpSpPr>
        <p:grpSpPr>
          <a:xfrm>
            <a:off x="322375" y="1434683"/>
            <a:ext cx="8133300" cy="450088"/>
            <a:chOff x="314850" y="1757288"/>
            <a:chExt cx="8133300" cy="450088"/>
          </a:xfrm>
        </p:grpSpPr>
        <p:sp>
          <p:nvSpPr>
            <p:cNvPr id="1156" name="Google Shape;1156;p163"/>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7" name="Google Shape;1157;p163"/>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158" name="Google Shape;1158;p163"/>
            <p:cNvSpPr txBox="1"/>
            <p:nvPr/>
          </p:nvSpPr>
          <p:spPr>
            <a:xfrm>
              <a:off x="817950" y="1757288"/>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Understand the role of a pen tester in assessing a business's security.</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6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Introduction</a:t>
            </a:r>
            <a:r>
              <a:rPr b="0" lang="en">
                <a:latin typeface="Roboto"/>
                <a:ea typeface="Roboto"/>
                <a:cs typeface="Roboto"/>
                <a:sym typeface="Roboto"/>
              </a:rPr>
              <a:t> to Penetration Testing</a:t>
            </a:r>
            <a:endParaRPr b="0">
              <a:latin typeface="Roboto"/>
              <a:ea typeface="Roboto"/>
              <a:cs typeface="Roboto"/>
              <a:sym typeface="Roboto"/>
            </a:endParaRPr>
          </a:p>
        </p:txBody>
      </p:sp>
      <p:grpSp>
        <p:nvGrpSpPr>
          <p:cNvPr id="1168" name="Google Shape;1168;p165"/>
          <p:cNvGrpSpPr/>
          <p:nvPr/>
        </p:nvGrpSpPr>
        <p:grpSpPr>
          <a:xfrm>
            <a:off x="4157205" y="1507295"/>
            <a:ext cx="829606" cy="1121599"/>
            <a:chOff x="1949050" y="285025"/>
            <a:chExt cx="3721875" cy="5144950"/>
          </a:xfrm>
        </p:grpSpPr>
        <p:sp>
          <p:nvSpPr>
            <p:cNvPr id="1169" name="Google Shape;1169;p165"/>
            <p:cNvSpPr/>
            <p:nvPr/>
          </p:nvSpPr>
          <p:spPr>
            <a:xfrm>
              <a:off x="2449475" y="3201525"/>
              <a:ext cx="2705400" cy="1853125"/>
            </a:xfrm>
            <a:custGeom>
              <a:rect b="b" l="l" r="r" t="t"/>
              <a:pathLst>
                <a:path extrusionOk="0" fill="none" h="74125" w="108216">
                  <a:moveTo>
                    <a:pt x="108215" y="74125"/>
                  </a:moveTo>
                  <a:lnTo>
                    <a:pt x="0" y="74125"/>
                  </a:lnTo>
                  <a:lnTo>
                    <a:pt x="0" y="4692"/>
                  </a:lnTo>
                  <a:lnTo>
                    <a:pt x="0" y="4692"/>
                  </a:lnTo>
                  <a:lnTo>
                    <a:pt x="0" y="3754"/>
                  </a:lnTo>
                  <a:lnTo>
                    <a:pt x="313" y="2815"/>
                  </a:lnTo>
                  <a:lnTo>
                    <a:pt x="1251" y="1252"/>
                  </a:lnTo>
                  <a:lnTo>
                    <a:pt x="2815" y="313"/>
                  </a:lnTo>
                  <a:lnTo>
                    <a:pt x="3441" y="0"/>
                  </a:lnTo>
                  <a:lnTo>
                    <a:pt x="4379" y="0"/>
                  </a:lnTo>
                  <a:lnTo>
                    <a:pt x="103837" y="0"/>
                  </a:lnTo>
                  <a:lnTo>
                    <a:pt x="103837" y="0"/>
                  </a:lnTo>
                  <a:lnTo>
                    <a:pt x="104775" y="0"/>
                  </a:lnTo>
                  <a:lnTo>
                    <a:pt x="105400" y="313"/>
                  </a:lnTo>
                  <a:lnTo>
                    <a:pt x="106964" y="1252"/>
                  </a:lnTo>
                  <a:lnTo>
                    <a:pt x="107903" y="2815"/>
                  </a:lnTo>
                  <a:lnTo>
                    <a:pt x="108215" y="3754"/>
                  </a:lnTo>
                  <a:lnTo>
                    <a:pt x="108215" y="4692"/>
                  </a:lnTo>
                  <a:lnTo>
                    <a:pt x="108215" y="74125"/>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65"/>
            <p:cNvSpPr/>
            <p:nvPr/>
          </p:nvSpPr>
          <p:spPr>
            <a:xfrm>
              <a:off x="2285275" y="5054625"/>
              <a:ext cx="3041600" cy="375350"/>
            </a:xfrm>
            <a:custGeom>
              <a:rect b="b" l="l" r="r" t="t"/>
              <a:pathLst>
                <a:path extrusionOk="0" fill="none" h="15014" w="121664">
                  <a:moveTo>
                    <a:pt x="115409" y="15013"/>
                  </a:moveTo>
                  <a:lnTo>
                    <a:pt x="5943" y="15013"/>
                  </a:lnTo>
                  <a:lnTo>
                    <a:pt x="5943" y="15013"/>
                  </a:lnTo>
                  <a:lnTo>
                    <a:pt x="4692" y="15013"/>
                  </a:lnTo>
                  <a:lnTo>
                    <a:pt x="3753" y="14701"/>
                  </a:lnTo>
                  <a:lnTo>
                    <a:pt x="2502" y="14075"/>
                  </a:lnTo>
                  <a:lnTo>
                    <a:pt x="1564" y="13450"/>
                  </a:lnTo>
                  <a:lnTo>
                    <a:pt x="939" y="12511"/>
                  </a:lnTo>
                  <a:lnTo>
                    <a:pt x="313" y="11260"/>
                  </a:lnTo>
                  <a:lnTo>
                    <a:pt x="0" y="10322"/>
                  </a:lnTo>
                  <a:lnTo>
                    <a:pt x="0" y="9071"/>
                  </a:lnTo>
                  <a:lnTo>
                    <a:pt x="0" y="1"/>
                  </a:lnTo>
                  <a:lnTo>
                    <a:pt x="121664" y="1"/>
                  </a:lnTo>
                  <a:lnTo>
                    <a:pt x="121664" y="9071"/>
                  </a:lnTo>
                  <a:lnTo>
                    <a:pt x="121664" y="9071"/>
                  </a:lnTo>
                  <a:lnTo>
                    <a:pt x="121351" y="10322"/>
                  </a:lnTo>
                  <a:lnTo>
                    <a:pt x="121038" y="11260"/>
                  </a:lnTo>
                  <a:lnTo>
                    <a:pt x="120413" y="12511"/>
                  </a:lnTo>
                  <a:lnTo>
                    <a:pt x="119787" y="13450"/>
                  </a:lnTo>
                  <a:lnTo>
                    <a:pt x="118849" y="14075"/>
                  </a:lnTo>
                  <a:lnTo>
                    <a:pt x="117598" y="14701"/>
                  </a:lnTo>
                  <a:lnTo>
                    <a:pt x="116660" y="15013"/>
                  </a:lnTo>
                  <a:lnTo>
                    <a:pt x="115409" y="15013"/>
                  </a:lnTo>
                  <a:lnTo>
                    <a:pt x="115409" y="15013"/>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5"/>
            <p:cNvSpPr/>
            <p:nvPr/>
          </p:nvSpPr>
          <p:spPr>
            <a:xfrm>
              <a:off x="3379925" y="3756675"/>
              <a:ext cx="844475" cy="836650"/>
            </a:xfrm>
            <a:custGeom>
              <a:rect b="b" l="l" r="r" t="t"/>
              <a:pathLst>
                <a:path extrusionOk="0" fill="none" h="33466" w="33779">
                  <a:moveTo>
                    <a:pt x="33779" y="16577"/>
                  </a:moveTo>
                  <a:lnTo>
                    <a:pt x="33779" y="16577"/>
                  </a:lnTo>
                  <a:lnTo>
                    <a:pt x="33466" y="20017"/>
                  </a:lnTo>
                  <a:lnTo>
                    <a:pt x="32215" y="23145"/>
                  </a:lnTo>
                  <a:lnTo>
                    <a:pt x="30964" y="25960"/>
                  </a:lnTo>
                  <a:lnTo>
                    <a:pt x="28775" y="28462"/>
                  </a:lnTo>
                  <a:lnTo>
                    <a:pt x="26273" y="30651"/>
                  </a:lnTo>
                  <a:lnTo>
                    <a:pt x="23458" y="32215"/>
                  </a:lnTo>
                  <a:lnTo>
                    <a:pt x="20330" y="33153"/>
                  </a:lnTo>
                  <a:lnTo>
                    <a:pt x="16890" y="33466"/>
                  </a:lnTo>
                  <a:lnTo>
                    <a:pt x="16890" y="33466"/>
                  </a:lnTo>
                  <a:lnTo>
                    <a:pt x="13449" y="33153"/>
                  </a:lnTo>
                  <a:lnTo>
                    <a:pt x="10322" y="32215"/>
                  </a:lnTo>
                  <a:lnTo>
                    <a:pt x="7507" y="30651"/>
                  </a:lnTo>
                  <a:lnTo>
                    <a:pt x="5005" y="28462"/>
                  </a:lnTo>
                  <a:lnTo>
                    <a:pt x="3128" y="25960"/>
                  </a:lnTo>
                  <a:lnTo>
                    <a:pt x="1564" y="23145"/>
                  </a:lnTo>
                  <a:lnTo>
                    <a:pt x="313" y="20017"/>
                  </a:lnTo>
                  <a:lnTo>
                    <a:pt x="1" y="16577"/>
                  </a:lnTo>
                  <a:lnTo>
                    <a:pt x="1" y="16577"/>
                  </a:lnTo>
                  <a:lnTo>
                    <a:pt x="313" y="13137"/>
                  </a:lnTo>
                  <a:lnTo>
                    <a:pt x="1564" y="10009"/>
                  </a:lnTo>
                  <a:lnTo>
                    <a:pt x="3128" y="7194"/>
                  </a:lnTo>
                  <a:lnTo>
                    <a:pt x="5005" y="4692"/>
                  </a:lnTo>
                  <a:lnTo>
                    <a:pt x="7507" y="2815"/>
                  </a:lnTo>
                  <a:lnTo>
                    <a:pt x="10322" y="1252"/>
                  </a:lnTo>
                  <a:lnTo>
                    <a:pt x="13449" y="313"/>
                  </a:lnTo>
                  <a:lnTo>
                    <a:pt x="16890" y="1"/>
                  </a:lnTo>
                  <a:lnTo>
                    <a:pt x="16890" y="1"/>
                  </a:lnTo>
                  <a:lnTo>
                    <a:pt x="20330" y="313"/>
                  </a:lnTo>
                  <a:lnTo>
                    <a:pt x="23458" y="1252"/>
                  </a:lnTo>
                  <a:lnTo>
                    <a:pt x="26273" y="2815"/>
                  </a:lnTo>
                  <a:lnTo>
                    <a:pt x="28775" y="4692"/>
                  </a:lnTo>
                  <a:lnTo>
                    <a:pt x="30964" y="7194"/>
                  </a:lnTo>
                  <a:lnTo>
                    <a:pt x="32215" y="10009"/>
                  </a:lnTo>
                  <a:lnTo>
                    <a:pt x="33466" y="13137"/>
                  </a:lnTo>
                  <a:lnTo>
                    <a:pt x="33779" y="16577"/>
                  </a:lnTo>
                  <a:lnTo>
                    <a:pt x="33779" y="16577"/>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65"/>
            <p:cNvSpPr/>
            <p:nvPr/>
          </p:nvSpPr>
          <p:spPr>
            <a:xfrm>
              <a:off x="2824775" y="285025"/>
              <a:ext cx="1954775" cy="1211975"/>
            </a:xfrm>
            <a:custGeom>
              <a:rect b="b" l="l" r="r" t="t"/>
              <a:pathLst>
                <a:path extrusionOk="0" fill="none" h="48479" w="78191">
                  <a:moveTo>
                    <a:pt x="39096" y="48479"/>
                  </a:moveTo>
                  <a:lnTo>
                    <a:pt x="39096" y="48479"/>
                  </a:lnTo>
                  <a:lnTo>
                    <a:pt x="72874" y="48479"/>
                  </a:lnTo>
                  <a:lnTo>
                    <a:pt x="72874" y="48479"/>
                  </a:lnTo>
                  <a:lnTo>
                    <a:pt x="73812" y="48166"/>
                  </a:lnTo>
                  <a:lnTo>
                    <a:pt x="75063" y="47853"/>
                  </a:lnTo>
                  <a:lnTo>
                    <a:pt x="75689" y="47540"/>
                  </a:lnTo>
                  <a:lnTo>
                    <a:pt x="76627" y="46915"/>
                  </a:lnTo>
                  <a:lnTo>
                    <a:pt x="77252" y="45976"/>
                  </a:lnTo>
                  <a:lnTo>
                    <a:pt x="77878" y="45038"/>
                  </a:lnTo>
                  <a:lnTo>
                    <a:pt x="78191" y="44100"/>
                  </a:lnTo>
                  <a:lnTo>
                    <a:pt x="78191" y="43162"/>
                  </a:lnTo>
                  <a:lnTo>
                    <a:pt x="78191" y="43162"/>
                  </a:lnTo>
                  <a:lnTo>
                    <a:pt x="78191" y="41911"/>
                  </a:lnTo>
                  <a:lnTo>
                    <a:pt x="77878" y="40972"/>
                  </a:lnTo>
                  <a:lnTo>
                    <a:pt x="77252" y="40034"/>
                  </a:lnTo>
                  <a:lnTo>
                    <a:pt x="76627" y="39408"/>
                  </a:lnTo>
                  <a:lnTo>
                    <a:pt x="75689" y="38783"/>
                  </a:lnTo>
                  <a:lnTo>
                    <a:pt x="75063" y="38157"/>
                  </a:lnTo>
                  <a:lnTo>
                    <a:pt x="73812" y="37845"/>
                  </a:lnTo>
                  <a:lnTo>
                    <a:pt x="72874" y="37845"/>
                  </a:lnTo>
                  <a:lnTo>
                    <a:pt x="72874" y="37845"/>
                  </a:lnTo>
                  <a:lnTo>
                    <a:pt x="70059" y="37845"/>
                  </a:lnTo>
                  <a:lnTo>
                    <a:pt x="70059" y="37845"/>
                  </a:lnTo>
                  <a:lnTo>
                    <a:pt x="69433" y="31902"/>
                  </a:lnTo>
                  <a:lnTo>
                    <a:pt x="68808" y="25960"/>
                  </a:lnTo>
                  <a:lnTo>
                    <a:pt x="67557" y="18766"/>
                  </a:lnTo>
                  <a:lnTo>
                    <a:pt x="66619" y="15326"/>
                  </a:lnTo>
                  <a:lnTo>
                    <a:pt x="65680" y="11885"/>
                  </a:lnTo>
                  <a:lnTo>
                    <a:pt x="64429" y="8758"/>
                  </a:lnTo>
                  <a:lnTo>
                    <a:pt x="62866" y="5943"/>
                  </a:lnTo>
                  <a:lnTo>
                    <a:pt x="61302" y="3441"/>
                  </a:lnTo>
                  <a:lnTo>
                    <a:pt x="59112" y="1564"/>
                  </a:lnTo>
                  <a:lnTo>
                    <a:pt x="58174" y="939"/>
                  </a:lnTo>
                  <a:lnTo>
                    <a:pt x="56923" y="313"/>
                  </a:lnTo>
                  <a:lnTo>
                    <a:pt x="55672" y="1"/>
                  </a:lnTo>
                  <a:lnTo>
                    <a:pt x="54108" y="1"/>
                  </a:lnTo>
                  <a:lnTo>
                    <a:pt x="54108" y="1"/>
                  </a:lnTo>
                  <a:lnTo>
                    <a:pt x="52232" y="1"/>
                  </a:lnTo>
                  <a:lnTo>
                    <a:pt x="50355" y="626"/>
                  </a:lnTo>
                  <a:lnTo>
                    <a:pt x="47540" y="2190"/>
                  </a:lnTo>
                  <a:lnTo>
                    <a:pt x="45976" y="2815"/>
                  </a:lnTo>
                  <a:lnTo>
                    <a:pt x="44100" y="3754"/>
                  </a:lnTo>
                  <a:lnTo>
                    <a:pt x="41911" y="4066"/>
                  </a:lnTo>
                  <a:lnTo>
                    <a:pt x="39096" y="4379"/>
                  </a:lnTo>
                  <a:lnTo>
                    <a:pt x="39096" y="4379"/>
                  </a:lnTo>
                  <a:lnTo>
                    <a:pt x="36281" y="4066"/>
                  </a:lnTo>
                  <a:lnTo>
                    <a:pt x="34092" y="3754"/>
                  </a:lnTo>
                  <a:lnTo>
                    <a:pt x="32215" y="2815"/>
                  </a:lnTo>
                  <a:lnTo>
                    <a:pt x="30651" y="2190"/>
                  </a:lnTo>
                  <a:lnTo>
                    <a:pt x="27836" y="626"/>
                  </a:lnTo>
                  <a:lnTo>
                    <a:pt x="25960" y="1"/>
                  </a:lnTo>
                  <a:lnTo>
                    <a:pt x="24083" y="1"/>
                  </a:lnTo>
                  <a:lnTo>
                    <a:pt x="24083" y="1"/>
                  </a:lnTo>
                  <a:lnTo>
                    <a:pt x="22519" y="1"/>
                  </a:lnTo>
                  <a:lnTo>
                    <a:pt x="21268" y="313"/>
                  </a:lnTo>
                  <a:lnTo>
                    <a:pt x="20017" y="939"/>
                  </a:lnTo>
                  <a:lnTo>
                    <a:pt x="19079" y="1564"/>
                  </a:lnTo>
                  <a:lnTo>
                    <a:pt x="16890" y="3441"/>
                  </a:lnTo>
                  <a:lnTo>
                    <a:pt x="15326" y="5943"/>
                  </a:lnTo>
                  <a:lnTo>
                    <a:pt x="13762" y="8758"/>
                  </a:lnTo>
                  <a:lnTo>
                    <a:pt x="12511" y="11885"/>
                  </a:lnTo>
                  <a:lnTo>
                    <a:pt x="11573" y="15326"/>
                  </a:lnTo>
                  <a:lnTo>
                    <a:pt x="10635" y="18766"/>
                  </a:lnTo>
                  <a:lnTo>
                    <a:pt x="9384" y="25960"/>
                  </a:lnTo>
                  <a:lnTo>
                    <a:pt x="8758" y="31902"/>
                  </a:lnTo>
                  <a:lnTo>
                    <a:pt x="8132" y="37845"/>
                  </a:lnTo>
                  <a:lnTo>
                    <a:pt x="8132" y="37845"/>
                  </a:lnTo>
                  <a:lnTo>
                    <a:pt x="5318" y="37845"/>
                  </a:lnTo>
                  <a:lnTo>
                    <a:pt x="5318" y="37845"/>
                  </a:lnTo>
                  <a:lnTo>
                    <a:pt x="4379" y="37845"/>
                  </a:lnTo>
                  <a:lnTo>
                    <a:pt x="3128" y="38157"/>
                  </a:lnTo>
                  <a:lnTo>
                    <a:pt x="2503" y="38783"/>
                  </a:lnTo>
                  <a:lnTo>
                    <a:pt x="1565" y="39408"/>
                  </a:lnTo>
                  <a:lnTo>
                    <a:pt x="939" y="40034"/>
                  </a:lnTo>
                  <a:lnTo>
                    <a:pt x="313" y="40972"/>
                  </a:lnTo>
                  <a:lnTo>
                    <a:pt x="313" y="41911"/>
                  </a:lnTo>
                  <a:lnTo>
                    <a:pt x="1" y="43162"/>
                  </a:lnTo>
                  <a:lnTo>
                    <a:pt x="1" y="43162"/>
                  </a:lnTo>
                  <a:lnTo>
                    <a:pt x="313" y="44100"/>
                  </a:lnTo>
                  <a:lnTo>
                    <a:pt x="313" y="45038"/>
                  </a:lnTo>
                  <a:lnTo>
                    <a:pt x="939" y="45976"/>
                  </a:lnTo>
                  <a:lnTo>
                    <a:pt x="1565" y="46915"/>
                  </a:lnTo>
                  <a:lnTo>
                    <a:pt x="2503" y="47540"/>
                  </a:lnTo>
                  <a:lnTo>
                    <a:pt x="3128" y="47853"/>
                  </a:lnTo>
                  <a:lnTo>
                    <a:pt x="4379" y="48166"/>
                  </a:lnTo>
                  <a:lnTo>
                    <a:pt x="5318" y="48479"/>
                  </a:lnTo>
                  <a:lnTo>
                    <a:pt x="5318" y="48479"/>
                  </a:lnTo>
                  <a:lnTo>
                    <a:pt x="39096" y="48479"/>
                  </a:lnTo>
                  <a:lnTo>
                    <a:pt x="39096" y="48479"/>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65"/>
            <p:cNvSpPr/>
            <p:nvPr/>
          </p:nvSpPr>
          <p:spPr>
            <a:xfrm>
              <a:off x="1949050" y="2349250"/>
              <a:ext cx="899200" cy="1907875"/>
            </a:xfrm>
            <a:custGeom>
              <a:rect b="b" l="l" r="r" t="t"/>
              <a:pathLst>
                <a:path extrusionOk="0" fill="none" h="76315" w="35968">
                  <a:moveTo>
                    <a:pt x="20017" y="76314"/>
                  </a:moveTo>
                  <a:lnTo>
                    <a:pt x="20017" y="76314"/>
                  </a:lnTo>
                  <a:lnTo>
                    <a:pt x="12511" y="69121"/>
                  </a:lnTo>
                  <a:lnTo>
                    <a:pt x="3128" y="59425"/>
                  </a:lnTo>
                  <a:lnTo>
                    <a:pt x="3128" y="59425"/>
                  </a:lnTo>
                  <a:lnTo>
                    <a:pt x="1877" y="58487"/>
                  </a:lnTo>
                  <a:lnTo>
                    <a:pt x="1252" y="57236"/>
                  </a:lnTo>
                  <a:lnTo>
                    <a:pt x="626" y="55672"/>
                  </a:lnTo>
                  <a:lnTo>
                    <a:pt x="1" y="54108"/>
                  </a:lnTo>
                  <a:lnTo>
                    <a:pt x="1" y="51919"/>
                  </a:lnTo>
                  <a:lnTo>
                    <a:pt x="1" y="49730"/>
                  </a:lnTo>
                  <a:lnTo>
                    <a:pt x="313" y="46915"/>
                  </a:lnTo>
                  <a:lnTo>
                    <a:pt x="939" y="43787"/>
                  </a:lnTo>
                  <a:lnTo>
                    <a:pt x="939" y="43787"/>
                  </a:lnTo>
                  <a:lnTo>
                    <a:pt x="8445" y="7820"/>
                  </a:lnTo>
                  <a:lnTo>
                    <a:pt x="8445" y="7820"/>
                  </a:lnTo>
                  <a:lnTo>
                    <a:pt x="8758" y="5630"/>
                  </a:lnTo>
                  <a:lnTo>
                    <a:pt x="9383" y="4066"/>
                  </a:lnTo>
                  <a:lnTo>
                    <a:pt x="10322" y="2815"/>
                  </a:lnTo>
                  <a:lnTo>
                    <a:pt x="11260" y="1877"/>
                  </a:lnTo>
                  <a:lnTo>
                    <a:pt x="12511" y="939"/>
                  </a:lnTo>
                  <a:lnTo>
                    <a:pt x="14075" y="626"/>
                  </a:lnTo>
                  <a:lnTo>
                    <a:pt x="15951" y="313"/>
                  </a:lnTo>
                  <a:lnTo>
                    <a:pt x="17828" y="1"/>
                  </a:lnTo>
                  <a:lnTo>
                    <a:pt x="17828" y="1"/>
                  </a:lnTo>
                  <a:lnTo>
                    <a:pt x="35968"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65"/>
            <p:cNvSpPr/>
            <p:nvPr/>
          </p:nvSpPr>
          <p:spPr>
            <a:xfrm>
              <a:off x="2566750" y="1927025"/>
              <a:ext cx="844475" cy="1274525"/>
            </a:xfrm>
            <a:custGeom>
              <a:rect b="b" l="l" r="r" t="t"/>
              <a:pathLst>
                <a:path extrusionOk="0" fill="none" h="50981" w="33779">
                  <a:moveTo>
                    <a:pt x="33779" y="50980"/>
                  </a:moveTo>
                  <a:lnTo>
                    <a:pt x="1" y="0"/>
                  </a:lnTo>
                  <a:lnTo>
                    <a:pt x="25334"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65"/>
            <p:cNvSpPr/>
            <p:nvPr/>
          </p:nvSpPr>
          <p:spPr>
            <a:xfrm>
              <a:off x="2988975" y="2145950"/>
              <a:ext cx="445725" cy="680275"/>
            </a:xfrm>
            <a:custGeom>
              <a:rect b="b" l="l" r="r" t="t"/>
              <a:pathLst>
                <a:path extrusionOk="0" fill="none" h="27211" w="17829">
                  <a:moveTo>
                    <a:pt x="17828" y="27211"/>
                  </a:moveTo>
                  <a:lnTo>
                    <a:pt x="1"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65"/>
            <p:cNvSpPr/>
            <p:nvPr/>
          </p:nvSpPr>
          <p:spPr>
            <a:xfrm>
              <a:off x="4771725" y="2349250"/>
              <a:ext cx="899200" cy="1907875"/>
            </a:xfrm>
            <a:custGeom>
              <a:rect b="b" l="l" r="r" t="t"/>
              <a:pathLst>
                <a:path extrusionOk="0" fill="none" h="76315" w="35968">
                  <a:moveTo>
                    <a:pt x="15951" y="76314"/>
                  </a:moveTo>
                  <a:lnTo>
                    <a:pt x="15951" y="76314"/>
                  </a:lnTo>
                  <a:lnTo>
                    <a:pt x="23457" y="69121"/>
                  </a:lnTo>
                  <a:lnTo>
                    <a:pt x="32840" y="59425"/>
                  </a:lnTo>
                  <a:lnTo>
                    <a:pt x="32840" y="59425"/>
                  </a:lnTo>
                  <a:lnTo>
                    <a:pt x="34091" y="58487"/>
                  </a:lnTo>
                  <a:lnTo>
                    <a:pt x="34716" y="57236"/>
                  </a:lnTo>
                  <a:lnTo>
                    <a:pt x="35342" y="55672"/>
                  </a:lnTo>
                  <a:lnTo>
                    <a:pt x="35967" y="54108"/>
                  </a:lnTo>
                  <a:lnTo>
                    <a:pt x="35967" y="51919"/>
                  </a:lnTo>
                  <a:lnTo>
                    <a:pt x="35967" y="49730"/>
                  </a:lnTo>
                  <a:lnTo>
                    <a:pt x="35655" y="46915"/>
                  </a:lnTo>
                  <a:lnTo>
                    <a:pt x="35029" y="43787"/>
                  </a:lnTo>
                  <a:lnTo>
                    <a:pt x="35029" y="43787"/>
                  </a:lnTo>
                  <a:lnTo>
                    <a:pt x="27523" y="7820"/>
                  </a:lnTo>
                  <a:lnTo>
                    <a:pt x="27523" y="7820"/>
                  </a:lnTo>
                  <a:lnTo>
                    <a:pt x="27210" y="5630"/>
                  </a:lnTo>
                  <a:lnTo>
                    <a:pt x="26585" y="4066"/>
                  </a:lnTo>
                  <a:lnTo>
                    <a:pt x="25646" y="2815"/>
                  </a:lnTo>
                  <a:lnTo>
                    <a:pt x="24708" y="1877"/>
                  </a:lnTo>
                  <a:lnTo>
                    <a:pt x="23457" y="939"/>
                  </a:lnTo>
                  <a:lnTo>
                    <a:pt x="21893" y="626"/>
                  </a:lnTo>
                  <a:lnTo>
                    <a:pt x="20017" y="313"/>
                  </a:lnTo>
                  <a:lnTo>
                    <a:pt x="18140" y="1"/>
                  </a:lnTo>
                  <a:lnTo>
                    <a:pt x="18140" y="1"/>
                  </a:lnTo>
                  <a:lnTo>
                    <a:pt x="0"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65"/>
            <p:cNvSpPr/>
            <p:nvPr/>
          </p:nvSpPr>
          <p:spPr>
            <a:xfrm>
              <a:off x="4208750" y="1927025"/>
              <a:ext cx="844475" cy="1274525"/>
            </a:xfrm>
            <a:custGeom>
              <a:rect b="b" l="l" r="r" t="t"/>
              <a:pathLst>
                <a:path extrusionOk="0" fill="none" h="50981" w="33779">
                  <a:moveTo>
                    <a:pt x="0" y="50980"/>
                  </a:moveTo>
                  <a:lnTo>
                    <a:pt x="33778" y="0"/>
                  </a:lnTo>
                  <a:lnTo>
                    <a:pt x="8445"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65"/>
            <p:cNvSpPr/>
            <p:nvPr/>
          </p:nvSpPr>
          <p:spPr>
            <a:xfrm>
              <a:off x="4185275" y="2145950"/>
              <a:ext cx="445725" cy="680275"/>
            </a:xfrm>
            <a:custGeom>
              <a:rect b="b" l="l" r="r" t="t"/>
              <a:pathLst>
                <a:path extrusionOk="0" fill="none" h="27211" w="17829">
                  <a:moveTo>
                    <a:pt x="1" y="27211"/>
                  </a:moveTo>
                  <a:lnTo>
                    <a:pt x="17828"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65"/>
            <p:cNvSpPr/>
            <p:nvPr/>
          </p:nvSpPr>
          <p:spPr>
            <a:xfrm>
              <a:off x="3028075" y="1231125"/>
              <a:ext cx="1548175" cy="25"/>
            </a:xfrm>
            <a:custGeom>
              <a:rect b="b" l="l" r="r" t="t"/>
              <a:pathLst>
                <a:path extrusionOk="0" fill="none" h="1" w="61927">
                  <a:moveTo>
                    <a:pt x="0" y="1"/>
                  </a:moveTo>
                  <a:lnTo>
                    <a:pt x="61927"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65"/>
            <p:cNvSpPr/>
            <p:nvPr/>
          </p:nvSpPr>
          <p:spPr>
            <a:xfrm>
              <a:off x="3161000" y="1504800"/>
              <a:ext cx="1282350" cy="1047775"/>
            </a:xfrm>
            <a:custGeom>
              <a:rect b="b" l="l" r="r" t="t"/>
              <a:pathLst>
                <a:path extrusionOk="0" fill="none" h="41911" w="51294">
                  <a:moveTo>
                    <a:pt x="51293" y="0"/>
                  </a:moveTo>
                  <a:lnTo>
                    <a:pt x="51293" y="0"/>
                  </a:lnTo>
                  <a:lnTo>
                    <a:pt x="51293" y="3753"/>
                  </a:lnTo>
                  <a:lnTo>
                    <a:pt x="51293" y="3753"/>
                  </a:lnTo>
                  <a:lnTo>
                    <a:pt x="51293" y="7819"/>
                  </a:lnTo>
                  <a:lnTo>
                    <a:pt x="50980" y="11572"/>
                  </a:lnTo>
                  <a:lnTo>
                    <a:pt x="50355" y="15326"/>
                  </a:lnTo>
                  <a:lnTo>
                    <a:pt x="49417" y="18766"/>
                  </a:lnTo>
                  <a:lnTo>
                    <a:pt x="48165" y="21894"/>
                  </a:lnTo>
                  <a:lnTo>
                    <a:pt x="46914" y="25021"/>
                  </a:lnTo>
                  <a:lnTo>
                    <a:pt x="45663" y="28149"/>
                  </a:lnTo>
                  <a:lnTo>
                    <a:pt x="43787" y="30651"/>
                  </a:lnTo>
                  <a:lnTo>
                    <a:pt x="41910" y="33153"/>
                  </a:lnTo>
                  <a:lnTo>
                    <a:pt x="40034" y="35342"/>
                  </a:lnTo>
                  <a:lnTo>
                    <a:pt x="37844" y="37219"/>
                  </a:lnTo>
                  <a:lnTo>
                    <a:pt x="35655" y="39095"/>
                  </a:lnTo>
                  <a:lnTo>
                    <a:pt x="33466" y="40347"/>
                  </a:lnTo>
                  <a:lnTo>
                    <a:pt x="30964" y="41285"/>
                  </a:lnTo>
                  <a:lnTo>
                    <a:pt x="28149" y="41598"/>
                  </a:lnTo>
                  <a:lnTo>
                    <a:pt x="25647" y="41910"/>
                  </a:lnTo>
                  <a:lnTo>
                    <a:pt x="25647" y="41910"/>
                  </a:lnTo>
                  <a:lnTo>
                    <a:pt x="23145" y="41598"/>
                  </a:lnTo>
                  <a:lnTo>
                    <a:pt x="20330" y="41285"/>
                  </a:lnTo>
                  <a:lnTo>
                    <a:pt x="18141" y="40347"/>
                  </a:lnTo>
                  <a:lnTo>
                    <a:pt x="15638" y="39095"/>
                  </a:lnTo>
                  <a:lnTo>
                    <a:pt x="13449" y="37219"/>
                  </a:lnTo>
                  <a:lnTo>
                    <a:pt x="11260" y="35342"/>
                  </a:lnTo>
                  <a:lnTo>
                    <a:pt x="9383" y="33153"/>
                  </a:lnTo>
                  <a:lnTo>
                    <a:pt x="7507" y="30651"/>
                  </a:lnTo>
                  <a:lnTo>
                    <a:pt x="5630" y="28149"/>
                  </a:lnTo>
                  <a:lnTo>
                    <a:pt x="4379" y="25021"/>
                  </a:lnTo>
                  <a:lnTo>
                    <a:pt x="3128" y="21894"/>
                  </a:lnTo>
                  <a:lnTo>
                    <a:pt x="1877" y="18766"/>
                  </a:lnTo>
                  <a:lnTo>
                    <a:pt x="939" y="15326"/>
                  </a:lnTo>
                  <a:lnTo>
                    <a:pt x="313" y="11572"/>
                  </a:lnTo>
                  <a:lnTo>
                    <a:pt x="0" y="7819"/>
                  </a:lnTo>
                  <a:lnTo>
                    <a:pt x="0" y="3753"/>
                  </a:lnTo>
                  <a:lnTo>
                    <a:pt x="0" y="3753"/>
                  </a:lnTo>
                  <a:lnTo>
                    <a:pt x="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66"/>
          <p:cNvSpPr txBox="1"/>
          <p:nvPr/>
        </p:nvSpPr>
        <p:spPr>
          <a:xfrm>
            <a:off x="333900" y="23362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400"/>
              <a:buFont typeface="Arial"/>
              <a:buNone/>
            </a:pPr>
            <a:r>
              <a:rPr lang="en" sz="2600">
                <a:solidFill>
                  <a:schemeClr val="dk2"/>
                </a:solidFill>
                <a:latin typeface="Roboto Medium"/>
                <a:ea typeface="Roboto Medium"/>
                <a:cs typeface="Roboto Medium"/>
                <a:sym typeface="Roboto Medium"/>
              </a:rPr>
              <a:t>I</a:t>
            </a:r>
            <a:r>
              <a:rPr b="1" lang="en" sz="2600">
                <a:solidFill>
                  <a:schemeClr val="dk2"/>
                </a:solidFill>
                <a:latin typeface="Roboto"/>
                <a:ea typeface="Roboto"/>
                <a:cs typeface="Roboto"/>
                <a:sym typeface="Roboto"/>
              </a:rPr>
              <a:t>ntroduction to Penetration Testing</a:t>
            </a:r>
            <a:endParaRPr b="1" sz="2600">
              <a:solidFill>
                <a:schemeClr val="dk2"/>
              </a:solidFill>
              <a:latin typeface="Roboto"/>
              <a:ea typeface="Roboto"/>
              <a:cs typeface="Roboto"/>
              <a:sym typeface="Roboto"/>
            </a:endParaRPr>
          </a:p>
        </p:txBody>
      </p:sp>
      <p:sp>
        <p:nvSpPr>
          <p:cNvPr id="1186" name="Google Shape;1186;p166"/>
          <p:cNvSpPr txBox="1"/>
          <p:nvPr>
            <p:ph idx="1" type="body"/>
          </p:nvPr>
        </p:nvSpPr>
        <p:spPr>
          <a:xfrm>
            <a:off x="457200" y="711075"/>
            <a:ext cx="6204300" cy="12288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605"/>
              <a:buFont typeface="Arial"/>
              <a:buNone/>
            </a:pPr>
            <a:r>
              <a:rPr lang="en">
                <a:latin typeface="Roboto"/>
                <a:ea typeface="Roboto"/>
                <a:cs typeface="Roboto"/>
                <a:sym typeface="Roboto"/>
              </a:rPr>
              <a:t>Today, we will cover the following:</a:t>
            </a:r>
            <a:endParaRPr/>
          </a:p>
          <a:p>
            <a:pPr indent="0" lvl="0" marL="0" rtl="0" algn="l">
              <a:spcBef>
                <a:spcPts val="0"/>
              </a:spcBef>
              <a:spcAft>
                <a:spcPts val="0"/>
              </a:spcAft>
              <a:buNone/>
            </a:pPr>
            <a:r>
              <a:t/>
            </a:r>
            <a:endParaRPr sz="1400"/>
          </a:p>
        </p:txBody>
      </p:sp>
      <p:pic>
        <p:nvPicPr>
          <p:cNvPr id="1187" name="Google Shape;1187;p166"/>
          <p:cNvPicPr preferRelativeResize="0"/>
          <p:nvPr/>
        </p:nvPicPr>
        <p:blipFill rotWithShape="1">
          <a:blip r:embed="rId3">
            <a:alphaModFix/>
          </a:blip>
          <a:srcRect b="0" l="0" r="0" t="0"/>
          <a:stretch/>
        </p:blipFill>
        <p:spPr>
          <a:xfrm>
            <a:off x="137162" y="1249094"/>
            <a:ext cx="8869675" cy="3473981"/>
          </a:xfrm>
          <a:prstGeom prst="rect">
            <a:avLst/>
          </a:prstGeom>
          <a:noFill/>
          <a:ln>
            <a:noFill/>
          </a:ln>
        </p:spPr>
      </p:pic>
      <p:sp>
        <p:nvSpPr>
          <p:cNvPr id="1188" name="Google Shape;1188;p166"/>
          <p:cNvSpPr txBox="1"/>
          <p:nvPr>
            <p:ph idx="4294967295" type="subTitle"/>
          </p:nvPr>
        </p:nvSpPr>
        <p:spPr>
          <a:xfrm>
            <a:off x="382800" y="1990837"/>
            <a:ext cx="2371500" cy="1893900"/>
          </a:xfrm>
          <a:prstGeom prst="rect">
            <a:avLst/>
          </a:prstGeom>
          <a:noFill/>
          <a:ln>
            <a:noFill/>
          </a:ln>
        </p:spPr>
        <p:txBody>
          <a:bodyPr anchorCtr="0" anchor="t" bIns="182875" lIns="182875" spcFirstLastPara="1" rIns="182875" wrap="square" tIns="182875">
            <a:noAutofit/>
          </a:bodyPr>
          <a:lstStyle/>
          <a:p>
            <a:pPr indent="0" lvl="0" marL="0" rtl="0" algn="ctr">
              <a:lnSpc>
                <a:spcPct val="100000"/>
              </a:lnSpc>
              <a:spcBef>
                <a:spcPts val="0"/>
              </a:spcBef>
              <a:spcAft>
                <a:spcPts val="0"/>
              </a:spcAft>
              <a:buSzPts val="1800"/>
              <a:buNone/>
            </a:pPr>
            <a:r>
              <a:rPr lang="en"/>
              <a:t>An </a:t>
            </a:r>
            <a:r>
              <a:rPr b="1" lang="en">
                <a:latin typeface="Roboto"/>
                <a:ea typeface="Roboto"/>
                <a:cs typeface="Roboto"/>
                <a:sym typeface="Roboto"/>
              </a:rPr>
              <a:t>introduction</a:t>
            </a:r>
            <a:r>
              <a:rPr lang="en"/>
              <a:t> to penetration testing and its business goals</a:t>
            </a:r>
            <a:endParaRPr/>
          </a:p>
        </p:txBody>
      </p:sp>
      <p:sp>
        <p:nvSpPr>
          <p:cNvPr id="1189" name="Google Shape;1189;p166"/>
          <p:cNvSpPr txBox="1"/>
          <p:nvPr>
            <p:ph idx="4294967295" type="subTitle"/>
          </p:nvPr>
        </p:nvSpPr>
        <p:spPr>
          <a:xfrm>
            <a:off x="3285075" y="1990846"/>
            <a:ext cx="2371500" cy="1893900"/>
          </a:xfrm>
          <a:prstGeom prst="rect">
            <a:avLst/>
          </a:prstGeom>
          <a:noFill/>
          <a:ln>
            <a:noFill/>
          </a:ln>
        </p:spPr>
        <p:txBody>
          <a:bodyPr anchorCtr="0" anchor="t" bIns="182875" lIns="182875" spcFirstLastPara="1" rIns="182875" wrap="square" tIns="182875">
            <a:noAutofit/>
          </a:bodyPr>
          <a:lstStyle/>
          <a:p>
            <a:pPr indent="0" lvl="0" marL="0" rtl="0" algn="ctr">
              <a:lnSpc>
                <a:spcPct val="100000"/>
              </a:lnSpc>
              <a:spcBef>
                <a:spcPts val="0"/>
              </a:spcBef>
              <a:spcAft>
                <a:spcPts val="0"/>
              </a:spcAft>
              <a:buSzPts val="1800"/>
              <a:buNone/>
            </a:pPr>
            <a:r>
              <a:rPr lang="en"/>
              <a:t>A </a:t>
            </a:r>
            <a:r>
              <a:rPr b="1" lang="en">
                <a:latin typeface="Roboto"/>
                <a:ea typeface="Roboto"/>
                <a:cs typeface="Roboto"/>
                <a:sym typeface="Roboto"/>
              </a:rPr>
              <a:t>high-level overview</a:t>
            </a:r>
            <a:r>
              <a:rPr lang="en"/>
              <a:t> of the various stages of a pen test engagement</a:t>
            </a:r>
            <a:endParaRPr/>
          </a:p>
        </p:txBody>
      </p:sp>
      <p:sp>
        <p:nvSpPr>
          <p:cNvPr id="1190" name="Google Shape;1190;p166"/>
          <p:cNvSpPr txBox="1"/>
          <p:nvPr>
            <p:ph idx="4294967295" type="subTitle"/>
          </p:nvPr>
        </p:nvSpPr>
        <p:spPr>
          <a:xfrm>
            <a:off x="6401175" y="1898079"/>
            <a:ext cx="2371500" cy="1893900"/>
          </a:xfrm>
          <a:prstGeom prst="rect">
            <a:avLst/>
          </a:prstGeom>
          <a:noFill/>
          <a:ln>
            <a:noFill/>
          </a:ln>
        </p:spPr>
        <p:txBody>
          <a:bodyPr anchorCtr="0" anchor="t" bIns="182875" lIns="182875" spcFirstLastPara="1" rIns="182875" wrap="square" tIns="182875">
            <a:noAutofit/>
          </a:bodyPr>
          <a:lstStyle/>
          <a:p>
            <a:pPr indent="0" lvl="0" marL="0" rtl="0" algn="ctr">
              <a:lnSpc>
                <a:spcPct val="100000"/>
              </a:lnSpc>
              <a:spcBef>
                <a:spcPts val="0"/>
              </a:spcBef>
              <a:spcAft>
                <a:spcPts val="0"/>
              </a:spcAft>
              <a:buSzPts val="1800"/>
              <a:buNone/>
            </a:pPr>
            <a:r>
              <a:rPr lang="en"/>
              <a:t>A </a:t>
            </a:r>
            <a:r>
              <a:rPr b="1" lang="en">
                <a:latin typeface="Roboto"/>
                <a:ea typeface="Roboto"/>
                <a:cs typeface="Roboto"/>
                <a:sym typeface="Roboto"/>
              </a:rPr>
              <a:t>deep dive</a:t>
            </a:r>
            <a:r>
              <a:rPr lang="en"/>
              <a:t> into </a:t>
            </a:r>
            <a:br>
              <a:rPr lang="en"/>
            </a:br>
            <a:r>
              <a:rPr lang="en"/>
              <a:t>the first step of </a:t>
            </a:r>
            <a:br>
              <a:rPr lang="en"/>
            </a:br>
            <a:r>
              <a:rPr lang="en"/>
              <a:t>a penetration test: planning and reconnaissance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67"/>
          <p:cNvSpPr txBox="1"/>
          <p:nvPr/>
        </p:nvSpPr>
        <p:spPr>
          <a:xfrm>
            <a:off x="349359" y="23362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Important!</a:t>
            </a:r>
            <a:endParaRPr sz="2600">
              <a:solidFill>
                <a:schemeClr val="accent5"/>
              </a:solidFill>
              <a:latin typeface="Roboto Light"/>
              <a:ea typeface="Roboto Light"/>
              <a:cs typeface="Roboto Light"/>
              <a:sym typeface="Roboto Light"/>
            </a:endParaRPr>
          </a:p>
        </p:txBody>
      </p:sp>
      <p:sp>
        <p:nvSpPr>
          <p:cNvPr id="1196" name="Google Shape;1196;p167"/>
          <p:cNvSpPr txBox="1"/>
          <p:nvPr>
            <p:ph idx="4294967295" type="subTitle"/>
          </p:nvPr>
        </p:nvSpPr>
        <p:spPr>
          <a:xfrm>
            <a:off x="-44425" y="806325"/>
            <a:ext cx="4942800" cy="1631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The techniques that we’ll learn in this unit can be used to break into networks and do serious damage to an organization's infrastructure.</a:t>
            </a:r>
            <a:endParaRPr/>
          </a:p>
          <a:p>
            <a:pPr indent="0" lvl="0" marL="0" rtl="0" algn="l">
              <a:lnSpc>
                <a:spcPct val="100000"/>
              </a:lnSpc>
              <a:spcBef>
                <a:spcPts val="0"/>
              </a:spcBef>
              <a:spcAft>
                <a:spcPts val="0"/>
              </a:spcAft>
              <a:buSzPts val="1800"/>
              <a:buNone/>
            </a:pPr>
            <a:r>
              <a:t/>
            </a:r>
            <a:endParaRPr/>
          </a:p>
        </p:txBody>
      </p:sp>
      <p:sp>
        <p:nvSpPr>
          <p:cNvPr id="1197" name="Google Shape;1197;p167"/>
          <p:cNvSpPr txBox="1"/>
          <p:nvPr>
            <p:ph idx="1" type="body"/>
          </p:nvPr>
        </p:nvSpPr>
        <p:spPr>
          <a:xfrm>
            <a:off x="-205175" y="2192200"/>
            <a:ext cx="5048700" cy="3073500"/>
          </a:xfrm>
          <a:prstGeom prst="rect">
            <a:avLst/>
          </a:prstGeom>
          <a:noFill/>
          <a:ln>
            <a:noFill/>
          </a:ln>
        </p:spPr>
        <p:txBody>
          <a:bodyPr anchorCtr="0" anchor="t" bIns="914400" lIns="457200" spcFirstLastPara="1" rIns="457200" wrap="square" tIns="0">
            <a:noAutofit/>
          </a:bodyPr>
          <a:lstStyle/>
          <a:p>
            <a:pPr indent="-205740" lvl="0" marL="320040" rtl="0" algn="l">
              <a:lnSpc>
                <a:spcPct val="100000"/>
              </a:lnSpc>
              <a:spcBef>
                <a:spcPts val="0"/>
              </a:spcBef>
              <a:spcAft>
                <a:spcPts val="0"/>
              </a:spcAft>
              <a:buSzPts val="1800"/>
              <a:buChar char="●"/>
            </a:pPr>
            <a:r>
              <a:rPr lang="en"/>
              <a:t>This is </a:t>
            </a:r>
            <a:r>
              <a:rPr b="1" lang="en"/>
              <a:t>illegal</a:t>
            </a:r>
            <a:r>
              <a:rPr lang="en"/>
              <a:t> when done without permission.</a:t>
            </a:r>
            <a:endParaRPr/>
          </a:p>
          <a:p>
            <a:pPr indent="-205740" lvl="0" marL="320040" rtl="0" algn="l">
              <a:lnSpc>
                <a:spcPct val="100000"/>
              </a:lnSpc>
              <a:spcBef>
                <a:spcPts val="1000"/>
              </a:spcBef>
              <a:spcAft>
                <a:spcPts val="0"/>
              </a:spcAft>
              <a:buSzPts val="1800"/>
              <a:buChar char="●"/>
            </a:pPr>
            <a:r>
              <a:rPr lang="en"/>
              <a:t>The tools and techniques we’ll discuss are serious, and misusing them has serious consequences.</a:t>
            </a:r>
            <a:endParaRPr/>
          </a:p>
          <a:p>
            <a:pPr indent="-205740" lvl="0" marL="320040" rtl="0" algn="l">
              <a:lnSpc>
                <a:spcPct val="100000"/>
              </a:lnSpc>
              <a:spcBef>
                <a:spcPts val="1000"/>
              </a:spcBef>
              <a:spcAft>
                <a:spcPts val="0"/>
              </a:spcAft>
              <a:buSzPts val="1800"/>
              <a:buChar char="●"/>
            </a:pPr>
            <a:r>
              <a:rPr lang="en"/>
              <a:t>Do not practice these techniques against computers that you do not own or have clear written permission to interact with.</a:t>
            </a:r>
            <a:endParaRPr sz="2000"/>
          </a:p>
        </p:txBody>
      </p:sp>
      <p:pic>
        <p:nvPicPr>
          <p:cNvPr id="1198" name="Google Shape;1198;p167"/>
          <p:cNvPicPr preferRelativeResize="0"/>
          <p:nvPr/>
        </p:nvPicPr>
        <p:blipFill rotWithShape="1">
          <a:blip r:embed="rId3">
            <a:alphaModFix/>
          </a:blip>
          <a:srcRect b="0" l="0" r="0" t="0"/>
          <a:stretch/>
        </p:blipFill>
        <p:spPr>
          <a:xfrm>
            <a:off x="4843475" y="1325275"/>
            <a:ext cx="3179750" cy="3266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68"/>
          <p:cNvSpPr txBox="1"/>
          <p:nvPr>
            <p:ph idx="2" type="title"/>
          </p:nvPr>
        </p:nvSpPr>
        <p:spPr>
          <a:xfrm>
            <a:off x="1371600" y="1039700"/>
            <a:ext cx="63231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2600">
                <a:latin typeface="Roboto"/>
                <a:ea typeface="Roboto"/>
                <a:cs typeface="Roboto"/>
                <a:sym typeface="Roboto"/>
              </a:rPr>
              <a:t>Penetration testing</a:t>
            </a:r>
            <a:r>
              <a:rPr lang="en" sz="2600">
                <a:latin typeface="Roboto"/>
                <a:ea typeface="Roboto"/>
                <a:cs typeface="Roboto"/>
                <a:sym typeface="Roboto"/>
              </a:rPr>
              <a:t>, often referred to as </a:t>
            </a:r>
            <a:r>
              <a:rPr b="1" lang="en" sz="2600">
                <a:latin typeface="Roboto"/>
                <a:ea typeface="Roboto"/>
                <a:cs typeface="Roboto"/>
                <a:sym typeface="Roboto"/>
              </a:rPr>
              <a:t>pen testing </a:t>
            </a:r>
            <a:r>
              <a:rPr lang="en" sz="2600">
                <a:latin typeface="Roboto"/>
                <a:ea typeface="Roboto"/>
                <a:cs typeface="Roboto"/>
                <a:sym typeface="Roboto"/>
              </a:rPr>
              <a:t>or </a:t>
            </a:r>
            <a:r>
              <a:rPr b="1" lang="en" sz="2600">
                <a:latin typeface="Roboto"/>
                <a:ea typeface="Roboto"/>
                <a:cs typeface="Roboto"/>
                <a:sym typeface="Roboto"/>
              </a:rPr>
              <a:t>ethical hacking</a:t>
            </a:r>
            <a:r>
              <a:rPr lang="en" sz="2600">
                <a:latin typeface="Roboto"/>
                <a:ea typeface="Roboto"/>
                <a:cs typeface="Roboto"/>
                <a:sym typeface="Roboto"/>
              </a:rPr>
              <a:t>, is the offensive security practice of attacking a network using the same techniques that a malicious hacker would use, in an effort to identify security holes and raise awareness within an organization.</a:t>
            </a:r>
            <a:endParaRPr sz="26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69"/>
          <p:cNvSpPr/>
          <p:nvPr/>
        </p:nvSpPr>
        <p:spPr>
          <a:xfrm>
            <a:off x="5923375" y="0"/>
            <a:ext cx="322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9"/>
          <p:cNvSpPr txBox="1"/>
          <p:nvPr/>
        </p:nvSpPr>
        <p:spPr>
          <a:xfrm>
            <a:off x="360932" y="233625"/>
            <a:ext cx="4939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Penetration Testing</a:t>
            </a:r>
            <a:endParaRPr sz="2600">
              <a:solidFill>
                <a:schemeClr val="accent5"/>
              </a:solidFill>
              <a:latin typeface="Roboto Light"/>
              <a:ea typeface="Roboto Light"/>
              <a:cs typeface="Roboto Light"/>
              <a:sym typeface="Roboto Light"/>
            </a:endParaRPr>
          </a:p>
        </p:txBody>
      </p:sp>
      <p:sp>
        <p:nvSpPr>
          <p:cNvPr id="1210" name="Google Shape;1210;p169"/>
          <p:cNvSpPr txBox="1"/>
          <p:nvPr/>
        </p:nvSpPr>
        <p:spPr>
          <a:xfrm>
            <a:off x="-363100" y="2093450"/>
            <a:ext cx="6189300" cy="3505500"/>
          </a:xfrm>
          <a:prstGeom prst="rect">
            <a:avLst/>
          </a:prstGeom>
          <a:noFill/>
          <a:ln>
            <a:noFill/>
          </a:ln>
        </p:spPr>
        <p:txBody>
          <a:bodyPr anchorCtr="0" anchor="t" bIns="914400" lIns="457200" spcFirstLastPara="1" rIns="457200" wrap="square" tIns="0">
            <a:noAutofit/>
          </a:bodyPr>
          <a:lstStyle/>
          <a:p>
            <a:pPr indent="0" lvl="0" marL="0" rtl="0" algn="l">
              <a:lnSpc>
                <a:spcPct val="115000"/>
              </a:lnSpc>
              <a:spcBef>
                <a:spcPts val="0"/>
              </a:spcBef>
              <a:spcAft>
                <a:spcPts val="0"/>
              </a:spcAft>
              <a:buNone/>
            </a:pPr>
            <a:r>
              <a:t/>
            </a:r>
            <a:endParaRPr sz="1800">
              <a:solidFill>
                <a:srgbClr val="2E5E73"/>
              </a:solidFill>
              <a:latin typeface="Roboto"/>
              <a:ea typeface="Roboto"/>
              <a:cs typeface="Roboto"/>
              <a:sym typeface="Roboto"/>
            </a:endParaRPr>
          </a:p>
          <a:p>
            <a:pPr indent="-205740" lvl="0" marL="548640" rtl="0" algn="l">
              <a:lnSpc>
                <a:spcPct val="115000"/>
              </a:lnSpc>
              <a:spcBef>
                <a:spcPts val="1200"/>
              </a:spcBef>
              <a:spcAft>
                <a:spcPts val="0"/>
              </a:spcAft>
              <a:buClr>
                <a:schemeClr val="accent5"/>
              </a:buClr>
              <a:buSzPts val="1800"/>
              <a:buFont typeface="Roboto"/>
              <a:buChar char="●"/>
            </a:pPr>
            <a:r>
              <a:rPr lang="en" sz="1800">
                <a:solidFill>
                  <a:schemeClr val="accent5"/>
                </a:solidFill>
                <a:latin typeface="Roboto"/>
                <a:ea typeface="Roboto"/>
                <a:cs typeface="Roboto"/>
                <a:sym typeface="Roboto"/>
              </a:rPr>
              <a:t>Pen tests are often administered by consultancies, which can take an “outside” view of a client’s networks.</a:t>
            </a:r>
            <a:endParaRPr sz="1800">
              <a:solidFill>
                <a:schemeClr val="accent5"/>
              </a:solidFill>
              <a:latin typeface="Roboto"/>
              <a:ea typeface="Roboto"/>
              <a:cs typeface="Roboto"/>
              <a:sym typeface="Roboto"/>
            </a:endParaRPr>
          </a:p>
          <a:p>
            <a:pPr indent="-205740" lvl="0" marL="548640" rtl="0" algn="l">
              <a:lnSpc>
                <a:spcPct val="115000"/>
              </a:lnSpc>
              <a:spcBef>
                <a:spcPts val="1200"/>
              </a:spcBef>
              <a:spcAft>
                <a:spcPts val="0"/>
              </a:spcAft>
              <a:buClr>
                <a:schemeClr val="accent5"/>
              </a:buClr>
              <a:buSzPts val="1800"/>
              <a:buFont typeface="Roboto"/>
              <a:buChar char="●"/>
            </a:pPr>
            <a:r>
              <a:rPr lang="en" sz="1800">
                <a:solidFill>
                  <a:schemeClr val="accent5"/>
                </a:solidFill>
                <a:latin typeface="Roboto"/>
                <a:ea typeface="Roboto"/>
                <a:cs typeface="Roboto"/>
                <a:sym typeface="Roboto"/>
              </a:rPr>
              <a:t>In the simplest terms, pen testers aim to break into a client's machine, infrastructure, or even physical premises to help the client improve their security.</a:t>
            </a:r>
            <a:endParaRPr sz="1800">
              <a:solidFill>
                <a:schemeClr val="accent5"/>
              </a:solidFill>
              <a:latin typeface="Roboto"/>
              <a:ea typeface="Roboto"/>
              <a:cs typeface="Roboto"/>
              <a:sym typeface="Roboto"/>
            </a:endParaRPr>
          </a:p>
          <a:p>
            <a:pPr indent="0" lvl="0" marL="457200" rtl="0" algn="l">
              <a:lnSpc>
                <a:spcPct val="115000"/>
              </a:lnSpc>
              <a:spcBef>
                <a:spcPts val="1200"/>
              </a:spcBef>
              <a:spcAft>
                <a:spcPts val="0"/>
              </a:spcAft>
              <a:buNone/>
            </a:pPr>
            <a:r>
              <a:t/>
            </a:r>
            <a:endParaRPr>
              <a:solidFill>
                <a:srgbClr val="2E5E73"/>
              </a:solidFill>
              <a:latin typeface="Roboto"/>
              <a:ea typeface="Roboto"/>
              <a:cs typeface="Roboto"/>
              <a:sym typeface="Roboto"/>
            </a:endParaRPr>
          </a:p>
          <a:p>
            <a:pPr indent="0" lvl="0" marL="457200" rtl="0" algn="l">
              <a:lnSpc>
                <a:spcPct val="115000"/>
              </a:lnSpc>
              <a:spcBef>
                <a:spcPts val="1200"/>
              </a:spcBef>
              <a:spcAft>
                <a:spcPts val="1200"/>
              </a:spcAft>
              <a:buNone/>
            </a:pPr>
            <a:r>
              <a:t/>
            </a:r>
            <a:endParaRPr>
              <a:solidFill>
                <a:srgbClr val="2E5E73"/>
              </a:solidFill>
              <a:latin typeface="Roboto"/>
              <a:ea typeface="Roboto"/>
              <a:cs typeface="Roboto"/>
              <a:sym typeface="Roboto"/>
            </a:endParaRPr>
          </a:p>
        </p:txBody>
      </p:sp>
      <p:pic>
        <p:nvPicPr>
          <p:cNvPr id="1211" name="Google Shape;1211;p169"/>
          <p:cNvPicPr preferRelativeResize="0"/>
          <p:nvPr/>
        </p:nvPicPr>
        <p:blipFill rotWithShape="1">
          <a:blip r:embed="rId3">
            <a:alphaModFix/>
          </a:blip>
          <a:srcRect b="0" l="48300" r="16479" t="0"/>
          <a:stretch/>
        </p:blipFill>
        <p:spPr>
          <a:xfrm>
            <a:off x="5923375" y="0"/>
            <a:ext cx="3220500" cy="5143500"/>
          </a:xfrm>
          <a:prstGeom prst="rect">
            <a:avLst/>
          </a:prstGeom>
          <a:noFill/>
          <a:ln>
            <a:noFill/>
          </a:ln>
        </p:spPr>
      </p:pic>
      <p:sp>
        <p:nvSpPr>
          <p:cNvPr id="1212" name="Google Shape;1212;p169"/>
          <p:cNvSpPr txBox="1"/>
          <p:nvPr/>
        </p:nvSpPr>
        <p:spPr>
          <a:xfrm>
            <a:off x="345450" y="806325"/>
            <a:ext cx="5480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5"/>
                </a:solidFill>
                <a:latin typeface="Roboto"/>
                <a:ea typeface="Roboto"/>
                <a:cs typeface="Roboto"/>
                <a:sym typeface="Roboto"/>
              </a:rPr>
              <a:t>Organizations hire pen testers to assess their security controls. Pen testers find flaws in those controls, help the organization understand these flaws, and provide recommendations about which vulnerabilities to prioritize and how to fix them.</a:t>
            </a:r>
            <a:endParaRPr sz="1800">
              <a:solidFill>
                <a:schemeClr val="accent5"/>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70"/>
          <p:cNvSpPr txBox="1"/>
          <p:nvPr>
            <p:ph type="title"/>
          </p:nvPr>
        </p:nvSpPr>
        <p:spPr>
          <a:xfrm>
            <a:off x="457200" y="146300"/>
            <a:ext cx="52503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Penetration Testing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18" name="Google Shape;1218;p170"/>
          <p:cNvSpPr txBox="1"/>
          <p:nvPr>
            <p:ph idx="1" type="body"/>
          </p:nvPr>
        </p:nvSpPr>
        <p:spPr>
          <a:xfrm>
            <a:off x="520700" y="1333075"/>
            <a:ext cx="4910100" cy="32511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Pen testers, unlike </a:t>
            </a:r>
            <a:r>
              <a:rPr b="1" lang="en"/>
              <a:t>malicious hackers</a:t>
            </a:r>
            <a:r>
              <a:rPr lang="en"/>
              <a:t>, begin </a:t>
            </a:r>
            <a:r>
              <a:rPr lang="en"/>
              <a:t>engagement</a:t>
            </a:r>
            <a:r>
              <a:rPr lang="en"/>
              <a:t> only after </a:t>
            </a:r>
            <a:r>
              <a:rPr lang="en"/>
              <a:t>receiving</a:t>
            </a:r>
            <a:r>
              <a:rPr lang="en"/>
              <a:t> permission.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Pen testers use a combination of automated and manual tools to:</a:t>
            </a:r>
            <a:endParaRPr/>
          </a:p>
          <a:p>
            <a:pPr indent="-342900" lvl="0" marL="457200" rtl="0" algn="l">
              <a:spcBef>
                <a:spcPts val="0"/>
              </a:spcBef>
              <a:spcAft>
                <a:spcPts val="0"/>
              </a:spcAft>
              <a:buSzPts val="1800"/>
              <a:buChar char="●"/>
            </a:pPr>
            <a:r>
              <a:rPr lang="en"/>
              <a:t>Research vulnerabilities</a:t>
            </a:r>
            <a:endParaRPr/>
          </a:p>
          <a:p>
            <a:pPr indent="-342900" lvl="0" marL="457200" rtl="0" algn="l">
              <a:spcBef>
                <a:spcPts val="0"/>
              </a:spcBef>
              <a:spcAft>
                <a:spcPts val="0"/>
              </a:spcAft>
              <a:buSzPts val="1800"/>
              <a:buChar char="●"/>
            </a:pPr>
            <a:r>
              <a:rPr lang="en"/>
              <a:t>Craft phishing emails</a:t>
            </a:r>
            <a:endParaRPr/>
          </a:p>
          <a:p>
            <a:pPr indent="-342900" lvl="0" marL="457200" rtl="0" algn="l">
              <a:spcBef>
                <a:spcPts val="0"/>
              </a:spcBef>
              <a:spcAft>
                <a:spcPts val="0"/>
              </a:spcAft>
              <a:buSzPts val="1800"/>
              <a:buChar char="●"/>
            </a:pPr>
            <a:r>
              <a:rPr lang="en"/>
              <a:t>Manually exploit hosts</a:t>
            </a:r>
            <a:endParaRPr/>
          </a:p>
          <a:p>
            <a:pPr indent="-342900" lvl="0" marL="457200" rtl="0" algn="l">
              <a:spcBef>
                <a:spcPts val="0"/>
              </a:spcBef>
              <a:spcAft>
                <a:spcPts val="0"/>
              </a:spcAft>
              <a:buSzPts val="1800"/>
              <a:buChar char="●"/>
            </a:pPr>
            <a:r>
              <a:rPr lang="en"/>
              <a:t>Write shell code</a:t>
            </a:r>
            <a:endParaRPr/>
          </a:p>
        </p:txBody>
      </p:sp>
      <p:sp>
        <p:nvSpPr>
          <p:cNvPr id="1219" name="Google Shape;1219;p170"/>
          <p:cNvSpPr txBox="1"/>
          <p:nvPr>
            <p:ph idx="3" type="subTitle"/>
          </p:nvPr>
        </p:nvSpPr>
        <p:spPr>
          <a:xfrm>
            <a:off x="457200" y="624850"/>
            <a:ext cx="5628600" cy="27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P</a:t>
            </a:r>
            <a:r>
              <a:rPr lang="en"/>
              <a:t>enetration testing is often referred to as an </a:t>
            </a:r>
            <a:r>
              <a:rPr b="1" lang="en"/>
              <a:t>engagement</a:t>
            </a:r>
            <a:r>
              <a:rPr lang="en"/>
              <a:t>. </a:t>
            </a:r>
            <a:endParaRPr/>
          </a:p>
        </p:txBody>
      </p:sp>
      <p:pic>
        <p:nvPicPr>
          <p:cNvPr id="1220" name="Google Shape;1220;p170"/>
          <p:cNvPicPr preferRelativeResize="0"/>
          <p:nvPr/>
        </p:nvPicPr>
        <p:blipFill>
          <a:blip r:embed="rId3">
            <a:alphaModFix/>
          </a:blip>
          <a:stretch>
            <a:fillRect/>
          </a:stretch>
        </p:blipFill>
        <p:spPr>
          <a:xfrm>
            <a:off x="5306925" y="1828788"/>
            <a:ext cx="3195100" cy="24386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71"/>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Module Overview and </a:t>
            </a:r>
            <a:r>
              <a:rPr lang="en">
                <a:latin typeface="Roboto"/>
                <a:ea typeface="Roboto"/>
                <a:cs typeface="Roboto"/>
                <a:sym typeface="Roboto"/>
              </a:rPr>
              <a:t>Penetration Testing Phases</a:t>
            </a:r>
            <a:endParaRPr>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226" name="Google Shape;1226;p171"/>
          <p:cNvPicPr preferRelativeResize="0"/>
          <p:nvPr/>
        </p:nvPicPr>
        <p:blipFill>
          <a:blip r:embed="rId3">
            <a:alphaModFix/>
          </a:blip>
          <a:stretch>
            <a:fillRect/>
          </a:stretch>
        </p:blipFill>
        <p:spPr>
          <a:xfrm>
            <a:off x="3936162" y="1458862"/>
            <a:ext cx="1271664" cy="1249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30" name="Shape 1230"/>
        <p:cNvGrpSpPr/>
        <p:nvPr/>
      </p:nvGrpSpPr>
      <p:grpSpPr>
        <a:xfrm>
          <a:off x="0" y="0"/>
          <a:ext cx="0" cy="0"/>
          <a:chOff x="0" y="0"/>
          <a:chExt cx="0" cy="0"/>
        </a:xfrm>
      </p:grpSpPr>
      <p:sp>
        <p:nvSpPr>
          <p:cNvPr id="1231" name="Google Shape;1231;p172"/>
          <p:cNvSpPr txBox="1"/>
          <p:nvPr>
            <p:ph idx="1" type="body"/>
          </p:nvPr>
        </p:nvSpPr>
        <p:spPr>
          <a:xfrm>
            <a:off x="3657600" y="1061875"/>
            <a:ext cx="4743000" cy="3915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This week, you will play the role of consultants at GoodCorp who have been hired to conduct a penetration test against </a:t>
            </a:r>
            <a:r>
              <a:rPr b="1" lang="en" sz="1400"/>
              <a:t>MegaCorpOne.</a:t>
            </a:r>
            <a:endParaRPr b="1"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MegaCorpOne is an organization that specializes in disruptive innovation in the nanotechnology industry and has hired GoodCorp to run a penetration test.</a:t>
            </a:r>
            <a:endParaRPr sz="1400"/>
          </a:p>
          <a:p>
            <a:pPr indent="-317500" lvl="0" marL="457200" rtl="0" algn="l">
              <a:spcBef>
                <a:spcPts val="1000"/>
              </a:spcBef>
              <a:spcAft>
                <a:spcPts val="0"/>
              </a:spcAft>
              <a:buSzPts val="1400"/>
              <a:buChar char="●"/>
            </a:pPr>
            <a:r>
              <a:rPr lang="en" sz="1400"/>
              <a:t>You will be tasked with going through the penetration testing engagement to assess MegaCorpOne's security.</a:t>
            </a:r>
            <a:endParaRPr sz="1400"/>
          </a:p>
          <a:p>
            <a:pPr indent="-317500" lvl="0" marL="457200" rtl="0" algn="l">
              <a:spcBef>
                <a:spcPts val="1000"/>
              </a:spcBef>
              <a:spcAft>
                <a:spcPts val="1000"/>
              </a:spcAft>
              <a:buSzPts val="1400"/>
              <a:buChar char="●"/>
            </a:pPr>
            <a:r>
              <a:rPr lang="en" sz="1400"/>
              <a:t>You will conclude the test with a report of your findings, so </a:t>
            </a:r>
            <a:r>
              <a:rPr b="1" lang="en" sz="1400"/>
              <a:t>be sure to keep all of your findings</a:t>
            </a:r>
            <a:r>
              <a:rPr lang="en" sz="1400"/>
              <a:t> as you  proceed through the penetration testing activities.</a:t>
            </a:r>
            <a:endParaRPr sz="1400"/>
          </a:p>
        </p:txBody>
      </p:sp>
      <p:cxnSp>
        <p:nvCxnSpPr>
          <p:cNvPr id="1232" name="Google Shape;1232;p172"/>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233" name="Google Shape;1233;p172"/>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This Week’s</a:t>
            </a:r>
            <a:r>
              <a:rPr b="1" lang="en" sz="2600">
                <a:solidFill>
                  <a:schemeClr val="accent5"/>
                </a:solidFill>
                <a:latin typeface="Roboto"/>
                <a:ea typeface="Roboto"/>
                <a:cs typeface="Roboto"/>
                <a:sym typeface="Roboto"/>
              </a:rPr>
              <a:t> Scenario</a:t>
            </a:r>
            <a:endParaRPr b="1" sz="2600">
              <a:solidFill>
                <a:schemeClr val="accent5"/>
              </a:solidFill>
              <a:latin typeface="Roboto"/>
              <a:ea typeface="Roboto"/>
              <a:cs typeface="Roboto"/>
              <a:sym typeface="Roboto"/>
            </a:endParaRPr>
          </a:p>
        </p:txBody>
      </p:sp>
      <p:sp>
        <p:nvSpPr>
          <p:cNvPr id="1234" name="Google Shape;1234;p172"/>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72"/>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236" name="Google Shape;1236;p172"/>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237" name="Google Shape;1237;p172"/>
          <p:cNvPicPr preferRelativeResize="0"/>
          <p:nvPr/>
        </p:nvPicPr>
        <p:blipFill rotWithShape="1">
          <a:blip r:embed="rId4">
            <a:alphaModFix/>
          </a:blip>
          <a:srcRect b="0" l="12660" r="12337" t="0"/>
          <a:stretch/>
        </p:blipFill>
        <p:spPr>
          <a:xfrm>
            <a:off x="228600" y="1337725"/>
            <a:ext cx="3200399" cy="3363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pic>
        <p:nvPicPr>
          <p:cNvPr id="1242" name="Google Shape;1242;p173"/>
          <p:cNvPicPr preferRelativeResize="0"/>
          <p:nvPr/>
        </p:nvPicPr>
        <p:blipFill rotWithShape="1">
          <a:blip r:embed="rId3">
            <a:alphaModFix/>
          </a:blip>
          <a:srcRect b="0" l="0" r="0" t="0"/>
          <a:stretch/>
        </p:blipFill>
        <p:spPr>
          <a:xfrm>
            <a:off x="-12300" y="-3528"/>
            <a:ext cx="9143999" cy="5146979"/>
          </a:xfrm>
          <a:prstGeom prst="rect">
            <a:avLst/>
          </a:prstGeom>
          <a:noFill/>
          <a:ln>
            <a:noFill/>
          </a:ln>
        </p:spPr>
      </p:pic>
      <p:sp>
        <p:nvSpPr>
          <p:cNvPr id="1243" name="Google Shape;1243;p173"/>
          <p:cNvSpPr txBox="1"/>
          <p:nvPr>
            <p:ph idx="1" type="body"/>
          </p:nvPr>
        </p:nvSpPr>
        <p:spPr>
          <a:xfrm>
            <a:off x="-145025" y="1457075"/>
            <a:ext cx="3016500" cy="1371600"/>
          </a:xfrm>
          <a:prstGeom prst="rect">
            <a:avLst/>
          </a:prstGeom>
          <a:noFill/>
          <a:ln>
            <a:noFill/>
          </a:ln>
        </p:spPr>
        <p:txBody>
          <a:bodyPr anchorCtr="0" anchor="t" bIns="0" lIns="365750" spcFirstLastPara="1" rIns="0" wrap="square" tIns="0">
            <a:noAutofit/>
          </a:bodyPr>
          <a:lstStyle/>
          <a:p>
            <a:pPr indent="0" lvl="0" marL="0" rtl="0" algn="l">
              <a:lnSpc>
                <a:spcPct val="100000"/>
              </a:lnSpc>
              <a:spcBef>
                <a:spcPts val="0"/>
              </a:spcBef>
              <a:spcAft>
                <a:spcPts val="0"/>
              </a:spcAft>
              <a:buSzPts val="1700"/>
              <a:buNone/>
            </a:pPr>
            <a:r>
              <a:rPr lang="en">
                <a:latin typeface="Roboto"/>
                <a:ea typeface="Roboto"/>
                <a:cs typeface="Roboto"/>
                <a:sym typeface="Roboto"/>
              </a:rPr>
              <a:t>Penetration testers follow a methodology during an engagement that is designed to mimic that </a:t>
            </a:r>
            <a:br>
              <a:rPr lang="en">
                <a:latin typeface="Roboto"/>
                <a:ea typeface="Roboto"/>
                <a:cs typeface="Roboto"/>
                <a:sym typeface="Roboto"/>
              </a:rPr>
            </a:br>
            <a:r>
              <a:rPr lang="en">
                <a:latin typeface="Roboto"/>
                <a:ea typeface="Roboto"/>
                <a:cs typeface="Roboto"/>
                <a:sym typeface="Roboto"/>
              </a:rPr>
              <a:t>of an actual attack.</a:t>
            </a:r>
            <a:endParaRPr>
              <a:latin typeface="Roboto"/>
              <a:ea typeface="Roboto"/>
              <a:cs typeface="Roboto"/>
              <a:sym typeface="Roboto"/>
            </a:endParaRPr>
          </a:p>
        </p:txBody>
      </p:sp>
      <p:sp>
        <p:nvSpPr>
          <p:cNvPr id="1244" name="Google Shape;1244;p173"/>
          <p:cNvSpPr txBox="1"/>
          <p:nvPr/>
        </p:nvSpPr>
        <p:spPr>
          <a:xfrm>
            <a:off x="-145025" y="3105100"/>
            <a:ext cx="3288000" cy="1108200"/>
          </a:xfrm>
          <a:prstGeom prst="rect">
            <a:avLst/>
          </a:prstGeom>
          <a:noFill/>
          <a:ln>
            <a:noFill/>
          </a:ln>
        </p:spPr>
        <p:txBody>
          <a:bodyPr anchorCtr="0" anchor="t" bIns="0" lIns="36575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i="0" lang="en" sz="1800" u="none" cap="none" strike="noStrike">
                <a:solidFill>
                  <a:schemeClr val="dk2"/>
                </a:solidFill>
                <a:latin typeface="Roboto"/>
                <a:ea typeface="Roboto"/>
                <a:cs typeface="Roboto"/>
                <a:sym typeface="Roboto"/>
              </a:rPr>
              <a:t>This helps network defenders understand how effective their organization’s defenses are.</a:t>
            </a:r>
            <a:endParaRPr i="0" sz="1800" u="none" cap="none" strike="noStrike">
              <a:solidFill>
                <a:schemeClr val="dk2"/>
              </a:solidFill>
              <a:latin typeface="Roboto"/>
              <a:ea typeface="Roboto"/>
              <a:cs typeface="Roboto"/>
              <a:sym typeface="Roboto"/>
            </a:endParaRPr>
          </a:p>
        </p:txBody>
      </p:sp>
      <p:grpSp>
        <p:nvGrpSpPr>
          <p:cNvPr id="1245" name="Google Shape;1245;p173"/>
          <p:cNvGrpSpPr/>
          <p:nvPr/>
        </p:nvGrpSpPr>
        <p:grpSpPr>
          <a:xfrm>
            <a:off x="2305050" y="1731225"/>
            <a:ext cx="6448575" cy="3206325"/>
            <a:chOff x="323850" y="1731225"/>
            <a:chExt cx="6448575" cy="3206325"/>
          </a:xfrm>
        </p:grpSpPr>
        <p:sp>
          <p:nvSpPr>
            <p:cNvPr id="1246" name="Google Shape;1246;p173"/>
            <p:cNvSpPr txBox="1"/>
            <p:nvPr/>
          </p:nvSpPr>
          <p:spPr>
            <a:xfrm>
              <a:off x="323850" y="4369650"/>
              <a:ext cx="1349700" cy="567900"/>
            </a:xfrm>
            <a:prstGeom prst="rect">
              <a:avLst/>
            </a:prstGeom>
            <a:noFill/>
            <a:ln>
              <a:noFill/>
            </a:ln>
          </p:spPr>
          <p:txBody>
            <a:bodyPr anchorCtr="0" anchor="t" bIns="0" lIns="91425" spcFirstLastPara="1" rIns="91425" wrap="square" tIns="27425">
              <a:spAutoFit/>
            </a:bodyPr>
            <a:lstStyle/>
            <a:p>
              <a:pPr indent="0" lvl="0" marL="0" marR="0" rtl="0" algn="ctr">
                <a:lnSpc>
                  <a:spcPct val="90000"/>
                </a:lnSpc>
                <a:spcBef>
                  <a:spcPts val="0"/>
                </a:spcBef>
                <a:spcAft>
                  <a:spcPts val="0"/>
                </a:spcAft>
                <a:buClr>
                  <a:srgbClr val="000000"/>
                </a:buClr>
                <a:buSzPts val="1300"/>
                <a:buFont typeface="Arial"/>
                <a:buNone/>
              </a:pPr>
              <a:r>
                <a:rPr b="0" i="0" lang="en" sz="1300" u="none" cap="none" strike="noStrike">
                  <a:solidFill>
                    <a:schemeClr val="lt1"/>
                  </a:solidFill>
                  <a:latin typeface="Roboto Medium"/>
                  <a:ea typeface="Roboto Medium"/>
                  <a:cs typeface="Roboto Medium"/>
                  <a:sym typeface="Roboto Medium"/>
                </a:rPr>
                <a:t>Planning and reconnaissance</a:t>
              </a:r>
              <a:endParaRPr b="0" i="0" sz="1300" u="none" cap="none" strike="noStrike">
                <a:solidFill>
                  <a:schemeClr val="lt1"/>
                </a:solidFill>
                <a:latin typeface="Roboto Medium"/>
                <a:ea typeface="Roboto Medium"/>
                <a:cs typeface="Roboto Medium"/>
                <a:sym typeface="Roboto Medium"/>
              </a:endParaRPr>
            </a:p>
          </p:txBody>
        </p:sp>
        <p:sp>
          <p:nvSpPr>
            <p:cNvPr id="1247" name="Google Shape;1247;p173"/>
            <p:cNvSpPr txBox="1"/>
            <p:nvPr/>
          </p:nvSpPr>
          <p:spPr>
            <a:xfrm>
              <a:off x="1638300" y="3712425"/>
              <a:ext cx="14289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Medium"/>
                  <a:ea typeface="Roboto Medium"/>
                  <a:cs typeface="Roboto Medium"/>
                  <a:sym typeface="Roboto Medium"/>
                </a:rPr>
                <a:t>Scanning</a:t>
              </a:r>
              <a:endParaRPr b="0" i="0" sz="1300" u="none" cap="none" strike="noStrike">
                <a:solidFill>
                  <a:schemeClr val="lt1"/>
                </a:solidFill>
                <a:latin typeface="Roboto Medium"/>
                <a:ea typeface="Roboto Medium"/>
                <a:cs typeface="Roboto Medium"/>
                <a:sym typeface="Roboto Medium"/>
              </a:endParaRPr>
            </a:p>
          </p:txBody>
        </p:sp>
        <p:sp>
          <p:nvSpPr>
            <p:cNvPr id="1248" name="Google Shape;1248;p173"/>
            <p:cNvSpPr txBox="1"/>
            <p:nvPr/>
          </p:nvSpPr>
          <p:spPr>
            <a:xfrm>
              <a:off x="2800350" y="3045850"/>
              <a:ext cx="14289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Medium"/>
                  <a:ea typeface="Roboto Medium"/>
                  <a:cs typeface="Roboto Medium"/>
                  <a:sym typeface="Roboto Medium"/>
                </a:rPr>
                <a:t>Exploitation</a:t>
              </a:r>
              <a:endParaRPr b="0" i="0" sz="1300" u="none" cap="none" strike="noStrike">
                <a:solidFill>
                  <a:schemeClr val="lt1"/>
                </a:solidFill>
                <a:latin typeface="Roboto Medium"/>
                <a:ea typeface="Roboto Medium"/>
                <a:cs typeface="Roboto Medium"/>
                <a:sym typeface="Roboto Medium"/>
              </a:endParaRPr>
            </a:p>
          </p:txBody>
        </p:sp>
        <p:sp>
          <p:nvSpPr>
            <p:cNvPr id="1249" name="Google Shape;1249;p173"/>
            <p:cNvSpPr txBox="1"/>
            <p:nvPr/>
          </p:nvSpPr>
          <p:spPr>
            <a:xfrm>
              <a:off x="4067175" y="2379300"/>
              <a:ext cx="1524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Medium"/>
                  <a:ea typeface="Roboto Medium"/>
                  <a:cs typeface="Roboto Medium"/>
                  <a:sym typeface="Roboto Medium"/>
                </a:rPr>
                <a:t>Post exploitation</a:t>
              </a:r>
              <a:endParaRPr b="0" i="0" sz="1300" u="none" cap="none" strike="noStrike">
                <a:solidFill>
                  <a:schemeClr val="lt1"/>
                </a:solidFill>
                <a:latin typeface="Roboto Medium"/>
                <a:ea typeface="Roboto Medium"/>
                <a:cs typeface="Roboto Medium"/>
                <a:sym typeface="Roboto Medium"/>
              </a:endParaRPr>
            </a:p>
          </p:txBody>
        </p:sp>
        <p:sp>
          <p:nvSpPr>
            <p:cNvPr id="1250" name="Google Shape;1250;p173"/>
            <p:cNvSpPr txBox="1"/>
            <p:nvPr/>
          </p:nvSpPr>
          <p:spPr>
            <a:xfrm>
              <a:off x="5343525" y="1731225"/>
              <a:ext cx="14289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Medium"/>
                  <a:ea typeface="Roboto Medium"/>
                  <a:cs typeface="Roboto Medium"/>
                  <a:sym typeface="Roboto Medium"/>
                </a:rPr>
                <a:t>Reporting</a:t>
              </a:r>
              <a:endParaRPr b="0" i="0" sz="1300" u="none" cap="none" strike="noStrike">
                <a:solidFill>
                  <a:schemeClr val="lt1"/>
                </a:solidFill>
                <a:latin typeface="Roboto Medium"/>
                <a:ea typeface="Roboto Medium"/>
                <a:cs typeface="Roboto Medium"/>
                <a:sym typeface="Roboto Medium"/>
              </a:endParaRPr>
            </a:p>
          </p:txBody>
        </p:sp>
      </p:grpSp>
      <p:sp>
        <p:nvSpPr>
          <p:cNvPr id="1251" name="Google Shape;1251;p173"/>
          <p:cNvSpPr/>
          <p:nvPr/>
        </p:nvSpPr>
        <p:spPr>
          <a:xfrm>
            <a:off x="2085950" y="4342125"/>
            <a:ext cx="1876500" cy="486300"/>
          </a:xfrm>
          <a:prstGeom prst="roundRect">
            <a:avLst>
              <a:gd fmla="val 0" name="adj"/>
            </a:avLst>
          </a:prstGeom>
          <a:solidFill>
            <a:srgbClr val="FCB9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u="none" cap="none" strike="noStrike">
                <a:solidFill>
                  <a:srgbClr val="082D49"/>
                </a:solidFill>
                <a:latin typeface="Roboto"/>
                <a:ea typeface="Roboto"/>
                <a:cs typeface="Roboto"/>
                <a:sym typeface="Roboto"/>
              </a:rPr>
              <a:t>Planning and </a:t>
            </a:r>
            <a:r>
              <a:rPr lang="en">
                <a:solidFill>
                  <a:srgbClr val="082D49"/>
                </a:solidFill>
                <a:latin typeface="Roboto"/>
                <a:ea typeface="Roboto"/>
                <a:cs typeface="Roboto"/>
                <a:sym typeface="Roboto"/>
              </a:rPr>
              <a:t>reconnaissance</a:t>
            </a:r>
            <a:r>
              <a:rPr i="0" lang="en" u="none" cap="none" strike="noStrike">
                <a:solidFill>
                  <a:srgbClr val="082D49"/>
                </a:solidFill>
                <a:latin typeface="Roboto"/>
                <a:ea typeface="Roboto"/>
                <a:cs typeface="Roboto"/>
                <a:sym typeface="Roboto"/>
              </a:rPr>
              <a:t> </a:t>
            </a:r>
            <a:endParaRPr i="0" u="none" cap="none" strike="noStrike">
              <a:solidFill>
                <a:srgbClr val="082D49"/>
              </a:solidFill>
              <a:latin typeface="Roboto"/>
              <a:ea typeface="Roboto"/>
              <a:cs typeface="Roboto"/>
              <a:sym typeface="Roboto"/>
            </a:endParaRPr>
          </a:p>
        </p:txBody>
      </p:sp>
      <p:sp>
        <p:nvSpPr>
          <p:cNvPr id="1252" name="Google Shape;1252;p173"/>
          <p:cNvSpPr/>
          <p:nvPr/>
        </p:nvSpPr>
        <p:spPr>
          <a:xfrm>
            <a:off x="3432475" y="3670171"/>
            <a:ext cx="1876500" cy="486300"/>
          </a:xfrm>
          <a:prstGeom prst="roundRect">
            <a:avLst>
              <a:gd fmla="val 0" name="adj"/>
            </a:avLst>
          </a:prstGeom>
          <a:solidFill>
            <a:srgbClr val="02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u="none" cap="none" strike="noStrike">
                <a:solidFill>
                  <a:schemeClr val="lt1"/>
                </a:solidFill>
                <a:latin typeface="Roboto"/>
                <a:ea typeface="Roboto"/>
                <a:cs typeface="Roboto"/>
                <a:sym typeface="Roboto"/>
              </a:rPr>
              <a:t>Scanning</a:t>
            </a:r>
            <a:endParaRPr i="0" u="none" cap="none" strike="noStrike">
              <a:solidFill>
                <a:schemeClr val="lt1"/>
              </a:solidFill>
              <a:latin typeface="Roboto"/>
              <a:ea typeface="Roboto"/>
              <a:cs typeface="Roboto"/>
              <a:sym typeface="Roboto"/>
            </a:endParaRPr>
          </a:p>
        </p:txBody>
      </p:sp>
      <p:sp>
        <p:nvSpPr>
          <p:cNvPr id="1253" name="Google Shape;1253;p173"/>
          <p:cNvSpPr/>
          <p:nvPr/>
        </p:nvSpPr>
        <p:spPr>
          <a:xfrm>
            <a:off x="4787350" y="2975444"/>
            <a:ext cx="1876500" cy="486300"/>
          </a:xfrm>
          <a:prstGeom prst="roundRect">
            <a:avLst>
              <a:gd fmla="val 0" name="adj"/>
            </a:avLst>
          </a:prstGeom>
          <a:solidFill>
            <a:srgbClr val="03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u="none" cap="none" strike="noStrike">
                <a:solidFill>
                  <a:srgbClr val="082D49"/>
                </a:solidFill>
                <a:latin typeface="Roboto"/>
                <a:ea typeface="Roboto"/>
                <a:cs typeface="Roboto"/>
                <a:sym typeface="Roboto"/>
              </a:rPr>
              <a:t>Exploitation</a:t>
            </a:r>
            <a:endParaRPr i="0" u="none" cap="none" strike="noStrike">
              <a:solidFill>
                <a:srgbClr val="082D49"/>
              </a:solidFill>
              <a:latin typeface="Roboto"/>
              <a:ea typeface="Roboto"/>
              <a:cs typeface="Roboto"/>
              <a:sym typeface="Roboto"/>
            </a:endParaRPr>
          </a:p>
        </p:txBody>
      </p:sp>
      <p:sp>
        <p:nvSpPr>
          <p:cNvPr id="1254" name="Google Shape;1254;p173"/>
          <p:cNvSpPr/>
          <p:nvPr/>
        </p:nvSpPr>
        <p:spPr>
          <a:xfrm>
            <a:off x="5841150" y="2328592"/>
            <a:ext cx="1876500" cy="486300"/>
          </a:xfrm>
          <a:prstGeom prst="roundRect">
            <a:avLst>
              <a:gd fmla="val 0"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u="none" cap="none" strike="noStrike">
                <a:solidFill>
                  <a:schemeClr val="lt1"/>
                </a:solidFill>
                <a:latin typeface="Roboto"/>
                <a:ea typeface="Roboto"/>
                <a:cs typeface="Roboto"/>
                <a:sym typeface="Roboto"/>
              </a:rPr>
              <a:t>Post exploitation</a:t>
            </a:r>
            <a:endParaRPr i="0" u="none" cap="none" strike="noStrike">
              <a:solidFill>
                <a:schemeClr val="lt1"/>
              </a:solidFill>
              <a:latin typeface="Roboto"/>
              <a:ea typeface="Roboto"/>
              <a:cs typeface="Roboto"/>
              <a:sym typeface="Roboto"/>
            </a:endParaRPr>
          </a:p>
        </p:txBody>
      </p:sp>
      <p:sp>
        <p:nvSpPr>
          <p:cNvPr id="1255" name="Google Shape;1255;p173"/>
          <p:cNvSpPr/>
          <p:nvPr/>
        </p:nvSpPr>
        <p:spPr>
          <a:xfrm>
            <a:off x="7062175" y="1674202"/>
            <a:ext cx="1876500" cy="486300"/>
          </a:xfrm>
          <a:prstGeom prst="roundRect">
            <a:avLst>
              <a:gd fmla="val 0" name="adj"/>
            </a:avLst>
          </a:prstGeom>
          <a:solidFill>
            <a:srgbClr val="FCB9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u="none" cap="none" strike="noStrike">
                <a:solidFill>
                  <a:srgbClr val="082D49"/>
                </a:solidFill>
                <a:latin typeface="Roboto"/>
                <a:ea typeface="Roboto"/>
                <a:cs typeface="Roboto"/>
                <a:sym typeface="Roboto"/>
              </a:rPr>
              <a:t>Reporting</a:t>
            </a:r>
            <a:endParaRPr i="0" u="none" cap="none" strike="noStrike">
              <a:solidFill>
                <a:srgbClr val="082D49"/>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grpSp>
        <p:nvGrpSpPr>
          <p:cNvPr id="1260" name="Google Shape;1260;p174"/>
          <p:cNvGrpSpPr/>
          <p:nvPr/>
        </p:nvGrpSpPr>
        <p:grpSpPr>
          <a:xfrm>
            <a:off x="440125" y="1136875"/>
            <a:ext cx="776900" cy="486300"/>
            <a:chOff x="457200" y="1466425"/>
            <a:chExt cx="776900" cy="486300"/>
          </a:xfrm>
        </p:grpSpPr>
        <p:sp>
          <p:nvSpPr>
            <p:cNvPr id="1261" name="Google Shape;1261;p17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000" u="none" cap="none" strike="noStrike">
                  <a:solidFill>
                    <a:srgbClr val="082D49"/>
                  </a:solidFill>
                  <a:latin typeface="Roboto"/>
                  <a:ea typeface="Roboto"/>
                  <a:cs typeface="Roboto"/>
                  <a:sym typeface="Roboto"/>
                </a:rPr>
                <a:t>01A</a:t>
              </a:r>
              <a:endParaRPr i="0" sz="2000" u="none" cap="none" strike="noStrike">
                <a:solidFill>
                  <a:srgbClr val="082D49"/>
                </a:solidFill>
                <a:latin typeface="Roboto"/>
                <a:ea typeface="Roboto"/>
                <a:cs typeface="Roboto"/>
                <a:sym typeface="Roboto"/>
              </a:endParaRPr>
            </a:p>
          </p:txBody>
        </p:sp>
        <p:sp>
          <p:nvSpPr>
            <p:cNvPr id="1262" name="Google Shape;1262;p17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latin typeface="Roboto"/>
                <a:ea typeface="Roboto"/>
                <a:cs typeface="Roboto"/>
                <a:sym typeface="Roboto"/>
              </a:endParaRPr>
            </a:p>
          </p:txBody>
        </p:sp>
      </p:grpSp>
      <p:grpSp>
        <p:nvGrpSpPr>
          <p:cNvPr id="1263" name="Google Shape;1263;p174"/>
          <p:cNvGrpSpPr/>
          <p:nvPr/>
        </p:nvGrpSpPr>
        <p:grpSpPr>
          <a:xfrm>
            <a:off x="440125" y="1791730"/>
            <a:ext cx="776900" cy="486300"/>
            <a:chOff x="457200" y="1466425"/>
            <a:chExt cx="776900" cy="486300"/>
          </a:xfrm>
        </p:grpSpPr>
        <p:sp>
          <p:nvSpPr>
            <p:cNvPr id="1264" name="Google Shape;1264;p17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000" u="none" cap="none" strike="noStrike">
                  <a:solidFill>
                    <a:srgbClr val="FFFFFF"/>
                  </a:solidFill>
                  <a:latin typeface="Roboto"/>
                  <a:ea typeface="Roboto"/>
                  <a:cs typeface="Roboto"/>
                  <a:sym typeface="Roboto"/>
                </a:rPr>
                <a:t>0</a:t>
              </a:r>
              <a:r>
                <a:rPr lang="en" sz="2000">
                  <a:solidFill>
                    <a:srgbClr val="FFFFFF"/>
                  </a:solidFill>
                  <a:latin typeface="Roboto"/>
                  <a:ea typeface="Roboto"/>
                  <a:cs typeface="Roboto"/>
                  <a:sym typeface="Roboto"/>
                </a:rPr>
                <a:t>1B</a:t>
              </a:r>
              <a:endParaRPr i="0" sz="2000" u="none" cap="none" strike="noStrike">
                <a:solidFill>
                  <a:srgbClr val="FFFFFF"/>
                </a:solidFill>
                <a:latin typeface="Roboto"/>
                <a:ea typeface="Roboto"/>
                <a:cs typeface="Roboto"/>
                <a:sym typeface="Roboto"/>
              </a:endParaRPr>
            </a:p>
          </p:txBody>
        </p:sp>
        <p:sp>
          <p:nvSpPr>
            <p:cNvPr id="1265" name="Google Shape;1265;p17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2000" u="none" cap="none" strike="noStrike">
                <a:solidFill>
                  <a:srgbClr val="000000"/>
                </a:solidFill>
                <a:latin typeface="Roboto"/>
                <a:ea typeface="Roboto"/>
                <a:cs typeface="Roboto"/>
                <a:sym typeface="Roboto"/>
              </a:endParaRPr>
            </a:p>
          </p:txBody>
        </p:sp>
      </p:grpSp>
      <p:grpSp>
        <p:nvGrpSpPr>
          <p:cNvPr id="1266" name="Google Shape;1266;p174"/>
          <p:cNvGrpSpPr/>
          <p:nvPr/>
        </p:nvGrpSpPr>
        <p:grpSpPr>
          <a:xfrm>
            <a:off x="440125" y="2446585"/>
            <a:ext cx="776900" cy="486300"/>
            <a:chOff x="457200" y="1466425"/>
            <a:chExt cx="776900" cy="486300"/>
          </a:xfrm>
        </p:grpSpPr>
        <p:sp>
          <p:nvSpPr>
            <p:cNvPr id="1267" name="Google Shape;1267;p17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000" u="none" cap="none" strike="noStrike">
                  <a:solidFill>
                    <a:srgbClr val="FFFFFF"/>
                  </a:solidFill>
                  <a:latin typeface="Roboto"/>
                  <a:ea typeface="Roboto"/>
                  <a:cs typeface="Roboto"/>
                  <a:sym typeface="Roboto"/>
                </a:rPr>
                <a:t>0</a:t>
              </a:r>
              <a:r>
                <a:rPr lang="en" sz="2000">
                  <a:solidFill>
                    <a:srgbClr val="FFFFFF"/>
                  </a:solidFill>
                  <a:latin typeface="Roboto"/>
                  <a:ea typeface="Roboto"/>
                  <a:cs typeface="Roboto"/>
                  <a:sym typeface="Roboto"/>
                </a:rPr>
                <a:t>2</a:t>
              </a:r>
              <a:endParaRPr i="0" sz="2000" u="none" cap="none" strike="noStrike">
                <a:solidFill>
                  <a:srgbClr val="FFFFFF"/>
                </a:solidFill>
                <a:latin typeface="Roboto"/>
                <a:ea typeface="Roboto"/>
                <a:cs typeface="Roboto"/>
                <a:sym typeface="Roboto"/>
              </a:endParaRPr>
            </a:p>
          </p:txBody>
        </p:sp>
        <p:sp>
          <p:nvSpPr>
            <p:cNvPr id="1268" name="Google Shape;1268;p17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2000" u="none" cap="none" strike="noStrike">
                <a:solidFill>
                  <a:srgbClr val="000000"/>
                </a:solidFill>
                <a:latin typeface="Roboto"/>
                <a:ea typeface="Roboto"/>
                <a:cs typeface="Roboto"/>
                <a:sym typeface="Roboto"/>
              </a:endParaRPr>
            </a:p>
          </p:txBody>
        </p:sp>
      </p:grpSp>
      <p:grpSp>
        <p:nvGrpSpPr>
          <p:cNvPr id="1269" name="Google Shape;1269;p174"/>
          <p:cNvGrpSpPr/>
          <p:nvPr/>
        </p:nvGrpSpPr>
        <p:grpSpPr>
          <a:xfrm>
            <a:off x="440125" y="3101440"/>
            <a:ext cx="776900" cy="486300"/>
            <a:chOff x="457200" y="1466425"/>
            <a:chExt cx="776900" cy="486300"/>
          </a:xfrm>
        </p:grpSpPr>
        <p:sp>
          <p:nvSpPr>
            <p:cNvPr id="1270" name="Google Shape;1270;p174"/>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000" u="none" cap="none" strike="noStrike">
                  <a:solidFill>
                    <a:srgbClr val="082D49"/>
                  </a:solidFill>
                  <a:latin typeface="Roboto"/>
                  <a:ea typeface="Roboto"/>
                  <a:cs typeface="Roboto"/>
                  <a:sym typeface="Roboto"/>
                </a:rPr>
                <a:t>0</a:t>
              </a:r>
              <a:r>
                <a:rPr lang="en" sz="2000">
                  <a:solidFill>
                    <a:srgbClr val="082D49"/>
                  </a:solidFill>
                  <a:latin typeface="Roboto"/>
                  <a:ea typeface="Roboto"/>
                  <a:cs typeface="Roboto"/>
                  <a:sym typeface="Roboto"/>
                </a:rPr>
                <a:t>3</a:t>
              </a:r>
              <a:endParaRPr i="0" sz="2000" u="none" cap="none" strike="noStrike">
                <a:solidFill>
                  <a:srgbClr val="082D49"/>
                </a:solidFill>
                <a:latin typeface="Roboto"/>
                <a:ea typeface="Roboto"/>
                <a:cs typeface="Roboto"/>
                <a:sym typeface="Roboto"/>
              </a:endParaRPr>
            </a:p>
          </p:txBody>
        </p:sp>
        <p:sp>
          <p:nvSpPr>
            <p:cNvPr id="1271" name="Google Shape;1271;p174"/>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2000" u="none" cap="none" strike="noStrike">
                <a:solidFill>
                  <a:srgbClr val="000000"/>
                </a:solidFill>
                <a:latin typeface="Roboto"/>
                <a:ea typeface="Roboto"/>
                <a:cs typeface="Roboto"/>
                <a:sym typeface="Roboto"/>
              </a:endParaRPr>
            </a:p>
          </p:txBody>
        </p:sp>
      </p:grpSp>
      <p:grpSp>
        <p:nvGrpSpPr>
          <p:cNvPr id="1272" name="Google Shape;1272;p174"/>
          <p:cNvGrpSpPr/>
          <p:nvPr/>
        </p:nvGrpSpPr>
        <p:grpSpPr>
          <a:xfrm>
            <a:off x="440125" y="3756295"/>
            <a:ext cx="776900" cy="486300"/>
            <a:chOff x="457200" y="1466425"/>
            <a:chExt cx="776900" cy="486300"/>
          </a:xfrm>
        </p:grpSpPr>
        <p:sp>
          <p:nvSpPr>
            <p:cNvPr id="1273" name="Google Shape;1273;p174"/>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000" u="none" cap="none" strike="noStrike">
                  <a:solidFill>
                    <a:srgbClr val="FFFFFF"/>
                  </a:solidFill>
                  <a:latin typeface="Roboto"/>
                  <a:ea typeface="Roboto"/>
                  <a:cs typeface="Roboto"/>
                  <a:sym typeface="Roboto"/>
                </a:rPr>
                <a:t>0</a:t>
              </a:r>
              <a:r>
                <a:rPr lang="en" sz="2000">
                  <a:solidFill>
                    <a:srgbClr val="FFFFFF"/>
                  </a:solidFill>
                  <a:latin typeface="Roboto"/>
                  <a:ea typeface="Roboto"/>
                  <a:cs typeface="Roboto"/>
                  <a:sym typeface="Roboto"/>
                </a:rPr>
                <a:t>4</a:t>
              </a:r>
              <a:endParaRPr i="0" sz="2000" u="none" cap="none" strike="noStrike">
                <a:solidFill>
                  <a:srgbClr val="FFFFFF"/>
                </a:solidFill>
                <a:latin typeface="Roboto"/>
                <a:ea typeface="Roboto"/>
                <a:cs typeface="Roboto"/>
                <a:sym typeface="Roboto"/>
              </a:endParaRPr>
            </a:p>
          </p:txBody>
        </p:sp>
        <p:sp>
          <p:nvSpPr>
            <p:cNvPr id="1274" name="Google Shape;1274;p174"/>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2000" u="none" cap="none" strike="noStrike">
                <a:solidFill>
                  <a:srgbClr val="000000"/>
                </a:solidFill>
                <a:latin typeface="Roboto"/>
                <a:ea typeface="Roboto"/>
                <a:cs typeface="Roboto"/>
                <a:sym typeface="Roboto"/>
              </a:endParaRPr>
            </a:p>
          </p:txBody>
        </p:sp>
      </p:grpSp>
      <p:sp>
        <p:nvSpPr>
          <p:cNvPr id="1275" name="Google Shape;1275;p174"/>
          <p:cNvSpPr/>
          <p:nvPr/>
        </p:nvSpPr>
        <p:spPr>
          <a:xfrm>
            <a:off x="3376954" y="1136875"/>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2E5E73"/>
              </a:solidFill>
              <a:latin typeface="Roboto"/>
              <a:ea typeface="Roboto"/>
              <a:cs typeface="Roboto"/>
              <a:sym typeface="Roboto"/>
            </a:endParaRPr>
          </a:p>
        </p:txBody>
      </p:sp>
      <p:sp>
        <p:nvSpPr>
          <p:cNvPr id="1276" name="Google Shape;1276;p174"/>
          <p:cNvSpPr/>
          <p:nvPr/>
        </p:nvSpPr>
        <p:spPr>
          <a:xfrm>
            <a:off x="3376954" y="1791732"/>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7" name="Google Shape;1277;p174"/>
          <p:cNvSpPr/>
          <p:nvPr/>
        </p:nvSpPr>
        <p:spPr>
          <a:xfrm>
            <a:off x="3376954" y="2446589"/>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8" name="Google Shape;1278;p174"/>
          <p:cNvSpPr/>
          <p:nvPr/>
        </p:nvSpPr>
        <p:spPr>
          <a:xfrm>
            <a:off x="3376954" y="3101446"/>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9" name="Google Shape;1279;p174"/>
          <p:cNvSpPr/>
          <p:nvPr/>
        </p:nvSpPr>
        <p:spPr>
          <a:xfrm>
            <a:off x="3376954" y="3756303"/>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80" name="Google Shape;1280;p174"/>
          <p:cNvSpPr txBox="1"/>
          <p:nvPr/>
        </p:nvSpPr>
        <p:spPr>
          <a:xfrm>
            <a:off x="3390148" y="1129175"/>
            <a:ext cx="49614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a:ea typeface="Roboto"/>
              <a:cs typeface="Roboto"/>
              <a:sym typeface="Roboto"/>
            </a:endParaRPr>
          </a:p>
        </p:txBody>
      </p:sp>
      <p:sp>
        <p:nvSpPr>
          <p:cNvPr id="1281" name="Google Shape;1281;p174"/>
          <p:cNvSpPr txBox="1"/>
          <p:nvPr/>
        </p:nvSpPr>
        <p:spPr>
          <a:xfrm>
            <a:off x="3390148" y="1787876"/>
            <a:ext cx="49614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a:ea typeface="Roboto"/>
              <a:cs typeface="Roboto"/>
              <a:sym typeface="Roboto"/>
            </a:endParaRPr>
          </a:p>
        </p:txBody>
      </p:sp>
      <p:sp>
        <p:nvSpPr>
          <p:cNvPr id="1282" name="Google Shape;1282;p174"/>
          <p:cNvSpPr txBox="1"/>
          <p:nvPr/>
        </p:nvSpPr>
        <p:spPr>
          <a:xfrm>
            <a:off x="3390148" y="2444665"/>
            <a:ext cx="49614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a:ea typeface="Roboto"/>
              <a:cs typeface="Roboto"/>
              <a:sym typeface="Roboto"/>
            </a:endParaRPr>
          </a:p>
        </p:txBody>
      </p:sp>
      <p:sp>
        <p:nvSpPr>
          <p:cNvPr id="1283" name="Google Shape;1283;p174"/>
          <p:cNvSpPr txBox="1"/>
          <p:nvPr/>
        </p:nvSpPr>
        <p:spPr>
          <a:xfrm>
            <a:off x="3390148" y="3103366"/>
            <a:ext cx="49614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a:ea typeface="Roboto"/>
              <a:cs typeface="Roboto"/>
              <a:sym typeface="Roboto"/>
            </a:endParaRPr>
          </a:p>
        </p:txBody>
      </p:sp>
      <p:sp>
        <p:nvSpPr>
          <p:cNvPr id="1284" name="Google Shape;1284;p174"/>
          <p:cNvSpPr txBox="1"/>
          <p:nvPr/>
        </p:nvSpPr>
        <p:spPr>
          <a:xfrm>
            <a:off x="3390148" y="3760167"/>
            <a:ext cx="49614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a:ea typeface="Roboto"/>
              <a:cs typeface="Roboto"/>
              <a:sym typeface="Roboto"/>
            </a:endParaRPr>
          </a:p>
        </p:txBody>
      </p:sp>
      <p:sp>
        <p:nvSpPr>
          <p:cNvPr id="1285" name="Google Shape;1285;p174"/>
          <p:cNvSpPr txBox="1"/>
          <p:nvPr/>
        </p:nvSpPr>
        <p:spPr>
          <a:xfrm>
            <a:off x="368950" y="512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Pen Testing Phases</a:t>
            </a:r>
            <a:endParaRPr b="1" i="1" sz="2600">
              <a:solidFill>
                <a:schemeClr val="dk2"/>
              </a:solidFill>
              <a:latin typeface="Roboto"/>
              <a:ea typeface="Roboto"/>
              <a:cs typeface="Roboto"/>
              <a:sym typeface="Roboto"/>
            </a:endParaRPr>
          </a:p>
          <a:p>
            <a:pPr indent="0" lvl="0" marL="0" rtl="0" algn="l">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An engagement consists of five phases:</a:t>
            </a:r>
            <a:endParaRPr sz="1800">
              <a:solidFill>
                <a:schemeClr val="dk2"/>
              </a:solidFill>
              <a:latin typeface="Roboto"/>
              <a:ea typeface="Roboto"/>
              <a:cs typeface="Roboto"/>
              <a:sym typeface="Roboto"/>
            </a:endParaRPr>
          </a:p>
        </p:txBody>
      </p:sp>
      <p:sp>
        <p:nvSpPr>
          <p:cNvPr id="1286" name="Google Shape;1286;p174"/>
          <p:cNvSpPr/>
          <p:nvPr/>
        </p:nvSpPr>
        <p:spPr>
          <a:xfrm>
            <a:off x="3376954" y="1147800"/>
            <a:ext cx="48423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0000"/>
              </a:buClr>
              <a:buSzPts val="1300"/>
              <a:buFont typeface="Arial"/>
              <a:buNone/>
            </a:pPr>
            <a:r>
              <a:rPr lang="en" sz="1200">
                <a:solidFill>
                  <a:schemeClr val="dk2"/>
                </a:solidFill>
                <a:latin typeface="Roboto"/>
                <a:ea typeface="Roboto"/>
                <a:cs typeface="Roboto"/>
                <a:sym typeface="Roboto"/>
              </a:rPr>
              <a:t>Define the purpose and scope of the test, and sign all legal contracts.</a:t>
            </a:r>
            <a:endParaRPr i="0" sz="1200" u="none" cap="none" strike="noStrike">
              <a:solidFill>
                <a:schemeClr val="dk2"/>
              </a:solidFill>
              <a:latin typeface="Roboto"/>
              <a:ea typeface="Roboto"/>
              <a:cs typeface="Roboto"/>
              <a:sym typeface="Roboto"/>
            </a:endParaRPr>
          </a:p>
        </p:txBody>
      </p:sp>
      <p:sp>
        <p:nvSpPr>
          <p:cNvPr id="1287" name="Google Shape;1287;p174"/>
          <p:cNvSpPr/>
          <p:nvPr/>
        </p:nvSpPr>
        <p:spPr>
          <a:xfrm>
            <a:off x="3376954" y="1802650"/>
            <a:ext cx="492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0000"/>
              </a:buClr>
              <a:buSzPts val="1300"/>
              <a:buFont typeface="Arial"/>
              <a:buNone/>
            </a:pPr>
            <a:r>
              <a:rPr lang="en" sz="1200">
                <a:solidFill>
                  <a:schemeClr val="dk2"/>
                </a:solidFill>
                <a:latin typeface="Roboto"/>
                <a:ea typeface="Roboto"/>
                <a:cs typeface="Roboto"/>
                <a:sym typeface="Roboto"/>
              </a:rPr>
              <a:t>Obtain publicly available information about your target.</a:t>
            </a:r>
            <a:endParaRPr sz="1200">
              <a:solidFill>
                <a:schemeClr val="dk2"/>
              </a:solidFill>
              <a:latin typeface="Roboto"/>
              <a:ea typeface="Roboto"/>
              <a:cs typeface="Roboto"/>
              <a:sym typeface="Roboto"/>
            </a:endParaRPr>
          </a:p>
        </p:txBody>
      </p:sp>
      <p:sp>
        <p:nvSpPr>
          <p:cNvPr id="1288" name="Google Shape;1288;p174"/>
          <p:cNvSpPr/>
          <p:nvPr/>
        </p:nvSpPr>
        <p:spPr>
          <a:xfrm>
            <a:off x="3376950" y="2457500"/>
            <a:ext cx="50787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0000"/>
              </a:buClr>
              <a:buSzPts val="1300"/>
              <a:buFont typeface="Arial"/>
              <a:buNone/>
            </a:pPr>
            <a:r>
              <a:rPr lang="en" sz="1200">
                <a:solidFill>
                  <a:schemeClr val="dk2"/>
                </a:solidFill>
                <a:latin typeface="Roboto"/>
                <a:ea typeface="Roboto"/>
                <a:cs typeface="Roboto"/>
                <a:sym typeface="Roboto"/>
              </a:rPr>
              <a:t>Use tools to run a scan against your target to gather information, such as open ports, and run services to determine potential vulnerabilities.</a:t>
            </a:r>
            <a:endParaRPr sz="1300">
              <a:solidFill>
                <a:schemeClr val="dk2"/>
              </a:solidFill>
              <a:latin typeface="Roboto"/>
              <a:ea typeface="Roboto"/>
              <a:cs typeface="Roboto"/>
              <a:sym typeface="Roboto"/>
            </a:endParaRPr>
          </a:p>
        </p:txBody>
      </p:sp>
      <p:sp>
        <p:nvSpPr>
          <p:cNvPr id="1289" name="Google Shape;1289;p174"/>
          <p:cNvSpPr/>
          <p:nvPr/>
        </p:nvSpPr>
        <p:spPr>
          <a:xfrm>
            <a:off x="3376954" y="3112375"/>
            <a:ext cx="492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0000"/>
              </a:buClr>
              <a:buSzPts val="1300"/>
              <a:buFont typeface="Arial"/>
              <a:buNone/>
            </a:pPr>
            <a:r>
              <a:rPr lang="en" sz="1200">
                <a:solidFill>
                  <a:schemeClr val="dk2"/>
                </a:solidFill>
                <a:latin typeface="Roboto"/>
                <a:ea typeface="Roboto"/>
                <a:cs typeface="Roboto"/>
                <a:sym typeface="Roboto"/>
              </a:rPr>
              <a:t>Attack the vulnerabilities discovered in the previous steps to gain access to the target.</a:t>
            </a:r>
            <a:endParaRPr sz="1200">
              <a:solidFill>
                <a:schemeClr val="dk2"/>
              </a:solidFill>
              <a:latin typeface="Roboto"/>
              <a:ea typeface="Roboto"/>
              <a:cs typeface="Roboto"/>
              <a:sym typeface="Roboto"/>
            </a:endParaRPr>
          </a:p>
        </p:txBody>
      </p:sp>
      <p:sp>
        <p:nvSpPr>
          <p:cNvPr id="1290" name="Google Shape;1290;p174"/>
          <p:cNvSpPr/>
          <p:nvPr/>
        </p:nvSpPr>
        <p:spPr>
          <a:xfrm>
            <a:off x="3376954" y="3767225"/>
            <a:ext cx="492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0000"/>
              </a:buClr>
              <a:buSzPts val="1300"/>
              <a:buFont typeface="Arial"/>
              <a:buNone/>
            </a:pPr>
            <a:r>
              <a:rPr lang="en" sz="1200">
                <a:solidFill>
                  <a:schemeClr val="dk2"/>
                </a:solidFill>
                <a:latin typeface="Roboto"/>
                <a:ea typeface="Roboto"/>
                <a:cs typeface="Roboto"/>
                <a:sym typeface="Roboto"/>
              </a:rPr>
              <a:t>Gather valuable information from the compromised systems.</a:t>
            </a:r>
            <a:endParaRPr sz="1200">
              <a:solidFill>
                <a:schemeClr val="dk2"/>
              </a:solidFill>
              <a:latin typeface="Roboto"/>
              <a:ea typeface="Roboto"/>
              <a:cs typeface="Roboto"/>
              <a:sym typeface="Roboto"/>
            </a:endParaRPr>
          </a:p>
        </p:txBody>
      </p:sp>
      <p:grpSp>
        <p:nvGrpSpPr>
          <p:cNvPr id="1291" name="Google Shape;1291;p174"/>
          <p:cNvGrpSpPr/>
          <p:nvPr/>
        </p:nvGrpSpPr>
        <p:grpSpPr>
          <a:xfrm>
            <a:off x="440125" y="4411145"/>
            <a:ext cx="776900" cy="486300"/>
            <a:chOff x="457200" y="1466425"/>
            <a:chExt cx="776900" cy="486300"/>
          </a:xfrm>
        </p:grpSpPr>
        <p:sp>
          <p:nvSpPr>
            <p:cNvPr id="1292" name="Google Shape;1292;p174"/>
            <p:cNvSpPr/>
            <p:nvPr/>
          </p:nvSpPr>
          <p:spPr>
            <a:xfrm>
              <a:off x="457200" y="1466425"/>
              <a:ext cx="695400" cy="486300"/>
            </a:xfrm>
            <a:prstGeom prst="roundRect">
              <a:avLst>
                <a:gd fmla="val 16667" name="adj"/>
              </a:avLst>
            </a:prstGeom>
            <a:solidFill>
              <a:srgbClr val="FCB9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000" u="none" cap="none" strike="noStrike">
                  <a:solidFill>
                    <a:srgbClr val="082D49"/>
                  </a:solidFill>
                  <a:latin typeface="Roboto"/>
                  <a:ea typeface="Roboto"/>
                  <a:cs typeface="Roboto"/>
                  <a:sym typeface="Roboto"/>
                </a:rPr>
                <a:t>05</a:t>
              </a:r>
              <a:endParaRPr i="0" sz="2000" u="none" cap="none" strike="noStrike">
                <a:solidFill>
                  <a:srgbClr val="082D49"/>
                </a:solidFill>
                <a:latin typeface="Roboto"/>
                <a:ea typeface="Roboto"/>
                <a:cs typeface="Roboto"/>
                <a:sym typeface="Roboto"/>
              </a:endParaRPr>
            </a:p>
          </p:txBody>
        </p:sp>
        <p:sp>
          <p:nvSpPr>
            <p:cNvPr id="1293" name="Google Shape;1293;p174"/>
            <p:cNvSpPr/>
            <p:nvPr/>
          </p:nvSpPr>
          <p:spPr>
            <a:xfrm rot="5400000">
              <a:off x="973100" y="1624950"/>
              <a:ext cx="333375" cy="188625"/>
            </a:xfrm>
            <a:prstGeom prst="flowChartExtract">
              <a:avLst/>
            </a:prstGeom>
            <a:solidFill>
              <a:srgbClr val="FCB9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2000" u="none" cap="none" strike="noStrike">
                <a:solidFill>
                  <a:srgbClr val="000000"/>
                </a:solidFill>
                <a:latin typeface="Roboto"/>
                <a:ea typeface="Roboto"/>
                <a:cs typeface="Roboto"/>
                <a:sym typeface="Roboto"/>
              </a:endParaRPr>
            </a:p>
          </p:txBody>
        </p:sp>
      </p:grpSp>
      <p:sp>
        <p:nvSpPr>
          <p:cNvPr id="1294" name="Google Shape;1294;p174"/>
          <p:cNvSpPr/>
          <p:nvPr/>
        </p:nvSpPr>
        <p:spPr>
          <a:xfrm>
            <a:off x="3376954" y="4411153"/>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95" name="Google Shape;1295;p174"/>
          <p:cNvSpPr txBox="1"/>
          <p:nvPr/>
        </p:nvSpPr>
        <p:spPr>
          <a:xfrm>
            <a:off x="3390148" y="4415017"/>
            <a:ext cx="49614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a:ea typeface="Roboto"/>
              <a:cs typeface="Roboto"/>
              <a:sym typeface="Roboto"/>
            </a:endParaRPr>
          </a:p>
        </p:txBody>
      </p:sp>
      <p:sp>
        <p:nvSpPr>
          <p:cNvPr id="1296" name="Google Shape;1296;p174"/>
          <p:cNvSpPr/>
          <p:nvPr/>
        </p:nvSpPr>
        <p:spPr>
          <a:xfrm>
            <a:off x="3376954" y="4422075"/>
            <a:ext cx="49614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0000"/>
              </a:buClr>
              <a:buSzPts val="1300"/>
              <a:buFont typeface="Arial"/>
              <a:buNone/>
            </a:pPr>
            <a:r>
              <a:rPr lang="en" sz="1200">
                <a:solidFill>
                  <a:schemeClr val="dk2"/>
                </a:solidFill>
                <a:latin typeface="Roboto"/>
                <a:ea typeface="Roboto"/>
                <a:cs typeface="Roboto"/>
                <a:sym typeface="Roboto"/>
              </a:rPr>
              <a:t>Report on the previous five steps to provide a summary of actions taken, findings, and recommended mitigations.</a:t>
            </a:r>
            <a:endParaRPr sz="1200">
              <a:solidFill>
                <a:schemeClr val="dk2"/>
              </a:solidFill>
              <a:latin typeface="Roboto"/>
              <a:ea typeface="Roboto"/>
              <a:cs typeface="Roboto"/>
              <a:sym typeface="Roboto"/>
            </a:endParaRPr>
          </a:p>
        </p:txBody>
      </p:sp>
      <p:sp>
        <p:nvSpPr>
          <p:cNvPr id="1297" name="Google Shape;1297;p174"/>
          <p:cNvSpPr/>
          <p:nvPr/>
        </p:nvSpPr>
        <p:spPr>
          <a:xfrm>
            <a:off x="1341625" y="1138925"/>
            <a:ext cx="1876500" cy="486300"/>
          </a:xfrm>
          <a:prstGeom prst="roundRect">
            <a:avLst>
              <a:gd fmla="val 0" name="adj"/>
            </a:avLst>
          </a:prstGeom>
          <a:solidFill>
            <a:srgbClr val="FCB9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sz="1600" u="none" cap="none" strike="noStrike">
                <a:solidFill>
                  <a:srgbClr val="082D49"/>
                </a:solidFill>
                <a:latin typeface="Roboto"/>
                <a:ea typeface="Roboto"/>
                <a:cs typeface="Roboto"/>
                <a:sym typeface="Roboto"/>
              </a:rPr>
              <a:t>Planning </a:t>
            </a:r>
            <a:endParaRPr i="0" sz="1600" u="none" cap="none" strike="noStrike">
              <a:solidFill>
                <a:srgbClr val="082D49"/>
              </a:solidFill>
              <a:latin typeface="Roboto"/>
              <a:ea typeface="Roboto"/>
              <a:cs typeface="Roboto"/>
              <a:sym typeface="Roboto"/>
            </a:endParaRPr>
          </a:p>
        </p:txBody>
      </p:sp>
      <p:sp>
        <p:nvSpPr>
          <p:cNvPr id="1298" name="Google Shape;1298;p174"/>
          <p:cNvSpPr/>
          <p:nvPr/>
        </p:nvSpPr>
        <p:spPr>
          <a:xfrm>
            <a:off x="1341625" y="2457496"/>
            <a:ext cx="1876500" cy="486300"/>
          </a:xfrm>
          <a:prstGeom prst="roundRect">
            <a:avLst>
              <a:gd fmla="val 0" name="adj"/>
            </a:avLst>
          </a:prstGeom>
          <a:solidFill>
            <a:srgbClr val="02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sz="1600" u="none" cap="none" strike="noStrike">
                <a:solidFill>
                  <a:schemeClr val="lt1"/>
                </a:solidFill>
                <a:latin typeface="Roboto"/>
                <a:ea typeface="Roboto"/>
                <a:cs typeface="Roboto"/>
                <a:sym typeface="Roboto"/>
              </a:rPr>
              <a:t>Scanning</a:t>
            </a:r>
            <a:endParaRPr i="0" sz="1600" u="none" cap="none" strike="noStrike">
              <a:solidFill>
                <a:schemeClr val="lt1"/>
              </a:solidFill>
              <a:latin typeface="Roboto"/>
              <a:ea typeface="Roboto"/>
              <a:cs typeface="Roboto"/>
              <a:sym typeface="Roboto"/>
            </a:endParaRPr>
          </a:p>
        </p:txBody>
      </p:sp>
      <p:sp>
        <p:nvSpPr>
          <p:cNvPr id="1299" name="Google Shape;1299;p174"/>
          <p:cNvSpPr/>
          <p:nvPr/>
        </p:nvSpPr>
        <p:spPr>
          <a:xfrm>
            <a:off x="1341625" y="3116781"/>
            <a:ext cx="1876500" cy="486300"/>
          </a:xfrm>
          <a:prstGeom prst="roundRect">
            <a:avLst>
              <a:gd fmla="val 0" name="adj"/>
            </a:avLst>
          </a:prstGeom>
          <a:solidFill>
            <a:srgbClr val="03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sz="1600" u="none" cap="none" strike="noStrike">
                <a:solidFill>
                  <a:srgbClr val="082D49"/>
                </a:solidFill>
                <a:latin typeface="Roboto"/>
                <a:ea typeface="Roboto"/>
                <a:cs typeface="Roboto"/>
                <a:sym typeface="Roboto"/>
              </a:rPr>
              <a:t>Exploitation</a:t>
            </a:r>
            <a:endParaRPr i="0" sz="1600" u="none" cap="none" strike="noStrike">
              <a:solidFill>
                <a:srgbClr val="082D49"/>
              </a:solidFill>
              <a:latin typeface="Roboto"/>
              <a:ea typeface="Roboto"/>
              <a:cs typeface="Roboto"/>
              <a:sym typeface="Roboto"/>
            </a:endParaRPr>
          </a:p>
        </p:txBody>
      </p:sp>
      <p:sp>
        <p:nvSpPr>
          <p:cNvPr id="1300" name="Google Shape;1300;p174"/>
          <p:cNvSpPr/>
          <p:nvPr/>
        </p:nvSpPr>
        <p:spPr>
          <a:xfrm>
            <a:off x="1341625" y="3776067"/>
            <a:ext cx="1876500" cy="486300"/>
          </a:xfrm>
          <a:prstGeom prst="roundRect">
            <a:avLst>
              <a:gd fmla="val 0"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sz="1600" u="none" cap="none" strike="noStrike">
                <a:solidFill>
                  <a:schemeClr val="lt1"/>
                </a:solidFill>
                <a:latin typeface="Roboto"/>
                <a:ea typeface="Roboto"/>
                <a:cs typeface="Roboto"/>
                <a:sym typeface="Roboto"/>
              </a:rPr>
              <a:t>Post exploitation</a:t>
            </a:r>
            <a:endParaRPr i="0" sz="1600" u="none" cap="none" strike="noStrike">
              <a:solidFill>
                <a:schemeClr val="lt1"/>
              </a:solidFill>
              <a:latin typeface="Roboto"/>
              <a:ea typeface="Roboto"/>
              <a:cs typeface="Roboto"/>
              <a:sym typeface="Roboto"/>
            </a:endParaRPr>
          </a:p>
        </p:txBody>
      </p:sp>
      <p:sp>
        <p:nvSpPr>
          <p:cNvPr id="1301" name="Google Shape;1301;p174"/>
          <p:cNvSpPr/>
          <p:nvPr/>
        </p:nvSpPr>
        <p:spPr>
          <a:xfrm>
            <a:off x="1341625" y="4411152"/>
            <a:ext cx="1876500" cy="486300"/>
          </a:xfrm>
          <a:prstGeom prst="roundRect">
            <a:avLst>
              <a:gd fmla="val 0" name="adj"/>
            </a:avLst>
          </a:prstGeom>
          <a:solidFill>
            <a:srgbClr val="FCB9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sz="1600" u="none" cap="none" strike="noStrike">
                <a:solidFill>
                  <a:srgbClr val="082D49"/>
                </a:solidFill>
                <a:latin typeface="Roboto"/>
                <a:ea typeface="Roboto"/>
                <a:cs typeface="Roboto"/>
                <a:sym typeface="Roboto"/>
              </a:rPr>
              <a:t>Reporting</a:t>
            </a:r>
            <a:endParaRPr i="0" sz="1600" u="none" cap="none" strike="noStrike">
              <a:solidFill>
                <a:srgbClr val="082D49"/>
              </a:solidFill>
              <a:latin typeface="Roboto"/>
              <a:ea typeface="Roboto"/>
              <a:cs typeface="Roboto"/>
              <a:sym typeface="Roboto"/>
            </a:endParaRPr>
          </a:p>
        </p:txBody>
      </p:sp>
      <p:sp>
        <p:nvSpPr>
          <p:cNvPr id="1302" name="Google Shape;1302;p174"/>
          <p:cNvSpPr/>
          <p:nvPr/>
        </p:nvSpPr>
        <p:spPr>
          <a:xfrm>
            <a:off x="1341625" y="1797320"/>
            <a:ext cx="1876500" cy="486300"/>
          </a:xfrm>
          <a:prstGeom prst="roundRect">
            <a:avLst>
              <a:gd fmla="val 0"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i="0" lang="en" sz="1600" u="none" cap="none" strike="noStrike">
                <a:solidFill>
                  <a:schemeClr val="lt1"/>
                </a:solidFill>
                <a:latin typeface="Roboto"/>
                <a:ea typeface="Roboto"/>
                <a:cs typeface="Roboto"/>
                <a:sym typeface="Roboto"/>
              </a:rPr>
              <a:t>Reconnaissance</a:t>
            </a:r>
            <a:endParaRPr i="0" sz="1600" u="none" cap="none" strike="noStrike">
              <a:solidFill>
                <a:schemeClr val="lt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175"/>
          <p:cNvSpPr/>
          <p:nvPr/>
        </p:nvSpPr>
        <p:spPr>
          <a:xfrm>
            <a:off x="7350" y="4278950"/>
            <a:ext cx="9144000" cy="86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08" name="Google Shape;1308;p175"/>
          <p:cNvSpPr txBox="1"/>
          <p:nvPr/>
        </p:nvSpPr>
        <p:spPr>
          <a:xfrm>
            <a:off x="342263" y="8122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Module Progression</a:t>
            </a:r>
            <a:endParaRPr b="1" sz="2400">
              <a:solidFill>
                <a:schemeClr val="dk2"/>
              </a:solidFill>
              <a:latin typeface="Roboto"/>
              <a:ea typeface="Roboto"/>
              <a:cs typeface="Roboto"/>
              <a:sym typeface="Roboto"/>
            </a:endParaRPr>
          </a:p>
          <a:p>
            <a:pPr indent="0" lvl="0" marL="0" rtl="0" algn="l">
              <a:spcBef>
                <a:spcPts val="0"/>
              </a:spcBef>
              <a:spcAft>
                <a:spcPts val="0"/>
              </a:spcAft>
              <a:buNone/>
            </a:pPr>
            <a:r>
              <a:t/>
            </a:r>
            <a:endParaRPr b="1" sz="2400">
              <a:solidFill>
                <a:schemeClr val="dk2"/>
              </a:solidFill>
              <a:latin typeface="Roboto"/>
              <a:ea typeface="Roboto"/>
              <a:cs typeface="Roboto"/>
              <a:sym typeface="Roboto"/>
            </a:endParaRPr>
          </a:p>
        </p:txBody>
      </p:sp>
      <p:sp>
        <p:nvSpPr>
          <p:cNvPr id="1309" name="Google Shape;1309;p175"/>
          <p:cNvSpPr txBox="1"/>
          <p:nvPr>
            <p:ph idx="1" type="body"/>
          </p:nvPr>
        </p:nvSpPr>
        <p:spPr>
          <a:xfrm>
            <a:off x="-15808" y="721975"/>
            <a:ext cx="8040000" cy="7896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sz="1600"/>
              <a:t>Over the four classes in this unit, we will proceed through these five phases as we conduct a penetration test against MegaCorpOne.</a:t>
            </a:r>
            <a:endParaRPr sz="1600"/>
          </a:p>
        </p:txBody>
      </p:sp>
      <p:sp>
        <p:nvSpPr>
          <p:cNvPr id="1310" name="Google Shape;1310;p175"/>
          <p:cNvSpPr/>
          <p:nvPr/>
        </p:nvSpPr>
        <p:spPr>
          <a:xfrm>
            <a:off x="460575" y="1804050"/>
            <a:ext cx="1626000" cy="2107200"/>
          </a:xfrm>
          <a:prstGeom prst="roundRect">
            <a:avLst>
              <a:gd fmla="val 2755" name="adj"/>
            </a:avLst>
          </a:prstGeom>
          <a:solidFill>
            <a:srgbClr val="FCB913"/>
          </a:solidFill>
          <a:ln>
            <a:noFill/>
          </a:ln>
          <a:effectLst>
            <a:outerShdw blurRad="57150" rotWithShape="0" algn="bl" dir="5400000" dist="19050">
              <a:srgbClr val="000000">
                <a:alpha val="49800"/>
              </a:srgbClr>
            </a:outerShdw>
          </a:effectLst>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800"/>
              <a:buFont typeface="Arial"/>
              <a:buNone/>
            </a:pPr>
            <a:r>
              <a:t/>
            </a:r>
            <a:endParaRPr i="0" sz="1800" u="none" cap="none" strike="noStrike">
              <a:solidFill>
                <a:srgbClr val="FFFFFF"/>
              </a:solidFill>
              <a:latin typeface="Roboto Medium"/>
              <a:ea typeface="Roboto Medium"/>
              <a:cs typeface="Roboto Medium"/>
              <a:sym typeface="Roboto Medium"/>
            </a:endParaRPr>
          </a:p>
        </p:txBody>
      </p:sp>
      <p:sp>
        <p:nvSpPr>
          <p:cNvPr id="1311" name="Google Shape;1311;p175"/>
          <p:cNvSpPr/>
          <p:nvPr/>
        </p:nvSpPr>
        <p:spPr>
          <a:xfrm>
            <a:off x="529875" y="2297471"/>
            <a:ext cx="1487400" cy="1389000"/>
          </a:xfrm>
          <a:prstGeom prst="roundRect">
            <a:avLst>
              <a:gd fmla="val 7205" name="adj"/>
            </a:avLst>
          </a:prstGeom>
          <a:solidFill>
            <a:srgbClr val="FFFFFF"/>
          </a:solidFill>
          <a:ln>
            <a:noFill/>
          </a:ln>
        </p:spPr>
        <p:txBody>
          <a:bodyPr anchorCtr="0" anchor="t" bIns="0" lIns="0" spcFirstLastPara="1" rIns="0" wrap="square" tIns="54850">
            <a:noAutofit/>
          </a:bodyPr>
          <a:lstStyle/>
          <a:p>
            <a:pPr indent="0" lvl="0" marL="0" marR="0" rtl="0" algn="ctr">
              <a:lnSpc>
                <a:spcPct val="90000"/>
              </a:lnSpc>
              <a:spcBef>
                <a:spcPts val="0"/>
              </a:spcBef>
              <a:spcAft>
                <a:spcPts val="0"/>
              </a:spcAft>
              <a:buClr>
                <a:srgbClr val="000000"/>
              </a:buClr>
              <a:buSzPts val="1600"/>
              <a:buFont typeface="Arial"/>
              <a:buNone/>
            </a:pPr>
            <a:r>
              <a:t/>
            </a:r>
            <a:endParaRPr i="0" sz="1600" u="none" cap="none" strike="noStrike">
              <a:solidFill>
                <a:srgbClr val="000000"/>
              </a:solidFill>
              <a:latin typeface="Roboto Medium"/>
              <a:ea typeface="Roboto Medium"/>
              <a:cs typeface="Roboto Medium"/>
              <a:sym typeface="Roboto Medium"/>
            </a:endParaRPr>
          </a:p>
          <a:p>
            <a:pPr indent="0" lvl="0" marL="0" marR="0" rtl="0" algn="ctr">
              <a:lnSpc>
                <a:spcPct val="90000"/>
              </a:lnSpc>
              <a:spcBef>
                <a:spcPts val="0"/>
              </a:spcBef>
              <a:spcAft>
                <a:spcPts val="0"/>
              </a:spcAft>
              <a:buClr>
                <a:srgbClr val="000000"/>
              </a:buClr>
              <a:buSzPts val="1600"/>
              <a:buFont typeface="Arial"/>
              <a:buNone/>
            </a:pPr>
            <a:r>
              <a:t/>
            </a:r>
            <a:endParaRPr i="0" sz="1600" u="none" cap="none" strike="noStrike">
              <a:solidFill>
                <a:srgbClr val="000000"/>
              </a:solidFill>
              <a:latin typeface="Roboto Medium"/>
              <a:ea typeface="Roboto Medium"/>
              <a:cs typeface="Roboto Medium"/>
              <a:sym typeface="Roboto Medium"/>
            </a:endParaRPr>
          </a:p>
          <a:p>
            <a:pPr indent="0" lvl="0" marL="0" marR="0" rtl="0" algn="ctr">
              <a:lnSpc>
                <a:spcPct val="90000"/>
              </a:lnSpc>
              <a:spcBef>
                <a:spcPts val="0"/>
              </a:spcBef>
              <a:spcAft>
                <a:spcPts val="0"/>
              </a:spcAft>
              <a:buClr>
                <a:srgbClr val="000000"/>
              </a:buClr>
              <a:buSzPts val="1600"/>
              <a:buFont typeface="Arial"/>
              <a:buNone/>
            </a:pPr>
            <a:r>
              <a:t/>
            </a:r>
            <a:endParaRPr i="0" sz="1600" u="none" cap="none" strike="noStrike">
              <a:solidFill>
                <a:srgbClr val="000000"/>
              </a:solidFill>
              <a:latin typeface="Roboto Medium"/>
              <a:ea typeface="Roboto Medium"/>
              <a:cs typeface="Roboto Medium"/>
              <a:sym typeface="Roboto Medium"/>
            </a:endParaRPr>
          </a:p>
          <a:p>
            <a:pPr indent="0" lvl="0" marL="0" marR="0" rtl="0" algn="ctr">
              <a:lnSpc>
                <a:spcPct val="90000"/>
              </a:lnSpc>
              <a:spcBef>
                <a:spcPts val="0"/>
              </a:spcBef>
              <a:spcAft>
                <a:spcPts val="0"/>
              </a:spcAft>
              <a:buClr>
                <a:srgbClr val="000000"/>
              </a:buClr>
              <a:buSzPts val="1600"/>
              <a:buFont typeface="Arial"/>
              <a:buNone/>
            </a:pPr>
            <a:r>
              <a:t/>
            </a:r>
            <a:endParaRPr i="0" sz="1600" u="none" cap="none" strike="noStrike">
              <a:solidFill>
                <a:srgbClr val="000000"/>
              </a:solidFill>
              <a:latin typeface="Roboto Medium"/>
              <a:ea typeface="Roboto Medium"/>
              <a:cs typeface="Roboto Medium"/>
              <a:sym typeface="Roboto Medium"/>
            </a:endParaRPr>
          </a:p>
          <a:p>
            <a:pPr indent="0" lvl="0" marL="0" marR="0" rtl="0" algn="ctr">
              <a:lnSpc>
                <a:spcPct val="90000"/>
              </a:lnSpc>
              <a:spcBef>
                <a:spcPts val="0"/>
              </a:spcBef>
              <a:spcAft>
                <a:spcPts val="0"/>
              </a:spcAft>
              <a:buClr>
                <a:srgbClr val="000000"/>
              </a:buClr>
              <a:buSzPts val="1600"/>
              <a:buFont typeface="Arial"/>
              <a:buNone/>
            </a:pPr>
            <a:r>
              <a:t/>
            </a:r>
            <a:endParaRPr i="0" sz="1600" u="none" cap="none" strike="noStrike">
              <a:solidFill>
                <a:srgbClr val="000000"/>
              </a:solidFill>
              <a:latin typeface="Roboto Medium"/>
              <a:ea typeface="Roboto Medium"/>
              <a:cs typeface="Roboto Medium"/>
              <a:sym typeface="Roboto Medium"/>
            </a:endParaRPr>
          </a:p>
        </p:txBody>
      </p:sp>
      <p:sp>
        <p:nvSpPr>
          <p:cNvPr id="1312" name="Google Shape;1312;p175"/>
          <p:cNvSpPr/>
          <p:nvPr/>
        </p:nvSpPr>
        <p:spPr>
          <a:xfrm>
            <a:off x="529875" y="1807713"/>
            <a:ext cx="1487400" cy="364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600"/>
              <a:buFont typeface="Arial"/>
              <a:buNone/>
            </a:pPr>
            <a:r>
              <a:rPr b="1" i="0" lang="en" sz="1600" u="none" cap="none" strike="noStrike">
                <a:solidFill>
                  <a:srgbClr val="082D49"/>
                </a:solidFill>
                <a:latin typeface="Roboto"/>
                <a:ea typeface="Roboto"/>
                <a:cs typeface="Roboto"/>
                <a:sym typeface="Roboto"/>
              </a:rPr>
              <a:t>Day 1</a:t>
            </a:r>
            <a:endParaRPr b="1" i="0" sz="1600" u="none" cap="none" strike="noStrike">
              <a:solidFill>
                <a:srgbClr val="082D49"/>
              </a:solidFill>
              <a:latin typeface="Roboto"/>
              <a:ea typeface="Roboto"/>
              <a:cs typeface="Roboto"/>
              <a:sym typeface="Roboto"/>
            </a:endParaRPr>
          </a:p>
        </p:txBody>
      </p:sp>
      <p:sp>
        <p:nvSpPr>
          <p:cNvPr id="1313" name="Google Shape;1313;p175"/>
          <p:cNvSpPr/>
          <p:nvPr/>
        </p:nvSpPr>
        <p:spPr>
          <a:xfrm>
            <a:off x="2143309" y="1804050"/>
            <a:ext cx="1626000" cy="2107200"/>
          </a:xfrm>
          <a:prstGeom prst="roundRect">
            <a:avLst>
              <a:gd fmla="val 2755" name="adj"/>
            </a:avLst>
          </a:prstGeom>
          <a:solidFill>
            <a:srgbClr val="082D49"/>
          </a:solid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800"/>
              <a:buFont typeface="Arial"/>
              <a:buNone/>
            </a:pPr>
            <a:r>
              <a:t/>
            </a:r>
            <a:endParaRPr i="0" sz="1800" u="none" cap="none" strike="noStrike">
              <a:solidFill>
                <a:srgbClr val="FFFFFF"/>
              </a:solidFill>
              <a:latin typeface="Roboto Medium"/>
              <a:ea typeface="Roboto Medium"/>
              <a:cs typeface="Roboto Medium"/>
              <a:sym typeface="Roboto Medium"/>
            </a:endParaRPr>
          </a:p>
        </p:txBody>
      </p:sp>
      <p:sp>
        <p:nvSpPr>
          <p:cNvPr id="1314" name="Google Shape;1314;p175"/>
          <p:cNvSpPr/>
          <p:nvPr/>
        </p:nvSpPr>
        <p:spPr>
          <a:xfrm>
            <a:off x="2221985" y="2297471"/>
            <a:ext cx="1487400" cy="1389000"/>
          </a:xfrm>
          <a:prstGeom prst="roundRect">
            <a:avLst>
              <a:gd fmla="val 7205" name="adj"/>
            </a:avLst>
          </a:prstGeom>
          <a:solidFill>
            <a:srgbClr val="FFFFFF"/>
          </a:solidFill>
          <a:ln>
            <a:noFill/>
          </a:ln>
        </p:spPr>
        <p:txBody>
          <a:bodyPr anchorCtr="0" anchor="t" bIns="0" lIns="0" spcFirstLastPara="1" rIns="0" wrap="square" tIns="5485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latin typeface="Roboto Medium"/>
              <a:ea typeface="Roboto Medium"/>
              <a:cs typeface="Roboto Medium"/>
              <a:sym typeface="Roboto Medium"/>
            </a:endParaRPr>
          </a:p>
        </p:txBody>
      </p:sp>
      <p:sp>
        <p:nvSpPr>
          <p:cNvPr id="1315" name="Google Shape;1315;p175"/>
          <p:cNvSpPr/>
          <p:nvPr/>
        </p:nvSpPr>
        <p:spPr>
          <a:xfrm>
            <a:off x="2221985" y="1807713"/>
            <a:ext cx="1487400" cy="364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600"/>
              <a:buFont typeface="Arial"/>
              <a:buNone/>
            </a:pPr>
            <a:r>
              <a:rPr b="1" i="0" lang="en" sz="1600" u="none" cap="none" strike="noStrike">
                <a:solidFill>
                  <a:schemeClr val="lt1"/>
                </a:solidFill>
                <a:latin typeface="Roboto"/>
                <a:ea typeface="Roboto"/>
                <a:cs typeface="Roboto"/>
                <a:sym typeface="Roboto"/>
              </a:rPr>
              <a:t>Day 2</a:t>
            </a:r>
            <a:endParaRPr b="1" i="0" sz="1600" u="none" cap="none" strike="noStrike">
              <a:solidFill>
                <a:schemeClr val="lt1"/>
              </a:solidFill>
              <a:latin typeface="Roboto"/>
              <a:ea typeface="Roboto"/>
              <a:cs typeface="Roboto"/>
              <a:sym typeface="Roboto"/>
            </a:endParaRPr>
          </a:p>
        </p:txBody>
      </p:sp>
      <p:sp>
        <p:nvSpPr>
          <p:cNvPr id="1316" name="Google Shape;1316;p175"/>
          <p:cNvSpPr/>
          <p:nvPr/>
        </p:nvSpPr>
        <p:spPr>
          <a:xfrm>
            <a:off x="3822813" y="1804050"/>
            <a:ext cx="1626000" cy="2107200"/>
          </a:xfrm>
          <a:prstGeom prst="roundRect">
            <a:avLst>
              <a:gd fmla="val 2755" name="adj"/>
            </a:avLst>
          </a:prstGeom>
          <a:solidFill>
            <a:srgbClr val="0277DB"/>
          </a:solid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800"/>
              <a:buFont typeface="Arial"/>
              <a:buNone/>
            </a:pPr>
            <a:r>
              <a:t/>
            </a:r>
            <a:endParaRPr i="0" sz="1800" u="none" cap="none" strike="noStrike">
              <a:solidFill>
                <a:srgbClr val="FFFFFF"/>
              </a:solidFill>
              <a:latin typeface="Roboto Medium"/>
              <a:ea typeface="Roboto Medium"/>
              <a:cs typeface="Roboto Medium"/>
              <a:sym typeface="Roboto Medium"/>
            </a:endParaRPr>
          </a:p>
        </p:txBody>
      </p:sp>
      <p:sp>
        <p:nvSpPr>
          <p:cNvPr id="1317" name="Google Shape;1317;p175"/>
          <p:cNvSpPr/>
          <p:nvPr/>
        </p:nvSpPr>
        <p:spPr>
          <a:xfrm>
            <a:off x="3897716" y="2297471"/>
            <a:ext cx="1487400" cy="1389000"/>
          </a:xfrm>
          <a:prstGeom prst="roundRect">
            <a:avLst>
              <a:gd fmla="val 7205" name="adj"/>
            </a:avLst>
          </a:prstGeom>
          <a:solidFill>
            <a:srgbClr val="FFFFFF"/>
          </a:solidFill>
          <a:ln>
            <a:noFill/>
          </a:ln>
        </p:spPr>
        <p:txBody>
          <a:bodyPr anchorCtr="0" anchor="t" bIns="0" lIns="0" spcFirstLastPara="1" rIns="0" wrap="square" tIns="5485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latin typeface="Roboto Medium"/>
              <a:ea typeface="Roboto Medium"/>
              <a:cs typeface="Roboto Medium"/>
              <a:sym typeface="Roboto Medium"/>
            </a:endParaRPr>
          </a:p>
        </p:txBody>
      </p:sp>
      <p:sp>
        <p:nvSpPr>
          <p:cNvPr id="1318" name="Google Shape;1318;p175"/>
          <p:cNvSpPr/>
          <p:nvPr/>
        </p:nvSpPr>
        <p:spPr>
          <a:xfrm>
            <a:off x="3897720" y="1807713"/>
            <a:ext cx="1487400" cy="364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600"/>
              <a:buFont typeface="Arial"/>
              <a:buNone/>
            </a:pPr>
            <a:r>
              <a:rPr b="1" i="0" lang="en" sz="1600" u="none" cap="none" strike="noStrike">
                <a:solidFill>
                  <a:schemeClr val="lt1"/>
                </a:solidFill>
                <a:latin typeface="Roboto"/>
                <a:ea typeface="Roboto"/>
                <a:cs typeface="Roboto"/>
                <a:sym typeface="Roboto"/>
              </a:rPr>
              <a:t>Day 3</a:t>
            </a:r>
            <a:endParaRPr b="1" i="0" sz="1600" u="none" cap="none" strike="noStrike">
              <a:solidFill>
                <a:schemeClr val="lt1"/>
              </a:solidFill>
              <a:latin typeface="Roboto"/>
              <a:ea typeface="Roboto"/>
              <a:cs typeface="Roboto"/>
              <a:sym typeface="Roboto"/>
            </a:endParaRPr>
          </a:p>
        </p:txBody>
      </p:sp>
      <p:sp>
        <p:nvSpPr>
          <p:cNvPr id="1319" name="Google Shape;1319;p175"/>
          <p:cNvSpPr/>
          <p:nvPr/>
        </p:nvSpPr>
        <p:spPr>
          <a:xfrm>
            <a:off x="5524271" y="1804050"/>
            <a:ext cx="1626000" cy="2107200"/>
          </a:xfrm>
          <a:prstGeom prst="roundRect">
            <a:avLst>
              <a:gd fmla="val 2755" name="adj"/>
            </a:avLst>
          </a:prstGeom>
          <a:solidFill>
            <a:srgbClr val="03C7CC"/>
          </a:solid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800"/>
              <a:buFont typeface="Arial"/>
              <a:buNone/>
            </a:pPr>
            <a:r>
              <a:t/>
            </a:r>
            <a:endParaRPr i="0" sz="1800" u="none" cap="none" strike="noStrike">
              <a:solidFill>
                <a:srgbClr val="FFFFFF"/>
              </a:solidFill>
              <a:latin typeface="Roboto Medium"/>
              <a:ea typeface="Roboto Medium"/>
              <a:cs typeface="Roboto Medium"/>
              <a:sym typeface="Roboto Medium"/>
            </a:endParaRPr>
          </a:p>
        </p:txBody>
      </p:sp>
      <p:sp>
        <p:nvSpPr>
          <p:cNvPr id="1320" name="Google Shape;1320;p175"/>
          <p:cNvSpPr/>
          <p:nvPr/>
        </p:nvSpPr>
        <p:spPr>
          <a:xfrm>
            <a:off x="5602943" y="2297471"/>
            <a:ext cx="1487400" cy="1389000"/>
          </a:xfrm>
          <a:prstGeom prst="roundRect">
            <a:avLst>
              <a:gd fmla="val 7205" name="adj"/>
            </a:avLst>
          </a:prstGeom>
          <a:solidFill>
            <a:srgbClr val="FFFFFF"/>
          </a:solidFill>
          <a:ln>
            <a:noFill/>
          </a:ln>
        </p:spPr>
        <p:txBody>
          <a:bodyPr anchorCtr="0" anchor="t" bIns="0" lIns="0" spcFirstLastPara="1" rIns="0" wrap="square" tIns="5485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latin typeface="Roboto Medium"/>
              <a:ea typeface="Roboto Medium"/>
              <a:cs typeface="Roboto Medium"/>
              <a:sym typeface="Roboto Medium"/>
            </a:endParaRPr>
          </a:p>
        </p:txBody>
      </p:sp>
      <p:sp>
        <p:nvSpPr>
          <p:cNvPr id="1321" name="Google Shape;1321;p175"/>
          <p:cNvSpPr/>
          <p:nvPr/>
        </p:nvSpPr>
        <p:spPr>
          <a:xfrm>
            <a:off x="5602951" y="1807713"/>
            <a:ext cx="1487400" cy="364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600"/>
              <a:buFont typeface="Arial"/>
              <a:buNone/>
            </a:pPr>
            <a:r>
              <a:rPr b="1" i="0" lang="en" sz="1600" u="none" cap="none" strike="noStrike">
                <a:solidFill>
                  <a:srgbClr val="082D49"/>
                </a:solidFill>
                <a:latin typeface="Roboto"/>
                <a:ea typeface="Roboto"/>
                <a:cs typeface="Roboto"/>
                <a:sym typeface="Roboto"/>
              </a:rPr>
              <a:t>Day 3-4</a:t>
            </a:r>
            <a:endParaRPr b="1" i="0" sz="1600" u="none" cap="none" strike="noStrike">
              <a:solidFill>
                <a:srgbClr val="082D49"/>
              </a:solidFill>
              <a:latin typeface="Roboto"/>
              <a:ea typeface="Roboto"/>
              <a:cs typeface="Roboto"/>
              <a:sym typeface="Roboto"/>
            </a:endParaRPr>
          </a:p>
        </p:txBody>
      </p:sp>
      <p:sp>
        <p:nvSpPr>
          <p:cNvPr id="1322" name="Google Shape;1322;p175"/>
          <p:cNvSpPr/>
          <p:nvPr/>
        </p:nvSpPr>
        <p:spPr>
          <a:xfrm>
            <a:off x="7203775" y="1804050"/>
            <a:ext cx="1626000" cy="2107200"/>
          </a:xfrm>
          <a:prstGeom prst="roundRect">
            <a:avLst>
              <a:gd fmla="val 2755" name="adj"/>
            </a:avLst>
          </a:prstGeom>
          <a:solidFill>
            <a:srgbClr val="2E5E73"/>
          </a:solid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800"/>
              <a:buFont typeface="Arial"/>
              <a:buNone/>
            </a:pPr>
            <a:r>
              <a:t/>
            </a:r>
            <a:endParaRPr i="0" sz="1800" u="none" cap="none" strike="noStrike">
              <a:solidFill>
                <a:srgbClr val="FFFFFF"/>
              </a:solidFill>
              <a:latin typeface="Roboto Medium"/>
              <a:ea typeface="Roboto Medium"/>
              <a:cs typeface="Roboto Medium"/>
              <a:sym typeface="Roboto Medium"/>
            </a:endParaRPr>
          </a:p>
        </p:txBody>
      </p:sp>
      <p:sp>
        <p:nvSpPr>
          <p:cNvPr id="1323" name="Google Shape;1323;p175"/>
          <p:cNvSpPr/>
          <p:nvPr/>
        </p:nvSpPr>
        <p:spPr>
          <a:xfrm>
            <a:off x="7278674" y="2297471"/>
            <a:ext cx="1487400" cy="1389000"/>
          </a:xfrm>
          <a:prstGeom prst="roundRect">
            <a:avLst>
              <a:gd fmla="val 7205" name="adj"/>
            </a:avLst>
          </a:prstGeom>
          <a:solidFill>
            <a:srgbClr val="FFFFFF"/>
          </a:solidFill>
          <a:ln>
            <a:noFill/>
          </a:ln>
        </p:spPr>
        <p:txBody>
          <a:bodyPr anchorCtr="0" anchor="t" bIns="0" lIns="0" spcFirstLastPara="1" rIns="0" wrap="square" tIns="5485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latin typeface="Roboto Medium"/>
              <a:ea typeface="Roboto Medium"/>
              <a:cs typeface="Roboto Medium"/>
              <a:sym typeface="Roboto Medium"/>
            </a:endParaRPr>
          </a:p>
        </p:txBody>
      </p:sp>
      <p:sp>
        <p:nvSpPr>
          <p:cNvPr id="1324" name="Google Shape;1324;p175"/>
          <p:cNvSpPr/>
          <p:nvPr/>
        </p:nvSpPr>
        <p:spPr>
          <a:xfrm>
            <a:off x="7278687" y="1807713"/>
            <a:ext cx="1487400" cy="364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600"/>
              <a:buFont typeface="Arial"/>
              <a:buNone/>
            </a:pPr>
            <a:r>
              <a:rPr b="1" i="0" lang="en" sz="1600" u="none" cap="none" strike="noStrike">
                <a:solidFill>
                  <a:schemeClr val="lt1"/>
                </a:solidFill>
                <a:latin typeface="Roboto"/>
                <a:ea typeface="Roboto"/>
                <a:cs typeface="Roboto"/>
                <a:sym typeface="Roboto"/>
              </a:rPr>
              <a:t>Day 4</a:t>
            </a:r>
            <a:endParaRPr b="1" i="0" sz="1600" u="none" cap="none" strike="noStrike">
              <a:solidFill>
                <a:schemeClr val="lt1"/>
              </a:solidFill>
              <a:latin typeface="Roboto"/>
              <a:ea typeface="Roboto"/>
              <a:cs typeface="Roboto"/>
              <a:sym typeface="Roboto"/>
            </a:endParaRPr>
          </a:p>
        </p:txBody>
      </p:sp>
      <p:sp>
        <p:nvSpPr>
          <p:cNvPr id="1325" name="Google Shape;1325;p175"/>
          <p:cNvSpPr/>
          <p:nvPr/>
        </p:nvSpPr>
        <p:spPr>
          <a:xfrm>
            <a:off x="158400" y="1878375"/>
            <a:ext cx="788700" cy="338700"/>
          </a:xfrm>
          <a:prstGeom prst="homePlate">
            <a:avLst>
              <a:gd fmla="val 50000" name="adj"/>
            </a:avLst>
          </a:prstGeom>
          <a:solidFill>
            <a:srgbClr val="FCB913"/>
          </a:solidFill>
          <a:ln>
            <a:noFill/>
          </a:ln>
          <a:effectLst>
            <a:outerShdw blurRad="57150" rotWithShape="0" algn="bl" dir="5400000" dist="19050">
              <a:srgbClr val="000000">
                <a:alpha val="498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rgbClr val="000000"/>
                </a:solidFill>
                <a:latin typeface="Roboto Medium"/>
                <a:ea typeface="Roboto Medium"/>
                <a:cs typeface="Roboto Medium"/>
                <a:sym typeface="Roboto Medium"/>
              </a:rPr>
              <a:t>Today</a:t>
            </a:r>
            <a:endParaRPr i="0" sz="1400" u="none" cap="none" strike="noStrike">
              <a:solidFill>
                <a:srgbClr val="000000"/>
              </a:solidFill>
              <a:latin typeface="Roboto Medium"/>
              <a:ea typeface="Roboto Medium"/>
              <a:cs typeface="Roboto Medium"/>
              <a:sym typeface="Roboto Medium"/>
            </a:endParaRPr>
          </a:p>
        </p:txBody>
      </p:sp>
      <p:sp>
        <p:nvSpPr>
          <p:cNvPr id="1326" name="Google Shape;1326;p175"/>
          <p:cNvSpPr/>
          <p:nvPr/>
        </p:nvSpPr>
        <p:spPr>
          <a:xfrm>
            <a:off x="614775" y="2504700"/>
            <a:ext cx="1328400" cy="443400"/>
          </a:xfrm>
          <a:prstGeom prst="roundRect">
            <a:avLst>
              <a:gd fmla="val 16667" name="adj"/>
            </a:avLst>
          </a:prstGeom>
          <a:solidFill>
            <a:srgbClr val="FCB913"/>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i="0" lang="en" sz="1300" u="none" cap="none" strike="noStrike">
                <a:solidFill>
                  <a:srgbClr val="082D49"/>
                </a:solidFill>
                <a:latin typeface="Roboto Medium"/>
                <a:ea typeface="Roboto Medium"/>
                <a:cs typeface="Roboto Medium"/>
                <a:sym typeface="Roboto Medium"/>
              </a:rPr>
              <a:t>Planning </a:t>
            </a:r>
            <a:endParaRPr i="0" sz="1300" u="none" cap="none" strike="noStrike">
              <a:solidFill>
                <a:srgbClr val="082D49"/>
              </a:solidFill>
              <a:latin typeface="Roboto Medium"/>
              <a:ea typeface="Roboto Medium"/>
              <a:cs typeface="Roboto Medium"/>
              <a:sym typeface="Roboto Medium"/>
            </a:endParaRPr>
          </a:p>
        </p:txBody>
      </p:sp>
      <p:sp>
        <p:nvSpPr>
          <p:cNvPr id="1327" name="Google Shape;1327;p175"/>
          <p:cNvSpPr/>
          <p:nvPr/>
        </p:nvSpPr>
        <p:spPr>
          <a:xfrm>
            <a:off x="614775" y="3039903"/>
            <a:ext cx="1328400" cy="443400"/>
          </a:xfrm>
          <a:prstGeom prst="roundRect">
            <a:avLst>
              <a:gd fmla="val 16667" name="adj"/>
            </a:avLst>
          </a:prstGeom>
          <a:solidFill>
            <a:srgbClr val="FCB913"/>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i="0" lang="en" sz="1300" u="none" cap="none" strike="noStrike">
                <a:solidFill>
                  <a:srgbClr val="082D49"/>
                </a:solidFill>
                <a:latin typeface="Roboto Medium"/>
                <a:ea typeface="Roboto Medium"/>
                <a:cs typeface="Roboto Medium"/>
                <a:sym typeface="Roboto Medium"/>
              </a:rPr>
              <a:t>Reconnaissance</a:t>
            </a:r>
            <a:endParaRPr i="0" sz="1300" u="none" cap="none" strike="noStrike">
              <a:solidFill>
                <a:srgbClr val="082D49"/>
              </a:solidFill>
              <a:latin typeface="Roboto Medium"/>
              <a:ea typeface="Roboto Medium"/>
              <a:cs typeface="Roboto Medium"/>
              <a:sym typeface="Roboto Medium"/>
            </a:endParaRPr>
          </a:p>
        </p:txBody>
      </p:sp>
      <p:sp>
        <p:nvSpPr>
          <p:cNvPr id="1328" name="Google Shape;1328;p175"/>
          <p:cNvSpPr/>
          <p:nvPr/>
        </p:nvSpPr>
        <p:spPr>
          <a:xfrm>
            <a:off x="2291175" y="2504700"/>
            <a:ext cx="1328400" cy="443400"/>
          </a:xfrm>
          <a:prstGeom prst="roundRect">
            <a:avLst>
              <a:gd fmla="val 16667" name="adj"/>
            </a:avLst>
          </a:prstGeom>
          <a:solidFill>
            <a:srgbClr val="082D4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i="0" lang="en" sz="1300" u="none" cap="none" strike="noStrike">
                <a:solidFill>
                  <a:schemeClr val="lt1"/>
                </a:solidFill>
                <a:latin typeface="Roboto Medium"/>
                <a:ea typeface="Roboto Medium"/>
                <a:cs typeface="Roboto Medium"/>
                <a:sym typeface="Roboto Medium"/>
              </a:rPr>
              <a:t>Scanning </a:t>
            </a:r>
            <a:endParaRPr i="0" sz="1300" u="none" cap="none" strike="noStrike">
              <a:solidFill>
                <a:schemeClr val="lt1"/>
              </a:solidFill>
              <a:latin typeface="Roboto Medium"/>
              <a:ea typeface="Roboto Medium"/>
              <a:cs typeface="Roboto Medium"/>
              <a:sym typeface="Roboto Medium"/>
            </a:endParaRPr>
          </a:p>
        </p:txBody>
      </p:sp>
      <p:sp>
        <p:nvSpPr>
          <p:cNvPr id="1329" name="Google Shape;1329;p175"/>
          <p:cNvSpPr/>
          <p:nvPr/>
        </p:nvSpPr>
        <p:spPr>
          <a:xfrm>
            <a:off x="3986625" y="2504700"/>
            <a:ext cx="1328400" cy="443400"/>
          </a:xfrm>
          <a:prstGeom prst="roundRect">
            <a:avLst>
              <a:gd fmla="val 16667" name="adj"/>
            </a:avLst>
          </a:prstGeom>
          <a:solidFill>
            <a:srgbClr val="0277DB"/>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i="0" lang="en" sz="1300" u="none" cap="none" strike="noStrike">
                <a:solidFill>
                  <a:schemeClr val="lt1"/>
                </a:solidFill>
                <a:latin typeface="Roboto Medium"/>
                <a:ea typeface="Roboto Medium"/>
                <a:cs typeface="Roboto Medium"/>
                <a:sym typeface="Roboto Medium"/>
              </a:rPr>
              <a:t>Exploitation</a:t>
            </a:r>
            <a:endParaRPr i="0" sz="1300" u="none" cap="none" strike="noStrike">
              <a:solidFill>
                <a:schemeClr val="lt1"/>
              </a:solidFill>
              <a:latin typeface="Roboto Medium"/>
              <a:ea typeface="Roboto Medium"/>
              <a:cs typeface="Roboto Medium"/>
              <a:sym typeface="Roboto Medium"/>
            </a:endParaRPr>
          </a:p>
        </p:txBody>
      </p:sp>
      <p:sp>
        <p:nvSpPr>
          <p:cNvPr id="1330" name="Google Shape;1330;p175"/>
          <p:cNvSpPr/>
          <p:nvPr/>
        </p:nvSpPr>
        <p:spPr>
          <a:xfrm>
            <a:off x="5672550" y="2504700"/>
            <a:ext cx="1328400" cy="443400"/>
          </a:xfrm>
          <a:prstGeom prst="roundRect">
            <a:avLst>
              <a:gd fmla="val 16667" name="adj"/>
            </a:avLst>
          </a:prstGeom>
          <a:solidFill>
            <a:srgbClr val="03C7CC"/>
          </a:solidFill>
          <a:ln>
            <a:noFill/>
          </a:ln>
        </p:spPr>
        <p:txBody>
          <a:bodyPr anchorCtr="0" anchor="ctr" bIns="91425" lIns="0" spcFirstLastPara="1" rIns="0" wrap="square" tIns="91425">
            <a:noAutofit/>
          </a:bodyPr>
          <a:lstStyle/>
          <a:p>
            <a:pPr indent="0" lvl="0" marL="0" marR="0" rtl="0" algn="ctr">
              <a:lnSpc>
                <a:spcPct val="90000"/>
              </a:lnSpc>
              <a:spcBef>
                <a:spcPts val="0"/>
              </a:spcBef>
              <a:spcAft>
                <a:spcPts val="0"/>
              </a:spcAft>
              <a:buClr>
                <a:srgbClr val="000000"/>
              </a:buClr>
              <a:buSzPts val="1300"/>
              <a:buFont typeface="Arial"/>
              <a:buNone/>
            </a:pPr>
            <a:r>
              <a:rPr i="0" lang="en" sz="1300" u="none" cap="none" strike="noStrike">
                <a:solidFill>
                  <a:srgbClr val="082D49"/>
                </a:solidFill>
                <a:latin typeface="Roboto Medium"/>
                <a:ea typeface="Roboto Medium"/>
                <a:cs typeface="Roboto Medium"/>
                <a:sym typeface="Roboto Medium"/>
              </a:rPr>
              <a:t>Post </a:t>
            </a:r>
            <a:br>
              <a:rPr i="0" lang="en" sz="1300" u="none" cap="none" strike="noStrike">
                <a:solidFill>
                  <a:srgbClr val="082D49"/>
                </a:solidFill>
                <a:latin typeface="Roboto Medium"/>
                <a:ea typeface="Roboto Medium"/>
                <a:cs typeface="Roboto Medium"/>
                <a:sym typeface="Roboto Medium"/>
              </a:rPr>
            </a:br>
            <a:r>
              <a:rPr i="0" lang="en" sz="1300" u="none" cap="none" strike="noStrike">
                <a:solidFill>
                  <a:srgbClr val="082D49"/>
                </a:solidFill>
                <a:latin typeface="Roboto Medium"/>
                <a:ea typeface="Roboto Medium"/>
                <a:cs typeface="Roboto Medium"/>
                <a:sym typeface="Roboto Medium"/>
              </a:rPr>
              <a:t>exploitation</a:t>
            </a:r>
            <a:endParaRPr i="0" sz="1300" u="none" cap="none" strike="noStrike">
              <a:solidFill>
                <a:srgbClr val="082D49"/>
              </a:solidFill>
              <a:latin typeface="Roboto Medium"/>
              <a:ea typeface="Roboto Medium"/>
              <a:cs typeface="Roboto Medium"/>
              <a:sym typeface="Roboto Medium"/>
            </a:endParaRPr>
          </a:p>
        </p:txBody>
      </p:sp>
      <p:sp>
        <p:nvSpPr>
          <p:cNvPr id="1331" name="Google Shape;1331;p175"/>
          <p:cNvSpPr/>
          <p:nvPr/>
        </p:nvSpPr>
        <p:spPr>
          <a:xfrm>
            <a:off x="7368000" y="2504700"/>
            <a:ext cx="1328400" cy="443400"/>
          </a:xfrm>
          <a:prstGeom prst="roundRect">
            <a:avLst>
              <a:gd fmla="val 16667" name="adj"/>
            </a:avLst>
          </a:prstGeom>
          <a:solidFill>
            <a:srgbClr val="2E5E73"/>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i="0" lang="en" sz="1300" u="none" cap="none" strike="noStrike">
                <a:solidFill>
                  <a:schemeClr val="lt1"/>
                </a:solidFill>
                <a:latin typeface="Roboto Medium"/>
                <a:ea typeface="Roboto Medium"/>
                <a:cs typeface="Roboto Medium"/>
                <a:sym typeface="Roboto Medium"/>
              </a:rPr>
              <a:t>Reporting</a:t>
            </a:r>
            <a:endParaRPr i="0" sz="1300" u="none" cap="none" strike="noStrike">
              <a:solidFill>
                <a:schemeClr val="lt1"/>
              </a:solidFill>
              <a:latin typeface="Roboto Medium"/>
              <a:ea typeface="Roboto Medium"/>
              <a:cs typeface="Roboto Medium"/>
              <a:sym typeface="Roboto Medium"/>
            </a:endParaRPr>
          </a:p>
        </p:txBody>
      </p:sp>
      <p:pic>
        <p:nvPicPr>
          <p:cNvPr id="1332" name="Google Shape;1332;p175"/>
          <p:cNvPicPr preferRelativeResize="0"/>
          <p:nvPr/>
        </p:nvPicPr>
        <p:blipFill rotWithShape="1">
          <a:blip r:embed="rId3">
            <a:alphaModFix/>
          </a:blip>
          <a:srcRect b="0" l="0" r="0" t="0"/>
          <a:stretch/>
        </p:blipFill>
        <p:spPr>
          <a:xfrm>
            <a:off x="520050" y="4316900"/>
            <a:ext cx="788701" cy="788701"/>
          </a:xfrm>
          <a:prstGeom prst="rect">
            <a:avLst/>
          </a:prstGeom>
          <a:noFill/>
          <a:ln>
            <a:noFill/>
          </a:ln>
        </p:spPr>
      </p:pic>
      <p:sp>
        <p:nvSpPr>
          <p:cNvPr id="1333" name="Google Shape;1333;p175"/>
          <p:cNvSpPr txBox="1"/>
          <p:nvPr/>
        </p:nvSpPr>
        <p:spPr>
          <a:xfrm>
            <a:off x="1548000" y="4426875"/>
            <a:ext cx="6681600" cy="5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Keep your findings from each activity. You will use them on the fourth day when you create your penetration test report.</a:t>
            </a:r>
            <a:endParaRPr sz="18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76"/>
          <p:cNvSpPr/>
          <p:nvPr/>
        </p:nvSpPr>
        <p:spPr>
          <a:xfrm>
            <a:off x="459099" y="1336050"/>
            <a:ext cx="2471400" cy="2471400"/>
          </a:xfrm>
          <a:prstGeom prst="ellipse">
            <a:avLst/>
          </a:prstGeom>
          <a:solidFill>
            <a:srgbClr val="FCB91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6"/>
          <p:cNvSpPr txBox="1"/>
          <p:nvPr/>
        </p:nvSpPr>
        <p:spPr>
          <a:xfrm>
            <a:off x="3135200" y="1294233"/>
            <a:ext cx="5549700" cy="352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3600"/>
              <a:buFont typeface="Arial"/>
              <a:buNone/>
            </a:pPr>
            <a:r>
              <a:rPr lang="en" sz="3100">
                <a:solidFill>
                  <a:schemeClr val="dk2"/>
                </a:solidFill>
                <a:latin typeface="Roboto"/>
                <a:ea typeface="Roboto"/>
                <a:cs typeface="Roboto"/>
                <a:sym typeface="Roboto"/>
              </a:rPr>
              <a:t>While we’ve shown these phases sequentially, there are times when steps are skipped, repeated, or when their order is switched –</a:t>
            </a:r>
            <a:r>
              <a:rPr lang="en" sz="3100">
                <a:solidFill>
                  <a:schemeClr val="dk2"/>
                </a:solidFill>
                <a:latin typeface="Roboto Light"/>
                <a:ea typeface="Roboto Light"/>
                <a:cs typeface="Roboto Light"/>
                <a:sym typeface="Roboto Light"/>
              </a:rPr>
              <a:t> </a:t>
            </a:r>
            <a:r>
              <a:rPr b="1" lang="en" sz="3100">
                <a:solidFill>
                  <a:schemeClr val="dk2"/>
                </a:solidFill>
                <a:latin typeface="Roboto"/>
                <a:ea typeface="Roboto"/>
                <a:cs typeface="Roboto"/>
                <a:sym typeface="Roboto"/>
              </a:rPr>
              <a:t>just like in a real attack.</a:t>
            </a:r>
            <a:endParaRPr b="1" sz="3100">
              <a:solidFill>
                <a:schemeClr val="dk2"/>
              </a:solidFill>
              <a:latin typeface="Roboto"/>
              <a:ea typeface="Roboto"/>
              <a:cs typeface="Roboto"/>
              <a:sym typeface="Roboto"/>
            </a:endParaRPr>
          </a:p>
          <a:p>
            <a:pPr indent="0" lvl="0" marL="0" rtl="0" algn="l">
              <a:spcBef>
                <a:spcPts val="0"/>
              </a:spcBef>
              <a:spcAft>
                <a:spcPts val="0"/>
              </a:spcAft>
              <a:buNone/>
            </a:pPr>
            <a:r>
              <a:rPr lang="en" sz="3100">
                <a:solidFill>
                  <a:schemeClr val="dk1"/>
                </a:solidFill>
                <a:latin typeface="Roboto Light"/>
                <a:ea typeface="Roboto Light"/>
                <a:cs typeface="Roboto Light"/>
                <a:sym typeface="Roboto Light"/>
              </a:rPr>
              <a:t> </a:t>
            </a:r>
            <a:endParaRPr sz="3100">
              <a:solidFill>
                <a:schemeClr val="dk1"/>
              </a:solidFill>
              <a:latin typeface="Roboto Light"/>
              <a:ea typeface="Roboto Light"/>
              <a:cs typeface="Roboto Light"/>
              <a:sym typeface="Roboto Light"/>
            </a:endParaRPr>
          </a:p>
        </p:txBody>
      </p:sp>
      <p:pic>
        <p:nvPicPr>
          <p:cNvPr id="1340" name="Google Shape;1340;p176"/>
          <p:cNvPicPr preferRelativeResize="0"/>
          <p:nvPr/>
        </p:nvPicPr>
        <p:blipFill>
          <a:blip r:embed="rId3">
            <a:alphaModFix/>
          </a:blip>
          <a:stretch>
            <a:fillRect/>
          </a:stretch>
        </p:blipFill>
        <p:spPr>
          <a:xfrm>
            <a:off x="772288" y="1643513"/>
            <a:ext cx="1856475" cy="1856475"/>
          </a:xfrm>
          <a:prstGeom prst="rect">
            <a:avLst/>
          </a:prstGeom>
          <a:noFill/>
          <a:ln>
            <a:noFill/>
          </a:ln>
        </p:spPr>
      </p:pic>
      <p:pic>
        <p:nvPicPr>
          <p:cNvPr id="1341" name="Google Shape;1341;p176"/>
          <p:cNvPicPr preferRelativeResize="0"/>
          <p:nvPr/>
        </p:nvPicPr>
        <p:blipFill>
          <a:blip r:embed="rId4">
            <a:alphaModFix amt="11000"/>
          </a:blip>
          <a:stretch>
            <a:fillRect/>
          </a:stretch>
        </p:blipFill>
        <p:spPr>
          <a:xfrm>
            <a:off x="5672475" y="2991225"/>
            <a:ext cx="3471525" cy="2243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7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Planning </a:t>
            </a:r>
            <a:r>
              <a:rPr b="0" lang="en">
                <a:latin typeface="Roboto"/>
                <a:ea typeface="Roboto"/>
                <a:cs typeface="Roboto"/>
                <a:sym typeface="Roboto"/>
              </a:rPr>
              <a:t>the Penetration Test </a:t>
            </a:r>
            <a:endParaRPr>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347" name="Google Shape;1347;p177"/>
          <p:cNvPicPr preferRelativeResize="0"/>
          <p:nvPr/>
        </p:nvPicPr>
        <p:blipFill>
          <a:blip r:embed="rId3">
            <a:alphaModFix/>
          </a:blip>
          <a:stretch>
            <a:fillRect/>
          </a:stretch>
        </p:blipFill>
        <p:spPr>
          <a:xfrm>
            <a:off x="3936162" y="1498837"/>
            <a:ext cx="1271664" cy="1249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178"/>
          <p:cNvSpPr txBox="1"/>
          <p:nvPr/>
        </p:nvSpPr>
        <p:spPr>
          <a:xfrm>
            <a:off x="332375" y="233625"/>
            <a:ext cx="812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Phase 1: Planning </a:t>
            </a:r>
            <a:endParaRPr sz="2600">
              <a:solidFill>
                <a:schemeClr val="dk2"/>
              </a:solidFill>
              <a:latin typeface="Roboto Light"/>
              <a:ea typeface="Roboto Light"/>
              <a:cs typeface="Roboto Light"/>
              <a:sym typeface="Roboto Light"/>
            </a:endParaRPr>
          </a:p>
        </p:txBody>
      </p:sp>
      <p:sp>
        <p:nvSpPr>
          <p:cNvPr id="1353" name="Google Shape;1353;p178"/>
          <p:cNvSpPr txBox="1"/>
          <p:nvPr>
            <p:ph idx="4294967295" type="subTitle"/>
          </p:nvPr>
        </p:nvSpPr>
        <p:spPr>
          <a:xfrm>
            <a:off x="9725" y="806325"/>
            <a:ext cx="5075700" cy="16707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latin typeface="Roboto"/>
                <a:ea typeface="Roboto"/>
                <a:cs typeface="Roboto"/>
                <a:sym typeface="Roboto"/>
              </a:rPr>
              <a:t>The planning step is an interaction between the organization and the pen testing team. It helps pen testers thoroughly understand the client’s needs before beginning the test.</a:t>
            </a:r>
            <a:endParaRPr>
              <a:latin typeface="Roboto"/>
              <a:ea typeface="Roboto"/>
              <a:cs typeface="Roboto"/>
              <a:sym typeface="Roboto"/>
            </a:endParaRPr>
          </a:p>
        </p:txBody>
      </p:sp>
      <p:sp>
        <p:nvSpPr>
          <p:cNvPr id="1354" name="Google Shape;1354;p178"/>
          <p:cNvSpPr txBox="1"/>
          <p:nvPr>
            <p:ph idx="1" type="body"/>
          </p:nvPr>
        </p:nvSpPr>
        <p:spPr>
          <a:xfrm>
            <a:off x="26450" y="2523400"/>
            <a:ext cx="4662600" cy="2442600"/>
          </a:xfrm>
          <a:prstGeom prst="rect">
            <a:avLst/>
          </a:prstGeom>
          <a:noFill/>
          <a:ln>
            <a:noFill/>
          </a:ln>
        </p:spPr>
        <p:txBody>
          <a:bodyPr anchorCtr="0" anchor="t" bIns="91425" lIns="457200" spcFirstLastPara="1" rIns="27430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Most businesses’ primary interest is not how attackers might gain access to their networks.</a:t>
            </a:r>
            <a:endParaRPr/>
          </a:p>
          <a:p>
            <a:pPr indent="0" lvl="0" marL="0" rtl="0" algn="l">
              <a:lnSpc>
                <a:spcPct val="100000"/>
              </a:lnSpc>
              <a:spcBef>
                <a:spcPts val="1200"/>
              </a:spcBef>
              <a:spcAft>
                <a:spcPts val="800"/>
              </a:spcAft>
              <a:buClr>
                <a:schemeClr val="dk1"/>
              </a:buClr>
              <a:buSzPts val="1100"/>
              <a:buFont typeface="Arial"/>
              <a:buNone/>
            </a:pPr>
            <a:r>
              <a:rPr lang="en"/>
              <a:t>Instead, their main concern is the major consequences that an exploited vulnerability may have for their reputation, operations, or bottom line.</a:t>
            </a:r>
            <a:endParaRPr sz="2000"/>
          </a:p>
        </p:txBody>
      </p:sp>
      <p:pic>
        <p:nvPicPr>
          <p:cNvPr id="1355" name="Google Shape;1355;p178"/>
          <p:cNvPicPr preferRelativeResize="0"/>
          <p:nvPr/>
        </p:nvPicPr>
        <p:blipFill rotWithShape="1">
          <a:blip r:embed="rId3">
            <a:alphaModFix/>
          </a:blip>
          <a:srcRect b="0" l="0" r="0" t="0"/>
          <a:stretch/>
        </p:blipFill>
        <p:spPr>
          <a:xfrm>
            <a:off x="5264425" y="1329800"/>
            <a:ext cx="3191900" cy="3191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pic>
        <p:nvPicPr>
          <p:cNvPr id="1360" name="Google Shape;1360;p179"/>
          <p:cNvPicPr preferRelativeResize="0"/>
          <p:nvPr/>
        </p:nvPicPr>
        <p:blipFill rotWithShape="1">
          <a:blip r:embed="rId3">
            <a:alphaModFix/>
          </a:blip>
          <a:srcRect b="8280" l="4220" r="4229" t="5912"/>
          <a:stretch/>
        </p:blipFill>
        <p:spPr>
          <a:xfrm>
            <a:off x="0" y="0"/>
            <a:ext cx="9144003" cy="5143500"/>
          </a:xfrm>
          <a:prstGeom prst="rect">
            <a:avLst/>
          </a:prstGeom>
          <a:noFill/>
          <a:ln>
            <a:noFill/>
          </a:ln>
        </p:spPr>
      </p:pic>
      <p:sp>
        <p:nvSpPr>
          <p:cNvPr id="1361" name="Google Shape;1361;p179"/>
          <p:cNvSpPr txBox="1"/>
          <p:nvPr/>
        </p:nvSpPr>
        <p:spPr>
          <a:xfrm>
            <a:off x="2207700" y="2310625"/>
            <a:ext cx="2033700" cy="184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800" u="none" cap="none" strike="noStrike">
                <a:solidFill>
                  <a:schemeClr val="dk2"/>
                </a:solidFill>
                <a:latin typeface="Roboto"/>
                <a:ea typeface="Roboto"/>
                <a:cs typeface="Roboto"/>
                <a:sym typeface="Roboto"/>
              </a:rPr>
              <a:t>Purpose</a:t>
            </a:r>
            <a:endParaRPr b="0" i="0" sz="1400" u="none" cap="none" strike="noStrike">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chemeClr val="dk1"/>
              </a:buClr>
              <a:buSzPts val="1100"/>
              <a:buFont typeface="Arial"/>
              <a:buNone/>
            </a:pPr>
            <a:r>
              <a:rPr i="0" lang="en" u="none" cap="none" strike="noStrike">
                <a:solidFill>
                  <a:schemeClr val="accent5"/>
                </a:solidFill>
                <a:latin typeface="Roboto"/>
                <a:ea typeface="Roboto"/>
                <a:cs typeface="Roboto"/>
                <a:sym typeface="Roboto"/>
              </a:rPr>
              <a:t>is defined by the business’s needs and </a:t>
            </a:r>
            <a:r>
              <a:rPr lang="en">
                <a:solidFill>
                  <a:schemeClr val="accent5"/>
                </a:solidFill>
                <a:latin typeface="Roboto"/>
                <a:ea typeface="Roboto"/>
                <a:cs typeface="Roboto"/>
                <a:sym typeface="Roboto"/>
              </a:rPr>
              <a:t>the</a:t>
            </a:r>
            <a:r>
              <a:rPr i="0" lang="en" u="none" cap="none" strike="noStrike">
                <a:solidFill>
                  <a:schemeClr val="accent5"/>
                </a:solidFill>
                <a:latin typeface="Roboto"/>
                <a:ea typeface="Roboto"/>
                <a:cs typeface="Roboto"/>
                <a:sym typeface="Roboto"/>
              </a:rPr>
              <a:t> assets the business is most interested in </a:t>
            </a:r>
            <a:br>
              <a:rPr i="0" lang="en" u="none" cap="none" strike="noStrike">
                <a:solidFill>
                  <a:schemeClr val="accent5"/>
                </a:solidFill>
                <a:latin typeface="Roboto"/>
                <a:ea typeface="Roboto"/>
                <a:cs typeface="Roboto"/>
                <a:sym typeface="Roboto"/>
              </a:rPr>
            </a:br>
            <a:r>
              <a:rPr i="0" lang="en" u="none" cap="none" strike="noStrike">
                <a:solidFill>
                  <a:schemeClr val="accent5"/>
                </a:solidFill>
                <a:latin typeface="Roboto"/>
                <a:ea typeface="Roboto"/>
                <a:cs typeface="Roboto"/>
                <a:sym typeface="Roboto"/>
              </a:rPr>
              <a:t>protecting.</a:t>
            </a:r>
            <a:endParaRPr i="0" sz="1500" u="none" cap="none" strike="noStrike">
              <a:solidFill>
                <a:schemeClr val="accent5"/>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Roboto"/>
              <a:ea typeface="Roboto"/>
              <a:cs typeface="Roboto"/>
              <a:sym typeface="Roboto"/>
            </a:endParaRPr>
          </a:p>
        </p:txBody>
      </p:sp>
      <p:sp>
        <p:nvSpPr>
          <p:cNvPr id="1362" name="Google Shape;1362;p179"/>
          <p:cNvSpPr txBox="1"/>
          <p:nvPr/>
        </p:nvSpPr>
        <p:spPr>
          <a:xfrm>
            <a:off x="4937700" y="2310625"/>
            <a:ext cx="2033700" cy="184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800" u="none" cap="none" strike="noStrike">
                <a:solidFill>
                  <a:schemeClr val="dk2"/>
                </a:solidFill>
                <a:latin typeface="Roboto"/>
                <a:ea typeface="Roboto"/>
                <a:cs typeface="Roboto"/>
                <a:sym typeface="Roboto"/>
              </a:rPr>
              <a:t>Scope</a:t>
            </a:r>
            <a:endParaRPr b="0" i="0" sz="1400" u="none" cap="none" strike="noStrike">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chemeClr val="dk1"/>
              </a:buClr>
              <a:buSzPts val="1100"/>
              <a:buFont typeface="Arial"/>
              <a:buNone/>
            </a:pPr>
            <a:r>
              <a:rPr i="0" lang="en" sz="1500" u="none" cap="none" strike="noStrike">
                <a:solidFill>
                  <a:schemeClr val="dk2"/>
                </a:solidFill>
                <a:latin typeface="Roboto"/>
                <a:ea typeface="Roboto"/>
                <a:cs typeface="Roboto"/>
                <a:sym typeface="Roboto"/>
              </a:rPr>
              <a:t>is defined by which machines and networks are off limits to pen testers.</a:t>
            </a:r>
            <a:endParaRPr i="0" sz="1600" u="none" cap="none" strike="noStrike">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Roboto"/>
              <a:ea typeface="Roboto"/>
              <a:cs typeface="Roboto"/>
              <a:sym typeface="Roboto"/>
            </a:endParaRPr>
          </a:p>
        </p:txBody>
      </p:sp>
      <p:sp>
        <p:nvSpPr>
          <p:cNvPr id="1363" name="Google Shape;1363;p179"/>
          <p:cNvSpPr txBox="1"/>
          <p:nvPr/>
        </p:nvSpPr>
        <p:spPr>
          <a:xfrm>
            <a:off x="352075" y="4867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Purpose and Scope</a:t>
            </a:r>
            <a:endParaRPr sz="2600">
              <a:solidFill>
                <a:schemeClr val="dk2"/>
              </a:solidFill>
              <a:latin typeface="Roboto Light"/>
              <a:ea typeface="Roboto Light"/>
              <a:cs typeface="Roboto Light"/>
              <a:sym typeface="Roboto Light"/>
            </a:endParaRPr>
          </a:p>
        </p:txBody>
      </p:sp>
      <p:sp>
        <p:nvSpPr>
          <p:cNvPr id="1364" name="Google Shape;1364;p179"/>
          <p:cNvSpPr txBox="1"/>
          <p:nvPr>
            <p:ph idx="1" type="body"/>
          </p:nvPr>
        </p:nvSpPr>
        <p:spPr>
          <a:xfrm>
            <a:off x="0" y="457189"/>
            <a:ext cx="8380200" cy="1214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Planning usually begins with a kick-off meeting, during which clients work with pen testers to determine the purpose and scope of the project.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80"/>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Phase 1: Planning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70" name="Google Shape;1370;p180"/>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primary deliverable from this stage is a document summarizing the:</a:t>
            </a:r>
            <a:endParaRPr/>
          </a:p>
        </p:txBody>
      </p:sp>
      <p:grpSp>
        <p:nvGrpSpPr>
          <p:cNvPr id="1371" name="Google Shape;1371;p180"/>
          <p:cNvGrpSpPr/>
          <p:nvPr/>
        </p:nvGrpSpPr>
        <p:grpSpPr>
          <a:xfrm>
            <a:off x="-3" y="1296817"/>
            <a:ext cx="8686828" cy="400200"/>
            <a:chOff x="-3" y="1885788"/>
            <a:chExt cx="8686828" cy="400200"/>
          </a:xfrm>
        </p:grpSpPr>
        <p:cxnSp>
          <p:nvCxnSpPr>
            <p:cNvPr id="1372" name="Google Shape;1372;p180"/>
            <p:cNvCxnSpPr/>
            <p:nvPr/>
          </p:nvCxnSpPr>
          <p:spPr>
            <a:xfrm>
              <a:off x="-3" y="2085888"/>
              <a:ext cx="662400" cy="0"/>
            </a:xfrm>
            <a:prstGeom prst="straightConnector1">
              <a:avLst/>
            </a:prstGeom>
            <a:noFill/>
            <a:ln cap="flat" cmpd="sng" w="19050">
              <a:solidFill>
                <a:srgbClr val="2E5E73"/>
              </a:solidFill>
              <a:prstDash val="solid"/>
              <a:round/>
              <a:headEnd len="sm" w="sm" type="none"/>
              <a:tailEnd len="med" w="med" type="oval"/>
            </a:ln>
          </p:spPr>
        </p:cxnSp>
        <p:cxnSp>
          <p:nvCxnSpPr>
            <p:cNvPr id="1373" name="Google Shape;1373;p180"/>
            <p:cNvCxnSpPr/>
            <p:nvPr/>
          </p:nvCxnSpPr>
          <p:spPr>
            <a:xfrm>
              <a:off x="-3" y="2085888"/>
              <a:ext cx="672900" cy="0"/>
            </a:xfrm>
            <a:prstGeom prst="straightConnector1">
              <a:avLst/>
            </a:prstGeom>
            <a:noFill/>
            <a:ln cap="flat" cmpd="sng" w="19050">
              <a:solidFill>
                <a:srgbClr val="2E5E73"/>
              </a:solidFill>
              <a:prstDash val="solid"/>
              <a:round/>
              <a:headEnd len="sm" w="sm" type="none"/>
              <a:tailEnd len="med" w="med" type="oval"/>
            </a:ln>
          </p:spPr>
        </p:cxnSp>
        <p:sp>
          <p:nvSpPr>
            <p:cNvPr id="1374" name="Google Shape;1374;p180"/>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80"/>
            <p:cNvSpPr/>
            <p:nvPr/>
          </p:nvSpPr>
          <p:spPr>
            <a:xfrm>
              <a:off x="513600" y="1924338"/>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376" name="Google Shape;1376;p180"/>
            <p:cNvSpPr/>
            <p:nvPr/>
          </p:nvSpPr>
          <p:spPr>
            <a:xfrm>
              <a:off x="593400" y="20041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377" name="Google Shape;1377;p180"/>
          <p:cNvGrpSpPr/>
          <p:nvPr/>
        </p:nvGrpSpPr>
        <p:grpSpPr>
          <a:xfrm>
            <a:off x="-3" y="1982559"/>
            <a:ext cx="8686828" cy="400200"/>
            <a:chOff x="-3" y="2566213"/>
            <a:chExt cx="8686828" cy="400200"/>
          </a:xfrm>
        </p:grpSpPr>
        <p:cxnSp>
          <p:nvCxnSpPr>
            <p:cNvPr id="1378" name="Google Shape;1378;p180"/>
            <p:cNvCxnSpPr/>
            <p:nvPr/>
          </p:nvCxnSpPr>
          <p:spPr>
            <a:xfrm>
              <a:off x="-3" y="2766313"/>
              <a:ext cx="666300" cy="0"/>
            </a:xfrm>
            <a:prstGeom prst="straightConnector1">
              <a:avLst/>
            </a:prstGeom>
            <a:noFill/>
            <a:ln cap="flat" cmpd="sng" w="19050">
              <a:solidFill>
                <a:srgbClr val="2E5E73"/>
              </a:solidFill>
              <a:prstDash val="solid"/>
              <a:round/>
              <a:headEnd len="sm" w="sm" type="none"/>
              <a:tailEnd len="med" w="med" type="oval"/>
            </a:ln>
          </p:spPr>
        </p:cxnSp>
        <p:sp>
          <p:nvSpPr>
            <p:cNvPr id="1379" name="Google Shape;1379;p180"/>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80"/>
            <p:cNvSpPr/>
            <p:nvPr/>
          </p:nvSpPr>
          <p:spPr>
            <a:xfrm>
              <a:off x="513600" y="2604763"/>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381" name="Google Shape;1381;p180"/>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382" name="Google Shape;1382;p180"/>
          <p:cNvGrpSpPr/>
          <p:nvPr/>
        </p:nvGrpSpPr>
        <p:grpSpPr>
          <a:xfrm>
            <a:off x="-3" y="2668301"/>
            <a:ext cx="8684268" cy="402300"/>
            <a:chOff x="-3" y="3236976"/>
            <a:chExt cx="8684268" cy="402300"/>
          </a:xfrm>
        </p:grpSpPr>
        <p:cxnSp>
          <p:nvCxnSpPr>
            <p:cNvPr id="1383" name="Google Shape;1383;p180"/>
            <p:cNvCxnSpPr/>
            <p:nvPr/>
          </p:nvCxnSpPr>
          <p:spPr>
            <a:xfrm>
              <a:off x="-3" y="3438126"/>
              <a:ext cx="686400" cy="0"/>
            </a:xfrm>
            <a:prstGeom prst="straightConnector1">
              <a:avLst/>
            </a:prstGeom>
            <a:noFill/>
            <a:ln cap="flat" cmpd="sng" w="19050">
              <a:solidFill>
                <a:srgbClr val="2E5E73"/>
              </a:solidFill>
              <a:prstDash val="solid"/>
              <a:round/>
              <a:headEnd len="sm" w="sm" type="none"/>
              <a:tailEnd len="med" w="med" type="oval"/>
            </a:ln>
          </p:spPr>
        </p:cxnSp>
        <p:sp>
          <p:nvSpPr>
            <p:cNvPr id="1384" name="Google Shape;1384;p180"/>
            <p:cNvSpPr/>
            <p:nvPr/>
          </p:nvSpPr>
          <p:spPr>
            <a:xfrm>
              <a:off x="593565" y="3236976"/>
              <a:ext cx="8090700" cy="40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80"/>
            <p:cNvSpPr/>
            <p:nvPr/>
          </p:nvSpPr>
          <p:spPr>
            <a:xfrm>
              <a:off x="511040" y="3275676"/>
              <a:ext cx="323100" cy="3249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386" name="Google Shape;1386;p180"/>
            <p:cNvSpPr/>
            <p:nvPr/>
          </p:nvSpPr>
          <p:spPr>
            <a:xfrm>
              <a:off x="590840" y="3355926"/>
              <a:ext cx="163500" cy="164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387" name="Google Shape;1387;p180"/>
          <p:cNvSpPr txBox="1"/>
          <p:nvPr/>
        </p:nvSpPr>
        <p:spPr>
          <a:xfrm>
            <a:off x="914400" y="131386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Engagement’s purpose </a:t>
            </a:r>
            <a:endParaRPr sz="1800">
              <a:solidFill>
                <a:srgbClr val="082D49"/>
              </a:solidFill>
              <a:latin typeface="Roboto"/>
              <a:ea typeface="Roboto"/>
              <a:cs typeface="Roboto"/>
              <a:sym typeface="Roboto"/>
            </a:endParaRPr>
          </a:p>
        </p:txBody>
      </p:sp>
      <p:sp>
        <p:nvSpPr>
          <p:cNvPr id="1388" name="Google Shape;1388;p180"/>
          <p:cNvSpPr txBox="1"/>
          <p:nvPr/>
        </p:nvSpPr>
        <p:spPr>
          <a:xfrm>
            <a:off x="914400" y="199939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Scope</a:t>
            </a:r>
            <a:endParaRPr sz="1800">
              <a:solidFill>
                <a:srgbClr val="082D49"/>
              </a:solidFill>
              <a:latin typeface="Roboto"/>
              <a:ea typeface="Roboto"/>
              <a:cs typeface="Roboto"/>
              <a:sym typeface="Roboto"/>
            </a:endParaRPr>
          </a:p>
        </p:txBody>
      </p:sp>
      <p:sp>
        <p:nvSpPr>
          <p:cNvPr id="1389" name="Google Shape;1389;p180"/>
          <p:cNvSpPr txBox="1"/>
          <p:nvPr/>
        </p:nvSpPr>
        <p:spPr>
          <a:xfrm>
            <a:off x="914400" y="268493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Associated details such as timeframe and emergency contacts</a:t>
            </a:r>
            <a:endParaRPr sz="1800">
              <a:solidFill>
                <a:srgbClr val="082D49"/>
              </a:solidFill>
              <a:latin typeface="Roboto"/>
              <a:ea typeface="Roboto"/>
              <a:cs typeface="Roboto"/>
              <a:sym typeface="Roboto"/>
            </a:endParaRPr>
          </a:p>
        </p:txBody>
      </p:sp>
      <p:pic>
        <p:nvPicPr>
          <p:cNvPr id="1390" name="Google Shape;1390;p180"/>
          <p:cNvPicPr preferRelativeResize="0"/>
          <p:nvPr/>
        </p:nvPicPr>
        <p:blipFill>
          <a:blip r:embed="rId3">
            <a:alphaModFix/>
          </a:blip>
          <a:stretch>
            <a:fillRect/>
          </a:stretch>
        </p:blipFill>
        <p:spPr>
          <a:xfrm>
            <a:off x="232225" y="278675"/>
            <a:ext cx="494950" cy="449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81"/>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Types </a:t>
            </a:r>
            <a:r>
              <a:rPr b="0" lang="en">
                <a:latin typeface="Roboto"/>
                <a:ea typeface="Roboto"/>
                <a:cs typeface="Roboto"/>
                <a:sym typeface="Roboto"/>
              </a:rPr>
              <a:t>of Penetration Testing</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396" name="Google Shape;1396;p181"/>
          <p:cNvPicPr preferRelativeResize="0"/>
          <p:nvPr/>
        </p:nvPicPr>
        <p:blipFill rotWithShape="1">
          <a:blip r:embed="rId3">
            <a:alphaModFix/>
          </a:blip>
          <a:srcRect b="0" l="0" r="0" t="0"/>
          <a:stretch/>
        </p:blipFill>
        <p:spPr>
          <a:xfrm>
            <a:off x="4064536" y="1702335"/>
            <a:ext cx="1014925" cy="1014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82"/>
          <p:cNvSpPr txBox="1"/>
          <p:nvPr/>
        </p:nvSpPr>
        <p:spPr>
          <a:xfrm>
            <a:off x="349359" y="237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Types of Penetration Testing</a:t>
            </a:r>
            <a:endParaRPr sz="2600">
              <a:solidFill>
                <a:schemeClr val="dk2"/>
              </a:solidFill>
              <a:latin typeface="Roboto Light"/>
              <a:ea typeface="Roboto Light"/>
              <a:cs typeface="Roboto Light"/>
              <a:sym typeface="Roboto Light"/>
            </a:endParaRPr>
          </a:p>
        </p:txBody>
      </p:sp>
      <p:sp>
        <p:nvSpPr>
          <p:cNvPr id="1402" name="Google Shape;1402;p182"/>
          <p:cNvSpPr txBox="1"/>
          <p:nvPr>
            <p:ph idx="4294967295" type="subTitle"/>
          </p:nvPr>
        </p:nvSpPr>
        <p:spPr>
          <a:xfrm>
            <a:off x="-9093" y="492647"/>
            <a:ext cx="9144000" cy="3648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There are three types of penetration tests:</a:t>
            </a:r>
            <a:endParaRPr/>
          </a:p>
        </p:txBody>
      </p:sp>
      <p:sp>
        <p:nvSpPr>
          <p:cNvPr id="1403" name="Google Shape;1403;p182"/>
          <p:cNvSpPr txBox="1"/>
          <p:nvPr>
            <p:ph idx="1" type="body"/>
          </p:nvPr>
        </p:nvSpPr>
        <p:spPr>
          <a:xfrm>
            <a:off x="302125" y="4014225"/>
            <a:ext cx="2425500" cy="364800"/>
          </a:xfrm>
          <a:prstGeom prst="rect">
            <a:avLst/>
          </a:prstGeom>
          <a:noFill/>
          <a:ln>
            <a:noFill/>
          </a:ln>
        </p:spPr>
        <p:txBody>
          <a:bodyPr anchorCtr="0" anchor="t" bIns="914400" lIns="457200" spcFirstLastPara="1" rIns="457200" wrap="square" tIns="0">
            <a:noAutofit/>
          </a:bodyPr>
          <a:lstStyle/>
          <a:p>
            <a:pPr indent="0" lvl="0" marL="0" rtl="0" algn="ctr">
              <a:lnSpc>
                <a:spcPct val="100000"/>
              </a:lnSpc>
              <a:spcBef>
                <a:spcPts val="0"/>
              </a:spcBef>
              <a:spcAft>
                <a:spcPts val="800"/>
              </a:spcAft>
              <a:buSzPts val="1400"/>
              <a:buNone/>
            </a:pPr>
            <a:r>
              <a:rPr lang="en"/>
              <a:t>Also known as</a:t>
            </a:r>
            <a:br>
              <a:rPr b="1" lang="en"/>
            </a:br>
            <a:r>
              <a:rPr b="1" lang="en"/>
              <a:t>black box</a:t>
            </a:r>
            <a:endParaRPr b="1"/>
          </a:p>
        </p:txBody>
      </p:sp>
      <p:pic>
        <p:nvPicPr>
          <p:cNvPr id="1404" name="Google Shape;1404;p182"/>
          <p:cNvPicPr preferRelativeResize="0"/>
          <p:nvPr/>
        </p:nvPicPr>
        <p:blipFill rotWithShape="1">
          <a:blip r:embed="rId3">
            <a:alphaModFix/>
          </a:blip>
          <a:srcRect b="0" l="0" r="0" t="0"/>
          <a:stretch/>
        </p:blipFill>
        <p:spPr>
          <a:xfrm>
            <a:off x="200150" y="2091200"/>
            <a:ext cx="8839201" cy="1741455"/>
          </a:xfrm>
          <a:prstGeom prst="rect">
            <a:avLst/>
          </a:prstGeom>
          <a:noFill/>
          <a:ln>
            <a:noFill/>
          </a:ln>
        </p:spPr>
      </p:pic>
      <p:pic>
        <p:nvPicPr>
          <p:cNvPr id="1405" name="Google Shape;1405;p182"/>
          <p:cNvPicPr preferRelativeResize="0"/>
          <p:nvPr/>
        </p:nvPicPr>
        <p:blipFill rotWithShape="1">
          <a:blip r:embed="rId4">
            <a:alphaModFix/>
          </a:blip>
          <a:srcRect b="0" l="0" r="0" t="0"/>
          <a:stretch/>
        </p:blipFill>
        <p:spPr>
          <a:xfrm>
            <a:off x="2727613" y="1049225"/>
            <a:ext cx="827470" cy="3662574"/>
          </a:xfrm>
          <a:prstGeom prst="rect">
            <a:avLst/>
          </a:prstGeom>
          <a:noFill/>
          <a:ln>
            <a:noFill/>
          </a:ln>
        </p:spPr>
      </p:pic>
      <p:pic>
        <p:nvPicPr>
          <p:cNvPr id="1406" name="Google Shape;1406;p182"/>
          <p:cNvPicPr preferRelativeResize="0"/>
          <p:nvPr/>
        </p:nvPicPr>
        <p:blipFill rotWithShape="1">
          <a:blip r:embed="rId4">
            <a:alphaModFix/>
          </a:blip>
          <a:srcRect b="0" l="0" r="0" t="0"/>
          <a:stretch/>
        </p:blipFill>
        <p:spPr>
          <a:xfrm>
            <a:off x="5873313" y="1049225"/>
            <a:ext cx="827470" cy="3662574"/>
          </a:xfrm>
          <a:prstGeom prst="rect">
            <a:avLst/>
          </a:prstGeom>
          <a:noFill/>
          <a:ln>
            <a:noFill/>
          </a:ln>
        </p:spPr>
      </p:pic>
      <p:sp>
        <p:nvSpPr>
          <p:cNvPr id="1407" name="Google Shape;1407;p182"/>
          <p:cNvSpPr txBox="1"/>
          <p:nvPr/>
        </p:nvSpPr>
        <p:spPr>
          <a:xfrm>
            <a:off x="302125" y="1445225"/>
            <a:ext cx="2425500" cy="46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0" lang="en" sz="1800" u="none" cap="none" strike="noStrike">
                <a:solidFill>
                  <a:schemeClr val="dk2"/>
                </a:solidFill>
                <a:latin typeface="Roboto Medium"/>
                <a:ea typeface="Roboto Medium"/>
                <a:cs typeface="Roboto Medium"/>
                <a:sym typeface="Roboto Medium"/>
              </a:rPr>
              <a:t>No </a:t>
            </a:r>
            <a:r>
              <a:rPr lang="en" sz="1800">
                <a:solidFill>
                  <a:schemeClr val="dk2"/>
                </a:solidFill>
                <a:latin typeface="Roboto Medium"/>
                <a:ea typeface="Roboto Medium"/>
                <a:cs typeface="Roboto Medium"/>
                <a:sym typeface="Roboto Medium"/>
              </a:rPr>
              <a:t>v</a:t>
            </a:r>
            <a:r>
              <a:rPr i="0" lang="en" sz="1800" u="none" cap="none" strike="noStrike">
                <a:solidFill>
                  <a:schemeClr val="dk2"/>
                </a:solidFill>
                <a:latin typeface="Roboto Medium"/>
                <a:ea typeface="Roboto Medium"/>
                <a:cs typeface="Roboto Medium"/>
                <a:sym typeface="Roboto Medium"/>
              </a:rPr>
              <a:t>iew</a:t>
            </a:r>
            <a:endParaRPr i="0" sz="1800" u="none" cap="none" strike="noStrike">
              <a:solidFill>
                <a:schemeClr val="dk2"/>
              </a:solidFill>
              <a:latin typeface="Roboto Medium"/>
              <a:ea typeface="Roboto Medium"/>
              <a:cs typeface="Roboto Medium"/>
              <a:sym typeface="Roboto Medium"/>
            </a:endParaRPr>
          </a:p>
        </p:txBody>
      </p:sp>
      <p:sp>
        <p:nvSpPr>
          <p:cNvPr id="1408" name="Google Shape;1408;p182"/>
          <p:cNvSpPr txBox="1"/>
          <p:nvPr>
            <p:ph idx="1" type="body"/>
          </p:nvPr>
        </p:nvSpPr>
        <p:spPr>
          <a:xfrm>
            <a:off x="3345550" y="4014225"/>
            <a:ext cx="2425500" cy="364800"/>
          </a:xfrm>
          <a:prstGeom prst="rect">
            <a:avLst/>
          </a:prstGeom>
          <a:noFill/>
          <a:ln>
            <a:noFill/>
          </a:ln>
        </p:spPr>
        <p:txBody>
          <a:bodyPr anchorCtr="0" anchor="t" bIns="914400" lIns="457200" spcFirstLastPara="1" rIns="457200" wrap="square" tIns="0">
            <a:noAutofit/>
          </a:bodyPr>
          <a:lstStyle/>
          <a:p>
            <a:pPr indent="0" lvl="0" marL="0" rtl="0" algn="ctr">
              <a:lnSpc>
                <a:spcPct val="100000"/>
              </a:lnSpc>
              <a:spcBef>
                <a:spcPts val="0"/>
              </a:spcBef>
              <a:spcAft>
                <a:spcPts val="0"/>
              </a:spcAft>
              <a:buSzPts val="1400"/>
              <a:buNone/>
            </a:pPr>
            <a:r>
              <a:rPr lang="en"/>
              <a:t>Also known as</a:t>
            </a:r>
            <a:endParaRPr/>
          </a:p>
          <a:p>
            <a:pPr indent="0" lvl="0" marL="0" rtl="0" algn="ctr">
              <a:lnSpc>
                <a:spcPct val="100000"/>
              </a:lnSpc>
              <a:spcBef>
                <a:spcPts val="0"/>
              </a:spcBef>
              <a:spcAft>
                <a:spcPts val="0"/>
              </a:spcAft>
              <a:buSzPts val="1400"/>
              <a:buNone/>
            </a:pPr>
            <a:r>
              <a:rPr b="1" lang="en"/>
              <a:t>white box</a:t>
            </a:r>
            <a:endParaRPr b="1"/>
          </a:p>
        </p:txBody>
      </p:sp>
      <p:sp>
        <p:nvSpPr>
          <p:cNvPr id="1409" name="Google Shape;1409;p182"/>
          <p:cNvSpPr txBox="1"/>
          <p:nvPr>
            <p:ph idx="4294967295" type="subTitle"/>
          </p:nvPr>
        </p:nvSpPr>
        <p:spPr>
          <a:xfrm>
            <a:off x="6444163" y="4014225"/>
            <a:ext cx="2425500" cy="364800"/>
          </a:xfrm>
          <a:prstGeom prst="rect">
            <a:avLst/>
          </a:prstGeom>
          <a:noFill/>
          <a:ln>
            <a:noFill/>
          </a:ln>
        </p:spPr>
        <p:txBody>
          <a:bodyPr anchorCtr="0" anchor="t" bIns="0" lIns="274300" spcFirstLastPara="1" rIns="0" wrap="square" tIns="45700">
            <a:noAutofit/>
          </a:bodyPr>
          <a:lstStyle/>
          <a:p>
            <a:pPr indent="0" lvl="0" marL="0" rtl="0" algn="ctr">
              <a:lnSpc>
                <a:spcPct val="100000"/>
              </a:lnSpc>
              <a:spcBef>
                <a:spcPts val="0"/>
              </a:spcBef>
              <a:spcAft>
                <a:spcPts val="0"/>
              </a:spcAft>
              <a:buSzPts val="1400"/>
              <a:buNone/>
            </a:pPr>
            <a:r>
              <a:rPr lang="en"/>
              <a:t>Also known as</a:t>
            </a:r>
            <a:endParaRPr/>
          </a:p>
          <a:p>
            <a:pPr indent="0" lvl="0" marL="0" rtl="0" algn="ctr">
              <a:lnSpc>
                <a:spcPct val="100000"/>
              </a:lnSpc>
              <a:spcBef>
                <a:spcPts val="0"/>
              </a:spcBef>
              <a:spcAft>
                <a:spcPts val="0"/>
              </a:spcAft>
              <a:buSzPts val="1400"/>
              <a:buNone/>
            </a:pPr>
            <a:r>
              <a:rPr b="1" lang="en"/>
              <a:t>gray box</a:t>
            </a:r>
            <a:endParaRPr b="1"/>
          </a:p>
        </p:txBody>
      </p:sp>
      <p:sp>
        <p:nvSpPr>
          <p:cNvPr id="1410" name="Google Shape;1410;p182"/>
          <p:cNvSpPr txBox="1"/>
          <p:nvPr/>
        </p:nvSpPr>
        <p:spPr>
          <a:xfrm>
            <a:off x="3345550" y="1445225"/>
            <a:ext cx="2425500" cy="46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0" lang="en" sz="1800" u="none" cap="none" strike="noStrike">
                <a:solidFill>
                  <a:schemeClr val="dk2"/>
                </a:solidFill>
                <a:latin typeface="Roboto Medium"/>
                <a:ea typeface="Roboto Medium"/>
                <a:cs typeface="Roboto Medium"/>
                <a:sym typeface="Roboto Medium"/>
              </a:rPr>
              <a:t>Full </a:t>
            </a:r>
            <a:r>
              <a:rPr lang="en" sz="1800">
                <a:solidFill>
                  <a:schemeClr val="dk2"/>
                </a:solidFill>
                <a:latin typeface="Roboto Medium"/>
                <a:ea typeface="Roboto Medium"/>
                <a:cs typeface="Roboto Medium"/>
                <a:sym typeface="Roboto Medium"/>
              </a:rPr>
              <a:t>v</a:t>
            </a:r>
            <a:r>
              <a:rPr i="0" lang="en" sz="1800" u="none" cap="none" strike="noStrike">
                <a:solidFill>
                  <a:schemeClr val="dk2"/>
                </a:solidFill>
                <a:latin typeface="Roboto Medium"/>
                <a:ea typeface="Roboto Medium"/>
                <a:cs typeface="Roboto Medium"/>
                <a:sym typeface="Roboto Medium"/>
              </a:rPr>
              <a:t>iew</a:t>
            </a:r>
            <a:endParaRPr i="0" sz="1800" u="none" cap="none" strike="noStrike">
              <a:solidFill>
                <a:schemeClr val="dk2"/>
              </a:solidFill>
              <a:latin typeface="Roboto Medium"/>
              <a:ea typeface="Roboto Medium"/>
              <a:cs typeface="Roboto Medium"/>
              <a:sym typeface="Roboto Medium"/>
            </a:endParaRPr>
          </a:p>
        </p:txBody>
      </p:sp>
      <p:sp>
        <p:nvSpPr>
          <p:cNvPr id="1411" name="Google Shape;1411;p182"/>
          <p:cNvSpPr txBox="1"/>
          <p:nvPr/>
        </p:nvSpPr>
        <p:spPr>
          <a:xfrm>
            <a:off x="6444163" y="1445225"/>
            <a:ext cx="2425500" cy="46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0" lang="en" sz="1800" u="none" cap="none" strike="noStrike">
                <a:solidFill>
                  <a:schemeClr val="dk2"/>
                </a:solidFill>
                <a:latin typeface="Roboto Medium"/>
                <a:ea typeface="Roboto Medium"/>
                <a:cs typeface="Roboto Medium"/>
                <a:sym typeface="Roboto Medium"/>
              </a:rPr>
              <a:t>Partial </a:t>
            </a:r>
            <a:r>
              <a:rPr lang="en" sz="1800">
                <a:solidFill>
                  <a:schemeClr val="dk2"/>
                </a:solidFill>
                <a:latin typeface="Roboto Medium"/>
                <a:ea typeface="Roboto Medium"/>
                <a:cs typeface="Roboto Medium"/>
                <a:sym typeface="Roboto Medium"/>
              </a:rPr>
              <a:t>v</a:t>
            </a:r>
            <a:r>
              <a:rPr i="0" lang="en" sz="1800" u="none" cap="none" strike="noStrike">
                <a:solidFill>
                  <a:schemeClr val="dk2"/>
                </a:solidFill>
                <a:latin typeface="Roboto Medium"/>
                <a:ea typeface="Roboto Medium"/>
                <a:cs typeface="Roboto Medium"/>
                <a:sym typeface="Roboto Medium"/>
              </a:rPr>
              <a:t>iew</a:t>
            </a:r>
            <a:endParaRPr i="0" sz="1800" u="none" cap="none" strike="noStrike">
              <a:solidFill>
                <a:schemeClr val="dk2"/>
              </a:solidFill>
              <a:latin typeface="Roboto Medium"/>
              <a:ea typeface="Roboto Medium"/>
              <a:cs typeface="Roboto Medium"/>
              <a:sym typeface="Roboto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183"/>
          <p:cNvSpPr txBox="1"/>
          <p:nvPr/>
        </p:nvSpPr>
        <p:spPr>
          <a:xfrm>
            <a:off x="363723" y="237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No-View Pen Testing</a:t>
            </a:r>
            <a:endParaRPr sz="2600">
              <a:solidFill>
                <a:schemeClr val="dk2"/>
              </a:solidFill>
              <a:latin typeface="Roboto Light"/>
              <a:ea typeface="Roboto Light"/>
              <a:cs typeface="Roboto Light"/>
              <a:sym typeface="Roboto Light"/>
            </a:endParaRPr>
          </a:p>
        </p:txBody>
      </p:sp>
      <p:sp>
        <p:nvSpPr>
          <p:cNvPr id="1417" name="Google Shape;1417;p183"/>
          <p:cNvSpPr txBox="1"/>
          <p:nvPr>
            <p:ph idx="4294967295" type="subTitle"/>
          </p:nvPr>
        </p:nvSpPr>
        <p:spPr>
          <a:xfrm>
            <a:off x="-17927" y="492650"/>
            <a:ext cx="88812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In no-view testing, the pen tester simulates a malicious hacker who has no prior knowledge of the target system and network:</a:t>
            </a:r>
            <a:endParaRPr/>
          </a:p>
        </p:txBody>
      </p:sp>
      <p:sp>
        <p:nvSpPr>
          <p:cNvPr id="1418" name="Google Shape;1418;p183"/>
          <p:cNvSpPr txBox="1"/>
          <p:nvPr>
            <p:ph idx="1" type="body"/>
          </p:nvPr>
        </p:nvSpPr>
        <p:spPr>
          <a:xfrm>
            <a:off x="-17925" y="1374100"/>
            <a:ext cx="5047200" cy="3020400"/>
          </a:xfrm>
          <a:prstGeom prst="rect">
            <a:avLst/>
          </a:prstGeom>
          <a:noFill/>
          <a:ln>
            <a:noFill/>
          </a:ln>
        </p:spPr>
        <p:txBody>
          <a:bodyPr anchorCtr="0" anchor="t" bIns="914400" lIns="457200" spcFirstLastPara="1" rIns="457200" wrap="square" tIns="0">
            <a:noAutofit/>
          </a:bodyPr>
          <a:lstStyle/>
          <a:p>
            <a:pPr indent="-203200" lvl="0" marL="228600" rtl="0" algn="l">
              <a:lnSpc>
                <a:spcPct val="115000"/>
              </a:lnSpc>
              <a:spcBef>
                <a:spcPts val="0"/>
              </a:spcBef>
              <a:spcAft>
                <a:spcPts val="0"/>
              </a:spcAft>
              <a:buSzPts val="1400"/>
              <a:buFont typeface="Roboto"/>
              <a:buChar char="●"/>
            </a:pPr>
            <a:r>
              <a:rPr lang="en"/>
              <a:t>The pen tester is paid to learn and exploit as much as they can about the network using </a:t>
            </a:r>
            <a:r>
              <a:rPr b="1" lang="en"/>
              <a:t>only the tools publicly available to an attacker on the internet</a:t>
            </a:r>
            <a:r>
              <a:rPr lang="en"/>
              <a:t>.</a:t>
            </a:r>
            <a:endParaRPr/>
          </a:p>
          <a:p>
            <a:pPr indent="-190500" lvl="0" marL="228600" rtl="0" algn="l">
              <a:lnSpc>
                <a:spcPct val="115000"/>
              </a:lnSpc>
              <a:spcBef>
                <a:spcPts val="1000"/>
              </a:spcBef>
              <a:spcAft>
                <a:spcPts val="1000"/>
              </a:spcAft>
              <a:buSzPts val="1200"/>
              <a:buFont typeface="Arial"/>
              <a:buChar char="●"/>
            </a:pPr>
            <a:r>
              <a:rPr lang="en"/>
              <a:t>For example, they may know only the company name and have to find various key resources, like IP ranges and access credentials.</a:t>
            </a:r>
            <a:endParaRPr/>
          </a:p>
        </p:txBody>
      </p:sp>
      <p:pic>
        <p:nvPicPr>
          <p:cNvPr id="1419" name="Google Shape;1419;p183"/>
          <p:cNvPicPr preferRelativeResize="0"/>
          <p:nvPr/>
        </p:nvPicPr>
        <p:blipFill rotWithShape="1">
          <a:blip r:embed="rId3">
            <a:alphaModFix/>
          </a:blip>
          <a:srcRect b="0" l="0" r="0" t="0"/>
          <a:stretch/>
        </p:blipFill>
        <p:spPr>
          <a:xfrm>
            <a:off x="4269175" y="1427560"/>
            <a:ext cx="4874825" cy="3170178"/>
          </a:xfrm>
          <a:prstGeom prst="rect">
            <a:avLst/>
          </a:prstGeom>
          <a:noFill/>
          <a:ln>
            <a:noFill/>
          </a:ln>
        </p:spPr>
      </p:pic>
      <p:sp>
        <p:nvSpPr>
          <p:cNvPr id="1420" name="Google Shape;1420;p183"/>
          <p:cNvSpPr txBox="1"/>
          <p:nvPr>
            <p:ph idx="1" type="body"/>
          </p:nvPr>
        </p:nvSpPr>
        <p:spPr>
          <a:xfrm>
            <a:off x="5920125" y="2554738"/>
            <a:ext cx="2099700" cy="6591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800"/>
              </a:spcAft>
              <a:buSzPts val="1400"/>
              <a:buNone/>
            </a:pPr>
            <a:r>
              <a:rPr lang="en" sz="2400">
                <a:solidFill>
                  <a:srgbClr val="FFFFFF"/>
                </a:solidFill>
                <a:latin typeface="Roboto"/>
                <a:ea typeface="Roboto"/>
                <a:cs typeface="Roboto"/>
                <a:sym typeface="Roboto"/>
              </a:rPr>
              <a:t>No</a:t>
            </a:r>
            <a:br>
              <a:rPr lang="en" sz="2400">
                <a:solidFill>
                  <a:srgbClr val="FFFFFF"/>
                </a:solidFill>
                <a:latin typeface="Roboto"/>
                <a:ea typeface="Roboto"/>
                <a:cs typeface="Roboto"/>
                <a:sym typeface="Roboto"/>
              </a:rPr>
            </a:br>
            <a:r>
              <a:rPr lang="en" sz="2400">
                <a:solidFill>
                  <a:srgbClr val="FFFFFF"/>
                </a:solidFill>
              </a:rPr>
              <a:t>K</a:t>
            </a:r>
            <a:r>
              <a:rPr lang="en" sz="2400">
                <a:solidFill>
                  <a:srgbClr val="FFFFFF"/>
                </a:solidFill>
                <a:latin typeface="Roboto"/>
                <a:ea typeface="Roboto"/>
                <a:cs typeface="Roboto"/>
                <a:sym typeface="Roboto"/>
              </a:rPr>
              <a:t>nowledge</a:t>
            </a:r>
            <a:endParaRPr sz="2400">
              <a:solidFill>
                <a:srgbClr val="FFFFF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84"/>
          <p:cNvSpPr txBox="1"/>
          <p:nvPr/>
        </p:nvSpPr>
        <p:spPr>
          <a:xfrm>
            <a:off x="357089" y="237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Full-View Pen Testing</a:t>
            </a:r>
            <a:endParaRPr sz="2600">
              <a:solidFill>
                <a:schemeClr val="dk2"/>
              </a:solidFill>
              <a:latin typeface="Roboto Light"/>
              <a:ea typeface="Roboto Light"/>
              <a:cs typeface="Roboto Light"/>
              <a:sym typeface="Roboto Light"/>
            </a:endParaRPr>
          </a:p>
        </p:txBody>
      </p:sp>
      <p:sp>
        <p:nvSpPr>
          <p:cNvPr id="1426" name="Google Shape;1426;p184"/>
          <p:cNvSpPr txBox="1"/>
          <p:nvPr>
            <p:ph idx="4294967295" type="subTitle"/>
          </p:nvPr>
        </p:nvSpPr>
        <p:spPr>
          <a:xfrm>
            <a:off x="-9101" y="492650"/>
            <a:ext cx="88077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In full-view testing, the pen tester is given full knowledge of the system or network: </a:t>
            </a:r>
            <a:endParaRPr/>
          </a:p>
        </p:txBody>
      </p:sp>
      <p:sp>
        <p:nvSpPr>
          <p:cNvPr id="1427" name="Google Shape;1427;p184"/>
          <p:cNvSpPr txBox="1"/>
          <p:nvPr>
            <p:ph idx="1" type="body"/>
          </p:nvPr>
        </p:nvSpPr>
        <p:spPr>
          <a:xfrm>
            <a:off x="-9100" y="1260125"/>
            <a:ext cx="5098200" cy="2821800"/>
          </a:xfrm>
          <a:prstGeom prst="rect">
            <a:avLst/>
          </a:prstGeom>
          <a:noFill/>
          <a:ln>
            <a:noFill/>
          </a:ln>
        </p:spPr>
        <p:txBody>
          <a:bodyPr anchorCtr="0" anchor="t" bIns="914400" lIns="457200" spcFirstLastPara="1" rIns="457200" wrap="square" tIns="0">
            <a:noAutofit/>
          </a:bodyPr>
          <a:lstStyle/>
          <a:p>
            <a:pPr indent="-196850" lvl="0" marL="228600" rtl="0" algn="l">
              <a:lnSpc>
                <a:spcPct val="115000"/>
              </a:lnSpc>
              <a:spcBef>
                <a:spcPts val="0"/>
              </a:spcBef>
              <a:spcAft>
                <a:spcPts val="0"/>
              </a:spcAft>
              <a:buSzPts val="1300"/>
              <a:buFont typeface="Roboto"/>
              <a:buChar char="●"/>
            </a:pPr>
            <a:r>
              <a:rPr lang="en" sz="1700"/>
              <a:t>This knowledge allows them to tear apart subtle security issues on behalf of their clients.</a:t>
            </a:r>
            <a:endParaRPr sz="1700"/>
          </a:p>
          <a:p>
            <a:pPr indent="-196850" lvl="0" marL="228600" rtl="0" algn="l">
              <a:lnSpc>
                <a:spcPct val="115000"/>
              </a:lnSpc>
              <a:spcBef>
                <a:spcPts val="1000"/>
              </a:spcBef>
              <a:spcAft>
                <a:spcPts val="0"/>
              </a:spcAft>
              <a:buSzPts val="1300"/>
              <a:buFont typeface="Roboto"/>
              <a:buChar char="●"/>
            </a:pPr>
            <a:r>
              <a:rPr lang="en" sz="1700"/>
              <a:t>Full-view pen testing is most appropriate when the client wants a detailed analysis of all potential security flaws, rather than exposed and visible vulnerabilities.</a:t>
            </a:r>
            <a:endParaRPr sz="1700"/>
          </a:p>
          <a:p>
            <a:pPr indent="-196850" lvl="0" marL="228600" rtl="0" algn="l">
              <a:lnSpc>
                <a:spcPct val="115000"/>
              </a:lnSpc>
              <a:spcBef>
                <a:spcPts val="1000"/>
              </a:spcBef>
              <a:spcAft>
                <a:spcPts val="1000"/>
              </a:spcAft>
              <a:buSzPts val="1300"/>
              <a:buFont typeface="Roboto"/>
              <a:buChar char="●"/>
            </a:pPr>
            <a:r>
              <a:rPr lang="en" sz="1700"/>
              <a:t>Full-view testers are given:</a:t>
            </a:r>
            <a:r>
              <a:rPr lang="en" sz="1700"/>
              <a:t> </a:t>
            </a:r>
            <a:r>
              <a:rPr b="1" lang="en" sz="1700"/>
              <a:t>n</a:t>
            </a:r>
            <a:r>
              <a:rPr b="1" lang="en" sz="1700"/>
              <a:t>etwork diagrams, access credentials to the networks, system names, usernames, emails, and phone numbers</a:t>
            </a:r>
            <a:r>
              <a:rPr lang="en" sz="1700"/>
              <a:t>.</a:t>
            </a:r>
            <a:endParaRPr sz="1700"/>
          </a:p>
        </p:txBody>
      </p:sp>
      <p:pic>
        <p:nvPicPr>
          <p:cNvPr id="1428" name="Google Shape;1428;p184"/>
          <p:cNvPicPr preferRelativeResize="0"/>
          <p:nvPr/>
        </p:nvPicPr>
        <p:blipFill rotWithShape="1">
          <a:blip r:embed="rId3">
            <a:alphaModFix/>
          </a:blip>
          <a:srcRect b="0" l="0" r="0" t="0"/>
          <a:stretch/>
        </p:blipFill>
        <p:spPr>
          <a:xfrm>
            <a:off x="4263500" y="1427172"/>
            <a:ext cx="4874825" cy="3170178"/>
          </a:xfrm>
          <a:prstGeom prst="rect">
            <a:avLst/>
          </a:prstGeom>
          <a:noFill/>
          <a:ln>
            <a:noFill/>
          </a:ln>
        </p:spPr>
      </p:pic>
      <p:sp>
        <p:nvSpPr>
          <p:cNvPr id="1429" name="Google Shape;1429;p184"/>
          <p:cNvSpPr txBox="1"/>
          <p:nvPr>
            <p:ph idx="1" type="body"/>
          </p:nvPr>
        </p:nvSpPr>
        <p:spPr>
          <a:xfrm>
            <a:off x="5924750" y="2555775"/>
            <a:ext cx="2099700" cy="6591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800"/>
              </a:spcAft>
              <a:buSzPts val="1400"/>
              <a:buNone/>
            </a:pPr>
            <a:r>
              <a:rPr lang="en" sz="2400">
                <a:latin typeface="Roboto Medium"/>
                <a:ea typeface="Roboto Medium"/>
                <a:cs typeface="Roboto Medium"/>
                <a:sym typeface="Roboto Medium"/>
              </a:rPr>
              <a:t>Full</a:t>
            </a:r>
            <a:br>
              <a:rPr lang="en" sz="2400">
                <a:latin typeface="Roboto Medium"/>
                <a:ea typeface="Roboto Medium"/>
                <a:cs typeface="Roboto Medium"/>
                <a:sym typeface="Roboto Medium"/>
              </a:rPr>
            </a:br>
            <a:r>
              <a:rPr lang="en" sz="2400">
                <a:latin typeface="Roboto Medium"/>
                <a:ea typeface="Roboto Medium"/>
                <a:cs typeface="Roboto Medium"/>
                <a:sym typeface="Roboto Medium"/>
              </a:rPr>
              <a:t>Knowledge</a:t>
            </a:r>
            <a:endParaRPr sz="2400">
              <a:latin typeface="Roboto Medium"/>
              <a:ea typeface="Roboto Medium"/>
              <a:cs typeface="Roboto Medium"/>
              <a:sym typeface="Roboto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85"/>
          <p:cNvSpPr txBox="1"/>
          <p:nvPr/>
        </p:nvSpPr>
        <p:spPr>
          <a:xfrm>
            <a:off x="349359" y="237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Partial-View Pen Testing</a:t>
            </a:r>
            <a:endParaRPr sz="2600">
              <a:solidFill>
                <a:schemeClr val="dk2"/>
              </a:solidFill>
              <a:latin typeface="Roboto Light"/>
              <a:ea typeface="Roboto Light"/>
              <a:cs typeface="Roboto Light"/>
              <a:sym typeface="Roboto Light"/>
            </a:endParaRPr>
          </a:p>
        </p:txBody>
      </p:sp>
      <p:sp>
        <p:nvSpPr>
          <p:cNvPr id="1435" name="Google Shape;1435;p185"/>
          <p:cNvSpPr txBox="1"/>
          <p:nvPr>
            <p:ph idx="4294967295" type="subTitle"/>
          </p:nvPr>
        </p:nvSpPr>
        <p:spPr>
          <a:xfrm>
            <a:off x="-16825" y="492650"/>
            <a:ext cx="8750700" cy="653100"/>
          </a:xfrm>
          <a:prstGeom prst="rect">
            <a:avLst/>
          </a:prstGeom>
          <a:noFill/>
          <a:ln>
            <a:noFill/>
          </a:ln>
        </p:spPr>
        <p:txBody>
          <a:bodyPr anchorCtr="0" anchor="t" bIns="0" lIns="457200" spcFirstLastPara="1" rIns="457200" wrap="square" tIns="91425">
            <a:noAutofit/>
          </a:bodyPr>
          <a:lstStyle/>
          <a:p>
            <a:pPr indent="0" lvl="0" marL="0" rtl="0" algn="l">
              <a:spcBef>
                <a:spcPts val="300"/>
              </a:spcBef>
              <a:spcAft>
                <a:spcPts val="0"/>
              </a:spcAft>
              <a:buSzPts val="1800"/>
              <a:buNone/>
            </a:pPr>
            <a:r>
              <a:rPr lang="en" sz="1700"/>
              <a:t>Partial-view pen testing is performed by the in-house system or network admin.</a:t>
            </a:r>
            <a:endParaRPr sz="1700"/>
          </a:p>
          <a:p>
            <a:pPr indent="0" lvl="0" marL="0" rtl="0" algn="l">
              <a:lnSpc>
                <a:spcPct val="100000"/>
              </a:lnSpc>
              <a:spcBef>
                <a:spcPts val="0"/>
              </a:spcBef>
              <a:spcAft>
                <a:spcPts val="0"/>
              </a:spcAft>
              <a:buSzPts val="1800"/>
              <a:buNone/>
            </a:pPr>
            <a:r>
              <a:t/>
            </a:r>
            <a:endParaRPr sz="1400">
              <a:solidFill>
                <a:schemeClr val="dk1"/>
              </a:solidFill>
            </a:endParaRPr>
          </a:p>
        </p:txBody>
      </p:sp>
      <p:sp>
        <p:nvSpPr>
          <p:cNvPr id="1436" name="Google Shape;1436;p185"/>
          <p:cNvSpPr txBox="1"/>
          <p:nvPr>
            <p:ph idx="1" type="body"/>
          </p:nvPr>
        </p:nvSpPr>
        <p:spPr>
          <a:xfrm>
            <a:off x="-16814" y="1145750"/>
            <a:ext cx="3761700" cy="2144100"/>
          </a:xfrm>
          <a:prstGeom prst="rect">
            <a:avLst/>
          </a:prstGeom>
          <a:noFill/>
          <a:ln>
            <a:noFill/>
          </a:ln>
        </p:spPr>
        <p:txBody>
          <a:bodyPr anchorCtr="0" anchor="t" bIns="914400" lIns="457200" spcFirstLastPara="1" rIns="457200" wrap="square" tIns="0">
            <a:noAutofit/>
          </a:bodyPr>
          <a:lstStyle/>
          <a:p>
            <a:pPr indent="0" lvl="0" marL="0" rtl="0" algn="l">
              <a:lnSpc>
                <a:spcPct val="115000"/>
              </a:lnSpc>
              <a:spcBef>
                <a:spcPts val="0"/>
              </a:spcBef>
              <a:spcAft>
                <a:spcPts val="1000"/>
              </a:spcAft>
              <a:buSzPts val="1400"/>
              <a:buNone/>
            </a:pPr>
            <a:r>
              <a:rPr lang="en"/>
              <a:t>Regardless of the scenario, the main deliverable for any pen tester is a report that summarizes their findings and recommendations for improvements.</a:t>
            </a:r>
            <a:endParaRPr/>
          </a:p>
        </p:txBody>
      </p:sp>
      <p:pic>
        <p:nvPicPr>
          <p:cNvPr id="1437" name="Google Shape;1437;p185"/>
          <p:cNvPicPr preferRelativeResize="0"/>
          <p:nvPr/>
        </p:nvPicPr>
        <p:blipFill rotWithShape="1">
          <a:blip r:embed="rId3">
            <a:alphaModFix/>
          </a:blip>
          <a:srcRect b="0" l="0" r="0" t="0"/>
          <a:stretch/>
        </p:blipFill>
        <p:spPr>
          <a:xfrm>
            <a:off x="4258238" y="1432709"/>
            <a:ext cx="4874825" cy="3170178"/>
          </a:xfrm>
          <a:prstGeom prst="rect">
            <a:avLst/>
          </a:prstGeom>
          <a:noFill/>
          <a:ln>
            <a:noFill/>
          </a:ln>
        </p:spPr>
      </p:pic>
      <p:sp>
        <p:nvSpPr>
          <p:cNvPr id="1438" name="Google Shape;1438;p185"/>
          <p:cNvSpPr txBox="1"/>
          <p:nvPr>
            <p:ph idx="1" type="body"/>
          </p:nvPr>
        </p:nvSpPr>
        <p:spPr>
          <a:xfrm>
            <a:off x="5900750" y="2506600"/>
            <a:ext cx="2099700" cy="6591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800"/>
              </a:spcAft>
              <a:buSzPts val="1400"/>
              <a:buNone/>
            </a:pPr>
            <a:r>
              <a:rPr lang="en" sz="2400">
                <a:solidFill>
                  <a:srgbClr val="082D49"/>
                </a:solidFill>
                <a:latin typeface="Roboto Medium"/>
                <a:ea typeface="Roboto Medium"/>
                <a:cs typeface="Roboto Medium"/>
                <a:sym typeface="Roboto Medium"/>
              </a:rPr>
              <a:t>Some</a:t>
            </a:r>
            <a:br>
              <a:rPr lang="en" sz="2400">
                <a:solidFill>
                  <a:srgbClr val="082D49"/>
                </a:solidFill>
                <a:latin typeface="Roboto Medium"/>
                <a:ea typeface="Roboto Medium"/>
                <a:cs typeface="Roboto Medium"/>
                <a:sym typeface="Roboto Medium"/>
              </a:rPr>
            </a:br>
            <a:r>
              <a:rPr lang="en" sz="2400">
                <a:solidFill>
                  <a:srgbClr val="082D49"/>
                </a:solidFill>
                <a:latin typeface="Roboto Medium"/>
                <a:ea typeface="Roboto Medium"/>
                <a:cs typeface="Roboto Medium"/>
                <a:sym typeface="Roboto Medium"/>
              </a:rPr>
              <a:t>Knowledge</a:t>
            </a:r>
            <a:endParaRPr sz="2400">
              <a:solidFill>
                <a:srgbClr val="082D49"/>
              </a:solidFill>
              <a:latin typeface="Roboto Medium"/>
              <a:ea typeface="Roboto Medium"/>
              <a:cs typeface="Roboto Medium"/>
              <a:sym typeface="Roboto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186"/>
          <p:cNvSpPr txBox="1"/>
          <p:nvPr>
            <p:ph idx="1" type="body"/>
          </p:nvPr>
        </p:nvSpPr>
        <p:spPr>
          <a:xfrm>
            <a:off x="3359025" y="1377600"/>
            <a:ext cx="56061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3500"/>
              <a:t>T</a:t>
            </a:r>
            <a:r>
              <a:rPr lang="en" sz="3500"/>
              <a:t>he main deliverable for any pen tester is </a:t>
            </a:r>
            <a:r>
              <a:rPr b="1" lang="en" sz="3500"/>
              <a:t>a report</a:t>
            </a:r>
            <a:r>
              <a:rPr lang="en" sz="3500"/>
              <a:t> that summarizes their findings and recommendations for improvements.</a:t>
            </a:r>
            <a:endParaRPr sz="3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8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Statements</a:t>
            </a:r>
            <a:r>
              <a:rPr b="0" lang="en">
                <a:latin typeface="Roboto"/>
                <a:ea typeface="Roboto"/>
                <a:cs typeface="Roboto"/>
                <a:sym typeface="Roboto"/>
              </a:rPr>
              <a:t> of Work and</a:t>
            </a:r>
            <a:endParaRPr b="0">
              <a:latin typeface="Roboto"/>
              <a:ea typeface="Roboto"/>
              <a:cs typeface="Roboto"/>
              <a:sym typeface="Roboto"/>
            </a:endParaRPr>
          </a:p>
          <a:p>
            <a:pPr indent="0" lvl="0" marL="0" rtl="0" algn="ctr">
              <a:spcBef>
                <a:spcPts val="0"/>
              </a:spcBef>
              <a:spcAft>
                <a:spcPts val="0"/>
              </a:spcAft>
              <a:buNone/>
            </a:pPr>
            <a:r>
              <a:rPr b="0" lang="en">
                <a:latin typeface="Roboto"/>
                <a:ea typeface="Roboto"/>
                <a:cs typeface="Roboto"/>
                <a:sym typeface="Roboto"/>
              </a:rPr>
              <a:t>Legal Indemnification</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449" name="Google Shape;1449;p187"/>
          <p:cNvPicPr preferRelativeResize="0"/>
          <p:nvPr/>
        </p:nvPicPr>
        <p:blipFill rotWithShape="1">
          <a:blip r:embed="rId3">
            <a:alphaModFix/>
          </a:blip>
          <a:srcRect b="0" l="15093" r="14245" t="0"/>
          <a:stretch/>
        </p:blipFill>
        <p:spPr>
          <a:xfrm>
            <a:off x="3985237" y="1371600"/>
            <a:ext cx="1173525" cy="1308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188"/>
          <p:cNvSpPr txBox="1"/>
          <p:nvPr/>
        </p:nvSpPr>
        <p:spPr>
          <a:xfrm>
            <a:off x="360775" y="70775"/>
            <a:ext cx="8234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400"/>
              <a:buFont typeface="Arial"/>
              <a:buNone/>
            </a:pPr>
            <a:r>
              <a:rPr b="1" lang="en" sz="2600">
                <a:solidFill>
                  <a:schemeClr val="dk2"/>
                </a:solidFill>
                <a:latin typeface="Roboto"/>
                <a:ea typeface="Roboto"/>
                <a:cs typeface="Roboto"/>
                <a:sym typeface="Roboto"/>
              </a:rPr>
              <a:t>Statements of Work &amp; Legal Indemnification</a:t>
            </a:r>
            <a:endParaRPr b="1" sz="2600">
              <a:solidFill>
                <a:schemeClr val="dk2"/>
              </a:solidFill>
              <a:latin typeface="Roboto"/>
              <a:ea typeface="Roboto"/>
              <a:cs typeface="Roboto"/>
              <a:sym typeface="Roboto"/>
            </a:endParaRPr>
          </a:p>
        </p:txBody>
      </p:sp>
      <p:sp>
        <p:nvSpPr>
          <p:cNvPr id="1455" name="Google Shape;1455;p188"/>
          <p:cNvSpPr txBox="1"/>
          <p:nvPr>
            <p:ph idx="4294967295" type="subTitle"/>
          </p:nvPr>
        </p:nvSpPr>
        <p:spPr>
          <a:xfrm>
            <a:off x="0" y="539700"/>
            <a:ext cx="90564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Before beginning a security assessment, several legal steps must be completed.</a:t>
            </a:r>
            <a:endParaRPr/>
          </a:p>
          <a:p>
            <a:pPr indent="0" lvl="0" marL="0" rtl="0" algn="l">
              <a:lnSpc>
                <a:spcPct val="100000"/>
              </a:lnSpc>
              <a:spcBef>
                <a:spcPts val="0"/>
              </a:spcBef>
              <a:spcAft>
                <a:spcPts val="0"/>
              </a:spcAft>
              <a:buSzPts val="1800"/>
              <a:buNone/>
            </a:pPr>
            <a:r>
              <a:t/>
            </a:r>
            <a:endParaRPr sz="1400">
              <a:solidFill>
                <a:schemeClr val="dk1"/>
              </a:solidFill>
            </a:endParaRPr>
          </a:p>
        </p:txBody>
      </p:sp>
      <p:pic>
        <p:nvPicPr>
          <p:cNvPr id="1456" name="Google Shape;1456;p188"/>
          <p:cNvPicPr preferRelativeResize="0"/>
          <p:nvPr/>
        </p:nvPicPr>
        <p:blipFill rotWithShape="1">
          <a:blip r:embed="rId3">
            <a:alphaModFix/>
          </a:blip>
          <a:srcRect b="0" l="0" r="0" t="0"/>
          <a:stretch/>
        </p:blipFill>
        <p:spPr>
          <a:xfrm>
            <a:off x="4706075" y="963975"/>
            <a:ext cx="3961825" cy="3961825"/>
          </a:xfrm>
          <a:prstGeom prst="rect">
            <a:avLst/>
          </a:prstGeom>
          <a:noFill/>
          <a:ln>
            <a:noFill/>
          </a:ln>
        </p:spPr>
      </p:pic>
      <p:sp>
        <p:nvSpPr>
          <p:cNvPr id="1457" name="Google Shape;1457;p188"/>
          <p:cNvSpPr txBox="1"/>
          <p:nvPr>
            <p:ph idx="1" type="body"/>
          </p:nvPr>
        </p:nvSpPr>
        <p:spPr>
          <a:xfrm>
            <a:off x="38109" y="1371600"/>
            <a:ext cx="4495800" cy="1351800"/>
          </a:xfrm>
          <a:prstGeom prst="rect">
            <a:avLst/>
          </a:prstGeom>
          <a:noFill/>
          <a:ln>
            <a:noFill/>
          </a:ln>
        </p:spPr>
        <p:txBody>
          <a:bodyPr anchorCtr="0" anchor="t" bIns="91425" lIns="45720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Since penetration testing is hacking, </a:t>
            </a:r>
            <a:br>
              <a:rPr lang="en"/>
            </a:br>
            <a:r>
              <a:rPr lang="en"/>
              <a:t>the entity being hacked </a:t>
            </a:r>
            <a:r>
              <a:rPr b="1" lang="en"/>
              <a:t>must consent to the test</a:t>
            </a:r>
            <a:r>
              <a:rPr lang="en"/>
              <a: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1000"/>
              </a:spcBef>
              <a:spcAft>
                <a:spcPts val="0"/>
              </a:spcAft>
              <a:buSzPts val="1400"/>
              <a:buNone/>
            </a:pPr>
            <a:r>
              <a:rPr lang="en"/>
              <a:t>To protect the assessors from legal ramifications, a </a:t>
            </a:r>
            <a:r>
              <a:rPr b="1" lang="en">
                <a:latin typeface="Roboto"/>
                <a:ea typeface="Roboto"/>
                <a:cs typeface="Roboto"/>
                <a:sym typeface="Roboto"/>
              </a:rPr>
              <a:t>statement of work (SoW)</a:t>
            </a:r>
            <a:r>
              <a:rPr lang="en"/>
              <a:t> must be agreed upon and signed by both parties.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189"/>
          <p:cNvSpPr txBox="1"/>
          <p:nvPr>
            <p:ph idx="2" type="title"/>
          </p:nvPr>
        </p:nvSpPr>
        <p:spPr>
          <a:xfrm>
            <a:off x="1371600" y="1039700"/>
            <a:ext cx="59436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sz="2600">
                <a:latin typeface="Roboto"/>
                <a:ea typeface="Roboto"/>
                <a:cs typeface="Roboto"/>
                <a:sym typeface="Roboto"/>
              </a:rPr>
              <a:t>A </a:t>
            </a:r>
            <a:r>
              <a:rPr b="1" lang="en" sz="2600">
                <a:latin typeface="Roboto"/>
                <a:ea typeface="Roboto"/>
                <a:cs typeface="Roboto"/>
                <a:sym typeface="Roboto"/>
              </a:rPr>
              <a:t>SoW</a:t>
            </a:r>
            <a:r>
              <a:rPr lang="en" sz="2600">
                <a:latin typeface="Roboto"/>
                <a:ea typeface="Roboto"/>
                <a:cs typeface="Roboto"/>
                <a:sym typeface="Roboto"/>
              </a:rPr>
              <a:t> outlines the scope of the test, the timeline, the points of contact, and how the test will be conducted.</a:t>
            </a:r>
            <a:endParaRPr sz="26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190"/>
          <p:cNvSpPr txBox="1"/>
          <p:nvPr/>
        </p:nvSpPr>
        <p:spPr>
          <a:xfrm>
            <a:off x="3072250" y="1258750"/>
            <a:ext cx="54252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3600"/>
              <a:buFont typeface="Arial"/>
              <a:buNone/>
            </a:pPr>
            <a:r>
              <a:rPr lang="en" sz="3300">
                <a:solidFill>
                  <a:schemeClr val="dk2"/>
                </a:solidFill>
                <a:latin typeface="Roboto"/>
                <a:ea typeface="Roboto"/>
                <a:cs typeface="Roboto"/>
                <a:sym typeface="Roboto"/>
              </a:rPr>
              <a:t>Penetration testing without a contractual agreement is</a:t>
            </a:r>
            <a:r>
              <a:rPr lang="en" sz="3300">
                <a:solidFill>
                  <a:schemeClr val="dk2"/>
                </a:solidFill>
                <a:latin typeface="Roboto Light"/>
                <a:ea typeface="Roboto Light"/>
                <a:cs typeface="Roboto Light"/>
                <a:sym typeface="Roboto Light"/>
              </a:rPr>
              <a:t> </a:t>
            </a:r>
            <a:r>
              <a:rPr b="1" lang="en" sz="3300">
                <a:solidFill>
                  <a:schemeClr val="dk2"/>
                </a:solidFill>
                <a:latin typeface="Roboto"/>
                <a:ea typeface="Roboto"/>
                <a:cs typeface="Roboto"/>
                <a:sym typeface="Roboto"/>
              </a:rPr>
              <a:t>illegal</a:t>
            </a:r>
            <a:r>
              <a:rPr lang="en" sz="3300">
                <a:solidFill>
                  <a:schemeClr val="dk2"/>
                </a:solidFill>
                <a:latin typeface="Roboto"/>
                <a:ea typeface="Roboto"/>
                <a:cs typeface="Roboto"/>
                <a:sym typeface="Roboto"/>
              </a:rPr>
              <a:t>, unless it is conducted on your own network or devices.</a:t>
            </a:r>
            <a:endParaRPr sz="3300">
              <a:solidFill>
                <a:schemeClr val="dk2"/>
              </a:solidFill>
              <a:latin typeface="Roboto"/>
              <a:ea typeface="Roboto"/>
              <a:cs typeface="Roboto"/>
              <a:sym typeface="Roboto"/>
            </a:endParaRPr>
          </a:p>
          <a:p>
            <a:pPr indent="0" lvl="0" marL="0" rtl="0" algn="l">
              <a:spcBef>
                <a:spcPts val="0"/>
              </a:spcBef>
              <a:spcAft>
                <a:spcPts val="0"/>
              </a:spcAft>
              <a:buNone/>
            </a:pPr>
            <a:r>
              <a:t/>
            </a:r>
            <a:endParaRPr sz="3300">
              <a:solidFill>
                <a:srgbClr val="2E5E73"/>
              </a:solidFill>
              <a:latin typeface="Roboto Light"/>
              <a:ea typeface="Roboto Light"/>
              <a:cs typeface="Roboto Light"/>
              <a:sym typeface="Roboto Light"/>
            </a:endParaRPr>
          </a:p>
        </p:txBody>
      </p:sp>
      <p:pic>
        <p:nvPicPr>
          <p:cNvPr id="1468" name="Google Shape;1468;p190"/>
          <p:cNvPicPr preferRelativeResize="0"/>
          <p:nvPr/>
        </p:nvPicPr>
        <p:blipFill>
          <a:blip r:embed="rId3">
            <a:alphaModFix amt="11000"/>
          </a:blip>
          <a:stretch>
            <a:fillRect/>
          </a:stretch>
        </p:blipFill>
        <p:spPr>
          <a:xfrm>
            <a:off x="5672475" y="2991225"/>
            <a:ext cx="3471525" cy="2243875"/>
          </a:xfrm>
          <a:prstGeom prst="rect">
            <a:avLst/>
          </a:prstGeom>
          <a:noFill/>
          <a:ln>
            <a:noFill/>
          </a:ln>
        </p:spPr>
      </p:pic>
      <p:pic>
        <p:nvPicPr>
          <p:cNvPr id="1469" name="Google Shape;1469;p190"/>
          <p:cNvPicPr preferRelativeResize="0"/>
          <p:nvPr/>
        </p:nvPicPr>
        <p:blipFill>
          <a:blip r:embed="rId4">
            <a:alphaModFix/>
          </a:blip>
          <a:stretch>
            <a:fillRect/>
          </a:stretch>
        </p:blipFill>
        <p:spPr>
          <a:xfrm>
            <a:off x="457202" y="1336050"/>
            <a:ext cx="2471400" cy="2471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pic>
        <p:nvPicPr>
          <p:cNvPr id="1474" name="Google Shape;1474;p191"/>
          <p:cNvPicPr preferRelativeResize="0"/>
          <p:nvPr/>
        </p:nvPicPr>
        <p:blipFill rotWithShape="1">
          <a:blip r:embed="rId3">
            <a:alphaModFix/>
          </a:blip>
          <a:srcRect b="764" l="0" r="0" t="0"/>
          <a:stretch/>
        </p:blipFill>
        <p:spPr>
          <a:xfrm>
            <a:off x="-12300" y="0"/>
            <a:ext cx="9221899" cy="5143500"/>
          </a:xfrm>
          <a:prstGeom prst="rect">
            <a:avLst/>
          </a:prstGeom>
          <a:noFill/>
          <a:ln>
            <a:noFill/>
          </a:ln>
        </p:spPr>
      </p:pic>
      <p:sp>
        <p:nvSpPr>
          <p:cNvPr id="1475" name="Google Shape;1475;p191"/>
          <p:cNvSpPr txBox="1"/>
          <p:nvPr>
            <p:ph idx="1" type="subTitle"/>
          </p:nvPr>
        </p:nvSpPr>
        <p:spPr>
          <a:xfrm>
            <a:off x="5185475" y="0"/>
            <a:ext cx="4023900" cy="423900"/>
          </a:xfrm>
          <a:prstGeom prst="rect">
            <a:avLst/>
          </a:prstGeom>
          <a:solidFill>
            <a:schemeClr val="dk2"/>
          </a:solid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b="1" lang="en">
                <a:solidFill>
                  <a:schemeClr val="lt1"/>
                </a:solidFill>
              </a:rPr>
              <a:t>Scenario 1:</a:t>
            </a:r>
            <a:endParaRPr b="1">
              <a:solidFill>
                <a:schemeClr val="lt1"/>
              </a:solidFill>
            </a:endParaRPr>
          </a:p>
        </p:txBody>
      </p:sp>
      <p:sp>
        <p:nvSpPr>
          <p:cNvPr id="1476" name="Google Shape;1476;p191"/>
          <p:cNvSpPr txBox="1"/>
          <p:nvPr>
            <p:ph idx="3" type="body"/>
          </p:nvPr>
        </p:nvSpPr>
        <p:spPr>
          <a:xfrm>
            <a:off x="5218025" y="1270050"/>
            <a:ext cx="3958800" cy="26034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0"/>
              </a:spcBef>
              <a:spcAft>
                <a:spcPts val="0"/>
              </a:spcAft>
              <a:buClr>
                <a:schemeClr val="dk1"/>
              </a:buClr>
              <a:buSzPts val="1100"/>
              <a:buFont typeface="Arial"/>
              <a:buNone/>
            </a:pPr>
            <a:r>
              <a:rPr lang="en"/>
              <a:t>A financial institution asks you to perform a penetration test on their private network. </a:t>
            </a:r>
            <a:endParaRPr/>
          </a:p>
          <a:p>
            <a:pPr indent="0" lvl="0" marL="0" rtl="0" algn="l">
              <a:lnSpc>
                <a:spcPct val="100000"/>
              </a:lnSpc>
              <a:spcBef>
                <a:spcPts val="800"/>
              </a:spcBef>
              <a:spcAft>
                <a:spcPts val="0"/>
              </a:spcAft>
              <a:buClr>
                <a:schemeClr val="dk1"/>
              </a:buClr>
              <a:buSzPts val="1100"/>
              <a:buFont typeface="Arial"/>
              <a:buNone/>
            </a:pPr>
            <a:r>
              <a:rPr lang="en"/>
              <a:t>They will give you access to all the credentials and architecture diagrams that you may need. </a:t>
            </a:r>
            <a:endParaRPr/>
          </a:p>
          <a:p>
            <a:pPr indent="0" lvl="0" marL="0" rtl="0" algn="l">
              <a:lnSpc>
                <a:spcPct val="100000"/>
              </a:lnSpc>
              <a:spcBef>
                <a:spcPts val="800"/>
              </a:spcBef>
              <a:spcAft>
                <a:spcPts val="0"/>
              </a:spcAft>
              <a:buClr>
                <a:schemeClr val="dk1"/>
              </a:buClr>
              <a:buSzPts val="1100"/>
              <a:buFont typeface="Arial"/>
              <a:buNone/>
            </a:pPr>
            <a:r>
              <a:rPr lang="en"/>
              <a:t>You will also meet with them beforehand to sign a contract clearly illustrating the scope and purpose of the test.</a:t>
            </a:r>
            <a:endParaRPr/>
          </a:p>
          <a:p>
            <a:pPr indent="0" lvl="0" marL="0" rtl="0" algn="l">
              <a:lnSpc>
                <a:spcPct val="100000"/>
              </a:lnSpc>
              <a:spcBef>
                <a:spcPts val="800"/>
              </a:spcBef>
              <a:spcAft>
                <a:spcPts val="0"/>
              </a:spcAft>
              <a:buClr>
                <a:schemeClr val="dk1"/>
              </a:buClr>
              <a:buSzPts val="1100"/>
              <a:buFont typeface="Arial"/>
              <a:buNone/>
            </a:pPr>
            <a:r>
              <a:t/>
            </a:r>
            <a:endParaRPr/>
          </a:p>
          <a:p>
            <a:pPr indent="0" lvl="0" marL="0" rtl="0" algn="l">
              <a:lnSpc>
                <a:spcPct val="100000"/>
              </a:lnSpc>
              <a:spcBef>
                <a:spcPts val="800"/>
              </a:spcBef>
              <a:spcAft>
                <a:spcPts val="800"/>
              </a:spcAft>
              <a:buSzPts val="14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pic>
        <p:nvPicPr>
          <p:cNvPr id="1481" name="Google Shape;1481;p192"/>
          <p:cNvPicPr preferRelativeResize="0"/>
          <p:nvPr/>
        </p:nvPicPr>
        <p:blipFill rotWithShape="1">
          <a:blip r:embed="rId3">
            <a:alphaModFix/>
          </a:blip>
          <a:srcRect b="764" l="0" r="0" t="0"/>
          <a:stretch/>
        </p:blipFill>
        <p:spPr>
          <a:xfrm>
            <a:off x="-12300" y="0"/>
            <a:ext cx="9221899" cy="5143500"/>
          </a:xfrm>
          <a:prstGeom prst="rect">
            <a:avLst/>
          </a:prstGeom>
          <a:noFill/>
          <a:ln>
            <a:noFill/>
          </a:ln>
        </p:spPr>
      </p:pic>
      <p:sp>
        <p:nvSpPr>
          <p:cNvPr id="1482" name="Google Shape;1482;p192"/>
          <p:cNvSpPr txBox="1"/>
          <p:nvPr>
            <p:ph idx="1" type="subTitle"/>
          </p:nvPr>
        </p:nvSpPr>
        <p:spPr>
          <a:xfrm>
            <a:off x="5185475" y="0"/>
            <a:ext cx="4023900" cy="423900"/>
          </a:xfrm>
          <a:prstGeom prst="rect">
            <a:avLst/>
          </a:prstGeom>
          <a:solidFill>
            <a:schemeClr val="dk2"/>
          </a:solid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b="1" lang="en">
                <a:solidFill>
                  <a:schemeClr val="lt1"/>
                </a:solidFill>
              </a:rPr>
              <a:t>Scenario 1:</a:t>
            </a:r>
            <a:endParaRPr b="1">
              <a:solidFill>
                <a:schemeClr val="lt1"/>
              </a:solidFill>
            </a:endParaRPr>
          </a:p>
        </p:txBody>
      </p:sp>
      <p:sp>
        <p:nvSpPr>
          <p:cNvPr id="1483" name="Google Shape;1483;p192"/>
          <p:cNvSpPr txBox="1"/>
          <p:nvPr>
            <p:ph idx="3" type="body"/>
          </p:nvPr>
        </p:nvSpPr>
        <p:spPr>
          <a:xfrm>
            <a:off x="5185475" y="612575"/>
            <a:ext cx="3958800" cy="27312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0"/>
              </a:spcBef>
              <a:spcAft>
                <a:spcPts val="0"/>
              </a:spcAft>
              <a:buClr>
                <a:schemeClr val="dk1"/>
              </a:buClr>
              <a:buSzPts val="1100"/>
              <a:buFont typeface="Arial"/>
              <a:buNone/>
            </a:pPr>
            <a:r>
              <a:rPr lang="en"/>
              <a:t>A financial institution asks you to perform a penetration test on their private network. </a:t>
            </a:r>
            <a:endParaRPr/>
          </a:p>
          <a:p>
            <a:pPr indent="0" lvl="0" marL="0" rtl="0" algn="l">
              <a:lnSpc>
                <a:spcPct val="100000"/>
              </a:lnSpc>
              <a:spcBef>
                <a:spcPts val="800"/>
              </a:spcBef>
              <a:spcAft>
                <a:spcPts val="0"/>
              </a:spcAft>
              <a:buClr>
                <a:schemeClr val="dk1"/>
              </a:buClr>
              <a:buSzPts val="1100"/>
              <a:buFont typeface="Arial"/>
              <a:buNone/>
            </a:pPr>
            <a:r>
              <a:rPr lang="en"/>
              <a:t>They will give you access to all the credentials and architecture diagrams you may need. </a:t>
            </a:r>
            <a:endParaRPr/>
          </a:p>
          <a:p>
            <a:pPr indent="0" lvl="0" marL="0" rtl="0" algn="l">
              <a:lnSpc>
                <a:spcPct val="100000"/>
              </a:lnSpc>
              <a:spcBef>
                <a:spcPts val="800"/>
              </a:spcBef>
              <a:spcAft>
                <a:spcPts val="0"/>
              </a:spcAft>
              <a:buClr>
                <a:schemeClr val="dk1"/>
              </a:buClr>
              <a:buSzPts val="1100"/>
              <a:buFont typeface="Arial"/>
              <a:buNone/>
            </a:pPr>
            <a:r>
              <a:rPr lang="en"/>
              <a:t>You will also meet with them beforehand to sign a contract clearly illustrating the scope and purpose of the test.</a:t>
            </a:r>
            <a:endParaRPr/>
          </a:p>
          <a:p>
            <a:pPr indent="0" lvl="0" marL="0" rtl="0" algn="l">
              <a:lnSpc>
                <a:spcPct val="100000"/>
              </a:lnSpc>
              <a:spcBef>
                <a:spcPts val="800"/>
              </a:spcBef>
              <a:spcAft>
                <a:spcPts val="0"/>
              </a:spcAft>
              <a:buClr>
                <a:schemeClr val="dk1"/>
              </a:buClr>
              <a:buSzPts val="1100"/>
              <a:buFont typeface="Arial"/>
              <a:buNone/>
            </a:pPr>
            <a:r>
              <a:t/>
            </a:r>
            <a:endParaRPr/>
          </a:p>
          <a:p>
            <a:pPr indent="0" lvl="0" marL="0" rtl="0" algn="l">
              <a:lnSpc>
                <a:spcPct val="100000"/>
              </a:lnSpc>
              <a:spcBef>
                <a:spcPts val="800"/>
              </a:spcBef>
              <a:spcAft>
                <a:spcPts val="800"/>
              </a:spcAft>
              <a:buSzPts val="1400"/>
              <a:buNone/>
            </a:pPr>
            <a:r>
              <a:t/>
            </a:r>
            <a:endParaRPr/>
          </a:p>
        </p:txBody>
      </p:sp>
      <p:sp>
        <p:nvSpPr>
          <p:cNvPr id="1484" name="Google Shape;1484;p192"/>
          <p:cNvSpPr/>
          <p:nvPr/>
        </p:nvSpPr>
        <p:spPr>
          <a:xfrm>
            <a:off x="5488175" y="3926250"/>
            <a:ext cx="3353400" cy="1064400"/>
          </a:xfrm>
          <a:prstGeom prst="roundRect">
            <a:avLst>
              <a:gd fmla="val 4848" name="adj"/>
            </a:avLst>
          </a:prstGeom>
          <a:solidFill>
            <a:srgbClr val="FCB913"/>
          </a:solidFill>
          <a:ln>
            <a:noFill/>
          </a:ln>
        </p:spPr>
        <p:txBody>
          <a:bodyPr anchorCtr="0" anchor="ctr" bIns="91425" lIns="822950" spcFirstLastPara="1" rIns="0"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u="none" cap="none" strike="noStrike">
                <a:solidFill>
                  <a:srgbClr val="28363B"/>
                </a:solidFill>
                <a:latin typeface="Roboto"/>
                <a:ea typeface="Roboto"/>
                <a:cs typeface="Roboto"/>
                <a:sym typeface="Roboto"/>
              </a:rPr>
              <a:t>This is a </a:t>
            </a:r>
            <a:r>
              <a:rPr b="1" i="0" lang="en" u="none" cap="none" strike="noStrike">
                <a:solidFill>
                  <a:srgbClr val="28363B"/>
                </a:solidFill>
                <a:latin typeface="Roboto"/>
                <a:ea typeface="Roboto"/>
                <a:cs typeface="Roboto"/>
                <a:sym typeface="Roboto"/>
              </a:rPr>
              <a:t>legal</a:t>
            </a:r>
            <a:r>
              <a:rPr b="0" i="0" lang="en" u="none" cap="none" strike="noStrike">
                <a:solidFill>
                  <a:srgbClr val="28363B"/>
                </a:solidFill>
                <a:latin typeface="Roboto"/>
                <a:ea typeface="Roboto"/>
                <a:cs typeface="Roboto"/>
                <a:sym typeface="Roboto"/>
              </a:rPr>
              <a:t> full-view penetration test, because you have signed a contract before you begin your assessment.</a:t>
            </a:r>
            <a:endParaRPr b="0" i="0" u="none" cap="none" strike="noStrike">
              <a:solidFill>
                <a:srgbClr val="28363B"/>
              </a:solidFill>
              <a:latin typeface="Roboto"/>
              <a:ea typeface="Roboto"/>
              <a:cs typeface="Roboto"/>
              <a:sym typeface="Roboto"/>
            </a:endParaRPr>
          </a:p>
        </p:txBody>
      </p:sp>
      <p:grpSp>
        <p:nvGrpSpPr>
          <p:cNvPr id="1485" name="Google Shape;1485;p192"/>
          <p:cNvGrpSpPr/>
          <p:nvPr/>
        </p:nvGrpSpPr>
        <p:grpSpPr>
          <a:xfrm>
            <a:off x="5567854" y="4170902"/>
            <a:ext cx="575096" cy="575096"/>
            <a:chOff x="1190625" y="238125"/>
            <a:chExt cx="5213925" cy="5213925"/>
          </a:xfrm>
        </p:grpSpPr>
        <p:sp>
          <p:nvSpPr>
            <p:cNvPr id="1486" name="Google Shape;1486;p192"/>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92"/>
            <p:cNvSpPr/>
            <p:nvPr/>
          </p:nvSpPr>
          <p:spPr>
            <a:xfrm>
              <a:off x="2283050" y="1710025"/>
              <a:ext cx="3084525" cy="2269725"/>
            </a:xfrm>
            <a:custGeom>
              <a:rect b="b" l="l" r="r" t="t"/>
              <a:pathLst>
                <a:path extrusionOk="0" h="90789" w="123381">
                  <a:moveTo>
                    <a:pt x="107385" y="1"/>
                  </a:moveTo>
                  <a:cubicBezTo>
                    <a:pt x="103079" y="1"/>
                    <a:pt x="98615" y="1757"/>
                    <a:pt x="95175" y="5214"/>
                  </a:cubicBezTo>
                  <a:lnTo>
                    <a:pt x="44890" y="55499"/>
                  </a:lnTo>
                  <a:lnTo>
                    <a:pt x="28205" y="38815"/>
                  </a:lnTo>
                  <a:cubicBezTo>
                    <a:pt x="24765" y="35374"/>
                    <a:pt x="20290" y="33626"/>
                    <a:pt x="15978" y="33626"/>
                  </a:cubicBezTo>
                  <a:cubicBezTo>
                    <a:pt x="12200" y="33626"/>
                    <a:pt x="8548" y="34968"/>
                    <a:pt x="5827" y="37689"/>
                  </a:cubicBezTo>
                  <a:cubicBezTo>
                    <a:pt x="1" y="43549"/>
                    <a:pt x="497" y="53612"/>
                    <a:pt x="6953" y="60068"/>
                  </a:cubicBezTo>
                  <a:lnTo>
                    <a:pt x="32509" y="85591"/>
                  </a:lnTo>
                  <a:cubicBezTo>
                    <a:pt x="35621" y="88769"/>
                    <a:pt x="39858" y="90623"/>
                    <a:pt x="44327" y="90788"/>
                  </a:cubicBezTo>
                  <a:lnTo>
                    <a:pt x="45453" y="90788"/>
                  </a:lnTo>
                  <a:cubicBezTo>
                    <a:pt x="49922" y="90623"/>
                    <a:pt x="54159" y="88769"/>
                    <a:pt x="57271" y="85591"/>
                  </a:cubicBezTo>
                  <a:lnTo>
                    <a:pt x="116428" y="26467"/>
                  </a:lnTo>
                  <a:cubicBezTo>
                    <a:pt x="122884" y="20011"/>
                    <a:pt x="123380" y="9915"/>
                    <a:pt x="117554" y="4088"/>
                  </a:cubicBezTo>
                  <a:cubicBezTo>
                    <a:pt x="114816" y="1351"/>
                    <a:pt x="111161" y="1"/>
                    <a:pt x="107385" y="1"/>
                  </a:cubicBezTo>
                  <a:close/>
                </a:path>
              </a:pathLst>
            </a:custGeom>
            <a:solidFill>
              <a:srgbClr val="FCB9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8" name="Google Shape;1488;p192"/>
          <p:cNvSpPr/>
          <p:nvPr/>
        </p:nvSpPr>
        <p:spPr>
          <a:xfrm>
            <a:off x="2567125" y="1425275"/>
            <a:ext cx="1423250" cy="1550525"/>
          </a:xfrm>
          <a:custGeom>
            <a:rect b="b" l="l" r="r" t="t"/>
            <a:pathLst>
              <a:path extrusionOk="0" h="62021" w="56930">
                <a:moveTo>
                  <a:pt x="52328" y="1337"/>
                </a:moveTo>
                <a:lnTo>
                  <a:pt x="52328" y="1337"/>
                </a:lnTo>
                <a:cubicBezTo>
                  <a:pt x="51720" y="1797"/>
                  <a:pt x="51150" y="2312"/>
                  <a:pt x="50634" y="2846"/>
                </a:cubicBezTo>
                <a:cubicBezTo>
                  <a:pt x="50321" y="3104"/>
                  <a:pt x="49990" y="3416"/>
                  <a:pt x="49640" y="3729"/>
                </a:cubicBezTo>
                <a:cubicBezTo>
                  <a:pt x="50137" y="3196"/>
                  <a:pt x="50634" y="2699"/>
                  <a:pt x="51076" y="2312"/>
                </a:cubicBezTo>
                <a:cubicBezTo>
                  <a:pt x="51481" y="1962"/>
                  <a:pt x="51886" y="1631"/>
                  <a:pt x="52328" y="1337"/>
                </a:cubicBezTo>
                <a:close/>
                <a:moveTo>
                  <a:pt x="17338" y="23295"/>
                </a:moveTo>
                <a:lnTo>
                  <a:pt x="17338" y="23295"/>
                </a:lnTo>
                <a:cubicBezTo>
                  <a:pt x="18995" y="26663"/>
                  <a:pt x="20762" y="29958"/>
                  <a:pt x="22639" y="33197"/>
                </a:cubicBezTo>
                <a:lnTo>
                  <a:pt x="22234" y="33676"/>
                </a:lnTo>
                <a:cubicBezTo>
                  <a:pt x="20927" y="31559"/>
                  <a:pt x="19768" y="29369"/>
                  <a:pt x="18719" y="27123"/>
                </a:cubicBezTo>
                <a:cubicBezTo>
                  <a:pt x="18148" y="25890"/>
                  <a:pt x="17688" y="24602"/>
                  <a:pt x="17338" y="23295"/>
                </a:cubicBezTo>
                <a:close/>
                <a:moveTo>
                  <a:pt x="23615" y="34835"/>
                </a:moveTo>
                <a:cubicBezTo>
                  <a:pt x="23836" y="35203"/>
                  <a:pt x="24056" y="35571"/>
                  <a:pt x="24296" y="35921"/>
                </a:cubicBezTo>
                <a:lnTo>
                  <a:pt x="23836" y="36436"/>
                </a:lnTo>
                <a:cubicBezTo>
                  <a:pt x="23615" y="36068"/>
                  <a:pt x="23394" y="35700"/>
                  <a:pt x="23191" y="35332"/>
                </a:cubicBezTo>
                <a:lnTo>
                  <a:pt x="23210" y="35295"/>
                </a:lnTo>
                <a:cubicBezTo>
                  <a:pt x="23357" y="35148"/>
                  <a:pt x="23486" y="34982"/>
                  <a:pt x="23615" y="34835"/>
                </a:cubicBezTo>
                <a:close/>
                <a:moveTo>
                  <a:pt x="22860" y="35700"/>
                </a:moveTo>
                <a:cubicBezTo>
                  <a:pt x="23081" y="36050"/>
                  <a:pt x="23320" y="36418"/>
                  <a:pt x="23559" y="36786"/>
                </a:cubicBezTo>
                <a:cubicBezTo>
                  <a:pt x="21185" y="39492"/>
                  <a:pt x="19455" y="41332"/>
                  <a:pt x="18075" y="42658"/>
                </a:cubicBezTo>
                <a:cubicBezTo>
                  <a:pt x="16749" y="43964"/>
                  <a:pt x="15295" y="45124"/>
                  <a:pt x="13731" y="46136"/>
                </a:cubicBezTo>
                <a:cubicBezTo>
                  <a:pt x="16768" y="42639"/>
                  <a:pt x="19805" y="39161"/>
                  <a:pt x="22860" y="35700"/>
                </a:cubicBezTo>
                <a:close/>
                <a:moveTo>
                  <a:pt x="5470" y="52536"/>
                </a:moveTo>
                <a:lnTo>
                  <a:pt x="4675" y="53462"/>
                </a:lnTo>
                <a:cubicBezTo>
                  <a:pt x="4948" y="53131"/>
                  <a:pt x="5211" y="52822"/>
                  <a:pt x="5470" y="52536"/>
                </a:cubicBezTo>
                <a:close/>
                <a:moveTo>
                  <a:pt x="40603" y="54014"/>
                </a:moveTo>
                <a:cubicBezTo>
                  <a:pt x="41155" y="54382"/>
                  <a:pt x="41726" y="54732"/>
                  <a:pt x="42315" y="55063"/>
                </a:cubicBezTo>
                <a:cubicBezTo>
                  <a:pt x="41928" y="54879"/>
                  <a:pt x="41560" y="54658"/>
                  <a:pt x="41192" y="54456"/>
                </a:cubicBezTo>
                <a:lnTo>
                  <a:pt x="40603" y="54014"/>
                </a:lnTo>
                <a:close/>
                <a:moveTo>
                  <a:pt x="53542" y="0"/>
                </a:moveTo>
                <a:cubicBezTo>
                  <a:pt x="53386" y="0"/>
                  <a:pt x="53234" y="13"/>
                  <a:pt x="53082" y="48"/>
                </a:cubicBezTo>
                <a:cubicBezTo>
                  <a:pt x="52751" y="140"/>
                  <a:pt x="52438" y="269"/>
                  <a:pt x="52144" y="453"/>
                </a:cubicBezTo>
                <a:cubicBezTo>
                  <a:pt x="51739" y="692"/>
                  <a:pt x="51352" y="969"/>
                  <a:pt x="50984" y="1263"/>
                </a:cubicBezTo>
                <a:cubicBezTo>
                  <a:pt x="50064" y="2073"/>
                  <a:pt x="49162" y="2920"/>
                  <a:pt x="48334" y="3840"/>
                </a:cubicBezTo>
                <a:cubicBezTo>
                  <a:pt x="47432" y="4779"/>
                  <a:pt x="46567" y="5754"/>
                  <a:pt x="45720" y="6711"/>
                </a:cubicBezTo>
                <a:lnTo>
                  <a:pt x="44450" y="8147"/>
                </a:lnTo>
                <a:lnTo>
                  <a:pt x="43843" y="8865"/>
                </a:lnTo>
                <a:lnTo>
                  <a:pt x="43272" y="9527"/>
                </a:lnTo>
                <a:lnTo>
                  <a:pt x="42904" y="9840"/>
                </a:lnTo>
                <a:lnTo>
                  <a:pt x="42481" y="10245"/>
                </a:lnTo>
                <a:cubicBezTo>
                  <a:pt x="42186" y="10521"/>
                  <a:pt x="41818" y="10871"/>
                  <a:pt x="41450" y="11239"/>
                </a:cubicBezTo>
                <a:lnTo>
                  <a:pt x="39241" y="13429"/>
                </a:lnTo>
                <a:cubicBezTo>
                  <a:pt x="38489" y="14191"/>
                  <a:pt x="37915" y="14752"/>
                  <a:pt x="37825" y="14752"/>
                </a:cubicBezTo>
                <a:cubicBezTo>
                  <a:pt x="37756" y="14752"/>
                  <a:pt x="37968" y="14426"/>
                  <a:pt x="38597" y="13613"/>
                </a:cubicBezTo>
                <a:lnTo>
                  <a:pt x="38597" y="13613"/>
                </a:lnTo>
                <a:cubicBezTo>
                  <a:pt x="36885" y="15693"/>
                  <a:pt x="36480" y="16797"/>
                  <a:pt x="35670" y="18141"/>
                </a:cubicBezTo>
                <a:cubicBezTo>
                  <a:pt x="34861" y="19503"/>
                  <a:pt x="33627" y="21141"/>
                  <a:pt x="30296" y="24344"/>
                </a:cubicBezTo>
                <a:lnTo>
                  <a:pt x="31676" y="22356"/>
                </a:lnTo>
                <a:lnTo>
                  <a:pt x="31676" y="22356"/>
                </a:lnTo>
                <a:cubicBezTo>
                  <a:pt x="29063" y="25375"/>
                  <a:pt x="26044" y="29056"/>
                  <a:pt x="23247" y="32442"/>
                </a:cubicBezTo>
                <a:cubicBezTo>
                  <a:pt x="21498" y="29608"/>
                  <a:pt x="20099" y="27050"/>
                  <a:pt x="19492" y="25743"/>
                </a:cubicBezTo>
                <a:lnTo>
                  <a:pt x="19492" y="25743"/>
                </a:lnTo>
                <a:cubicBezTo>
                  <a:pt x="19633" y="25919"/>
                  <a:pt x="19719" y="25999"/>
                  <a:pt x="19759" y="25999"/>
                </a:cubicBezTo>
                <a:cubicBezTo>
                  <a:pt x="19910" y="25999"/>
                  <a:pt x="19393" y="24833"/>
                  <a:pt x="18737" y="23332"/>
                </a:cubicBezTo>
                <a:cubicBezTo>
                  <a:pt x="17854" y="21638"/>
                  <a:pt x="17007" y="19926"/>
                  <a:pt x="16197" y="18196"/>
                </a:cubicBezTo>
                <a:cubicBezTo>
                  <a:pt x="16184" y="18183"/>
                  <a:pt x="16174" y="18177"/>
                  <a:pt x="16167" y="18177"/>
                </a:cubicBezTo>
                <a:lnTo>
                  <a:pt x="16167" y="18177"/>
                </a:lnTo>
                <a:cubicBezTo>
                  <a:pt x="16052" y="18177"/>
                  <a:pt x="16755" y="19915"/>
                  <a:pt x="16641" y="19915"/>
                </a:cubicBezTo>
                <a:cubicBezTo>
                  <a:pt x="16609" y="19915"/>
                  <a:pt x="16510" y="19774"/>
                  <a:pt x="16308" y="19411"/>
                </a:cubicBezTo>
                <a:lnTo>
                  <a:pt x="16308" y="19411"/>
                </a:lnTo>
                <a:cubicBezTo>
                  <a:pt x="16320" y="19426"/>
                  <a:pt x="16330" y="19434"/>
                  <a:pt x="16336" y="19434"/>
                </a:cubicBezTo>
                <a:cubicBezTo>
                  <a:pt x="16420" y="19434"/>
                  <a:pt x="16072" y="18288"/>
                  <a:pt x="15203" y="16245"/>
                </a:cubicBezTo>
                <a:lnTo>
                  <a:pt x="15203" y="16245"/>
                </a:lnTo>
                <a:cubicBezTo>
                  <a:pt x="15690" y="17334"/>
                  <a:pt x="15854" y="17631"/>
                  <a:pt x="15894" y="17631"/>
                </a:cubicBezTo>
                <a:cubicBezTo>
                  <a:pt x="15905" y="17631"/>
                  <a:pt x="15907" y="17607"/>
                  <a:pt x="15903" y="17571"/>
                </a:cubicBezTo>
                <a:cubicBezTo>
                  <a:pt x="15516" y="16742"/>
                  <a:pt x="15130" y="15896"/>
                  <a:pt x="14761" y="15049"/>
                </a:cubicBezTo>
                <a:cubicBezTo>
                  <a:pt x="13786" y="13374"/>
                  <a:pt x="12902" y="11644"/>
                  <a:pt x="12148" y="9840"/>
                </a:cubicBezTo>
                <a:cubicBezTo>
                  <a:pt x="12019" y="9803"/>
                  <a:pt x="11886" y="9785"/>
                  <a:pt x="11752" y="9785"/>
                </a:cubicBezTo>
                <a:cubicBezTo>
                  <a:pt x="11619" y="9785"/>
                  <a:pt x="11485" y="9803"/>
                  <a:pt x="11356" y="9840"/>
                </a:cubicBezTo>
                <a:cubicBezTo>
                  <a:pt x="11154" y="9932"/>
                  <a:pt x="10970" y="10061"/>
                  <a:pt x="10859" y="10245"/>
                </a:cubicBezTo>
                <a:lnTo>
                  <a:pt x="11393" y="11405"/>
                </a:lnTo>
                <a:cubicBezTo>
                  <a:pt x="11596" y="12067"/>
                  <a:pt x="11798" y="12711"/>
                  <a:pt x="12019" y="13356"/>
                </a:cubicBezTo>
                <a:cubicBezTo>
                  <a:pt x="11614" y="12399"/>
                  <a:pt x="11209" y="11460"/>
                  <a:pt x="10804" y="10484"/>
                </a:cubicBezTo>
                <a:lnTo>
                  <a:pt x="10804" y="10484"/>
                </a:lnTo>
                <a:cubicBezTo>
                  <a:pt x="11117" y="11754"/>
                  <a:pt x="12074" y="13687"/>
                  <a:pt x="12700" y="15159"/>
                </a:cubicBezTo>
                <a:cubicBezTo>
                  <a:pt x="12780" y="15381"/>
                  <a:pt x="12807" y="15480"/>
                  <a:pt x="12792" y="15480"/>
                </a:cubicBezTo>
                <a:cubicBezTo>
                  <a:pt x="12713" y="15480"/>
                  <a:pt x="11485" y="12792"/>
                  <a:pt x="10620" y="10908"/>
                </a:cubicBezTo>
                <a:lnTo>
                  <a:pt x="10620" y="10908"/>
                </a:lnTo>
                <a:cubicBezTo>
                  <a:pt x="10583" y="11147"/>
                  <a:pt x="10620" y="11386"/>
                  <a:pt x="10712" y="11607"/>
                </a:cubicBezTo>
                <a:cubicBezTo>
                  <a:pt x="11283" y="13006"/>
                  <a:pt x="11853" y="14405"/>
                  <a:pt x="12461" y="15767"/>
                </a:cubicBezTo>
                <a:cubicBezTo>
                  <a:pt x="12645" y="16080"/>
                  <a:pt x="12829" y="16466"/>
                  <a:pt x="13105" y="16982"/>
                </a:cubicBezTo>
                <a:lnTo>
                  <a:pt x="13215" y="17460"/>
                </a:lnTo>
                <a:cubicBezTo>
                  <a:pt x="13620" y="18380"/>
                  <a:pt x="14044" y="19301"/>
                  <a:pt x="14485" y="20203"/>
                </a:cubicBezTo>
                <a:cubicBezTo>
                  <a:pt x="15056" y="21307"/>
                  <a:pt x="15498" y="21970"/>
                  <a:pt x="15995" y="22779"/>
                </a:cubicBezTo>
                <a:cubicBezTo>
                  <a:pt x="16492" y="23608"/>
                  <a:pt x="17044" y="24602"/>
                  <a:pt x="17927" y="26369"/>
                </a:cubicBezTo>
                <a:cubicBezTo>
                  <a:pt x="17951" y="26460"/>
                  <a:pt x="17950" y="26503"/>
                  <a:pt x="17927" y="26503"/>
                </a:cubicBezTo>
                <a:cubicBezTo>
                  <a:pt x="17792" y="26503"/>
                  <a:pt x="16881" y="24947"/>
                  <a:pt x="15903" y="23147"/>
                </a:cubicBezTo>
                <a:lnTo>
                  <a:pt x="15903" y="23147"/>
                </a:lnTo>
                <a:cubicBezTo>
                  <a:pt x="17743" y="26865"/>
                  <a:pt x="19749" y="30528"/>
                  <a:pt x="21885" y="34117"/>
                </a:cubicBezTo>
                <a:cubicBezTo>
                  <a:pt x="19068" y="37522"/>
                  <a:pt x="16639" y="40467"/>
                  <a:pt x="15295" y="41848"/>
                </a:cubicBezTo>
                <a:cubicBezTo>
                  <a:pt x="15471" y="41461"/>
                  <a:pt x="15480" y="41291"/>
                  <a:pt x="15359" y="41291"/>
                </a:cubicBezTo>
                <a:cubicBezTo>
                  <a:pt x="15047" y="41291"/>
                  <a:pt x="13873" y="42415"/>
                  <a:pt x="12442" y="43872"/>
                </a:cubicBezTo>
                <a:lnTo>
                  <a:pt x="7454" y="49873"/>
                </a:lnTo>
                <a:cubicBezTo>
                  <a:pt x="7442" y="49920"/>
                  <a:pt x="7453" y="49942"/>
                  <a:pt x="7483" y="49942"/>
                </a:cubicBezTo>
                <a:cubicBezTo>
                  <a:pt x="7725" y="49942"/>
                  <a:pt x="9236" y="48472"/>
                  <a:pt x="9480" y="48472"/>
                </a:cubicBezTo>
                <a:cubicBezTo>
                  <a:pt x="9569" y="48472"/>
                  <a:pt x="9488" y="48670"/>
                  <a:pt x="9111" y="49210"/>
                </a:cubicBezTo>
                <a:cubicBezTo>
                  <a:pt x="9125" y="49168"/>
                  <a:pt x="9116" y="49147"/>
                  <a:pt x="9085" y="49147"/>
                </a:cubicBezTo>
                <a:cubicBezTo>
                  <a:pt x="8880" y="49147"/>
                  <a:pt x="7717" y="50069"/>
                  <a:pt x="5948" y="51997"/>
                </a:cubicBezTo>
                <a:lnTo>
                  <a:pt x="5948" y="51997"/>
                </a:lnTo>
                <a:cubicBezTo>
                  <a:pt x="6903" y="50870"/>
                  <a:pt x="7046" y="50590"/>
                  <a:pt x="6935" y="50590"/>
                </a:cubicBezTo>
                <a:cubicBezTo>
                  <a:pt x="6917" y="50590"/>
                  <a:pt x="6893" y="50597"/>
                  <a:pt x="6865" y="50609"/>
                </a:cubicBezTo>
                <a:lnTo>
                  <a:pt x="4436" y="53535"/>
                </a:lnTo>
                <a:cubicBezTo>
                  <a:pt x="3092" y="55818"/>
                  <a:pt x="1620" y="58026"/>
                  <a:pt x="0" y="60143"/>
                </a:cubicBezTo>
                <a:cubicBezTo>
                  <a:pt x="184" y="60622"/>
                  <a:pt x="497" y="61045"/>
                  <a:pt x="902" y="61376"/>
                </a:cubicBezTo>
                <a:cubicBezTo>
                  <a:pt x="1215" y="61652"/>
                  <a:pt x="1601" y="61855"/>
                  <a:pt x="2006" y="61965"/>
                </a:cubicBezTo>
                <a:lnTo>
                  <a:pt x="3000" y="60566"/>
                </a:lnTo>
                <a:lnTo>
                  <a:pt x="4970" y="58652"/>
                </a:lnTo>
                <a:lnTo>
                  <a:pt x="2393" y="61910"/>
                </a:lnTo>
                <a:cubicBezTo>
                  <a:pt x="3773" y="60806"/>
                  <a:pt x="5393" y="58395"/>
                  <a:pt x="6773" y="56756"/>
                </a:cubicBezTo>
                <a:cubicBezTo>
                  <a:pt x="6981" y="56554"/>
                  <a:pt x="7092" y="56463"/>
                  <a:pt x="7125" y="56463"/>
                </a:cubicBezTo>
                <a:cubicBezTo>
                  <a:pt x="7320" y="56463"/>
                  <a:pt x="4772" y="59659"/>
                  <a:pt x="3166" y="62021"/>
                </a:cubicBezTo>
                <a:cubicBezTo>
                  <a:pt x="3497" y="61947"/>
                  <a:pt x="3792" y="61763"/>
                  <a:pt x="4012" y="61524"/>
                </a:cubicBezTo>
                <a:lnTo>
                  <a:pt x="7878" y="56885"/>
                </a:lnTo>
                <a:cubicBezTo>
                  <a:pt x="8135" y="56480"/>
                  <a:pt x="8448" y="56002"/>
                  <a:pt x="8927" y="55358"/>
                </a:cubicBezTo>
                <a:lnTo>
                  <a:pt x="9497" y="54971"/>
                </a:lnTo>
                <a:lnTo>
                  <a:pt x="12093" y="51879"/>
                </a:lnTo>
                <a:cubicBezTo>
                  <a:pt x="14099" y="49192"/>
                  <a:pt x="14154" y="48161"/>
                  <a:pt x="17706" y="44204"/>
                </a:cubicBezTo>
                <a:cubicBezTo>
                  <a:pt x="17779" y="44163"/>
                  <a:pt x="17831" y="44143"/>
                  <a:pt x="17866" y="44143"/>
                </a:cubicBezTo>
                <a:cubicBezTo>
                  <a:pt x="18219" y="44143"/>
                  <a:pt x="16686" y="46199"/>
                  <a:pt x="14909" y="48529"/>
                </a:cubicBezTo>
                <a:cubicBezTo>
                  <a:pt x="17982" y="44922"/>
                  <a:pt x="21038" y="41314"/>
                  <a:pt x="24112" y="37706"/>
                </a:cubicBezTo>
                <a:cubicBezTo>
                  <a:pt x="24204" y="37854"/>
                  <a:pt x="24314" y="38001"/>
                  <a:pt x="24406" y="38148"/>
                </a:cubicBezTo>
                <a:cubicBezTo>
                  <a:pt x="24296" y="37964"/>
                  <a:pt x="24204" y="37817"/>
                  <a:pt x="24130" y="37688"/>
                </a:cubicBezTo>
                <a:lnTo>
                  <a:pt x="24185" y="37633"/>
                </a:lnTo>
                <a:cubicBezTo>
                  <a:pt x="24958" y="38792"/>
                  <a:pt x="25952" y="40357"/>
                  <a:pt x="26762" y="41609"/>
                </a:cubicBezTo>
                <a:cubicBezTo>
                  <a:pt x="28437" y="43964"/>
                  <a:pt x="30204" y="46265"/>
                  <a:pt x="32118" y="48455"/>
                </a:cubicBezTo>
                <a:lnTo>
                  <a:pt x="32413" y="48695"/>
                </a:lnTo>
                <a:cubicBezTo>
                  <a:pt x="31083" y="47198"/>
                  <a:pt x="29362" y="45161"/>
                  <a:pt x="29557" y="45161"/>
                </a:cubicBezTo>
                <a:cubicBezTo>
                  <a:pt x="29578" y="45161"/>
                  <a:pt x="29621" y="45185"/>
                  <a:pt x="29689" y="45234"/>
                </a:cubicBezTo>
                <a:cubicBezTo>
                  <a:pt x="29026" y="44461"/>
                  <a:pt x="28382" y="43688"/>
                  <a:pt x="27756" y="42897"/>
                </a:cubicBezTo>
                <a:lnTo>
                  <a:pt x="27756" y="42897"/>
                </a:lnTo>
                <a:cubicBezTo>
                  <a:pt x="28823" y="44056"/>
                  <a:pt x="29357" y="44572"/>
                  <a:pt x="29836" y="45087"/>
                </a:cubicBezTo>
                <a:cubicBezTo>
                  <a:pt x="30314" y="45603"/>
                  <a:pt x="30756" y="46100"/>
                  <a:pt x="31713" y="47130"/>
                </a:cubicBezTo>
                <a:cubicBezTo>
                  <a:pt x="29965" y="44830"/>
                  <a:pt x="28363" y="42823"/>
                  <a:pt x="26872" y="40854"/>
                </a:cubicBezTo>
                <a:cubicBezTo>
                  <a:pt x="26007" y="39694"/>
                  <a:pt x="25179" y="38553"/>
                  <a:pt x="24406" y="37375"/>
                </a:cubicBezTo>
                <a:lnTo>
                  <a:pt x="24848" y="36860"/>
                </a:lnTo>
                <a:cubicBezTo>
                  <a:pt x="26136" y="38903"/>
                  <a:pt x="27498" y="40909"/>
                  <a:pt x="28934" y="42860"/>
                </a:cubicBezTo>
                <a:cubicBezTo>
                  <a:pt x="31161" y="45952"/>
                  <a:pt x="33627" y="48860"/>
                  <a:pt x="36296" y="51566"/>
                </a:cubicBezTo>
                <a:cubicBezTo>
                  <a:pt x="38983" y="54253"/>
                  <a:pt x="41965" y="56701"/>
                  <a:pt x="45315" y="58597"/>
                </a:cubicBezTo>
                <a:cubicBezTo>
                  <a:pt x="46622" y="59315"/>
                  <a:pt x="48002" y="59941"/>
                  <a:pt x="49401" y="60438"/>
                </a:cubicBezTo>
                <a:cubicBezTo>
                  <a:pt x="49401" y="60456"/>
                  <a:pt x="49401" y="60474"/>
                  <a:pt x="49401" y="60493"/>
                </a:cubicBezTo>
                <a:cubicBezTo>
                  <a:pt x="51776" y="61376"/>
                  <a:pt x="54260" y="61855"/>
                  <a:pt x="56800" y="61910"/>
                </a:cubicBezTo>
                <a:cubicBezTo>
                  <a:pt x="56874" y="61744"/>
                  <a:pt x="56929" y="61560"/>
                  <a:pt x="56929" y="61376"/>
                </a:cubicBezTo>
                <a:cubicBezTo>
                  <a:pt x="56929" y="61321"/>
                  <a:pt x="56929" y="61247"/>
                  <a:pt x="56929" y="61174"/>
                </a:cubicBezTo>
                <a:cubicBezTo>
                  <a:pt x="56817" y="61176"/>
                  <a:pt x="56706" y="61177"/>
                  <a:pt x="56595" y="61177"/>
                </a:cubicBezTo>
                <a:cubicBezTo>
                  <a:pt x="55845" y="61177"/>
                  <a:pt x="55108" y="61125"/>
                  <a:pt x="54371" y="61045"/>
                </a:cubicBezTo>
                <a:cubicBezTo>
                  <a:pt x="53904" y="60993"/>
                  <a:pt x="53467" y="60930"/>
                  <a:pt x="53078" y="60871"/>
                </a:cubicBezTo>
                <a:lnTo>
                  <a:pt x="53078" y="60871"/>
                </a:lnTo>
                <a:cubicBezTo>
                  <a:pt x="54002" y="60991"/>
                  <a:pt x="54929" y="61051"/>
                  <a:pt x="55853" y="61051"/>
                </a:cubicBezTo>
                <a:cubicBezTo>
                  <a:pt x="56194" y="61051"/>
                  <a:pt x="56534" y="61043"/>
                  <a:pt x="56874" y="61027"/>
                </a:cubicBezTo>
                <a:cubicBezTo>
                  <a:pt x="56856" y="60971"/>
                  <a:pt x="56837" y="60916"/>
                  <a:pt x="56819" y="60861"/>
                </a:cubicBezTo>
                <a:cubicBezTo>
                  <a:pt x="56193" y="60861"/>
                  <a:pt x="55567" y="60824"/>
                  <a:pt x="54960" y="60806"/>
                </a:cubicBezTo>
                <a:cubicBezTo>
                  <a:pt x="55254" y="60714"/>
                  <a:pt x="55567" y="60640"/>
                  <a:pt x="55862" y="60548"/>
                </a:cubicBezTo>
                <a:cubicBezTo>
                  <a:pt x="55438" y="60419"/>
                  <a:pt x="55770" y="60401"/>
                  <a:pt x="56432" y="60401"/>
                </a:cubicBezTo>
                <a:lnTo>
                  <a:pt x="56414" y="60364"/>
                </a:lnTo>
                <a:cubicBezTo>
                  <a:pt x="55401" y="60346"/>
                  <a:pt x="54408" y="60254"/>
                  <a:pt x="53414" y="60088"/>
                </a:cubicBezTo>
                <a:cubicBezTo>
                  <a:pt x="52383" y="59922"/>
                  <a:pt x="51371" y="59665"/>
                  <a:pt x="50395" y="59333"/>
                </a:cubicBezTo>
                <a:cubicBezTo>
                  <a:pt x="49788" y="59186"/>
                  <a:pt x="49199" y="59020"/>
                  <a:pt x="48610" y="58836"/>
                </a:cubicBezTo>
                <a:cubicBezTo>
                  <a:pt x="47855" y="58542"/>
                  <a:pt x="47137" y="58137"/>
                  <a:pt x="46493" y="57640"/>
                </a:cubicBezTo>
                <a:cubicBezTo>
                  <a:pt x="46199" y="57401"/>
                  <a:pt x="45941" y="57125"/>
                  <a:pt x="45683" y="56849"/>
                </a:cubicBezTo>
                <a:cubicBezTo>
                  <a:pt x="44616" y="56241"/>
                  <a:pt x="43585" y="55560"/>
                  <a:pt x="42591" y="54842"/>
                </a:cubicBezTo>
                <a:cubicBezTo>
                  <a:pt x="40824" y="53664"/>
                  <a:pt x="39149" y="52413"/>
                  <a:pt x="37548" y="51051"/>
                </a:cubicBezTo>
                <a:cubicBezTo>
                  <a:pt x="37088" y="50517"/>
                  <a:pt x="35744" y="49100"/>
                  <a:pt x="34861" y="48051"/>
                </a:cubicBezTo>
                <a:cubicBezTo>
                  <a:pt x="34548" y="47719"/>
                  <a:pt x="34272" y="47351"/>
                  <a:pt x="34014" y="46983"/>
                </a:cubicBezTo>
                <a:cubicBezTo>
                  <a:pt x="33999" y="46956"/>
                  <a:pt x="33994" y="46942"/>
                  <a:pt x="34001" y="46942"/>
                </a:cubicBezTo>
                <a:lnTo>
                  <a:pt x="34001" y="46942"/>
                </a:lnTo>
                <a:cubicBezTo>
                  <a:pt x="34028" y="46942"/>
                  <a:pt x="34232" y="47146"/>
                  <a:pt x="34713" y="47627"/>
                </a:cubicBezTo>
                <a:cubicBezTo>
                  <a:pt x="33370" y="46210"/>
                  <a:pt x="32726" y="45750"/>
                  <a:pt x="31879" y="44958"/>
                </a:cubicBezTo>
                <a:cubicBezTo>
                  <a:pt x="31051" y="44185"/>
                  <a:pt x="30038" y="43063"/>
                  <a:pt x="28253" y="40191"/>
                </a:cubicBezTo>
                <a:lnTo>
                  <a:pt x="28253" y="40191"/>
                </a:lnTo>
                <a:cubicBezTo>
                  <a:pt x="28621" y="40651"/>
                  <a:pt x="29008" y="41093"/>
                  <a:pt x="29394" y="41535"/>
                </a:cubicBezTo>
                <a:cubicBezTo>
                  <a:pt x="28161" y="39897"/>
                  <a:pt x="26817" y="37983"/>
                  <a:pt x="25547" y="36050"/>
                </a:cubicBezTo>
                <a:cubicBezTo>
                  <a:pt x="27001" y="34357"/>
                  <a:pt x="28474" y="32645"/>
                  <a:pt x="29928" y="30952"/>
                </a:cubicBezTo>
                <a:lnTo>
                  <a:pt x="29928" y="30952"/>
                </a:lnTo>
                <a:cubicBezTo>
                  <a:pt x="29505" y="31375"/>
                  <a:pt x="29173" y="31669"/>
                  <a:pt x="29063" y="31688"/>
                </a:cubicBezTo>
                <a:cubicBezTo>
                  <a:pt x="30259" y="30197"/>
                  <a:pt x="32100" y="28246"/>
                  <a:pt x="33609" y="26737"/>
                </a:cubicBezTo>
                <a:cubicBezTo>
                  <a:pt x="36149" y="23829"/>
                  <a:pt x="38707" y="20920"/>
                  <a:pt x="41284" y="18067"/>
                </a:cubicBezTo>
                <a:lnTo>
                  <a:pt x="41542" y="17626"/>
                </a:lnTo>
                <a:lnTo>
                  <a:pt x="41542" y="17626"/>
                </a:lnTo>
                <a:cubicBezTo>
                  <a:pt x="39826" y="19483"/>
                  <a:pt x="37761" y="22081"/>
                  <a:pt x="37452" y="22081"/>
                </a:cubicBezTo>
                <a:cubicBezTo>
                  <a:pt x="37399" y="22081"/>
                  <a:pt x="37397" y="22006"/>
                  <a:pt x="37456" y="21841"/>
                </a:cubicBezTo>
                <a:lnTo>
                  <a:pt x="37456" y="21841"/>
                </a:lnTo>
                <a:lnTo>
                  <a:pt x="34953" y="25025"/>
                </a:lnTo>
                <a:cubicBezTo>
                  <a:pt x="37180" y="21436"/>
                  <a:pt x="37069" y="21601"/>
                  <a:pt x="39333" y="18583"/>
                </a:cubicBezTo>
                <a:lnTo>
                  <a:pt x="39333" y="18583"/>
                </a:lnTo>
                <a:cubicBezTo>
                  <a:pt x="33738" y="23994"/>
                  <a:pt x="30664" y="29350"/>
                  <a:pt x="26118" y="33860"/>
                </a:cubicBezTo>
                <a:lnTo>
                  <a:pt x="26725" y="33068"/>
                </a:lnTo>
                <a:lnTo>
                  <a:pt x="26725" y="33068"/>
                </a:lnTo>
                <a:cubicBezTo>
                  <a:pt x="26099" y="33804"/>
                  <a:pt x="25510" y="34504"/>
                  <a:pt x="24958" y="35148"/>
                </a:cubicBezTo>
                <a:cubicBezTo>
                  <a:pt x="24719" y="34798"/>
                  <a:pt x="24480" y="34449"/>
                  <a:pt x="24259" y="34099"/>
                </a:cubicBezTo>
                <a:cubicBezTo>
                  <a:pt x="27535" y="30399"/>
                  <a:pt x="30811" y="26718"/>
                  <a:pt x="34106" y="23055"/>
                </a:cubicBezTo>
                <a:cubicBezTo>
                  <a:pt x="37548" y="19264"/>
                  <a:pt x="41008" y="15472"/>
                  <a:pt x="44542" y="11754"/>
                </a:cubicBezTo>
                <a:lnTo>
                  <a:pt x="45646" y="10595"/>
                </a:lnTo>
                <a:lnTo>
                  <a:pt x="46622" y="9601"/>
                </a:lnTo>
                <a:cubicBezTo>
                  <a:pt x="47266" y="8957"/>
                  <a:pt x="47892" y="8349"/>
                  <a:pt x="48536" y="7760"/>
                </a:cubicBezTo>
                <a:cubicBezTo>
                  <a:pt x="49125" y="7171"/>
                  <a:pt x="49751" y="6619"/>
                  <a:pt x="50413" y="6104"/>
                </a:cubicBezTo>
                <a:cubicBezTo>
                  <a:pt x="50579" y="5993"/>
                  <a:pt x="50745" y="5883"/>
                  <a:pt x="50929" y="5791"/>
                </a:cubicBezTo>
                <a:cubicBezTo>
                  <a:pt x="51021" y="5736"/>
                  <a:pt x="51113" y="5699"/>
                  <a:pt x="51205" y="5680"/>
                </a:cubicBezTo>
                <a:cubicBezTo>
                  <a:pt x="51220" y="5675"/>
                  <a:pt x="51235" y="5673"/>
                  <a:pt x="51249" y="5673"/>
                </a:cubicBezTo>
                <a:cubicBezTo>
                  <a:pt x="51288" y="5673"/>
                  <a:pt x="51325" y="5690"/>
                  <a:pt x="51352" y="5717"/>
                </a:cubicBezTo>
                <a:cubicBezTo>
                  <a:pt x="51389" y="5754"/>
                  <a:pt x="51407" y="5809"/>
                  <a:pt x="51407" y="5864"/>
                </a:cubicBezTo>
                <a:cubicBezTo>
                  <a:pt x="51389" y="6104"/>
                  <a:pt x="51315" y="6325"/>
                  <a:pt x="51205" y="6545"/>
                </a:cubicBezTo>
                <a:cubicBezTo>
                  <a:pt x="51131" y="6766"/>
                  <a:pt x="51021" y="6969"/>
                  <a:pt x="50910" y="7171"/>
                </a:cubicBezTo>
                <a:lnTo>
                  <a:pt x="49199" y="10742"/>
                </a:lnTo>
                <a:lnTo>
                  <a:pt x="49033" y="10852"/>
                </a:lnTo>
                <a:lnTo>
                  <a:pt x="48297" y="12288"/>
                </a:lnTo>
                <a:lnTo>
                  <a:pt x="47450" y="13963"/>
                </a:lnTo>
                <a:lnTo>
                  <a:pt x="45205" y="18436"/>
                </a:lnTo>
                <a:cubicBezTo>
                  <a:pt x="45444" y="18693"/>
                  <a:pt x="45738" y="18896"/>
                  <a:pt x="46070" y="19061"/>
                </a:cubicBezTo>
                <a:cubicBezTo>
                  <a:pt x="46180" y="19117"/>
                  <a:pt x="46309" y="19153"/>
                  <a:pt x="46419" y="19190"/>
                </a:cubicBezTo>
                <a:lnTo>
                  <a:pt x="47910" y="16024"/>
                </a:lnTo>
                <a:cubicBezTo>
                  <a:pt x="48131" y="15509"/>
                  <a:pt x="48370" y="15031"/>
                  <a:pt x="48555" y="14589"/>
                </a:cubicBezTo>
                <a:cubicBezTo>
                  <a:pt x="48614" y="14445"/>
                  <a:pt x="48673" y="14309"/>
                  <a:pt x="48728" y="14178"/>
                </a:cubicBezTo>
                <a:lnTo>
                  <a:pt x="48728" y="14178"/>
                </a:lnTo>
                <a:lnTo>
                  <a:pt x="46751" y="19282"/>
                </a:lnTo>
                <a:cubicBezTo>
                  <a:pt x="46861" y="19319"/>
                  <a:pt x="46972" y="19337"/>
                  <a:pt x="47082" y="19356"/>
                </a:cubicBezTo>
                <a:cubicBezTo>
                  <a:pt x="47450" y="18564"/>
                  <a:pt x="47818" y="17773"/>
                  <a:pt x="48131" y="16982"/>
                </a:cubicBezTo>
                <a:lnTo>
                  <a:pt x="48186" y="18362"/>
                </a:lnTo>
                <a:cubicBezTo>
                  <a:pt x="48305" y="18238"/>
                  <a:pt x="48384" y="18181"/>
                  <a:pt x="48429" y="18181"/>
                </a:cubicBezTo>
                <a:cubicBezTo>
                  <a:pt x="48549" y="18181"/>
                  <a:pt x="48413" y="18600"/>
                  <a:pt x="48131" y="19245"/>
                </a:cubicBezTo>
                <a:cubicBezTo>
                  <a:pt x="48150" y="19245"/>
                  <a:pt x="48168" y="19245"/>
                  <a:pt x="48186" y="19227"/>
                </a:cubicBezTo>
                <a:cubicBezTo>
                  <a:pt x="48757" y="18086"/>
                  <a:pt x="49383" y="16705"/>
                  <a:pt x="50027" y="15343"/>
                </a:cubicBezTo>
                <a:lnTo>
                  <a:pt x="50542" y="14221"/>
                </a:lnTo>
                <a:lnTo>
                  <a:pt x="51371" y="12454"/>
                </a:lnTo>
                <a:cubicBezTo>
                  <a:pt x="51941" y="11313"/>
                  <a:pt x="52475" y="10171"/>
                  <a:pt x="53009" y="9104"/>
                </a:cubicBezTo>
                <a:lnTo>
                  <a:pt x="53708" y="7300"/>
                </a:lnTo>
                <a:cubicBezTo>
                  <a:pt x="53911" y="6785"/>
                  <a:pt x="54076" y="6269"/>
                  <a:pt x="54223" y="5736"/>
                </a:cubicBezTo>
                <a:cubicBezTo>
                  <a:pt x="54371" y="5312"/>
                  <a:pt x="54518" y="4889"/>
                  <a:pt x="54628" y="4466"/>
                </a:cubicBezTo>
                <a:lnTo>
                  <a:pt x="54868" y="3601"/>
                </a:lnTo>
                <a:cubicBezTo>
                  <a:pt x="54997" y="3122"/>
                  <a:pt x="55125" y="2754"/>
                  <a:pt x="55217" y="2459"/>
                </a:cubicBezTo>
                <a:cubicBezTo>
                  <a:pt x="55457" y="1834"/>
                  <a:pt x="55641" y="1429"/>
                  <a:pt x="55714" y="1079"/>
                </a:cubicBezTo>
                <a:cubicBezTo>
                  <a:pt x="55659" y="1005"/>
                  <a:pt x="55604" y="932"/>
                  <a:pt x="55549" y="858"/>
                </a:cubicBezTo>
                <a:cubicBezTo>
                  <a:pt x="55475" y="748"/>
                  <a:pt x="55365" y="637"/>
                  <a:pt x="55273" y="545"/>
                </a:cubicBezTo>
                <a:cubicBezTo>
                  <a:pt x="55181" y="472"/>
                  <a:pt x="55089" y="416"/>
                  <a:pt x="54978" y="361"/>
                </a:cubicBezTo>
                <a:cubicBezTo>
                  <a:pt x="54923" y="306"/>
                  <a:pt x="54849" y="269"/>
                  <a:pt x="54776" y="251"/>
                </a:cubicBezTo>
                <a:cubicBezTo>
                  <a:pt x="54665" y="195"/>
                  <a:pt x="54555" y="159"/>
                  <a:pt x="54444" y="122"/>
                </a:cubicBezTo>
                <a:cubicBezTo>
                  <a:pt x="54242" y="48"/>
                  <a:pt x="54021" y="11"/>
                  <a:pt x="53819" y="11"/>
                </a:cubicBezTo>
                <a:cubicBezTo>
                  <a:pt x="53724" y="5"/>
                  <a:pt x="53632" y="0"/>
                  <a:pt x="53542" y="0"/>
                </a:cubicBezTo>
                <a:close/>
              </a:path>
            </a:pathLst>
          </a:custGeom>
          <a:solidFill>
            <a:srgbClr val="EC1C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92"/>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pic>
        <p:nvPicPr>
          <p:cNvPr id="1494" name="Google Shape;1494;p193"/>
          <p:cNvPicPr preferRelativeResize="0"/>
          <p:nvPr/>
        </p:nvPicPr>
        <p:blipFill rotWithShape="1">
          <a:blip r:embed="rId3">
            <a:alphaModFix/>
          </a:blip>
          <a:srcRect b="764" l="0" r="0" t="0"/>
          <a:stretch/>
        </p:blipFill>
        <p:spPr>
          <a:xfrm>
            <a:off x="-12300" y="0"/>
            <a:ext cx="9221899" cy="5143500"/>
          </a:xfrm>
          <a:prstGeom prst="rect">
            <a:avLst/>
          </a:prstGeom>
          <a:noFill/>
          <a:ln>
            <a:noFill/>
          </a:ln>
        </p:spPr>
      </p:pic>
      <p:sp>
        <p:nvSpPr>
          <p:cNvPr id="1495" name="Google Shape;1495;p193"/>
          <p:cNvSpPr txBox="1"/>
          <p:nvPr>
            <p:ph idx="1" type="subTitle"/>
          </p:nvPr>
        </p:nvSpPr>
        <p:spPr>
          <a:xfrm>
            <a:off x="5185475" y="0"/>
            <a:ext cx="4023900" cy="423900"/>
          </a:xfrm>
          <a:prstGeom prst="rect">
            <a:avLst/>
          </a:prstGeom>
          <a:solidFill>
            <a:schemeClr val="dk2"/>
          </a:solid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b="1" lang="en">
                <a:solidFill>
                  <a:schemeClr val="lt1"/>
                </a:solidFill>
              </a:rPr>
              <a:t>Scenario 2:</a:t>
            </a:r>
            <a:endParaRPr b="1">
              <a:solidFill>
                <a:schemeClr val="lt1"/>
              </a:solidFill>
            </a:endParaRPr>
          </a:p>
        </p:txBody>
      </p:sp>
      <p:sp>
        <p:nvSpPr>
          <p:cNvPr id="1496" name="Google Shape;1496;p193"/>
          <p:cNvSpPr txBox="1"/>
          <p:nvPr>
            <p:ph idx="3" type="body"/>
          </p:nvPr>
        </p:nvSpPr>
        <p:spPr>
          <a:xfrm>
            <a:off x="5185475" y="1981600"/>
            <a:ext cx="3559200" cy="12492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0"/>
              </a:spcBef>
              <a:spcAft>
                <a:spcPts val="800"/>
              </a:spcAft>
              <a:buSzPts val="1400"/>
              <a:buNone/>
            </a:pPr>
            <a:r>
              <a:rPr lang="en"/>
              <a:t>A friend has verbally asked you to perform a penetration test on a social media website they just joined as they want to make sure their information is safe.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pic>
        <p:nvPicPr>
          <p:cNvPr id="1501" name="Google Shape;1501;p194"/>
          <p:cNvPicPr preferRelativeResize="0"/>
          <p:nvPr/>
        </p:nvPicPr>
        <p:blipFill rotWithShape="1">
          <a:blip r:embed="rId3">
            <a:alphaModFix/>
          </a:blip>
          <a:srcRect b="764" l="0" r="0" t="0"/>
          <a:stretch/>
        </p:blipFill>
        <p:spPr>
          <a:xfrm>
            <a:off x="-12300" y="0"/>
            <a:ext cx="9221899" cy="5143500"/>
          </a:xfrm>
          <a:prstGeom prst="rect">
            <a:avLst/>
          </a:prstGeom>
          <a:noFill/>
          <a:ln>
            <a:noFill/>
          </a:ln>
        </p:spPr>
      </p:pic>
      <p:sp>
        <p:nvSpPr>
          <p:cNvPr id="1502" name="Google Shape;1502;p194"/>
          <p:cNvSpPr txBox="1"/>
          <p:nvPr>
            <p:ph idx="1" type="subTitle"/>
          </p:nvPr>
        </p:nvSpPr>
        <p:spPr>
          <a:xfrm>
            <a:off x="5185475" y="0"/>
            <a:ext cx="4023900" cy="423900"/>
          </a:xfrm>
          <a:prstGeom prst="rect">
            <a:avLst/>
          </a:prstGeom>
          <a:solidFill>
            <a:schemeClr val="dk2"/>
          </a:solidFill>
          <a:ln>
            <a:noFill/>
          </a:ln>
        </p:spPr>
        <p:txBody>
          <a:bodyPr anchorCtr="0" anchor="t" bIns="91425" lIns="457200" spcFirstLastPara="1" rIns="91425" wrap="square" tIns="91425">
            <a:noAutofit/>
          </a:bodyPr>
          <a:lstStyle/>
          <a:p>
            <a:pPr indent="0" lvl="0" marL="0" rtl="0" algn="l">
              <a:lnSpc>
                <a:spcPct val="100000"/>
              </a:lnSpc>
              <a:spcBef>
                <a:spcPts val="0"/>
              </a:spcBef>
              <a:spcAft>
                <a:spcPts val="0"/>
              </a:spcAft>
              <a:buSzPts val="1800"/>
              <a:buNone/>
            </a:pPr>
            <a:r>
              <a:rPr b="1" lang="en">
                <a:solidFill>
                  <a:schemeClr val="lt1"/>
                </a:solidFill>
              </a:rPr>
              <a:t>Scenario 2:</a:t>
            </a:r>
            <a:endParaRPr b="1">
              <a:solidFill>
                <a:schemeClr val="lt1"/>
              </a:solidFill>
            </a:endParaRPr>
          </a:p>
        </p:txBody>
      </p:sp>
      <p:sp>
        <p:nvSpPr>
          <p:cNvPr id="1503" name="Google Shape;1503;p194"/>
          <p:cNvSpPr/>
          <p:nvPr/>
        </p:nvSpPr>
        <p:spPr>
          <a:xfrm>
            <a:off x="5510925" y="2920175"/>
            <a:ext cx="3391500" cy="1622400"/>
          </a:xfrm>
          <a:prstGeom prst="roundRect">
            <a:avLst>
              <a:gd fmla="val 4848" name="adj"/>
            </a:avLst>
          </a:prstGeom>
          <a:solidFill>
            <a:srgbClr val="EC1C24"/>
          </a:solidFill>
          <a:ln>
            <a:noFill/>
          </a:ln>
        </p:spPr>
        <p:txBody>
          <a:bodyPr anchorCtr="0" anchor="ctr" bIns="91425" lIns="914400" spcFirstLastPara="1" rIns="0" wrap="square" tIns="91425">
            <a:noAutofit/>
          </a:bodyPr>
          <a:lstStyle/>
          <a:p>
            <a:pPr indent="0" lvl="0" marL="0" marR="0" rtl="0" algn="l">
              <a:lnSpc>
                <a:spcPct val="100000"/>
              </a:lnSpc>
              <a:spcBef>
                <a:spcPts val="0"/>
              </a:spcBef>
              <a:spcAft>
                <a:spcPts val="600"/>
              </a:spcAft>
              <a:buClr>
                <a:srgbClr val="000000"/>
              </a:buClr>
              <a:buSzPts val="1200"/>
              <a:buFont typeface="Arial"/>
              <a:buNone/>
            </a:pPr>
            <a:r>
              <a:rPr i="0" lang="en" sz="1300" u="none" cap="none" strike="noStrike">
                <a:solidFill>
                  <a:schemeClr val="lt1"/>
                </a:solidFill>
                <a:latin typeface="Roboto"/>
                <a:ea typeface="Roboto"/>
                <a:cs typeface="Roboto"/>
                <a:sym typeface="Roboto"/>
              </a:rPr>
              <a:t>This is an illegal no-view test, because neither the friend nor you own the social media website network or devices, and the social media website has not granted permission or signed a contract authorizing this test.</a:t>
            </a:r>
            <a:endParaRPr i="0" sz="1300" u="none" cap="none" strike="noStrike">
              <a:solidFill>
                <a:schemeClr val="lt1"/>
              </a:solidFill>
              <a:latin typeface="Roboto"/>
              <a:ea typeface="Roboto"/>
              <a:cs typeface="Roboto"/>
              <a:sym typeface="Roboto"/>
            </a:endParaRPr>
          </a:p>
        </p:txBody>
      </p:sp>
      <p:grpSp>
        <p:nvGrpSpPr>
          <p:cNvPr id="1504" name="Google Shape;1504;p194"/>
          <p:cNvGrpSpPr/>
          <p:nvPr/>
        </p:nvGrpSpPr>
        <p:grpSpPr>
          <a:xfrm>
            <a:off x="5689485" y="3442525"/>
            <a:ext cx="569882" cy="577703"/>
            <a:chOff x="1190625" y="238125"/>
            <a:chExt cx="5213925" cy="5213925"/>
          </a:xfrm>
        </p:grpSpPr>
        <p:sp>
          <p:nvSpPr>
            <p:cNvPr id="1505" name="Google Shape;1505;p194"/>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94"/>
            <p:cNvSpPr/>
            <p:nvPr/>
          </p:nvSpPr>
          <p:spPr>
            <a:xfrm>
              <a:off x="2521400" y="1613950"/>
              <a:ext cx="2552375" cy="2462975"/>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7" name="Google Shape;1507;p194"/>
          <p:cNvSpPr/>
          <p:nvPr/>
        </p:nvSpPr>
        <p:spPr>
          <a:xfrm>
            <a:off x="2005300" y="-78225"/>
            <a:ext cx="1423250" cy="1550525"/>
          </a:xfrm>
          <a:custGeom>
            <a:rect b="b" l="l" r="r" t="t"/>
            <a:pathLst>
              <a:path extrusionOk="0" h="62021" w="56930">
                <a:moveTo>
                  <a:pt x="52328" y="1337"/>
                </a:moveTo>
                <a:lnTo>
                  <a:pt x="52328" y="1337"/>
                </a:lnTo>
                <a:cubicBezTo>
                  <a:pt x="51720" y="1797"/>
                  <a:pt x="51150" y="2312"/>
                  <a:pt x="50634" y="2846"/>
                </a:cubicBezTo>
                <a:cubicBezTo>
                  <a:pt x="50321" y="3104"/>
                  <a:pt x="49990" y="3416"/>
                  <a:pt x="49640" y="3729"/>
                </a:cubicBezTo>
                <a:cubicBezTo>
                  <a:pt x="50137" y="3196"/>
                  <a:pt x="50634" y="2699"/>
                  <a:pt x="51076" y="2312"/>
                </a:cubicBezTo>
                <a:cubicBezTo>
                  <a:pt x="51481" y="1962"/>
                  <a:pt x="51886" y="1631"/>
                  <a:pt x="52328" y="1337"/>
                </a:cubicBezTo>
                <a:close/>
                <a:moveTo>
                  <a:pt x="17338" y="23295"/>
                </a:moveTo>
                <a:lnTo>
                  <a:pt x="17338" y="23295"/>
                </a:lnTo>
                <a:cubicBezTo>
                  <a:pt x="18995" y="26663"/>
                  <a:pt x="20762" y="29958"/>
                  <a:pt x="22639" y="33197"/>
                </a:cubicBezTo>
                <a:lnTo>
                  <a:pt x="22234" y="33676"/>
                </a:lnTo>
                <a:cubicBezTo>
                  <a:pt x="20927" y="31559"/>
                  <a:pt x="19768" y="29369"/>
                  <a:pt x="18719" y="27123"/>
                </a:cubicBezTo>
                <a:cubicBezTo>
                  <a:pt x="18148" y="25890"/>
                  <a:pt x="17688" y="24602"/>
                  <a:pt x="17338" y="23295"/>
                </a:cubicBezTo>
                <a:close/>
                <a:moveTo>
                  <a:pt x="23615" y="34835"/>
                </a:moveTo>
                <a:cubicBezTo>
                  <a:pt x="23836" y="35203"/>
                  <a:pt x="24056" y="35571"/>
                  <a:pt x="24296" y="35921"/>
                </a:cubicBezTo>
                <a:lnTo>
                  <a:pt x="23836" y="36436"/>
                </a:lnTo>
                <a:cubicBezTo>
                  <a:pt x="23615" y="36068"/>
                  <a:pt x="23394" y="35700"/>
                  <a:pt x="23191" y="35332"/>
                </a:cubicBezTo>
                <a:lnTo>
                  <a:pt x="23210" y="35295"/>
                </a:lnTo>
                <a:cubicBezTo>
                  <a:pt x="23357" y="35148"/>
                  <a:pt x="23486" y="34982"/>
                  <a:pt x="23615" y="34835"/>
                </a:cubicBezTo>
                <a:close/>
                <a:moveTo>
                  <a:pt x="22860" y="35700"/>
                </a:moveTo>
                <a:cubicBezTo>
                  <a:pt x="23081" y="36050"/>
                  <a:pt x="23320" y="36418"/>
                  <a:pt x="23559" y="36786"/>
                </a:cubicBezTo>
                <a:cubicBezTo>
                  <a:pt x="21185" y="39492"/>
                  <a:pt x="19455" y="41332"/>
                  <a:pt x="18075" y="42658"/>
                </a:cubicBezTo>
                <a:cubicBezTo>
                  <a:pt x="16749" y="43964"/>
                  <a:pt x="15295" y="45124"/>
                  <a:pt x="13731" y="46136"/>
                </a:cubicBezTo>
                <a:cubicBezTo>
                  <a:pt x="16768" y="42639"/>
                  <a:pt x="19805" y="39161"/>
                  <a:pt x="22860" y="35700"/>
                </a:cubicBezTo>
                <a:close/>
                <a:moveTo>
                  <a:pt x="5470" y="52536"/>
                </a:moveTo>
                <a:lnTo>
                  <a:pt x="4675" y="53462"/>
                </a:lnTo>
                <a:cubicBezTo>
                  <a:pt x="4948" y="53131"/>
                  <a:pt x="5211" y="52822"/>
                  <a:pt x="5470" y="52536"/>
                </a:cubicBezTo>
                <a:close/>
                <a:moveTo>
                  <a:pt x="40603" y="54014"/>
                </a:moveTo>
                <a:cubicBezTo>
                  <a:pt x="41155" y="54382"/>
                  <a:pt x="41726" y="54732"/>
                  <a:pt x="42315" y="55063"/>
                </a:cubicBezTo>
                <a:cubicBezTo>
                  <a:pt x="41928" y="54879"/>
                  <a:pt x="41560" y="54658"/>
                  <a:pt x="41192" y="54456"/>
                </a:cubicBezTo>
                <a:lnTo>
                  <a:pt x="40603" y="54014"/>
                </a:lnTo>
                <a:close/>
                <a:moveTo>
                  <a:pt x="53542" y="0"/>
                </a:moveTo>
                <a:cubicBezTo>
                  <a:pt x="53386" y="0"/>
                  <a:pt x="53234" y="13"/>
                  <a:pt x="53082" y="48"/>
                </a:cubicBezTo>
                <a:cubicBezTo>
                  <a:pt x="52751" y="140"/>
                  <a:pt x="52438" y="269"/>
                  <a:pt x="52144" y="453"/>
                </a:cubicBezTo>
                <a:cubicBezTo>
                  <a:pt x="51739" y="692"/>
                  <a:pt x="51352" y="969"/>
                  <a:pt x="50984" y="1263"/>
                </a:cubicBezTo>
                <a:cubicBezTo>
                  <a:pt x="50064" y="2073"/>
                  <a:pt x="49162" y="2920"/>
                  <a:pt x="48334" y="3840"/>
                </a:cubicBezTo>
                <a:cubicBezTo>
                  <a:pt x="47432" y="4779"/>
                  <a:pt x="46567" y="5754"/>
                  <a:pt x="45720" y="6711"/>
                </a:cubicBezTo>
                <a:lnTo>
                  <a:pt x="44450" y="8147"/>
                </a:lnTo>
                <a:lnTo>
                  <a:pt x="43843" y="8865"/>
                </a:lnTo>
                <a:lnTo>
                  <a:pt x="43272" y="9527"/>
                </a:lnTo>
                <a:lnTo>
                  <a:pt x="42904" y="9840"/>
                </a:lnTo>
                <a:lnTo>
                  <a:pt x="42481" y="10245"/>
                </a:lnTo>
                <a:cubicBezTo>
                  <a:pt x="42186" y="10521"/>
                  <a:pt x="41818" y="10871"/>
                  <a:pt x="41450" y="11239"/>
                </a:cubicBezTo>
                <a:lnTo>
                  <a:pt x="39241" y="13429"/>
                </a:lnTo>
                <a:cubicBezTo>
                  <a:pt x="38489" y="14191"/>
                  <a:pt x="37915" y="14752"/>
                  <a:pt x="37825" y="14752"/>
                </a:cubicBezTo>
                <a:cubicBezTo>
                  <a:pt x="37756" y="14752"/>
                  <a:pt x="37968" y="14426"/>
                  <a:pt x="38597" y="13613"/>
                </a:cubicBezTo>
                <a:lnTo>
                  <a:pt x="38597" y="13613"/>
                </a:lnTo>
                <a:cubicBezTo>
                  <a:pt x="36885" y="15693"/>
                  <a:pt x="36480" y="16797"/>
                  <a:pt x="35670" y="18141"/>
                </a:cubicBezTo>
                <a:cubicBezTo>
                  <a:pt x="34861" y="19503"/>
                  <a:pt x="33627" y="21141"/>
                  <a:pt x="30296" y="24344"/>
                </a:cubicBezTo>
                <a:lnTo>
                  <a:pt x="31676" y="22356"/>
                </a:lnTo>
                <a:lnTo>
                  <a:pt x="31676" y="22356"/>
                </a:lnTo>
                <a:cubicBezTo>
                  <a:pt x="29063" y="25375"/>
                  <a:pt x="26044" y="29056"/>
                  <a:pt x="23247" y="32442"/>
                </a:cubicBezTo>
                <a:cubicBezTo>
                  <a:pt x="21498" y="29608"/>
                  <a:pt x="20099" y="27050"/>
                  <a:pt x="19492" y="25743"/>
                </a:cubicBezTo>
                <a:lnTo>
                  <a:pt x="19492" y="25743"/>
                </a:lnTo>
                <a:cubicBezTo>
                  <a:pt x="19633" y="25919"/>
                  <a:pt x="19719" y="25999"/>
                  <a:pt x="19759" y="25999"/>
                </a:cubicBezTo>
                <a:cubicBezTo>
                  <a:pt x="19910" y="25999"/>
                  <a:pt x="19393" y="24833"/>
                  <a:pt x="18737" y="23332"/>
                </a:cubicBezTo>
                <a:cubicBezTo>
                  <a:pt x="17854" y="21638"/>
                  <a:pt x="17007" y="19926"/>
                  <a:pt x="16197" y="18196"/>
                </a:cubicBezTo>
                <a:cubicBezTo>
                  <a:pt x="16184" y="18183"/>
                  <a:pt x="16174" y="18177"/>
                  <a:pt x="16167" y="18177"/>
                </a:cubicBezTo>
                <a:lnTo>
                  <a:pt x="16167" y="18177"/>
                </a:lnTo>
                <a:cubicBezTo>
                  <a:pt x="16052" y="18177"/>
                  <a:pt x="16755" y="19915"/>
                  <a:pt x="16641" y="19915"/>
                </a:cubicBezTo>
                <a:cubicBezTo>
                  <a:pt x="16609" y="19915"/>
                  <a:pt x="16510" y="19774"/>
                  <a:pt x="16308" y="19411"/>
                </a:cubicBezTo>
                <a:lnTo>
                  <a:pt x="16308" y="19411"/>
                </a:lnTo>
                <a:cubicBezTo>
                  <a:pt x="16320" y="19426"/>
                  <a:pt x="16330" y="19434"/>
                  <a:pt x="16336" y="19434"/>
                </a:cubicBezTo>
                <a:cubicBezTo>
                  <a:pt x="16420" y="19434"/>
                  <a:pt x="16072" y="18288"/>
                  <a:pt x="15203" y="16245"/>
                </a:cubicBezTo>
                <a:lnTo>
                  <a:pt x="15203" y="16245"/>
                </a:lnTo>
                <a:cubicBezTo>
                  <a:pt x="15690" y="17334"/>
                  <a:pt x="15854" y="17631"/>
                  <a:pt x="15894" y="17631"/>
                </a:cubicBezTo>
                <a:cubicBezTo>
                  <a:pt x="15905" y="17631"/>
                  <a:pt x="15907" y="17607"/>
                  <a:pt x="15903" y="17571"/>
                </a:cubicBezTo>
                <a:cubicBezTo>
                  <a:pt x="15516" y="16742"/>
                  <a:pt x="15130" y="15896"/>
                  <a:pt x="14761" y="15049"/>
                </a:cubicBezTo>
                <a:cubicBezTo>
                  <a:pt x="13786" y="13374"/>
                  <a:pt x="12902" y="11644"/>
                  <a:pt x="12148" y="9840"/>
                </a:cubicBezTo>
                <a:cubicBezTo>
                  <a:pt x="12019" y="9803"/>
                  <a:pt x="11886" y="9785"/>
                  <a:pt x="11752" y="9785"/>
                </a:cubicBezTo>
                <a:cubicBezTo>
                  <a:pt x="11619" y="9785"/>
                  <a:pt x="11485" y="9803"/>
                  <a:pt x="11356" y="9840"/>
                </a:cubicBezTo>
                <a:cubicBezTo>
                  <a:pt x="11154" y="9932"/>
                  <a:pt x="10970" y="10061"/>
                  <a:pt x="10859" y="10245"/>
                </a:cubicBezTo>
                <a:lnTo>
                  <a:pt x="11393" y="11405"/>
                </a:lnTo>
                <a:cubicBezTo>
                  <a:pt x="11596" y="12067"/>
                  <a:pt x="11798" y="12711"/>
                  <a:pt x="12019" y="13356"/>
                </a:cubicBezTo>
                <a:cubicBezTo>
                  <a:pt x="11614" y="12399"/>
                  <a:pt x="11209" y="11460"/>
                  <a:pt x="10804" y="10484"/>
                </a:cubicBezTo>
                <a:lnTo>
                  <a:pt x="10804" y="10484"/>
                </a:lnTo>
                <a:cubicBezTo>
                  <a:pt x="11117" y="11754"/>
                  <a:pt x="12074" y="13687"/>
                  <a:pt x="12700" y="15159"/>
                </a:cubicBezTo>
                <a:cubicBezTo>
                  <a:pt x="12780" y="15381"/>
                  <a:pt x="12807" y="15480"/>
                  <a:pt x="12792" y="15480"/>
                </a:cubicBezTo>
                <a:cubicBezTo>
                  <a:pt x="12713" y="15480"/>
                  <a:pt x="11485" y="12792"/>
                  <a:pt x="10620" y="10908"/>
                </a:cubicBezTo>
                <a:lnTo>
                  <a:pt x="10620" y="10908"/>
                </a:lnTo>
                <a:cubicBezTo>
                  <a:pt x="10583" y="11147"/>
                  <a:pt x="10620" y="11386"/>
                  <a:pt x="10712" y="11607"/>
                </a:cubicBezTo>
                <a:cubicBezTo>
                  <a:pt x="11283" y="13006"/>
                  <a:pt x="11853" y="14405"/>
                  <a:pt x="12461" y="15767"/>
                </a:cubicBezTo>
                <a:cubicBezTo>
                  <a:pt x="12645" y="16080"/>
                  <a:pt x="12829" y="16466"/>
                  <a:pt x="13105" y="16982"/>
                </a:cubicBezTo>
                <a:lnTo>
                  <a:pt x="13215" y="17460"/>
                </a:lnTo>
                <a:cubicBezTo>
                  <a:pt x="13620" y="18380"/>
                  <a:pt x="14044" y="19301"/>
                  <a:pt x="14485" y="20203"/>
                </a:cubicBezTo>
                <a:cubicBezTo>
                  <a:pt x="15056" y="21307"/>
                  <a:pt x="15498" y="21970"/>
                  <a:pt x="15995" y="22779"/>
                </a:cubicBezTo>
                <a:cubicBezTo>
                  <a:pt x="16492" y="23608"/>
                  <a:pt x="17044" y="24602"/>
                  <a:pt x="17927" y="26369"/>
                </a:cubicBezTo>
                <a:cubicBezTo>
                  <a:pt x="17951" y="26460"/>
                  <a:pt x="17950" y="26503"/>
                  <a:pt x="17927" y="26503"/>
                </a:cubicBezTo>
                <a:cubicBezTo>
                  <a:pt x="17792" y="26503"/>
                  <a:pt x="16881" y="24947"/>
                  <a:pt x="15903" y="23147"/>
                </a:cubicBezTo>
                <a:lnTo>
                  <a:pt x="15903" y="23147"/>
                </a:lnTo>
                <a:cubicBezTo>
                  <a:pt x="17743" y="26865"/>
                  <a:pt x="19749" y="30528"/>
                  <a:pt x="21885" y="34117"/>
                </a:cubicBezTo>
                <a:cubicBezTo>
                  <a:pt x="19068" y="37522"/>
                  <a:pt x="16639" y="40467"/>
                  <a:pt x="15295" y="41848"/>
                </a:cubicBezTo>
                <a:cubicBezTo>
                  <a:pt x="15471" y="41461"/>
                  <a:pt x="15480" y="41291"/>
                  <a:pt x="15359" y="41291"/>
                </a:cubicBezTo>
                <a:cubicBezTo>
                  <a:pt x="15047" y="41291"/>
                  <a:pt x="13873" y="42415"/>
                  <a:pt x="12442" y="43872"/>
                </a:cubicBezTo>
                <a:lnTo>
                  <a:pt x="7454" y="49873"/>
                </a:lnTo>
                <a:cubicBezTo>
                  <a:pt x="7442" y="49920"/>
                  <a:pt x="7453" y="49942"/>
                  <a:pt x="7483" y="49942"/>
                </a:cubicBezTo>
                <a:cubicBezTo>
                  <a:pt x="7725" y="49942"/>
                  <a:pt x="9236" y="48472"/>
                  <a:pt x="9480" y="48472"/>
                </a:cubicBezTo>
                <a:cubicBezTo>
                  <a:pt x="9569" y="48472"/>
                  <a:pt x="9488" y="48670"/>
                  <a:pt x="9111" y="49210"/>
                </a:cubicBezTo>
                <a:cubicBezTo>
                  <a:pt x="9125" y="49168"/>
                  <a:pt x="9116" y="49147"/>
                  <a:pt x="9085" y="49147"/>
                </a:cubicBezTo>
                <a:cubicBezTo>
                  <a:pt x="8880" y="49147"/>
                  <a:pt x="7717" y="50069"/>
                  <a:pt x="5948" y="51997"/>
                </a:cubicBezTo>
                <a:lnTo>
                  <a:pt x="5948" y="51997"/>
                </a:lnTo>
                <a:cubicBezTo>
                  <a:pt x="6903" y="50870"/>
                  <a:pt x="7046" y="50590"/>
                  <a:pt x="6935" y="50590"/>
                </a:cubicBezTo>
                <a:cubicBezTo>
                  <a:pt x="6917" y="50590"/>
                  <a:pt x="6893" y="50597"/>
                  <a:pt x="6865" y="50609"/>
                </a:cubicBezTo>
                <a:lnTo>
                  <a:pt x="4436" y="53535"/>
                </a:lnTo>
                <a:cubicBezTo>
                  <a:pt x="3092" y="55818"/>
                  <a:pt x="1620" y="58026"/>
                  <a:pt x="0" y="60143"/>
                </a:cubicBezTo>
                <a:cubicBezTo>
                  <a:pt x="184" y="60622"/>
                  <a:pt x="497" y="61045"/>
                  <a:pt x="902" y="61376"/>
                </a:cubicBezTo>
                <a:cubicBezTo>
                  <a:pt x="1215" y="61652"/>
                  <a:pt x="1601" y="61855"/>
                  <a:pt x="2006" y="61965"/>
                </a:cubicBezTo>
                <a:lnTo>
                  <a:pt x="3000" y="60566"/>
                </a:lnTo>
                <a:lnTo>
                  <a:pt x="4970" y="58652"/>
                </a:lnTo>
                <a:lnTo>
                  <a:pt x="2393" y="61910"/>
                </a:lnTo>
                <a:cubicBezTo>
                  <a:pt x="3773" y="60806"/>
                  <a:pt x="5393" y="58395"/>
                  <a:pt x="6773" y="56756"/>
                </a:cubicBezTo>
                <a:cubicBezTo>
                  <a:pt x="6981" y="56554"/>
                  <a:pt x="7092" y="56463"/>
                  <a:pt x="7125" y="56463"/>
                </a:cubicBezTo>
                <a:cubicBezTo>
                  <a:pt x="7320" y="56463"/>
                  <a:pt x="4772" y="59659"/>
                  <a:pt x="3166" y="62021"/>
                </a:cubicBezTo>
                <a:cubicBezTo>
                  <a:pt x="3497" y="61947"/>
                  <a:pt x="3792" y="61763"/>
                  <a:pt x="4012" y="61524"/>
                </a:cubicBezTo>
                <a:lnTo>
                  <a:pt x="7878" y="56885"/>
                </a:lnTo>
                <a:cubicBezTo>
                  <a:pt x="8135" y="56480"/>
                  <a:pt x="8448" y="56002"/>
                  <a:pt x="8927" y="55358"/>
                </a:cubicBezTo>
                <a:lnTo>
                  <a:pt x="9497" y="54971"/>
                </a:lnTo>
                <a:lnTo>
                  <a:pt x="12093" y="51879"/>
                </a:lnTo>
                <a:cubicBezTo>
                  <a:pt x="14099" y="49192"/>
                  <a:pt x="14154" y="48161"/>
                  <a:pt x="17706" y="44204"/>
                </a:cubicBezTo>
                <a:cubicBezTo>
                  <a:pt x="17779" y="44163"/>
                  <a:pt x="17831" y="44143"/>
                  <a:pt x="17866" y="44143"/>
                </a:cubicBezTo>
                <a:cubicBezTo>
                  <a:pt x="18219" y="44143"/>
                  <a:pt x="16686" y="46199"/>
                  <a:pt x="14909" y="48529"/>
                </a:cubicBezTo>
                <a:cubicBezTo>
                  <a:pt x="17982" y="44922"/>
                  <a:pt x="21038" y="41314"/>
                  <a:pt x="24112" y="37706"/>
                </a:cubicBezTo>
                <a:cubicBezTo>
                  <a:pt x="24204" y="37854"/>
                  <a:pt x="24314" y="38001"/>
                  <a:pt x="24406" y="38148"/>
                </a:cubicBezTo>
                <a:cubicBezTo>
                  <a:pt x="24296" y="37964"/>
                  <a:pt x="24204" y="37817"/>
                  <a:pt x="24130" y="37688"/>
                </a:cubicBezTo>
                <a:lnTo>
                  <a:pt x="24185" y="37633"/>
                </a:lnTo>
                <a:cubicBezTo>
                  <a:pt x="24958" y="38792"/>
                  <a:pt x="25952" y="40357"/>
                  <a:pt x="26762" y="41609"/>
                </a:cubicBezTo>
                <a:cubicBezTo>
                  <a:pt x="28437" y="43964"/>
                  <a:pt x="30204" y="46265"/>
                  <a:pt x="32118" y="48455"/>
                </a:cubicBezTo>
                <a:lnTo>
                  <a:pt x="32413" y="48695"/>
                </a:lnTo>
                <a:cubicBezTo>
                  <a:pt x="31083" y="47198"/>
                  <a:pt x="29362" y="45161"/>
                  <a:pt x="29557" y="45161"/>
                </a:cubicBezTo>
                <a:cubicBezTo>
                  <a:pt x="29578" y="45161"/>
                  <a:pt x="29621" y="45185"/>
                  <a:pt x="29689" y="45234"/>
                </a:cubicBezTo>
                <a:cubicBezTo>
                  <a:pt x="29026" y="44461"/>
                  <a:pt x="28382" y="43688"/>
                  <a:pt x="27756" y="42897"/>
                </a:cubicBezTo>
                <a:lnTo>
                  <a:pt x="27756" y="42897"/>
                </a:lnTo>
                <a:cubicBezTo>
                  <a:pt x="28823" y="44056"/>
                  <a:pt x="29357" y="44572"/>
                  <a:pt x="29836" y="45087"/>
                </a:cubicBezTo>
                <a:cubicBezTo>
                  <a:pt x="30314" y="45603"/>
                  <a:pt x="30756" y="46100"/>
                  <a:pt x="31713" y="47130"/>
                </a:cubicBezTo>
                <a:cubicBezTo>
                  <a:pt x="29965" y="44830"/>
                  <a:pt x="28363" y="42823"/>
                  <a:pt x="26872" y="40854"/>
                </a:cubicBezTo>
                <a:cubicBezTo>
                  <a:pt x="26007" y="39694"/>
                  <a:pt x="25179" y="38553"/>
                  <a:pt x="24406" y="37375"/>
                </a:cubicBezTo>
                <a:lnTo>
                  <a:pt x="24848" y="36860"/>
                </a:lnTo>
                <a:cubicBezTo>
                  <a:pt x="26136" y="38903"/>
                  <a:pt x="27498" y="40909"/>
                  <a:pt x="28934" y="42860"/>
                </a:cubicBezTo>
                <a:cubicBezTo>
                  <a:pt x="31161" y="45952"/>
                  <a:pt x="33627" y="48860"/>
                  <a:pt x="36296" y="51566"/>
                </a:cubicBezTo>
                <a:cubicBezTo>
                  <a:pt x="38983" y="54253"/>
                  <a:pt x="41965" y="56701"/>
                  <a:pt x="45315" y="58597"/>
                </a:cubicBezTo>
                <a:cubicBezTo>
                  <a:pt x="46622" y="59315"/>
                  <a:pt x="48002" y="59941"/>
                  <a:pt x="49401" y="60438"/>
                </a:cubicBezTo>
                <a:cubicBezTo>
                  <a:pt x="49401" y="60456"/>
                  <a:pt x="49401" y="60474"/>
                  <a:pt x="49401" y="60493"/>
                </a:cubicBezTo>
                <a:cubicBezTo>
                  <a:pt x="51776" y="61376"/>
                  <a:pt x="54260" y="61855"/>
                  <a:pt x="56800" y="61910"/>
                </a:cubicBezTo>
                <a:cubicBezTo>
                  <a:pt x="56874" y="61744"/>
                  <a:pt x="56929" y="61560"/>
                  <a:pt x="56929" y="61376"/>
                </a:cubicBezTo>
                <a:cubicBezTo>
                  <a:pt x="56929" y="61321"/>
                  <a:pt x="56929" y="61247"/>
                  <a:pt x="56929" y="61174"/>
                </a:cubicBezTo>
                <a:cubicBezTo>
                  <a:pt x="56817" y="61176"/>
                  <a:pt x="56706" y="61177"/>
                  <a:pt x="56595" y="61177"/>
                </a:cubicBezTo>
                <a:cubicBezTo>
                  <a:pt x="55845" y="61177"/>
                  <a:pt x="55108" y="61125"/>
                  <a:pt x="54371" y="61045"/>
                </a:cubicBezTo>
                <a:cubicBezTo>
                  <a:pt x="53904" y="60993"/>
                  <a:pt x="53467" y="60930"/>
                  <a:pt x="53078" y="60871"/>
                </a:cubicBezTo>
                <a:lnTo>
                  <a:pt x="53078" y="60871"/>
                </a:lnTo>
                <a:cubicBezTo>
                  <a:pt x="54002" y="60991"/>
                  <a:pt x="54929" y="61051"/>
                  <a:pt x="55853" y="61051"/>
                </a:cubicBezTo>
                <a:cubicBezTo>
                  <a:pt x="56194" y="61051"/>
                  <a:pt x="56534" y="61043"/>
                  <a:pt x="56874" y="61027"/>
                </a:cubicBezTo>
                <a:cubicBezTo>
                  <a:pt x="56856" y="60971"/>
                  <a:pt x="56837" y="60916"/>
                  <a:pt x="56819" y="60861"/>
                </a:cubicBezTo>
                <a:cubicBezTo>
                  <a:pt x="56193" y="60861"/>
                  <a:pt x="55567" y="60824"/>
                  <a:pt x="54960" y="60806"/>
                </a:cubicBezTo>
                <a:cubicBezTo>
                  <a:pt x="55254" y="60714"/>
                  <a:pt x="55567" y="60640"/>
                  <a:pt x="55862" y="60548"/>
                </a:cubicBezTo>
                <a:cubicBezTo>
                  <a:pt x="55438" y="60419"/>
                  <a:pt x="55770" y="60401"/>
                  <a:pt x="56432" y="60401"/>
                </a:cubicBezTo>
                <a:lnTo>
                  <a:pt x="56414" y="60364"/>
                </a:lnTo>
                <a:cubicBezTo>
                  <a:pt x="55401" y="60346"/>
                  <a:pt x="54408" y="60254"/>
                  <a:pt x="53414" y="60088"/>
                </a:cubicBezTo>
                <a:cubicBezTo>
                  <a:pt x="52383" y="59922"/>
                  <a:pt x="51371" y="59665"/>
                  <a:pt x="50395" y="59333"/>
                </a:cubicBezTo>
                <a:cubicBezTo>
                  <a:pt x="49788" y="59186"/>
                  <a:pt x="49199" y="59020"/>
                  <a:pt x="48610" y="58836"/>
                </a:cubicBezTo>
                <a:cubicBezTo>
                  <a:pt x="47855" y="58542"/>
                  <a:pt x="47137" y="58137"/>
                  <a:pt x="46493" y="57640"/>
                </a:cubicBezTo>
                <a:cubicBezTo>
                  <a:pt x="46199" y="57401"/>
                  <a:pt x="45941" y="57125"/>
                  <a:pt x="45683" y="56849"/>
                </a:cubicBezTo>
                <a:cubicBezTo>
                  <a:pt x="44616" y="56241"/>
                  <a:pt x="43585" y="55560"/>
                  <a:pt x="42591" y="54842"/>
                </a:cubicBezTo>
                <a:cubicBezTo>
                  <a:pt x="40824" y="53664"/>
                  <a:pt x="39149" y="52413"/>
                  <a:pt x="37548" y="51051"/>
                </a:cubicBezTo>
                <a:cubicBezTo>
                  <a:pt x="37088" y="50517"/>
                  <a:pt x="35744" y="49100"/>
                  <a:pt x="34861" y="48051"/>
                </a:cubicBezTo>
                <a:cubicBezTo>
                  <a:pt x="34548" y="47719"/>
                  <a:pt x="34272" y="47351"/>
                  <a:pt x="34014" y="46983"/>
                </a:cubicBezTo>
                <a:cubicBezTo>
                  <a:pt x="33999" y="46956"/>
                  <a:pt x="33994" y="46942"/>
                  <a:pt x="34001" y="46942"/>
                </a:cubicBezTo>
                <a:lnTo>
                  <a:pt x="34001" y="46942"/>
                </a:lnTo>
                <a:cubicBezTo>
                  <a:pt x="34028" y="46942"/>
                  <a:pt x="34232" y="47146"/>
                  <a:pt x="34713" y="47627"/>
                </a:cubicBezTo>
                <a:cubicBezTo>
                  <a:pt x="33370" y="46210"/>
                  <a:pt x="32726" y="45750"/>
                  <a:pt x="31879" y="44958"/>
                </a:cubicBezTo>
                <a:cubicBezTo>
                  <a:pt x="31051" y="44185"/>
                  <a:pt x="30038" y="43063"/>
                  <a:pt x="28253" y="40191"/>
                </a:cubicBezTo>
                <a:lnTo>
                  <a:pt x="28253" y="40191"/>
                </a:lnTo>
                <a:cubicBezTo>
                  <a:pt x="28621" y="40651"/>
                  <a:pt x="29008" y="41093"/>
                  <a:pt x="29394" y="41535"/>
                </a:cubicBezTo>
                <a:cubicBezTo>
                  <a:pt x="28161" y="39897"/>
                  <a:pt x="26817" y="37983"/>
                  <a:pt x="25547" y="36050"/>
                </a:cubicBezTo>
                <a:cubicBezTo>
                  <a:pt x="27001" y="34357"/>
                  <a:pt x="28474" y="32645"/>
                  <a:pt x="29928" y="30952"/>
                </a:cubicBezTo>
                <a:lnTo>
                  <a:pt x="29928" y="30952"/>
                </a:lnTo>
                <a:cubicBezTo>
                  <a:pt x="29505" y="31375"/>
                  <a:pt x="29173" y="31669"/>
                  <a:pt x="29063" y="31688"/>
                </a:cubicBezTo>
                <a:cubicBezTo>
                  <a:pt x="30259" y="30197"/>
                  <a:pt x="32100" y="28246"/>
                  <a:pt x="33609" y="26737"/>
                </a:cubicBezTo>
                <a:cubicBezTo>
                  <a:pt x="36149" y="23829"/>
                  <a:pt x="38707" y="20920"/>
                  <a:pt x="41284" y="18067"/>
                </a:cubicBezTo>
                <a:lnTo>
                  <a:pt x="41542" y="17626"/>
                </a:lnTo>
                <a:lnTo>
                  <a:pt x="41542" y="17626"/>
                </a:lnTo>
                <a:cubicBezTo>
                  <a:pt x="39826" y="19483"/>
                  <a:pt x="37761" y="22081"/>
                  <a:pt x="37452" y="22081"/>
                </a:cubicBezTo>
                <a:cubicBezTo>
                  <a:pt x="37399" y="22081"/>
                  <a:pt x="37397" y="22006"/>
                  <a:pt x="37456" y="21841"/>
                </a:cubicBezTo>
                <a:lnTo>
                  <a:pt x="37456" y="21841"/>
                </a:lnTo>
                <a:lnTo>
                  <a:pt x="34953" y="25025"/>
                </a:lnTo>
                <a:cubicBezTo>
                  <a:pt x="37180" y="21436"/>
                  <a:pt x="37069" y="21601"/>
                  <a:pt x="39333" y="18583"/>
                </a:cubicBezTo>
                <a:lnTo>
                  <a:pt x="39333" y="18583"/>
                </a:lnTo>
                <a:cubicBezTo>
                  <a:pt x="33738" y="23994"/>
                  <a:pt x="30664" y="29350"/>
                  <a:pt x="26118" y="33860"/>
                </a:cubicBezTo>
                <a:lnTo>
                  <a:pt x="26725" y="33068"/>
                </a:lnTo>
                <a:lnTo>
                  <a:pt x="26725" y="33068"/>
                </a:lnTo>
                <a:cubicBezTo>
                  <a:pt x="26099" y="33804"/>
                  <a:pt x="25510" y="34504"/>
                  <a:pt x="24958" y="35148"/>
                </a:cubicBezTo>
                <a:cubicBezTo>
                  <a:pt x="24719" y="34798"/>
                  <a:pt x="24480" y="34449"/>
                  <a:pt x="24259" y="34099"/>
                </a:cubicBezTo>
                <a:cubicBezTo>
                  <a:pt x="27535" y="30399"/>
                  <a:pt x="30811" y="26718"/>
                  <a:pt x="34106" y="23055"/>
                </a:cubicBezTo>
                <a:cubicBezTo>
                  <a:pt x="37548" y="19264"/>
                  <a:pt x="41008" y="15472"/>
                  <a:pt x="44542" y="11754"/>
                </a:cubicBezTo>
                <a:lnTo>
                  <a:pt x="45646" y="10595"/>
                </a:lnTo>
                <a:lnTo>
                  <a:pt x="46622" y="9601"/>
                </a:lnTo>
                <a:cubicBezTo>
                  <a:pt x="47266" y="8957"/>
                  <a:pt x="47892" y="8349"/>
                  <a:pt x="48536" y="7760"/>
                </a:cubicBezTo>
                <a:cubicBezTo>
                  <a:pt x="49125" y="7171"/>
                  <a:pt x="49751" y="6619"/>
                  <a:pt x="50413" y="6104"/>
                </a:cubicBezTo>
                <a:cubicBezTo>
                  <a:pt x="50579" y="5993"/>
                  <a:pt x="50745" y="5883"/>
                  <a:pt x="50929" y="5791"/>
                </a:cubicBezTo>
                <a:cubicBezTo>
                  <a:pt x="51021" y="5736"/>
                  <a:pt x="51113" y="5699"/>
                  <a:pt x="51205" y="5680"/>
                </a:cubicBezTo>
                <a:cubicBezTo>
                  <a:pt x="51220" y="5675"/>
                  <a:pt x="51235" y="5673"/>
                  <a:pt x="51249" y="5673"/>
                </a:cubicBezTo>
                <a:cubicBezTo>
                  <a:pt x="51288" y="5673"/>
                  <a:pt x="51325" y="5690"/>
                  <a:pt x="51352" y="5717"/>
                </a:cubicBezTo>
                <a:cubicBezTo>
                  <a:pt x="51389" y="5754"/>
                  <a:pt x="51407" y="5809"/>
                  <a:pt x="51407" y="5864"/>
                </a:cubicBezTo>
                <a:cubicBezTo>
                  <a:pt x="51389" y="6104"/>
                  <a:pt x="51315" y="6325"/>
                  <a:pt x="51205" y="6545"/>
                </a:cubicBezTo>
                <a:cubicBezTo>
                  <a:pt x="51131" y="6766"/>
                  <a:pt x="51021" y="6969"/>
                  <a:pt x="50910" y="7171"/>
                </a:cubicBezTo>
                <a:lnTo>
                  <a:pt x="49199" y="10742"/>
                </a:lnTo>
                <a:lnTo>
                  <a:pt x="49033" y="10852"/>
                </a:lnTo>
                <a:lnTo>
                  <a:pt x="48297" y="12288"/>
                </a:lnTo>
                <a:lnTo>
                  <a:pt x="47450" y="13963"/>
                </a:lnTo>
                <a:lnTo>
                  <a:pt x="45205" y="18436"/>
                </a:lnTo>
                <a:cubicBezTo>
                  <a:pt x="45444" y="18693"/>
                  <a:pt x="45738" y="18896"/>
                  <a:pt x="46070" y="19061"/>
                </a:cubicBezTo>
                <a:cubicBezTo>
                  <a:pt x="46180" y="19117"/>
                  <a:pt x="46309" y="19153"/>
                  <a:pt x="46419" y="19190"/>
                </a:cubicBezTo>
                <a:lnTo>
                  <a:pt x="47910" y="16024"/>
                </a:lnTo>
                <a:cubicBezTo>
                  <a:pt x="48131" y="15509"/>
                  <a:pt x="48370" y="15031"/>
                  <a:pt x="48555" y="14589"/>
                </a:cubicBezTo>
                <a:cubicBezTo>
                  <a:pt x="48614" y="14445"/>
                  <a:pt x="48673" y="14309"/>
                  <a:pt x="48728" y="14178"/>
                </a:cubicBezTo>
                <a:lnTo>
                  <a:pt x="48728" y="14178"/>
                </a:lnTo>
                <a:lnTo>
                  <a:pt x="46751" y="19282"/>
                </a:lnTo>
                <a:cubicBezTo>
                  <a:pt x="46861" y="19319"/>
                  <a:pt x="46972" y="19337"/>
                  <a:pt x="47082" y="19356"/>
                </a:cubicBezTo>
                <a:cubicBezTo>
                  <a:pt x="47450" y="18564"/>
                  <a:pt x="47818" y="17773"/>
                  <a:pt x="48131" y="16982"/>
                </a:cubicBezTo>
                <a:lnTo>
                  <a:pt x="48186" y="18362"/>
                </a:lnTo>
                <a:cubicBezTo>
                  <a:pt x="48305" y="18238"/>
                  <a:pt x="48384" y="18181"/>
                  <a:pt x="48429" y="18181"/>
                </a:cubicBezTo>
                <a:cubicBezTo>
                  <a:pt x="48549" y="18181"/>
                  <a:pt x="48413" y="18600"/>
                  <a:pt x="48131" y="19245"/>
                </a:cubicBezTo>
                <a:cubicBezTo>
                  <a:pt x="48150" y="19245"/>
                  <a:pt x="48168" y="19245"/>
                  <a:pt x="48186" y="19227"/>
                </a:cubicBezTo>
                <a:cubicBezTo>
                  <a:pt x="48757" y="18086"/>
                  <a:pt x="49383" y="16705"/>
                  <a:pt x="50027" y="15343"/>
                </a:cubicBezTo>
                <a:lnTo>
                  <a:pt x="50542" y="14221"/>
                </a:lnTo>
                <a:lnTo>
                  <a:pt x="51371" y="12454"/>
                </a:lnTo>
                <a:cubicBezTo>
                  <a:pt x="51941" y="11313"/>
                  <a:pt x="52475" y="10171"/>
                  <a:pt x="53009" y="9104"/>
                </a:cubicBezTo>
                <a:lnTo>
                  <a:pt x="53708" y="7300"/>
                </a:lnTo>
                <a:cubicBezTo>
                  <a:pt x="53911" y="6785"/>
                  <a:pt x="54076" y="6269"/>
                  <a:pt x="54223" y="5736"/>
                </a:cubicBezTo>
                <a:cubicBezTo>
                  <a:pt x="54371" y="5312"/>
                  <a:pt x="54518" y="4889"/>
                  <a:pt x="54628" y="4466"/>
                </a:cubicBezTo>
                <a:lnTo>
                  <a:pt x="54868" y="3601"/>
                </a:lnTo>
                <a:cubicBezTo>
                  <a:pt x="54997" y="3122"/>
                  <a:pt x="55125" y="2754"/>
                  <a:pt x="55217" y="2459"/>
                </a:cubicBezTo>
                <a:cubicBezTo>
                  <a:pt x="55457" y="1834"/>
                  <a:pt x="55641" y="1429"/>
                  <a:pt x="55714" y="1079"/>
                </a:cubicBezTo>
                <a:cubicBezTo>
                  <a:pt x="55659" y="1005"/>
                  <a:pt x="55604" y="932"/>
                  <a:pt x="55549" y="858"/>
                </a:cubicBezTo>
                <a:cubicBezTo>
                  <a:pt x="55475" y="748"/>
                  <a:pt x="55365" y="637"/>
                  <a:pt x="55273" y="545"/>
                </a:cubicBezTo>
                <a:cubicBezTo>
                  <a:pt x="55181" y="472"/>
                  <a:pt x="55089" y="416"/>
                  <a:pt x="54978" y="361"/>
                </a:cubicBezTo>
                <a:cubicBezTo>
                  <a:pt x="54923" y="306"/>
                  <a:pt x="54849" y="269"/>
                  <a:pt x="54776" y="251"/>
                </a:cubicBezTo>
                <a:cubicBezTo>
                  <a:pt x="54665" y="195"/>
                  <a:pt x="54555" y="159"/>
                  <a:pt x="54444" y="122"/>
                </a:cubicBezTo>
                <a:cubicBezTo>
                  <a:pt x="54242" y="48"/>
                  <a:pt x="54021" y="11"/>
                  <a:pt x="53819" y="11"/>
                </a:cubicBezTo>
                <a:cubicBezTo>
                  <a:pt x="53724" y="5"/>
                  <a:pt x="53632" y="0"/>
                  <a:pt x="53542" y="0"/>
                </a:cubicBezTo>
                <a:close/>
              </a:path>
            </a:pathLst>
          </a:custGeom>
          <a:solidFill>
            <a:srgbClr val="EC1C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9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509" name="Google Shape;1509;p194"/>
          <p:cNvSpPr txBox="1"/>
          <p:nvPr>
            <p:ph idx="3" type="body"/>
          </p:nvPr>
        </p:nvSpPr>
        <p:spPr>
          <a:xfrm>
            <a:off x="5185475" y="1042650"/>
            <a:ext cx="3843300" cy="12588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0"/>
              </a:spcBef>
              <a:spcAft>
                <a:spcPts val="800"/>
              </a:spcAft>
              <a:buSzPts val="1400"/>
              <a:buNone/>
            </a:pPr>
            <a:r>
              <a:rPr lang="en"/>
              <a:t>A friend has verbally asked you to perform a penetration test on a social media website they just joined as they want to make sure their information is safe.</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96"/>
          <p:cNvSpPr txBox="1"/>
          <p:nvPr>
            <p:ph type="title"/>
          </p:nvPr>
        </p:nvSpPr>
        <p:spPr>
          <a:xfrm>
            <a:off x="401700" y="10675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600"/>
              <a:buNone/>
            </a:pPr>
            <a:r>
              <a:rPr lang="en">
                <a:solidFill>
                  <a:schemeClr val="dk2"/>
                </a:solidFill>
              </a:rPr>
              <a:t>Summary</a:t>
            </a:r>
            <a:endParaRPr>
              <a:solidFill>
                <a:schemeClr val="dk2"/>
              </a:solidFill>
            </a:endParaRPr>
          </a:p>
          <a:p>
            <a:pPr indent="0" lvl="0" marL="0" rtl="0" algn="l">
              <a:lnSpc>
                <a:spcPct val="100000"/>
              </a:lnSpc>
              <a:spcBef>
                <a:spcPts val="0"/>
              </a:spcBef>
              <a:spcAft>
                <a:spcPts val="0"/>
              </a:spcAft>
              <a:buSzPts val="2600"/>
              <a:buNone/>
            </a:pPr>
            <a:r>
              <a:t/>
            </a:r>
            <a:endParaRPr/>
          </a:p>
        </p:txBody>
      </p:sp>
      <p:sp>
        <p:nvSpPr>
          <p:cNvPr id="1519" name="Google Shape;1519;p196"/>
          <p:cNvSpPr/>
          <p:nvPr/>
        </p:nvSpPr>
        <p:spPr>
          <a:xfrm>
            <a:off x="639275" y="726725"/>
            <a:ext cx="7992000" cy="740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20" name="Google Shape;1520;p196"/>
          <p:cNvGrpSpPr/>
          <p:nvPr/>
        </p:nvGrpSpPr>
        <p:grpSpPr>
          <a:xfrm>
            <a:off x="0" y="940324"/>
            <a:ext cx="836703" cy="323100"/>
            <a:chOff x="-3" y="2076738"/>
            <a:chExt cx="836703" cy="323100"/>
          </a:xfrm>
        </p:grpSpPr>
        <p:cxnSp>
          <p:nvCxnSpPr>
            <p:cNvPr id="1521" name="Google Shape;1521;p196"/>
            <p:cNvCxnSpPr/>
            <p:nvPr/>
          </p:nvCxnSpPr>
          <p:spPr>
            <a:xfrm>
              <a:off x="-3" y="2238288"/>
              <a:ext cx="672900" cy="0"/>
            </a:xfrm>
            <a:prstGeom prst="straightConnector1">
              <a:avLst/>
            </a:prstGeom>
            <a:noFill/>
            <a:ln cap="flat" cmpd="sng" w="19050">
              <a:solidFill>
                <a:schemeClr val="accent6"/>
              </a:solidFill>
              <a:prstDash val="solid"/>
              <a:round/>
              <a:headEnd len="sm" w="sm" type="none"/>
              <a:tailEnd len="med" w="med" type="oval"/>
            </a:ln>
          </p:spPr>
        </p:cxnSp>
        <p:sp>
          <p:nvSpPr>
            <p:cNvPr id="1522" name="Google Shape;1522;p196"/>
            <p:cNvSpPr/>
            <p:nvPr/>
          </p:nvSpPr>
          <p:spPr>
            <a:xfrm>
              <a:off x="513600" y="20767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23" name="Google Shape;1523;p196"/>
            <p:cNvSpPr/>
            <p:nvPr/>
          </p:nvSpPr>
          <p:spPr>
            <a:xfrm>
              <a:off x="593400" y="21565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24" name="Google Shape;1524;p196"/>
          <p:cNvSpPr txBox="1"/>
          <p:nvPr/>
        </p:nvSpPr>
        <p:spPr>
          <a:xfrm>
            <a:off x="935300" y="772975"/>
            <a:ext cx="7848000" cy="4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oboto"/>
                <a:ea typeface="Roboto"/>
                <a:cs typeface="Roboto"/>
                <a:sym typeface="Roboto"/>
              </a:rPr>
              <a:t>Penetration testing</a:t>
            </a:r>
            <a:r>
              <a:rPr lang="en">
                <a:solidFill>
                  <a:schemeClr val="dk2"/>
                </a:solidFill>
                <a:latin typeface="Roboto"/>
                <a:ea typeface="Roboto"/>
                <a:cs typeface="Roboto"/>
                <a:sym typeface="Roboto"/>
              </a:rPr>
              <a:t>, often referred to as </a:t>
            </a:r>
            <a:r>
              <a:rPr b="1" lang="en">
                <a:solidFill>
                  <a:schemeClr val="dk2"/>
                </a:solidFill>
                <a:latin typeface="Roboto"/>
                <a:ea typeface="Roboto"/>
                <a:cs typeface="Roboto"/>
                <a:sym typeface="Roboto"/>
              </a:rPr>
              <a:t>pen testing </a:t>
            </a:r>
            <a:r>
              <a:rPr lang="en">
                <a:solidFill>
                  <a:schemeClr val="dk2"/>
                </a:solidFill>
                <a:latin typeface="Roboto"/>
                <a:ea typeface="Roboto"/>
                <a:cs typeface="Roboto"/>
                <a:sym typeface="Roboto"/>
              </a:rPr>
              <a:t>or </a:t>
            </a:r>
            <a:r>
              <a:rPr b="1" lang="en">
                <a:solidFill>
                  <a:schemeClr val="dk2"/>
                </a:solidFill>
                <a:latin typeface="Roboto"/>
                <a:ea typeface="Roboto"/>
                <a:cs typeface="Roboto"/>
                <a:sym typeface="Roboto"/>
              </a:rPr>
              <a:t>ethical hacking</a:t>
            </a:r>
            <a:r>
              <a:rPr lang="en">
                <a:solidFill>
                  <a:schemeClr val="dk2"/>
                </a:solidFill>
                <a:latin typeface="Roboto"/>
                <a:ea typeface="Roboto"/>
                <a:cs typeface="Roboto"/>
                <a:sym typeface="Roboto"/>
              </a:rPr>
              <a:t>, is the offensive security practice of attacking a network using the same techniques that a malicious hacker uses.</a:t>
            </a:r>
            <a:endParaRPr>
              <a:solidFill>
                <a:schemeClr val="dk2"/>
              </a:solidFill>
              <a:latin typeface="Roboto"/>
              <a:ea typeface="Roboto"/>
              <a:cs typeface="Roboto"/>
              <a:sym typeface="Roboto"/>
            </a:endParaRPr>
          </a:p>
        </p:txBody>
      </p:sp>
      <p:sp>
        <p:nvSpPr>
          <p:cNvPr id="1525" name="Google Shape;1525;p196"/>
          <p:cNvSpPr/>
          <p:nvPr/>
        </p:nvSpPr>
        <p:spPr>
          <a:xfrm>
            <a:off x="639275" y="1668300"/>
            <a:ext cx="7992000" cy="740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26" name="Google Shape;1526;p196"/>
          <p:cNvGrpSpPr/>
          <p:nvPr/>
        </p:nvGrpSpPr>
        <p:grpSpPr>
          <a:xfrm>
            <a:off x="0" y="1881899"/>
            <a:ext cx="836703" cy="323100"/>
            <a:chOff x="-3" y="2076738"/>
            <a:chExt cx="836703" cy="323100"/>
          </a:xfrm>
        </p:grpSpPr>
        <p:cxnSp>
          <p:nvCxnSpPr>
            <p:cNvPr id="1527" name="Google Shape;1527;p196"/>
            <p:cNvCxnSpPr/>
            <p:nvPr/>
          </p:nvCxnSpPr>
          <p:spPr>
            <a:xfrm>
              <a:off x="-3" y="2238288"/>
              <a:ext cx="672900" cy="0"/>
            </a:xfrm>
            <a:prstGeom prst="straightConnector1">
              <a:avLst/>
            </a:prstGeom>
            <a:noFill/>
            <a:ln cap="flat" cmpd="sng" w="19050">
              <a:solidFill>
                <a:schemeClr val="accent6"/>
              </a:solidFill>
              <a:prstDash val="solid"/>
              <a:round/>
              <a:headEnd len="sm" w="sm" type="none"/>
              <a:tailEnd len="med" w="med" type="oval"/>
            </a:ln>
          </p:spPr>
        </p:cxnSp>
        <p:sp>
          <p:nvSpPr>
            <p:cNvPr id="1528" name="Google Shape;1528;p196"/>
            <p:cNvSpPr/>
            <p:nvPr/>
          </p:nvSpPr>
          <p:spPr>
            <a:xfrm>
              <a:off x="513600" y="20767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29" name="Google Shape;1529;p196"/>
            <p:cNvSpPr/>
            <p:nvPr/>
          </p:nvSpPr>
          <p:spPr>
            <a:xfrm>
              <a:off x="593400" y="21565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30" name="Google Shape;1530;p196"/>
          <p:cNvSpPr txBox="1"/>
          <p:nvPr/>
        </p:nvSpPr>
        <p:spPr>
          <a:xfrm>
            <a:off x="935300" y="1714550"/>
            <a:ext cx="74193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The five phases of a pen testing engagement are: </a:t>
            </a:r>
            <a:r>
              <a:rPr b="1" lang="en">
                <a:solidFill>
                  <a:schemeClr val="dk2"/>
                </a:solidFill>
                <a:latin typeface="Roboto"/>
                <a:ea typeface="Roboto"/>
                <a:cs typeface="Roboto"/>
                <a:sym typeface="Roboto"/>
              </a:rPr>
              <a:t>Planning and Reconnaissance, Scanning, Exploitation, Post-Exploitation, </a:t>
            </a:r>
            <a:r>
              <a:rPr lang="en">
                <a:solidFill>
                  <a:schemeClr val="dk2"/>
                </a:solidFill>
                <a:latin typeface="Roboto"/>
                <a:ea typeface="Roboto"/>
                <a:cs typeface="Roboto"/>
                <a:sym typeface="Roboto"/>
              </a:rPr>
              <a:t>and</a:t>
            </a:r>
            <a:r>
              <a:rPr b="1" lang="en">
                <a:solidFill>
                  <a:schemeClr val="dk2"/>
                </a:solidFill>
                <a:latin typeface="Roboto"/>
                <a:ea typeface="Roboto"/>
                <a:cs typeface="Roboto"/>
                <a:sym typeface="Roboto"/>
              </a:rPr>
              <a:t> Reporting.</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grpSp>
        <p:nvGrpSpPr>
          <p:cNvPr id="1531" name="Google Shape;1531;p196"/>
          <p:cNvGrpSpPr/>
          <p:nvPr/>
        </p:nvGrpSpPr>
        <p:grpSpPr>
          <a:xfrm>
            <a:off x="0" y="2592225"/>
            <a:ext cx="8631183" cy="400200"/>
            <a:chOff x="-3" y="1885796"/>
            <a:chExt cx="8686778" cy="400200"/>
          </a:xfrm>
        </p:grpSpPr>
        <p:cxnSp>
          <p:nvCxnSpPr>
            <p:cNvPr id="1532" name="Google Shape;1532;p196"/>
            <p:cNvCxnSpPr/>
            <p:nvPr/>
          </p:nvCxnSpPr>
          <p:spPr>
            <a:xfrm>
              <a:off x="-3" y="2085888"/>
              <a:ext cx="662400" cy="0"/>
            </a:xfrm>
            <a:prstGeom prst="straightConnector1">
              <a:avLst/>
            </a:prstGeom>
            <a:noFill/>
            <a:ln cap="flat" cmpd="sng" w="19050">
              <a:solidFill>
                <a:srgbClr val="2E5E73"/>
              </a:solidFill>
              <a:prstDash val="solid"/>
              <a:round/>
              <a:headEnd len="sm" w="sm" type="none"/>
              <a:tailEnd len="med" w="med" type="oval"/>
            </a:ln>
          </p:spPr>
        </p:cxnSp>
        <p:cxnSp>
          <p:nvCxnSpPr>
            <p:cNvPr id="1533" name="Google Shape;1533;p196"/>
            <p:cNvCxnSpPr/>
            <p:nvPr/>
          </p:nvCxnSpPr>
          <p:spPr>
            <a:xfrm>
              <a:off x="-3" y="2085888"/>
              <a:ext cx="672900" cy="0"/>
            </a:xfrm>
            <a:prstGeom prst="straightConnector1">
              <a:avLst/>
            </a:prstGeom>
            <a:noFill/>
            <a:ln cap="flat" cmpd="sng" w="19050">
              <a:solidFill>
                <a:srgbClr val="2E5E73"/>
              </a:solidFill>
              <a:prstDash val="solid"/>
              <a:round/>
              <a:headEnd len="sm" w="sm" type="none"/>
              <a:tailEnd len="med" w="med" type="oval"/>
            </a:ln>
          </p:spPr>
        </p:cxnSp>
        <p:sp>
          <p:nvSpPr>
            <p:cNvPr id="1534" name="Google Shape;1534;p196"/>
            <p:cNvSpPr/>
            <p:nvPr/>
          </p:nvSpPr>
          <p:spPr>
            <a:xfrm>
              <a:off x="639275" y="1885796"/>
              <a:ext cx="8047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      </a:t>
              </a:r>
              <a:r>
                <a:rPr lang="en">
                  <a:solidFill>
                    <a:schemeClr val="dk2"/>
                  </a:solidFill>
                  <a:latin typeface="Roboto"/>
                  <a:ea typeface="Roboto"/>
                  <a:cs typeface="Roboto"/>
                  <a:sym typeface="Roboto"/>
                </a:rPr>
                <a:t>During the planning phase, the engagement’s scope and purpose are defined.</a:t>
              </a:r>
              <a:endParaRPr>
                <a:solidFill>
                  <a:schemeClr val="dk2"/>
                </a:solidFill>
                <a:latin typeface="Roboto"/>
                <a:ea typeface="Roboto"/>
                <a:cs typeface="Roboto"/>
                <a:sym typeface="Roboto"/>
              </a:endParaRPr>
            </a:p>
          </p:txBody>
        </p:sp>
        <p:sp>
          <p:nvSpPr>
            <p:cNvPr id="1535" name="Google Shape;1535;p196"/>
            <p:cNvSpPr/>
            <p:nvPr/>
          </p:nvSpPr>
          <p:spPr>
            <a:xfrm>
              <a:off x="513600" y="1924338"/>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36" name="Google Shape;1536;p196"/>
            <p:cNvSpPr/>
            <p:nvPr/>
          </p:nvSpPr>
          <p:spPr>
            <a:xfrm>
              <a:off x="593400" y="20041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37" name="Google Shape;1537;p196"/>
          <p:cNvSpPr/>
          <p:nvPr/>
        </p:nvSpPr>
        <p:spPr>
          <a:xfrm>
            <a:off x="639275" y="3192300"/>
            <a:ext cx="7992000" cy="740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38" name="Google Shape;1538;p196"/>
          <p:cNvGrpSpPr/>
          <p:nvPr/>
        </p:nvGrpSpPr>
        <p:grpSpPr>
          <a:xfrm>
            <a:off x="0" y="3405899"/>
            <a:ext cx="836703" cy="323100"/>
            <a:chOff x="-3" y="2076738"/>
            <a:chExt cx="836703" cy="323100"/>
          </a:xfrm>
        </p:grpSpPr>
        <p:cxnSp>
          <p:nvCxnSpPr>
            <p:cNvPr id="1539" name="Google Shape;1539;p196"/>
            <p:cNvCxnSpPr/>
            <p:nvPr/>
          </p:nvCxnSpPr>
          <p:spPr>
            <a:xfrm>
              <a:off x="-3" y="2238288"/>
              <a:ext cx="672900" cy="0"/>
            </a:xfrm>
            <a:prstGeom prst="straightConnector1">
              <a:avLst/>
            </a:prstGeom>
            <a:noFill/>
            <a:ln cap="flat" cmpd="sng" w="19050">
              <a:solidFill>
                <a:schemeClr val="accent6"/>
              </a:solidFill>
              <a:prstDash val="solid"/>
              <a:round/>
              <a:headEnd len="sm" w="sm" type="none"/>
              <a:tailEnd len="med" w="med" type="oval"/>
            </a:ln>
          </p:spPr>
        </p:cxnSp>
        <p:sp>
          <p:nvSpPr>
            <p:cNvPr id="1540" name="Google Shape;1540;p196"/>
            <p:cNvSpPr/>
            <p:nvPr/>
          </p:nvSpPr>
          <p:spPr>
            <a:xfrm>
              <a:off x="513600" y="20767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41" name="Google Shape;1541;p196"/>
            <p:cNvSpPr/>
            <p:nvPr/>
          </p:nvSpPr>
          <p:spPr>
            <a:xfrm>
              <a:off x="593400" y="21565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42" name="Google Shape;1542;p196"/>
          <p:cNvSpPr txBox="1"/>
          <p:nvPr/>
        </p:nvSpPr>
        <p:spPr>
          <a:xfrm>
            <a:off x="935300" y="3238550"/>
            <a:ext cx="74193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The</a:t>
            </a:r>
            <a:r>
              <a:rPr b="1" lang="en">
                <a:solidFill>
                  <a:schemeClr val="dk2"/>
                </a:solidFill>
                <a:latin typeface="Roboto"/>
                <a:ea typeface="Roboto"/>
                <a:cs typeface="Roboto"/>
                <a:sym typeface="Roboto"/>
              </a:rPr>
              <a:t> scope</a:t>
            </a:r>
            <a:r>
              <a:rPr lang="en">
                <a:solidFill>
                  <a:schemeClr val="dk2"/>
                </a:solidFill>
                <a:latin typeface="Roboto"/>
                <a:ea typeface="Roboto"/>
                <a:cs typeface="Roboto"/>
                <a:sym typeface="Roboto"/>
              </a:rPr>
              <a:t> includes the type of penetration test that will be run. Types include </a:t>
            </a:r>
            <a:r>
              <a:rPr b="1" lang="en">
                <a:solidFill>
                  <a:schemeClr val="dk2"/>
                </a:solidFill>
                <a:latin typeface="Roboto"/>
                <a:ea typeface="Roboto"/>
                <a:cs typeface="Roboto"/>
                <a:sym typeface="Roboto"/>
              </a:rPr>
              <a:t>no view</a:t>
            </a:r>
            <a:r>
              <a:rPr lang="en">
                <a:solidFill>
                  <a:schemeClr val="dk2"/>
                </a:solidFill>
                <a:latin typeface="Roboto"/>
                <a:ea typeface="Roboto"/>
                <a:cs typeface="Roboto"/>
                <a:sym typeface="Roboto"/>
              </a:rPr>
              <a:t>, </a:t>
            </a:r>
            <a:endParaRPr>
              <a:solidFill>
                <a:schemeClr val="dk2"/>
              </a:solidFill>
              <a:latin typeface="Roboto"/>
              <a:ea typeface="Roboto"/>
              <a:cs typeface="Roboto"/>
              <a:sym typeface="Roboto"/>
            </a:endParaRPr>
          </a:p>
          <a:p>
            <a:pPr indent="0" lvl="0" marL="0" rtl="0" algn="l">
              <a:spcBef>
                <a:spcPts val="0"/>
              </a:spcBef>
              <a:spcAft>
                <a:spcPts val="0"/>
              </a:spcAft>
              <a:buNone/>
            </a:pPr>
            <a:r>
              <a:rPr b="1" lang="en">
                <a:solidFill>
                  <a:schemeClr val="dk2"/>
                </a:solidFill>
                <a:latin typeface="Roboto"/>
                <a:ea typeface="Roboto"/>
                <a:cs typeface="Roboto"/>
                <a:sym typeface="Roboto"/>
              </a:rPr>
              <a:t>full view, </a:t>
            </a:r>
            <a:r>
              <a:rPr lang="en">
                <a:solidFill>
                  <a:schemeClr val="dk2"/>
                </a:solidFill>
                <a:latin typeface="Roboto"/>
                <a:ea typeface="Roboto"/>
                <a:cs typeface="Roboto"/>
                <a:sym typeface="Roboto"/>
              </a:rPr>
              <a:t>and</a:t>
            </a:r>
            <a:r>
              <a:rPr b="1" lang="en">
                <a:solidFill>
                  <a:schemeClr val="dk2"/>
                </a:solidFill>
                <a:latin typeface="Roboto"/>
                <a:ea typeface="Roboto"/>
                <a:cs typeface="Roboto"/>
                <a:sym typeface="Roboto"/>
              </a:rPr>
              <a:t> partial view.</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543" name="Google Shape;1543;p196"/>
          <p:cNvSpPr/>
          <p:nvPr/>
        </p:nvSpPr>
        <p:spPr>
          <a:xfrm>
            <a:off x="639275" y="4106700"/>
            <a:ext cx="7992000" cy="740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44" name="Google Shape;1544;p196"/>
          <p:cNvGrpSpPr/>
          <p:nvPr/>
        </p:nvGrpSpPr>
        <p:grpSpPr>
          <a:xfrm>
            <a:off x="0" y="4320299"/>
            <a:ext cx="836703" cy="323100"/>
            <a:chOff x="-3" y="2076738"/>
            <a:chExt cx="836703" cy="323100"/>
          </a:xfrm>
        </p:grpSpPr>
        <p:cxnSp>
          <p:nvCxnSpPr>
            <p:cNvPr id="1545" name="Google Shape;1545;p196"/>
            <p:cNvCxnSpPr/>
            <p:nvPr/>
          </p:nvCxnSpPr>
          <p:spPr>
            <a:xfrm>
              <a:off x="-3" y="2238288"/>
              <a:ext cx="672900" cy="0"/>
            </a:xfrm>
            <a:prstGeom prst="straightConnector1">
              <a:avLst/>
            </a:prstGeom>
            <a:noFill/>
            <a:ln cap="flat" cmpd="sng" w="19050">
              <a:solidFill>
                <a:schemeClr val="accent6"/>
              </a:solidFill>
              <a:prstDash val="solid"/>
              <a:round/>
              <a:headEnd len="sm" w="sm" type="none"/>
              <a:tailEnd len="med" w="med" type="oval"/>
            </a:ln>
          </p:spPr>
        </p:cxnSp>
        <p:sp>
          <p:nvSpPr>
            <p:cNvPr id="1546" name="Google Shape;1546;p196"/>
            <p:cNvSpPr/>
            <p:nvPr/>
          </p:nvSpPr>
          <p:spPr>
            <a:xfrm>
              <a:off x="513600" y="20767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547" name="Google Shape;1547;p196"/>
            <p:cNvSpPr/>
            <p:nvPr/>
          </p:nvSpPr>
          <p:spPr>
            <a:xfrm>
              <a:off x="593400" y="21565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548" name="Google Shape;1548;p196"/>
          <p:cNvSpPr txBox="1"/>
          <p:nvPr/>
        </p:nvSpPr>
        <p:spPr>
          <a:xfrm>
            <a:off x="935300" y="4152950"/>
            <a:ext cx="74193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A </a:t>
            </a:r>
            <a:r>
              <a:rPr b="1" lang="en">
                <a:solidFill>
                  <a:schemeClr val="dk2"/>
                </a:solidFill>
                <a:latin typeface="Roboto"/>
                <a:ea typeface="Roboto"/>
                <a:cs typeface="Roboto"/>
                <a:sym typeface="Roboto"/>
              </a:rPr>
              <a:t>SoW </a:t>
            </a:r>
            <a:r>
              <a:rPr lang="en">
                <a:solidFill>
                  <a:schemeClr val="dk2"/>
                </a:solidFill>
                <a:latin typeface="Roboto"/>
                <a:ea typeface="Roboto"/>
                <a:cs typeface="Roboto"/>
                <a:sym typeface="Roboto"/>
              </a:rPr>
              <a:t>is also completed during the planning phase. It outlines the scope of the test, the timeline, the points of contact, and how the test will be conducted.</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197"/>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554" name="Google Shape;1554;p197"/>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Types of Penetration Testing</a:t>
            </a:r>
            <a:endParaRPr/>
          </a:p>
        </p:txBody>
      </p:sp>
      <p:sp>
        <p:nvSpPr>
          <p:cNvPr id="1555" name="Google Shape;1555;p197"/>
          <p:cNvSpPr txBox="1"/>
          <p:nvPr>
            <p:ph idx="3" type="body"/>
          </p:nvPr>
        </p:nvSpPr>
        <p:spPr>
          <a:xfrm>
            <a:off x="457200" y="1176975"/>
            <a:ext cx="77724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work as a security consultant at GoodCorp, who's been hired to perform penetration tests.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have just been given a list of potential contract opportunities.</a:t>
            </a:r>
            <a:endParaRPr/>
          </a:p>
          <a:p>
            <a:pPr indent="-342900" lvl="0" marL="457200" rtl="0" algn="l">
              <a:spcBef>
                <a:spcPts val="0"/>
              </a:spcBef>
              <a:spcAft>
                <a:spcPts val="0"/>
              </a:spcAft>
              <a:buSzPts val="1800"/>
              <a:buChar char="●"/>
            </a:pPr>
            <a:r>
              <a:rPr lang="en"/>
              <a:t>Your first task it to evaluate the list and determine:</a:t>
            </a:r>
            <a:endParaRPr/>
          </a:p>
          <a:p>
            <a:pPr indent="-342900" lvl="1" marL="914400" rtl="0" algn="l">
              <a:spcBef>
                <a:spcPts val="0"/>
              </a:spcBef>
              <a:spcAft>
                <a:spcPts val="0"/>
              </a:spcAft>
              <a:buSzPts val="1800"/>
              <a:buChar char="○"/>
            </a:pPr>
            <a:r>
              <a:rPr lang="en"/>
              <a:t>Whether the assessment is legal or illegal</a:t>
            </a:r>
            <a:endParaRPr/>
          </a:p>
          <a:p>
            <a:pPr indent="-342900" lvl="1" marL="914400" rtl="0" algn="l">
              <a:spcBef>
                <a:spcPts val="0"/>
              </a:spcBef>
              <a:spcAft>
                <a:spcPts val="0"/>
              </a:spcAft>
              <a:buSzPts val="1800"/>
              <a:buChar char="○"/>
            </a:pPr>
            <a:r>
              <a:rPr lang="en"/>
              <a:t>The type of penetration test being requested</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556" name="Google Shape;1556;p197"/>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200"/>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sz="3800">
                <a:solidFill>
                  <a:schemeClr val="accent5"/>
                </a:solidFill>
                <a:latin typeface="Roboto"/>
                <a:ea typeface="Roboto"/>
                <a:cs typeface="Roboto"/>
                <a:sym typeface="Roboto"/>
              </a:rPr>
              <a:t>Intro to </a:t>
            </a:r>
            <a:r>
              <a:rPr lang="en" sz="3800">
                <a:solidFill>
                  <a:schemeClr val="accent5"/>
                </a:solidFill>
                <a:latin typeface="Roboto"/>
                <a:ea typeface="Roboto"/>
                <a:cs typeface="Roboto"/>
                <a:sym typeface="Roboto"/>
              </a:rPr>
              <a:t>MITRE ATT&amp;CK</a:t>
            </a:r>
            <a:r>
              <a:rPr b="0" lang="en" sz="1600">
                <a:solidFill>
                  <a:schemeClr val="accent5"/>
                </a:solidFill>
                <a:latin typeface="Roboto"/>
                <a:ea typeface="Roboto"/>
                <a:cs typeface="Roboto"/>
                <a:sym typeface="Roboto"/>
              </a:rPr>
              <a:t>®</a:t>
            </a:r>
            <a:endParaRPr b="0" sz="16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570" name="Google Shape;1570;p200"/>
          <p:cNvPicPr preferRelativeResize="0"/>
          <p:nvPr/>
        </p:nvPicPr>
        <p:blipFill>
          <a:blip r:embed="rId3">
            <a:alphaModFix/>
          </a:blip>
          <a:stretch>
            <a:fillRect/>
          </a:stretch>
        </p:blipFill>
        <p:spPr>
          <a:xfrm>
            <a:off x="3991525" y="1698414"/>
            <a:ext cx="1160950" cy="9117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201"/>
          <p:cNvSpPr txBox="1"/>
          <p:nvPr/>
        </p:nvSpPr>
        <p:spPr>
          <a:xfrm>
            <a:off x="342009" y="6051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MITRE ATT&amp;CK</a:t>
            </a:r>
            <a:r>
              <a:rPr b="1" lang="en" sz="2100">
                <a:solidFill>
                  <a:schemeClr val="dk2"/>
                </a:solidFill>
                <a:latin typeface="Roboto"/>
                <a:ea typeface="Roboto"/>
                <a:cs typeface="Roboto"/>
                <a:sym typeface="Roboto"/>
              </a:rPr>
              <a:t>®</a:t>
            </a:r>
            <a:endParaRPr b="1" sz="2100">
              <a:solidFill>
                <a:schemeClr val="dk2"/>
              </a:solidFill>
              <a:latin typeface="Roboto"/>
              <a:ea typeface="Roboto"/>
              <a:cs typeface="Roboto"/>
              <a:sym typeface="Roboto"/>
            </a:endParaRPr>
          </a:p>
        </p:txBody>
      </p:sp>
      <p:sp>
        <p:nvSpPr>
          <p:cNvPr id="1576" name="Google Shape;1576;p201"/>
          <p:cNvSpPr txBox="1"/>
          <p:nvPr>
            <p:ph idx="1" type="body"/>
          </p:nvPr>
        </p:nvSpPr>
        <p:spPr>
          <a:xfrm>
            <a:off x="-16825" y="568850"/>
            <a:ext cx="87036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Clr>
                <a:srgbClr val="000000"/>
              </a:buClr>
              <a:buSzPts val="1600"/>
              <a:buFont typeface="Arial"/>
              <a:buNone/>
            </a:pPr>
            <a:r>
              <a:rPr lang="en"/>
              <a:t>The </a:t>
            </a:r>
            <a:r>
              <a:rPr b="1" lang="en">
                <a:latin typeface="Roboto"/>
                <a:ea typeface="Roboto"/>
                <a:cs typeface="Roboto"/>
                <a:sym typeface="Roboto"/>
              </a:rPr>
              <a:t>MITRE ATT&amp;CK® Matrix</a:t>
            </a:r>
            <a:r>
              <a:rPr lang="en"/>
              <a:t> provides a visual representation of all the </a:t>
            </a:r>
            <a:r>
              <a:rPr b="1" lang="en"/>
              <a:t>t</a:t>
            </a:r>
            <a:r>
              <a:rPr b="1" lang="en">
                <a:latin typeface="Roboto"/>
                <a:ea typeface="Roboto"/>
                <a:cs typeface="Roboto"/>
                <a:sym typeface="Roboto"/>
              </a:rPr>
              <a:t>echniques, tactics, and procedures (TTPs)</a:t>
            </a:r>
            <a:r>
              <a:rPr lang="en"/>
              <a:t> that may be performed throughout an assessment.</a:t>
            </a:r>
            <a:endParaRPr/>
          </a:p>
          <a:p>
            <a:pPr indent="0" lvl="0" marL="0" rtl="0" algn="l">
              <a:lnSpc>
                <a:spcPct val="100000"/>
              </a:lnSpc>
              <a:spcBef>
                <a:spcPts val="0"/>
              </a:spcBef>
              <a:spcAft>
                <a:spcPts val="0"/>
              </a:spcAft>
              <a:buSzPts val="1800"/>
              <a:buNone/>
            </a:pPr>
            <a:r>
              <a:t/>
            </a:r>
            <a:endParaRPr sz="1200">
              <a:solidFill>
                <a:schemeClr val="dk1"/>
              </a:solidFill>
            </a:endParaRPr>
          </a:p>
        </p:txBody>
      </p:sp>
      <p:pic>
        <p:nvPicPr>
          <p:cNvPr id="1577" name="Google Shape;1577;p201"/>
          <p:cNvPicPr preferRelativeResize="0"/>
          <p:nvPr/>
        </p:nvPicPr>
        <p:blipFill rotWithShape="1">
          <a:blip r:embed="rId3">
            <a:alphaModFix/>
          </a:blip>
          <a:srcRect b="0" l="0" r="0" t="0"/>
          <a:stretch/>
        </p:blipFill>
        <p:spPr>
          <a:xfrm>
            <a:off x="3371099" y="1394262"/>
            <a:ext cx="5481599" cy="3557299"/>
          </a:xfrm>
          <a:prstGeom prst="rect">
            <a:avLst/>
          </a:prstGeom>
          <a:noFill/>
          <a:ln>
            <a:noFill/>
          </a:ln>
        </p:spPr>
      </p:pic>
      <p:sp>
        <p:nvSpPr>
          <p:cNvPr id="1578" name="Google Shape;1578;p201"/>
          <p:cNvSpPr/>
          <p:nvPr/>
        </p:nvSpPr>
        <p:spPr>
          <a:xfrm>
            <a:off x="0" y="2475850"/>
            <a:ext cx="3371100" cy="1394100"/>
          </a:xfrm>
          <a:prstGeom prst="homePlate">
            <a:avLst>
              <a:gd fmla="val 50000" name="adj"/>
            </a:avLst>
          </a:prstGeom>
          <a:solidFill>
            <a:srgbClr val="FCB913"/>
          </a:solidFill>
          <a:ln>
            <a:noFill/>
          </a:ln>
        </p:spPr>
        <p:txBody>
          <a:bodyPr anchorCtr="0" anchor="ctr" bIns="91425" lIns="457200" spcFirstLastPara="1" rIns="182875" wrap="square" tIns="91425">
            <a:noAutofit/>
          </a:bodyPr>
          <a:lstStyle/>
          <a:p>
            <a:pPr indent="0" lvl="0" marL="0" marR="0" rtl="0" algn="l">
              <a:lnSpc>
                <a:spcPct val="100000"/>
              </a:lnSpc>
              <a:spcBef>
                <a:spcPts val="0"/>
              </a:spcBef>
              <a:spcAft>
                <a:spcPts val="800"/>
              </a:spcAft>
              <a:buClr>
                <a:srgbClr val="000000"/>
              </a:buClr>
              <a:buSzPts val="1400"/>
              <a:buFont typeface="Arial"/>
              <a:buNone/>
            </a:pPr>
            <a:r>
              <a:rPr i="0" lang="en" sz="1800" u="none" cap="none" strike="noStrike">
                <a:solidFill>
                  <a:srgbClr val="28363B"/>
                </a:solidFill>
                <a:latin typeface="Roboto"/>
                <a:ea typeface="Roboto"/>
                <a:cs typeface="Roboto"/>
                <a:sym typeface="Roboto"/>
              </a:rPr>
              <a:t>We will use this matrix as a reference for the TTPs that we will conduct throughout the next two weeks.</a:t>
            </a:r>
            <a:endParaRPr i="0" sz="1800" u="none" cap="none" strike="noStrike">
              <a:solidFill>
                <a:srgbClr val="28363B"/>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202"/>
          <p:cNvSpPr txBox="1"/>
          <p:nvPr/>
        </p:nvSpPr>
        <p:spPr>
          <a:xfrm>
            <a:off x="349359" y="4581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MITRE ATT&amp;CK</a:t>
            </a:r>
            <a:r>
              <a:rPr b="1" lang="en" sz="2100">
                <a:solidFill>
                  <a:schemeClr val="dk2"/>
                </a:solidFill>
                <a:latin typeface="Roboto"/>
                <a:ea typeface="Roboto"/>
                <a:cs typeface="Roboto"/>
                <a:sym typeface="Roboto"/>
              </a:rPr>
              <a:t>®</a:t>
            </a:r>
            <a:endParaRPr b="1" sz="2100">
              <a:solidFill>
                <a:schemeClr val="dk2"/>
              </a:solidFill>
              <a:latin typeface="Roboto"/>
              <a:ea typeface="Roboto"/>
              <a:cs typeface="Roboto"/>
              <a:sym typeface="Roboto"/>
            </a:endParaRPr>
          </a:p>
        </p:txBody>
      </p:sp>
      <p:sp>
        <p:nvSpPr>
          <p:cNvPr id="1584" name="Google Shape;1584;p202"/>
          <p:cNvSpPr txBox="1"/>
          <p:nvPr>
            <p:ph idx="1" type="body"/>
          </p:nvPr>
        </p:nvSpPr>
        <p:spPr>
          <a:xfrm>
            <a:off x="-16825" y="492650"/>
            <a:ext cx="8703600" cy="4344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None/>
            </a:pPr>
            <a:r>
              <a:rPr lang="en"/>
              <a:t>The matrix consists of the following: </a:t>
            </a:r>
            <a:endParaRPr/>
          </a:p>
          <a:p>
            <a:pPr indent="0" lvl="0" marL="0" rtl="0" algn="l">
              <a:lnSpc>
                <a:spcPct val="100000"/>
              </a:lnSpc>
              <a:spcBef>
                <a:spcPts val="0"/>
              </a:spcBef>
              <a:spcAft>
                <a:spcPts val="0"/>
              </a:spcAft>
              <a:buSzPts val="1800"/>
              <a:buNone/>
            </a:pPr>
            <a:r>
              <a:t/>
            </a:r>
            <a:endParaRPr sz="1200">
              <a:solidFill>
                <a:schemeClr val="dk1"/>
              </a:solidFill>
            </a:endParaRPr>
          </a:p>
        </p:txBody>
      </p:sp>
      <p:pic>
        <p:nvPicPr>
          <p:cNvPr id="1585" name="Google Shape;1585;p202"/>
          <p:cNvPicPr preferRelativeResize="0"/>
          <p:nvPr/>
        </p:nvPicPr>
        <p:blipFill rotWithShape="1">
          <a:blip r:embed="rId3">
            <a:alphaModFix/>
          </a:blip>
          <a:srcRect b="0" l="0" r="0" t="0"/>
          <a:stretch/>
        </p:blipFill>
        <p:spPr>
          <a:xfrm>
            <a:off x="3396050" y="1013725"/>
            <a:ext cx="5456651" cy="3937825"/>
          </a:xfrm>
          <a:prstGeom prst="rect">
            <a:avLst/>
          </a:prstGeom>
          <a:noFill/>
          <a:ln>
            <a:noFill/>
          </a:ln>
        </p:spPr>
      </p:pic>
      <p:sp>
        <p:nvSpPr>
          <p:cNvPr id="1586" name="Google Shape;1586;p202"/>
          <p:cNvSpPr txBox="1"/>
          <p:nvPr>
            <p:ph idx="4294967295" type="subTitle"/>
          </p:nvPr>
        </p:nvSpPr>
        <p:spPr>
          <a:xfrm>
            <a:off x="-164050" y="1754850"/>
            <a:ext cx="3634200" cy="2380500"/>
          </a:xfrm>
          <a:prstGeom prst="rect">
            <a:avLst/>
          </a:prstGeom>
          <a:noFill/>
          <a:ln>
            <a:noFill/>
          </a:ln>
        </p:spPr>
        <p:txBody>
          <a:bodyPr anchorCtr="0" anchor="t" bIns="91425" lIns="457200" spcFirstLastPara="1" rIns="182875" wrap="square" tIns="91425">
            <a:noAutofit/>
          </a:bodyPr>
          <a:lstStyle/>
          <a:p>
            <a:pPr indent="-186690" lvl="0" marL="320040" rtl="0" algn="l">
              <a:lnSpc>
                <a:spcPct val="115000"/>
              </a:lnSpc>
              <a:spcBef>
                <a:spcPts val="0"/>
              </a:spcBef>
              <a:spcAft>
                <a:spcPts val="0"/>
              </a:spcAft>
              <a:buSzPts val="1500"/>
              <a:buFont typeface="Roboto"/>
              <a:buChar char="●"/>
            </a:pPr>
            <a:r>
              <a:rPr lang="en" sz="1500"/>
              <a:t>Each header represents a </a:t>
            </a:r>
            <a:r>
              <a:rPr b="1" lang="en" sz="1500">
                <a:latin typeface="Roboto"/>
                <a:ea typeface="Roboto"/>
                <a:cs typeface="Roboto"/>
                <a:sym typeface="Roboto"/>
              </a:rPr>
              <a:t>tactic</a:t>
            </a:r>
            <a:r>
              <a:rPr lang="en" sz="1500"/>
              <a:t>. </a:t>
            </a:r>
            <a:endParaRPr sz="1500"/>
          </a:p>
          <a:p>
            <a:pPr indent="-186690" lvl="0" marL="320040" rtl="0" algn="l">
              <a:lnSpc>
                <a:spcPct val="115000"/>
              </a:lnSpc>
              <a:spcBef>
                <a:spcPts val="1000"/>
              </a:spcBef>
              <a:spcAft>
                <a:spcPts val="0"/>
              </a:spcAft>
              <a:buSzPts val="1500"/>
              <a:buFont typeface="Roboto"/>
              <a:buChar char="●"/>
            </a:pPr>
            <a:r>
              <a:rPr lang="en" sz="1500"/>
              <a:t>For example, the first tactic listed is </a:t>
            </a:r>
            <a:r>
              <a:rPr b="1" lang="en" sz="1500">
                <a:latin typeface="Roboto"/>
                <a:ea typeface="Roboto"/>
                <a:cs typeface="Roboto"/>
                <a:sym typeface="Roboto"/>
              </a:rPr>
              <a:t>reconnaissance. </a:t>
            </a:r>
            <a:endParaRPr b="1" sz="1500">
              <a:latin typeface="Roboto"/>
              <a:ea typeface="Roboto"/>
              <a:cs typeface="Roboto"/>
              <a:sym typeface="Roboto"/>
            </a:endParaRPr>
          </a:p>
          <a:p>
            <a:pPr indent="-186690" lvl="0" marL="320040" rtl="0" algn="l">
              <a:lnSpc>
                <a:spcPct val="115000"/>
              </a:lnSpc>
              <a:spcBef>
                <a:spcPts val="1000"/>
              </a:spcBef>
              <a:spcAft>
                <a:spcPts val="1000"/>
              </a:spcAft>
              <a:buSzPts val="1500"/>
              <a:buChar char="●"/>
            </a:pPr>
            <a:r>
              <a:rPr lang="en" sz="1500"/>
              <a:t>It’s listed first because attackers conduct reconnaissance on a target before actually performing any exploitation.</a:t>
            </a:r>
            <a:endParaRPr sz="1500"/>
          </a:p>
        </p:txBody>
      </p:sp>
      <p:sp>
        <p:nvSpPr>
          <p:cNvPr id="1587" name="Google Shape;1587;p202"/>
          <p:cNvSpPr/>
          <p:nvPr/>
        </p:nvSpPr>
        <p:spPr>
          <a:xfrm>
            <a:off x="469550" y="1040650"/>
            <a:ext cx="2519400" cy="476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Tactics/Headers</a:t>
            </a:r>
            <a:endParaRPr sz="1800">
              <a:solidFill>
                <a:schemeClr val="dk2"/>
              </a:solidFill>
              <a:latin typeface="Roboto"/>
              <a:ea typeface="Roboto"/>
              <a:cs typeface="Roboto"/>
              <a:sym typeface="Roboto"/>
            </a:endParaRPr>
          </a:p>
        </p:txBody>
      </p:sp>
      <p:sp>
        <p:nvSpPr>
          <p:cNvPr id="1588" name="Google Shape;1588;p202"/>
          <p:cNvSpPr/>
          <p:nvPr/>
        </p:nvSpPr>
        <p:spPr>
          <a:xfrm>
            <a:off x="4025100" y="2490500"/>
            <a:ext cx="490200" cy="4344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203"/>
          <p:cNvSpPr txBox="1"/>
          <p:nvPr/>
        </p:nvSpPr>
        <p:spPr>
          <a:xfrm>
            <a:off x="349359" y="631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MITRE ATT&amp;CK</a:t>
            </a:r>
            <a:r>
              <a:rPr b="1" lang="en" sz="2100">
                <a:solidFill>
                  <a:schemeClr val="dk2"/>
                </a:solidFill>
                <a:latin typeface="Roboto"/>
                <a:ea typeface="Roboto"/>
                <a:cs typeface="Roboto"/>
                <a:sym typeface="Roboto"/>
              </a:rPr>
              <a:t>®</a:t>
            </a:r>
            <a:endParaRPr b="1" sz="2100">
              <a:solidFill>
                <a:schemeClr val="dk2"/>
              </a:solidFill>
              <a:latin typeface="Roboto"/>
              <a:ea typeface="Roboto"/>
              <a:cs typeface="Roboto"/>
              <a:sym typeface="Roboto"/>
            </a:endParaRPr>
          </a:p>
        </p:txBody>
      </p:sp>
      <p:sp>
        <p:nvSpPr>
          <p:cNvPr id="1594" name="Google Shape;1594;p203"/>
          <p:cNvSpPr txBox="1"/>
          <p:nvPr>
            <p:ph idx="1" type="body"/>
          </p:nvPr>
        </p:nvSpPr>
        <p:spPr>
          <a:xfrm>
            <a:off x="-16825" y="492650"/>
            <a:ext cx="8703600" cy="4344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None/>
            </a:pPr>
            <a:r>
              <a:rPr lang="en"/>
              <a:t>The matrix consists of the following: </a:t>
            </a:r>
            <a:endParaRPr/>
          </a:p>
          <a:p>
            <a:pPr indent="0" lvl="0" marL="0" rtl="0" algn="l">
              <a:lnSpc>
                <a:spcPct val="100000"/>
              </a:lnSpc>
              <a:spcBef>
                <a:spcPts val="0"/>
              </a:spcBef>
              <a:spcAft>
                <a:spcPts val="0"/>
              </a:spcAft>
              <a:buSzPts val="1800"/>
              <a:buNone/>
            </a:pPr>
            <a:r>
              <a:t/>
            </a:r>
            <a:endParaRPr sz="1200">
              <a:solidFill>
                <a:schemeClr val="dk1"/>
              </a:solidFill>
            </a:endParaRPr>
          </a:p>
        </p:txBody>
      </p:sp>
      <p:pic>
        <p:nvPicPr>
          <p:cNvPr id="1595" name="Google Shape;1595;p203"/>
          <p:cNvPicPr preferRelativeResize="0"/>
          <p:nvPr/>
        </p:nvPicPr>
        <p:blipFill rotWithShape="1">
          <a:blip r:embed="rId3">
            <a:alphaModFix/>
          </a:blip>
          <a:srcRect b="0" l="0" r="0" t="0"/>
          <a:stretch/>
        </p:blipFill>
        <p:spPr>
          <a:xfrm>
            <a:off x="3396050" y="1013725"/>
            <a:ext cx="5456651" cy="3937825"/>
          </a:xfrm>
          <a:prstGeom prst="rect">
            <a:avLst/>
          </a:prstGeom>
          <a:noFill/>
          <a:ln>
            <a:noFill/>
          </a:ln>
        </p:spPr>
      </p:pic>
      <p:sp>
        <p:nvSpPr>
          <p:cNvPr id="1596" name="Google Shape;1596;p203"/>
          <p:cNvSpPr txBox="1"/>
          <p:nvPr>
            <p:ph idx="4294967295" type="subTitle"/>
          </p:nvPr>
        </p:nvSpPr>
        <p:spPr>
          <a:xfrm>
            <a:off x="-164050" y="1630950"/>
            <a:ext cx="3634200" cy="2504400"/>
          </a:xfrm>
          <a:prstGeom prst="rect">
            <a:avLst/>
          </a:prstGeom>
          <a:noFill/>
          <a:ln>
            <a:noFill/>
          </a:ln>
        </p:spPr>
        <p:txBody>
          <a:bodyPr anchorCtr="0" anchor="t" bIns="91425" lIns="457200" spcFirstLastPara="1" rIns="182875" wrap="square" tIns="91425">
            <a:noAutofit/>
          </a:bodyPr>
          <a:lstStyle/>
          <a:p>
            <a:pPr indent="-323850" lvl="0" marL="457200" rtl="0" algn="l">
              <a:spcBef>
                <a:spcPts val="1000"/>
              </a:spcBef>
              <a:spcAft>
                <a:spcPts val="0"/>
              </a:spcAft>
              <a:buSzPts val="1500"/>
              <a:buChar char="●"/>
            </a:pPr>
            <a:r>
              <a:rPr lang="en" sz="1500"/>
              <a:t>Each row under the header is a technique.</a:t>
            </a:r>
            <a:endParaRPr sz="1500"/>
          </a:p>
          <a:p>
            <a:pPr indent="-323850" lvl="0" marL="457200" rtl="0" algn="l">
              <a:spcBef>
                <a:spcPts val="1000"/>
              </a:spcBef>
              <a:spcAft>
                <a:spcPts val="0"/>
              </a:spcAft>
              <a:buSzPts val="1500"/>
              <a:buChar char="●"/>
            </a:pPr>
            <a:r>
              <a:rPr lang="en" sz="1500"/>
              <a:t>For each tactic, there are multiple techniques. </a:t>
            </a:r>
            <a:endParaRPr sz="1500"/>
          </a:p>
          <a:p>
            <a:pPr indent="-323850" lvl="0" marL="457200" rtl="0" algn="l">
              <a:spcBef>
                <a:spcPts val="1000"/>
              </a:spcBef>
              <a:spcAft>
                <a:spcPts val="0"/>
              </a:spcAft>
              <a:buSzPts val="1500"/>
              <a:buChar char="●"/>
            </a:pPr>
            <a:r>
              <a:rPr lang="en" sz="1500"/>
              <a:t>For example, during reconnaissance, an attacker may use active scanning to gather information about a target, or they may search open technical databases to gather similar information.</a:t>
            </a:r>
            <a:endParaRPr sz="1500"/>
          </a:p>
          <a:p>
            <a:pPr indent="0" lvl="0" marL="457200" rtl="0" algn="l">
              <a:lnSpc>
                <a:spcPct val="115000"/>
              </a:lnSpc>
              <a:spcBef>
                <a:spcPts val="1000"/>
              </a:spcBef>
              <a:spcAft>
                <a:spcPts val="1000"/>
              </a:spcAft>
              <a:buNone/>
            </a:pPr>
            <a:r>
              <a:t/>
            </a:r>
            <a:endParaRPr sz="1500"/>
          </a:p>
        </p:txBody>
      </p:sp>
      <p:sp>
        <p:nvSpPr>
          <p:cNvPr id="1597" name="Google Shape;1597;p203"/>
          <p:cNvSpPr/>
          <p:nvPr/>
        </p:nvSpPr>
        <p:spPr>
          <a:xfrm>
            <a:off x="469550" y="1040650"/>
            <a:ext cx="2519400" cy="476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Techniques/Rows</a:t>
            </a:r>
            <a:endParaRPr sz="1800">
              <a:solidFill>
                <a:schemeClr val="lt1"/>
              </a:solidFill>
              <a:latin typeface="Roboto"/>
              <a:ea typeface="Roboto"/>
              <a:cs typeface="Roboto"/>
              <a:sym typeface="Roboto"/>
            </a:endParaRPr>
          </a:p>
        </p:txBody>
      </p:sp>
      <p:sp>
        <p:nvSpPr>
          <p:cNvPr id="1598" name="Google Shape;1598;p203"/>
          <p:cNvSpPr/>
          <p:nvPr/>
        </p:nvSpPr>
        <p:spPr>
          <a:xfrm rot="5400000">
            <a:off x="4025100" y="2947700"/>
            <a:ext cx="490200" cy="4344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204"/>
          <p:cNvSpPr txBox="1"/>
          <p:nvPr/>
        </p:nvSpPr>
        <p:spPr>
          <a:xfrm>
            <a:off x="349359" y="631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MITRE ATT&amp;CK</a:t>
            </a:r>
            <a:r>
              <a:rPr b="1" lang="en" sz="2100">
                <a:solidFill>
                  <a:schemeClr val="dk2"/>
                </a:solidFill>
                <a:latin typeface="Roboto"/>
                <a:ea typeface="Roboto"/>
                <a:cs typeface="Roboto"/>
                <a:sym typeface="Roboto"/>
              </a:rPr>
              <a:t>®</a:t>
            </a:r>
            <a:endParaRPr b="1" sz="2100">
              <a:solidFill>
                <a:schemeClr val="dk2"/>
              </a:solidFill>
              <a:latin typeface="Roboto"/>
              <a:ea typeface="Roboto"/>
              <a:cs typeface="Roboto"/>
              <a:sym typeface="Roboto"/>
            </a:endParaRPr>
          </a:p>
          <a:p>
            <a:pPr indent="0" lvl="0" marL="0" rtl="0" algn="l">
              <a:spcBef>
                <a:spcPts val="0"/>
              </a:spcBef>
              <a:spcAft>
                <a:spcPts val="0"/>
              </a:spcAft>
              <a:buNone/>
            </a:pPr>
            <a:r>
              <a:t/>
            </a:r>
            <a:endParaRPr b="1" sz="2400">
              <a:solidFill>
                <a:schemeClr val="dk1"/>
              </a:solidFill>
              <a:latin typeface="Roboto"/>
              <a:ea typeface="Roboto"/>
              <a:cs typeface="Roboto"/>
              <a:sym typeface="Roboto"/>
            </a:endParaRPr>
          </a:p>
        </p:txBody>
      </p:sp>
      <p:sp>
        <p:nvSpPr>
          <p:cNvPr id="1604" name="Google Shape;1604;p204"/>
          <p:cNvSpPr txBox="1"/>
          <p:nvPr>
            <p:ph idx="4294967295" type="subTitle"/>
          </p:nvPr>
        </p:nvSpPr>
        <p:spPr>
          <a:xfrm>
            <a:off x="-16823" y="492650"/>
            <a:ext cx="75522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Clr>
                <a:srgbClr val="000000"/>
              </a:buClr>
              <a:buSzPts val="1800"/>
              <a:buFont typeface="Arial"/>
              <a:buNone/>
            </a:pPr>
            <a:r>
              <a:rPr lang="en"/>
              <a:t>It is a “</a:t>
            </a:r>
            <a:r>
              <a:rPr b="1" lang="en"/>
              <a:t>hacker’s playbook</a:t>
            </a:r>
            <a:r>
              <a:rPr lang="en"/>
              <a:t>.” </a:t>
            </a:r>
            <a:endParaRPr/>
          </a:p>
          <a:p>
            <a:pPr indent="0" lvl="0" marL="0" rtl="0" algn="l">
              <a:lnSpc>
                <a:spcPct val="100000"/>
              </a:lnSpc>
              <a:spcBef>
                <a:spcPts val="0"/>
              </a:spcBef>
              <a:spcAft>
                <a:spcPts val="0"/>
              </a:spcAft>
              <a:buSzPts val="1800"/>
              <a:buNone/>
            </a:pPr>
            <a:r>
              <a:t/>
            </a:r>
            <a:endParaRPr sz="1200">
              <a:solidFill>
                <a:schemeClr val="dk1"/>
              </a:solidFill>
            </a:endParaRPr>
          </a:p>
        </p:txBody>
      </p:sp>
      <p:sp>
        <p:nvSpPr>
          <p:cNvPr id="1605" name="Google Shape;1605;p204"/>
          <p:cNvSpPr txBox="1"/>
          <p:nvPr>
            <p:ph idx="1" type="body"/>
          </p:nvPr>
        </p:nvSpPr>
        <p:spPr>
          <a:xfrm>
            <a:off x="125" y="1334125"/>
            <a:ext cx="5057700" cy="3845700"/>
          </a:xfrm>
          <a:prstGeom prst="rect">
            <a:avLst/>
          </a:prstGeom>
          <a:noFill/>
          <a:ln>
            <a:noFill/>
          </a:ln>
        </p:spPr>
        <p:txBody>
          <a:bodyPr anchorCtr="0" anchor="t" bIns="914400" lIns="457200" spcFirstLastPara="1" rIns="457200" wrap="square" tIns="0">
            <a:noAutofit/>
          </a:bodyPr>
          <a:lstStyle/>
          <a:p>
            <a:pPr indent="0" lvl="0" marL="0" rtl="0" algn="l">
              <a:lnSpc>
                <a:spcPct val="115000"/>
              </a:lnSpc>
              <a:spcBef>
                <a:spcPts val="0"/>
              </a:spcBef>
              <a:spcAft>
                <a:spcPts val="0"/>
              </a:spcAft>
              <a:buSzPts val="1400"/>
              <a:buNone/>
            </a:pPr>
            <a:r>
              <a:rPr lang="en"/>
              <a:t>The matrix is comprehensive, meaning that virtually every potential attack falls under a tactic and maps to a specific technique.</a:t>
            </a:r>
            <a:endParaRPr/>
          </a:p>
          <a:p>
            <a:pPr indent="0" lvl="0" marL="0" rtl="0" algn="l">
              <a:lnSpc>
                <a:spcPct val="115000"/>
              </a:lnSpc>
              <a:spcBef>
                <a:spcPts val="1200"/>
              </a:spcBef>
              <a:spcAft>
                <a:spcPts val="1200"/>
              </a:spcAft>
              <a:buSzPts val="1400"/>
              <a:buNone/>
            </a:pPr>
            <a:r>
              <a:rPr lang="en"/>
              <a:t>As a penetration tester, it’s beneficial to map out the techniques that you performed in an assessment so that the customer can learn which TTPs were successful and what needs to be addressed.</a:t>
            </a:r>
            <a:endParaRPr/>
          </a:p>
        </p:txBody>
      </p:sp>
      <p:pic>
        <p:nvPicPr>
          <p:cNvPr id="1606" name="Google Shape;1606;p204"/>
          <p:cNvPicPr preferRelativeResize="0"/>
          <p:nvPr/>
        </p:nvPicPr>
        <p:blipFill rotWithShape="1">
          <a:blip r:embed="rId3">
            <a:alphaModFix/>
          </a:blip>
          <a:srcRect b="0" l="0" r="0" t="0"/>
          <a:stretch/>
        </p:blipFill>
        <p:spPr>
          <a:xfrm>
            <a:off x="5557750" y="997125"/>
            <a:ext cx="2162250" cy="36490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205"/>
          <p:cNvSpPr txBox="1"/>
          <p:nvPr>
            <p:ph type="title"/>
          </p:nvPr>
        </p:nvSpPr>
        <p:spPr>
          <a:xfrm>
            <a:off x="82500" y="636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MITRE ATT&amp;CK®</a:t>
            </a:r>
            <a:endParaRPr/>
          </a:p>
        </p:txBody>
      </p:sp>
      <p:sp>
        <p:nvSpPr>
          <p:cNvPr id="1612" name="Google Shape;1612;p205"/>
          <p:cNvSpPr txBox="1"/>
          <p:nvPr>
            <p:ph idx="2" type="title"/>
          </p:nvPr>
        </p:nvSpPr>
        <p:spPr>
          <a:xfrm>
            <a:off x="70200" y="478650"/>
            <a:ext cx="9168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This is a powerful matrix to follow and reference </a:t>
            </a:r>
            <a:endParaRPr sz="1800">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13" name="Google Shape;1613;p205"/>
          <p:cNvSpPr txBox="1"/>
          <p:nvPr/>
        </p:nvSpPr>
        <p:spPr>
          <a:xfrm>
            <a:off x="491250" y="1371600"/>
            <a:ext cx="2340600" cy="4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Comprehensive</a:t>
            </a:r>
            <a:endParaRPr sz="1800">
              <a:solidFill>
                <a:schemeClr val="lt1"/>
              </a:solidFill>
              <a:latin typeface="Roboto"/>
              <a:ea typeface="Roboto"/>
              <a:cs typeface="Roboto"/>
              <a:sym typeface="Roboto"/>
            </a:endParaRPr>
          </a:p>
        </p:txBody>
      </p:sp>
      <p:sp>
        <p:nvSpPr>
          <p:cNvPr id="1614" name="Google Shape;1614;p205"/>
          <p:cNvSpPr txBox="1"/>
          <p:nvPr/>
        </p:nvSpPr>
        <p:spPr>
          <a:xfrm>
            <a:off x="3408000" y="1371600"/>
            <a:ext cx="2340600" cy="4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Reporting</a:t>
            </a:r>
            <a:endParaRPr sz="1800">
              <a:solidFill>
                <a:schemeClr val="dk2"/>
              </a:solidFill>
              <a:latin typeface="Roboto"/>
              <a:ea typeface="Roboto"/>
              <a:cs typeface="Roboto"/>
              <a:sym typeface="Roboto"/>
            </a:endParaRPr>
          </a:p>
        </p:txBody>
      </p:sp>
      <p:sp>
        <p:nvSpPr>
          <p:cNvPr id="1615" name="Google Shape;1615;p205"/>
          <p:cNvSpPr txBox="1"/>
          <p:nvPr/>
        </p:nvSpPr>
        <p:spPr>
          <a:xfrm>
            <a:off x="6400800" y="1371600"/>
            <a:ext cx="2340600" cy="4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Categorizing </a:t>
            </a:r>
            <a:endParaRPr sz="1800">
              <a:solidFill>
                <a:schemeClr val="lt1"/>
              </a:solidFill>
              <a:latin typeface="Roboto"/>
              <a:ea typeface="Roboto"/>
              <a:cs typeface="Roboto"/>
              <a:sym typeface="Roboto"/>
            </a:endParaRPr>
          </a:p>
        </p:txBody>
      </p:sp>
      <p:sp>
        <p:nvSpPr>
          <p:cNvPr id="1616" name="Google Shape;1616;p205"/>
          <p:cNvSpPr txBox="1"/>
          <p:nvPr/>
        </p:nvSpPr>
        <p:spPr>
          <a:xfrm>
            <a:off x="537500" y="2083450"/>
            <a:ext cx="2294400" cy="23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It is comprehensive and includes almost every possible tactic or technique that an attacker could employ during a hack.</a:t>
            </a:r>
            <a:endParaRPr sz="1800">
              <a:solidFill>
                <a:schemeClr val="dk2"/>
              </a:solidFill>
              <a:latin typeface="Roboto"/>
              <a:ea typeface="Roboto"/>
              <a:cs typeface="Roboto"/>
              <a:sym typeface="Roboto"/>
            </a:endParaRPr>
          </a:p>
        </p:txBody>
      </p:sp>
      <p:sp>
        <p:nvSpPr>
          <p:cNvPr id="1617" name="Google Shape;1617;p205"/>
          <p:cNvSpPr txBox="1"/>
          <p:nvPr/>
        </p:nvSpPr>
        <p:spPr>
          <a:xfrm>
            <a:off x="3431100" y="2083450"/>
            <a:ext cx="2294400" cy="23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 your final report, it provides a way to refer to tactics and techniques that an attacker would use in a manner that less-technical staff can understand.</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618" name="Google Shape;1618;p205"/>
          <p:cNvSpPr txBox="1"/>
          <p:nvPr/>
        </p:nvSpPr>
        <p:spPr>
          <a:xfrm>
            <a:off x="6377700" y="2083450"/>
            <a:ext cx="2363700" cy="23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It helps create a more comprehensive report by categorizing specific security deficiencies.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206"/>
          <p:cNvSpPr txBox="1"/>
          <p:nvPr/>
        </p:nvSpPr>
        <p:spPr>
          <a:xfrm>
            <a:off x="342009" y="5578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MITRE ATT&amp;CK®</a:t>
            </a:r>
            <a:endParaRPr b="1" sz="2600">
              <a:solidFill>
                <a:schemeClr val="dk2"/>
              </a:solidFill>
              <a:latin typeface="Roboto"/>
              <a:ea typeface="Roboto"/>
              <a:cs typeface="Roboto"/>
              <a:sym typeface="Roboto"/>
            </a:endParaRPr>
          </a:p>
          <a:p>
            <a:pPr indent="0" lvl="0" marL="0" rtl="0" algn="l">
              <a:spcBef>
                <a:spcPts val="0"/>
              </a:spcBef>
              <a:spcAft>
                <a:spcPts val="0"/>
              </a:spcAft>
              <a:buNone/>
            </a:pPr>
            <a:r>
              <a:t/>
            </a:r>
            <a:endParaRPr b="1" sz="2400">
              <a:solidFill>
                <a:schemeClr val="dk1"/>
              </a:solidFill>
              <a:latin typeface="Roboto"/>
              <a:ea typeface="Roboto"/>
              <a:cs typeface="Roboto"/>
              <a:sym typeface="Roboto"/>
            </a:endParaRPr>
          </a:p>
          <a:p>
            <a:pPr indent="0" lvl="0" marL="0" rtl="0" algn="l">
              <a:spcBef>
                <a:spcPts val="0"/>
              </a:spcBef>
              <a:spcAft>
                <a:spcPts val="0"/>
              </a:spcAft>
              <a:buNone/>
            </a:pPr>
            <a:r>
              <a:t/>
            </a:r>
            <a:endParaRPr b="1" sz="2400">
              <a:solidFill>
                <a:schemeClr val="dk1"/>
              </a:solidFill>
              <a:latin typeface="Roboto"/>
              <a:ea typeface="Roboto"/>
              <a:cs typeface="Roboto"/>
              <a:sym typeface="Roboto"/>
            </a:endParaRPr>
          </a:p>
        </p:txBody>
      </p:sp>
      <p:sp>
        <p:nvSpPr>
          <p:cNvPr id="1624" name="Google Shape;1624;p206"/>
          <p:cNvSpPr txBox="1"/>
          <p:nvPr>
            <p:ph idx="1" type="body"/>
          </p:nvPr>
        </p:nvSpPr>
        <p:spPr>
          <a:xfrm>
            <a:off x="-16825" y="492650"/>
            <a:ext cx="90282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Clr>
                <a:srgbClr val="000000"/>
              </a:buClr>
              <a:buSzPts val="1800"/>
              <a:buFont typeface="Arial"/>
              <a:buNone/>
            </a:pPr>
            <a:r>
              <a:rPr lang="en"/>
              <a:t>This week’s unit will follow the MITRE ATT&amp;CK® Matrix tactics from left to right.</a:t>
            </a:r>
            <a:endParaRPr/>
          </a:p>
          <a:p>
            <a:pPr indent="0" lvl="0" marL="0" rtl="0" algn="l">
              <a:lnSpc>
                <a:spcPct val="100000"/>
              </a:lnSpc>
              <a:spcBef>
                <a:spcPts val="0"/>
              </a:spcBef>
              <a:spcAft>
                <a:spcPts val="0"/>
              </a:spcAft>
              <a:buClr>
                <a:srgbClr val="000000"/>
              </a:buClr>
              <a:buSzPts val="1800"/>
              <a:buFont typeface="Arial"/>
              <a:buNone/>
            </a:pPr>
            <a:r>
              <a:rPr lang="en"/>
              <a:t>We won’t cover every tactic due to time constraints, but we’ll begin by learning about reconnaissance today.</a:t>
            </a:r>
            <a:endParaRPr sz="1400"/>
          </a:p>
          <a:p>
            <a:pPr indent="0" lvl="0" marL="0" rtl="0" algn="l">
              <a:lnSpc>
                <a:spcPct val="100000"/>
              </a:lnSpc>
              <a:spcBef>
                <a:spcPts val="800"/>
              </a:spcBef>
              <a:spcAft>
                <a:spcPts val="0"/>
              </a:spcAft>
              <a:buSzPts val="1800"/>
              <a:buNone/>
            </a:pPr>
            <a:r>
              <a:t/>
            </a:r>
            <a:endParaRPr sz="1200">
              <a:solidFill>
                <a:schemeClr val="dk1"/>
              </a:solidFill>
            </a:endParaRPr>
          </a:p>
        </p:txBody>
      </p:sp>
      <p:sp>
        <p:nvSpPr>
          <p:cNvPr id="1625" name="Google Shape;1625;p206"/>
          <p:cNvSpPr/>
          <p:nvPr/>
        </p:nvSpPr>
        <p:spPr>
          <a:xfrm>
            <a:off x="5518294" y="2679800"/>
            <a:ext cx="8499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chemeClr val="dk1"/>
              </a:buClr>
              <a:buSzPts val="1100"/>
              <a:buFont typeface="Arial"/>
              <a:buNone/>
            </a:pPr>
            <a:r>
              <a:rPr i="0" lang="en" sz="2400" u="none" cap="none" strike="noStrike">
                <a:solidFill>
                  <a:schemeClr val="dk2"/>
                </a:solidFill>
                <a:latin typeface="Roboto"/>
                <a:ea typeface="Roboto"/>
                <a:cs typeface="Roboto"/>
                <a:sym typeface="Roboto"/>
              </a:rPr>
              <a:t>39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26" name="Google Shape;1626;p206"/>
          <p:cNvSpPr/>
          <p:nvPr/>
        </p:nvSpPr>
        <p:spPr>
          <a:xfrm>
            <a:off x="4633755" y="2679800"/>
            <a:ext cx="8853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chemeClr val="dk1"/>
              </a:buClr>
              <a:buSzPts val="1100"/>
              <a:buFont typeface="Arial"/>
              <a:buNone/>
            </a:pPr>
            <a:r>
              <a:rPr i="0" lang="en" sz="2400" u="none" cap="none" strike="noStrike">
                <a:solidFill>
                  <a:schemeClr val="dk2"/>
                </a:solidFill>
                <a:latin typeface="Roboto"/>
                <a:ea typeface="Roboto"/>
                <a:cs typeface="Roboto"/>
                <a:sym typeface="Roboto"/>
              </a:rPr>
              <a:t>13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27" name="Google Shape;1627;p206"/>
          <p:cNvSpPr/>
          <p:nvPr/>
        </p:nvSpPr>
        <p:spPr>
          <a:xfrm>
            <a:off x="3749217" y="2679800"/>
            <a:ext cx="8853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dk2"/>
                </a:solidFill>
                <a:latin typeface="Roboto"/>
                <a:ea typeface="Roboto"/>
                <a:cs typeface="Roboto"/>
                <a:sym typeface="Roboto"/>
              </a:rPr>
              <a:t>19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28" name="Google Shape;1628;p206"/>
          <p:cNvSpPr/>
          <p:nvPr/>
        </p:nvSpPr>
        <p:spPr>
          <a:xfrm>
            <a:off x="6367874" y="2679800"/>
            <a:ext cx="8118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chemeClr val="dk1"/>
              </a:buClr>
              <a:buSzPts val="1100"/>
              <a:buFont typeface="Arial"/>
              <a:buNone/>
            </a:pPr>
            <a:r>
              <a:rPr i="0" lang="en" sz="2400" u="none" cap="none" strike="noStrike">
                <a:solidFill>
                  <a:schemeClr val="dk2"/>
                </a:solidFill>
                <a:latin typeface="Roboto"/>
                <a:ea typeface="Roboto"/>
                <a:cs typeface="Roboto"/>
                <a:sym typeface="Roboto"/>
              </a:rPr>
              <a:t>15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29" name="Google Shape;1629;p206"/>
          <p:cNvSpPr/>
          <p:nvPr/>
        </p:nvSpPr>
        <p:spPr>
          <a:xfrm>
            <a:off x="7249344" y="2679800"/>
            <a:ext cx="8118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chemeClr val="dk1"/>
              </a:buClr>
              <a:buSzPts val="1100"/>
              <a:buFont typeface="Arial"/>
              <a:buNone/>
            </a:pPr>
            <a:r>
              <a:rPr i="0" lang="en" sz="2400" u="none" cap="none" strike="noStrike">
                <a:solidFill>
                  <a:schemeClr val="dk2"/>
                </a:solidFill>
                <a:latin typeface="Roboto"/>
                <a:ea typeface="Roboto"/>
                <a:cs typeface="Roboto"/>
                <a:sym typeface="Roboto"/>
              </a:rPr>
              <a:t>27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30" name="Google Shape;1630;p206"/>
          <p:cNvSpPr/>
          <p:nvPr/>
        </p:nvSpPr>
        <p:spPr>
          <a:xfrm>
            <a:off x="2088539" y="2679800"/>
            <a:ext cx="8499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dk2"/>
                </a:solidFill>
                <a:latin typeface="Roboto"/>
                <a:ea typeface="Roboto"/>
                <a:cs typeface="Roboto"/>
                <a:sym typeface="Roboto"/>
              </a:rPr>
              <a:t>9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31" name="Google Shape;1631;p206"/>
          <p:cNvSpPr/>
          <p:nvPr/>
        </p:nvSpPr>
        <p:spPr>
          <a:xfrm>
            <a:off x="1204000" y="2679800"/>
            <a:ext cx="8853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dk2"/>
                </a:solidFill>
                <a:latin typeface="Roboto"/>
                <a:ea typeface="Roboto"/>
                <a:cs typeface="Roboto"/>
                <a:sym typeface="Roboto"/>
              </a:rPr>
              <a:t>7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32" name="Google Shape;1632;p206"/>
          <p:cNvSpPr/>
          <p:nvPr/>
        </p:nvSpPr>
        <p:spPr>
          <a:xfrm>
            <a:off x="152400" y="2679800"/>
            <a:ext cx="1060200" cy="587400"/>
          </a:xfrm>
          <a:prstGeom prst="rect">
            <a:avLst/>
          </a:prstGeom>
          <a:solidFill>
            <a:srgbClr val="FCB913"/>
          </a:solidFill>
          <a:ln cap="flat" cmpd="sng" w="28575">
            <a:solidFill>
              <a:srgbClr val="FCB913"/>
            </a:solidFill>
            <a:prstDash val="solid"/>
            <a:round/>
            <a:headEnd len="sm" w="sm" type="none"/>
            <a:tailEnd len="sm" w="sm" type="none"/>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dk2"/>
                </a:solidFill>
                <a:latin typeface="Roboto"/>
                <a:ea typeface="Roboto"/>
                <a:cs typeface="Roboto"/>
                <a:sym typeface="Roboto"/>
              </a:rPr>
              <a:t>10 </a:t>
            </a:r>
            <a:r>
              <a:rPr i="0" lang="en" sz="1000" u="none" cap="none" strike="noStrike">
                <a:solidFill>
                  <a:schemeClr val="dk2"/>
                </a:solidFill>
                <a:latin typeface="Roboto"/>
                <a:ea typeface="Roboto"/>
                <a:cs typeface="Roboto"/>
                <a:sym typeface="Roboto"/>
              </a:rPr>
              <a:t>techniques</a:t>
            </a:r>
            <a:endParaRPr i="0" sz="1000" u="none" cap="none" strike="noStrike">
              <a:solidFill>
                <a:schemeClr val="dk2"/>
              </a:solidFill>
              <a:latin typeface="Roboto"/>
              <a:ea typeface="Roboto"/>
              <a:cs typeface="Roboto"/>
              <a:sym typeface="Roboto"/>
            </a:endParaRPr>
          </a:p>
        </p:txBody>
      </p:sp>
      <p:sp>
        <p:nvSpPr>
          <p:cNvPr id="1633" name="Google Shape;1633;p206"/>
          <p:cNvSpPr/>
          <p:nvPr/>
        </p:nvSpPr>
        <p:spPr>
          <a:xfrm>
            <a:off x="2938118" y="2679800"/>
            <a:ext cx="8118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dk2"/>
                </a:solidFill>
                <a:latin typeface="Roboto"/>
                <a:ea typeface="Roboto"/>
                <a:cs typeface="Roboto"/>
                <a:sym typeface="Roboto"/>
              </a:rPr>
              <a:t>12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34" name="Google Shape;1634;p206"/>
          <p:cNvSpPr/>
          <p:nvPr/>
        </p:nvSpPr>
        <p:spPr>
          <a:xfrm>
            <a:off x="8028551" y="2679800"/>
            <a:ext cx="811800" cy="587400"/>
          </a:xfrm>
          <a:prstGeom prst="rect">
            <a:avLst/>
          </a:prstGeom>
          <a:noFill/>
          <a:ln>
            <a:noFill/>
          </a:ln>
        </p:spPr>
        <p:txBody>
          <a:bodyPr anchorCtr="0" anchor="t" bIns="0" lIns="91425" spcFirstLastPara="1" rIns="91425" wrap="square" tIns="27425">
            <a:noAutofit/>
          </a:bodyPr>
          <a:lstStyle/>
          <a:p>
            <a:pPr indent="0" lvl="0" marL="0" marR="0" rtl="0" algn="ctr">
              <a:lnSpc>
                <a:spcPct val="100000"/>
              </a:lnSpc>
              <a:spcBef>
                <a:spcPts val="0"/>
              </a:spcBef>
              <a:spcAft>
                <a:spcPts val="0"/>
              </a:spcAft>
              <a:buClr>
                <a:schemeClr val="dk1"/>
              </a:buClr>
              <a:buSzPts val="1100"/>
              <a:buFont typeface="Arial"/>
              <a:buNone/>
            </a:pPr>
            <a:r>
              <a:rPr i="0" lang="en" sz="2400" u="none" cap="none" strike="noStrike">
                <a:solidFill>
                  <a:schemeClr val="dk2"/>
                </a:solidFill>
                <a:latin typeface="Roboto"/>
                <a:ea typeface="Roboto"/>
                <a:cs typeface="Roboto"/>
                <a:sym typeface="Roboto"/>
              </a:rPr>
              <a:t>9 </a:t>
            </a:r>
            <a:r>
              <a:rPr i="0" lang="en" sz="1000" u="none" cap="none" strike="noStrike">
                <a:solidFill>
                  <a:schemeClr val="dk2"/>
                </a:solidFill>
                <a:latin typeface="Roboto"/>
                <a:ea typeface="Roboto"/>
                <a:cs typeface="Roboto"/>
                <a:sym typeface="Roboto"/>
              </a:rPr>
              <a:t>techniques</a:t>
            </a:r>
            <a:endParaRPr i="0" sz="1200" u="none" cap="none" strike="noStrike">
              <a:solidFill>
                <a:schemeClr val="dk2"/>
              </a:solidFill>
              <a:latin typeface="Roboto"/>
              <a:ea typeface="Roboto"/>
              <a:cs typeface="Roboto"/>
              <a:sym typeface="Roboto"/>
            </a:endParaRPr>
          </a:p>
        </p:txBody>
      </p:sp>
      <p:sp>
        <p:nvSpPr>
          <p:cNvPr id="1635" name="Google Shape;1635;p206"/>
          <p:cNvSpPr/>
          <p:nvPr/>
        </p:nvSpPr>
        <p:spPr>
          <a:xfrm>
            <a:off x="8060524" y="2308325"/>
            <a:ext cx="893100" cy="400200"/>
          </a:xfrm>
          <a:prstGeom prst="homePlate">
            <a:avLst>
              <a:gd fmla="val 50000" name="adj"/>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Lateral </a:t>
            </a:r>
            <a:r>
              <a:rPr b="1" lang="en" sz="900">
                <a:solidFill>
                  <a:schemeClr val="dk2"/>
                </a:solidFill>
                <a:latin typeface="Roboto"/>
                <a:ea typeface="Roboto"/>
                <a:cs typeface="Roboto"/>
                <a:sym typeface="Roboto"/>
              </a:rPr>
              <a:t>m</a:t>
            </a:r>
            <a:r>
              <a:rPr b="1" i="0" lang="en" sz="900" u="none" cap="none" strike="noStrike">
                <a:solidFill>
                  <a:schemeClr val="dk2"/>
                </a:solidFill>
                <a:latin typeface="Roboto"/>
                <a:ea typeface="Roboto"/>
                <a:cs typeface="Roboto"/>
                <a:sym typeface="Roboto"/>
              </a:rPr>
              <a:t>ovement</a:t>
            </a:r>
            <a:endParaRPr b="1" i="0" sz="900" u="none" cap="none" strike="noStrike">
              <a:solidFill>
                <a:schemeClr val="dk2"/>
              </a:solidFill>
              <a:latin typeface="Roboto"/>
              <a:ea typeface="Roboto"/>
              <a:cs typeface="Roboto"/>
              <a:sym typeface="Roboto"/>
            </a:endParaRPr>
          </a:p>
        </p:txBody>
      </p:sp>
      <p:sp>
        <p:nvSpPr>
          <p:cNvPr id="1636" name="Google Shape;1636;p206"/>
          <p:cNvSpPr/>
          <p:nvPr/>
        </p:nvSpPr>
        <p:spPr>
          <a:xfrm>
            <a:off x="5566048" y="2308325"/>
            <a:ext cx="8580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Defense</a:t>
            </a:r>
            <a:br>
              <a:rPr b="1" i="0" lang="en" sz="900" u="none" cap="none" strike="noStrike">
                <a:solidFill>
                  <a:schemeClr val="dk2"/>
                </a:solidFill>
                <a:latin typeface="Roboto"/>
                <a:ea typeface="Roboto"/>
                <a:cs typeface="Roboto"/>
                <a:sym typeface="Roboto"/>
              </a:rPr>
            </a:br>
            <a:r>
              <a:rPr b="1" lang="en" sz="900">
                <a:solidFill>
                  <a:schemeClr val="dk2"/>
                </a:solidFill>
                <a:latin typeface="Roboto"/>
                <a:ea typeface="Roboto"/>
                <a:cs typeface="Roboto"/>
                <a:sym typeface="Roboto"/>
              </a:rPr>
              <a:t>e</a:t>
            </a:r>
            <a:r>
              <a:rPr b="1" i="0" lang="en" sz="900" u="none" cap="none" strike="noStrike">
                <a:solidFill>
                  <a:schemeClr val="dk2"/>
                </a:solidFill>
                <a:latin typeface="Roboto"/>
                <a:ea typeface="Roboto"/>
                <a:cs typeface="Roboto"/>
                <a:sym typeface="Roboto"/>
              </a:rPr>
              <a:t>vasion</a:t>
            </a:r>
            <a:endParaRPr b="1" i="0" sz="900" u="none" cap="none" strike="noStrike">
              <a:solidFill>
                <a:schemeClr val="dk2"/>
              </a:solidFill>
              <a:latin typeface="Roboto"/>
              <a:ea typeface="Roboto"/>
              <a:cs typeface="Roboto"/>
              <a:sym typeface="Roboto"/>
            </a:endParaRPr>
          </a:p>
        </p:txBody>
      </p:sp>
      <p:sp>
        <p:nvSpPr>
          <p:cNvPr id="1637" name="Google Shape;1637;p206"/>
          <p:cNvSpPr/>
          <p:nvPr/>
        </p:nvSpPr>
        <p:spPr>
          <a:xfrm>
            <a:off x="4673386" y="2308325"/>
            <a:ext cx="8931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Privilege </a:t>
            </a:r>
            <a:r>
              <a:rPr b="1" lang="en" sz="900">
                <a:solidFill>
                  <a:schemeClr val="dk2"/>
                </a:solidFill>
                <a:latin typeface="Roboto"/>
                <a:ea typeface="Roboto"/>
                <a:cs typeface="Roboto"/>
                <a:sym typeface="Roboto"/>
              </a:rPr>
              <a:t>e</a:t>
            </a:r>
            <a:r>
              <a:rPr b="1" i="0" lang="en" sz="900" u="none" cap="none" strike="noStrike">
                <a:solidFill>
                  <a:schemeClr val="dk2"/>
                </a:solidFill>
                <a:latin typeface="Roboto"/>
                <a:ea typeface="Roboto"/>
                <a:cs typeface="Roboto"/>
                <a:sym typeface="Roboto"/>
              </a:rPr>
              <a:t>scalation</a:t>
            </a:r>
            <a:endParaRPr b="1" i="0" sz="900" u="none" cap="none" strike="noStrike">
              <a:solidFill>
                <a:schemeClr val="dk2"/>
              </a:solidFill>
              <a:latin typeface="Roboto"/>
              <a:ea typeface="Roboto"/>
              <a:cs typeface="Roboto"/>
              <a:sym typeface="Roboto"/>
            </a:endParaRPr>
          </a:p>
        </p:txBody>
      </p:sp>
      <p:sp>
        <p:nvSpPr>
          <p:cNvPr id="1638" name="Google Shape;1638;p206"/>
          <p:cNvSpPr/>
          <p:nvPr/>
        </p:nvSpPr>
        <p:spPr>
          <a:xfrm>
            <a:off x="3780724" y="2308325"/>
            <a:ext cx="8931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Persistence</a:t>
            </a:r>
            <a:endParaRPr b="1" i="0" sz="900" u="none" cap="none" strike="noStrike">
              <a:solidFill>
                <a:schemeClr val="dk2"/>
              </a:solidFill>
              <a:latin typeface="Roboto"/>
              <a:ea typeface="Roboto"/>
              <a:cs typeface="Roboto"/>
              <a:sym typeface="Roboto"/>
            </a:endParaRPr>
          </a:p>
        </p:txBody>
      </p:sp>
      <p:sp>
        <p:nvSpPr>
          <p:cNvPr id="1639" name="Google Shape;1639;p206"/>
          <p:cNvSpPr/>
          <p:nvPr/>
        </p:nvSpPr>
        <p:spPr>
          <a:xfrm>
            <a:off x="6423430" y="2308325"/>
            <a:ext cx="8193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Credential </a:t>
            </a:r>
            <a:r>
              <a:rPr b="1" lang="en" sz="900">
                <a:solidFill>
                  <a:schemeClr val="dk2"/>
                </a:solidFill>
                <a:latin typeface="Roboto"/>
                <a:ea typeface="Roboto"/>
                <a:cs typeface="Roboto"/>
                <a:sym typeface="Roboto"/>
              </a:rPr>
              <a:t>a</a:t>
            </a:r>
            <a:r>
              <a:rPr b="1" i="0" lang="en" sz="900" u="none" cap="none" strike="noStrike">
                <a:solidFill>
                  <a:schemeClr val="dk2"/>
                </a:solidFill>
                <a:latin typeface="Roboto"/>
                <a:ea typeface="Roboto"/>
                <a:cs typeface="Roboto"/>
                <a:sym typeface="Roboto"/>
              </a:rPr>
              <a:t>ccess</a:t>
            </a:r>
            <a:endParaRPr b="1" i="0" sz="900" u="none" cap="none" strike="noStrike">
              <a:solidFill>
                <a:schemeClr val="dk2"/>
              </a:solidFill>
              <a:latin typeface="Roboto"/>
              <a:ea typeface="Roboto"/>
              <a:cs typeface="Roboto"/>
              <a:sym typeface="Roboto"/>
            </a:endParaRPr>
          </a:p>
        </p:txBody>
      </p:sp>
      <p:sp>
        <p:nvSpPr>
          <p:cNvPr id="1640" name="Google Shape;1640;p206"/>
          <p:cNvSpPr/>
          <p:nvPr/>
        </p:nvSpPr>
        <p:spPr>
          <a:xfrm>
            <a:off x="7241977" y="2308325"/>
            <a:ext cx="8193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Discovery</a:t>
            </a:r>
            <a:endParaRPr b="1" i="0" sz="900" u="none" cap="none" strike="noStrike">
              <a:solidFill>
                <a:schemeClr val="dk2"/>
              </a:solidFill>
              <a:latin typeface="Roboto"/>
              <a:ea typeface="Roboto"/>
              <a:cs typeface="Roboto"/>
              <a:sym typeface="Roboto"/>
            </a:endParaRPr>
          </a:p>
        </p:txBody>
      </p:sp>
      <p:sp>
        <p:nvSpPr>
          <p:cNvPr id="1641" name="Google Shape;1641;p206"/>
          <p:cNvSpPr/>
          <p:nvPr/>
        </p:nvSpPr>
        <p:spPr>
          <a:xfrm>
            <a:off x="2104795" y="2308325"/>
            <a:ext cx="8580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Initial </a:t>
            </a:r>
            <a:br>
              <a:rPr b="1" i="0" lang="en" sz="900" u="none" cap="none" strike="noStrike">
                <a:solidFill>
                  <a:schemeClr val="dk2"/>
                </a:solidFill>
                <a:latin typeface="Roboto"/>
                <a:ea typeface="Roboto"/>
                <a:cs typeface="Roboto"/>
                <a:sym typeface="Roboto"/>
              </a:rPr>
            </a:br>
            <a:r>
              <a:rPr b="1" lang="en" sz="900">
                <a:solidFill>
                  <a:schemeClr val="dk2"/>
                </a:solidFill>
                <a:latin typeface="Roboto"/>
                <a:ea typeface="Roboto"/>
                <a:cs typeface="Roboto"/>
                <a:sym typeface="Roboto"/>
              </a:rPr>
              <a:t>a</a:t>
            </a:r>
            <a:r>
              <a:rPr b="1" i="0" lang="en" sz="900" u="none" cap="none" strike="noStrike">
                <a:solidFill>
                  <a:schemeClr val="dk2"/>
                </a:solidFill>
                <a:latin typeface="Roboto"/>
                <a:ea typeface="Roboto"/>
                <a:cs typeface="Roboto"/>
                <a:sym typeface="Roboto"/>
              </a:rPr>
              <a:t>ccess</a:t>
            </a:r>
            <a:endParaRPr b="1" i="0" sz="900" u="none" cap="none" strike="noStrike">
              <a:solidFill>
                <a:schemeClr val="dk2"/>
              </a:solidFill>
              <a:latin typeface="Roboto"/>
              <a:ea typeface="Roboto"/>
              <a:cs typeface="Roboto"/>
              <a:sym typeface="Roboto"/>
            </a:endParaRPr>
          </a:p>
        </p:txBody>
      </p:sp>
      <p:sp>
        <p:nvSpPr>
          <p:cNvPr id="1642" name="Google Shape;1642;p206"/>
          <p:cNvSpPr/>
          <p:nvPr/>
        </p:nvSpPr>
        <p:spPr>
          <a:xfrm>
            <a:off x="1212133" y="2308325"/>
            <a:ext cx="8931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900" u="none" cap="none" strike="noStrike">
                <a:solidFill>
                  <a:schemeClr val="dk2"/>
                </a:solidFill>
                <a:latin typeface="Roboto"/>
                <a:ea typeface="Roboto"/>
                <a:cs typeface="Roboto"/>
                <a:sym typeface="Roboto"/>
              </a:rPr>
              <a:t>Resource </a:t>
            </a:r>
            <a:r>
              <a:rPr b="1" lang="en" sz="900">
                <a:solidFill>
                  <a:schemeClr val="dk2"/>
                </a:solidFill>
                <a:latin typeface="Roboto"/>
                <a:ea typeface="Roboto"/>
                <a:cs typeface="Roboto"/>
                <a:sym typeface="Roboto"/>
              </a:rPr>
              <a:t>d</a:t>
            </a:r>
            <a:r>
              <a:rPr b="1" i="0" lang="en" sz="900" u="none" cap="none" strike="noStrike">
                <a:solidFill>
                  <a:schemeClr val="dk2"/>
                </a:solidFill>
                <a:latin typeface="Roboto"/>
                <a:ea typeface="Roboto"/>
                <a:cs typeface="Roboto"/>
                <a:sym typeface="Roboto"/>
              </a:rPr>
              <a:t>evelopment</a:t>
            </a:r>
            <a:endParaRPr b="1" i="0" sz="900" u="none" cap="none" strike="noStrike">
              <a:solidFill>
                <a:schemeClr val="dk2"/>
              </a:solidFill>
              <a:latin typeface="Roboto"/>
              <a:ea typeface="Roboto"/>
              <a:cs typeface="Roboto"/>
              <a:sym typeface="Roboto"/>
            </a:endParaRPr>
          </a:p>
        </p:txBody>
      </p:sp>
      <p:sp>
        <p:nvSpPr>
          <p:cNvPr id="1643" name="Google Shape;1643;p206"/>
          <p:cNvSpPr/>
          <p:nvPr/>
        </p:nvSpPr>
        <p:spPr>
          <a:xfrm>
            <a:off x="152400" y="2308325"/>
            <a:ext cx="1060200" cy="400200"/>
          </a:xfrm>
          <a:prstGeom prst="rect">
            <a:avLst/>
          </a:prstGeom>
          <a:solidFill>
            <a:schemeClr val="dk1"/>
          </a:solidFill>
          <a:ln cap="flat" cmpd="sng" w="38100">
            <a:solidFill>
              <a:srgbClr val="FCB913"/>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lt1"/>
                </a:solidFill>
                <a:latin typeface="Roboto"/>
                <a:ea typeface="Roboto"/>
                <a:cs typeface="Roboto"/>
                <a:sym typeface="Roboto"/>
              </a:rPr>
              <a:t>Reconnaissance</a:t>
            </a:r>
            <a:endParaRPr b="1" i="0" sz="1000" u="none" cap="none" strike="noStrike">
              <a:solidFill>
                <a:schemeClr val="lt1"/>
              </a:solidFill>
              <a:latin typeface="Roboto"/>
              <a:ea typeface="Roboto"/>
              <a:cs typeface="Roboto"/>
              <a:sym typeface="Roboto"/>
            </a:endParaRPr>
          </a:p>
        </p:txBody>
      </p:sp>
      <p:sp>
        <p:nvSpPr>
          <p:cNvPr id="1644" name="Google Shape;1644;p206"/>
          <p:cNvSpPr/>
          <p:nvPr/>
        </p:nvSpPr>
        <p:spPr>
          <a:xfrm>
            <a:off x="2962177" y="2308325"/>
            <a:ext cx="819300" cy="400200"/>
          </a:xfrm>
          <a:prstGeom prst="rect">
            <a:avLst/>
          </a:prstGeom>
          <a:solidFill>
            <a:srgbClr val="EFEFEF"/>
          </a:solidFill>
          <a:ln cap="flat" cmpd="sng" w="38100">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2"/>
                </a:solidFill>
                <a:latin typeface="Roboto"/>
                <a:ea typeface="Roboto"/>
                <a:cs typeface="Roboto"/>
                <a:sym typeface="Roboto"/>
              </a:rPr>
              <a:t>Execution</a:t>
            </a:r>
            <a:endParaRPr b="1" i="0" sz="900" u="none" cap="none" strike="noStrike">
              <a:solidFill>
                <a:schemeClr val="dk2"/>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207"/>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Reconnaissance</a:t>
            </a:r>
            <a:r>
              <a:rPr b="0" lang="en" sz="3800">
                <a:solidFill>
                  <a:schemeClr val="accent5"/>
                </a:solidFill>
                <a:latin typeface="Roboto"/>
                <a:ea typeface="Roboto"/>
                <a:cs typeface="Roboto"/>
                <a:sym typeface="Roboto"/>
              </a:rPr>
              <a:t> with OSINT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rPr b="0" lang="en" sz="3800">
                <a:solidFill>
                  <a:schemeClr val="accent5"/>
                </a:solidFill>
                <a:latin typeface="Roboto"/>
                <a:ea typeface="Roboto"/>
                <a:cs typeface="Roboto"/>
                <a:sym typeface="Roboto"/>
              </a:rPr>
              <a:t>and Google Hacking </a:t>
            </a:r>
            <a:endParaRPr b="0" sz="16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650" name="Google Shape;1650;p207"/>
          <p:cNvPicPr preferRelativeResize="0"/>
          <p:nvPr/>
        </p:nvPicPr>
        <p:blipFill rotWithShape="1">
          <a:blip r:embed="rId3">
            <a:alphaModFix/>
          </a:blip>
          <a:srcRect b="0" l="0" r="0" t="0"/>
          <a:stretch/>
        </p:blipFill>
        <p:spPr>
          <a:xfrm>
            <a:off x="4037536" y="1677013"/>
            <a:ext cx="991675" cy="10119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sp>
        <p:nvSpPr>
          <p:cNvPr id="1655" name="Google Shape;1655;p208"/>
          <p:cNvSpPr txBox="1"/>
          <p:nvPr>
            <p:ph idx="1" type="body"/>
          </p:nvPr>
        </p:nvSpPr>
        <p:spPr>
          <a:xfrm>
            <a:off x="3331275" y="1377600"/>
            <a:ext cx="5596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R</a:t>
            </a:r>
            <a:r>
              <a:rPr b="1" lang="en"/>
              <a:t>econnaissance</a:t>
            </a:r>
            <a:r>
              <a:rPr lang="en"/>
              <a:t> is the first MITRE ATT&amp;CK tactic.</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209"/>
          <p:cNvSpPr txBox="1"/>
          <p:nvPr>
            <p:ph idx="2" type="title"/>
          </p:nvPr>
        </p:nvSpPr>
        <p:spPr>
          <a:xfrm>
            <a:off x="1371600" y="1039700"/>
            <a:ext cx="52509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2600">
                <a:latin typeface="Roboto"/>
                <a:ea typeface="Roboto"/>
                <a:cs typeface="Roboto"/>
                <a:sym typeface="Roboto"/>
              </a:rPr>
              <a:t>Reconnaissance</a:t>
            </a:r>
            <a:r>
              <a:rPr lang="en" sz="2600">
                <a:latin typeface="Roboto"/>
                <a:ea typeface="Roboto"/>
                <a:cs typeface="Roboto"/>
                <a:sym typeface="Roboto"/>
              </a:rPr>
              <a:t>, or </a:t>
            </a:r>
            <a:r>
              <a:rPr b="1" lang="en" sz="2600">
                <a:latin typeface="Roboto"/>
                <a:ea typeface="Roboto"/>
                <a:cs typeface="Roboto"/>
                <a:sym typeface="Roboto"/>
              </a:rPr>
              <a:t>recon</a:t>
            </a:r>
            <a:r>
              <a:rPr lang="en" sz="2600">
                <a:latin typeface="Roboto"/>
                <a:ea typeface="Roboto"/>
                <a:cs typeface="Roboto"/>
                <a:sym typeface="Roboto"/>
              </a:rPr>
              <a:t>, means gathering information about your target. </a:t>
            </a:r>
            <a:endParaRPr sz="2600">
              <a:latin typeface="Roboto"/>
              <a:ea typeface="Roboto"/>
              <a:cs typeface="Roboto"/>
              <a:sym typeface="Roboto"/>
            </a:endParaRPr>
          </a:p>
          <a:p>
            <a:pPr indent="0" lvl="0" marL="0" rtl="0" algn="l">
              <a:spcBef>
                <a:spcPts val="0"/>
              </a:spcBef>
              <a:spcAft>
                <a:spcPts val="0"/>
              </a:spcAft>
              <a:buNone/>
            </a:pPr>
            <a:r>
              <a:t/>
            </a:r>
            <a:endParaRPr sz="2600">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210"/>
          <p:cNvSpPr txBox="1"/>
          <p:nvPr/>
        </p:nvSpPr>
        <p:spPr>
          <a:xfrm>
            <a:off x="349359" y="3371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Reconnaissance </a:t>
            </a:r>
            <a:endParaRPr b="1" sz="2600">
              <a:solidFill>
                <a:schemeClr val="dk2"/>
              </a:solidFill>
              <a:latin typeface="Roboto"/>
              <a:ea typeface="Roboto"/>
              <a:cs typeface="Roboto"/>
              <a:sym typeface="Roboto"/>
            </a:endParaRPr>
          </a:p>
        </p:txBody>
      </p:sp>
      <p:sp>
        <p:nvSpPr>
          <p:cNvPr id="1666" name="Google Shape;1666;p210"/>
          <p:cNvSpPr txBox="1"/>
          <p:nvPr>
            <p:ph idx="1" type="body"/>
          </p:nvPr>
        </p:nvSpPr>
        <p:spPr>
          <a:xfrm>
            <a:off x="-16823" y="492650"/>
            <a:ext cx="75522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Reconnaissance is divided into two types:</a:t>
            </a:r>
            <a:r>
              <a:rPr lang="en">
                <a:latin typeface="Roboto"/>
                <a:ea typeface="Roboto"/>
                <a:cs typeface="Roboto"/>
                <a:sym typeface="Roboto"/>
              </a:rPr>
              <a:t> </a:t>
            </a:r>
            <a:endParaRPr/>
          </a:p>
          <a:p>
            <a:pPr indent="0" lvl="0" marL="0" rtl="0" algn="l">
              <a:lnSpc>
                <a:spcPct val="100000"/>
              </a:lnSpc>
              <a:spcBef>
                <a:spcPts val="0"/>
              </a:spcBef>
              <a:spcAft>
                <a:spcPts val="0"/>
              </a:spcAft>
              <a:buSzPts val="1800"/>
              <a:buNone/>
            </a:pPr>
            <a:r>
              <a:t/>
            </a:r>
            <a:endParaRPr sz="1200">
              <a:solidFill>
                <a:schemeClr val="dk1"/>
              </a:solidFill>
            </a:endParaRPr>
          </a:p>
        </p:txBody>
      </p:sp>
      <p:sp>
        <p:nvSpPr>
          <p:cNvPr id="1667" name="Google Shape;1667;p210"/>
          <p:cNvSpPr txBox="1"/>
          <p:nvPr>
            <p:ph idx="4294967295" type="subTitle"/>
          </p:nvPr>
        </p:nvSpPr>
        <p:spPr>
          <a:xfrm>
            <a:off x="-47350" y="2253000"/>
            <a:ext cx="4627800" cy="2537700"/>
          </a:xfrm>
          <a:prstGeom prst="rect">
            <a:avLst/>
          </a:prstGeom>
          <a:noFill/>
          <a:ln>
            <a:noFill/>
          </a:ln>
        </p:spPr>
        <p:txBody>
          <a:bodyPr anchorCtr="0" anchor="t" bIns="0" lIns="457200" spcFirstLastPara="1" rIns="274300" wrap="square" tIns="0">
            <a:noAutofit/>
          </a:bodyPr>
          <a:lstStyle/>
          <a:p>
            <a:pPr indent="0" lvl="0" marL="0" rtl="0" algn="l">
              <a:lnSpc>
                <a:spcPct val="115000"/>
              </a:lnSpc>
              <a:spcBef>
                <a:spcPts val="0"/>
              </a:spcBef>
              <a:spcAft>
                <a:spcPts val="0"/>
              </a:spcAft>
              <a:buClr>
                <a:schemeClr val="dk1"/>
              </a:buClr>
              <a:buSzPts val="1100"/>
              <a:buFont typeface="Arial"/>
              <a:buNone/>
            </a:pPr>
            <a:r>
              <a:rPr lang="en"/>
              <a:t>Often refers to </a:t>
            </a:r>
            <a:r>
              <a:rPr b="1" lang="en">
                <a:latin typeface="Roboto"/>
                <a:ea typeface="Roboto"/>
                <a:cs typeface="Roboto"/>
                <a:sym typeface="Roboto"/>
              </a:rPr>
              <a:t>open source intelligence (OSINT)</a:t>
            </a:r>
            <a:r>
              <a:rPr b="1" lang="en">
                <a:latin typeface="Roboto"/>
                <a:ea typeface="Roboto"/>
                <a:cs typeface="Roboto"/>
                <a:sym typeface="Roboto"/>
              </a:rPr>
              <a:t>, </a:t>
            </a:r>
            <a:r>
              <a:rPr lang="en"/>
              <a:t>which leverages information about the target that is publicly available on the internet. </a:t>
            </a:r>
            <a:endParaRPr/>
          </a:p>
          <a:p>
            <a:pPr indent="0" lvl="0" marL="0" rtl="0" algn="l">
              <a:lnSpc>
                <a:spcPct val="115000"/>
              </a:lnSpc>
              <a:spcBef>
                <a:spcPts val="1000"/>
              </a:spcBef>
              <a:spcAft>
                <a:spcPts val="0"/>
              </a:spcAft>
              <a:buClr>
                <a:schemeClr val="dk1"/>
              </a:buClr>
              <a:buSzPts val="1100"/>
              <a:buFont typeface="Arial"/>
              <a:buNone/>
            </a:pPr>
            <a:r>
              <a:rPr lang="en"/>
              <a:t>This includes all domains and </a:t>
            </a:r>
            <a:br>
              <a:rPr lang="en"/>
            </a:br>
            <a:r>
              <a:rPr lang="en"/>
              <a:t>hosts belonging to a target that are publicly viewable.</a:t>
            </a:r>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1668" name="Google Shape;1668;p210"/>
          <p:cNvSpPr txBox="1"/>
          <p:nvPr>
            <p:ph idx="4294967295" type="subTitle"/>
          </p:nvPr>
        </p:nvSpPr>
        <p:spPr>
          <a:xfrm>
            <a:off x="4563550" y="2253000"/>
            <a:ext cx="4325400" cy="2537700"/>
          </a:xfrm>
          <a:prstGeom prst="rect">
            <a:avLst/>
          </a:prstGeom>
          <a:noFill/>
          <a:ln>
            <a:noFill/>
          </a:ln>
        </p:spPr>
        <p:txBody>
          <a:bodyPr anchorCtr="0" anchor="t" bIns="0" lIns="365750" spcFirstLastPara="1" rIns="274300" wrap="square" tIns="0">
            <a:noAutofit/>
          </a:bodyPr>
          <a:lstStyle/>
          <a:p>
            <a:pPr indent="0" lvl="0" marL="0" rtl="0" algn="l">
              <a:lnSpc>
                <a:spcPct val="115000"/>
              </a:lnSpc>
              <a:spcBef>
                <a:spcPts val="0"/>
              </a:spcBef>
              <a:spcAft>
                <a:spcPts val="1000"/>
              </a:spcAft>
              <a:buSzPts val="1400"/>
              <a:buNone/>
            </a:pPr>
            <a:r>
              <a:rPr lang="en"/>
              <a:t>Also refers to gathering information about the target, but it involves directly interacting with the target.</a:t>
            </a:r>
            <a:endParaRPr/>
          </a:p>
        </p:txBody>
      </p:sp>
      <p:sp>
        <p:nvSpPr>
          <p:cNvPr id="1669" name="Google Shape;1669;p210"/>
          <p:cNvSpPr/>
          <p:nvPr/>
        </p:nvSpPr>
        <p:spPr>
          <a:xfrm>
            <a:off x="1038778" y="1332000"/>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Passive Recon</a:t>
            </a:r>
            <a:endParaRPr b="1" sz="1800">
              <a:solidFill>
                <a:schemeClr val="dk2"/>
              </a:solidFill>
              <a:latin typeface="Roboto"/>
              <a:ea typeface="Roboto"/>
              <a:cs typeface="Roboto"/>
              <a:sym typeface="Roboto"/>
            </a:endParaRPr>
          </a:p>
        </p:txBody>
      </p:sp>
      <p:sp>
        <p:nvSpPr>
          <p:cNvPr id="1670" name="Google Shape;1670;p210"/>
          <p:cNvSpPr/>
          <p:nvPr/>
        </p:nvSpPr>
        <p:spPr>
          <a:xfrm>
            <a:off x="5525280" y="1332000"/>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Active Recon</a:t>
            </a:r>
            <a:endParaRPr b="1" sz="1800">
              <a:solidFill>
                <a:schemeClr val="dk2"/>
              </a:solidFill>
              <a:latin typeface="Roboto"/>
              <a:ea typeface="Roboto"/>
              <a:cs typeface="Roboto"/>
              <a:sym typeface="Roboto"/>
            </a:endParaRPr>
          </a:p>
        </p:txBody>
      </p:sp>
      <p:grpSp>
        <p:nvGrpSpPr>
          <p:cNvPr id="1671" name="Google Shape;1671;p210"/>
          <p:cNvGrpSpPr/>
          <p:nvPr/>
        </p:nvGrpSpPr>
        <p:grpSpPr>
          <a:xfrm>
            <a:off x="422134" y="1327214"/>
            <a:ext cx="533372" cy="533480"/>
            <a:chOff x="457200" y="1378813"/>
            <a:chExt cx="695400" cy="695450"/>
          </a:xfrm>
        </p:grpSpPr>
        <p:sp>
          <p:nvSpPr>
            <p:cNvPr id="1672" name="Google Shape;1672;p210"/>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1673" name="Google Shape;1673;p210"/>
            <p:cNvSpPr/>
            <p:nvPr/>
          </p:nvSpPr>
          <p:spPr>
            <a:xfrm rot="10800000">
              <a:off x="634726" y="1885638"/>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674" name="Google Shape;1674;p210"/>
          <p:cNvGrpSpPr/>
          <p:nvPr/>
        </p:nvGrpSpPr>
        <p:grpSpPr>
          <a:xfrm>
            <a:off x="4899747" y="1327214"/>
            <a:ext cx="533372" cy="533480"/>
            <a:chOff x="457200" y="1378813"/>
            <a:chExt cx="695400" cy="695450"/>
          </a:xfrm>
        </p:grpSpPr>
        <p:sp>
          <p:nvSpPr>
            <p:cNvPr id="1675" name="Google Shape;1675;p210"/>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a:t>
              </a:r>
              <a:r>
                <a:rPr lang="en" sz="2100">
                  <a:solidFill>
                    <a:srgbClr val="FFFFFF"/>
                  </a:solidFill>
                  <a:latin typeface="Roboto"/>
                  <a:ea typeface="Roboto"/>
                  <a:cs typeface="Roboto"/>
                  <a:sym typeface="Roboto"/>
                </a:rPr>
                <a:t>2</a:t>
              </a:r>
              <a:endParaRPr i="0" sz="2100" u="none" cap="none" strike="noStrike">
                <a:solidFill>
                  <a:srgbClr val="FFFFFF"/>
                </a:solidFill>
                <a:latin typeface="Roboto"/>
                <a:ea typeface="Roboto"/>
                <a:cs typeface="Roboto"/>
                <a:sym typeface="Roboto"/>
              </a:endParaRPr>
            </a:p>
          </p:txBody>
        </p:sp>
        <p:sp>
          <p:nvSpPr>
            <p:cNvPr id="1676" name="Google Shape;1676;p210"/>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211"/>
          <p:cNvSpPr txBox="1"/>
          <p:nvPr/>
        </p:nvSpPr>
        <p:spPr>
          <a:xfrm>
            <a:off x="349359" y="4841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Reconnaissance </a:t>
            </a:r>
            <a:endParaRPr b="1" sz="1600">
              <a:solidFill>
                <a:schemeClr val="dk2"/>
              </a:solidFill>
              <a:latin typeface="Roboto"/>
              <a:ea typeface="Roboto"/>
              <a:cs typeface="Roboto"/>
              <a:sym typeface="Roboto"/>
            </a:endParaRPr>
          </a:p>
        </p:txBody>
      </p:sp>
      <p:sp>
        <p:nvSpPr>
          <p:cNvPr id="1682" name="Google Shape;1682;p211"/>
          <p:cNvSpPr txBox="1"/>
          <p:nvPr>
            <p:ph idx="1" type="body"/>
          </p:nvPr>
        </p:nvSpPr>
        <p:spPr>
          <a:xfrm>
            <a:off x="-16823" y="492650"/>
            <a:ext cx="7552200" cy="653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Reconnaissance can be conducted: </a:t>
            </a:r>
            <a:endParaRPr/>
          </a:p>
          <a:p>
            <a:pPr indent="0" lvl="0" marL="0" rtl="0" algn="l">
              <a:lnSpc>
                <a:spcPct val="100000"/>
              </a:lnSpc>
              <a:spcBef>
                <a:spcPts val="0"/>
              </a:spcBef>
              <a:spcAft>
                <a:spcPts val="0"/>
              </a:spcAft>
              <a:buSzPts val="1800"/>
              <a:buNone/>
            </a:pPr>
            <a:r>
              <a:t/>
            </a:r>
            <a:endParaRPr sz="1200">
              <a:solidFill>
                <a:schemeClr val="dk1"/>
              </a:solidFill>
            </a:endParaRPr>
          </a:p>
        </p:txBody>
      </p:sp>
      <p:pic>
        <p:nvPicPr>
          <p:cNvPr id="1683" name="Google Shape;1683;p211"/>
          <p:cNvPicPr preferRelativeResize="0"/>
          <p:nvPr/>
        </p:nvPicPr>
        <p:blipFill rotWithShape="1">
          <a:blip r:embed="rId3">
            <a:alphaModFix/>
          </a:blip>
          <a:srcRect b="3418" l="0" r="0" t="0"/>
          <a:stretch/>
        </p:blipFill>
        <p:spPr>
          <a:xfrm>
            <a:off x="1382300" y="1106850"/>
            <a:ext cx="6117898" cy="3557399"/>
          </a:xfrm>
          <a:prstGeom prst="rect">
            <a:avLst/>
          </a:prstGeom>
          <a:noFill/>
          <a:ln>
            <a:noFill/>
          </a:ln>
        </p:spPr>
      </p:pic>
      <p:sp>
        <p:nvSpPr>
          <p:cNvPr id="1684" name="Google Shape;1684;p211"/>
          <p:cNvSpPr txBox="1"/>
          <p:nvPr/>
        </p:nvSpPr>
        <p:spPr>
          <a:xfrm>
            <a:off x="1706675" y="2298563"/>
            <a:ext cx="2607000" cy="1310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800"/>
              <a:buFont typeface="Arial"/>
              <a:buNone/>
            </a:pPr>
            <a:r>
              <a:rPr b="1" i="0" lang="en" sz="2000" u="none" cap="none" strike="noStrike">
                <a:solidFill>
                  <a:schemeClr val="dk2"/>
                </a:solidFill>
                <a:latin typeface="Roboto"/>
                <a:ea typeface="Roboto"/>
                <a:cs typeface="Roboto"/>
                <a:sym typeface="Roboto"/>
              </a:rPr>
              <a:t>Externally</a:t>
            </a:r>
            <a:endParaRPr b="1" i="0" sz="1600" u="none" cap="none" strike="noStrike">
              <a:solidFill>
                <a:schemeClr val="dk2"/>
              </a:solidFill>
              <a:latin typeface="Roboto"/>
              <a:ea typeface="Roboto"/>
              <a:cs typeface="Roboto"/>
              <a:sym typeface="Roboto"/>
            </a:endParaRPr>
          </a:p>
          <a:p>
            <a:pPr indent="0" lvl="0" marL="0" marR="0" rtl="0" algn="ctr">
              <a:lnSpc>
                <a:spcPct val="100000"/>
              </a:lnSpc>
              <a:spcBef>
                <a:spcPts val="1000"/>
              </a:spcBef>
              <a:spcAft>
                <a:spcPts val="0"/>
              </a:spcAft>
              <a:buClr>
                <a:srgbClr val="000000"/>
              </a:buClr>
              <a:buSzPts val="1800"/>
              <a:buFont typeface="Arial"/>
              <a:buNone/>
            </a:pPr>
            <a:r>
              <a:rPr i="0" lang="en" sz="1800" u="none" cap="none" strike="noStrike">
                <a:solidFill>
                  <a:schemeClr val="dk2"/>
                </a:solidFill>
                <a:latin typeface="Roboto"/>
                <a:ea typeface="Roboto"/>
                <a:cs typeface="Roboto"/>
                <a:sym typeface="Roboto"/>
              </a:rPr>
              <a:t>from the target </a:t>
            </a:r>
            <a:endParaRPr i="0" sz="1800" u="none" cap="none" strike="noStrike">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800"/>
              <a:buFont typeface="Arial"/>
              <a:buNone/>
            </a:pPr>
            <a:r>
              <a:rPr i="0" lang="en" sz="1800" u="none" cap="none" strike="noStrike">
                <a:solidFill>
                  <a:schemeClr val="dk2"/>
                </a:solidFill>
                <a:latin typeface="Roboto Light"/>
                <a:ea typeface="Roboto Light"/>
                <a:cs typeface="Roboto Light"/>
                <a:sym typeface="Roboto Light"/>
              </a:rPr>
              <a:t>(</a:t>
            </a:r>
            <a:r>
              <a:rPr b="1" i="0" lang="en" sz="1800" u="none" cap="none" strike="noStrike">
                <a:solidFill>
                  <a:schemeClr val="dk2"/>
                </a:solidFill>
                <a:latin typeface="Roboto"/>
                <a:ea typeface="Roboto"/>
                <a:cs typeface="Roboto"/>
                <a:sym typeface="Roboto"/>
              </a:rPr>
              <a:t>external reconnaissance</a:t>
            </a:r>
            <a:r>
              <a:rPr i="0" lang="en" sz="1800" u="none" cap="none" strike="noStrike">
                <a:solidFill>
                  <a:schemeClr val="dk2"/>
                </a:solidFill>
                <a:latin typeface="Roboto Light"/>
                <a:ea typeface="Roboto Light"/>
                <a:cs typeface="Roboto Light"/>
                <a:sym typeface="Roboto Light"/>
              </a:rPr>
              <a:t>)</a:t>
            </a:r>
            <a:br>
              <a:rPr i="0" lang="en" u="none" cap="none" strike="noStrike">
                <a:solidFill>
                  <a:schemeClr val="dk1"/>
                </a:solidFill>
                <a:latin typeface="Roboto Light"/>
                <a:ea typeface="Roboto Light"/>
                <a:cs typeface="Roboto Light"/>
                <a:sym typeface="Roboto Light"/>
              </a:rPr>
            </a:br>
            <a:endParaRPr i="0" u="none" cap="none" strike="noStrike">
              <a:solidFill>
                <a:schemeClr val="dk1"/>
              </a:solidFill>
              <a:latin typeface="Roboto Light"/>
              <a:ea typeface="Roboto Light"/>
              <a:cs typeface="Roboto Light"/>
              <a:sym typeface="Roboto Light"/>
            </a:endParaRPr>
          </a:p>
        </p:txBody>
      </p:sp>
      <p:sp>
        <p:nvSpPr>
          <p:cNvPr id="1685" name="Google Shape;1685;p211"/>
          <p:cNvSpPr txBox="1"/>
          <p:nvPr/>
        </p:nvSpPr>
        <p:spPr>
          <a:xfrm>
            <a:off x="4653225" y="2298563"/>
            <a:ext cx="2416800" cy="131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2000" u="none" cap="none" strike="noStrike">
                <a:solidFill>
                  <a:schemeClr val="dk2"/>
                </a:solidFill>
                <a:latin typeface="Roboto"/>
                <a:ea typeface="Roboto"/>
                <a:cs typeface="Roboto"/>
                <a:sym typeface="Roboto"/>
              </a:rPr>
              <a:t>Internally</a:t>
            </a:r>
            <a:endParaRPr b="1" i="0" sz="2000" u="none" cap="none" strike="noStrike">
              <a:solidFill>
                <a:schemeClr val="dk2"/>
              </a:solidFill>
              <a:latin typeface="Roboto"/>
              <a:ea typeface="Roboto"/>
              <a:cs typeface="Roboto"/>
              <a:sym typeface="Roboto"/>
            </a:endParaRPr>
          </a:p>
          <a:p>
            <a:pPr indent="0" lvl="0" marL="0" marR="0" rtl="0" algn="ctr">
              <a:lnSpc>
                <a:spcPct val="100000"/>
              </a:lnSpc>
              <a:spcBef>
                <a:spcPts val="1000"/>
              </a:spcBef>
              <a:spcAft>
                <a:spcPts val="0"/>
              </a:spcAft>
              <a:buClr>
                <a:schemeClr val="dk1"/>
              </a:buClr>
              <a:buSzPts val="1100"/>
              <a:buFont typeface="Arial"/>
              <a:buNone/>
            </a:pPr>
            <a:r>
              <a:rPr i="0" lang="en" sz="1800" u="none" cap="none" strike="noStrike">
                <a:solidFill>
                  <a:schemeClr val="dk2"/>
                </a:solidFill>
                <a:latin typeface="Roboto"/>
                <a:ea typeface="Roboto"/>
                <a:cs typeface="Roboto"/>
                <a:sym typeface="Roboto"/>
              </a:rPr>
              <a:t>after accessing</a:t>
            </a:r>
            <a:br>
              <a:rPr i="0" lang="en" sz="1800" u="none" cap="none" strike="noStrike">
                <a:solidFill>
                  <a:schemeClr val="dk2"/>
                </a:solidFill>
                <a:latin typeface="Roboto"/>
                <a:ea typeface="Roboto"/>
                <a:cs typeface="Roboto"/>
                <a:sym typeface="Roboto"/>
              </a:rPr>
            </a:br>
            <a:r>
              <a:rPr i="0" lang="en" sz="1800" u="none" cap="none" strike="noStrike">
                <a:solidFill>
                  <a:schemeClr val="dk2"/>
                </a:solidFill>
                <a:latin typeface="Roboto"/>
                <a:ea typeface="Roboto"/>
                <a:cs typeface="Roboto"/>
                <a:sym typeface="Roboto"/>
              </a:rPr>
              <a:t>the target</a:t>
            </a:r>
            <a:r>
              <a:rPr i="0" lang="en" sz="1800" u="none" cap="none" strike="noStrike">
                <a:solidFill>
                  <a:schemeClr val="dk2"/>
                </a:solidFill>
                <a:latin typeface="Roboto Light"/>
                <a:ea typeface="Roboto Light"/>
                <a:cs typeface="Roboto Light"/>
                <a:sym typeface="Roboto Light"/>
              </a:rPr>
              <a:t> </a:t>
            </a:r>
            <a:br>
              <a:rPr i="0" lang="en" sz="1800" u="none" cap="none" strike="noStrike">
                <a:solidFill>
                  <a:schemeClr val="dk2"/>
                </a:solidFill>
                <a:latin typeface="Roboto Light"/>
                <a:ea typeface="Roboto Light"/>
                <a:cs typeface="Roboto Light"/>
                <a:sym typeface="Roboto Light"/>
              </a:rPr>
            </a:br>
            <a:r>
              <a:rPr i="0" lang="en" sz="1800" u="none" cap="none" strike="noStrike">
                <a:solidFill>
                  <a:schemeClr val="dk2"/>
                </a:solidFill>
                <a:latin typeface="Roboto Light"/>
                <a:ea typeface="Roboto Light"/>
                <a:cs typeface="Roboto Light"/>
                <a:sym typeface="Roboto Light"/>
              </a:rPr>
              <a:t>(</a:t>
            </a:r>
            <a:r>
              <a:rPr b="1" i="0" lang="en" sz="1800" u="none" cap="none" strike="noStrike">
                <a:solidFill>
                  <a:schemeClr val="dk2"/>
                </a:solidFill>
                <a:latin typeface="Roboto"/>
                <a:ea typeface="Roboto"/>
                <a:cs typeface="Roboto"/>
                <a:sym typeface="Roboto"/>
              </a:rPr>
              <a:t>internal reconnaissance</a:t>
            </a:r>
            <a:r>
              <a:rPr i="0" lang="en" sz="1800" u="none" cap="none" strike="noStrike">
                <a:solidFill>
                  <a:schemeClr val="dk2"/>
                </a:solidFill>
                <a:latin typeface="Roboto Light"/>
                <a:ea typeface="Roboto Light"/>
                <a:cs typeface="Roboto Light"/>
                <a:sym typeface="Roboto Light"/>
              </a:rPr>
              <a:t>)</a:t>
            </a:r>
            <a:br>
              <a:rPr i="0" lang="en" u="none" cap="none" strike="noStrike">
                <a:solidFill>
                  <a:schemeClr val="dk1"/>
                </a:solidFill>
                <a:latin typeface="Roboto Light"/>
                <a:ea typeface="Roboto Light"/>
                <a:cs typeface="Roboto Light"/>
                <a:sym typeface="Roboto Light"/>
              </a:rPr>
            </a:br>
            <a:endParaRPr i="0" u="none" cap="none" strike="noStrike">
              <a:solidFill>
                <a:schemeClr val="dk1"/>
              </a:solidFill>
              <a:latin typeface="Roboto Light"/>
              <a:ea typeface="Roboto Light"/>
              <a:cs typeface="Roboto Light"/>
              <a:sym typeface="Roboto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212"/>
          <p:cNvSpPr txBox="1"/>
          <p:nvPr/>
        </p:nvSpPr>
        <p:spPr>
          <a:xfrm>
            <a:off x="759525" y="3711625"/>
            <a:ext cx="7470000" cy="10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Enables us to manipulate Google searches to narrow down our queries in order to acquire actionable intel.</a:t>
            </a:r>
            <a:endParaRPr sz="1800">
              <a:solidFill>
                <a:schemeClr val="dk2"/>
              </a:solidFill>
              <a:latin typeface="Roboto"/>
              <a:ea typeface="Roboto"/>
              <a:cs typeface="Roboto"/>
              <a:sym typeface="Roboto"/>
            </a:endParaRPr>
          </a:p>
        </p:txBody>
      </p:sp>
      <p:pic>
        <p:nvPicPr>
          <p:cNvPr id="1691" name="Google Shape;1691;p212"/>
          <p:cNvPicPr preferRelativeResize="0"/>
          <p:nvPr/>
        </p:nvPicPr>
        <p:blipFill>
          <a:blip r:embed="rId3">
            <a:alphaModFix/>
          </a:blip>
          <a:stretch>
            <a:fillRect/>
          </a:stretch>
        </p:blipFill>
        <p:spPr>
          <a:xfrm>
            <a:off x="877938" y="340150"/>
            <a:ext cx="7388124" cy="27416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213"/>
          <p:cNvSpPr txBox="1"/>
          <p:nvPr/>
        </p:nvSpPr>
        <p:spPr>
          <a:xfrm>
            <a:off x="759525" y="3711625"/>
            <a:ext cx="7668900" cy="10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Falls under the technique: </a:t>
            </a:r>
            <a:endParaRPr sz="1800">
              <a:solidFill>
                <a:schemeClr val="dk2"/>
              </a:solidFill>
              <a:latin typeface="Roboto"/>
              <a:ea typeface="Roboto"/>
              <a:cs typeface="Roboto"/>
              <a:sym typeface="Roboto"/>
            </a:endParaRPr>
          </a:p>
          <a:p>
            <a:pPr indent="0" lvl="0" marL="0" rtl="0" algn="ctr">
              <a:spcBef>
                <a:spcPts val="0"/>
              </a:spcBef>
              <a:spcAft>
                <a:spcPts val="0"/>
              </a:spcAft>
              <a:buNone/>
            </a:pPr>
            <a:r>
              <a:rPr b="1" lang="en" sz="1800">
                <a:solidFill>
                  <a:schemeClr val="dk2"/>
                </a:solidFill>
                <a:latin typeface="Roboto"/>
                <a:ea typeface="Roboto"/>
                <a:cs typeface="Roboto"/>
                <a:sym typeface="Roboto"/>
              </a:rPr>
              <a:t>Search Open Websites/Domains: Search Engines, ID T1593-002.</a:t>
            </a:r>
            <a:endParaRPr b="1"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697" name="Google Shape;1697;p213"/>
          <p:cNvPicPr preferRelativeResize="0"/>
          <p:nvPr/>
        </p:nvPicPr>
        <p:blipFill>
          <a:blip r:embed="rId3">
            <a:alphaModFix/>
          </a:blip>
          <a:stretch>
            <a:fillRect/>
          </a:stretch>
        </p:blipFill>
        <p:spPr>
          <a:xfrm>
            <a:off x="877938" y="340150"/>
            <a:ext cx="7388124" cy="27416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01" name="Shape 1701"/>
        <p:cNvGrpSpPr/>
        <p:nvPr/>
      </p:nvGrpSpPr>
      <p:grpSpPr>
        <a:xfrm>
          <a:off x="0" y="0"/>
          <a:ext cx="0" cy="0"/>
          <a:chOff x="0" y="0"/>
          <a:chExt cx="0" cy="0"/>
        </a:xfrm>
      </p:grpSpPr>
      <p:sp>
        <p:nvSpPr>
          <p:cNvPr id="1702" name="Google Shape;1702;p214"/>
          <p:cNvSpPr txBox="1"/>
          <p:nvPr>
            <p:ph idx="1" type="body"/>
          </p:nvPr>
        </p:nvSpPr>
        <p:spPr>
          <a:xfrm>
            <a:off x="311700" y="1044400"/>
            <a:ext cx="37026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demonstration, we’ll use Google hacking basic functionality to target sans.org.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Then you will apply this tool to gather OSINT in the next activity. </a:t>
            </a:r>
            <a:endParaRPr/>
          </a:p>
        </p:txBody>
      </p:sp>
      <p:cxnSp>
        <p:nvCxnSpPr>
          <p:cNvPr id="1703" name="Google Shape;1703;p214"/>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704" name="Google Shape;1704;p214"/>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a:t>
            </a:r>
            <a:r>
              <a:rPr b="1" lang="en" sz="2600">
                <a:solidFill>
                  <a:schemeClr val="accent5"/>
                </a:solidFill>
                <a:latin typeface="Roboto"/>
                <a:ea typeface="Roboto"/>
                <a:cs typeface="Roboto"/>
                <a:sym typeface="Roboto"/>
              </a:rPr>
              <a:t>Scenario</a:t>
            </a:r>
            <a:endParaRPr b="1" sz="2600">
              <a:solidFill>
                <a:schemeClr val="accent5"/>
              </a:solidFill>
              <a:latin typeface="Roboto"/>
              <a:ea typeface="Roboto"/>
              <a:cs typeface="Roboto"/>
              <a:sym typeface="Roboto"/>
            </a:endParaRPr>
          </a:p>
        </p:txBody>
      </p:sp>
      <p:sp>
        <p:nvSpPr>
          <p:cNvPr id="1705" name="Google Shape;1705;p214"/>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14"/>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707" name="Google Shape;1707;p214"/>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708" name="Google Shape;1708;p214"/>
          <p:cNvPicPr preferRelativeResize="0"/>
          <p:nvPr/>
        </p:nvPicPr>
        <p:blipFill rotWithShape="1">
          <a:blip r:embed="rId4">
            <a:alphaModFix/>
          </a:blip>
          <a:srcRect b="17976" l="5305" r="5519" t="4969"/>
          <a:stretch/>
        </p:blipFill>
        <p:spPr>
          <a:xfrm>
            <a:off x="3890675" y="1223150"/>
            <a:ext cx="4796151" cy="3235026"/>
          </a:xfrm>
          <a:prstGeom prst="rect">
            <a:avLst/>
          </a:prstGeom>
          <a:noFill/>
          <a:ln>
            <a:noFill/>
          </a:ln>
          <a:effectLst>
            <a:outerShdw blurRad="200025" rotWithShape="0" algn="bl">
              <a:srgbClr val="000000">
                <a:alpha val="2392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215"/>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3100">
                <a:latin typeface="Roboto"/>
                <a:ea typeface="Roboto"/>
                <a:cs typeface="Roboto"/>
                <a:sym typeface="Roboto"/>
              </a:rPr>
              <a:t>Google </a:t>
            </a:r>
            <a:r>
              <a:rPr lang="en" sz="3100">
                <a:latin typeface="Roboto"/>
                <a:ea typeface="Roboto"/>
                <a:cs typeface="Roboto"/>
                <a:sym typeface="Roboto"/>
              </a:rPr>
              <a:t>Hacking</a:t>
            </a:r>
            <a:endParaRPr sz="3100">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7" name="Shape 1717"/>
        <p:cNvGrpSpPr/>
        <p:nvPr/>
      </p:nvGrpSpPr>
      <p:grpSpPr>
        <a:xfrm>
          <a:off x="0" y="0"/>
          <a:ext cx="0" cy="0"/>
          <a:chOff x="0" y="0"/>
          <a:chExt cx="0" cy="0"/>
        </a:xfrm>
      </p:grpSpPr>
      <p:sp>
        <p:nvSpPr>
          <p:cNvPr id="1718" name="Google Shape;1718;p216"/>
          <p:cNvSpPr txBox="1"/>
          <p:nvPr/>
        </p:nvSpPr>
        <p:spPr>
          <a:xfrm>
            <a:off x="697250" y="102232"/>
            <a:ext cx="8122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Summary</a:t>
            </a:r>
            <a:endParaRPr sz="2400">
              <a:solidFill>
                <a:schemeClr val="dk2"/>
              </a:solidFill>
              <a:latin typeface="Roboto Light"/>
              <a:ea typeface="Roboto Light"/>
              <a:cs typeface="Roboto Light"/>
              <a:sym typeface="Roboto Light"/>
            </a:endParaRPr>
          </a:p>
        </p:txBody>
      </p:sp>
      <p:cxnSp>
        <p:nvCxnSpPr>
          <p:cNvPr id="1719" name="Google Shape;1719;p216"/>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
        <p:nvSpPr>
          <p:cNvPr id="1720" name="Google Shape;1720;p216"/>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21" name="Google Shape;1721;p216"/>
          <p:cNvPicPr preferRelativeResize="0"/>
          <p:nvPr/>
        </p:nvPicPr>
        <p:blipFill>
          <a:blip r:embed="rId3">
            <a:alphaModFix/>
          </a:blip>
          <a:stretch>
            <a:fillRect/>
          </a:stretch>
        </p:blipFill>
        <p:spPr>
          <a:xfrm>
            <a:off x="192875" y="284200"/>
            <a:ext cx="459000" cy="471541"/>
          </a:xfrm>
          <a:prstGeom prst="rect">
            <a:avLst/>
          </a:prstGeom>
          <a:noFill/>
          <a:ln>
            <a:noFill/>
          </a:ln>
        </p:spPr>
      </p:pic>
      <p:sp>
        <p:nvSpPr>
          <p:cNvPr id="1722" name="Google Shape;1722;p216"/>
          <p:cNvSpPr txBox="1"/>
          <p:nvPr/>
        </p:nvSpPr>
        <p:spPr>
          <a:xfrm>
            <a:off x="715075" y="483659"/>
            <a:ext cx="538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We’ve covered the following concepts: </a:t>
            </a:r>
            <a:endParaRPr sz="1800">
              <a:solidFill>
                <a:schemeClr val="dk2"/>
              </a:solidFill>
              <a:latin typeface="Roboto"/>
              <a:ea typeface="Roboto"/>
              <a:cs typeface="Roboto"/>
              <a:sym typeface="Roboto"/>
            </a:endParaRPr>
          </a:p>
        </p:txBody>
      </p:sp>
      <p:graphicFrame>
        <p:nvGraphicFramePr>
          <p:cNvPr id="1723" name="Google Shape;1723;p216"/>
          <p:cNvGraphicFramePr/>
          <p:nvPr/>
        </p:nvGraphicFramePr>
        <p:xfrm>
          <a:off x="243063" y="1184883"/>
          <a:ext cx="3000000" cy="3000000"/>
        </p:xfrm>
        <a:graphic>
          <a:graphicData uri="http://schemas.openxmlformats.org/drawingml/2006/table">
            <a:tbl>
              <a:tblPr>
                <a:noFill/>
                <a:tableStyleId>{C8D8F788-836A-4B15-804E-45C680846998}</a:tableStyleId>
              </a:tblPr>
              <a:tblGrid>
                <a:gridCol w="1668150"/>
                <a:gridCol w="6775575"/>
              </a:tblGrid>
              <a:tr h="484725">
                <a:tc>
                  <a:txBody>
                    <a:bodyPr/>
                    <a:lstStyle/>
                    <a:p>
                      <a:pPr indent="0" lvl="0" marL="0" marR="0" rtl="0" algn="l">
                        <a:lnSpc>
                          <a:spcPct val="100000"/>
                        </a:lnSpc>
                        <a:spcBef>
                          <a:spcPts val="0"/>
                        </a:spcBef>
                        <a:spcAft>
                          <a:spcPts val="0"/>
                        </a:spcAft>
                        <a:buClr>
                          <a:srgbClr val="000000"/>
                        </a:buClr>
                        <a:buSzPts val="1400"/>
                        <a:buFont typeface="Arial"/>
                        <a:buNone/>
                      </a:pPr>
                      <a:r>
                        <a:rPr b="1" lang="en" u="none" cap="none" strike="noStrike">
                          <a:solidFill>
                            <a:srgbClr val="FFFFFF"/>
                          </a:solidFill>
                          <a:latin typeface="Roboto"/>
                          <a:ea typeface="Roboto"/>
                          <a:cs typeface="Roboto"/>
                          <a:sym typeface="Roboto"/>
                        </a:rPr>
                        <a:t>Reconnaissance</a:t>
                      </a:r>
                      <a:endParaRPr b="1" u="none" cap="none" strike="noStrike">
                        <a:solidFill>
                          <a:srgbClr val="FFFFFF"/>
                        </a:solidFill>
                        <a:latin typeface="Roboto"/>
                        <a:ea typeface="Roboto"/>
                        <a:cs typeface="Roboto"/>
                        <a:sym typeface="Roboto"/>
                      </a:endParaRPr>
                    </a:p>
                  </a:txBody>
                  <a:tcPr marT="91425" marB="91425" marR="18287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solidFill>
                            <a:schemeClr val="dk2"/>
                          </a:solidFill>
                          <a:latin typeface="Roboto"/>
                          <a:ea typeface="Roboto"/>
                          <a:cs typeface="Roboto"/>
                          <a:sym typeface="Roboto"/>
                        </a:rPr>
                        <a:t>Gathering information about your target. It’s part of the</a:t>
                      </a:r>
                      <a:r>
                        <a:rPr lang="en" sz="1600" u="none" cap="none" strike="noStrike">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P</a:t>
                      </a:r>
                      <a:r>
                        <a:rPr b="1" lang="en" sz="1600" u="none" cap="none" strike="noStrike">
                          <a:solidFill>
                            <a:schemeClr val="dk2"/>
                          </a:solidFill>
                          <a:latin typeface="Roboto"/>
                          <a:ea typeface="Roboto"/>
                          <a:cs typeface="Roboto"/>
                          <a:sym typeface="Roboto"/>
                        </a:rPr>
                        <a:t>lanning and </a:t>
                      </a:r>
                      <a:r>
                        <a:rPr b="1" lang="en" sz="1600">
                          <a:solidFill>
                            <a:schemeClr val="dk2"/>
                          </a:solidFill>
                          <a:latin typeface="Roboto"/>
                          <a:ea typeface="Roboto"/>
                          <a:cs typeface="Roboto"/>
                          <a:sym typeface="Roboto"/>
                        </a:rPr>
                        <a:t>R</a:t>
                      </a:r>
                      <a:r>
                        <a:rPr b="1" lang="en" sz="1600" u="none" cap="none" strike="noStrike">
                          <a:solidFill>
                            <a:schemeClr val="dk2"/>
                          </a:solidFill>
                          <a:latin typeface="Roboto"/>
                          <a:ea typeface="Roboto"/>
                          <a:cs typeface="Roboto"/>
                          <a:sym typeface="Roboto"/>
                        </a:rPr>
                        <a:t>econnaissance</a:t>
                      </a:r>
                      <a:r>
                        <a:rPr lang="en" sz="1600" u="none" cap="none" strike="noStrike">
                          <a:solidFill>
                            <a:schemeClr val="dk2"/>
                          </a:solidFill>
                          <a:latin typeface="Roboto Light"/>
                          <a:ea typeface="Roboto Light"/>
                          <a:cs typeface="Roboto Light"/>
                          <a:sym typeface="Roboto Light"/>
                        </a:rPr>
                        <a:t> </a:t>
                      </a:r>
                      <a:r>
                        <a:rPr lang="en" sz="1600" u="none" cap="none" strike="noStrike">
                          <a:solidFill>
                            <a:schemeClr val="dk2"/>
                          </a:solidFill>
                          <a:latin typeface="Roboto"/>
                          <a:ea typeface="Roboto"/>
                          <a:cs typeface="Roboto"/>
                          <a:sym typeface="Roboto"/>
                        </a:rPr>
                        <a:t>phase. </a:t>
                      </a:r>
                      <a:endParaRPr sz="1600" u="none" cap="none" strike="noStrike">
                        <a:solidFill>
                          <a:schemeClr val="dk2"/>
                        </a:solidFill>
                        <a:latin typeface="Roboto"/>
                        <a:ea typeface="Roboto"/>
                        <a:cs typeface="Roboto"/>
                        <a:sym typeface="Roboto"/>
                      </a:endParaRPr>
                    </a:p>
                  </a:txBody>
                  <a:tcPr marT="91425" marB="91425" marR="91425" marL="182875" anchor="ctr">
                    <a:lnL cap="flat" cmpd="sng" w="9525">
                      <a:solidFill>
                        <a:schemeClr val="lt1"/>
                      </a:solidFill>
                      <a:prstDash val="solid"/>
                      <a:round/>
                      <a:headEnd len="sm" w="sm" type="none"/>
                      <a:tailEnd len="sm" w="sm" type="none"/>
                    </a:lnL>
                    <a:lnR cap="flat" cmpd="sng" w="9525">
                      <a:solidFill>
                        <a:srgbClr val="00C8E9">
                          <a:alpha val="0"/>
                        </a:srgbClr>
                      </a:solidFill>
                      <a:prstDash val="solid"/>
                      <a:round/>
                      <a:headEnd len="sm" w="sm" type="none"/>
                      <a:tailEnd len="sm" w="sm" type="none"/>
                    </a:lnR>
                    <a:lnT cap="flat" cmpd="sng" w="9525">
                      <a:solidFill>
                        <a:srgbClr val="00C8E9">
                          <a:alpha val="0"/>
                        </a:srgbClr>
                      </a:solidFill>
                      <a:prstDash val="solid"/>
                      <a:round/>
                      <a:headEnd len="sm" w="sm" type="none"/>
                      <a:tailEnd len="sm" w="sm" type="none"/>
                    </a:lnT>
                    <a:lnB cap="flat" cmpd="sng" w="9525">
                      <a:solidFill>
                        <a:srgbClr val="00C8E9">
                          <a:alpha val="0"/>
                        </a:srgbClr>
                      </a:solidFill>
                      <a:prstDash val="solid"/>
                      <a:round/>
                      <a:headEnd len="sm" w="sm" type="none"/>
                      <a:tailEnd len="sm" w="sm" type="none"/>
                    </a:lnB>
                    <a:solidFill>
                      <a:srgbClr val="FFFFFF"/>
                    </a:solidFill>
                  </a:tcPr>
                </a:tc>
              </a:tr>
              <a:tr h="522400">
                <a:tc>
                  <a:txBody>
                    <a:bodyPr/>
                    <a:lstStyle/>
                    <a:p>
                      <a:pPr indent="0" lvl="0" marL="0" marR="0" rtl="0" algn="l">
                        <a:lnSpc>
                          <a:spcPct val="100000"/>
                        </a:lnSpc>
                        <a:spcBef>
                          <a:spcPts val="0"/>
                        </a:spcBef>
                        <a:spcAft>
                          <a:spcPts val="0"/>
                        </a:spcAft>
                        <a:buClr>
                          <a:srgbClr val="000000"/>
                        </a:buClr>
                        <a:buSzPts val="1400"/>
                        <a:buFont typeface="Arial"/>
                        <a:buNone/>
                      </a:pPr>
                      <a:r>
                        <a:rPr b="1" lang="en" u="none" cap="none" strike="noStrike">
                          <a:solidFill>
                            <a:srgbClr val="FFFFFF"/>
                          </a:solidFill>
                          <a:latin typeface="Roboto"/>
                          <a:ea typeface="Roboto"/>
                          <a:cs typeface="Roboto"/>
                          <a:sym typeface="Roboto"/>
                        </a:rPr>
                        <a:t>Passive </a:t>
                      </a:r>
                      <a:r>
                        <a:rPr b="1" lang="en">
                          <a:solidFill>
                            <a:srgbClr val="FFFFFF"/>
                          </a:solidFill>
                          <a:latin typeface="Roboto"/>
                          <a:ea typeface="Roboto"/>
                          <a:cs typeface="Roboto"/>
                          <a:sym typeface="Roboto"/>
                        </a:rPr>
                        <a:t>R</a:t>
                      </a:r>
                      <a:r>
                        <a:rPr b="1" lang="en" u="none" cap="none" strike="noStrike">
                          <a:solidFill>
                            <a:srgbClr val="FFFFFF"/>
                          </a:solidFill>
                          <a:latin typeface="Roboto"/>
                          <a:ea typeface="Roboto"/>
                          <a:cs typeface="Roboto"/>
                          <a:sym typeface="Roboto"/>
                        </a:rPr>
                        <a:t>econ</a:t>
                      </a:r>
                      <a:endParaRPr b="1" u="none" cap="none" strike="noStrike">
                        <a:solidFill>
                          <a:srgbClr val="FFFFFF"/>
                        </a:solidFill>
                        <a:latin typeface="Roboto"/>
                        <a:ea typeface="Roboto"/>
                        <a:cs typeface="Roboto"/>
                        <a:sym typeface="Roboto"/>
                      </a:endParaRPr>
                    </a:p>
                  </a:txBody>
                  <a:tcPr marT="91425" marB="91425" marR="18287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solidFill>
                            <a:schemeClr val="dk2"/>
                          </a:solidFill>
                          <a:latin typeface="Roboto"/>
                          <a:ea typeface="Roboto"/>
                          <a:cs typeface="Roboto"/>
                          <a:sym typeface="Roboto"/>
                        </a:rPr>
                        <a:t>Leveraging information about the target that is publicly available on the internet. Often refers to</a:t>
                      </a:r>
                      <a:r>
                        <a:rPr lang="en" sz="1600" u="none" cap="none" strike="noStrike">
                          <a:solidFill>
                            <a:schemeClr val="dk2"/>
                          </a:solidFill>
                          <a:latin typeface="Roboto Light"/>
                          <a:ea typeface="Roboto Light"/>
                          <a:cs typeface="Roboto Light"/>
                          <a:sym typeface="Roboto Light"/>
                        </a:rPr>
                        <a:t> </a:t>
                      </a:r>
                      <a:r>
                        <a:rPr b="1" lang="en" sz="1600" u="none" cap="none" strike="noStrike">
                          <a:solidFill>
                            <a:schemeClr val="dk2"/>
                          </a:solidFill>
                          <a:latin typeface="Roboto"/>
                          <a:ea typeface="Roboto"/>
                          <a:cs typeface="Roboto"/>
                          <a:sym typeface="Roboto"/>
                        </a:rPr>
                        <a:t>open source intelligence (OSINT).</a:t>
                      </a:r>
                      <a:endParaRPr b="1" sz="1600" u="none" cap="none" strike="noStrike">
                        <a:solidFill>
                          <a:schemeClr val="dk2"/>
                        </a:solidFill>
                        <a:latin typeface="Roboto"/>
                        <a:ea typeface="Roboto"/>
                        <a:cs typeface="Roboto"/>
                        <a:sym typeface="Roboto"/>
                      </a:endParaRPr>
                    </a:p>
                  </a:txBody>
                  <a:tcPr marT="91425" marB="91425" marR="91425" marL="182875" anchor="ctr">
                    <a:lnL cap="flat" cmpd="sng" w="9525">
                      <a:solidFill>
                        <a:schemeClr val="lt1"/>
                      </a:solidFill>
                      <a:prstDash val="solid"/>
                      <a:round/>
                      <a:headEnd len="sm" w="sm" type="none"/>
                      <a:tailEnd len="sm" w="sm" type="none"/>
                    </a:lnL>
                    <a:lnR cap="flat" cmpd="sng" w="9525">
                      <a:solidFill>
                        <a:srgbClr val="00C8E9">
                          <a:alpha val="0"/>
                        </a:srgbClr>
                      </a:solidFill>
                      <a:prstDash val="solid"/>
                      <a:round/>
                      <a:headEnd len="sm" w="sm" type="none"/>
                      <a:tailEnd len="sm" w="sm" type="none"/>
                    </a:lnR>
                    <a:lnT cap="flat" cmpd="sng" w="9525">
                      <a:solidFill>
                        <a:srgbClr val="00C8E9">
                          <a:alpha val="0"/>
                        </a:srgbClr>
                      </a:solidFill>
                      <a:prstDash val="solid"/>
                      <a:round/>
                      <a:headEnd len="sm" w="sm" type="none"/>
                      <a:tailEnd len="sm" w="sm" type="none"/>
                    </a:lnT>
                    <a:lnB cap="flat" cmpd="sng" w="9525">
                      <a:solidFill>
                        <a:srgbClr val="00C8E9">
                          <a:alpha val="0"/>
                        </a:srgbClr>
                      </a:solidFill>
                      <a:prstDash val="solid"/>
                      <a:round/>
                      <a:headEnd len="sm" w="sm" type="none"/>
                      <a:tailEnd len="sm" w="sm" type="none"/>
                    </a:lnB>
                    <a:solidFill>
                      <a:srgbClr val="EEEEEE"/>
                    </a:solidFill>
                  </a:tcPr>
                </a:tc>
              </a:tr>
              <a:tr h="522400">
                <a:tc>
                  <a:txBody>
                    <a:bodyPr/>
                    <a:lstStyle/>
                    <a:p>
                      <a:pPr indent="0" lvl="0" marL="0" marR="0" rtl="0" algn="l">
                        <a:lnSpc>
                          <a:spcPct val="100000"/>
                        </a:lnSpc>
                        <a:spcBef>
                          <a:spcPts val="0"/>
                        </a:spcBef>
                        <a:spcAft>
                          <a:spcPts val="0"/>
                        </a:spcAft>
                        <a:buClr>
                          <a:srgbClr val="000000"/>
                        </a:buClr>
                        <a:buSzPts val="1400"/>
                        <a:buFont typeface="Arial"/>
                        <a:buNone/>
                      </a:pPr>
                      <a:r>
                        <a:rPr b="1" lang="en" u="none" cap="none" strike="noStrike">
                          <a:solidFill>
                            <a:srgbClr val="FFFFFF"/>
                          </a:solidFill>
                          <a:latin typeface="Roboto"/>
                          <a:ea typeface="Roboto"/>
                          <a:cs typeface="Roboto"/>
                          <a:sym typeface="Roboto"/>
                        </a:rPr>
                        <a:t>Active </a:t>
                      </a:r>
                      <a:r>
                        <a:rPr b="1" lang="en">
                          <a:solidFill>
                            <a:srgbClr val="FFFFFF"/>
                          </a:solidFill>
                          <a:latin typeface="Roboto"/>
                          <a:ea typeface="Roboto"/>
                          <a:cs typeface="Roboto"/>
                          <a:sym typeface="Roboto"/>
                        </a:rPr>
                        <a:t>R</a:t>
                      </a:r>
                      <a:r>
                        <a:rPr b="1" lang="en" u="none" cap="none" strike="noStrike">
                          <a:solidFill>
                            <a:srgbClr val="FFFFFF"/>
                          </a:solidFill>
                          <a:latin typeface="Roboto"/>
                          <a:ea typeface="Roboto"/>
                          <a:cs typeface="Roboto"/>
                          <a:sym typeface="Roboto"/>
                        </a:rPr>
                        <a:t>econ</a:t>
                      </a:r>
                      <a:endParaRPr b="1" u="none" cap="none" strike="noStrike">
                        <a:solidFill>
                          <a:srgbClr val="FFFFFF"/>
                        </a:solidFill>
                        <a:latin typeface="Roboto"/>
                        <a:ea typeface="Roboto"/>
                        <a:cs typeface="Roboto"/>
                        <a:sym typeface="Roboto"/>
                      </a:endParaRPr>
                    </a:p>
                  </a:txBody>
                  <a:tcPr marT="91425" marB="91425" marR="18287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solidFill>
                            <a:schemeClr val="dk2"/>
                          </a:solidFill>
                          <a:latin typeface="Roboto"/>
                          <a:ea typeface="Roboto"/>
                          <a:cs typeface="Roboto"/>
                          <a:sym typeface="Roboto"/>
                        </a:rPr>
                        <a:t>Directly interacting with the target to obtain information.</a:t>
                      </a:r>
                      <a:endParaRPr sz="1600" u="none" cap="none" strike="noStrike">
                        <a:solidFill>
                          <a:schemeClr val="dk2"/>
                        </a:solidFill>
                        <a:latin typeface="Roboto"/>
                        <a:ea typeface="Roboto"/>
                        <a:cs typeface="Roboto"/>
                        <a:sym typeface="Roboto"/>
                      </a:endParaRPr>
                    </a:p>
                  </a:txBody>
                  <a:tcPr marT="91425" marB="91425" marR="91425" marL="182875" anchor="ctr">
                    <a:lnL cap="flat" cmpd="sng" w="9525">
                      <a:solidFill>
                        <a:schemeClr val="lt1"/>
                      </a:solidFill>
                      <a:prstDash val="solid"/>
                      <a:round/>
                      <a:headEnd len="sm" w="sm" type="none"/>
                      <a:tailEnd len="sm" w="sm" type="none"/>
                    </a:lnL>
                    <a:lnR cap="flat" cmpd="sng" w="9525">
                      <a:solidFill>
                        <a:srgbClr val="00C8E9">
                          <a:alpha val="0"/>
                        </a:srgbClr>
                      </a:solidFill>
                      <a:prstDash val="solid"/>
                      <a:round/>
                      <a:headEnd len="sm" w="sm" type="none"/>
                      <a:tailEnd len="sm" w="sm" type="none"/>
                    </a:lnR>
                    <a:lnT cap="flat" cmpd="sng" w="9525">
                      <a:solidFill>
                        <a:srgbClr val="00C8E9">
                          <a:alpha val="0"/>
                        </a:srgbClr>
                      </a:solidFill>
                      <a:prstDash val="solid"/>
                      <a:round/>
                      <a:headEnd len="sm" w="sm" type="none"/>
                      <a:tailEnd len="sm" w="sm" type="none"/>
                    </a:lnT>
                    <a:lnB cap="flat" cmpd="sng" w="9525">
                      <a:solidFill>
                        <a:srgbClr val="00C8E9">
                          <a:alpha val="0"/>
                        </a:srgbClr>
                      </a:solidFill>
                      <a:prstDash val="solid"/>
                      <a:round/>
                      <a:headEnd len="sm" w="sm" type="none"/>
                      <a:tailEnd len="sm" w="sm" type="none"/>
                    </a:lnB>
                    <a:solidFill>
                      <a:srgbClr val="FFFFFF"/>
                    </a:solidFill>
                  </a:tcPr>
                </a:tc>
              </a:tr>
              <a:tr h="437025">
                <a:tc>
                  <a:txBody>
                    <a:bodyPr/>
                    <a:lstStyle/>
                    <a:p>
                      <a:pPr indent="0" lvl="0" marL="0" marR="0" rtl="0" algn="l">
                        <a:lnSpc>
                          <a:spcPct val="100000"/>
                        </a:lnSpc>
                        <a:spcBef>
                          <a:spcPts val="0"/>
                        </a:spcBef>
                        <a:spcAft>
                          <a:spcPts val="0"/>
                        </a:spcAft>
                        <a:buClr>
                          <a:srgbClr val="000000"/>
                        </a:buClr>
                        <a:buSzPts val="1400"/>
                        <a:buFont typeface="Arial"/>
                        <a:buNone/>
                      </a:pPr>
                      <a:r>
                        <a:rPr b="1" lang="en" u="none" cap="none" strike="noStrike">
                          <a:solidFill>
                            <a:srgbClr val="FFFFFF"/>
                          </a:solidFill>
                          <a:latin typeface="Roboto"/>
                          <a:ea typeface="Roboto"/>
                          <a:cs typeface="Roboto"/>
                          <a:sym typeface="Roboto"/>
                        </a:rPr>
                        <a:t>External </a:t>
                      </a:r>
                      <a:r>
                        <a:rPr b="1" lang="en">
                          <a:solidFill>
                            <a:srgbClr val="FFFFFF"/>
                          </a:solidFill>
                          <a:latin typeface="Roboto"/>
                          <a:ea typeface="Roboto"/>
                          <a:cs typeface="Roboto"/>
                          <a:sym typeface="Roboto"/>
                        </a:rPr>
                        <a:t>R</a:t>
                      </a:r>
                      <a:r>
                        <a:rPr b="1" lang="en" u="none" cap="none" strike="noStrike">
                          <a:solidFill>
                            <a:srgbClr val="FFFFFF"/>
                          </a:solidFill>
                          <a:latin typeface="Roboto"/>
                          <a:ea typeface="Roboto"/>
                          <a:cs typeface="Roboto"/>
                          <a:sym typeface="Roboto"/>
                        </a:rPr>
                        <a:t>econnaissance</a:t>
                      </a:r>
                      <a:endParaRPr b="1" u="none" cap="none" strike="noStrike">
                        <a:solidFill>
                          <a:srgbClr val="FFFFFF"/>
                        </a:solidFill>
                        <a:latin typeface="Roboto"/>
                        <a:ea typeface="Roboto"/>
                        <a:cs typeface="Roboto"/>
                        <a:sym typeface="Roboto"/>
                      </a:endParaRPr>
                    </a:p>
                  </a:txBody>
                  <a:tcPr marT="91425" marB="91425" marR="18287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solidFill>
                            <a:schemeClr val="dk2"/>
                          </a:solidFill>
                          <a:latin typeface="Roboto"/>
                          <a:ea typeface="Roboto"/>
                          <a:cs typeface="Roboto"/>
                          <a:sym typeface="Roboto"/>
                        </a:rPr>
                        <a:t>Reconnaissance that is conducted externally from the target.</a:t>
                      </a:r>
                      <a:endParaRPr sz="1600" u="none" cap="none" strike="noStrike">
                        <a:solidFill>
                          <a:schemeClr val="dk2"/>
                        </a:solidFill>
                        <a:latin typeface="Roboto"/>
                        <a:ea typeface="Roboto"/>
                        <a:cs typeface="Roboto"/>
                        <a:sym typeface="Roboto"/>
                      </a:endParaRPr>
                    </a:p>
                  </a:txBody>
                  <a:tcPr marT="91425" marB="91425" marR="91425" marL="182875" anchor="ctr">
                    <a:lnL cap="flat" cmpd="sng" w="9525">
                      <a:solidFill>
                        <a:schemeClr val="lt1"/>
                      </a:solidFill>
                      <a:prstDash val="solid"/>
                      <a:round/>
                      <a:headEnd len="sm" w="sm" type="none"/>
                      <a:tailEnd len="sm" w="sm" type="none"/>
                    </a:lnL>
                    <a:lnR cap="flat" cmpd="sng" w="9525">
                      <a:solidFill>
                        <a:srgbClr val="00C8E9">
                          <a:alpha val="0"/>
                        </a:srgbClr>
                      </a:solidFill>
                      <a:prstDash val="solid"/>
                      <a:round/>
                      <a:headEnd len="sm" w="sm" type="none"/>
                      <a:tailEnd len="sm" w="sm" type="none"/>
                    </a:lnR>
                    <a:lnT cap="flat" cmpd="sng" w="9525">
                      <a:solidFill>
                        <a:srgbClr val="00C8E9">
                          <a:alpha val="0"/>
                        </a:srgbClr>
                      </a:solidFill>
                      <a:prstDash val="solid"/>
                      <a:round/>
                      <a:headEnd len="sm" w="sm" type="none"/>
                      <a:tailEnd len="sm" w="sm" type="none"/>
                    </a:lnT>
                    <a:lnB cap="flat" cmpd="sng" w="9525">
                      <a:solidFill>
                        <a:srgbClr val="00C8E9">
                          <a:alpha val="0"/>
                        </a:srgbClr>
                      </a:solidFill>
                      <a:prstDash val="solid"/>
                      <a:round/>
                      <a:headEnd len="sm" w="sm" type="none"/>
                      <a:tailEnd len="sm" w="sm" type="none"/>
                    </a:lnB>
                    <a:solidFill>
                      <a:srgbClr val="EEEEEE"/>
                    </a:solidFill>
                  </a:tcPr>
                </a:tc>
              </a:tr>
              <a:tr h="437025">
                <a:tc>
                  <a:txBody>
                    <a:bodyPr/>
                    <a:lstStyle/>
                    <a:p>
                      <a:pPr indent="0" lvl="0" marL="0" marR="0" rtl="0" algn="l">
                        <a:lnSpc>
                          <a:spcPct val="100000"/>
                        </a:lnSpc>
                        <a:spcBef>
                          <a:spcPts val="0"/>
                        </a:spcBef>
                        <a:spcAft>
                          <a:spcPts val="0"/>
                        </a:spcAft>
                        <a:buClr>
                          <a:srgbClr val="000000"/>
                        </a:buClr>
                        <a:buSzPts val="1400"/>
                        <a:buFont typeface="Arial"/>
                        <a:buNone/>
                      </a:pPr>
                      <a:r>
                        <a:rPr b="1" lang="en" u="none" cap="none" strike="noStrike">
                          <a:solidFill>
                            <a:schemeClr val="lt1"/>
                          </a:solidFill>
                          <a:latin typeface="Roboto"/>
                          <a:ea typeface="Roboto"/>
                          <a:cs typeface="Roboto"/>
                          <a:sym typeface="Roboto"/>
                        </a:rPr>
                        <a:t>Internal </a:t>
                      </a:r>
                      <a:r>
                        <a:rPr b="1" lang="en">
                          <a:solidFill>
                            <a:schemeClr val="lt1"/>
                          </a:solidFill>
                          <a:latin typeface="Roboto"/>
                          <a:ea typeface="Roboto"/>
                          <a:cs typeface="Roboto"/>
                          <a:sym typeface="Roboto"/>
                        </a:rPr>
                        <a:t>R</a:t>
                      </a:r>
                      <a:r>
                        <a:rPr b="1" lang="en" u="none" cap="none" strike="noStrike">
                          <a:solidFill>
                            <a:schemeClr val="lt1"/>
                          </a:solidFill>
                          <a:latin typeface="Roboto"/>
                          <a:ea typeface="Roboto"/>
                          <a:cs typeface="Roboto"/>
                          <a:sym typeface="Roboto"/>
                        </a:rPr>
                        <a:t>econnaissance</a:t>
                      </a:r>
                      <a:endParaRPr b="1" u="none" cap="none" strike="noStrike">
                        <a:solidFill>
                          <a:srgbClr val="FFFFFF"/>
                        </a:solidFill>
                        <a:latin typeface="Roboto"/>
                        <a:ea typeface="Roboto"/>
                        <a:cs typeface="Roboto"/>
                        <a:sym typeface="Roboto"/>
                      </a:endParaRPr>
                    </a:p>
                  </a:txBody>
                  <a:tcPr marT="91425" marB="91425" marR="18287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1600" u="none" cap="none" strike="noStrike">
                          <a:solidFill>
                            <a:schemeClr val="dk2"/>
                          </a:solidFill>
                          <a:latin typeface="Roboto"/>
                          <a:ea typeface="Roboto"/>
                          <a:cs typeface="Roboto"/>
                          <a:sym typeface="Roboto"/>
                        </a:rPr>
                        <a:t>Reconnaissance that is conducted internally after accessing the target.</a:t>
                      </a:r>
                      <a:endParaRPr sz="1600" u="none" cap="none" strike="noStrike">
                        <a:solidFill>
                          <a:schemeClr val="dk2"/>
                        </a:solidFill>
                        <a:latin typeface="Roboto"/>
                        <a:ea typeface="Roboto"/>
                        <a:cs typeface="Roboto"/>
                        <a:sym typeface="Roboto"/>
                      </a:endParaRPr>
                    </a:p>
                  </a:txBody>
                  <a:tcPr marT="91425" marB="91425" marR="91425" marL="182875" anchor="ctr">
                    <a:lnL cap="flat" cmpd="sng" w="9525">
                      <a:solidFill>
                        <a:schemeClr val="lt1"/>
                      </a:solidFill>
                      <a:prstDash val="solid"/>
                      <a:round/>
                      <a:headEnd len="sm" w="sm" type="none"/>
                      <a:tailEnd len="sm" w="sm" type="none"/>
                    </a:lnL>
                    <a:lnR cap="flat" cmpd="sng" w="9525">
                      <a:solidFill>
                        <a:srgbClr val="00C8E9">
                          <a:alpha val="0"/>
                        </a:srgbClr>
                      </a:solidFill>
                      <a:prstDash val="solid"/>
                      <a:round/>
                      <a:headEnd len="sm" w="sm" type="none"/>
                      <a:tailEnd len="sm" w="sm" type="none"/>
                    </a:lnR>
                    <a:lnT cap="flat" cmpd="sng" w="9525">
                      <a:solidFill>
                        <a:srgbClr val="00C8E9">
                          <a:alpha val="0"/>
                        </a:srgbClr>
                      </a:solidFill>
                      <a:prstDash val="solid"/>
                      <a:round/>
                      <a:headEnd len="sm" w="sm" type="none"/>
                      <a:tailEnd len="sm" w="sm" type="none"/>
                    </a:lnT>
                    <a:lnB cap="flat" cmpd="sng" w="9525">
                      <a:solidFill>
                        <a:srgbClr val="00C8E9">
                          <a:alpha val="0"/>
                        </a:srgbClr>
                      </a:solidFill>
                      <a:prstDash val="solid"/>
                      <a:round/>
                      <a:headEnd len="sm" w="sm" type="none"/>
                      <a:tailEnd len="sm" w="sm" type="none"/>
                    </a:lnB>
                    <a:solidFill>
                      <a:srgbClr val="FFFFFF"/>
                    </a:solidFill>
                  </a:tcPr>
                </a:tc>
              </a:tr>
              <a:tr h="437025">
                <a:tc>
                  <a:txBody>
                    <a:bodyPr/>
                    <a:lstStyle/>
                    <a:p>
                      <a:pPr indent="0" lvl="0" marL="0" marR="0" rtl="0" algn="l">
                        <a:lnSpc>
                          <a:spcPct val="100000"/>
                        </a:lnSpc>
                        <a:spcBef>
                          <a:spcPts val="0"/>
                        </a:spcBef>
                        <a:spcAft>
                          <a:spcPts val="0"/>
                        </a:spcAft>
                        <a:buClr>
                          <a:srgbClr val="000000"/>
                        </a:buClr>
                        <a:buSzPts val="1400"/>
                        <a:buFont typeface="Arial"/>
                        <a:buNone/>
                      </a:pPr>
                      <a:r>
                        <a:rPr b="1" lang="en" u="none" cap="none" strike="noStrike">
                          <a:solidFill>
                            <a:schemeClr val="lt1"/>
                          </a:solidFill>
                          <a:latin typeface="Roboto"/>
                          <a:ea typeface="Roboto"/>
                          <a:cs typeface="Roboto"/>
                          <a:sym typeface="Roboto"/>
                        </a:rPr>
                        <a:t>Google </a:t>
                      </a:r>
                      <a:r>
                        <a:rPr b="1" lang="en">
                          <a:solidFill>
                            <a:schemeClr val="lt1"/>
                          </a:solidFill>
                          <a:latin typeface="Roboto"/>
                          <a:ea typeface="Roboto"/>
                          <a:cs typeface="Roboto"/>
                          <a:sym typeface="Roboto"/>
                        </a:rPr>
                        <a:t>H</a:t>
                      </a:r>
                      <a:r>
                        <a:rPr b="1" lang="en">
                          <a:solidFill>
                            <a:schemeClr val="lt1"/>
                          </a:solidFill>
                          <a:latin typeface="Roboto"/>
                          <a:ea typeface="Roboto"/>
                          <a:cs typeface="Roboto"/>
                          <a:sym typeface="Roboto"/>
                        </a:rPr>
                        <a:t>acking</a:t>
                      </a:r>
                      <a:endParaRPr b="1" u="none" cap="none" strike="noStrike">
                        <a:solidFill>
                          <a:schemeClr val="lt1"/>
                        </a:solidFill>
                        <a:latin typeface="Roboto"/>
                        <a:ea typeface="Roboto"/>
                        <a:cs typeface="Roboto"/>
                        <a:sym typeface="Roboto"/>
                      </a:endParaRPr>
                    </a:p>
                  </a:txBody>
                  <a:tcPr marT="91425" marB="91425" marR="18287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solidFill>
                            <a:schemeClr val="dk2"/>
                          </a:solidFill>
                          <a:latin typeface="Roboto"/>
                          <a:ea typeface="Roboto"/>
                          <a:cs typeface="Roboto"/>
                          <a:sym typeface="Roboto"/>
                        </a:rPr>
                        <a:t>A reconnaissance</a:t>
                      </a:r>
                      <a:r>
                        <a:rPr lang="en" sz="1600" u="none" cap="none" strike="noStrike">
                          <a:solidFill>
                            <a:schemeClr val="dk2"/>
                          </a:solidFill>
                          <a:latin typeface="Roboto Light"/>
                          <a:ea typeface="Roboto Light"/>
                          <a:cs typeface="Roboto Light"/>
                          <a:sym typeface="Roboto Light"/>
                        </a:rPr>
                        <a:t> </a:t>
                      </a:r>
                      <a:r>
                        <a:rPr b="1" lang="en" sz="1600" u="none" cap="none" strike="noStrike">
                          <a:solidFill>
                            <a:schemeClr val="dk2"/>
                          </a:solidFill>
                          <a:latin typeface="Roboto"/>
                          <a:ea typeface="Roboto"/>
                          <a:cs typeface="Roboto"/>
                          <a:sym typeface="Roboto"/>
                        </a:rPr>
                        <a:t>tactic</a:t>
                      </a:r>
                      <a:r>
                        <a:rPr lang="en" sz="1600" u="none" cap="none" strike="noStrike">
                          <a:solidFill>
                            <a:schemeClr val="dk2"/>
                          </a:solidFill>
                          <a:latin typeface="Roboto"/>
                          <a:ea typeface="Roboto"/>
                          <a:cs typeface="Roboto"/>
                          <a:sym typeface="Roboto"/>
                        </a:rPr>
                        <a:t> that enables us to manipulate Google searches to narrow down our queries to acquire actionable intel.</a:t>
                      </a:r>
                      <a:endParaRPr sz="1600" u="none" cap="none" strike="noStrike">
                        <a:solidFill>
                          <a:schemeClr val="dk2"/>
                        </a:solidFill>
                        <a:latin typeface="Roboto"/>
                        <a:ea typeface="Roboto"/>
                        <a:cs typeface="Roboto"/>
                        <a:sym typeface="Roboto"/>
                      </a:endParaRPr>
                    </a:p>
                  </a:txBody>
                  <a:tcPr marT="91425" marB="91425" marR="91425" marL="182875">
                    <a:lnL cap="flat" cmpd="sng" w="9525">
                      <a:solidFill>
                        <a:schemeClr val="lt1"/>
                      </a:solidFill>
                      <a:prstDash val="solid"/>
                      <a:round/>
                      <a:headEnd len="sm" w="sm" type="none"/>
                      <a:tailEnd len="sm" w="sm" type="none"/>
                    </a:lnL>
                    <a:lnR cap="flat" cmpd="sng" w="9525">
                      <a:solidFill>
                        <a:srgbClr val="00C8E9">
                          <a:alpha val="0"/>
                        </a:srgbClr>
                      </a:solidFill>
                      <a:prstDash val="solid"/>
                      <a:round/>
                      <a:headEnd len="sm" w="sm" type="none"/>
                      <a:tailEnd len="sm" w="sm" type="none"/>
                    </a:lnR>
                    <a:lnT cap="flat" cmpd="sng" w="9525">
                      <a:solidFill>
                        <a:srgbClr val="00C8E9">
                          <a:alpha val="0"/>
                        </a:srgbClr>
                      </a:solidFill>
                      <a:prstDash val="solid"/>
                      <a:round/>
                      <a:headEnd len="sm" w="sm" type="none"/>
                      <a:tailEnd len="sm" w="sm" type="none"/>
                    </a:lnT>
                    <a:lnB cap="flat" cmpd="sng" w="9525">
                      <a:solidFill>
                        <a:srgbClr val="00C8E9">
                          <a:alpha val="0"/>
                        </a:srgbClr>
                      </a:solidFill>
                      <a:prstDash val="solid"/>
                      <a:round/>
                      <a:headEnd len="sm" w="sm" type="none"/>
                      <a:tailEnd len="sm" w="sm" type="none"/>
                    </a:lnB>
                    <a:solidFill>
                      <a:srgbClr val="EEEEEE"/>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217"/>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729" name="Google Shape;1729;p217"/>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Google Hacking</a:t>
            </a:r>
            <a:endParaRPr/>
          </a:p>
        </p:txBody>
      </p:sp>
      <p:sp>
        <p:nvSpPr>
          <p:cNvPr id="1730" name="Google Shape;1730;p217"/>
          <p:cNvSpPr txBox="1"/>
          <p:nvPr>
            <p:ph idx="3" type="body"/>
          </p:nvPr>
        </p:nvSpPr>
        <p:spPr>
          <a:xfrm>
            <a:off x="457200" y="1176975"/>
            <a:ext cx="77724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As a penetration tester for GoodCorp, you have been tasked with conducting an engagement against the fictional company MegaCorpOne.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will start by using Google hacking to find information pertaining to MegaCorpOne.</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731" name="Google Shape;1731;p217"/>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221"/>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Certificate Transparency</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749" name="Google Shape;1749;p221"/>
          <p:cNvPicPr preferRelativeResize="0"/>
          <p:nvPr/>
        </p:nvPicPr>
        <p:blipFill>
          <a:blip r:embed="rId3">
            <a:alphaModFix/>
          </a:blip>
          <a:stretch>
            <a:fillRect/>
          </a:stretch>
        </p:blipFill>
        <p:spPr>
          <a:xfrm>
            <a:off x="3682012" y="1323925"/>
            <a:ext cx="1779975" cy="14024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222"/>
          <p:cNvSpPr txBox="1"/>
          <p:nvPr/>
        </p:nvSpPr>
        <p:spPr>
          <a:xfrm>
            <a:off x="349359" y="5578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Certificate Transparency</a:t>
            </a:r>
            <a:endParaRPr b="1" sz="2600">
              <a:solidFill>
                <a:schemeClr val="dk2"/>
              </a:solidFill>
              <a:latin typeface="Roboto"/>
              <a:ea typeface="Roboto"/>
              <a:cs typeface="Roboto"/>
              <a:sym typeface="Roboto"/>
            </a:endParaRPr>
          </a:p>
        </p:txBody>
      </p:sp>
      <p:sp>
        <p:nvSpPr>
          <p:cNvPr id="1755" name="Google Shape;1755;p222"/>
          <p:cNvSpPr txBox="1"/>
          <p:nvPr>
            <p:ph idx="4294967295" type="subTitle"/>
          </p:nvPr>
        </p:nvSpPr>
        <p:spPr>
          <a:xfrm>
            <a:off x="0" y="672625"/>
            <a:ext cx="3553200" cy="13797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800"/>
              </a:spcAft>
              <a:buSzPts val="1800"/>
              <a:buNone/>
            </a:pPr>
            <a:r>
              <a:rPr lang="en"/>
              <a:t>Certificate issuers publish logs of SSL/TLS certificates that they issue to organizations.</a:t>
            </a:r>
            <a:endParaRPr/>
          </a:p>
        </p:txBody>
      </p:sp>
      <p:sp>
        <p:nvSpPr>
          <p:cNvPr id="1756" name="Google Shape;1756;p222"/>
          <p:cNvSpPr txBox="1"/>
          <p:nvPr>
            <p:ph idx="1" type="body"/>
          </p:nvPr>
        </p:nvSpPr>
        <p:spPr>
          <a:xfrm>
            <a:off x="175" y="2166725"/>
            <a:ext cx="3719700" cy="30795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0"/>
              </a:spcBef>
              <a:spcAft>
                <a:spcPts val="0"/>
              </a:spcAft>
              <a:buSzPts val="1400"/>
              <a:buNone/>
            </a:pPr>
            <a:r>
              <a:rPr lang="en"/>
              <a:t>This is known as </a:t>
            </a:r>
            <a:r>
              <a:rPr b="1" lang="en">
                <a:latin typeface="Roboto"/>
                <a:ea typeface="Roboto"/>
                <a:cs typeface="Roboto"/>
                <a:sym typeface="Roboto"/>
              </a:rPr>
              <a:t>certificate</a:t>
            </a:r>
            <a:r>
              <a:rPr b="1" lang="en"/>
              <a:t> </a:t>
            </a:r>
            <a:r>
              <a:rPr b="1" lang="en">
                <a:latin typeface="Roboto"/>
                <a:ea typeface="Roboto"/>
                <a:cs typeface="Roboto"/>
                <a:sym typeface="Roboto"/>
              </a:rPr>
              <a:t>transparency</a:t>
            </a:r>
            <a:r>
              <a:rPr lang="en"/>
              <a:t>. Attackers can exploit it to search for subdomains.</a:t>
            </a:r>
            <a:endParaRPr/>
          </a:p>
          <a:p>
            <a:pPr indent="0" lvl="0" marL="0" rtl="0" algn="l">
              <a:lnSpc>
                <a:spcPct val="100000"/>
              </a:lnSpc>
              <a:spcBef>
                <a:spcPts val="800"/>
              </a:spcBef>
              <a:spcAft>
                <a:spcPts val="800"/>
              </a:spcAft>
              <a:buSzPts val="1400"/>
              <a:buNone/>
            </a:pPr>
            <a:r>
              <a:rPr lang="en"/>
              <a:t>This falls under the </a:t>
            </a:r>
            <a:r>
              <a:rPr b="1" lang="en"/>
              <a:t>Search </a:t>
            </a:r>
            <a:r>
              <a:rPr b="1" lang="en">
                <a:latin typeface="Roboto"/>
                <a:ea typeface="Roboto"/>
                <a:cs typeface="Roboto"/>
                <a:sym typeface="Roboto"/>
              </a:rPr>
              <a:t>Open Technical Databases: </a:t>
            </a:r>
            <a:br>
              <a:rPr b="1" lang="en">
                <a:latin typeface="Roboto"/>
                <a:ea typeface="Roboto"/>
                <a:cs typeface="Roboto"/>
                <a:sym typeface="Roboto"/>
              </a:rPr>
            </a:br>
            <a:r>
              <a:rPr b="1" lang="en">
                <a:latin typeface="Roboto"/>
                <a:ea typeface="Roboto"/>
                <a:cs typeface="Roboto"/>
                <a:sym typeface="Roboto"/>
              </a:rPr>
              <a:t>Digital Certificates</a:t>
            </a:r>
            <a:r>
              <a:rPr lang="en"/>
              <a:t> MITRE technique, </a:t>
            </a:r>
            <a:r>
              <a:rPr b="1" lang="en">
                <a:latin typeface="Roboto"/>
                <a:ea typeface="Roboto"/>
                <a:cs typeface="Roboto"/>
                <a:sym typeface="Roboto"/>
              </a:rPr>
              <a:t>ID T1596.003</a:t>
            </a:r>
            <a:r>
              <a:rPr b="1" lang="en">
                <a:latin typeface="Roboto"/>
                <a:ea typeface="Roboto"/>
                <a:cs typeface="Roboto"/>
                <a:sym typeface="Roboto"/>
              </a:rPr>
              <a:t>.</a:t>
            </a:r>
            <a:endParaRPr b="1">
              <a:latin typeface="Roboto"/>
              <a:ea typeface="Roboto"/>
              <a:cs typeface="Roboto"/>
              <a:sym typeface="Roboto"/>
            </a:endParaRPr>
          </a:p>
        </p:txBody>
      </p:sp>
      <p:pic>
        <p:nvPicPr>
          <p:cNvPr id="1757" name="Google Shape;1757;p222"/>
          <p:cNvPicPr preferRelativeResize="0"/>
          <p:nvPr/>
        </p:nvPicPr>
        <p:blipFill rotWithShape="1">
          <a:blip r:embed="rId3">
            <a:alphaModFix/>
          </a:blip>
          <a:srcRect b="9687" l="4684" r="5063" t="4431"/>
          <a:stretch/>
        </p:blipFill>
        <p:spPr>
          <a:xfrm>
            <a:off x="3409675" y="1145100"/>
            <a:ext cx="5144051" cy="3510551"/>
          </a:xfrm>
          <a:prstGeom prst="rect">
            <a:avLst/>
          </a:prstGeom>
          <a:noFill/>
          <a:ln>
            <a:noFill/>
          </a:ln>
          <a:effectLst>
            <a:outerShdw blurRad="214313" rotWithShape="0" algn="bl">
              <a:srgbClr val="000000">
                <a:alpha val="2275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223"/>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3100">
                <a:latin typeface="Roboto"/>
                <a:ea typeface="Roboto"/>
                <a:cs typeface="Roboto"/>
                <a:sym typeface="Roboto"/>
              </a:rPr>
              <a:t>Certificate Transparency</a:t>
            </a:r>
            <a:endParaRPr b="0" sz="3100">
              <a:latin typeface="Roboto"/>
              <a:ea typeface="Roboto"/>
              <a:cs typeface="Roboto"/>
              <a:sym typeface="Roboto"/>
            </a:endParaRPr>
          </a:p>
          <a:p>
            <a:pPr indent="0" lvl="0" marL="0" rtl="0" algn="l">
              <a:spcBef>
                <a:spcPts val="0"/>
              </a:spcBef>
              <a:spcAft>
                <a:spcPts val="0"/>
              </a:spcAft>
              <a:buNone/>
            </a:pPr>
            <a:r>
              <a:t/>
            </a:r>
            <a:endParaRPr b="0" sz="3100">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224"/>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Inconsolata"/>
                <a:ea typeface="Inconsolata"/>
                <a:cs typeface="Inconsolata"/>
                <a:sym typeface="Inconsolata"/>
              </a:rPr>
              <a:t>Shodan.io</a:t>
            </a:r>
            <a:endParaRPr sz="3800">
              <a:solidFill>
                <a:schemeClr val="accent5"/>
              </a:solidFill>
              <a:latin typeface="Inconsolata"/>
              <a:ea typeface="Inconsolata"/>
              <a:cs typeface="Inconsolata"/>
              <a:sym typeface="Inconsolata"/>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768" name="Google Shape;1768;p224"/>
          <p:cNvPicPr preferRelativeResize="0"/>
          <p:nvPr/>
        </p:nvPicPr>
        <p:blipFill>
          <a:blip r:embed="rId3">
            <a:alphaModFix/>
          </a:blip>
          <a:stretch>
            <a:fillRect/>
          </a:stretch>
        </p:blipFill>
        <p:spPr>
          <a:xfrm>
            <a:off x="3794425" y="1310550"/>
            <a:ext cx="1437424" cy="143742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225"/>
          <p:cNvSpPr txBox="1"/>
          <p:nvPr/>
        </p:nvSpPr>
        <p:spPr>
          <a:xfrm>
            <a:off x="204475" y="99925"/>
            <a:ext cx="8262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Inconsolata"/>
                <a:ea typeface="Inconsolata"/>
                <a:cs typeface="Inconsolata"/>
                <a:sym typeface="Inconsolata"/>
              </a:rPr>
              <a:t>Shodan.io</a:t>
            </a:r>
            <a:endParaRPr b="1" sz="2600">
              <a:solidFill>
                <a:schemeClr val="dk2"/>
              </a:solidFill>
              <a:latin typeface="Inconsolata"/>
              <a:ea typeface="Inconsolata"/>
              <a:cs typeface="Inconsolata"/>
              <a:sym typeface="Inconsolata"/>
            </a:endParaRPr>
          </a:p>
        </p:txBody>
      </p:sp>
      <p:sp>
        <p:nvSpPr>
          <p:cNvPr id="1774" name="Google Shape;1774;p225"/>
          <p:cNvSpPr txBox="1"/>
          <p:nvPr>
            <p:ph idx="4294967295" type="subTitle"/>
          </p:nvPr>
        </p:nvSpPr>
        <p:spPr>
          <a:xfrm>
            <a:off x="-165550" y="621325"/>
            <a:ext cx="3823200" cy="23259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b="1" lang="en">
                <a:latin typeface="Inconsolata"/>
                <a:ea typeface="Inconsolata"/>
                <a:cs typeface="Inconsolata"/>
                <a:sym typeface="Inconsolata"/>
              </a:rPr>
              <a:t>Shodan.io</a:t>
            </a:r>
            <a:r>
              <a:rPr b="1" lang="en">
                <a:latin typeface="Roboto"/>
                <a:ea typeface="Roboto"/>
                <a:cs typeface="Roboto"/>
                <a:sym typeface="Roboto"/>
              </a:rPr>
              <a:t> </a:t>
            </a:r>
            <a:r>
              <a:rPr lang="en"/>
              <a:t>conducts port scanning across the entire internet and catalogs the results for quick searching.</a:t>
            </a:r>
            <a:endParaRPr/>
          </a:p>
        </p:txBody>
      </p:sp>
      <p:sp>
        <p:nvSpPr>
          <p:cNvPr id="1775" name="Google Shape;1775;p225"/>
          <p:cNvSpPr txBox="1"/>
          <p:nvPr>
            <p:ph idx="1" type="body"/>
          </p:nvPr>
        </p:nvSpPr>
        <p:spPr>
          <a:xfrm>
            <a:off x="-165550" y="2082825"/>
            <a:ext cx="4144500" cy="20802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0"/>
              </a:spcBef>
              <a:spcAft>
                <a:spcPts val="0"/>
              </a:spcAft>
              <a:buSzPts val="1400"/>
              <a:buNone/>
            </a:pPr>
            <a:r>
              <a:rPr lang="en"/>
              <a:t>This saves us the time we would spend conducting a port scan. Not conducting the scan also allows us to keep our originating IP address hidden.</a:t>
            </a:r>
            <a:endParaRPr/>
          </a:p>
          <a:p>
            <a:pPr indent="0" lvl="0" marL="0" rtl="0" algn="l">
              <a:lnSpc>
                <a:spcPct val="100000"/>
              </a:lnSpc>
              <a:spcBef>
                <a:spcPts val="1000"/>
              </a:spcBef>
              <a:spcAft>
                <a:spcPts val="0"/>
              </a:spcAft>
              <a:buClr>
                <a:schemeClr val="dk1"/>
              </a:buClr>
              <a:buSzPts val="1100"/>
              <a:buFont typeface="Arial"/>
              <a:buNone/>
            </a:pPr>
            <a:r>
              <a:rPr lang="en"/>
              <a:t>This falls under the MITRE technique </a:t>
            </a:r>
            <a:r>
              <a:rPr b="1" lang="en">
                <a:latin typeface="Roboto"/>
                <a:ea typeface="Roboto"/>
                <a:cs typeface="Roboto"/>
                <a:sym typeface="Roboto"/>
              </a:rPr>
              <a:t>Search Open Technical Databases: Scan Databases</a:t>
            </a:r>
            <a:r>
              <a:rPr b="1" lang="en">
                <a:latin typeface="Roboto"/>
                <a:ea typeface="Roboto"/>
                <a:cs typeface="Roboto"/>
                <a:sym typeface="Roboto"/>
              </a:rPr>
              <a:t>,</a:t>
            </a:r>
            <a:r>
              <a:rPr b="1" lang="en">
                <a:latin typeface="Roboto"/>
                <a:ea typeface="Roboto"/>
                <a:cs typeface="Roboto"/>
                <a:sym typeface="Roboto"/>
              </a:rPr>
              <a:t> ID T1596.005</a:t>
            </a:r>
            <a:r>
              <a:rPr b="1" lang="en">
                <a:latin typeface="Roboto"/>
                <a:ea typeface="Roboto"/>
                <a:cs typeface="Roboto"/>
                <a:sym typeface="Roboto"/>
              </a:rPr>
              <a:t>.</a:t>
            </a:r>
            <a:endParaRPr b="1">
              <a:latin typeface="Roboto"/>
              <a:ea typeface="Roboto"/>
              <a:cs typeface="Roboto"/>
              <a:sym typeface="Roboto"/>
            </a:endParaRPr>
          </a:p>
        </p:txBody>
      </p:sp>
      <p:pic>
        <p:nvPicPr>
          <p:cNvPr id="1776" name="Google Shape;1776;p225"/>
          <p:cNvPicPr preferRelativeResize="0"/>
          <p:nvPr/>
        </p:nvPicPr>
        <p:blipFill rotWithShape="1">
          <a:blip r:embed="rId3">
            <a:alphaModFix/>
          </a:blip>
          <a:srcRect b="8403" l="4962" r="4980" t="4336"/>
          <a:stretch/>
        </p:blipFill>
        <p:spPr>
          <a:xfrm>
            <a:off x="3553300" y="621325"/>
            <a:ext cx="5049024" cy="4040002"/>
          </a:xfrm>
          <a:prstGeom prst="rect">
            <a:avLst/>
          </a:prstGeom>
          <a:noFill/>
          <a:ln>
            <a:noFill/>
          </a:ln>
          <a:effectLst>
            <a:outerShdw blurRad="200025" rotWithShape="0" algn="bl">
              <a:srgbClr val="000000">
                <a:alpha val="2392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226"/>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100">
                <a:latin typeface="Inconsolata"/>
                <a:ea typeface="Inconsolata"/>
                <a:cs typeface="Inconsolata"/>
                <a:sym typeface="Inconsolata"/>
              </a:rPr>
              <a:t>Shodan.io</a:t>
            </a:r>
            <a:endParaRPr sz="3100">
              <a:latin typeface="Inconsolata"/>
              <a:ea typeface="Inconsolata"/>
              <a:cs typeface="Inconsolata"/>
              <a:sym typeface="Inconsolata"/>
            </a:endParaRPr>
          </a:p>
          <a:p>
            <a:pPr indent="0" lvl="0" marL="0" rtl="0" algn="l">
              <a:spcBef>
                <a:spcPts val="0"/>
              </a:spcBef>
              <a:spcAft>
                <a:spcPts val="0"/>
              </a:spcAft>
              <a:buNone/>
            </a:pPr>
            <a:r>
              <a:t/>
            </a:r>
            <a:endParaRPr b="0" sz="3100">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sp>
        <p:nvSpPr>
          <p:cNvPr id="1786" name="Google Shape;1786;p227"/>
          <p:cNvSpPr txBox="1"/>
          <p:nvPr/>
        </p:nvSpPr>
        <p:spPr>
          <a:xfrm>
            <a:off x="0" y="2309400"/>
            <a:ext cx="4048800" cy="2409000"/>
          </a:xfrm>
          <a:prstGeom prst="rect">
            <a:avLst/>
          </a:prstGeom>
          <a:noFill/>
          <a:ln>
            <a:noFill/>
          </a:ln>
        </p:spPr>
        <p:txBody>
          <a:bodyPr anchorCtr="0" anchor="t" bIns="91425" lIns="457200" spcFirstLastPara="1" rIns="91425" wrap="square" tIns="91425">
            <a:spAutoFit/>
          </a:bodyPr>
          <a:lstStyle/>
          <a:p>
            <a:pPr indent="0" lvl="0" marL="0" rtl="0" algn="l">
              <a:lnSpc>
                <a:spcPct val="115000"/>
              </a:lnSpc>
              <a:spcBef>
                <a:spcPts val="0"/>
              </a:spcBef>
              <a:spcAft>
                <a:spcPts val="0"/>
              </a:spcAft>
              <a:buNone/>
            </a:pPr>
            <a:r>
              <a:rPr b="1" lang="en" sz="2000">
                <a:solidFill>
                  <a:schemeClr val="dk2"/>
                </a:solidFill>
                <a:latin typeface="Roboto"/>
                <a:ea typeface="Roboto"/>
                <a:cs typeface="Roboto"/>
                <a:sym typeface="Roboto"/>
              </a:rPr>
              <a:t>Certificate Transparency</a:t>
            </a:r>
            <a:endParaRPr b="1" sz="2000">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A reconnaissance tactic whereby a penetration tester can gather information from certificate issuers, who publish logs of the SSL/TLS certificates that they issue to organizations.</a:t>
            </a:r>
            <a:endParaRPr b="0" i="0" sz="1800" u="none" cap="none" strike="noStrike">
              <a:solidFill>
                <a:schemeClr val="dk2"/>
              </a:solidFill>
              <a:latin typeface="Arial"/>
              <a:ea typeface="Arial"/>
              <a:cs typeface="Arial"/>
              <a:sym typeface="Arial"/>
            </a:endParaRPr>
          </a:p>
        </p:txBody>
      </p:sp>
      <p:cxnSp>
        <p:nvCxnSpPr>
          <p:cNvPr id="1787" name="Google Shape;1787;p227"/>
          <p:cNvCxnSpPr/>
          <p:nvPr/>
        </p:nvCxnSpPr>
        <p:spPr>
          <a:xfrm>
            <a:off x="4533750" y="1213875"/>
            <a:ext cx="0" cy="3334500"/>
          </a:xfrm>
          <a:prstGeom prst="straightConnector1">
            <a:avLst/>
          </a:prstGeom>
          <a:noFill/>
          <a:ln cap="flat" cmpd="sng" w="19050">
            <a:solidFill>
              <a:schemeClr val="dk2"/>
            </a:solidFill>
            <a:prstDash val="solid"/>
            <a:round/>
            <a:headEnd len="sm" w="sm" type="none"/>
            <a:tailEnd len="sm" w="sm" type="none"/>
          </a:ln>
        </p:spPr>
      </p:cxnSp>
      <p:sp>
        <p:nvSpPr>
          <p:cNvPr id="1788" name="Google Shape;1788;p227"/>
          <p:cNvSpPr txBox="1"/>
          <p:nvPr/>
        </p:nvSpPr>
        <p:spPr>
          <a:xfrm>
            <a:off x="4537850" y="2309400"/>
            <a:ext cx="4257300" cy="1771500"/>
          </a:xfrm>
          <a:prstGeom prst="rect">
            <a:avLst/>
          </a:prstGeom>
          <a:noFill/>
          <a:ln>
            <a:noFill/>
          </a:ln>
        </p:spPr>
        <p:txBody>
          <a:bodyPr anchorCtr="0" anchor="t" bIns="91425" lIns="457200" spcFirstLastPara="1" rIns="91425" wrap="square" tIns="91425">
            <a:spAutoFit/>
          </a:bodyPr>
          <a:lstStyle/>
          <a:p>
            <a:pPr indent="0" lvl="0" marL="0" rtl="0" algn="l">
              <a:lnSpc>
                <a:spcPct val="115000"/>
              </a:lnSpc>
              <a:spcBef>
                <a:spcPts val="0"/>
              </a:spcBef>
              <a:spcAft>
                <a:spcPts val="0"/>
              </a:spcAft>
              <a:buNone/>
            </a:pPr>
            <a:r>
              <a:rPr b="1" lang="en" sz="2000">
                <a:solidFill>
                  <a:schemeClr val="dk2"/>
                </a:solidFill>
                <a:latin typeface="Roboto"/>
                <a:ea typeface="Roboto"/>
                <a:cs typeface="Roboto"/>
                <a:sym typeface="Roboto"/>
              </a:rPr>
              <a:t>Shodan.io</a:t>
            </a:r>
            <a:endParaRPr b="1" sz="2000">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A reconnaissance website that conducts port scanning across the entire internet and catalogs the results for quick searching.</a:t>
            </a:r>
            <a:endParaRPr b="1" i="0" sz="1800" u="none" cap="none" strike="noStrike">
              <a:solidFill>
                <a:schemeClr val="dk2"/>
              </a:solidFill>
              <a:latin typeface="Roboto"/>
              <a:ea typeface="Roboto"/>
              <a:cs typeface="Roboto"/>
              <a:sym typeface="Roboto"/>
            </a:endParaRPr>
          </a:p>
        </p:txBody>
      </p:sp>
      <p:sp>
        <p:nvSpPr>
          <p:cNvPr id="1789" name="Google Shape;1789;p227"/>
          <p:cNvSpPr txBox="1"/>
          <p:nvPr>
            <p:ph type="title"/>
          </p:nvPr>
        </p:nvSpPr>
        <p:spPr>
          <a:xfrm>
            <a:off x="0" y="63600"/>
            <a:ext cx="9144000" cy="3936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lang="en"/>
              <a:t>MITRE ATT&amp;CK®</a:t>
            </a:r>
            <a:endParaRPr/>
          </a:p>
        </p:txBody>
      </p:sp>
      <p:sp>
        <p:nvSpPr>
          <p:cNvPr id="1790" name="Google Shape;1790;p227"/>
          <p:cNvSpPr txBox="1"/>
          <p:nvPr/>
        </p:nvSpPr>
        <p:spPr>
          <a:xfrm>
            <a:off x="361750" y="533625"/>
            <a:ext cx="811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We’ve covered the following concepts: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791" name="Google Shape;1791;p227"/>
          <p:cNvPicPr preferRelativeResize="0"/>
          <p:nvPr/>
        </p:nvPicPr>
        <p:blipFill>
          <a:blip r:embed="rId3">
            <a:alphaModFix/>
          </a:blip>
          <a:stretch>
            <a:fillRect/>
          </a:stretch>
        </p:blipFill>
        <p:spPr>
          <a:xfrm>
            <a:off x="1371600" y="1036487"/>
            <a:ext cx="1688248" cy="1330176"/>
          </a:xfrm>
          <a:prstGeom prst="rect">
            <a:avLst/>
          </a:prstGeom>
          <a:noFill/>
          <a:ln>
            <a:noFill/>
          </a:ln>
        </p:spPr>
      </p:pic>
      <p:pic>
        <p:nvPicPr>
          <p:cNvPr id="1792" name="Google Shape;1792;p227"/>
          <p:cNvPicPr preferRelativeResize="0"/>
          <p:nvPr/>
        </p:nvPicPr>
        <p:blipFill>
          <a:blip r:embed="rId4">
            <a:alphaModFix/>
          </a:blip>
          <a:stretch>
            <a:fillRect/>
          </a:stretch>
        </p:blipFill>
        <p:spPr>
          <a:xfrm>
            <a:off x="6104946" y="1152967"/>
            <a:ext cx="1097204" cy="109721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6" name="Shape 1796"/>
        <p:cNvGrpSpPr/>
        <p:nvPr/>
      </p:nvGrpSpPr>
      <p:grpSpPr>
        <a:xfrm>
          <a:off x="0" y="0"/>
          <a:ext cx="0" cy="0"/>
          <a:chOff x="0" y="0"/>
          <a:chExt cx="0" cy="0"/>
        </a:xfrm>
      </p:grpSpPr>
      <p:sp>
        <p:nvSpPr>
          <p:cNvPr id="1797" name="Google Shape;1797;p228"/>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798" name="Google Shape;1798;p228"/>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Shodan.io</a:t>
            </a:r>
            <a:endParaRPr/>
          </a:p>
        </p:txBody>
      </p:sp>
      <p:sp>
        <p:nvSpPr>
          <p:cNvPr id="1799" name="Google Shape;1799;p228"/>
          <p:cNvSpPr txBox="1"/>
          <p:nvPr>
            <p:ph idx="3" type="body"/>
          </p:nvPr>
        </p:nvSpPr>
        <p:spPr>
          <a:xfrm>
            <a:off x="457200" y="1176975"/>
            <a:ext cx="77724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to play the role of a pen tester conducting an engagement on MegaCorpOne.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now tasked with performing OSINT by using Shodan.io.</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800" name="Google Shape;1800;p22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231"/>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Inconsolata"/>
                <a:ea typeface="Inconsolata"/>
                <a:cs typeface="Inconsolata"/>
                <a:sym typeface="Inconsolata"/>
              </a:rPr>
              <a:t>recon-ng</a:t>
            </a:r>
            <a:endParaRPr sz="3800">
              <a:solidFill>
                <a:schemeClr val="accent5"/>
              </a:solidFill>
              <a:latin typeface="Inconsolata"/>
              <a:ea typeface="Inconsolata"/>
              <a:cs typeface="Inconsolata"/>
              <a:sym typeface="Inconsolata"/>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814" name="Google Shape;1814;p231"/>
          <p:cNvPicPr preferRelativeResize="0"/>
          <p:nvPr/>
        </p:nvPicPr>
        <p:blipFill>
          <a:blip r:embed="rId3">
            <a:alphaModFix/>
          </a:blip>
          <a:stretch>
            <a:fillRect/>
          </a:stretch>
        </p:blipFill>
        <p:spPr>
          <a:xfrm>
            <a:off x="3817875" y="1329075"/>
            <a:ext cx="1508249" cy="150824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2" name="Shape 1822"/>
        <p:cNvGrpSpPr/>
        <p:nvPr/>
      </p:nvGrpSpPr>
      <p:grpSpPr>
        <a:xfrm>
          <a:off x="0" y="0"/>
          <a:ext cx="0" cy="0"/>
          <a:chOff x="0" y="0"/>
          <a:chExt cx="0" cy="0"/>
        </a:xfrm>
      </p:grpSpPr>
      <p:sp>
        <p:nvSpPr>
          <p:cNvPr id="1823" name="Google Shape;1823;p2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24" name="Google Shape;1824;p233"/>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1825" name="Google Shape;1825;p233"/>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1826" name="Google Shape;1826;p23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1827" name="Google Shape;1827;p23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Steps we have taken so far:</a:t>
            </a:r>
            <a:endParaRPr/>
          </a:p>
        </p:txBody>
      </p:sp>
      <p:sp>
        <p:nvSpPr>
          <p:cNvPr id="1828" name="Google Shape;1828;p233"/>
          <p:cNvSpPr/>
          <p:nvPr/>
        </p:nvSpPr>
        <p:spPr>
          <a:xfrm>
            <a:off x="1287175" y="1371600"/>
            <a:ext cx="7399500" cy="572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233"/>
          <p:cNvSpPr/>
          <p:nvPr/>
        </p:nvSpPr>
        <p:spPr>
          <a:xfrm>
            <a:off x="1287175" y="2747004"/>
            <a:ext cx="7399500" cy="572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233"/>
          <p:cNvSpPr/>
          <p:nvPr/>
        </p:nvSpPr>
        <p:spPr>
          <a:xfrm>
            <a:off x="1287175" y="21229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31" name="Google Shape;1831;p233"/>
          <p:cNvGrpSpPr/>
          <p:nvPr/>
        </p:nvGrpSpPr>
        <p:grpSpPr>
          <a:xfrm>
            <a:off x="457200" y="1371604"/>
            <a:ext cx="776900" cy="459019"/>
            <a:chOff x="457200" y="1466425"/>
            <a:chExt cx="776900" cy="486300"/>
          </a:xfrm>
        </p:grpSpPr>
        <p:sp>
          <p:nvSpPr>
            <p:cNvPr id="1832" name="Google Shape;1832;p233"/>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833" name="Google Shape;1833;p233"/>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34" name="Google Shape;1834;p233"/>
          <p:cNvGrpSpPr/>
          <p:nvPr/>
        </p:nvGrpSpPr>
        <p:grpSpPr>
          <a:xfrm>
            <a:off x="457200" y="2102680"/>
            <a:ext cx="776900" cy="486300"/>
            <a:chOff x="457200" y="1466425"/>
            <a:chExt cx="776900" cy="486300"/>
          </a:xfrm>
        </p:grpSpPr>
        <p:sp>
          <p:nvSpPr>
            <p:cNvPr id="1835" name="Google Shape;1835;p23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836" name="Google Shape;1836;p23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37" name="Google Shape;1837;p233"/>
          <p:cNvGrpSpPr/>
          <p:nvPr/>
        </p:nvGrpSpPr>
        <p:grpSpPr>
          <a:xfrm>
            <a:off x="457200" y="2743336"/>
            <a:ext cx="776900" cy="437378"/>
            <a:chOff x="457200" y="1466425"/>
            <a:chExt cx="776900" cy="486300"/>
          </a:xfrm>
        </p:grpSpPr>
        <p:sp>
          <p:nvSpPr>
            <p:cNvPr id="1838" name="Google Shape;1838;p233"/>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839" name="Google Shape;1839;p233"/>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840" name="Google Shape;1840;p233"/>
          <p:cNvSpPr txBox="1"/>
          <p:nvPr/>
        </p:nvSpPr>
        <p:spPr>
          <a:xfrm>
            <a:off x="1287250" y="1464675"/>
            <a:ext cx="6792300" cy="365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lang="en" sz="1800">
                <a:solidFill>
                  <a:srgbClr val="082D49"/>
                </a:solidFill>
                <a:latin typeface="Roboto"/>
                <a:ea typeface="Roboto"/>
                <a:cs typeface="Roboto"/>
                <a:sym typeface="Roboto"/>
              </a:rPr>
              <a:t>We undertook the planning part of the planning and reconnaissance phase.</a:t>
            </a:r>
            <a:endParaRPr sz="1800">
              <a:solidFill>
                <a:srgbClr val="082D49"/>
              </a:solidFill>
              <a:latin typeface="Roboto"/>
              <a:ea typeface="Roboto"/>
              <a:cs typeface="Roboto"/>
              <a:sym typeface="Roboto"/>
            </a:endParaRPr>
          </a:p>
        </p:txBody>
      </p:sp>
      <p:sp>
        <p:nvSpPr>
          <p:cNvPr id="1841" name="Google Shape;1841;p233"/>
          <p:cNvSpPr txBox="1"/>
          <p:nvPr/>
        </p:nvSpPr>
        <p:spPr>
          <a:xfrm>
            <a:off x="1287250" y="21443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We began passive reconnaissance by using </a:t>
            </a:r>
            <a:r>
              <a:rPr b="1" lang="en" sz="1800">
                <a:solidFill>
                  <a:srgbClr val="082D49"/>
                </a:solidFill>
                <a:latin typeface="Roboto"/>
                <a:ea typeface="Roboto"/>
                <a:cs typeface="Roboto"/>
                <a:sym typeface="Roboto"/>
              </a:rPr>
              <a:t>Google hacking</a:t>
            </a:r>
            <a:r>
              <a:rPr lang="en" sz="1800">
                <a:solidFill>
                  <a:srgbClr val="082D49"/>
                </a:solidFill>
                <a:latin typeface="Roboto"/>
                <a:ea typeface="Roboto"/>
                <a:cs typeface="Roboto"/>
                <a:sym typeface="Roboto"/>
              </a:rPr>
              <a:t>.</a:t>
            </a:r>
            <a:endParaRPr sz="1800">
              <a:solidFill>
                <a:srgbClr val="082D49"/>
              </a:solidFill>
              <a:latin typeface="Roboto"/>
              <a:ea typeface="Roboto"/>
              <a:cs typeface="Roboto"/>
              <a:sym typeface="Roboto"/>
            </a:endParaRPr>
          </a:p>
        </p:txBody>
      </p:sp>
      <p:sp>
        <p:nvSpPr>
          <p:cNvPr id="1842" name="Google Shape;1842;p233"/>
          <p:cNvSpPr txBox="1"/>
          <p:nvPr/>
        </p:nvSpPr>
        <p:spPr>
          <a:xfrm>
            <a:off x="1287250" y="2747975"/>
            <a:ext cx="7337400" cy="532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lang="en" sz="1800">
                <a:solidFill>
                  <a:srgbClr val="082D49"/>
                </a:solidFill>
                <a:latin typeface="Roboto"/>
                <a:ea typeface="Roboto"/>
                <a:cs typeface="Roboto"/>
                <a:sym typeface="Roboto"/>
              </a:rPr>
              <a:t>We used </a:t>
            </a:r>
            <a:r>
              <a:rPr b="1" lang="en" sz="1800">
                <a:solidFill>
                  <a:srgbClr val="082D49"/>
                </a:solidFill>
                <a:latin typeface="Inconsolata"/>
                <a:ea typeface="Inconsolata"/>
                <a:cs typeface="Inconsolata"/>
                <a:sym typeface="Inconsolata"/>
              </a:rPr>
              <a:t>Shodan.io</a:t>
            </a:r>
            <a:r>
              <a:rPr lang="en" sz="1800">
                <a:solidFill>
                  <a:srgbClr val="082D49"/>
                </a:solidFill>
                <a:latin typeface="Roboto"/>
                <a:ea typeface="Roboto"/>
                <a:cs typeface="Roboto"/>
                <a:sym typeface="Roboto"/>
              </a:rPr>
              <a:t> to view previously completed port scans on several targets.</a:t>
            </a:r>
            <a:endParaRPr sz="1800">
              <a:solidFill>
                <a:srgbClr val="082D49"/>
              </a:solidFill>
              <a:latin typeface="Roboto"/>
              <a:ea typeface="Roboto"/>
              <a:cs typeface="Roboto"/>
              <a:sym typeface="Roboto"/>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23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N</a:t>
            </a:r>
            <a:r>
              <a:rPr lang="en"/>
              <a:t>ow we'll continue our reconnaissance efforts with another tool called </a:t>
            </a:r>
            <a:r>
              <a:rPr b="1" lang="en">
                <a:latin typeface="Inconsolata"/>
                <a:ea typeface="Inconsolata"/>
                <a:cs typeface="Inconsolata"/>
                <a:sym typeface="Inconsolata"/>
              </a:rPr>
              <a:t>recon-ng</a:t>
            </a:r>
            <a:r>
              <a:rPr lang="en"/>
              <a:t>.</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23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Inconsolata"/>
                <a:ea typeface="Inconsolata"/>
                <a:cs typeface="Inconsolata"/>
                <a:sym typeface="Inconsolata"/>
              </a:rPr>
              <a:t>recon-ng</a:t>
            </a:r>
            <a:endParaRPr>
              <a:latin typeface="Inconsolata"/>
              <a:ea typeface="Inconsolata"/>
              <a:cs typeface="Inconsolata"/>
              <a:sym typeface="Inconsolata"/>
            </a:endParaRPr>
          </a:p>
        </p:txBody>
      </p:sp>
      <p:sp>
        <p:nvSpPr>
          <p:cNvPr id="1853" name="Google Shape;1853;p23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r</a:t>
            </a:r>
            <a:r>
              <a:rPr b="1" lang="en">
                <a:latin typeface="Inconsolata"/>
                <a:ea typeface="Inconsolata"/>
                <a:cs typeface="Inconsolata"/>
                <a:sym typeface="Inconsolata"/>
              </a:rPr>
              <a:t>econ-ng</a:t>
            </a:r>
            <a:r>
              <a:rPr lang="en"/>
              <a:t> is a web reconnaissance framework written in Python</a:t>
            </a:r>
            <a:endParaRPr/>
          </a:p>
        </p:txBody>
      </p:sp>
      <p:sp>
        <p:nvSpPr>
          <p:cNvPr id="1854" name="Google Shape;1854;p235"/>
          <p:cNvSpPr txBox="1"/>
          <p:nvPr>
            <p:ph idx="2" type="body"/>
          </p:nvPr>
        </p:nvSpPr>
        <p:spPr>
          <a:xfrm>
            <a:off x="4302625" y="1063525"/>
            <a:ext cx="43842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Recon-ng provides a powerful, open-source, web-based framework for conducting reconnaissance quickly and thoroughly. It includes the following features: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Independent modules</a:t>
            </a:r>
            <a:endParaRPr/>
          </a:p>
          <a:p>
            <a:pPr indent="-342900" lvl="0" marL="457200" rtl="0" algn="l">
              <a:spcBef>
                <a:spcPts val="0"/>
              </a:spcBef>
              <a:spcAft>
                <a:spcPts val="0"/>
              </a:spcAft>
              <a:buSzPts val="1800"/>
              <a:buChar char="●"/>
            </a:pPr>
            <a:r>
              <a:rPr lang="en"/>
              <a:t>Database interaction</a:t>
            </a:r>
            <a:endParaRPr/>
          </a:p>
          <a:p>
            <a:pPr indent="-342900" lvl="0" marL="457200" rtl="0" algn="l">
              <a:spcBef>
                <a:spcPts val="0"/>
              </a:spcBef>
              <a:spcAft>
                <a:spcPts val="0"/>
              </a:spcAft>
              <a:buSzPts val="1800"/>
              <a:buChar char="●"/>
            </a:pPr>
            <a:r>
              <a:rPr lang="en"/>
              <a:t>Built-in convenience functions</a:t>
            </a:r>
            <a:endParaRPr/>
          </a:p>
          <a:p>
            <a:pPr indent="-342900" lvl="0" marL="457200" rtl="0" algn="l">
              <a:spcBef>
                <a:spcPts val="0"/>
              </a:spcBef>
              <a:spcAft>
                <a:spcPts val="0"/>
              </a:spcAft>
              <a:buSzPts val="1800"/>
              <a:buChar char="●"/>
            </a:pPr>
            <a:r>
              <a:rPr lang="en"/>
              <a:t>Interactive help</a:t>
            </a:r>
            <a:endParaRPr/>
          </a:p>
          <a:p>
            <a:pPr indent="-342900" lvl="0" marL="457200" rtl="0" algn="l">
              <a:spcBef>
                <a:spcPts val="0"/>
              </a:spcBef>
              <a:spcAft>
                <a:spcPts val="0"/>
              </a:spcAft>
              <a:buSzPts val="1800"/>
              <a:buChar char="●"/>
            </a:pPr>
            <a:r>
              <a:rPr lang="en"/>
              <a:t>Command completion</a:t>
            </a:r>
            <a:endParaRPr/>
          </a:p>
          <a:p>
            <a:pPr indent="0" lvl="0" marL="457200" rtl="0" algn="l">
              <a:spcBef>
                <a:spcPts val="0"/>
              </a:spcBef>
              <a:spcAft>
                <a:spcPts val="0"/>
              </a:spcAft>
              <a:buNone/>
            </a:pPr>
            <a:r>
              <a:t/>
            </a:r>
            <a:endParaRPr/>
          </a:p>
        </p:txBody>
      </p:sp>
      <p:pic>
        <p:nvPicPr>
          <p:cNvPr id="1855" name="Google Shape;1855;p235"/>
          <p:cNvPicPr preferRelativeResize="0"/>
          <p:nvPr/>
        </p:nvPicPr>
        <p:blipFill>
          <a:blip r:embed="rId3">
            <a:alphaModFix/>
          </a:blip>
          <a:stretch>
            <a:fillRect/>
          </a:stretch>
        </p:blipFill>
        <p:spPr>
          <a:xfrm>
            <a:off x="136800" y="1141775"/>
            <a:ext cx="3520800" cy="3520800"/>
          </a:xfrm>
          <a:prstGeom prst="rect">
            <a:avLst/>
          </a:prstGeom>
          <a:noFill/>
          <a:ln>
            <a:noFill/>
          </a:ln>
        </p:spPr>
      </p:pic>
      <p:pic>
        <p:nvPicPr>
          <p:cNvPr id="1856" name="Google Shape;1856;p235"/>
          <p:cNvPicPr preferRelativeResize="0"/>
          <p:nvPr/>
        </p:nvPicPr>
        <p:blipFill>
          <a:blip r:embed="rId4">
            <a:alphaModFix/>
          </a:blip>
          <a:stretch>
            <a:fillRect/>
          </a:stretch>
        </p:blipFill>
        <p:spPr>
          <a:xfrm>
            <a:off x="185000" y="213425"/>
            <a:ext cx="544401" cy="544401"/>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0" name="Shape 1860"/>
        <p:cNvGrpSpPr/>
        <p:nvPr/>
      </p:nvGrpSpPr>
      <p:grpSpPr>
        <a:xfrm>
          <a:off x="0" y="0"/>
          <a:ext cx="0" cy="0"/>
          <a:chOff x="0" y="0"/>
          <a:chExt cx="0" cy="0"/>
        </a:xfrm>
      </p:grpSpPr>
      <p:sp>
        <p:nvSpPr>
          <p:cNvPr id="1861" name="Google Shape;1861;p236"/>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Inconsolata"/>
                <a:ea typeface="Inconsolata"/>
                <a:cs typeface="Inconsolata"/>
                <a:sym typeface="Inconsolata"/>
              </a:rPr>
              <a:t>recon-ng</a:t>
            </a:r>
            <a:endParaRPr>
              <a:latin typeface="Inconsolata"/>
              <a:ea typeface="Inconsolata"/>
              <a:cs typeface="Inconsolata"/>
              <a:sym typeface="Inconsolata"/>
            </a:endParaRPr>
          </a:p>
        </p:txBody>
      </p:sp>
      <p:sp>
        <p:nvSpPr>
          <p:cNvPr id="1862" name="Google Shape;1862;p236"/>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There are many scripts that can assist with integrating OSINT tools into </a:t>
            </a:r>
            <a:r>
              <a:rPr b="1" lang="en" sz="1700">
                <a:latin typeface="Inconsolata"/>
                <a:ea typeface="Inconsolata"/>
                <a:cs typeface="Inconsolata"/>
                <a:sym typeface="Inconsolata"/>
              </a:rPr>
              <a:t>recon-ng</a:t>
            </a:r>
            <a:endParaRPr b="1" sz="1700">
              <a:latin typeface="Inconsolata"/>
              <a:ea typeface="Inconsolata"/>
              <a:cs typeface="Inconsolata"/>
              <a:sym typeface="Inconsolata"/>
            </a:endParaRPr>
          </a:p>
        </p:txBody>
      </p:sp>
      <p:sp>
        <p:nvSpPr>
          <p:cNvPr id="1863" name="Google Shape;1863;p236"/>
          <p:cNvSpPr txBox="1"/>
          <p:nvPr>
            <p:ph idx="2" type="body"/>
          </p:nvPr>
        </p:nvSpPr>
        <p:spPr>
          <a:xfrm>
            <a:off x="457200" y="4295175"/>
            <a:ext cx="7778100" cy="425400"/>
          </a:xfrm>
          <a:prstGeom prst="rect">
            <a:avLst/>
          </a:prstGeom>
        </p:spPr>
        <p:txBody>
          <a:bodyPr anchorCtr="0" anchor="t" bIns="0" lIns="0" spcFirstLastPara="1" rIns="0" wrap="square" tIns="91425">
            <a:noAutofit/>
          </a:bodyPr>
          <a:lstStyle/>
          <a:p>
            <a:pPr indent="0" lvl="0" marL="457200" rtl="0" algn="ctr">
              <a:spcBef>
                <a:spcPts val="0"/>
              </a:spcBef>
              <a:spcAft>
                <a:spcPts val="0"/>
              </a:spcAft>
              <a:buNone/>
            </a:pPr>
            <a:r>
              <a:rPr b="1" lang="en">
                <a:latin typeface="Inconsolata"/>
                <a:ea typeface="Inconsolata"/>
                <a:cs typeface="Inconsolata"/>
                <a:sym typeface="Inconsolata"/>
              </a:rPr>
              <a:t>r</a:t>
            </a:r>
            <a:r>
              <a:rPr b="1" lang="en">
                <a:latin typeface="Inconsolata"/>
                <a:ea typeface="Inconsolata"/>
                <a:cs typeface="Inconsolata"/>
                <a:sym typeface="Inconsolata"/>
              </a:rPr>
              <a:t>econ-ng</a:t>
            </a:r>
            <a:r>
              <a:rPr lang="en"/>
              <a:t> is a framework that ingests a lot of popular OSINT modules, allowing the results of multiple tools to be combined into a single report.</a:t>
            </a:r>
            <a:endParaRPr/>
          </a:p>
        </p:txBody>
      </p:sp>
      <p:pic>
        <p:nvPicPr>
          <p:cNvPr id="1864" name="Google Shape;1864;p236"/>
          <p:cNvPicPr preferRelativeResize="0"/>
          <p:nvPr/>
        </p:nvPicPr>
        <p:blipFill rotWithShape="1">
          <a:blip r:embed="rId3">
            <a:alphaModFix/>
          </a:blip>
          <a:srcRect b="0" l="0" r="0" t="0"/>
          <a:stretch/>
        </p:blipFill>
        <p:spPr>
          <a:xfrm>
            <a:off x="1441125" y="1035957"/>
            <a:ext cx="6008851" cy="3138606"/>
          </a:xfrm>
          <a:prstGeom prst="rect">
            <a:avLst/>
          </a:prstGeom>
          <a:noFill/>
          <a:ln>
            <a:noFill/>
          </a:ln>
        </p:spPr>
      </p:pic>
      <p:pic>
        <p:nvPicPr>
          <p:cNvPr id="1865" name="Google Shape;1865;p236"/>
          <p:cNvPicPr preferRelativeResize="0"/>
          <p:nvPr/>
        </p:nvPicPr>
        <p:blipFill>
          <a:blip r:embed="rId4">
            <a:alphaModFix/>
          </a:blip>
          <a:stretch>
            <a:fillRect/>
          </a:stretch>
        </p:blipFill>
        <p:spPr>
          <a:xfrm>
            <a:off x="185000" y="213425"/>
            <a:ext cx="544401" cy="54440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237"/>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100">
                <a:latin typeface="Inconsolata"/>
                <a:ea typeface="Inconsolata"/>
                <a:cs typeface="Inconsolata"/>
                <a:sym typeface="Inconsolata"/>
              </a:rPr>
              <a:t>recon-ng</a:t>
            </a:r>
            <a:endParaRPr sz="3100">
              <a:latin typeface="Inconsolata"/>
              <a:ea typeface="Inconsolata"/>
              <a:cs typeface="Inconsolata"/>
              <a:sym typeface="Inconsolata"/>
            </a:endParaRPr>
          </a:p>
          <a:p>
            <a:pPr indent="0" lvl="0" marL="0" rtl="0" algn="l">
              <a:spcBef>
                <a:spcPts val="0"/>
              </a:spcBef>
              <a:spcAft>
                <a:spcPts val="0"/>
              </a:spcAft>
              <a:buNone/>
            </a:pPr>
            <a:r>
              <a:t/>
            </a:r>
            <a:endParaRPr b="0" sz="3100">
              <a:latin typeface="Roboto"/>
              <a:ea typeface="Roboto"/>
              <a:cs typeface="Roboto"/>
              <a:sym typeface="Robo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238"/>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876" name="Google Shape;1876;p238"/>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recon-ng</a:t>
            </a:r>
            <a:endParaRPr b="1">
              <a:latin typeface="Inconsolata"/>
              <a:ea typeface="Inconsolata"/>
              <a:cs typeface="Inconsolata"/>
              <a:sym typeface="Inconsolata"/>
            </a:endParaRPr>
          </a:p>
        </p:txBody>
      </p:sp>
      <p:sp>
        <p:nvSpPr>
          <p:cNvPr id="1877" name="Google Shape;1877;p238"/>
          <p:cNvSpPr txBox="1"/>
          <p:nvPr>
            <p:ph idx="3" type="body"/>
          </p:nvPr>
        </p:nvSpPr>
        <p:spPr>
          <a:xfrm>
            <a:off x="457200" y="1176975"/>
            <a:ext cx="79986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to play the role of a pen tester conducting an engagement on MegaCorpOne.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tasked with determining whether MegaCorpOne's domain server info is accessible using OSINT tools.</a:t>
            </a:r>
            <a:endParaRPr/>
          </a:p>
          <a:p>
            <a:pPr indent="-342900" lvl="0" marL="457200" rtl="0" algn="l">
              <a:spcBef>
                <a:spcPts val="0"/>
              </a:spcBef>
              <a:spcAft>
                <a:spcPts val="0"/>
              </a:spcAft>
              <a:buSzPts val="1800"/>
              <a:buChar char="●"/>
            </a:pPr>
            <a:r>
              <a:rPr lang="en"/>
              <a:t>You will use the Shodan API and </a:t>
            </a:r>
            <a:r>
              <a:rPr b="1" lang="en">
                <a:latin typeface="Inconsolata"/>
                <a:ea typeface="Inconsolata"/>
                <a:cs typeface="Inconsolata"/>
                <a:sym typeface="Inconsolata"/>
              </a:rPr>
              <a:t>recon-ng</a:t>
            </a:r>
            <a:r>
              <a:rPr lang="en"/>
              <a:t> to perform your tests, and then you'll place all of your findings in a report.</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878" name="Google Shape;1878;p2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2" name="Shape 1882"/>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241"/>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Initial Access and Internal Recon</a:t>
            </a:r>
            <a:endParaRPr b="1" baseline="-25000" sz="22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