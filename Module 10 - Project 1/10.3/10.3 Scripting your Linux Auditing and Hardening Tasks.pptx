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Inconsolata"/>
      <p:regular r:id="rId28"/>
      <p:bold r:id="rId29"/>
    </p:embeddedFont>
    <p:embeddedFont>
      <p:font typeface="Roboto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31" Type="http://schemas.openxmlformats.org/officeDocument/2006/relationships/font" Target="fonts/RobotoLight-bold.fntdata"/><Relationship Id="rId30" Type="http://schemas.openxmlformats.org/officeDocument/2006/relationships/font" Target="fonts/RobotoLight-regular.fntdata"/><Relationship Id="rId33" Type="http://schemas.openxmlformats.org/officeDocument/2006/relationships/font" Target="fonts/RobotoLight-boldItalic.fntdata"/><Relationship Id="rId32" Type="http://schemas.openxmlformats.org/officeDocument/2006/relationships/font" Target="fonts/RobotoLight-italic.fntdata"/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Inconsolata-regular.fntdata"/><Relationship Id="rId27" Type="http://schemas.openxmlformats.org/officeDocument/2006/relationships/font" Target="fonts/RobotoMedium-boldItalic.fntdata"/><Relationship Id="rId29" Type="http://schemas.openxmlformats.org/officeDocument/2006/relationships/font" Target="fonts/Inconsolata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ffb4b1bfb3_0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ffb4b1bfb3_0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ff51dfad80_0_1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ff51dfad80_0_1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300b75cfea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300b75cfea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010dc3f1f9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010dc3f1f9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00b75cfead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00b75cfead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010dc3f1f9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010dc3f1f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010dc3f1f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3010dc3f1f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00b75cfea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00b75cfea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00b75cfead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00b75cfead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ff51dfad80_0_4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ff51dfad80_0_4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f51dfad80_0_4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ff51dfad80_0_4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0dcc33498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0dcc33498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6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6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5" name="Google Shape;415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6" name="Google Shape;416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7" name="Google Shape;417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8" name="Google Shape;418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6" name="Google Shape;436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43" name="Google Shape;443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8" name="Google Shape;448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9" name="Google Shape;449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52" name="Google Shape;452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4" name="Google Shape;454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6" name="Google Shape;456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7" name="Google Shape;457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9" name="Google Shape;459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94" name="Google Shape;494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7" name="Google Shape;497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8" name="Google Shape;498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7" name="Google Shape;507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9" name="Google Shape;509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1" name="Google Shape;511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4" name="Google Shape;574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0" name="Google Shape;580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2" name="Google Shape;582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4" name="Google Shape;584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6" name="Google Shape;586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7" name="Google Shape;587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8" name="Google Shape;588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9" name="Google Shape;58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9" name="Google Shape;599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2" name="Google Shape;612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3" name="Google Shape;613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0" name="Google Shape;620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1" name="Google Shape;631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0" name="Google Shape;64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1" name="Google Shape;751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0" name="Google Shape;760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2" name="Google Shape;76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6" name="Google Shape;766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7" name="Google Shape;767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8" name="Google Shape;768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70" name="Google Shape;770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4" name="Google Shape;774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3" name="Google Shape;783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7" name="Google Shape;787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CUSTOM_4_1_1_2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13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93" name="Google Shape;793;p113"/>
          <p:cNvSpPr/>
          <p:nvPr/>
        </p:nvSpPr>
        <p:spPr>
          <a:xfrm>
            <a:off x="958075" y="2087475"/>
            <a:ext cx="704970" cy="980288"/>
          </a:xfrm>
          <a:custGeom>
            <a:rect b="b" l="l" r="r" t="t"/>
            <a:pathLst>
              <a:path extrusionOk="0" fill="none" h="79682" w="57303">
                <a:moveTo>
                  <a:pt x="12677" y="79681"/>
                </a:moveTo>
                <a:lnTo>
                  <a:pt x="12677" y="79681"/>
                </a:lnTo>
                <a:lnTo>
                  <a:pt x="15652" y="75283"/>
                </a:lnTo>
                <a:lnTo>
                  <a:pt x="17980" y="71403"/>
                </a:lnTo>
                <a:lnTo>
                  <a:pt x="19920" y="67910"/>
                </a:lnTo>
                <a:lnTo>
                  <a:pt x="21343" y="64806"/>
                </a:lnTo>
                <a:lnTo>
                  <a:pt x="22378" y="62090"/>
                </a:lnTo>
                <a:lnTo>
                  <a:pt x="23025" y="59891"/>
                </a:lnTo>
                <a:lnTo>
                  <a:pt x="23413" y="58080"/>
                </a:lnTo>
                <a:lnTo>
                  <a:pt x="23542" y="56786"/>
                </a:lnTo>
                <a:lnTo>
                  <a:pt x="23542" y="56786"/>
                </a:lnTo>
                <a:lnTo>
                  <a:pt x="21084" y="56139"/>
                </a:lnTo>
                <a:lnTo>
                  <a:pt x="18627" y="55363"/>
                </a:lnTo>
                <a:lnTo>
                  <a:pt x="16428" y="54458"/>
                </a:lnTo>
                <a:lnTo>
                  <a:pt x="14229" y="53294"/>
                </a:lnTo>
                <a:lnTo>
                  <a:pt x="12159" y="52000"/>
                </a:lnTo>
                <a:lnTo>
                  <a:pt x="10219" y="50448"/>
                </a:lnTo>
                <a:lnTo>
                  <a:pt x="8408" y="48896"/>
                </a:lnTo>
                <a:lnTo>
                  <a:pt x="6726" y="47085"/>
                </a:lnTo>
                <a:lnTo>
                  <a:pt x="5304" y="45144"/>
                </a:lnTo>
                <a:lnTo>
                  <a:pt x="4010" y="43075"/>
                </a:lnTo>
                <a:lnTo>
                  <a:pt x="2846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518" y="33761"/>
                </a:lnTo>
                <a:lnTo>
                  <a:pt x="129" y="31174"/>
                </a:lnTo>
                <a:lnTo>
                  <a:pt x="0" y="28587"/>
                </a:lnTo>
                <a:lnTo>
                  <a:pt x="0" y="28587"/>
                </a:lnTo>
                <a:lnTo>
                  <a:pt x="259" y="25742"/>
                </a:lnTo>
                <a:lnTo>
                  <a:pt x="647" y="22896"/>
                </a:lnTo>
                <a:lnTo>
                  <a:pt x="1294" y="20050"/>
                </a:lnTo>
                <a:lnTo>
                  <a:pt x="2328" y="17463"/>
                </a:lnTo>
                <a:lnTo>
                  <a:pt x="3493" y="15005"/>
                </a:lnTo>
                <a:lnTo>
                  <a:pt x="4915" y="12677"/>
                </a:lnTo>
                <a:lnTo>
                  <a:pt x="6597" y="10478"/>
                </a:lnTo>
                <a:lnTo>
                  <a:pt x="8408" y="8409"/>
                </a:lnTo>
                <a:lnTo>
                  <a:pt x="10478" y="6598"/>
                </a:lnTo>
                <a:lnTo>
                  <a:pt x="12677" y="4916"/>
                </a:lnTo>
                <a:lnTo>
                  <a:pt x="15005" y="3493"/>
                </a:lnTo>
                <a:lnTo>
                  <a:pt x="17592" y="2200"/>
                </a:lnTo>
                <a:lnTo>
                  <a:pt x="20179" y="1294"/>
                </a:lnTo>
                <a:lnTo>
                  <a:pt x="22895" y="647"/>
                </a:lnTo>
                <a:lnTo>
                  <a:pt x="25741" y="130"/>
                </a:lnTo>
                <a:lnTo>
                  <a:pt x="28716" y="1"/>
                </a:lnTo>
                <a:lnTo>
                  <a:pt x="28716" y="1"/>
                </a:lnTo>
                <a:lnTo>
                  <a:pt x="31562" y="130"/>
                </a:lnTo>
                <a:lnTo>
                  <a:pt x="34408" y="647"/>
                </a:lnTo>
                <a:lnTo>
                  <a:pt x="37124" y="1294"/>
                </a:lnTo>
                <a:lnTo>
                  <a:pt x="39840" y="2200"/>
                </a:lnTo>
                <a:lnTo>
                  <a:pt x="42298" y="3493"/>
                </a:lnTo>
                <a:lnTo>
                  <a:pt x="44626" y="4916"/>
                </a:lnTo>
                <a:lnTo>
                  <a:pt x="46825" y="6598"/>
                </a:lnTo>
                <a:lnTo>
                  <a:pt x="48895" y="8409"/>
                </a:lnTo>
                <a:lnTo>
                  <a:pt x="50706" y="10478"/>
                </a:lnTo>
                <a:lnTo>
                  <a:pt x="52388" y="12677"/>
                </a:lnTo>
                <a:lnTo>
                  <a:pt x="53810" y="15005"/>
                </a:lnTo>
                <a:lnTo>
                  <a:pt x="54975" y="17463"/>
                </a:lnTo>
                <a:lnTo>
                  <a:pt x="56009" y="20050"/>
                </a:lnTo>
                <a:lnTo>
                  <a:pt x="56656" y="22896"/>
                </a:lnTo>
                <a:lnTo>
                  <a:pt x="57174" y="25742"/>
                </a:lnTo>
                <a:lnTo>
                  <a:pt x="57303" y="28587"/>
                </a:lnTo>
                <a:lnTo>
                  <a:pt x="57303" y="28587"/>
                </a:lnTo>
                <a:lnTo>
                  <a:pt x="57174" y="31562"/>
                </a:lnTo>
                <a:lnTo>
                  <a:pt x="56915" y="34279"/>
                </a:lnTo>
                <a:lnTo>
                  <a:pt x="56398" y="37125"/>
                </a:lnTo>
                <a:lnTo>
                  <a:pt x="55751" y="39712"/>
                </a:lnTo>
                <a:lnTo>
                  <a:pt x="54845" y="42299"/>
                </a:lnTo>
                <a:lnTo>
                  <a:pt x="53940" y="44886"/>
                </a:lnTo>
                <a:lnTo>
                  <a:pt x="52776" y="47214"/>
                </a:lnTo>
                <a:lnTo>
                  <a:pt x="51611" y="49542"/>
                </a:lnTo>
                <a:lnTo>
                  <a:pt x="50189" y="51871"/>
                </a:lnTo>
                <a:lnTo>
                  <a:pt x="48766" y="54070"/>
                </a:lnTo>
                <a:lnTo>
                  <a:pt x="47214" y="56139"/>
                </a:lnTo>
                <a:lnTo>
                  <a:pt x="45532" y="58209"/>
                </a:lnTo>
                <a:lnTo>
                  <a:pt x="43850" y="60020"/>
                </a:lnTo>
                <a:lnTo>
                  <a:pt x="42039" y="61960"/>
                </a:lnTo>
                <a:lnTo>
                  <a:pt x="40229" y="63642"/>
                </a:lnTo>
                <a:lnTo>
                  <a:pt x="38288" y="65323"/>
                </a:lnTo>
                <a:lnTo>
                  <a:pt x="36477" y="66876"/>
                </a:lnTo>
                <a:lnTo>
                  <a:pt x="34537" y="68428"/>
                </a:lnTo>
                <a:lnTo>
                  <a:pt x="30786" y="71144"/>
                </a:lnTo>
                <a:lnTo>
                  <a:pt x="27035" y="73472"/>
                </a:lnTo>
                <a:lnTo>
                  <a:pt x="23413" y="75413"/>
                </a:lnTo>
                <a:lnTo>
                  <a:pt x="20050" y="77094"/>
                </a:lnTo>
                <a:lnTo>
                  <a:pt x="17204" y="78388"/>
                </a:lnTo>
                <a:lnTo>
                  <a:pt x="14617" y="79164"/>
                </a:lnTo>
                <a:lnTo>
                  <a:pt x="12677" y="79681"/>
                </a:lnTo>
                <a:lnTo>
                  <a:pt x="12677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13"/>
          <p:cNvSpPr/>
          <p:nvPr/>
        </p:nvSpPr>
        <p:spPr>
          <a:xfrm>
            <a:off x="1728183" y="2087475"/>
            <a:ext cx="703383" cy="980288"/>
          </a:xfrm>
          <a:custGeom>
            <a:rect b="b" l="l" r="r" t="t"/>
            <a:pathLst>
              <a:path extrusionOk="0" fill="none" h="79682" w="57174">
                <a:moveTo>
                  <a:pt x="12548" y="79681"/>
                </a:moveTo>
                <a:lnTo>
                  <a:pt x="12548" y="79681"/>
                </a:lnTo>
                <a:lnTo>
                  <a:pt x="15523" y="75283"/>
                </a:lnTo>
                <a:lnTo>
                  <a:pt x="17980" y="71403"/>
                </a:lnTo>
                <a:lnTo>
                  <a:pt x="19791" y="67910"/>
                </a:lnTo>
                <a:lnTo>
                  <a:pt x="21214" y="64806"/>
                </a:lnTo>
                <a:lnTo>
                  <a:pt x="22249" y="62090"/>
                </a:lnTo>
                <a:lnTo>
                  <a:pt x="22896" y="59891"/>
                </a:lnTo>
                <a:lnTo>
                  <a:pt x="23284" y="58080"/>
                </a:lnTo>
                <a:lnTo>
                  <a:pt x="23413" y="56786"/>
                </a:lnTo>
                <a:lnTo>
                  <a:pt x="23413" y="56786"/>
                </a:lnTo>
                <a:lnTo>
                  <a:pt x="20955" y="56139"/>
                </a:lnTo>
                <a:lnTo>
                  <a:pt x="18498" y="55363"/>
                </a:lnTo>
                <a:lnTo>
                  <a:pt x="16299" y="54458"/>
                </a:lnTo>
                <a:lnTo>
                  <a:pt x="14100" y="53294"/>
                </a:lnTo>
                <a:lnTo>
                  <a:pt x="12030" y="52000"/>
                </a:lnTo>
                <a:lnTo>
                  <a:pt x="10090" y="50448"/>
                </a:lnTo>
                <a:lnTo>
                  <a:pt x="8279" y="48896"/>
                </a:lnTo>
                <a:lnTo>
                  <a:pt x="6727" y="47085"/>
                </a:lnTo>
                <a:lnTo>
                  <a:pt x="5174" y="45144"/>
                </a:lnTo>
                <a:lnTo>
                  <a:pt x="3881" y="43075"/>
                </a:lnTo>
                <a:lnTo>
                  <a:pt x="2717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388" y="33761"/>
                </a:lnTo>
                <a:lnTo>
                  <a:pt x="130" y="31174"/>
                </a:lnTo>
                <a:lnTo>
                  <a:pt x="0" y="28587"/>
                </a:lnTo>
                <a:lnTo>
                  <a:pt x="0" y="28587"/>
                </a:lnTo>
                <a:lnTo>
                  <a:pt x="130" y="25742"/>
                </a:lnTo>
                <a:lnTo>
                  <a:pt x="518" y="22896"/>
                </a:lnTo>
                <a:lnTo>
                  <a:pt x="1294" y="20050"/>
                </a:lnTo>
                <a:lnTo>
                  <a:pt x="2199" y="17463"/>
                </a:lnTo>
                <a:lnTo>
                  <a:pt x="3364" y="15005"/>
                </a:lnTo>
                <a:lnTo>
                  <a:pt x="4786" y="12677"/>
                </a:lnTo>
                <a:lnTo>
                  <a:pt x="6468" y="10478"/>
                </a:lnTo>
                <a:lnTo>
                  <a:pt x="8279" y="8409"/>
                </a:lnTo>
                <a:lnTo>
                  <a:pt x="10349" y="6598"/>
                </a:lnTo>
                <a:lnTo>
                  <a:pt x="12548" y="4916"/>
                </a:lnTo>
                <a:lnTo>
                  <a:pt x="14876" y="3493"/>
                </a:lnTo>
                <a:lnTo>
                  <a:pt x="17463" y="2200"/>
                </a:lnTo>
                <a:lnTo>
                  <a:pt x="20050" y="1294"/>
                </a:lnTo>
                <a:lnTo>
                  <a:pt x="22766" y="647"/>
                </a:lnTo>
                <a:lnTo>
                  <a:pt x="25612" y="130"/>
                </a:lnTo>
                <a:lnTo>
                  <a:pt x="28587" y="1"/>
                </a:lnTo>
                <a:lnTo>
                  <a:pt x="28587" y="1"/>
                </a:lnTo>
                <a:lnTo>
                  <a:pt x="31433" y="130"/>
                </a:lnTo>
                <a:lnTo>
                  <a:pt x="34279" y="647"/>
                </a:lnTo>
                <a:lnTo>
                  <a:pt x="37124" y="1294"/>
                </a:lnTo>
                <a:lnTo>
                  <a:pt x="39711" y="2200"/>
                </a:lnTo>
                <a:lnTo>
                  <a:pt x="42169" y="3493"/>
                </a:lnTo>
                <a:lnTo>
                  <a:pt x="44627" y="4916"/>
                </a:lnTo>
                <a:lnTo>
                  <a:pt x="46826" y="6598"/>
                </a:lnTo>
                <a:lnTo>
                  <a:pt x="48766" y="8409"/>
                </a:lnTo>
                <a:lnTo>
                  <a:pt x="50706" y="10478"/>
                </a:lnTo>
                <a:lnTo>
                  <a:pt x="52259" y="12677"/>
                </a:lnTo>
                <a:lnTo>
                  <a:pt x="53681" y="15005"/>
                </a:lnTo>
                <a:lnTo>
                  <a:pt x="54975" y="17463"/>
                </a:lnTo>
                <a:lnTo>
                  <a:pt x="55880" y="20050"/>
                </a:lnTo>
                <a:lnTo>
                  <a:pt x="56657" y="22896"/>
                </a:lnTo>
                <a:lnTo>
                  <a:pt x="57045" y="25742"/>
                </a:lnTo>
                <a:lnTo>
                  <a:pt x="57174" y="28587"/>
                </a:lnTo>
                <a:lnTo>
                  <a:pt x="57174" y="28587"/>
                </a:lnTo>
                <a:lnTo>
                  <a:pt x="57045" y="31562"/>
                </a:lnTo>
                <a:lnTo>
                  <a:pt x="56786" y="34279"/>
                </a:lnTo>
                <a:lnTo>
                  <a:pt x="56268" y="37125"/>
                </a:lnTo>
                <a:lnTo>
                  <a:pt x="55622" y="39712"/>
                </a:lnTo>
                <a:lnTo>
                  <a:pt x="54846" y="42299"/>
                </a:lnTo>
                <a:lnTo>
                  <a:pt x="53811" y="44886"/>
                </a:lnTo>
                <a:lnTo>
                  <a:pt x="52776" y="47214"/>
                </a:lnTo>
                <a:lnTo>
                  <a:pt x="51482" y="49542"/>
                </a:lnTo>
                <a:lnTo>
                  <a:pt x="50060" y="51871"/>
                </a:lnTo>
                <a:lnTo>
                  <a:pt x="48637" y="54070"/>
                </a:lnTo>
                <a:lnTo>
                  <a:pt x="47084" y="56139"/>
                </a:lnTo>
                <a:lnTo>
                  <a:pt x="45403" y="58209"/>
                </a:lnTo>
                <a:lnTo>
                  <a:pt x="43721" y="60020"/>
                </a:lnTo>
                <a:lnTo>
                  <a:pt x="41910" y="61960"/>
                </a:lnTo>
                <a:lnTo>
                  <a:pt x="40099" y="63642"/>
                </a:lnTo>
                <a:lnTo>
                  <a:pt x="38289" y="65323"/>
                </a:lnTo>
                <a:lnTo>
                  <a:pt x="36348" y="66876"/>
                </a:lnTo>
                <a:lnTo>
                  <a:pt x="34408" y="68428"/>
                </a:lnTo>
                <a:lnTo>
                  <a:pt x="30657" y="71144"/>
                </a:lnTo>
                <a:lnTo>
                  <a:pt x="26906" y="73472"/>
                </a:lnTo>
                <a:lnTo>
                  <a:pt x="23284" y="75413"/>
                </a:lnTo>
                <a:lnTo>
                  <a:pt x="20050" y="77094"/>
                </a:lnTo>
                <a:lnTo>
                  <a:pt x="17075" y="78388"/>
                </a:lnTo>
                <a:lnTo>
                  <a:pt x="14488" y="79164"/>
                </a:lnTo>
                <a:lnTo>
                  <a:pt x="12548" y="79681"/>
                </a:lnTo>
                <a:lnTo>
                  <a:pt x="12548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13"/>
          <p:cNvSpPr txBox="1"/>
          <p:nvPr>
            <p:ph idx="1" type="subTitle"/>
          </p:nvPr>
        </p:nvSpPr>
        <p:spPr>
          <a:xfrm>
            <a:off x="722800" y="3899125"/>
            <a:ext cx="1944000" cy="42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pic>
        <p:nvPicPr>
          <p:cNvPr id="796" name="Google Shape;796;p113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13" Type="http://schemas.openxmlformats.org/officeDocument/2006/relationships/theme" Target="../theme/theme1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4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14"/>
          <p:cNvSpPr txBox="1"/>
          <p:nvPr>
            <p:ph type="title"/>
          </p:nvPr>
        </p:nvSpPr>
        <p:spPr>
          <a:xfrm>
            <a:off x="4570475" y="1804650"/>
            <a:ext cx="4557900" cy="185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 your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</a:t>
            </a:r>
            <a:r>
              <a:rPr lang="en"/>
              <a:t>Auditing</a:t>
            </a:r>
            <a:r>
              <a:rPr lang="en"/>
              <a:t> and Hardening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14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 </a:t>
            </a:r>
            <a:endParaRPr/>
          </a:p>
        </p:txBody>
      </p:sp>
      <p:sp>
        <p:nvSpPr>
          <p:cNvPr id="803" name="Google Shape;803;p114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10.3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16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813" name="Google Shape;813;p116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Today’s lesson will cover: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4" name="Google Shape;814;p116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815" name="Google Shape;815;p116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16" name="Google Shape;816;p1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17" name="Google Shape;817;p116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18" name="Google Shape;818;p116"/>
          <p:cNvGrpSpPr/>
          <p:nvPr/>
        </p:nvGrpSpPr>
        <p:grpSpPr>
          <a:xfrm>
            <a:off x="314850" y="2065671"/>
            <a:ext cx="8133300" cy="448425"/>
            <a:chOff x="314850" y="1770875"/>
            <a:chExt cx="8133300" cy="448425"/>
          </a:xfrm>
        </p:grpSpPr>
        <p:sp>
          <p:nvSpPr>
            <p:cNvPr id="819" name="Google Shape;819;p116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0" name="Google Shape;820;p116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1" name="Google Shape;821;p116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Overview of deliverables for Project 1.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2" name="Google Shape;822;p116"/>
          <p:cNvGrpSpPr/>
          <p:nvPr/>
        </p:nvGrpSpPr>
        <p:grpSpPr>
          <a:xfrm>
            <a:off x="314850" y="1445433"/>
            <a:ext cx="8133300" cy="448425"/>
            <a:chOff x="314850" y="1770875"/>
            <a:chExt cx="8133300" cy="448425"/>
          </a:xfrm>
        </p:grpSpPr>
        <p:sp>
          <p:nvSpPr>
            <p:cNvPr id="823" name="Google Shape;823;p116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4" name="Google Shape;824;p116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5" name="Google Shape;825;p116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 brief overview of project tasks for Day 3.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26" name="Google Shape;826;p116"/>
          <p:cNvGrpSpPr/>
          <p:nvPr/>
        </p:nvGrpSpPr>
        <p:grpSpPr>
          <a:xfrm>
            <a:off x="314850" y="2675271"/>
            <a:ext cx="8133300" cy="448425"/>
            <a:chOff x="314850" y="1770875"/>
            <a:chExt cx="8133300" cy="448425"/>
          </a:xfrm>
        </p:grpSpPr>
        <p:sp>
          <p:nvSpPr>
            <p:cNvPr id="827" name="Google Shape;827;p116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8" name="Google Shape;828;p116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9" name="Google Shape;829;p116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Project work.</a:t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1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 Day 3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Project Overview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5" name="Google Shape;835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7525" y="1744050"/>
            <a:ext cx="902675" cy="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118"/>
          <p:cNvPicPr preferRelativeResize="0"/>
          <p:nvPr/>
        </p:nvPicPr>
        <p:blipFill rotWithShape="1">
          <a:blip r:embed="rId3">
            <a:alphaModFix/>
          </a:blip>
          <a:srcRect b="1081" l="0" r="3679" t="599"/>
          <a:stretch/>
        </p:blipFill>
        <p:spPr>
          <a:xfrm>
            <a:off x="3857650" y="886450"/>
            <a:ext cx="5165102" cy="40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118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3 Project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18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you will be working on today:</a:t>
            </a:r>
            <a:endParaRPr/>
          </a:p>
        </p:txBody>
      </p:sp>
      <p:sp>
        <p:nvSpPr>
          <p:cNvPr id="843" name="Google Shape;843;p118"/>
          <p:cNvSpPr txBox="1"/>
          <p:nvPr>
            <p:ph idx="3" type="body"/>
          </p:nvPr>
        </p:nvSpPr>
        <p:spPr>
          <a:xfrm>
            <a:off x="324075" y="1215900"/>
            <a:ext cx="5029200" cy="2140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Scripting your hardening tasks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Scheduling your hardening scripts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1200"/>
              </a:spcAft>
              <a:buSzPts val="1800"/>
              <a:buChar char="●"/>
            </a:pPr>
            <a:r>
              <a:rPr lang="en"/>
              <a:t>Completing the summary report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1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3 Project Tasks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9" name="Google Shape;849;p11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Scripting your hardening tasks</a:t>
            </a:r>
            <a:endParaRPr/>
          </a:p>
        </p:txBody>
      </p:sp>
      <p:sp>
        <p:nvSpPr>
          <p:cNvPr id="850" name="Google Shape;850;p119"/>
          <p:cNvSpPr txBox="1"/>
          <p:nvPr>
            <p:ph idx="2" type="body"/>
          </p:nvPr>
        </p:nvSpPr>
        <p:spPr>
          <a:xfrm>
            <a:off x="410925" y="1146300"/>
            <a:ext cx="4114800" cy="2886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r>
              <a:rPr lang="en"/>
              <a:t>ou will build out </a:t>
            </a:r>
            <a:r>
              <a:rPr b="1" lang="en"/>
              <a:t>two scripts</a:t>
            </a:r>
            <a:r>
              <a:rPr lang="en"/>
              <a:t> to automate many of the tasks you </a:t>
            </a:r>
            <a:br>
              <a:rPr lang="en"/>
            </a:br>
            <a:r>
              <a:rPr lang="en"/>
              <a:t>have completed.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 to test your scripts and confirm there are no errors. </a:t>
            </a:r>
            <a:br>
              <a:rPr lang="en"/>
            </a:b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119"/>
          <p:cNvPicPr preferRelativeResize="0"/>
          <p:nvPr/>
        </p:nvPicPr>
        <p:blipFill rotWithShape="1">
          <a:blip r:embed="rId4">
            <a:alphaModFix/>
          </a:blip>
          <a:srcRect b="0" l="28125" r="32378" t="0"/>
          <a:stretch/>
        </p:blipFill>
        <p:spPr>
          <a:xfrm>
            <a:off x="6095999" y="0"/>
            <a:ext cx="3048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2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3 Project Tasks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58" name="Google Shape;858;p12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your hardening scripts</a:t>
            </a:r>
            <a:endParaRPr/>
          </a:p>
        </p:txBody>
      </p:sp>
      <p:sp>
        <p:nvSpPr>
          <p:cNvPr id="859" name="Google Shape;859;p120"/>
          <p:cNvSpPr txBox="1"/>
          <p:nvPr>
            <p:ph idx="2" type="body"/>
          </p:nvPr>
        </p:nvSpPr>
        <p:spPr>
          <a:xfrm>
            <a:off x="4572000" y="1951050"/>
            <a:ext cx="4114800" cy="1146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you have designed your scripts, Part 2 will have you schedule the two different scripts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cron </a:t>
            </a:r>
            <a:r>
              <a:rPr lang="en"/>
              <a:t>jobs.</a:t>
            </a:r>
            <a:endParaRPr/>
          </a:p>
        </p:txBody>
      </p:sp>
      <p:pic>
        <p:nvPicPr>
          <p:cNvPr id="860" name="Google Shape;860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75" y="994475"/>
            <a:ext cx="4008827" cy="305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p121"/>
          <p:cNvPicPr preferRelativeResize="0"/>
          <p:nvPr/>
        </p:nvPicPr>
        <p:blipFill rotWithShape="1">
          <a:blip r:embed="rId3">
            <a:alphaModFix/>
          </a:blip>
          <a:srcRect b="0" l="0" r="4425" t="0"/>
          <a:stretch/>
        </p:blipFill>
        <p:spPr>
          <a:xfrm>
            <a:off x="4304125" y="1278800"/>
            <a:ext cx="4839875" cy="3864701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12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Day 3 Project Tasks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68" name="Google Shape;868;p12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Completing the summary report</a:t>
            </a:r>
            <a:endParaRPr/>
          </a:p>
        </p:txBody>
      </p:sp>
      <p:sp>
        <p:nvSpPr>
          <p:cNvPr id="869" name="Google Shape;869;p121"/>
          <p:cNvSpPr txBox="1"/>
          <p:nvPr>
            <p:ph idx="2" type="body"/>
          </p:nvPr>
        </p:nvSpPr>
        <p:spPr>
          <a:xfrm>
            <a:off x="457200" y="1671575"/>
            <a:ext cx="4114800" cy="2152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last activity, you will be tasked with completing your summary report. </a:t>
            </a:r>
            <a:br>
              <a:rPr lang="en"/>
            </a:br>
            <a:r>
              <a:rPr lang="en"/>
              <a:t>In your report, include: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Tasks that have been checked off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commands built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0" name="Google Shape;870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23"/>
          <p:cNvSpPr txBox="1"/>
          <p:nvPr>
            <p:ph idx="1" type="subTitle"/>
          </p:nvPr>
        </p:nvSpPr>
        <p:spPr>
          <a:xfrm>
            <a:off x="0" y="4568875"/>
            <a:ext cx="92523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Remainder of class</a:t>
            </a:r>
            <a:endParaRPr/>
          </a:p>
        </p:txBody>
      </p:sp>
      <p:sp>
        <p:nvSpPr>
          <p:cNvPr id="880" name="Google Shape;880;p12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Hardening your Linux server</a:t>
            </a:r>
            <a:endParaRPr/>
          </a:p>
        </p:txBody>
      </p:sp>
      <p:sp>
        <p:nvSpPr>
          <p:cNvPr id="881" name="Google Shape;881;p123"/>
          <p:cNvSpPr txBox="1"/>
          <p:nvPr>
            <p:ph idx="3" type="body"/>
          </p:nvPr>
        </p:nvSpPr>
        <p:spPr>
          <a:xfrm>
            <a:off x="477725" y="1371600"/>
            <a:ext cx="7772400" cy="2742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or the remainder of today's class, you will work on completing Day 3 </a:t>
            </a:r>
            <a:br>
              <a:rPr lang="en"/>
            </a:br>
            <a:r>
              <a:rPr lang="en"/>
              <a:t>project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you are responsible for completing your own project, you can ask classmates, the TA, or the instructor to assist if you have any questions.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Remember </a:t>
            </a:r>
            <a:r>
              <a:rPr lang="en"/>
              <a:t>to complete the checklist document as you progress through the activities.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2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Conclusion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5" name="Google Shape;895;p12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</a:t>
            </a:r>
            <a:endParaRPr/>
          </a:p>
        </p:txBody>
      </p:sp>
      <p:sp>
        <p:nvSpPr>
          <p:cNvPr id="896" name="Google Shape;896;p126"/>
          <p:cNvSpPr txBox="1"/>
          <p:nvPr>
            <p:ph idx="2" type="body"/>
          </p:nvPr>
        </p:nvSpPr>
        <p:spPr>
          <a:xfrm>
            <a:off x="425850" y="1926750"/>
            <a:ext cx="4634700" cy="1290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Congratulations </a:t>
            </a:r>
            <a:r>
              <a:rPr lang="en" sz="2400"/>
              <a:t>on completing your first project!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7" name="Google Shape;897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50" y="251776"/>
            <a:ext cx="473575" cy="4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2900" y="1127650"/>
            <a:ext cx="4015849" cy="401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27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Day 3: Scripting your Linux a</a:t>
            </a:r>
            <a:r>
              <a:rPr lang="en" sz="2200"/>
              <a:t>uditing</a:t>
            </a:r>
            <a:r>
              <a:rPr lang="en" sz="2200"/>
              <a:t> and hardening tasks</a:t>
            </a:r>
            <a:endParaRPr b="1" baseline="-25000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