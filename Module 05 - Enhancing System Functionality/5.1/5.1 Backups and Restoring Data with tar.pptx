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</p:sldIdLst>
  <p:sldSz cy="5143500" cx="9144000"/>
  <p:notesSz cx="6858000" cy="9144000"/>
  <p:embeddedFontLst>
    <p:embeddedFont>
      <p:font typeface="Roboto"/>
      <p:regular r:id="rId79"/>
      <p:bold r:id="rId80"/>
      <p:italic r:id="rId81"/>
      <p:boldItalic r:id="rId82"/>
    </p:embeddedFont>
    <p:embeddedFont>
      <p:font typeface="Roboto Medium"/>
      <p:regular r:id="rId83"/>
      <p:bold r:id="rId84"/>
      <p:italic r:id="rId85"/>
      <p:boldItalic r:id="rId86"/>
    </p:embeddedFont>
    <p:embeddedFont>
      <p:font typeface="Inconsolata"/>
      <p:regular r:id="rId87"/>
      <p:bold r:id="rId88"/>
    </p:embeddedFont>
    <p:embeddedFont>
      <p:font typeface="Roboto Light"/>
      <p:regular r:id="rId89"/>
      <p:bold r:id="rId90"/>
      <p:italic r:id="rId91"/>
      <p:boldItalic r:id="rId92"/>
    </p:embeddedFont>
    <p:embeddedFont>
      <p:font typeface="Inconsolata Medium"/>
      <p:regular r:id="rId93"/>
      <p:bold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font" Target="fonts/RobotoMedium-bold.fntdata"/><Relationship Id="rId83" Type="http://schemas.openxmlformats.org/officeDocument/2006/relationships/font" Target="fonts/RobotoMedium-regular.fntdata"/><Relationship Id="rId42" Type="http://schemas.openxmlformats.org/officeDocument/2006/relationships/slide" Target="slides/slide38.xml"/><Relationship Id="rId86" Type="http://schemas.openxmlformats.org/officeDocument/2006/relationships/font" Target="fonts/RobotoMedium-boldItalic.fntdata"/><Relationship Id="rId41" Type="http://schemas.openxmlformats.org/officeDocument/2006/relationships/slide" Target="slides/slide37.xml"/><Relationship Id="rId85" Type="http://schemas.openxmlformats.org/officeDocument/2006/relationships/font" Target="fonts/RobotoMedium-italic.fntdata"/><Relationship Id="rId44" Type="http://schemas.openxmlformats.org/officeDocument/2006/relationships/slide" Target="slides/slide40.xml"/><Relationship Id="rId88" Type="http://schemas.openxmlformats.org/officeDocument/2006/relationships/font" Target="fonts/Inconsolata-bold.fntdata"/><Relationship Id="rId43" Type="http://schemas.openxmlformats.org/officeDocument/2006/relationships/slide" Target="slides/slide39.xml"/><Relationship Id="rId87" Type="http://schemas.openxmlformats.org/officeDocument/2006/relationships/font" Target="fonts/Inconsolata-regular.fntdata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9" Type="http://schemas.openxmlformats.org/officeDocument/2006/relationships/font" Target="fonts/RobotoLight-regular.fntdata"/><Relationship Id="rId80" Type="http://schemas.openxmlformats.org/officeDocument/2006/relationships/font" Target="fonts/Roboto-bold.fntdata"/><Relationship Id="rId82" Type="http://schemas.openxmlformats.org/officeDocument/2006/relationships/font" Target="fonts/Roboto-boldItalic.fntdata"/><Relationship Id="rId81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font" Target="fonts/Roboto-regular.fntdata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94" Type="http://schemas.openxmlformats.org/officeDocument/2006/relationships/font" Target="fonts/InconsolataMedium-bold.fntdata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91" Type="http://schemas.openxmlformats.org/officeDocument/2006/relationships/font" Target="fonts/RobotoLight-italic.fntdata"/><Relationship Id="rId90" Type="http://schemas.openxmlformats.org/officeDocument/2006/relationships/font" Target="fonts/RobotoLight-bold.fntdata"/><Relationship Id="rId93" Type="http://schemas.openxmlformats.org/officeDocument/2006/relationships/font" Target="fonts/InconsolataMedium-regular.fntdata"/><Relationship Id="rId92" Type="http://schemas.openxmlformats.org/officeDocument/2006/relationships/font" Target="fonts/RobotoLight-boldItalic.fntdata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f1d36ad7c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f1d36ad7c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f1d36ad7c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f1d36ad7c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f1d36ad7cd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f1d36ad7cd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ec649b311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ec649b311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f1d36ad7cd_0_1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f1d36ad7cd_0_1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f1d36ad7cd_0_2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f1d36ad7cd_0_2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oboto"/>
                <a:ea typeface="Roboto"/>
                <a:cs typeface="Roboto"/>
                <a:sym typeface="Roboto"/>
              </a:rPr>
              <a:t>Image source: public domain</a:t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f1d36ad7cd_0_2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f1d36ad7cd_0_2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1d36ad7cd_0_2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f1d36ad7cd_0_2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f1d36ad7cd_0_2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f1d36ad7cd_0_2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f1d36ad7cd_0_2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f1d36ad7cd_0_2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1d36ad7cd_0_2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f1d36ad7cd_0_2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shutterstock_778654396</a:t>
            </a:r>
            <a:endParaRPr b="1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f1d36ad7cd_0_4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2f1d36ad7cd_0_4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f1d4f3ad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f1d4f3ad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f1d4f3adb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f1d4f3adb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f1d4f3adb4_0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2f1d4f3adb4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f214d5d9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f214d5d9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f214d5d99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f214d5d9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f214d5d99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f214d5d99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f214d5d99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f214d5d99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f214d5d99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f214d5d9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f214d5d998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f214d5d998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f214d5d998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f214d5d998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f214d5d998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f214d5d998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f214d5d998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f214d5d998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f214d5d998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f214d5d998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f214d5d998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f214d5d998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f214d5d998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f214d5d998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f214d5d998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2f214d5d998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f214d5d998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f214d5d998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f214d5d99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f214d5d99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f214d5d998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f214d5d998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f214d5d998_0_2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f214d5d998_0_2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f214d5d998_0_2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f214d5d998_0_2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f26b7c88c8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f26b7c88c8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f26b7c88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f26b7c88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f26b7c88c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f26b7c88c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f26b7c88c8_0_4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f26b7c88c8_0_4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f26b7c88c8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f26b7c88c8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oboto"/>
                <a:ea typeface="Roboto"/>
                <a:cs typeface="Roboto"/>
                <a:sym typeface="Roboto"/>
              </a:rPr>
              <a:t>Image source: shutterstock_1043622175</a:t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f26b7c88c8_0_1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f26b7c88c8_0_1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f26b7c88c8_0_2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g2f26b7c88c8_0_2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f26b7c88c8_0_3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f26b7c88c8_0_3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f26b7c88c8_0_3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f26b7c88c8_0_3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f26b7c88c8_0_3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f26b7c88c8_0_3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[option(s)] [archive_name] [objects_to_archive]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f26b7c88c8_0_3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f26b7c88c8_0_3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f26b7c88c8_0_3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f26b7c88c8_0_3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oboto"/>
                <a:ea typeface="Roboto"/>
                <a:cs typeface="Roboto"/>
                <a:sym typeface="Roboto"/>
              </a:rPr>
              <a:t>Image source: shutterstock_1213753120</a:t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f26b7c88c8_0_4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f26b7c88c8_0_4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f26b7c88c8_0_4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f26b7c88c8_0_4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f26b7c88c8_0_4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f26b7c88c8_0_4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f26b7c88c8_0_4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f26b7c88c8_0_4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f26b7c88c8_0_4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f26b7c88c8_0_4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f26b7c88c8_0_4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f26b7c88c8_0_4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ec649b3119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ec649b3119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f26b7c88c8_0_4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f26b7c88c8_0_4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oboto"/>
                <a:ea typeface="Roboto"/>
                <a:cs typeface="Roboto"/>
                <a:sym typeface="Roboto"/>
              </a:rPr>
              <a:t>shutterstock_261034547</a:t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f26b7c88c8_0_5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f26b7c88c8_0_5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f042419d73_0_7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4" name="Google Shape;954;g2f042419d73_0_7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f26b7c88c8_0_5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f26b7c88c8_0_5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f26b7c88c8_0_6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g2f26b7c88c8_0_6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f26b7c88c8_0_7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f26b7c88c8_0_7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f26b7c88c8_0_8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g2f26b7c88c8_0_8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f26b7c88c8_0_8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2f26b7c88c8_0_8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f26b7c88c8_0_8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f26b7c88c8_0_8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f26b7c88c8_0_8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f26b7c88c8_0_8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f26b7c88c8_0_9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f26b7c88c8_0_9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f26b7c88c8_0_9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f26b7c88c8_0_9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f26b7c88c8_0_9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f26b7c88c8_0_9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f3210ca8f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f3210ca8f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ec649b3119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ec649b3119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ec649b3119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ec649b3119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ec649b3119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ec649b3119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f042419d73_0_10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g2f042419d73_0_10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8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52"/>
          <p:cNvSpPr txBox="1"/>
          <p:nvPr>
            <p:ph idx="2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8" name="Google Shape;358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9" name="Google Shape;359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1" name="Google Shape;361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3" name="Google Shape;363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6" name="Google Shape;366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2" name="Google Shape;372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3" name="Google Shape;373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8" name="Google Shape;378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2" name="Google Shape;382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7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jpg"/><Relationship Id="rId4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51.png"/><Relationship Id="rId9" Type="http://schemas.openxmlformats.org/officeDocument/2006/relationships/image" Target="../media/image40.png"/><Relationship Id="rId5" Type="http://schemas.openxmlformats.org/officeDocument/2006/relationships/image" Target="../media/image60.png"/><Relationship Id="rId6" Type="http://schemas.openxmlformats.org/officeDocument/2006/relationships/image" Target="../media/image39.png"/><Relationship Id="rId7" Type="http://schemas.openxmlformats.org/officeDocument/2006/relationships/image" Target="../media/image52.png"/><Relationship Id="rId8" Type="http://schemas.openxmlformats.org/officeDocument/2006/relationships/image" Target="../media/image6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4.png"/><Relationship Id="rId4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0.jpg"/><Relationship Id="rId4" Type="http://schemas.openxmlformats.org/officeDocument/2006/relationships/image" Target="../media/image7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8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8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8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Relationship Id="rId4" Type="http://schemas.openxmlformats.org/officeDocument/2006/relationships/image" Target="../media/image8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1.png"/><Relationship Id="rId4" Type="http://schemas.openxmlformats.org/officeDocument/2006/relationships/image" Target="../media/image6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8.png"/><Relationship Id="rId4" Type="http://schemas.openxmlformats.org/officeDocument/2006/relationships/image" Target="../media/image6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.png"/><Relationship Id="rId4" Type="http://schemas.openxmlformats.org/officeDocument/2006/relationships/image" Target="../media/image70.png"/><Relationship Id="rId5" Type="http://schemas.openxmlformats.org/officeDocument/2006/relationships/image" Target="../media/image67.png"/><Relationship Id="rId6" Type="http://schemas.openxmlformats.org/officeDocument/2006/relationships/image" Target="../media/image7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8.png"/><Relationship Id="rId4" Type="http://schemas.openxmlformats.org/officeDocument/2006/relationships/image" Target="../media/image5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4.jpg"/><Relationship Id="rId4" Type="http://schemas.openxmlformats.org/officeDocument/2006/relationships/image" Target="../media/image1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Backups and Restoring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388" name="Google Shape;388;p56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389" name="Google Shape;389;p56"/>
          <p:cNvSpPr txBox="1"/>
          <p:nvPr>
            <p:ph idx="2" type="subTitle"/>
          </p:nvPr>
        </p:nvSpPr>
        <p:spPr>
          <a:xfrm>
            <a:off x="4570700" y="36892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5.1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Create (tar) an archive from existing files and directories.</a:t>
            </a:r>
            <a:endParaRPr/>
          </a:p>
        </p:txBody>
      </p:sp>
      <p:sp>
        <p:nvSpPr>
          <p:cNvPr id="395" name="Google Shape;395;p5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396" name="Google Shape;396;p5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7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Identify and describe use cases for the three kinds of backups.</a:t>
            </a:r>
            <a:endParaRPr/>
          </a:p>
        </p:txBody>
      </p:sp>
      <p:sp>
        <p:nvSpPr>
          <p:cNvPr id="398" name="Google Shape;398;p57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List and search the contents of an existing archive.</a:t>
            </a:r>
            <a:endParaRPr/>
          </a:p>
        </p:txBody>
      </p:sp>
      <p:sp>
        <p:nvSpPr>
          <p:cNvPr id="399" name="Google Shape;399;p57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Extract (untar) the contents of an archive.</a:t>
            </a:r>
            <a:endParaRPr/>
          </a:p>
        </p:txBody>
      </p:sp>
      <p:sp>
        <p:nvSpPr>
          <p:cNvPr id="400" name="Google Shape;400;p57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Describe and demonstrate two exploits for the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/>
              <a:t> command.</a:t>
            </a:r>
            <a:endParaRPr/>
          </a:p>
        </p:txBody>
      </p:sp>
      <p:pic>
        <p:nvPicPr>
          <p:cNvPr id="401" name="Google Shape;40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7"/>
          <p:cNvSpPr/>
          <p:nvPr/>
        </p:nvSpPr>
        <p:spPr>
          <a:xfrm>
            <a:off x="607675" y="456847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7"/>
          <p:cNvSpPr/>
          <p:nvPr/>
        </p:nvSpPr>
        <p:spPr>
          <a:xfrm>
            <a:off x="457200" y="4568500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rgbClr val="082D49"/>
                </a:solidFill>
              </a:rPr>
              <a:t>6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7"/>
          <p:cNvSpPr txBox="1"/>
          <p:nvPr>
            <p:ph idx="2" type="body"/>
          </p:nvPr>
        </p:nvSpPr>
        <p:spPr>
          <a:xfrm>
            <a:off x="914400" y="46151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Identify and describe how backups are used for compliance.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9"/>
          <p:cNvSpPr/>
          <p:nvPr/>
        </p:nvSpPr>
        <p:spPr>
          <a:xfrm flipH="1">
            <a:off x="724275" y="20901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9"/>
          <p:cNvSpPr txBox="1"/>
          <p:nvPr/>
        </p:nvSpPr>
        <p:spPr>
          <a:xfrm>
            <a:off x="800475" y="2090225"/>
            <a:ext cx="2466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Archiving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Data</a:t>
            </a:r>
            <a:endParaRPr b="1" sz="1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15" name="Google Shape;415;p59"/>
          <p:cNvGrpSpPr/>
          <p:nvPr/>
        </p:nvGrpSpPr>
        <p:grpSpPr>
          <a:xfrm>
            <a:off x="457181" y="1497503"/>
            <a:ext cx="533372" cy="533480"/>
            <a:chOff x="457200" y="1378813"/>
            <a:chExt cx="695400" cy="695450"/>
          </a:xfrm>
        </p:grpSpPr>
        <p:sp>
          <p:nvSpPr>
            <p:cNvPr id="416" name="Google Shape;416;p5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2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7" name="Google Shape;417;p59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/>
            </a:p>
          </p:txBody>
        </p:sp>
      </p:grpSp>
      <p:grpSp>
        <p:nvGrpSpPr>
          <p:cNvPr id="418" name="Google Shape;418;p59"/>
          <p:cNvGrpSpPr/>
          <p:nvPr/>
        </p:nvGrpSpPr>
        <p:grpSpPr>
          <a:xfrm>
            <a:off x="3228956" y="1497503"/>
            <a:ext cx="533372" cy="533480"/>
            <a:chOff x="457200" y="1378813"/>
            <a:chExt cx="695400" cy="695450"/>
          </a:xfrm>
        </p:grpSpPr>
        <p:sp>
          <p:nvSpPr>
            <p:cNvPr id="419" name="Google Shape;419;p5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0" name="Google Shape;420;p59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FFFFFF"/>
                </a:solidFill>
              </a:endParaRPr>
            </a:p>
          </p:txBody>
        </p:sp>
      </p:grpSp>
      <p:sp>
        <p:nvSpPr>
          <p:cNvPr id="421" name="Google Shape;421;p59"/>
          <p:cNvSpPr/>
          <p:nvPr/>
        </p:nvSpPr>
        <p:spPr>
          <a:xfrm flipH="1">
            <a:off x="3496050" y="20901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9"/>
          <p:cNvSpPr txBox="1"/>
          <p:nvPr/>
        </p:nvSpPr>
        <p:spPr>
          <a:xfrm>
            <a:off x="3419850" y="2090225"/>
            <a:ext cx="2637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5"/>
                </a:solidFill>
              </a:rPr>
              <a:t>Scheduling 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Backups</a:t>
            </a:r>
            <a:endParaRPr b="1"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23" name="Google Shape;423;p59"/>
          <p:cNvGrpSpPr/>
          <p:nvPr/>
        </p:nvGrpSpPr>
        <p:grpSpPr>
          <a:xfrm>
            <a:off x="6134081" y="1498253"/>
            <a:ext cx="533372" cy="533480"/>
            <a:chOff x="457200" y="1378813"/>
            <a:chExt cx="695400" cy="695450"/>
          </a:xfrm>
        </p:grpSpPr>
        <p:sp>
          <p:nvSpPr>
            <p:cNvPr id="424" name="Google Shape;424;p59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5" name="Google Shape;425;p59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FFFFFF"/>
                </a:solidFill>
              </a:endParaRPr>
            </a:p>
          </p:txBody>
        </p:sp>
      </p:grpSp>
      <p:sp>
        <p:nvSpPr>
          <p:cNvPr id="426" name="Google Shape;426;p59"/>
          <p:cNvSpPr/>
          <p:nvPr/>
        </p:nvSpPr>
        <p:spPr>
          <a:xfrm flipH="1">
            <a:off x="6401175" y="20909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9"/>
          <p:cNvSpPr txBox="1"/>
          <p:nvPr/>
        </p:nvSpPr>
        <p:spPr>
          <a:xfrm>
            <a:off x="6324975" y="2090450"/>
            <a:ext cx="2742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Monitoring Log Files</a:t>
            </a:r>
            <a:endParaRPr b="1"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5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Archiving and Logging Data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tools used by System Administrators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  <p:pic>
        <p:nvPicPr>
          <p:cNvPr id="430" name="Google Shape;43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400" y="2796612"/>
            <a:ext cx="2466601" cy="1698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1174" y="2809735"/>
            <a:ext cx="2428501" cy="1672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960" y="312500"/>
            <a:ext cx="448481" cy="36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1175" y="2965175"/>
            <a:ext cx="2054433" cy="14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60"/>
          <p:cNvPicPr preferRelativeResize="0"/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7782000" y="4151475"/>
            <a:ext cx="3471525" cy="22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0"/>
          <p:cNvSpPr txBox="1"/>
          <p:nvPr/>
        </p:nvSpPr>
        <p:spPr>
          <a:xfrm>
            <a:off x="3047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Archiving and Logging Data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40" name="Google Shape;440;p60"/>
          <p:cNvSpPr txBox="1"/>
          <p:nvPr/>
        </p:nvSpPr>
        <p:spPr>
          <a:xfrm>
            <a:off x="304800" y="595150"/>
            <a:ext cx="849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These skills are used by system administrators to accomplish the following tasks: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0"/>
          <p:cNvSpPr/>
          <p:nvPr/>
        </p:nvSpPr>
        <p:spPr>
          <a:xfrm>
            <a:off x="578725" y="2077637"/>
            <a:ext cx="38502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0"/>
          <p:cNvSpPr/>
          <p:nvPr/>
        </p:nvSpPr>
        <p:spPr>
          <a:xfrm>
            <a:off x="578725" y="2914752"/>
            <a:ext cx="3850200" cy="545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0"/>
          <p:cNvSpPr/>
          <p:nvPr/>
        </p:nvSpPr>
        <p:spPr>
          <a:xfrm>
            <a:off x="578725" y="1240525"/>
            <a:ext cx="38502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60"/>
          <p:cNvSpPr txBox="1"/>
          <p:nvPr/>
        </p:nvSpPr>
        <p:spPr>
          <a:xfrm>
            <a:off x="903600" y="1240525"/>
            <a:ext cx="284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Overseeing or conducting data backup and recovery.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60"/>
          <p:cNvSpPr txBox="1"/>
          <p:nvPr/>
        </p:nvSpPr>
        <p:spPr>
          <a:xfrm>
            <a:off x="903600" y="2085288"/>
            <a:ext cx="338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Determining how long to retain data and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frequency of backups.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60"/>
          <p:cNvSpPr txBox="1"/>
          <p:nvPr/>
        </p:nvSpPr>
        <p:spPr>
          <a:xfrm>
            <a:off x="903600" y="2887150"/>
            <a:ext cx="3471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Monitoring and troubleshooting backups and restoration.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60"/>
          <p:cNvSpPr/>
          <p:nvPr/>
        </p:nvSpPr>
        <p:spPr>
          <a:xfrm>
            <a:off x="428250" y="121112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48" name="Google Shape;448;p60"/>
          <p:cNvSpPr/>
          <p:nvPr/>
        </p:nvSpPr>
        <p:spPr>
          <a:xfrm>
            <a:off x="428250" y="204822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49" name="Google Shape;449;p60"/>
          <p:cNvSpPr/>
          <p:nvPr/>
        </p:nvSpPr>
        <p:spPr>
          <a:xfrm>
            <a:off x="428250" y="28853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50" name="Google Shape;450;p60"/>
          <p:cNvSpPr/>
          <p:nvPr/>
        </p:nvSpPr>
        <p:spPr>
          <a:xfrm>
            <a:off x="578725" y="3753676"/>
            <a:ext cx="3850200" cy="545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60"/>
          <p:cNvSpPr txBox="1"/>
          <p:nvPr/>
        </p:nvSpPr>
        <p:spPr>
          <a:xfrm>
            <a:off x="903600" y="3738975"/>
            <a:ext cx="366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Providing security for compliance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requirements.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0"/>
          <p:cNvSpPr/>
          <p:nvPr/>
        </p:nvSpPr>
        <p:spPr>
          <a:xfrm>
            <a:off x="428250" y="3724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pic>
        <p:nvPicPr>
          <p:cNvPr id="453" name="Google Shape;45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8000" y="1167850"/>
            <a:ext cx="3668425" cy="357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Archiving with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459" name="Google Shape;45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750" y="1652925"/>
            <a:ext cx="1390501" cy="95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2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</p:spPr>
      </p:sp>
      <p:sp>
        <p:nvSpPr>
          <p:cNvPr id="465" name="Google Shape;465;p62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Archives and Backups</a:t>
            </a:r>
            <a:endParaRPr/>
          </a:p>
        </p:txBody>
      </p:sp>
      <p:sp>
        <p:nvSpPr>
          <p:cNvPr id="466" name="Google Shape;466;p62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Promoting data </a:t>
            </a:r>
            <a:r>
              <a:rPr lang="en"/>
              <a:t>availability</a:t>
            </a:r>
            <a:endParaRPr/>
          </a:p>
        </p:txBody>
      </p:sp>
      <p:sp>
        <p:nvSpPr>
          <p:cNvPr id="467" name="Google Shape;467;p62"/>
          <p:cNvSpPr txBox="1"/>
          <p:nvPr>
            <p:ph idx="3" type="body"/>
          </p:nvPr>
        </p:nvSpPr>
        <p:spPr>
          <a:xfrm>
            <a:off x="461225" y="1048025"/>
            <a:ext cx="47358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ackups and data archiving are important to maintain compliance.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Regulations</a:t>
            </a:r>
            <a:r>
              <a:rPr lang="en"/>
              <a:t> governing IT security industries such as: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Health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468" name="Google Shape;468;p62"/>
          <p:cNvPicPr preferRelativeResize="0"/>
          <p:nvPr/>
        </p:nvPicPr>
        <p:blipFill rotWithShape="1">
          <a:blip r:embed="rId3">
            <a:alphaModFix/>
          </a:blip>
          <a:srcRect b="0" l="13658" r="38633" t="0"/>
          <a:stretch/>
        </p:blipFill>
        <p:spPr>
          <a:xfrm>
            <a:off x="5451125" y="0"/>
            <a:ext cx="368157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63"/>
          <p:cNvPicPr preferRelativeResize="0"/>
          <p:nvPr/>
        </p:nvPicPr>
        <p:blipFill rotWithShape="1">
          <a:blip r:embed="rId3">
            <a:alphaModFix/>
          </a:blip>
          <a:srcRect b="16436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3"/>
          <p:cNvSpPr/>
          <p:nvPr/>
        </p:nvSpPr>
        <p:spPr>
          <a:xfrm>
            <a:off x="204150" y="2809125"/>
            <a:ext cx="4402200" cy="2328600"/>
          </a:xfrm>
          <a:prstGeom prst="round2SameRect">
            <a:avLst>
              <a:gd fmla="val 6384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6090" y="292325"/>
            <a:ext cx="2871424" cy="2871374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st="9525">
              <a:srgbClr val="000000">
                <a:alpha val="29000"/>
              </a:srgbClr>
            </a:outerShdw>
          </a:effectLst>
        </p:spPr>
      </p:pic>
      <p:sp>
        <p:nvSpPr>
          <p:cNvPr id="477" name="Google Shape;477;p63"/>
          <p:cNvSpPr txBox="1"/>
          <p:nvPr/>
        </p:nvSpPr>
        <p:spPr>
          <a:xfrm>
            <a:off x="5372100" y="3417750"/>
            <a:ext cx="3783000" cy="1308600"/>
          </a:xfrm>
          <a:prstGeom prst="rect">
            <a:avLst/>
          </a:prstGeom>
          <a:solidFill>
            <a:srgbClr val="000000">
              <a:alpha val="59780"/>
            </a:srgbClr>
          </a:solidFill>
          <a:ln>
            <a:noFill/>
          </a:ln>
        </p:spPr>
        <p:txBody>
          <a:bodyPr anchorCtr="0" anchor="t" bIns="91425" lIns="91425" spcFirstLastPara="1" rIns="2743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Before the signing ceremony of the Sarbanes–Oxley Act, US President George W. Bush meets with Senator Paul Sarbanes, Secretary of Labor Elaine Chao, and other dignitaries in the </a:t>
            </a:r>
            <a:b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Blue Room at the White House on July 30, 2002.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63"/>
          <p:cNvSpPr txBox="1"/>
          <p:nvPr>
            <p:ph type="title"/>
          </p:nvPr>
        </p:nvSpPr>
        <p:spPr>
          <a:xfrm>
            <a:off x="0" y="2856025"/>
            <a:ext cx="3772800" cy="533700"/>
          </a:xfrm>
          <a:prstGeom prst="rect">
            <a:avLst/>
          </a:prstGeom>
        </p:spPr>
        <p:txBody>
          <a:bodyPr anchorCtr="0" anchor="t" bIns="91425" lIns="5486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Finance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479" name="Google Shape;479;p63"/>
          <p:cNvSpPr txBox="1"/>
          <p:nvPr>
            <p:ph idx="1" type="subTitle"/>
          </p:nvPr>
        </p:nvSpPr>
        <p:spPr>
          <a:xfrm>
            <a:off x="0" y="3532000"/>
            <a:ext cx="4593900" cy="1358400"/>
          </a:xfrm>
          <a:prstGeom prst="rect">
            <a:avLst/>
          </a:prstGeom>
        </p:spPr>
        <p:txBody>
          <a:bodyPr anchorCtr="0" anchor="t" bIns="91425" lIns="5486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In finance, the common standard for data archiving is the </a:t>
            </a:r>
            <a:r>
              <a:rPr lang="en" sz="1600">
                <a:solidFill>
                  <a:schemeClr val="dk2"/>
                </a:solidFill>
                <a:highlight>
                  <a:schemeClr val="accent1"/>
                </a:highlight>
              </a:rPr>
              <a:t>Sarbanes–Oxley Act (SOX)</a:t>
            </a:r>
            <a:r>
              <a:rPr lang="en" sz="1600">
                <a:solidFill>
                  <a:srgbClr val="FFFFFF"/>
                </a:solidFill>
              </a:rPr>
              <a:t>.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It requires all business records and communication to be retained for five years.</a:t>
            </a:r>
            <a:endParaRPr sz="1600">
              <a:solidFill>
                <a:srgbClr val="FFFFFF"/>
              </a:solidFill>
            </a:endParaRPr>
          </a:p>
        </p:txBody>
      </p:sp>
      <p:cxnSp>
        <p:nvCxnSpPr>
          <p:cNvPr id="480" name="Google Shape;480;p63"/>
          <p:cNvCxnSpPr/>
          <p:nvPr/>
        </p:nvCxnSpPr>
        <p:spPr>
          <a:xfrm>
            <a:off x="523875" y="3497975"/>
            <a:ext cx="3753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</a:t>
            </a:r>
            <a:endParaRPr/>
          </a:p>
        </p:txBody>
      </p:sp>
      <p:sp>
        <p:nvSpPr>
          <p:cNvPr id="486" name="Google Shape;486;p6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Markets in Financial Instruments Directive (MiFID II) </a:t>
            </a:r>
            <a:endParaRPr/>
          </a:p>
        </p:txBody>
      </p:sp>
      <p:sp>
        <p:nvSpPr>
          <p:cNvPr id="487" name="Google Shape;487;p64"/>
          <p:cNvSpPr txBox="1"/>
          <p:nvPr>
            <p:ph idx="2" type="body"/>
          </p:nvPr>
        </p:nvSpPr>
        <p:spPr>
          <a:xfrm>
            <a:off x="461225" y="1063525"/>
            <a:ext cx="48753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Markets in Financial Instruments Directive (MiFID II)</a:t>
            </a:r>
            <a:r>
              <a:rPr lang="en"/>
              <a:t> requires the European Union's financial firms to retain and reproduce records of all activity from: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Telephone Conversations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Electronic Communications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Instant Messaging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Social Media Interactions</a:t>
            </a:r>
            <a:endParaRPr/>
          </a:p>
        </p:txBody>
      </p:sp>
      <p:pic>
        <p:nvPicPr>
          <p:cNvPr id="488" name="Google Shape;48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73" y="292176"/>
            <a:ext cx="436450" cy="4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097" y="2765738"/>
            <a:ext cx="826525" cy="82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0" name="Google Shape;490;p64"/>
          <p:cNvPicPr preferRelativeResize="0"/>
          <p:nvPr/>
        </p:nvPicPr>
        <p:blipFill rotWithShape="1">
          <a:blip r:embed="rId5">
            <a:alphaModFix/>
          </a:blip>
          <a:srcRect b="396" l="0" r="0" t="396"/>
          <a:stretch/>
        </p:blipFill>
        <p:spPr>
          <a:xfrm>
            <a:off x="6764122" y="2765738"/>
            <a:ext cx="826525" cy="82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1" name="Google Shape;491;p64"/>
          <p:cNvPicPr preferRelativeResize="0"/>
          <p:nvPr/>
        </p:nvPicPr>
        <p:blipFill rotWithShape="1">
          <a:blip r:embed="rId6">
            <a:alphaModFix/>
          </a:blip>
          <a:srcRect b="396" l="0" r="0" t="396"/>
          <a:stretch/>
        </p:blipFill>
        <p:spPr>
          <a:xfrm>
            <a:off x="5838097" y="3693400"/>
            <a:ext cx="826525" cy="82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2" name="Google Shape;492;p64"/>
          <p:cNvPicPr preferRelativeResize="0"/>
          <p:nvPr/>
        </p:nvPicPr>
        <p:blipFill rotWithShape="1">
          <a:blip r:embed="rId7">
            <a:alphaModFix/>
          </a:blip>
          <a:srcRect b="0" l="199" r="199" t="0"/>
          <a:stretch/>
        </p:blipFill>
        <p:spPr>
          <a:xfrm>
            <a:off x="6764122" y="3693413"/>
            <a:ext cx="826525" cy="82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3" name="Google Shape;493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90147" y="3693388"/>
            <a:ext cx="826525" cy="82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94" name="Google Shape;494;p6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90151" y="2745974"/>
            <a:ext cx="815447" cy="8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</a:t>
            </a:r>
            <a:endParaRPr/>
          </a:p>
        </p:txBody>
      </p:sp>
      <p:sp>
        <p:nvSpPr>
          <p:cNvPr id="500" name="Google Shape;500;p6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 Insurance Portability and Accountability Act (HIPAA)</a:t>
            </a:r>
            <a:endParaRPr/>
          </a:p>
        </p:txBody>
      </p:sp>
      <p:sp>
        <p:nvSpPr>
          <p:cNvPr id="501" name="Google Shape;501;p65"/>
          <p:cNvSpPr txBox="1"/>
          <p:nvPr>
            <p:ph idx="2" type="body"/>
          </p:nvPr>
        </p:nvSpPr>
        <p:spPr>
          <a:xfrm>
            <a:off x="461225" y="1063525"/>
            <a:ext cx="4875300" cy="181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Health Insurance Portability and Accountability Act (HIPAA)</a:t>
            </a:r>
            <a:r>
              <a:rPr lang="en"/>
              <a:t> requires healthcare providers to keep records for six years.</a:t>
            </a:r>
            <a:endParaRPr/>
          </a:p>
        </p:txBody>
      </p:sp>
      <p:pic>
        <p:nvPicPr>
          <p:cNvPr id="502" name="Google Shape;502;p65"/>
          <p:cNvPicPr preferRelativeResize="0"/>
          <p:nvPr/>
        </p:nvPicPr>
        <p:blipFill rotWithShape="1">
          <a:blip r:embed="rId3">
            <a:alphaModFix/>
          </a:blip>
          <a:srcRect b="11388" l="10339" r="11388" t="10339"/>
          <a:stretch/>
        </p:blipFill>
        <p:spPr>
          <a:xfrm>
            <a:off x="4156033" y="1640824"/>
            <a:ext cx="4813118" cy="331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88" y="306175"/>
            <a:ext cx="516025" cy="4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6"/>
          <p:cNvSpPr txBox="1"/>
          <p:nvPr>
            <p:ph idx="1" type="body"/>
          </p:nvPr>
        </p:nvSpPr>
        <p:spPr>
          <a:xfrm>
            <a:off x="3515475" y="1217825"/>
            <a:ext cx="5333400" cy="30603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businesses and government agencies have specific </a:t>
            </a:r>
            <a:r>
              <a:rPr b="1" lang="en"/>
              <a:t>retention </a:t>
            </a:r>
            <a:r>
              <a:rPr lang="en"/>
              <a:t>requirements that must be maintained</a:t>
            </a:r>
            <a:r>
              <a:rPr b="1" lang="en"/>
              <a:t>.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Restoring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Backups</a:t>
            </a:r>
            <a:r>
              <a:rPr lang="en"/>
              <a:t> </a:t>
            </a:r>
            <a:r>
              <a:rPr lang="en"/>
              <a:t>with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514" name="Google Shape;51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68"/>
          <p:cNvPicPr preferRelativeResize="0"/>
          <p:nvPr/>
        </p:nvPicPr>
        <p:blipFill rotWithShape="1">
          <a:blip r:embed="rId3">
            <a:alphaModFix/>
          </a:blip>
          <a:srcRect b="0" l="734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68"/>
          <p:cNvSpPr txBox="1"/>
          <p:nvPr/>
        </p:nvSpPr>
        <p:spPr>
          <a:xfrm>
            <a:off x="0" y="1328125"/>
            <a:ext cx="5177100" cy="26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Cyber professionals </a:t>
            </a:r>
            <a:br>
              <a:rPr lang="en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must ensure that data is always protected against threats of data loss and interruptions caused </a:t>
            </a:r>
            <a:br>
              <a:rPr lang="en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by cyberattacks or natural disasters.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9"/>
          <p:cNvSpPr txBox="1"/>
          <p:nvPr/>
        </p:nvSpPr>
        <p:spPr>
          <a:xfrm>
            <a:off x="-169750" y="3246050"/>
            <a:ext cx="47076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Ransomware 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 of July 2023, ransomware payments exceeded $500 million.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7" name="Google Shape;527;p69"/>
          <p:cNvCxnSpPr/>
          <p:nvPr/>
        </p:nvCxnSpPr>
        <p:spPr>
          <a:xfrm>
            <a:off x="4537850" y="1067275"/>
            <a:ext cx="0" cy="368520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69"/>
          <p:cNvSpPr txBox="1"/>
          <p:nvPr/>
        </p:nvSpPr>
        <p:spPr>
          <a:xfrm>
            <a:off x="4341075" y="3246050"/>
            <a:ext cx="47076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Natural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Disasters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2019, Hurricane Michael caused massive flooding, destroying hundreds of homes, businesses, and strategic defense data.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Ensuring </a:t>
            </a:r>
            <a:r>
              <a:rPr lang="en"/>
              <a:t>Availability</a:t>
            </a:r>
            <a:r>
              <a:rPr lang="en"/>
              <a:t> of Data</a:t>
            </a:r>
            <a:endParaRPr sz="2600">
              <a:solidFill>
                <a:schemeClr val="dk2"/>
              </a:solidFill>
            </a:endParaRPr>
          </a:p>
        </p:txBody>
      </p:sp>
      <p:pic>
        <p:nvPicPr>
          <p:cNvPr id="530" name="Google Shape;53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500" y="1067275"/>
            <a:ext cx="3128274" cy="20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69"/>
          <p:cNvPicPr preferRelativeResize="0"/>
          <p:nvPr/>
        </p:nvPicPr>
        <p:blipFill rotWithShape="1">
          <a:blip r:embed="rId4">
            <a:alphaModFix/>
          </a:blip>
          <a:srcRect b="0" l="10021" r="6533" t="0"/>
          <a:stretch/>
        </p:blipFill>
        <p:spPr>
          <a:xfrm>
            <a:off x="5153925" y="1075875"/>
            <a:ext cx="3092951" cy="208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backup</a:t>
            </a:r>
            <a:r>
              <a:rPr lang="en"/>
              <a:t> is a saved version of specific files in a drive or network folder at a given point in time.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71"/>
          <p:cNvPicPr preferRelativeResize="0"/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7782000" y="4151475"/>
            <a:ext cx="3471525" cy="22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1"/>
          <p:cNvSpPr txBox="1"/>
          <p:nvPr/>
        </p:nvSpPr>
        <p:spPr>
          <a:xfrm>
            <a:off x="3047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Backing Up Data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3" name="Google Shape;543;p71"/>
          <p:cNvSpPr txBox="1"/>
          <p:nvPr/>
        </p:nvSpPr>
        <p:spPr>
          <a:xfrm>
            <a:off x="304700" y="6180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System administrators backup data so organizations can quickly recover lost assets and restore systems.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71"/>
          <p:cNvSpPr/>
          <p:nvPr/>
        </p:nvSpPr>
        <p:spPr>
          <a:xfrm>
            <a:off x="578725" y="2611037"/>
            <a:ext cx="38502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1"/>
          <p:cNvSpPr/>
          <p:nvPr/>
        </p:nvSpPr>
        <p:spPr>
          <a:xfrm>
            <a:off x="578725" y="3448152"/>
            <a:ext cx="3850200" cy="545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1"/>
          <p:cNvSpPr/>
          <p:nvPr/>
        </p:nvSpPr>
        <p:spPr>
          <a:xfrm>
            <a:off x="578725" y="1621525"/>
            <a:ext cx="3850200" cy="7596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1"/>
          <p:cNvSpPr txBox="1"/>
          <p:nvPr/>
        </p:nvSpPr>
        <p:spPr>
          <a:xfrm>
            <a:off x="903600" y="1621525"/>
            <a:ext cx="35946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backup saves specified files on your system and copies them to a safe secondary place.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8" name="Google Shape;548;p71"/>
          <p:cNvSpPr txBox="1"/>
          <p:nvPr/>
        </p:nvSpPr>
        <p:spPr>
          <a:xfrm>
            <a:off x="903600" y="2618700"/>
            <a:ext cx="352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Backups are generally completed hourly or daily.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71"/>
          <p:cNvSpPr txBox="1"/>
          <p:nvPr/>
        </p:nvSpPr>
        <p:spPr>
          <a:xfrm>
            <a:off x="903600" y="3420550"/>
            <a:ext cx="3471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Performing regular backups is a top 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priority for organizations.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71"/>
          <p:cNvSpPr/>
          <p:nvPr/>
        </p:nvSpPr>
        <p:spPr>
          <a:xfrm>
            <a:off x="428250" y="159212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71"/>
          <p:cNvSpPr/>
          <p:nvPr/>
        </p:nvSpPr>
        <p:spPr>
          <a:xfrm>
            <a:off x="428250" y="258162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71"/>
          <p:cNvSpPr/>
          <p:nvPr/>
        </p:nvSpPr>
        <p:spPr>
          <a:xfrm>
            <a:off x="428250" y="34187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3" name="Google Shape;553;p71"/>
          <p:cNvPicPr preferRelativeResize="0"/>
          <p:nvPr/>
        </p:nvPicPr>
        <p:blipFill rotWithShape="1">
          <a:blip r:embed="rId4">
            <a:alphaModFix/>
          </a:blip>
          <a:srcRect b="-2051" l="41994" r="-1226" t="0"/>
          <a:stretch/>
        </p:blipFill>
        <p:spPr>
          <a:xfrm flipH="1">
            <a:off x="3939424" y="1329075"/>
            <a:ext cx="5216876" cy="37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72"/>
          <p:cNvGrpSpPr/>
          <p:nvPr/>
        </p:nvGrpSpPr>
        <p:grpSpPr>
          <a:xfrm>
            <a:off x="6257800" y="1371600"/>
            <a:ext cx="2429025" cy="3435366"/>
            <a:chOff x="6257775" y="1133250"/>
            <a:chExt cx="2429025" cy="3435366"/>
          </a:xfrm>
        </p:grpSpPr>
        <p:sp>
          <p:nvSpPr>
            <p:cNvPr id="559" name="Google Shape;559;p72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72"/>
            <p:cNvSpPr/>
            <p:nvPr/>
          </p:nvSpPr>
          <p:spPr>
            <a:xfrm>
              <a:off x="6257775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Incremental Backup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61" name="Google Shape;561;p72"/>
          <p:cNvGrpSpPr/>
          <p:nvPr/>
        </p:nvGrpSpPr>
        <p:grpSpPr>
          <a:xfrm>
            <a:off x="457225" y="1371600"/>
            <a:ext cx="2439025" cy="3434400"/>
            <a:chOff x="457200" y="1133250"/>
            <a:chExt cx="2439025" cy="3434400"/>
          </a:xfrm>
        </p:grpSpPr>
        <p:sp>
          <p:nvSpPr>
            <p:cNvPr id="562" name="Google Shape;562;p72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3" name="Google Shape;563;p72"/>
            <p:cNvSpPr/>
            <p:nvPr/>
          </p:nvSpPr>
          <p:spPr>
            <a:xfrm>
              <a:off x="457200" y="1133250"/>
              <a:ext cx="2438400" cy="707100"/>
            </a:xfrm>
            <a:prstGeom prst="roundRect">
              <a:avLst>
                <a:gd fmla="val 133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Full Backup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64" name="Google Shape;564;p72"/>
          <p:cNvGrpSpPr/>
          <p:nvPr/>
        </p:nvGrpSpPr>
        <p:grpSpPr>
          <a:xfrm>
            <a:off x="3359425" y="1371599"/>
            <a:ext cx="2435188" cy="3434400"/>
            <a:chOff x="3399100" y="1133249"/>
            <a:chExt cx="2435188" cy="3434400"/>
          </a:xfrm>
        </p:grpSpPr>
        <p:sp>
          <p:nvSpPr>
            <p:cNvPr id="565" name="Google Shape;565;p72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6" name="Google Shape;566;p72"/>
            <p:cNvSpPr/>
            <p:nvPr/>
          </p:nvSpPr>
          <p:spPr>
            <a:xfrm>
              <a:off x="3399100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Differential</a:t>
              </a: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  Backup</a:t>
              </a:r>
              <a:endParaRPr b="1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67" name="Google Shape;567;p72"/>
          <p:cNvSpPr txBox="1"/>
          <p:nvPr>
            <p:ph idx="4294967295" type="body"/>
          </p:nvPr>
        </p:nvSpPr>
        <p:spPr>
          <a:xfrm>
            <a:off x="457175" y="2078575"/>
            <a:ext cx="2521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More reliable and offers complete restoration but requires large storage space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68" name="Google Shape;568;p72"/>
          <p:cNvSpPr txBox="1"/>
          <p:nvPr>
            <p:ph idx="4294967295" type="body"/>
          </p:nvPr>
        </p:nvSpPr>
        <p:spPr>
          <a:xfrm>
            <a:off x="3357750" y="20785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Captures all of the changes made since that initial backup</a:t>
            </a:r>
            <a:endParaRPr sz="1500"/>
          </a:p>
        </p:txBody>
      </p:sp>
      <p:sp>
        <p:nvSpPr>
          <p:cNvPr id="569" name="Google Shape;569;p72"/>
          <p:cNvSpPr txBox="1"/>
          <p:nvPr>
            <p:ph idx="4294967295" type="body"/>
          </p:nvPr>
        </p:nvSpPr>
        <p:spPr>
          <a:xfrm>
            <a:off x="6258325" y="20785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Captures only the changes made since the last backup, whether it was a full, differential, or incremental backup</a:t>
            </a:r>
            <a:endParaRPr sz="1400"/>
          </a:p>
        </p:txBody>
      </p:sp>
      <p:sp>
        <p:nvSpPr>
          <p:cNvPr id="570" name="Google Shape;570;p7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Creating and Restoring Backups</a:t>
            </a:r>
            <a:endParaRPr/>
          </a:p>
        </p:txBody>
      </p:sp>
      <p:sp>
        <p:nvSpPr>
          <p:cNvPr id="571" name="Google Shape;571;p72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Different Types of Backups</a:t>
            </a:r>
            <a:endParaRPr/>
          </a:p>
        </p:txBody>
      </p:sp>
      <p:pic>
        <p:nvPicPr>
          <p:cNvPr id="572" name="Google Shape;57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089" y="4237912"/>
            <a:ext cx="659461" cy="480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827" y="4159388"/>
            <a:ext cx="659460" cy="50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7330" y="4237920"/>
            <a:ext cx="585874" cy="480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3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(tape archive) command is a Linux utility that system administrators use to create a backup.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An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archive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a special file that contains a concatenation of files and directories.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Performing a backup</a:t>
            </a:r>
            <a:endParaRPr/>
          </a:p>
        </p:txBody>
      </p:sp>
      <p:sp>
        <p:nvSpPr>
          <p:cNvPr id="590" name="Google Shape;590;p7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Ability to “rewind” time</a:t>
            </a:r>
            <a:endParaRPr/>
          </a:p>
        </p:txBody>
      </p:sp>
      <p:sp>
        <p:nvSpPr>
          <p:cNvPr id="591" name="Google Shape;591;p75"/>
          <p:cNvSpPr txBox="1"/>
          <p:nvPr>
            <p:ph idx="2" type="body"/>
          </p:nvPr>
        </p:nvSpPr>
        <p:spPr>
          <a:xfrm>
            <a:off x="417575" y="1365238"/>
            <a:ext cx="5425500" cy="1986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ar </a:t>
            </a:r>
            <a:r>
              <a:rPr lang="en"/>
              <a:t>takes files we want to backup and creates an archive of them.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Archives created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 </a:t>
            </a:r>
            <a:r>
              <a:rPr lang="en"/>
              <a:t>are called tarballs, and use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.tar </a:t>
            </a:r>
            <a:r>
              <a:rPr lang="en"/>
              <a:t>extension.</a:t>
            </a:r>
            <a:endParaRPr/>
          </a:p>
        </p:txBody>
      </p:sp>
      <p:sp>
        <p:nvSpPr>
          <p:cNvPr id="592" name="Google Shape;592;p75"/>
          <p:cNvSpPr/>
          <p:nvPr/>
        </p:nvSpPr>
        <p:spPr>
          <a:xfrm>
            <a:off x="0" y="4050575"/>
            <a:ext cx="9144000" cy="914400"/>
          </a:xfrm>
          <a:prstGeom prst="roundRect">
            <a:avLst>
              <a:gd fmla="val 0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              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3" name="Google Shape;59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027" y="4173280"/>
            <a:ext cx="706371" cy="6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5"/>
          <p:cNvSpPr txBox="1"/>
          <p:nvPr/>
        </p:nvSpPr>
        <p:spPr>
          <a:xfrm>
            <a:off x="1048900" y="4300175"/>
            <a:ext cx="79341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backups take up the same amount of space as all the files on the drive.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5" name="Google Shape;59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513" y="233488"/>
            <a:ext cx="491375" cy="49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0238" y="1270512"/>
            <a:ext cx="2845110" cy="25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6"/>
          <p:cNvSpPr txBox="1"/>
          <p:nvPr>
            <p:ph idx="1" type="body"/>
          </p:nvPr>
        </p:nvSpPr>
        <p:spPr>
          <a:xfrm>
            <a:off x="329150" y="1192175"/>
            <a:ext cx="37026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apply this command to the following scenario: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 systems operations center at Tyndall Air Force Base is backing up all system data with the approaching threat of Hurricane Michael.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cxnSp>
        <p:nvCxnSpPr>
          <p:cNvPr id="602" name="Google Shape;602;p76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03" name="Google Shape;603;p76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76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5" name="Google Shape;60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76"/>
          <p:cNvPicPr preferRelativeResize="0"/>
          <p:nvPr/>
        </p:nvPicPr>
        <p:blipFill rotWithShape="1">
          <a:blip r:embed="rId4">
            <a:alphaModFix/>
          </a:blip>
          <a:srcRect b="11470" l="37939" r="7425" t="19511"/>
          <a:stretch/>
        </p:blipFill>
        <p:spPr>
          <a:xfrm>
            <a:off x="4346750" y="1110200"/>
            <a:ext cx="4340050" cy="364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Archive</a:t>
            </a:r>
            <a:endParaRPr/>
          </a:p>
        </p:txBody>
      </p:sp>
      <p:sp>
        <p:nvSpPr>
          <p:cNvPr id="612" name="Google Shape;612;p7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options for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13" name="Google Shape;613;p77"/>
          <p:cNvSpPr txBox="1"/>
          <p:nvPr/>
        </p:nvSpPr>
        <p:spPr>
          <a:xfrm>
            <a:off x="0" y="198435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</a:t>
            </a:r>
            <a:r>
              <a:rPr lang="en" sz="24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[option(s)]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[archive_name]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rPr>
              <a:t>[objects_to_archive]</a:t>
            </a:r>
            <a:endParaRPr sz="2400">
              <a:solidFill>
                <a:schemeClr val="accent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2934750" y="1527150"/>
            <a:ext cx="37374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Basic syntax of the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tar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Archive</a:t>
            </a:r>
            <a:endParaRPr/>
          </a:p>
        </p:txBody>
      </p:sp>
      <p:sp>
        <p:nvSpPr>
          <p:cNvPr id="621" name="Google Shape;621;p7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full backup </a:t>
            </a:r>
            <a:r>
              <a:rPr lang="en"/>
              <a:t>of all logs in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/var/log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22" name="Google Shape;622;p78"/>
          <p:cNvSpPr txBox="1"/>
          <p:nvPr/>
        </p:nvSpPr>
        <p:spPr>
          <a:xfrm>
            <a:off x="0" y="182880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s</a:t>
            </a:r>
            <a:r>
              <a:rPr lang="en" sz="24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udo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</a:t>
            </a:r>
            <a:r>
              <a:rPr lang="en" sz="2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[option(s)] [archive_name] [objects_to_archive]</a:t>
            </a:r>
            <a:endParaRPr sz="24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23" name="Google Shape;62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78"/>
          <p:cNvSpPr txBox="1"/>
          <p:nvPr/>
        </p:nvSpPr>
        <p:spPr>
          <a:xfrm>
            <a:off x="357300" y="3021000"/>
            <a:ext cx="84294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sudo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required because the files in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/var/log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are system files, so we’ll need administrator rights to create a backup.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78"/>
          <p:cNvSpPr/>
          <p:nvPr/>
        </p:nvSpPr>
        <p:spPr>
          <a:xfrm rot="5400000">
            <a:off x="277325" y="2544150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7D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Archive</a:t>
            </a:r>
            <a:endParaRPr/>
          </a:p>
        </p:txBody>
      </p:sp>
      <p:sp>
        <p:nvSpPr>
          <p:cNvPr id="631" name="Google Shape;631;p7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full backup of all logs in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/var/log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79"/>
          <p:cNvSpPr txBox="1"/>
          <p:nvPr/>
        </p:nvSpPr>
        <p:spPr>
          <a:xfrm>
            <a:off x="0" y="182880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sudo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chemeClr val="accent3"/>
                </a:solidFill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[option(s)] [archive_name] [objects_to_archive]</a:t>
            </a:r>
            <a:endParaRPr sz="24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33" name="Google Shape;63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79"/>
          <p:cNvSpPr txBox="1"/>
          <p:nvPr/>
        </p:nvSpPr>
        <p:spPr>
          <a:xfrm>
            <a:off x="1093050" y="3021000"/>
            <a:ext cx="51291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ar</a:t>
            </a: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the Linux command to create the backup.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79"/>
          <p:cNvSpPr/>
          <p:nvPr/>
        </p:nvSpPr>
        <p:spPr>
          <a:xfrm rot="5400000">
            <a:off x="967175" y="2544150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7DB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Archive</a:t>
            </a:r>
            <a:endParaRPr/>
          </a:p>
        </p:txBody>
      </p:sp>
      <p:sp>
        <p:nvSpPr>
          <p:cNvPr id="641" name="Google Shape;641;p8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full backup of all logs in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/var/log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0"/>
          <p:cNvSpPr txBox="1"/>
          <p:nvPr/>
        </p:nvSpPr>
        <p:spPr>
          <a:xfrm>
            <a:off x="0" y="182880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sudo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chemeClr val="accent3"/>
                </a:solidFill>
                <a:latin typeface="Inconsolata"/>
                <a:ea typeface="Inconsolata"/>
                <a:cs typeface="Inconsolata"/>
                <a:sym typeface="Inconsolata"/>
              </a:rPr>
              <a:t>cvf</a:t>
            </a:r>
            <a:r>
              <a:rPr lang="en" sz="2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[archive_name] [objects_to_archive]</a:t>
            </a:r>
            <a:endParaRPr sz="24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43" name="Google Shape;64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80"/>
          <p:cNvSpPr txBox="1"/>
          <p:nvPr/>
        </p:nvSpPr>
        <p:spPr>
          <a:xfrm>
            <a:off x="1093050" y="3021000"/>
            <a:ext cx="69159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are short form options: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stands for create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v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stands for verbose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indicates the title of the archive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80"/>
          <p:cNvSpPr/>
          <p:nvPr/>
        </p:nvSpPr>
        <p:spPr>
          <a:xfrm rot="5400000">
            <a:off x="2186375" y="2544150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7D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Archive</a:t>
            </a:r>
            <a:endParaRPr/>
          </a:p>
        </p:txBody>
      </p:sp>
      <p:sp>
        <p:nvSpPr>
          <p:cNvPr id="651" name="Google Shape;651;p8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full backup of all logs in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/var/log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81"/>
          <p:cNvSpPr txBox="1"/>
          <p:nvPr/>
        </p:nvSpPr>
        <p:spPr>
          <a:xfrm>
            <a:off x="0" y="182880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sudo</a:t>
            </a:r>
            <a:r>
              <a:rPr lang="en" sz="22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2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 sz="22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2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cvf </a:t>
            </a:r>
            <a:r>
              <a:rPr lang="en" sz="22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2018-10-12-hurricane-backup.tar</a:t>
            </a:r>
            <a:r>
              <a:rPr lang="en" sz="22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[objects_to_archive]</a:t>
            </a:r>
            <a:endParaRPr sz="22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53" name="Google Shape;65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81"/>
          <p:cNvSpPr txBox="1"/>
          <p:nvPr/>
        </p:nvSpPr>
        <p:spPr>
          <a:xfrm>
            <a:off x="1093050" y="3021000"/>
            <a:ext cx="69159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2018-10-12-hurricane-backup.tar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the name we are assigning to our new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archive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81"/>
          <p:cNvSpPr/>
          <p:nvPr/>
        </p:nvSpPr>
        <p:spPr>
          <a:xfrm rot="5400000">
            <a:off x="3557975" y="2544150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7DB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Archive</a:t>
            </a:r>
            <a:endParaRPr/>
          </a:p>
        </p:txBody>
      </p:sp>
      <p:sp>
        <p:nvSpPr>
          <p:cNvPr id="661" name="Google Shape;661;p8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full backup of all logs in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/var/log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2"/>
          <p:cNvSpPr txBox="1"/>
          <p:nvPr/>
        </p:nvSpPr>
        <p:spPr>
          <a:xfrm>
            <a:off x="0" y="182880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sudo tar cvf 2018-10-12-hurricane-backup.tar </a:t>
            </a:r>
            <a:r>
              <a:rPr lang="en" sz="22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/var/log</a:t>
            </a:r>
            <a:endParaRPr sz="2200">
              <a:solidFill>
                <a:srgbClr val="0077DB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63" name="Google Shape;66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82"/>
          <p:cNvSpPr txBox="1"/>
          <p:nvPr/>
        </p:nvSpPr>
        <p:spPr>
          <a:xfrm>
            <a:off x="5074675" y="3064675"/>
            <a:ext cx="34581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/var/log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 the objects that we want to archive.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82"/>
          <p:cNvSpPr/>
          <p:nvPr/>
        </p:nvSpPr>
        <p:spPr>
          <a:xfrm rot="5400000">
            <a:off x="7367975" y="2544150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7DB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/>
              <a:t> command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gzip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a command used to create a compressed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 tar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archive, indicated with a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tar.gz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extension.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oogle Shape;680;p85"/>
          <p:cNvGrpSpPr/>
          <p:nvPr/>
        </p:nvGrpSpPr>
        <p:grpSpPr>
          <a:xfrm>
            <a:off x="-3" y="992017"/>
            <a:ext cx="8686828" cy="400200"/>
            <a:chOff x="-3" y="1885788"/>
            <a:chExt cx="8686828" cy="400200"/>
          </a:xfrm>
        </p:grpSpPr>
        <p:cxnSp>
          <p:nvCxnSpPr>
            <p:cNvPr id="681" name="Google Shape;681;p8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82" name="Google Shape;682;p8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83" name="Google Shape;683;p85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8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8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6" name="Google Shape;686;p85"/>
          <p:cNvGrpSpPr/>
          <p:nvPr/>
        </p:nvGrpSpPr>
        <p:grpSpPr>
          <a:xfrm>
            <a:off x="-3" y="1677759"/>
            <a:ext cx="8686828" cy="400200"/>
            <a:chOff x="-3" y="2566213"/>
            <a:chExt cx="8686828" cy="400200"/>
          </a:xfrm>
        </p:grpSpPr>
        <p:cxnSp>
          <p:nvCxnSpPr>
            <p:cNvPr id="687" name="Google Shape;687;p85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88" name="Google Shape;688;p85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85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85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91" name="Google Shape;691;p85"/>
          <p:cNvSpPr txBox="1"/>
          <p:nvPr>
            <p:ph idx="4294967295" type="body"/>
          </p:nvPr>
        </p:nvSpPr>
        <p:spPr>
          <a:xfrm>
            <a:off x="914400" y="10090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gzip</a:t>
            </a:r>
            <a:r>
              <a:rPr lang="en"/>
              <a:t> compression is useful when disk space is an issue</a:t>
            </a:r>
            <a:endParaRPr/>
          </a:p>
        </p:txBody>
      </p:sp>
      <p:sp>
        <p:nvSpPr>
          <p:cNvPr id="692" name="Google Shape;692;p85"/>
          <p:cNvSpPr txBox="1"/>
          <p:nvPr>
            <p:ph idx="4294967295" type="body"/>
          </p:nvPr>
        </p:nvSpPr>
        <p:spPr>
          <a:xfrm>
            <a:off x="914400" y="16945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accent5"/>
                </a:solidFill>
              </a:rPr>
              <a:t>Moving files requires less bandwidth, faster transfer times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693" name="Google Shape;693;p8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Compressing Archives with </a:t>
            </a:r>
            <a:r>
              <a:rPr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gzip</a:t>
            </a:r>
            <a:endParaRPr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694" name="Google Shape;694;p85"/>
          <p:cNvSpPr txBox="1"/>
          <p:nvPr/>
        </p:nvSpPr>
        <p:spPr>
          <a:xfrm>
            <a:off x="0" y="287090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gzip</a:t>
            </a:r>
            <a:r>
              <a:rPr lang="en" sz="26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2018-10-12-hurricane-backup.tar </a:t>
            </a:r>
            <a:endParaRPr sz="2600">
              <a:solidFill>
                <a:srgbClr val="0077DB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95" name="Google Shape;695;p85"/>
          <p:cNvSpPr txBox="1"/>
          <p:nvPr/>
        </p:nvSpPr>
        <p:spPr>
          <a:xfrm>
            <a:off x="6025" y="4114775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gunzip </a:t>
            </a:r>
            <a:r>
              <a:rPr lang="en" sz="26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2018-10-12-hurricane-backup.tar.gz </a:t>
            </a:r>
            <a:endParaRPr sz="2600">
              <a:solidFill>
                <a:srgbClr val="0077DB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96" name="Google Shape;696;p85"/>
          <p:cNvSpPr txBox="1"/>
          <p:nvPr/>
        </p:nvSpPr>
        <p:spPr>
          <a:xfrm>
            <a:off x="3137413" y="2515875"/>
            <a:ext cx="241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Compress the archive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85"/>
          <p:cNvSpPr txBox="1"/>
          <p:nvPr/>
        </p:nvSpPr>
        <p:spPr>
          <a:xfrm>
            <a:off x="2969575" y="3777975"/>
            <a:ext cx="321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Extract a c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ompressed archive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Compressing Archives with </a:t>
            </a:r>
            <a:r>
              <a:rPr lang="en" sz="2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gzip</a:t>
            </a:r>
            <a:endParaRPr i="1" sz="24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8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 &amp; Decompress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4" name="Google Shape;70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86"/>
          <p:cNvSpPr txBox="1"/>
          <p:nvPr>
            <p:ph idx="2" type="body"/>
          </p:nvPr>
        </p:nvSpPr>
        <p:spPr>
          <a:xfrm>
            <a:off x="-6000" y="1172975"/>
            <a:ext cx="9144000" cy="529800"/>
          </a:xfrm>
          <a:prstGeom prst="rect">
            <a:avLst/>
          </a:prstGeom>
          <a:solidFill>
            <a:srgbClr val="000000"/>
          </a:solidFill>
          <a:effectLst>
            <a:outerShdw blurRad="57150" rotWithShape="0" algn="bl" dir="5400000" dist="19050">
              <a:schemeClr val="dk2">
                <a:alpha val="50000"/>
              </a:schemeClr>
            </a:outerShdw>
          </a:effectLst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sudo </a:t>
            </a:r>
            <a:r>
              <a:rPr lang="en" sz="2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cz</a:t>
            </a:r>
            <a:r>
              <a:rPr lang="en" sz="24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vf</a:t>
            </a:r>
            <a:r>
              <a:rPr lang="en" sz="24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2018-10-12-hurricane-backup.tar.gz /var/log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06" name="Google Shape;706;p86"/>
          <p:cNvSpPr txBox="1"/>
          <p:nvPr/>
        </p:nvSpPr>
        <p:spPr>
          <a:xfrm>
            <a:off x="1134450" y="2326650"/>
            <a:ext cx="76428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-cz</a:t>
            </a:r>
            <a: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creates the file and compresses it using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gzip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07" name="Google Shape;707;p86"/>
          <p:cNvSpPr/>
          <p:nvPr/>
        </p:nvSpPr>
        <p:spPr>
          <a:xfrm rot="5400000">
            <a:off x="1700825" y="1814825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86"/>
          <p:cNvSpPr/>
          <p:nvPr/>
        </p:nvSpPr>
        <p:spPr>
          <a:xfrm rot="5400000">
            <a:off x="1502925" y="3577875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86"/>
          <p:cNvSpPr txBox="1"/>
          <p:nvPr/>
        </p:nvSpPr>
        <p:spPr>
          <a:xfrm>
            <a:off x="1170125" y="4110175"/>
            <a:ext cx="7309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-xz</a:t>
            </a:r>
            <a: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extracts the file and decompresses it using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gzip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0" name="Google Shape;710;p86"/>
          <p:cNvSpPr txBox="1"/>
          <p:nvPr/>
        </p:nvSpPr>
        <p:spPr>
          <a:xfrm>
            <a:off x="950" y="2964325"/>
            <a:ext cx="91440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1" name="Google Shape;711;p86"/>
          <p:cNvSpPr txBox="1"/>
          <p:nvPr>
            <p:ph idx="2" type="body"/>
          </p:nvPr>
        </p:nvSpPr>
        <p:spPr>
          <a:xfrm>
            <a:off x="-6000" y="2936025"/>
            <a:ext cx="9144000" cy="529800"/>
          </a:xfrm>
          <a:prstGeom prst="rect">
            <a:avLst/>
          </a:prstGeom>
          <a:solidFill>
            <a:srgbClr val="000000"/>
          </a:solidFill>
          <a:effectLst>
            <a:outerShdw blurRad="57150" rotWithShape="0" algn="bl" dir="5400000" dist="19050">
              <a:schemeClr val="dk2">
                <a:alpha val="50000"/>
              </a:schemeClr>
            </a:outerShdw>
          </a:effectLst>
        </p:spPr>
        <p:txBody>
          <a:bodyPr anchorCtr="0" anchor="ctr" bIns="0" lIns="0" spcFirstLastPara="1" rIns="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sudo </a:t>
            </a:r>
            <a:r>
              <a:rPr lang="en" sz="24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40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xzvf 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2018-10-12-hurricane-backup.tar.gz /var/log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7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Archiving 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87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Maintaining security, privacy, and integrity</a:t>
            </a:r>
            <a:endParaRPr/>
          </a:p>
        </p:txBody>
      </p:sp>
      <p:sp>
        <p:nvSpPr>
          <p:cNvPr id="718" name="Google Shape;718;p87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sure archives are not writable by an untrusted user.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Inspect all data, such as passwords, before writing to an archive, since this data will be copied to the archive.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Pay attention to the diagnostic and exit status of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/>
              <a:t>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9" name="Google Shape;719;p87"/>
          <p:cNvPicPr preferRelativeResize="0"/>
          <p:nvPr/>
        </p:nvPicPr>
        <p:blipFill rotWithShape="1">
          <a:blip r:embed="rId3">
            <a:alphaModFix/>
          </a:blip>
          <a:srcRect b="0" l="16257" r="57302" t="0"/>
          <a:stretch/>
        </p:blipFill>
        <p:spPr>
          <a:xfrm>
            <a:off x="4575" y="25300"/>
            <a:ext cx="3233649" cy="507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8"/>
          <p:cNvSpPr txBox="1"/>
          <p:nvPr>
            <p:ph idx="1" type="body"/>
          </p:nvPr>
        </p:nvSpPr>
        <p:spPr>
          <a:xfrm>
            <a:off x="346625" y="1186388"/>
            <a:ext cx="44310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2019, Hackensack Meridian Health systems were compromised by a </a:t>
            </a:r>
            <a:r>
              <a:rPr b="1" lang="en" sz="1600"/>
              <a:t>ransomware attack</a:t>
            </a:r>
            <a:r>
              <a:rPr lang="en" sz="1600"/>
              <a:t>. Attackers encrypted medical data of many patients in the hospital.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600"/>
              <a:t>The attackers offered to decrypt the data in exchange for payment, effectively ransoming the government's data. Unfortunately, in the case of Hackensack, the hospital had to pay.</a:t>
            </a:r>
            <a:endParaRPr sz="1600"/>
          </a:p>
        </p:txBody>
      </p:sp>
      <p:cxnSp>
        <p:nvCxnSpPr>
          <p:cNvPr id="725" name="Google Shape;725;p88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26" name="Google Shape;726;p88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7" name="Google Shape;727;p88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88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Creating archives to protect organizations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9" name="Google Shape;72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025" y="1044400"/>
            <a:ext cx="3622399" cy="3826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9"/>
          <p:cNvSpPr txBox="1"/>
          <p:nvPr>
            <p:ph idx="1" type="body"/>
          </p:nvPr>
        </p:nvSpPr>
        <p:spPr>
          <a:xfrm>
            <a:off x="222825" y="1044400"/>
            <a:ext cx="4912200" cy="3877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Affected systems impacted: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Doctors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Patients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Treatments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After taking the infected systems offline, we’ll need to: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Restore the operating system and applications using the full backup.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Restore email data using the full backup.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Restoring the email data will require using the tar command to: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List the contents of the latest full backup to locate the email data.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Extract the email data from the archive to a directory on the new system.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cxnSp>
        <p:nvCxnSpPr>
          <p:cNvPr id="736" name="Google Shape;736;p89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37" name="Google Shape;737;p89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38" name="Google Shape;738;p89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89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Creating archives to protect organizations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0" name="Google Shape;74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025" y="1044400"/>
            <a:ext cx="3622399" cy="38266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0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 Center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1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752" name="Google Shape;752;p91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Restoring Backups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53" name="Google Shape;753;p91"/>
          <p:cNvSpPr txBox="1"/>
          <p:nvPr>
            <p:ph idx="3" type="body"/>
          </p:nvPr>
        </p:nvSpPr>
        <p:spPr>
          <a:xfrm>
            <a:off x="457200" y="1127650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activity, you are a junior administrator at Rezifp Pharma Inc. In recent weeks, there have been a series of malware attacks and now the company is strengthening its backup activities.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response to the malware attacks, your department has decided to create daily full backups of the files associated with the E-Prescription Treatment database that contain (PII).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pharmacy technician notices that some files in the Patient database are missing and the team discovers that the wrong full backup was used.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754" name="Google Shape;754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4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Restoring Data with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Incremental </a:t>
            </a:r>
            <a:r>
              <a:rPr lang="en"/>
              <a:t>Backups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8" name="Google Shape;76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063" y="1444725"/>
            <a:ext cx="1121875" cy="113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95"/>
          <p:cNvPicPr preferRelativeResize="0"/>
          <p:nvPr/>
        </p:nvPicPr>
        <p:blipFill rotWithShape="1">
          <a:blip r:embed="rId3">
            <a:alphaModFix/>
          </a:blip>
          <a:srcRect b="4309" l="4318" r="1386" t="1395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95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p95"/>
          <p:cNvSpPr txBox="1"/>
          <p:nvPr>
            <p:ph type="title"/>
          </p:nvPr>
        </p:nvSpPr>
        <p:spPr>
          <a:xfrm>
            <a:off x="151575" y="430975"/>
            <a:ext cx="3916500" cy="3191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file sizes for full backups are very large, because they include everything on a system.</a:t>
            </a:r>
            <a:endParaRPr b="0" sz="2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Depending on the </a:t>
            </a:r>
            <a:b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size of the file </a:t>
            </a:r>
            <a:b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system, doing a </a:t>
            </a:r>
            <a:b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full backup takes </a:t>
            </a:r>
            <a:b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2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very long time.</a:t>
            </a:r>
            <a:endParaRPr b="0" sz="2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96"/>
          <p:cNvPicPr preferRelativeResize="0"/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7782000" y="4151475"/>
            <a:ext cx="3471525" cy="2243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96"/>
          <p:cNvSpPr txBox="1"/>
          <p:nvPr/>
        </p:nvSpPr>
        <p:spPr>
          <a:xfrm>
            <a:off x="3047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Incremental Backup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2" name="Google Shape;782;p96"/>
          <p:cNvSpPr txBox="1"/>
          <p:nvPr/>
        </p:nvSpPr>
        <p:spPr>
          <a:xfrm>
            <a:off x="304700" y="5418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Incremental backups are completed after a full backup is performed on a system, only capturing what has changed since the last incremental backup.</a:t>
            </a:r>
            <a:endParaRPr sz="1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96"/>
          <p:cNvSpPr/>
          <p:nvPr/>
        </p:nvSpPr>
        <p:spPr>
          <a:xfrm>
            <a:off x="578725" y="2313896"/>
            <a:ext cx="49077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96"/>
          <p:cNvSpPr/>
          <p:nvPr/>
        </p:nvSpPr>
        <p:spPr>
          <a:xfrm>
            <a:off x="578725" y="3151029"/>
            <a:ext cx="4907700" cy="859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96"/>
          <p:cNvSpPr/>
          <p:nvPr/>
        </p:nvSpPr>
        <p:spPr>
          <a:xfrm>
            <a:off x="578725" y="1476800"/>
            <a:ext cx="49077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96"/>
          <p:cNvSpPr txBox="1"/>
          <p:nvPr/>
        </p:nvSpPr>
        <p:spPr>
          <a:xfrm>
            <a:off x="938452" y="1476800"/>
            <a:ext cx="443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Incremental backups store a list of which files have changed in a snapshot file, with the extension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.snar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7" name="Google Shape;787;p96"/>
          <p:cNvSpPr txBox="1"/>
          <p:nvPr/>
        </p:nvSpPr>
        <p:spPr>
          <a:xfrm>
            <a:off x="938452" y="2284508"/>
            <a:ext cx="443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snapshot is created when the admin creates the initial level-0 backup.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96"/>
          <p:cNvSpPr txBox="1"/>
          <p:nvPr/>
        </p:nvSpPr>
        <p:spPr>
          <a:xfrm>
            <a:off x="938452" y="3151004"/>
            <a:ext cx="4433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Every time an incremental backup completes, a new snapshot is created that contains only files that have changed since the last full or incremental backup.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89" name="Google Shape;789;p96"/>
          <p:cNvSpPr/>
          <p:nvPr/>
        </p:nvSpPr>
        <p:spPr>
          <a:xfrm>
            <a:off x="428250" y="14473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90" name="Google Shape;790;p96"/>
          <p:cNvSpPr/>
          <p:nvPr/>
        </p:nvSpPr>
        <p:spPr>
          <a:xfrm>
            <a:off x="428250" y="22844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91" name="Google Shape;791;p96"/>
          <p:cNvSpPr/>
          <p:nvPr/>
        </p:nvSpPr>
        <p:spPr>
          <a:xfrm>
            <a:off x="428250" y="312160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pic>
        <p:nvPicPr>
          <p:cNvPr id="792" name="Google Shape;79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7650" y="2049504"/>
            <a:ext cx="3323575" cy="2512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7"/>
          <p:cNvSpPr txBox="1"/>
          <p:nvPr/>
        </p:nvSpPr>
        <p:spPr>
          <a:xfrm>
            <a:off x="0" y="608225"/>
            <a:ext cx="79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Incremental backups drawbacks: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97"/>
          <p:cNvSpPr txBox="1"/>
          <p:nvPr/>
        </p:nvSpPr>
        <p:spPr>
          <a:xfrm>
            <a:off x="553050" y="1970275"/>
            <a:ext cx="23424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Restoring the backup is slow, as you must restore the latest full backup plus all the previous incremental backups.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97"/>
          <p:cNvSpPr txBox="1"/>
          <p:nvPr/>
        </p:nvSpPr>
        <p:spPr>
          <a:xfrm>
            <a:off x="3537549" y="1956475"/>
            <a:ext cx="22353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Loss of data possible if a single backup is corrupted.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97"/>
          <p:cNvSpPr txBox="1"/>
          <p:nvPr/>
        </p:nvSpPr>
        <p:spPr>
          <a:xfrm>
            <a:off x="6434951" y="1970275"/>
            <a:ext cx="22353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Verify an archive was created with no error using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tar W.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97"/>
          <p:cNvSpPr txBox="1"/>
          <p:nvPr/>
        </p:nvSpPr>
        <p:spPr>
          <a:xfrm>
            <a:off x="465975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Restoration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97"/>
          <p:cNvSpPr txBox="1"/>
          <p:nvPr/>
        </p:nvSpPr>
        <p:spPr>
          <a:xfrm>
            <a:off x="3429000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Loss of Data</a:t>
            </a:r>
            <a:endParaRPr b="0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97"/>
          <p:cNvSpPr txBox="1"/>
          <p:nvPr/>
        </p:nvSpPr>
        <p:spPr>
          <a:xfrm>
            <a:off x="6343875" y="1345100"/>
            <a:ext cx="2461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Additional </a:t>
            </a: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Verification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9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Incremental Backups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8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Incremental Backup</a:t>
            </a:r>
            <a:endParaRPr/>
          </a:p>
        </p:txBody>
      </p:sp>
      <p:sp>
        <p:nvSpPr>
          <p:cNvPr id="810" name="Google Shape;810;p98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Incremental backups are a form of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/>
              <a:t> archive</a:t>
            </a:r>
            <a:endParaRPr/>
          </a:p>
        </p:txBody>
      </p:sp>
      <p:sp>
        <p:nvSpPr>
          <p:cNvPr id="811" name="Google Shape;811;p98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ar</a:t>
            </a:r>
            <a:r>
              <a:rPr lang="en"/>
              <a:t> stores additional metadata and information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Tracks modified and deleted files since the last backup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Incremental backup will only contain modified files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Stored in a snapshot file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.snar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812" name="Google Shape;81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100" y="1148375"/>
            <a:ext cx="3826250" cy="33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9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Incremental Backup</a:t>
            </a:r>
            <a:endParaRPr/>
          </a:p>
        </p:txBody>
      </p:sp>
      <p:sp>
        <p:nvSpPr>
          <p:cNvPr id="818" name="Google Shape;818;p9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options for incremental backups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9" name="Google Shape;819;p99"/>
          <p:cNvSpPr txBox="1"/>
          <p:nvPr/>
        </p:nvSpPr>
        <p:spPr>
          <a:xfrm>
            <a:off x="0" y="183195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lang="en" sz="156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cvvWf emerg_back_sun.tar </a:t>
            </a:r>
            <a:r>
              <a:rPr lang="en" sz="156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--listed-incremental=emerg_backup.snar</a:t>
            </a:r>
            <a:r>
              <a:rPr lang="en" sz="156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--level=0 emergency</a:t>
            </a:r>
            <a:endParaRPr sz="1560">
              <a:solidFill>
                <a:schemeClr val="accent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820" name="Google Shape;82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99"/>
          <p:cNvSpPr txBox="1"/>
          <p:nvPr/>
        </p:nvSpPr>
        <p:spPr>
          <a:xfrm>
            <a:off x="1093050" y="3021000"/>
            <a:ext cx="69159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--listed-incremental=emerg_backup.snar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tells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 tar 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that the backup will be part of a series of incremental backups, and stores metadata about the backup in a snapshot file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emerg_backup.snar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99"/>
          <p:cNvSpPr/>
          <p:nvPr/>
        </p:nvSpPr>
        <p:spPr>
          <a:xfrm rot="5400000">
            <a:off x="4700975" y="2544150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7DB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0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Incremental Backup</a:t>
            </a:r>
            <a:endParaRPr/>
          </a:p>
        </p:txBody>
      </p:sp>
      <p:sp>
        <p:nvSpPr>
          <p:cNvPr id="828" name="Google Shape;828;p10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options for incremental backups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29" name="Google Shape;829;p100"/>
          <p:cNvSpPr txBox="1"/>
          <p:nvPr/>
        </p:nvSpPr>
        <p:spPr>
          <a:xfrm>
            <a:off x="0" y="1831950"/>
            <a:ext cx="9144000" cy="60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rPr lang="en" sz="156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tar cvvWf emerg_back_sun.tar </a:t>
            </a:r>
            <a:r>
              <a:rPr lang="en" sz="156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--listed-incremental=emerg_backup.snar</a:t>
            </a:r>
            <a:r>
              <a:rPr lang="en" sz="156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560">
                <a:solidFill>
                  <a:srgbClr val="0077DB"/>
                </a:solidFill>
                <a:latin typeface="Inconsolata"/>
                <a:ea typeface="Inconsolata"/>
                <a:cs typeface="Inconsolata"/>
                <a:sym typeface="Inconsolata"/>
              </a:rPr>
              <a:t>--level=0 </a:t>
            </a:r>
            <a:r>
              <a:rPr lang="en" sz="156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emergency</a:t>
            </a:r>
            <a:endParaRPr sz="156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830" name="Google Shape;83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30" y="320101"/>
            <a:ext cx="353544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100"/>
          <p:cNvSpPr txBox="1"/>
          <p:nvPr/>
        </p:nvSpPr>
        <p:spPr>
          <a:xfrm>
            <a:off x="1197825" y="3021000"/>
            <a:ext cx="69159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--level=0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tells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 tar 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that this is the first backup of the series. 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100"/>
          <p:cNvSpPr/>
          <p:nvPr/>
        </p:nvSpPr>
        <p:spPr>
          <a:xfrm rot="5400000">
            <a:off x="7139375" y="2544150"/>
            <a:ext cx="588900" cy="364800"/>
          </a:xfrm>
          <a:prstGeom prst="homePlate">
            <a:avLst>
              <a:gd fmla="val 50000" name="adj"/>
            </a:avLst>
          </a:prstGeom>
          <a:solidFill>
            <a:srgbClr val="0077DB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7DB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7" name="Google Shape;837;p101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38" name="Google Shape;838;p101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Incremental Backup </a:t>
            </a: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101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0" name="Google Shape;84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101"/>
          <p:cNvSpPr/>
          <p:nvPr/>
        </p:nvSpPr>
        <p:spPr>
          <a:xfrm>
            <a:off x="426000" y="1316850"/>
            <a:ext cx="1985400" cy="23955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01"/>
          <p:cNvSpPr/>
          <p:nvPr/>
        </p:nvSpPr>
        <p:spPr>
          <a:xfrm>
            <a:off x="2528200" y="1316850"/>
            <a:ext cx="1985400" cy="23955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01"/>
          <p:cNvSpPr/>
          <p:nvPr/>
        </p:nvSpPr>
        <p:spPr>
          <a:xfrm>
            <a:off x="4630400" y="1316850"/>
            <a:ext cx="1985400" cy="23955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01"/>
          <p:cNvSpPr/>
          <p:nvPr/>
        </p:nvSpPr>
        <p:spPr>
          <a:xfrm>
            <a:off x="6732600" y="1316850"/>
            <a:ext cx="1985400" cy="23955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5" name="Google Shape;845;p101"/>
          <p:cNvGrpSpPr/>
          <p:nvPr/>
        </p:nvGrpSpPr>
        <p:grpSpPr>
          <a:xfrm>
            <a:off x="2252708" y="2080042"/>
            <a:ext cx="459000" cy="459000"/>
            <a:chOff x="4898908" y="4195167"/>
            <a:chExt cx="459000" cy="459000"/>
          </a:xfrm>
        </p:grpSpPr>
        <p:sp>
          <p:nvSpPr>
            <p:cNvPr id="846" name="Google Shape;846;p101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847" name="Google Shape;847;p101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8" name="Google Shape;848;p101"/>
          <p:cNvGrpSpPr/>
          <p:nvPr/>
        </p:nvGrpSpPr>
        <p:grpSpPr>
          <a:xfrm>
            <a:off x="4342508" y="2080042"/>
            <a:ext cx="459000" cy="459000"/>
            <a:chOff x="4898908" y="4195167"/>
            <a:chExt cx="459000" cy="459000"/>
          </a:xfrm>
        </p:grpSpPr>
        <p:sp>
          <p:nvSpPr>
            <p:cNvPr id="849" name="Google Shape;849;p101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850" name="Google Shape;850;p101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01"/>
          <p:cNvGrpSpPr/>
          <p:nvPr/>
        </p:nvGrpSpPr>
        <p:grpSpPr>
          <a:xfrm>
            <a:off x="6432308" y="2080042"/>
            <a:ext cx="459000" cy="459000"/>
            <a:chOff x="4898908" y="4195167"/>
            <a:chExt cx="459000" cy="459000"/>
          </a:xfrm>
        </p:grpSpPr>
        <p:sp>
          <p:nvSpPr>
            <p:cNvPr id="852" name="Google Shape;852;p101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853" name="Google Shape;853;p101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4" name="Google Shape;854;p101"/>
          <p:cNvSpPr txBox="1"/>
          <p:nvPr/>
        </p:nvSpPr>
        <p:spPr>
          <a:xfrm>
            <a:off x="553050" y="1619400"/>
            <a:ext cx="1731300" cy="17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Sunday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hospital’s system operations staff performs a full backup of all the data in the emergency database.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101"/>
          <p:cNvSpPr txBox="1"/>
          <p:nvPr/>
        </p:nvSpPr>
        <p:spPr>
          <a:xfrm>
            <a:off x="2623150" y="1656300"/>
            <a:ext cx="1795500" cy="17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Monday</a:t>
            </a:r>
            <a:endParaRPr b="1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staff runs an incremental backup that stores all changes made on Monday. This backup is smaller than the full backup.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101"/>
          <p:cNvSpPr txBox="1"/>
          <p:nvPr/>
        </p:nvSpPr>
        <p:spPr>
          <a:xfrm>
            <a:off x="6859650" y="1544700"/>
            <a:ext cx="1731300" cy="19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Wednesday</a:t>
            </a:r>
            <a:endParaRPr b="1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hospital is hit with a ransomware attack and all the data in the emergency database is encrypted.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101"/>
          <p:cNvSpPr txBox="1"/>
          <p:nvPr/>
        </p:nvSpPr>
        <p:spPr>
          <a:xfrm>
            <a:off x="4757450" y="1582550"/>
            <a:ext cx="17313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Tuesday</a:t>
            </a:r>
            <a:endParaRPr b="1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An incremental backup archives only the changes made on Tuesday to the emergency database.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8" name="Google Shape;858;p101"/>
          <p:cNvCxnSpPr/>
          <p:nvPr/>
        </p:nvCxnSpPr>
        <p:spPr>
          <a:xfrm flipH="1" rot="10800000">
            <a:off x="427400" y="1827600"/>
            <a:ext cx="8319600" cy="44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102"/>
          <p:cNvPicPr preferRelativeResize="0"/>
          <p:nvPr/>
        </p:nvPicPr>
        <p:blipFill rotWithShape="1">
          <a:blip r:embed="rId3">
            <a:alphaModFix/>
          </a:blip>
          <a:srcRect b="0" l="701" r="9386" t="4095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10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5" name="Google Shape;865;p102"/>
          <p:cNvSpPr/>
          <p:nvPr/>
        </p:nvSpPr>
        <p:spPr>
          <a:xfrm>
            <a:off x="419300" y="519899"/>
            <a:ext cx="4110300" cy="4103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Fortunately, the hospital had created full and incremental backups and the files in the emergency database are easy </a:t>
            </a:r>
            <a:b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restore.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0" name="Google Shape;870;p103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71" name="Google Shape;871;p103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Incremental Backup 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103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3" name="Google Shape;87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03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875" name="Google Shape;875;p1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6" name="Google Shape;876;p1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7" name="Google Shape;877;p103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878" name="Google Shape;878;p1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9" name="Google Shape;879;p1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0" name="Google Shape;880;p103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881" name="Google Shape;881;p1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2" name="Google Shape;882;p1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3" name="Google Shape;883;p103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884" name="Google Shape;884;p1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5" name="Google Shape;885;p1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6" name="Google Shape;886;p103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887" name="Google Shape;887;p1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8" name="Google Shape;888;p1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9" name="Google Shape;889;p103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103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103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103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103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103"/>
          <p:cNvSpPr txBox="1"/>
          <p:nvPr/>
        </p:nvSpPr>
        <p:spPr>
          <a:xfrm>
            <a:off x="1354400" y="1129175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5" name="Google Shape;895;p103"/>
          <p:cNvSpPr txBox="1"/>
          <p:nvPr/>
        </p:nvSpPr>
        <p:spPr>
          <a:xfrm>
            <a:off x="1354400" y="1787875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6" name="Google Shape;896;p103"/>
          <p:cNvSpPr txBox="1"/>
          <p:nvPr/>
        </p:nvSpPr>
        <p:spPr>
          <a:xfrm>
            <a:off x="1354400" y="24446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7" name="Google Shape;897;p103"/>
          <p:cNvSpPr txBox="1"/>
          <p:nvPr/>
        </p:nvSpPr>
        <p:spPr>
          <a:xfrm>
            <a:off x="1354400" y="31033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8" name="Google Shape;898;p103"/>
          <p:cNvSpPr txBox="1"/>
          <p:nvPr/>
        </p:nvSpPr>
        <p:spPr>
          <a:xfrm>
            <a:off x="1354400" y="37601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Restore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emergency directory.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103"/>
          <p:cNvSpPr txBox="1"/>
          <p:nvPr/>
        </p:nvSpPr>
        <p:spPr>
          <a:xfrm>
            <a:off x="1354400" y="31033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Remove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emergency directory to mimic the ransomware attack on Wednesday.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103"/>
          <p:cNvSpPr txBox="1"/>
          <p:nvPr/>
        </p:nvSpPr>
        <p:spPr>
          <a:xfrm>
            <a:off x="1354400" y="244851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Create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incremental backups generated on Monday and Tuesday.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103"/>
          <p:cNvSpPr txBox="1"/>
          <p:nvPr/>
        </p:nvSpPr>
        <p:spPr>
          <a:xfrm>
            <a:off x="1354400" y="179171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Display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the contents of the level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0 backup generated on Sunday</a:t>
            </a:r>
            <a:r>
              <a:rPr lang="en" sz="155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155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103"/>
          <p:cNvSpPr txBox="1"/>
          <p:nvPr/>
        </p:nvSpPr>
        <p:spPr>
          <a:xfrm>
            <a:off x="1354400" y="1131063"/>
            <a:ext cx="7116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Create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full backup of the emergency directory and a snapshot file.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04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Incremental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Backups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05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913" name="Google Shape;913;p105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Restoring Data with Incremental Backups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14" name="Google Shape;914;p105"/>
          <p:cNvSpPr txBox="1"/>
          <p:nvPr>
            <p:ph idx="3" type="body"/>
          </p:nvPr>
        </p:nvSpPr>
        <p:spPr>
          <a:xfrm>
            <a:off x="457200" y="1127650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as a junior administrator at Rezifp Pharma Inc.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organization has just adopted a new backup policy and you are responsible for validating the new process.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In this simulation, you will perform two tests: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Restore patient files that were deleted during an attack on Sunday.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two new files and perform an incremental backup on Monday to ensure the new files were properly backed up.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5" name="Google Shape;91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08"/>
          <p:cNvSpPr txBox="1"/>
          <p:nvPr>
            <p:ph idx="4294967295"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Incremental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Backups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0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Exploiting 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Command with the Checkpoint and Wildcard Options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4" name="Google Shape;934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5637" y="1576526"/>
            <a:ext cx="1112726" cy="113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10"/>
          <p:cNvSpPr/>
          <p:nvPr/>
        </p:nvSpPr>
        <p:spPr>
          <a:xfrm>
            <a:off x="185125" y="579550"/>
            <a:ext cx="8781900" cy="15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10"/>
          <p:cNvSpPr txBox="1"/>
          <p:nvPr>
            <p:ph type="title"/>
          </p:nvPr>
        </p:nvSpPr>
        <p:spPr>
          <a:xfrm>
            <a:off x="538300" y="1141188"/>
            <a:ext cx="3721500" cy="22896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Hackers can combine the </a:t>
            </a:r>
            <a:r>
              <a:rPr lang="en" sz="2200">
                <a:solidFill>
                  <a:schemeClr val="accent5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tar </a:t>
            </a:r>
            <a:r>
              <a:rPr b="0" lang="en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command with the wildcard character </a:t>
            </a:r>
            <a:r>
              <a:rPr lang="en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(*)</a:t>
            </a:r>
            <a:r>
              <a:rPr b="0" lang="en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and the checkpoint feature to plant malware on a system.  </a:t>
            </a:r>
            <a:endParaRPr b="0" sz="22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1" name="Google Shape;941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900" y="281187"/>
            <a:ext cx="4581125" cy="45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1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Wildcard with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47" name="Google Shape;947;p11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Wildcards and Archives</a:t>
            </a:r>
            <a:endParaRPr/>
          </a:p>
        </p:txBody>
      </p:sp>
      <p:sp>
        <p:nvSpPr>
          <p:cNvPr id="948" name="Google Shape;948;p111"/>
          <p:cNvSpPr txBox="1"/>
          <p:nvPr>
            <p:ph idx="2" type="body"/>
          </p:nvPr>
        </p:nvSpPr>
        <p:spPr>
          <a:xfrm>
            <a:off x="4343400" y="1063525"/>
            <a:ext cx="4123800" cy="3828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previously used wildcard characters * for creating archives.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* </a:t>
            </a:r>
            <a:r>
              <a:rPr lang="en"/>
              <a:t>is used to indicate all files in a directory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Documents/ExploitTar</a:t>
            </a:r>
            <a:r>
              <a:rPr lang="en"/>
              <a:t> contains multiple directories that we want to archive.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./*</a:t>
            </a:r>
            <a:r>
              <a:rPr lang="en"/>
              <a:t> represents all the contents of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Documents/ExploitTar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11"/>
          <p:cNvSpPr/>
          <p:nvPr/>
        </p:nvSpPr>
        <p:spPr>
          <a:xfrm>
            <a:off x="275675" y="1391725"/>
            <a:ext cx="3676500" cy="2864400"/>
          </a:xfrm>
          <a:prstGeom prst="roundRect">
            <a:avLst>
              <a:gd fmla="val 8870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111"/>
          <p:cNvSpPr txBox="1"/>
          <p:nvPr/>
        </p:nvSpPr>
        <p:spPr>
          <a:xfrm>
            <a:off x="537675" y="1652350"/>
            <a:ext cx="31698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~$ ls Documents/ExploitTar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1 f2 f3 f4 f5 f6 f7 f8 f9</a:t>
            </a: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~$ </a:t>
            </a:r>
            <a:r>
              <a:rPr lang="en" sz="1800">
                <a:solidFill>
                  <a:srgbClr val="FCB912"/>
                </a:solidFill>
                <a:latin typeface="Roboto"/>
                <a:ea typeface="Roboto"/>
                <a:cs typeface="Roboto"/>
                <a:sym typeface="Roboto"/>
              </a:rPr>
              <a:t>tar cvf archive.tar ./*</a:t>
            </a:r>
            <a:endParaRPr sz="1800">
              <a:solidFill>
                <a:srgbClr val="FCB9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1" name="Google Shape;951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25" y="269675"/>
            <a:ext cx="451750" cy="4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2"/>
          <p:cNvSpPr txBox="1"/>
          <p:nvPr/>
        </p:nvSpPr>
        <p:spPr>
          <a:xfrm>
            <a:off x="1660225" y="1039700"/>
            <a:ext cx="5938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checkpoint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an action assigned to take place at a specific stage of a backup or restoration.</a:t>
            </a:r>
            <a:endParaRPr i="0" sz="3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13"/>
          <p:cNvSpPr txBox="1"/>
          <p:nvPr/>
        </p:nvSpPr>
        <p:spPr>
          <a:xfrm>
            <a:off x="-6000" y="4786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2" name="Google Shape;962;p113"/>
          <p:cNvSpPr txBox="1"/>
          <p:nvPr/>
        </p:nvSpPr>
        <p:spPr>
          <a:xfrm>
            <a:off x="347250" y="127400"/>
            <a:ext cx="815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Using Checkpoints</a:t>
            </a:r>
            <a:endParaRPr b="1" i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113"/>
          <p:cNvSpPr/>
          <p:nvPr/>
        </p:nvSpPr>
        <p:spPr>
          <a:xfrm>
            <a:off x="3213900" y="1170550"/>
            <a:ext cx="2716200" cy="364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When restoring files from </a:t>
            </a:r>
            <a:b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remote site, a message will </a:t>
            </a:r>
            <a:b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print the number of bytes transferred every 5,000 files.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113"/>
          <p:cNvSpPr/>
          <p:nvPr/>
        </p:nvSpPr>
        <p:spPr>
          <a:xfrm>
            <a:off x="6057275" y="1170550"/>
            <a:ext cx="2716200" cy="364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action taken and the frequency will vary based on </a:t>
            </a:r>
            <a:b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circumstance.</a:t>
            </a: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113"/>
          <p:cNvSpPr/>
          <p:nvPr/>
        </p:nvSpPr>
        <p:spPr>
          <a:xfrm>
            <a:off x="370525" y="1170550"/>
            <a:ext cx="2716200" cy="364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Once the backup reaches 1,000 files, a checkpoint triggers the backup to pause and display the amount of remaining disk space.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113"/>
          <p:cNvSpPr/>
          <p:nvPr/>
        </p:nvSpPr>
        <p:spPr>
          <a:xfrm>
            <a:off x="3893553" y="1487900"/>
            <a:ext cx="1356900" cy="178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C343D"/>
                </a:solidFill>
                <a:latin typeface="Inconsolata"/>
                <a:ea typeface="Inconsolata"/>
                <a:cs typeface="Inconsolata"/>
                <a:sym typeface="Inconsolata"/>
              </a:rPr>
              <a:t>01001101001001010100010001001010101010010101010101010100110100100101010001000100101010101001010101010101</a:t>
            </a:r>
            <a:endParaRPr>
              <a:solidFill>
                <a:srgbClr val="0C343D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967" name="Google Shape;967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075" y="1338975"/>
            <a:ext cx="1542600" cy="21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875" y="1487900"/>
            <a:ext cx="1289508" cy="178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113"/>
          <p:cNvSpPr txBox="1"/>
          <p:nvPr/>
        </p:nvSpPr>
        <p:spPr>
          <a:xfrm>
            <a:off x="1330075" y="2012175"/>
            <a:ext cx="79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C343D"/>
                </a:solidFill>
                <a:latin typeface="Inconsolata"/>
                <a:ea typeface="Inconsolata"/>
                <a:cs typeface="Inconsolata"/>
                <a:sym typeface="Inconsolata"/>
              </a:rPr>
              <a:t>1000</a:t>
            </a:r>
            <a:endParaRPr sz="2000"/>
          </a:p>
        </p:txBody>
      </p:sp>
      <p:cxnSp>
        <p:nvCxnSpPr>
          <p:cNvPr id="970" name="Google Shape;970;p113"/>
          <p:cNvCxnSpPr/>
          <p:nvPr/>
        </p:nvCxnSpPr>
        <p:spPr>
          <a:xfrm>
            <a:off x="2373375" y="2413125"/>
            <a:ext cx="150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113"/>
          <p:cNvCxnSpPr/>
          <p:nvPr/>
        </p:nvCxnSpPr>
        <p:spPr>
          <a:xfrm>
            <a:off x="5265575" y="2413125"/>
            <a:ext cx="157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14"/>
          <p:cNvSpPr txBox="1"/>
          <p:nvPr/>
        </p:nvSpPr>
        <p:spPr>
          <a:xfrm>
            <a:off x="0" y="2690400"/>
            <a:ext cx="47076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Space </a:t>
            </a: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Availability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Help avoid the accidental usage of all the freespace on a backup server.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7" name="Google Shape;977;p114"/>
          <p:cNvCxnSpPr/>
          <p:nvPr/>
        </p:nvCxnSpPr>
        <p:spPr>
          <a:xfrm>
            <a:off x="4537850" y="1619650"/>
            <a:ext cx="0" cy="247170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8" name="Google Shape;978;p114"/>
          <p:cNvSpPr txBox="1"/>
          <p:nvPr/>
        </p:nvSpPr>
        <p:spPr>
          <a:xfrm>
            <a:off x="4537850" y="2690400"/>
            <a:ext cx="44229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Network Performance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Reduce the amount of data transferred over network at one time.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11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Using Checkpoints 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980" name="Google Shape;980;p114"/>
          <p:cNvSpPr txBox="1"/>
          <p:nvPr/>
        </p:nvSpPr>
        <p:spPr>
          <a:xfrm>
            <a:off x="381950" y="639400"/>
            <a:ext cx="81618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Including checkpoints helps to avoid serious issues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81" name="Google Shape;981;p114"/>
          <p:cNvPicPr preferRelativeResize="0"/>
          <p:nvPr/>
        </p:nvPicPr>
        <p:blipFill rotWithShape="1">
          <a:blip r:embed="rId3">
            <a:alphaModFix/>
          </a:blip>
          <a:srcRect b="23418" l="18321" r="17951" t="23704"/>
          <a:stretch/>
        </p:blipFill>
        <p:spPr>
          <a:xfrm>
            <a:off x="5909337" y="1364247"/>
            <a:ext cx="1897324" cy="108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675" y="1403261"/>
            <a:ext cx="954250" cy="112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15"/>
          <p:cNvSpPr txBox="1"/>
          <p:nvPr/>
        </p:nvSpPr>
        <p:spPr>
          <a:xfrm>
            <a:off x="-6000" y="4786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88" name="Google Shape;988;p115"/>
          <p:cNvSpPr txBox="1"/>
          <p:nvPr/>
        </p:nvSpPr>
        <p:spPr>
          <a:xfrm>
            <a:off x="347250" y="127400"/>
            <a:ext cx="815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Using Checkpoints</a:t>
            </a:r>
            <a:endParaRPr b="1" i="1" sz="26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Checkpoints involve two commands. The first defines the checkpoint, and the second specifies the action to be taken at that checkpoint: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89" name="Google Shape;989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375" y="1470900"/>
            <a:ext cx="827450" cy="3374876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115"/>
          <p:cNvSpPr txBox="1"/>
          <p:nvPr/>
        </p:nvSpPr>
        <p:spPr>
          <a:xfrm>
            <a:off x="-41050" y="2384175"/>
            <a:ext cx="46278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274300" wrap="square" tIns="0">
            <a:noAutofit/>
          </a:bodyPr>
          <a:lstStyle/>
          <a:p>
            <a:pPr indent="-205740" lvl="0" marL="5486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Indicates how often the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checkpoint occurs.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05740" lvl="0" marL="54864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 every thousandth file, an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action will take place.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05740" lvl="0" marL="54864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Syntax: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dk2"/>
                </a:solidFill>
                <a:highlight>
                  <a:schemeClr val="accent1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--checkpoint=[n]</a:t>
            </a:r>
            <a:endParaRPr sz="1800">
              <a:solidFill>
                <a:schemeClr val="dk2"/>
              </a:solidFill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115"/>
          <p:cNvSpPr txBox="1"/>
          <p:nvPr/>
        </p:nvSpPr>
        <p:spPr>
          <a:xfrm>
            <a:off x="4569850" y="2384175"/>
            <a:ext cx="46278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274300" wrap="square" tIns="0">
            <a:noAutofit/>
          </a:bodyPr>
          <a:lstStyle/>
          <a:p>
            <a:pPr indent="-205740" lvl="0" marL="5486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Indicates the action that will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take place.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05740" lvl="0" marL="54864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du</a:t>
            </a:r>
            <a:r>
              <a:rPr lang="en" sz="1800">
                <a:solidFill>
                  <a:schemeClr val="dk2"/>
                </a:solidFill>
                <a:highlight>
                  <a:schemeClr val="accent1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displays the available disk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space on the machine.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05740" lvl="0" marL="54864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Syntax:</a:t>
            </a:r>
            <a:r>
              <a:rPr lang="en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800">
                <a:solidFill>
                  <a:schemeClr val="dk2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rPr>
              <a:t>checkpoint=[ACTION]</a:t>
            </a:r>
            <a:endParaRPr b="1" sz="1600">
              <a:solidFill>
                <a:schemeClr val="dk2"/>
              </a:solidFill>
              <a:highlight>
                <a:schemeClr val="accent1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92" name="Google Shape;992;p115"/>
          <p:cNvSpPr txBox="1"/>
          <p:nvPr/>
        </p:nvSpPr>
        <p:spPr>
          <a:xfrm>
            <a:off x="453175" y="1604025"/>
            <a:ext cx="3823200" cy="59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--checkpoint=1000</a:t>
            </a:r>
            <a:endParaRPr sz="2500">
              <a:solidFill>
                <a:schemeClr val="lt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993" name="Google Shape;993;p115"/>
          <p:cNvSpPr txBox="1"/>
          <p:nvPr/>
        </p:nvSpPr>
        <p:spPr>
          <a:xfrm>
            <a:off x="4852500" y="1604025"/>
            <a:ext cx="3988500" cy="59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--checkpoint-action=du</a:t>
            </a:r>
            <a:endParaRPr sz="2500">
              <a:solidFill>
                <a:schemeClr val="lt1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8" name="Google Shape;998;p116"/>
          <p:cNvGrpSpPr/>
          <p:nvPr/>
        </p:nvGrpSpPr>
        <p:grpSpPr>
          <a:xfrm>
            <a:off x="6257800" y="1371600"/>
            <a:ext cx="2429025" cy="3435366"/>
            <a:chOff x="6257775" y="1133250"/>
            <a:chExt cx="2429025" cy="3435366"/>
          </a:xfrm>
        </p:grpSpPr>
        <p:sp>
          <p:nvSpPr>
            <p:cNvPr id="999" name="Google Shape;999;p116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16"/>
            <p:cNvSpPr/>
            <p:nvPr/>
          </p:nvSpPr>
          <p:spPr>
            <a:xfrm>
              <a:off x="6257775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tar </a:t>
              </a: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checkpoints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1" name="Google Shape;1001;p116"/>
          <p:cNvGrpSpPr/>
          <p:nvPr/>
        </p:nvGrpSpPr>
        <p:grpSpPr>
          <a:xfrm>
            <a:off x="457225" y="1371600"/>
            <a:ext cx="2439025" cy="3434400"/>
            <a:chOff x="457200" y="1133250"/>
            <a:chExt cx="2439025" cy="3434400"/>
          </a:xfrm>
        </p:grpSpPr>
        <p:sp>
          <p:nvSpPr>
            <p:cNvPr id="1002" name="Google Shape;1002;p116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3" name="Google Shape;1003;p116"/>
            <p:cNvSpPr/>
            <p:nvPr/>
          </p:nvSpPr>
          <p:spPr>
            <a:xfrm>
              <a:off x="457200" y="1133250"/>
              <a:ext cx="2438400" cy="707100"/>
            </a:xfrm>
            <a:prstGeom prst="roundRect">
              <a:avLst>
                <a:gd fmla="val 133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Identify Weaknesses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4" name="Google Shape;1004;p116"/>
          <p:cNvGrpSpPr/>
          <p:nvPr/>
        </p:nvGrpSpPr>
        <p:grpSpPr>
          <a:xfrm>
            <a:off x="3359425" y="1371599"/>
            <a:ext cx="2435188" cy="3434400"/>
            <a:chOff x="3399100" y="1133249"/>
            <a:chExt cx="2435188" cy="3434400"/>
          </a:xfrm>
        </p:grpSpPr>
        <p:sp>
          <p:nvSpPr>
            <p:cNvPr id="1005" name="Google Shape;1005;p116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6" name="Google Shape;1006;p116"/>
            <p:cNvSpPr/>
            <p:nvPr/>
          </p:nvSpPr>
          <p:spPr>
            <a:xfrm>
              <a:off x="3399100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Arbitrary Code Execution</a:t>
              </a:r>
              <a:endParaRPr b="1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07" name="Google Shape;1007;p116"/>
          <p:cNvSpPr txBox="1"/>
          <p:nvPr>
            <p:ph idx="4294967295" type="body"/>
          </p:nvPr>
        </p:nvSpPr>
        <p:spPr>
          <a:xfrm>
            <a:off x="3357750" y="20785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ACE is extremely dangerous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Attempt to gain root privileges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8" name="Google Shape;1008;p11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Exploiting System Vulnerabilities</a:t>
            </a:r>
            <a:endParaRPr/>
          </a:p>
        </p:txBody>
      </p:sp>
      <p:sp>
        <p:nvSpPr>
          <p:cNvPr id="1009" name="Google Shape;1009;p116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Previously we discussed how sysadmins harden against exploits</a:t>
            </a:r>
            <a:endParaRPr/>
          </a:p>
        </p:txBody>
      </p:sp>
      <p:sp>
        <p:nvSpPr>
          <p:cNvPr id="1010" name="Google Shape;1010;p116"/>
          <p:cNvSpPr txBox="1"/>
          <p:nvPr>
            <p:ph idx="4294967295" type="body"/>
          </p:nvPr>
        </p:nvSpPr>
        <p:spPr>
          <a:xfrm>
            <a:off x="467750" y="2078575"/>
            <a:ext cx="23802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Identify weak or vulnerable services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Exploit with open-source code or use their own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ACE</a:t>
            </a:r>
            <a:endParaRPr sz="1500"/>
          </a:p>
        </p:txBody>
      </p:sp>
      <p:sp>
        <p:nvSpPr>
          <p:cNvPr id="1011" name="Google Shape;1011;p116"/>
          <p:cNvSpPr txBox="1"/>
          <p:nvPr>
            <p:ph idx="4294967295" type="body"/>
          </p:nvPr>
        </p:nvSpPr>
        <p:spPr>
          <a:xfrm>
            <a:off x="6257800" y="20785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Known vulnerability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Plant </a:t>
            </a:r>
            <a:r>
              <a:rPr lang="en" sz="1500"/>
              <a:t>malicious</a:t>
            </a:r>
            <a:r>
              <a:rPr lang="en" sz="1500"/>
              <a:t> code on a system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Allows root </a:t>
            </a:r>
            <a:r>
              <a:rPr lang="en" sz="1500"/>
              <a:t>privileges</a:t>
            </a:r>
            <a:endParaRPr sz="1500"/>
          </a:p>
        </p:txBody>
      </p:sp>
      <p:pic>
        <p:nvPicPr>
          <p:cNvPr id="1012" name="Google Shape;1012;p116"/>
          <p:cNvPicPr preferRelativeResize="0"/>
          <p:nvPr/>
        </p:nvPicPr>
        <p:blipFill rotWithShape="1">
          <a:blip r:embed="rId3">
            <a:alphaModFix/>
          </a:blip>
          <a:srcRect b="755715" l="-128139" r="87373" t="-796480"/>
          <a:stretch/>
        </p:blipFill>
        <p:spPr>
          <a:xfrm>
            <a:off x="1261250" y="157188"/>
            <a:ext cx="914400" cy="709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0428" y="4152100"/>
            <a:ext cx="572928" cy="6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2646" y="4170155"/>
            <a:ext cx="569754" cy="56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79975" y="4181415"/>
            <a:ext cx="692868" cy="566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17"/>
          <p:cNvSpPr txBox="1"/>
          <p:nvPr/>
        </p:nvSpPr>
        <p:spPr>
          <a:xfrm>
            <a:off x="-6000" y="4786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1" name="Google Shape;1021;p117"/>
          <p:cNvSpPr txBox="1"/>
          <p:nvPr/>
        </p:nvSpPr>
        <p:spPr>
          <a:xfrm>
            <a:off x="347250" y="127400"/>
            <a:ext cx="815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Checkpoint + Wildcard Exploit</a:t>
            </a:r>
            <a:endParaRPr b="1" i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First, a hacker gains access to a system by impersonating a normal user: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22" name="Google Shape;1022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563214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117"/>
          <p:cNvSpPr txBox="1"/>
          <p:nvPr/>
        </p:nvSpPr>
        <p:spPr>
          <a:xfrm>
            <a:off x="298625" y="1186950"/>
            <a:ext cx="157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Hacker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117"/>
          <p:cNvSpPr txBox="1"/>
          <p:nvPr/>
        </p:nvSpPr>
        <p:spPr>
          <a:xfrm>
            <a:off x="3937201" y="1422900"/>
            <a:ext cx="14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Compromised User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p117"/>
          <p:cNvSpPr txBox="1"/>
          <p:nvPr/>
        </p:nvSpPr>
        <p:spPr>
          <a:xfrm>
            <a:off x="6984925" y="1346700"/>
            <a:ext cx="19584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Elevated privileges, </a:t>
            </a:r>
            <a:b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access to sensitive data</a:t>
            </a:r>
            <a:endParaRPr b="1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117"/>
          <p:cNvSpPr/>
          <p:nvPr/>
        </p:nvSpPr>
        <p:spPr>
          <a:xfrm rot="1472">
            <a:off x="2086825" y="2661173"/>
            <a:ext cx="1401000" cy="572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Log in via 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stolen password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117"/>
          <p:cNvSpPr txBox="1"/>
          <p:nvPr/>
        </p:nvSpPr>
        <p:spPr>
          <a:xfrm>
            <a:off x="5486400" y="3480150"/>
            <a:ext cx="16983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Normal user can’t access sensitive files, open network connections, or perform root privilege actions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18"/>
          <p:cNvSpPr txBox="1"/>
          <p:nvPr/>
        </p:nvSpPr>
        <p:spPr>
          <a:xfrm>
            <a:off x="-6000" y="478650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33" name="Google Shape;1033;p118"/>
          <p:cNvSpPr txBox="1"/>
          <p:nvPr/>
        </p:nvSpPr>
        <p:spPr>
          <a:xfrm>
            <a:off x="347250" y="127400"/>
            <a:ext cx="751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Checkpoint + Wildcard Exploit</a:t>
            </a:r>
            <a:endParaRPr b="1" i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normal user can typically download and execute files from the internet.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a file is malicious, it can compromise the system.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34" name="Google Shape;1034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4352"/>
            <a:ext cx="9144003" cy="3375423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118"/>
          <p:cNvSpPr txBox="1"/>
          <p:nvPr/>
        </p:nvSpPr>
        <p:spPr>
          <a:xfrm>
            <a:off x="5121800" y="4058600"/>
            <a:ext cx="19743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Downloadable Python script, </a:t>
            </a:r>
            <a:r>
              <a:rPr b="1" lang="en">
                <a:solidFill>
                  <a:schemeClr val="accent5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wildpwn</a:t>
            </a:r>
            <a:r>
              <a:rPr b="1" lang="en">
                <a:solidFill>
                  <a:schemeClr val="accent5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.py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 can exploit </a:t>
            </a:r>
            <a:r>
              <a:rPr b="1" lang="en">
                <a:solidFill>
                  <a:schemeClr val="accent5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and gain root privileges. 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118"/>
          <p:cNvSpPr txBox="1"/>
          <p:nvPr/>
        </p:nvSpPr>
        <p:spPr>
          <a:xfrm>
            <a:off x="5534350" y="3233575"/>
            <a:ext cx="163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Normal user can’t access sensitive files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118"/>
          <p:cNvSpPr/>
          <p:nvPr/>
        </p:nvSpPr>
        <p:spPr>
          <a:xfrm rot="1472">
            <a:off x="2086825" y="2661173"/>
            <a:ext cx="1401000" cy="572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Log in via </a:t>
            </a:r>
            <a:b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stolen password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118"/>
          <p:cNvSpPr txBox="1"/>
          <p:nvPr/>
        </p:nvSpPr>
        <p:spPr>
          <a:xfrm>
            <a:off x="298625" y="1186950"/>
            <a:ext cx="157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Hacker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118"/>
          <p:cNvSpPr txBox="1"/>
          <p:nvPr/>
        </p:nvSpPr>
        <p:spPr>
          <a:xfrm>
            <a:off x="3937201" y="1422900"/>
            <a:ext cx="14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Compromised User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118"/>
          <p:cNvSpPr txBox="1"/>
          <p:nvPr/>
        </p:nvSpPr>
        <p:spPr>
          <a:xfrm>
            <a:off x="6984925" y="1346700"/>
            <a:ext cx="19584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Elevated privileges, </a:t>
            </a:r>
            <a:b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access to sensitive data</a:t>
            </a:r>
            <a:endParaRPr b="1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19"/>
          <p:cNvSpPr txBox="1"/>
          <p:nvPr/>
        </p:nvSpPr>
        <p:spPr>
          <a:xfrm>
            <a:off x="347250" y="127400"/>
            <a:ext cx="760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Checkpoint + Wildcard Exploit</a:t>
            </a:r>
            <a:endParaRPr b="1" i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Unsuspecting admins with root privileges run a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tar 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command containing a wildcard. This will create an archive containing the directory of the malicious script.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46" name="Google Shape;1046;p119"/>
          <p:cNvPicPr preferRelativeResize="0"/>
          <p:nvPr/>
        </p:nvPicPr>
        <p:blipFill rotWithShape="1">
          <a:blip r:embed="rId3">
            <a:alphaModFix/>
          </a:blip>
          <a:srcRect b="32097" l="0" r="0" t="0"/>
          <a:stretch/>
        </p:blipFill>
        <p:spPr>
          <a:xfrm>
            <a:off x="383460" y="1078863"/>
            <a:ext cx="8377083" cy="25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119"/>
          <p:cNvSpPr txBox="1"/>
          <p:nvPr/>
        </p:nvSpPr>
        <p:spPr>
          <a:xfrm>
            <a:off x="7121638" y="3735400"/>
            <a:ext cx="16389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 hacker can drop into root shell, gaining full access to the system.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119"/>
          <p:cNvSpPr txBox="1"/>
          <p:nvPr/>
        </p:nvSpPr>
        <p:spPr>
          <a:xfrm>
            <a:off x="383438" y="3735400"/>
            <a:ext cx="24462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wildpwn.py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plants three malicious files on the machine: one hidden, and two files with names like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solidFill>
                  <a:schemeClr val="accent5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checkpoint commands.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119"/>
          <p:cNvSpPr txBox="1"/>
          <p:nvPr/>
        </p:nvSpPr>
        <p:spPr>
          <a:xfrm>
            <a:off x="3636588" y="3735400"/>
            <a:ext cx="1870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Sysadmin unknowingly creates an archive containing planted malicious script.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20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how do </a:t>
            </a:r>
            <a:r>
              <a:rPr b="1" lang="en"/>
              <a:t>checkpoints</a:t>
            </a:r>
            <a:r>
              <a:rPr lang="en"/>
              <a:t> and </a:t>
            </a:r>
            <a:r>
              <a:rPr b="1" lang="en"/>
              <a:t>wildcards</a:t>
            </a:r>
            <a:r>
              <a:rPr lang="en"/>
              <a:t> fit into this exploit?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21"/>
          <p:cNvSpPr txBox="1"/>
          <p:nvPr>
            <p:ph idx="1" type="body"/>
          </p:nvPr>
        </p:nvSpPr>
        <p:spPr>
          <a:xfrm>
            <a:off x="322950" y="1186400"/>
            <a:ext cx="5852100" cy="38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-When an attacker runs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wildpwn.py</a:t>
            </a:r>
            <a:r>
              <a:rPr lang="en" sz="1600"/>
              <a:t>, it creates three files.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-The attacker can create these files with </a:t>
            </a:r>
            <a:r>
              <a:rPr b="1" lang="en" sz="1600"/>
              <a:t>normal</a:t>
            </a:r>
            <a:r>
              <a:rPr lang="en" sz="1600"/>
              <a:t> user privileges. 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-</a:t>
            </a:r>
            <a:r>
              <a:rPr lang="en" sz="1600"/>
              <a:t>F</a:t>
            </a:r>
            <a:r>
              <a:rPr lang="en" sz="1600"/>
              <a:t>iles include a </a:t>
            </a:r>
            <a:r>
              <a:rPr b="1" lang="en" sz="1600"/>
              <a:t>malicious</a:t>
            </a:r>
            <a:r>
              <a:rPr lang="en" sz="1600"/>
              <a:t> script </a:t>
            </a:r>
            <a:r>
              <a:rPr b="1" lang="en" sz="1600"/>
              <a:t>(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.webscript</a:t>
            </a:r>
            <a:r>
              <a:rPr b="1" lang="en" sz="1600"/>
              <a:t>)</a:t>
            </a:r>
            <a:r>
              <a:rPr lang="en" sz="1600"/>
              <a:t> and two files resembling checkpoint commands: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--checkpoint=1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--checkpoint-action=exec=sh .webscript</a:t>
            </a:r>
            <a:endParaRPr sz="16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/>
              <a:t>After adding the first file to archive,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 sz="1600"/>
              <a:t> will execute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.webscript</a:t>
            </a:r>
            <a:r>
              <a:rPr lang="en" sz="1600">
                <a:latin typeface="Inconsolata"/>
                <a:ea typeface="Inconsolata"/>
                <a:cs typeface="Inconsolata"/>
                <a:sym typeface="Inconsolata"/>
              </a:rPr>
              <a:t>.</a:t>
            </a:r>
            <a:endParaRPr sz="16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060" name="Google Shape;1060;p121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61" name="Google Shape;1061;p121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Checkpoint + Wildcard Exploit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121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21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Exploiting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 tar</a:t>
            </a:r>
            <a:endParaRPr b="1" sz="18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064" name="Google Shape;106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775" y="989500"/>
            <a:ext cx="3234574" cy="39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62" y="149213"/>
            <a:ext cx="495025" cy="5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22"/>
          <p:cNvPicPr preferRelativeResize="0"/>
          <p:nvPr/>
        </p:nvPicPr>
        <p:blipFill rotWithShape="1">
          <a:blip r:embed="rId3">
            <a:alphaModFix/>
          </a:blip>
          <a:srcRect b="0" l="27220" r="26461" t="0"/>
          <a:stretch/>
        </p:blipFill>
        <p:spPr>
          <a:xfrm>
            <a:off x="5525225" y="0"/>
            <a:ext cx="357995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22"/>
          <p:cNvSpPr txBox="1"/>
          <p:nvPr>
            <p:ph idx="1" type="body"/>
          </p:nvPr>
        </p:nvSpPr>
        <p:spPr>
          <a:xfrm>
            <a:off x="558150" y="1135275"/>
            <a:ext cx="4764900" cy="38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 attacker has gained access to our system by stealing the password for the instructor user.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Although, for this example, we will pretend that instructor user does not have root access. In your activity, you will truly be working on a user without root access.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/>
              <a:t>We will be taking the role of the attacker and will use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wildpwn.py</a:t>
            </a:r>
            <a:r>
              <a:rPr lang="en" sz="1600"/>
              <a:t> to plant malicious files. These files will be executed when an administrator with root privileges runs the </a:t>
            </a:r>
            <a:r>
              <a:rPr b="1" lang="en" sz="1600">
                <a:latin typeface="Inconsolata"/>
                <a:ea typeface="Inconsolata"/>
                <a:cs typeface="Inconsolata"/>
                <a:sym typeface="Inconsolata"/>
              </a:rPr>
              <a:t>tar </a:t>
            </a:r>
            <a:r>
              <a:rPr lang="en" sz="1600"/>
              <a:t>command.</a:t>
            </a:r>
            <a:endParaRPr sz="1600"/>
          </a:p>
        </p:txBody>
      </p:sp>
      <p:cxnSp>
        <p:nvCxnSpPr>
          <p:cNvPr id="1072" name="Google Shape;1072;p122"/>
          <p:cNvCxnSpPr/>
          <p:nvPr/>
        </p:nvCxnSpPr>
        <p:spPr>
          <a:xfrm>
            <a:off x="-9375" y="853700"/>
            <a:ext cx="57255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73" name="Google Shape;1073;p122"/>
          <p:cNvSpPr txBox="1"/>
          <p:nvPr/>
        </p:nvSpPr>
        <p:spPr>
          <a:xfrm>
            <a:off x="724200" y="1274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 </a:t>
            </a:r>
            <a:r>
              <a:rPr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Scenario</a:t>
            </a:r>
            <a:endParaRPr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122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22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Exploiting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endParaRPr b="1" sz="18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076" name="Google Shape;1076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2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90DEEC"/>
                </a:solidFill>
                <a:latin typeface="Roboto"/>
                <a:ea typeface="Roboto"/>
                <a:cs typeface="Roboto"/>
                <a:sym typeface="Roboto"/>
              </a:rPr>
              <a:t>Exploiting</a:t>
            </a:r>
            <a:r>
              <a:rPr lang="en">
                <a:solidFill>
                  <a:srgbClr val="90DEEC"/>
                </a:solidFill>
                <a:latin typeface="Inconsolata"/>
                <a:ea typeface="Inconsolata"/>
                <a:cs typeface="Inconsolata"/>
                <a:sym typeface="Inconsolata"/>
              </a:rPr>
              <a:t> tar</a:t>
            </a:r>
            <a:endParaRPr>
              <a:solidFill>
                <a:srgbClr val="90DEEC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24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</a:t>
            </a:r>
            <a:r>
              <a:rPr lang="en"/>
              <a:t> Minutes</a:t>
            </a:r>
            <a:endParaRPr/>
          </a:p>
        </p:txBody>
      </p:sp>
      <p:sp>
        <p:nvSpPr>
          <p:cNvPr id="1087" name="Google Shape;1087;p12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/>
              <a:t> Command with the Checkpoint and Wildcard Options</a:t>
            </a:r>
            <a:endParaRPr/>
          </a:p>
        </p:txBody>
      </p:sp>
      <p:sp>
        <p:nvSpPr>
          <p:cNvPr id="1088" name="Google Shape;1088;p124"/>
          <p:cNvSpPr txBox="1"/>
          <p:nvPr>
            <p:ph idx="3" type="body"/>
          </p:nvPr>
        </p:nvSpPr>
        <p:spPr>
          <a:xfrm>
            <a:off x="725700" y="1345775"/>
            <a:ext cx="7692600" cy="280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exercise, you'll play the part of a penetration tester hunting for vulnerabilities in a target system's backup procedures.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You'll use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wildpwn.py</a:t>
            </a:r>
            <a:r>
              <a:rPr lang="en"/>
              <a:t> tool to verify that the system's current configuration is indeed vulnerable to this kind of privilege escalation attack.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you'll research and suggest two mitigation strategies to protect the server in the future.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9" name="Google Shape;1089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2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3" name="Google Shape;1103;p12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1104" name="Google Shape;1104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27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106" name="Google Shape;1106;p127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Backups and Restoring Data</a:t>
            </a:r>
            <a:endParaRPr/>
          </a:p>
        </p:txBody>
      </p:sp>
      <p:sp>
        <p:nvSpPr>
          <p:cNvPr id="1107" name="Google Shape;1107;p127"/>
          <p:cNvSpPr/>
          <p:nvPr/>
        </p:nvSpPr>
        <p:spPr>
          <a:xfrm>
            <a:off x="1287238" y="114022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127"/>
          <p:cNvSpPr/>
          <p:nvPr/>
        </p:nvSpPr>
        <p:spPr>
          <a:xfrm>
            <a:off x="1287238" y="31972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27"/>
          <p:cNvSpPr/>
          <p:nvPr/>
        </p:nvSpPr>
        <p:spPr>
          <a:xfrm>
            <a:off x="1287238" y="2515613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27"/>
          <p:cNvSpPr/>
          <p:nvPr/>
        </p:nvSpPr>
        <p:spPr>
          <a:xfrm>
            <a:off x="1287238" y="1815325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1" name="Google Shape;1111;p127"/>
          <p:cNvGrpSpPr/>
          <p:nvPr/>
        </p:nvGrpSpPr>
        <p:grpSpPr>
          <a:xfrm>
            <a:off x="457263" y="1140229"/>
            <a:ext cx="776900" cy="459019"/>
            <a:chOff x="457200" y="1466425"/>
            <a:chExt cx="776900" cy="486300"/>
          </a:xfrm>
        </p:grpSpPr>
        <p:sp>
          <p:nvSpPr>
            <p:cNvPr id="1112" name="Google Shape;1112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3" name="Google Shape;1113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14" name="Google Shape;1114;p127"/>
          <p:cNvGrpSpPr/>
          <p:nvPr/>
        </p:nvGrpSpPr>
        <p:grpSpPr>
          <a:xfrm>
            <a:off x="457263" y="1795105"/>
            <a:ext cx="776900" cy="486300"/>
            <a:chOff x="457200" y="1466425"/>
            <a:chExt cx="776900" cy="486300"/>
          </a:xfrm>
        </p:grpSpPr>
        <p:sp>
          <p:nvSpPr>
            <p:cNvPr id="1115" name="Google Shape;1115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6" name="Google Shape;1116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17" name="Google Shape;1117;p127"/>
          <p:cNvGrpSpPr/>
          <p:nvPr/>
        </p:nvGrpSpPr>
        <p:grpSpPr>
          <a:xfrm>
            <a:off x="457263" y="2511961"/>
            <a:ext cx="776900" cy="437378"/>
            <a:chOff x="457200" y="1466425"/>
            <a:chExt cx="776900" cy="486300"/>
          </a:xfrm>
        </p:grpSpPr>
        <p:sp>
          <p:nvSpPr>
            <p:cNvPr id="1118" name="Google Shape;1118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9" name="Google Shape;1119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20" name="Google Shape;1120;p127"/>
          <p:cNvGrpSpPr/>
          <p:nvPr/>
        </p:nvGrpSpPr>
        <p:grpSpPr>
          <a:xfrm>
            <a:off x="457263" y="3195429"/>
            <a:ext cx="776900" cy="459019"/>
            <a:chOff x="457200" y="1466425"/>
            <a:chExt cx="776900" cy="486300"/>
          </a:xfrm>
        </p:grpSpPr>
        <p:sp>
          <p:nvSpPr>
            <p:cNvPr id="1121" name="Google Shape;1121;p127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2" name="Google Shape;1122;p127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123" name="Google Shape;1123;p127"/>
          <p:cNvSpPr txBox="1"/>
          <p:nvPr/>
        </p:nvSpPr>
        <p:spPr>
          <a:xfrm>
            <a:off x="1287313" y="116160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Identified and described three types of backups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127"/>
          <p:cNvSpPr txBox="1"/>
          <p:nvPr/>
        </p:nvSpPr>
        <p:spPr>
          <a:xfrm>
            <a:off x="1287313" y="18367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Created, listed, and searched archives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127"/>
          <p:cNvSpPr txBox="1"/>
          <p:nvPr/>
        </p:nvSpPr>
        <p:spPr>
          <a:xfrm>
            <a:off x="1287313" y="252060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Extracted contents of an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archive</a:t>
            </a:r>
            <a:endParaRPr b="1" sz="18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126" name="Google Shape;1126;p127"/>
          <p:cNvSpPr txBox="1"/>
          <p:nvPr/>
        </p:nvSpPr>
        <p:spPr>
          <a:xfrm>
            <a:off x="1287313" y="3202300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Used exploits with the </a:t>
            </a:r>
            <a:r>
              <a:rPr b="1" lang="en" sz="185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tar</a:t>
            </a:r>
            <a:r>
              <a:rPr lang="en" sz="185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command</a:t>
            </a:r>
            <a:endParaRPr sz="185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28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c</a:t>
            </a: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ron</a:t>
            </a:r>
            <a:r>
              <a:rPr lang="en" sz="1800"/>
              <a:t> and Scheduled Jobs</a:t>
            </a:r>
            <a:endParaRPr baseline="-25000" sz="18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