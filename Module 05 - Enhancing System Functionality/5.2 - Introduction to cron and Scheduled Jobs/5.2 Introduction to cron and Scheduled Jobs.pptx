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embeddedFontLst>
    <p:embeddedFont>
      <p:font typeface="Roboto"/>
      <p:regular r:id="rId49"/>
      <p:bold r:id="rId50"/>
      <p:italic r:id="rId51"/>
      <p:boldItalic r:id="rId52"/>
    </p:embeddedFont>
    <p:embeddedFont>
      <p:font typeface="Roboto Medium"/>
      <p:regular r:id="rId53"/>
      <p:bold r:id="rId54"/>
      <p:italic r:id="rId55"/>
      <p:boldItalic r:id="rId56"/>
    </p:embeddedFont>
    <p:embeddedFont>
      <p:font typeface="Inconsolata"/>
      <p:regular r:id="rId57"/>
      <p:bold r:id="rId58"/>
    </p:embeddedFont>
    <p:embeddedFont>
      <p:font typeface="Roboto Light"/>
      <p:regular r:id="rId59"/>
      <p:bold r:id="rId60"/>
      <p:italic r:id="rId61"/>
      <p:boldItalic r:id="rId62"/>
    </p:embeddedFont>
    <p:embeddedFont>
      <p:font typeface="Roboto Mono"/>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A0AF27A-F37F-438B-A31F-9CE7060CF56F}">
  <a:tblStyle styleId="{5A0AF27A-F37F-438B-A31F-9CE7060CF56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Light-boldItalic.fntdata"/><Relationship Id="rId61" Type="http://schemas.openxmlformats.org/officeDocument/2006/relationships/font" Target="fonts/RobotoLight-italic.fntdata"/><Relationship Id="rId20" Type="http://schemas.openxmlformats.org/officeDocument/2006/relationships/slide" Target="slides/slide15.xml"/><Relationship Id="rId64" Type="http://schemas.openxmlformats.org/officeDocument/2006/relationships/font" Target="fonts/RobotoMono-bold.fntdata"/><Relationship Id="rId63" Type="http://schemas.openxmlformats.org/officeDocument/2006/relationships/font" Target="fonts/RobotoMono-regular.fntdata"/><Relationship Id="rId22" Type="http://schemas.openxmlformats.org/officeDocument/2006/relationships/slide" Target="slides/slide17.xml"/><Relationship Id="rId66" Type="http://schemas.openxmlformats.org/officeDocument/2006/relationships/font" Target="fonts/RobotoMono-boldItalic.fntdata"/><Relationship Id="rId21" Type="http://schemas.openxmlformats.org/officeDocument/2006/relationships/slide" Target="slides/slide16.xml"/><Relationship Id="rId65" Type="http://schemas.openxmlformats.org/officeDocument/2006/relationships/font" Target="fonts/RobotoMono-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obotoLight-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italic.fntdata"/><Relationship Id="rId50" Type="http://schemas.openxmlformats.org/officeDocument/2006/relationships/font" Target="fonts/Roboto-bold.fntdata"/><Relationship Id="rId53" Type="http://schemas.openxmlformats.org/officeDocument/2006/relationships/font" Target="fonts/RobotoMedium-regular.fntdata"/><Relationship Id="rId52" Type="http://schemas.openxmlformats.org/officeDocument/2006/relationships/font" Target="fonts/Roboto-boldItalic.fntdata"/><Relationship Id="rId11" Type="http://schemas.openxmlformats.org/officeDocument/2006/relationships/slide" Target="slides/slide6.xml"/><Relationship Id="rId55" Type="http://schemas.openxmlformats.org/officeDocument/2006/relationships/font" Target="fonts/RobotoMedium-italic.fntdata"/><Relationship Id="rId10" Type="http://schemas.openxmlformats.org/officeDocument/2006/relationships/slide" Target="slides/slide5.xml"/><Relationship Id="rId54" Type="http://schemas.openxmlformats.org/officeDocument/2006/relationships/font" Target="fonts/RobotoMedium-bold.fntdata"/><Relationship Id="rId13" Type="http://schemas.openxmlformats.org/officeDocument/2006/relationships/slide" Target="slides/slide8.xml"/><Relationship Id="rId57" Type="http://schemas.openxmlformats.org/officeDocument/2006/relationships/font" Target="fonts/Inconsolata-regular.fntdata"/><Relationship Id="rId12" Type="http://schemas.openxmlformats.org/officeDocument/2006/relationships/slide" Target="slides/slide7.xml"/><Relationship Id="rId56" Type="http://schemas.openxmlformats.org/officeDocument/2006/relationships/font" Target="fonts/RobotoMedium-boldItalic.fntdata"/><Relationship Id="rId15" Type="http://schemas.openxmlformats.org/officeDocument/2006/relationships/slide" Target="slides/slide10.xml"/><Relationship Id="rId59" Type="http://schemas.openxmlformats.org/officeDocument/2006/relationships/font" Target="fonts/RobotoLight-regular.fntdata"/><Relationship Id="rId14" Type="http://schemas.openxmlformats.org/officeDocument/2006/relationships/slide" Target="slides/slide9.xml"/><Relationship Id="rId58" Type="http://schemas.openxmlformats.org/officeDocument/2006/relationships/font" Target="fonts/Inconsolata-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eb00afe1db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eb00afe1db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f1d36ad7c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2f1d36ad7c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f0136018fe_0_2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f0136018fe_0_2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f2c586782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2f2c586782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f2c5867828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f2c5867828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f2c5867828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g2f2c5867828_1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ec649b311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ec649b311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f2ee463b7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f2ee463b7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f2ee463b77_0_8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2f2ee463b77_0_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f2ee463b77_0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2f2ee463b77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2f2ee463b77_0_1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9" name="Google Shape;479;g2f2ee463b77_0_18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f2ee463b77_0_3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2f2ee463b77_0_3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2f2ee463b77_0_3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2f2ee463b77_0_3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2f303d877e8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2f303d877e8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f2ee463b77_0_4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f2ee463b77_0_4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shutterstock_547734148</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2f2ee463b77_0_6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2f2ee463b77_0_6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2f2ee463b77_0_5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2f2ee463b77_0_5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2f2ee463b77_0_6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2f2ee463b77_0_6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2f2ee463b77_0_3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2f2ee463b77_0_3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2f2ee463b77_0_7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2f2ee463b77_0_7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2f2ee463b77_0_7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2f2ee463b77_0_7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2f2ee463b77_0_7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2f2ee463b77_0_7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2f2ee463b77_0_7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2f2ee463b77_0_7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2f2ee463b77_0_80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2f2ee463b77_0_80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2f2ee463b77_0_80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2f2ee463b77_0_80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2f2ee463b77_0_80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2f2ee463b77_0_80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2f303d877e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2f303d877e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2f303d877e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2f303d877e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2f303d877e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2f303d877e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2f303d877e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2f303d877e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2f303d877e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2f303d877e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2f303d877e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2f303d877e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2f303d877e8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2f303d877e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2f303d877e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2f303d877e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2f303d877e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2f303d877e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2f303d877e8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2f303d877e8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2f303d877e8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2f303d877e8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2f303d877e8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2f303d877e8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2f303d877e8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2f303d877e8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2f303d877e8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2f303d877e8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2f042419d73_0_100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9" name="Google Shape;719;g2f042419d73_0_100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2f0136018fe_0_2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2f0136018fe_0_2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ec649b3119_0_1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ec649b3119_0_1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2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2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p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p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p13"/>
          <p:cNvCxnSpPr/>
          <p:nvPr/>
        </p:nvCxnSpPr>
        <p:spPr>
          <a:xfrm>
            <a:off x="45706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p13"/>
          <p:cNvCxnSpPr/>
          <p:nvPr/>
        </p:nvCxnSpPr>
        <p:spPr>
          <a:xfrm>
            <a:off x="4580627" y="18235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p13"/>
          <p:cNvSpPr txBox="1"/>
          <p:nvPr>
            <p:ph type="title"/>
          </p:nvPr>
        </p:nvSpPr>
        <p:spPr>
          <a:xfrm>
            <a:off x="45707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p13"/>
          <p:cNvSpPr txBox="1"/>
          <p:nvPr>
            <p:ph idx="1" type="subTitle"/>
          </p:nvPr>
        </p:nvSpPr>
        <p:spPr>
          <a:xfrm>
            <a:off x="45720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p13"/>
          <p:cNvSpPr txBox="1"/>
          <p:nvPr>
            <p:ph idx="2" type="subTitle"/>
          </p:nvPr>
        </p:nvSpPr>
        <p:spPr>
          <a:xfrm>
            <a:off x="4572000" y="28820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p13"/>
          <p:cNvSpPr txBox="1"/>
          <p:nvPr/>
        </p:nvSpPr>
        <p:spPr>
          <a:xfrm>
            <a:off x="6058325" y="3097550"/>
            <a:ext cx="3095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sp>
        <p:nvSpPr>
          <p:cNvPr id="104" name="Google Shape;104;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5" name="Shape 105"/>
        <p:cNvGrpSpPr/>
        <p:nvPr/>
      </p:nvGrpSpPr>
      <p:grpSpPr>
        <a:xfrm>
          <a:off x="0" y="0"/>
          <a:ext cx="0" cy="0"/>
          <a:chOff x="0" y="0"/>
          <a:chExt cx="0" cy="0"/>
        </a:xfrm>
      </p:grpSpPr>
      <p:sp>
        <p:nvSpPr>
          <p:cNvPr id="106" name="Google Shape;106;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7" name="Google Shape;107;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9" name="Shape 109"/>
        <p:cNvGrpSpPr/>
        <p:nvPr/>
      </p:nvGrpSpPr>
      <p:grpSpPr>
        <a:xfrm>
          <a:off x="0" y="0"/>
          <a:ext cx="0" cy="0"/>
          <a:chOff x="0" y="0"/>
          <a:chExt cx="0" cy="0"/>
        </a:xfrm>
      </p:grpSpPr>
      <p:sp>
        <p:nvSpPr>
          <p:cNvPr id="110" name="Google Shape;110;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1" name="Google Shape;111;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3" name="Google Shape;113;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4" name="Shape 114"/>
        <p:cNvGrpSpPr/>
        <p:nvPr/>
      </p:nvGrpSpPr>
      <p:grpSpPr>
        <a:xfrm>
          <a:off x="0" y="0"/>
          <a:ext cx="0" cy="0"/>
          <a:chOff x="0" y="0"/>
          <a:chExt cx="0" cy="0"/>
        </a:xfrm>
      </p:grpSpPr>
      <p:sp>
        <p:nvSpPr>
          <p:cNvPr id="115" name="Google Shape;115;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6" name="Google Shape;116;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7" name="Google Shape;117;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 name="Google Shape;118;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9" name="Google Shape;119;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20" name="Shape 120"/>
        <p:cNvGrpSpPr/>
        <p:nvPr/>
      </p:nvGrpSpPr>
      <p:grpSpPr>
        <a:xfrm>
          <a:off x="0" y="0"/>
          <a:ext cx="0" cy="0"/>
          <a:chOff x="0" y="0"/>
          <a:chExt cx="0" cy="0"/>
        </a:xfrm>
      </p:grpSpPr>
      <p:sp>
        <p:nvSpPr>
          <p:cNvPr id="121" name="Google Shape;121;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2" name="Google Shape;122;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3" name="Google Shape;123;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4" name="Google Shape;124;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5" name="Shape 125"/>
        <p:cNvGrpSpPr/>
        <p:nvPr/>
      </p:nvGrpSpPr>
      <p:grpSpPr>
        <a:xfrm>
          <a:off x="0" y="0"/>
          <a:ext cx="0" cy="0"/>
          <a:chOff x="0" y="0"/>
          <a:chExt cx="0" cy="0"/>
        </a:xfrm>
      </p:grpSpPr>
      <p:sp>
        <p:nvSpPr>
          <p:cNvPr id="126" name="Google Shape;126;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7" name="Google Shape;127;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8" name="Google Shape;128;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30" name="Shape 130"/>
        <p:cNvGrpSpPr/>
        <p:nvPr/>
      </p:nvGrpSpPr>
      <p:grpSpPr>
        <a:xfrm>
          <a:off x="0" y="0"/>
          <a:ext cx="0" cy="0"/>
          <a:chOff x="0" y="0"/>
          <a:chExt cx="0" cy="0"/>
        </a:xfrm>
      </p:grpSpPr>
      <p:sp>
        <p:nvSpPr>
          <p:cNvPr id="131" name="Google Shape;131;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2" name="Google Shape;132;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3" name="Shape 133"/>
        <p:cNvGrpSpPr/>
        <p:nvPr/>
      </p:nvGrpSpPr>
      <p:grpSpPr>
        <a:xfrm>
          <a:off x="0" y="0"/>
          <a:ext cx="0" cy="0"/>
          <a:chOff x="0" y="0"/>
          <a:chExt cx="0" cy="0"/>
        </a:xfrm>
      </p:grpSpPr>
      <p:sp>
        <p:nvSpPr>
          <p:cNvPr id="134" name="Google Shape;134;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5" name="Google Shape;135;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6" name="Shape 136"/>
        <p:cNvGrpSpPr/>
        <p:nvPr/>
      </p:nvGrpSpPr>
      <p:grpSpPr>
        <a:xfrm>
          <a:off x="0" y="0"/>
          <a:ext cx="0" cy="0"/>
          <a:chOff x="0" y="0"/>
          <a:chExt cx="0" cy="0"/>
        </a:xfrm>
      </p:grpSpPr>
      <p:sp>
        <p:nvSpPr>
          <p:cNvPr id="137" name="Google Shape;137;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8" name="Google Shape;138;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9" name="Shape 139"/>
        <p:cNvGrpSpPr/>
        <p:nvPr/>
      </p:nvGrpSpPr>
      <p:grpSpPr>
        <a:xfrm>
          <a:off x="0" y="0"/>
          <a:ext cx="0" cy="0"/>
          <a:chOff x="0" y="0"/>
          <a:chExt cx="0" cy="0"/>
        </a:xfrm>
      </p:grpSpPr>
      <p:pic>
        <p:nvPicPr>
          <p:cNvPr id="140" name="Google Shape;140;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1" name="Google Shape;141;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up!</a:t>
            </a:r>
            <a:endParaRPr b="0" i="0" sz="4000" u="none" cap="none" strike="noStrike">
              <a:solidFill>
                <a:schemeClr val="lt1"/>
              </a:solidFill>
              <a:latin typeface="Roboto"/>
              <a:ea typeface="Roboto"/>
              <a:cs typeface="Roboto"/>
              <a:sym typeface="Roboto"/>
            </a:endParaRPr>
          </a:p>
        </p:txBody>
      </p:sp>
      <p:sp>
        <p:nvSpPr>
          <p:cNvPr id="142" name="Google Shape;142;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3" name="Shape 143"/>
        <p:cNvGrpSpPr/>
        <p:nvPr/>
      </p:nvGrpSpPr>
      <p:grpSpPr>
        <a:xfrm>
          <a:off x="0" y="0"/>
          <a:ext cx="0" cy="0"/>
          <a:chOff x="0" y="0"/>
          <a:chExt cx="0" cy="0"/>
        </a:xfrm>
      </p:grpSpPr>
      <p:pic>
        <p:nvPicPr>
          <p:cNvPr id="144" name="Google Shape;144;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5" name="Google Shape;145;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6" name="Google Shape;146;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7" name="Shape 147"/>
        <p:cNvGrpSpPr/>
        <p:nvPr/>
      </p:nvGrpSpPr>
      <p:grpSpPr>
        <a:xfrm>
          <a:off x="0" y="0"/>
          <a:ext cx="0" cy="0"/>
          <a:chOff x="0" y="0"/>
          <a:chExt cx="0" cy="0"/>
        </a:xfrm>
      </p:grpSpPr>
      <p:pic>
        <p:nvPicPr>
          <p:cNvPr id="148" name="Google Shape;148;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9" name="Google Shape;149;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50" name="Shape 150"/>
        <p:cNvGrpSpPr/>
        <p:nvPr/>
      </p:nvGrpSpPr>
      <p:grpSpPr>
        <a:xfrm>
          <a:off x="0" y="0"/>
          <a:ext cx="0" cy="0"/>
          <a:chOff x="0" y="0"/>
          <a:chExt cx="0" cy="0"/>
        </a:xfrm>
      </p:grpSpPr>
      <p:pic>
        <p:nvPicPr>
          <p:cNvPr id="151" name="Google Shape;151;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2" name="Google Shape;152;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3" name="Shape 153"/>
        <p:cNvGrpSpPr/>
        <p:nvPr/>
      </p:nvGrpSpPr>
      <p:grpSpPr>
        <a:xfrm>
          <a:off x="0" y="0"/>
          <a:ext cx="0" cy="0"/>
          <a:chOff x="0" y="0"/>
          <a:chExt cx="0" cy="0"/>
        </a:xfrm>
      </p:grpSpPr>
      <p:pic>
        <p:nvPicPr>
          <p:cNvPr id="154" name="Google Shape;154;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5" name="Google Shape;155;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recap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6" name="Shape 156"/>
        <p:cNvGrpSpPr/>
        <p:nvPr/>
      </p:nvGrpSpPr>
      <p:grpSpPr>
        <a:xfrm>
          <a:off x="0" y="0"/>
          <a:ext cx="0" cy="0"/>
          <a:chOff x="0" y="0"/>
          <a:chExt cx="0" cy="0"/>
        </a:xfrm>
      </p:grpSpPr>
      <p:pic>
        <p:nvPicPr>
          <p:cNvPr id="157" name="Google Shape;157;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8" name="Google Shape;158;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9" name="Google Shape;159;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60" name="Shape 160"/>
        <p:cNvGrpSpPr/>
        <p:nvPr/>
      </p:nvGrpSpPr>
      <p:grpSpPr>
        <a:xfrm>
          <a:off x="0" y="0"/>
          <a:ext cx="0" cy="0"/>
          <a:chOff x="0" y="0"/>
          <a:chExt cx="0" cy="0"/>
        </a:xfrm>
      </p:grpSpPr>
      <p:sp>
        <p:nvSpPr>
          <p:cNvPr id="161" name="Google Shape;161;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2" name="Google Shape;162;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3" name="Google Shape;163;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4" name="Shape 164"/>
        <p:cNvGrpSpPr/>
        <p:nvPr/>
      </p:nvGrpSpPr>
      <p:grpSpPr>
        <a:xfrm>
          <a:off x="0" y="0"/>
          <a:ext cx="0" cy="0"/>
          <a:chOff x="0" y="0"/>
          <a:chExt cx="0" cy="0"/>
        </a:xfrm>
      </p:grpSpPr>
      <p:sp>
        <p:nvSpPr>
          <p:cNvPr id="165" name="Google Shape;165;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you</a:t>
            </a:r>
            <a:endParaRPr b="0" i="0" sz="4000" u="none" cap="none" strike="noStrike">
              <a:solidFill>
                <a:schemeClr val="lt1"/>
              </a:solidFill>
              <a:latin typeface="Roboto"/>
              <a:ea typeface="Roboto"/>
              <a:cs typeface="Roboto"/>
              <a:sym typeface="Roboto"/>
            </a:endParaRPr>
          </a:p>
        </p:txBody>
      </p:sp>
      <p:pic>
        <p:nvPicPr>
          <p:cNvPr id="166" name="Google Shape;166;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7" name="Shape 167"/>
        <p:cNvGrpSpPr/>
        <p:nvPr/>
      </p:nvGrpSpPr>
      <p:grpSpPr>
        <a:xfrm>
          <a:off x="0" y="0"/>
          <a:ext cx="0" cy="0"/>
          <a:chOff x="0" y="0"/>
          <a:chExt cx="0" cy="0"/>
        </a:xfrm>
      </p:grpSpPr>
      <p:sp>
        <p:nvSpPr>
          <p:cNvPr id="168" name="Google Shape;168;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9" name="Google Shape;169;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70" name="Google Shape;170;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1" name="Google Shape;171;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2" name="Google Shape;172;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4" name="Google Shape;174;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5" name="Google Shape;175;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6" name="Google Shape;176;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7" name="Shape 177"/>
        <p:cNvGrpSpPr/>
        <p:nvPr/>
      </p:nvGrpSpPr>
      <p:grpSpPr>
        <a:xfrm>
          <a:off x="0" y="0"/>
          <a:ext cx="0" cy="0"/>
          <a:chOff x="0" y="0"/>
          <a:chExt cx="0" cy="0"/>
        </a:xfrm>
      </p:grpSpPr>
      <p:sp>
        <p:nvSpPr>
          <p:cNvPr id="178" name="Google Shape;178;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9" name="Google Shape;179;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0" name="Google Shape;180;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1" name="Google Shape;181;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2" name="Shape 182"/>
        <p:cNvGrpSpPr/>
        <p:nvPr/>
      </p:nvGrpSpPr>
      <p:grpSpPr>
        <a:xfrm>
          <a:off x="0" y="0"/>
          <a:ext cx="0" cy="0"/>
          <a:chOff x="0" y="0"/>
          <a:chExt cx="0" cy="0"/>
        </a:xfrm>
      </p:grpSpPr>
      <p:sp>
        <p:nvSpPr>
          <p:cNvPr id="183" name="Google Shape;183;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4" name="Shape 184"/>
        <p:cNvGrpSpPr/>
        <p:nvPr/>
      </p:nvGrpSpPr>
      <p:grpSpPr>
        <a:xfrm>
          <a:off x="0" y="0"/>
          <a:ext cx="0" cy="0"/>
          <a:chOff x="0" y="0"/>
          <a:chExt cx="0" cy="0"/>
        </a:xfrm>
      </p:grpSpPr>
      <p:cxnSp>
        <p:nvCxnSpPr>
          <p:cNvPr id="185" name="Google Shape;185;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6" name="Google Shape;186;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7" name="Google Shape;187;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8" name="Google Shape;188;p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9" name="Google Shape;189;p3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90" name="Shape 190"/>
        <p:cNvGrpSpPr/>
        <p:nvPr/>
      </p:nvGrpSpPr>
      <p:grpSpPr>
        <a:xfrm>
          <a:off x="0" y="0"/>
          <a:ext cx="0" cy="0"/>
          <a:chOff x="0" y="0"/>
          <a:chExt cx="0" cy="0"/>
        </a:xfrm>
      </p:grpSpPr>
      <p:cxnSp>
        <p:nvCxnSpPr>
          <p:cNvPr id="191" name="Google Shape;191;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2" name="Google Shape;192;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3" name="Google Shape;193;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4" name="Google Shape;194;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5" name="Google Shape;195;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5" name="Google Shape;205;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8" name="Google Shape;208;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9" name="Google Shape;209;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10" name="Google Shape;210;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1" name="Shape 211"/>
        <p:cNvGrpSpPr/>
        <p:nvPr/>
      </p:nvGrpSpPr>
      <p:grpSpPr>
        <a:xfrm>
          <a:off x="0" y="0"/>
          <a:ext cx="0" cy="0"/>
          <a:chOff x="0" y="0"/>
          <a:chExt cx="0" cy="0"/>
        </a:xfrm>
      </p:grpSpPr>
      <p:cxnSp>
        <p:nvCxnSpPr>
          <p:cNvPr id="212" name="Google Shape;212;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3" name="Google Shape;213;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4" name="Google Shape;214;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5" name="Google Shape;215;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6" name="Google Shape;216;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7" name="Shape 217"/>
        <p:cNvGrpSpPr/>
        <p:nvPr/>
      </p:nvGrpSpPr>
      <p:grpSpPr>
        <a:xfrm>
          <a:off x="0" y="0"/>
          <a:ext cx="0" cy="0"/>
          <a:chOff x="0" y="0"/>
          <a:chExt cx="0" cy="0"/>
        </a:xfrm>
      </p:grpSpPr>
      <p:cxnSp>
        <p:nvCxnSpPr>
          <p:cNvPr id="218" name="Google Shape;218;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9" name="Google Shape;219;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0" name="Google Shape;220;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1" name="Google Shape;221;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1" name="Google Shape;231;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4" name="Google Shape;234;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5" name="Google Shape;235;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6" name="Google Shape;236;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7" name="Google Shape;237;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8" name="Shape 238"/>
        <p:cNvGrpSpPr/>
        <p:nvPr/>
      </p:nvGrpSpPr>
      <p:grpSpPr>
        <a:xfrm>
          <a:off x="0" y="0"/>
          <a:ext cx="0" cy="0"/>
          <a:chOff x="0" y="0"/>
          <a:chExt cx="0" cy="0"/>
        </a:xfrm>
      </p:grpSpPr>
      <p:sp>
        <p:nvSpPr>
          <p:cNvPr id="239" name="Google Shape;239;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8" name="Google Shape;248;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9" name="Google Shape;249;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50" name="Google Shape;250;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1" name="Google Shape;251;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2" name="Google Shape;252;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3" name="Google Shape;253;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4" name="Google Shape;254;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3" name="Google Shape;263;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4" name="Shape 264"/>
        <p:cNvGrpSpPr/>
        <p:nvPr/>
      </p:nvGrpSpPr>
      <p:grpSpPr>
        <a:xfrm>
          <a:off x="0" y="0"/>
          <a:ext cx="0" cy="0"/>
          <a:chOff x="0" y="0"/>
          <a:chExt cx="0" cy="0"/>
        </a:xfrm>
      </p:grpSpPr>
      <p:sp>
        <p:nvSpPr>
          <p:cNvPr id="265" name="Google Shape;265;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7" name="Google Shape;267;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8" name="Google Shape;268;p3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9" name="Google Shape;269;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0" name="Google Shape;270;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1" name="Google Shape;271;p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2" name="Google Shape;272;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3" name="Google Shape;273;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4" name="Shape 274"/>
        <p:cNvGrpSpPr/>
        <p:nvPr/>
      </p:nvGrpSpPr>
      <p:grpSpPr>
        <a:xfrm>
          <a:off x="0" y="0"/>
          <a:ext cx="0" cy="0"/>
          <a:chOff x="0" y="0"/>
          <a:chExt cx="0" cy="0"/>
        </a:xfrm>
      </p:grpSpPr>
      <p:sp>
        <p:nvSpPr>
          <p:cNvPr id="275" name="Google Shape;275;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7" name="Google Shape;277;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8" name="Google Shape;278;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9" name="Google Shape;279;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80" name="Google Shape;280;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1" name="Google Shape;281;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2" name="Google Shape;282;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3" name="Google Shape;283;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4" name="Shape 284"/>
        <p:cNvGrpSpPr/>
        <p:nvPr/>
      </p:nvGrpSpPr>
      <p:grpSpPr>
        <a:xfrm>
          <a:off x="0" y="0"/>
          <a:ext cx="0" cy="0"/>
          <a:chOff x="0" y="0"/>
          <a:chExt cx="0" cy="0"/>
        </a:xfrm>
      </p:grpSpPr>
      <p:sp>
        <p:nvSpPr>
          <p:cNvPr id="285" name="Google Shape;285;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7" name="Google Shape;287;p40"/>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288" name="Google Shape;288;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9" name="Shape 289"/>
        <p:cNvGrpSpPr/>
        <p:nvPr/>
      </p:nvGrpSpPr>
      <p:grpSpPr>
        <a:xfrm>
          <a:off x="0" y="0"/>
          <a:ext cx="0" cy="0"/>
          <a:chOff x="0" y="0"/>
          <a:chExt cx="0" cy="0"/>
        </a:xfrm>
      </p:grpSpPr>
      <p:sp>
        <p:nvSpPr>
          <p:cNvPr id="290" name="Google Shape;290;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1" name="Google Shape;291;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2" name="Google Shape;292;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3" name="Google Shape;293;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4" name="Shape 294"/>
        <p:cNvGrpSpPr/>
        <p:nvPr/>
      </p:nvGrpSpPr>
      <p:grpSpPr>
        <a:xfrm>
          <a:off x="0" y="0"/>
          <a:ext cx="0" cy="0"/>
          <a:chOff x="0" y="0"/>
          <a:chExt cx="0" cy="0"/>
        </a:xfrm>
      </p:grpSpPr>
      <p:sp>
        <p:nvSpPr>
          <p:cNvPr id="295" name="Google Shape;295;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6" name="Google Shape;296;p42"/>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297" name="Google Shape;297;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8" name="Google Shape;298;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9" name="Shape 299"/>
        <p:cNvGrpSpPr/>
        <p:nvPr/>
      </p:nvGrpSpPr>
      <p:grpSpPr>
        <a:xfrm>
          <a:off x="0" y="0"/>
          <a:ext cx="0" cy="0"/>
          <a:chOff x="0" y="0"/>
          <a:chExt cx="0" cy="0"/>
        </a:xfrm>
      </p:grpSpPr>
      <p:sp>
        <p:nvSpPr>
          <p:cNvPr id="300" name="Google Shape;300;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1" name="Google Shape;301;p43"/>
          <p:cNvGrpSpPr/>
          <p:nvPr/>
        </p:nvGrpSpPr>
        <p:grpSpPr>
          <a:xfrm>
            <a:off x="1074625" y="2258150"/>
            <a:ext cx="1473491" cy="980288"/>
            <a:chOff x="1074625" y="2258150"/>
            <a:chExt cx="1473491" cy="980288"/>
          </a:xfrm>
        </p:grpSpPr>
        <p:sp>
          <p:nvSpPr>
            <p:cNvPr id="302" name="Google Shape;302;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4" name="Google Shape;304;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5" name="Google Shape;305;p43"/>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306" name="Google Shape;306;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7" name="Shape 307"/>
        <p:cNvGrpSpPr/>
        <p:nvPr/>
      </p:nvGrpSpPr>
      <p:grpSpPr>
        <a:xfrm>
          <a:off x="0" y="0"/>
          <a:ext cx="0" cy="0"/>
          <a:chOff x="0" y="0"/>
          <a:chExt cx="0" cy="0"/>
        </a:xfrm>
      </p:grpSpPr>
      <p:sp>
        <p:nvSpPr>
          <p:cNvPr id="308" name="Google Shape;308;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9" name="Google Shape;309;p44"/>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310" name="Google Shape;310;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1" name="Google Shape;311;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2" name="Shape 312"/>
        <p:cNvGrpSpPr/>
        <p:nvPr/>
      </p:nvGrpSpPr>
      <p:grpSpPr>
        <a:xfrm>
          <a:off x="0" y="0"/>
          <a:ext cx="0" cy="0"/>
          <a:chOff x="0" y="0"/>
          <a:chExt cx="0" cy="0"/>
        </a:xfrm>
      </p:grpSpPr>
      <p:sp>
        <p:nvSpPr>
          <p:cNvPr id="313" name="Google Shape;313;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7" name="Google Shape;317;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8" name="Google Shape;318;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9" name="Shape 319"/>
        <p:cNvGrpSpPr/>
        <p:nvPr/>
      </p:nvGrpSpPr>
      <p:grpSpPr>
        <a:xfrm>
          <a:off x="0" y="0"/>
          <a:ext cx="0" cy="0"/>
          <a:chOff x="0" y="0"/>
          <a:chExt cx="0" cy="0"/>
        </a:xfrm>
      </p:grpSpPr>
      <p:sp>
        <p:nvSpPr>
          <p:cNvPr id="320" name="Google Shape;320;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1" name="Google Shape;321;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2" name="Google Shape;322;p46"/>
          <p:cNvGrpSpPr/>
          <p:nvPr/>
        </p:nvGrpSpPr>
        <p:grpSpPr>
          <a:xfrm>
            <a:off x="3972318" y="1206125"/>
            <a:ext cx="1051285" cy="920372"/>
            <a:chOff x="587700" y="-13400"/>
            <a:chExt cx="5735325" cy="5021125"/>
          </a:xfrm>
        </p:grpSpPr>
        <p:sp>
          <p:nvSpPr>
            <p:cNvPr id="323" name="Google Shape;323;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8" name="Google Shape;328;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9" name="Google Shape;329;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0" name="Shape 33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31" name="Shape 331"/>
        <p:cNvGrpSpPr/>
        <p:nvPr/>
      </p:nvGrpSpPr>
      <p:grpSpPr>
        <a:xfrm>
          <a:off x="0" y="0"/>
          <a:ext cx="0" cy="0"/>
          <a:chOff x="0" y="0"/>
          <a:chExt cx="0" cy="0"/>
        </a:xfrm>
      </p:grpSpPr>
      <p:sp>
        <p:nvSpPr>
          <p:cNvPr id="332" name="Google Shape;332;p4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3" name="Google Shape;333;p48"/>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334" name="Google Shape;33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1 1 1">
  <p:cSld name="CUSTOM_22_1_1_1">
    <p:bg>
      <p:bgPr>
        <a:solidFill>
          <a:schemeClr val="lt2"/>
        </a:solidFill>
      </p:bgPr>
    </p:bg>
    <p:spTree>
      <p:nvGrpSpPr>
        <p:cNvPr id="335" name="Shape 335"/>
        <p:cNvGrpSpPr/>
        <p:nvPr/>
      </p:nvGrpSpPr>
      <p:grpSpPr>
        <a:xfrm>
          <a:off x="0" y="0"/>
          <a:ext cx="0" cy="0"/>
          <a:chOff x="0" y="0"/>
          <a:chExt cx="0" cy="0"/>
        </a:xfrm>
      </p:grpSpPr>
      <p:pic>
        <p:nvPicPr>
          <p:cNvPr id="336" name="Google Shape;336;p49"/>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37" name="Google Shape;337;p49"/>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338" name="Google Shape;338;p49"/>
          <p:cNvSpPr/>
          <p:nvPr/>
        </p:nvSpPr>
        <p:spPr>
          <a:xfrm flipH="1" rot="10800000">
            <a:off x="688800" y="692100"/>
            <a:ext cx="7766400" cy="3759300"/>
          </a:xfrm>
          <a:prstGeom prst="bracePair">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39" name="Google Shape;339;p49"/>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49"/>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Clr>
                <a:schemeClr val="dk2"/>
              </a:buClr>
              <a:buSzPts val="3400"/>
              <a:buNone/>
              <a:defRPr sz="3400">
                <a:solidFill>
                  <a:schemeClr val="dk2"/>
                </a:solidFill>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p:cSld name="CUSTOM_2_7_2_2">
    <p:spTree>
      <p:nvGrpSpPr>
        <p:cNvPr id="341" name="Shape 341"/>
        <p:cNvGrpSpPr/>
        <p:nvPr/>
      </p:nvGrpSpPr>
      <p:grpSpPr>
        <a:xfrm>
          <a:off x="0" y="0"/>
          <a:ext cx="0" cy="0"/>
          <a:chOff x="0" y="0"/>
          <a:chExt cx="0" cy="0"/>
        </a:xfrm>
      </p:grpSpPr>
      <p:sp>
        <p:nvSpPr>
          <p:cNvPr id="342" name="Google Shape;342;p50"/>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3" name="Google Shape;343;p50"/>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4" name="Google Shape;344;p50"/>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45" name="Google Shape;345;p50"/>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46" name="Google Shape;346;p50"/>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7" name="Google Shape;347;p50"/>
          <p:cNvSpPr txBox="1"/>
          <p:nvPr>
            <p:ph idx="3" type="body"/>
          </p:nvPr>
        </p:nvSpPr>
        <p:spPr>
          <a:xfrm>
            <a:off x="175" y="1284250"/>
            <a:ext cx="9144000" cy="36222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24">
    <p:spTree>
      <p:nvGrpSpPr>
        <p:cNvPr id="348" name="Shape 348"/>
        <p:cNvGrpSpPr/>
        <p:nvPr/>
      </p:nvGrpSpPr>
      <p:grpSpPr>
        <a:xfrm>
          <a:off x="0" y="0"/>
          <a:ext cx="0" cy="0"/>
          <a:chOff x="0" y="0"/>
          <a:chExt cx="0" cy="0"/>
        </a:xfrm>
      </p:grpSpPr>
      <p:sp>
        <p:nvSpPr>
          <p:cNvPr id="349" name="Google Shape;349;p5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2">
  <p:cSld name="CUSTOM_2_7_2_5">
    <p:spTree>
      <p:nvGrpSpPr>
        <p:cNvPr id="350" name="Shape 350"/>
        <p:cNvGrpSpPr/>
        <p:nvPr/>
      </p:nvGrpSpPr>
      <p:grpSpPr>
        <a:xfrm>
          <a:off x="0" y="0"/>
          <a:ext cx="0" cy="0"/>
          <a:chOff x="0" y="0"/>
          <a:chExt cx="0" cy="0"/>
        </a:xfrm>
      </p:grpSpPr>
      <p:sp>
        <p:nvSpPr>
          <p:cNvPr id="351" name="Google Shape;351;p52"/>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2" name="Google Shape;352;p52"/>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53" name="Google Shape;353;p52"/>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54" name="Google Shape;354;p52"/>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55" name="Google Shape;355;p52"/>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56" name="Google Shape;356;p52"/>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7" name="Google Shape;357;p52"/>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Only">
  <p:cSld name="CUSTOM_2_7_2_6">
    <p:spTree>
      <p:nvGrpSpPr>
        <p:cNvPr id="358" name="Shape 358"/>
        <p:cNvGrpSpPr/>
        <p:nvPr/>
      </p:nvGrpSpPr>
      <p:grpSpPr>
        <a:xfrm>
          <a:off x="0" y="0"/>
          <a:ext cx="0" cy="0"/>
          <a:chOff x="0" y="0"/>
          <a:chExt cx="0" cy="0"/>
        </a:xfrm>
      </p:grpSpPr>
      <p:sp>
        <p:nvSpPr>
          <p:cNvPr id="359" name="Google Shape;359;p53"/>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60" name="Google Shape;360;p53"/>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61" name="Google Shape;361;p53"/>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62" name="Google Shape;362;p53"/>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63" name="Google Shape;363;p53"/>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64" name="Google Shape;364;p53"/>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65" name="Google Shape;365;p53"/>
          <p:cNvSpPr txBox="1"/>
          <p:nvPr>
            <p:ph idx="3" type="body"/>
          </p:nvPr>
        </p:nvSpPr>
        <p:spPr>
          <a:xfrm>
            <a:off x="175" y="1284250"/>
            <a:ext cx="9144000" cy="34074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366" name="Shape 366"/>
        <p:cNvGrpSpPr/>
        <p:nvPr/>
      </p:nvGrpSpPr>
      <p:grpSpPr>
        <a:xfrm>
          <a:off x="0" y="0"/>
          <a:ext cx="0" cy="0"/>
          <a:chOff x="0" y="0"/>
          <a:chExt cx="0" cy="0"/>
        </a:xfrm>
      </p:grpSpPr>
      <p:sp>
        <p:nvSpPr>
          <p:cNvPr id="367" name="Google Shape;367;p54"/>
          <p:cNvSpPr txBox="1"/>
          <p:nvPr>
            <p:ph idx="1" type="body"/>
          </p:nvPr>
        </p:nvSpPr>
        <p:spPr>
          <a:xfrm>
            <a:off x="590350" y="1121725"/>
            <a:ext cx="7933800" cy="33861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368" name="Google Shape;368;p5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marR="0" rtl="0" algn="r">
              <a:lnSpc>
                <a:spcPct val="100000"/>
              </a:lnSpc>
              <a:spcBef>
                <a:spcPts val="0"/>
              </a:spcBef>
              <a:spcAft>
                <a:spcPts val="0"/>
              </a:spcAft>
              <a:buClr>
                <a:srgbClr val="000000"/>
              </a:buClr>
              <a:buSzPts val="900"/>
              <a:buFont typeface="Arial"/>
              <a:buNone/>
            </a:pPr>
            <a:r>
              <a:t/>
            </a:r>
            <a:endParaRPr b="0" i="0" sz="900" u="none" cap="none" strike="noStrike">
              <a:solidFill>
                <a:srgbClr val="2E5E73"/>
              </a:solidFill>
              <a:latin typeface="Roboto"/>
              <a:ea typeface="Roboto"/>
              <a:cs typeface="Roboto"/>
              <a:sym typeface="Roboto"/>
            </a:endParaRPr>
          </a:p>
        </p:txBody>
      </p:sp>
      <p:sp>
        <p:nvSpPr>
          <p:cNvPr id="369" name="Google Shape;369;p54"/>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0" name="Google Shape;370;p54"/>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7">
    <p:bg>
      <p:bgPr>
        <a:solidFill>
          <a:srgbClr val="FFFFFF"/>
        </a:solidFill>
      </p:bgPr>
    </p:bg>
    <p:spTree>
      <p:nvGrpSpPr>
        <p:cNvPr id="371" name="Shape 371"/>
        <p:cNvGrpSpPr/>
        <p:nvPr/>
      </p:nvGrpSpPr>
      <p:grpSpPr>
        <a:xfrm>
          <a:off x="0" y="0"/>
          <a:ext cx="0" cy="0"/>
          <a:chOff x="0" y="0"/>
          <a:chExt cx="0" cy="0"/>
        </a:xfrm>
      </p:grpSpPr>
      <p:sp>
        <p:nvSpPr>
          <p:cNvPr id="372" name="Google Shape;372;p55"/>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55"/>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4" name="Google Shape;374;p55"/>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75" name="Google Shape;375;p55"/>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55"/>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7" name="Google Shape;377;p55"/>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Roboto"/>
              <a:ea typeface="Roboto"/>
              <a:cs typeface="Roboto"/>
              <a:sym typeface="Roboto"/>
            </a:endParaRPr>
          </a:p>
        </p:txBody>
      </p:sp>
      <p:sp>
        <p:nvSpPr>
          <p:cNvPr id="378" name="Google Shape;378;p55"/>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55"/>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80" name="Google Shape;380;p55"/>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Roboto Medium"/>
              <a:ea typeface="Roboto Medium"/>
              <a:cs typeface="Roboto Medium"/>
              <a:sym typeface="Roboto Medium"/>
            </a:endParaRPr>
          </a:p>
        </p:txBody>
      </p:sp>
      <p:sp>
        <p:nvSpPr>
          <p:cNvPr id="381" name="Google Shape;381;p55"/>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382" name="Google Shape;382;p55"/>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a:ea typeface="Roboto"/>
              <a:cs typeface="Roboto"/>
              <a:sym typeface="Roboto"/>
            </a:endParaRPr>
          </a:p>
        </p:txBody>
      </p:sp>
      <p:sp>
        <p:nvSpPr>
          <p:cNvPr id="383" name="Google Shape;383;p55"/>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84" name="Google Shape;384;p55"/>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p:cSld name="CUSTOM_2_7_2_3">
    <p:spTree>
      <p:nvGrpSpPr>
        <p:cNvPr id="385" name="Shape 385"/>
        <p:cNvGrpSpPr/>
        <p:nvPr/>
      </p:nvGrpSpPr>
      <p:grpSpPr>
        <a:xfrm>
          <a:off x="0" y="0"/>
          <a:ext cx="0" cy="0"/>
          <a:chOff x="0" y="0"/>
          <a:chExt cx="0" cy="0"/>
        </a:xfrm>
      </p:grpSpPr>
      <p:sp>
        <p:nvSpPr>
          <p:cNvPr id="386" name="Google Shape;386;p56"/>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7" name="Google Shape;387;p56"/>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88" name="Google Shape;388;p56"/>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89" name="Google Shape;389;p56"/>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90" name="Google Shape;390;p56"/>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91" name="Google Shape;391;p56"/>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92" name="Google Shape;392;p56"/>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56" Type="http://schemas.openxmlformats.org/officeDocument/2006/relationships/theme" Target="../theme/theme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36.png"/><Relationship Id="rId4" Type="http://schemas.openxmlformats.org/officeDocument/2006/relationships/image" Target="../media/image35.png"/><Relationship Id="rId5" Type="http://schemas.openxmlformats.org/officeDocument/2006/relationships/image" Target="../media/image3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8.xml"/><Relationship Id="rId3" Type="http://schemas.openxmlformats.org/officeDocument/2006/relationships/image" Target="../media/image30.png"/><Relationship Id="rId4" Type="http://schemas.openxmlformats.org/officeDocument/2006/relationships/image" Target="../media/image32.png"/><Relationship Id="rId5" Type="http://schemas.openxmlformats.org/officeDocument/2006/relationships/image" Target="../media/image4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4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1.xml"/><Relationship Id="rId3" Type="http://schemas.openxmlformats.org/officeDocument/2006/relationships/image" Target="../media/image4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5.xml"/><Relationship Id="rId3" Type="http://schemas.openxmlformats.org/officeDocument/2006/relationships/image" Target="../media/image5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5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56.png"/><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6.xml"/><Relationship Id="rId3" Type="http://schemas.openxmlformats.org/officeDocument/2006/relationships/image" Target="../media/image47.png"/><Relationship Id="rId4" Type="http://schemas.openxmlformats.org/officeDocument/2006/relationships/image" Target="../media/image49.png"/><Relationship Id="rId5" Type="http://schemas.openxmlformats.org/officeDocument/2006/relationships/image" Target="../media/image4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Relationship Id="rId3" Type="http://schemas.openxmlformats.org/officeDocument/2006/relationships/image" Target="../media/image51.png"/><Relationship Id="rId4" Type="http://schemas.openxmlformats.org/officeDocument/2006/relationships/image" Target="../media/image43.png"/><Relationship Id="rId5"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54.png"/><Relationship Id="rId4" Type="http://schemas.openxmlformats.org/officeDocument/2006/relationships/image" Target="../media/image4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8.xml"/><Relationship Id="rId3"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1.xml"/><Relationship Id="rId3"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7"/>
          <p:cNvSpPr txBox="1"/>
          <p:nvPr>
            <p:ph type="title"/>
          </p:nvPr>
        </p:nvSpPr>
        <p:spPr>
          <a:xfrm>
            <a:off x="4570700" y="1804650"/>
            <a:ext cx="45579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Inconsolata"/>
                <a:ea typeface="Inconsolata"/>
                <a:cs typeface="Inconsolata"/>
                <a:sym typeface="Inconsolata"/>
              </a:rPr>
              <a:t>cron </a:t>
            </a:r>
            <a:r>
              <a:rPr lang="en"/>
              <a:t>and Scheduled Jobs</a:t>
            </a:r>
            <a:endParaRPr/>
          </a:p>
        </p:txBody>
      </p:sp>
      <p:sp>
        <p:nvSpPr>
          <p:cNvPr id="398" name="Google Shape;398;p57"/>
          <p:cNvSpPr txBox="1"/>
          <p:nvPr>
            <p:ph idx="1" type="subTitle"/>
          </p:nvPr>
        </p:nvSpPr>
        <p:spPr>
          <a:xfrm>
            <a:off x="4572000" y="1127800"/>
            <a:ext cx="4572000" cy="18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Cybersecurity</a:t>
            </a:r>
            <a:endParaRPr/>
          </a:p>
        </p:txBody>
      </p:sp>
      <p:sp>
        <p:nvSpPr>
          <p:cNvPr id="399" name="Google Shape;399;p57"/>
          <p:cNvSpPr txBox="1"/>
          <p:nvPr>
            <p:ph idx="2" type="subTitle"/>
          </p:nvPr>
        </p:nvSpPr>
        <p:spPr>
          <a:xfrm>
            <a:off x="4570700" y="3689200"/>
            <a:ext cx="4557900" cy="244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Lesson 5.2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8"/>
          <p:cNvSpPr txBox="1"/>
          <p:nvPr>
            <p:ph idx="3" type="body"/>
          </p:nvPr>
        </p:nvSpPr>
        <p:spPr>
          <a:xfrm>
            <a:off x="914400" y="1874287"/>
            <a:ext cx="7772400" cy="365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Write simple scripts for maintenance and security tasks.</a:t>
            </a:r>
            <a:endParaRPr/>
          </a:p>
        </p:txBody>
      </p:sp>
      <p:sp>
        <p:nvSpPr>
          <p:cNvPr id="405" name="Google Shape;405;p58"/>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Learning Objectives</a:t>
            </a:r>
            <a:endParaRPr/>
          </a:p>
        </p:txBody>
      </p:sp>
      <p:sp>
        <p:nvSpPr>
          <p:cNvPr id="406" name="Google Shape;406;p58"/>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Clr>
                <a:srgbClr val="000000"/>
              </a:buClr>
              <a:buSzPts val="1800"/>
              <a:buFont typeface="Arial"/>
              <a:buNone/>
            </a:pPr>
            <a:r>
              <a:rPr lang="en"/>
              <a:t>By the end of today’s class, you will be able to:</a:t>
            </a:r>
            <a:endParaRPr/>
          </a:p>
          <a:p>
            <a:pPr indent="0" lvl="0" marL="0" rtl="0" algn="l">
              <a:spcBef>
                <a:spcPts val="1200"/>
              </a:spcBef>
              <a:spcAft>
                <a:spcPts val="0"/>
              </a:spcAft>
              <a:buNone/>
            </a:pPr>
            <a:r>
              <a:t/>
            </a:r>
            <a:endParaRPr/>
          </a:p>
        </p:txBody>
      </p:sp>
      <p:sp>
        <p:nvSpPr>
          <p:cNvPr id="407" name="Google Shape;407;p58"/>
          <p:cNvSpPr txBox="1"/>
          <p:nvPr>
            <p:ph idx="2" type="body"/>
          </p:nvPr>
        </p:nvSpPr>
        <p:spPr>
          <a:xfrm>
            <a:off x="914400" y="1188750"/>
            <a:ext cx="7772400" cy="365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Schedule regular jobs for individual users with cronta</a:t>
            </a:r>
            <a:r>
              <a:rPr lang="en"/>
              <a:t>b.</a:t>
            </a:r>
            <a:endParaRPr/>
          </a:p>
        </p:txBody>
      </p:sp>
      <p:sp>
        <p:nvSpPr>
          <p:cNvPr id="408" name="Google Shape;408;p58"/>
          <p:cNvSpPr txBox="1"/>
          <p:nvPr>
            <p:ph idx="4" type="body"/>
          </p:nvPr>
        </p:nvSpPr>
        <p:spPr>
          <a:xfrm>
            <a:off x="914400" y="2559825"/>
            <a:ext cx="8172300" cy="365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Use </a:t>
            </a:r>
            <a:r>
              <a:rPr b="1" lang="en">
                <a:latin typeface="Inconsolata"/>
                <a:ea typeface="Inconsolata"/>
                <a:cs typeface="Inconsolata"/>
                <a:sym typeface="Inconsolata"/>
              </a:rPr>
              <a:t>cron</a:t>
            </a:r>
            <a:r>
              <a:rPr lang="en"/>
              <a:t> to automate the execution of security scripts</a:t>
            </a:r>
            <a:r>
              <a:rPr lang="en"/>
              <a:t> to perform maintenance.</a:t>
            </a:r>
            <a:endParaRPr/>
          </a:p>
        </p:txBody>
      </p:sp>
      <p:pic>
        <p:nvPicPr>
          <p:cNvPr id="409" name="Google Shape;409;p58"/>
          <p:cNvPicPr preferRelativeResize="0"/>
          <p:nvPr/>
        </p:nvPicPr>
        <p:blipFill rotWithShape="1">
          <a:blip r:embed="rId3">
            <a:alphaModFix/>
          </a:blip>
          <a:srcRect b="0" l="0" r="0" t="0"/>
          <a:stretch/>
        </p:blipFill>
        <p:spPr>
          <a:xfrm>
            <a:off x="208763" y="235363"/>
            <a:ext cx="496875" cy="496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0"/>
          <p:cNvSpPr txBox="1"/>
          <p:nvPr/>
        </p:nvSpPr>
        <p:spPr>
          <a:xfrm>
            <a:off x="4114800" y="2403350"/>
            <a:ext cx="4740900" cy="21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Previously, we protected system stability by using </a:t>
            </a:r>
            <a:r>
              <a:rPr b="1" lang="en" sz="1800">
                <a:solidFill>
                  <a:schemeClr val="dk2"/>
                </a:solidFill>
                <a:latin typeface="Inconsolata"/>
                <a:ea typeface="Inconsolata"/>
                <a:cs typeface="Inconsolata"/>
                <a:sym typeface="Inconsolata"/>
              </a:rPr>
              <a:t>tar</a:t>
            </a:r>
            <a:r>
              <a:rPr lang="en" sz="1800">
                <a:solidFill>
                  <a:schemeClr val="dk2"/>
                </a:solidFill>
                <a:latin typeface="Roboto"/>
                <a:ea typeface="Roboto"/>
                <a:cs typeface="Roboto"/>
                <a:sym typeface="Roboto"/>
              </a:rPr>
              <a:t> to list and extract data, and to manually create backups that we can use to restore the system to an earlier state.</a:t>
            </a:r>
            <a:endParaRPr sz="1800">
              <a:solidFill>
                <a:schemeClr val="dk2"/>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1"/>
          <p:cNvSpPr txBox="1"/>
          <p:nvPr>
            <p:ph type="title"/>
          </p:nvPr>
        </p:nvSpPr>
        <p:spPr>
          <a:xfrm>
            <a:off x="457200" y="146300"/>
            <a:ext cx="82296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Scheduling Backups</a:t>
            </a:r>
            <a:endParaRPr/>
          </a:p>
        </p:txBody>
      </p:sp>
      <p:sp>
        <p:nvSpPr>
          <p:cNvPr id="424" name="Google Shape;424;p61"/>
          <p:cNvSpPr txBox="1"/>
          <p:nvPr>
            <p:ph idx="1" type="subTitle"/>
          </p:nvPr>
        </p:nvSpPr>
        <p:spPr>
          <a:xfrm>
            <a:off x="463231" y="548650"/>
            <a:ext cx="82236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Using </a:t>
            </a:r>
            <a:r>
              <a:rPr b="1" lang="en">
                <a:latin typeface="Inconsolata"/>
                <a:ea typeface="Inconsolata"/>
                <a:cs typeface="Inconsolata"/>
                <a:sym typeface="Inconsolata"/>
              </a:rPr>
              <a:t>cron</a:t>
            </a:r>
            <a:r>
              <a:rPr lang="en"/>
              <a:t> to schedule </a:t>
            </a:r>
            <a:r>
              <a:rPr lang="en"/>
              <a:t>regular</a:t>
            </a:r>
            <a:r>
              <a:rPr lang="en"/>
              <a:t> automation of tasks</a:t>
            </a:r>
            <a:endParaRPr/>
          </a:p>
        </p:txBody>
      </p:sp>
      <p:sp>
        <p:nvSpPr>
          <p:cNvPr id="425" name="Google Shape;425;p61"/>
          <p:cNvSpPr txBox="1"/>
          <p:nvPr>
            <p:ph idx="3" type="body"/>
          </p:nvPr>
        </p:nvSpPr>
        <p:spPr>
          <a:xfrm>
            <a:off x="263000" y="1592650"/>
            <a:ext cx="3207300" cy="115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Scripts</a:t>
            </a:r>
            <a:endParaRPr b="1"/>
          </a:p>
          <a:p>
            <a:pPr indent="-342900" lvl="0" marL="457200" rtl="0" algn="l">
              <a:spcBef>
                <a:spcPts val="0"/>
              </a:spcBef>
              <a:spcAft>
                <a:spcPts val="0"/>
              </a:spcAft>
              <a:buSzPts val="1800"/>
              <a:buChar char="●"/>
            </a:pPr>
            <a:r>
              <a:rPr lang="en"/>
              <a:t>Files that can contain multiple commands</a:t>
            </a:r>
            <a:endParaRPr/>
          </a:p>
          <a:p>
            <a:pPr indent="-342900" lvl="0" marL="457200" rtl="0" algn="l">
              <a:spcBef>
                <a:spcPts val="0"/>
              </a:spcBef>
              <a:spcAft>
                <a:spcPts val="0"/>
              </a:spcAft>
              <a:buSzPts val="1800"/>
              <a:buChar char="●"/>
            </a:pPr>
            <a:r>
              <a:rPr lang="en"/>
              <a:t>Executed by calling name</a:t>
            </a:r>
            <a:endParaRPr/>
          </a:p>
        </p:txBody>
      </p:sp>
      <p:sp>
        <p:nvSpPr>
          <p:cNvPr id="426" name="Google Shape;426;p61"/>
          <p:cNvSpPr txBox="1"/>
          <p:nvPr>
            <p:ph idx="4" type="body"/>
          </p:nvPr>
        </p:nvSpPr>
        <p:spPr>
          <a:xfrm>
            <a:off x="263100" y="3413275"/>
            <a:ext cx="3207300" cy="115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t>Scheduled Jobs</a:t>
            </a:r>
            <a:endParaRPr b="1"/>
          </a:p>
          <a:p>
            <a:pPr indent="-342900" lvl="0" marL="457200" rtl="0" algn="l">
              <a:spcBef>
                <a:spcPts val="0"/>
              </a:spcBef>
              <a:spcAft>
                <a:spcPts val="0"/>
              </a:spcAft>
              <a:buSzPts val="1800"/>
              <a:buChar char="●"/>
            </a:pPr>
            <a:r>
              <a:rPr lang="en"/>
              <a:t>Run commands or scripts at designated times</a:t>
            </a:r>
            <a:endParaRPr/>
          </a:p>
        </p:txBody>
      </p:sp>
      <p:pic>
        <p:nvPicPr>
          <p:cNvPr id="427" name="Google Shape;427;p61"/>
          <p:cNvPicPr preferRelativeResize="0"/>
          <p:nvPr/>
        </p:nvPicPr>
        <p:blipFill>
          <a:blip r:embed="rId3">
            <a:alphaModFix/>
          </a:blip>
          <a:stretch>
            <a:fillRect/>
          </a:stretch>
        </p:blipFill>
        <p:spPr>
          <a:xfrm>
            <a:off x="3742925" y="967075"/>
            <a:ext cx="5368800" cy="3561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2"/>
          <p:cNvSpPr/>
          <p:nvPr/>
        </p:nvSpPr>
        <p:spPr>
          <a:xfrm>
            <a:off x="1492700" y="1594775"/>
            <a:ext cx="1985400" cy="2301000"/>
          </a:xfrm>
          <a:prstGeom prst="re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33" name="Google Shape;433;p62"/>
          <p:cNvSpPr/>
          <p:nvPr/>
        </p:nvSpPr>
        <p:spPr>
          <a:xfrm>
            <a:off x="3563698" y="1594775"/>
            <a:ext cx="1985400" cy="2301000"/>
          </a:xfrm>
          <a:prstGeom prst="re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62"/>
          <p:cNvSpPr/>
          <p:nvPr/>
        </p:nvSpPr>
        <p:spPr>
          <a:xfrm>
            <a:off x="5665900" y="1594775"/>
            <a:ext cx="1985400" cy="2301000"/>
          </a:xfrm>
          <a:prstGeom prst="re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35" name="Google Shape;435;p62"/>
          <p:cNvGrpSpPr/>
          <p:nvPr/>
        </p:nvGrpSpPr>
        <p:grpSpPr>
          <a:xfrm>
            <a:off x="3288208" y="2515767"/>
            <a:ext cx="459000" cy="459000"/>
            <a:chOff x="4898908" y="4195167"/>
            <a:chExt cx="459000" cy="459000"/>
          </a:xfrm>
        </p:grpSpPr>
        <p:sp>
          <p:nvSpPr>
            <p:cNvPr id="436" name="Google Shape;436;p62"/>
            <p:cNvSpPr/>
            <p:nvPr/>
          </p:nvSpPr>
          <p:spPr>
            <a:xfrm>
              <a:off x="4898908" y="4195167"/>
              <a:ext cx="459000" cy="459000"/>
            </a:xfrm>
            <a:prstGeom prst="ellipse">
              <a:avLst/>
            </a:prstGeom>
            <a:solidFill>
              <a:srgbClr val="F2F2F2"/>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437" name="Google Shape;437;p62"/>
            <p:cNvSpPr/>
            <p:nvPr/>
          </p:nvSpPr>
          <p:spPr>
            <a:xfrm>
              <a:off x="5101067" y="4330887"/>
              <a:ext cx="93400" cy="187578"/>
            </a:xfrm>
            <a:custGeom>
              <a:rect b="b" l="l" r="r" t="t"/>
              <a:pathLst>
                <a:path extrusionOk="0" fill="none" h="206130" w="102637">
                  <a:moveTo>
                    <a:pt x="0" y="1"/>
                  </a:moveTo>
                  <a:lnTo>
                    <a:pt x="102637" y="103065"/>
                  </a:lnTo>
                  <a:lnTo>
                    <a:pt x="0" y="206129"/>
                  </a:lnTo>
                </a:path>
              </a:pathLst>
            </a:custGeom>
            <a:noFill/>
            <a:ln cap="rnd"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8" name="Google Shape;438;p62"/>
          <p:cNvGrpSpPr/>
          <p:nvPr/>
        </p:nvGrpSpPr>
        <p:grpSpPr>
          <a:xfrm>
            <a:off x="5378008" y="2515767"/>
            <a:ext cx="459000" cy="459000"/>
            <a:chOff x="4898908" y="4195167"/>
            <a:chExt cx="459000" cy="459000"/>
          </a:xfrm>
        </p:grpSpPr>
        <p:sp>
          <p:nvSpPr>
            <p:cNvPr id="439" name="Google Shape;439;p62"/>
            <p:cNvSpPr/>
            <p:nvPr/>
          </p:nvSpPr>
          <p:spPr>
            <a:xfrm>
              <a:off x="4898908" y="4195167"/>
              <a:ext cx="459000" cy="459000"/>
            </a:xfrm>
            <a:prstGeom prst="ellipse">
              <a:avLst/>
            </a:prstGeom>
            <a:solidFill>
              <a:srgbClr val="F2F2F2"/>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440" name="Google Shape;440;p62"/>
            <p:cNvSpPr/>
            <p:nvPr/>
          </p:nvSpPr>
          <p:spPr>
            <a:xfrm>
              <a:off x="5101067" y="4330887"/>
              <a:ext cx="93400" cy="187578"/>
            </a:xfrm>
            <a:custGeom>
              <a:rect b="b" l="l" r="r" t="t"/>
              <a:pathLst>
                <a:path extrusionOk="0" fill="none" h="206130" w="102637">
                  <a:moveTo>
                    <a:pt x="0" y="1"/>
                  </a:moveTo>
                  <a:lnTo>
                    <a:pt x="102637" y="103065"/>
                  </a:lnTo>
                  <a:lnTo>
                    <a:pt x="0" y="206129"/>
                  </a:lnTo>
                </a:path>
              </a:pathLst>
            </a:custGeom>
            <a:noFill/>
            <a:ln cap="rnd"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41" name="Google Shape;441;p62"/>
          <p:cNvSpPr txBox="1"/>
          <p:nvPr/>
        </p:nvSpPr>
        <p:spPr>
          <a:xfrm>
            <a:off x="3756650" y="2167600"/>
            <a:ext cx="1611900" cy="1607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Write a script to solve issue </a:t>
            </a:r>
            <a:r>
              <a:rPr b="1" lang="en" sz="1800">
                <a:solidFill>
                  <a:schemeClr val="dk2"/>
                </a:solidFill>
                <a:latin typeface="Roboto"/>
                <a:ea typeface="Roboto"/>
                <a:cs typeface="Roboto"/>
                <a:sym typeface="Roboto"/>
              </a:rPr>
              <a:t>automatically</a:t>
            </a:r>
            <a:endParaRPr b="1" i="0" sz="1800" u="none" cap="none" strike="noStrike">
              <a:solidFill>
                <a:schemeClr val="dk2"/>
              </a:solidFill>
              <a:latin typeface="Roboto"/>
              <a:ea typeface="Roboto"/>
              <a:cs typeface="Roboto"/>
              <a:sym typeface="Roboto"/>
            </a:endParaRPr>
          </a:p>
        </p:txBody>
      </p:sp>
      <p:sp>
        <p:nvSpPr>
          <p:cNvPr id="442" name="Google Shape;442;p62"/>
          <p:cNvSpPr txBox="1"/>
          <p:nvPr/>
        </p:nvSpPr>
        <p:spPr>
          <a:xfrm>
            <a:off x="5837000" y="1594775"/>
            <a:ext cx="1624500" cy="2306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Use</a:t>
            </a:r>
            <a:r>
              <a:rPr b="1" lang="en" sz="1800">
                <a:solidFill>
                  <a:schemeClr val="dk2"/>
                </a:solidFill>
                <a:latin typeface="Inconsolata"/>
                <a:ea typeface="Inconsolata"/>
                <a:cs typeface="Inconsolata"/>
                <a:sym typeface="Inconsolata"/>
              </a:rPr>
              <a:t> cron </a:t>
            </a:r>
            <a:r>
              <a:rPr b="1" lang="en" sz="1800">
                <a:solidFill>
                  <a:schemeClr val="dk2"/>
                </a:solidFill>
                <a:latin typeface="Roboto"/>
                <a:ea typeface="Roboto"/>
                <a:cs typeface="Roboto"/>
                <a:sym typeface="Roboto"/>
              </a:rPr>
              <a:t>to run the script</a:t>
            </a:r>
            <a:endParaRPr b="1" i="0" sz="1800" u="none" cap="none" strike="noStrike">
              <a:solidFill>
                <a:schemeClr val="dk2"/>
              </a:solidFill>
              <a:latin typeface="Roboto"/>
              <a:ea typeface="Roboto"/>
              <a:cs typeface="Roboto"/>
              <a:sym typeface="Roboto"/>
            </a:endParaRPr>
          </a:p>
        </p:txBody>
      </p:sp>
      <p:sp>
        <p:nvSpPr>
          <p:cNvPr id="443" name="Google Shape;443;p62"/>
          <p:cNvSpPr txBox="1"/>
          <p:nvPr/>
        </p:nvSpPr>
        <p:spPr>
          <a:xfrm>
            <a:off x="1676275" y="1594775"/>
            <a:ext cx="1611900" cy="2306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lt1"/>
                </a:solidFill>
                <a:latin typeface="Roboto"/>
                <a:ea typeface="Roboto"/>
                <a:cs typeface="Roboto"/>
                <a:sym typeface="Roboto"/>
              </a:rPr>
              <a:t>Fix an Issue</a:t>
            </a:r>
            <a:endParaRPr b="1" i="0" sz="1800" u="none" cap="none" strike="noStrike">
              <a:solidFill>
                <a:schemeClr val="lt1"/>
              </a:solidFill>
              <a:latin typeface="Roboto"/>
              <a:ea typeface="Roboto"/>
              <a:cs typeface="Roboto"/>
              <a:sym typeface="Roboto"/>
            </a:endParaRPr>
          </a:p>
        </p:txBody>
      </p:sp>
      <p:sp>
        <p:nvSpPr>
          <p:cNvPr id="444" name="Google Shape;444;p6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System Administration Workflow</a:t>
            </a:r>
            <a:endParaRPr/>
          </a:p>
        </p:txBody>
      </p:sp>
      <p:sp>
        <p:nvSpPr>
          <p:cNvPr id="445" name="Google Shape;445;p62"/>
          <p:cNvSpPr txBox="1"/>
          <p:nvPr/>
        </p:nvSpPr>
        <p:spPr>
          <a:xfrm>
            <a:off x="387650" y="452050"/>
            <a:ext cx="82230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Tools are often used together in a similar manner</a:t>
            </a:r>
            <a:endParaRPr sz="1800">
              <a:solidFill>
                <a:schemeClr val="dk2"/>
              </a:solidFill>
              <a:latin typeface="Roboto"/>
              <a:ea typeface="Roboto"/>
              <a:cs typeface="Roboto"/>
              <a:sym typeface="Roboto"/>
            </a:endParaRPr>
          </a:p>
        </p:txBody>
      </p:sp>
      <p:pic>
        <p:nvPicPr>
          <p:cNvPr id="446" name="Google Shape;446;p62"/>
          <p:cNvPicPr preferRelativeResize="0"/>
          <p:nvPr/>
        </p:nvPicPr>
        <p:blipFill>
          <a:blip r:embed="rId3">
            <a:alphaModFix/>
          </a:blip>
          <a:stretch>
            <a:fillRect/>
          </a:stretch>
        </p:blipFill>
        <p:spPr>
          <a:xfrm>
            <a:off x="5791927" y="1720953"/>
            <a:ext cx="448804" cy="451966"/>
          </a:xfrm>
          <a:prstGeom prst="rect">
            <a:avLst/>
          </a:prstGeom>
          <a:noFill/>
          <a:ln>
            <a:noFill/>
          </a:ln>
        </p:spPr>
      </p:pic>
      <p:pic>
        <p:nvPicPr>
          <p:cNvPr id="447" name="Google Shape;447;p62"/>
          <p:cNvPicPr preferRelativeResize="0"/>
          <p:nvPr/>
        </p:nvPicPr>
        <p:blipFill>
          <a:blip r:embed="rId4">
            <a:alphaModFix/>
          </a:blip>
          <a:stretch>
            <a:fillRect/>
          </a:stretch>
        </p:blipFill>
        <p:spPr>
          <a:xfrm>
            <a:off x="3671483" y="1720953"/>
            <a:ext cx="496267" cy="348133"/>
          </a:xfrm>
          <a:prstGeom prst="rect">
            <a:avLst/>
          </a:prstGeom>
          <a:noFill/>
          <a:ln>
            <a:noFill/>
          </a:ln>
        </p:spPr>
      </p:pic>
      <p:pic>
        <p:nvPicPr>
          <p:cNvPr id="448" name="Google Shape;448;p62"/>
          <p:cNvPicPr preferRelativeResize="0"/>
          <p:nvPr/>
        </p:nvPicPr>
        <p:blipFill>
          <a:blip r:embed="rId5">
            <a:alphaModFix/>
          </a:blip>
          <a:stretch>
            <a:fillRect/>
          </a:stretch>
        </p:blipFill>
        <p:spPr>
          <a:xfrm>
            <a:off x="1387899" y="1676448"/>
            <a:ext cx="785437" cy="540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3"/>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Overview of </a:t>
            </a:r>
            <a:r>
              <a:rPr lang="en">
                <a:latin typeface="Inconsolata"/>
                <a:ea typeface="Inconsolata"/>
                <a:cs typeface="Inconsolata"/>
                <a:sym typeface="Inconsolata"/>
              </a:rPr>
              <a:t>cron</a:t>
            </a:r>
            <a:endParaRPr>
              <a:latin typeface="Inconsolata"/>
              <a:ea typeface="Inconsolata"/>
              <a:cs typeface="Inconsolata"/>
              <a:sym typeface="Inconsolata"/>
            </a:endParaRPr>
          </a:p>
        </p:txBody>
      </p:sp>
      <p:pic>
        <p:nvPicPr>
          <p:cNvPr id="454" name="Google Shape;454;p63"/>
          <p:cNvPicPr preferRelativeResize="0"/>
          <p:nvPr/>
        </p:nvPicPr>
        <p:blipFill>
          <a:blip r:embed="rId3">
            <a:alphaModFix/>
          </a:blip>
          <a:stretch>
            <a:fillRect/>
          </a:stretch>
        </p:blipFill>
        <p:spPr>
          <a:xfrm>
            <a:off x="4114800" y="1931388"/>
            <a:ext cx="914400" cy="70920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pic>
        <p:nvPicPr>
          <p:cNvPr id="459" name="Google Shape;459;p64"/>
          <p:cNvPicPr preferRelativeResize="0"/>
          <p:nvPr/>
        </p:nvPicPr>
        <p:blipFill rotWithShape="1">
          <a:blip r:embed="rId3">
            <a:alphaModFix/>
          </a:blip>
          <a:srcRect b="0" l="0" r="0" t="0"/>
          <a:stretch/>
        </p:blipFill>
        <p:spPr>
          <a:xfrm>
            <a:off x="4305138" y="1183050"/>
            <a:ext cx="827470" cy="3662574"/>
          </a:xfrm>
          <a:prstGeom prst="rect">
            <a:avLst/>
          </a:prstGeom>
          <a:noFill/>
          <a:ln>
            <a:noFill/>
          </a:ln>
        </p:spPr>
      </p:pic>
      <p:sp>
        <p:nvSpPr>
          <p:cNvPr id="460" name="Google Shape;460;p64"/>
          <p:cNvSpPr txBox="1"/>
          <p:nvPr/>
        </p:nvSpPr>
        <p:spPr>
          <a:xfrm>
            <a:off x="368950" y="127400"/>
            <a:ext cx="8463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Consider the Following Scenario</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rgbClr val="2E5E73"/>
                </a:solidFill>
                <a:latin typeface="Roboto Light"/>
                <a:ea typeface="Roboto Light"/>
                <a:cs typeface="Roboto Light"/>
                <a:sym typeface="Roboto Light"/>
              </a:rPr>
              <a:t> </a:t>
            </a:r>
            <a:endParaRPr>
              <a:solidFill>
                <a:srgbClr val="2E5E73"/>
              </a:solidFill>
              <a:latin typeface="Roboto Light"/>
              <a:ea typeface="Roboto Light"/>
              <a:cs typeface="Roboto Light"/>
              <a:sym typeface="Roboto Light"/>
            </a:endParaRPr>
          </a:p>
          <a:p>
            <a:pPr indent="0" lvl="0" marL="0" rtl="0" algn="l">
              <a:lnSpc>
                <a:spcPct val="115000"/>
              </a:lnSpc>
              <a:spcBef>
                <a:spcPts val="1600"/>
              </a:spcBef>
              <a:spcAft>
                <a:spcPts val="1600"/>
              </a:spcAft>
              <a:buNone/>
            </a:pPr>
            <a:r>
              <a:t/>
            </a:r>
            <a:endParaRPr>
              <a:solidFill>
                <a:srgbClr val="2E5E73"/>
              </a:solidFill>
              <a:latin typeface="Roboto Light"/>
              <a:ea typeface="Roboto Light"/>
              <a:cs typeface="Roboto Light"/>
              <a:sym typeface="Roboto Light"/>
            </a:endParaRPr>
          </a:p>
        </p:txBody>
      </p:sp>
      <p:sp>
        <p:nvSpPr>
          <p:cNvPr id="461" name="Google Shape;461;p64"/>
          <p:cNvSpPr txBox="1"/>
          <p:nvPr/>
        </p:nvSpPr>
        <p:spPr>
          <a:xfrm>
            <a:off x="635300" y="914400"/>
            <a:ext cx="3561300" cy="141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accent5"/>
                </a:solidFill>
                <a:latin typeface="Roboto"/>
                <a:ea typeface="Roboto"/>
                <a:cs typeface="Roboto"/>
                <a:sym typeface="Roboto"/>
              </a:rPr>
              <a:t>Before leaving work, you spend</a:t>
            </a:r>
            <a:endParaRPr sz="1800">
              <a:solidFill>
                <a:schemeClr val="accent5"/>
              </a:solidFill>
              <a:latin typeface="Roboto"/>
              <a:ea typeface="Roboto"/>
              <a:cs typeface="Roboto"/>
              <a:sym typeface="Roboto"/>
            </a:endParaRPr>
          </a:p>
          <a:p>
            <a:pPr indent="0" lvl="0" marL="0" rtl="0" algn="l">
              <a:lnSpc>
                <a:spcPct val="115000"/>
              </a:lnSpc>
              <a:spcBef>
                <a:spcPts val="0"/>
              </a:spcBef>
              <a:spcAft>
                <a:spcPts val="0"/>
              </a:spcAft>
              <a:buNone/>
            </a:pPr>
            <a:r>
              <a:rPr lang="en" sz="1800">
                <a:solidFill>
                  <a:schemeClr val="accent5"/>
                </a:solidFill>
                <a:highlight>
                  <a:srgbClr val="F6CF38"/>
                </a:highlight>
                <a:latin typeface="Roboto"/>
                <a:ea typeface="Roboto"/>
                <a:cs typeface="Roboto"/>
                <a:sym typeface="Roboto"/>
              </a:rPr>
              <a:t>10 minutes </a:t>
            </a:r>
            <a:r>
              <a:rPr lang="en" sz="1800">
                <a:solidFill>
                  <a:schemeClr val="accent5"/>
                </a:solidFill>
                <a:latin typeface="Roboto"/>
                <a:ea typeface="Roboto"/>
                <a:cs typeface="Roboto"/>
                <a:sym typeface="Roboto"/>
              </a:rPr>
              <a:t>deleting your cache and your trash bin, and backing up your documents folder.</a:t>
            </a:r>
            <a:endParaRPr sz="1800">
              <a:solidFill>
                <a:schemeClr val="accent5"/>
              </a:solidFill>
              <a:latin typeface="Roboto"/>
              <a:ea typeface="Roboto"/>
              <a:cs typeface="Roboto"/>
              <a:sym typeface="Roboto"/>
            </a:endParaRPr>
          </a:p>
        </p:txBody>
      </p:sp>
      <p:sp>
        <p:nvSpPr>
          <p:cNvPr id="462" name="Google Shape;462;p64"/>
          <p:cNvSpPr txBox="1"/>
          <p:nvPr/>
        </p:nvSpPr>
        <p:spPr>
          <a:xfrm>
            <a:off x="5132600" y="914400"/>
            <a:ext cx="35613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accent5"/>
                </a:solidFill>
                <a:latin typeface="Roboto"/>
                <a:ea typeface="Roboto"/>
                <a:cs typeface="Roboto"/>
                <a:sym typeface="Roboto"/>
              </a:rPr>
              <a:t>You also spend </a:t>
            </a:r>
            <a:r>
              <a:rPr lang="en" sz="1800">
                <a:solidFill>
                  <a:schemeClr val="accent5"/>
                </a:solidFill>
                <a:highlight>
                  <a:srgbClr val="FECF48"/>
                </a:highlight>
                <a:latin typeface="Roboto"/>
                <a:ea typeface="Roboto"/>
                <a:cs typeface="Roboto"/>
                <a:sym typeface="Roboto"/>
              </a:rPr>
              <a:t>one hour</a:t>
            </a:r>
            <a:r>
              <a:rPr lang="en" sz="1800">
                <a:solidFill>
                  <a:schemeClr val="accent5"/>
                </a:solidFill>
                <a:latin typeface="Roboto"/>
                <a:ea typeface="Roboto"/>
                <a:cs typeface="Roboto"/>
                <a:sym typeface="Roboto"/>
              </a:rPr>
              <a:t> per day installing software updates.</a:t>
            </a:r>
            <a:endParaRPr sz="1800">
              <a:solidFill>
                <a:schemeClr val="accent5"/>
              </a:solidFill>
              <a:latin typeface="Roboto"/>
              <a:ea typeface="Roboto"/>
              <a:cs typeface="Roboto"/>
              <a:sym typeface="Roboto"/>
            </a:endParaRPr>
          </a:p>
        </p:txBody>
      </p:sp>
      <p:pic>
        <p:nvPicPr>
          <p:cNvPr id="463" name="Google Shape;463;p64"/>
          <p:cNvPicPr preferRelativeResize="0"/>
          <p:nvPr/>
        </p:nvPicPr>
        <p:blipFill rotWithShape="1">
          <a:blip r:embed="rId4">
            <a:alphaModFix/>
          </a:blip>
          <a:srcRect b="0" l="0" r="0" t="0"/>
          <a:stretch/>
        </p:blipFill>
        <p:spPr>
          <a:xfrm>
            <a:off x="1026269" y="2133075"/>
            <a:ext cx="2779355" cy="2779375"/>
          </a:xfrm>
          <a:prstGeom prst="rect">
            <a:avLst/>
          </a:prstGeom>
          <a:noFill/>
          <a:ln>
            <a:noFill/>
          </a:ln>
        </p:spPr>
      </p:pic>
      <p:pic>
        <p:nvPicPr>
          <p:cNvPr id="464" name="Google Shape;464;p64"/>
          <p:cNvPicPr preferRelativeResize="0"/>
          <p:nvPr/>
        </p:nvPicPr>
        <p:blipFill rotWithShape="1">
          <a:blip r:embed="rId5">
            <a:alphaModFix/>
          </a:blip>
          <a:srcRect b="0" l="0" r="0" t="0"/>
          <a:stretch/>
        </p:blipFill>
        <p:spPr>
          <a:xfrm>
            <a:off x="5474026" y="2133075"/>
            <a:ext cx="2779355" cy="2779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5"/>
          <p:cNvSpPr txBox="1"/>
          <p:nvPr>
            <p:ph type="title"/>
          </p:nvPr>
        </p:nvSpPr>
        <p:spPr>
          <a:xfrm>
            <a:off x="4038601" y="146300"/>
            <a:ext cx="50292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Introducing </a:t>
            </a:r>
            <a:r>
              <a:rPr lang="en">
                <a:latin typeface="Inconsolata"/>
                <a:ea typeface="Inconsolata"/>
                <a:cs typeface="Inconsolata"/>
                <a:sym typeface="Inconsolata"/>
              </a:rPr>
              <a:t>cron</a:t>
            </a:r>
            <a:endParaRPr>
              <a:latin typeface="Inconsolata"/>
              <a:ea typeface="Inconsolata"/>
              <a:cs typeface="Inconsolata"/>
              <a:sym typeface="Inconsolata"/>
            </a:endParaRPr>
          </a:p>
        </p:txBody>
      </p:sp>
      <p:sp>
        <p:nvSpPr>
          <p:cNvPr id="470" name="Google Shape;470;p65"/>
          <p:cNvSpPr txBox="1"/>
          <p:nvPr>
            <p:ph idx="1" type="body"/>
          </p:nvPr>
        </p:nvSpPr>
        <p:spPr>
          <a:xfrm>
            <a:off x="4116600" y="1833900"/>
            <a:ext cx="5025600" cy="14757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Rather than spending time manually completing these repeatable tasks, you can automate them using </a:t>
            </a:r>
            <a:r>
              <a:rPr b="1" lang="en">
                <a:latin typeface="Inconsolata"/>
                <a:ea typeface="Inconsolata"/>
                <a:cs typeface="Inconsolata"/>
                <a:sym typeface="Inconsolata"/>
              </a:rPr>
              <a:t>cronjobs</a:t>
            </a:r>
            <a:r>
              <a:rPr lang="en"/>
              <a:t>.</a:t>
            </a:r>
            <a:endParaRPr/>
          </a:p>
        </p:txBody>
      </p:sp>
      <p:pic>
        <p:nvPicPr>
          <p:cNvPr id="471" name="Google Shape;471;p65"/>
          <p:cNvPicPr preferRelativeResize="0"/>
          <p:nvPr/>
        </p:nvPicPr>
        <p:blipFill rotWithShape="1">
          <a:blip r:embed="rId3">
            <a:alphaModFix/>
          </a:blip>
          <a:srcRect b="0" l="11072" r="5677" t="0"/>
          <a:stretch/>
        </p:blipFill>
        <p:spPr>
          <a:xfrm>
            <a:off x="0" y="194238"/>
            <a:ext cx="4020850" cy="475503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66"/>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lang="en"/>
              <a:t>A </a:t>
            </a:r>
            <a:r>
              <a:rPr b="1" lang="en">
                <a:latin typeface="Inconsolata"/>
                <a:ea typeface="Inconsolata"/>
                <a:cs typeface="Inconsolata"/>
                <a:sym typeface="Inconsolata"/>
              </a:rPr>
              <a:t>cronjob</a:t>
            </a:r>
            <a:r>
              <a:rPr lang="en"/>
              <a:t> is a </a:t>
            </a:r>
            <a:r>
              <a:rPr lang="en"/>
              <a:t>script or command designated to run at regular or periodic, predetermined intervals.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7"/>
          <p:cNvSpPr txBox="1"/>
          <p:nvPr/>
        </p:nvSpPr>
        <p:spPr>
          <a:xfrm>
            <a:off x="518388" y="923038"/>
            <a:ext cx="3711600" cy="10989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000"/>
              </a:spcBef>
              <a:spcAft>
                <a:spcPts val="0"/>
              </a:spcAft>
              <a:buClr>
                <a:srgbClr val="000000"/>
              </a:buClr>
              <a:buSzPts val="1800"/>
              <a:buFont typeface="Arial"/>
              <a:buNone/>
            </a:pPr>
            <a:r>
              <a:rPr lang="en" sz="1800">
                <a:solidFill>
                  <a:schemeClr val="dk2"/>
                </a:solidFill>
                <a:latin typeface="Roboto"/>
                <a:ea typeface="Roboto"/>
                <a:cs typeface="Roboto"/>
                <a:sym typeface="Roboto"/>
              </a:rPr>
              <a:t>Automate the process of deleting cache, emptying trash, and backing up documents.  </a:t>
            </a:r>
            <a:endParaRPr i="0" sz="1800" u="none" cap="none" strike="noStrike">
              <a:solidFill>
                <a:schemeClr val="dk2"/>
              </a:solidFill>
              <a:latin typeface="Roboto"/>
              <a:ea typeface="Roboto"/>
              <a:cs typeface="Roboto"/>
              <a:sym typeface="Roboto"/>
            </a:endParaRPr>
          </a:p>
        </p:txBody>
      </p:sp>
      <p:sp>
        <p:nvSpPr>
          <p:cNvPr id="482" name="Google Shape;482;p67"/>
          <p:cNvSpPr txBox="1"/>
          <p:nvPr/>
        </p:nvSpPr>
        <p:spPr>
          <a:xfrm>
            <a:off x="874200" y="343588"/>
            <a:ext cx="3000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000"/>
              </a:spcBef>
              <a:spcAft>
                <a:spcPts val="0"/>
              </a:spcAft>
              <a:buClr>
                <a:srgbClr val="000000"/>
              </a:buClr>
              <a:buSzPts val="2600"/>
              <a:buFont typeface="Arial"/>
              <a:buNone/>
            </a:pPr>
            <a:r>
              <a:rPr b="1" lang="en" sz="2600">
                <a:solidFill>
                  <a:schemeClr val="dk2"/>
                </a:solidFill>
                <a:latin typeface="Roboto"/>
                <a:ea typeface="Roboto"/>
                <a:cs typeface="Roboto"/>
                <a:sym typeface="Roboto"/>
              </a:rPr>
              <a:t>User-level</a:t>
            </a:r>
            <a:endParaRPr b="1" i="0" sz="2600" u="none" cap="none" strike="noStrike">
              <a:solidFill>
                <a:schemeClr val="dk2"/>
              </a:solidFill>
              <a:latin typeface="Roboto"/>
              <a:ea typeface="Roboto"/>
              <a:cs typeface="Roboto"/>
              <a:sym typeface="Roboto"/>
            </a:endParaRPr>
          </a:p>
        </p:txBody>
      </p:sp>
      <p:sp>
        <p:nvSpPr>
          <p:cNvPr id="483" name="Google Shape;483;p67"/>
          <p:cNvSpPr txBox="1"/>
          <p:nvPr/>
        </p:nvSpPr>
        <p:spPr>
          <a:xfrm>
            <a:off x="5226325" y="343588"/>
            <a:ext cx="3000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000"/>
              </a:spcBef>
              <a:spcAft>
                <a:spcPts val="0"/>
              </a:spcAft>
              <a:buClr>
                <a:srgbClr val="000000"/>
              </a:buClr>
              <a:buSzPts val="2600"/>
              <a:buFont typeface="Arial"/>
              <a:buNone/>
            </a:pPr>
            <a:r>
              <a:rPr b="1" lang="en" sz="2600">
                <a:solidFill>
                  <a:schemeClr val="dk2"/>
                </a:solidFill>
                <a:latin typeface="Roboto"/>
                <a:ea typeface="Roboto"/>
                <a:cs typeface="Roboto"/>
                <a:sym typeface="Roboto"/>
              </a:rPr>
              <a:t>System-level</a:t>
            </a:r>
            <a:endParaRPr b="1" i="0" sz="2600" u="none" cap="none" strike="noStrike">
              <a:solidFill>
                <a:schemeClr val="dk2"/>
              </a:solidFill>
              <a:latin typeface="Roboto"/>
              <a:ea typeface="Roboto"/>
              <a:cs typeface="Roboto"/>
              <a:sym typeface="Roboto"/>
            </a:endParaRPr>
          </a:p>
        </p:txBody>
      </p:sp>
      <p:sp>
        <p:nvSpPr>
          <p:cNvPr id="484" name="Google Shape;484;p67"/>
          <p:cNvSpPr txBox="1"/>
          <p:nvPr/>
        </p:nvSpPr>
        <p:spPr>
          <a:xfrm>
            <a:off x="4870525" y="923050"/>
            <a:ext cx="3711600" cy="780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000"/>
              </a:spcBef>
              <a:spcAft>
                <a:spcPts val="0"/>
              </a:spcAft>
              <a:buClr>
                <a:srgbClr val="000000"/>
              </a:buClr>
              <a:buSzPts val="1800"/>
              <a:buFont typeface="Arial"/>
              <a:buNone/>
            </a:pPr>
            <a:r>
              <a:rPr lang="en" sz="1800">
                <a:solidFill>
                  <a:schemeClr val="dk2"/>
                </a:solidFill>
                <a:latin typeface="Roboto"/>
                <a:ea typeface="Roboto"/>
                <a:cs typeface="Roboto"/>
                <a:sym typeface="Roboto"/>
              </a:rPr>
              <a:t>Automate daily software updates and installs.</a:t>
            </a:r>
            <a:endParaRPr i="0" sz="1800" u="none" cap="none" strike="noStrike">
              <a:solidFill>
                <a:schemeClr val="dk2"/>
              </a:solidFill>
              <a:latin typeface="Roboto"/>
              <a:ea typeface="Roboto"/>
              <a:cs typeface="Roboto"/>
              <a:sym typeface="Roboto"/>
            </a:endParaRPr>
          </a:p>
        </p:txBody>
      </p:sp>
      <p:cxnSp>
        <p:nvCxnSpPr>
          <p:cNvPr id="485" name="Google Shape;485;p67"/>
          <p:cNvCxnSpPr/>
          <p:nvPr/>
        </p:nvCxnSpPr>
        <p:spPr>
          <a:xfrm>
            <a:off x="4569100" y="679375"/>
            <a:ext cx="0" cy="3897300"/>
          </a:xfrm>
          <a:prstGeom prst="straightConnector1">
            <a:avLst/>
          </a:prstGeom>
          <a:noFill/>
          <a:ln cap="flat" cmpd="sng" w="9525">
            <a:solidFill>
              <a:schemeClr val="dk2"/>
            </a:solidFill>
            <a:prstDash val="solid"/>
            <a:round/>
            <a:headEnd len="sm" w="sm" type="none"/>
            <a:tailEnd len="sm" w="sm" type="none"/>
          </a:ln>
        </p:spPr>
      </p:cxnSp>
      <p:pic>
        <p:nvPicPr>
          <p:cNvPr id="486" name="Google Shape;486;p67"/>
          <p:cNvPicPr preferRelativeResize="0"/>
          <p:nvPr/>
        </p:nvPicPr>
        <p:blipFill>
          <a:blip r:embed="rId3">
            <a:alphaModFix/>
          </a:blip>
          <a:stretch>
            <a:fillRect/>
          </a:stretch>
        </p:blipFill>
        <p:spPr>
          <a:xfrm>
            <a:off x="5355362" y="1457999"/>
            <a:ext cx="2985776" cy="3395650"/>
          </a:xfrm>
          <a:prstGeom prst="rect">
            <a:avLst/>
          </a:prstGeom>
          <a:noFill/>
          <a:ln>
            <a:noFill/>
          </a:ln>
        </p:spPr>
      </p:pic>
      <p:pic>
        <p:nvPicPr>
          <p:cNvPr id="487" name="Google Shape;487;p67"/>
          <p:cNvPicPr preferRelativeResize="0"/>
          <p:nvPr/>
        </p:nvPicPr>
        <p:blipFill>
          <a:blip r:embed="rId4">
            <a:alphaModFix/>
          </a:blip>
          <a:stretch>
            <a:fillRect/>
          </a:stretch>
        </p:blipFill>
        <p:spPr>
          <a:xfrm>
            <a:off x="363700" y="2141850"/>
            <a:ext cx="3801875" cy="2483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8"/>
          <p:cNvSpPr txBox="1"/>
          <p:nvPr>
            <p:ph idx="1" type="body"/>
          </p:nvPr>
        </p:nvSpPr>
        <p:spPr>
          <a:xfrm>
            <a:off x="3511525" y="1377275"/>
            <a:ext cx="53442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a:t>
            </a:r>
            <a:r>
              <a:rPr lang="en"/>
              <a:t>he </a:t>
            </a:r>
            <a:r>
              <a:rPr b="1" lang="en">
                <a:latin typeface="Inconsolata"/>
                <a:ea typeface="Inconsolata"/>
                <a:cs typeface="Inconsolata"/>
                <a:sym typeface="Inconsolata"/>
              </a:rPr>
              <a:t>cron</a:t>
            </a:r>
            <a:r>
              <a:rPr lang="en"/>
              <a:t> in </a:t>
            </a:r>
            <a:r>
              <a:rPr b="1" lang="en">
                <a:latin typeface="Inconsolata"/>
                <a:ea typeface="Inconsolata"/>
                <a:cs typeface="Inconsolata"/>
                <a:sym typeface="Inconsolata"/>
              </a:rPr>
              <a:t>cronjob</a:t>
            </a:r>
            <a:r>
              <a:rPr lang="en"/>
              <a:t> refers to a system daemon that keeps track of when to run scheduled tasks.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9"/>
          <p:cNvSpPr txBox="1"/>
          <p:nvPr>
            <p:ph idx="1" type="body"/>
          </p:nvPr>
        </p:nvSpPr>
        <p:spPr>
          <a:xfrm>
            <a:off x="1450375" y="1039700"/>
            <a:ext cx="6321900" cy="31317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lang="en"/>
              <a:t>A </a:t>
            </a:r>
            <a:r>
              <a:rPr b="1" lang="en">
                <a:latin typeface="Inconsolata"/>
                <a:ea typeface="Inconsolata"/>
                <a:cs typeface="Inconsolata"/>
                <a:sym typeface="Inconsolata"/>
              </a:rPr>
              <a:t>daemon</a:t>
            </a:r>
            <a:r>
              <a:rPr lang="en"/>
              <a:t> is a computer program that runs as a background process, rather than being under the direct control of an interactive user.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70"/>
          <p:cNvSpPr txBox="1"/>
          <p:nvPr>
            <p:ph type="title"/>
          </p:nvPr>
        </p:nvSpPr>
        <p:spPr>
          <a:xfrm>
            <a:off x="457200" y="174450"/>
            <a:ext cx="82296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Inconsolata"/>
                <a:ea typeface="Inconsolata"/>
                <a:cs typeface="Inconsolata"/>
                <a:sym typeface="Inconsolata"/>
              </a:rPr>
              <a:t>cron</a:t>
            </a:r>
            <a:endParaRPr>
              <a:latin typeface="Inconsolata"/>
              <a:ea typeface="Inconsolata"/>
              <a:cs typeface="Inconsolata"/>
              <a:sym typeface="Inconsolata"/>
            </a:endParaRPr>
          </a:p>
        </p:txBody>
      </p:sp>
      <p:sp>
        <p:nvSpPr>
          <p:cNvPr id="503" name="Google Shape;503;p70"/>
          <p:cNvSpPr txBox="1"/>
          <p:nvPr>
            <p:ph idx="3" type="body"/>
          </p:nvPr>
        </p:nvSpPr>
        <p:spPr>
          <a:xfrm>
            <a:off x="457200" y="1592650"/>
            <a:ext cx="3013200" cy="11556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None/>
            </a:pPr>
            <a:r>
              <a:rPr b="1" lang="en">
                <a:latin typeface="Inconsolata"/>
                <a:ea typeface="Inconsolata"/>
                <a:cs typeface="Inconsolata"/>
                <a:sym typeface="Inconsolata"/>
              </a:rPr>
              <a:t>cron </a:t>
            </a:r>
            <a:r>
              <a:rPr lang="en"/>
              <a:t>is a robust task scheduler </a:t>
            </a:r>
            <a:r>
              <a:rPr b="1" lang="en"/>
              <a:t>daemon</a:t>
            </a:r>
            <a:r>
              <a:rPr lang="en"/>
              <a:t> that allows users to schedule repetitive tasks to run on a regular basis.</a:t>
            </a:r>
            <a:endParaRPr/>
          </a:p>
        </p:txBody>
      </p:sp>
      <p:sp>
        <p:nvSpPr>
          <p:cNvPr id="504" name="Google Shape;504;p70"/>
          <p:cNvSpPr txBox="1"/>
          <p:nvPr>
            <p:ph idx="4" type="body"/>
          </p:nvPr>
        </p:nvSpPr>
        <p:spPr>
          <a:xfrm>
            <a:off x="457200" y="3413275"/>
            <a:ext cx="3013200" cy="11556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None/>
            </a:pPr>
            <a:r>
              <a:rPr b="1" lang="en">
                <a:latin typeface="Inconsolata"/>
                <a:ea typeface="Inconsolata"/>
                <a:cs typeface="Inconsolata"/>
                <a:sym typeface="Inconsolata"/>
              </a:rPr>
              <a:t>cron</a:t>
            </a:r>
            <a:r>
              <a:rPr lang="en"/>
              <a:t> is most suitable for scheduling repetitive tasks.</a:t>
            </a:r>
            <a:br>
              <a:rPr lang="en"/>
            </a:br>
            <a:br>
              <a:rPr lang="en"/>
            </a:br>
            <a:endParaRPr/>
          </a:p>
          <a:p>
            <a:pPr indent="0" lvl="0" marL="0" rtl="0" algn="l">
              <a:spcBef>
                <a:spcPts val="0"/>
              </a:spcBef>
              <a:spcAft>
                <a:spcPts val="0"/>
              </a:spcAft>
              <a:buNone/>
            </a:pPr>
            <a:r>
              <a:t/>
            </a:r>
            <a:endParaRPr/>
          </a:p>
        </p:txBody>
      </p:sp>
      <p:pic>
        <p:nvPicPr>
          <p:cNvPr id="505" name="Google Shape;505;p70"/>
          <p:cNvPicPr preferRelativeResize="0"/>
          <p:nvPr/>
        </p:nvPicPr>
        <p:blipFill>
          <a:blip r:embed="rId3">
            <a:alphaModFix/>
          </a:blip>
          <a:stretch>
            <a:fillRect/>
          </a:stretch>
        </p:blipFill>
        <p:spPr>
          <a:xfrm>
            <a:off x="3614850" y="927100"/>
            <a:ext cx="5116155" cy="34379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pic>
        <p:nvPicPr>
          <p:cNvPr id="510" name="Google Shape;510;p71"/>
          <p:cNvPicPr preferRelativeResize="0"/>
          <p:nvPr/>
        </p:nvPicPr>
        <p:blipFill rotWithShape="1">
          <a:blip r:embed="rId3">
            <a:alphaModFix/>
          </a:blip>
          <a:srcRect b="0" l="0" r="0" t="0"/>
          <a:stretch/>
        </p:blipFill>
        <p:spPr>
          <a:xfrm>
            <a:off x="0" y="0"/>
            <a:ext cx="9168601" cy="5157340"/>
          </a:xfrm>
          <a:prstGeom prst="rect">
            <a:avLst/>
          </a:prstGeom>
          <a:noFill/>
          <a:ln>
            <a:noFill/>
          </a:ln>
        </p:spPr>
      </p:pic>
      <p:sp>
        <p:nvSpPr>
          <p:cNvPr id="511" name="Google Shape;511;p71"/>
          <p:cNvSpPr txBox="1"/>
          <p:nvPr>
            <p:ph idx="1" type="subTitle"/>
          </p:nvPr>
        </p:nvSpPr>
        <p:spPr>
          <a:xfrm>
            <a:off x="0" y="265575"/>
            <a:ext cx="3488100" cy="2222100"/>
          </a:xfrm>
          <a:prstGeom prst="rect">
            <a:avLst/>
          </a:prstGeom>
          <a:noFill/>
        </p:spPr>
        <p:txBody>
          <a:bodyPr anchorCtr="0" anchor="t" bIns="0" lIns="457200" spcFirstLastPara="1" rIns="457200" wrap="square" tIns="91425">
            <a:noAutofit/>
          </a:bodyPr>
          <a:lstStyle/>
          <a:p>
            <a:pPr indent="0" lvl="0" marL="0" rtl="0" algn="l">
              <a:lnSpc>
                <a:spcPct val="115000"/>
              </a:lnSpc>
              <a:spcBef>
                <a:spcPts val="0"/>
              </a:spcBef>
              <a:spcAft>
                <a:spcPts val="0"/>
              </a:spcAft>
              <a:buNone/>
            </a:pPr>
            <a:r>
              <a:rPr lang="en" sz="2200">
                <a:solidFill>
                  <a:schemeClr val="dk2"/>
                </a:solidFill>
              </a:rPr>
              <a:t>Tasks are stored </a:t>
            </a:r>
            <a:br>
              <a:rPr lang="en" sz="2200">
                <a:solidFill>
                  <a:schemeClr val="dk2"/>
                </a:solidFill>
              </a:rPr>
            </a:br>
            <a:r>
              <a:rPr lang="en" sz="2200">
                <a:solidFill>
                  <a:schemeClr val="dk2"/>
                </a:solidFill>
              </a:rPr>
              <a:t>and scheduled in </a:t>
            </a:r>
            <a:br>
              <a:rPr lang="en" sz="2200">
                <a:solidFill>
                  <a:schemeClr val="dk2"/>
                </a:solidFill>
              </a:rPr>
            </a:br>
            <a:r>
              <a:rPr lang="en" sz="2200">
                <a:solidFill>
                  <a:schemeClr val="dk2"/>
                </a:solidFill>
              </a:rPr>
              <a:t>a file called a </a:t>
            </a:r>
            <a:br>
              <a:rPr lang="en" sz="2200"/>
            </a:br>
            <a:r>
              <a:rPr b="1" lang="en" sz="2200">
                <a:latin typeface="Inconsolata"/>
                <a:ea typeface="Inconsolata"/>
                <a:cs typeface="Inconsolata"/>
                <a:sym typeface="Inconsolata"/>
              </a:rPr>
              <a:t>crontab</a:t>
            </a:r>
            <a:r>
              <a:rPr lang="en" sz="2200"/>
              <a:t> </a:t>
            </a:r>
            <a:r>
              <a:rPr lang="en" sz="2200">
                <a:solidFill>
                  <a:schemeClr val="dk2"/>
                </a:solidFill>
              </a:rPr>
              <a:t>(cron</a:t>
            </a:r>
            <a:r>
              <a:rPr i="1" lang="en" sz="2200">
                <a:solidFill>
                  <a:schemeClr val="dk2"/>
                </a:solidFill>
              </a:rPr>
              <a:t> table</a:t>
            </a:r>
            <a:r>
              <a:rPr lang="en" sz="2200">
                <a:solidFill>
                  <a:schemeClr val="dk2"/>
                </a:solidFill>
              </a:rPr>
              <a:t>).</a:t>
            </a:r>
            <a:endParaRPr sz="2200">
              <a:solidFill>
                <a:schemeClr val="dk2"/>
              </a:solidFill>
            </a:endParaRPr>
          </a:p>
        </p:txBody>
      </p:sp>
      <p:sp>
        <p:nvSpPr>
          <p:cNvPr id="512" name="Google Shape;512;p71"/>
          <p:cNvSpPr txBox="1"/>
          <p:nvPr/>
        </p:nvSpPr>
        <p:spPr>
          <a:xfrm>
            <a:off x="3603100" y="533725"/>
            <a:ext cx="17175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accent5"/>
                </a:solidFill>
                <a:latin typeface="Roboto"/>
                <a:ea typeface="Roboto"/>
                <a:cs typeface="Roboto"/>
                <a:sym typeface="Roboto"/>
              </a:rPr>
              <a:t>Each user has</a:t>
            </a:r>
            <a:br>
              <a:rPr lang="en" sz="1300">
                <a:solidFill>
                  <a:schemeClr val="accent5"/>
                </a:solidFill>
                <a:latin typeface="Roboto"/>
                <a:ea typeface="Roboto"/>
                <a:cs typeface="Roboto"/>
                <a:sym typeface="Roboto"/>
              </a:rPr>
            </a:br>
            <a:r>
              <a:rPr lang="en" sz="1300">
                <a:solidFill>
                  <a:schemeClr val="accent5"/>
                </a:solidFill>
                <a:latin typeface="Roboto"/>
                <a:ea typeface="Roboto"/>
                <a:cs typeface="Roboto"/>
                <a:sym typeface="Roboto"/>
              </a:rPr>
              <a:t>their own individual, private crontab. </a:t>
            </a:r>
            <a:endParaRPr sz="1300">
              <a:solidFill>
                <a:schemeClr val="accent5"/>
              </a:solidFill>
              <a:latin typeface="Roboto"/>
              <a:ea typeface="Roboto"/>
              <a:cs typeface="Roboto"/>
              <a:sym typeface="Roboto"/>
            </a:endParaRPr>
          </a:p>
        </p:txBody>
      </p:sp>
      <p:sp>
        <p:nvSpPr>
          <p:cNvPr id="513" name="Google Shape;513;p71"/>
          <p:cNvSpPr txBox="1"/>
          <p:nvPr/>
        </p:nvSpPr>
        <p:spPr>
          <a:xfrm>
            <a:off x="3381750" y="1835075"/>
            <a:ext cx="14607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accent5"/>
                </a:solidFill>
                <a:latin typeface="Roboto"/>
                <a:ea typeface="Roboto"/>
                <a:cs typeface="Roboto"/>
                <a:sym typeface="Roboto"/>
              </a:rPr>
              <a:t>System crontabs are for system </a:t>
            </a:r>
            <a:br>
              <a:rPr lang="en" sz="1300">
                <a:solidFill>
                  <a:schemeClr val="accent5"/>
                </a:solidFill>
                <a:latin typeface="Roboto"/>
                <a:ea typeface="Roboto"/>
                <a:cs typeface="Roboto"/>
                <a:sym typeface="Roboto"/>
              </a:rPr>
            </a:br>
            <a:r>
              <a:rPr lang="en" sz="1300">
                <a:solidFill>
                  <a:schemeClr val="accent5"/>
                </a:solidFill>
                <a:latin typeface="Roboto"/>
                <a:ea typeface="Roboto"/>
                <a:cs typeface="Roboto"/>
                <a:sym typeface="Roboto"/>
              </a:rPr>
              <a:t>level actions.</a:t>
            </a:r>
            <a:endParaRPr sz="1300">
              <a:solidFill>
                <a:schemeClr val="accent5"/>
              </a:solidFill>
              <a:latin typeface="Roboto"/>
              <a:ea typeface="Roboto"/>
              <a:cs typeface="Roboto"/>
              <a:sym typeface="Roboto"/>
            </a:endParaRPr>
          </a:p>
        </p:txBody>
      </p:sp>
      <p:sp>
        <p:nvSpPr>
          <p:cNvPr id="514" name="Google Shape;514;p71"/>
          <p:cNvSpPr txBox="1"/>
          <p:nvPr/>
        </p:nvSpPr>
        <p:spPr>
          <a:xfrm>
            <a:off x="6242100" y="2010500"/>
            <a:ext cx="17175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2"/>
                </a:solidFill>
                <a:latin typeface="Roboto"/>
                <a:ea typeface="Roboto"/>
                <a:cs typeface="Roboto"/>
                <a:sym typeface="Roboto"/>
              </a:rPr>
              <a:t>Root users</a:t>
            </a:r>
            <a:br>
              <a:rPr lang="en" sz="1300">
                <a:solidFill>
                  <a:schemeClr val="dk2"/>
                </a:solidFill>
                <a:latin typeface="Roboto"/>
                <a:ea typeface="Roboto"/>
                <a:cs typeface="Roboto"/>
                <a:sym typeface="Roboto"/>
              </a:rPr>
            </a:br>
            <a:r>
              <a:rPr lang="en" sz="1300">
                <a:solidFill>
                  <a:schemeClr val="dk2"/>
                </a:solidFill>
                <a:latin typeface="Roboto"/>
                <a:ea typeface="Roboto"/>
                <a:cs typeface="Roboto"/>
                <a:sym typeface="Roboto"/>
              </a:rPr>
              <a:t>can have a</a:t>
            </a:r>
            <a:br>
              <a:rPr lang="en" sz="1300">
                <a:solidFill>
                  <a:schemeClr val="dk2"/>
                </a:solidFill>
                <a:latin typeface="Roboto"/>
                <a:ea typeface="Roboto"/>
                <a:cs typeface="Roboto"/>
                <a:sym typeface="Roboto"/>
              </a:rPr>
            </a:br>
            <a:r>
              <a:rPr lang="en" sz="1300">
                <a:solidFill>
                  <a:schemeClr val="dk2"/>
                </a:solidFill>
                <a:latin typeface="Roboto"/>
                <a:ea typeface="Roboto"/>
                <a:cs typeface="Roboto"/>
                <a:sym typeface="Roboto"/>
              </a:rPr>
              <a:t>crontab too. </a:t>
            </a:r>
            <a:endParaRPr sz="1300">
              <a:solidFill>
                <a:schemeClr val="dk2"/>
              </a:solidFill>
              <a:latin typeface="Roboto"/>
              <a:ea typeface="Roboto"/>
              <a:cs typeface="Roboto"/>
              <a:sym typeface="Roboto"/>
            </a:endParaRPr>
          </a:p>
        </p:txBody>
      </p:sp>
      <p:sp>
        <p:nvSpPr>
          <p:cNvPr id="515" name="Google Shape;515;p71"/>
          <p:cNvSpPr txBox="1"/>
          <p:nvPr/>
        </p:nvSpPr>
        <p:spPr>
          <a:xfrm>
            <a:off x="5852575" y="613375"/>
            <a:ext cx="15750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accent5"/>
                </a:solidFill>
                <a:latin typeface="Roboto"/>
                <a:ea typeface="Roboto"/>
                <a:cs typeface="Roboto"/>
                <a:sym typeface="Roboto"/>
              </a:rPr>
              <a:t>Tasks scheduled by users are run under that user’s privilege level.</a:t>
            </a:r>
            <a:endParaRPr sz="1300">
              <a:solidFill>
                <a:schemeClr val="accent5"/>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72"/>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Inconsolata"/>
                <a:ea typeface="Inconsolata"/>
                <a:cs typeface="Inconsolata"/>
                <a:sym typeface="Inconsolata"/>
              </a:rPr>
              <a:t>cron</a:t>
            </a:r>
            <a:r>
              <a:rPr lang="en"/>
              <a:t> Syntax</a:t>
            </a:r>
            <a:endParaRPr/>
          </a:p>
        </p:txBody>
      </p:sp>
      <p:sp>
        <p:nvSpPr>
          <p:cNvPr id="521" name="Google Shape;521;p72"/>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Viewing and modifying the </a:t>
            </a:r>
            <a:r>
              <a:rPr b="1" lang="en">
                <a:latin typeface="Inconsolata"/>
                <a:ea typeface="Inconsolata"/>
                <a:cs typeface="Inconsolata"/>
                <a:sym typeface="Inconsolata"/>
              </a:rPr>
              <a:t>crontab</a:t>
            </a:r>
            <a:endParaRPr b="1">
              <a:latin typeface="Inconsolata"/>
              <a:ea typeface="Inconsolata"/>
              <a:cs typeface="Inconsolata"/>
              <a:sym typeface="Inconsolata"/>
            </a:endParaRPr>
          </a:p>
        </p:txBody>
      </p:sp>
      <p:sp>
        <p:nvSpPr>
          <p:cNvPr id="522" name="Google Shape;522;p72"/>
          <p:cNvSpPr txBox="1"/>
          <p:nvPr/>
        </p:nvSpPr>
        <p:spPr>
          <a:xfrm>
            <a:off x="485775" y="1534425"/>
            <a:ext cx="7971900" cy="7653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3600">
                <a:solidFill>
                  <a:schemeClr val="accent4"/>
                </a:solidFill>
                <a:latin typeface="Inconsolata"/>
                <a:ea typeface="Inconsolata"/>
                <a:cs typeface="Inconsolata"/>
                <a:sym typeface="Inconsolata"/>
              </a:rPr>
              <a:t>crontab</a:t>
            </a:r>
            <a:r>
              <a:rPr lang="en" sz="3600">
                <a:solidFill>
                  <a:srgbClr val="FFFFFF"/>
                </a:solidFill>
                <a:latin typeface="Inconsolata"/>
                <a:ea typeface="Inconsolata"/>
                <a:cs typeface="Inconsolata"/>
                <a:sym typeface="Inconsolata"/>
              </a:rPr>
              <a:t> </a:t>
            </a:r>
            <a:r>
              <a:rPr lang="en" sz="3600">
                <a:solidFill>
                  <a:schemeClr val="accent1"/>
                </a:solidFill>
                <a:latin typeface="Inconsolata"/>
                <a:ea typeface="Inconsolata"/>
                <a:cs typeface="Inconsolata"/>
                <a:sym typeface="Inconsolata"/>
              </a:rPr>
              <a:t>-l</a:t>
            </a:r>
            <a:endParaRPr sz="3600">
              <a:solidFill>
                <a:schemeClr val="accent1"/>
              </a:solidFill>
              <a:latin typeface="Inconsolata"/>
              <a:ea typeface="Inconsolata"/>
              <a:cs typeface="Inconsolata"/>
              <a:sym typeface="Inconsolata"/>
            </a:endParaRPr>
          </a:p>
        </p:txBody>
      </p:sp>
      <p:pic>
        <p:nvPicPr>
          <p:cNvPr id="523" name="Google Shape;523;p72"/>
          <p:cNvPicPr preferRelativeResize="0"/>
          <p:nvPr/>
        </p:nvPicPr>
        <p:blipFill rotWithShape="1">
          <a:blip r:embed="rId3">
            <a:alphaModFix/>
          </a:blip>
          <a:srcRect b="0" l="0" r="0" t="0"/>
          <a:stretch/>
        </p:blipFill>
        <p:spPr>
          <a:xfrm>
            <a:off x="232042" y="227450"/>
            <a:ext cx="450300" cy="459490"/>
          </a:xfrm>
          <a:prstGeom prst="rect">
            <a:avLst/>
          </a:prstGeom>
          <a:noFill/>
          <a:ln>
            <a:noFill/>
          </a:ln>
        </p:spPr>
      </p:pic>
      <p:sp>
        <p:nvSpPr>
          <p:cNvPr id="524" name="Google Shape;524;p72"/>
          <p:cNvSpPr txBox="1"/>
          <p:nvPr/>
        </p:nvSpPr>
        <p:spPr>
          <a:xfrm>
            <a:off x="485775" y="3147200"/>
            <a:ext cx="7971900" cy="7653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3600">
                <a:solidFill>
                  <a:schemeClr val="accent4"/>
                </a:solidFill>
                <a:latin typeface="Inconsolata"/>
                <a:ea typeface="Inconsolata"/>
                <a:cs typeface="Inconsolata"/>
                <a:sym typeface="Inconsolata"/>
              </a:rPr>
              <a:t>crontab</a:t>
            </a:r>
            <a:r>
              <a:rPr lang="en" sz="3600">
                <a:solidFill>
                  <a:srgbClr val="FFFFFF"/>
                </a:solidFill>
                <a:latin typeface="Inconsolata"/>
                <a:ea typeface="Inconsolata"/>
                <a:cs typeface="Inconsolata"/>
                <a:sym typeface="Inconsolata"/>
              </a:rPr>
              <a:t> </a:t>
            </a:r>
            <a:r>
              <a:rPr lang="en" sz="3600">
                <a:solidFill>
                  <a:schemeClr val="accent1"/>
                </a:solidFill>
                <a:latin typeface="Inconsolata"/>
                <a:ea typeface="Inconsolata"/>
                <a:cs typeface="Inconsolata"/>
                <a:sym typeface="Inconsolata"/>
              </a:rPr>
              <a:t>-e</a:t>
            </a:r>
            <a:endParaRPr sz="3600">
              <a:solidFill>
                <a:schemeClr val="accent1"/>
              </a:solidFill>
              <a:latin typeface="Inconsolata"/>
              <a:ea typeface="Inconsolata"/>
              <a:cs typeface="Inconsolata"/>
              <a:sym typeface="Inconsolata"/>
            </a:endParaRPr>
          </a:p>
        </p:txBody>
      </p:sp>
      <p:sp>
        <p:nvSpPr>
          <p:cNvPr id="525" name="Google Shape;525;p72"/>
          <p:cNvSpPr txBox="1"/>
          <p:nvPr/>
        </p:nvSpPr>
        <p:spPr>
          <a:xfrm>
            <a:off x="563925" y="1132950"/>
            <a:ext cx="78156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Roboto"/>
                <a:ea typeface="Roboto"/>
                <a:cs typeface="Roboto"/>
                <a:sym typeface="Roboto"/>
              </a:rPr>
              <a:t>List the contents of </a:t>
            </a:r>
            <a:r>
              <a:rPr b="1" lang="en" sz="1800">
                <a:solidFill>
                  <a:schemeClr val="dk2"/>
                </a:solidFill>
                <a:latin typeface="Inconsolata"/>
                <a:ea typeface="Inconsolata"/>
                <a:cs typeface="Inconsolata"/>
                <a:sym typeface="Inconsolata"/>
              </a:rPr>
              <a:t>crontab</a:t>
            </a:r>
            <a:endParaRPr b="1" sz="1800">
              <a:solidFill>
                <a:schemeClr val="dk2"/>
              </a:solidFill>
              <a:latin typeface="Inconsolata"/>
              <a:ea typeface="Inconsolata"/>
              <a:cs typeface="Inconsolata"/>
              <a:sym typeface="Inconsolata"/>
            </a:endParaRPr>
          </a:p>
        </p:txBody>
      </p:sp>
      <p:sp>
        <p:nvSpPr>
          <p:cNvPr id="526" name="Google Shape;526;p72"/>
          <p:cNvSpPr txBox="1"/>
          <p:nvPr/>
        </p:nvSpPr>
        <p:spPr>
          <a:xfrm>
            <a:off x="664200" y="2747975"/>
            <a:ext cx="78156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Roboto"/>
                <a:ea typeface="Roboto"/>
                <a:cs typeface="Roboto"/>
                <a:sym typeface="Roboto"/>
              </a:rPr>
              <a:t>Edit the</a:t>
            </a:r>
            <a:r>
              <a:rPr lang="en" sz="1800">
                <a:solidFill>
                  <a:schemeClr val="dk2"/>
                </a:solidFill>
                <a:latin typeface="Roboto"/>
                <a:ea typeface="Roboto"/>
                <a:cs typeface="Roboto"/>
                <a:sym typeface="Roboto"/>
              </a:rPr>
              <a:t> </a:t>
            </a:r>
            <a:r>
              <a:rPr b="1" lang="en" sz="1800">
                <a:solidFill>
                  <a:schemeClr val="dk2"/>
                </a:solidFill>
                <a:latin typeface="Inconsolata"/>
                <a:ea typeface="Inconsolata"/>
                <a:cs typeface="Inconsolata"/>
                <a:sym typeface="Inconsolata"/>
              </a:rPr>
              <a:t>crontab</a:t>
            </a:r>
            <a:endParaRPr b="1" sz="1800">
              <a:solidFill>
                <a:schemeClr val="dk2"/>
              </a:solidFill>
              <a:latin typeface="Inconsolata"/>
              <a:ea typeface="Inconsolata"/>
              <a:cs typeface="Inconsolata"/>
              <a:sym typeface="Inconsolat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73"/>
          <p:cNvSpPr txBox="1"/>
          <p:nvPr/>
        </p:nvSpPr>
        <p:spPr>
          <a:xfrm>
            <a:off x="368950" y="127400"/>
            <a:ext cx="8463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5"/>
                </a:solidFill>
                <a:latin typeface="Inconsolata"/>
                <a:ea typeface="Inconsolata"/>
                <a:cs typeface="Inconsolata"/>
                <a:sym typeface="Inconsolata"/>
              </a:rPr>
              <a:t>cron</a:t>
            </a:r>
            <a:r>
              <a:rPr lang="en" sz="2400">
                <a:solidFill>
                  <a:schemeClr val="accent5"/>
                </a:solidFill>
                <a:latin typeface="Roboto Light"/>
                <a:ea typeface="Roboto Light"/>
                <a:cs typeface="Roboto Light"/>
                <a:sym typeface="Roboto Light"/>
              </a:rPr>
              <a:t> </a:t>
            </a:r>
            <a:r>
              <a:rPr b="1" lang="en" sz="2400">
                <a:solidFill>
                  <a:schemeClr val="accent5"/>
                </a:solidFill>
                <a:latin typeface="Roboto"/>
                <a:ea typeface="Roboto"/>
                <a:cs typeface="Roboto"/>
                <a:sym typeface="Roboto"/>
              </a:rPr>
              <a:t>Example</a:t>
            </a:r>
            <a:endParaRPr b="1" i="1" sz="2400">
              <a:solidFill>
                <a:schemeClr val="accent5"/>
              </a:solidFill>
              <a:latin typeface="Roboto"/>
              <a:ea typeface="Roboto"/>
              <a:cs typeface="Roboto"/>
              <a:sym typeface="Roboto"/>
            </a:endParaRPr>
          </a:p>
          <a:p>
            <a:pPr indent="0" lvl="0" marL="0" rtl="0" algn="l">
              <a:lnSpc>
                <a:spcPct val="115000"/>
              </a:lnSpc>
              <a:spcBef>
                <a:spcPts val="0"/>
              </a:spcBef>
              <a:spcAft>
                <a:spcPts val="1600"/>
              </a:spcAft>
              <a:buNone/>
            </a:pPr>
            <a:r>
              <a:rPr lang="en">
                <a:solidFill>
                  <a:srgbClr val="2E5E73"/>
                </a:solidFill>
                <a:latin typeface="Roboto Light"/>
                <a:ea typeface="Roboto Light"/>
                <a:cs typeface="Roboto Light"/>
                <a:sym typeface="Roboto Light"/>
              </a:rPr>
              <a:t> </a:t>
            </a:r>
            <a:endParaRPr>
              <a:solidFill>
                <a:srgbClr val="2E5E73"/>
              </a:solidFill>
              <a:latin typeface="Roboto Light"/>
              <a:ea typeface="Roboto Light"/>
              <a:cs typeface="Roboto Light"/>
              <a:sym typeface="Roboto Light"/>
            </a:endParaRPr>
          </a:p>
        </p:txBody>
      </p:sp>
      <p:sp>
        <p:nvSpPr>
          <p:cNvPr id="532" name="Google Shape;532;p73"/>
          <p:cNvSpPr txBox="1"/>
          <p:nvPr/>
        </p:nvSpPr>
        <p:spPr>
          <a:xfrm>
            <a:off x="368950" y="749800"/>
            <a:ext cx="8317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latin typeface="Inconsolata"/>
                <a:ea typeface="Inconsolata"/>
                <a:cs typeface="Inconsolata"/>
                <a:sym typeface="Inconsolata"/>
              </a:rPr>
              <a:t># R</a:t>
            </a:r>
            <a:r>
              <a:rPr b="1" lang="en" sz="1500">
                <a:solidFill>
                  <a:schemeClr val="dk2"/>
                </a:solidFill>
                <a:latin typeface="Inconsolata"/>
                <a:ea typeface="Inconsolata"/>
                <a:cs typeface="Inconsolata"/>
                <a:sym typeface="Inconsolata"/>
              </a:rPr>
              <a:t>emoves all files in the ~/Downloads directory at 11pm, every Saturday, every month</a:t>
            </a:r>
            <a:endParaRPr b="1" sz="1500">
              <a:solidFill>
                <a:schemeClr val="dk2"/>
              </a:solidFill>
              <a:latin typeface="Inconsolata"/>
              <a:ea typeface="Inconsolata"/>
              <a:cs typeface="Inconsolata"/>
              <a:sym typeface="Inconsolata"/>
            </a:endParaRPr>
          </a:p>
          <a:p>
            <a:pPr indent="0" lvl="0" marL="0" rtl="0" algn="l">
              <a:spcBef>
                <a:spcPts val="0"/>
              </a:spcBef>
              <a:spcAft>
                <a:spcPts val="0"/>
              </a:spcAft>
              <a:buNone/>
            </a:pPr>
            <a:r>
              <a:rPr b="1" lang="en" sz="1500">
                <a:solidFill>
                  <a:schemeClr val="dk2"/>
                </a:solidFill>
                <a:latin typeface="Inconsolata"/>
                <a:ea typeface="Inconsolata"/>
                <a:cs typeface="Inconsolata"/>
                <a:sym typeface="Inconsolata"/>
              </a:rPr>
              <a:t>0</a:t>
            </a:r>
            <a:r>
              <a:rPr b="1" lang="en" sz="1500">
                <a:solidFill>
                  <a:schemeClr val="dk2"/>
                </a:solidFill>
                <a:latin typeface="Inconsolata"/>
                <a:ea typeface="Inconsolata"/>
                <a:cs typeface="Inconsolata"/>
                <a:sym typeface="Inconsolata"/>
              </a:rPr>
              <a:t> 23 * * 6  rm ~/Downloads/*</a:t>
            </a:r>
            <a:endParaRPr b="1" sz="1500">
              <a:solidFill>
                <a:schemeClr val="dk2"/>
              </a:solidFill>
              <a:latin typeface="Inconsolata"/>
              <a:ea typeface="Inconsolata"/>
              <a:cs typeface="Inconsolata"/>
              <a:sym typeface="Inconsolata"/>
            </a:endParaRPr>
          </a:p>
        </p:txBody>
      </p:sp>
      <p:cxnSp>
        <p:nvCxnSpPr>
          <p:cNvPr id="533" name="Google Shape;533;p73"/>
          <p:cNvCxnSpPr/>
          <p:nvPr/>
        </p:nvCxnSpPr>
        <p:spPr>
          <a:xfrm>
            <a:off x="1253075" y="4345500"/>
            <a:ext cx="2630700" cy="0"/>
          </a:xfrm>
          <a:prstGeom prst="straightConnector1">
            <a:avLst/>
          </a:prstGeom>
          <a:noFill/>
          <a:ln cap="flat" cmpd="sng" w="19050">
            <a:solidFill>
              <a:schemeClr val="dk2"/>
            </a:solidFill>
            <a:prstDash val="solid"/>
            <a:round/>
            <a:headEnd len="med" w="med" type="none"/>
            <a:tailEnd len="med" w="med" type="triangle"/>
          </a:ln>
        </p:spPr>
      </p:cxnSp>
      <p:cxnSp>
        <p:nvCxnSpPr>
          <p:cNvPr id="534" name="Google Shape;534;p73"/>
          <p:cNvCxnSpPr/>
          <p:nvPr/>
        </p:nvCxnSpPr>
        <p:spPr>
          <a:xfrm>
            <a:off x="1671100" y="3935950"/>
            <a:ext cx="2205600" cy="0"/>
          </a:xfrm>
          <a:prstGeom prst="straightConnector1">
            <a:avLst/>
          </a:prstGeom>
          <a:noFill/>
          <a:ln cap="flat" cmpd="sng" w="19050">
            <a:solidFill>
              <a:schemeClr val="dk2"/>
            </a:solidFill>
            <a:prstDash val="solid"/>
            <a:round/>
            <a:headEnd len="med" w="med" type="none"/>
            <a:tailEnd len="med" w="med" type="triangle"/>
          </a:ln>
        </p:spPr>
      </p:cxnSp>
      <p:cxnSp>
        <p:nvCxnSpPr>
          <p:cNvPr id="535" name="Google Shape;535;p73"/>
          <p:cNvCxnSpPr/>
          <p:nvPr/>
        </p:nvCxnSpPr>
        <p:spPr>
          <a:xfrm>
            <a:off x="2081225" y="3576100"/>
            <a:ext cx="1806600" cy="0"/>
          </a:xfrm>
          <a:prstGeom prst="straightConnector1">
            <a:avLst/>
          </a:prstGeom>
          <a:noFill/>
          <a:ln cap="flat" cmpd="sng" w="19050">
            <a:solidFill>
              <a:schemeClr val="dk2"/>
            </a:solidFill>
            <a:prstDash val="solid"/>
            <a:round/>
            <a:headEnd len="med" w="med" type="none"/>
            <a:tailEnd len="med" w="med" type="triangle"/>
          </a:ln>
        </p:spPr>
      </p:cxnSp>
      <p:cxnSp>
        <p:nvCxnSpPr>
          <p:cNvPr id="536" name="Google Shape;536;p73"/>
          <p:cNvCxnSpPr/>
          <p:nvPr/>
        </p:nvCxnSpPr>
        <p:spPr>
          <a:xfrm>
            <a:off x="2496600" y="3269200"/>
            <a:ext cx="1391400" cy="0"/>
          </a:xfrm>
          <a:prstGeom prst="straightConnector1">
            <a:avLst/>
          </a:prstGeom>
          <a:noFill/>
          <a:ln cap="flat" cmpd="sng" w="19050">
            <a:solidFill>
              <a:schemeClr val="dk2"/>
            </a:solidFill>
            <a:prstDash val="solid"/>
            <a:round/>
            <a:headEnd len="med" w="med" type="none"/>
            <a:tailEnd len="med" w="med" type="triangle"/>
          </a:ln>
        </p:spPr>
      </p:cxnSp>
      <p:cxnSp>
        <p:nvCxnSpPr>
          <p:cNvPr id="537" name="Google Shape;537;p73"/>
          <p:cNvCxnSpPr/>
          <p:nvPr/>
        </p:nvCxnSpPr>
        <p:spPr>
          <a:xfrm>
            <a:off x="1258350" y="2171425"/>
            <a:ext cx="0" cy="2184000"/>
          </a:xfrm>
          <a:prstGeom prst="straightConnector1">
            <a:avLst/>
          </a:prstGeom>
          <a:noFill/>
          <a:ln cap="flat" cmpd="sng" w="19050">
            <a:solidFill>
              <a:schemeClr val="dk2"/>
            </a:solidFill>
            <a:prstDash val="solid"/>
            <a:round/>
            <a:headEnd len="med" w="med" type="none"/>
            <a:tailEnd len="med" w="med" type="none"/>
          </a:ln>
        </p:spPr>
      </p:cxnSp>
      <p:cxnSp>
        <p:nvCxnSpPr>
          <p:cNvPr id="538" name="Google Shape;538;p73"/>
          <p:cNvCxnSpPr/>
          <p:nvPr/>
        </p:nvCxnSpPr>
        <p:spPr>
          <a:xfrm>
            <a:off x="1676500" y="2174950"/>
            <a:ext cx="0" cy="1770900"/>
          </a:xfrm>
          <a:prstGeom prst="straightConnector1">
            <a:avLst/>
          </a:prstGeom>
          <a:noFill/>
          <a:ln cap="flat" cmpd="sng" w="19050">
            <a:solidFill>
              <a:schemeClr val="dk2"/>
            </a:solidFill>
            <a:prstDash val="solid"/>
            <a:round/>
            <a:headEnd len="med" w="med" type="none"/>
            <a:tailEnd len="med" w="med" type="none"/>
          </a:ln>
        </p:spPr>
      </p:cxnSp>
      <p:cxnSp>
        <p:nvCxnSpPr>
          <p:cNvPr id="539" name="Google Shape;539;p73"/>
          <p:cNvCxnSpPr/>
          <p:nvPr/>
        </p:nvCxnSpPr>
        <p:spPr>
          <a:xfrm>
            <a:off x="2089150" y="2174950"/>
            <a:ext cx="0" cy="1410900"/>
          </a:xfrm>
          <a:prstGeom prst="straightConnector1">
            <a:avLst/>
          </a:prstGeom>
          <a:noFill/>
          <a:ln cap="flat" cmpd="sng" w="19050">
            <a:solidFill>
              <a:schemeClr val="dk2"/>
            </a:solidFill>
            <a:prstDash val="solid"/>
            <a:round/>
            <a:headEnd len="med" w="med" type="none"/>
            <a:tailEnd len="med" w="med" type="none"/>
          </a:ln>
        </p:spPr>
      </p:cxnSp>
      <p:cxnSp>
        <p:nvCxnSpPr>
          <p:cNvPr id="540" name="Google Shape;540;p73"/>
          <p:cNvCxnSpPr/>
          <p:nvPr/>
        </p:nvCxnSpPr>
        <p:spPr>
          <a:xfrm>
            <a:off x="2496600" y="2181975"/>
            <a:ext cx="0" cy="1096800"/>
          </a:xfrm>
          <a:prstGeom prst="straightConnector1">
            <a:avLst/>
          </a:prstGeom>
          <a:noFill/>
          <a:ln cap="flat" cmpd="sng" w="19050">
            <a:solidFill>
              <a:schemeClr val="dk2"/>
            </a:solidFill>
            <a:prstDash val="solid"/>
            <a:round/>
            <a:headEnd len="med" w="med" type="none"/>
            <a:tailEnd len="med" w="med" type="none"/>
          </a:ln>
        </p:spPr>
      </p:cxnSp>
      <p:cxnSp>
        <p:nvCxnSpPr>
          <p:cNvPr id="541" name="Google Shape;541;p73"/>
          <p:cNvCxnSpPr/>
          <p:nvPr/>
        </p:nvCxnSpPr>
        <p:spPr>
          <a:xfrm>
            <a:off x="2914650" y="2174950"/>
            <a:ext cx="0" cy="797400"/>
          </a:xfrm>
          <a:prstGeom prst="straightConnector1">
            <a:avLst/>
          </a:prstGeom>
          <a:noFill/>
          <a:ln cap="flat" cmpd="sng" w="19050">
            <a:solidFill>
              <a:schemeClr val="dk2"/>
            </a:solidFill>
            <a:prstDash val="solid"/>
            <a:round/>
            <a:headEnd len="med" w="med" type="none"/>
            <a:tailEnd len="med" w="med" type="none"/>
          </a:ln>
        </p:spPr>
      </p:cxnSp>
      <p:cxnSp>
        <p:nvCxnSpPr>
          <p:cNvPr id="542" name="Google Shape;542;p73"/>
          <p:cNvCxnSpPr/>
          <p:nvPr/>
        </p:nvCxnSpPr>
        <p:spPr>
          <a:xfrm>
            <a:off x="2910675" y="2962275"/>
            <a:ext cx="972900" cy="0"/>
          </a:xfrm>
          <a:prstGeom prst="straightConnector1">
            <a:avLst/>
          </a:prstGeom>
          <a:noFill/>
          <a:ln cap="flat" cmpd="sng" w="19050">
            <a:solidFill>
              <a:schemeClr val="dk2"/>
            </a:solidFill>
            <a:prstDash val="solid"/>
            <a:round/>
            <a:headEnd len="med" w="med" type="none"/>
            <a:tailEnd len="med" w="med" type="triangle"/>
          </a:ln>
        </p:spPr>
      </p:cxnSp>
      <p:graphicFrame>
        <p:nvGraphicFramePr>
          <p:cNvPr id="543" name="Google Shape;543;p73"/>
          <p:cNvGraphicFramePr/>
          <p:nvPr/>
        </p:nvGraphicFramePr>
        <p:xfrm>
          <a:off x="1030963" y="1720300"/>
          <a:ext cx="3000000" cy="3000000"/>
        </p:xfrm>
        <a:graphic>
          <a:graphicData uri="http://schemas.openxmlformats.org/drawingml/2006/table">
            <a:tbl>
              <a:tblPr>
                <a:noFill/>
                <a:tableStyleId>{5A0AF27A-F37F-438B-A31F-9CE7060CF56F}</a:tableStyleId>
              </a:tblPr>
              <a:tblGrid>
                <a:gridCol w="423725"/>
                <a:gridCol w="423725"/>
                <a:gridCol w="423725"/>
                <a:gridCol w="423725"/>
                <a:gridCol w="377725"/>
                <a:gridCol w="5261000"/>
              </a:tblGrid>
              <a:tr h="215600">
                <a:tc>
                  <a:txBody>
                    <a:bodyPr/>
                    <a:lstStyle/>
                    <a:p>
                      <a:pPr indent="0" lvl="0" marL="0" rtl="0" algn="ctr">
                        <a:spcBef>
                          <a:spcPts val="500"/>
                        </a:spcBef>
                        <a:spcAft>
                          <a:spcPts val="0"/>
                        </a:spcAft>
                        <a:buClr>
                          <a:srgbClr val="000000"/>
                        </a:buClr>
                        <a:buSzPts val="1100"/>
                        <a:buFont typeface="Arial"/>
                        <a:buNone/>
                      </a:pPr>
                      <a:r>
                        <a:rPr lang="en" sz="1600">
                          <a:solidFill>
                            <a:schemeClr val="dk2"/>
                          </a:solidFill>
                          <a:latin typeface="Roboto Mono"/>
                          <a:ea typeface="Roboto Mono"/>
                          <a:cs typeface="Roboto Mono"/>
                          <a:sym typeface="Roboto Mono"/>
                        </a:rPr>
                        <a:t>0</a:t>
                      </a:r>
                      <a:endParaRPr sz="1600">
                        <a:solidFill>
                          <a:schemeClr val="dk2"/>
                        </a:solidFill>
                      </a:endParaRPr>
                    </a:p>
                  </a:txBody>
                  <a:tcPr marT="0" marB="0" marR="0" marL="0" anchor="ctr">
                    <a:lnL cap="flat" cmpd="sng" w="9525">
                      <a:solidFill>
                        <a:srgbClr val="595959">
                          <a:alpha val="0"/>
                        </a:srgbClr>
                      </a:solidFill>
                      <a:prstDash val="solid"/>
                      <a:round/>
                      <a:headEnd len="sm" w="sm" type="none"/>
                      <a:tailEnd len="sm" w="sm" type="none"/>
                    </a:lnL>
                    <a:lnR cap="flat" cmpd="sng" w="9525">
                      <a:solidFill>
                        <a:srgbClr val="1475D4">
                          <a:alpha val="0"/>
                        </a:srgbClr>
                      </a:solidFill>
                      <a:prstDash val="solid"/>
                      <a:round/>
                      <a:headEnd len="sm" w="sm" type="none"/>
                      <a:tailEnd len="sm" w="sm" type="none"/>
                    </a:lnR>
                    <a:lnT cap="flat" cmpd="sng" w="9525">
                      <a:solidFill>
                        <a:srgbClr val="595959">
                          <a:alpha val="0"/>
                        </a:srgbClr>
                      </a:solidFill>
                      <a:prstDash val="solid"/>
                      <a:round/>
                      <a:headEnd len="sm" w="sm" type="none"/>
                      <a:tailEnd len="sm" w="sm" type="none"/>
                    </a:lnT>
                    <a:lnB cap="flat" cmpd="sng" w="9525">
                      <a:solidFill>
                        <a:srgbClr val="595959">
                          <a:alpha val="0"/>
                        </a:srgbClr>
                      </a:solidFill>
                      <a:prstDash val="solid"/>
                      <a:round/>
                      <a:headEnd len="sm" w="sm" type="none"/>
                      <a:tailEnd len="sm" w="sm" type="none"/>
                    </a:lnB>
                  </a:tcPr>
                </a:tc>
                <a:tc>
                  <a:txBody>
                    <a:bodyPr/>
                    <a:lstStyle/>
                    <a:p>
                      <a:pPr indent="0" lvl="0" marL="0" rtl="0" algn="ctr">
                        <a:spcBef>
                          <a:spcPts val="500"/>
                        </a:spcBef>
                        <a:spcAft>
                          <a:spcPts val="0"/>
                        </a:spcAft>
                        <a:buClr>
                          <a:srgbClr val="000000"/>
                        </a:buClr>
                        <a:buSzPts val="1100"/>
                        <a:buFont typeface="Arial"/>
                        <a:buNone/>
                      </a:pPr>
                      <a:r>
                        <a:rPr lang="en" sz="1600">
                          <a:solidFill>
                            <a:schemeClr val="dk2"/>
                          </a:solidFill>
                          <a:latin typeface="Roboto Mono"/>
                          <a:ea typeface="Roboto Mono"/>
                          <a:cs typeface="Roboto Mono"/>
                          <a:sym typeface="Roboto Mono"/>
                        </a:rPr>
                        <a:t>23</a:t>
                      </a:r>
                      <a:endParaRPr sz="1600">
                        <a:solidFill>
                          <a:schemeClr val="dk2"/>
                        </a:solidFill>
                      </a:endParaRPr>
                    </a:p>
                  </a:txBody>
                  <a:tcPr marT="0" marB="0" marR="0" marL="0" anchor="ctr">
                    <a:lnL cap="flat" cmpd="sng" w="9525">
                      <a:solidFill>
                        <a:srgbClr val="1475D4">
                          <a:alpha val="0"/>
                        </a:srgbClr>
                      </a:solidFill>
                      <a:prstDash val="solid"/>
                      <a:round/>
                      <a:headEnd len="sm" w="sm" type="none"/>
                      <a:tailEnd len="sm" w="sm" type="none"/>
                    </a:lnL>
                    <a:lnR cap="flat" cmpd="sng" w="9525">
                      <a:solidFill>
                        <a:srgbClr val="1475D4">
                          <a:alpha val="0"/>
                        </a:srgbClr>
                      </a:solidFill>
                      <a:prstDash val="solid"/>
                      <a:round/>
                      <a:headEnd len="sm" w="sm" type="none"/>
                      <a:tailEnd len="sm" w="sm" type="none"/>
                    </a:lnR>
                    <a:lnT cap="flat" cmpd="sng" w="9525">
                      <a:solidFill>
                        <a:srgbClr val="595959">
                          <a:alpha val="0"/>
                        </a:srgbClr>
                      </a:solidFill>
                      <a:prstDash val="solid"/>
                      <a:round/>
                      <a:headEnd len="sm" w="sm" type="none"/>
                      <a:tailEnd len="sm" w="sm" type="none"/>
                    </a:lnT>
                    <a:lnB cap="flat" cmpd="sng" w="9525">
                      <a:solidFill>
                        <a:srgbClr val="595959">
                          <a:alpha val="0"/>
                        </a:srgbClr>
                      </a:solidFill>
                      <a:prstDash val="solid"/>
                      <a:round/>
                      <a:headEnd len="sm" w="sm" type="none"/>
                      <a:tailEnd len="sm" w="sm" type="none"/>
                    </a:lnB>
                  </a:tcPr>
                </a:tc>
                <a:tc>
                  <a:txBody>
                    <a:bodyPr/>
                    <a:lstStyle/>
                    <a:p>
                      <a:pPr indent="0" lvl="0" marL="0" rtl="0" algn="ctr">
                        <a:spcBef>
                          <a:spcPts val="500"/>
                        </a:spcBef>
                        <a:spcAft>
                          <a:spcPts val="0"/>
                        </a:spcAft>
                        <a:buClr>
                          <a:srgbClr val="000000"/>
                        </a:buClr>
                        <a:buSzPts val="1100"/>
                        <a:buFont typeface="Arial"/>
                        <a:buNone/>
                      </a:pPr>
                      <a:r>
                        <a:rPr lang="en" sz="1600">
                          <a:solidFill>
                            <a:schemeClr val="dk2"/>
                          </a:solidFill>
                          <a:latin typeface="Roboto Mono"/>
                          <a:ea typeface="Roboto Mono"/>
                          <a:cs typeface="Roboto Mono"/>
                          <a:sym typeface="Roboto Mono"/>
                        </a:rPr>
                        <a:t>*</a:t>
                      </a:r>
                      <a:endParaRPr sz="1600">
                        <a:solidFill>
                          <a:schemeClr val="dk2"/>
                        </a:solidFill>
                      </a:endParaRPr>
                    </a:p>
                  </a:txBody>
                  <a:tcPr marT="0" marB="0" marR="0" marL="0" anchor="ctr">
                    <a:lnL cap="flat" cmpd="sng" w="9525">
                      <a:solidFill>
                        <a:srgbClr val="1475D4">
                          <a:alpha val="0"/>
                        </a:srgbClr>
                      </a:solidFill>
                      <a:prstDash val="solid"/>
                      <a:round/>
                      <a:headEnd len="sm" w="sm" type="none"/>
                      <a:tailEnd len="sm" w="sm" type="none"/>
                    </a:lnL>
                    <a:lnR cap="flat" cmpd="sng" w="9525">
                      <a:solidFill>
                        <a:srgbClr val="1475D4">
                          <a:alpha val="0"/>
                        </a:srgbClr>
                      </a:solidFill>
                      <a:prstDash val="solid"/>
                      <a:round/>
                      <a:headEnd len="sm" w="sm" type="none"/>
                      <a:tailEnd len="sm" w="sm" type="none"/>
                    </a:lnR>
                    <a:lnT cap="flat" cmpd="sng" w="9525">
                      <a:solidFill>
                        <a:srgbClr val="595959">
                          <a:alpha val="0"/>
                        </a:srgbClr>
                      </a:solidFill>
                      <a:prstDash val="solid"/>
                      <a:round/>
                      <a:headEnd len="sm" w="sm" type="none"/>
                      <a:tailEnd len="sm" w="sm" type="none"/>
                    </a:lnT>
                    <a:lnB cap="flat" cmpd="sng" w="9525">
                      <a:solidFill>
                        <a:srgbClr val="595959">
                          <a:alpha val="0"/>
                        </a:srgbClr>
                      </a:solidFill>
                      <a:prstDash val="solid"/>
                      <a:round/>
                      <a:headEnd len="sm" w="sm" type="none"/>
                      <a:tailEnd len="sm" w="sm" type="none"/>
                    </a:lnB>
                  </a:tcPr>
                </a:tc>
                <a:tc>
                  <a:txBody>
                    <a:bodyPr/>
                    <a:lstStyle/>
                    <a:p>
                      <a:pPr indent="0" lvl="0" marL="0" rtl="0" algn="ctr">
                        <a:spcBef>
                          <a:spcPts val="500"/>
                        </a:spcBef>
                        <a:spcAft>
                          <a:spcPts val="0"/>
                        </a:spcAft>
                        <a:buClr>
                          <a:srgbClr val="000000"/>
                        </a:buClr>
                        <a:buSzPts val="1100"/>
                        <a:buFont typeface="Arial"/>
                        <a:buNone/>
                      </a:pPr>
                      <a:r>
                        <a:rPr lang="en" sz="1600">
                          <a:solidFill>
                            <a:schemeClr val="dk2"/>
                          </a:solidFill>
                          <a:latin typeface="Roboto Mono"/>
                          <a:ea typeface="Roboto Mono"/>
                          <a:cs typeface="Roboto Mono"/>
                          <a:sym typeface="Roboto Mono"/>
                        </a:rPr>
                        <a:t>*</a:t>
                      </a:r>
                      <a:endParaRPr sz="1600">
                        <a:solidFill>
                          <a:schemeClr val="dk2"/>
                        </a:solidFill>
                      </a:endParaRPr>
                    </a:p>
                  </a:txBody>
                  <a:tcPr marT="0" marB="0" marR="0" marL="0" anchor="ctr">
                    <a:lnL cap="flat" cmpd="sng" w="9525">
                      <a:solidFill>
                        <a:srgbClr val="1475D4">
                          <a:alpha val="0"/>
                        </a:srgbClr>
                      </a:solidFill>
                      <a:prstDash val="solid"/>
                      <a:round/>
                      <a:headEnd len="sm" w="sm" type="none"/>
                      <a:tailEnd len="sm" w="sm" type="none"/>
                    </a:lnL>
                    <a:lnR cap="flat" cmpd="sng" w="9525">
                      <a:solidFill>
                        <a:srgbClr val="1475D4">
                          <a:alpha val="0"/>
                        </a:srgbClr>
                      </a:solidFill>
                      <a:prstDash val="solid"/>
                      <a:round/>
                      <a:headEnd len="sm" w="sm" type="none"/>
                      <a:tailEnd len="sm" w="sm" type="none"/>
                    </a:lnR>
                    <a:lnT cap="flat" cmpd="sng" w="9525">
                      <a:solidFill>
                        <a:srgbClr val="595959">
                          <a:alpha val="0"/>
                        </a:srgbClr>
                      </a:solidFill>
                      <a:prstDash val="solid"/>
                      <a:round/>
                      <a:headEnd len="sm" w="sm" type="none"/>
                      <a:tailEnd len="sm" w="sm" type="none"/>
                    </a:lnT>
                    <a:lnB cap="flat" cmpd="sng" w="9525">
                      <a:solidFill>
                        <a:srgbClr val="595959">
                          <a:alpha val="0"/>
                        </a:srgbClr>
                      </a:solidFill>
                      <a:prstDash val="solid"/>
                      <a:round/>
                      <a:headEnd len="sm" w="sm" type="none"/>
                      <a:tailEnd len="sm" w="sm" type="none"/>
                    </a:lnB>
                  </a:tcPr>
                </a:tc>
                <a:tc>
                  <a:txBody>
                    <a:bodyPr/>
                    <a:lstStyle/>
                    <a:p>
                      <a:pPr indent="0" lvl="0" marL="0" rtl="0" algn="ctr">
                        <a:spcBef>
                          <a:spcPts val="500"/>
                        </a:spcBef>
                        <a:spcAft>
                          <a:spcPts val="0"/>
                        </a:spcAft>
                        <a:buClr>
                          <a:srgbClr val="000000"/>
                        </a:buClr>
                        <a:buSzPts val="1100"/>
                        <a:buFont typeface="Arial"/>
                        <a:buNone/>
                      </a:pPr>
                      <a:r>
                        <a:rPr lang="en" sz="1600">
                          <a:solidFill>
                            <a:schemeClr val="dk2"/>
                          </a:solidFill>
                          <a:latin typeface="Roboto Mono"/>
                          <a:ea typeface="Roboto Mono"/>
                          <a:cs typeface="Roboto Mono"/>
                          <a:sym typeface="Roboto Mono"/>
                        </a:rPr>
                        <a:t>6</a:t>
                      </a:r>
                      <a:endParaRPr sz="1600">
                        <a:solidFill>
                          <a:schemeClr val="dk2"/>
                        </a:solidFill>
                      </a:endParaRPr>
                    </a:p>
                  </a:txBody>
                  <a:tcPr marT="0" marB="0" marR="0" marL="0" anchor="ctr">
                    <a:lnL cap="flat" cmpd="sng" w="9525">
                      <a:solidFill>
                        <a:srgbClr val="1475D4">
                          <a:alpha val="0"/>
                        </a:srgbClr>
                      </a:solidFill>
                      <a:prstDash val="solid"/>
                      <a:round/>
                      <a:headEnd len="sm" w="sm" type="none"/>
                      <a:tailEnd len="sm" w="sm" type="none"/>
                    </a:lnL>
                    <a:lnR cap="flat" cmpd="sng" w="9525">
                      <a:solidFill>
                        <a:srgbClr val="1475D4">
                          <a:alpha val="0"/>
                        </a:srgbClr>
                      </a:solidFill>
                      <a:prstDash val="solid"/>
                      <a:round/>
                      <a:headEnd len="sm" w="sm" type="none"/>
                      <a:tailEnd len="sm" w="sm" type="none"/>
                    </a:lnR>
                    <a:lnT cap="flat" cmpd="sng" w="9525">
                      <a:solidFill>
                        <a:srgbClr val="595959">
                          <a:alpha val="0"/>
                        </a:srgbClr>
                      </a:solidFill>
                      <a:prstDash val="solid"/>
                      <a:round/>
                      <a:headEnd len="sm" w="sm" type="none"/>
                      <a:tailEnd len="sm" w="sm" type="none"/>
                    </a:lnT>
                    <a:lnB cap="flat" cmpd="sng" w="9525">
                      <a:solidFill>
                        <a:srgbClr val="595959">
                          <a:alpha val="0"/>
                        </a:srgbClr>
                      </a:solidFill>
                      <a:prstDash val="solid"/>
                      <a:round/>
                      <a:headEnd len="sm" w="sm" type="none"/>
                      <a:tailEnd len="sm" w="sm" type="none"/>
                    </a:lnB>
                  </a:tcPr>
                </a:tc>
                <a:tc>
                  <a:txBody>
                    <a:bodyPr/>
                    <a:lstStyle/>
                    <a:p>
                      <a:pPr indent="0" lvl="0" marL="0" rtl="0" algn="l">
                        <a:spcBef>
                          <a:spcPts val="500"/>
                        </a:spcBef>
                        <a:spcAft>
                          <a:spcPts val="0"/>
                        </a:spcAft>
                        <a:buClr>
                          <a:srgbClr val="000000"/>
                        </a:buClr>
                        <a:buSzPts val="1100"/>
                        <a:buFont typeface="Arial"/>
                        <a:buNone/>
                      </a:pPr>
                      <a:r>
                        <a:rPr lang="en" sz="1600">
                          <a:solidFill>
                            <a:schemeClr val="accent3"/>
                          </a:solidFill>
                          <a:latin typeface="Roboto Mono"/>
                          <a:ea typeface="Roboto Mono"/>
                          <a:cs typeface="Roboto Mono"/>
                          <a:sym typeface="Roboto Mono"/>
                        </a:rPr>
                        <a:t>r</a:t>
                      </a:r>
                      <a:r>
                        <a:rPr lang="en" sz="1600">
                          <a:solidFill>
                            <a:schemeClr val="accent3"/>
                          </a:solidFill>
                          <a:latin typeface="Roboto Mono"/>
                          <a:ea typeface="Roboto Mono"/>
                          <a:cs typeface="Roboto Mono"/>
                          <a:sym typeface="Roboto Mono"/>
                        </a:rPr>
                        <a:t>m ~/Downloads/*</a:t>
                      </a:r>
                      <a:endParaRPr sz="1600">
                        <a:solidFill>
                          <a:schemeClr val="accent3"/>
                        </a:solidFill>
                        <a:latin typeface="Roboto Mono"/>
                        <a:ea typeface="Roboto Mono"/>
                        <a:cs typeface="Roboto Mono"/>
                        <a:sym typeface="Roboto Mono"/>
                      </a:endParaRPr>
                    </a:p>
                  </a:txBody>
                  <a:tcPr marT="0" marB="0" marR="0" marL="91425" anchor="ctr">
                    <a:lnL cap="flat" cmpd="sng" w="9525">
                      <a:solidFill>
                        <a:srgbClr val="1475D4">
                          <a:alpha val="0"/>
                        </a:srgbClr>
                      </a:solidFill>
                      <a:prstDash val="solid"/>
                      <a:round/>
                      <a:headEnd len="sm" w="sm" type="none"/>
                      <a:tailEnd len="sm" w="sm" type="none"/>
                    </a:lnL>
                    <a:lnR cap="flat" cmpd="sng" w="9525">
                      <a:solidFill>
                        <a:srgbClr val="595959">
                          <a:alpha val="0"/>
                        </a:srgbClr>
                      </a:solidFill>
                      <a:prstDash val="solid"/>
                      <a:round/>
                      <a:headEnd len="sm" w="sm" type="none"/>
                      <a:tailEnd len="sm" w="sm" type="none"/>
                    </a:lnR>
                    <a:lnT cap="flat" cmpd="sng" w="9525">
                      <a:solidFill>
                        <a:srgbClr val="595959">
                          <a:alpha val="0"/>
                        </a:srgbClr>
                      </a:solidFill>
                      <a:prstDash val="solid"/>
                      <a:round/>
                      <a:headEnd len="sm" w="sm" type="none"/>
                      <a:tailEnd len="sm" w="sm" type="none"/>
                    </a:lnT>
                    <a:lnB cap="flat" cmpd="sng" w="9525">
                      <a:solidFill>
                        <a:srgbClr val="595959">
                          <a:alpha val="0"/>
                        </a:srgbClr>
                      </a:solidFill>
                      <a:prstDash val="solid"/>
                      <a:round/>
                      <a:headEnd len="sm" w="sm" type="none"/>
                      <a:tailEnd len="sm" w="sm" type="none"/>
                    </a:lnB>
                  </a:tcPr>
                </a:tc>
              </a:tr>
            </a:tbl>
          </a:graphicData>
        </a:graphic>
      </p:graphicFrame>
      <p:sp>
        <p:nvSpPr>
          <p:cNvPr id="544" name="Google Shape;544;p73"/>
          <p:cNvSpPr txBox="1"/>
          <p:nvPr/>
        </p:nvSpPr>
        <p:spPr>
          <a:xfrm>
            <a:off x="4158475" y="2457625"/>
            <a:ext cx="3543300" cy="261600"/>
          </a:xfrm>
          <a:prstGeom prst="rect">
            <a:avLst/>
          </a:prstGeom>
          <a:noFill/>
          <a:ln>
            <a:noFill/>
          </a:ln>
        </p:spPr>
        <p:txBody>
          <a:bodyPr anchorCtr="0" anchor="t" bIns="0" lIns="0" spcFirstLastPara="1" rIns="0" wrap="square" tIns="0">
            <a:spAutoFit/>
          </a:bodyPr>
          <a:lstStyle/>
          <a:p>
            <a:pPr indent="0" lvl="0" marL="0" rtl="0" algn="l">
              <a:spcBef>
                <a:spcPts val="500"/>
              </a:spcBef>
              <a:spcAft>
                <a:spcPts val="500"/>
              </a:spcAft>
              <a:buClr>
                <a:srgbClr val="000000"/>
              </a:buClr>
              <a:buSzPts val="1100"/>
              <a:buFont typeface="Arial"/>
              <a:buNone/>
            </a:pPr>
            <a:r>
              <a:rPr lang="en" sz="1700">
                <a:solidFill>
                  <a:schemeClr val="accent3"/>
                </a:solidFill>
                <a:latin typeface="Roboto Mono"/>
                <a:ea typeface="Roboto Mono"/>
                <a:cs typeface="Roboto Mono"/>
                <a:sym typeface="Roboto Mono"/>
              </a:rPr>
              <a:t>command to execute</a:t>
            </a:r>
            <a:endParaRPr sz="1700">
              <a:solidFill>
                <a:schemeClr val="accent3"/>
              </a:solidFill>
              <a:latin typeface="Roboto Mono"/>
              <a:ea typeface="Roboto Mono"/>
              <a:cs typeface="Roboto Mono"/>
              <a:sym typeface="Roboto Mono"/>
            </a:endParaRPr>
          </a:p>
        </p:txBody>
      </p:sp>
      <p:cxnSp>
        <p:nvCxnSpPr>
          <p:cNvPr id="545" name="Google Shape;545;p73"/>
          <p:cNvCxnSpPr/>
          <p:nvPr/>
        </p:nvCxnSpPr>
        <p:spPr>
          <a:xfrm>
            <a:off x="3336675" y="2171700"/>
            <a:ext cx="0" cy="469200"/>
          </a:xfrm>
          <a:prstGeom prst="straightConnector1">
            <a:avLst/>
          </a:prstGeom>
          <a:noFill/>
          <a:ln cap="flat" cmpd="sng" w="19050">
            <a:solidFill>
              <a:schemeClr val="dk2"/>
            </a:solidFill>
            <a:prstDash val="solid"/>
            <a:round/>
            <a:headEnd len="med" w="med" type="none"/>
            <a:tailEnd len="med" w="med" type="none"/>
          </a:ln>
        </p:spPr>
      </p:cxnSp>
      <p:cxnSp>
        <p:nvCxnSpPr>
          <p:cNvPr id="546" name="Google Shape;546;p73"/>
          <p:cNvCxnSpPr/>
          <p:nvPr/>
        </p:nvCxnSpPr>
        <p:spPr>
          <a:xfrm>
            <a:off x="3332700" y="2631788"/>
            <a:ext cx="549300" cy="0"/>
          </a:xfrm>
          <a:prstGeom prst="straightConnector1">
            <a:avLst/>
          </a:prstGeom>
          <a:noFill/>
          <a:ln cap="flat" cmpd="sng" w="19050">
            <a:solidFill>
              <a:schemeClr val="dk2"/>
            </a:solidFill>
            <a:prstDash val="solid"/>
            <a:round/>
            <a:headEnd len="med" w="med" type="none"/>
            <a:tailEnd len="med" w="med" type="triangle"/>
          </a:ln>
        </p:spPr>
      </p:cxnSp>
      <p:sp>
        <p:nvSpPr>
          <p:cNvPr id="547" name="Google Shape;547;p73"/>
          <p:cNvSpPr txBox="1"/>
          <p:nvPr/>
        </p:nvSpPr>
        <p:spPr>
          <a:xfrm>
            <a:off x="4158475" y="2796075"/>
            <a:ext cx="4909200" cy="261600"/>
          </a:xfrm>
          <a:prstGeom prst="rect">
            <a:avLst/>
          </a:prstGeom>
          <a:noFill/>
          <a:ln>
            <a:noFill/>
          </a:ln>
        </p:spPr>
        <p:txBody>
          <a:bodyPr anchorCtr="0" anchor="t" bIns="0" lIns="0" spcFirstLastPara="1" rIns="0" wrap="square" tIns="0">
            <a:spAutoFit/>
          </a:bodyPr>
          <a:lstStyle/>
          <a:p>
            <a:pPr indent="0" lvl="0" marL="0" rtl="0" algn="l">
              <a:spcBef>
                <a:spcPts val="500"/>
              </a:spcBef>
              <a:spcAft>
                <a:spcPts val="500"/>
              </a:spcAft>
              <a:buNone/>
            </a:pPr>
            <a:r>
              <a:rPr lang="en" sz="1700">
                <a:solidFill>
                  <a:schemeClr val="accent3"/>
                </a:solidFill>
                <a:latin typeface="Roboto Mono"/>
                <a:ea typeface="Roboto Mono"/>
                <a:cs typeface="Roboto Mono"/>
                <a:sym typeface="Roboto Mono"/>
              </a:rPr>
              <a:t>day of the week </a:t>
            </a:r>
            <a:r>
              <a:rPr lang="en" sz="1700">
                <a:solidFill>
                  <a:srgbClr val="000000"/>
                </a:solidFill>
                <a:latin typeface="Roboto Mono"/>
                <a:ea typeface="Roboto Mono"/>
                <a:cs typeface="Roboto Mono"/>
                <a:sym typeface="Roboto Mono"/>
              </a:rPr>
              <a:t>(0-6)(Sunday = 0)</a:t>
            </a:r>
            <a:endParaRPr sz="1700">
              <a:solidFill>
                <a:srgbClr val="000000"/>
              </a:solidFill>
              <a:latin typeface="Roboto Mono"/>
              <a:ea typeface="Roboto Mono"/>
              <a:cs typeface="Roboto Mono"/>
              <a:sym typeface="Roboto Mono"/>
            </a:endParaRPr>
          </a:p>
        </p:txBody>
      </p:sp>
      <p:sp>
        <p:nvSpPr>
          <p:cNvPr id="548" name="Google Shape;548;p73"/>
          <p:cNvSpPr txBox="1"/>
          <p:nvPr/>
        </p:nvSpPr>
        <p:spPr>
          <a:xfrm>
            <a:off x="4158475" y="3134531"/>
            <a:ext cx="4909200" cy="261600"/>
          </a:xfrm>
          <a:prstGeom prst="rect">
            <a:avLst/>
          </a:prstGeom>
          <a:noFill/>
          <a:ln>
            <a:noFill/>
          </a:ln>
        </p:spPr>
        <p:txBody>
          <a:bodyPr anchorCtr="0" anchor="t" bIns="0" lIns="0" spcFirstLastPara="1" rIns="0" wrap="square" tIns="0">
            <a:spAutoFit/>
          </a:bodyPr>
          <a:lstStyle/>
          <a:p>
            <a:pPr indent="0" lvl="0" marL="0" rtl="0" algn="l">
              <a:spcBef>
                <a:spcPts val="500"/>
              </a:spcBef>
              <a:spcAft>
                <a:spcPts val="500"/>
              </a:spcAft>
              <a:buNone/>
            </a:pPr>
            <a:r>
              <a:rPr lang="en" sz="1700">
                <a:solidFill>
                  <a:schemeClr val="accent3"/>
                </a:solidFill>
                <a:latin typeface="Roboto Mono"/>
                <a:ea typeface="Roboto Mono"/>
                <a:cs typeface="Roboto Mono"/>
                <a:sym typeface="Roboto Mono"/>
              </a:rPr>
              <a:t>month</a:t>
            </a:r>
            <a:r>
              <a:rPr lang="en" sz="1700">
                <a:solidFill>
                  <a:srgbClr val="000000"/>
                </a:solidFill>
                <a:latin typeface="Roboto Mono"/>
                <a:ea typeface="Roboto Mono"/>
                <a:cs typeface="Roboto Mono"/>
                <a:sym typeface="Roboto Mono"/>
              </a:rPr>
              <a:t> (1-12)</a:t>
            </a:r>
            <a:endParaRPr sz="1700">
              <a:solidFill>
                <a:srgbClr val="000000"/>
              </a:solidFill>
              <a:latin typeface="Roboto Mono"/>
              <a:ea typeface="Roboto Mono"/>
              <a:cs typeface="Roboto Mono"/>
              <a:sym typeface="Roboto Mono"/>
            </a:endParaRPr>
          </a:p>
        </p:txBody>
      </p:sp>
      <p:sp>
        <p:nvSpPr>
          <p:cNvPr id="549" name="Google Shape;549;p73"/>
          <p:cNvSpPr txBox="1"/>
          <p:nvPr/>
        </p:nvSpPr>
        <p:spPr>
          <a:xfrm>
            <a:off x="4158475" y="3472986"/>
            <a:ext cx="4909200" cy="261600"/>
          </a:xfrm>
          <a:prstGeom prst="rect">
            <a:avLst/>
          </a:prstGeom>
          <a:noFill/>
          <a:ln>
            <a:noFill/>
          </a:ln>
        </p:spPr>
        <p:txBody>
          <a:bodyPr anchorCtr="0" anchor="t" bIns="0" lIns="0" spcFirstLastPara="1" rIns="0" wrap="square" tIns="0">
            <a:spAutoFit/>
          </a:bodyPr>
          <a:lstStyle/>
          <a:p>
            <a:pPr indent="0" lvl="0" marL="0" rtl="0" algn="l">
              <a:spcBef>
                <a:spcPts val="500"/>
              </a:spcBef>
              <a:spcAft>
                <a:spcPts val="500"/>
              </a:spcAft>
              <a:buNone/>
            </a:pPr>
            <a:r>
              <a:rPr lang="en" sz="1700">
                <a:solidFill>
                  <a:schemeClr val="accent3"/>
                </a:solidFill>
                <a:latin typeface="Roboto Mono"/>
                <a:ea typeface="Roboto Mono"/>
                <a:cs typeface="Roboto Mono"/>
                <a:sym typeface="Roboto Mono"/>
              </a:rPr>
              <a:t>day of month</a:t>
            </a:r>
            <a:r>
              <a:rPr lang="en" sz="1700">
                <a:solidFill>
                  <a:srgbClr val="1475D4"/>
                </a:solidFill>
                <a:latin typeface="Roboto Mono"/>
                <a:ea typeface="Roboto Mono"/>
                <a:cs typeface="Roboto Mono"/>
                <a:sym typeface="Roboto Mono"/>
              </a:rPr>
              <a:t> </a:t>
            </a:r>
            <a:r>
              <a:rPr lang="en" sz="1700">
                <a:solidFill>
                  <a:srgbClr val="000000"/>
                </a:solidFill>
                <a:latin typeface="Roboto Mono"/>
                <a:ea typeface="Roboto Mono"/>
                <a:cs typeface="Roboto Mono"/>
                <a:sym typeface="Roboto Mono"/>
              </a:rPr>
              <a:t>(1-31)</a:t>
            </a:r>
            <a:endParaRPr sz="1700">
              <a:solidFill>
                <a:srgbClr val="000000"/>
              </a:solidFill>
              <a:latin typeface="Roboto Mono"/>
              <a:ea typeface="Roboto Mono"/>
              <a:cs typeface="Roboto Mono"/>
              <a:sym typeface="Roboto Mono"/>
            </a:endParaRPr>
          </a:p>
        </p:txBody>
      </p:sp>
      <p:sp>
        <p:nvSpPr>
          <p:cNvPr id="550" name="Google Shape;550;p73"/>
          <p:cNvSpPr txBox="1"/>
          <p:nvPr/>
        </p:nvSpPr>
        <p:spPr>
          <a:xfrm>
            <a:off x="4158475" y="3811442"/>
            <a:ext cx="4909200" cy="261600"/>
          </a:xfrm>
          <a:prstGeom prst="rect">
            <a:avLst/>
          </a:prstGeom>
          <a:noFill/>
          <a:ln>
            <a:noFill/>
          </a:ln>
        </p:spPr>
        <p:txBody>
          <a:bodyPr anchorCtr="0" anchor="t" bIns="0" lIns="0" spcFirstLastPara="1" rIns="0" wrap="square" tIns="0">
            <a:spAutoFit/>
          </a:bodyPr>
          <a:lstStyle/>
          <a:p>
            <a:pPr indent="0" lvl="0" marL="0" rtl="0" algn="l">
              <a:spcBef>
                <a:spcPts val="500"/>
              </a:spcBef>
              <a:spcAft>
                <a:spcPts val="500"/>
              </a:spcAft>
              <a:buNone/>
            </a:pPr>
            <a:r>
              <a:rPr lang="en" sz="1700">
                <a:solidFill>
                  <a:schemeClr val="accent3"/>
                </a:solidFill>
                <a:latin typeface="Roboto Mono"/>
                <a:ea typeface="Roboto Mono"/>
                <a:cs typeface="Roboto Mono"/>
                <a:sym typeface="Roboto Mono"/>
              </a:rPr>
              <a:t>hour</a:t>
            </a:r>
            <a:r>
              <a:rPr lang="en" sz="1700">
                <a:solidFill>
                  <a:srgbClr val="1475D4"/>
                </a:solidFill>
                <a:latin typeface="Roboto Mono"/>
                <a:ea typeface="Roboto Mono"/>
                <a:cs typeface="Roboto Mono"/>
                <a:sym typeface="Roboto Mono"/>
              </a:rPr>
              <a:t> </a:t>
            </a:r>
            <a:r>
              <a:rPr lang="en" sz="1700">
                <a:solidFill>
                  <a:srgbClr val="000000"/>
                </a:solidFill>
                <a:latin typeface="Roboto Mono"/>
                <a:ea typeface="Roboto Mono"/>
                <a:cs typeface="Roboto Mono"/>
                <a:sym typeface="Roboto Mono"/>
              </a:rPr>
              <a:t>(0-23)</a:t>
            </a:r>
            <a:endParaRPr sz="1700">
              <a:solidFill>
                <a:srgbClr val="000000"/>
              </a:solidFill>
              <a:latin typeface="Roboto Mono"/>
              <a:ea typeface="Roboto Mono"/>
              <a:cs typeface="Roboto Mono"/>
              <a:sym typeface="Roboto Mono"/>
            </a:endParaRPr>
          </a:p>
        </p:txBody>
      </p:sp>
      <p:sp>
        <p:nvSpPr>
          <p:cNvPr id="551" name="Google Shape;551;p73"/>
          <p:cNvSpPr txBox="1"/>
          <p:nvPr/>
        </p:nvSpPr>
        <p:spPr>
          <a:xfrm>
            <a:off x="4158475" y="4149897"/>
            <a:ext cx="4909200" cy="261600"/>
          </a:xfrm>
          <a:prstGeom prst="rect">
            <a:avLst/>
          </a:prstGeom>
          <a:noFill/>
          <a:ln>
            <a:noFill/>
          </a:ln>
        </p:spPr>
        <p:txBody>
          <a:bodyPr anchorCtr="0" anchor="t" bIns="0" lIns="0" spcFirstLastPara="1" rIns="0" wrap="square" tIns="0">
            <a:spAutoFit/>
          </a:bodyPr>
          <a:lstStyle/>
          <a:p>
            <a:pPr indent="0" lvl="0" marL="0" rtl="0" algn="l">
              <a:spcBef>
                <a:spcPts val="500"/>
              </a:spcBef>
              <a:spcAft>
                <a:spcPts val="500"/>
              </a:spcAft>
              <a:buNone/>
            </a:pPr>
            <a:r>
              <a:rPr lang="en" sz="1700">
                <a:solidFill>
                  <a:schemeClr val="accent3"/>
                </a:solidFill>
                <a:latin typeface="Roboto Mono"/>
                <a:ea typeface="Roboto Mono"/>
                <a:cs typeface="Roboto Mono"/>
                <a:sym typeface="Roboto Mono"/>
              </a:rPr>
              <a:t>minute</a:t>
            </a:r>
            <a:r>
              <a:rPr lang="en" sz="1700">
                <a:solidFill>
                  <a:srgbClr val="1475D4"/>
                </a:solidFill>
                <a:latin typeface="Roboto Mono"/>
                <a:ea typeface="Roboto Mono"/>
                <a:cs typeface="Roboto Mono"/>
                <a:sym typeface="Roboto Mono"/>
              </a:rPr>
              <a:t> </a:t>
            </a:r>
            <a:r>
              <a:rPr lang="en" sz="1700">
                <a:solidFill>
                  <a:srgbClr val="000000"/>
                </a:solidFill>
                <a:latin typeface="Roboto Mono"/>
                <a:ea typeface="Roboto Mono"/>
                <a:cs typeface="Roboto Mono"/>
                <a:sym typeface="Roboto Mono"/>
              </a:rPr>
              <a:t>(0-59) </a:t>
            </a:r>
            <a:endParaRPr sz="1700">
              <a:solidFill>
                <a:srgbClr val="000000"/>
              </a:solidFill>
              <a:latin typeface="Roboto Mono"/>
              <a:ea typeface="Roboto Mono"/>
              <a:cs typeface="Roboto Mono"/>
              <a:sym typeface="Roboto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555" name="Shape 555"/>
        <p:cNvGrpSpPr/>
        <p:nvPr/>
      </p:nvGrpSpPr>
      <p:grpSpPr>
        <a:xfrm>
          <a:off x="0" y="0"/>
          <a:ext cx="0" cy="0"/>
          <a:chOff x="0" y="0"/>
          <a:chExt cx="0" cy="0"/>
        </a:xfrm>
      </p:grpSpPr>
      <p:sp>
        <p:nvSpPr>
          <p:cNvPr id="556" name="Google Shape;556;p74"/>
          <p:cNvSpPr txBox="1"/>
          <p:nvPr>
            <p:ph idx="1" type="body"/>
          </p:nvPr>
        </p:nvSpPr>
        <p:spPr>
          <a:xfrm>
            <a:off x="311700" y="1044400"/>
            <a:ext cx="3702600" cy="3664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sz="1600">
                <a:latin typeface="Inconsolata"/>
                <a:ea typeface="Inconsolata"/>
                <a:cs typeface="Inconsolata"/>
                <a:sym typeface="Inconsolata"/>
              </a:rPr>
              <a:t>cronjobs</a:t>
            </a:r>
            <a:r>
              <a:rPr lang="en" sz="1600"/>
              <a:t> run under the same permissions as the user who creates them. A </a:t>
            </a:r>
            <a:r>
              <a:rPr b="1" lang="en" sz="1600">
                <a:latin typeface="Inconsolata"/>
                <a:ea typeface="Inconsolata"/>
                <a:cs typeface="Inconsolata"/>
                <a:sym typeface="Inconsolata"/>
              </a:rPr>
              <a:t>cronjob </a:t>
            </a:r>
            <a:r>
              <a:rPr lang="en" sz="1600"/>
              <a:t>created by user root will run with root privileges.</a:t>
            </a:r>
            <a:r>
              <a:rPr lang="en" sz="1600"/>
              <a:t> </a:t>
            </a:r>
            <a:endParaRPr sz="1600"/>
          </a:p>
          <a:p>
            <a:pPr indent="0" lvl="0" marL="0" rtl="0" algn="l">
              <a:spcBef>
                <a:spcPts val="0"/>
              </a:spcBef>
              <a:spcAft>
                <a:spcPts val="0"/>
              </a:spcAft>
              <a:buNone/>
            </a:pPr>
            <a:r>
              <a:t/>
            </a:r>
            <a:endParaRPr sz="1600"/>
          </a:p>
          <a:p>
            <a:pPr indent="0" lvl="0" marL="0" rtl="0" algn="l">
              <a:spcBef>
                <a:spcPts val="1000"/>
              </a:spcBef>
              <a:spcAft>
                <a:spcPts val="0"/>
              </a:spcAft>
              <a:buNone/>
            </a:pPr>
            <a:r>
              <a:rPr lang="en" sz="1600"/>
              <a:t>This introduces security risks. Anyone capable of privilege escalation can add a malicious cronjob to the root </a:t>
            </a:r>
            <a:r>
              <a:rPr b="1" lang="en" sz="1600">
                <a:latin typeface="Inconsolata"/>
                <a:ea typeface="Inconsolata"/>
                <a:cs typeface="Inconsolata"/>
                <a:sym typeface="Inconsolata"/>
              </a:rPr>
              <a:t>crontab</a:t>
            </a:r>
            <a:r>
              <a:rPr lang="en" sz="1600"/>
              <a:t>.</a:t>
            </a:r>
            <a:endParaRPr sz="1600"/>
          </a:p>
          <a:p>
            <a:pPr indent="-330200" lvl="0" marL="457200" rtl="0" algn="l">
              <a:spcBef>
                <a:spcPts val="1000"/>
              </a:spcBef>
              <a:spcAft>
                <a:spcPts val="0"/>
              </a:spcAft>
              <a:buSzPts val="1600"/>
              <a:buChar char="●"/>
            </a:pPr>
            <a:r>
              <a:rPr lang="en" sz="1600"/>
              <a:t>We’ll revisit the risks of using </a:t>
            </a:r>
            <a:r>
              <a:rPr b="1" lang="en" sz="1600">
                <a:latin typeface="Inconsolata"/>
                <a:ea typeface="Inconsolata"/>
                <a:cs typeface="Inconsolata"/>
                <a:sym typeface="Inconsolata"/>
              </a:rPr>
              <a:t>cron</a:t>
            </a:r>
            <a:r>
              <a:rPr lang="en" sz="1600"/>
              <a:t> with root privileges later in the unit. </a:t>
            </a:r>
            <a:endParaRPr sz="1600"/>
          </a:p>
          <a:p>
            <a:pPr indent="-330200" lvl="0" marL="457200" rtl="0" algn="l">
              <a:spcBef>
                <a:spcPts val="0"/>
              </a:spcBef>
              <a:spcAft>
                <a:spcPts val="0"/>
              </a:spcAft>
              <a:buSzPts val="1600"/>
              <a:buChar char="●"/>
            </a:pPr>
            <a:r>
              <a:rPr lang="en" sz="1600"/>
              <a:t>Best practice is to </a:t>
            </a:r>
            <a:r>
              <a:rPr lang="en" sz="1600" u="sng"/>
              <a:t>avoid</a:t>
            </a:r>
            <a:r>
              <a:rPr lang="en" sz="1600"/>
              <a:t> using the root </a:t>
            </a:r>
            <a:r>
              <a:rPr b="1" lang="en" sz="1600">
                <a:latin typeface="Inconsolata"/>
                <a:ea typeface="Inconsolata"/>
                <a:cs typeface="Inconsolata"/>
                <a:sym typeface="Inconsolata"/>
              </a:rPr>
              <a:t>crontab</a:t>
            </a:r>
            <a:r>
              <a:rPr lang="en" sz="1600"/>
              <a:t>.</a:t>
            </a:r>
            <a:endParaRPr sz="1600"/>
          </a:p>
          <a:p>
            <a:pPr indent="0" lvl="0" marL="0" rtl="0" algn="l">
              <a:spcBef>
                <a:spcPts val="1000"/>
              </a:spcBef>
              <a:spcAft>
                <a:spcPts val="1000"/>
              </a:spcAft>
              <a:buNone/>
            </a:pPr>
            <a:r>
              <a:t/>
            </a:r>
            <a:endParaRPr sz="1400"/>
          </a:p>
        </p:txBody>
      </p:sp>
      <p:cxnSp>
        <p:nvCxnSpPr>
          <p:cNvPr id="557" name="Google Shape;557;p74"/>
          <p:cNvCxnSpPr/>
          <p:nvPr/>
        </p:nvCxnSpPr>
        <p:spPr>
          <a:xfrm>
            <a:off x="-9375" y="853700"/>
            <a:ext cx="7346700" cy="0"/>
          </a:xfrm>
          <a:prstGeom prst="straightConnector1">
            <a:avLst/>
          </a:prstGeom>
          <a:noFill/>
          <a:ln cap="flat" cmpd="sng" w="19050">
            <a:solidFill>
              <a:srgbClr val="2E5E73"/>
            </a:solidFill>
            <a:prstDash val="solid"/>
            <a:round/>
            <a:headEnd len="med" w="med" type="none"/>
            <a:tailEnd len="med" w="med" type="oval"/>
          </a:ln>
        </p:spPr>
      </p:cxnSp>
      <p:sp>
        <p:nvSpPr>
          <p:cNvPr id="558" name="Google Shape;558;p74"/>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Demonstration</a:t>
            </a:r>
            <a:r>
              <a:rPr lang="en" sz="2600">
                <a:solidFill>
                  <a:schemeClr val="accent5"/>
                </a:solidFill>
                <a:latin typeface="Roboto Light"/>
                <a:ea typeface="Roboto Light"/>
                <a:cs typeface="Roboto Light"/>
                <a:sym typeface="Roboto Light"/>
              </a:rPr>
              <a:t> Scenario</a:t>
            </a:r>
            <a:endParaRPr sz="2600">
              <a:solidFill>
                <a:schemeClr val="accent5"/>
              </a:solidFill>
              <a:latin typeface="Roboto Light"/>
              <a:ea typeface="Roboto Light"/>
              <a:cs typeface="Roboto Light"/>
              <a:sym typeface="Roboto Light"/>
            </a:endParaRPr>
          </a:p>
        </p:txBody>
      </p:sp>
      <p:sp>
        <p:nvSpPr>
          <p:cNvPr id="559" name="Google Shape;559;p74"/>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74"/>
          <p:cNvSpPr txBox="1"/>
          <p:nvPr/>
        </p:nvSpPr>
        <p:spPr>
          <a:xfrm>
            <a:off x="724200" y="47865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pic>
        <p:nvPicPr>
          <p:cNvPr id="561" name="Google Shape;561;p74"/>
          <p:cNvPicPr preferRelativeResize="0"/>
          <p:nvPr/>
        </p:nvPicPr>
        <p:blipFill>
          <a:blip r:embed="rId3">
            <a:alphaModFix/>
          </a:blip>
          <a:stretch>
            <a:fillRect/>
          </a:stretch>
        </p:blipFill>
        <p:spPr>
          <a:xfrm>
            <a:off x="222825" y="203600"/>
            <a:ext cx="399097" cy="393600"/>
          </a:xfrm>
          <a:prstGeom prst="rect">
            <a:avLst/>
          </a:prstGeom>
          <a:noFill/>
          <a:ln>
            <a:noFill/>
          </a:ln>
        </p:spPr>
      </p:pic>
      <p:pic>
        <p:nvPicPr>
          <p:cNvPr id="562" name="Google Shape;562;p74"/>
          <p:cNvPicPr preferRelativeResize="0"/>
          <p:nvPr/>
        </p:nvPicPr>
        <p:blipFill>
          <a:blip r:embed="rId4">
            <a:alphaModFix/>
          </a:blip>
          <a:stretch>
            <a:fillRect/>
          </a:stretch>
        </p:blipFill>
        <p:spPr>
          <a:xfrm>
            <a:off x="4290738" y="1107325"/>
            <a:ext cx="4220126" cy="34950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75"/>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Inconsolata"/>
                <a:ea typeface="Inconsolata"/>
                <a:cs typeface="Inconsolata"/>
                <a:sym typeface="Inconsolata"/>
              </a:rPr>
              <a:t>c</a:t>
            </a:r>
            <a:r>
              <a:rPr lang="en">
                <a:latin typeface="Inconsolata"/>
                <a:ea typeface="Inconsolata"/>
                <a:cs typeface="Inconsolata"/>
                <a:sym typeface="Inconsolata"/>
              </a:rPr>
              <a:t>rontab</a:t>
            </a:r>
            <a:r>
              <a:rPr lang="en"/>
              <a:t> Generator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76"/>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20 Minutes</a:t>
            </a:r>
            <a:endParaRPr/>
          </a:p>
        </p:txBody>
      </p:sp>
      <p:sp>
        <p:nvSpPr>
          <p:cNvPr id="573" name="Google Shape;573;p76"/>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Simple </a:t>
            </a:r>
            <a:r>
              <a:rPr b="1" lang="en">
                <a:latin typeface="Inconsolata"/>
                <a:ea typeface="Inconsolata"/>
                <a:cs typeface="Inconsolata"/>
                <a:sym typeface="Inconsolata"/>
              </a:rPr>
              <a:t>cronjobs</a:t>
            </a:r>
            <a:endParaRPr b="1">
              <a:latin typeface="Inconsolata"/>
              <a:ea typeface="Inconsolata"/>
              <a:cs typeface="Inconsolata"/>
              <a:sym typeface="Inconsolata"/>
            </a:endParaRPr>
          </a:p>
        </p:txBody>
      </p:sp>
      <p:sp>
        <p:nvSpPr>
          <p:cNvPr id="574" name="Google Shape;574;p76"/>
          <p:cNvSpPr txBox="1"/>
          <p:nvPr>
            <p:ph idx="3" type="body"/>
          </p:nvPr>
        </p:nvSpPr>
        <p:spPr>
          <a:xfrm>
            <a:off x="457200" y="1052288"/>
            <a:ext cx="7882200" cy="3144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are a junior administrator at Rezifp Pharma Inc.</a:t>
            </a:r>
            <a:endParaRPr/>
          </a:p>
          <a:p>
            <a:pPr indent="0" lvl="0" marL="0" rtl="0" algn="l">
              <a:spcBef>
                <a:spcPts val="0"/>
              </a:spcBef>
              <a:spcAft>
                <a:spcPts val="0"/>
              </a:spcAft>
              <a:buNone/>
            </a:pPr>
            <a:r>
              <a:t/>
            </a:r>
            <a:endParaRPr/>
          </a:p>
          <a:p>
            <a:pPr indent="-342900" lvl="0" marL="914400" rtl="0" algn="l">
              <a:spcBef>
                <a:spcPts val="0"/>
              </a:spcBef>
              <a:spcAft>
                <a:spcPts val="0"/>
              </a:spcAft>
              <a:buSzPts val="1800"/>
              <a:buChar char="●"/>
            </a:pPr>
            <a:r>
              <a:rPr lang="en"/>
              <a:t>There has been a wave of recent ransomware attacks. You will be responsible for using cron to automate backup jobs for the E-Prescription Treatment database.</a:t>
            </a:r>
            <a:endParaRPr/>
          </a:p>
          <a:p>
            <a:pPr indent="0" lvl="0" marL="914400" rtl="0" algn="l">
              <a:spcBef>
                <a:spcPts val="0"/>
              </a:spcBef>
              <a:spcAft>
                <a:spcPts val="0"/>
              </a:spcAft>
              <a:buNone/>
            </a:pPr>
            <a:r>
              <a:t/>
            </a:r>
            <a:endParaRPr/>
          </a:p>
          <a:p>
            <a:pPr indent="-342900" lvl="0" marL="914400" rtl="0" algn="l">
              <a:spcBef>
                <a:spcPts val="0"/>
              </a:spcBef>
              <a:spcAft>
                <a:spcPts val="0"/>
              </a:spcAft>
              <a:buSzPts val="1800"/>
              <a:buChar char="●"/>
            </a:pPr>
            <a:r>
              <a:rPr lang="en"/>
              <a:t>Rezifp Pharma Inc. maintains a large number of files associated with patients, doctors, and their treatments. Administrators at various clinics often create files that contain Personal Identifiable Information (PII) such as email addresses, passwords, biometric records, etc.</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pic>
        <p:nvPicPr>
          <p:cNvPr id="575" name="Google Shape;575;p76"/>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79"/>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Introduction to </a:t>
            </a:r>
            <a:r>
              <a:rPr lang="en">
                <a:latin typeface="Roboto"/>
                <a:ea typeface="Roboto"/>
                <a:cs typeface="Roboto"/>
                <a:sym typeface="Roboto"/>
              </a:rPr>
              <a:t>Scripts</a:t>
            </a:r>
            <a:endParaRPr>
              <a:latin typeface="Roboto"/>
              <a:ea typeface="Roboto"/>
              <a:cs typeface="Roboto"/>
              <a:sym typeface="Roboto"/>
            </a:endParaRPr>
          </a:p>
        </p:txBody>
      </p:sp>
      <p:pic>
        <p:nvPicPr>
          <p:cNvPr id="589" name="Google Shape;589;p79"/>
          <p:cNvPicPr preferRelativeResize="0"/>
          <p:nvPr/>
        </p:nvPicPr>
        <p:blipFill>
          <a:blip r:embed="rId3">
            <a:alphaModFix/>
          </a:blip>
          <a:stretch>
            <a:fillRect/>
          </a:stretch>
        </p:blipFill>
        <p:spPr>
          <a:xfrm>
            <a:off x="4114800" y="1931388"/>
            <a:ext cx="914400" cy="70920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80"/>
          <p:cNvSpPr txBox="1"/>
          <p:nvPr>
            <p:ph type="title"/>
          </p:nvPr>
        </p:nvSpPr>
        <p:spPr>
          <a:xfrm>
            <a:off x="457200" y="146300"/>
            <a:ext cx="82296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rPr>
              <a:t>Why Scripts?</a:t>
            </a:r>
            <a:endParaRPr i="1">
              <a:solidFill>
                <a:schemeClr val="dk2"/>
              </a:solidFill>
            </a:endParaRPr>
          </a:p>
          <a:p>
            <a:pPr indent="0" lvl="0" marL="0" rtl="0" algn="l">
              <a:spcBef>
                <a:spcPts val="0"/>
              </a:spcBef>
              <a:spcAft>
                <a:spcPts val="0"/>
              </a:spcAft>
              <a:buNone/>
            </a:pPr>
            <a:r>
              <a:t/>
            </a:r>
            <a:endParaRPr/>
          </a:p>
        </p:txBody>
      </p:sp>
      <p:sp>
        <p:nvSpPr>
          <p:cNvPr id="595" name="Google Shape;595;p80"/>
          <p:cNvSpPr txBox="1"/>
          <p:nvPr>
            <p:ph idx="3" type="body"/>
          </p:nvPr>
        </p:nvSpPr>
        <p:spPr>
          <a:xfrm>
            <a:off x="644400" y="1374325"/>
            <a:ext cx="2910900" cy="115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a:latin typeface="Inconsolata"/>
                <a:ea typeface="Inconsolata"/>
                <a:cs typeface="Inconsolata"/>
                <a:sym typeface="Inconsolata"/>
              </a:rPr>
              <a:t>cron</a:t>
            </a:r>
            <a:r>
              <a:rPr lang="en"/>
              <a:t> i</a:t>
            </a:r>
            <a:r>
              <a:rPr lang="en"/>
              <a:t>deal for backing up a single </a:t>
            </a:r>
            <a:r>
              <a:rPr lang="en"/>
              <a:t>directory:</a:t>
            </a:r>
            <a:endParaRPr/>
          </a:p>
          <a:p>
            <a:pPr indent="-342900" lvl="0" marL="457200" rtl="0" algn="l">
              <a:spcBef>
                <a:spcPts val="0"/>
              </a:spcBef>
              <a:spcAft>
                <a:spcPts val="0"/>
              </a:spcAft>
              <a:buSzPts val="1800"/>
              <a:buFont typeface="Inconsolata"/>
              <a:buChar char="❖"/>
            </a:pPr>
            <a:r>
              <a:rPr b="1" lang="en">
                <a:latin typeface="Inconsolata"/>
                <a:ea typeface="Inconsolata"/>
                <a:cs typeface="Inconsolata"/>
                <a:sym typeface="Inconsolata"/>
              </a:rPr>
              <a:t>/home</a:t>
            </a:r>
            <a:endParaRPr b="1">
              <a:latin typeface="Inconsolata"/>
              <a:ea typeface="Inconsolata"/>
              <a:cs typeface="Inconsolata"/>
              <a:sym typeface="Inconsolata"/>
            </a:endParaRPr>
          </a:p>
          <a:p>
            <a:pPr indent="0" lvl="0" marL="0" rtl="0" algn="l">
              <a:spcBef>
                <a:spcPts val="0"/>
              </a:spcBef>
              <a:spcAft>
                <a:spcPts val="0"/>
              </a:spcAft>
              <a:buNone/>
            </a:pPr>
            <a:r>
              <a:t/>
            </a:r>
            <a:endParaRPr/>
          </a:p>
        </p:txBody>
      </p:sp>
      <p:sp>
        <p:nvSpPr>
          <p:cNvPr id="596" name="Google Shape;596;p80"/>
          <p:cNvSpPr txBox="1"/>
          <p:nvPr>
            <p:ph idx="1" type="subTitle"/>
          </p:nvPr>
        </p:nvSpPr>
        <p:spPr>
          <a:xfrm>
            <a:off x="576756" y="548650"/>
            <a:ext cx="82236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Inconsolata"/>
                <a:ea typeface="Inconsolata"/>
                <a:cs typeface="Inconsolata"/>
                <a:sym typeface="Inconsolata"/>
              </a:rPr>
              <a:t>c</a:t>
            </a:r>
            <a:r>
              <a:rPr b="1" lang="en">
                <a:latin typeface="Inconsolata"/>
                <a:ea typeface="Inconsolata"/>
                <a:cs typeface="Inconsolata"/>
                <a:sym typeface="Inconsolata"/>
              </a:rPr>
              <a:t>ron </a:t>
            </a:r>
            <a:r>
              <a:rPr lang="en"/>
              <a:t>is useful for managing single function tasks</a:t>
            </a:r>
            <a:endParaRPr/>
          </a:p>
        </p:txBody>
      </p:sp>
      <p:sp>
        <p:nvSpPr>
          <p:cNvPr id="597" name="Google Shape;597;p80"/>
          <p:cNvSpPr txBox="1"/>
          <p:nvPr>
            <p:ph idx="4" type="body"/>
          </p:nvPr>
        </p:nvSpPr>
        <p:spPr>
          <a:xfrm>
            <a:off x="644400" y="3081400"/>
            <a:ext cx="2841000" cy="115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Not ideal for multiple directories:</a:t>
            </a:r>
            <a:endParaRPr/>
          </a:p>
          <a:p>
            <a:pPr indent="-342900" lvl="0" marL="457200" rtl="0" algn="l">
              <a:spcBef>
                <a:spcPts val="0"/>
              </a:spcBef>
              <a:spcAft>
                <a:spcPts val="0"/>
              </a:spcAft>
              <a:buSzPts val="1800"/>
              <a:buFont typeface="Inconsolata"/>
              <a:buChar char="❖"/>
            </a:pPr>
            <a:r>
              <a:rPr b="1" lang="en">
                <a:latin typeface="Inconsolata"/>
                <a:ea typeface="Inconsolata"/>
                <a:cs typeface="Inconsolata"/>
                <a:sym typeface="Inconsolata"/>
              </a:rPr>
              <a:t>/home/user1</a:t>
            </a:r>
            <a:endParaRPr b="1">
              <a:latin typeface="Inconsolata"/>
              <a:ea typeface="Inconsolata"/>
              <a:cs typeface="Inconsolata"/>
              <a:sym typeface="Inconsolata"/>
            </a:endParaRPr>
          </a:p>
          <a:p>
            <a:pPr indent="-342900" lvl="0" marL="457200" rtl="0" algn="l">
              <a:spcBef>
                <a:spcPts val="0"/>
              </a:spcBef>
              <a:spcAft>
                <a:spcPts val="0"/>
              </a:spcAft>
              <a:buSzPts val="1800"/>
              <a:buFont typeface="Inconsolata"/>
              <a:buChar char="❖"/>
            </a:pPr>
            <a:r>
              <a:rPr b="1" lang="en">
                <a:latin typeface="Inconsolata"/>
                <a:ea typeface="Inconsolata"/>
                <a:cs typeface="Inconsolata"/>
                <a:sym typeface="Inconsolata"/>
              </a:rPr>
              <a:t>/home/user2</a:t>
            </a:r>
            <a:endParaRPr b="1">
              <a:latin typeface="Inconsolata"/>
              <a:ea typeface="Inconsolata"/>
              <a:cs typeface="Inconsolata"/>
              <a:sym typeface="Inconsolata"/>
            </a:endParaRPr>
          </a:p>
        </p:txBody>
      </p:sp>
      <p:cxnSp>
        <p:nvCxnSpPr>
          <p:cNvPr id="598" name="Google Shape;598;p80"/>
          <p:cNvCxnSpPr/>
          <p:nvPr/>
        </p:nvCxnSpPr>
        <p:spPr>
          <a:xfrm flipH="1" rot="10800000">
            <a:off x="4800840" y="1944203"/>
            <a:ext cx="833973" cy="452700"/>
          </a:xfrm>
          <a:prstGeom prst="straightConnector1">
            <a:avLst/>
          </a:prstGeom>
          <a:noFill/>
          <a:ln cap="flat" cmpd="sng" w="114300">
            <a:solidFill>
              <a:srgbClr val="FCB912"/>
            </a:solidFill>
            <a:prstDash val="solid"/>
            <a:round/>
            <a:headEnd len="med" w="med" type="none"/>
            <a:tailEnd len="med" w="med" type="none"/>
          </a:ln>
        </p:spPr>
      </p:cxnSp>
      <p:cxnSp>
        <p:nvCxnSpPr>
          <p:cNvPr id="599" name="Google Shape;599;p80"/>
          <p:cNvCxnSpPr/>
          <p:nvPr/>
        </p:nvCxnSpPr>
        <p:spPr>
          <a:xfrm flipH="1" rot="10800000">
            <a:off x="4800840" y="1944203"/>
            <a:ext cx="833973" cy="452700"/>
          </a:xfrm>
          <a:prstGeom prst="straightConnector1">
            <a:avLst/>
          </a:prstGeom>
          <a:noFill/>
          <a:ln cap="flat" cmpd="sng" w="19050">
            <a:solidFill>
              <a:schemeClr val="dk2"/>
            </a:solidFill>
            <a:prstDash val="solid"/>
            <a:round/>
            <a:headEnd len="med" w="med" type="none"/>
            <a:tailEnd len="med" w="med" type="none"/>
          </a:ln>
        </p:spPr>
      </p:cxnSp>
      <p:cxnSp>
        <p:nvCxnSpPr>
          <p:cNvPr id="600" name="Google Shape;600;p80"/>
          <p:cNvCxnSpPr>
            <a:endCxn id="601" idx="1"/>
          </p:cNvCxnSpPr>
          <p:nvPr/>
        </p:nvCxnSpPr>
        <p:spPr>
          <a:xfrm>
            <a:off x="4780873" y="2572542"/>
            <a:ext cx="985500" cy="825900"/>
          </a:xfrm>
          <a:prstGeom prst="straightConnector1">
            <a:avLst/>
          </a:prstGeom>
          <a:noFill/>
          <a:ln cap="flat" cmpd="sng" w="19050">
            <a:solidFill>
              <a:schemeClr val="dk2"/>
            </a:solidFill>
            <a:prstDash val="solid"/>
            <a:round/>
            <a:headEnd len="med" w="med" type="none"/>
            <a:tailEnd len="med" w="med" type="none"/>
          </a:ln>
        </p:spPr>
      </p:cxnSp>
      <p:pic>
        <p:nvPicPr>
          <p:cNvPr id="602" name="Google Shape;602;p80"/>
          <p:cNvPicPr preferRelativeResize="0"/>
          <p:nvPr/>
        </p:nvPicPr>
        <p:blipFill>
          <a:blip r:embed="rId3">
            <a:alphaModFix/>
          </a:blip>
          <a:stretch>
            <a:fillRect/>
          </a:stretch>
        </p:blipFill>
        <p:spPr>
          <a:xfrm>
            <a:off x="4049091" y="1817805"/>
            <a:ext cx="834260" cy="1729434"/>
          </a:xfrm>
          <a:prstGeom prst="rect">
            <a:avLst/>
          </a:prstGeom>
          <a:noFill/>
          <a:ln>
            <a:noFill/>
          </a:ln>
        </p:spPr>
      </p:pic>
      <p:pic>
        <p:nvPicPr>
          <p:cNvPr id="603" name="Google Shape;603;p80"/>
          <p:cNvPicPr preferRelativeResize="0"/>
          <p:nvPr/>
        </p:nvPicPr>
        <p:blipFill>
          <a:blip r:embed="rId4">
            <a:alphaModFix/>
          </a:blip>
          <a:stretch>
            <a:fillRect/>
          </a:stretch>
        </p:blipFill>
        <p:spPr>
          <a:xfrm>
            <a:off x="6902125" y="2219374"/>
            <a:ext cx="1433975" cy="1437273"/>
          </a:xfrm>
          <a:prstGeom prst="rect">
            <a:avLst/>
          </a:prstGeom>
          <a:noFill/>
          <a:ln>
            <a:noFill/>
          </a:ln>
        </p:spPr>
      </p:pic>
      <p:pic>
        <p:nvPicPr>
          <p:cNvPr id="604" name="Google Shape;604;p80"/>
          <p:cNvPicPr preferRelativeResize="0"/>
          <p:nvPr/>
        </p:nvPicPr>
        <p:blipFill>
          <a:blip r:embed="rId4">
            <a:alphaModFix/>
          </a:blip>
          <a:stretch>
            <a:fillRect/>
          </a:stretch>
        </p:blipFill>
        <p:spPr>
          <a:xfrm>
            <a:off x="5551271" y="935700"/>
            <a:ext cx="1433975" cy="1437273"/>
          </a:xfrm>
          <a:prstGeom prst="rect">
            <a:avLst/>
          </a:prstGeom>
          <a:noFill/>
          <a:ln>
            <a:noFill/>
          </a:ln>
        </p:spPr>
      </p:pic>
      <p:pic>
        <p:nvPicPr>
          <p:cNvPr id="605" name="Google Shape;605;p80"/>
          <p:cNvPicPr preferRelativeResize="0"/>
          <p:nvPr/>
        </p:nvPicPr>
        <p:blipFill>
          <a:blip r:embed="rId4">
            <a:alphaModFix/>
          </a:blip>
          <a:stretch>
            <a:fillRect/>
          </a:stretch>
        </p:blipFill>
        <p:spPr>
          <a:xfrm>
            <a:off x="5551271" y="3193173"/>
            <a:ext cx="1433975" cy="1437273"/>
          </a:xfrm>
          <a:prstGeom prst="rect">
            <a:avLst/>
          </a:prstGeom>
          <a:noFill/>
          <a:ln>
            <a:noFill/>
          </a:ln>
        </p:spPr>
      </p:pic>
      <p:cxnSp>
        <p:nvCxnSpPr>
          <p:cNvPr id="606" name="Google Shape;606;p80"/>
          <p:cNvCxnSpPr>
            <a:endCxn id="603" idx="1"/>
          </p:cNvCxnSpPr>
          <p:nvPr/>
        </p:nvCxnSpPr>
        <p:spPr>
          <a:xfrm>
            <a:off x="4854925" y="2485311"/>
            <a:ext cx="2047200" cy="452700"/>
          </a:xfrm>
          <a:prstGeom prst="straightConnector1">
            <a:avLst/>
          </a:prstGeom>
          <a:noFill/>
          <a:ln cap="flat" cmpd="sng" w="19050">
            <a:solidFill>
              <a:schemeClr val="dk2"/>
            </a:solidFill>
            <a:prstDash val="solid"/>
            <a:round/>
            <a:headEnd len="med" w="med" type="none"/>
            <a:tailEnd len="med" w="med" type="none"/>
          </a:ln>
        </p:spPr>
      </p:cxnSp>
      <p:sp>
        <p:nvSpPr>
          <p:cNvPr id="601" name="Google Shape;601;p80"/>
          <p:cNvSpPr/>
          <p:nvPr/>
        </p:nvSpPr>
        <p:spPr>
          <a:xfrm>
            <a:off x="5551272" y="3185802"/>
            <a:ext cx="1468807" cy="1452000"/>
          </a:xfrm>
          <a:prstGeom prst="ellipse">
            <a:avLst/>
          </a:prstGeom>
          <a:solidFill>
            <a:srgbClr val="FFFFFF">
              <a:alpha val="687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80"/>
          <p:cNvSpPr/>
          <p:nvPr/>
        </p:nvSpPr>
        <p:spPr>
          <a:xfrm>
            <a:off x="5551272" y="945292"/>
            <a:ext cx="1433926" cy="1418100"/>
          </a:xfrm>
          <a:prstGeom prst="ellipse">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80"/>
          <p:cNvSpPr/>
          <p:nvPr/>
        </p:nvSpPr>
        <p:spPr>
          <a:xfrm>
            <a:off x="6880372" y="2204652"/>
            <a:ext cx="1468800" cy="1452000"/>
          </a:xfrm>
          <a:prstGeom prst="ellipse">
            <a:avLst/>
          </a:prstGeom>
          <a:solidFill>
            <a:srgbClr val="FFFFFF">
              <a:alpha val="687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81"/>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Scripting</a:t>
            </a:r>
            <a:endParaRPr>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617" name="Shape 617"/>
        <p:cNvGrpSpPr/>
        <p:nvPr/>
      </p:nvGrpSpPr>
      <p:grpSpPr>
        <a:xfrm>
          <a:off x="0" y="0"/>
          <a:ext cx="0" cy="0"/>
          <a:chOff x="0" y="0"/>
          <a:chExt cx="0" cy="0"/>
        </a:xfrm>
      </p:grpSpPr>
      <p:sp>
        <p:nvSpPr>
          <p:cNvPr id="618" name="Google Shape;618;p82"/>
          <p:cNvSpPr txBox="1"/>
          <p:nvPr>
            <p:ph type="title"/>
          </p:nvPr>
        </p:nvSpPr>
        <p:spPr>
          <a:xfrm>
            <a:off x="460650" y="11907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Demo Summary </a:t>
            </a:r>
            <a:endParaRPr/>
          </a:p>
          <a:p>
            <a:pPr indent="0" lvl="0" marL="0" rtl="0" algn="l">
              <a:spcBef>
                <a:spcPts val="0"/>
              </a:spcBef>
              <a:spcAft>
                <a:spcPts val="0"/>
              </a:spcAft>
              <a:buNone/>
            </a:pPr>
            <a:r>
              <a:t/>
            </a:r>
            <a:endParaRPr/>
          </a:p>
        </p:txBody>
      </p:sp>
      <p:sp>
        <p:nvSpPr>
          <p:cNvPr id="619" name="Google Shape;619;p82"/>
          <p:cNvSpPr txBox="1"/>
          <p:nvPr>
            <p:ph idx="1" type="body"/>
          </p:nvPr>
        </p:nvSpPr>
        <p:spPr>
          <a:xfrm>
            <a:off x="460650" y="493775"/>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In the previous demo, we did the following:</a:t>
            </a:r>
            <a:endParaRPr/>
          </a:p>
        </p:txBody>
      </p:sp>
      <p:sp>
        <p:nvSpPr>
          <p:cNvPr id="620" name="Google Shape;620;p82"/>
          <p:cNvSpPr/>
          <p:nvPr/>
        </p:nvSpPr>
        <p:spPr>
          <a:xfrm>
            <a:off x="1492700" y="1594775"/>
            <a:ext cx="1985400" cy="2301000"/>
          </a:xfrm>
          <a:prstGeom prst="re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21" name="Google Shape;621;p82"/>
          <p:cNvSpPr/>
          <p:nvPr/>
        </p:nvSpPr>
        <p:spPr>
          <a:xfrm>
            <a:off x="3563698" y="1594775"/>
            <a:ext cx="1985400" cy="2301000"/>
          </a:xfrm>
          <a:prstGeom prst="re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82"/>
          <p:cNvSpPr/>
          <p:nvPr/>
        </p:nvSpPr>
        <p:spPr>
          <a:xfrm>
            <a:off x="5665900" y="1594775"/>
            <a:ext cx="1985400" cy="2301000"/>
          </a:xfrm>
          <a:prstGeom prst="re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23" name="Google Shape;623;p82"/>
          <p:cNvGrpSpPr/>
          <p:nvPr/>
        </p:nvGrpSpPr>
        <p:grpSpPr>
          <a:xfrm>
            <a:off x="3288208" y="2515767"/>
            <a:ext cx="459000" cy="459000"/>
            <a:chOff x="4898908" y="4195167"/>
            <a:chExt cx="459000" cy="459000"/>
          </a:xfrm>
        </p:grpSpPr>
        <p:sp>
          <p:nvSpPr>
            <p:cNvPr id="624" name="Google Shape;624;p82"/>
            <p:cNvSpPr/>
            <p:nvPr/>
          </p:nvSpPr>
          <p:spPr>
            <a:xfrm>
              <a:off x="4898908" y="4195167"/>
              <a:ext cx="459000" cy="459000"/>
            </a:xfrm>
            <a:prstGeom prst="ellipse">
              <a:avLst/>
            </a:prstGeom>
            <a:solidFill>
              <a:srgbClr val="F2F2F2"/>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625" name="Google Shape;625;p82"/>
            <p:cNvSpPr/>
            <p:nvPr/>
          </p:nvSpPr>
          <p:spPr>
            <a:xfrm>
              <a:off x="5101067" y="4330887"/>
              <a:ext cx="93400" cy="187578"/>
            </a:xfrm>
            <a:custGeom>
              <a:rect b="b" l="l" r="r" t="t"/>
              <a:pathLst>
                <a:path extrusionOk="0" fill="none" h="206130" w="102637">
                  <a:moveTo>
                    <a:pt x="0" y="1"/>
                  </a:moveTo>
                  <a:lnTo>
                    <a:pt x="102637" y="103065"/>
                  </a:lnTo>
                  <a:lnTo>
                    <a:pt x="0" y="206129"/>
                  </a:lnTo>
                </a:path>
              </a:pathLst>
            </a:custGeom>
            <a:noFill/>
            <a:ln cap="rnd"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26" name="Google Shape;626;p82"/>
          <p:cNvGrpSpPr/>
          <p:nvPr/>
        </p:nvGrpSpPr>
        <p:grpSpPr>
          <a:xfrm>
            <a:off x="5378008" y="2515767"/>
            <a:ext cx="459000" cy="459000"/>
            <a:chOff x="4898908" y="4195167"/>
            <a:chExt cx="459000" cy="459000"/>
          </a:xfrm>
        </p:grpSpPr>
        <p:sp>
          <p:nvSpPr>
            <p:cNvPr id="627" name="Google Shape;627;p82"/>
            <p:cNvSpPr/>
            <p:nvPr/>
          </p:nvSpPr>
          <p:spPr>
            <a:xfrm>
              <a:off x="4898908" y="4195167"/>
              <a:ext cx="459000" cy="459000"/>
            </a:xfrm>
            <a:prstGeom prst="ellipse">
              <a:avLst/>
            </a:prstGeom>
            <a:solidFill>
              <a:srgbClr val="F2F2F2"/>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628" name="Google Shape;628;p82"/>
            <p:cNvSpPr/>
            <p:nvPr/>
          </p:nvSpPr>
          <p:spPr>
            <a:xfrm>
              <a:off x="5101067" y="4330887"/>
              <a:ext cx="93400" cy="187578"/>
            </a:xfrm>
            <a:custGeom>
              <a:rect b="b" l="l" r="r" t="t"/>
              <a:pathLst>
                <a:path extrusionOk="0" fill="none" h="206130" w="102637">
                  <a:moveTo>
                    <a:pt x="0" y="1"/>
                  </a:moveTo>
                  <a:lnTo>
                    <a:pt x="102637" y="103065"/>
                  </a:lnTo>
                  <a:lnTo>
                    <a:pt x="0" y="206129"/>
                  </a:lnTo>
                </a:path>
              </a:pathLst>
            </a:custGeom>
            <a:noFill/>
            <a:ln cap="rnd"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29" name="Google Shape;629;p82"/>
          <p:cNvSpPr txBox="1"/>
          <p:nvPr/>
        </p:nvSpPr>
        <p:spPr>
          <a:xfrm>
            <a:off x="3756650" y="2167600"/>
            <a:ext cx="1611900" cy="1607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Verified and executed our script</a:t>
            </a:r>
            <a:endParaRPr b="1" i="0" sz="1800" u="none" cap="none" strike="noStrike">
              <a:solidFill>
                <a:schemeClr val="dk2"/>
              </a:solidFill>
              <a:latin typeface="Roboto"/>
              <a:ea typeface="Roboto"/>
              <a:cs typeface="Roboto"/>
              <a:sym typeface="Roboto"/>
            </a:endParaRPr>
          </a:p>
        </p:txBody>
      </p:sp>
      <p:sp>
        <p:nvSpPr>
          <p:cNvPr id="630" name="Google Shape;630;p82"/>
          <p:cNvSpPr txBox="1"/>
          <p:nvPr/>
        </p:nvSpPr>
        <p:spPr>
          <a:xfrm>
            <a:off x="5837000" y="2045325"/>
            <a:ext cx="1624500" cy="1855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Updated crontab to run the script </a:t>
            </a:r>
            <a:endParaRPr b="1" i="0" sz="1800" u="none" cap="none" strike="noStrike">
              <a:solidFill>
                <a:schemeClr val="dk2"/>
              </a:solidFill>
              <a:latin typeface="Roboto"/>
              <a:ea typeface="Roboto"/>
              <a:cs typeface="Roboto"/>
              <a:sym typeface="Roboto"/>
            </a:endParaRPr>
          </a:p>
        </p:txBody>
      </p:sp>
      <p:sp>
        <p:nvSpPr>
          <p:cNvPr id="631" name="Google Shape;631;p82"/>
          <p:cNvSpPr txBox="1"/>
          <p:nvPr/>
        </p:nvSpPr>
        <p:spPr>
          <a:xfrm>
            <a:off x="1676275" y="2286000"/>
            <a:ext cx="1611900" cy="1615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lt1"/>
                </a:solidFill>
                <a:latin typeface="Roboto"/>
                <a:ea typeface="Roboto"/>
                <a:cs typeface="Roboto"/>
                <a:sym typeface="Roboto"/>
              </a:rPr>
              <a:t>Saved commands into a custom script</a:t>
            </a:r>
            <a:endParaRPr b="1" i="0" sz="1800" u="none" cap="none" strike="noStrike">
              <a:solidFill>
                <a:schemeClr val="lt1"/>
              </a:solidFill>
              <a:latin typeface="Roboto"/>
              <a:ea typeface="Roboto"/>
              <a:cs typeface="Roboto"/>
              <a:sym typeface="Roboto"/>
            </a:endParaRPr>
          </a:p>
        </p:txBody>
      </p:sp>
      <p:pic>
        <p:nvPicPr>
          <p:cNvPr id="632" name="Google Shape;632;p82"/>
          <p:cNvPicPr preferRelativeResize="0"/>
          <p:nvPr/>
        </p:nvPicPr>
        <p:blipFill>
          <a:blip r:embed="rId3">
            <a:alphaModFix/>
          </a:blip>
          <a:stretch>
            <a:fillRect/>
          </a:stretch>
        </p:blipFill>
        <p:spPr>
          <a:xfrm>
            <a:off x="1541025" y="1685405"/>
            <a:ext cx="698153" cy="431416"/>
          </a:xfrm>
          <a:prstGeom prst="rect">
            <a:avLst/>
          </a:prstGeom>
          <a:noFill/>
          <a:ln>
            <a:noFill/>
          </a:ln>
        </p:spPr>
      </p:pic>
      <p:pic>
        <p:nvPicPr>
          <p:cNvPr id="633" name="Google Shape;633;p82"/>
          <p:cNvPicPr preferRelativeResize="0"/>
          <p:nvPr/>
        </p:nvPicPr>
        <p:blipFill>
          <a:blip r:embed="rId4">
            <a:alphaModFix/>
          </a:blip>
          <a:stretch>
            <a:fillRect/>
          </a:stretch>
        </p:blipFill>
        <p:spPr>
          <a:xfrm>
            <a:off x="3627577" y="1637725"/>
            <a:ext cx="487211" cy="459001"/>
          </a:xfrm>
          <a:prstGeom prst="rect">
            <a:avLst/>
          </a:prstGeom>
          <a:noFill/>
          <a:ln>
            <a:noFill/>
          </a:ln>
        </p:spPr>
      </p:pic>
      <p:pic>
        <p:nvPicPr>
          <p:cNvPr id="634" name="Google Shape;634;p82"/>
          <p:cNvPicPr preferRelativeResize="0"/>
          <p:nvPr/>
        </p:nvPicPr>
        <p:blipFill>
          <a:blip r:embed="rId5">
            <a:alphaModFix/>
          </a:blip>
          <a:stretch>
            <a:fillRect/>
          </a:stretch>
        </p:blipFill>
        <p:spPr>
          <a:xfrm>
            <a:off x="5764893" y="1664154"/>
            <a:ext cx="423140" cy="47392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83"/>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3</a:t>
            </a:r>
            <a:r>
              <a:rPr lang="en"/>
              <a:t>0 Minutes</a:t>
            </a:r>
            <a:endParaRPr/>
          </a:p>
        </p:txBody>
      </p:sp>
      <p:sp>
        <p:nvSpPr>
          <p:cNvPr id="640" name="Google Shape;640;p83"/>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Introduction to Scripts</a:t>
            </a:r>
            <a:endParaRPr b="1">
              <a:latin typeface="Inconsolata"/>
              <a:ea typeface="Inconsolata"/>
              <a:cs typeface="Inconsolata"/>
              <a:sym typeface="Inconsolata"/>
            </a:endParaRPr>
          </a:p>
        </p:txBody>
      </p:sp>
      <p:sp>
        <p:nvSpPr>
          <p:cNvPr id="641" name="Google Shape;641;p83"/>
          <p:cNvSpPr txBox="1"/>
          <p:nvPr>
            <p:ph idx="3" type="body"/>
          </p:nvPr>
        </p:nvSpPr>
        <p:spPr>
          <a:xfrm>
            <a:off x="457200" y="1052288"/>
            <a:ext cx="7882200" cy="3144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you'll continue to play the role of a junior administrator at Rezifp Pharma Inc.</a:t>
            </a:r>
            <a:endParaRPr/>
          </a:p>
          <a:p>
            <a:pPr indent="0" lvl="0" marL="0" rtl="0" algn="l">
              <a:spcBef>
                <a:spcPts val="0"/>
              </a:spcBef>
              <a:spcAft>
                <a:spcPts val="0"/>
              </a:spcAft>
              <a:buNone/>
            </a:pPr>
            <a:r>
              <a:t/>
            </a:r>
            <a:endParaRPr/>
          </a:p>
          <a:p>
            <a:pPr indent="-342900" lvl="0" marL="914400" rtl="0" algn="l">
              <a:spcBef>
                <a:spcPts val="0"/>
              </a:spcBef>
              <a:spcAft>
                <a:spcPts val="0"/>
              </a:spcAft>
              <a:buSzPts val="1800"/>
              <a:buChar char="●"/>
            </a:pPr>
            <a:r>
              <a:rPr lang="en"/>
              <a:t>In response to malware, adware, and virus attacks, your organization has asked you to ensure proper configuration management of all networking equipment and associated systems.</a:t>
            </a:r>
            <a:endParaRPr/>
          </a:p>
          <a:p>
            <a:pPr indent="0" lvl="0" marL="0" rtl="0" algn="l">
              <a:spcBef>
                <a:spcPts val="0"/>
              </a:spcBef>
              <a:spcAft>
                <a:spcPts val="0"/>
              </a:spcAft>
              <a:buNone/>
            </a:pPr>
            <a:r>
              <a:t/>
            </a:r>
            <a:endParaRPr/>
          </a:p>
          <a:p>
            <a:pPr indent="-342900" lvl="0" marL="914400" rtl="0" algn="l">
              <a:spcBef>
                <a:spcPts val="0"/>
              </a:spcBef>
              <a:spcAft>
                <a:spcPts val="0"/>
              </a:spcAft>
              <a:buSzPts val="1800"/>
              <a:buChar char="●"/>
            </a:pPr>
            <a:r>
              <a:rPr lang="en"/>
              <a:t>Previously, you learned how to schedule backups using </a:t>
            </a:r>
            <a:r>
              <a:rPr b="1" lang="en">
                <a:latin typeface="Inconsolata"/>
                <a:ea typeface="Inconsolata"/>
                <a:cs typeface="Inconsolata"/>
                <a:sym typeface="Inconsolata"/>
              </a:rPr>
              <a:t>cron</a:t>
            </a:r>
            <a:r>
              <a:rPr lang="en"/>
              <a:t>. Your senior systems administrator has requested that you begin automating these tasks by writing scripts.</a:t>
            </a:r>
            <a:endParaRPr/>
          </a:p>
          <a:p>
            <a:pPr indent="0" lvl="0" marL="0" rtl="0" algn="l">
              <a:spcBef>
                <a:spcPts val="0"/>
              </a:spcBef>
              <a:spcAft>
                <a:spcPts val="0"/>
              </a:spcAft>
              <a:buNone/>
            </a:pPr>
            <a:r>
              <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pic>
        <p:nvPicPr>
          <p:cNvPr id="642" name="Google Shape;642;p83"/>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87"/>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latin typeface="Roboto"/>
                <a:ea typeface="Roboto"/>
                <a:cs typeface="Roboto"/>
                <a:sym typeface="Roboto"/>
              </a:rPr>
              <a:t>Scheduling</a:t>
            </a:r>
            <a:r>
              <a:rPr b="0" lang="en">
                <a:latin typeface="Roboto"/>
                <a:ea typeface="Roboto"/>
                <a:cs typeface="Roboto"/>
                <a:sym typeface="Roboto"/>
              </a:rPr>
              <a:t> Backups, Cleanups,</a:t>
            </a:r>
            <a:endParaRPr b="0">
              <a:latin typeface="Roboto"/>
              <a:ea typeface="Roboto"/>
              <a:cs typeface="Roboto"/>
              <a:sym typeface="Roboto"/>
            </a:endParaRPr>
          </a:p>
          <a:p>
            <a:pPr indent="0" lvl="0" marL="0" rtl="0" algn="ctr">
              <a:spcBef>
                <a:spcPts val="0"/>
              </a:spcBef>
              <a:spcAft>
                <a:spcPts val="0"/>
              </a:spcAft>
              <a:buNone/>
            </a:pPr>
            <a:r>
              <a:rPr b="0" lang="en">
                <a:latin typeface="Roboto"/>
                <a:ea typeface="Roboto"/>
                <a:cs typeface="Roboto"/>
                <a:sym typeface="Roboto"/>
              </a:rPr>
              <a:t>and Security </a:t>
            </a:r>
            <a:r>
              <a:rPr lang="en">
                <a:latin typeface="Roboto"/>
                <a:ea typeface="Roboto"/>
                <a:cs typeface="Roboto"/>
                <a:sym typeface="Roboto"/>
              </a:rPr>
              <a:t>Checks</a:t>
            </a:r>
            <a:endParaRPr>
              <a:latin typeface="Roboto"/>
              <a:ea typeface="Roboto"/>
              <a:cs typeface="Roboto"/>
              <a:sym typeface="Roboto"/>
            </a:endParaRPr>
          </a:p>
        </p:txBody>
      </p:sp>
      <p:pic>
        <p:nvPicPr>
          <p:cNvPr id="660" name="Google Shape;660;p87"/>
          <p:cNvPicPr preferRelativeResize="0"/>
          <p:nvPr/>
        </p:nvPicPr>
        <p:blipFill>
          <a:blip r:embed="rId3">
            <a:alphaModFix/>
          </a:blip>
          <a:stretch>
            <a:fillRect/>
          </a:stretch>
        </p:blipFill>
        <p:spPr>
          <a:xfrm>
            <a:off x="4114800" y="1931388"/>
            <a:ext cx="914400" cy="70920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88"/>
          <p:cNvSpPr txBox="1"/>
          <p:nvPr/>
        </p:nvSpPr>
        <p:spPr>
          <a:xfrm>
            <a:off x="4236300" y="2333500"/>
            <a:ext cx="4523400" cy="24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Inconsolata"/>
                <a:ea typeface="Inconsolata"/>
                <a:cs typeface="Inconsolata"/>
                <a:sym typeface="Inconsolata"/>
              </a:rPr>
              <a:t>crontabs</a:t>
            </a:r>
            <a:r>
              <a:rPr lang="en" sz="1800">
                <a:solidFill>
                  <a:schemeClr val="dk2"/>
                </a:solidFill>
                <a:latin typeface="Roboto"/>
                <a:ea typeface="Roboto"/>
                <a:cs typeface="Roboto"/>
                <a:sym typeface="Roboto"/>
              </a:rPr>
              <a:t> belong to individual users and are designed to be run with the same permissions.</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Therefore, they are typically unable to modify the system due to lack of </a:t>
            </a:r>
            <a:r>
              <a:rPr b="1" lang="en" sz="1800">
                <a:solidFill>
                  <a:schemeClr val="dk2"/>
                </a:solidFill>
                <a:latin typeface="Inconsolata"/>
                <a:ea typeface="Inconsolata"/>
                <a:cs typeface="Inconsolata"/>
                <a:sym typeface="Inconsolata"/>
              </a:rPr>
              <a:t>root </a:t>
            </a:r>
            <a:r>
              <a:rPr lang="en" sz="1800">
                <a:solidFill>
                  <a:schemeClr val="dk2"/>
                </a:solidFill>
                <a:latin typeface="Roboto"/>
                <a:ea typeface="Roboto"/>
                <a:cs typeface="Roboto"/>
                <a:sym typeface="Roboto"/>
              </a:rPr>
              <a:t>privileges.</a:t>
            </a:r>
            <a:endParaRPr sz="1800">
              <a:solidFill>
                <a:schemeClr val="dk2"/>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89"/>
          <p:cNvSpPr txBox="1"/>
          <p:nvPr>
            <p:ph type="title"/>
          </p:nvPr>
        </p:nvSpPr>
        <p:spPr>
          <a:xfrm>
            <a:off x="914400" y="2987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System-Wide </a:t>
            </a:r>
            <a:r>
              <a:rPr lang="en">
                <a:latin typeface="Inconsolata"/>
                <a:ea typeface="Inconsolata"/>
                <a:cs typeface="Inconsolata"/>
                <a:sym typeface="Inconsolata"/>
              </a:rPr>
              <a:t>cron </a:t>
            </a:r>
            <a:r>
              <a:rPr lang="en"/>
              <a:t>Directories</a:t>
            </a:r>
            <a:endParaRPr/>
          </a:p>
        </p:txBody>
      </p:sp>
      <p:sp>
        <p:nvSpPr>
          <p:cNvPr id="671" name="Google Shape;671;p89"/>
          <p:cNvSpPr txBox="1"/>
          <p:nvPr>
            <p:ph idx="2" type="body"/>
          </p:nvPr>
        </p:nvSpPr>
        <p:spPr>
          <a:xfrm>
            <a:off x="457200" y="1060625"/>
            <a:ext cx="4896900" cy="36432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solidFill>
                  <a:schemeClr val="accent5"/>
                </a:solidFill>
              </a:rPr>
              <a:t>-System-wide cron directories:</a:t>
            </a:r>
            <a:endParaRPr>
              <a:solidFill>
                <a:schemeClr val="accent5"/>
              </a:solidFill>
            </a:endParaRPr>
          </a:p>
          <a:p>
            <a:pPr indent="-342900" lvl="0" marL="457200" rtl="0" algn="l">
              <a:spcBef>
                <a:spcPts val="0"/>
              </a:spcBef>
              <a:spcAft>
                <a:spcPts val="0"/>
              </a:spcAft>
              <a:buClr>
                <a:schemeClr val="accent5"/>
              </a:buClr>
              <a:buSzPts val="1800"/>
              <a:buFont typeface="Inconsolata"/>
              <a:buChar char="●"/>
            </a:pPr>
            <a:r>
              <a:rPr b="1" lang="en">
                <a:solidFill>
                  <a:schemeClr val="accent5"/>
                </a:solidFill>
                <a:latin typeface="Inconsolata"/>
                <a:ea typeface="Inconsolata"/>
                <a:cs typeface="Inconsolata"/>
                <a:sym typeface="Inconsolata"/>
              </a:rPr>
              <a:t>/etc/cron.d</a:t>
            </a:r>
            <a:endParaRPr b="1">
              <a:solidFill>
                <a:schemeClr val="accent5"/>
              </a:solidFill>
              <a:latin typeface="Inconsolata"/>
              <a:ea typeface="Inconsolata"/>
              <a:cs typeface="Inconsolata"/>
              <a:sym typeface="Inconsolata"/>
            </a:endParaRPr>
          </a:p>
          <a:p>
            <a:pPr indent="-342900" lvl="0" marL="457200" rtl="0" algn="l">
              <a:spcBef>
                <a:spcPts val="0"/>
              </a:spcBef>
              <a:spcAft>
                <a:spcPts val="0"/>
              </a:spcAft>
              <a:buClr>
                <a:schemeClr val="accent5"/>
              </a:buClr>
              <a:buSzPts val="1800"/>
              <a:buFont typeface="Inconsolata"/>
              <a:buChar char="●"/>
            </a:pPr>
            <a:r>
              <a:rPr b="1" lang="en">
                <a:solidFill>
                  <a:schemeClr val="accent5"/>
                </a:solidFill>
                <a:latin typeface="Inconsolata"/>
                <a:ea typeface="Inconsolata"/>
                <a:cs typeface="Inconsolata"/>
                <a:sym typeface="Inconsolata"/>
              </a:rPr>
              <a:t>/etc/cron.daily</a:t>
            </a:r>
            <a:endParaRPr b="1">
              <a:solidFill>
                <a:schemeClr val="accent5"/>
              </a:solidFill>
              <a:latin typeface="Inconsolata"/>
              <a:ea typeface="Inconsolata"/>
              <a:cs typeface="Inconsolata"/>
              <a:sym typeface="Inconsolata"/>
            </a:endParaRPr>
          </a:p>
          <a:p>
            <a:pPr indent="-342900" lvl="0" marL="457200" rtl="0" algn="l">
              <a:spcBef>
                <a:spcPts val="0"/>
              </a:spcBef>
              <a:spcAft>
                <a:spcPts val="0"/>
              </a:spcAft>
              <a:buClr>
                <a:schemeClr val="accent5"/>
              </a:buClr>
              <a:buSzPts val="1800"/>
              <a:buFont typeface="Inconsolata"/>
              <a:buChar char="●"/>
            </a:pPr>
            <a:r>
              <a:rPr b="1" lang="en">
                <a:solidFill>
                  <a:schemeClr val="accent5"/>
                </a:solidFill>
                <a:latin typeface="Inconsolata"/>
                <a:ea typeface="Inconsolata"/>
                <a:cs typeface="Inconsolata"/>
                <a:sym typeface="Inconsolata"/>
              </a:rPr>
              <a:t>/etc/cron.weekly</a:t>
            </a:r>
            <a:endParaRPr b="1">
              <a:solidFill>
                <a:schemeClr val="accent5"/>
              </a:solidFill>
              <a:latin typeface="Inconsolata"/>
              <a:ea typeface="Inconsolata"/>
              <a:cs typeface="Inconsolata"/>
              <a:sym typeface="Inconsolata"/>
            </a:endParaRPr>
          </a:p>
          <a:p>
            <a:pPr indent="-342900" lvl="0" marL="457200" rtl="0" algn="l">
              <a:spcBef>
                <a:spcPts val="0"/>
              </a:spcBef>
              <a:spcAft>
                <a:spcPts val="0"/>
              </a:spcAft>
              <a:buClr>
                <a:schemeClr val="accent5"/>
              </a:buClr>
              <a:buSzPts val="1800"/>
              <a:buFont typeface="Inconsolata"/>
              <a:buChar char="●"/>
            </a:pPr>
            <a:r>
              <a:rPr b="1" lang="en">
                <a:solidFill>
                  <a:schemeClr val="accent5"/>
                </a:solidFill>
                <a:latin typeface="Inconsolata"/>
                <a:ea typeface="Inconsolata"/>
                <a:cs typeface="Inconsolata"/>
                <a:sym typeface="Inconsolata"/>
              </a:rPr>
              <a:t>/etc/cron.monthly</a:t>
            </a:r>
            <a:endParaRPr b="1">
              <a:solidFill>
                <a:schemeClr val="accent5"/>
              </a:solidFill>
              <a:latin typeface="Inconsolata"/>
              <a:ea typeface="Inconsolata"/>
              <a:cs typeface="Inconsolata"/>
              <a:sym typeface="Inconsolata"/>
            </a:endParaRPr>
          </a:p>
          <a:p>
            <a:pPr indent="0" lvl="0" marL="0" rtl="0" algn="l">
              <a:spcBef>
                <a:spcPts val="0"/>
              </a:spcBef>
              <a:spcAft>
                <a:spcPts val="0"/>
              </a:spcAft>
              <a:buNone/>
            </a:pPr>
            <a:r>
              <a:t/>
            </a:r>
            <a:endParaRPr>
              <a:solidFill>
                <a:schemeClr val="accent5"/>
              </a:solidFill>
            </a:endParaRPr>
          </a:p>
          <a:p>
            <a:pPr indent="0" lvl="0" marL="0" rtl="0" algn="l">
              <a:spcBef>
                <a:spcPts val="0"/>
              </a:spcBef>
              <a:spcAft>
                <a:spcPts val="0"/>
              </a:spcAft>
              <a:buNone/>
            </a:pPr>
            <a:r>
              <a:rPr lang="en">
                <a:solidFill>
                  <a:schemeClr val="accent5"/>
                </a:solidFill>
              </a:rPr>
              <a:t>-</a:t>
            </a:r>
            <a:r>
              <a:rPr b="1" lang="en">
                <a:solidFill>
                  <a:schemeClr val="accent5"/>
                </a:solidFill>
                <a:latin typeface="Inconsolata"/>
                <a:ea typeface="Inconsolata"/>
                <a:cs typeface="Inconsolata"/>
                <a:sym typeface="Inconsolata"/>
              </a:rPr>
              <a:t>cronjobs</a:t>
            </a:r>
            <a:r>
              <a:rPr lang="en">
                <a:solidFill>
                  <a:schemeClr val="accent5"/>
                </a:solidFill>
              </a:rPr>
              <a:t> that run with </a:t>
            </a:r>
            <a:r>
              <a:rPr b="1" lang="en">
                <a:solidFill>
                  <a:schemeClr val="accent5"/>
                </a:solidFill>
                <a:latin typeface="Inconsolata"/>
                <a:ea typeface="Inconsolata"/>
                <a:cs typeface="Inconsolata"/>
                <a:sym typeface="Inconsolata"/>
              </a:rPr>
              <a:t>root</a:t>
            </a:r>
            <a:r>
              <a:rPr lang="en">
                <a:solidFill>
                  <a:schemeClr val="accent5"/>
                </a:solidFill>
              </a:rPr>
              <a:t> privileges </a:t>
            </a:r>
            <a:endParaRPr>
              <a:solidFill>
                <a:schemeClr val="accent5"/>
              </a:solidFill>
            </a:endParaRPr>
          </a:p>
          <a:p>
            <a:pPr indent="0" lvl="0" marL="0" rtl="0" algn="l">
              <a:spcBef>
                <a:spcPts val="0"/>
              </a:spcBef>
              <a:spcAft>
                <a:spcPts val="0"/>
              </a:spcAft>
              <a:buNone/>
            </a:pPr>
            <a:r>
              <a:t/>
            </a:r>
            <a:endParaRPr>
              <a:solidFill>
                <a:schemeClr val="accent5"/>
              </a:solidFill>
            </a:endParaRPr>
          </a:p>
          <a:p>
            <a:pPr indent="0" lvl="0" marL="0" rtl="0" algn="l">
              <a:spcBef>
                <a:spcPts val="0"/>
              </a:spcBef>
              <a:spcAft>
                <a:spcPts val="0"/>
              </a:spcAft>
              <a:buNone/>
            </a:pPr>
            <a:r>
              <a:rPr lang="en">
                <a:solidFill>
                  <a:schemeClr val="accent5"/>
                </a:solidFill>
              </a:rPr>
              <a:t>-Dedicated time intervals:</a:t>
            </a:r>
            <a:endParaRPr>
              <a:solidFill>
                <a:schemeClr val="accent5"/>
              </a:solidFill>
            </a:endParaRPr>
          </a:p>
          <a:p>
            <a:pPr indent="-342900" lvl="0" marL="457200" rtl="0" algn="l">
              <a:spcBef>
                <a:spcPts val="0"/>
              </a:spcBef>
              <a:spcAft>
                <a:spcPts val="0"/>
              </a:spcAft>
              <a:buClr>
                <a:schemeClr val="accent5"/>
              </a:buClr>
              <a:buSzPts val="1800"/>
              <a:buChar char="●"/>
            </a:pPr>
            <a:r>
              <a:rPr b="1" lang="en">
                <a:solidFill>
                  <a:schemeClr val="accent5"/>
                </a:solidFill>
                <a:latin typeface="Inconsolata"/>
                <a:ea typeface="Inconsolata"/>
                <a:cs typeface="Inconsolata"/>
                <a:sym typeface="Inconsolata"/>
              </a:rPr>
              <a:t>/etc/cron.weekly </a:t>
            </a:r>
            <a:r>
              <a:rPr lang="en">
                <a:solidFill>
                  <a:schemeClr val="accent5"/>
                </a:solidFill>
              </a:rPr>
              <a:t>runs once per week</a:t>
            </a:r>
            <a:endParaRPr>
              <a:solidFill>
                <a:schemeClr val="accent5"/>
              </a:solidFill>
            </a:endParaRPr>
          </a:p>
        </p:txBody>
      </p:sp>
      <p:pic>
        <p:nvPicPr>
          <p:cNvPr id="672" name="Google Shape;672;p89" title="Folder icon grey color | Free SVG"/>
          <p:cNvPicPr preferRelativeResize="0"/>
          <p:nvPr/>
        </p:nvPicPr>
        <p:blipFill>
          <a:blip r:embed="rId3">
            <a:alphaModFix/>
          </a:blip>
          <a:stretch>
            <a:fillRect/>
          </a:stretch>
        </p:blipFill>
        <p:spPr>
          <a:xfrm>
            <a:off x="8374163" y="5267863"/>
            <a:ext cx="423926" cy="423925"/>
          </a:xfrm>
          <a:prstGeom prst="rect">
            <a:avLst/>
          </a:prstGeom>
          <a:noFill/>
          <a:ln>
            <a:noFill/>
          </a:ln>
        </p:spPr>
      </p:pic>
      <p:pic>
        <p:nvPicPr>
          <p:cNvPr id="673" name="Google Shape;673;p89"/>
          <p:cNvPicPr preferRelativeResize="0"/>
          <p:nvPr/>
        </p:nvPicPr>
        <p:blipFill>
          <a:blip r:embed="rId4">
            <a:alphaModFix/>
          </a:blip>
          <a:stretch>
            <a:fillRect/>
          </a:stretch>
        </p:blipFill>
        <p:spPr>
          <a:xfrm>
            <a:off x="267575" y="276075"/>
            <a:ext cx="379275" cy="362225"/>
          </a:xfrm>
          <a:prstGeom prst="rect">
            <a:avLst/>
          </a:prstGeom>
          <a:noFill/>
          <a:ln>
            <a:noFill/>
          </a:ln>
        </p:spPr>
      </p:pic>
      <p:pic>
        <p:nvPicPr>
          <p:cNvPr id="674" name="Google Shape;674;p89"/>
          <p:cNvPicPr preferRelativeResize="0"/>
          <p:nvPr/>
        </p:nvPicPr>
        <p:blipFill>
          <a:blip r:embed="rId5">
            <a:alphaModFix/>
          </a:blip>
          <a:stretch>
            <a:fillRect/>
          </a:stretch>
        </p:blipFill>
        <p:spPr>
          <a:xfrm>
            <a:off x="5312038" y="1164175"/>
            <a:ext cx="3485100" cy="300601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90"/>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Now we’ll examine the </a:t>
            </a:r>
            <a:r>
              <a:rPr b="1" lang="en">
                <a:latin typeface="Inconsolata"/>
                <a:ea typeface="Inconsolata"/>
                <a:cs typeface="Inconsolata"/>
                <a:sym typeface="Inconsolata"/>
              </a:rPr>
              <a:t>/etc/cron</a:t>
            </a:r>
            <a:r>
              <a:rPr lang="en"/>
              <a:t> directories.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91"/>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Inconsolata"/>
                <a:ea typeface="Inconsolata"/>
                <a:cs typeface="Inconsolata"/>
                <a:sym typeface="Inconsolata"/>
              </a:rPr>
              <a:t>cron </a:t>
            </a:r>
            <a:r>
              <a:rPr b="0" lang="en">
                <a:latin typeface="Roboto"/>
                <a:ea typeface="Roboto"/>
                <a:cs typeface="Roboto"/>
                <a:sym typeface="Roboto"/>
              </a:rPr>
              <a:t>Directories</a:t>
            </a:r>
            <a:endParaRPr b="0">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92"/>
          <p:cNvSpPr txBox="1"/>
          <p:nvPr>
            <p:ph type="title"/>
          </p:nvPr>
        </p:nvSpPr>
        <p:spPr>
          <a:xfrm>
            <a:off x="990600" y="146300"/>
            <a:ext cx="82296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rPr>
              <a:t>Lynis Scanner</a:t>
            </a:r>
            <a:endParaRPr>
              <a:solidFill>
                <a:schemeClr val="dk2"/>
              </a:solidFill>
            </a:endParaRPr>
          </a:p>
          <a:p>
            <a:pPr indent="0" lvl="0" marL="0" rtl="0" algn="l">
              <a:spcBef>
                <a:spcPts val="0"/>
              </a:spcBef>
              <a:spcAft>
                <a:spcPts val="0"/>
              </a:spcAft>
              <a:buNone/>
            </a:pPr>
            <a:r>
              <a:t/>
            </a:r>
            <a:endParaRPr/>
          </a:p>
        </p:txBody>
      </p:sp>
      <p:sp>
        <p:nvSpPr>
          <p:cNvPr id="690" name="Google Shape;690;p92"/>
          <p:cNvSpPr txBox="1"/>
          <p:nvPr>
            <p:ph idx="1" type="subTitle"/>
          </p:nvPr>
        </p:nvSpPr>
        <p:spPr>
          <a:xfrm>
            <a:off x="996631" y="548650"/>
            <a:ext cx="82236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Security scanner used to scan for vulnerabilities</a:t>
            </a:r>
            <a:endParaRPr/>
          </a:p>
          <a:p>
            <a:pPr indent="0" lvl="0" marL="0" rtl="0" algn="l">
              <a:spcBef>
                <a:spcPts val="0"/>
              </a:spcBef>
              <a:spcAft>
                <a:spcPts val="0"/>
              </a:spcAft>
              <a:buNone/>
            </a:pPr>
            <a:r>
              <a:t/>
            </a:r>
            <a:endParaRPr/>
          </a:p>
        </p:txBody>
      </p:sp>
      <p:sp>
        <p:nvSpPr>
          <p:cNvPr id="691" name="Google Shape;691;p92"/>
          <p:cNvSpPr txBox="1"/>
          <p:nvPr>
            <p:ph idx="3" type="body"/>
          </p:nvPr>
        </p:nvSpPr>
        <p:spPr>
          <a:xfrm>
            <a:off x="457200" y="1592650"/>
            <a:ext cx="3013200" cy="115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Generates and saves reports</a:t>
            </a:r>
            <a:br>
              <a:rPr lang="en"/>
            </a:br>
            <a:endParaRPr/>
          </a:p>
          <a:p>
            <a:pPr indent="0" lvl="0" marL="0" rtl="0" algn="l">
              <a:spcBef>
                <a:spcPts val="0"/>
              </a:spcBef>
              <a:spcAft>
                <a:spcPts val="0"/>
              </a:spcAft>
              <a:buNone/>
            </a:pPr>
            <a:r>
              <a:t/>
            </a:r>
            <a:endParaRPr/>
          </a:p>
        </p:txBody>
      </p:sp>
      <p:sp>
        <p:nvSpPr>
          <p:cNvPr id="692" name="Google Shape;692;p92"/>
          <p:cNvSpPr txBox="1"/>
          <p:nvPr>
            <p:ph idx="4" type="body"/>
          </p:nvPr>
        </p:nvSpPr>
        <p:spPr>
          <a:xfrm>
            <a:off x="457200" y="3413275"/>
            <a:ext cx="3013200" cy="115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Numerous scan type options</a:t>
            </a:r>
            <a:endParaRPr/>
          </a:p>
        </p:txBody>
      </p:sp>
      <p:pic>
        <p:nvPicPr>
          <p:cNvPr id="693" name="Google Shape;693;p92"/>
          <p:cNvPicPr preferRelativeResize="0"/>
          <p:nvPr/>
        </p:nvPicPr>
        <p:blipFill rotWithShape="1">
          <a:blip r:embed="rId3">
            <a:alphaModFix/>
          </a:blip>
          <a:srcRect b="0" l="-7240" r="7239" t="7235"/>
          <a:stretch/>
        </p:blipFill>
        <p:spPr>
          <a:xfrm>
            <a:off x="3657600" y="1019850"/>
            <a:ext cx="5207626" cy="3911475"/>
          </a:xfrm>
          <a:prstGeom prst="rect">
            <a:avLst/>
          </a:prstGeom>
          <a:noFill/>
          <a:ln>
            <a:noFill/>
          </a:ln>
        </p:spPr>
      </p:pic>
      <p:sp>
        <p:nvSpPr>
          <p:cNvPr id="694" name="Google Shape;694;p92"/>
          <p:cNvSpPr/>
          <p:nvPr/>
        </p:nvSpPr>
        <p:spPr>
          <a:xfrm>
            <a:off x="309325" y="218650"/>
            <a:ext cx="604200" cy="6042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695" name="Google Shape;695;p92"/>
          <p:cNvPicPr preferRelativeResize="0"/>
          <p:nvPr/>
        </p:nvPicPr>
        <p:blipFill>
          <a:blip r:embed="rId4">
            <a:alphaModFix/>
          </a:blip>
          <a:stretch>
            <a:fillRect/>
          </a:stretch>
        </p:blipFill>
        <p:spPr>
          <a:xfrm>
            <a:off x="402150" y="355650"/>
            <a:ext cx="418550" cy="3302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93"/>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Inconsolata"/>
                <a:ea typeface="Inconsolata"/>
                <a:cs typeface="Inconsolata"/>
                <a:sym typeface="Inconsolata"/>
              </a:rPr>
              <a:t>Lynis</a:t>
            </a:r>
            <a:endParaRPr>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94"/>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a:t>
            </a:r>
            <a:r>
              <a:rPr lang="en"/>
              <a:t>0 Minutes</a:t>
            </a:r>
            <a:endParaRPr/>
          </a:p>
        </p:txBody>
      </p:sp>
      <p:sp>
        <p:nvSpPr>
          <p:cNvPr id="706" name="Google Shape;706;p94"/>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Scheduling Backups, Cleanups, and Security Checks</a:t>
            </a:r>
            <a:endParaRPr b="1">
              <a:latin typeface="Inconsolata"/>
              <a:ea typeface="Inconsolata"/>
              <a:cs typeface="Inconsolata"/>
              <a:sym typeface="Inconsolata"/>
            </a:endParaRPr>
          </a:p>
        </p:txBody>
      </p:sp>
      <p:sp>
        <p:nvSpPr>
          <p:cNvPr id="707" name="Google Shape;707;p94"/>
          <p:cNvSpPr txBox="1"/>
          <p:nvPr>
            <p:ph idx="3" type="body"/>
          </p:nvPr>
        </p:nvSpPr>
        <p:spPr>
          <a:xfrm>
            <a:off x="457200" y="1052288"/>
            <a:ext cx="7882200" cy="3144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you'll continue to play the role of a junior administrator at Rezifp Pharma Inc.</a:t>
            </a:r>
            <a:endParaRPr/>
          </a:p>
          <a:p>
            <a:pPr indent="0" lvl="0" marL="0" rtl="0" algn="l">
              <a:spcBef>
                <a:spcPts val="0"/>
              </a:spcBef>
              <a:spcAft>
                <a:spcPts val="0"/>
              </a:spcAft>
              <a:buNone/>
            </a:pPr>
            <a:r>
              <a:t/>
            </a:r>
            <a:endParaRPr/>
          </a:p>
          <a:p>
            <a:pPr indent="-342900" lvl="0" marL="914400" rtl="0" algn="l">
              <a:spcBef>
                <a:spcPts val="0"/>
              </a:spcBef>
              <a:spcAft>
                <a:spcPts val="0"/>
              </a:spcAft>
              <a:buSzPts val="1800"/>
              <a:buChar char="●"/>
            </a:pPr>
            <a:r>
              <a:rPr lang="en"/>
              <a:t>Now that you've developed scripts to keep the system clean, up-to-date, and properly backed up, the senior security manager has requested that you begin using system-wide </a:t>
            </a:r>
            <a:r>
              <a:rPr b="1" lang="en">
                <a:latin typeface="Inconsolata"/>
                <a:ea typeface="Inconsolata"/>
                <a:cs typeface="Inconsolata"/>
                <a:sym typeface="Inconsolata"/>
              </a:rPr>
              <a:t>cron</a:t>
            </a:r>
            <a:r>
              <a:rPr lang="en"/>
              <a:t> directories to schedule your scripts. Additionally, you have been asked to schedule regular security scans with Lynis.</a:t>
            </a:r>
            <a:endParaRPr/>
          </a:p>
          <a:p>
            <a:pPr indent="0" lvl="0" marL="0" rtl="0" algn="l">
              <a:spcBef>
                <a:spcPts val="0"/>
              </a:spcBef>
              <a:spcAft>
                <a:spcPts val="0"/>
              </a:spcAft>
              <a:buNone/>
            </a:pPr>
            <a:r>
              <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pic>
        <p:nvPicPr>
          <p:cNvPr id="708" name="Google Shape;708;p94"/>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9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22" name="Google Shape;722;p97"/>
          <p:cNvCxnSpPr/>
          <p:nvPr/>
        </p:nvCxnSpPr>
        <p:spPr>
          <a:xfrm>
            <a:off x="0" y="929900"/>
            <a:ext cx="7337400" cy="0"/>
          </a:xfrm>
          <a:prstGeom prst="straightConnector1">
            <a:avLst/>
          </a:prstGeom>
          <a:noFill/>
          <a:ln cap="flat" cmpd="sng" w="19050">
            <a:solidFill>
              <a:srgbClr val="082D49"/>
            </a:solidFill>
            <a:prstDash val="solid"/>
            <a:round/>
            <a:headEnd len="sm" w="sm" type="none"/>
            <a:tailEnd len="med" w="med" type="oval"/>
          </a:ln>
        </p:spPr>
      </p:cxnSp>
      <p:pic>
        <p:nvPicPr>
          <p:cNvPr id="723" name="Google Shape;723;p97"/>
          <p:cNvPicPr preferRelativeResize="0"/>
          <p:nvPr/>
        </p:nvPicPr>
        <p:blipFill rotWithShape="1">
          <a:blip r:embed="rId3">
            <a:alphaModFix/>
          </a:blip>
          <a:srcRect b="0" l="0" r="0" t="0"/>
          <a:stretch/>
        </p:blipFill>
        <p:spPr>
          <a:xfrm>
            <a:off x="227700" y="248025"/>
            <a:ext cx="459000" cy="471541"/>
          </a:xfrm>
          <a:prstGeom prst="rect">
            <a:avLst/>
          </a:prstGeom>
          <a:noFill/>
          <a:ln>
            <a:noFill/>
          </a:ln>
        </p:spPr>
      </p:pic>
      <p:sp>
        <p:nvSpPr>
          <p:cNvPr id="724" name="Google Shape;724;p97"/>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Recap</a:t>
            </a:r>
            <a:endParaRPr/>
          </a:p>
        </p:txBody>
      </p:sp>
      <p:sp>
        <p:nvSpPr>
          <p:cNvPr id="725" name="Google Shape;725;p97"/>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a:latin typeface="Inconsolata"/>
                <a:ea typeface="Inconsolata"/>
                <a:cs typeface="Inconsolata"/>
                <a:sym typeface="Inconsolata"/>
              </a:rPr>
              <a:t>cron </a:t>
            </a:r>
            <a:r>
              <a:rPr lang="en"/>
              <a:t>and Scheduled Jobs</a:t>
            </a:r>
            <a:endParaRPr/>
          </a:p>
        </p:txBody>
      </p:sp>
      <p:sp>
        <p:nvSpPr>
          <p:cNvPr id="726" name="Google Shape;726;p97"/>
          <p:cNvSpPr/>
          <p:nvPr/>
        </p:nvSpPr>
        <p:spPr>
          <a:xfrm>
            <a:off x="1287238" y="114022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97"/>
          <p:cNvSpPr/>
          <p:nvPr/>
        </p:nvSpPr>
        <p:spPr>
          <a:xfrm>
            <a:off x="1287250" y="2380324"/>
            <a:ext cx="7399500" cy="690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97"/>
          <p:cNvSpPr/>
          <p:nvPr/>
        </p:nvSpPr>
        <p:spPr>
          <a:xfrm>
            <a:off x="1287238" y="181532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29" name="Google Shape;729;p97"/>
          <p:cNvGrpSpPr/>
          <p:nvPr/>
        </p:nvGrpSpPr>
        <p:grpSpPr>
          <a:xfrm>
            <a:off x="457263" y="1140229"/>
            <a:ext cx="776900" cy="459019"/>
            <a:chOff x="457200" y="1466425"/>
            <a:chExt cx="776900" cy="486300"/>
          </a:xfrm>
        </p:grpSpPr>
        <p:sp>
          <p:nvSpPr>
            <p:cNvPr id="730" name="Google Shape;730;p97"/>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731" name="Google Shape;731;p97"/>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732" name="Google Shape;732;p97"/>
          <p:cNvGrpSpPr/>
          <p:nvPr/>
        </p:nvGrpSpPr>
        <p:grpSpPr>
          <a:xfrm>
            <a:off x="457263" y="1795105"/>
            <a:ext cx="776900" cy="486300"/>
            <a:chOff x="457200" y="1466425"/>
            <a:chExt cx="776900" cy="486300"/>
          </a:xfrm>
        </p:grpSpPr>
        <p:sp>
          <p:nvSpPr>
            <p:cNvPr id="733" name="Google Shape;733;p97"/>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734" name="Google Shape;734;p97"/>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735" name="Google Shape;735;p97"/>
          <p:cNvGrpSpPr/>
          <p:nvPr/>
        </p:nvGrpSpPr>
        <p:grpSpPr>
          <a:xfrm>
            <a:off x="457263" y="2511961"/>
            <a:ext cx="776900" cy="437378"/>
            <a:chOff x="457200" y="1466425"/>
            <a:chExt cx="776900" cy="486300"/>
          </a:xfrm>
        </p:grpSpPr>
        <p:sp>
          <p:nvSpPr>
            <p:cNvPr id="736" name="Google Shape;736;p97"/>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737" name="Google Shape;737;p97"/>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738" name="Google Shape;738;p97"/>
          <p:cNvSpPr txBox="1"/>
          <p:nvPr/>
        </p:nvSpPr>
        <p:spPr>
          <a:xfrm>
            <a:off x="1287313" y="1161600"/>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Scheduled regular jobs for individual users with </a:t>
            </a:r>
            <a:r>
              <a:rPr b="1" lang="en" sz="1800">
                <a:solidFill>
                  <a:srgbClr val="082D49"/>
                </a:solidFill>
                <a:latin typeface="Inconsolata"/>
                <a:ea typeface="Inconsolata"/>
                <a:cs typeface="Inconsolata"/>
                <a:sym typeface="Inconsolata"/>
              </a:rPr>
              <a:t>crontab</a:t>
            </a:r>
            <a:r>
              <a:rPr lang="en" sz="1800">
                <a:solidFill>
                  <a:srgbClr val="082D49"/>
                </a:solidFill>
                <a:latin typeface="Roboto"/>
                <a:ea typeface="Roboto"/>
                <a:cs typeface="Roboto"/>
                <a:sym typeface="Roboto"/>
              </a:rPr>
              <a:t>.</a:t>
            </a:r>
            <a:endParaRPr sz="1800">
              <a:solidFill>
                <a:srgbClr val="082D49"/>
              </a:solidFill>
              <a:latin typeface="Roboto"/>
              <a:ea typeface="Roboto"/>
              <a:cs typeface="Roboto"/>
              <a:sym typeface="Roboto"/>
            </a:endParaRPr>
          </a:p>
        </p:txBody>
      </p:sp>
      <p:sp>
        <p:nvSpPr>
          <p:cNvPr id="739" name="Google Shape;739;p97"/>
          <p:cNvSpPr txBox="1"/>
          <p:nvPr/>
        </p:nvSpPr>
        <p:spPr>
          <a:xfrm>
            <a:off x="1287313" y="18367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Write simple scripts for maintenance and security tasks.</a:t>
            </a:r>
            <a:endParaRPr sz="1800">
              <a:solidFill>
                <a:srgbClr val="082D49"/>
              </a:solidFill>
              <a:latin typeface="Roboto"/>
              <a:ea typeface="Roboto"/>
              <a:cs typeface="Roboto"/>
              <a:sym typeface="Roboto"/>
            </a:endParaRPr>
          </a:p>
        </p:txBody>
      </p:sp>
      <p:sp>
        <p:nvSpPr>
          <p:cNvPr id="740" name="Google Shape;740;p97"/>
          <p:cNvSpPr txBox="1"/>
          <p:nvPr/>
        </p:nvSpPr>
        <p:spPr>
          <a:xfrm>
            <a:off x="1287313" y="2520600"/>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Use </a:t>
            </a:r>
            <a:r>
              <a:rPr b="1" lang="en" sz="1800">
                <a:solidFill>
                  <a:srgbClr val="082D49"/>
                </a:solidFill>
                <a:latin typeface="Inconsolata"/>
                <a:ea typeface="Inconsolata"/>
                <a:cs typeface="Inconsolata"/>
                <a:sym typeface="Inconsolata"/>
              </a:rPr>
              <a:t>cron </a:t>
            </a:r>
            <a:r>
              <a:rPr lang="en" sz="1800">
                <a:solidFill>
                  <a:srgbClr val="082D49"/>
                </a:solidFill>
                <a:latin typeface="Roboto"/>
                <a:ea typeface="Roboto"/>
                <a:cs typeface="Roboto"/>
                <a:sym typeface="Roboto"/>
              </a:rPr>
              <a:t>to automate the execution of security scripts to perform maintenance on a regular basis.</a:t>
            </a:r>
            <a:endParaRPr b="1" sz="1800">
              <a:solidFill>
                <a:srgbClr val="082D49"/>
              </a:solidFill>
              <a:latin typeface="Inconsolata"/>
              <a:ea typeface="Inconsolata"/>
              <a:cs typeface="Inconsolata"/>
              <a:sym typeface="Inconsolata"/>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98"/>
          <p:cNvSpPr txBox="1"/>
          <p:nvPr>
            <p:ph idx="1" type="subTitle"/>
          </p:nvPr>
        </p:nvSpPr>
        <p:spPr>
          <a:xfrm>
            <a:off x="41700" y="3746925"/>
            <a:ext cx="9102300" cy="900600"/>
          </a:xfrm>
          <a:prstGeom prst="rect">
            <a:avLst/>
          </a:prstGeom>
        </p:spPr>
        <p:txBody>
          <a:bodyPr anchorCtr="0" anchor="ctr" bIns="91425" lIns="0" spcFirstLastPara="1" rIns="91425" wrap="square" tIns="0">
            <a:noAutofit/>
          </a:bodyPr>
          <a:lstStyle/>
          <a:p>
            <a:pPr indent="0" lvl="0" marL="0" rtl="0" algn="ctr">
              <a:spcBef>
                <a:spcPts val="0"/>
              </a:spcBef>
              <a:spcAft>
                <a:spcPts val="0"/>
              </a:spcAft>
              <a:buNone/>
            </a:pPr>
            <a:r>
              <a:rPr b="1" lang="en" sz="1800">
                <a:latin typeface="Inconsolata"/>
                <a:ea typeface="Inconsolata"/>
                <a:cs typeface="Inconsolata"/>
                <a:sym typeface="Inconsolata"/>
              </a:rPr>
              <a:t>b</a:t>
            </a:r>
            <a:r>
              <a:rPr b="1" lang="en" sz="1800">
                <a:latin typeface="Inconsolata"/>
                <a:ea typeface="Inconsolata"/>
                <a:cs typeface="Inconsolata"/>
                <a:sym typeface="Inconsolata"/>
              </a:rPr>
              <a:t>ash </a:t>
            </a:r>
            <a:r>
              <a:rPr lang="en" sz="1800"/>
              <a:t>Scripting</a:t>
            </a:r>
            <a:endParaRPr baseline="-25000" sz="18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