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y="5143500" cx="9144000"/>
  <p:notesSz cx="6858000" cy="9144000"/>
  <p:embeddedFontLst>
    <p:embeddedFont>
      <p:font typeface="Roboto"/>
      <p:regular r:id="rId79"/>
      <p:bold r:id="rId80"/>
      <p:italic r:id="rId81"/>
      <p:boldItalic r:id="rId82"/>
    </p:embeddedFont>
    <p:embeddedFont>
      <p:font typeface="Roboto Medium"/>
      <p:regular r:id="rId83"/>
      <p:bold r:id="rId84"/>
      <p:italic r:id="rId85"/>
      <p:boldItalic r:id="rId86"/>
    </p:embeddedFont>
    <p:embeddedFont>
      <p:font typeface="Inconsolata"/>
      <p:regular r:id="rId87"/>
      <p:bold r:id="rId88"/>
    </p:embeddedFont>
    <p:embeddedFont>
      <p:font typeface="Roboto Light"/>
      <p:regular r:id="rId89"/>
      <p:bold r:id="rId90"/>
      <p:italic r:id="rId91"/>
      <p:boldItalic r:id="rId92"/>
    </p:embeddedFont>
    <p:embeddedFont>
      <p:font typeface="Inconsolata Medium"/>
      <p:regular r:id="rId93"/>
      <p:bold r:id="rId9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47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5898895-870B-4271-8926-57279B42F52C}">
  <a:tblStyle styleId="{A5898895-870B-4271-8926-57279B42F52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4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4" Type="http://schemas.openxmlformats.org/officeDocument/2006/relationships/font" Target="fonts/Inconsolata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font" Target="fonts/RobotoLight-italic.fntdata"/><Relationship Id="rId90" Type="http://schemas.openxmlformats.org/officeDocument/2006/relationships/font" Target="fonts/RobotoLight-bold.fntdata"/><Relationship Id="rId93" Type="http://schemas.openxmlformats.org/officeDocument/2006/relationships/font" Target="fonts/InconsolataMedium-regular.fntdata"/><Relationship Id="rId92" Type="http://schemas.openxmlformats.org/officeDocument/2006/relationships/font" Target="fonts/RobotoLigh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font" Target="fonts/RobotoMedium-bold.fntdata"/><Relationship Id="rId83" Type="http://schemas.openxmlformats.org/officeDocument/2006/relationships/font" Target="fonts/RobotoMedium-regular.fntdata"/><Relationship Id="rId86" Type="http://schemas.openxmlformats.org/officeDocument/2006/relationships/font" Target="fonts/RobotoMedium-boldItalic.fntdata"/><Relationship Id="rId85" Type="http://schemas.openxmlformats.org/officeDocument/2006/relationships/font" Target="fonts/RobotoMedium-italic.fntdata"/><Relationship Id="rId88" Type="http://schemas.openxmlformats.org/officeDocument/2006/relationships/font" Target="fonts/Inconsolata-bold.fntdata"/><Relationship Id="rId87" Type="http://schemas.openxmlformats.org/officeDocument/2006/relationships/font" Target="fonts/Inconsolata-regular.fntdata"/><Relationship Id="rId89" Type="http://schemas.openxmlformats.org/officeDocument/2006/relationships/font" Target="fonts/RobotoLight-regular.fntdata"/><Relationship Id="rId80" Type="http://schemas.openxmlformats.org/officeDocument/2006/relationships/font" Target="fonts/Roboto-bold.fntdata"/><Relationship Id="rId82" Type="http://schemas.openxmlformats.org/officeDocument/2006/relationships/font" Target="fonts/Roboto-boldItalic.fntdata"/><Relationship Id="rId81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font" Target="fonts/Roboto-regular.fntdata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2fb925c7b0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5" name="Google Shape;835;g2fb925c7b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2f3b1f22086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2f3b1f22086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302e293649d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g302e293649d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021146b929_0_20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021146b929_0_20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021146b929_0_3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021146b929_0_3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021146b929_0_3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021146b929_0_3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02e293649d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02e293649d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021146b929_0_3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021146b929_0_3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02e293649d_0_1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02e293649d_0_1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302e293649d_0_2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302e293649d_0_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302e293649d_0_2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302e293649d_0_2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30468fe4fb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30468fe4fb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g30468fe4fb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0" name="Google Shape;1040;g30468fe4fb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0468fe4fb3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0468fe4fb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g30468fe4fb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1" name="Google Shape;1051;g30468fe4fb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30468fe4fb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30468fe4fb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0468fe4fb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0468fe4fb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0468fe4fb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0468fe4fb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0468fe4fb3_0_1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30468fe4fb3_0_1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021146b929_0_36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3021146b929_0_36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0468fe4fb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8" name="Google Shape;1168;g30468fe4fb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30468fe4fb3_0_2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30468fe4fb3_0_2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0468fe4fb3_0_2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30468fe4fb3_0_2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302e293649d_0_2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302e293649d_0_2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g30468fe4fb3_0_3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6" name="Google Shape;1216;g30468fe4fb3_0_3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3021146b929_0_6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3021146b929_0_6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fcb524e581_0_4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fcb524e581_0_4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30468fe4fb3_0_40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30468fe4fb3_0_4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0468fe4fb3_0_4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30468fe4fb3_0_4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fcb524e581_0_22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fcb524e581_0_22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2fcb524e581_0_22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2fcb524e581_0_22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2fcb524e581_0_22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5" name="Google Shape;1315;g2fcb524e581_0_22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fcb524e581_0_22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fcb524e581_0_22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30468fe4fb3_0_4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30468fe4fb3_0_4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2fcb524e581_0_22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7" name="Google Shape;1327;g2fcb524e581_0_22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g30468fe4fb3_0_4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" name="Google Shape;1333;g30468fe4fb3_0_4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latin typeface="Roboto"/>
                <a:ea typeface="Roboto"/>
                <a:cs typeface="Roboto"/>
                <a:sym typeface="Roboto"/>
              </a:rPr>
              <a:t>Image source: shutterstock_708213337 (shield)</a:t>
            </a:r>
            <a:endParaRPr i="1"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0468fe4fb3_0_5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30468fe4fb3_0_5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30468fe4fb3_0_5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30468fe4fb3_0_5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30468fe4fb3_0_5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30468fe4fb3_0_5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30468fe4fb3_0_6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30468fe4fb3_0_6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0468fe4fb3_0_8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30468fe4fb3_0_8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g30468fe4fb3_0_9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6" name="Google Shape;1426;g30468fe4fb3_0_9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g30468fe4fb3_0_9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0" name="Google Shape;1450;g30468fe4fb3_0_9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30468fe4fb3_0_10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30468fe4fb3_0_10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4" name="Shape 1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5" name="Google Shape;1475;g30468fe4fb3_0_10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6" name="Google Shape;1476;g30468fe4fb3_0_10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30468fe4fb3_0_1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30468fe4fb3_0_1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fd6c19a61f_0_56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fd6c19a61f_0_56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3021146b929_0_19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3021146b929_0_19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fcb524e581_0_30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fcb524e581_0_30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2fcb524e581_0_30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2fcb524e581_0_30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7" name="Google Shape;1557;g2fcb524e581_0_30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8" name="Google Shape;1558;g2fcb524e581_0_30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30468fe4fb3_0_11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30468fe4fb3_0_11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30468fe4fb3_0_11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30468fe4fb3_0_11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0468fe4fb3_0_11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30468fe4fb3_0_11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g30468fe4fb3_0_11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2" name="Google Shape;1582;g30468fe4fb3_0_11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g30468fe4fb3_0_12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7" name="Google Shape;1587;g30468fe4fb3_0_12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30468fe4fb3_0_120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30468fe4fb3_0_120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30468fe4fb3_0_12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30468fe4fb3_0_12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g30468fe4fb3_0_12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30468fe4fb3_0_12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g30468fe4fb3_0_12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0" name="Google Shape;1650;g30468fe4fb3_0_12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30468fe4fb3_0_12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30468fe4fb3_0_12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30468fe4fb3_0_13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30468fe4fb3_0_13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6" name="Shape 1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7" name="Google Shape;1707;g30468fe4fb3_0_13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8" name="Google Shape;1708;g30468fe4fb3_0_13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30468fe4fb3_0_14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30468fe4fb3_0_14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g30468fe4fb3_0_13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9" name="Google Shape;1739;g30468fe4fb3_0_13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30468fe4fb3_0_14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30468fe4fb3_0_14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0" name="Shape 1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" name="Google Shape;1751;g30468fe4fb3_0_148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2" name="Google Shape;1752;g30468fe4fb3_0_148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0468fe4fb3_0_148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30468fe4fb3_0_14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5" name="Google Shape;1765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8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slide - 1-5  1 1">
  <p:cSld name="CUSTOM_21_1_2_1_1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8" name="Google Shape;408;p5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09" name="Google Shape;409;p58"/>
          <p:cNvSpPr/>
          <p:nvPr/>
        </p:nvSpPr>
        <p:spPr>
          <a:xfrm>
            <a:off x="953325" y="2007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8"/>
          <p:cNvSpPr/>
          <p:nvPr/>
        </p:nvSpPr>
        <p:spPr>
          <a:xfrm>
            <a:off x="953325" y="2649688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58"/>
          <p:cNvSpPr/>
          <p:nvPr/>
        </p:nvSpPr>
        <p:spPr>
          <a:xfrm>
            <a:off x="953325" y="3343150"/>
            <a:ext cx="7517100" cy="61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8"/>
          <p:cNvSpPr/>
          <p:nvPr/>
        </p:nvSpPr>
        <p:spPr>
          <a:xfrm>
            <a:off x="953325" y="4208263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8"/>
          <p:cNvSpPr/>
          <p:nvPr/>
        </p:nvSpPr>
        <p:spPr>
          <a:xfrm>
            <a:off x="953325" y="1365475"/>
            <a:ext cx="7517100" cy="4002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8"/>
          <p:cNvSpPr/>
          <p:nvPr/>
        </p:nvSpPr>
        <p:spPr>
          <a:xfrm>
            <a:off x="802850" y="13360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5" name="Google Shape;415;p58"/>
          <p:cNvSpPr/>
          <p:nvPr/>
        </p:nvSpPr>
        <p:spPr>
          <a:xfrm>
            <a:off x="802850" y="19778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6" name="Google Shape;416;p58"/>
          <p:cNvSpPr/>
          <p:nvPr/>
        </p:nvSpPr>
        <p:spPr>
          <a:xfrm>
            <a:off x="802850" y="26202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7" name="Google Shape;417;p58"/>
          <p:cNvSpPr/>
          <p:nvPr/>
        </p:nvSpPr>
        <p:spPr>
          <a:xfrm>
            <a:off x="802850" y="34142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8" name="Google Shape;418;p58"/>
          <p:cNvSpPr/>
          <p:nvPr/>
        </p:nvSpPr>
        <p:spPr>
          <a:xfrm>
            <a:off x="802850" y="416499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5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419" name="Google Shape;419;p58"/>
          <p:cNvSpPr txBox="1"/>
          <p:nvPr>
            <p:ph idx="1" type="subTitle"/>
          </p:nvPr>
        </p:nvSpPr>
        <p:spPr>
          <a:xfrm>
            <a:off x="1224625" y="1357775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0" name="Google Shape;420;p58"/>
          <p:cNvSpPr txBox="1"/>
          <p:nvPr>
            <p:ph idx="2" type="subTitle"/>
          </p:nvPr>
        </p:nvSpPr>
        <p:spPr>
          <a:xfrm>
            <a:off x="1224625" y="20222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1" name="Google Shape;421;p58"/>
          <p:cNvSpPr txBox="1"/>
          <p:nvPr>
            <p:ph idx="3" type="subTitle"/>
          </p:nvPr>
        </p:nvSpPr>
        <p:spPr>
          <a:xfrm>
            <a:off x="1224625" y="26643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58"/>
          <p:cNvSpPr txBox="1"/>
          <p:nvPr>
            <p:ph idx="4" type="subTitle"/>
          </p:nvPr>
        </p:nvSpPr>
        <p:spPr>
          <a:xfrm>
            <a:off x="1224625" y="3343150"/>
            <a:ext cx="7110300" cy="558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58"/>
          <p:cNvSpPr txBox="1"/>
          <p:nvPr>
            <p:ph idx="5" type="subTitle"/>
          </p:nvPr>
        </p:nvSpPr>
        <p:spPr>
          <a:xfrm>
            <a:off x="1224625" y="4230988"/>
            <a:ext cx="7110300" cy="40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58"/>
          <p:cNvSpPr txBox="1"/>
          <p:nvPr>
            <p:ph type="title"/>
          </p:nvPr>
        </p:nvSpPr>
        <p:spPr>
          <a:xfrm>
            <a:off x="6225" y="130125"/>
            <a:ext cx="9144000" cy="3936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6" name="Google Shape;426;p58"/>
          <p:cNvSpPr txBox="1"/>
          <p:nvPr>
            <p:ph idx="6" type="title"/>
          </p:nvPr>
        </p:nvSpPr>
        <p:spPr>
          <a:xfrm>
            <a:off x="18525" y="478650"/>
            <a:ext cx="9144000" cy="323100"/>
          </a:xfrm>
          <a:prstGeom prst="rect">
            <a:avLst/>
          </a:prstGeom>
        </p:spPr>
        <p:txBody>
          <a:bodyPr anchorCtr="0" anchor="t" bIns="91425" lIns="8229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7" name="Google Shape;427;p58"/>
          <p:cNvSpPr/>
          <p:nvPr/>
        </p:nvSpPr>
        <p:spPr>
          <a:xfrm>
            <a:off x="176163" y="229038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4076" y="266951"/>
            <a:ext cx="496875" cy="49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Transition Slide">
  <p:cSld name="CUSTOM_17_2_1_2_3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oogle Shape;430;p59"/>
          <p:cNvPicPr preferRelativeResize="0"/>
          <p:nvPr/>
        </p:nvPicPr>
        <p:blipFill rotWithShape="1">
          <a:blip r:embed="rId2">
            <a:alphaModFix/>
          </a:blip>
          <a:srcRect b="2498" l="0" r="0" t="2489"/>
          <a:stretch/>
        </p:blipFill>
        <p:spPr>
          <a:xfrm>
            <a:off x="274320" y="274881"/>
            <a:ext cx="8595360" cy="4593742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9"/>
          <p:cNvSpPr txBox="1"/>
          <p:nvPr>
            <p:ph type="title"/>
          </p:nvPr>
        </p:nvSpPr>
        <p:spPr>
          <a:xfrm>
            <a:off x="237100" y="2088475"/>
            <a:ext cx="8595300" cy="79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36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32" name="Google Shape;432;p59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59"/>
          <p:cNvSpPr txBox="1"/>
          <p:nvPr>
            <p:ph idx="1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1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36" name="Google Shape;436;p6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8" name="Google Shape;438;p6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9" name="Google Shape;439;p6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5. Numbered 1–3">
  <p:cSld name="CUSTOM_2_7_1_5_2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2" name="Google Shape;442;p61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443" name="Google Shape;443;p61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4" name="Google Shape;444;p61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5" name="Google Shape;445;p61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" name="Google Shape;446;p61"/>
          <p:cNvSpPr/>
          <p:nvPr/>
        </p:nvSpPr>
        <p:spPr>
          <a:xfrm flipH="1">
            <a:off x="724275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61"/>
          <p:cNvSpPr txBox="1"/>
          <p:nvPr>
            <p:ph idx="2" type="subTitle"/>
          </p:nvPr>
        </p:nvSpPr>
        <p:spPr>
          <a:xfrm>
            <a:off x="724275" y="1937825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48" name="Google Shape;448;p61"/>
          <p:cNvGrpSpPr/>
          <p:nvPr/>
        </p:nvGrpSpPr>
        <p:grpSpPr>
          <a:xfrm>
            <a:off x="457181" y="1345103"/>
            <a:ext cx="533372" cy="533480"/>
            <a:chOff x="457200" y="1378813"/>
            <a:chExt cx="695400" cy="695450"/>
          </a:xfrm>
        </p:grpSpPr>
        <p:sp>
          <p:nvSpPr>
            <p:cNvPr id="449" name="Google Shape;449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sz="2100"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0" name="Google Shape;450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1" name="Google Shape;451;p61"/>
          <p:cNvGrpSpPr/>
          <p:nvPr/>
        </p:nvGrpSpPr>
        <p:grpSpPr>
          <a:xfrm>
            <a:off x="3228956" y="1345103"/>
            <a:ext cx="533372" cy="533480"/>
            <a:chOff x="457200" y="1378813"/>
            <a:chExt cx="695400" cy="695450"/>
          </a:xfrm>
        </p:grpSpPr>
        <p:sp>
          <p:nvSpPr>
            <p:cNvPr id="452" name="Google Shape;452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3" name="Google Shape;453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4" name="Google Shape;454;p61"/>
          <p:cNvSpPr/>
          <p:nvPr/>
        </p:nvSpPr>
        <p:spPr>
          <a:xfrm flipH="1">
            <a:off x="3496050" y="193777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61"/>
          <p:cNvSpPr txBox="1"/>
          <p:nvPr>
            <p:ph idx="3" type="subTitle"/>
          </p:nvPr>
        </p:nvSpPr>
        <p:spPr>
          <a:xfrm>
            <a:off x="3496050" y="193783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grpSp>
        <p:nvGrpSpPr>
          <p:cNvPr id="456" name="Google Shape;456;p61"/>
          <p:cNvGrpSpPr/>
          <p:nvPr/>
        </p:nvGrpSpPr>
        <p:grpSpPr>
          <a:xfrm>
            <a:off x="6134081" y="1345853"/>
            <a:ext cx="533372" cy="533480"/>
            <a:chOff x="457200" y="1378813"/>
            <a:chExt cx="695400" cy="695450"/>
          </a:xfrm>
        </p:grpSpPr>
        <p:sp>
          <p:nvSpPr>
            <p:cNvPr id="457" name="Google Shape;457;p61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FFFFFF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sz="210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58" name="Google Shape;458;p61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459" name="Google Shape;459;p61"/>
          <p:cNvSpPr/>
          <p:nvPr/>
        </p:nvSpPr>
        <p:spPr>
          <a:xfrm flipH="1">
            <a:off x="6401175" y="1938525"/>
            <a:ext cx="2428500" cy="26628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1"/>
          <p:cNvSpPr txBox="1"/>
          <p:nvPr>
            <p:ph idx="4" type="subTitle"/>
          </p:nvPr>
        </p:nvSpPr>
        <p:spPr>
          <a:xfrm>
            <a:off x="6401175" y="1938587"/>
            <a:ext cx="2371500" cy="26628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61" name="Google Shape;461;p61"/>
          <p:cNvSpPr txBox="1"/>
          <p:nvPr>
            <p:ph idx="5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2"/>
          <p:cNvSpPr txBox="1"/>
          <p:nvPr>
            <p:ph idx="1" type="body"/>
          </p:nvPr>
        </p:nvSpPr>
        <p:spPr>
          <a:xfrm>
            <a:off x="692300" y="1122950"/>
            <a:ext cx="8139900" cy="3445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64" name="Google Shape;46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5" name="Google Shape;465;p6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6" name="Google Shape;466;p6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">
  <p:cSld name="CUSTOM_6_1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63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63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0" name="Google Shape;470;p63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1" name="Google Shape;471;p63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">
  <p:cSld name="CUSTOM_4_1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4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6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64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">
  <p:cSld name="CUSTOM_2_2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79" name="Google Shape;479;p6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0" name="Google Shape;480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1" name="Google Shape;481;p6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6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6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485" name="Google Shape;485;p6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7" name="Google Shape;487;p6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8" name="Google Shape;488;p6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27_1_1">
    <p:bg>
      <p:bgPr>
        <a:solidFill>
          <a:srgbClr val="FFFFFF"/>
        </a:soli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0" name="Google Shape;490;p67"/>
          <p:cNvGrpSpPr/>
          <p:nvPr/>
        </p:nvGrpSpPr>
        <p:grpSpPr>
          <a:xfrm>
            <a:off x="511772" y="1190428"/>
            <a:ext cx="533372" cy="533480"/>
            <a:chOff x="457200" y="1378813"/>
            <a:chExt cx="695400" cy="695450"/>
          </a:xfrm>
        </p:grpSpPr>
        <p:sp>
          <p:nvSpPr>
            <p:cNvPr id="491" name="Google Shape;491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lt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01</a:t>
              </a:r>
              <a:endParaRPr b="0" i="0" sz="21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2" name="Google Shape;492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3" name="Google Shape;493;p67"/>
          <p:cNvGrpSpPr/>
          <p:nvPr/>
        </p:nvGrpSpPr>
        <p:grpSpPr>
          <a:xfrm>
            <a:off x="3283547" y="1190428"/>
            <a:ext cx="533372" cy="533480"/>
            <a:chOff x="457200" y="1378813"/>
            <a:chExt cx="695400" cy="695450"/>
          </a:xfrm>
        </p:grpSpPr>
        <p:sp>
          <p:nvSpPr>
            <p:cNvPr id="494" name="Google Shape;494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dk2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02</a:t>
              </a:r>
              <a:endParaRPr b="0" i="0" sz="21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5" name="Google Shape;495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6" name="Google Shape;496;p67"/>
          <p:cNvGrpSpPr/>
          <p:nvPr/>
        </p:nvGrpSpPr>
        <p:grpSpPr>
          <a:xfrm>
            <a:off x="6188672" y="1191178"/>
            <a:ext cx="533372" cy="533480"/>
            <a:chOff x="457200" y="1378813"/>
            <a:chExt cx="695400" cy="695450"/>
          </a:xfrm>
        </p:grpSpPr>
        <p:sp>
          <p:nvSpPr>
            <p:cNvPr id="497" name="Google Shape;497;p6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2100" u="none" cap="none" strike="noStrike">
                  <a:solidFill>
                    <a:schemeClr val="accent5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03</a:t>
              </a:r>
              <a:endParaRPr b="0" i="0" sz="2100" u="none" cap="none" strike="noStrike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  <p:sp>
          <p:nvSpPr>
            <p:cNvPr id="498" name="Google Shape;498;p6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9" name="Google Shape;499;p6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0" name="Google Shape;500;p6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1" name="Google Shape;501;p67"/>
          <p:cNvSpPr/>
          <p:nvPr/>
        </p:nvSpPr>
        <p:spPr>
          <a:xfrm flipH="1">
            <a:off x="5118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67"/>
          <p:cNvSpPr/>
          <p:nvPr/>
        </p:nvSpPr>
        <p:spPr>
          <a:xfrm flipH="1">
            <a:off x="3283550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67"/>
          <p:cNvSpPr/>
          <p:nvPr/>
        </p:nvSpPr>
        <p:spPr>
          <a:xfrm flipH="1">
            <a:off x="6188675" y="1783100"/>
            <a:ext cx="2256300" cy="19041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1">
  <p:cSld name="CUSTOM_2_7_2_4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8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06" name="Google Shape;506;p68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507" name="Google Shape;507;p68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68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09" name="Google Shape;509;p68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0" name="Google Shape;510;p68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11" name="Google Shape;511;p68"/>
          <p:cNvSpPr txBox="1"/>
          <p:nvPr>
            <p:ph idx="3" type="body"/>
          </p:nvPr>
        </p:nvSpPr>
        <p:spPr>
          <a:xfrm>
            <a:off x="175" y="1284250"/>
            <a:ext cx="9144000" cy="34026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">
  <p:cSld name="CUSTOM_2_4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14" name="Google Shape;514;p6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6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7" name="Google Shape;517;p6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5">
  <p:cSld name="CUSTOM_2_5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0" name="Google Shape;520;p7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1" name="Google Shape;521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2" name="Google Shape;522;p7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3" name="Google Shape;523;p7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6">
  <p:cSld name="CUSTOM_2_6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26" name="Google Shape;526;p7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7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7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7">
  <p:cSld name="CUSTOM_2_7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2" name="Google Shape;532;p7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4" name="Google Shape;534;p7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5" name="Google Shape;535;p7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8">
  <p:cSld name="CUSTOM_2_8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7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38" name="Google Shape;538;p7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0" name="Google Shape;540;p7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1" name="Google Shape;541;p7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9">
  <p:cSld name="CUSTOM_2_9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7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44" name="Google Shape;544;p7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6" name="Google Shape;546;p7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7" name="Google Shape;547;p7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0">
  <p:cSld name="CUSTOM_2_10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0" name="Google Shape;550;p7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1" name="Google Shape;551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7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3" name="Google Shape;553;p7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1">
  <p:cSld name="CUSTOM_2_11"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7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56" name="Google Shape;556;p7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8" name="Google Shape;558;p7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9" name="Google Shape;559;p7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2">
  <p:cSld name="CUSTOM_2_12"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7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2" name="Google Shape;562;p7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7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5" name="Google Shape;565;p7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3">
  <p:cSld name="CUSTOM_2_13"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68" name="Google Shape;568;p7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7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7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4">
  <p:cSld name="CUSTOM_2_14"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74" name="Google Shape;574;p7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6" name="Google Shape;576;p7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7" name="Google Shape;577;p7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6 2">
  <p:cSld name="CUSTOM_28_2"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80"/>
          <p:cNvSpPr/>
          <p:nvPr/>
        </p:nvSpPr>
        <p:spPr>
          <a:xfrm>
            <a:off x="457160" y="1292968"/>
            <a:ext cx="3848100" cy="4767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0" name="Google Shape;580;p80"/>
          <p:cNvSpPr/>
          <p:nvPr/>
        </p:nvSpPr>
        <p:spPr>
          <a:xfrm rot="10800000">
            <a:off x="593369" y="1681756"/>
            <a:ext cx="261029" cy="144694"/>
          </a:xfrm>
          <a:prstGeom prst="flowChartExtra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1" name="Google Shape;581;p80"/>
          <p:cNvSpPr/>
          <p:nvPr/>
        </p:nvSpPr>
        <p:spPr>
          <a:xfrm>
            <a:off x="4876760" y="1292980"/>
            <a:ext cx="3848100" cy="476700"/>
          </a:xfrm>
          <a:prstGeom prst="roundRect">
            <a:avLst>
              <a:gd fmla="val 16667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2" name="Google Shape;582;p80"/>
          <p:cNvSpPr/>
          <p:nvPr/>
        </p:nvSpPr>
        <p:spPr>
          <a:xfrm rot="10800000">
            <a:off x="5012969" y="1681768"/>
            <a:ext cx="261029" cy="144694"/>
          </a:xfrm>
          <a:prstGeom prst="flowChartExtract">
            <a:avLst/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80"/>
          <p:cNvSpPr txBox="1"/>
          <p:nvPr/>
        </p:nvSpPr>
        <p:spPr>
          <a:xfrm>
            <a:off x="4876750" y="1309518"/>
            <a:ext cx="38481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584" name="Google Shape;584;p80"/>
          <p:cNvSpPr txBox="1"/>
          <p:nvPr>
            <p:ph type="title"/>
          </p:nvPr>
        </p:nvSpPr>
        <p:spPr>
          <a:xfrm>
            <a:off x="4976200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5" name="Google Shape;585;p80"/>
          <p:cNvSpPr txBox="1"/>
          <p:nvPr>
            <p:ph idx="2" type="title"/>
          </p:nvPr>
        </p:nvSpPr>
        <p:spPr>
          <a:xfrm>
            <a:off x="542175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Roboto Light"/>
              <a:buNone/>
              <a:defRPr b="0" sz="16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600"/>
              <a:buNone/>
              <a:defRPr sz="16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6" name="Google Shape;586;p80"/>
          <p:cNvSpPr txBox="1"/>
          <p:nvPr>
            <p:ph idx="3" type="title"/>
          </p:nvPr>
        </p:nvSpPr>
        <p:spPr>
          <a:xfrm>
            <a:off x="4976200" y="2004350"/>
            <a:ext cx="3649200" cy="24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Font typeface="Roboto Light"/>
              <a:buNone/>
              <a:defRPr b="0"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43461"/>
              </a:buClr>
              <a:buSzPts val="1600"/>
              <a:buNone/>
              <a:defRPr sz="1600">
                <a:solidFill>
                  <a:srgbClr val="043461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87" name="Google Shape;587;p80"/>
          <p:cNvSpPr txBox="1"/>
          <p:nvPr>
            <p:ph idx="4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8" name="Google Shape;588;p80"/>
          <p:cNvSpPr txBox="1"/>
          <p:nvPr>
            <p:ph idx="5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9" name="Google Shape;589;p8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80"/>
          <p:cNvSpPr txBox="1"/>
          <p:nvPr>
            <p:ph idx="6" type="title"/>
          </p:nvPr>
        </p:nvSpPr>
        <p:spPr>
          <a:xfrm>
            <a:off x="542175" y="1329825"/>
            <a:ext cx="3649200" cy="39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Light"/>
              <a:buNone/>
              <a:defRPr b="0" sz="18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5">
  <p:cSld name="CUSTOM_2_15"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8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3" name="Google Shape;593;p8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5" name="Google Shape;595;p8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6" name="Google Shape;596;p8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6">
  <p:cSld name="CUSTOM_2_16"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8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599" name="Google Shape;599;p8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8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2" name="Google Shape;602;p8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2">
  <p:cSld name="CUSTOM_27_2"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83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83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6" name="Google Shape;606;p83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7" name="Google Shape;607;p83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83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9" name="Google Shape;609;p83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83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83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12" name="Google Shape;612;p83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3" name="Google Shape;613;p83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83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8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6" name="Google Shape;616;p8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">
  <p:cSld name="CUSTOM_22">
    <p:bg>
      <p:bgPr>
        <a:solidFill>
          <a:srgbClr val="F2F2F2"/>
        </a:solid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8" name="Google Shape;618;p84"/>
          <p:cNvPicPr preferRelativeResize="0"/>
          <p:nvPr/>
        </p:nvPicPr>
        <p:blipFill rotWithShape="1">
          <a:blip r:embed="rId2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84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0" name="Google Shape;620;p84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rgbClr val="FCB9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84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84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7">
  <p:cSld name="CUSTOM_2_17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5" name="Google Shape;625;p8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8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8" name="Google Shape;628;p8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8">
  <p:cSld name="CUSTOM_2_18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8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1" name="Google Shape;631;p8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2" name="Google Shape;632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3" name="Google Shape;633;p8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4" name="Google Shape;634;p8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Idea slide 1">
  <p:cSld name="CUSTOM_4_2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7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7" name="Google Shape;63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2288" y="16435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87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87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40" name="Google Shape;640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9">
  <p:cSld name="CUSTOM_2_19"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3" name="Google Shape;643;p8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8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6" name="Google Shape;646;p8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0">
  <p:cSld name="CUSTOM_2_20"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8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49" name="Google Shape;649;p8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1" name="Google Shape;651;p8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2" name="Google Shape;652;p8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1">
  <p:cSld name="CUSTOM_2_21"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9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55" name="Google Shape;655;p9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7" name="Google Shape;657;p9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8" name="Google Shape;658;p9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2">
  <p:cSld name="CUSTOM_2_22"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9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1" name="Google Shape;661;p9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3" name="Google Shape;663;p9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4" name="Google Shape;664;p9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3">
  <p:cSld name="CUSTOM_2_23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9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7" name="Google Shape;667;p9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9" name="Google Shape;669;p9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0" name="Google Shape;670;p9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4">
  <p:cSld name="CUSTOM_2_24"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9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3" name="Google Shape;673;p9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9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6" name="Google Shape;676;p9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5">
  <p:cSld name="CUSTOM_2_25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9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9" name="Google Shape;679;p9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9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2" name="Google Shape;682;p9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6">
  <p:cSld name="CUSTOM_2_26"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9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85" name="Google Shape;685;p9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7" name="Google Shape;687;p9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8" name="Google Shape;688;p9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7">
  <p:cSld name="CUSTOM_2_27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9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1" name="Google Shape;691;p9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2" name="Google Shape;692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9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4" name="Google Shape;694;p9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8">
  <p:cSld name="CUSTOM_2_28"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97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97" name="Google Shape;697;p97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8" name="Google Shape;698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p9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0" name="Google Shape;700;p9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29">
  <p:cSld name="CUSTOM_2_29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98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3" name="Google Shape;703;p9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4" name="Google Shape;704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5" name="Google Shape;705;p98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6" name="Google Shape;706;p98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0">
  <p:cSld name="CUSTOM_2_30"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99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9" name="Google Shape;709;p9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0" name="Google Shape;710;p9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1" name="Google Shape;711;p99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2" name="Google Shape;712;p99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1">
  <p:cSld name="CUSTOM_2_3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100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15" name="Google Shape;715;p100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10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7" name="Google Shape;717;p100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18" name="Google Shape;718;p100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2">
  <p:cSld name="CUSTOM_2_3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01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1" name="Google Shape;721;p101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2" name="Google Shape;722;p10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3" name="Google Shape;723;p101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4" name="Google Shape;724;p101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3">
  <p:cSld name="CUSTOM_2_33"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10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27" name="Google Shape;727;p10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8" name="Google Shape;728;p10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9" name="Google Shape;729;p10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0" name="Google Shape;730;p10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4">
  <p:cSld name="CUSTOM_2_34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03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3" name="Google Shape;733;p103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4" name="Google Shape;734;p10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5" name="Google Shape;735;p10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36" name="Google Shape;736;p103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5">
  <p:cSld name="CUSTOM_2_35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10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39" name="Google Shape;739;p10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0" name="Google Shape;740;p10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1" name="Google Shape;741;p10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2" name="Google Shape;742;p104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6">
  <p:cSld name="CUSTOM_2_36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05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45" name="Google Shape;745;p10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6" name="Google Shape;746;p10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10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8" name="Google Shape;748;p105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7">
  <p:cSld name="CUSTOM_2_37"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06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51" name="Google Shape;751;p106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2" name="Google Shape;752;p10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3" name="Google Shape;753;p106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106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ed Slide 1-4 1">
  <p:cSld name="CUSTOM_11_1_1_3"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107"/>
          <p:cNvSpPr/>
          <p:nvPr/>
        </p:nvSpPr>
        <p:spPr>
          <a:xfrm>
            <a:off x="953325" y="1857573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07"/>
          <p:cNvSpPr/>
          <p:nvPr/>
        </p:nvSpPr>
        <p:spPr>
          <a:xfrm>
            <a:off x="953325" y="256325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07"/>
          <p:cNvSpPr/>
          <p:nvPr/>
        </p:nvSpPr>
        <p:spPr>
          <a:xfrm>
            <a:off x="953325" y="1136875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07"/>
          <p:cNvSpPr/>
          <p:nvPr/>
        </p:nvSpPr>
        <p:spPr>
          <a:xfrm>
            <a:off x="802850" y="110747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1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0" name="Google Shape;760;p107"/>
          <p:cNvSpPr/>
          <p:nvPr/>
        </p:nvSpPr>
        <p:spPr>
          <a:xfrm>
            <a:off x="802850" y="184255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2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1" name="Google Shape;761;p107"/>
          <p:cNvSpPr/>
          <p:nvPr/>
        </p:nvSpPr>
        <p:spPr>
          <a:xfrm>
            <a:off x="802850" y="256326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3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62" name="Google Shape;762;p10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10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4" name="Google Shape;764;p107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5" name="Google Shape;765;p107"/>
          <p:cNvSpPr txBox="1"/>
          <p:nvPr>
            <p:ph idx="1" type="subTitle"/>
          </p:nvPr>
        </p:nvSpPr>
        <p:spPr>
          <a:xfrm>
            <a:off x="1354400" y="1129175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6" name="Google Shape;766;p107"/>
          <p:cNvSpPr txBox="1"/>
          <p:nvPr>
            <p:ph idx="3" type="subTitle"/>
          </p:nvPr>
        </p:nvSpPr>
        <p:spPr>
          <a:xfrm>
            <a:off x="1354400" y="1857451"/>
            <a:ext cx="7116000" cy="552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7" name="Google Shape;767;p107"/>
          <p:cNvSpPr txBox="1"/>
          <p:nvPr>
            <p:ph idx="4" type="subTitle"/>
          </p:nvPr>
        </p:nvSpPr>
        <p:spPr>
          <a:xfrm>
            <a:off x="1354400" y="257827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768" name="Google Shape;768;p107"/>
          <p:cNvSpPr/>
          <p:nvPr/>
        </p:nvSpPr>
        <p:spPr>
          <a:xfrm>
            <a:off x="953325" y="3276200"/>
            <a:ext cx="7517100" cy="55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107"/>
          <p:cNvSpPr/>
          <p:nvPr/>
        </p:nvSpPr>
        <p:spPr>
          <a:xfrm>
            <a:off x="802850" y="327621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82D49"/>
                </a:solidFill>
              </a:rPr>
              <a:t>4</a:t>
            </a:r>
            <a:endParaRPr>
              <a:solidFill>
                <a:srgbClr val="082D49"/>
              </a:solidFill>
            </a:endParaRPr>
          </a:p>
        </p:txBody>
      </p:sp>
      <p:sp>
        <p:nvSpPr>
          <p:cNvPr id="770" name="Google Shape;770;p107"/>
          <p:cNvSpPr txBox="1"/>
          <p:nvPr>
            <p:ph idx="5" type="subTitle"/>
          </p:nvPr>
        </p:nvSpPr>
        <p:spPr>
          <a:xfrm>
            <a:off x="1354400" y="3291225"/>
            <a:ext cx="7116000" cy="5373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1">
  <p:cSld name="CUSTOM_6_2"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8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3" name="Google Shape;773;p108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74" name="Google Shape;774;p108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5" name="Google Shape;775;p108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rgbClr val="F2F2F2"/>
        </a:solidFill>
      </p:bgPr>
    </p:bg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109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 1">
  <p:cSld name="CUSTOM_26_4">
    <p:bg>
      <p:bgPr>
        <a:solidFill>
          <a:srgbClr val="F2F2F2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110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slide 01 2">
  <p:cSld name="CUSTOM_6_3"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11"/>
          <p:cNvSpPr/>
          <p:nvPr>
            <p:ph idx="2" type="pic"/>
          </p:nvPr>
        </p:nvSpPr>
        <p:spPr>
          <a:xfrm>
            <a:off x="5923375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82" name="Google Shape;782;p111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3" name="Google Shape;783;p111"/>
          <p:cNvSpPr txBox="1"/>
          <p:nvPr>
            <p:ph type="title"/>
          </p:nvPr>
        </p:nvSpPr>
        <p:spPr>
          <a:xfrm>
            <a:off x="-2087" y="127400"/>
            <a:ext cx="59136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4" name="Google Shape;784;p111"/>
          <p:cNvSpPr txBox="1"/>
          <p:nvPr>
            <p:ph idx="3" type="title"/>
          </p:nvPr>
        </p:nvSpPr>
        <p:spPr>
          <a:xfrm>
            <a:off x="-6000" y="478650"/>
            <a:ext cx="59295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8">
  <p:cSld name="CUSTOM_2_38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112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87" name="Google Shape;787;p112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8" name="Google Shape;788;p112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9" name="Google Shape;789;p112"/>
          <p:cNvSpPr txBox="1"/>
          <p:nvPr>
            <p:ph idx="2" type="title"/>
          </p:nvPr>
        </p:nvSpPr>
        <p:spPr>
          <a:xfrm>
            <a:off x="-6000" y="478650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2 2">
  <p:cSld name="CUSTOM_21_2_4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13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113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3" name="Google Shape;793;p1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4" name="Google Shape;7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8650" y="271550"/>
            <a:ext cx="459000" cy="471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2 1 1 1">
  <p:cSld name="CUSTOM_11_1_1_1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14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7" name="Google Shape;797;p114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8" name="Google Shape;798;p1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9">
  <p:cSld name="CUSTOM_2_39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115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1" name="Google Shape;801;p115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2" name="Google Shape;802;p115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03" name="Google Shape;803;p115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4" name="Google Shape;804;p1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">
  <p:cSld name="SECTION_HEADER_1_2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6" name="Google Shape;806;p116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07" name="Google Shape;807;p116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8" name="Google Shape;808;p116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09" name="Google Shape;809;p1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1">
  <p:cSld name="SECTION_HEADER_1_3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1" name="Google Shape;811;p117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2" name="Google Shape;812;p117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3" name="Google Shape;813;p117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4" name="Google Shape;814;p1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section 2">
  <p:cSld name="SECTION_HEADER_1_4"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6" name="Google Shape;816;p118"/>
          <p:cNvCxnSpPr/>
          <p:nvPr/>
        </p:nvCxnSpPr>
        <p:spPr>
          <a:xfrm>
            <a:off x="0" y="1975950"/>
            <a:ext cx="5532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17" name="Google Shape;817;p118"/>
          <p:cNvSpPr txBox="1"/>
          <p:nvPr>
            <p:ph type="title"/>
          </p:nvPr>
        </p:nvSpPr>
        <p:spPr>
          <a:xfrm>
            <a:off x="4234700" y="1975950"/>
            <a:ext cx="4909200" cy="20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8" name="Google Shape;818;p118"/>
          <p:cNvSpPr txBox="1"/>
          <p:nvPr>
            <p:ph idx="1" type="subTitle"/>
          </p:nvPr>
        </p:nvSpPr>
        <p:spPr>
          <a:xfrm>
            <a:off x="4234700" y="761025"/>
            <a:ext cx="1656900" cy="12048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19" name="Google Shape;819;p1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40">
  <p:cSld name="CUSTOM_2_40"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19"/>
          <p:cNvSpPr txBox="1"/>
          <p:nvPr>
            <p:ph type="title"/>
          </p:nvPr>
        </p:nvSpPr>
        <p:spPr>
          <a:xfrm>
            <a:off x="724200" y="127400"/>
            <a:ext cx="44529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2" name="Google Shape;822;p119"/>
          <p:cNvSpPr txBox="1"/>
          <p:nvPr>
            <p:ph idx="2" type="title"/>
          </p:nvPr>
        </p:nvSpPr>
        <p:spPr>
          <a:xfrm>
            <a:off x="742750" y="478650"/>
            <a:ext cx="44529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3" name="Google Shape;823;p119"/>
          <p:cNvSpPr txBox="1"/>
          <p:nvPr>
            <p:ph idx="1" type="body"/>
          </p:nvPr>
        </p:nvSpPr>
        <p:spPr>
          <a:xfrm>
            <a:off x="590350" y="1121725"/>
            <a:ext cx="5319600" cy="338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24" name="Google Shape;824;p119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5" name="Google Shape;825;p1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07" Type="http://schemas.openxmlformats.org/officeDocument/2006/relationships/slideLayout" Target="../slideLayouts/slideLayout107.xml"/><Relationship Id="rId106" Type="http://schemas.openxmlformats.org/officeDocument/2006/relationships/slideLayout" Target="../slideLayouts/slideLayout106.xml"/><Relationship Id="rId105" Type="http://schemas.openxmlformats.org/officeDocument/2006/relationships/slideLayout" Target="../slideLayouts/slideLayout105.xml"/><Relationship Id="rId104" Type="http://schemas.openxmlformats.org/officeDocument/2006/relationships/slideLayout" Target="../slideLayouts/slideLayout104.xml"/><Relationship Id="rId109" Type="http://schemas.openxmlformats.org/officeDocument/2006/relationships/slideLayout" Target="../slideLayouts/slideLayout109.xml"/><Relationship Id="rId108" Type="http://schemas.openxmlformats.org/officeDocument/2006/relationships/slideLayout" Target="../slideLayouts/slideLayout108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103" Type="http://schemas.openxmlformats.org/officeDocument/2006/relationships/slideLayout" Target="../slideLayouts/slideLayout103.xml"/><Relationship Id="rId102" Type="http://schemas.openxmlformats.org/officeDocument/2006/relationships/slideLayout" Target="../slideLayouts/slideLayout102.xml"/><Relationship Id="rId101" Type="http://schemas.openxmlformats.org/officeDocument/2006/relationships/slideLayout" Target="../slideLayouts/slideLayout101.xml"/><Relationship Id="rId100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95" Type="http://schemas.openxmlformats.org/officeDocument/2006/relationships/slideLayout" Target="../slideLayouts/slideLayout95.xml"/><Relationship Id="rId94" Type="http://schemas.openxmlformats.org/officeDocument/2006/relationships/slideLayout" Target="../slideLayouts/slideLayout94.xml"/><Relationship Id="rId97" Type="http://schemas.openxmlformats.org/officeDocument/2006/relationships/slideLayout" Target="../slideLayouts/slideLayout97.xml"/><Relationship Id="rId9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1.xml"/><Relationship Id="rId99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10.xml"/><Relationship Id="rId9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91" Type="http://schemas.openxmlformats.org/officeDocument/2006/relationships/slideLayout" Target="../slideLayouts/slideLayout91.xml"/><Relationship Id="rId90" Type="http://schemas.openxmlformats.org/officeDocument/2006/relationships/slideLayout" Target="../slideLayouts/slideLayout90.xml"/><Relationship Id="rId93" Type="http://schemas.openxmlformats.org/officeDocument/2006/relationships/slideLayout" Target="../slideLayouts/slideLayout93.xml"/><Relationship Id="rId92" Type="http://schemas.openxmlformats.org/officeDocument/2006/relationships/slideLayout" Target="../slideLayouts/slideLayout92.xml"/><Relationship Id="rId118" Type="http://schemas.openxmlformats.org/officeDocument/2006/relationships/slideLayout" Target="../slideLayouts/slideLayout118.xml"/><Relationship Id="rId117" Type="http://schemas.openxmlformats.org/officeDocument/2006/relationships/slideLayout" Target="../slideLayouts/slideLayout117.xml"/><Relationship Id="rId116" Type="http://schemas.openxmlformats.org/officeDocument/2006/relationships/slideLayout" Target="../slideLayouts/slideLayout116.xml"/><Relationship Id="rId115" Type="http://schemas.openxmlformats.org/officeDocument/2006/relationships/slideLayout" Target="../slideLayouts/slideLayout115.xml"/><Relationship Id="rId119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10" Type="http://schemas.openxmlformats.org/officeDocument/2006/relationships/slideLayout" Target="../slideLayouts/slideLayout110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14" Type="http://schemas.openxmlformats.org/officeDocument/2006/relationships/slideLayout" Target="../slideLayouts/slideLayout114.xml"/><Relationship Id="rId18" Type="http://schemas.openxmlformats.org/officeDocument/2006/relationships/slideLayout" Target="../slideLayouts/slideLayout18.xml"/><Relationship Id="rId113" Type="http://schemas.openxmlformats.org/officeDocument/2006/relationships/slideLayout" Target="../slideLayouts/slideLayout113.xml"/><Relationship Id="rId112" Type="http://schemas.openxmlformats.org/officeDocument/2006/relationships/slideLayout" Target="../slideLayouts/slideLayout112.xml"/><Relationship Id="rId111" Type="http://schemas.openxmlformats.org/officeDocument/2006/relationships/slideLayout" Target="../slideLayouts/slideLayout111.xml"/><Relationship Id="rId84" Type="http://schemas.openxmlformats.org/officeDocument/2006/relationships/slideLayout" Target="../slideLayouts/slideLayout84.xml"/><Relationship Id="rId83" Type="http://schemas.openxmlformats.org/officeDocument/2006/relationships/slideLayout" Target="../slideLayouts/slideLayout83.xml"/><Relationship Id="rId86" Type="http://schemas.openxmlformats.org/officeDocument/2006/relationships/slideLayout" Target="../slideLayouts/slideLayout86.xml"/><Relationship Id="rId85" Type="http://schemas.openxmlformats.org/officeDocument/2006/relationships/slideLayout" Target="../slideLayouts/slideLayout85.xml"/><Relationship Id="rId88" Type="http://schemas.openxmlformats.org/officeDocument/2006/relationships/slideLayout" Target="../slideLayouts/slideLayout88.xml"/><Relationship Id="rId87" Type="http://schemas.openxmlformats.org/officeDocument/2006/relationships/slideLayout" Target="../slideLayouts/slideLayout87.xml"/><Relationship Id="rId89" Type="http://schemas.openxmlformats.org/officeDocument/2006/relationships/slideLayout" Target="../slideLayouts/slideLayout89.xml"/><Relationship Id="rId80" Type="http://schemas.openxmlformats.org/officeDocument/2006/relationships/slideLayout" Target="../slideLayouts/slideLayout80.xml"/><Relationship Id="rId82" Type="http://schemas.openxmlformats.org/officeDocument/2006/relationships/slideLayout" Target="../slideLayouts/slideLayout82.xml"/><Relationship Id="rId81" Type="http://schemas.openxmlformats.org/officeDocument/2006/relationships/slideLayout" Target="../slideLayouts/slideLayout8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73" Type="http://schemas.openxmlformats.org/officeDocument/2006/relationships/slideLayout" Target="../slideLayouts/slideLayout73.xml"/><Relationship Id="rId72" Type="http://schemas.openxmlformats.org/officeDocument/2006/relationships/slideLayout" Target="../slideLayouts/slideLayout72.xml"/><Relationship Id="rId75" Type="http://schemas.openxmlformats.org/officeDocument/2006/relationships/slideLayout" Target="../slideLayouts/slideLayout75.xml"/><Relationship Id="rId74" Type="http://schemas.openxmlformats.org/officeDocument/2006/relationships/slideLayout" Target="../slideLayouts/slideLayout74.xml"/><Relationship Id="rId77" Type="http://schemas.openxmlformats.org/officeDocument/2006/relationships/slideLayout" Target="../slideLayouts/slideLayout77.xml"/><Relationship Id="rId76" Type="http://schemas.openxmlformats.org/officeDocument/2006/relationships/slideLayout" Target="../slideLayouts/slideLayout76.xml"/><Relationship Id="rId79" Type="http://schemas.openxmlformats.org/officeDocument/2006/relationships/slideLayout" Target="../slideLayouts/slideLayout79.xml"/><Relationship Id="rId78" Type="http://schemas.openxmlformats.org/officeDocument/2006/relationships/slideLayout" Target="../slideLayouts/slideLayout78.xml"/><Relationship Id="rId71" Type="http://schemas.openxmlformats.org/officeDocument/2006/relationships/slideLayout" Target="../slideLayouts/slideLayout71.xml"/><Relationship Id="rId70" Type="http://schemas.openxmlformats.org/officeDocument/2006/relationships/slideLayout" Target="../slideLayouts/slideLayout70.xml"/><Relationship Id="rId62" Type="http://schemas.openxmlformats.org/officeDocument/2006/relationships/slideLayout" Target="../slideLayouts/slideLayout62.xml"/><Relationship Id="rId61" Type="http://schemas.openxmlformats.org/officeDocument/2006/relationships/slideLayout" Target="../slideLayouts/slideLayout61.xml"/><Relationship Id="rId64" Type="http://schemas.openxmlformats.org/officeDocument/2006/relationships/slideLayout" Target="../slideLayouts/slideLayout64.xml"/><Relationship Id="rId63" Type="http://schemas.openxmlformats.org/officeDocument/2006/relationships/slideLayout" Target="../slideLayouts/slideLayout63.xml"/><Relationship Id="rId66" Type="http://schemas.openxmlformats.org/officeDocument/2006/relationships/slideLayout" Target="../slideLayouts/slideLayout66.xml"/><Relationship Id="rId65" Type="http://schemas.openxmlformats.org/officeDocument/2006/relationships/slideLayout" Target="../slideLayouts/slideLayout65.xml"/><Relationship Id="rId68" Type="http://schemas.openxmlformats.org/officeDocument/2006/relationships/slideLayout" Target="../slideLayouts/slideLayout68.xml"/><Relationship Id="rId67" Type="http://schemas.openxmlformats.org/officeDocument/2006/relationships/slideLayout" Target="../slideLayouts/slideLayout67.xml"/><Relationship Id="rId60" Type="http://schemas.openxmlformats.org/officeDocument/2006/relationships/slideLayout" Target="../slideLayouts/slideLayout60.xml"/><Relationship Id="rId69" Type="http://schemas.openxmlformats.org/officeDocument/2006/relationships/slideLayout" Target="../slideLayouts/slideLayout6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5.xml"/><Relationship Id="rId54" Type="http://schemas.openxmlformats.org/officeDocument/2006/relationships/slideLayout" Target="../slideLayouts/slideLayout54.xml"/><Relationship Id="rId57" Type="http://schemas.openxmlformats.org/officeDocument/2006/relationships/slideLayout" Target="../slideLayouts/slideLayout57.xml"/><Relationship Id="rId56" Type="http://schemas.openxmlformats.org/officeDocument/2006/relationships/slideLayout" Target="../slideLayouts/slideLayout56.xml"/><Relationship Id="rId59" Type="http://schemas.openxmlformats.org/officeDocument/2006/relationships/slideLayout" Target="../slideLayouts/slideLayout59.xml"/><Relationship Id="rId58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  <p:sldLayoutId id="2147483710" r:id="rId63"/>
    <p:sldLayoutId id="2147483711" r:id="rId64"/>
    <p:sldLayoutId id="2147483712" r:id="rId65"/>
    <p:sldLayoutId id="2147483713" r:id="rId66"/>
    <p:sldLayoutId id="2147483714" r:id="rId67"/>
    <p:sldLayoutId id="2147483715" r:id="rId68"/>
    <p:sldLayoutId id="2147483716" r:id="rId69"/>
    <p:sldLayoutId id="2147483717" r:id="rId70"/>
    <p:sldLayoutId id="2147483718" r:id="rId71"/>
    <p:sldLayoutId id="2147483719" r:id="rId72"/>
    <p:sldLayoutId id="2147483720" r:id="rId73"/>
    <p:sldLayoutId id="2147483721" r:id="rId74"/>
    <p:sldLayoutId id="2147483722" r:id="rId75"/>
    <p:sldLayoutId id="2147483723" r:id="rId76"/>
    <p:sldLayoutId id="2147483724" r:id="rId77"/>
    <p:sldLayoutId id="2147483725" r:id="rId78"/>
    <p:sldLayoutId id="2147483726" r:id="rId79"/>
    <p:sldLayoutId id="2147483727" r:id="rId80"/>
    <p:sldLayoutId id="2147483728" r:id="rId81"/>
    <p:sldLayoutId id="2147483729" r:id="rId82"/>
    <p:sldLayoutId id="2147483730" r:id="rId83"/>
    <p:sldLayoutId id="2147483731" r:id="rId84"/>
    <p:sldLayoutId id="2147483732" r:id="rId85"/>
    <p:sldLayoutId id="2147483733" r:id="rId86"/>
    <p:sldLayoutId id="2147483734" r:id="rId87"/>
    <p:sldLayoutId id="2147483735" r:id="rId88"/>
    <p:sldLayoutId id="2147483736" r:id="rId89"/>
    <p:sldLayoutId id="2147483737" r:id="rId90"/>
    <p:sldLayoutId id="2147483738" r:id="rId91"/>
    <p:sldLayoutId id="2147483739" r:id="rId92"/>
    <p:sldLayoutId id="2147483740" r:id="rId93"/>
    <p:sldLayoutId id="2147483741" r:id="rId94"/>
    <p:sldLayoutId id="2147483742" r:id="rId95"/>
    <p:sldLayoutId id="2147483743" r:id="rId96"/>
    <p:sldLayoutId id="2147483744" r:id="rId97"/>
    <p:sldLayoutId id="2147483745" r:id="rId98"/>
    <p:sldLayoutId id="2147483746" r:id="rId99"/>
    <p:sldLayoutId id="2147483747" r:id="rId100"/>
    <p:sldLayoutId id="2147483748" r:id="rId101"/>
    <p:sldLayoutId id="2147483749" r:id="rId102"/>
    <p:sldLayoutId id="2147483750" r:id="rId103"/>
    <p:sldLayoutId id="2147483751" r:id="rId104"/>
    <p:sldLayoutId id="2147483752" r:id="rId105"/>
    <p:sldLayoutId id="2147483753" r:id="rId106"/>
    <p:sldLayoutId id="2147483754" r:id="rId107"/>
    <p:sldLayoutId id="2147483755" r:id="rId108"/>
    <p:sldLayoutId id="2147483756" r:id="rId109"/>
    <p:sldLayoutId id="2147483757" r:id="rId110"/>
    <p:sldLayoutId id="2147483758" r:id="rId111"/>
    <p:sldLayoutId id="2147483759" r:id="rId112"/>
    <p:sldLayoutId id="2147483760" r:id="rId113"/>
    <p:sldLayoutId id="2147483761" r:id="rId114"/>
    <p:sldLayoutId id="2147483762" r:id="rId115"/>
    <p:sldLayoutId id="2147483763" r:id="rId116"/>
    <p:sldLayoutId id="2147483764" r:id="rId117"/>
    <p:sldLayoutId id="2147483765" r:id="rId1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9.png"/><Relationship Id="rId4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58.png"/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9" Type="http://schemas.openxmlformats.org/officeDocument/2006/relationships/image" Target="../media/image50.png"/><Relationship Id="rId5" Type="http://schemas.openxmlformats.org/officeDocument/2006/relationships/image" Target="../media/image69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9.png"/><Relationship Id="rId4" Type="http://schemas.openxmlformats.org/officeDocument/2006/relationships/image" Target="../media/image49.png"/><Relationship Id="rId5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3.png"/><Relationship Id="rId4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5.png"/><Relationship Id="rId4" Type="http://schemas.openxmlformats.org/officeDocument/2006/relationships/image" Target="../media/image51.png"/><Relationship Id="rId5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4.png"/><Relationship Id="rId5" Type="http://schemas.openxmlformats.org/officeDocument/2006/relationships/image" Target="../media/image57.png"/><Relationship Id="rId6" Type="http://schemas.openxmlformats.org/officeDocument/2006/relationships/image" Target="../media/image45.png"/><Relationship Id="rId7" Type="http://schemas.openxmlformats.org/officeDocument/2006/relationships/image" Target="../media/image5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1.png"/><Relationship Id="rId4" Type="http://schemas.openxmlformats.org/officeDocument/2006/relationships/image" Target="../media/image64.png"/><Relationship Id="rId5" Type="http://schemas.openxmlformats.org/officeDocument/2006/relationships/image" Target="../media/image57.png"/><Relationship Id="rId6" Type="http://schemas.openxmlformats.org/officeDocument/2006/relationships/image" Target="../media/image45.png"/><Relationship Id="rId7" Type="http://schemas.openxmlformats.org/officeDocument/2006/relationships/image" Target="../media/image5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1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Relationship Id="rId6" Type="http://schemas.openxmlformats.org/officeDocument/2006/relationships/image" Target="../media/image45.png"/><Relationship Id="rId7" Type="http://schemas.openxmlformats.org/officeDocument/2006/relationships/image" Target="../media/image5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Relationship Id="rId4" Type="http://schemas.openxmlformats.org/officeDocument/2006/relationships/image" Target="../media/image45.png"/><Relationship Id="rId5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Relationship Id="rId4" Type="http://schemas.openxmlformats.org/officeDocument/2006/relationships/image" Target="../media/image69.png"/><Relationship Id="rId5" Type="http://schemas.openxmlformats.org/officeDocument/2006/relationships/image" Target="../media/image42.png"/><Relationship Id="rId6" Type="http://schemas.openxmlformats.org/officeDocument/2006/relationships/image" Target="../media/image5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5" Type="http://schemas.openxmlformats.org/officeDocument/2006/relationships/image" Target="../media/image54.png"/><Relationship Id="rId6" Type="http://schemas.openxmlformats.org/officeDocument/2006/relationships/image" Target="../media/image6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65.png"/><Relationship Id="rId4" Type="http://schemas.openxmlformats.org/officeDocument/2006/relationships/image" Target="../media/image7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8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2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7.png"/><Relationship Id="rId4" Type="http://schemas.openxmlformats.org/officeDocument/2006/relationships/image" Target="../media/image5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3.png"/><Relationship Id="rId4" Type="http://schemas.openxmlformats.org/officeDocument/2006/relationships/image" Target="../media/image78.png"/><Relationship Id="rId5" Type="http://schemas.openxmlformats.org/officeDocument/2006/relationships/image" Target="../media/image57.png"/><Relationship Id="rId6" Type="http://schemas.openxmlformats.org/officeDocument/2006/relationships/image" Target="../media/image5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51.png"/><Relationship Id="rId4" Type="http://schemas.openxmlformats.org/officeDocument/2006/relationships/image" Target="../media/image57.png"/><Relationship Id="rId5" Type="http://schemas.openxmlformats.org/officeDocument/2006/relationships/image" Target="../media/image53.png"/><Relationship Id="rId6" Type="http://schemas.openxmlformats.org/officeDocument/2006/relationships/image" Target="../media/image4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45.png"/><Relationship Id="rId4" Type="http://schemas.openxmlformats.org/officeDocument/2006/relationships/image" Target="../media/image57.png"/><Relationship Id="rId9" Type="http://schemas.openxmlformats.org/officeDocument/2006/relationships/image" Target="../media/image76.png"/><Relationship Id="rId5" Type="http://schemas.openxmlformats.org/officeDocument/2006/relationships/image" Target="../media/image53.png"/><Relationship Id="rId6" Type="http://schemas.openxmlformats.org/officeDocument/2006/relationships/image" Target="../media/image80.png"/><Relationship Id="rId7" Type="http://schemas.openxmlformats.org/officeDocument/2006/relationships/image" Target="../media/image79.png"/><Relationship Id="rId8" Type="http://schemas.openxmlformats.org/officeDocument/2006/relationships/image" Target="../media/image51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8.png"/><Relationship Id="rId4" Type="http://schemas.openxmlformats.org/officeDocument/2006/relationships/image" Target="../media/image51.png"/><Relationship Id="rId5" Type="http://schemas.openxmlformats.org/officeDocument/2006/relationships/image" Target="../media/image45.png"/><Relationship Id="rId6" Type="http://schemas.openxmlformats.org/officeDocument/2006/relationships/image" Target="../media/image78.png"/><Relationship Id="rId7" Type="http://schemas.openxmlformats.org/officeDocument/2006/relationships/image" Target="../media/image8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8.png"/><Relationship Id="rId4" Type="http://schemas.openxmlformats.org/officeDocument/2006/relationships/image" Target="../media/image8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8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120"/>
          <p:cNvSpPr txBox="1"/>
          <p:nvPr>
            <p:ph type="title"/>
          </p:nvPr>
        </p:nvSpPr>
        <p:spPr>
          <a:xfrm>
            <a:off x="4602975" y="182880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Asymmetric Encryption </a:t>
            </a:r>
            <a:br>
              <a:rPr lang="en"/>
            </a:br>
            <a:r>
              <a:rPr lang="en"/>
              <a:t>and Hashing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20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832" name="Google Shape;832;p120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11.2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21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838" name="Google Shape;838;p121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lesson,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9" name="Google Shape;839;p121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840" name="Google Shape;840;p121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841" name="Google Shape;841;p1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42" name="Google Shape;842;p121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843" name="Google Shape;843;p121"/>
          <p:cNvGrpSpPr/>
          <p:nvPr/>
        </p:nvGrpSpPr>
        <p:grpSpPr>
          <a:xfrm>
            <a:off x="322375" y="1273115"/>
            <a:ext cx="8133300" cy="567300"/>
            <a:chOff x="314850" y="1065725"/>
            <a:chExt cx="8133300" cy="567300"/>
          </a:xfrm>
        </p:grpSpPr>
        <p:sp>
          <p:nvSpPr>
            <p:cNvPr id="844" name="Google Shape;844;p121"/>
            <p:cNvSpPr/>
            <p:nvPr/>
          </p:nvSpPr>
          <p:spPr>
            <a:xfrm>
              <a:off x="391050" y="1065725"/>
              <a:ext cx="8057100" cy="5673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5" name="Google Shape;845;p121"/>
            <p:cNvSpPr/>
            <p:nvPr/>
          </p:nvSpPr>
          <p:spPr>
            <a:xfrm>
              <a:off x="314850" y="1155950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6" name="Google Shape;846;p121"/>
            <p:cNvSpPr txBox="1"/>
            <p:nvPr/>
          </p:nvSpPr>
          <p:spPr>
            <a:xfrm>
              <a:off x="817950" y="1065725"/>
              <a:ext cx="7582800" cy="56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Calculate the required number of symmetric and asymmetric keys based on </a:t>
              </a:r>
              <a:b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the number of people exchanging secure messages.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5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47" name="Google Shape;847;p121"/>
          <p:cNvGrpSpPr/>
          <p:nvPr/>
        </p:nvGrpSpPr>
        <p:grpSpPr>
          <a:xfrm>
            <a:off x="322375" y="1981671"/>
            <a:ext cx="8133300" cy="448425"/>
            <a:chOff x="314850" y="1770875"/>
            <a:chExt cx="8133300" cy="448425"/>
          </a:xfrm>
        </p:grpSpPr>
        <p:sp>
          <p:nvSpPr>
            <p:cNvPr id="848" name="Google Shape;848;p121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49" name="Google Shape;849;p121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0" name="Google Shape;850;p121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 GPG to generate keys and encrypt and decrypt private messages.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1" name="Google Shape;851;p121"/>
          <p:cNvGrpSpPr/>
          <p:nvPr/>
        </p:nvGrpSpPr>
        <p:grpSpPr>
          <a:xfrm>
            <a:off x="322375" y="2571352"/>
            <a:ext cx="8133300" cy="448425"/>
            <a:chOff x="314850" y="1770875"/>
            <a:chExt cx="8133300" cy="448425"/>
          </a:xfrm>
        </p:grpSpPr>
        <p:sp>
          <p:nvSpPr>
            <p:cNvPr id="852" name="Google Shape;852;p121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3" name="Google Shape;853;p121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4" name="Google Shape;854;p121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 hashes to validate the integrity of data.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55" name="Google Shape;855;p121"/>
          <p:cNvGrpSpPr/>
          <p:nvPr/>
        </p:nvGrpSpPr>
        <p:grpSpPr>
          <a:xfrm>
            <a:off x="322375" y="3161033"/>
            <a:ext cx="8133300" cy="448425"/>
            <a:chOff x="314850" y="1770875"/>
            <a:chExt cx="8133300" cy="448425"/>
          </a:xfrm>
        </p:grpSpPr>
        <p:sp>
          <p:nvSpPr>
            <p:cNvPr id="856" name="Google Shape;856;p121"/>
            <p:cNvSpPr/>
            <p:nvPr/>
          </p:nvSpPr>
          <p:spPr>
            <a:xfrm>
              <a:off x="391050" y="1779575"/>
              <a:ext cx="8057100" cy="4191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7" name="Google Shape;857;p121"/>
            <p:cNvSpPr/>
            <p:nvPr/>
          </p:nvSpPr>
          <p:spPr>
            <a:xfrm>
              <a:off x="314850" y="1770875"/>
              <a:ext cx="457200" cy="4365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8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58" name="Google Shape;858;p121"/>
            <p:cNvSpPr txBox="1"/>
            <p:nvPr/>
          </p:nvSpPr>
          <p:spPr>
            <a:xfrm>
              <a:off x="817950" y="1800200"/>
              <a:ext cx="76302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Use digital signatures to validate the authenticity of data.</a:t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23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Cryptography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Review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68" name="Google Shape;868;p123"/>
          <p:cNvPicPr preferRelativeResize="0"/>
          <p:nvPr/>
        </p:nvPicPr>
        <p:blipFill rotWithShape="1">
          <a:blip r:embed="rId3">
            <a:alphaModFix/>
          </a:blip>
          <a:srcRect b="0" l="0" r="0" t="-9781"/>
          <a:stretch/>
        </p:blipFill>
        <p:spPr>
          <a:xfrm>
            <a:off x="4220999" y="1431976"/>
            <a:ext cx="702000" cy="119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24"/>
          <p:cNvSpPr/>
          <p:nvPr/>
        </p:nvSpPr>
        <p:spPr>
          <a:xfrm>
            <a:off x="1335475" y="995400"/>
            <a:ext cx="30027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Cryptography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74" name="Google Shape;874;p124"/>
          <p:cNvGrpSpPr/>
          <p:nvPr/>
        </p:nvGrpSpPr>
        <p:grpSpPr>
          <a:xfrm>
            <a:off x="440125" y="995400"/>
            <a:ext cx="776900" cy="486300"/>
            <a:chOff x="457200" y="1466425"/>
            <a:chExt cx="776900" cy="486300"/>
          </a:xfrm>
        </p:grpSpPr>
        <p:sp>
          <p:nvSpPr>
            <p:cNvPr id="875" name="Google Shape;875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76" name="Google Shape;876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77" name="Google Shape;877;p124"/>
          <p:cNvSpPr/>
          <p:nvPr/>
        </p:nvSpPr>
        <p:spPr>
          <a:xfrm>
            <a:off x="1335475" y="1650256"/>
            <a:ext cx="30027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Ciphers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78" name="Google Shape;878;p124"/>
          <p:cNvGrpSpPr/>
          <p:nvPr/>
        </p:nvGrpSpPr>
        <p:grpSpPr>
          <a:xfrm>
            <a:off x="440125" y="1650255"/>
            <a:ext cx="776900" cy="486300"/>
            <a:chOff x="457200" y="1466425"/>
            <a:chExt cx="776900" cy="486300"/>
          </a:xfrm>
        </p:grpSpPr>
        <p:sp>
          <p:nvSpPr>
            <p:cNvPr id="879" name="Google Shape;879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0" name="Google Shape;880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81" name="Google Shape;881;p124"/>
          <p:cNvSpPr/>
          <p:nvPr/>
        </p:nvSpPr>
        <p:spPr>
          <a:xfrm>
            <a:off x="1335475" y="2305112"/>
            <a:ext cx="30027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Encryption/Decryption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82" name="Google Shape;882;p124"/>
          <p:cNvGrpSpPr/>
          <p:nvPr/>
        </p:nvGrpSpPr>
        <p:grpSpPr>
          <a:xfrm>
            <a:off x="440125" y="2305110"/>
            <a:ext cx="776900" cy="486300"/>
            <a:chOff x="457200" y="1466425"/>
            <a:chExt cx="776900" cy="486300"/>
          </a:xfrm>
        </p:grpSpPr>
        <p:sp>
          <p:nvSpPr>
            <p:cNvPr id="883" name="Google Shape;883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4" name="Google Shape;884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85" name="Google Shape;885;p124"/>
          <p:cNvSpPr/>
          <p:nvPr/>
        </p:nvSpPr>
        <p:spPr>
          <a:xfrm>
            <a:off x="1335475" y="2959968"/>
            <a:ext cx="30027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Key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86" name="Google Shape;886;p124"/>
          <p:cNvGrpSpPr/>
          <p:nvPr/>
        </p:nvGrpSpPr>
        <p:grpSpPr>
          <a:xfrm>
            <a:off x="440125" y="2959965"/>
            <a:ext cx="776900" cy="486300"/>
            <a:chOff x="457200" y="1466425"/>
            <a:chExt cx="776900" cy="486300"/>
          </a:xfrm>
        </p:grpSpPr>
        <p:sp>
          <p:nvSpPr>
            <p:cNvPr id="887" name="Google Shape;887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88" name="Google Shape;888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89" name="Google Shape;889;p124"/>
          <p:cNvSpPr/>
          <p:nvPr/>
        </p:nvSpPr>
        <p:spPr>
          <a:xfrm>
            <a:off x="1335475" y="3614824"/>
            <a:ext cx="30027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Block and stream ciphers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90" name="Google Shape;890;p124"/>
          <p:cNvGrpSpPr/>
          <p:nvPr/>
        </p:nvGrpSpPr>
        <p:grpSpPr>
          <a:xfrm>
            <a:off x="440125" y="3614820"/>
            <a:ext cx="776900" cy="486300"/>
            <a:chOff x="457200" y="1466425"/>
            <a:chExt cx="776900" cy="486300"/>
          </a:xfrm>
        </p:grpSpPr>
        <p:sp>
          <p:nvSpPr>
            <p:cNvPr id="891" name="Google Shape;891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05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2" name="Google Shape;892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93" name="Google Shape;893;p124"/>
          <p:cNvSpPr/>
          <p:nvPr/>
        </p:nvSpPr>
        <p:spPr>
          <a:xfrm>
            <a:off x="5403750" y="995400"/>
            <a:ext cx="32835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Encoding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94" name="Google Shape;894;p124"/>
          <p:cNvGrpSpPr/>
          <p:nvPr/>
        </p:nvGrpSpPr>
        <p:grpSpPr>
          <a:xfrm>
            <a:off x="4508400" y="995400"/>
            <a:ext cx="776900" cy="486300"/>
            <a:chOff x="457200" y="1466425"/>
            <a:chExt cx="776900" cy="486300"/>
          </a:xfrm>
        </p:grpSpPr>
        <p:sp>
          <p:nvSpPr>
            <p:cNvPr id="895" name="Google Shape;895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896" name="Google Shape;896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897" name="Google Shape;897;p124"/>
          <p:cNvSpPr/>
          <p:nvPr/>
        </p:nvSpPr>
        <p:spPr>
          <a:xfrm>
            <a:off x="5403750" y="1650258"/>
            <a:ext cx="32835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PAIN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98" name="Google Shape;898;p124"/>
          <p:cNvGrpSpPr/>
          <p:nvPr/>
        </p:nvGrpSpPr>
        <p:grpSpPr>
          <a:xfrm>
            <a:off x="4508400" y="1650255"/>
            <a:ext cx="776900" cy="486300"/>
            <a:chOff x="457200" y="1466425"/>
            <a:chExt cx="776900" cy="486300"/>
          </a:xfrm>
        </p:grpSpPr>
        <p:sp>
          <p:nvSpPr>
            <p:cNvPr id="899" name="Google Shape;899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07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0" name="Google Shape;900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01" name="Google Shape;901;p124"/>
          <p:cNvSpPr/>
          <p:nvPr/>
        </p:nvSpPr>
        <p:spPr>
          <a:xfrm>
            <a:off x="5403750" y="2305115"/>
            <a:ext cx="32835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Security trade-off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02" name="Google Shape;902;p124"/>
          <p:cNvGrpSpPr/>
          <p:nvPr/>
        </p:nvGrpSpPr>
        <p:grpSpPr>
          <a:xfrm>
            <a:off x="4508400" y="2305110"/>
            <a:ext cx="776900" cy="486300"/>
            <a:chOff x="457200" y="1466425"/>
            <a:chExt cx="776900" cy="486300"/>
          </a:xfrm>
        </p:grpSpPr>
        <p:sp>
          <p:nvSpPr>
            <p:cNvPr id="903" name="Google Shape;903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08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4" name="Google Shape;904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05" name="Google Shape;905;p124"/>
          <p:cNvSpPr/>
          <p:nvPr/>
        </p:nvSpPr>
        <p:spPr>
          <a:xfrm>
            <a:off x="5403750" y="2959973"/>
            <a:ext cx="32835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Symmetric key a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lgorithms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06" name="Google Shape;906;p124"/>
          <p:cNvGrpSpPr/>
          <p:nvPr/>
        </p:nvGrpSpPr>
        <p:grpSpPr>
          <a:xfrm>
            <a:off x="4508400" y="2959965"/>
            <a:ext cx="776900" cy="486300"/>
            <a:chOff x="457200" y="1466425"/>
            <a:chExt cx="776900" cy="486300"/>
          </a:xfrm>
        </p:grpSpPr>
        <p:sp>
          <p:nvSpPr>
            <p:cNvPr id="907" name="Google Shape;907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09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08" name="Google Shape;908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C7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09" name="Google Shape;909;p12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 Review</a:t>
            </a:r>
            <a:endParaRPr/>
          </a:p>
        </p:txBody>
      </p:sp>
      <p:sp>
        <p:nvSpPr>
          <p:cNvPr id="910" name="Google Shape;910;p124"/>
          <p:cNvSpPr/>
          <p:nvPr/>
        </p:nvSpPr>
        <p:spPr>
          <a:xfrm>
            <a:off x="5403750" y="3614824"/>
            <a:ext cx="3002700" cy="486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OpenSSL</a:t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11" name="Google Shape;911;p124"/>
          <p:cNvGrpSpPr/>
          <p:nvPr/>
        </p:nvGrpSpPr>
        <p:grpSpPr>
          <a:xfrm>
            <a:off x="4508400" y="3614820"/>
            <a:ext cx="776900" cy="486300"/>
            <a:chOff x="457200" y="1466425"/>
            <a:chExt cx="776900" cy="486300"/>
          </a:xfrm>
        </p:grpSpPr>
        <p:sp>
          <p:nvSpPr>
            <p:cNvPr id="912" name="Google Shape;912;p12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" sz="3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10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913" name="Google Shape;913;p12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2E5E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26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923" name="Google Shape;923;p126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 refresher</a:t>
            </a:r>
            <a:endParaRPr/>
          </a:p>
        </p:txBody>
      </p:sp>
      <p:sp>
        <p:nvSpPr>
          <p:cNvPr id="924" name="Google Shape;924;p126"/>
          <p:cNvSpPr txBox="1"/>
          <p:nvPr>
            <p:ph idx="3" type="body"/>
          </p:nvPr>
        </p:nvSpPr>
        <p:spPr>
          <a:xfrm>
            <a:off x="781875" y="1515825"/>
            <a:ext cx="7772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continue to act as a security analyst working for the Hill Valley Police Department.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review activity, you must encrypt and decrypt a message </a:t>
            </a:r>
            <a:br>
              <a:rPr lang="en"/>
            </a:br>
            <a:r>
              <a:rPr lang="en"/>
              <a:t>using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OpenSSL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2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Key Management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nd Exchange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38" name="Google Shape;938;p129"/>
          <p:cNvPicPr preferRelativeResize="0"/>
          <p:nvPr/>
        </p:nvPicPr>
        <p:blipFill rotWithShape="1">
          <a:blip r:embed="rId3">
            <a:alphaModFix/>
          </a:blip>
          <a:srcRect b="709" l="0" r="0" t="709"/>
          <a:stretch/>
        </p:blipFill>
        <p:spPr>
          <a:xfrm>
            <a:off x="4086225" y="1643063"/>
            <a:ext cx="971550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30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Key Management and Exchange</a:t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944" name="Google Shape;944;p130"/>
          <p:cNvSpPr txBox="1"/>
          <p:nvPr/>
        </p:nvSpPr>
        <p:spPr>
          <a:xfrm>
            <a:off x="7620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 the previous activity, we used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symmetric key encryption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While its benefits include speed, efficiency, and simplicity of use,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symmetric encryption also has disadvantages.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130"/>
          <p:cNvSpPr/>
          <p:nvPr/>
        </p:nvSpPr>
        <p:spPr>
          <a:xfrm>
            <a:off x="0" y="2415350"/>
            <a:ext cx="9144000" cy="272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130"/>
          <p:cNvSpPr txBox="1"/>
          <p:nvPr/>
        </p:nvSpPr>
        <p:spPr>
          <a:xfrm>
            <a:off x="0" y="1953638"/>
            <a:ext cx="9144000" cy="46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Symmetric Encryption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7" name="Google Shape;947;p130"/>
          <p:cNvSpPr/>
          <p:nvPr/>
        </p:nvSpPr>
        <p:spPr>
          <a:xfrm>
            <a:off x="2425275" y="3328213"/>
            <a:ext cx="922200" cy="922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8" name="Google Shape;948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1325" y="3589827"/>
            <a:ext cx="674550" cy="324297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130"/>
          <p:cNvSpPr txBox="1"/>
          <p:nvPr/>
        </p:nvSpPr>
        <p:spPr>
          <a:xfrm>
            <a:off x="2412025" y="3800713"/>
            <a:ext cx="922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Encrypt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0" name="Google Shape;950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300" y="3226418"/>
            <a:ext cx="997200" cy="10372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51" name="Google Shape;951;p130"/>
          <p:cNvSpPr/>
          <p:nvPr/>
        </p:nvSpPr>
        <p:spPr>
          <a:xfrm>
            <a:off x="4205550" y="3290625"/>
            <a:ext cx="732900" cy="900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D6E7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C343D"/>
                </a:solidFill>
                <a:latin typeface="Inconsolata"/>
                <a:ea typeface="Inconsolata"/>
                <a:cs typeface="Inconsolata"/>
                <a:sym typeface="Inconsolata"/>
              </a:rPr>
              <a:t>010011010010010101000100010010101010100101010101010101001010</a:t>
            </a:r>
            <a:endParaRPr sz="800">
              <a:solidFill>
                <a:srgbClr val="0C343D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952" name="Google Shape;952;p1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1875" y="3222311"/>
            <a:ext cx="997200" cy="10372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53" name="Google Shape;953;p130"/>
          <p:cNvSpPr txBox="1"/>
          <p:nvPr/>
        </p:nvSpPr>
        <p:spPr>
          <a:xfrm>
            <a:off x="724300" y="4198730"/>
            <a:ext cx="99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Message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4" name="Google Shape;954;p130"/>
          <p:cNvSpPr txBox="1"/>
          <p:nvPr/>
        </p:nvSpPr>
        <p:spPr>
          <a:xfrm>
            <a:off x="3971200" y="4198725"/>
            <a:ext cx="122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Ciphertext</a:t>
            </a:r>
            <a:endParaRPr b="1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5" name="Google Shape;955;p130"/>
          <p:cNvSpPr txBox="1"/>
          <p:nvPr/>
        </p:nvSpPr>
        <p:spPr>
          <a:xfrm>
            <a:off x="7401875" y="4198730"/>
            <a:ext cx="99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Message</a:t>
            </a:r>
            <a:endParaRPr b="1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6" name="Google Shape;956;p130"/>
          <p:cNvSpPr/>
          <p:nvPr/>
        </p:nvSpPr>
        <p:spPr>
          <a:xfrm>
            <a:off x="5758550" y="3279663"/>
            <a:ext cx="922200" cy="9225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57" name="Google Shape;957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4600" y="3541277"/>
            <a:ext cx="674550" cy="324297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130"/>
          <p:cNvSpPr txBox="1"/>
          <p:nvPr/>
        </p:nvSpPr>
        <p:spPr>
          <a:xfrm>
            <a:off x="5745300" y="3752163"/>
            <a:ext cx="922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Decrypt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59" name="Google Shape;959;p130"/>
          <p:cNvCxnSpPr/>
          <p:nvPr/>
        </p:nvCxnSpPr>
        <p:spPr>
          <a:xfrm>
            <a:off x="2904150" y="2941000"/>
            <a:ext cx="3335700" cy="0"/>
          </a:xfrm>
          <a:prstGeom prst="straightConnector1">
            <a:avLst/>
          </a:prstGeom>
          <a:noFill/>
          <a:ln cap="flat" cmpd="sng" w="9525">
            <a:solidFill>
              <a:srgbClr val="0C343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130"/>
          <p:cNvCxnSpPr/>
          <p:nvPr/>
        </p:nvCxnSpPr>
        <p:spPr>
          <a:xfrm>
            <a:off x="2878600" y="2953263"/>
            <a:ext cx="0" cy="351000"/>
          </a:xfrm>
          <a:prstGeom prst="straightConnector1">
            <a:avLst/>
          </a:prstGeom>
          <a:noFill/>
          <a:ln cap="flat" cmpd="sng" w="9525">
            <a:solidFill>
              <a:srgbClr val="0C343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130"/>
          <p:cNvCxnSpPr/>
          <p:nvPr/>
        </p:nvCxnSpPr>
        <p:spPr>
          <a:xfrm>
            <a:off x="6219650" y="2940988"/>
            <a:ext cx="0" cy="351000"/>
          </a:xfrm>
          <a:prstGeom prst="straightConnector1">
            <a:avLst/>
          </a:prstGeom>
          <a:noFill/>
          <a:ln cap="flat" cmpd="sng" w="9525">
            <a:solidFill>
              <a:srgbClr val="0C343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2" name="Google Shape;962;p130"/>
          <p:cNvSpPr/>
          <p:nvPr/>
        </p:nvSpPr>
        <p:spPr>
          <a:xfrm>
            <a:off x="4141500" y="2840425"/>
            <a:ext cx="861000" cy="201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Shared Key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3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Management and Exchange</a:t>
            </a:r>
            <a:endParaRPr/>
          </a:p>
        </p:txBody>
      </p:sp>
      <p:sp>
        <p:nvSpPr>
          <p:cNvPr id="968" name="Google Shape;968;p131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 1: Secure key exchange</a:t>
            </a:r>
            <a:endParaRPr/>
          </a:p>
        </p:txBody>
      </p:sp>
      <p:sp>
        <p:nvSpPr>
          <p:cNvPr id="969" name="Google Shape;969;p131"/>
          <p:cNvSpPr txBox="1"/>
          <p:nvPr>
            <p:ph idx="2" type="body"/>
          </p:nvPr>
        </p:nvSpPr>
        <p:spPr>
          <a:xfrm>
            <a:off x="4572000" y="1063525"/>
            <a:ext cx="4328400" cy="3869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Offline Exchange (Out-of-Band Exchange)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include mailing the key, or calling </a:t>
            </a:r>
            <a:br>
              <a:rPr lang="en"/>
            </a:br>
            <a:r>
              <a:rPr lang="en"/>
              <a:t>the other </a:t>
            </a:r>
            <a:r>
              <a:rPr lang="en"/>
              <a:t>party</a:t>
            </a:r>
            <a:r>
              <a:rPr lang="en"/>
              <a:t> and reading the key.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Intercepted mail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Tapped phone 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Diffie-Hellman</a:t>
            </a:r>
            <a:r>
              <a:rPr lang="en"/>
              <a:t> </a:t>
            </a:r>
            <a:r>
              <a:rPr b="1" lang="en"/>
              <a:t>Key Exchange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Uses mathematics to create </a:t>
            </a:r>
            <a:br>
              <a:rPr lang="en"/>
            </a:br>
            <a:r>
              <a:rPr lang="en"/>
              <a:t>a shared secret between two </a:t>
            </a:r>
            <a:br>
              <a:rPr lang="en"/>
            </a:br>
            <a:r>
              <a:rPr lang="en"/>
              <a:t>parties over a public channel.</a:t>
            </a:r>
            <a:endParaRPr/>
          </a:p>
        </p:txBody>
      </p:sp>
      <p:pic>
        <p:nvPicPr>
          <p:cNvPr id="970" name="Google Shape;970;p131"/>
          <p:cNvPicPr preferRelativeResize="0"/>
          <p:nvPr/>
        </p:nvPicPr>
        <p:blipFill rotWithShape="1">
          <a:blip r:embed="rId3">
            <a:alphaModFix/>
          </a:blip>
          <a:srcRect b="709" l="0" r="0" t="709"/>
          <a:stretch/>
        </p:blipFill>
        <p:spPr>
          <a:xfrm>
            <a:off x="252364" y="250349"/>
            <a:ext cx="409675" cy="4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975250"/>
            <a:ext cx="4267200" cy="3784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32"/>
          <p:cNvSpPr/>
          <p:nvPr/>
        </p:nvSpPr>
        <p:spPr>
          <a:xfrm>
            <a:off x="-2184537" y="2599614"/>
            <a:ext cx="774300" cy="774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13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Management and Exchange</a:t>
            </a:r>
            <a:endParaRPr/>
          </a:p>
        </p:txBody>
      </p:sp>
      <p:sp>
        <p:nvSpPr>
          <p:cNvPr id="978" name="Google Shape;978;p13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Disadvantage 2</a:t>
            </a:r>
            <a:r>
              <a:rPr lang="en"/>
              <a:t>: Key management</a:t>
            </a:r>
            <a:endParaRPr/>
          </a:p>
        </p:txBody>
      </p:sp>
      <p:pic>
        <p:nvPicPr>
          <p:cNvPr id="979" name="Google Shape;979;p132"/>
          <p:cNvPicPr preferRelativeResize="0"/>
          <p:nvPr/>
        </p:nvPicPr>
        <p:blipFill rotWithShape="1">
          <a:blip r:embed="rId3">
            <a:alphaModFix/>
          </a:blip>
          <a:srcRect b="709" l="0" r="0" t="709"/>
          <a:stretch/>
        </p:blipFill>
        <p:spPr>
          <a:xfrm>
            <a:off x="252364" y="250349"/>
            <a:ext cx="409675" cy="4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132"/>
          <p:cNvPicPr preferRelativeResize="0"/>
          <p:nvPr/>
        </p:nvPicPr>
        <p:blipFill rotWithShape="1">
          <a:blip r:embed="rId4">
            <a:alphaModFix/>
          </a:blip>
          <a:srcRect b="62706" l="0" r="0" t="0"/>
          <a:stretch/>
        </p:blipFill>
        <p:spPr>
          <a:xfrm>
            <a:off x="-2027413" y="2686642"/>
            <a:ext cx="465275" cy="559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1" name="Google Shape;981;p132"/>
          <p:cNvCxnSpPr/>
          <p:nvPr/>
        </p:nvCxnSpPr>
        <p:spPr>
          <a:xfrm>
            <a:off x="2294125" y="1615275"/>
            <a:ext cx="3548100" cy="1200"/>
          </a:xfrm>
          <a:prstGeom prst="straightConnector1">
            <a:avLst/>
          </a:prstGeom>
          <a:noFill/>
          <a:ln cap="flat" cmpd="sng" w="19050">
            <a:solidFill>
              <a:srgbClr val="04346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2" name="Google Shape;982;p132"/>
          <p:cNvCxnSpPr/>
          <p:nvPr/>
        </p:nvCxnSpPr>
        <p:spPr>
          <a:xfrm>
            <a:off x="1878225" y="2041475"/>
            <a:ext cx="0" cy="1055100"/>
          </a:xfrm>
          <a:prstGeom prst="straightConnector1">
            <a:avLst/>
          </a:prstGeom>
          <a:noFill/>
          <a:ln cap="flat" cmpd="sng" w="19050">
            <a:solidFill>
              <a:srgbClr val="04346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3" name="Google Shape;983;p132"/>
          <p:cNvCxnSpPr/>
          <p:nvPr/>
        </p:nvCxnSpPr>
        <p:spPr>
          <a:xfrm>
            <a:off x="2189325" y="1844075"/>
            <a:ext cx="3737700" cy="1419600"/>
          </a:xfrm>
          <a:prstGeom prst="straightConnector1">
            <a:avLst/>
          </a:prstGeom>
          <a:noFill/>
          <a:ln cap="flat" cmpd="sng" w="19050">
            <a:solidFill>
              <a:srgbClr val="04346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4" name="Google Shape;984;p132"/>
          <p:cNvCxnSpPr/>
          <p:nvPr/>
        </p:nvCxnSpPr>
        <p:spPr>
          <a:xfrm flipH="1">
            <a:off x="2253025" y="1897500"/>
            <a:ext cx="3790800" cy="1399500"/>
          </a:xfrm>
          <a:prstGeom prst="straightConnector1">
            <a:avLst/>
          </a:prstGeom>
          <a:noFill/>
          <a:ln cap="flat" cmpd="sng" w="19050">
            <a:solidFill>
              <a:srgbClr val="04346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985" name="Google Shape;985;p132"/>
          <p:cNvCxnSpPr/>
          <p:nvPr/>
        </p:nvCxnSpPr>
        <p:spPr>
          <a:xfrm>
            <a:off x="2301850" y="3508375"/>
            <a:ext cx="3548100" cy="4200"/>
          </a:xfrm>
          <a:prstGeom prst="straightConnector1">
            <a:avLst/>
          </a:prstGeom>
          <a:noFill/>
          <a:ln cap="flat" cmpd="sng" w="19050">
            <a:solidFill>
              <a:srgbClr val="04346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6" name="Google Shape;986;p132"/>
          <p:cNvCxnSpPr/>
          <p:nvPr/>
        </p:nvCxnSpPr>
        <p:spPr>
          <a:xfrm>
            <a:off x="6304250" y="2064575"/>
            <a:ext cx="0" cy="1014000"/>
          </a:xfrm>
          <a:prstGeom prst="straightConnector1">
            <a:avLst/>
          </a:prstGeom>
          <a:noFill/>
          <a:ln cap="flat" cmpd="sng" w="19050">
            <a:solidFill>
              <a:srgbClr val="04346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87" name="Google Shape;987;p132"/>
          <p:cNvGrpSpPr/>
          <p:nvPr/>
        </p:nvGrpSpPr>
        <p:grpSpPr>
          <a:xfrm>
            <a:off x="1592962" y="2163115"/>
            <a:ext cx="588900" cy="589200"/>
            <a:chOff x="773525" y="3175840"/>
            <a:chExt cx="588900" cy="589200"/>
          </a:xfrm>
        </p:grpSpPr>
        <p:sp>
          <p:nvSpPr>
            <p:cNvPr id="988" name="Google Shape;988;p132"/>
            <p:cNvSpPr/>
            <p:nvPr/>
          </p:nvSpPr>
          <p:spPr>
            <a:xfrm>
              <a:off x="773525" y="3175840"/>
              <a:ext cx="588900" cy="589200"/>
            </a:xfrm>
            <a:prstGeom prst="ellipse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9" name="Google Shape;989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7403" y="3311400"/>
              <a:ext cx="411512" cy="197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0" name="Google Shape;990;p132"/>
            <p:cNvSpPr txBox="1"/>
            <p:nvPr/>
          </p:nvSpPr>
          <p:spPr>
            <a:xfrm>
              <a:off x="857400" y="3496575"/>
              <a:ext cx="411600" cy="1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Key 1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991" name="Google Shape;991;p132"/>
          <p:cNvSpPr txBox="1"/>
          <p:nvPr/>
        </p:nvSpPr>
        <p:spPr>
          <a:xfrm>
            <a:off x="898057" y="1504528"/>
            <a:ext cx="588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Julie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2" name="Google Shape;992;p132"/>
          <p:cNvSpPr txBox="1"/>
          <p:nvPr/>
        </p:nvSpPr>
        <p:spPr>
          <a:xfrm>
            <a:off x="987669" y="3385225"/>
            <a:ext cx="511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Alice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3" name="Google Shape;993;p132"/>
          <p:cNvSpPr txBox="1"/>
          <p:nvPr/>
        </p:nvSpPr>
        <p:spPr>
          <a:xfrm>
            <a:off x="6645448" y="3385209"/>
            <a:ext cx="588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Bob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4" name="Google Shape;994;p132"/>
          <p:cNvSpPr txBox="1"/>
          <p:nvPr/>
        </p:nvSpPr>
        <p:spPr>
          <a:xfrm>
            <a:off x="6712825" y="1435725"/>
            <a:ext cx="46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Tim</a:t>
            </a:r>
            <a:endParaRPr b="1"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95" name="Google Shape;995;p132"/>
          <p:cNvGrpSpPr/>
          <p:nvPr/>
        </p:nvGrpSpPr>
        <p:grpSpPr>
          <a:xfrm>
            <a:off x="3795162" y="1327515"/>
            <a:ext cx="588900" cy="589200"/>
            <a:chOff x="773525" y="3175840"/>
            <a:chExt cx="588900" cy="589200"/>
          </a:xfrm>
        </p:grpSpPr>
        <p:sp>
          <p:nvSpPr>
            <p:cNvPr id="996" name="Google Shape;996;p132"/>
            <p:cNvSpPr/>
            <p:nvPr/>
          </p:nvSpPr>
          <p:spPr>
            <a:xfrm>
              <a:off x="773525" y="3175840"/>
              <a:ext cx="588900" cy="589200"/>
            </a:xfrm>
            <a:prstGeom prst="ellipse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97" name="Google Shape;997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7403" y="3311400"/>
              <a:ext cx="411512" cy="197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8" name="Google Shape;998;p132"/>
            <p:cNvSpPr txBox="1"/>
            <p:nvPr/>
          </p:nvSpPr>
          <p:spPr>
            <a:xfrm>
              <a:off x="857400" y="3496575"/>
              <a:ext cx="411600" cy="1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Key 2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99" name="Google Shape;999;p132"/>
          <p:cNvGrpSpPr/>
          <p:nvPr/>
        </p:nvGrpSpPr>
        <p:grpSpPr>
          <a:xfrm>
            <a:off x="4673200" y="2569215"/>
            <a:ext cx="588900" cy="589200"/>
            <a:chOff x="773525" y="3175840"/>
            <a:chExt cx="588900" cy="589200"/>
          </a:xfrm>
        </p:grpSpPr>
        <p:sp>
          <p:nvSpPr>
            <p:cNvPr id="1000" name="Google Shape;1000;p132"/>
            <p:cNvSpPr/>
            <p:nvPr/>
          </p:nvSpPr>
          <p:spPr>
            <a:xfrm>
              <a:off x="773525" y="3175840"/>
              <a:ext cx="588900" cy="589200"/>
            </a:xfrm>
            <a:prstGeom prst="ellipse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01" name="Google Shape;1001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7403" y="3311400"/>
              <a:ext cx="411512" cy="197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132"/>
            <p:cNvSpPr txBox="1"/>
            <p:nvPr/>
          </p:nvSpPr>
          <p:spPr>
            <a:xfrm>
              <a:off x="857400" y="3496575"/>
              <a:ext cx="411600" cy="1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Key 3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3" name="Google Shape;1003;p132"/>
          <p:cNvGrpSpPr/>
          <p:nvPr/>
        </p:nvGrpSpPr>
        <p:grpSpPr>
          <a:xfrm>
            <a:off x="3040950" y="2569215"/>
            <a:ext cx="588900" cy="589200"/>
            <a:chOff x="773525" y="3175840"/>
            <a:chExt cx="588900" cy="589200"/>
          </a:xfrm>
        </p:grpSpPr>
        <p:sp>
          <p:nvSpPr>
            <p:cNvPr id="1004" name="Google Shape;1004;p132"/>
            <p:cNvSpPr/>
            <p:nvPr/>
          </p:nvSpPr>
          <p:spPr>
            <a:xfrm>
              <a:off x="773525" y="3175840"/>
              <a:ext cx="588900" cy="589200"/>
            </a:xfrm>
            <a:prstGeom prst="ellipse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05" name="Google Shape;1005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7403" y="3311400"/>
              <a:ext cx="411512" cy="197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132"/>
            <p:cNvSpPr txBox="1"/>
            <p:nvPr/>
          </p:nvSpPr>
          <p:spPr>
            <a:xfrm>
              <a:off x="857400" y="3496575"/>
              <a:ext cx="411600" cy="1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Key 4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07" name="Google Shape;1007;p132"/>
          <p:cNvGrpSpPr/>
          <p:nvPr/>
        </p:nvGrpSpPr>
        <p:grpSpPr>
          <a:xfrm>
            <a:off x="3793098" y="3207910"/>
            <a:ext cx="588900" cy="589200"/>
            <a:chOff x="773525" y="3175840"/>
            <a:chExt cx="588900" cy="589200"/>
          </a:xfrm>
        </p:grpSpPr>
        <p:sp>
          <p:nvSpPr>
            <p:cNvPr id="1008" name="Google Shape;1008;p132"/>
            <p:cNvSpPr/>
            <p:nvPr/>
          </p:nvSpPr>
          <p:spPr>
            <a:xfrm>
              <a:off x="773525" y="3175840"/>
              <a:ext cx="588900" cy="589200"/>
            </a:xfrm>
            <a:prstGeom prst="ellipse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09" name="Google Shape;1009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7403" y="3311400"/>
              <a:ext cx="411512" cy="197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0" name="Google Shape;1010;p132"/>
            <p:cNvSpPr txBox="1"/>
            <p:nvPr/>
          </p:nvSpPr>
          <p:spPr>
            <a:xfrm>
              <a:off x="857400" y="3496575"/>
              <a:ext cx="411600" cy="1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Key 5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1" name="Google Shape;1011;p132"/>
          <p:cNvGrpSpPr/>
          <p:nvPr/>
        </p:nvGrpSpPr>
        <p:grpSpPr>
          <a:xfrm>
            <a:off x="6011600" y="2225615"/>
            <a:ext cx="588900" cy="589200"/>
            <a:chOff x="773525" y="3175840"/>
            <a:chExt cx="588900" cy="589200"/>
          </a:xfrm>
        </p:grpSpPr>
        <p:sp>
          <p:nvSpPr>
            <p:cNvPr id="1012" name="Google Shape;1012;p132"/>
            <p:cNvSpPr/>
            <p:nvPr/>
          </p:nvSpPr>
          <p:spPr>
            <a:xfrm>
              <a:off x="773525" y="3175840"/>
              <a:ext cx="588900" cy="589200"/>
            </a:xfrm>
            <a:prstGeom prst="ellipse">
              <a:avLst/>
            </a:prstGeom>
            <a:solidFill>
              <a:srgbClr val="04346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13" name="Google Shape;1013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7403" y="3311400"/>
              <a:ext cx="411512" cy="19786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4" name="Google Shape;1014;p132"/>
            <p:cNvSpPr txBox="1"/>
            <p:nvPr/>
          </p:nvSpPr>
          <p:spPr>
            <a:xfrm>
              <a:off x="857400" y="3496575"/>
              <a:ext cx="411600" cy="1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Key 6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15" name="Google Shape;1015;p132"/>
          <p:cNvGrpSpPr/>
          <p:nvPr/>
        </p:nvGrpSpPr>
        <p:grpSpPr>
          <a:xfrm>
            <a:off x="-2184537" y="1541514"/>
            <a:ext cx="774300" cy="774300"/>
            <a:chOff x="-2379912" y="1037564"/>
            <a:chExt cx="774300" cy="774300"/>
          </a:xfrm>
        </p:grpSpPr>
        <p:sp>
          <p:nvSpPr>
            <p:cNvPr id="1016" name="Google Shape;1016;p132"/>
            <p:cNvSpPr/>
            <p:nvPr/>
          </p:nvSpPr>
          <p:spPr>
            <a:xfrm>
              <a:off x="-2379912" y="1037564"/>
              <a:ext cx="774300" cy="774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1017" name="Google Shape;1017;p132"/>
            <p:cNvPicPr preferRelativeResize="0"/>
            <p:nvPr/>
          </p:nvPicPr>
          <p:blipFill rotWithShape="1">
            <a:blip r:embed="rId6">
              <a:alphaModFix/>
            </a:blip>
            <a:srcRect b="65975" l="0" r="0" t="-2950"/>
            <a:stretch/>
          </p:blipFill>
          <p:spPr>
            <a:xfrm>
              <a:off x="-2225400" y="1090980"/>
              <a:ext cx="465275" cy="589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8" name="Google Shape;1018;p132"/>
          <p:cNvSpPr txBox="1"/>
          <p:nvPr/>
        </p:nvSpPr>
        <p:spPr>
          <a:xfrm>
            <a:off x="334000" y="4201925"/>
            <a:ext cx="78957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Symmetric key cryptography between two parties only requires managing one key. But there needs to be a key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each combination of individuals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19" name="Google Shape;1019;p1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08012" y="1261925"/>
            <a:ext cx="731519" cy="73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1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39712" y="1261925"/>
            <a:ext cx="731519" cy="73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1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39700" y="3142613"/>
            <a:ext cx="731519" cy="731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1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21645" y="3142612"/>
            <a:ext cx="731519" cy="731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13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Management and Exchange</a:t>
            </a:r>
            <a:endParaRPr/>
          </a:p>
        </p:txBody>
      </p:sp>
      <p:sp>
        <p:nvSpPr>
          <p:cNvPr id="1028" name="Google Shape;1028;p1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 of symmetric keys = (N * (N-1))/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9" name="Google Shape;1029;p133"/>
          <p:cNvPicPr preferRelativeResize="0"/>
          <p:nvPr/>
        </p:nvPicPr>
        <p:blipFill rotWithShape="1">
          <a:blip r:embed="rId3">
            <a:alphaModFix/>
          </a:blip>
          <a:srcRect b="709" l="0" r="0" t="709"/>
          <a:stretch/>
        </p:blipFill>
        <p:spPr>
          <a:xfrm>
            <a:off x="252364" y="250349"/>
            <a:ext cx="409675" cy="41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133"/>
          <p:cNvSpPr txBox="1"/>
          <p:nvPr/>
        </p:nvSpPr>
        <p:spPr>
          <a:xfrm>
            <a:off x="457203" y="1371600"/>
            <a:ext cx="3765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28600" spcFirstLastPara="1" rIns="91425" wrap="square" tIns="91425">
            <a:noAutofit/>
          </a:bodyPr>
          <a:lstStyle/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 an organization with 7 employees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1" name="Google Shape;1031;p133"/>
          <p:cNvSpPr txBox="1"/>
          <p:nvPr/>
        </p:nvSpPr>
        <p:spPr>
          <a:xfrm>
            <a:off x="503925" y="2017138"/>
            <a:ext cx="34926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(7 * 6) / 2 = 42 / 2 =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21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2" name="Google Shape;1032;p133"/>
          <p:cNvSpPr txBox="1"/>
          <p:nvPr/>
        </p:nvSpPr>
        <p:spPr>
          <a:xfrm>
            <a:off x="4937950" y="2017138"/>
            <a:ext cx="3649200" cy="24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(1,000 * 999) / 2 =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499,500</a:t>
            </a: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‬</a:t>
            </a:r>
            <a:endParaRPr b="1"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133"/>
          <p:cNvSpPr txBox="1"/>
          <p:nvPr/>
        </p:nvSpPr>
        <p:spPr>
          <a:xfrm>
            <a:off x="4862703" y="1371600"/>
            <a:ext cx="40242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228600" spcFirstLastPara="1" rIns="91425" wrap="square" tIns="91425">
            <a:noAutofit/>
          </a:bodyPr>
          <a:lstStyle/>
          <a:p>
            <a:pPr indent="-5715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For an organization with 1,000 employees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34" name="Google Shape;1034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7525" y="3014075"/>
            <a:ext cx="1346000" cy="3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5" name="Google Shape;1035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7137" y="2419329"/>
            <a:ext cx="3923223" cy="2572771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133"/>
          <p:cNvSpPr/>
          <p:nvPr/>
        </p:nvSpPr>
        <p:spPr>
          <a:xfrm>
            <a:off x="310725" y="1556188"/>
            <a:ext cx="3879000" cy="4137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For an organization with 7 employees: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133"/>
          <p:cNvSpPr/>
          <p:nvPr/>
        </p:nvSpPr>
        <p:spPr>
          <a:xfrm>
            <a:off x="4823050" y="1546900"/>
            <a:ext cx="3879000" cy="4137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For an organization with 1,000 employees: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34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Asymmetric/Public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Key Cryptography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3" name="Google Shape;1043;p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0232" y="1472355"/>
            <a:ext cx="1963536" cy="12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35"/>
          <p:cNvSpPr txBox="1"/>
          <p:nvPr>
            <p:ph idx="1" type="body"/>
          </p:nvPr>
        </p:nvSpPr>
        <p:spPr>
          <a:xfrm>
            <a:off x="3312775" y="1377275"/>
            <a:ext cx="56430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Symmetric key disadvantages can be addressed with </a:t>
            </a:r>
            <a:r>
              <a:rPr b="1" lang="en" sz="3300"/>
              <a:t>asymmetric key encryption</a:t>
            </a:r>
            <a:r>
              <a:rPr lang="en" sz="3300"/>
              <a:t>.</a:t>
            </a:r>
            <a:endParaRPr sz="3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136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Asymmetric Key Encryption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4" name="Google Shape;1054;p136"/>
          <p:cNvSpPr txBox="1"/>
          <p:nvPr/>
        </p:nvSpPr>
        <p:spPr>
          <a:xfrm>
            <a:off x="7620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Each individual possesses a two-key pair: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5" name="Google Shape;1055;p136"/>
          <p:cNvSpPr txBox="1"/>
          <p:nvPr>
            <p:ph idx="4294967295" type="body"/>
          </p:nvPr>
        </p:nvSpPr>
        <p:spPr>
          <a:xfrm>
            <a:off x="3359900" y="4129900"/>
            <a:ext cx="5364900" cy="6612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Like symmetric keys, these public and private </a:t>
            </a:r>
            <a:br>
              <a:rPr lang="en" sz="1600"/>
            </a:br>
            <a:r>
              <a:rPr lang="en" sz="1600"/>
              <a:t>keys are typically a random </a:t>
            </a:r>
            <a:r>
              <a:rPr lang="en" sz="1600"/>
              <a:t>alphanumeric</a:t>
            </a:r>
            <a:r>
              <a:rPr lang="en" sz="1600"/>
              <a:t> string. </a:t>
            </a:r>
            <a:endParaRPr sz="1600"/>
          </a:p>
        </p:txBody>
      </p:sp>
      <p:grpSp>
        <p:nvGrpSpPr>
          <p:cNvPr id="1056" name="Google Shape;1056;p136"/>
          <p:cNvGrpSpPr/>
          <p:nvPr/>
        </p:nvGrpSpPr>
        <p:grpSpPr>
          <a:xfrm>
            <a:off x="3800175" y="1298175"/>
            <a:ext cx="1058400" cy="1058400"/>
            <a:chOff x="2419175" y="3422025"/>
            <a:chExt cx="1058400" cy="1058400"/>
          </a:xfrm>
        </p:grpSpPr>
        <p:sp>
          <p:nvSpPr>
            <p:cNvPr id="1057" name="Google Shape;1057;p136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58" name="Google Shape;1058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9" name="Google Shape;1059;p136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Private Key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60" name="Google Shape;1060;p136"/>
          <p:cNvGrpSpPr/>
          <p:nvPr/>
        </p:nvGrpSpPr>
        <p:grpSpPr>
          <a:xfrm>
            <a:off x="3800185" y="2771725"/>
            <a:ext cx="1058400" cy="1058400"/>
            <a:chOff x="2419175" y="3422025"/>
            <a:chExt cx="1058400" cy="1058400"/>
          </a:xfrm>
        </p:grpSpPr>
        <p:sp>
          <p:nvSpPr>
            <p:cNvPr id="1061" name="Google Shape;1061;p136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62" name="Google Shape;1062;p1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3" name="Google Shape;1063;p136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Public Key</a:t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1064" name="Google Shape;1064;p136"/>
          <p:cNvCxnSpPr>
            <a:endCxn id="1057" idx="2"/>
          </p:cNvCxnSpPr>
          <p:nvPr/>
        </p:nvCxnSpPr>
        <p:spPr>
          <a:xfrm flipH="1" rot="10800000">
            <a:off x="2173575" y="1827375"/>
            <a:ext cx="1626600" cy="9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5" name="Google Shape;1065;p136"/>
          <p:cNvCxnSpPr>
            <a:endCxn id="1061" idx="2"/>
          </p:cNvCxnSpPr>
          <p:nvPr/>
        </p:nvCxnSpPr>
        <p:spPr>
          <a:xfrm>
            <a:off x="2173585" y="2763025"/>
            <a:ext cx="1626600" cy="5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6" name="Google Shape;1066;p136"/>
          <p:cNvSpPr txBox="1"/>
          <p:nvPr>
            <p:ph idx="4294967295" type="body"/>
          </p:nvPr>
        </p:nvSpPr>
        <p:spPr>
          <a:xfrm>
            <a:off x="5211300" y="3072625"/>
            <a:ext cx="3444900" cy="45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Public keys</a:t>
            </a:r>
            <a:r>
              <a:rPr lang="en" sz="1600"/>
              <a:t> are public and accessible to all.</a:t>
            </a:r>
            <a:endParaRPr sz="1600"/>
          </a:p>
        </p:txBody>
      </p:sp>
      <p:sp>
        <p:nvSpPr>
          <p:cNvPr id="1067" name="Google Shape;1067;p136"/>
          <p:cNvSpPr txBox="1"/>
          <p:nvPr>
            <p:ph idx="4294967295" type="subTitle"/>
          </p:nvPr>
        </p:nvSpPr>
        <p:spPr>
          <a:xfrm>
            <a:off x="5211300" y="1480275"/>
            <a:ext cx="3262800" cy="92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/>
              <a:t>Private keys </a:t>
            </a:r>
            <a:r>
              <a:rPr lang="en" sz="1600"/>
              <a:t>are kept secret and can affect the confidentiality of messages if exposed.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068" name="Google Shape;1068;p136"/>
          <p:cNvPicPr preferRelativeResize="0"/>
          <p:nvPr/>
        </p:nvPicPr>
        <p:blipFill rotWithShape="1">
          <a:blip r:embed="rId4">
            <a:alphaModFix/>
          </a:blip>
          <a:srcRect b="30977" l="0" r="0" t="0"/>
          <a:stretch/>
        </p:blipFill>
        <p:spPr>
          <a:xfrm>
            <a:off x="1009450" y="1298175"/>
            <a:ext cx="1626600" cy="384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37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Asymmetric Key Encryption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137"/>
          <p:cNvSpPr txBox="1"/>
          <p:nvPr/>
        </p:nvSpPr>
        <p:spPr>
          <a:xfrm>
            <a:off x="76200" y="599775"/>
            <a:ext cx="7914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Tim wants to send Julie his bank account number using asymmetric key encryption.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5" name="Google Shape;1075;p137"/>
          <p:cNvSpPr txBox="1"/>
          <p:nvPr>
            <p:ph idx="4294967295" type="subTitle"/>
          </p:nvPr>
        </p:nvSpPr>
        <p:spPr>
          <a:xfrm>
            <a:off x="4824800" y="2973488"/>
            <a:ext cx="1741800" cy="549300"/>
          </a:xfrm>
          <a:prstGeom prst="rect">
            <a:avLst/>
          </a:prstGeom>
          <a:solidFill>
            <a:srgbClr val="F3F3F3"/>
          </a:solidFill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Julie will have </a:t>
            </a:r>
            <a:br>
              <a:rPr lang="en" sz="1500"/>
            </a:br>
            <a:r>
              <a:rPr lang="en" sz="1500"/>
              <a:t>a public and </a:t>
            </a:r>
            <a:br>
              <a:rPr lang="en" sz="1500"/>
            </a:br>
            <a:r>
              <a:rPr lang="en" sz="1500"/>
              <a:t>a private key</a:t>
            </a:r>
            <a:r>
              <a:rPr lang="en" sz="1400"/>
              <a:t>. </a:t>
            </a:r>
            <a:endParaRPr sz="1400"/>
          </a:p>
        </p:txBody>
      </p:sp>
      <p:cxnSp>
        <p:nvCxnSpPr>
          <p:cNvPr id="1076" name="Google Shape;1076;p137"/>
          <p:cNvCxnSpPr/>
          <p:nvPr/>
        </p:nvCxnSpPr>
        <p:spPr>
          <a:xfrm>
            <a:off x="1939375" y="3480299"/>
            <a:ext cx="931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7" name="Google Shape;1077;p137"/>
          <p:cNvSpPr txBox="1"/>
          <p:nvPr>
            <p:ph idx="4294967295" type="subTitle"/>
          </p:nvPr>
        </p:nvSpPr>
        <p:spPr>
          <a:xfrm>
            <a:off x="7130150" y="3859300"/>
            <a:ext cx="1860900" cy="63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/>
              <a:t>The public key</a:t>
            </a:r>
            <a:br>
              <a:rPr lang="en" sz="1500"/>
            </a:br>
            <a:r>
              <a:rPr lang="en" sz="1500"/>
              <a:t>Is truly public, accessible on </a:t>
            </a:r>
            <a:br>
              <a:rPr lang="en" sz="1500"/>
            </a:br>
            <a:r>
              <a:rPr lang="en" sz="1500"/>
              <a:t>Julie’s </a:t>
            </a:r>
            <a:r>
              <a:rPr lang="en" sz="1500"/>
              <a:t>website</a:t>
            </a:r>
            <a:r>
              <a:rPr lang="en" sz="1500"/>
              <a:t>. </a:t>
            </a:r>
            <a:endParaRPr sz="1500"/>
          </a:p>
        </p:txBody>
      </p:sp>
      <p:cxnSp>
        <p:nvCxnSpPr>
          <p:cNvPr id="1078" name="Google Shape;1078;p137"/>
          <p:cNvCxnSpPr>
            <a:endCxn id="1079" idx="2"/>
          </p:cNvCxnSpPr>
          <p:nvPr/>
        </p:nvCxnSpPr>
        <p:spPr>
          <a:xfrm flipH="1" rot="10800000">
            <a:off x="4098050" y="2125075"/>
            <a:ext cx="1860600" cy="124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0" name="Google Shape;1080;p137"/>
          <p:cNvCxnSpPr>
            <a:endCxn id="1081" idx="2"/>
          </p:cNvCxnSpPr>
          <p:nvPr/>
        </p:nvCxnSpPr>
        <p:spPr>
          <a:xfrm>
            <a:off x="4097760" y="3372687"/>
            <a:ext cx="1860900" cy="71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82" name="Google Shape;1082;p137"/>
          <p:cNvPicPr preferRelativeResize="0"/>
          <p:nvPr/>
        </p:nvPicPr>
        <p:blipFill rotWithShape="1">
          <a:blip r:embed="rId3">
            <a:alphaModFix/>
          </a:blip>
          <a:srcRect b="31964" l="-9082" r="-2362" t="-6352"/>
          <a:stretch/>
        </p:blipFill>
        <p:spPr>
          <a:xfrm>
            <a:off x="2811350" y="1407625"/>
            <a:ext cx="1634100" cy="373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137"/>
          <p:cNvPicPr preferRelativeResize="0"/>
          <p:nvPr/>
        </p:nvPicPr>
        <p:blipFill rotWithShape="1">
          <a:blip r:embed="rId4">
            <a:alphaModFix/>
          </a:blip>
          <a:srcRect b="28432" l="-12913" r="-7437" t="-3372"/>
          <a:stretch/>
        </p:blipFill>
        <p:spPr>
          <a:xfrm>
            <a:off x="53775" y="1298175"/>
            <a:ext cx="1957550" cy="38453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4" name="Google Shape;1084;p137"/>
          <p:cNvGrpSpPr/>
          <p:nvPr/>
        </p:nvGrpSpPr>
        <p:grpSpPr>
          <a:xfrm>
            <a:off x="5958650" y="1595875"/>
            <a:ext cx="1058400" cy="1058400"/>
            <a:chOff x="2419175" y="3422025"/>
            <a:chExt cx="1058400" cy="1058400"/>
          </a:xfrm>
        </p:grpSpPr>
        <p:sp>
          <p:nvSpPr>
            <p:cNvPr id="1085" name="Google Shape;1085;p137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86" name="Google Shape;1086;p1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137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Private Key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88" name="Google Shape;1088;p137"/>
          <p:cNvGrpSpPr/>
          <p:nvPr/>
        </p:nvGrpSpPr>
        <p:grpSpPr>
          <a:xfrm>
            <a:off x="5958660" y="3650050"/>
            <a:ext cx="1058400" cy="1058400"/>
            <a:chOff x="2419175" y="3422025"/>
            <a:chExt cx="1058400" cy="1058400"/>
          </a:xfrm>
        </p:grpSpPr>
        <p:sp>
          <p:nvSpPr>
            <p:cNvPr id="1089" name="Google Shape;1089;p137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90" name="Google Shape;1090;p1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1" name="Google Shape;1091;p137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Public Key</a:t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138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Asymmetric Key Encryption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7" name="Google Shape;1097;p138"/>
          <p:cNvSpPr txBox="1"/>
          <p:nvPr/>
        </p:nvSpPr>
        <p:spPr>
          <a:xfrm>
            <a:off x="76200" y="599775"/>
            <a:ext cx="826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Tim wants to send Julie his bank account number using asymmetric key encryption.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98" name="Google Shape;1098;p138"/>
          <p:cNvPicPr preferRelativeResize="0"/>
          <p:nvPr/>
        </p:nvPicPr>
        <p:blipFill rotWithShape="1">
          <a:blip r:embed="rId3">
            <a:alphaModFix/>
          </a:blip>
          <a:srcRect b="28432" l="-12913" r="-7437" t="-3372"/>
          <a:stretch/>
        </p:blipFill>
        <p:spPr>
          <a:xfrm>
            <a:off x="53775" y="1298175"/>
            <a:ext cx="1957550" cy="3845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9" name="Google Shape;1099;p138"/>
          <p:cNvCxnSpPr/>
          <p:nvPr/>
        </p:nvCxnSpPr>
        <p:spPr>
          <a:xfrm>
            <a:off x="2082025" y="3089049"/>
            <a:ext cx="90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00" name="Google Shape;1100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9801" y="2415950"/>
            <a:ext cx="977348" cy="12281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1" name="Google Shape;1101;p138"/>
          <p:cNvCxnSpPr/>
          <p:nvPr/>
        </p:nvCxnSpPr>
        <p:spPr>
          <a:xfrm>
            <a:off x="6005960" y="2048886"/>
            <a:ext cx="0" cy="94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02" name="Google Shape;1102;p138"/>
          <p:cNvGrpSpPr/>
          <p:nvPr/>
        </p:nvGrpSpPr>
        <p:grpSpPr>
          <a:xfrm>
            <a:off x="7706726" y="2415604"/>
            <a:ext cx="977348" cy="1228184"/>
            <a:chOff x="7097126" y="2415604"/>
            <a:chExt cx="977348" cy="1228184"/>
          </a:xfrm>
        </p:grpSpPr>
        <p:pic>
          <p:nvPicPr>
            <p:cNvPr id="1103" name="Google Shape;1103;p13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97126" y="2415604"/>
              <a:ext cx="977348" cy="1228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4" name="Google Shape;1104;p138"/>
            <p:cNvSpPr txBox="1"/>
            <p:nvPr/>
          </p:nvSpPr>
          <p:spPr>
            <a:xfrm>
              <a:off x="7162800" y="2694025"/>
              <a:ext cx="768300" cy="86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35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LXFOPVEFRNHR#4&amp;/j2</a:t>
              </a:r>
              <a:endParaRPr b="1" sz="135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sp>
        <p:nvSpPr>
          <p:cNvPr id="1105" name="Google Shape;1105;p138"/>
          <p:cNvSpPr txBox="1"/>
          <p:nvPr>
            <p:ph idx="4294967295" type="subTitle"/>
          </p:nvPr>
        </p:nvSpPr>
        <p:spPr>
          <a:xfrm>
            <a:off x="2841375" y="3824225"/>
            <a:ext cx="1647600" cy="7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Tim creates a </a:t>
            </a:r>
            <a:r>
              <a:rPr lang="en" sz="1500">
                <a:latin typeface="Roboto"/>
                <a:ea typeface="Roboto"/>
                <a:cs typeface="Roboto"/>
                <a:sym typeface="Roboto"/>
              </a:rPr>
              <a:t>plaintext message</a:t>
            </a:r>
            <a:r>
              <a:rPr lang="en" sz="1500"/>
              <a:t> containing his bank account number.</a:t>
            </a:r>
            <a:endParaRPr sz="1500"/>
          </a:p>
        </p:txBody>
      </p:sp>
      <p:sp>
        <p:nvSpPr>
          <p:cNvPr id="1106" name="Google Shape;1106;p138"/>
          <p:cNvSpPr txBox="1"/>
          <p:nvPr>
            <p:ph idx="4294967295" type="subTitle"/>
          </p:nvPr>
        </p:nvSpPr>
        <p:spPr>
          <a:xfrm>
            <a:off x="5212625" y="3824225"/>
            <a:ext cx="2022600" cy="9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Tim goes to Julie’s website, obtains her </a:t>
            </a:r>
            <a:br>
              <a:rPr lang="en" sz="1500"/>
            </a:br>
            <a:r>
              <a:rPr lang="en" sz="1500">
                <a:latin typeface="Roboto"/>
                <a:ea typeface="Roboto"/>
                <a:cs typeface="Roboto"/>
                <a:sym typeface="Roboto"/>
              </a:rPr>
              <a:t>public key</a:t>
            </a:r>
            <a:r>
              <a:rPr lang="en" sz="1500"/>
              <a:t>, and uses it </a:t>
            </a:r>
            <a:br>
              <a:rPr lang="en" sz="1500"/>
            </a:br>
            <a:r>
              <a:rPr lang="en" sz="1500"/>
              <a:t>to encrypt his message</a:t>
            </a:r>
            <a:r>
              <a:rPr lang="en" sz="1400"/>
              <a:t>. </a:t>
            </a:r>
            <a:endParaRPr sz="1400"/>
          </a:p>
        </p:txBody>
      </p:sp>
      <p:pic>
        <p:nvPicPr>
          <p:cNvPr id="1107" name="Google Shape;1107;p138"/>
          <p:cNvPicPr preferRelativeResize="0"/>
          <p:nvPr/>
        </p:nvPicPr>
        <p:blipFill rotWithShape="1">
          <a:blip r:embed="rId6">
            <a:alphaModFix/>
          </a:blip>
          <a:srcRect b="64246" l="2714" r="2714" t="-3347"/>
          <a:stretch/>
        </p:blipFill>
        <p:spPr>
          <a:xfrm>
            <a:off x="5583560" y="1095375"/>
            <a:ext cx="844800" cy="1196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08" name="Google Shape;1108;p138"/>
          <p:cNvCxnSpPr/>
          <p:nvPr/>
        </p:nvCxnSpPr>
        <p:spPr>
          <a:xfrm>
            <a:off x="4247525" y="3089049"/>
            <a:ext cx="1088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138"/>
          <p:cNvCxnSpPr/>
          <p:nvPr/>
        </p:nvCxnSpPr>
        <p:spPr>
          <a:xfrm>
            <a:off x="6695875" y="3089049"/>
            <a:ext cx="90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10" name="Google Shape;1110;p138"/>
          <p:cNvGrpSpPr/>
          <p:nvPr/>
        </p:nvGrpSpPr>
        <p:grpSpPr>
          <a:xfrm>
            <a:off x="5486560" y="2559850"/>
            <a:ext cx="1058400" cy="1058400"/>
            <a:chOff x="2419175" y="3422025"/>
            <a:chExt cx="1058400" cy="1058400"/>
          </a:xfrm>
        </p:grpSpPr>
        <p:sp>
          <p:nvSpPr>
            <p:cNvPr id="1111" name="Google Shape;1111;p138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12" name="Google Shape;1112;p138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138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Public Key</a:t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139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Asymmetric Key Encryption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9" name="Google Shape;1119;p139"/>
          <p:cNvSpPr txBox="1"/>
          <p:nvPr/>
        </p:nvSpPr>
        <p:spPr>
          <a:xfrm>
            <a:off x="76200" y="599775"/>
            <a:ext cx="79908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Tim wants to send Julie his bank account number using asymmetric key encryption.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0" name="Google Shape;1120;p139"/>
          <p:cNvPicPr preferRelativeResize="0"/>
          <p:nvPr/>
        </p:nvPicPr>
        <p:blipFill rotWithShape="1">
          <a:blip r:embed="rId3">
            <a:alphaModFix/>
          </a:blip>
          <a:srcRect b="28432" l="-12913" r="-7437" t="-3372"/>
          <a:stretch/>
        </p:blipFill>
        <p:spPr>
          <a:xfrm>
            <a:off x="53775" y="1298175"/>
            <a:ext cx="1957550" cy="384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39"/>
          <p:cNvSpPr txBox="1"/>
          <p:nvPr>
            <p:ph idx="4294967295" type="body"/>
          </p:nvPr>
        </p:nvSpPr>
        <p:spPr>
          <a:xfrm>
            <a:off x="2379474" y="3836175"/>
            <a:ext cx="1497600" cy="7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Tim sends 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encrypted </a:t>
            </a:r>
            <a:br>
              <a:rPr lang="en" sz="1500"/>
            </a:br>
            <a:r>
              <a:rPr lang="en" sz="1500"/>
              <a:t>message to Julie.</a:t>
            </a:r>
            <a:r>
              <a:rPr lang="en" sz="1400"/>
              <a:t> </a:t>
            </a:r>
            <a:endParaRPr sz="1400"/>
          </a:p>
        </p:txBody>
      </p:sp>
      <p:sp>
        <p:nvSpPr>
          <p:cNvPr id="1122" name="Google Shape;1122;p139"/>
          <p:cNvSpPr txBox="1"/>
          <p:nvPr>
            <p:ph idx="4294967295" type="body"/>
          </p:nvPr>
        </p:nvSpPr>
        <p:spPr>
          <a:xfrm>
            <a:off x="6781875" y="3836175"/>
            <a:ext cx="2211000" cy="94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The message can only </a:t>
            </a:r>
            <a:br>
              <a:rPr lang="en" sz="1500"/>
            </a:br>
            <a:r>
              <a:rPr lang="en" sz="1500"/>
              <a:t>be decrypted by Julie with her matching private key</a:t>
            </a:r>
            <a:r>
              <a:rPr lang="en" sz="1400"/>
              <a:t>.</a:t>
            </a:r>
            <a:endParaRPr sz="1400"/>
          </a:p>
        </p:txBody>
      </p:sp>
      <p:pic>
        <p:nvPicPr>
          <p:cNvPr id="1123" name="Google Shape;1123;p139"/>
          <p:cNvPicPr preferRelativeResize="0"/>
          <p:nvPr/>
        </p:nvPicPr>
        <p:blipFill rotWithShape="1">
          <a:blip r:embed="rId4">
            <a:alphaModFix/>
          </a:blip>
          <a:srcRect b="15803" l="0" r="0" t="0"/>
          <a:stretch/>
        </p:blipFill>
        <p:spPr>
          <a:xfrm>
            <a:off x="4491338" y="2713126"/>
            <a:ext cx="1867125" cy="737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124" name="Google Shape;1124;p139"/>
          <p:cNvGrpSpPr/>
          <p:nvPr/>
        </p:nvGrpSpPr>
        <p:grpSpPr>
          <a:xfrm>
            <a:off x="2595351" y="2496316"/>
            <a:ext cx="977348" cy="1228184"/>
            <a:chOff x="7097126" y="2415604"/>
            <a:chExt cx="977348" cy="1228184"/>
          </a:xfrm>
        </p:grpSpPr>
        <p:pic>
          <p:nvPicPr>
            <p:cNvPr id="1125" name="Google Shape;1125;p13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097126" y="2415604"/>
              <a:ext cx="977348" cy="1228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6" name="Google Shape;1126;p139"/>
            <p:cNvSpPr txBox="1"/>
            <p:nvPr/>
          </p:nvSpPr>
          <p:spPr>
            <a:xfrm>
              <a:off x="7176750" y="2742463"/>
              <a:ext cx="7542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35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LXFOPVEFRNHR#4&amp;/j2</a:t>
              </a:r>
              <a:endParaRPr b="1" sz="135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sp>
        <p:nvSpPr>
          <p:cNvPr id="1127" name="Google Shape;1127;p139"/>
          <p:cNvSpPr txBox="1"/>
          <p:nvPr>
            <p:ph idx="4294967295" type="subTitle"/>
          </p:nvPr>
        </p:nvSpPr>
        <p:spPr>
          <a:xfrm>
            <a:off x="4505975" y="3836175"/>
            <a:ext cx="1957500" cy="73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This can be sent over email or Slack without fear of interception. </a:t>
            </a:r>
            <a:endParaRPr sz="1500"/>
          </a:p>
        </p:txBody>
      </p:sp>
      <p:cxnSp>
        <p:nvCxnSpPr>
          <p:cNvPr id="1128" name="Google Shape;1128;p139"/>
          <p:cNvCxnSpPr/>
          <p:nvPr/>
        </p:nvCxnSpPr>
        <p:spPr>
          <a:xfrm>
            <a:off x="1782626" y="3109670"/>
            <a:ext cx="754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9" name="Google Shape;1129;p139"/>
          <p:cNvCxnSpPr/>
          <p:nvPr/>
        </p:nvCxnSpPr>
        <p:spPr>
          <a:xfrm>
            <a:off x="3645726" y="3109670"/>
            <a:ext cx="754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0" name="Google Shape;1130;p139"/>
          <p:cNvCxnSpPr/>
          <p:nvPr/>
        </p:nvCxnSpPr>
        <p:spPr>
          <a:xfrm>
            <a:off x="6449864" y="3109670"/>
            <a:ext cx="7542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1" name="Google Shape;1131;p139"/>
          <p:cNvCxnSpPr/>
          <p:nvPr/>
        </p:nvCxnSpPr>
        <p:spPr>
          <a:xfrm>
            <a:off x="7848385" y="2048886"/>
            <a:ext cx="0" cy="941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32" name="Google Shape;1132;p139"/>
          <p:cNvPicPr preferRelativeResize="0"/>
          <p:nvPr/>
        </p:nvPicPr>
        <p:blipFill rotWithShape="1">
          <a:blip r:embed="rId6">
            <a:alphaModFix/>
          </a:blip>
          <a:srcRect b="64246" l="2714" r="2714" t="-3347"/>
          <a:stretch/>
        </p:blipFill>
        <p:spPr>
          <a:xfrm>
            <a:off x="7416185" y="1095375"/>
            <a:ext cx="844800" cy="119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3" name="Google Shape;1133;p139"/>
          <p:cNvGrpSpPr/>
          <p:nvPr/>
        </p:nvGrpSpPr>
        <p:grpSpPr>
          <a:xfrm>
            <a:off x="7319185" y="2559850"/>
            <a:ext cx="1058400" cy="1058400"/>
            <a:chOff x="2419175" y="3422025"/>
            <a:chExt cx="1058400" cy="1058400"/>
          </a:xfrm>
        </p:grpSpPr>
        <p:sp>
          <p:nvSpPr>
            <p:cNvPr id="1134" name="Google Shape;1134;p139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5" name="Google Shape;1135;p139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139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Public Key</a:t>
              </a:r>
              <a:endParaRPr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140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Asymmetric Key Encryption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2" name="Google Shape;1142;p140"/>
          <p:cNvSpPr txBox="1"/>
          <p:nvPr/>
        </p:nvSpPr>
        <p:spPr>
          <a:xfrm>
            <a:off x="76200" y="599775"/>
            <a:ext cx="8429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Tim wants to send Julie his bank account number using asymmetric key encryption.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43" name="Google Shape;1143;p140"/>
          <p:cNvPicPr preferRelativeResize="0"/>
          <p:nvPr/>
        </p:nvPicPr>
        <p:blipFill rotWithShape="1">
          <a:blip r:embed="rId3">
            <a:alphaModFix/>
          </a:blip>
          <a:srcRect b="28432" l="-12913" r="-7437" t="-3372"/>
          <a:stretch/>
        </p:blipFill>
        <p:spPr>
          <a:xfrm>
            <a:off x="53775" y="1298175"/>
            <a:ext cx="1957550" cy="384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140"/>
          <p:cNvSpPr txBox="1"/>
          <p:nvPr>
            <p:ph idx="4294967295" type="body"/>
          </p:nvPr>
        </p:nvSpPr>
        <p:spPr>
          <a:xfrm>
            <a:off x="5459800" y="3563500"/>
            <a:ext cx="1549200" cy="13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500"/>
              <a:t>Julie receives Tim’s encrypted message and decrypts it using her matching private key. </a:t>
            </a:r>
            <a:endParaRPr sz="1500"/>
          </a:p>
        </p:txBody>
      </p:sp>
      <p:sp>
        <p:nvSpPr>
          <p:cNvPr id="1145" name="Google Shape;1145;p140"/>
          <p:cNvSpPr txBox="1"/>
          <p:nvPr>
            <p:ph idx="4294967295" type="body"/>
          </p:nvPr>
        </p:nvSpPr>
        <p:spPr>
          <a:xfrm>
            <a:off x="7596200" y="3563500"/>
            <a:ext cx="1184100" cy="6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Julie can now access Tim’s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bank account number.</a:t>
            </a:r>
            <a:r>
              <a:rPr lang="en" sz="1400"/>
              <a:t> </a:t>
            </a:r>
            <a:endParaRPr sz="1400"/>
          </a:p>
        </p:txBody>
      </p:sp>
      <p:grpSp>
        <p:nvGrpSpPr>
          <p:cNvPr id="1146" name="Google Shape;1146;p140"/>
          <p:cNvGrpSpPr/>
          <p:nvPr/>
        </p:nvGrpSpPr>
        <p:grpSpPr>
          <a:xfrm>
            <a:off x="2171589" y="2259116"/>
            <a:ext cx="977348" cy="1228184"/>
            <a:chOff x="7097126" y="2415604"/>
            <a:chExt cx="977348" cy="1228184"/>
          </a:xfrm>
        </p:grpSpPr>
        <p:pic>
          <p:nvPicPr>
            <p:cNvPr id="1147" name="Google Shape;1147;p1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097126" y="2415604"/>
              <a:ext cx="977348" cy="12281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8" name="Google Shape;1148;p140"/>
            <p:cNvSpPr txBox="1"/>
            <p:nvPr/>
          </p:nvSpPr>
          <p:spPr>
            <a:xfrm>
              <a:off x="7211538" y="2742463"/>
              <a:ext cx="7194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35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LXFOPVEFRNHR#4&amp;/j2</a:t>
              </a:r>
              <a:endParaRPr b="1" sz="135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grpSp>
        <p:nvGrpSpPr>
          <p:cNvPr id="1149" name="Google Shape;1149;p140"/>
          <p:cNvGrpSpPr/>
          <p:nvPr/>
        </p:nvGrpSpPr>
        <p:grpSpPr>
          <a:xfrm>
            <a:off x="7519994" y="2428998"/>
            <a:ext cx="1214194" cy="915622"/>
            <a:chOff x="6867073" y="2944150"/>
            <a:chExt cx="1403530" cy="1058400"/>
          </a:xfrm>
        </p:grpSpPr>
        <p:pic>
          <p:nvPicPr>
            <p:cNvPr id="1150" name="Google Shape;1150;p1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867073" y="2944150"/>
              <a:ext cx="1403530" cy="1058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1" name="Google Shape;1151;p140"/>
            <p:cNvSpPr txBox="1"/>
            <p:nvPr/>
          </p:nvSpPr>
          <p:spPr>
            <a:xfrm>
              <a:off x="7026369" y="3056421"/>
              <a:ext cx="1157100" cy="77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35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Bank</a:t>
              </a:r>
              <a:endParaRPr b="1" sz="135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35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Account</a:t>
              </a:r>
              <a:endParaRPr b="1" sz="135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35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#</a:t>
              </a:r>
              <a:endParaRPr b="1" sz="135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cxnSp>
        <p:nvCxnSpPr>
          <p:cNvPr id="1152" name="Google Shape;1152;p140"/>
          <p:cNvCxnSpPr/>
          <p:nvPr/>
        </p:nvCxnSpPr>
        <p:spPr>
          <a:xfrm>
            <a:off x="6904325" y="2886813"/>
            <a:ext cx="51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53" name="Google Shape;1153;p140"/>
          <p:cNvPicPr preferRelativeResize="0"/>
          <p:nvPr/>
        </p:nvPicPr>
        <p:blipFill rotWithShape="1">
          <a:blip r:embed="rId6">
            <a:alphaModFix/>
          </a:blip>
          <a:srcRect b="31964" l="-9082" r="-2362" t="-6352"/>
          <a:stretch/>
        </p:blipFill>
        <p:spPr>
          <a:xfrm>
            <a:off x="3657000" y="1407625"/>
            <a:ext cx="1634100" cy="3735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54" name="Google Shape;1154;p140"/>
          <p:cNvCxnSpPr/>
          <p:nvPr/>
        </p:nvCxnSpPr>
        <p:spPr>
          <a:xfrm>
            <a:off x="5115600" y="2886813"/>
            <a:ext cx="51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5" name="Google Shape;1155;p140"/>
          <p:cNvCxnSpPr/>
          <p:nvPr/>
        </p:nvCxnSpPr>
        <p:spPr>
          <a:xfrm>
            <a:off x="3309200" y="2886813"/>
            <a:ext cx="51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6" name="Google Shape;1156;p140"/>
          <p:cNvCxnSpPr/>
          <p:nvPr/>
        </p:nvCxnSpPr>
        <p:spPr>
          <a:xfrm>
            <a:off x="1504625" y="2886813"/>
            <a:ext cx="519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57" name="Google Shape;1157;p140"/>
          <p:cNvGrpSpPr/>
          <p:nvPr/>
        </p:nvGrpSpPr>
        <p:grpSpPr>
          <a:xfrm>
            <a:off x="5705200" y="2326037"/>
            <a:ext cx="1058400" cy="1058400"/>
            <a:chOff x="2419175" y="3422025"/>
            <a:chExt cx="1058400" cy="1058400"/>
          </a:xfrm>
        </p:grpSpPr>
        <p:sp>
          <p:nvSpPr>
            <p:cNvPr id="1158" name="Google Shape;1158;p140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9" name="Google Shape;1159;p14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0" name="Google Shape;1160;p140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Private Key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141"/>
          <p:cNvSpPr txBox="1"/>
          <p:nvPr/>
        </p:nvSpPr>
        <p:spPr>
          <a:xfrm>
            <a:off x="4114800" y="2416300"/>
            <a:ext cx="4914600" cy="23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Key pairs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always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have to be used together.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a public key is used to encrypt a message, its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matching private key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will be used to decrypt the message.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42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Asymmetric Key Encryption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142"/>
          <p:cNvSpPr txBox="1"/>
          <p:nvPr/>
        </p:nvSpPr>
        <p:spPr>
          <a:xfrm>
            <a:off x="76200" y="599775"/>
            <a:ext cx="8307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Tim and Julie each needed to send messages to each other,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four keys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would be required for secure communication.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72" name="Google Shape;1172;p142"/>
          <p:cNvPicPr preferRelativeResize="0"/>
          <p:nvPr/>
        </p:nvPicPr>
        <p:blipFill rotWithShape="1">
          <a:blip r:embed="rId3">
            <a:alphaModFix/>
          </a:blip>
          <a:srcRect b="28432" l="-12913" r="-7437" t="-3372"/>
          <a:stretch/>
        </p:blipFill>
        <p:spPr>
          <a:xfrm>
            <a:off x="53775" y="1298175"/>
            <a:ext cx="1957550" cy="384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3" name="Google Shape;1173;p142"/>
          <p:cNvPicPr preferRelativeResize="0"/>
          <p:nvPr/>
        </p:nvPicPr>
        <p:blipFill rotWithShape="1">
          <a:blip r:embed="rId4">
            <a:alphaModFix/>
          </a:blip>
          <a:srcRect b="31964" l="-9082" r="-2362" t="-6352"/>
          <a:stretch/>
        </p:blipFill>
        <p:spPr>
          <a:xfrm>
            <a:off x="7052700" y="1407625"/>
            <a:ext cx="1634100" cy="3735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74" name="Google Shape;1174;p142"/>
          <p:cNvCxnSpPr/>
          <p:nvPr/>
        </p:nvCxnSpPr>
        <p:spPr>
          <a:xfrm>
            <a:off x="3563200" y="3199350"/>
            <a:ext cx="172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75" name="Google Shape;1175;p142"/>
          <p:cNvGrpSpPr/>
          <p:nvPr/>
        </p:nvGrpSpPr>
        <p:grpSpPr>
          <a:xfrm>
            <a:off x="5958650" y="2145187"/>
            <a:ext cx="1058400" cy="1058400"/>
            <a:chOff x="2419175" y="3422025"/>
            <a:chExt cx="1058400" cy="1058400"/>
          </a:xfrm>
        </p:grpSpPr>
        <p:sp>
          <p:nvSpPr>
            <p:cNvPr id="1176" name="Google Shape;1176;p142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77" name="Google Shape;1177;p1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8" name="Google Shape;1178;p142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Private Key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79" name="Google Shape;1179;p142"/>
          <p:cNvGrpSpPr/>
          <p:nvPr/>
        </p:nvGrpSpPr>
        <p:grpSpPr>
          <a:xfrm>
            <a:off x="5958660" y="3650050"/>
            <a:ext cx="1058400" cy="1058400"/>
            <a:chOff x="2419175" y="3422025"/>
            <a:chExt cx="1058400" cy="1058400"/>
          </a:xfrm>
        </p:grpSpPr>
        <p:sp>
          <p:nvSpPr>
            <p:cNvPr id="1180" name="Google Shape;1180;p142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1" name="Google Shape;1181;p1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2" name="Google Shape;1182;p142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Public Key</a:t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1183" name="Google Shape;1183;p142"/>
          <p:cNvGrpSpPr/>
          <p:nvPr/>
        </p:nvGrpSpPr>
        <p:grpSpPr>
          <a:xfrm>
            <a:off x="2011325" y="2145187"/>
            <a:ext cx="1058400" cy="1058400"/>
            <a:chOff x="2419175" y="3422025"/>
            <a:chExt cx="1058400" cy="1058400"/>
          </a:xfrm>
        </p:grpSpPr>
        <p:sp>
          <p:nvSpPr>
            <p:cNvPr id="1184" name="Google Shape;1184;p142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5" name="Google Shape;1185;p1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6" name="Google Shape;1186;p142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Private Key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87" name="Google Shape;1187;p142"/>
          <p:cNvGrpSpPr/>
          <p:nvPr/>
        </p:nvGrpSpPr>
        <p:grpSpPr>
          <a:xfrm>
            <a:off x="2011335" y="3650050"/>
            <a:ext cx="1058400" cy="1058400"/>
            <a:chOff x="2419175" y="3422025"/>
            <a:chExt cx="1058400" cy="1058400"/>
          </a:xfrm>
        </p:grpSpPr>
        <p:sp>
          <p:nvSpPr>
            <p:cNvPr id="1188" name="Google Shape;1188;p142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89" name="Google Shape;1189;p14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142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</a:rPr>
                <a:t>Public Key</a:t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1191" name="Google Shape;1191;p142"/>
          <p:cNvCxnSpPr/>
          <p:nvPr/>
        </p:nvCxnSpPr>
        <p:spPr>
          <a:xfrm>
            <a:off x="3563200" y="3580350"/>
            <a:ext cx="1725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6" name="Google Shape;1196;p143"/>
          <p:cNvPicPr preferRelativeResize="0"/>
          <p:nvPr/>
        </p:nvPicPr>
        <p:blipFill rotWithShape="1">
          <a:blip r:embed="rId3">
            <a:alphaModFix/>
          </a:blip>
          <a:srcRect b="-5777" l="-6224" r="0" t="-9763"/>
          <a:stretch/>
        </p:blipFill>
        <p:spPr>
          <a:xfrm>
            <a:off x="4648575" y="1327900"/>
            <a:ext cx="3237600" cy="12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143"/>
          <p:cNvSpPr txBox="1"/>
          <p:nvPr>
            <p:ph idx="4294967295" type="title"/>
          </p:nvPr>
        </p:nvSpPr>
        <p:spPr>
          <a:xfrm>
            <a:off x="451575" y="127400"/>
            <a:ext cx="89211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Management</a:t>
            </a:r>
            <a:endParaRPr/>
          </a:p>
        </p:txBody>
      </p:sp>
      <p:sp>
        <p:nvSpPr>
          <p:cNvPr id="1198" name="Google Shape;1198;p143"/>
          <p:cNvSpPr txBox="1"/>
          <p:nvPr>
            <p:ph idx="4294967295" type="title"/>
          </p:nvPr>
        </p:nvSpPr>
        <p:spPr>
          <a:xfrm>
            <a:off x="451575" y="521000"/>
            <a:ext cx="8299500" cy="53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800"/>
              <a:t>While symmetric key count grows exponentially larger as the number of employees increases, the asymmetric count stays proportionate and manageable. </a:t>
            </a:r>
            <a:endParaRPr b="0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43"/>
          <p:cNvSpPr txBox="1"/>
          <p:nvPr/>
        </p:nvSpPr>
        <p:spPr>
          <a:xfrm>
            <a:off x="457200" y="1676400"/>
            <a:ext cx="41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a company w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ith 12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employees: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0" name="Google Shape;1200;p143"/>
          <p:cNvSpPr/>
          <p:nvPr/>
        </p:nvSpPr>
        <p:spPr>
          <a:xfrm>
            <a:off x="572700" y="3360075"/>
            <a:ext cx="3413700" cy="1554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Symmetric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(N * (N-1)) / 2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(12 * 11) / 2 = </a:t>
            </a:r>
            <a:r>
              <a:rPr b="1"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66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1" name="Google Shape;1201;p143"/>
          <p:cNvSpPr/>
          <p:nvPr/>
        </p:nvSpPr>
        <p:spPr>
          <a:xfrm>
            <a:off x="5151150" y="3360075"/>
            <a:ext cx="3413700" cy="15543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Asymmetric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 * 2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(12 * 2) = </a:t>
            </a: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24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144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RSA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144"/>
          <p:cNvSpPr txBox="1"/>
          <p:nvPr/>
        </p:nvSpPr>
        <p:spPr>
          <a:xfrm>
            <a:off x="76200" y="5997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Asymmetric encryption uses an algorithm called RSA, which was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introduced in 1977 and named after the surnames of its creators</a:t>
            </a: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08" name="Google Shape;1208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130" y="1371600"/>
            <a:ext cx="6693743" cy="338872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45"/>
          <p:cNvSpPr txBox="1"/>
          <p:nvPr>
            <p:ph idx="1" type="body"/>
          </p:nvPr>
        </p:nvSpPr>
        <p:spPr>
          <a:xfrm>
            <a:off x="3248025" y="1377600"/>
            <a:ext cx="57723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RSA</a:t>
            </a:r>
            <a:r>
              <a:rPr lang="en" sz="2700"/>
              <a:t> is an asymmetric algorithm that is still a worldwide standard today.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It works by employing the complexity of factoring large numbers.</a:t>
            </a:r>
            <a:endParaRPr sz="2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8" name="Google Shape;1218;p146"/>
          <p:cNvGrpSpPr/>
          <p:nvPr/>
        </p:nvGrpSpPr>
        <p:grpSpPr>
          <a:xfrm>
            <a:off x="-3" y="1296817"/>
            <a:ext cx="8686828" cy="400200"/>
            <a:chOff x="-3" y="1885788"/>
            <a:chExt cx="8686828" cy="400200"/>
          </a:xfrm>
        </p:grpSpPr>
        <p:cxnSp>
          <p:nvCxnSpPr>
            <p:cNvPr id="1219" name="Google Shape;1219;p14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220" name="Google Shape;1220;p14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21" name="Google Shape;1221;p14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4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4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4" name="Google Shape;1224;p146"/>
          <p:cNvGrpSpPr/>
          <p:nvPr/>
        </p:nvGrpSpPr>
        <p:grpSpPr>
          <a:xfrm>
            <a:off x="-3" y="1982559"/>
            <a:ext cx="8686828" cy="400200"/>
            <a:chOff x="-3" y="2566213"/>
            <a:chExt cx="8686828" cy="400200"/>
          </a:xfrm>
        </p:grpSpPr>
        <p:cxnSp>
          <p:nvCxnSpPr>
            <p:cNvPr id="1225" name="Google Shape;1225;p14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26" name="Google Shape;1226;p14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4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4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29" name="Google Shape;1229;p146"/>
          <p:cNvGrpSpPr/>
          <p:nvPr/>
        </p:nvGrpSpPr>
        <p:grpSpPr>
          <a:xfrm>
            <a:off x="-3" y="2668301"/>
            <a:ext cx="8684268" cy="402300"/>
            <a:chOff x="-3" y="3236976"/>
            <a:chExt cx="8684268" cy="402300"/>
          </a:xfrm>
        </p:grpSpPr>
        <p:cxnSp>
          <p:nvCxnSpPr>
            <p:cNvPr id="1230" name="Google Shape;1230;p146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31" name="Google Shape;1231;p146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46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46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34" name="Google Shape;1234;p146"/>
          <p:cNvGrpSpPr/>
          <p:nvPr/>
        </p:nvGrpSpPr>
        <p:grpSpPr>
          <a:xfrm>
            <a:off x="-3" y="3353222"/>
            <a:ext cx="8686828" cy="400200"/>
            <a:chOff x="-3" y="2566213"/>
            <a:chExt cx="8686828" cy="400200"/>
          </a:xfrm>
        </p:grpSpPr>
        <p:cxnSp>
          <p:nvCxnSpPr>
            <p:cNvPr id="1235" name="Google Shape;1235;p146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36" name="Google Shape;1236;p146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46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46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39" name="Google Shape;1239;p146"/>
          <p:cNvSpPr txBox="1"/>
          <p:nvPr>
            <p:ph idx="4294967295" type="body"/>
          </p:nvPr>
        </p:nvSpPr>
        <p:spPr>
          <a:xfrm>
            <a:off x="914400" y="131386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Public keys are accessible by anyone</a:t>
            </a:r>
            <a:endParaRPr/>
          </a:p>
        </p:txBody>
      </p:sp>
      <p:sp>
        <p:nvSpPr>
          <p:cNvPr id="1240" name="Google Shape;1240;p146"/>
          <p:cNvSpPr txBox="1"/>
          <p:nvPr>
            <p:ph idx="4294967295" type="body"/>
          </p:nvPr>
        </p:nvSpPr>
        <p:spPr>
          <a:xfrm>
            <a:off x="914400" y="199939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P</a:t>
            </a:r>
            <a:r>
              <a:rPr lang="en"/>
              <a:t>rivate keys are only accessible by their owner</a:t>
            </a:r>
            <a:endParaRPr/>
          </a:p>
        </p:txBody>
      </p:sp>
      <p:sp>
        <p:nvSpPr>
          <p:cNvPr id="1241" name="Google Shape;1241;p146"/>
          <p:cNvSpPr txBox="1"/>
          <p:nvPr>
            <p:ph idx="4294967295" type="body"/>
          </p:nvPr>
        </p:nvSpPr>
        <p:spPr>
          <a:xfrm>
            <a:off x="914400" y="268493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Public and private keys have to work together</a:t>
            </a:r>
            <a:endParaRPr/>
          </a:p>
        </p:txBody>
      </p:sp>
      <p:sp>
        <p:nvSpPr>
          <p:cNvPr id="1242" name="Google Shape;1242;p146"/>
          <p:cNvSpPr txBox="1"/>
          <p:nvPr>
            <p:ph idx="4294967295" type="body"/>
          </p:nvPr>
        </p:nvSpPr>
        <p:spPr>
          <a:xfrm>
            <a:off x="914400" y="337047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Asymmetric encryption addresses the challenges of symmetric encryption</a:t>
            </a:r>
            <a:endParaRPr/>
          </a:p>
        </p:txBody>
      </p:sp>
      <p:sp>
        <p:nvSpPr>
          <p:cNvPr id="1243" name="Google Shape;1243;p14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Asymmetric Key Summary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244" name="Google Shape;1244;p146"/>
          <p:cNvSpPr txBox="1"/>
          <p:nvPr>
            <p:ph idx="1" type="subTitle"/>
          </p:nvPr>
        </p:nvSpPr>
        <p:spPr>
          <a:xfrm>
            <a:off x="463225" y="548650"/>
            <a:ext cx="8229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</a:t>
            </a:r>
            <a:r>
              <a:rPr lang="en"/>
              <a:t>symmetric encryption uses </a:t>
            </a:r>
            <a:r>
              <a:rPr b="1" lang="en"/>
              <a:t>two keys</a:t>
            </a:r>
            <a:r>
              <a:rPr lang="en"/>
              <a:t>: One public and one private</a:t>
            </a:r>
            <a:endParaRPr/>
          </a:p>
        </p:txBody>
      </p:sp>
      <p:grpSp>
        <p:nvGrpSpPr>
          <p:cNvPr id="1245" name="Google Shape;1245;p146"/>
          <p:cNvGrpSpPr/>
          <p:nvPr/>
        </p:nvGrpSpPr>
        <p:grpSpPr>
          <a:xfrm>
            <a:off x="-3" y="4036042"/>
            <a:ext cx="8686828" cy="400200"/>
            <a:chOff x="-3" y="1885788"/>
            <a:chExt cx="8686828" cy="400200"/>
          </a:xfrm>
        </p:grpSpPr>
        <p:cxnSp>
          <p:nvCxnSpPr>
            <p:cNvPr id="1246" name="Google Shape;1246;p146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1247" name="Google Shape;1247;p146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48" name="Google Shape;1248;p146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146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46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51" name="Google Shape;1251;p146"/>
          <p:cNvSpPr txBox="1"/>
          <p:nvPr>
            <p:ph idx="4294967295" type="body"/>
          </p:nvPr>
        </p:nvSpPr>
        <p:spPr>
          <a:xfrm>
            <a:off x="914400" y="40530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standard asymmetric algorithm used today is RSA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148"/>
          <p:cNvSpPr txBox="1"/>
          <p:nvPr>
            <p:ph type="title"/>
          </p:nvPr>
        </p:nvSpPr>
        <p:spPr>
          <a:xfrm>
            <a:off x="0" y="2628900"/>
            <a:ext cx="9144000" cy="13149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Applying Public Key 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Cryptography with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GPG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61" name="Google Shape;1261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031" y="1483100"/>
            <a:ext cx="1837939" cy="131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4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GNU Privacy Guard (</a:t>
            </a:r>
            <a:r>
              <a:rPr lang="en"/>
              <a:t>GPG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149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GPG is:</a:t>
            </a:r>
            <a:endParaRPr/>
          </a:p>
        </p:txBody>
      </p:sp>
      <p:sp>
        <p:nvSpPr>
          <p:cNvPr id="1268" name="Google Shape;1268;p149"/>
          <p:cNvSpPr txBox="1"/>
          <p:nvPr>
            <p:ph idx="3" type="body"/>
          </p:nvPr>
        </p:nvSpPr>
        <p:spPr>
          <a:xfrm>
            <a:off x="457200" y="1384838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Command Line Tool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keys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Encryption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Decryption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49"/>
          <p:cNvSpPr txBox="1"/>
          <p:nvPr>
            <p:ph idx="4" type="body"/>
          </p:nvPr>
        </p:nvSpPr>
        <p:spPr>
          <a:xfrm>
            <a:off x="404800" y="3102450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Free Program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Multiple</a:t>
            </a:r>
            <a:r>
              <a:rPr lang="en"/>
              <a:t> distros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Symmetric algorithms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Asymmetric algorithms</a:t>
            </a:r>
            <a:endParaRPr/>
          </a:p>
        </p:txBody>
      </p:sp>
      <p:pic>
        <p:nvPicPr>
          <p:cNvPr id="1270" name="Google Shape;1270;p149"/>
          <p:cNvPicPr preferRelativeResize="0"/>
          <p:nvPr/>
        </p:nvPicPr>
        <p:blipFill rotWithShape="1">
          <a:blip r:embed="rId3">
            <a:alphaModFix/>
          </a:blip>
          <a:srcRect b="7969" l="0" r="0" t="7961"/>
          <a:stretch/>
        </p:blipFill>
        <p:spPr>
          <a:xfrm>
            <a:off x="4114800" y="1321675"/>
            <a:ext cx="4815000" cy="204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5" name="Google Shape;1275;p150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276" name="Google Shape;1276;p150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 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150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150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279" name="Google Shape;1279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150"/>
          <p:cNvSpPr/>
          <p:nvPr/>
        </p:nvSpPr>
        <p:spPr>
          <a:xfrm>
            <a:off x="0" y="2008475"/>
            <a:ext cx="9144000" cy="3135000"/>
          </a:xfrm>
          <a:prstGeom prst="rect">
            <a:avLst/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150"/>
          <p:cNvSpPr txBox="1"/>
          <p:nvPr/>
        </p:nvSpPr>
        <p:spPr>
          <a:xfrm>
            <a:off x="-12525" y="1956763"/>
            <a:ext cx="9144000" cy="4617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Asymmetric Encryption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2" name="Google Shape;1282;p150"/>
          <p:cNvSpPr/>
          <p:nvPr/>
        </p:nvSpPr>
        <p:spPr>
          <a:xfrm>
            <a:off x="2425275" y="2921338"/>
            <a:ext cx="922200" cy="922500"/>
          </a:xfrm>
          <a:prstGeom prst="ellipse">
            <a:avLst/>
          </a:prstGeom>
          <a:solidFill>
            <a:srgbClr val="2E5E7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3" name="Google Shape;1283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41325" y="3182952"/>
            <a:ext cx="674550" cy="324297"/>
          </a:xfrm>
          <a:prstGeom prst="rect">
            <a:avLst/>
          </a:prstGeom>
          <a:noFill/>
          <a:ln>
            <a:noFill/>
          </a:ln>
        </p:spPr>
      </p:pic>
      <p:sp>
        <p:nvSpPr>
          <p:cNvPr id="1284" name="Google Shape;1284;p150"/>
          <p:cNvSpPr txBox="1"/>
          <p:nvPr/>
        </p:nvSpPr>
        <p:spPr>
          <a:xfrm>
            <a:off x="2412025" y="3393838"/>
            <a:ext cx="922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Encrypt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85" name="Google Shape;1285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300" y="2819543"/>
            <a:ext cx="997200" cy="10372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86" name="Google Shape;1286;p150"/>
          <p:cNvSpPr/>
          <p:nvPr/>
        </p:nvSpPr>
        <p:spPr>
          <a:xfrm>
            <a:off x="4205550" y="2883750"/>
            <a:ext cx="732900" cy="9006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D6E7C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C343D"/>
                </a:solidFill>
                <a:latin typeface="Inconsolata"/>
                <a:ea typeface="Inconsolata"/>
                <a:cs typeface="Inconsolata"/>
                <a:sym typeface="Inconsolata"/>
              </a:rPr>
              <a:t>010011010010010101000100010010101010100101010101010101001010</a:t>
            </a:r>
            <a:endParaRPr sz="800">
              <a:solidFill>
                <a:srgbClr val="0C343D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1287" name="Google Shape;1287;p1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1875" y="2815436"/>
            <a:ext cx="997200" cy="10372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288" name="Google Shape;1288;p150"/>
          <p:cNvSpPr txBox="1"/>
          <p:nvPr/>
        </p:nvSpPr>
        <p:spPr>
          <a:xfrm>
            <a:off x="724300" y="3791855"/>
            <a:ext cx="99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rPr>
              <a:t>Message</a:t>
            </a:r>
            <a:endParaRPr b="1" sz="1200">
              <a:solidFill>
                <a:srgbClr val="0434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9" name="Google Shape;1289;p150"/>
          <p:cNvSpPr txBox="1"/>
          <p:nvPr/>
        </p:nvSpPr>
        <p:spPr>
          <a:xfrm>
            <a:off x="3971200" y="3791850"/>
            <a:ext cx="122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rPr>
              <a:t>Ciphertext</a:t>
            </a:r>
            <a:endParaRPr b="1" sz="1200">
              <a:solidFill>
                <a:srgbClr val="0434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0" name="Google Shape;1290;p150"/>
          <p:cNvSpPr txBox="1"/>
          <p:nvPr/>
        </p:nvSpPr>
        <p:spPr>
          <a:xfrm>
            <a:off x="7401875" y="3791855"/>
            <a:ext cx="99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43461"/>
                </a:solidFill>
                <a:latin typeface="Roboto"/>
                <a:ea typeface="Roboto"/>
                <a:cs typeface="Roboto"/>
                <a:sym typeface="Roboto"/>
              </a:rPr>
              <a:t>Message</a:t>
            </a:r>
            <a:endParaRPr b="1" sz="1200">
              <a:solidFill>
                <a:srgbClr val="04346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1" name="Google Shape;1291;p1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4600" y="3134402"/>
            <a:ext cx="674550" cy="324297"/>
          </a:xfrm>
          <a:prstGeom prst="rect">
            <a:avLst/>
          </a:prstGeom>
          <a:noFill/>
          <a:ln>
            <a:noFill/>
          </a:ln>
        </p:spPr>
      </p:pic>
      <p:sp>
        <p:nvSpPr>
          <p:cNvPr id="1292" name="Google Shape;1292;p150"/>
          <p:cNvSpPr txBox="1"/>
          <p:nvPr/>
        </p:nvSpPr>
        <p:spPr>
          <a:xfrm>
            <a:off x="5745300" y="3345288"/>
            <a:ext cx="922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Decrypt</a:t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3" name="Google Shape;1293;p150"/>
          <p:cNvSpPr/>
          <p:nvPr/>
        </p:nvSpPr>
        <p:spPr>
          <a:xfrm>
            <a:off x="2473125" y="2528525"/>
            <a:ext cx="826500" cy="201300"/>
          </a:xfrm>
          <a:prstGeom prst="roundRect">
            <a:avLst>
              <a:gd fmla="val 16667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Public Key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94" name="Google Shape;1294;p150"/>
          <p:cNvSpPr/>
          <p:nvPr/>
        </p:nvSpPr>
        <p:spPr>
          <a:xfrm>
            <a:off x="5826375" y="2530215"/>
            <a:ext cx="861000" cy="20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E5E73"/>
                </a:solidFill>
                <a:latin typeface="Roboto Medium"/>
                <a:ea typeface="Roboto Medium"/>
                <a:cs typeface="Roboto Medium"/>
                <a:sym typeface="Roboto Medium"/>
              </a:rPr>
              <a:t>Private Key</a:t>
            </a:r>
            <a:endParaRPr>
              <a:solidFill>
                <a:srgbClr val="2E5E73"/>
              </a:solidFill>
            </a:endParaRPr>
          </a:p>
        </p:txBody>
      </p:sp>
      <p:grpSp>
        <p:nvGrpSpPr>
          <p:cNvPr id="1295" name="Google Shape;1295;p150"/>
          <p:cNvGrpSpPr/>
          <p:nvPr/>
        </p:nvGrpSpPr>
        <p:grpSpPr>
          <a:xfrm>
            <a:off x="5751925" y="2921338"/>
            <a:ext cx="935450" cy="922500"/>
            <a:chOff x="5751925" y="3183838"/>
            <a:chExt cx="935450" cy="922500"/>
          </a:xfrm>
        </p:grpSpPr>
        <p:sp>
          <p:nvSpPr>
            <p:cNvPr id="1296" name="Google Shape;1296;p150"/>
            <p:cNvSpPr/>
            <p:nvPr/>
          </p:nvSpPr>
          <p:spPr>
            <a:xfrm>
              <a:off x="5765175" y="3183838"/>
              <a:ext cx="922200" cy="9225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97" name="Google Shape;1297;p15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5881225" y="3379252"/>
              <a:ext cx="674550" cy="3242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50"/>
            <p:cNvSpPr txBox="1"/>
            <p:nvPr/>
          </p:nvSpPr>
          <p:spPr>
            <a:xfrm>
              <a:off x="5751925" y="3590138"/>
              <a:ext cx="9222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C343D"/>
                  </a:solidFill>
                  <a:latin typeface="Roboto"/>
                  <a:ea typeface="Roboto"/>
                  <a:cs typeface="Roboto"/>
                  <a:sym typeface="Roboto"/>
                </a:rPr>
                <a:t>Decrypt</a:t>
              </a:r>
              <a:endParaRPr b="1" sz="120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0C343D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99" name="Google Shape;1299;p150"/>
          <p:cNvSpPr txBox="1"/>
          <p:nvPr/>
        </p:nvSpPr>
        <p:spPr>
          <a:xfrm>
            <a:off x="228075" y="927100"/>
            <a:ext cx="81300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will demonstrate how to create a key pair and do asymmetric encryption and decryption with GPG.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5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GPG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52"/>
          <p:cNvSpPr txBox="1"/>
          <p:nvPr>
            <p:ph idx="1" type="subTitle"/>
          </p:nvPr>
        </p:nvSpPr>
        <p:spPr>
          <a:xfrm>
            <a:off x="6174975" y="4568875"/>
            <a:ext cx="29691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</a:t>
            </a:r>
            <a:r>
              <a:rPr lang="en"/>
              <a:t>inutes</a:t>
            </a:r>
            <a:endParaRPr/>
          </a:p>
        </p:txBody>
      </p:sp>
      <p:sp>
        <p:nvSpPr>
          <p:cNvPr id="1310" name="Google Shape;1310;p15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GPG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311" name="Google Shape;1311;p152"/>
          <p:cNvSpPr txBox="1"/>
          <p:nvPr>
            <p:ph idx="3" type="body"/>
          </p:nvPr>
        </p:nvSpPr>
        <p:spPr>
          <a:xfrm>
            <a:off x="656750" y="1306375"/>
            <a:ext cx="7772400" cy="2806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will continue to play the role of a security analyst working for the </a:t>
            </a:r>
            <a:br>
              <a:rPr lang="en"/>
            </a:br>
            <a:r>
              <a:rPr lang="en"/>
              <a:t>Hill Valley Police Department.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Captain Strickland has implemented your suggestion of using asymmetric key encryption across all departments at Hill Valley.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</a:t>
            </a:r>
            <a:r>
              <a:rPr lang="en"/>
              <a:t>ou will use asymmetric encryption with GPG to encrypt and decrypt text files.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2" name="Google Shape;1312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15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Roboto"/>
                <a:ea typeface="Roboto"/>
                <a:cs typeface="Roboto"/>
                <a:sym typeface="Roboto"/>
              </a:rPr>
              <a:t>Hashing</a:t>
            </a:r>
            <a:r>
              <a:rPr b="0" lang="en" sz="3600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3600">
                <a:latin typeface="Roboto"/>
                <a:ea typeface="Roboto"/>
                <a:cs typeface="Roboto"/>
                <a:sym typeface="Roboto"/>
              </a:rPr>
              <a:t>Data </a:t>
            </a:r>
            <a:r>
              <a:rPr lang="en" sz="3600">
                <a:latin typeface="Roboto"/>
                <a:ea typeface="Roboto"/>
                <a:cs typeface="Roboto"/>
                <a:sym typeface="Roboto"/>
              </a:rPr>
              <a:t>Integrity</a:t>
            </a:r>
            <a:endParaRPr sz="3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30" name="Google Shape;1330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4800" y="1931388"/>
            <a:ext cx="914400" cy="7092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157"/>
          <p:cNvSpPr/>
          <p:nvPr/>
        </p:nvSpPr>
        <p:spPr>
          <a:xfrm>
            <a:off x="0" y="-7950"/>
            <a:ext cx="9144000" cy="5159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6" name="Google Shape;1336;p157"/>
          <p:cNvSpPr txBox="1"/>
          <p:nvPr/>
        </p:nvSpPr>
        <p:spPr>
          <a:xfrm>
            <a:off x="537600" y="1573675"/>
            <a:ext cx="4869000" cy="16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So far, we’ve used cryptography to protect privacy and confidentiality. 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It can also be applied to protect the </a:t>
            </a: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integrity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of data.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7" name="Google Shape;1337;p157"/>
          <p:cNvGrpSpPr/>
          <p:nvPr/>
        </p:nvGrpSpPr>
        <p:grpSpPr>
          <a:xfrm>
            <a:off x="5330425" y="1093975"/>
            <a:ext cx="3641086" cy="3132992"/>
            <a:chOff x="2675725" y="744675"/>
            <a:chExt cx="3641086" cy="3132992"/>
          </a:xfrm>
        </p:grpSpPr>
        <p:sp>
          <p:nvSpPr>
            <p:cNvPr id="1338" name="Google Shape;1338;p157"/>
            <p:cNvSpPr/>
            <p:nvPr/>
          </p:nvSpPr>
          <p:spPr>
            <a:xfrm>
              <a:off x="3602468" y="744675"/>
              <a:ext cx="1784100" cy="15453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sp>
          <p:nvSpPr>
            <p:cNvPr id="1339" name="Google Shape;1339;p157"/>
            <p:cNvSpPr/>
            <p:nvPr/>
          </p:nvSpPr>
          <p:spPr>
            <a:xfrm rot="10800000">
              <a:off x="3628172" y="2348458"/>
              <a:ext cx="1733400" cy="14988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57"/>
            <p:cNvSpPr/>
            <p:nvPr/>
          </p:nvSpPr>
          <p:spPr>
            <a:xfrm>
              <a:off x="4532711" y="2359963"/>
              <a:ext cx="1784100" cy="15177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57"/>
            <p:cNvSpPr/>
            <p:nvPr/>
          </p:nvSpPr>
          <p:spPr>
            <a:xfrm>
              <a:off x="2675725" y="2359966"/>
              <a:ext cx="1784100" cy="1517700"/>
            </a:xfrm>
            <a:prstGeom prst="triangle">
              <a:avLst>
                <a:gd fmla="val 50000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57"/>
            <p:cNvSpPr txBox="1"/>
            <p:nvPr/>
          </p:nvSpPr>
          <p:spPr>
            <a:xfrm>
              <a:off x="4127169" y="1179170"/>
              <a:ext cx="7122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700">
                  <a:solidFill>
                    <a:srgbClr val="9E9E9E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1</a:t>
              </a:r>
              <a:endParaRPr sz="4700">
                <a:solidFill>
                  <a:srgbClr val="9E9E9E"/>
                </a:solidFill>
              </a:endParaRPr>
            </a:p>
          </p:txBody>
        </p:sp>
        <p:sp>
          <p:nvSpPr>
            <p:cNvPr id="1343" name="Google Shape;1343;p157"/>
            <p:cNvSpPr txBox="1"/>
            <p:nvPr/>
          </p:nvSpPr>
          <p:spPr>
            <a:xfrm>
              <a:off x="3230520" y="2817793"/>
              <a:ext cx="628500" cy="48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700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2</a:t>
              </a:r>
              <a:endParaRPr sz="1800">
                <a:solidFill>
                  <a:schemeClr val="lt1"/>
                </a:solidFill>
              </a:endParaRPr>
            </a:p>
          </p:txBody>
        </p:sp>
        <p:sp>
          <p:nvSpPr>
            <p:cNvPr id="1344" name="Google Shape;1344;p157"/>
            <p:cNvSpPr txBox="1"/>
            <p:nvPr/>
          </p:nvSpPr>
          <p:spPr>
            <a:xfrm>
              <a:off x="5009666" y="2808965"/>
              <a:ext cx="712200" cy="57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700">
                  <a:solidFill>
                    <a:srgbClr val="9E9E9E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3</a:t>
              </a:r>
              <a:endParaRPr sz="4700">
                <a:solidFill>
                  <a:srgbClr val="9E9E9E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9E9E9E"/>
                </a:solidFill>
              </a:endParaRPr>
            </a:p>
          </p:txBody>
        </p:sp>
        <p:sp>
          <p:nvSpPr>
            <p:cNvPr id="1345" name="Google Shape;1345;p157"/>
            <p:cNvSpPr txBox="1"/>
            <p:nvPr/>
          </p:nvSpPr>
          <p:spPr>
            <a:xfrm>
              <a:off x="3628036" y="2359970"/>
              <a:ext cx="1733400" cy="56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INFORMATION </a:t>
              </a:r>
              <a:endParaRPr b="1" sz="15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9E9E9E"/>
                  </a:solidFill>
                  <a:latin typeface="Roboto"/>
                  <a:ea typeface="Roboto"/>
                  <a:cs typeface="Roboto"/>
                  <a:sym typeface="Roboto"/>
                </a:rPr>
                <a:t>SECURITY</a:t>
              </a:r>
              <a:endParaRPr b="1" sz="1700">
                <a:solidFill>
                  <a:srgbClr val="9E9E9E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46" name="Google Shape;1346;p157"/>
            <p:cNvSpPr txBox="1"/>
            <p:nvPr/>
          </p:nvSpPr>
          <p:spPr>
            <a:xfrm>
              <a:off x="3780428" y="1801936"/>
              <a:ext cx="1429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9E9E9E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Confidentiality</a:t>
              </a:r>
              <a:endParaRPr>
                <a:solidFill>
                  <a:srgbClr val="9E9E9E"/>
                </a:solidFill>
              </a:endParaRPr>
            </a:p>
          </p:txBody>
        </p:sp>
        <p:sp>
          <p:nvSpPr>
            <p:cNvPr id="1347" name="Google Shape;1347;p157"/>
            <p:cNvSpPr txBox="1"/>
            <p:nvPr/>
          </p:nvSpPr>
          <p:spPr>
            <a:xfrm>
              <a:off x="4817588" y="3425842"/>
              <a:ext cx="1256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9E9E9E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Availability</a:t>
              </a:r>
              <a:endParaRPr>
                <a:solidFill>
                  <a:srgbClr val="9E9E9E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pic>
          <p:nvPicPr>
            <p:cNvPr id="1348" name="Google Shape;1348;p15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62199" y="2961952"/>
              <a:ext cx="468475" cy="5364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49" name="Google Shape;1349;p157"/>
          <p:cNvSpPr txBox="1"/>
          <p:nvPr>
            <p:ph type="title"/>
          </p:nvPr>
        </p:nvSpPr>
        <p:spPr>
          <a:xfrm>
            <a:off x="152525" y="127400"/>
            <a:ext cx="5177100" cy="39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28575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>
                <a:solidFill>
                  <a:schemeClr val="accent5"/>
                </a:solidFill>
              </a:rPr>
              <a:t>Always Remember the CIA!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160"/>
          </a:p>
        </p:txBody>
      </p:sp>
      <p:sp>
        <p:nvSpPr>
          <p:cNvPr id="1350" name="Google Shape;1350;p157"/>
          <p:cNvSpPr txBox="1"/>
          <p:nvPr/>
        </p:nvSpPr>
        <p:spPr>
          <a:xfrm>
            <a:off x="5766750" y="3791850"/>
            <a:ext cx="12681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Integrity</a:t>
            </a:r>
            <a:endParaRPr b="1" sz="1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58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oboto"/>
                <a:ea typeface="Roboto"/>
                <a:cs typeface="Roboto"/>
                <a:sym typeface="Roboto"/>
              </a:rPr>
              <a:t>Hashing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is a cryptographic method used to verify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the integrity of data.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59"/>
          <p:cNvSpPr txBox="1"/>
          <p:nvPr/>
        </p:nvSpPr>
        <p:spPr>
          <a:xfrm>
            <a:off x="457200" y="127400"/>
            <a:ext cx="8117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Hashing</a:t>
            </a:r>
            <a:endParaRPr sz="2600">
              <a:solidFill>
                <a:schemeClr val="accent5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361" name="Google Shape;1361;p159"/>
          <p:cNvSpPr txBox="1"/>
          <p:nvPr/>
        </p:nvSpPr>
        <p:spPr>
          <a:xfrm>
            <a:off x="381000" y="660025"/>
            <a:ext cx="838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Similar to encryption, </a:t>
            </a: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hashing 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uses mathematical algorithms called </a:t>
            </a:r>
            <a:r>
              <a:rPr b="1"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hashing algorithms</a:t>
            </a:r>
            <a:r>
              <a:rPr lang="en" sz="18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 to take data and generate a unique output.</a:t>
            </a:r>
            <a:endParaRPr sz="18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159"/>
          <p:cNvSpPr/>
          <p:nvPr/>
        </p:nvSpPr>
        <p:spPr>
          <a:xfrm flipH="1" rot="10800000">
            <a:off x="4617248" y="2289976"/>
            <a:ext cx="4252500" cy="14973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FFDC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159"/>
          <p:cNvSpPr txBox="1"/>
          <p:nvPr/>
        </p:nvSpPr>
        <p:spPr>
          <a:xfrm>
            <a:off x="5083400" y="2486700"/>
            <a:ext cx="3686400" cy="10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676e4bff90a76853bda00773f7ad4bed</a:t>
            </a:r>
            <a:endParaRPr b="1" sz="20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364" name="Google Shape;1364;p159"/>
          <p:cNvSpPr/>
          <p:nvPr/>
        </p:nvSpPr>
        <p:spPr>
          <a:xfrm>
            <a:off x="293174" y="2295446"/>
            <a:ext cx="4252500" cy="1497300"/>
          </a:xfrm>
          <a:prstGeom prst="round2DiagRect">
            <a:avLst>
              <a:gd fmla="val 0" name="adj1"/>
              <a:gd fmla="val 17764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59"/>
          <p:cNvSpPr txBox="1"/>
          <p:nvPr/>
        </p:nvSpPr>
        <p:spPr>
          <a:xfrm>
            <a:off x="674650" y="2396190"/>
            <a:ext cx="3216900" cy="12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4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I Love Cryptography!</a:t>
            </a:r>
            <a:endParaRPr b="1" i="0" sz="2400" u="none" cap="none" strike="noStrike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grpSp>
        <p:nvGrpSpPr>
          <p:cNvPr id="1366" name="Google Shape;1366;p159"/>
          <p:cNvGrpSpPr/>
          <p:nvPr/>
        </p:nvGrpSpPr>
        <p:grpSpPr>
          <a:xfrm>
            <a:off x="4217337" y="2676975"/>
            <a:ext cx="725449" cy="725449"/>
            <a:chOff x="4898908" y="4195167"/>
            <a:chExt cx="459000" cy="459000"/>
          </a:xfrm>
        </p:grpSpPr>
        <p:sp>
          <p:nvSpPr>
            <p:cNvPr id="1367" name="Google Shape;1367;p159"/>
            <p:cNvSpPr/>
            <p:nvPr/>
          </p:nvSpPr>
          <p:spPr>
            <a:xfrm>
              <a:off x="4898908" y="4195167"/>
              <a:ext cx="459000" cy="4590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082D49"/>
                </a:solidFill>
              </a:endParaRPr>
            </a:p>
          </p:txBody>
        </p:sp>
        <p:sp>
          <p:nvSpPr>
            <p:cNvPr id="1368" name="Google Shape;1368;p159"/>
            <p:cNvSpPr/>
            <p:nvPr/>
          </p:nvSpPr>
          <p:spPr>
            <a:xfrm>
              <a:off x="5081699" y="4434565"/>
              <a:ext cx="93400" cy="187578"/>
            </a:xfrm>
            <a:custGeom>
              <a:rect b="b" l="l" r="r" t="t"/>
              <a:pathLst>
                <a:path extrusionOk="0" fill="none" h="206130" w="102637">
                  <a:moveTo>
                    <a:pt x="0" y="1"/>
                  </a:moveTo>
                  <a:lnTo>
                    <a:pt x="102637" y="103065"/>
                  </a:lnTo>
                  <a:lnTo>
                    <a:pt x="0" y="206129"/>
                  </a:lnTo>
                </a:path>
              </a:pathLst>
            </a:custGeom>
            <a:noFill/>
            <a:ln cap="rnd" cmpd="sng" w="19050">
              <a:solidFill>
                <a:srgbClr val="082D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9" name="Google Shape;1369;p159"/>
          <p:cNvSpPr txBox="1"/>
          <p:nvPr/>
        </p:nvSpPr>
        <p:spPr>
          <a:xfrm>
            <a:off x="4235650" y="2688875"/>
            <a:ext cx="6888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MD5</a:t>
            </a:r>
            <a:endParaRPr sz="18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60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Difference 1: Keys vs</a:t>
            </a: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.</a:t>
            </a: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 No Keys</a:t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375" name="Google Shape;1375;p160"/>
          <p:cNvSpPr txBox="1"/>
          <p:nvPr/>
        </p:nvSpPr>
        <p:spPr>
          <a:xfrm>
            <a:off x="7620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Encryption takes plaintext and converts it to ciphertext with a key and an algorithm.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76" name="Google Shape;1376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6438" y="1471550"/>
            <a:ext cx="1110099" cy="5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60"/>
          <p:cNvSpPr txBox="1"/>
          <p:nvPr/>
        </p:nvSpPr>
        <p:spPr>
          <a:xfrm>
            <a:off x="2205838" y="1859303"/>
            <a:ext cx="14913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Encryption Key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78" name="Google Shape;1378;p160"/>
          <p:cNvSpPr txBox="1"/>
          <p:nvPr/>
        </p:nvSpPr>
        <p:spPr>
          <a:xfrm>
            <a:off x="5494438" y="1859303"/>
            <a:ext cx="14913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Decryption Key</a:t>
            </a:r>
            <a:endParaRPr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379" name="Google Shape;1379;p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5038" y="1471550"/>
            <a:ext cx="1110099" cy="5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0" name="Google Shape;1380;p160"/>
          <p:cNvSpPr txBox="1"/>
          <p:nvPr/>
        </p:nvSpPr>
        <p:spPr>
          <a:xfrm>
            <a:off x="967050" y="2372200"/>
            <a:ext cx="977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Plaintext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1" name="Google Shape;1381;p160"/>
          <p:cNvSpPr txBox="1"/>
          <p:nvPr/>
        </p:nvSpPr>
        <p:spPr>
          <a:xfrm>
            <a:off x="7318075" y="2372200"/>
            <a:ext cx="977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Plaintext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2" name="Google Shape;1382;p160"/>
          <p:cNvSpPr txBox="1"/>
          <p:nvPr/>
        </p:nvSpPr>
        <p:spPr>
          <a:xfrm>
            <a:off x="3882275" y="2372200"/>
            <a:ext cx="14028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Encrypted Text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83" name="Google Shape;1383;p160"/>
          <p:cNvGrpSpPr/>
          <p:nvPr/>
        </p:nvGrpSpPr>
        <p:grpSpPr>
          <a:xfrm>
            <a:off x="4132508" y="1191825"/>
            <a:ext cx="902334" cy="1133917"/>
            <a:chOff x="4132508" y="1191825"/>
            <a:chExt cx="902334" cy="1133917"/>
          </a:xfrm>
        </p:grpSpPr>
        <p:pic>
          <p:nvPicPr>
            <p:cNvPr id="1384" name="Google Shape;1384;p1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32508" y="1191825"/>
              <a:ext cx="902334" cy="11339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5" name="Google Shape;1385;p160"/>
            <p:cNvSpPr txBox="1"/>
            <p:nvPr/>
          </p:nvSpPr>
          <p:spPr>
            <a:xfrm>
              <a:off x="4238525" y="1471550"/>
              <a:ext cx="6903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15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LXFOPVEFRNHR#</a:t>
              </a:r>
              <a:r>
                <a:rPr b="1" lang="en" sz="115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4</a:t>
              </a:r>
              <a:r>
                <a:rPr b="1" lang="en" sz="115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&amp;/j2</a:t>
              </a:r>
              <a:endParaRPr b="1" sz="115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pic>
        <p:nvPicPr>
          <p:cNvPr id="1386" name="Google Shape;1386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588" y="1209746"/>
            <a:ext cx="902334" cy="1133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5608" y="1191833"/>
            <a:ext cx="902334" cy="1133917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60"/>
          <p:cNvSpPr/>
          <p:nvPr/>
        </p:nvSpPr>
        <p:spPr>
          <a:xfrm>
            <a:off x="-12125" y="2873100"/>
            <a:ext cx="9168600" cy="227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60"/>
          <p:cNvSpPr txBox="1"/>
          <p:nvPr/>
        </p:nvSpPr>
        <p:spPr>
          <a:xfrm>
            <a:off x="967050" y="4617675"/>
            <a:ext cx="977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Plaintext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0" name="Google Shape;1390;p160"/>
          <p:cNvSpPr txBox="1"/>
          <p:nvPr/>
        </p:nvSpPr>
        <p:spPr>
          <a:xfrm>
            <a:off x="3823138" y="4617675"/>
            <a:ext cx="14913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Hash Function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91" name="Google Shape;1391;p1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4588" y="3455221"/>
            <a:ext cx="902334" cy="1133917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60"/>
          <p:cNvSpPr/>
          <p:nvPr/>
        </p:nvSpPr>
        <p:spPr>
          <a:xfrm>
            <a:off x="2243113" y="3930750"/>
            <a:ext cx="13158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3" name="Google Shape;1393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55608" y="3437300"/>
            <a:ext cx="902334" cy="1133917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160"/>
          <p:cNvSpPr txBox="1"/>
          <p:nvPr/>
        </p:nvSpPr>
        <p:spPr>
          <a:xfrm>
            <a:off x="7193125" y="4617675"/>
            <a:ext cx="12273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Hashed Text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5" name="Google Shape;1395;p160"/>
          <p:cNvSpPr txBox="1"/>
          <p:nvPr/>
        </p:nvSpPr>
        <p:spPr>
          <a:xfrm>
            <a:off x="7461625" y="3717025"/>
            <a:ext cx="690300" cy="8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5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LXFOPVEFRNHR#4&amp;/j2</a:t>
            </a:r>
            <a:endParaRPr b="1" sz="115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1396" name="Google Shape;1396;p160"/>
          <p:cNvPicPr preferRelativeResize="0"/>
          <p:nvPr/>
        </p:nvPicPr>
        <p:blipFill rotWithShape="1">
          <a:blip r:embed="rId6">
            <a:alphaModFix/>
          </a:blip>
          <a:srcRect b="0" l="219" r="219" t="0"/>
          <a:stretch/>
        </p:blipFill>
        <p:spPr>
          <a:xfrm>
            <a:off x="3895088" y="3453675"/>
            <a:ext cx="1402800" cy="11271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60"/>
          <p:cNvSpPr/>
          <p:nvPr/>
        </p:nvSpPr>
        <p:spPr>
          <a:xfrm>
            <a:off x="5667988" y="3930750"/>
            <a:ext cx="13158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8" name="Google Shape;1398;p160"/>
          <p:cNvSpPr txBox="1"/>
          <p:nvPr/>
        </p:nvSpPr>
        <p:spPr>
          <a:xfrm>
            <a:off x="0" y="2945850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Hashing takes plaintext and converts it to a message digest with an algorithm and no key.</a:t>
            </a:r>
            <a:endParaRPr sz="16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61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Difference 1: Keys vs. No Keys</a:t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04" name="Google Shape;1404;p161"/>
          <p:cNvSpPr txBox="1"/>
          <p:nvPr/>
        </p:nvSpPr>
        <p:spPr>
          <a:xfrm>
            <a:off x="76200" y="675975"/>
            <a:ext cx="5738400" cy="19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Message digests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are also known as fingerprints, hashes, and checksums.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They are unique identifiers of the plaintext that is outputted from the algorithm.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For example: 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05" name="Google Shape;1405;p161"/>
          <p:cNvPicPr preferRelativeResize="0"/>
          <p:nvPr/>
        </p:nvPicPr>
        <p:blipFill rotWithShape="1">
          <a:blip r:embed="rId3">
            <a:alphaModFix/>
          </a:blip>
          <a:srcRect b="34421" l="0" r="-11632" t="0"/>
          <a:stretch/>
        </p:blipFill>
        <p:spPr>
          <a:xfrm>
            <a:off x="5781075" y="146025"/>
            <a:ext cx="3189026" cy="4997481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161"/>
          <p:cNvSpPr/>
          <p:nvPr/>
        </p:nvSpPr>
        <p:spPr>
          <a:xfrm>
            <a:off x="471800" y="2863625"/>
            <a:ext cx="4890000" cy="685200"/>
          </a:xfrm>
          <a:prstGeom prst="roundRect">
            <a:avLst>
              <a:gd fmla="val 10369" name="adj"/>
            </a:avLst>
          </a:prstGeom>
          <a:solidFill>
            <a:srgbClr val="FCFC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676e4bff90a76853bda00773f7ad4bed</a:t>
            </a:r>
            <a:endParaRPr b="1" sz="22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62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Difference 2: Reversible vs. Irreversible</a:t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12" name="Google Shape;1412;p162"/>
          <p:cNvSpPr txBox="1"/>
          <p:nvPr/>
        </p:nvSpPr>
        <p:spPr>
          <a:xfrm>
            <a:off x="7620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Encryption converts ciphertext and plaintext back and forth using encryption and decryption. 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3" name="Google Shape;1413;p162"/>
          <p:cNvSpPr txBox="1"/>
          <p:nvPr>
            <p:ph idx="4294967295" type="body"/>
          </p:nvPr>
        </p:nvSpPr>
        <p:spPr>
          <a:xfrm>
            <a:off x="2365500" y="4119000"/>
            <a:ext cx="4462200" cy="715200"/>
          </a:xfrm>
          <a:prstGeom prst="rect">
            <a:avLst/>
          </a:prstGeom>
        </p:spPr>
        <p:txBody>
          <a:bodyPr anchorCtr="0" anchor="t" bIns="91425" lIns="45720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Hashing is a </a:t>
            </a:r>
            <a:r>
              <a:rPr b="1" lang="en" sz="1600">
                <a:solidFill>
                  <a:schemeClr val="dk2"/>
                </a:solidFill>
              </a:rPr>
              <a:t>one-way function</a:t>
            </a:r>
            <a:r>
              <a:rPr lang="en" sz="1600">
                <a:solidFill>
                  <a:schemeClr val="dk2"/>
                </a:solidFill>
              </a:rPr>
              <a:t>, meaning it </a:t>
            </a:r>
            <a:br>
              <a:rPr lang="en" sz="1600">
                <a:solidFill>
                  <a:schemeClr val="dk2"/>
                </a:solidFill>
              </a:rPr>
            </a:br>
            <a:r>
              <a:rPr lang="en" sz="1600">
                <a:solidFill>
                  <a:schemeClr val="dk2"/>
                </a:solidFill>
              </a:rPr>
              <a:t>cannot be converted back to plaintext.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1414" name="Google Shape;1414;p162"/>
          <p:cNvSpPr txBox="1"/>
          <p:nvPr/>
        </p:nvSpPr>
        <p:spPr>
          <a:xfrm>
            <a:off x="967050" y="2732975"/>
            <a:ext cx="977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Plaintext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5" name="Google Shape;1415;p162"/>
          <p:cNvSpPr txBox="1"/>
          <p:nvPr/>
        </p:nvSpPr>
        <p:spPr>
          <a:xfrm>
            <a:off x="3783900" y="2732975"/>
            <a:ext cx="16128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Hash Function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16" name="Google Shape;1416;p162"/>
          <p:cNvSpPr/>
          <p:nvPr/>
        </p:nvSpPr>
        <p:spPr>
          <a:xfrm>
            <a:off x="2708698" y="2046050"/>
            <a:ext cx="10752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62"/>
          <p:cNvSpPr txBox="1"/>
          <p:nvPr/>
        </p:nvSpPr>
        <p:spPr>
          <a:xfrm>
            <a:off x="7059775" y="2732975"/>
            <a:ext cx="15168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Hashed Text</a:t>
            </a:r>
            <a:endParaRPr sz="1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8" name="Google Shape;1418;p162"/>
          <p:cNvPicPr preferRelativeResize="0"/>
          <p:nvPr/>
        </p:nvPicPr>
        <p:blipFill rotWithShape="1">
          <a:blip r:embed="rId3">
            <a:alphaModFix/>
          </a:blip>
          <a:srcRect b="0" l="219" r="219" t="0"/>
          <a:stretch/>
        </p:blipFill>
        <p:spPr>
          <a:xfrm>
            <a:off x="3895200" y="1568975"/>
            <a:ext cx="1402800" cy="1127120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62"/>
          <p:cNvSpPr/>
          <p:nvPr/>
        </p:nvSpPr>
        <p:spPr>
          <a:xfrm rot="10800000">
            <a:off x="1461600" y="3168150"/>
            <a:ext cx="6498000" cy="628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0" name="Google Shape;1420;p1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702" y="3209750"/>
            <a:ext cx="687797" cy="90925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421" name="Google Shape;1421;p162"/>
          <p:cNvSpPr/>
          <p:nvPr/>
        </p:nvSpPr>
        <p:spPr>
          <a:xfrm>
            <a:off x="5549823" y="2046050"/>
            <a:ext cx="1075200" cy="3075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162"/>
          <p:cNvSpPr txBox="1"/>
          <p:nvPr/>
        </p:nvSpPr>
        <p:spPr>
          <a:xfrm>
            <a:off x="6828175" y="1835250"/>
            <a:ext cx="2041500" cy="770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676e4bff90a76853bda00773f7ad4bed</a:t>
            </a:r>
            <a:endParaRPr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423" name="Google Shape;1423;p162"/>
          <p:cNvSpPr txBox="1"/>
          <p:nvPr/>
        </p:nvSpPr>
        <p:spPr>
          <a:xfrm>
            <a:off x="435000" y="1835250"/>
            <a:ext cx="2041500" cy="770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18287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“I Love Cryptography!”</a:t>
            </a:r>
            <a:endParaRPr sz="18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63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Difference 3: Output Lengths</a:t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29" name="Google Shape;1429;p163"/>
          <p:cNvSpPr txBox="1"/>
          <p:nvPr/>
        </p:nvSpPr>
        <p:spPr>
          <a:xfrm>
            <a:off x="341600" y="639375"/>
            <a:ext cx="8540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Hashing algorithms output fixed lengths. Regardless of the input length, the output length is always the same.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30" name="Google Shape;1430;p163"/>
          <p:cNvGrpSpPr/>
          <p:nvPr/>
        </p:nvGrpSpPr>
        <p:grpSpPr>
          <a:xfrm>
            <a:off x="293175" y="1528000"/>
            <a:ext cx="8576575" cy="1337090"/>
            <a:chOff x="293175" y="1528000"/>
            <a:chExt cx="8576575" cy="1337090"/>
          </a:xfrm>
        </p:grpSpPr>
        <p:sp>
          <p:nvSpPr>
            <p:cNvPr id="1431" name="Google Shape;1431;p163"/>
            <p:cNvSpPr/>
            <p:nvPr/>
          </p:nvSpPr>
          <p:spPr>
            <a:xfrm flipH="1" rot="10800000">
              <a:off x="4617250" y="1528000"/>
              <a:ext cx="4252500" cy="10500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63"/>
            <p:cNvSpPr txBox="1"/>
            <p:nvPr/>
          </p:nvSpPr>
          <p:spPr>
            <a:xfrm>
              <a:off x="5029200" y="1724700"/>
              <a:ext cx="3740700" cy="10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676e4bff90a76853bda00773f7ad4bed</a:t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2E5E73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3" name="Google Shape;1433;p163"/>
            <p:cNvSpPr/>
            <p:nvPr/>
          </p:nvSpPr>
          <p:spPr>
            <a:xfrm>
              <a:off x="293175" y="1533449"/>
              <a:ext cx="4252500" cy="10359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63"/>
            <p:cNvSpPr txBox="1"/>
            <p:nvPr/>
          </p:nvSpPr>
          <p:spPr>
            <a:xfrm>
              <a:off x="674650" y="1634190"/>
              <a:ext cx="3216900" cy="123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I Love Cryptography!</a:t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5" name="Google Shape;1435;p163"/>
            <p:cNvSpPr/>
            <p:nvPr/>
          </p:nvSpPr>
          <p:spPr>
            <a:xfrm>
              <a:off x="4217337" y="1686375"/>
              <a:ext cx="725400" cy="7254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#</a:t>
              </a:r>
              <a:endParaRPr b="1" sz="30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grpSp>
        <p:nvGrpSpPr>
          <p:cNvPr id="1436" name="Google Shape;1436;p163"/>
          <p:cNvGrpSpPr/>
          <p:nvPr/>
        </p:nvGrpSpPr>
        <p:grpSpPr>
          <a:xfrm>
            <a:off x="323675" y="2615000"/>
            <a:ext cx="8576575" cy="1337090"/>
            <a:chOff x="323650" y="2678100"/>
            <a:chExt cx="8576575" cy="1337090"/>
          </a:xfrm>
        </p:grpSpPr>
        <p:sp>
          <p:nvSpPr>
            <p:cNvPr id="1437" name="Google Shape;1437;p163"/>
            <p:cNvSpPr/>
            <p:nvPr/>
          </p:nvSpPr>
          <p:spPr>
            <a:xfrm flipH="1" rot="10800000">
              <a:off x="4647725" y="2678100"/>
              <a:ext cx="4252500" cy="10500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63"/>
            <p:cNvSpPr txBox="1"/>
            <p:nvPr/>
          </p:nvSpPr>
          <p:spPr>
            <a:xfrm>
              <a:off x="5059675" y="2874800"/>
              <a:ext cx="3740700" cy="10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c1a5298f939e87e8f962a5edfc206918</a:t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2E5E73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39" name="Google Shape;1439;p163"/>
            <p:cNvSpPr/>
            <p:nvPr/>
          </p:nvSpPr>
          <p:spPr>
            <a:xfrm>
              <a:off x="323650" y="2683549"/>
              <a:ext cx="4252500" cy="10359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63"/>
            <p:cNvSpPr txBox="1"/>
            <p:nvPr/>
          </p:nvSpPr>
          <p:spPr>
            <a:xfrm>
              <a:off x="705125" y="2784290"/>
              <a:ext cx="3216900" cy="123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Hi</a:t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1" name="Google Shape;1441;p163"/>
            <p:cNvSpPr/>
            <p:nvPr/>
          </p:nvSpPr>
          <p:spPr>
            <a:xfrm>
              <a:off x="4247812" y="2836475"/>
              <a:ext cx="725400" cy="7254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#</a:t>
              </a:r>
              <a:endParaRPr b="1" sz="30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grpSp>
        <p:nvGrpSpPr>
          <p:cNvPr id="1442" name="Google Shape;1442;p163"/>
          <p:cNvGrpSpPr/>
          <p:nvPr/>
        </p:nvGrpSpPr>
        <p:grpSpPr>
          <a:xfrm>
            <a:off x="323663" y="3736925"/>
            <a:ext cx="8576575" cy="1337225"/>
            <a:chOff x="378600" y="3719450"/>
            <a:chExt cx="8576575" cy="1337225"/>
          </a:xfrm>
        </p:grpSpPr>
        <p:sp>
          <p:nvSpPr>
            <p:cNvPr id="1443" name="Google Shape;1443;p163"/>
            <p:cNvSpPr/>
            <p:nvPr/>
          </p:nvSpPr>
          <p:spPr>
            <a:xfrm flipH="1" rot="10800000">
              <a:off x="4702675" y="3719450"/>
              <a:ext cx="4252500" cy="10500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63"/>
            <p:cNvSpPr txBox="1"/>
            <p:nvPr/>
          </p:nvSpPr>
          <p:spPr>
            <a:xfrm>
              <a:off x="5114638" y="4603225"/>
              <a:ext cx="3740700" cy="3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lt1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124650d689d47f777f715a25260a29c2</a:t>
              </a:r>
              <a:endParaRPr b="1" sz="1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This is the hash of the entire U.S. Declaration of Independence!</a:t>
              </a:r>
              <a:endPara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2E5E73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5" name="Google Shape;1445;p163"/>
            <p:cNvSpPr/>
            <p:nvPr/>
          </p:nvSpPr>
          <p:spPr>
            <a:xfrm>
              <a:off x="378600" y="3724899"/>
              <a:ext cx="4252500" cy="10359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63"/>
            <p:cNvSpPr txBox="1"/>
            <p:nvPr/>
          </p:nvSpPr>
          <p:spPr>
            <a:xfrm>
              <a:off x="760063" y="4331275"/>
              <a:ext cx="3216900" cy="72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We hold these truths to be self-evident, that all men are created equal, that they are endowed by their Creator with certain unalienable Rights, that among these are Life, Liberty, and the pursuit of Happiness…</a:t>
              </a:r>
              <a:endParaRPr b="1" sz="11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7" name="Google Shape;1447;p163"/>
            <p:cNvSpPr/>
            <p:nvPr/>
          </p:nvSpPr>
          <p:spPr>
            <a:xfrm>
              <a:off x="4302762" y="3877825"/>
              <a:ext cx="725400" cy="7254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#</a:t>
              </a:r>
              <a:endParaRPr b="1" sz="30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2" name="Google Shape;1452;p164"/>
          <p:cNvPicPr preferRelativeResize="0"/>
          <p:nvPr/>
        </p:nvPicPr>
        <p:blipFill rotWithShape="1">
          <a:blip r:embed="rId3">
            <a:alphaModFix/>
          </a:blip>
          <a:srcRect b="-7937" l="-3097" r="-3717" t="-7937"/>
          <a:stretch/>
        </p:blipFill>
        <p:spPr>
          <a:xfrm>
            <a:off x="1338925" y="810500"/>
            <a:ext cx="6466139" cy="3938338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164"/>
          <p:cNvSpPr txBox="1"/>
          <p:nvPr>
            <p:ph idx="4294967295" type="subTitle"/>
          </p:nvPr>
        </p:nvSpPr>
        <p:spPr>
          <a:xfrm>
            <a:off x="2054950" y="1993700"/>
            <a:ext cx="2083500" cy="1445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Encryption’s</a:t>
            </a:r>
            <a:r>
              <a:rPr lang="en" sz="2800"/>
              <a:t> main goal is </a:t>
            </a:r>
            <a:r>
              <a:rPr b="1" lang="en" sz="2800"/>
              <a:t>privacy</a:t>
            </a:r>
            <a:r>
              <a:rPr lang="en" sz="2800"/>
              <a:t>.</a:t>
            </a:r>
            <a:endParaRPr sz="2800"/>
          </a:p>
        </p:txBody>
      </p:sp>
      <p:sp>
        <p:nvSpPr>
          <p:cNvPr id="1454" name="Google Shape;1454;p164"/>
          <p:cNvSpPr txBox="1"/>
          <p:nvPr>
            <p:ph idx="4294967295" type="body"/>
          </p:nvPr>
        </p:nvSpPr>
        <p:spPr>
          <a:xfrm>
            <a:off x="5327775" y="1993700"/>
            <a:ext cx="2083500" cy="1445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Hashing’s main goal is </a:t>
            </a:r>
            <a:r>
              <a:rPr b="1" lang="en" sz="2800"/>
              <a:t>integrity</a:t>
            </a:r>
            <a:r>
              <a:rPr lang="en" sz="2800"/>
              <a:t>.</a:t>
            </a:r>
            <a:endParaRPr sz="2800"/>
          </a:p>
        </p:txBody>
      </p:sp>
      <p:sp>
        <p:nvSpPr>
          <p:cNvPr id="1455" name="Google Shape;1455;p164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Difference 4: Goals</a:t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65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Difference 4: Goals</a:t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1" name="Google Shape;1461;p165"/>
          <p:cNvSpPr txBox="1"/>
          <p:nvPr/>
        </p:nvSpPr>
        <p:spPr>
          <a:xfrm>
            <a:off x="341625" y="613150"/>
            <a:ext cx="8540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If a small change is made to the sentence, the same hashing algorithm would produce a completely different message digest.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62" name="Google Shape;1462;p165"/>
          <p:cNvGrpSpPr/>
          <p:nvPr/>
        </p:nvGrpSpPr>
        <p:grpSpPr>
          <a:xfrm>
            <a:off x="293175" y="1832800"/>
            <a:ext cx="8576575" cy="1337090"/>
            <a:chOff x="293175" y="1528000"/>
            <a:chExt cx="8576575" cy="1337090"/>
          </a:xfrm>
        </p:grpSpPr>
        <p:sp>
          <p:nvSpPr>
            <p:cNvPr id="1463" name="Google Shape;1463;p165"/>
            <p:cNvSpPr/>
            <p:nvPr/>
          </p:nvSpPr>
          <p:spPr>
            <a:xfrm flipH="1" rot="10800000">
              <a:off x="4617250" y="1528000"/>
              <a:ext cx="4252500" cy="10500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65"/>
            <p:cNvSpPr txBox="1"/>
            <p:nvPr/>
          </p:nvSpPr>
          <p:spPr>
            <a:xfrm>
              <a:off x="5029200" y="1724700"/>
              <a:ext cx="3740700" cy="10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676e4bff90a76853bda00773f7ad4bed</a:t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2E5E73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5" name="Google Shape;1465;p165"/>
            <p:cNvSpPr/>
            <p:nvPr/>
          </p:nvSpPr>
          <p:spPr>
            <a:xfrm>
              <a:off x="293175" y="1533449"/>
              <a:ext cx="4252500" cy="10359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65"/>
            <p:cNvSpPr txBox="1"/>
            <p:nvPr/>
          </p:nvSpPr>
          <p:spPr>
            <a:xfrm>
              <a:off x="674650" y="1634190"/>
              <a:ext cx="3216900" cy="123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I </a:t>
              </a: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L</a:t>
              </a: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ove </a:t>
              </a: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C</a:t>
              </a: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ryptography!</a:t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67" name="Google Shape;1467;p165"/>
            <p:cNvSpPr/>
            <p:nvPr/>
          </p:nvSpPr>
          <p:spPr>
            <a:xfrm>
              <a:off x="4217337" y="1686375"/>
              <a:ext cx="725400" cy="7254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#</a:t>
              </a:r>
              <a:endParaRPr b="1" sz="30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grpSp>
        <p:nvGrpSpPr>
          <p:cNvPr id="1468" name="Google Shape;1468;p165"/>
          <p:cNvGrpSpPr/>
          <p:nvPr/>
        </p:nvGrpSpPr>
        <p:grpSpPr>
          <a:xfrm>
            <a:off x="323675" y="2919800"/>
            <a:ext cx="8576575" cy="1337090"/>
            <a:chOff x="323650" y="2678100"/>
            <a:chExt cx="8576575" cy="1337090"/>
          </a:xfrm>
        </p:grpSpPr>
        <p:sp>
          <p:nvSpPr>
            <p:cNvPr id="1469" name="Google Shape;1469;p165"/>
            <p:cNvSpPr/>
            <p:nvPr/>
          </p:nvSpPr>
          <p:spPr>
            <a:xfrm flipH="1" rot="10800000">
              <a:off x="4647725" y="2678100"/>
              <a:ext cx="4252500" cy="10500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65"/>
            <p:cNvSpPr txBox="1"/>
            <p:nvPr/>
          </p:nvSpPr>
          <p:spPr>
            <a:xfrm>
              <a:off x="5059675" y="2874800"/>
              <a:ext cx="3740700" cy="10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4e6fc433ff57a6c4a854cbbeff65f61a</a:t>
              </a:r>
              <a:endParaRPr b="1" sz="18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2E5E73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1" name="Google Shape;1471;p165"/>
            <p:cNvSpPr/>
            <p:nvPr/>
          </p:nvSpPr>
          <p:spPr>
            <a:xfrm>
              <a:off x="323650" y="2683549"/>
              <a:ext cx="4252500" cy="1035900"/>
            </a:xfrm>
            <a:prstGeom prst="round2DiagRect">
              <a:avLst>
                <a:gd fmla="val 0" name="adj1"/>
                <a:gd fmla="val 17764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65"/>
            <p:cNvSpPr txBox="1"/>
            <p:nvPr/>
          </p:nvSpPr>
          <p:spPr>
            <a:xfrm>
              <a:off x="705125" y="2784290"/>
              <a:ext cx="3216900" cy="123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I Love Cryptography!</a:t>
              </a:r>
              <a:r>
                <a:rPr b="1" lang="en" sz="1800">
                  <a:solidFill>
                    <a:schemeClr val="dk2"/>
                  </a:solidFill>
                  <a:highlight>
                    <a:schemeClr val="accent1"/>
                  </a:highlight>
                  <a:latin typeface="Inconsolata"/>
                  <a:ea typeface="Inconsolata"/>
                  <a:cs typeface="Inconsolata"/>
                  <a:sym typeface="Inconsolata"/>
                </a:rPr>
                <a:t>!</a:t>
              </a:r>
              <a:endParaRPr b="1" sz="1800">
                <a:solidFill>
                  <a:srgbClr val="082D49"/>
                </a:solidFill>
                <a:highlight>
                  <a:schemeClr val="accent1"/>
                </a:highlight>
                <a:latin typeface="Inconsolata"/>
                <a:ea typeface="Inconsolata"/>
                <a:cs typeface="Inconsolata"/>
                <a:sym typeface="Inconsolat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sz="16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73" name="Google Shape;1473;p165"/>
            <p:cNvSpPr/>
            <p:nvPr/>
          </p:nvSpPr>
          <p:spPr>
            <a:xfrm>
              <a:off x="4247812" y="2836475"/>
              <a:ext cx="725400" cy="7254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0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#</a:t>
              </a:r>
              <a:endParaRPr b="1" sz="3000">
                <a:solidFill>
                  <a:srgbClr val="082D49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8" name="Google Shape;1478;p166"/>
          <p:cNvGraphicFramePr/>
          <p:nvPr/>
        </p:nvGraphicFramePr>
        <p:xfrm>
          <a:off x="392625" y="126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{A5898895-870B-4271-8926-57279B42F52C}</a:tableStyleId>
              </a:tblPr>
              <a:tblGrid>
                <a:gridCol w="2136875"/>
                <a:gridCol w="6029300"/>
              </a:tblGrid>
              <a:tr h="808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SHA</a:t>
                      </a:r>
                      <a:endParaRPr b="1"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Stands for secure hash algorithms and includes its successors 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SHA1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SHA2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83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SHA2</a:t>
                      </a:r>
                      <a:endParaRPr b="1"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Has variations with different security strengths:</a:t>
                      </a:r>
                      <a:endParaRPr sz="16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SHA-256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and 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SHA-512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434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5E7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434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812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5E73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MD</a:t>
                      </a:r>
                      <a:endParaRPr b="1"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Stands for message digest and has several variations: </a:t>
                      </a:r>
                      <a:endParaRPr sz="16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MD2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MD4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and 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MD5</a:t>
                      </a: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434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434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434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1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LM and NTLM</a:t>
                      </a:r>
                      <a:endParaRPr b="1" sz="18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371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5715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accent5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Are hashes used by Windows.</a:t>
                      </a:r>
                      <a:endParaRPr sz="1600">
                        <a:solidFill>
                          <a:schemeClr val="accent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4346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4346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4346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1479" name="Google Shape;1479;p166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Hashing Algorithms</a:t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80" name="Google Shape;1480;p166"/>
          <p:cNvSpPr txBox="1"/>
          <p:nvPr/>
        </p:nvSpPr>
        <p:spPr>
          <a:xfrm>
            <a:off x="7620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Hashing has several algorithms: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167"/>
          <p:cNvSpPr txBox="1"/>
          <p:nvPr>
            <p:ph idx="1" type="body"/>
          </p:nvPr>
        </p:nvSpPr>
        <p:spPr>
          <a:xfrm>
            <a:off x="367425" y="1019525"/>
            <a:ext cx="3529800" cy="3363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here are </a:t>
            </a:r>
            <a:r>
              <a:rPr b="1" lang="en"/>
              <a:t>command-line tools</a:t>
            </a:r>
            <a:r>
              <a:rPr lang="en"/>
              <a:t> that easily create message digests with a simple terminal command.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m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d5sum</a:t>
            </a:r>
            <a:r>
              <a:rPr lang="en"/>
              <a:t> uses the MD5 hashing algorithm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s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ha256sum</a:t>
            </a:r>
            <a:r>
              <a:rPr lang="en"/>
              <a:t> uses the SHA-256 hashing algorithm </a:t>
            </a:r>
            <a:endParaRPr/>
          </a:p>
        </p:txBody>
      </p:sp>
      <p:cxnSp>
        <p:nvCxnSpPr>
          <p:cNvPr id="1486" name="Google Shape;1486;p167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487" name="Google Shape;1487;p167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6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8" name="Google Shape;1488;p167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67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90" name="Google Shape;1490;p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91" name="Google Shape;1491;p167"/>
          <p:cNvGrpSpPr/>
          <p:nvPr/>
        </p:nvGrpSpPr>
        <p:grpSpPr>
          <a:xfrm>
            <a:off x="3986175" y="1282669"/>
            <a:ext cx="4935900" cy="2786899"/>
            <a:chOff x="3820275" y="1562094"/>
            <a:chExt cx="4935900" cy="2786899"/>
          </a:xfrm>
        </p:grpSpPr>
        <p:grpSp>
          <p:nvGrpSpPr>
            <p:cNvPr id="1492" name="Google Shape;1492;p167"/>
            <p:cNvGrpSpPr/>
            <p:nvPr/>
          </p:nvGrpSpPr>
          <p:grpSpPr>
            <a:xfrm>
              <a:off x="3820280" y="1562094"/>
              <a:ext cx="4935799" cy="198479"/>
              <a:chOff x="283441" y="1680659"/>
              <a:chExt cx="4879200" cy="200100"/>
            </a:xfrm>
          </p:grpSpPr>
          <p:sp>
            <p:nvSpPr>
              <p:cNvPr id="1493" name="Google Shape;1493;p167"/>
              <p:cNvSpPr/>
              <p:nvPr/>
            </p:nvSpPr>
            <p:spPr>
              <a:xfrm>
                <a:off x="283441" y="1680659"/>
                <a:ext cx="4879200" cy="200100"/>
              </a:xfrm>
              <a:prstGeom prst="round2SameRect">
                <a:avLst>
                  <a:gd fmla="val 16667" name="adj1"/>
                  <a:gd fmla="val 0" name="adj2"/>
                </a:avLst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167"/>
              <p:cNvSpPr/>
              <p:nvPr/>
            </p:nvSpPr>
            <p:spPr>
              <a:xfrm>
                <a:off x="350750" y="1739300"/>
                <a:ext cx="82800" cy="82800"/>
              </a:xfrm>
              <a:prstGeom prst="ellipse">
                <a:avLst/>
              </a:prstGeom>
              <a:solidFill>
                <a:srgbClr val="FF0000">
                  <a:alpha val="7152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167"/>
              <p:cNvSpPr/>
              <p:nvPr/>
            </p:nvSpPr>
            <p:spPr>
              <a:xfrm>
                <a:off x="462575" y="1739300"/>
                <a:ext cx="82800" cy="828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167"/>
              <p:cNvSpPr/>
              <p:nvPr/>
            </p:nvSpPr>
            <p:spPr>
              <a:xfrm>
                <a:off x="574400" y="1739300"/>
                <a:ext cx="82800" cy="82800"/>
              </a:xfrm>
              <a:prstGeom prst="ellipse">
                <a:avLst/>
              </a:prstGeom>
              <a:solidFill>
                <a:srgbClr val="4FA78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7" name="Google Shape;1497;p167"/>
            <p:cNvSpPr/>
            <p:nvPr/>
          </p:nvSpPr>
          <p:spPr>
            <a:xfrm>
              <a:off x="3820275" y="1760593"/>
              <a:ext cx="4935900" cy="25884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t" bIns="91425" lIns="274300" spcFirstLastPara="1" rIns="91425" wrap="square" tIns="91425">
              <a:noAutofit/>
            </a:bodyPr>
            <a:lstStyle/>
            <a:p>
              <a:pPr indent="0" lvl="0" marL="0" marR="15240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800">
                  <a:solidFill>
                    <a:srgbClr val="00C7CC"/>
                  </a:solidFill>
                  <a:latin typeface="Inconsolata Medium"/>
                  <a:ea typeface="Inconsolata Medium"/>
                  <a:cs typeface="Inconsolata Medium"/>
                  <a:sym typeface="Inconsolata Medium"/>
                </a:rPr>
                <a:t>sysadmin@ubuntu</a:t>
              </a:r>
              <a:r>
                <a:rPr lang="en" sz="1800">
                  <a:solidFill>
                    <a:schemeClr val="lt1"/>
                  </a:solidFill>
                  <a:latin typeface="Inconsolata Medium"/>
                  <a:ea typeface="Inconsolata Medium"/>
                  <a:cs typeface="Inconsolata Medium"/>
                  <a:sym typeface="Inconsolata Medium"/>
                </a:rPr>
                <a:t>:</a:t>
              </a:r>
              <a:r>
                <a:rPr lang="en" sz="1800">
                  <a:solidFill>
                    <a:schemeClr val="accent1"/>
                  </a:solidFill>
                  <a:latin typeface="Inconsolata Medium"/>
                  <a:ea typeface="Inconsolata Medium"/>
                  <a:cs typeface="Inconsolata Medium"/>
                  <a:sym typeface="Inconsolata Medium"/>
                </a:rPr>
                <a:t>~$ </a:t>
              </a:r>
              <a:r>
                <a:rPr lang="en" sz="1800">
                  <a:solidFill>
                    <a:schemeClr val="lt1"/>
                  </a:solidFill>
                  <a:latin typeface="Inconsolata Medium"/>
                  <a:ea typeface="Inconsolata Medium"/>
                  <a:cs typeface="Inconsolata Medium"/>
                  <a:sym typeface="Inconsolata Medium"/>
                </a:rPr>
                <a:t>md5sum</a:t>
              </a:r>
              <a:endParaRPr sz="18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  <a:p>
              <a:pPr indent="0" lvl="0" marL="0" marR="15240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  <a:p>
              <a:pPr indent="0" lvl="0" marL="0" marR="15240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  <a:p>
              <a:pPr indent="0" lvl="0" marL="0" marR="15240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accent4"/>
                  </a:solidFill>
                  <a:latin typeface="Inconsolata Medium"/>
                  <a:ea typeface="Inconsolata Medium"/>
                  <a:cs typeface="Inconsolata Medium"/>
                  <a:sym typeface="Inconsolata Medium"/>
                </a:rPr>
                <a:t>sysadmin@ubuntu</a:t>
              </a:r>
              <a:r>
                <a:rPr lang="en" sz="1800">
                  <a:solidFill>
                    <a:schemeClr val="lt1"/>
                  </a:solidFill>
                  <a:latin typeface="Inconsolata Medium"/>
                  <a:ea typeface="Inconsolata Medium"/>
                  <a:cs typeface="Inconsolata Medium"/>
                  <a:sym typeface="Inconsolata Medium"/>
                </a:rPr>
                <a:t>:</a:t>
              </a:r>
              <a:r>
                <a:rPr lang="en" sz="1800">
                  <a:solidFill>
                    <a:schemeClr val="accent1"/>
                  </a:solidFill>
                  <a:latin typeface="Inconsolata Medium"/>
                  <a:ea typeface="Inconsolata Medium"/>
                  <a:cs typeface="Inconsolata Medium"/>
                  <a:sym typeface="Inconsolata Medium"/>
                </a:rPr>
                <a:t>~$ </a:t>
              </a:r>
              <a:r>
                <a:rPr lang="en" sz="1800">
                  <a:solidFill>
                    <a:schemeClr val="lt1"/>
                  </a:solidFill>
                  <a:latin typeface="Inconsolata Medium"/>
                  <a:ea typeface="Inconsolata Medium"/>
                  <a:cs typeface="Inconsolata Medium"/>
                  <a:sym typeface="Inconsolata Medium"/>
                </a:rPr>
                <a:t>sha256sum</a:t>
              </a:r>
              <a:endParaRPr sz="1800">
                <a:solidFill>
                  <a:schemeClr val="lt1"/>
                </a:solidFill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  <a:p>
              <a:pPr indent="0" lvl="0" marL="0" marR="152400" rtl="0" algn="l">
                <a:lnSpc>
                  <a:spcPct val="14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t/>
              </a:r>
              <a:endParaRPr sz="1800">
                <a:solidFill>
                  <a:schemeClr val="accent1"/>
                </a:solidFill>
                <a:latin typeface="Inconsolata Medium"/>
                <a:ea typeface="Inconsolata Medium"/>
                <a:cs typeface="Inconsolata Medium"/>
                <a:sym typeface="Inconsolata Medium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68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Creating hashes on the command line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69"/>
          <p:cNvSpPr txBox="1"/>
          <p:nvPr/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Hashing and Data Integrity</a:t>
            </a: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Summary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08" name="Google Shape;1508;p169"/>
          <p:cNvGrpSpPr/>
          <p:nvPr/>
        </p:nvGrpSpPr>
        <p:grpSpPr>
          <a:xfrm>
            <a:off x="0" y="1068225"/>
            <a:ext cx="8686828" cy="400200"/>
            <a:chOff x="-3" y="1296817"/>
            <a:chExt cx="8686828" cy="400200"/>
          </a:xfrm>
        </p:grpSpPr>
        <p:grpSp>
          <p:nvGrpSpPr>
            <p:cNvPr id="1509" name="Google Shape;1509;p169"/>
            <p:cNvGrpSpPr/>
            <p:nvPr/>
          </p:nvGrpSpPr>
          <p:grpSpPr>
            <a:xfrm>
              <a:off x="-3" y="1296817"/>
              <a:ext cx="8686828" cy="400200"/>
              <a:chOff x="-3" y="1885788"/>
              <a:chExt cx="8686828" cy="400200"/>
            </a:xfrm>
          </p:grpSpPr>
          <p:cxnSp>
            <p:nvCxnSpPr>
              <p:cNvPr id="1510" name="Google Shape;1510;p169"/>
              <p:cNvCxnSpPr/>
              <p:nvPr/>
            </p:nvCxnSpPr>
            <p:spPr>
              <a:xfrm>
                <a:off x="-3" y="2085888"/>
                <a:ext cx="6624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E5E73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cxnSp>
            <p:nvCxnSpPr>
              <p:cNvPr id="1511" name="Google Shape;1511;p169"/>
              <p:cNvCxnSpPr/>
              <p:nvPr/>
            </p:nvCxnSpPr>
            <p:spPr>
              <a:xfrm>
                <a:off x="-3" y="2085888"/>
                <a:ext cx="6729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E5E73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sp>
            <p:nvSpPr>
              <p:cNvPr id="1512" name="Google Shape;1512;p169"/>
              <p:cNvSpPr/>
              <p:nvPr/>
            </p:nvSpPr>
            <p:spPr>
              <a:xfrm>
                <a:off x="596125" y="1885788"/>
                <a:ext cx="8090700" cy="400200"/>
              </a:xfrm>
              <a:prstGeom prst="roundRect">
                <a:avLst>
                  <a:gd fmla="val 16667" name="adj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3" name="Google Shape;1513;p169"/>
              <p:cNvSpPr/>
              <p:nvPr/>
            </p:nvSpPr>
            <p:spPr>
              <a:xfrm>
                <a:off x="513600" y="1924338"/>
                <a:ext cx="323100" cy="323100"/>
              </a:xfrm>
              <a:prstGeom prst="ellipse">
                <a:avLst/>
              </a:prstGeom>
              <a:solidFill>
                <a:srgbClr val="F2F2F2"/>
              </a:solidFill>
              <a:ln cap="flat" cmpd="sng" w="76200">
                <a:solidFill>
                  <a:srgbClr val="2E5E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82D4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4" name="Google Shape;1514;p169"/>
              <p:cNvSpPr/>
              <p:nvPr/>
            </p:nvSpPr>
            <p:spPr>
              <a:xfrm>
                <a:off x="593400" y="2004138"/>
                <a:ext cx="163500" cy="163500"/>
              </a:xfrm>
              <a:prstGeom prst="ellipse">
                <a:avLst/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15" name="Google Shape;1515;p169"/>
            <p:cNvSpPr txBox="1"/>
            <p:nvPr/>
          </p:nvSpPr>
          <p:spPr>
            <a:xfrm>
              <a:off x="914400" y="1313850"/>
              <a:ext cx="77169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While encryption is used for confidentiality, hashing is used for integrity.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6" name="Google Shape;1516;p169"/>
          <p:cNvGrpSpPr/>
          <p:nvPr/>
        </p:nvGrpSpPr>
        <p:grpSpPr>
          <a:xfrm>
            <a:off x="0" y="3438475"/>
            <a:ext cx="8686828" cy="400200"/>
            <a:chOff x="-3" y="3658022"/>
            <a:chExt cx="8686828" cy="400200"/>
          </a:xfrm>
        </p:grpSpPr>
        <p:grpSp>
          <p:nvGrpSpPr>
            <p:cNvPr id="1517" name="Google Shape;1517;p169"/>
            <p:cNvGrpSpPr/>
            <p:nvPr/>
          </p:nvGrpSpPr>
          <p:grpSpPr>
            <a:xfrm>
              <a:off x="-3" y="3658022"/>
              <a:ext cx="8686828" cy="400200"/>
              <a:chOff x="-3" y="2566213"/>
              <a:chExt cx="8686828" cy="400200"/>
            </a:xfrm>
          </p:grpSpPr>
          <p:cxnSp>
            <p:nvCxnSpPr>
              <p:cNvPr id="1518" name="Google Shape;1518;p169"/>
              <p:cNvCxnSpPr/>
              <p:nvPr/>
            </p:nvCxnSpPr>
            <p:spPr>
              <a:xfrm>
                <a:off x="-3" y="2766313"/>
                <a:ext cx="6663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E5E73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sp>
            <p:nvSpPr>
              <p:cNvPr id="1519" name="Google Shape;1519;p169"/>
              <p:cNvSpPr/>
              <p:nvPr/>
            </p:nvSpPr>
            <p:spPr>
              <a:xfrm>
                <a:off x="596125" y="2566213"/>
                <a:ext cx="8090700" cy="400200"/>
              </a:xfrm>
              <a:prstGeom prst="roundRect">
                <a:avLst>
                  <a:gd fmla="val 16667" name="adj"/>
                </a:avLst>
              </a:prstGeom>
              <a:solidFill>
                <a:srgbClr val="F2F2F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0" name="Google Shape;1520;p169"/>
              <p:cNvSpPr/>
              <p:nvPr/>
            </p:nvSpPr>
            <p:spPr>
              <a:xfrm>
                <a:off x="513600" y="2604763"/>
                <a:ext cx="323100" cy="323100"/>
              </a:xfrm>
              <a:prstGeom prst="ellipse">
                <a:avLst/>
              </a:prstGeom>
              <a:solidFill>
                <a:srgbClr val="F2F2F2"/>
              </a:solidFill>
              <a:ln cap="flat" cmpd="sng" w="76200">
                <a:solidFill>
                  <a:srgbClr val="2E5E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82D4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169"/>
              <p:cNvSpPr/>
              <p:nvPr/>
            </p:nvSpPr>
            <p:spPr>
              <a:xfrm>
                <a:off x="593400" y="2684563"/>
                <a:ext cx="163500" cy="163500"/>
              </a:xfrm>
              <a:prstGeom prst="ellipse">
                <a:avLst/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22" name="Google Shape;1522;p169"/>
            <p:cNvSpPr txBox="1"/>
            <p:nvPr/>
          </p:nvSpPr>
          <p:spPr>
            <a:xfrm>
              <a:off x="914400" y="3675272"/>
              <a:ext cx="77724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Common hashing algorithms are SHA1, SHA2, and MD5.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23" name="Google Shape;1523;p169"/>
          <p:cNvGrpSpPr/>
          <p:nvPr/>
        </p:nvGrpSpPr>
        <p:grpSpPr>
          <a:xfrm>
            <a:off x="0" y="1631700"/>
            <a:ext cx="8686515" cy="740100"/>
            <a:chOff x="0" y="1820700"/>
            <a:chExt cx="8631275" cy="740100"/>
          </a:xfrm>
        </p:grpSpPr>
        <p:sp>
          <p:nvSpPr>
            <p:cNvPr id="1524" name="Google Shape;1524;p169"/>
            <p:cNvSpPr/>
            <p:nvPr/>
          </p:nvSpPr>
          <p:spPr>
            <a:xfrm>
              <a:off x="639275" y="1820700"/>
              <a:ext cx="7992000" cy="7401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25" name="Google Shape;1525;p169"/>
            <p:cNvGrpSpPr/>
            <p:nvPr/>
          </p:nvGrpSpPr>
          <p:grpSpPr>
            <a:xfrm>
              <a:off x="0" y="2034299"/>
              <a:ext cx="836703" cy="323100"/>
              <a:chOff x="-3" y="2076738"/>
              <a:chExt cx="836703" cy="323100"/>
            </a:xfrm>
          </p:grpSpPr>
          <p:cxnSp>
            <p:nvCxnSpPr>
              <p:cNvPr id="1526" name="Google Shape;1526;p169"/>
              <p:cNvCxnSpPr/>
              <p:nvPr/>
            </p:nvCxnSpPr>
            <p:spPr>
              <a:xfrm>
                <a:off x="-3" y="2238288"/>
                <a:ext cx="6729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E5E73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sp>
            <p:nvSpPr>
              <p:cNvPr id="1527" name="Google Shape;1527;p169"/>
              <p:cNvSpPr/>
              <p:nvPr/>
            </p:nvSpPr>
            <p:spPr>
              <a:xfrm>
                <a:off x="513600" y="2076738"/>
                <a:ext cx="323100" cy="323100"/>
              </a:xfrm>
              <a:prstGeom prst="ellipse">
                <a:avLst/>
              </a:prstGeom>
              <a:solidFill>
                <a:srgbClr val="F2F2F2"/>
              </a:solidFill>
              <a:ln cap="flat" cmpd="sng" w="76200">
                <a:solidFill>
                  <a:srgbClr val="2E5E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82D4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8" name="Google Shape;1528;p169"/>
              <p:cNvSpPr/>
              <p:nvPr/>
            </p:nvSpPr>
            <p:spPr>
              <a:xfrm>
                <a:off x="593400" y="2156538"/>
                <a:ext cx="163500" cy="163500"/>
              </a:xfrm>
              <a:prstGeom prst="ellipse">
                <a:avLst/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29" name="Google Shape;1529;p169"/>
            <p:cNvSpPr txBox="1"/>
            <p:nvPr/>
          </p:nvSpPr>
          <p:spPr>
            <a:xfrm>
              <a:off x="935300" y="1820700"/>
              <a:ext cx="7695900" cy="6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Hashing uses hashing algorithms to create message digests from plaintext.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0" name="Google Shape;1530;p169"/>
          <p:cNvGrpSpPr/>
          <p:nvPr/>
        </p:nvGrpSpPr>
        <p:grpSpPr>
          <a:xfrm>
            <a:off x="0" y="2535100"/>
            <a:ext cx="8686515" cy="740100"/>
            <a:chOff x="0" y="1820700"/>
            <a:chExt cx="8631275" cy="740100"/>
          </a:xfrm>
        </p:grpSpPr>
        <p:sp>
          <p:nvSpPr>
            <p:cNvPr id="1531" name="Google Shape;1531;p169"/>
            <p:cNvSpPr/>
            <p:nvPr/>
          </p:nvSpPr>
          <p:spPr>
            <a:xfrm>
              <a:off x="639275" y="1820700"/>
              <a:ext cx="7992000" cy="7401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32" name="Google Shape;1532;p169"/>
            <p:cNvGrpSpPr/>
            <p:nvPr/>
          </p:nvGrpSpPr>
          <p:grpSpPr>
            <a:xfrm>
              <a:off x="0" y="2034299"/>
              <a:ext cx="836703" cy="323100"/>
              <a:chOff x="-3" y="2076738"/>
              <a:chExt cx="836703" cy="323100"/>
            </a:xfrm>
          </p:grpSpPr>
          <p:cxnSp>
            <p:nvCxnSpPr>
              <p:cNvPr id="1533" name="Google Shape;1533;p169"/>
              <p:cNvCxnSpPr/>
              <p:nvPr/>
            </p:nvCxnSpPr>
            <p:spPr>
              <a:xfrm>
                <a:off x="-3" y="2238288"/>
                <a:ext cx="6729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E5E73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sp>
            <p:nvSpPr>
              <p:cNvPr id="1534" name="Google Shape;1534;p169"/>
              <p:cNvSpPr/>
              <p:nvPr/>
            </p:nvSpPr>
            <p:spPr>
              <a:xfrm>
                <a:off x="513600" y="2076738"/>
                <a:ext cx="323100" cy="323100"/>
              </a:xfrm>
              <a:prstGeom prst="ellipse">
                <a:avLst/>
              </a:prstGeom>
              <a:solidFill>
                <a:srgbClr val="F2F2F2"/>
              </a:solidFill>
              <a:ln cap="flat" cmpd="sng" w="76200">
                <a:solidFill>
                  <a:srgbClr val="2E5E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82D4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5" name="Google Shape;1535;p169"/>
              <p:cNvSpPr/>
              <p:nvPr/>
            </p:nvSpPr>
            <p:spPr>
              <a:xfrm>
                <a:off x="593400" y="2156538"/>
                <a:ext cx="163500" cy="163500"/>
              </a:xfrm>
              <a:prstGeom prst="ellipse">
                <a:avLst/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36" name="Google Shape;1536;p169"/>
            <p:cNvSpPr txBox="1"/>
            <p:nvPr/>
          </p:nvSpPr>
          <p:spPr>
            <a:xfrm>
              <a:off x="935300" y="1820700"/>
              <a:ext cx="7695900" cy="6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A small change in the plaintext causes a significant change in the message digest.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37" name="Google Shape;1537;p169"/>
          <p:cNvGrpSpPr/>
          <p:nvPr/>
        </p:nvGrpSpPr>
        <p:grpSpPr>
          <a:xfrm>
            <a:off x="-48425" y="4001975"/>
            <a:ext cx="8734850" cy="740100"/>
            <a:chOff x="0" y="1820700"/>
            <a:chExt cx="8631275" cy="740100"/>
          </a:xfrm>
        </p:grpSpPr>
        <p:sp>
          <p:nvSpPr>
            <p:cNvPr id="1538" name="Google Shape;1538;p169"/>
            <p:cNvSpPr/>
            <p:nvPr/>
          </p:nvSpPr>
          <p:spPr>
            <a:xfrm>
              <a:off x="639275" y="1820700"/>
              <a:ext cx="7992000" cy="7401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39" name="Google Shape;1539;p169"/>
            <p:cNvGrpSpPr/>
            <p:nvPr/>
          </p:nvGrpSpPr>
          <p:grpSpPr>
            <a:xfrm>
              <a:off x="0" y="2034299"/>
              <a:ext cx="836703" cy="323100"/>
              <a:chOff x="-3" y="2076738"/>
              <a:chExt cx="836703" cy="323100"/>
            </a:xfrm>
          </p:grpSpPr>
          <p:cxnSp>
            <p:nvCxnSpPr>
              <p:cNvPr id="1540" name="Google Shape;1540;p169"/>
              <p:cNvCxnSpPr/>
              <p:nvPr/>
            </p:nvCxnSpPr>
            <p:spPr>
              <a:xfrm>
                <a:off x="-3" y="2238288"/>
                <a:ext cx="672900" cy="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2E5E73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  <p:sp>
            <p:nvSpPr>
              <p:cNvPr id="1541" name="Google Shape;1541;p169"/>
              <p:cNvSpPr/>
              <p:nvPr/>
            </p:nvSpPr>
            <p:spPr>
              <a:xfrm>
                <a:off x="513600" y="2076738"/>
                <a:ext cx="323100" cy="323100"/>
              </a:xfrm>
              <a:prstGeom prst="ellipse">
                <a:avLst/>
              </a:prstGeom>
              <a:solidFill>
                <a:srgbClr val="F2F2F2"/>
              </a:solidFill>
              <a:ln cap="flat" cmpd="sng" w="76200">
                <a:solidFill>
                  <a:srgbClr val="2E5E7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82D49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2" name="Google Shape;1542;p169"/>
              <p:cNvSpPr/>
              <p:nvPr/>
            </p:nvSpPr>
            <p:spPr>
              <a:xfrm>
                <a:off x="593400" y="2156538"/>
                <a:ext cx="163500" cy="163500"/>
              </a:xfrm>
              <a:prstGeom prst="ellipse">
                <a:avLst/>
              </a:prstGeom>
              <a:solidFill>
                <a:srgbClr val="FCB91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  <p:sp>
          <p:nvSpPr>
            <p:cNvPr id="1543" name="Google Shape;1543;p169"/>
            <p:cNvSpPr txBox="1"/>
            <p:nvPr/>
          </p:nvSpPr>
          <p:spPr>
            <a:xfrm>
              <a:off x="935300" y="1820700"/>
              <a:ext cx="7695900" cy="6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md5sum</a:t>
              </a: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 and </a:t>
              </a:r>
              <a:r>
                <a:rPr b="1" lang="en" sz="1800">
                  <a:solidFill>
                    <a:srgbClr val="082D49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sha256sum</a:t>
              </a:r>
              <a:r>
                <a:rPr lang="en" sz="1800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 are command-line tools used to create message digests and check the integrity of files.</a:t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70"/>
          <p:cNvSpPr txBox="1"/>
          <p:nvPr>
            <p:ph idx="1" type="subTitle"/>
          </p:nvPr>
        </p:nvSpPr>
        <p:spPr>
          <a:xfrm>
            <a:off x="6174975" y="4568875"/>
            <a:ext cx="29691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 minutes</a:t>
            </a:r>
            <a:endParaRPr/>
          </a:p>
        </p:txBody>
      </p:sp>
      <p:sp>
        <p:nvSpPr>
          <p:cNvPr id="1549" name="Google Shape;1549;p170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Generating hashes 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550" name="Google Shape;1550;p170"/>
          <p:cNvSpPr txBox="1"/>
          <p:nvPr>
            <p:ph idx="3" type="body"/>
          </p:nvPr>
        </p:nvSpPr>
        <p:spPr>
          <a:xfrm>
            <a:off x="656750" y="1306375"/>
            <a:ext cx="7772400" cy="22110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to play the role of a security analyst working for the Hill Valley Police department.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Captain Strickland would like you to determine if any investigation report files have been changed, as well as what was changed.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task is to generate hashes of each backup and current file, </a:t>
            </a:r>
            <a:br>
              <a:rPr lang="en"/>
            </a:br>
            <a:r>
              <a:rPr lang="en"/>
              <a:t>and compare the hashes to determine which files were changed.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51" name="Google Shape;1551;p1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5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73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Roboto"/>
                <a:ea typeface="Roboto"/>
                <a:cs typeface="Roboto"/>
                <a:sym typeface="Roboto"/>
              </a:rPr>
              <a:t>Digital</a:t>
            </a:r>
            <a:r>
              <a:rPr b="0" lang="en" sz="3600">
                <a:latin typeface="Roboto"/>
                <a:ea typeface="Roboto"/>
                <a:cs typeface="Roboto"/>
                <a:sym typeface="Roboto"/>
              </a:rPr>
              <a:t> Signatures</a:t>
            </a:r>
            <a:endParaRPr b="0" sz="3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5" name="Google Shape;1565;p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1826" y="1798950"/>
            <a:ext cx="1220351" cy="86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74"/>
          <p:cNvSpPr txBox="1"/>
          <p:nvPr>
            <p:ph type="title"/>
          </p:nvPr>
        </p:nvSpPr>
        <p:spPr>
          <a:xfrm>
            <a:off x="3145536" y="1925250"/>
            <a:ext cx="5555100" cy="13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Cryptography can also be used to validate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authenticity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7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Signatures</a:t>
            </a:r>
            <a:endParaRPr/>
          </a:p>
        </p:txBody>
      </p:sp>
      <p:sp>
        <p:nvSpPr>
          <p:cNvPr id="1576" name="Google Shape;1576;p17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Authenticity</a:t>
            </a:r>
            <a:endParaRPr/>
          </a:p>
        </p:txBody>
      </p:sp>
      <p:sp>
        <p:nvSpPr>
          <p:cNvPr id="1577" name="Google Shape;1577;p175"/>
          <p:cNvSpPr txBox="1"/>
          <p:nvPr>
            <p:ph idx="2" type="body"/>
          </p:nvPr>
        </p:nvSpPr>
        <p:spPr>
          <a:xfrm>
            <a:off x="461225" y="1063525"/>
            <a:ext cx="41109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For example: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accounting representative receives </a:t>
            </a:r>
            <a:br>
              <a:rPr lang="en"/>
            </a:br>
            <a:r>
              <a:rPr lang="en"/>
              <a:t>a message from their CEO to wire funds immediately to a location in Asia.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accounting representative needs </a:t>
            </a:r>
            <a:br>
              <a:rPr lang="en"/>
            </a:br>
            <a:r>
              <a:rPr lang="en"/>
              <a:t>to validate that the message is</a:t>
            </a:r>
            <a:r>
              <a:rPr b="1" lang="en"/>
              <a:t> authentic</a:t>
            </a:r>
            <a:r>
              <a:rPr lang="en"/>
              <a:t> and actually from the CEO.</a:t>
            </a:r>
            <a:endParaRPr/>
          </a:p>
        </p:txBody>
      </p:sp>
      <p:pic>
        <p:nvPicPr>
          <p:cNvPr id="1578" name="Google Shape;1578;p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70" y="274350"/>
            <a:ext cx="427067" cy="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9" name="Google Shape;1579;p1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1458525"/>
            <a:ext cx="3469225" cy="290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p176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digital signature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is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a mathematical scheme </a:t>
            </a:r>
            <a:br>
              <a:rPr lang="en"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latin typeface="Roboto"/>
                <a:ea typeface="Roboto"/>
                <a:cs typeface="Roboto"/>
                <a:sym typeface="Roboto"/>
              </a:rPr>
              <a:t>for verifying the authenticity of digital data.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p17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Signatures</a:t>
            </a:r>
            <a:endParaRPr/>
          </a:p>
        </p:txBody>
      </p:sp>
      <p:sp>
        <p:nvSpPr>
          <p:cNvPr id="1590" name="Google Shape;1590;p17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Authenticity, non-repudiation, and integrity</a:t>
            </a:r>
            <a:endParaRPr/>
          </a:p>
        </p:txBody>
      </p:sp>
      <p:sp>
        <p:nvSpPr>
          <p:cNvPr id="1591" name="Google Shape;1591;p177"/>
          <p:cNvSpPr txBox="1"/>
          <p:nvPr>
            <p:ph idx="2" type="body"/>
          </p:nvPr>
        </p:nvSpPr>
        <p:spPr>
          <a:xfrm>
            <a:off x="243675" y="1063525"/>
            <a:ext cx="5136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Digital signatures are </a:t>
            </a:r>
            <a:r>
              <a:rPr lang="en"/>
              <a:t>primarily</a:t>
            </a:r>
            <a:r>
              <a:rPr lang="en"/>
              <a:t> used </a:t>
            </a:r>
            <a:br>
              <a:rPr lang="en"/>
            </a:br>
            <a:r>
              <a:rPr lang="en"/>
              <a:t>for authenticity, but can also provide: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Non-repudiation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Integrity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U.S. and several other countries, digital signatures are considered </a:t>
            </a:r>
            <a:r>
              <a:rPr b="1" lang="en"/>
              <a:t>legally binding</a:t>
            </a:r>
            <a:r>
              <a:rPr lang="en"/>
              <a:t>.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asymmetric encryption, digital signatures also use public key cryptography, but in </a:t>
            </a:r>
            <a:r>
              <a:rPr b="1" lang="en"/>
              <a:t>reverse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2" name="Google Shape;1592;p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70" y="274350"/>
            <a:ext cx="427067" cy="365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3" name="Google Shape;1593;p177"/>
          <p:cNvGrpSpPr/>
          <p:nvPr/>
        </p:nvGrpSpPr>
        <p:grpSpPr>
          <a:xfrm>
            <a:off x="5529235" y="898275"/>
            <a:ext cx="3566786" cy="3936836"/>
            <a:chOff x="4243636" y="-80700"/>
            <a:chExt cx="4817377" cy="5143501"/>
          </a:xfrm>
        </p:grpSpPr>
        <p:pic>
          <p:nvPicPr>
            <p:cNvPr id="1594" name="Google Shape;1594;p177"/>
            <p:cNvPicPr preferRelativeResize="0"/>
            <p:nvPr/>
          </p:nvPicPr>
          <p:blipFill rotWithShape="1">
            <a:blip r:embed="rId4">
              <a:alphaModFix/>
            </a:blip>
            <a:srcRect b="0" l="5076" r="5076" t="0"/>
            <a:stretch/>
          </p:blipFill>
          <p:spPr>
            <a:xfrm>
              <a:off x="4439875" y="-80700"/>
              <a:ext cx="4621138" cy="51435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5" name="Google Shape;1595;p17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243636" y="3310100"/>
              <a:ext cx="1039426" cy="1493275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78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Digital Signatures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1" name="Google Shape;1601;p178"/>
          <p:cNvSpPr txBox="1"/>
          <p:nvPr/>
        </p:nvSpPr>
        <p:spPr>
          <a:xfrm>
            <a:off x="76200" y="599775"/>
            <a:ext cx="71094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Tim wants to send Julie a message that says “Transfer $500 to the account I provided to you” and then digitally sign the message.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2" name="Google Shape;1602;p178"/>
          <p:cNvSpPr txBox="1"/>
          <p:nvPr>
            <p:ph idx="4294967295" type="subTitle"/>
          </p:nvPr>
        </p:nvSpPr>
        <p:spPr>
          <a:xfrm>
            <a:off x="6873425" y="910475"/>
            <a:ext cx="2076000" cy="37848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STEP 1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Key Creation</a:t>
            </a:r>
            <a:endParaRPr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Tim will have a public and a private key.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The public key </a:t>
            </a:r>
            <a:br>
              <a:rPr lang="en" sz="1400">
                <a:solidFill>
                  <a:schemeClr val="lt1"/>
                </a:solidFill>
              </a:rPr>
            </a:br>
            <a:r>
              <a:rPr lang="en" sz="1400">
                <a:solidFill>
                  <a:schemeClr val="lt1"/>
                </a:solidFill>
              </a:rPr>
              <a:t>is truly public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and accessible </a:t>
            </a:r>
            <a:br>
              <a:rPr lang="en" sz="1400">
                <a:solidFill>
                  <a:schemeClr val="lt1"/>
                </a:solidFill>
              </a:rPr>
            </a:br>
            <a:r>
              <a:rPr lang="en" sz="1400">
                <a:solidFill>
                  <a:schemeClr val="lt1"/>
                </a:solidFill>
              </a:rPr>
              <a:t>on his </a:t>
            </a:r>
            <a:r>
              <a:rPr lang="en" sz="1400">
                <a:solidFill>
                  <a:schemeClr val="lt1"/>
                </a:solidFill>
              </a:rPr>
              <a:t>website</a:t>
            </a:r>
            <a:r>
              <a:rPr lang="en" sz="1400">
                <a:solidFill>
                  <a:schemeClr val="lt1"/>
                </a:solidFill>
              </a:rPr>
              <a:t>. </a:t>
            </a:r>
            <a:endParaRPr sz="1400">
              <a:solidFill>
                <a:schemeClr val="lt1"/>
              </a:solidFill>
            </a:endParaRPr>
          </a:p>
        </p:txBody>
      </p:sp>
      <p:grpSp>
        <p:nvGrpSpPr>
          <p:cNvPr id="1603" name="Google Shape;1603;p178"/>
          <p:cNvGrpSpPr/>
          <p:nvPr/>
        </p:nvGrpSpPr>
        <p:grpSpPr>
          <a:xfrm>
            <a:off x="4373675" y="1877575"/>
            <a:ext cx="1058400" cy="1058400"/>
            <a:chOff x="2419175" y="3422025"/>
            <a:chExt cx="1058400" cy="1058400"/>
          </a:xfrm>
        </p:grpSpPr>
        <p:sp>
          <p:nvSpPr>
            <p:cNvPr id="1604" name="Google Shape;1604;p178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05" name="Google Shape;1605;p1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6" name="Google Shape;1606;p178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Private Key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07" name="Google Shape;1607;p178"/>
          <p:cNvGrpSpPr/>
          <p:nvPr/>
        </p:nvGrpSpPr>
        <p:grpSpPr>
          <a:xfrm>
            <a:off x="4373685" y="3351125"/>
            <a:ext cx="1058400" cy="1058400"/>
            <a:chOff x="2419175" y="3422025"/>
            <a:chExt cx="1058400" cy="1058400"/>
          </a:xfrm>
        </p:grpSpPr>
        <p:sp>
          <p:nvSpPr>
            <p:cNvPr id="1608" name="Google Shape;1608;p178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09" name="Google Shape;1609;p17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0" name="Google Shape;1610;p178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Public Key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611" name="Google Shape;1611;p178"/>
          <p:cNvCxnSpPr>
            <a:endCxn id="1604" idx="2"/>
          </p:cNvCxnSpPr>
          <p:nvPr/>
        </p:nvCxnSpPr>
        <p:spPr>
          <a:xfrm flipH="1" rot="10800000">
            <a:off x="2747075" y="2406775"/>
            <a:ext cx="1626600" cy="93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2" name="Google Shape;1612;p178"/>
          <p:cNvCxnSpPr>
            <a:endCxn id="1608" idx="2"/>
          </p:cNvCxnSpPr>
          <p:nvPr/>
        </p:nvCxnSpPr>
        <p:spPr>
          <a:xfrm>
            <a:off x="2747085" y="3342425"/>
            <a:ext cx="1626600" cy="53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13" name="Google Shape;1613;p178"/>
          <p:cNvPicPr preferRelativeResize="0"/>
          <p:nvPr/>
        </p:nvPicPr>
        <p:blipFill rotWithShape="1">
          <a:blip r:embed="rId4">
            <a:alphaModFix/>
          </a:blip>
          <a:srcRect b="27570" l="-13451" r="-13451" t="-6590"/>
          <a:stretch/>
        </p:blipFill>
        <p:spPr>
          <a:xfrm>
            <a:off x="1457862" y="1358650"/>
            <a:ext cx="1926738" cy="378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179"/>
          <p:cNvSpPr txBox="1"/>
          <p:nvPr/>
        </p:nvSpPr>
        <p:spPr>
          <a:xfrm>
            <a:off x="81675" y="128025"/>
            <a:ext cx="9062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Digital Signatures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9" name="Google Shape;1619;p179"/>
          <p:cNvSpPr txBox="1"/>
          <p:nvPr/>
        </p:nvSpPr>
        <p:spPr>
          <a:xfrm>
            <a:off x="81675" y="599775"/>
            <a:ext cx="69927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Scenario: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Tim wants to send Julie a message that says “Transfer $500 to the account I provided to you” and then digitally sign the message.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0" name="Google Shape;1620;p179"/>
          <p:cNvSpPr txBox="1"/>
          <p:nvPr>
            <p:ph idx="4294967295" type="subTitle"/>
          </p:nvPr>
        </p:nvSpPr>
        <p:spPr>
          <a:xfrm>
            <a:off x="6873425" y="910475"/>
            <a:ext cx="2076000" cy="37848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STEP 2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Creating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Message</a:t>
            </a:r>
            <a:endParaRPr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Tim places his message inside a file.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</p:txBody>
      </p:sp>
      <p:pic>
        <p:nvPicPr>
          <p:cNvPr id="1621" name="Google Shape;1621;p1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949" y="2069200"/>
            <a:ext cx="1744049" cy="21813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2" name="Google Shape;1622;p179"/>
          <p:cNvCxnSpPr/>
          <p:nvPr/>
        </p:nvCxnSpPr>
        <p:spPr>
          <a:xfrm>
            <a:off x="3297000" y="3297600"/>
            <a:ext cx="893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3" name="Google Shape;1623;p179"/>
          <p:cNvSpPr txBox="1"/>
          <p:nvPr/>
        </p:nvSpPr>
        <p:spPr>
          <a:xfrm>
            <a:off x="4633100" y="3007200"/>
            <a:ext cx="1378200" cy="5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Transfer $500 to the account. </a:t>
            </a:r>
            <a:endParaRPr b="1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1624" name="Google Shape;1624;p179"/>
          <p:cNvPicPr preferRelativeResize="0"/>
          <p:nvPr/>
        </p:nvPicPr>
        <p:blipFill rotWithShape="1">
          <a:blip r:embed="rId4">
            <a:alphaModFix/>
          </a:blip>
          <a:srcRect b="27570" l="-13451" r="-13451" t="-6590"/>
          <a:stretch/>
        </p:blipFill>
        <p:spPr>
          <a:xfrm>
            <a:off x="1457862" y="1358650"/>
            <a:ext cx="1926738" cy="3784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79"/>
          <p:cNvSpPr txBox="1"/>
          <p:nvPr/>
        </p:nvSpPr>
        <p:spPr>
          <a:xfrm>
            <a:off x="4410925" y="4330475"/>
            <a:ext cx="173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Tims_message</a:t>
            </a:r>
            <a:r>
              <a:rPr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endParaRPr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80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Digital Signatures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1" name="Google Shape;1631;p180"/>
          <p:cNvSpPr txBox="1"/>
          <p:nvPr/>
        </p:nvSpPr>
        <p:spPr>
          <a:xfrm>
            <a:off x="76200" y="599775"/>
            <a:ext cx="71007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Scenario: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Tim wants to send Julie a message that says “Transfer $500 to the account I provided to you” and then digitally sign the message.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2" name="Google Shape;1632;p180"/>
          <p:cNvSpPr txBox="1"/>
          <p:nvPr>
            <p:ph idx="4294967295" type="subTitle"/>
          </p:nvPr>
        </p:nvSpPr>
        <p:spPr>
          <a:xfrm>
            <a:off x="6873425" y="910475"/>
            <a:ext cx="2076000" cy="37848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STEP 3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Signing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Message</a:t>
            </a:r>
            <a:endParaRPr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Tim signs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the message with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his private key in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order to create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a digital signature.</a:t>
            </a:r>
            <a:endParaRPr sz="1400">
              <a:solidFill>
                <a:schemeClr val="lt1"/>
              </a:solidFill>
            </a:endParaRPr>
          </a:p>
        </p:txBody>
      </p:sp>
      <p:grpSp>
        <p:nvGrpSpPr>
          <p:cNvPr id="1633" name="Google Shape;1633;p180"/>
          <p:cNvGrpSpPr/>
          <p:nvPr/>
        </p:nvGrpSpPr>
        <p:grpSpPr>
          <a:xfrm>
            <a:off x="2700638" y="3100419"/>
            <a:ext cx="1058400" cy="1058400"/>
            <a:chOff x="2419175" y="3422025"/>
            <a:chExt cx="1058400" cy="1058400"/>
          </a:xfrm>
        </p:grpSpPr>
        <p:sp>
          <p:nvSpPr>
            <p:cNvPr id="1634" name="Google Shape;1634;p180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35" name="Google Shape;1635;p1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6" name="Google Shape;1636;p180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Private Key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637" name="Google Shape;1637;p180"/>
          <p:cNvSpPr/>
          <p:nvPr/>
        </p:nvSpPr>
        <p:spPr>
          <a:xfrm>
            <a:off x="1778688" y="3336823"/>
            <a:ext cx="585600" cy="5856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180"/>
          <p:cNvSpPr/>
          <p:nvPr/>
        </p:nvSpPr>
        <p:spPr>
          <a:xfrm>
            <a:off x="4133663" y="3324173"/>
            <a:ext cx="585600" cy="585600"/>
          </a:xfrm>
          <a:prstGeom prst="mathEqual">
            <a:avLst>
              <a:gd fmla="val 23520" name="adj1"/>
              <a:gd fmla="val 11760" name="adj2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39" name="Google Shape;1639;p1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6875" y="3145353"/>
            <a:ext cx="1586150" cy="968545"/>
          </a:xfrm>
          <a:prstGeom prst="rect">
            <a:avLst/>
          </a:prstGeom>
          <a:noFill/>
          <a:ln>
            <a:noFill/>
          </a:ln>
        </p:spPr>
      </p:pic>
      <p:sp>
        <p:nvSpPr>
          <p:cNvPr id="1640" name="Google Shape;1640;p180"/>
          <p:cNvSpPr txBox="1"/>
          <p:nvPr/>
        </p:nvSpPr>
        <p:spPr>
          <a:xfrm>
            <a:off x="4853725" y="4196575"/>
            <a:ext cx="158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Digital Signature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41" name="Google Shape;1641;p1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058" y="3062660"/>
            <a:ext cx="902334" cy="1133917"/>
          </a:xfrm>
          <a:prstGeom prst="rect">
            <a:avLst/>
          </a:prstGeom>
          <a:noFill/>
          <a:ln>
            <a:noFill/>
          </a:ln>
        </p:spPr>
      </p:pic>
      <p:sp>
        <p:nvSpPr>
          <p:cNvPr id="1642" name="Google Shape;1642;p180"/>
          <p:cNvSpPr txBox="1"/>
          <p:nvPr/>
        </p:nvSpPr>
        <p:spPr>
          <a:xfrm>
            <a:off x="507025" y="3452325"/>
            <a:ext cx="902400" cy="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Transfer $500 </a:t>
            </a:r>
            <a:br>
              <a:rPr lang="en" sz="11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</a:br>
            <a:r>
              <a:rPr lang="en" sz="11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to the </a:t>
            </a:r>
            <a:r>
              <a:rPr lang="en" sz="11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a</a:t>
            </a:r>
            <a:r>
              <a:rPr lang="en" sz="11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ccount. </a:t>
            </a:r>
            <a:endParaRPr sz="11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643" name="Google Shape;1643;p180"/>
          <p:cNvSpPr txBox="1"/>
          <p:nvPr/>
        </p:nvSpPr>
        <p:spPr>
          <a:xfrm>
            <a:off x="90175" y="4196575"/>
            <a:ext cx="1736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Tims_message</a:t>
            </a:r>
            <a:r>
              <a:rPr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endParaRPr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cxnSp>
        <p:nvCxnSpPr>
          <p:cNvPr id="1644" name="Google Shape;1644;p180"/>
          <p:cNvCxnSpPr>
            <a:endCxn id="1634" idx="0"/>
          </p:cNvCxnSpPr>
          <p:nvPr/>
        </p:nvCxnSpPr>
        <p:spPr>
          <a:xfrm>
            <a:off x="3229838" y="2648919"/>
            <a:ext cx="0" cy="45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645" name="Google Shape;1645;p180"/>
          <p:cNvGrpSpPr/>
          <p:nvPr/>
        </p:nvGrpSpPr>
        <p:grpSpPr>
          <a:xfrm>
            <a:off x="2776710" y="1616700"/>
            <a:ext cx="906300" cy="1244650"/>
            <a:chOff x="3005310" y="1616700"/>
            <a:chExt cx="906300" cy="1244650"/>
          </a:xfrm>
        </p:grpSpPr>
        <p:pic>
          <p:nvPicPr>
            <p:cNvPr id="1646" name="Google Shape;1646;p180"/>
            <p:cNvPicPr preferRelativeResize="0"/>
            <p:nvPr/>
          </p:nvPicPr>
          <p:blipFill rotWithShape="1">
            <a:blip r:embed="rId6">
              <a:alphaModFix/>
            </a:blip>
            <a:srcRect b="59512" l="-2500" r="2499" t="-4393"/>
            <a:stretch/>
          </p:blipFill>
          <p:spPr>
            <a:xfrm>
              <a:off x="3036060" y="1616700"/>
              <a:ext cx="844800" cy="119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7" name="Google Shape;1647;p180"/>
            <p:cNvSpPr/>
            <p:nvPr/>
          </p:nvSpPr>
          <p:spPr>
            <a:xfrm>
              <a:off x="3005310" y="2669950"/>
              <a:ext cx="906300" cy="191400"/>
            </a:xfrm>
            <a:prstGeom prst="roundRect">
              <a:avLst>
                <a:gd fmla="val 16667" name="adj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0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8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FFFFFF"/>
                  </a:solidFill>
                </a:rPr>
                <a:t>Tim</a:t>
              </a:r>
              <a:endParaRPr sz="10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181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Digital Signatures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3" name="Google Shape;1653;p181"/>
          <p:cNvSpPr txBox="1"/>
          <p:nvPr/>
        </p:nvSpPr>
        <p:spPr>
          <a:xfrm>
            <a:off x="76200" y="599775"/>
            <a:ext cx="71007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Tim wants to send Julie a message that says “Transfer $500 to the account I provided to you” and then digitally sign the message.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4" name="Google Shape;1654;p181"/>
          <p:cNvSpPr txBox="1"/>
          <p:nvPr>
            <p:ph idx="4294967295" type="subTitle"/>
          </p:nvPr>
        </p:nvSpPr>
        <p:spPr>
          <a:xfrm>
            <a:off x="6873425" y="910475"/>
            <a:ext cx="2076000" cy="37848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STEP 4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Sending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Message</a:t>
            </a:r>
            <a:endParaRPr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Tim sends the digital signature to Julie along with his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plaintext message.</a:t>
            </a:r>
            <a:endParaRPr sz="1400">
              <a:solidFill>
                <a:schemeClr val="lt1"/>
              </a:solidFill>
            </a:endParaRPr>
          </a:p>
        </p:txBody>
      </p:sp>
      <p:pic>
        <p:nvPicPr>
          <p:cNvPr id="1655" name="Google Shape;1655;p181"/>
          <p:cNvPicPr preferRelativeResize="0"/>
          <p:nvPr/>
        </p:nvPicPr>
        <p:blipFill rotWithShape="1">
          <a:blip r:embed="rId3">
            <a:alphaModFix/>
          </a:blip>
          <a:srcRect b="33258" l="-12913" r="-7437" t="-8198"/>
          <a:stretch/>
        </p:blipFill>
        <p:spPr>
          <a:xfrm>
            <a:off x="400550" y="1307075"/>
            <a:ext cx="1957550" cy="3845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6" name="Google Shape;1656;p181"/>
          <p:cNvCxnSpPr/>
          <p:nvPr/>
        </p:nvCxnSpPr>
        <p:spPr>
          <a:xfrm>
            <a:off x="4451225" y="3349688"/>
            <a:ext cx="660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7" name="Google Shape;1657;p181"/>
          <p:cNvCxnSpPr/>
          <p:nvPr/>
        </p:nvCxnSpPr>
        <p:spPr>
          <a:xfrm>
            <a:off x="2260525" y="3397236"/>
            <a:ext cx="689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58" name="Google Shape;1658;p181"/>
          <p:cNvGrpSpPr/>
          <p:nvPr/>
        </p:nvGrpSpPr>
        <p:grpSpPr>
          <a:xfrm>
            <a:off x="3171225" y="2123373"/>
            <a:ext cx="1058400" cy="2424658"/>
            <a:chOff x="3250825" y="2123373"/>
            <a:chExt cx="1058400" cy="2424658"/>
          </a:xfrm>
        </p:grpSpPr>
        <p:cxnSp>
          <p:nvCxnSpPr>
            <p:cNvPr id="1659" name="Google Shape;1659;p181"/>
            <p:cNvCxnSpPr/>
            <p:nvPr/>
          </p:nvCxnSpPr>
          <p:spPr>
            <a:xfrm>
              <a:off x="3780025" y="3181088"/>
              <a:ext cx="0" cy="423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660" name="Google Shape;1660;p181"/>
            <p:cNvGrpSpPr/>
            <p:nvPr/>
          </p:nvGrpSpPr>
          <p:grpSpPr>
            <a:xfrm>
              <a:off x="3328825" y="2123373"/>
              <a:ext cx="902400" cy="1133917"/>
              <a:chOff x="3328825" y="2047173"/>
              <a:chExt cx="902400" cy="1133917"/>
            </a:xfrm>
          </p:grpSpPr>
          <p:pic>
            <p:nvPicPr>
              <p:cNvPr id="1661" name="Google Shape;1661;p18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328858" y="2047173"/>
                <a:ext cx="902334" cy="113391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2" name="Google Shape;1662;p181"/>
              <p:cNvSpPr txBox="1"/>
              <p:nvPr/>
            </p:nvSpPr>
            <p:spPr>
              <a:xfrm>
                <a:off x="3328825" y="2436838"/>
                <a:ext cx="902400" cy="58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80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1100">
                    <a:solidFill>
                      <a:schemeClr val="dk2"/>
                    </a:solidFill>
                    <a:latin typeface="Inconsolata"/>
                    <a:ea typeface="Inconsolata"/>
                    <a:cs typeface="Inconsolata"/>
                    <a:sym typeface="Inconsolata"/>
                  </a:rPr>
                  <a:t>Transfer $</a:t>
                </a:r>
                <a:r>
                  <a:rPr lang="en" sz="1100">
                    <a:solidFill>
                      <a:schemeClr val="dk2"/>
                    </a:solidFill>
                    <a:latin typeface="Inconsolata"/>
                    <a:ea typeface="Inconsolata"/>
                    <a:cs typeface="Inconsolata"/>
                    <a:sym typeface="Inconsolata"/>
                  </a:rPr>
                  <a:t>500</a:t>
                </a:r>
                <a:r>
                  <a:rPr lang="en" sz="1100">
                    <a:solidFill>
                      <a:schemeClr val="dk2"/>
                    </a:solidFill>
                    <a:latin typeface="Inconsolata"/>
                    <a:ea typeface="Inconsolata"/>
                    <a:cs typeface="Inconsolata"/>
                    <a:sym typeface="Inconsolata"/>
                  </a:rPr>
                  <a:t> </a:t>
                </a:r>
                <a:br>
                  <a:rPr lang="en" sz="1100">
                    <a:solidFill>
                      <a:schemeClr val="dk2"/>
                    </a:solidFill>
                    <a:latin typeface="Inconsolata"/>
                    <a:ea typeface="Inconsolata"/>
                    <a:cs typeface="Inconsolata"/>
                    <a:sym typeface="Inconsolata"/>
                  </a:rPr>
                </a:br>
                <a:r>
                  <a:rPr lang="en" sz="1100">
                    <a:solidFill>
                      <a:schemeClr val="dk2"/>
                    </a:solidFill>
                    <a:latin typeface="Inconsolata"/>
                    <a:ea typeface="Inconsolata"/>
                    <a:cs typeface="Inconsolata"/>
                    <a:sym typeface="Inconsolata"/>
                  </a:rPr>
                  <a:t>to the account. </a:t>
                </a:r>
                <a:endParaRPr sz="11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endParaRPr>
              </a:p>
            </p:txBody>
          </p:sp>
        </p:grpSp>
        <p:grpSp>
          <p:nvGrpSpPr>
            <p:cNvPr id="1663" name="Google Shape;1663;p181"/>
            <p:cNvGrpSpPr/>
            <p:nvPr/>
          </p:nvGrpSpPr>
          <p:grpSpPr>
            <a:xfrm>
              <a:off x="3250825" y="3489631"/>
              <a:ext cx="1058400" cy="1058400"/>
              <a:chOff x="2419175" y="3422025"/>
              <a:chExt cx="1058400" cy="1058400"/>
            </a:xfrm>
          </p:grpSpPr>
          <p:sp>
            <p:nvSpPr>
              <p:cNvPr id="1664" name="Google Shape;1664;p181"/>
              <p:cNvSpPr/>
              <p:nvPr/>
            </p:nvSpPr>
            <p:spPr>
              <a:xfrm>
                <a:off x="2419175" y="3422025"/>
                <a:ext cx="1058400" cy="1058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pic>
            <p:nvPicPr>
              <p:cNvPr id="1665" name="Google Shape;1665;p18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543700" y="3643275"/>
                <a:ext cx="809350" cy="389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6" name="Google Shape;1666;p181"/>
              <p:cNvSpPr txBox="1"/>
              <p:nvPr/>
            </p:nvSpPr>
            <p:spPr>
              <a:xfrm>
                <a:off x="2524625" y="3927800"/>
                <a:ext cx="847500" cy="226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2"/>
                    </a:solidFill>
                  </a:rPr>
                  <a:t>Private Key</a:t>
                </a:r>
                <a:endParaRPr>
                  <a:solidFill>
                    <a:schemeClr val="dk2"/>
                  </a:solidFill>
                </a:endParaRPr>
              </a:p>
            </p:txBody>
          </p:sp>
        </p:grpSp>
      </p:grpSp>
      <p:pic>
        <p:nvPicPr>
          <p:cNvPr id="1667" name="Google Shape;1667;p181"/>
          <p:cNvPicPr preferRelativeResize="0"/>
          <p:nvPr/>
        </p:nvPicPr>
        <p:blipFill rotWithShape="1">
          <a:blip r:embed="rId6">
            <a:alphaModFix/>
          </a:blip>
          <a:srcRect b="37290" l="-9082" r="-2362" t="-11678"/>
          <a:stretch/>
        </p:blipFill>
        <p:spPr>
          <a:xfrm>
            <a:off x="5040588" y="1416525"/>
            <a:ext cx="1634100" cy="373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67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182"/>
          <p:cNvSpPr txBox="1"/>
          <p:nvPr/>
        </p:nvSpPr>
        <p:spPr>
          <a:xfrm>
            <a:off x="76200" y="128016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Digital Signatures</a:t>
            </a:r>
            <a:endParaRPr b="1" sz="26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3" name="Google Shape;1673;p182"/>
          <p:cNvSpPr txBox="1"/>
          <p:nvPr/>
        </p:nvSpPr>
        <p:spPr>
          <a:xfrm>
            <a:off x="76200" y="599775"/>
            <a:ext cx="70920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Scenario: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Tim wants to send Julie a message that says “Transfer $500 to the account I provided to you” and then digitally sign the message.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4" name="Google Shape;1674;p182"/>
          <p:cNvSpPr txBox="1"/>
          <p:nvPr>
            <p:ph idx="4294967295" type="subTitle"/>
          </p:nvPr>
        </p:nvSpPr>
        <p:spPr>
          <a:xfrm>
            <a:off x="6873425" y="910475"/>
            <a:ext cx="2076000" cy="3784800"/>
          </a:xfrm>
          <a:prstGeom prst="rect">
            <a:avLst/>
          </a:prstGeom>
          <a:solidFill>
            <a:schemeClr val="accent6"/>
          </a:solidFill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STEP 5</a:t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Validating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the Signature</a:t>
            </a:r>
            <a:endParaRPr sz="18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Julie uses Tim's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public key to validate the signature, using 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lt1"/>
                </a:solidFill>
              </a:rPr>
              <a:t>a validation tool such as GPG. </a:t>
            </a:r>
            <a:endParaRPr sz="1400">
              <a:solidFill>
                <a:schemeClr val="lt1"/>
              </a:solidFill>
            </a:endParaRPr>
          </a:p>
        </p:txBody>
      </p:sp>
      <p:pic>
        <p:nvPicPr>
          <p:cNvPr id="1675" name="Google Shape;1675;p182"/>
          <p:cNvPicPr preferRelativeResize="0"/>
          <p:nvPr/>
        </p:nvPicPr>
        <p:blipFill rotWithShape="1">
          <a:blip r:embed="rId3">
            <a:alphaModFix/>
          </a:blip>
          <a:srcRect b="37290" l="-9082" r="-2362" t="-11678"/>
          <a:stretch/>
        </p:blipFill>
        <p:spPr>
          <a:xfrm>
            <a:off x="5040588" y="1416525"/>
            <a:ext cx="1634100" cy="37358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6" name="Google Shape;1676;p182"/>
          <p:cNvCxnSpPr>
            <a:endCxn id="1677" idx="0"/>
          </p:cNvCxnSpPr>
          <p:nvPr/>
        </p:nvCxnSpPr>
        <p:spPr>
          <a:xfrm>
            <a:off x="1852696" y="2416045"/>
            <a:ext cx="0" cy="151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182"/>
          <p:cNvCxnSpPr/>
          <p:nvPr/>
        </p:nvCxnSpPr>
        <p:spPr>
          <a:xfrm>
            <a:off x="3058350" y="3819525"/>
            <a:ext cx="1941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79" name="Google Shape;1679;p182"/>
          <p:cNvGrpSpPr/>
          <p:nvPr/>
        </p:nvGrpSpPr>
        <p:grpSpPr>
          <a:xfrm>
            <a:off x="1461225" y="1759183"/>
            <a:ext cx="782922" cy="983786"/>
            <a:chOff x="3328813" y="2047173"/>
            <a:chExt cx="902400" cy="1133917"/>
          </a:xfrm>
        </p:grpSpPr>
        <p:pic>
          <p:nvPicPr>
            <p:cNvPr id="1680" name="Google Shape;1680;p18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28858" y="2047173"/>
              <a:ext cx="902334" cy="113391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1" name="Google Shape;1681;p182"/>
            <p:cNvSpPr txBox="1"/>
            <p:nvPr/>
          </p:nvSpPr>
          <p:spPr>
            <a:xfrm>
              <a:off x="3328813" y="2407295"/>
              <a:ext cx="902400" cy="61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Transfer $</a:t>
              </a:r>
              <a:r>
                <a:rPr lang="en" sz="10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500</a:t>
              </a:r>
              <a:r>
                <a:rPr lang="en" sz="10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 </a:t>
              </a:r>
              <a:br>
                <a:rPr lang="en" sz="10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</a:br>
              <a:r>
                <a:rPr lang="en" sz="1000">
                  <a:solidFill>
                    <a:schemeClr val="dk2"/>
                  </a:solidFill>
                  <a:latin typeface="Inconsolata"/>
                  <a:ea typeface="Inconsolata"/>
                  <a:cs typeface="Inconsolata"/>
                  <a:sym typeface="Inconsolata"/>
                </a:rPr>
                <a:t>to the account. </a:t>
              </a:r>
              <a:endParaRPr sz="10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endParaRPr>
            </a:p>
          </p:txBody>
        </p:sp>
      </p:grpSp>
      <p:grpSp>
        <p:nvGrpSpPr>
          <p:cNvPr id="1682" name="Google Shape;1682;p182"/>
          <p:cNvGrpSpPr/>
          <p:nvPr/>
        </p:nvGrpSpPr>
        <p:grpSpPr>
          <a:xfrm>
            <a:off x="1393562" y="2843767"/>
            <a:ext cx="918268" cy="918268"/>
            <a:chOff x="2419175" y="3422025"/>
            <a:chExt cx="1058400" cy="1058400"/>
          </a:xfrm>
        </p:grpSpPr>
        <p:sp>
          <p:nvSpPr>
            <p:cNvPr id="1683" name="Google Shape;1683;p182"/>
            <p:cNvSpPr/>
            <p:nvPr/>
          </p:nvSpPr>
          <p:spPr>
            <a:xfrm>
              <a:off x="2419175" y="3422025"/>
              <a:ext cx="1058400" cy="1058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684" name="Google Shape;1684;p18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543700" y="3643275"/>
              <a:ext cx="809350" cy="38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85" name="Google Shape;1685;p182"/>
            <p:cNvSpPr txBox="1"/>
            <p:nvPr/>
          </p:nvSpPr>
          <p:spPr>
            <a:xfrm>
              <a:off x="2524625" y="3927800"/>
              <a:ext cx="847500" cy="2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Private Key</a:t>
              </a:r>
              <a:endParaRPr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677" name="Google Shape;1677;p1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5988" y="3928945"/>
            <a:ext cx="593417" cy="7800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6" name="Google Shape;1686;p182"/>
          <p:cNvCxnSpPr/>
          <p:nvPr/>
        </p:nvCxnSpPr>
        <p:spPr>
          <a:xfrm rot="10800000">
            <a:off x="3089214" y="2336050"/>
            <a:ext cx="1910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87" name="Google Shape;1687;p1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65889" y="1911013"/>
            <a:ext cx="957350" cy="850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8" name="Google Shape;1688;p182"/>
          <p:cNvGrpSpPr/>
          <p:nvPr/>
        </p:nvGrpSpPr>
        <p:grpSpPr>
          <a:xfrm>
            <a:off x="487260" y="2611750"/>
            <a:ext cx="906300" cy="1244650"/>
            <a:chOff x="3005310" y="1616700"/>
            <a:chExt cx="906300" cy="1244650"/>
          </a:xfrm>
        </p:grpSpPr>
        <p:pic>
          <p:nvPicPr>
            <p:cNvPr id="1689" name="Google Shape;1689;p182"/>
            <p:cNvPicPr preferRelativeResize="0"/>
            <p:nvPr/>
          </p:nvPicPr>
          <p:blipFill rotWithShape="1">
            <a:blip r:embed="rId8">
              <a:alphaModFix/>
            </a:blip>
            <a:srcRect b="59512" l="-2500" r="2499" t="-4393"/>
            <a:stretch/>
          </p:blipFill>
          <p:spPr>
            <a:xfrm>
              <a:off x="3036060" y="1616700"/>
              <a:ext cx="844800" cy="1196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0" name="Google Shape;1690;p182"/>
            <p:cNvSpPr/>
            <p:nvPr/>
          </p:nvSpPr>
          <p:spPr>
            <a:xfrm>
              <a:off x="3005310" y="2669950"/>
              <a:ext cx="906300" cy="191400"/>
            </a:xfrm>
            <a:prstGeom prst="roundRect">
              <a:avLst>
                <a:gd fmla="val 16667" name="adj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0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8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FFFFFF"/>
                  </a:solidFill>
                </a:rPr>
                <a:t>Tim</a:t>
              </a:r>
              <a:endParaRPr sz="1000">
                <a:solidFill>
                  <a:srgbClr val="FFFFFF"/>
                </a:solidFill>
              </a:endParaRPr>
            </a:p>
          </p:txBody>
        </p:sp>
      </p:grpSp>
      <p:pic>
        <p:nvPicPr>
          <p:cNvPr id="1691" name="Google Shape;1691;p1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92022" y="1990825"/>
            <a:ext cx="438100" cy="258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p183"/>
          <p:cNvSpPr txBox="1"/>
          <p:nvPr>
            <p:ph idx="1" type="body"/>
          </p:nvPr>
        </p:nvSpPr>
        <p:spPr>
          <a:xfrm>
            <a:off x="457200" y="1019525"/>
            <a:ext cx="39390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Integrity: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Tim’s message was modified, the digital </a:t>
            </a:r>
            <a:r>
              <a:rPr lang="en"/>
              <a:t>signature</a:t>
            </a:r>
            <a:r>
              <a:rPr lang="en"/>
              <a:t> validation would fail.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Non-repudiation: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 would not be able to deny he was the one who signed the message.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would be an example of a </a:t>
            </a:r>
            <a:r>
              <a:rPr b="1" lang="en"/>
              <a:t>detached signature</a:t>
            </a:r>
            <a:r>
              <a:rPr lang="en"/>
              <a:t>.</a:t>
            </a:r>
            <a:endParaRPr/>
          </a:p>
        </p:txBody>
      </p:sp>
      <p:cxnSp>
        <p:nvCxnSpPr>
          <p:cNvPr id="1697" name="Google Shape;1697;p183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698" name="Google Shape;1698;p183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Tim and Julie </a:t>
            </a: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9" name="Google Shape;1699;p183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0" name="Google Shape;1700;p183"/>
          <p:cNvSpPr txBox="1"/>
          <p:nvPr/>
        </p:nvSpPr>
        <p:spPr>
          <a:xfrm>
            <a:off x="514625" y="45720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701" name="Google Shape;1701;p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2" name="Google Shape;1702;p183"/>
          <p:cNvPicPr preferRelativeResize="0"/>
          <p:nvPr/>
        </p:nvPicPr>
        <p:blipFill rotWithShape="1">
          <a:blip r:embed="rId4">
            <a:alphaModFix/>
          </a:blip>
          <a:srcRect b="33258" l="-12913" r="-7437" t="-8198"/>
          <a:stretch/>
        </p:blipFill>
        <p:spPr>
          <a:xfrm>
            <a:off x="4396252" y="1307075"/>
            <a:ext cx="1638094" cy="3845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3" name="Google Shape;1703;p183"/>
          <p:cNvPicPr preferRelativeResize="0"/>
          <p:nvPr/>
        </p:nvPicPr>
        <p:blipFill rotWithShape="1">
          <a:blip r:embed="rId5">
            <a:alphaModFix/>
          </a:blip>
          <a:srcRect b="37290" l="-9082" r="-2362" t="-11678"/>
          <a:stretch/>
        </p:blipFill>
        <p:spPr>
          <a:xfrm>
            <a:off x="7364674" y="1416525"/>
            <a:ext cx="1367428" cy="3735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" name="Google Shape;1704;p1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6825" y="2359428"/>
            <a:ext cx="1586150" cy="968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5" name="Google Shape;1705;p183"/>
          <p:cNvPicPr preferRelativeResize="0"/>
          <p:nvPr/>
        </p:nvPicPr>
        <p:blipFill rotWithShape="1">
          <a:blip r:embed="rId7">
            <a:alphaModFix/>
          </a:blip>
          <a:srcRect b="5602" l="0" r="0" t="5602"/>
          <a:stretch/>
        </p:blipFill>
        <p:spPr>
          <a:xfrm>
            <a:off x="6131310" y="2425357"/>
            <a:ext cx="726687" cy="645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p184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1" name="Google Shape;1711;p184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712" name="Google Shape;1712;p184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Instead of signing a message, a hash is created first and the hash is signed for verification.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3" name="Google Shape;1713;p184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4" name="Google Shape;1714;p184"/>
          <p:cNvSpPr txBox="1"/>
          <p:nvPr/>
        </p:nvSpPr>
        <p:spPr>
          <a:xfrm>
            <a:off x="385275" y="1906475"/>
            <a:ext cx="24804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signature appended to an encrypted message.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5" name="Google Shape;1715;p184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6" name="Google Shape;1716;p184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7" name="Google Shape;1717;p184"/>
          <p:cNvSpPr txBox="1"/>
          <p:nvPr/>
        </p:nvSpPr>
        <p:spPr>
          <a:xfrm>
            <a:off x="3323425" y="1906475"/>
            <a:ext cx="26202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 signature appended to an unencrypted message.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8" name="Google Shape;1718;p184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19" name="Google Shape;1719;p184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0" name="Google Shape;1720;p184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1" name="Google Shape;1721;p184"/>
          <p:cNvSpPr txBox="1"/>
          <p:nvPr/>
        </p:nvSpPr>
        <p:spPr>
          <a:xfrm>
            <a:off x="465975" y="13451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All at Once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2" name="Google Shape;1722;p184"/>
          <p:cNvSpPr txBox="1"/>
          <p:nvPr/>
        </p:nvSpPr>
        <p:spPr>
          <a:xfrm>
            <a:off x="3429000" y="13451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Clearsigned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3" name="Google Shape;1723;p184"/>
          <p:cNvSpPr txBox="1"/>
          <p:nvPr/>
        </p:nvSpPr>
        <p:spPr>
          <a:xfrm>
            <a:off x="6343875" y="13451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Signed Hash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4" name="Google Shape;1724;p184"/>
          <p:cNvSpPr txBox="1"/>
          <p:nvPr/>
        </p:nvSpPr>
        <p:spPr>
          <a:xfrm>
            <a:off x="76200" y="127400"/>
            <a:ext cx="8832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dk2"/>
                </a:solidFill>
                <a:latin typeface="Roboto Medium"/>
                <a:ea typeface="Roboto Medium"/>
                <a:cs typeface="Roboto Medium"/>
                <a:sym typeface="Roboto Medium"/>
              </a:rPr>
              <a:t>Digital Signatures</a:t>
            </a:r>
            <a:endParaRPr b="1" sz="2600">
              <a:solidFill>
                <a:schemeClr val="dk2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725" name="Google Shape;1725;p184"/>
          <p:cNvSpPr txBox="1"/>
          <p:nvPr/>
        </p:nvSpPr>
        <p:spPr>
          <a:xfrm>
            <a:off x="76200" y="675975"/>
            <a:ext cx="9144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4572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Other digital signatures include: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185"/>
          <p:cNvSpPr txBox="1"/>
          <p:nvPr>
            <p:ph idx="1" type="body"/>
          </p:nvPr>
        </p:nvSpPr>
        <p:spPr>
          <a:xfrm>
            <a:off x="4943675" y="1061875"/>
            <a:ext cx="38637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the next demo, we will apply a detached digital signature with </a:t>
            </a:r>
            <a:r>
              <a:rPr b="1" lang="en"/>
              <a:t>GPG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This is the same GPG program used for GPG asymmetric encryption.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Let’s take a look!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400"/>
          </a:p>
        </p:txBody>
      </p:sp>
      <p:cxnSp>
        <p:nvCxnSpPr>
          <p:cNvPr id="1731" name="Google Shape;1731;p185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1732" name="Google Shape;1732;p185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Demonstration Scenario</a:t>
            </a:r>
            <a:endParaRPr b="1" sz="26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3" name="Google Shape;1733;p185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185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735" name="Google Shape;1735;p1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1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825" y="1192175"/>
            <a:ext cx="4526875" cy="31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186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Signing with GPG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87"/>
          <p:cNvSpPr txBox="1"/>
          <p:nvPr>
            <p:ph idx="1" type="subTitle"/>
          </p:nvPr>
        </p:nvSpPr>
        <p:spPr>
          <a:xfrm>
            <a:off x="6174975" y="4568875"/>
            <a:ext cx="29691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1747" name="Google Shape;1747;p187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signatures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748" name="Google Shape;1748;p187"/>
          <p:cNvSpPr txBox="1"/>
          <p:nvPr>
            <p:ph idx="3" type="body"/>
          </p:nvPr>
        </p:nvSpPr>
        <p:spPr>
          <a:xfrm>
            <a:off x="724625" y="1049800"/>
            <a:ext cx="7838400" cy="2467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activity, you will continue to play the role of a security analyst working for the Hill Valley Police department.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Captain Strickland has sent you several more urgent messages about the Alphabet Bandit case.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It's quite likely that one of the messages was sent by the Alphabet Bandit pretending to be Captain Strickland to throw off the investigation.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task is to use GPG to determine which of the messages </a:t>
            </a:r>
            <a:br>
              <a:rPr lang="en"/>
            </a:br>
            <a:r>
              <a:rPr lang="en"/>
              <a:t>is </a:t>
            </a:r>
            <a:r>
              <a:rPr b="1" lang="en"/>
              <a:t>not authentic</a:t>
            </a:r>
            <a:r>
              <a:rPr lang="en"/>
              <a:t>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9" name="Google Shape;1749;p1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3" name="Shape 17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190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Applied Cryptography and Cryptographic Attacks</a:t>
            </a:r>
            <a:endParaRPr b="1" baseline="-25000" sz="22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6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