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Inconsolata ExtraBold"/>
      <p:bold r:id="rId58"/>
    </p:embeddedFont>
    <p:embeddedFont>
      <p:font typeface="Roboto"/>
      <p:regular r:id="rId59"/>
      <p:bold r:id="rId60"/>
      <p:italic r:id="rId61"/>
      <p:boldItalic r:id="rId62"/>
    </p:embeddedFont>
    <p:embeddedFont>
      <p:font typeface="Roboto Medium"/>
      <p:regular r:id="rId63"/>
      <p:bold r:id="rId64"/>
      <p:italic r:id="rId65"/>
      <p:boldItalic r:id="rId66"/>
    </p:embeddedFont>
    <p:embeddedFont>
      <p:font typeface="Inconsolata"/>
      <p:regular r:id="rId67"/>
      <p:bold r:id="rId68"/>
    </p:embeddedFont>
    <p:embeddedFont>
      <p:font typeface="Roboto Light"/>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B1EDF43-A0A4-4143-9BBE-1FECD2574FE6}">
  <a:tblStyle styleId="{BB1EDF43-A0A4-4143-9BBE-1FECD2574FE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schemas.openxmlformats.org/officeDocument/2006/relationships/font" Target="fonts/RobotoLight-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Light-italic.fntdata"/><Relationship Id="rId70" Type="http://schemas.openxmlformats.org/officeDocument/2006/relationships/font" Target="fonts/RobotoLight-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boldItalic.fntdata"/><Relationship Id="rId61" Type="http://schemas.openxmlformats.org/officeDocument/2006/relationships/font" Target="fonts/Roboto-italic.fntdata"/><Relationship Id="rId20" Type="http://schemas.openxmlformats.org/officeDocument/2006/relationships/slide" Target="slides/slide14.xml"/><Relationship Id="rId64" Type="http://schemas.openxmlformats.org/officeDocument/2006/relationships/font" Target="fonts/RobotoMedium-bold.fntdata"/><Relationship Id="rId63" Type="http://schemas.openxmlformats.org/officeDocument/2006/relationships/font" Target="fonts/RobotoMedium-regular.fntdata"/><Relationship Id="rId22" Type="http://schemas.openxmlformats.org/officeDocument/2006/relationships/slide" Target="slides/slide16.xml"/><Relationship Id="rId66" Type="http://schemas.openxmlformats.org/officeDocument/2006/relationships/font" Target="fonts/RobotoMedium-boldItalic.fntdata"/><Relationship Id="rId21" Type="http://schemas.openxmlformats.org/officeDocument/2006/relationships/slide" Target="slides/slide15.xml"/><Relationship Id="rId65" Type="http://schemas.openxmlformats.org/officeDocument/2006/relationships/font" Target="fonts/RobotoMedium-italic.fntdata"/><Relationship Id="rId24" Type="http://schemas.openxmlformats.org/officeDocument/2006/relationships/slide" Target="slides/slide18.xml"/><Relationship Id="rId68" Type="http://schemas.openxmlformats.org/officeDocument/2006/relationships/font" Target="fonts/Inconsolata-bold.fntdata"/><Relationship Id="rId23" Type="http://schemas.openxmlformats.org/officeDocument/2006/relationships/slide" Target="slides/slide17.xml"/><Relationship Id="rId67" Type="http://schemas.openxmlformats.org/officeDocument/2006/relationships/font" Target="fonts/Inconsolata-regular.fntdata"/><Relationship Id="rId60" Type="http://schemas.openxmlformats.org/officeDocument/2006/relationships/font" Target="fonts/Roboto-bold.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Light-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regular.fntdata"/><Relationship Id="rId14" Type="http://schemas.openxmlformats.org/officeDocument/2006/relationships/slide" Target="slides/slide8.xml"/><Relationship Id="rId58" Type="http://schemas.openxmlformats.org/officeDocument/2006/relationships/font" Target="fonts/InconsolataExtraBold-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66a81e8176_1_1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66a81e8176_1_1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66a81e8176_1_1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66a81e8176_1_1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66a81e8176_1_1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66a81e8176_1_1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66a81e8176_1_1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66a81e8176_1_1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shutterstock_782515144</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66a81e8176_1_1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66a81e8176_1_1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66a81e8176_1_1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66a81e8176_1_1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66a81e8176_1_1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66a81e8176_1_1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66a81e8176_1_1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66a81e8176_1_1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66a81e8176_1_1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66a81e8176_1_1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66a81e8176_1_1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66a81e8176_1_1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66a81e8176_1_1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66a81e8176_1_1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shutterstock_1090246019</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66a81e8176_1_1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266a81e8176_1_1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66a81e8176_1_1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66a81e8176_1_1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66a81e8176_1_1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66a81e8176_1_1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66a81e8176_1_1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66a81e8176_1_1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66a81e8176_1_1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66a81e8176_1_1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66a81e8176_1_1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266a81e8176_1_1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66a81e8176_1_1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266a81e8176_1_1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shutterstock_453152185</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66a81e8176_1_1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66a81e8176_1_1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shutterstock_213563017</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66a81e8176_1_1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66a81e8176_1_1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266a81e8176_1_1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266a81e8176_1_1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66a81e8176_1_1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266a81e8176_1_1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66a81e8176_1_1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266a81e8176_1_1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266a81e8176_1_1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266a81e8176_1_1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66a81e8176_1_1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266a81e8176_1_1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266a81e8176_1_1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266a81e8176_1_1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66a81e8176_1_1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66a81e8176_1_1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66a81e8176_1_1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266a81e8176_1_1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266a81e8176_1_1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266a81e8176_1_1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266a81e8176_1_1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266a81e8176_1_1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266a81e8176_1_1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266a81e8176_1_1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66a81e8176_1_1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66a81e8176_1_1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266a81e8176_1_1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266a81e8176_1_1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66a81e8176_1_1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266a81e8176_1_1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266a81e8176_1_1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266a81e8176_1_1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66a81e8176_1_1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266a81e8176_1_1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66a81e8176_1_1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266a81e8176_1_1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266a81e8176_1_1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266a81e8176_1_1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66a81e8176_1_1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266a81e8176_1_1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66a81e8176_1_1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266a81e8176_1_1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266a81e8176_1_1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266a81e8176_1_1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66a81e8176_1_1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66a81e8176_1_1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66a81e8176_1_1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66a81e8176_1_1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266a81e8176_1_19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266a81e8176_1_1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266a81e8176_1_1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266a81e8176_1_1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266a81e8176_1_1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266a81e8176_1_1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66a81e8176_1_1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66a81e8176_1_1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66a81e8176_1_2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266a81e8176_1_2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266a81e8176_1_2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266a81e8176_1_2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266a81e8176_1_2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266a81e8176_1_2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266a81e8176_1_2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266a81e8176_1_2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2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a:t>
            </a:r>
            <a:r>
              <a:rPr lang="en" sz="800">
                <a:solidFill>
                  <a:srgbClr val="FFFFFF"/>
                </a:solidFill>
                <a:latin typeface="Roboto"/>
                <a:ea typeface="Roboto"/>
                <a:cs typeface="Roboto"/>
                <a:sym typeface="Roboto"/>
              </a:rPr>
              <a:t>4</a:t>
            </a:r>
            <a:r>
              <a:rPr b="0" i="0" lang="en" sz="800" u="none" cap="none" strike="noStrike">
                <a:solidFill>
                  <a:srgbClr val="FFFFFF"/>
                </a:solidFill>
                <a:latin typeface="Roboto"/>
                <a:ea typeface="Roboto"/>
                <a:cs typeface="Roboto"/>
                <a:sym typeface="Roboto"/>
              </a:rPr>
              <a:t>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35823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3592327" y="1823550"/>
            <a:ext cx="56634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35824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35837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3583700" y="3314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6" name="Google Shape;106;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8" name="Shape 108"/>
        <p:cNvGrpSpPr/>
        <p:nvPr/>
      </p:nvGrpSpPr>
      <p:grpSpPr>
        <a:xfrm>
          <a:off x="0" y="0"/>
          <a:ext cx="0" cy="0"/>
          <a:chOff x="0" y="0"/>
          <a:chExt cx="0" cy="0"/>
        </a:xfrm>
      </p:grpSpPr>
      <p:sp>
        <p:nvSpPr>
          <p:cNvPr id="109" name="Google Shape;109;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0" name="Google Shape;110;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2" name="Google Shape;112;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3" name="Shape 113"/>
        <p:cNvGrpSpPr/>
        <p:nvPr/>
      </p:nvGrpSpPr>
      <p:grpSpPr>
        <a:xfrm>
          <a:off x="0" y="0"/>
          <a:ext cx="0" cy="0"/>
          <a:chOff x="0" y="0"/>
          <a:chExt cx="0" cy="0"/>
        </a:xfrm>
      </p:grpSpPr>
      <p:sp>
        <p:nvSpPr>
          <p:cNvPr id="114" name="Google Shape;114;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5" name="Google Shape;115;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6" name="Google Shape;116;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8" name="Google Shape;118;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19" name="Shape 119"/>
        <p:cNvGrpSpPr/>
        <p:nvPr/>
      </p:nvGrpSpPr>
      <p:grpSpPr>
        <a:xfrm>
          <a:off x="0" y="0"/>
          <a:ext cx="0" cy="0"/>
          <a:chOff x="0" y="0"/>
          <a:chExt cx="0" cy="0"/>
        </a:xfrm>
      </p:grpSpPr>
      <p:sp>
        <p:nvSpPr>
          <p:cNvPr id="120" name="Google Shape;120;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1" name="Google Shape;121;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2" name="Google Shape;122;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4" name="Shape 124"/>
        <p:cNvGrpSpPr/>
        <p:nvPr/>
      </p:nvGrpSpPr>
      <p:grpSpPr>
        <a:xfrm>
          <a:off x="0" y="0"/>
          <a:ext cx="0" cy="0"/>
          <a:chOff x="0" y="0"/>
          <a:chExt cx="0" cy="0"/>
        </a:xfrm>
      </p:grpSpPr>
      <p:sp>
        <p:nvSpPr>
          <p:cNvPr id="125" name="Google Shape;125;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6" name="Google Shape;126;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7" name="Google Shape;127;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29" name="Shape 129"/>
        <p:cNvGrpSpPr/>
        <p:nvPr/>
      </p:nvGrpSpPr>
      <p:grpSpPr>
        <a:xfrm>
          <a:off x="0" y="0"/>
          <a:ext cx="0" cy="0"/>
          <a:chOff x="0" y="0"/>
          <a:chExt cx="0" cy="0"/>
        </a:xfrm>
      </p:grpSpPr>
      <p:sp>
        <p:nvSpPr>
          <p:cNvPr id="130" name="Google Shape;130;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1" name="Google Shape;131;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2" name="Shape 132"/>
        <p:cNvGrpSpPr/>
        <p:nvPr/>
      </p:nvGrpSpPr>
      <p:grpSpPr>
        <a:xfrm>
          <a:off x="0" y="0"/>
          <a:ext cx="0" cy="0"/>
          <a:chOff x="0" y="0"/>
          <a:chExt cx="0" cy="0"/>
        </a:xfrm>
      </p:grpSpPr>
      <p:sp>
        <p:nvSpPr>
          <p:cNvPr id="133" name="Google Shape;133;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4" name="Google Shape;134;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5" name="Shape 135"/>
        <p:cNvGrpSpPr/>
        <p:nvPr/>
      </p:nvGrpSpPr>
      <p:grpSpPr>
        <a:xfrm>
          <a:off x="0" y="0"/>
          <a:ext cx="0" cy="0"/>
          <a:chOff x="0" y="0"/>
          <a:chExt cx="0" cy="0"/>
        </a:xfrm>
      </p:grpSpPr>
      <p:sp>
        <p:nvSpPr>
          <p:cNvPr id="136" name="Google Shape;136;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7" name="Google Shape;137;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8" name="Shape 138"/>
        <p:cNvGrpSpPr/>
        <p:nvPr/>
      </p:nvGrpSpPr>
      <p:grpSpPr>
        <a:xfrm>
          <a:off x="0" y="0"/>
          <a:ext cx="0" cy="0"/>
          <a:chOff x="0" y="0"/>
          <a:chExt cx="0" cy="0"/>
        </a:xfrm>
      </p:grpSpPr>
      <p:pic>
        <p:nvPicPr>
          <p:cNvPr id="139" name="Google Shape;139;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0" name="Google Shape;140;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1" name="Google Shape;141;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2" name="Shape 142"/>
        <p:cNvGrpSpPr/>
        <p:nvPr/>
      </p:nvGrpSpPr>
      <p:grpSpPr>
        <a:xfrm>
          <a:off x="0" y="0"/>
          <a:ext cx="0" cy="0"/>
          <a:chOff x="0" y="0"/>
          <a:chExt cx="0" cy="0"/>
        </a:xfrm>
      </p:grpSpPr>
      <p:pic>
        <p:nvPicPr>
          <p:cNvPr id="143" name="Google Shape;143;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4" name="Google Shape;144;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5" name="Google Shape;145;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6" name="Shape 146"/>
        <p:cNvGrpSpPr/>
        <p:nvPr/>
      </p:nvGrpSpPr>
      <p:grpSpPr>
        <a:xfrm>
          <a:off x="0" y="0"/>
          <a:ext cx="0" cy="0"/>
          <a:chOff x="0" y="0"/>
          <a:chExt cx="0" cy="0"/>
        </a:xfrm>
      </p:grpSpPr>
      <p:pic>
        <p:nvPicPr>
          <p:cNvPr id="147" name="Google Shape;147;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8" name="Google Shape;148;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1" name="Google Shape;151;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2" name="Shape 152"/>
        <p:cNvGrpSpPr/>
        <p:nvPr/>
      </p:nvGrpSpPr>
      <p:grpSpPr>
        <a:xfrm>
          <a:off x="0" y="0"/>
          <a:ext cx="0" cy="0"/>
          <a:chOff x="0" y="0"/>
          <a:chExt cx="0" cy="0"/>
        </a:xfrm>
      </p:grpSpPr>
      <p:pic>
        <p:nvPicPr>
          <p:cNvPr id="153" name="Google Shape;153;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4" name="Google Shape;154;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a:t>
            </a:r>
            <a:r>
              <a:rPr lang="en" sz="4000">
                <a:solidFill>
                  <a:schemeClr val="lt1"/>
                </a:solidFill>
                <a:latin typeface="Roboto"/>
                <a:ea typeface="Roboto"/>
                <a:cs typeface="Roboto"/>
                <a:sym typeface="Roboto"/>
              </a:rPr>
              <a:t>R</a:t>
            </a:r>
            <a:r>
              <a:rPr b="0" i="0" lang="en" sz="4000" u="none" cap="none" strike="noStrike">
                <a:solidFill>
                  <a:schemeClr val="lt1"/>
                </a:solidFill>
                <a:latin typeface="Roboto"/>
                <a:ea typeface="Roboto"/>
                <a:cs typeface="Roboto"/>
                <a:sym typeface="Roboto"/>
              </a:rPr>
              <a:t>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5" name="Shape 155"/>
        <p:cNvGrpSpPr/>
        <p:nvPr/>
      </p:nvGrpSpPr>
      <p:grpSpPr>
        <a:xfrm>
          <a:off x="0" y="0"/>
          <a:ext cx="0" cy="0"/>
          <a:chOff x="0" y="0"/>
          <a:chExt cx="0" cy="0"/>
        </a:xfrm>
      </p:grpSpPr>
      <p:pic>
        <p:nvPicPr>
          <p:cNvPr id="156" name="Google Shape;156;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7" name="Google Shape;157;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8" name="Google Shape;158;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59" name="Shape 159"/>
        <p:cNvGrpSpPr/>
        <p:nvPr/>
      </p:nvGrpSpPr>
      <p:grpSpPr>
        <a:xfrm>
          <a:off x="0" y="0"/>
          <a:ext cx="0" cy="0"/>
          <a:chOff x="0" y="0"/>
          <a:chExt cx="0" cy="0"/>
        </a:xfrm>
      </p:grpSpPr>
      <p:sp>
        <p:nvSpPr>
          <p:cNvPr id="160" name="Google Shape;160;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1" name="Google Shape;161;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2" name="Google Shape;162;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3" name="Shape 163"/>
        <p:cNvGrpSpPr/>
        <p:nvPr/>
      </p:nvGrpSpPr>
      <p:grpSpPr>
        <a:xfrm>
          <a:off x="0" y="0"/>
          <a:ext cx="0" cy="0"/>
          <a:chOff x="0" y="0"/>
          <a:chExt cx="0" cy="0"/>
        </a:xfrm>
      </p:grpSpPr>
      <p:sp>
        <p:nvSpPr>
          <p:cNvPr id="164" name="Google Shape;164;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5" name="Google Shape;165;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6" name="Shape 166"/>
        <p:cNvGrpSpPr/>
        <p:nvPr/>
      </p:nvGrpSpPr>
      <p:grpSpPr>
        <a:xfrm>
          <a:off x="0" y="0"/>
          <a:ext cx="0" cy="0"/>
          <a:chOff x="0" y="0"/>
          <a:chExt cx="0" cy="0"/>
        </a:xfrm>
      </p:grpSpPr>
      <p:sp>
        <p:nvSpPr>
          <p:cNvPr id="167" name="Google Shape;167;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8" name="Google Shape;168;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69" name="Google Shape;169;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0" name="Google Shape;170;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1" name="Google Shape;171;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2" name="Google Shape;172;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4" name="Google Shape;174;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5" name="Google Shape;175;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8" name="Google Shape;178;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0" name="Google Shape;180;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3" name="Shape 183"/>
        <p:cNvGrpSpPr/>
        <p:nvPr/>
      </p:nvGrpSpPr>
      <p:grpSpPr>
        <a:xfrm>
          <a:off x="0" y="0"/>
          <a:ext cx="0" cy="0"/>
          <a:chOff x="0" y="0"/>
          <a:chExt cx="0" cy="0"/>
        </a:xfrm>
      </p:grpSpPr>
      <p:cxnSp>
        <p:nvCxnSpPr>
          <p:cNvPr id="184" name="Google Shape;184;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5" name="Google Shape;185;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7" name="Google Shape;187;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8" name="Google Shape;188;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89" name="Shape 189"/>
        <p:cNvGrpSpPr/>
        <p:nvPr/>
      </p:nvGrpSpPr>
      <p:grpSpPr>
        <a:xfrm>
          <a:off x="0" y="0"/>
          <a:ext cx="0" cy="0"/>
          <a:chOff x="0" y="0"/>
          <a:chExt cx="0" cy="0"/>
        </a:xfrm>
      </p:grpSpPr>
      <p:cxnSp>
        <p:nvCxnSpPr>
          <p:cNvPr id="190" name="Google Shape;190;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1" name="Google Shape;191;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2" name="Google Shape;192;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3" name="Google Shape;193;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4" name="Google Shape;194;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0" name="Google Shape;200;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5" name="Google Shape;205;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09" name="Google Shape;209;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0" name="Shape 210"/>
        <p:cNvGrpSpPr/>
        <p:nvPr/>
      </p:nvGrpSpPr>
      <p:grpSpPr>
        <a:xfrm>
          <a:off x="0" y="0"/>
          <a:ext cx="0" cy="0"/>
          <a:chOff x="0" y="0"/>
          <a:chExt cx="0" cy="0"/>
        </a:xfrm>
      </p:grpSpPr>
      <p:cxnSp>
        <p:nvCxnSpPr>
          <p:cNvPr id="211" name="Google Shape;211;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2" name="Google Shape;212;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3" name="Google Shape;213;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4" name="Google Shape;214;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5" name="Google Shape;215;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6" name="Shape 216"/>
        <p:cNvGrpSpPr/>
        <p:nvPr/>
      </p:nvGrpSpPr>
      <p:grpSpPr>
        <a:xfrm>
          <a:off x="0" y="0"/>
          <a:ext cx="0" cy="0"/>
          <a:chOff x="0" y="0"/>
          <a:chExt cx="0" cy="0"/>
        </a:xfrm>
      </p:grpSpPr>
      <p:cxnSp>
        <p:nvCxnSpPr>
          <p:cNvPr id="217" name="Google Shape;217;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8" name="Google Shape;218;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9" name="Google Shape;219;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0" name="Google Shape;220;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6" name="Google Shape;226;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1" name="Google Shape;231;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5" name="Google Shape;235;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6" name="Google Shape;236;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7" name="Shape 237"/>
        <p:cNvGrpSpPr/>
        <p:nvPr/>
      </p:nvGrpSpPr>
      <p:grpSpPr>
        <a:xfrm>
          <a:off x="0" y="0"/>
          <a:ext cx="0" cy="0"/>
          <a:chOff x="0" y="0"/>
          <a:chExt cx="0" cy="0"/>
        </a:xfrm>
      </p:grpSpPr>
      <p:sp>
        <p:nvSpPr>
          <p:cNvPr id="238" name="Google Shape;238;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0" name="Google Shape;240;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49" name="Google Shape;249;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0" name="Google Shape;250;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1" name="Google Shape;251;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2" name="Google Shape;252;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3" name="Google Shape;253;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4" name="Google Shape;254;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3" name="Shape 263"/>
        <p:cNvGrpSpPr/>
        <p:nvPr/>
      </p:nvGrpSpPr>
      <p:grpSpPr>
        <a:xfrm>
          <a:off x="0" y="0"/>
          <a:ext cx="0" cy="0"/>
          <a:chOff x="0" y="0"/>
          <a:chExt cx="0" cy="0"/>
        </a:xfrm>
      </p:grpSpPr>
      <p:sp>
        <p:nvSpPr>
          <p:cNvPr id="264" name="Google Shape;264;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6" name="Google Shape;266;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7" name="Google Shape;267;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8" name="Google Shape;268;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9" name="Google Shape;269;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0" name="Google Shape;270;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1" name="Google Shape;271;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2" name="Google Shape;272;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3" name="Shape 273"/>
        <p:cNvGrpSpPr/>
        <p:nvPr/>
      </p:nvGrpSpPr>
      <p:grpSpPr>
        <a:xfrm>
          <a:off x="0" y="0"/>
          <a:ext cx="0" cy="0"/>
          <a:chOff x="0" y="0"/>
          <a:chExt cx="0" cy="0"/>
        </a:xfrm>
      </p:grpSpPr>
      <p:sp>
        <p:nvSpPr>
          <p:cNvPr id="274" name="Google Shape;274;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6" name="Google Shape;276;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7" name="Google Shape;277;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8" name="Google Shape;278;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9" name="Google Shape;279;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0" name="Google Shape;280;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1" name="Google Shape;281;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2" name="Google Shape;282;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3" name="Shape 283"/>
        <p:cNvGrpSpPr/>
        <p:nvPr/>
      </p:nvGrpSpPr>
      <p:grpSpPr>
        <a:xfrm>
          <a:off x="0" y="0"/>
          <a:ext cx="0" cy="0"/>
          <a:chOff x="0" y="0"/>
          <a:chExt cx="0" cy="0"/>
        </a:xfrm>
      </p:grpSpPr>
      <p:sp>
        <p:nvSpPr>
          <p:cNvPr id="284" name="Google Shape;284;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6" name="Google Shape;286;p40"/>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7" name="Google Shape;287;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8" name="Shape 288"/>
        <p:cNvGrpSpPr/>
        <p:nvPr/>
      </p:nvGrpSpPr>
      <p:grpSpPr>
        <a:xfrm>
          <a:off x="0" y="0"/>
          <a:ext cx="0" cy="0"/>
          <a:chOff x="0" y="0"/>
          <a:chExt cx="0" cy="0"/>
        </a:xfrm>
      </p:grpSpPr>
      <p:sp>
        <p:nvSpPr>
          <p:cNvPr id="289" name="Google Shape;289;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0" name="Google Shape;290;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1" name="Google Shape;291;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2" name="Google Shape;292;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3" name="Shape 293"/>
        <p:cNvGrpSpPr/>
        <p:nvPr/>
      </p:nvGrpSpPr>
      <p:grpSpPr>
        <a:xfrm>
          <a:off x="0" y="0"/>
          <a:ext cx="0" cy="0"/>
          <a:chOff x="0" y="0"/>
          <a:chExt cx="0" cy="0"/>
        </a:xfrm>
      </p:grpSpPr>
      <p:sp>
        <p:nvSpPr>
          <p:cNvPr id="294" name="Google Shape;294;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5" name="Google Shape;295;p42"/>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6" name="Google Shape;296;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7" name="Google Shape;297;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8" name="Shape 298"/>
        <p:cNvGrpSpPr/>
        <p:nvPr/>
      </p:nvGrpSpPr>
      <p:grpSpPr>
        <a:xfrm>
          <a:off x="0" y="0"/>
          <a:ext cx="0" cy="0"/>
          <a:chOff x="0" y="0"/>
          <a:chExt cx="0" cy="0"/>
        </a:xfrm>
      </p:grpSpPr>
      <p:sp>
        <p:nvSpPr>
          <p:cNvPr id="299" name="Google Shape;299;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0" name="Google Shape;300;p43"/>
          <p:cNvGrpSpPr/>
          <p:nvPr/>
        </p:nvGrpSpPr>
        <p:grpSpPr>
          <a:xfrm>
            <a:off x="1074625" y="2258150"/>
            <a:ext cx="1473491" cy="980288"/>
            <a:chOff x="1074625" y="2258150"/>
            <a:chExt cx="1473491" cy="980288"/>
          </a:xfrm>
        </p:grpSpPr>
        <p:sp>
          <p:nvSpPr>
            <p:cNvPr id="301" name="Google Shape;301;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3" name="Google Shape;303;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4" name="Google Shape;304;p4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5" name="Google Shape;305;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6" name="Shape 306"/>
        <p:cNvGrpSpPr/>
        <p:nvPr/>
      </p:nvGrpSpPr>
      <p:grpSpPr>
        <a:xfrm>
          <a:off x="0" y="0"/>
          <a:ext cx="0" cy="0"/>
          <a:chOff x="0" y="0"/>
          <a:chExt cx="0" cy="0"/>
        </a:xfrm>
      </p:grpSpPr>
      <p:sp>
        <p:nvSpPr>
          <p:cNvPr id="307" name="Google Shape;307;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44"/>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09" name="Google Shape;309;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0" name="Google Shape;310;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1" name="Shape 311"/>
        <p:cNvGrpSpPr/>
        <p:nvPr/>
      </p:nvGrpSpPr>
      <p:grpSpPr>
        <a:xfrm>
          <a:off x="0" y="0"/>
          <a:ext cx="0" cy="0"/>
          <a:chOff x="0" y="0"/>
          <a:chExt cx="0" cy="0"/>
        </a:xfrm>
      </p:grpSpPr>
      <p:sp>
        <p:nvSpPr>
          <p:cNvPr id="312" name="Google Shape;312;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8" name="Shape 318"/>
        <p:cNvGrpSpPr/>
        <p:nvPr/>
      </p:nvGrpSpPr>
      <p:grpSpPr>
        <a:xfrm>
          <a:off x="0" y="0"/>
          <a:ext cx="0" cy="0"/>
          <a:chOff x="0" y="0"/>
          <a:chExt cx="0" cy="0"/>
        </a:xfrm>
      </p:grpSpPr>
      <p:sp>
        <p:nvSpPr>
          <p:cNvPr id="319" name="Google Shape;319;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0" name="Google Shape;320;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1" name="Google Shape;321;p46"/>
          <p:cNvGrpSpPr/>
          <p:nvPr/>
        </p:nvGrpSpPr>
        <p:grpSpPr>
          <a:xfrm>
            <a:off x="3972318" y="1206125"/>
            <a:ext cx="1051285" cy="920372"/>
            <a:chOff x="587700" y="-13400"/>
            <a:chExt cx="5735325" cy="5021125"/>
          </a:xfrm>
        </p:grpSpPr>
        <p:sp>
          <p:nvSpPr>
            <p:cNvPr id="322" name="Google Shape;322;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8" name="Google Shape;328;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9" name="Shape 32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330" name="Shape 330"/>
        <p:cNvGrpSpPr/>
        <p:nvPr/>
      </p:nvGrpSpPr>
      <p:grpSpPr>
        <a:xfrm>
          <a:off x="0" y="0"/>
          <a:ext cx="0" cy="0"/>
          <a:chOff x="0" y="0"/>
          <a:chExt cx="0" cy="0"/>
        </a:xfrm>
      </p:grpSpPr>
      <p:cxnSp>
        <p:nvCxnSpPr>
          <p:cNvPr id="331" name="Google Shape;331;p4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332" name="Google Shape;332;p48"/>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8"/>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8"/>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8"/>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336" name="Google Shape;336;p48"/>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337" name="Google Shape;337;p48"/>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338" name="Google Shape;338;p48"/>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39" name="Google Shape;339;p48"/>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0" name="Google Shape;340;p48"/>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1" name="Google Shape;341;p48"/>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2" name="Google Shape;342;p48"/>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3" name="Google Shape;343;p48"/>
          <p:cNvPicPr preferRelativeResize="0"/>
          <p:nvPr/>
        </p:nvPicPr>
        <p:blipFill>
          <a:blip r:embed="rId2">
            <a:alphaModFix/>
          </a:blip>
          <a:stretch>
            <a:fillRect/>
          </a:stretch>
        </p:blipFill>
        <p:spPr>
          <a:xfrm>
            <a:off x="173938" y="271538"/>
            <a:ext cx="496875" cy="496875"/>
          </a:xfrm>
          <a:prstGeom prst="rect">
            <a:avLst/>
          </a:prstGeom>
          <a:noFill/>
          <a:ln>
            <a:noFill/>
          </a:ln>
        </p:spPr>
      </p:pic>
      <p:sp>
        <p:nvSpPr>
          <p:cNvPr id="344" name="Google Shape;344;p48"/>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345" name="Shape 345"/>
        <p:cNvGrpSpPr/>
        <p:nvPr/>
      </p:nvGrpSpPr>
      <p:grpSpPr>
        <a:xfrm>
          <a:off x="0" y="0"/>
          <a:ext cx="0" cy="0"/>
          <a:chOff x="0" y="0"/>
          <a:chExt cx="0" cy="0"/>
        </a:xfrm>
      </p:grpSpPr>
      <p:sp>
        <p:nvSpPr>
          <p:cNvPr id="346" name="Google Shape;346;p4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algn="ctr">
              <a:spcBef>
                <a:spcPts val="0"/>
              </a:spcBef>
              <a:spcAft>
                <a:spcPts val="0"/>
              </a:spcAft>
              <a:buSzPts val="4000"/>
              <a:buFont typeface="Roboto Light"/>
              <a:buNone/>
              <a:defRPr b="0" sz="40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7" name="Shape 347"/>
        <p:cNvGrpSpPr/>
        <p:nvPr/>
      </p:nvGrpSpPr>
      <p:grpSpPr>
        <a:xfrm>
          <a:off x="0" y="0"/>
          <a:ext cx="0" cy="0"/>
          <a:chOff x="0" y="0"/>
          <a:chExt cx="0" cy="0"/>
        </a:xfrm>
      </p:grpSpPr>
      <p:sp>
        <p:nvSpPr>
          <p:cNvPr id="348" name="Google Shape;348;p50"/>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49" name="Google Shape;349;p5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0" name="Google Shape;350;p50"/>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51" name="Shape 351"/>
        <p:cNvGrpSpPr/>
        <p:nvPr/>
      </p:nvGrpSpPr>
      <p:grpSpPr>
        <a:xfrm>
          <a:off x="0" y="0"/>
          <a:ext cx="0" cy="0"/>
          <a:chOff x="0" y="0"/>
          <a:chExt cx="0" cy="0"/>
        </a:xfrm>
      </p:grpSpPr>
      <p:pic>
        <p:nvPicPr>
          <p:cNvPr id="352" name="Google Shape;352;p51"/>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53" name="Google Shape;353;p51"/>
          <p:cNvSpPr txBox="1"/>
          <p:nvPr>
            <p:ph type="title"/>
          </p:nvPr>
        </p:nvSpPr>
        <p:spPr>
          <a:xfrm>
            <a:off x="1959725" y="1641200"/>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354" name="Google Shape;354;p51"/>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51"/>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51"/>
          <p:cNvSpPr txBox="1"/>
          <p:nvPr>
            <p:ph idx="2" type="title"/>
          </p:nvPr>
        </p:nvSpPr>
        <p:spPr>
          <a:xfrm>
            <a:off x="1450375" y="1039700"/>
            <a:ext cx="6244200" cy="3131700"/>
          </a:xfrm>
          <a:prstGeom prst="rect">
            <a:avLst/>
          </a:prstGeom>
        </p:spPr>
        <p:txBody>
          <a:bodyPr anchorCtr="0" anchor="ctr" bIns="0" lIns="0" spcFirstLastPara="1" rIns="0" wrap="square" tIns="0">
            <a:noAutofit/>
          </a:bodyPr>
          <a:lstStyle>
            <a:lvl1pPr lvl="0">
              <a:spcBef>
                <a:spcPts val="0"/>
              </a:spcBef>
              <a:spcAft>
                <a:spcPts val="0"/>
              </a:spcAft>
              <a:buSzPts val="3400"/>
              <a:buFont typeface="Roboto Light"/>
              <a:buNone/>
              <a:defRPr b="0" sz="3400">
                <a:latin typeface="Roboto Light"/>
                <a:ea typeface="Roboto Light"/>
                <a:cs typeface="Roboto Light"/>
                <a:sym typeface="Roboto Light"/>
              </a:defRPr>
            </a:lvl1pPr>
            <a:lvl2pPr lvl="1">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57" name="Shape 357"/>
        <p:cNvGrpSpPr/>
        <p:nvPr/>
      </p:nvGrpSpPr>
      <p:grpSpPr>
        <a:xfrm>
          <a:off x="0" y="0"/>
          <a:ext cx="0" cy="0"/>
          <a:chOff x="0" y="0"/>
          <a:chExt cx="0" cy="0"/>
        </a:xfrm>
      </p:grpSpPr>
      <p:sp>
        <p:nvSpPr>
          <p:cNvPr id="358" name="Google Shape;358;p52"/>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359" name="Google Shape;359;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cxnSp>
        <p:nvCxnSpPr>
          <p:cNvPr id="360" name="Google Shape;360;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1" name="Google Shape;361;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2" name="Google Shape;362;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3" name="Google Shape;363;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364" name="Google Shape;364;p52"/>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lide">
  <p:cSld name="CUSTOM_23_3">
    <p:bg>
      <p:bgPr>
        <a:solidFill>
          <a:srgbClr val="F2F2F2"/>
        </a:solidFill>
      </p:bgPr>
    </p:bg>
    <p:spTree>
      <p:nvGrpSpPr>
        <p:cNvPr id="365" name="Shape 365"/>
        <p:cNvGrpSpPr/>
        <p:nvPr/>
      </p:nvGrpSpPr>
      <p:grpSpPr>
        <a:xfrm>
          <a:off x="0" y="0"/>
          <a:ext cx="0" cy="0"/>
          <a:chOff x="0" y="0"/>
          <a:chExt cx="0" cy="0"/>
        </a:xfrm>
      </p:grpSpPr>
      <p:sp>
        <p:nvSpPr>
          <p:cNvPr id="366" name="Google Shape;366;p53"/>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53"/>
          <p:cNvSpPr txBox="1"/>
          <p:nvPr/>
        </p:nvSpPr>
        <p:spPr>
          <a:xfrm>
            <a:off x="-5875" y="203600"/>
            <a:ext cx="9168600" cy="393600"/>
          </a:xfrm>
          <a:prstGeom prst="rect">
            <a:avLst/>
          </a:prstGeom>
          <a:noFill/>
          <a:ln>
            <a:noFill/>
          </a:ln>
        </p:spPr>
        <p:txBody>
          <a:bodyPr anchorCtr="0" anchor="ctr" bIns="91425" lIns="822950" spcFirstLastPara="1" rIns="91425" wrap="square" tIns="91425">
            <a:no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Activity: </a:t>
            </a:r>
            <a:endParaRPr b="1" sz="2400">
              <a:solidFill>
                <a:srgbClr val="2E5E73"/>
              </a:solidFill>
              <a:latin typeface="Roboto"/>
              <a:ea typeface="Roboto"/>
              <a:cs typeface="Roboto"/>
              <a:sym typeface="Roboto"/>
            </a:endParaRPr>
          </a:p>
        </p:txBody>
      </p:sp>
      <p:sp>
        <p:nvSpPr>
          <p:cNvPr id="368" name="Google Shape;368;p53"/>
          <p:cNvSpPr txBox="1"/>
          <p:nvPr/>
        </p:nvSpPr>
        <p:spPr>
          <a:xfrm>
            <a:off x="5901175" y="3977950"/>
            <a:ext cx="2872200" cy="434400"/>
          </a:xfrm>
          <a:prstGeom prst="rect">
            <a:avLst/>
          </a:prstGeom>
          <a:noFill/>
          <a:ln>
            <a:noFill/>
          </a:ln>
        </p:spPr>
        <p:txBody>
          <a:bodyPr anchorCtr="0" anchor="ctr" bIns="0" lIns="640075" spcFirstLastPara="1" rIns="91425" wrap="square" tIns="0">
            <a:noAutofit/>
          </a:bodyPr>
          <a:lstStyle/>
          <a:p>
            <a:pPr indent="0" lvl="0" marL="0" rtl="0" algn="r">
              <a:spcBef>
                <a:spcPts val="0"/>
              </a:spcBef>
              <a:spcAft>
                <a:spcPts val="0"/>
              </a:spcAft>
              <a:buNone/>
            </a:pPr>
            <a:r>
              <a:rPr b="1" lang="en">
                <a:solidFill>
                  <a:srgbClr val="2E5E73"/>
                </a:solidFill>
                <a:latin typeface="Roboto"/>
                <a:ea typeface="Roboto"/>
                <a:cs typeface="Roboto"/>
                <a:sym typeface="Roboto"/>
              </a:rPr>
              <a:t>Suggested Time:</a:t>
            </a:r>
            <a:endParaRPr b="1">
              <a:solidFill>
                <a:srgbClr val="2E5E73"/>
              </a:solidFill>
              <a:latin typeface="Roboto"/>
              <a:ea typeface="Roboto"/>
              <a:cs typeface="Roboto"/>
              <a:sym typeface="Roboto"/>
            </a:endParaRPr>
          </a:p>
        </p:txBody>
      </p:sp>
      <p:pic>
        <p:nvPicPr>
          <p:cNvPr id="369" name="Google Shape;369;p53"/>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370" name="Google Shape;370;p53"/>
          <p:cNvCxnSpPr/>
          <p:nvPr/>
        </p:nvCxnSpPr>
        <p:spPr>
          <a:xfrm>
            <a:off x="0" y="929900"/>
            <a:ext cx="7337400" cy="0"/>
          </a:xfrm>
          <a:prstGeom prst="straightConnector1">
            <a:avLst/>
          </a:prstGeom>
          <a:noFill/>
          <a:ln cap="flat" cmpd="sng" w="19050">
            <a:solidFill>
              <a:srgbClr val="2E5E73"/>
            </a:solidFill>
            <a:prstDash val="solid"/>
            <a:round/>
            <a:headEnd len="med" w="med" type="none"/>
            <a:tailEnd len="med" w="med" type="oval"/>
          </a:ln>
        </p:spPr>
      </p:cxnSp>
      <p:sp>
        <p:nvSpPr>
          <p:cNvPr id="371" name="Google Shape;371;p53"/>
          <p:cNvSpPr txBox="1"/>
          <p:nvPr>
            <p:ph idx="1" type="subTitle"/>
          </p:nvPr>
        </p:nvSpPr>
        <p:spPr>
          <a:xfrm>
            <a:off x="818575" y="1726975"/>
            <a:ext cx="6518700" cy="2116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72" name="Google Shape;372;p53"/>
          <p:cNvSpPr txBox="1"/>
          <p:nvPr>
            <p:ph idx="2" type="subTitle"/>
          </p:nvPr>
        </p:nvSpPr>
        <p:spPr>
          <a:xfrm>
            <a:off x="0" y="4246400"/>
            <a:ext cx="8703600" cy="323100"/>
          </a:xfrm>
          <a:prstGeom prst="rect">
            <a:avLst/>
          </a:prstGeom>
        </p:spPr>
        <p:txBody>
          <a:bodyPr anchorCtr="0" anchor="t" bIns="91425" lIns="0" spcFirstLastPara="1" rIns="91425" wrap="square" tIns="0">
            <a:noAutofit/>
          </a:bodyPr>
          <a:lstStyle>
            <a:lvl1pPr lvl="0" algn="r">
              <a:spcBef>
                <a:spcPts val="0"/>
              </a:spcBef>
              <a:spcAft>
                <a:spcPts val="0"/>
              </a:spcAft>
              <a:buSzPts val="1400"/>
              <a:buNone/>
              <a:defRPr sz="1400"/>
            </a:lvl1pPr>
            <a:lvl2pPr lvl="1" algn="r">
              <a:spcBef>
                <a:spcPts val="0"/>
              </a:spcBef>
              <a:spcAft>
                <a:spcPts val="0"/>
              </a:spcAft>
              <a:buSzPts val="1800"/>
              <a:buNone/>
              <a:defRPr/>
            </a:lvl2pPr>
            <a:lvl3pPr lvl="2" algn="r">
              <a:spcBef>
                <a:spcPts val="0"/>
              </a:spcBef>
              <a:spcAft>
                <a:spcPts val="0"/>
              </a:spcAft>
              <a:buSzPts val="1800"/>
              <a:buNone/>
              <a:defRPr/>
            </a:lvl3pPr>
            <a:lvl4pPr lvl="3" algn="r">
              <a:spcBef>
                <a:spcPts val="0"/>
              </a:spcBef>
              <a:spcAft>
                <a:spcPts val="0"/>
              </a:spcAft>
              <a:buSzPts val="1800"/>
              <a:buNone/>
              <a:defRPr/>
            </a:lvl4pPr>
            <a:lvl5pPr lvl="4" algn="r">
              <a:spcBef>
                <a:spcPts val="0"/>
              </a:spcBef>
              <a:spcAft>
                <a:spcPts val="0"/>
              </a:spcAft>
              <a:buSzPts val="1800"/>
              <a:buNone/>
              <a:defRPr/>
            </a:lvl5pPr>
            <a:lvl6pPr lvl="5" algn="r">
              <a:spcBef>
                <a:spcPts val="0"/>
              </a:spcBef>
              <a:spcAft>
                <a:spcPts val="0"/>
              </a:spcAft>
              <a:buSzPts val="1800"/>
              <a:buNone/>
              <a:defRPr/>
            </a:lvl6pPr>
            <a:lvl7pPr lvl="6" algn="r">
              <a:spcBef>
                <a:spcPts val="0"/>
              </a:spcBef>
              <a:spcAft>
                <a:spcPts val="0"/>
              </a:spcAft>
              <a:buSzPts val="1800"/>
              <a:buNone/>
              <a:defRPr/>
            </a:lvl7pPr>
            <a:lvl8pPr lvl="7" algn="r">
              <a:spcBef>
                <a:spcPts val="0"/>
              </a:spcBef>
              <a:spcAft>
                <a:spcPts val="0"/>
              </a:spcAft>
              <a:buSzPts val="1800"/>
              <a:buNone/>
              <a:defRPr/>
            </a:lvl8pPr>
            <a:lvl9pPr lvl="8" algn="r">
              <a:spcBef>
                <a:spcPts val="0"/>
              </a:spcBef>
              <a:spcAft>
                <a:spcPts val="0"/>
              </a:spcAft>
              <a:buSzPts val="1800"/>
              <a:buNone/>
              <a:defRPr/>
            </a:lvl9pPr>
          </a:lstStyle>
          <a:p/>
        </p:txBody>
      </p:sp>
      <p:pic>
        <p:nvPicPr>
          <p:cNvPr id="373" name="Google Shape;373;p53"/>
          <p:cNvPicPr preferRelativeResize="0"/>
          <p:nvPr/>
        </p:nvPicPr>
        <p:blipFill>
          <a:blip r:embed="rId3">
            <a:alphaModFix/>
          </a:blip>
          <a:stretch>
            <a:fillRect/>
          </a:stretch>
        </p:blipFill>
        <p:spPr>
          <a:xfrm>
            <a:off x="222821" y="323175"/>
            <a:ext cx="399107" cy="393600"/>
          </a:xfrm>
          <a:prstGeom prst="rect">
            <a:avLst/>
          </a:prstGeom>
          <a:noFill/>
          <a:ln>
            <a:noFill/>
          </a:ln>
        </p:spPr>
      </p:pic>
      <p:sp>
        <p:nvSpPr>
          <p:cNvPr id="374" name="Google Shape;374;p53"/>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s Up slide 1">
  <p:cSld name="CUSTOM_10_2_1">
    <p:bg>
      <p:bgPr>
        <a:solidFill>
          <a:srgbClr val="F2F2F2"/>
        </a:solidFill>
      </p:bgPr>
    </p:bg>
    <p:spTree>
      <p:nvGrpSpPr>
        <p:cNvPr id="375" name="Shape 375"/>
        <p:cNvGrpSpPr/>
        <p:nvPr/>
      </p:nvGrpSpPr>
      <p:grpSpPr>
        <a:xfrm>
          <a:off x="0" y="0"/>
          <a:ext cx="0" cy="0"/>
          <a:chOff x="0" y="0"/>
          <a:chExt cx="0" cy="0"/>
        </a:xfrm>
      </p:grpSpPr>
      <p:sp>
        <p:nvSpPr>
          <p:cNvPr id="376" name="Google Shape;376;p54"/>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Time’s up!</a:t>
            </a:r>
            <a:endParaRPr b="1" sz="4000">
              <a:solidFill>
                <a:srgbClr val="2E5E73"/>
              </a:solidFill>
              <a:latin typeface="Roboto"/>
              <a:ea typeface="Roboto"/>
              <a:cs typeface="Roboto"/>
              <a:sym typeface="Roboto"/>
            </a:endParaRPr>
          </a:p>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Let’s review</a:t>
            </a:r>
            <a:endParaRPr sz="4000">
              <a:solidFill>
                <a:srgbClr val="2E5E73"/>
              </a:solidFill>
              <a:latin typeface="Roboto Light"/>
              <a:ea typeface="Roboto Light"/>
              <a:cs typeface="Roboto Light"/>
              <a:sym typeface="Roboto Light"/>
            </a:endParaRPr>
          </a:p>
        </p:txBody>
      </p:sp>
      <p:pic>
        <p:nvPicPr>
          <p:cNvPr id="377" name="Google Shape;377;p54"/>
          <p:cNvPicPr preferRelativeResize="0"/>
          <p:nvPr/>
        </p:nvPicPr>
        <p:blipFill>
          <a:blip r:embed="rId2">
            <a:alphaModFix/>
          </a:blip>
          <a:stretch>
            <a:fillRect/>
          </a:stretch>
        </p:blipFill>
        <p:spPr>
          <a:xfrm>
            <a:off x="3975000" y="1536950"/>
            <a:ext cx="1194000" cy="114906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slide">
  <p:cSld name="CUSTOM_10_1_1_1_1_3">
    <p:bg>
      <p:bgPr>
        <a:solidFill>
          <a:srgbClr val="F2F2F2"/>
        </a:solidFill>
      </p:bgPr>
    </p:bg>
    <p:spTree>
      <p:nvGrpSpPr>
        <p:cNvPr id="378" name="Shape 378"/>
        <p:cNvGrpSpPr/>
        <p:nvPr/>
      </p:nvGrpSpPr>
      <p:grpSpPr>
        <a:xfrm>
          <a:off x="0" y="0"/>
          <a:ext cx="0" cy="0"/>
          <a:chOff x="0" y="0"/>
          <a:chExt cx="0" cy="0"/>
        </a:xfrm>
      </p:grpSpPr>
      <p:sp>
        <p:nvSpPr>
          <p:cNvPr id="379" name="Google Shape;379;p55"/>
          <p:cNvSpPr txBox="1"/>
          <p:nvPr/>
        </p:nvSpPr>
        <p:spPr>
          <a:xfrm>
            <a:off x="0" y="2688450"/>
            <a:ext cx="9144000" cy="752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Questions?</a:t>
            </a:r>
            <a:endParaRPr sz="4000">
              <a:solidFill>
                <a:srgbClr val="2E5E73"/>
              </a:solidFill>
              <a:latin typeface="Roboto Light"/>
              <a:ea typeface="Roboto Light"/>
              <a:cs typeface="Roboto Light"/>
              <a:sym typeface="Roboto Light"/>
            </a:endParaRPr>
          </a:p>
        </p:txBody>
      </p:sp>
      <p:pic>
        <p:nvPicPr>
          <p:cNvPr id="380" name="Google Shape;380;p55"/>
          <p:cNvPicPr preferRelativeResize="0"/>
          <p:nvPr/>
        </p:nvPicPr>
        <p:blipFill>
          <a:blip r:embed="rId2">
            <a:alphaModFix/>
          </a:blip>
          <a:stretch>
            <a:fillRect/>
          </a:stretch>
        </p:blipFill>
        <p:spPr>
          <a:xfrm>
            <a:off x="3762650" y="1443625"/>
            <a:ext cx="1345550" cy="1054620"/>
          </a:xfrm>
          <a:prstGeom prst="rect">
            <a:avLst/>
          </a:prstGeom>
          <a:noFill/>
          <a:ln>
            <a:noFill/>
          </a:ln>
        </p:spPr>
      </p:pic>
      <p:pic>
        <p:nvPicPr>
          <p:cNvPr id="381" name="Google Shape;381;p55"/>
          <p:cNvPicPr preferRelativeResize="0"/>
          <p:nvPr/>
        </p:nvPicPr>
        <p:blipFill rotWithShape="1">
          <a:blip r:embed="rId3">
            <a:alphaModFix/>
          </a:blip>
          <a:srcRect b="9853" l="0" r="0" t="0"/>
          <a:stretch/>
        </p:blipFill>
        <p:spPr>
          <a:xfrm>
            <a:off x="653025" y="3974475"/>
            <a:ext cx="870750" cy="1194250"/>
          </a:xfrm>
          <a:prstGeom prst="rect">
            <a:avLst/>
          </a:prstGeom>
          <a:noFill/>
          <a:ln>
            <a:noFill/>
          </a:ln>
        </p:spPr>
      </p:pic>
      <p:pic>
        <p:nvPicPr>
          <p:cNvPr id="382" name="Google Shape;382;p55"/>
          <p:cNvPicPr preferRelativeResize="0"/>
          <p:nvPr/>
        </p:nvPicPr>
        <p:blipFill rotWithShape="1">
          <a:blip r:embed="rId3">
            <a:alphaModFix/>
          </a:blip>
          <a:srcRect b="19665" l="0" r="0" t="0"/>
          <a:stretch/>
        </p:blipFill>
        <p:spPr>
          <a:xfrm flipH="1">
            <a:off x="1651350" y="4211600"/>
            <a:ext cx="783075" cy="957125"/>
          </a:xfrm>
          <a:prstGeom prst="rect">
            <a:avLst/>
          </a:prstGeom>
          <a:noFill/>
          <a:ln>
            <a:noFill/>
          </a:ln>
        </p:spPr>
      </p:pic>
      <p:pic>
        <p:nvPicPr>
          <p:cNvPr id="383" name="Google Shape;383;p55"/>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384" name="Google Shape;384;p55"/>
          <p:cNvPicPr preferRelativeResize="0"/>
          <p:nvPr/>
        </p:nvPicPr>
        <p:blipFill rotWithShape="1">
          <a:blip r:embed="rId3">
            <a:alphaModFix/>
          </a:blip>
          <a:srcRect b="9853" l="0" r="0" t="0"/>
          <a:stretch/>
        </p:blipFill>
        <p:spPr>
          <a:xfrm>
            <a:off x="2655487" y="3820875"/>
            <a:ext cx="982713" cy="1347850"/>
          </a:xfrm>
          <a:prstGeom prst="rect">
            <a:avLst/>
          </a:prstGeom>
          <a:noFill/>
          <a:ln>
            <a:noFill/>
          </a:ln>
        </p:spPr>
      </p:pic>
      <p:pic>
        <p:nvPicPr>
          <p:cNvPr id="385" name="Google Shape;385;p55"/>
          <p:cNvPicPr preferRelativeResize="0"/>
          <p:nvPr/>
        </p:nvPicPr>
        <p:blipFill rotWithShape="1">
          <a:blip r:embed="rId3">
            <a:alphaModFix/>
          </a:blip>
          <a:srcRect b="9853" l="0" r="0" t="0"/>
          <a:stretch/>
        </p:blipFill>
        <p:spPr>
          <a:xfrm>
            <a:off x="4517888" y="3982537"/>
            <a:ext cx="870750" cy="1194250"/>
          </a:xfrm>
          <a:prstGeom prst="rect">
            <a:avLst/>
          </a:prstGeom>
          <a:noFill/>
          <a:ln>
            <a:noFill/>
          </a:ln>
        </p:spPr>
      </p:pic>
      <p:pic>
        <p:nvPicPr>
          <p:cNvPr id="386" name="Google Shape;386;p55"/>
          <p:cNvPicPr preferRelativeResize="0"/>
          <p:nvPr/>
        </p:nvPicPr>
        <p:blipFill rotWithShape="1">
          <a:blip r:embed="rId3">
            <a:alphaModFix/>
          </a:blip>
          <a:srcRect b="5687" l="0" r="0" t="0"/>
          <a:stretch/>
        </p:blipFill>
        <p:spPr>
          <a:xfrm flipH="1">
            <a:off x="5979175" y="4016252"/>
            <a:ext cx="783075" cy="1123675"/>
          </a:xfrm>
          <a:prstGeom prst="rect">
            <a:avLst/>
          </a:prstGeom>
          <a:noFill/>
          <a:ln>
            <a:noFill/>
          </a:ln>
        </p:spPr>
      </p:pic>
      <p:pic>
        <p:nvPicPr>
          <p:cNvPr id="387" name="Google Shape;387;p55"/>
          <p:cNvPicPr preferRelativeResize="0"/>
          <p:nvPr/>
        </p:nvPicPr>
        <p:blipFill rotWithShape="1">
          <a:blip r:embed="rId3">
            <a:alphaModFix/>
          </a:blip>
          <a:srcRect b="0" l="0" r="0" t="0"/>
          <a:stretch/>
        </p:blipFill>
        <p:spPr>
          <a:xfrm>
            <a:off x="7223650" y="3820875"/>
            <a:ext cx="870750" cy="13248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388" name="Shape 388"/>
        <p:cNvGrpSpPr/>
        <p:nvPr/>
      </p:nvGrpSpPr>
      <p:grpSpPr>
        <a:xfrm>
          <a:off x="0" y="0"/>
          <a:ext cx="0" cy="0"/>
          <a:chOff x="0" y="0"/>
          <a:chExt cx="0" cy="0"/>
        </a:xfrm>
      </p:grpSpPr>
      <p:sp>
        <p:nvSpPr>
          <p:cNvPr id="389" name="Google Shape;389;p56"/>
          <p:cNvSpPr/>
          <p:nvPr>
            <p:ph idx="2" type="pic"/>
          </p:nvPr>
        </p:nvSpPr>
        <p:spPr>
          <a:xfrm>
            <a:off x="5923375" y="150"/>
            <a:ext cx="3220500" cy="5143500"/>
          </a:xfrm>
          <a:prstGeom prst="rect">
            <a:avLst/>
          </a:prstGeom>
          <a:noFill/>
          <a:ln>
            <a:noFill/>
          </a:ln>
        </p:spPr>
      </p:sp>
      <p:sp>
        <p:nvSpPr>
          <p:cNvPr id="390" name="Google Shape;390;p5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91" name="Google Shape;391;p56"/>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2" name="Google Shape;392;p56"/>
          <p:cNvSpPr txBox="1"/>
          <p:nvPr>
            <p:ph idx="3"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393" name="Shape 393"/>
        <p:cNvGrpSpPr/>
        <p:nvPr/>
      </p:nvGrpSpPr>
      <p:grpSpPr>
        <a:xfrm>
          <a:off x="0" y="0"/>
          <a:ext cx="0" cy="0"/>
          <a:chOff x="0" y="0"/>
          <a:chExt cx="0" cy="0"/>
        </a:xfrm>
      </p:grpSpPr>
      <p:sp>
        <p:nvSpPr>
          <p:cNvPr id="394" name="Google Shape;394;p5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5" name="Google Shape;395;p5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396" name="Google Shape;396;p5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97" name="Google Shape;397;p5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Font typeface="Roboto Light"/>
              <a:buNone/>
              <a:defRPr b="0" sz="3800">
                <a:latin typeface="Roboto Light"/>
                <a:ea typeface="Roboto Light"/>
                <a:cs typeface="Roboto Light"/>
                <a:sym typeface="Roboto Light"/>
              </a:defRPr>
            </a:lvl1pPr>
            <a:lvl2pPr lvl="1">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398" name="Shape 398"/>
        <p:cNvGrpSpPr/>
        <p:nvPr/>
      </p:nvGrpSpPr>
      <p:grpSpPr>
        <a:xfrm>
          <a:off x="0" y="0"/>
          <a:ext cx="0" cy="0"/>
          <a:chOff x="0" y="0"/>
          <a:chExt cx="0" cy="0"/>
        </a:xfrm>
      </p:grpSpPr>
      <p:sp>
        <p:nvSpPr>
          <p:cNvPr id="399" name="Google Shape;399;p58"/>
          <p:cNvSpPr txBox="1"/>
          <p:nvPr>
            <p:ph type="ctrTitle"/>
          </p:nvPr>
        </p:nvSpPr>
        <p:spPr>
          <a:xfrm>
            <a:off x="0" y="744575"/>
            <a:ext cx="91440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00" name="Google Shape;400;p58"/>
          <p:cNvSpPr txBox="1"/>
          <p:nvPr>
            <p:ph idx="1" type="subTitle"/>
          </p:nvPr>
        </p:nvSpPr>
        <p:spPr>
          <a:xfrm>
            <a:off x="311700" y="2834125"/>
            <a:ext cx="8520600" cy="792600"/>
          </a:xfrm>
          <a:prstGeom prst="rect">
            <a:avLst/>
          </a:prstGeom>
        </p:spPr>
        <p:txBody>
          <a:bodyPr anchorCtr="0" anchor="t" bIns="91425" lIns="0" spcFirstLastPara="1" rIns="91425" wrap="square" tIns="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1" name="Google Shape;401;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1">
  <p:cSld name="CUSTOM_10_1_2">
    <p:bg>
      <p:bgPr>
        <a:solidFill>
          <a:srgbClr val="F2F2F2"/>
        </a:solidFill>
      </p:bgPr>
    </p:bg>
    <p:spTree>
      <p:nvGrpSpPr>
        <p:cNvPr id="402" name="Shape 402"/>
        <p:cNvGrpSpPr/>
        <p:nvPr/>
      </p:nvGrpSpPr>
      <p:grpSpPr>
        <a:xfrm>
          <a:off x="0" y="0"/>
          <a:ext cx="0" cy="0"/>
          <a:chOff x="0" y="0"/>
          <a:chExt cx="0" cy="0"/>
        </a:xfrm>
      </p:grpSpPr>
      <p:sp>
        <p:nvSpPr>
          <p:cNvPr id="403" name="Google Shape;403;p59"/>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Break</a:t>
            </a:r>
            <a:endParaRPr b="1" sz="4000">
              <a:solidFill>
                <a:srgbClr val="2E5E73"/>
              </a:solidFill>
              <a:latin typeface="Roboto"/>
              <a:ea typeface="Roboto"/>
              <a:cs typeface="Roboto"/>
              <a:sym typeface="Roboto"/>
            </a:endParaRPr>
          </a:p>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15 mins</a:t>
            </a:r>
            <a:endParaRPr sz="4000">
              <a:solidFill>
                <a:srgbClr val="2E5E73"/>
              </a:solidFill>
              <a:latin typeface="Roboto Light"/>
              <a:ea typeface="Roboto Light"/>
              <a:cs typeface="Roboto Light"/>
              <a:sym typeface="Roboto Light"/>
            </a:endParaRPr>
          </a:p>
        </p:txBody>
      </p:sp>
      <p:pic>
        <p:nvPicPr>
          <p:cNvPr id="404" name="Google Shape;404;p59"/>
          <p:cNvPicPr preferRelativeResize="0"/>
          <p:nvPr/>
        </p:nvPicPr>
        <p:blipFill>
          <a:blip r:embed="rId2">
            <a:alphaModFix/>
          </a:blip>
          <a:stretch>
            <a:fillRect/>
          </a:stretch>
        </p:blipFill>
        <p:spPr>
          <a:xfrm>
            <a:off x="3934827" y="1454325"/>
            <a:ext cx="1274325" cy="1234083"/>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405" name="Shape 405"/>
        <p:cNvGrpSpPr/>
        <p:nvPr/>
      </p:nvGrpSpPr>
      <p:grpSpPr>
        <a:xfrm>
          <a:off x="0" y="0"/>
          <a:ext cx="0" cy="0"/>
          <a:chOff x="0" y="0"/>
          <a:chExt cx="0" cy="0"/>
        </a:xfrm>
      </p:grpSpPr>
      <p:sp>
        <p:nvSpPr>
          <p:cNvPr id="406" name="Google Shape;406;p60"/>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407" name="Google Shape;407;p60"/>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700"/>
              <a:buNone/>
              <a:defRPr b="0" sz="1700">
                <a:solidFill>
                  <a:schemeClr val="dk1"/>
                </a:solidFill>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408" name="Google Shape;408;p60"/>
          <p:cNvSpPr txBox="1"/>
          <p:nvPr>
            <p:ph idx="2"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09" name="Google Shape;409;p6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410" name="Google Shape;410;p60"/>
          <p:cNvGrpSpPr/>
          <p:nvPr/>
        </p:nvGrpSpPr>
        <p:grpSpPr>
          <a:xfrm>
            <a:off x="457147" y="1190428"/>
            <a:ext cx="533372" cy="533480"/>
            <a:chOff x="457200" y="1378813"/>
            <a:chExt cx="695400" cy="695450"/>
          </a:xfrm>
        </p:grpSpPr>
        <p:sp>
          <p:nvSpPr>
            <p:cNvPr id="411" name="Google Shape;411;p60"/>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lt1"/>
                  </a:solidFill>
                  <a:latin typeface="Roboto"/>
                  <a:ea typeface="Roboto"/>
                  <a:cs typeface="Roboto"/>
                  <a:sym typeface="Roboto"/>
                </a:rPr>
                <a:t>01</a:t>
              </a:r>
              <a:endParaRPr i="0" sz="2100" u="none" cap="none" strike="noStrike">
                <a:solidFill>
                  <a:schemeClr val="lt1"/>
                </a:solidFill>
                <a:latin typeface="Roboto"/>
                <a:ea typeface="Roboto"/>
                <a:cs typeface="Roboto"/>
                <a:sym typeface="Roboto"/>
              </a:endParaRPr>
            </a:p>
          </p:txBody>
        </p:sp>
        <p:sp>
          <p:nvSpPr>
            <p:cNvPr id="412" name="Google Shape;412;p60"/>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3" name="Google Shape;413;p60"/>
          <p:cNvGrpSpPr/>
          <p:nvPr/>
        </p:nvGrpSpPr>
        <p:grpSpPr>
          <a:xfrm>
            <a:off x="4876797" y="1190428"/>
            <a:ext cx="533372" cy="533480"/>
            <a:chOff x="2605668" y="1378813"/>
            <a:chExt cx="695400" cy="695450"/>
          </a:xfrm>
        </p:grpSpPr>
        <p:sp>
          <p:nvSpPr>
            <p:cNvPr id="414" name="Google Shape;414;p60"/>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dk2"/>
                  </a:solidFill>
                  <a:latin typeface="Roboto"/>
                  <a:ea typeface="Roboto"/>
                  <a:cs typeface="Roboto"/>
                  <a:sym typeface="Roboto"/>
                </a:rPr>
                <a:t>02</a:t>
              </a:r>
              <a:endParaRPr i="0" sz="2100" u="none" cap="none" strike="noStrike">
                <a:solidFill>
                  <a:schemeClr val="dk2"/>
                </a:solidFill>
                <a:latin typeface="Roboto"/>
                <a:ea typeface="Roboto"/>
                <a:cs typeface="Roboto"/>
                <a:sym typeface="Roboto"/>
              </a:endParaRPr>
            </a:p>
          </p:txBody>
        </p:sp>
        <p:sp>
          <p:nvSpPr>
            <p:cNvPr id="415" name="Google Shape;415;p60"/>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416" name="Google Shape;416;p60"/>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417" name="Google Shape;417;p60"/>
          <p:cNvSpPr txBox="1"/>
          <p:nvPr>
            <p:ph idx="3"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700"/>
              <a:buNone/>
              <a:defRPr b="0" sz="1700">
                <a:solidFill>
                  <a:schemeClr val="dk1"/>
                </a:solidFill>
              </a:defRPr>
            </a:lvl1pPr>
            <a:lvl2pPr lvl="1">
              <a:spcBef>
                <a:spcPts val="0"/>
              </a:spcBef>
              <a:spcAft>
                <a:spcPts val="0"/>
              </a:spcAft>
              <a:buSzPts val="2700"/>
              <a:buFont typeface="Roboto"/>
              <a:buNone/>
              <a:defRPr sz="2700">
                <a:latin typeface="Roboto"/>
                <a:ea typeface="Roboto"/>
                <a:cs typeface="Roboto"/>
                <a:sym typeface="Roboto"/>
              </a:defRPr>
            </a:lvl2pPr>
            <a:lvl3pPr lvl="2">
              <a:spcBef>
                <a:spcPts val="0"/>
              </a:spcBef>
              <a:spcAft>
                <a:spcPts val="0"/>
              </a:spcAft>
              <a:buSzPts val="2700"/>
              <a:buFont typeface="Roboto"/>
              <a:buNone/>
              <a:defRPr sz="2700">
                <a:latin typeface="Roboto"/>
                <a:ea typeface="Roboto"/>
                <a:cs typeface="Roboto"/>
                <a:sym typeface="Roboto"/>
              </a:defRPr>
            </a:lvl3pPr>
            <a:lvl4pPr lvl="3">
              <a:spcBef>
                <a:spcPts val="0"/>
              </a:spcBef>
              <a:spcAft>
                <a:spcPts val="0"/>
              </a:spcAft>
              <a:buSzPts val="2700"/>
              <a:buFont typeface="Roboto"/>
              <a:buNone/>
              <a:defRPr sz="2700">
                <a:latin typeface="Roboto"/>
                <a:ea typeface="Roboto"/>
                <a:cs typeface="Roboto"/>
                <a:sym typeface="Roboto"/>
              </a:defRPr>
            </a:lvl4pPr>
            <a:lvl5pPr lvl="4">
              <a:spcBef>
                <a:spcPts val="0"/>
              </a:spcBef>
              <a:spcAft>
                <a:spcPts val="0"/>
              </a:spcAft>
              <a:buSzPts val="2700"/>
              <a:buFont typeface="Roboto"/>
              <a:buNone/>
              <a:defRPr sz="2700">
                <a:latin typeface="Roboto"/>
                <a:ea typeface="Roboto"/>
                <a:cs typeface="Roboto"/>
                <a:sym typeface="Roboto"/>
              </a:defRPr>
            </a:lvl5pPr>
            <a:lvl6pPr lvl="5">
              <a:spcBef>
                <a:spcPts val="0"/>
              </a:spcBef>
              <a:spcAft>
                <a:spcPts val="0"/>
              </a:spcAft>
              <a:buSzPts val="2700"/>
              <a:buFont typeface="Roboto"/>
              <a:buNone/>
              <a:defRPr sz="2700">
                <a:latin typeface="Roboto"/>
                <a:ea typeface="Roboto"/>
                <a:cs typeface="Roboto"/>
                <a:sym typeface="Roboto"/>
              </a:defRPr>
            </a:lvl6pPr>
            <a:lvl7pPr lvl="6">
              <a:spcBef>
                <a:spcPts val="0"/>
              </a:spcBef>
              <a:spcAft>
                <a:spcPts val="0"/>
              </a:spcAft>
              <a:buSzPts val="2700"/>
              <a:buFont typeface="Roboto"/>
              <a:buNone/>
              <a:defRPr sz="2700">
                <a:latin typeface="Roboto"/>
                <a:ea typeface="Roboto"/>
                <a:cs typeface="Roboto"/>
                <a:sym typeface="Roboto"/>
              </a:defRPr>
            </a:lvl7pPr>
            <a:lvl8pPr lvl="7">
              <a:spcBef>
                <a:spcPts val="0"/>
              </a:spcBef>
              <a:spcAft>
                <a:spcPts val="0"/>
              </a:spcAft>
              <a:buSzPts val="2700"/>
              <a:buFont typeface="Roboto"/>
              <a:buNone/>
              <a:defRPr sz="2700">
                <a:latin typeface="Roboto"/>
                <a:ea typeface="Roboto"/>
                <a:cs typeface="Roboto"/>
                <a:sym typeface="Roboto"/>
              </a:defRPr>
            </a:lvl8pPr>
            <a:lvl9pPr lvl="8">
              <a:spcBef>
                <a:spcPts val="0"/>
              </a:spcBef>
              <a:spcAft>
                <a:spcPts val="0"/>
              </a:spcAft>
              <a:buSzPts val="2700"/>
              <a:buFont typeface="Roboto"/>
              <a:buNone/>
              <a:defRPr sz="2700">
                <a:latin typeface="Roboto"/>
                <a:ea typeface="Roboto"/>
                <a:cs typeface="Roboto"/>
                <a:sym typeface="Roboto"/>
              </a:defRPr>
            </a:lvl9pPr>
          </a:lstStyle>
          <a:p/>
        </p:txBody>
      </p:sp>
      <p:sp>
        <p:nvSpPr>
          <p:cNvPr id="418" name="Google Shape;418;p60"/>
          <p:cNvSpPr txBox="1"/>
          <p:nvPr>
            <p:ph idx="4"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Font typeface="Roboto Light"/>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Font typeface="Roboto Light"/>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Font typeface="Roboto Light"/>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Font typeface="Roboto Light"/>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Font typeface="Roboto Light"/>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Font typeface="Roboto Light"/>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Font typeface="Roboto Light"/>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Font typeface="Roboto Light"/>
              <a:buNone/>
              <a:defRPr sz="1600">
                <a:solidFill>
                  <a:srgbClr val="2E5E73"/>
                </a:solidFill>
                <a:latin typeface="Roboto Light"/>
                <a:ea typeface="Roboto Light"/>
                <a:cs typeface="Roboto Light"/>
                <a:sym typeface="Roboto Light"/>
              </a:defRPr>
            </a:lvl9pPr>
          </a:lstStyle>
          <a:p/>
        </p:txBody>
      </p:sp>
      <p:sp>
        <p:nvSpPr>
          <p:cNvPr id="419" name="Google Shape;419;p60"/>
          <p:cNvSpPr txBox="1"/>
          <p:nvPr>
            <p:ph idx="5"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Font typeface="Roboto Light"/>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Font typeface="Roboto Light"/>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Font typeface="Roboto Light"/>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Font typeface="Roboto Light"/>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Font typeface="Roboto Light"/>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Font typeface="Roboto Light"/>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Font typeface="Roboto Light"/>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Font typeface="Roboto Light"/>
              <a:buNone/>
              <a:defRPr sz="1600">
                <a:solidFill>
                  <a:srgbClr val="043461"/>
                </a:solidFill>
                <a:latin typeface="Roboto Light"/>
                <a:ea typeface="Roboto Light"/>
                <a:cs typeface="Roboto Light"/>
                <a:sym typeface="Roboto Light"/>
              </a:defRPr>
            </a:lvl9pPr>
          </a:lstStyle>
          <a:p/>
        </p:txBody>
      </p:sp>
      <p:sp>
        <p:nvSpPr>
          <p:cNvPr id="420" name="Google Shape;420;p60"/>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421" name="Shape 421"/>
        <p:cNvGrpSpPr/>
        <p:nvPr/>
      </p:nvGrpSpPr>
      <p:grpSpPr>
        <a:xfrm>
          <a:off x="0" y="0"/>
          <a:ext cx="0" cy="0"/>
          <a:chOff x="0" y="0"/>
          <a:chExt cx="0" cy="0"/>
        </a:xfrm>
      </p:grpSpPr>
      <p:sp>
        <p:nvSpPr>
          <p:cNvPr id="422" name="Google Shape;422;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423" name="Google Shape;423;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424" name="Google Shape;424;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26" name="Google Shape;426;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27" name="Google Shape;427;p61"/>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428" name="Google Shape;428;p61"/>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End slide">
  <p:cSld name="CUSTOM_10_1_1_1_2_1_3">
    <p:bg>
      <p:bgPr>
        <a:solidFill>
          <a:srgbClr val="F2F2F2"/>
        </a:solidFill>
      </p:bgPr>
    </p:bg>
    <p:spTree>
      <p:nvGrpSpPr>
        <p:cNvPr id="429" name="Shape 429"/>
        <p:cNvGrpSpPr/>
        <p:nvPr/>
      </p:nvGrpSpPr>
      <p:grpSpPr>
        <a:xfrm>
          <a:off x="0" y="0"/>
          <a:ext cx="0" cy="0"/>
          <a:chOff x="0" y="0"/>
          <a:chExt cx="0" cy="0"/>
        </a:xfrm>
      </p:grpSpPr>
      <p:sp>
        <p:nvSpPr>
          <p:cNvPr id="430" name="Google Shape;430;p62"/>
          <p:cNvSpPr txBox="1"/>
          <p:nvPr/>
        </p:nvSpPr>
        <p:spPr>
          <a:xfrm>
            <a:off x="0" y="2938100"/>
            <a:ext cx="9144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The</a:t>
            </a:r>
            <a:r>
              <a:rPr lang="en" sz="4000">
                <a:solidFill>
                  <a:srgbClr val="2E5E73"/>
                </a:solidFill>
                <a:latin typeface="Roboto"/>
                <a:ea typeface="Roboto"/>
                <a:cs typeface="Roboto"/>
                <a:sym typeface="Roboto"/>
              </a:rPr>
              <a:t> </a:t>
            </a:r>
            <a:r>
              <a:rPr b="1" lang="en" sz="4000">
                <a:solidFill>
                  <a:srgbClr val="2E5E73"/>
                </a:solidFill>
                <a:latin typeface="Roboto"/>
                <a:ea typeface="Roboto"/>
                <a:cs typeface="Roboto"/>
                <a:sym typeface="Roboto"/>
              </a:rPr>
              <a:t>End</a:t>
            </a:r>
            <a:endParaRPr b="1" sz="4000">
              <a:solidFill>
                <a:srgbClr val="2E5E73"/>
              </a:solidFill>
              <a:latin typeface="Roboto"/>
              <a:ea typeface="Roboto"/>
              <a:cs typeface="Roboto"/>
              <a:sym typeface="Roboto"/>
            </a:endParaRPr>
          </a:p>
        </p:txBody>
      </p:sp>
      <p:sp>
        <p:nvSpPr>
          <p:cNvPr id="431" name="Google Shape;431;p62"/>
          <p:cNvSpPr/>
          <p:nvPr/>
        </p:nvSpPr>
        <p:spPr>
          <a:xfrm>
            <a:off x="373105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2" name="Google Shape;432;p62"/>
          <p:cNvPicPr preferRelativeResize="0"/>
          <p:nvPr/>
        </p:nvPicPr>
        <p:blipFill>
          <a:blip r:embed="rId2">
            <a:alphaModFix/>
          </a:blip>
          <a:stretch>
            <a:fillRect/>
          </a:stretch>
        </p:blipFill>
        <p:spPr>
          <a:xfrm>
            <a:off x="4099875" y="1496700"/>
            <a:ext cx="1051550" cy="10515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theme" Target="../theme/theme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Lst>
  <mc:AlternateContent>
    <mc:Choice Requires="p14">
      <p:transition p14:dur="400">
        <p:fade thruBlk="1"/>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Relationship Id="rId3" Type="http://schemas.openxmlformats.org/officeDocument/2006/relationships/image" Target="../media/image6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 Id="rId3" Type="http://schemas.openxmlformats.org/officeDocument/2006/relationships/image" Target="../media/image4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Relationship Id="rId3" Type="http://schemas.openxmlformats.org/officeDocument/2006/relationships/image" Target="../media/image6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 Id="rId3" Type="http://schemas.openxmlformats.org/officeDocument/2006/relationships/image" Target="../media/image4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xml"/><Relationship Id="rId3" Type="http://schemas.openxmlformats.org/officeDocument/2006/relationships/image" Target="../media/image4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xml"/><Relationship Id="rId3"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1.xml"/><Relationship Id="rId3" Type="http://schemas.openxmlformats.org/officeDocument/2006/relationships/image" Target="../media/image6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43.png"/><Relationship Id="rId5"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7.xml"/><Relationship Id="rId3"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8.xml"/><Relationship Id="rId3" Type="http://schemas.openxmlformats.org/officeDocument/2006/relationships/image" Target="../media/image6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 Id="rId3" Type="http://schemas.openxmlformats.org/officeDocument/2006/relationships/image" Target="../media/image60.png"/><Relationship Id="rId4" Type="http://schemas.openxmlformats.org/officeDocument/2006/relationships/image" Target="../media/image65.png"/><Relationship Id="rId5" Type="http://schemas.openxmlformats.org/officeDocument/2006/relationships/image" Target="../media/image49.png"/><Relationship Id="rId6" Type="http://schemas.openxmlformats.org/officeDocument/2006/relationships/image" Target="../media/image56.png"/><Relationship Id="rId7"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 Id="rId3" Type="http://schemas.openxmlformats.org/officeDocument/2006/relationships/image" Target="../media/image35.png"/><Relationship Id="rId4" Type="http://schemas.openxmlformats.org/officeDocument/2006/relationships/image" Target="../media/image43.png"/><Relationship Id="rId5"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 Id="rId3" Type="http://schemas.openxmlformats.org/officeDocument/2006/relationships/image" Target="../media/image5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 Id="rId3"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3.xml"/><Relationship Id="rId3" Type="http://schemas.openxmlformats.org/officeDocument/2006/relationships/image" Target="../media/image6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4.xml"/><Relationship Id="rId3" Type="http://schemas.openxmlformats.org/officeDocument/2006/relationships/image" Target="../media/image43.png"/><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5.xml"/><Relationship Id="rId3" Type="http://schemas.openxmlformats.org/officeDocument/2006/relationships/image" Target="../media/image69.png"/><Relationship Id="rId4" Type="http://schemas.openxmlformats.org/officeDocument/2006/relationships/image" Target="../media/image43.png"/><Relationship Id="rId5"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6.xml"/><Relationship Id="rId3"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7.xml"/><Relationship Id="rId3" Type="http://schemas.openxmlformats.org/officeDocument/2006/relationships/image" Target="../media/image57.png"/><Relationship Id="rId4" Type="http://schemas.openxmlformats.org/officeDocument/2006/relationships/image" Target="../media/image67.png"/><Relationship Id="rId5" Type="http://schemas.openxmlformats.org/officeDocument/2006/relationships/image" Target="../media/image43.png"/><Relationship Id="rId6"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5.xml"/><Relationship Id="rId3" Type="http://schemas.openxmlformats.org/officeDocument/2006/relationships/image" Target="../media/image5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6.xml"/><Relationship Id="rId3" Type="http://schemas.openxmlformats.org/officeDocument/2006/relationships/image" Target="../media/image54.jpg"/><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7.xml"/><Relationship Id="rId3" Type="http://schemas.openxmlformats.org/officeDocument/2006/relationships/image" Target="../media/image59.png"/><Relationship Id="rId4" Type="http://schemas.openxmlformats.org/officeDocument/2006/relationships/image" Target="../media/image61.png"/><Relationship Id="rId5" Type="http://schemas.openxmlformats.org/officeDocument/2006/relationships/image" Target="../media/image5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hyperlink" Target="https://create.kahoot.it/details/3f1cd12f-635d-4dfe-9492-0e0d7fd99a77"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9.xml"/><Relationship Id="rId3" Type="http://schemas.openxmlformats.org/officeDocument/2006/relationships/hyperlink" Target="http://www.kahoot.it" TargetMode="External"/><Relationship Id="rId4"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3"/>
          <p:cNvSpPr txBox="1"/>
          <p:nvPr>
            <p:ph type="title"/>
          </p:nvPr>
        </p:nvSpPr>
        <p:spPr>
          <a:xfrm>
            <a:off x="4570700" y="1804650"/>
            <a:ext cx="4557900" cy="1215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3000"/>
              <a:t>Windows Persistence, </a:t>
            </a:r>
            <a:br>
              <a:rPr lang="en" sz="3000"/>
            </a:br>
            <a:r>
              <a:rPr lang="en" sz="3000"/>
              <a:t>Lateral Movement, </a:t>
            </a:r>
            <a:endParaRPr sz="3000"/>
          </a:p>
          <a:p>
            <a:pPr indent="0" lvl="0" marL="0" rtl="0" algn="l">
              <a:lnSpc>
                <a:spcPct val="100000"/>
              </a:lnSpc>
              <a:spcBef>
                <a:spcPts val="0"/>
              </a:spcBef>
              <a:spcAft>
                <a:spcPts val="0"/>
              </a:spcAft>
              <a:buNone/>
            </a:pPr>
            <a:r>
              <a:rPr lang="en" sz="3000"/>
              <a:t>Credential Access, </a:t>
            </a:r>
            <a:br>
              <a:rPr lang="en" sz="3000"/>
            </a:br>
            <a:r>
              <a:rPr lang="en" sz="3000"/>
              <a:t>and Review </a:t>
            </a:r>
            <a:endParaRPr sz="3000"/>
          </a:p>
        </p:txBody>
      </p:sp>
      <p:sp>
        <p:nvSpPr>
          <p:cNvPr id="438" name="Google Shape;438;p63"/>
          <p:cNvSpPr txBox="1"/>
          <p:nvPr>
            <p:ph idx="2" type="subTitle"/>
          </p:nvPr>
        </p:nvSpPr>
        <p:spPr>
          <a:xfrm>
            <a:off x="4572000" y="373685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16.3</a:t>
            </a:r>
            <a:endParaRPr/>
          </a:p>
        </p:txBody>
      </p:sp>
      <p:sp>
        <p:nvSpPr>
          <p:cNvPr id="439" name="Google Shape;439;p63"/>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4"/>
          <p:cNvSpPr txBox="1"/>
          <p:nvPr>
            <p:ph type="title"/>
          </p:nvPr>
        </p:nvSpPr>
        <p:spPr>
          <a:xfrm>
            <a:off x="914400" y="146300"/>
            <a:ext cx="7778100" cy="365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Class Objectives</a:t>
            </a:r>
            <a:endParaRPr/>
          </a:p>
        </p:txBody>
      </p:sp>
      <p:grpSp>
        <p:nvGrpSpPr>
          <p:cNvPr id="445" name="Google Shape;445;p64"/>
          <p:cNvGrpSpPr/>
          <p:nvPr/>
        </p:nvGrpSpPr>
        <p:grpSpPr>
          <a:xfrm>
            <a:off x="322375" y="1146558"/>
            <a:ext cx="8133300" cy="450088"/>
            <a:chOff x="314850" y="1757288"/>
            <a:chExt cx="8133300" cy="450088"/>
          </a:xfrm>
        </p:grpSpPr>
        <p:sp>
          <p:nvSpPr>
            <p:cNvPr id="446" name="Google Shape;446;p64"/>
            <p:cNvSpPr/>
            <p:nvPr/>
          </p:nvSpPr>
          <p:spPr>
            <a:xfrm>
              <a:off x="391050" y="1779575"/>
              <a:ext cx="8057100" cy="419100"/>
            </a:xfrm>
            <a:prstGeom prst="roundRect">
              <a:avLst>
                <a:gd fmla="val 16667" name="adj"/>
              </a:avLst>
            </a:prstGeom>
            <a:solidFill>
              <a:srgbClr val="F2F2F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47" name="Google Shape;447;p64"/>
            <p:cNvSpPr/>
            <p:nvPr/>
          </p:nvSpPr>
          <p:spPr>
            <a:xfrm>
              <a:off x="314850" y="1770875"/>
              <a:ext cx="457200" cy="436500"/>
            </a:xfrm>
            <a:prstGeom prst="ellipse">
              <a:avLst/>
            </a:prstGeom>
            <a:solidFill>
              <a:srgbClr val="FCB912"/>
            </a:solidFill>
            <a:ln cap="flat" cmpd="sng" w="9525">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448" name="Google Shape;448;p64"/>
            <p:cNvSpPr txBox="1"/>
            <p:nvPr/>
          </p:nvSpPr>
          <p:spPr>
            <a:xfrm>
              <a:off x="817950" y="1757288"/>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82D49"/>
                  </a:solidFill>
                  <a:latin typeface="Roboto"/>
                  <a:ea typeface="Roboto"/>
                  <a:cs typeface="Roboto"/>
                  <a:sym typeface="Roboto"/>
                </a:rPr>
                <a:t>Understand the role of a pen tester in assessing a business' security.</a:t>
              </a:r>
              <a:endParaRPr sz="1800">
                <a:solidFill>
                  <a:srgbClr val="082D49"/>
                </a:solidFill>
                <a:latin typeface="Roboto"/>
                <a:ea typeface="Roboto"/>
                <a:cs typeface="Roboto"/>
                <a:sym typeface="Roboto"/>
              </a:endParaRPr>
            </a:p>
            <a:p>
              <a:pPr indent="0" lvl="0" marL="0" rtl="0" algn="l">
                <a:spcBef>
                  <a:spcPts val="0"/>
                </a:spcBef>
                <a:spcAft>
                  <a:spcPts val="0"/>
                </a:spcAft>
                <a:buNone/>
              </a:pPr>
              <a:r>
                <a:t/>
              </a:r>
              <a:endParaRPr sz="1500">
                <a:solidFill>
                  <a:srgbClr val="082D49"/>
                </a:solidFill>
                <a:latin typeface="Roboto"/>
                <a:ea typeface="Roboto"/>
                <a:cs typeface="Roboto"/>
                <a:sym typeface="Roboto"/>
              </a:endParaRPr>
            </a:p>
          </p:txBody>
        </p:sp>
      </p:grpSp>
      <p:sp>
        <p:nvSpPr>
          <p:cNvPr id="449" name="Google Shape;449;p6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By the end of today’s class, you will be able to:</a:t>
            </a:r>
            <a:endParaRPr/>
          </a:p>
        </p:txBody>
      </p:sp>
      <p:pic>
        <p:nvPicPr>
          <p:cNvPr id="450" name="Google Shape;450;p64"/>
          <p:cNvPicPr preferRelativeResize="0"/>
          <p:nvPr/>
        </p:nvPicPr>
        <p:blipFill rotWithShape="1">
          <a:blip r:embed="rId3">
            <a:alphaModFix/>
          </a:blip>
          <a:srcRect b="0" l="0" r="0" t="0"/>
          <a:stretch/>
        </p:blipFill>
        <p:spPr>
          <a:xfrm>
            <a:off x="208763" y="235363"/>
            <a:ext cx="496875" cy="496875"/>
          </a:xfrm>
          <a:prstGeom prst="rect">
            <a:avLst/>
          </a:prstGeom>
          <a:noFill/>
          <a:ln>
            <a:noFill/>
          </a:ln>
        </p:spPr>
      </p:pic>
      <p:grpSp>
        <p:nvGrpSpPr>
          <p:cNvPr id="451" name="Google Shape;451;p64"/>
          <p:cNvGrpSpPr/>
          <p:nvPr/>
        </p:nvGrpSpPr>
        <p:grpSpPr>
          <a:xfrm>
            <a:off x="322375" y="1828808"/>
            <a:ext cx="8133300" cy="450088"/>
            <a:chOff x="314850" y="1757288"/>
            <a:chExt cx="8133300" cy="450088"/>
          </a:xfrm>
        </p:grpSpPr>
        <p:sp>
          <p:nvSpPr>
            <p:cNvPr id="452" name="Google Shape;452;p64"/>
            <p:cNvSpPr/>
            <p:nvPr/>
          </p:nvSpPr>
          <p:spPr>
            <a:xfrm>
              <a:off x="391050" y="1779575"/>
              <a:ext cx="8057100" cy="419100"/>
            </a:xfrm>
            <a:prstGeom prst="roundRect">
              <a:avLst>
                <a:gd fmla="val 16667" name="adj"/>
              </a:avLst>
            </a:prstGeom>
            <a:solidFill>
              <a:srgbClr val="F2F2F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3" name="Google Shape;453;p64"/>
            <p:cNvSpPr/>
            <p:nvPr/>
          </p:nvSpPr>
          <p:spPr>
            <a:xfrm>
              <a:off x="314850" y="1770875"/>
              <a:ext cx="457200" cy="436500"/>
            </a:xfrm>
            <a:prstGeom prst="ellipse">
              <a:avLst/>
            </a:prstGeom>
            <a:solidFill>
              <a:srgbClr val="FCB912"/>
            </a:solidFill>
            <a:ln cap="flat" cmpd="sng" w="9525">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454" name="Google Shape;454;p64"/>
            <p:cNvSpPr txBox="1"/>
            <p:nvPr/>
          </p:nvSpPr>
          <p:spPr>
            <a:xfrm>
              <a:off x="817950" y="1757288"/>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Perform lateral movement to other machines in a network.</a:t>
              </a:r>
              <a:endParaRPr sz="1500">
                <a:solidFill>
                  <a:srgbClr val="082D49"/>
                </a:solidFill>
                <a:latin typeface="Roboto"/>
                <a:ea typeface="Roboto"/>
                <a:cs typeface="Roboto"/>
                <a:sym typeface="Roboto"/>
              </a:endParaRPr>
            </a:p>
          </p:txBody>
        </p:sp>
      </p:grpSp>
      <p:grpSp>
        <p:nvGrpSpPr>
          <p:cNvPr id="455" name="Google Shape;455;p64"/>
          <p:cNvGrpSpPr/>
          <p:nvPr/>
        </p:nvGrpSpPr>
        <p:grpSpPr>
          <a:xfrm>
            <a:off x="322375" y="2493333"/>
            <a:ext cx="8133300" cy="450088"/>
            <a:chOff x="314850" y="1757288"/>
            <a:chExt cx="8133300" cy="450088"/>
          </a:xfrm>
        </p:grpSpPr>
        <p:sp>
          <p:nvSpPr>
            <p:cNvPr id="456" name="Google Shape;456;p64"/>
            <p:cNvSpPr/>
            <p:nvPr/>
          </p:nvSpPr>
          <p:spPr>
            <a:xfrm>
              <a:off x="391050" y="1779575"/>
              <a:ext cx="8057100" cy="419100"/>
            </a:xfrm>
            <a:prstGeom prst="roundRect">
              <a:avLst>
                <a:gd fmla="val 16667" name="adj"/>
              </a:avLst>
            </a:prstGeom>
            <a:solidFill>
              <a:srgbClr val="F2F2F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7" name="Google Shape;457;p64"/>
            <p:cNvSpPr/>
            <p:nvPr/>
          </p:nvSpPr>
          <p:spPr>
            <a:xfrm>
              <a:off x="314850" y="1770875"/>
              <a:ext cx="457200" cy="436500"/>
            </a:xfrm>
            <a:prstGeom prst="ellipse">
              <a:avLst/>
            </a:prstGeom>
            <a:solidFill>
              <a:srgbClr val="FCB912"/>
            </a:solidFill>
            <a:ln cap="flat" cmpd="sng" w="9525">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458" name="Google Shape;458;p64"/>
            <p:cNvSpPr txBox="1"/>
            <p:nvPr/>
          </p:nvSpPr>
          <p:spPr>
            <a:xfrm>
              <a:off x="817950" y="1757288"/>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82D49"/>
                  </a:solidFill>
                  <a:latin typeface="Roboto"/>
                  <a:ea typeface="Roboto"/>
                  <a:cs typeface="Roboto"/>
                  <a:sym typeface="Roboto"/>
                </a:rPr>
                <a:t>Explain what DC replication is and how to use the DCSync attack.</a:t>
              </a:r>
              <a:endParaRPr sz="1800">
                <a:solidFill>
                  <a:srgbClr val="082D49"/>
                </a:solidFill>
                <a:latin typeface="Roboto"/>
                <a:ea typeface="Roboto"/>
                <a:cs typeface="Roboto"/>
                <a:sym typeface="Roboto"/>
              </a:endParaRPr>
            </a:p>
            <a:p>
              <a:pPr indent="0" lvl="0" marL="0" rtl="0" algn="l">
                <a:spcBef>
                  <a:spcPts val="0"/>
                </a:spcBef>
                <a:spcAft>
                  <a:spcPts val="0"/>
                </a:spcAft>
                <a:buNone/>
              </a:pPr>
              <a:r>
                <a:t/>
              </a:r>
              <a:endParaRPr sz="1500">
                <a:solidFill>
                  <a:srgbClr val="082D49"/>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5"/>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1" lang="en">
                <a:latin typeface="Roboto"/>
                <a:ea typeface="Roboto"/>
                <a:cs typeface="Roboto"/>
                <a:sym typeface="Roboto"/>
              </a:rPr>
              <a:t>Windows Credentials</a:t>
            </a:r>
            <a:r>
              <a:rPr lang="en"/>
              <a:t> </a:t>
            </a:r>
            <a:endParaRPr/>
          </a:p>
          <a:p>
            <a:pPr indent="0" lvl="0" marL="0" rtl="0" algn="ctr">
              <a:spcBef>
                <a:spcPts val="0"/>
              </a:spcBef>
              <a:spcAft>
                <a:spcPts val="0"/>
              </a:spcAft>
              <a:buNone/>
            </a:pPr>
            <a:r>
              <a:rPr lang="en"/>
              <a:t>Refresher</a:t>
            </a:r>
            <a:endParaRPr/>
          </a:p>
        </p:txBody>
      </p:sp>
      <p:grpSp>
        <p:nvGrpSpPr>
          <p:cNvPr id="464" name="Google Shape;464;p65"/>
          <p:cNvGrpSpPr/>
          <p:nvPr/>
        </p:nvGrpSpPr>
        <p:grpSpPr>
          <a:xfrm>
            <a:off x="4231940" y="1540862"/>
            <a:ext cx="680106" cy="886758"/>
            <a:chOff x="1842100" y="291650"/>
            <a:chExt cx="3935800" cy="5131700"/>
          </a:xfrm>
        </p:grpSpPr>
        <p:sp>
          <p:nvSpPr>
            <p:cNvPr id="465" name="Google Shape;465;p65"/>
            <p:cNvSpPr/>
            <p:nvPr/>
          </p:nvSpPr>
          <p:spPr>
            <a:xfrm>
              <a:off x="1842100" y="291650"/>
              <a:ext cx="3935800" cy="5131700"/>
            </a:xfrm>
            <a:custGeom>
              <a:rect b="b" l="l" r="r" t="t"/>
              <a:pathLst>
                <a:path extrusionOk="0" fill="none" h="205268" w="157432">
                  <a:moveTo>
                    <a:pt x="78895" y="205267"/>
                  </a:moveTo>
                  <a:lnTo>
                    <a:pt x="78895" y="205267"/>
                  </a:lnTo>
                  <a:lnTo>
                    <a:pt x="85320" y="202411"/>
                  </a:lnTo>
                  <a:lnTo>
                    <a:pt x="91746" y="199198"/>
                  </a:lnTo>
                  <a:lnTo>
                    <a:pt x="98529" y="195629"/>
                  </a:lnTo>
                  <a:lnTo>
                    <a:pt x="105311" y="191702"/>
                  </a:lnTo>
                  <a:lnTo>
                    <a:pt x="112094" y="187418"/>
                  </a:lnTo>
                  <a:lnTo>
                    <a:pt x="118520" y="182777"/>
                  </a:lnTo>
                  <a:lnTo>
                    <a:pt x="124946" y="177779"/>
                  </a:lnTo>
                  <a:lnTo>
                    <a:pt x="130657" y="172781"/>
                  </a:lnTo>
                  <a:lnTo>
                    <a:pt x="136369" y="167427"/>
                  </a:lnTo>
                  <a:lnTo>
                    <a:pt x="141367" y="161715"/>
                  </a:lnTo>
                  <a:lnTo>
                    <a:pt x="146008" y="156003"/>
                  </a:lnTo>
                  <a:lnTo>
                    <a:pt x="149934" y="149934"/>
                  </a:lnTo>
                  <a:lnTo>
                    <a:pt x="153147" y="143866"/>
                  </a:lnTo>
                  <a:lnTo>
                    <a:pt x="155646" y="137797"/>
                  </a:lnTo>
                  <a:lnTo>
                    <a:pt x="156360" y="134941"/>
                  </a:lnTo>
                  <a:lnTo>
                    <a:pt x="157074" y="131728"/>
                  </a:lnTo>
                  <a:lnTo>
                    <a:pt x="157431" y="128515"/>
                  </a:lnTo>
                  <a:lnTo>
                    <a:pt x="157431" y="125660"/>
                  </a:lnTo>
                  <a:lnTo>
                    <a:pt x="157431" y="125660"/>
                  </a:lnTo>
                  <a:lnTo>
                    <a:pt x="157431" y="35342"/>
                  </a:lnTo>
                  <a:lnTo>
                    <a:pt x="157431" y="35342"/>
                  </a:lnTo>
                  <a:lnTo>
                    <a:pt x="147079" y="31773"/>
                  </a:lnTo>
                  <a:lnTo>
                    <a:pt x="136726" y="27846"/>
                  </a:lnTo>
                  <a:lnTo>
                    <a:pt x="126016" y="23562"/>
                  </a:lnTo>
                  <a:lnTo>
                    <a:pt x="115664" y="18921"/>
                  </a:lnTo>
                  <a:lnTo>
                    <a:pt x="105668" y="14280"/>
                  </a:lnTo>
                  <a:lnTo>
                    <a:pt x="96030" y="9639"/>
                  </a:lnTo>
                  <a:lnTo>
                    <a:pt x="87105" y="4642"/>
                  </a:lnTo>
                  <a:lnTo>
                    <a:pt x="78895" y="1"/>
                  </a:lnTo>
                  <a:lnTo>
                    <a:pt x="78895" y="1"/>
                  </a:lnTo>
                  <a:lnTo>
                    <a:pt x="70684" y="4642"/>
                  </a:lnTo>
                  <a:lnTo>
                    <a:pt x="61402" y="9639"/>
                  </a:lnTo>
                  <a:lnTo>
                    <a:pt x="52121" y="14280"/>
                  </a:lnTo>
                  <a:lnTo>
                    <a:pt x="41768" y="18921"/>
                  </a:lnTo>
                  <a:lnTo>
                    <a:pt x="31416" y="23562"/>
                  </a:lnTo>
                  <a:lnTo>
                    <a:pt x="21063" y="27846"/>
                  </a:lnTo>
                  <a:lnTo>
                    <a:pt x="10353" y="31773"/>
                  </a:lnTo>
                  <a:lnTo>
                    <a:pt x="1" y="35342"/>
                  </a:lnTo>
                  <a:lnTo>
                    <a:pt x="1" y="35342"/>
                  </a:lnTo>
                  <a:lnTo>
                    <a:pt x="1" y="125660"/>
                  </a:lnTo>
                  <a:lnTo>
                    <a:pt x="1" y="125660"/>
                  </a:lnTo>
                  <a:lnTo>
                    <a:pt x="358" y="128515"/>
                  </a:lnTo>
                  <a:lnTo>
                    <a:pt x="715" y="131728"/>
                  </a:lnTo>
                  <a:lnTo>
                    <a:pt x="1429" y="134941"/>
                  </a:lnTo>
                  <a:lnTo>
                    <a:pt x="2143" y="137797"/>
                  </a:lnTo>
                  <a:lnTo>
                    <a:pt x="4642" y="143866"/>
                  </a:lnTo>
                  <a:lnTo>
                    <a:pt x="7855" y="149934"/>
                  </a:lnTo>
                  <a:lnTo>
                    <a:pt x="11424" y="156003"/>
                  </a:lnTo>
                  <a:lnTo>
                    <a:pt x="16065" y="161715"/>
                  </a:lnTo>
                  <a:lnTo>
                    <a:pt x="21420" y="167427"/>
                  </a:lnTo>
                  <a:lnTo>
                    <a:pt x="26775" y="172781"/>
                  </a:lnTo>
                  <a:lnTo>
                    <a:pt x="32843" y="177779"/>
                  </a:lnTo>
                  <a:lnTo>
                    <a:pt x="39269" y="182777"/>
                  </a:lnTo>
                  <a:lnTo>
                    <a:pt x="45695" y="187418"/>
                  </a:lnTo>
                  <a:lnTo>
                    <a:pt x="52478" y="191702"/>
                  </a:lnTo>
                  <a:lnTo>
                    <a:pt x="58903" y="195629"/>
                  </a:lnTo>
                  <a:lnTo>
                    <a:pt x="65686" y="199198"/>
                  </a:lnTo>
                  <a:lnTo>
                    <a:pt x="72469" y="202411"/>
                  </a:lnTo>
                  <a:lnTo>
                    <a:pt x="78895" y="205267"/>
                  </a:lnTo>
                  <a:lnTo>
                    <a:pt x="78895" y="205267"/>
                  </a:lnTo>
                  <a:close/>
                </a:path>
              </a:pathLst>
            </a:custGeom>
            <a:solidFill>
              <a:schemeClr val="accent1"/>
            </a:solid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5"/>
            <p:cNvSpPr/>
            <p:nvPr/>
          </p:nvSpPr>
          <p:spPr>
            <a:xfrm>
              <a:off x="2788125" y="2433575"/>
              <a:ext cx="2043750" cy="1642150"/>
            </a:xfrm>
            <a:custGeom>
              <a:rect b="b" l="l" r="r" t="t"/>
              <a:pathLst>
                <a:path extrusionOk="0" fill="none" h="65686" w="81750">
                  <a:moveTo>
                    <a:pt x="81750" y="2142"/>
                  </a:moveTo>
                  <a:lnTo>
                    <a:pt x="81750" y="2142"/>
                  </a:lnTo>
                  <a:lnTo>
                    <a:pt x="79251" y="1785"/>
                  </a:lnTo>
                  <a:lnTo>
                    <a:pt x="71040" y="1071"/>
                  </a:lnTo>
                  <a:lnTo>
                    <a:pt x="58189" y="357"/>
                  </a:lnTo>
                  <a:lnTo>
                    <a:pt x="41054" y="0"/>
                  </a:lnTo>
                  <a:lnTo>
                    <a:pt x="41054" y="0"/>
                  </a:lnTo>
                  <a:lnTo>
                    <a:pt x="23918" y="357"/>
                  </a:lnTo>
                  <a:lnTo>
                    <a:pt x="11067" y="1071"/>
                  </a:lnTo>
                  <a:lnTo>
                    <a:pt x="2856" y="1785"/>
                  </a:lnTo>
                  <a:lnTo>
                    <a:pt x="0" y="2142"/>
                  </a:lnTo>
                  <a:lnTo>
                    <a:pt x="0" y="2142"/>
                  </a:lnTo>
                  <a:lnTo>
                    <a:pt x="0" y="63544"/>
                  </a:lnTo>
                  <a:lnTo>
                    <a:pt x="0" y="63544"/>
                  </a:lnTo>
                  <a:lnTo>
                    <a:pt x="2856" y="63900"/>
                  </a:lnTo>
                  <a:lnTo>
                    <a:pt x="11067" y="64614"/>
                  </a:lnTo>
                  <a:lnTo>
                    <a:pt x="23918" y="65328"/>
                  </a:lnTo>
                  <a:lnTo>
                    <a:pt x="41054" y="65685"/>
                  </a:lnTo>
                  <a:lnTo>
                    <a:pt x="41054" y="65685"/>
                  </a:lnTo>
                  <a:lnTo>
                    <a:pt x="58189" y="65328"/>
                  </a:lnTo>
                  <a:lnTo>
                    <a:pt x="71040" y="64614"/>
                  </a:lnTo>
                  <a:lnTo>
                    <a:pt x="79251" y="63900"/>
                  </a:lnTo>
                  <a:lnTo>
                    <a:pt x="81750" y="63544"/>
                  </a:lnTo>
                  <a:lnTo>
                    <a:pt x="81750" y="63544"/>
                  </a:lnTo>
                  <a:lnTo>
                    <a:pt x="81750" y="2142"/>
                  </a:lnTo>
                  <a:lnTo>
                    <a:pt x="81750" y="2142"/>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5"/>
            <p:cNvSpPr/>
            <p:nvPr/>
          </p:nvSpPr>
          <p:spPr>
            <a:xfrm>
              <a:off x="3171875" y="1353700"/>
              <a:ext cx="1276250" cy="1097750"/>
            </a:xfrm>
            <a:custGeom>
              <a:rect b="b" l="l" r="r" t="t"/>
              <a:pathLst>
                <a:path extrusionOk="0" fill="none" h="43910" w="51050">
                  <a:moveTo>
                    <a:pt x="1" y="43909"/>
                  </a:moveTo>
                  <a:lnTo>
                    <a:pt x="1" y="43909"/>
                  </a:lnTo>
                  <a:lnTo>
                    <a:pt x="1" y="25346"/>
                  </a:lnTo>
                  <a:lnTo>
                    <a:pt x="1" y="25346"/>
                  </a:lnTo>
                  <a:lnTo>
                    <a:pt x="358" y="22847"/>
                  </a:lnTo>
                  <a:lnTo>
                    <a:pt x="715" y="20348"/>
                  </a:lnTo>
                  <a:lnTo>
                    <a:pt x="1429" y="17849"/>
                  </a:lnTo>
                  <a:lnTo>
                    <a:pt x="2143" y="15707"/>
                  </a:lnTo>
                  <a:lnTo>
                    <a:pt x="3213" y="13209"/>
                  </a:lnTo>
                  <a:lnTo>
                    <a:pt x="4641" y="11067"/>
                  </a:lnTo>
                  <a:lnTo>
                    <a:pt x="6069" y="9282"/>
                  </a:lnTo>
                  <a:lnTo>
                    <a:pt x="7497" y="7497"/>
                  </a:lnTo>
                  <a:lnTo>
                    <a:pt x="9282" y="5712"/>
                  </a:lnTo>
                  <a:lnTo>
                    <a:pt x="11424" y="4284"/>
                  </a:lnTo>
                  <a:lnTo>
                    <a:pt x="13566" y="3213"/>
                  </a:lnTo>
                  <a:lnTo>
                    <a:pt x="15708" y="1785"/>
                  </a:lnTo>
                  <a:lnTo>
                    <a:pt x="18207" y="1071"/>
                  </a:lnTo>
                  <a:lnTo>
                    <a:pt x="20349" y="357"/>
                  </a:lnTo>
                  <a:lnTo>
                    <a:pt x="23205" y="0"/>
                  </a:lnTo>
                  <a:lnTo>
                    <a:pt x="25704" y="0"/>
                  </a:lnTo>
                  <a:lnTo>
                    <a:pt x="25704" y="0"/>
                  </a:lnTo>
                  <a:lnTo>
                    <a:pt x="28202" y="0"/>
                  </a:lnTo>
                  <a:lnTo>
                    <a:pt x="30701" y="357"/>
                  </a:lnTo>
                  <a:lnTo>
                    <a:pt x="33200" y="1071"/>
                  </a:lnTo>
                  <a:lnTo>
                    <a:pt x="35699" y="1785"/>
                  </a:lnTo>
                  <a:lnTo>
                    <a:pt x="37841" y="3213"/>
                  </a:lnTo>
                  <a:lnTo>
                    <a:pt x="39983" y="4284"/>
                  </a:lnTo>
                  <a:lnTo>
                    <a:pt x="41768" y="5712"/>
                  </a:lnTo>
                  <a:lnTo>
                    <a:pt x="43553" y="7497"/>
                  </a:lnTo>
                  <a:lnTo>
                    <a:pt x="45338" y="9282"/>
                  </a:lnTo>
                  <a:lnTo>
                    <a:pt x="46766" y="11067"/>
                  </a:lnTo>
                  <a:lnTo>
                    <a:pt x="48194" y="13209"/>
                  </a:lnTo>
                  <a:lnTo>
                    <a:pt x="49264" y="15707"/>
                  </a:lnTo>
                  <a:lnTo>
                    <a:pt x="49978" y="17849"/>
                  </a:lnTo>
                  <a:lnTo>
                    <a:pt x="50692" y="20348"/>
                  </a:lnTo>
                  <a:lnTo>
                    <a:pt x="51049" y="22847"/>
                  </a:lnTo>
                  <a:lnTo>
                    <a:pt x="51049" y="25346"/>
                  </a:lnTo>
                  <a:lnTo>
                    <a:pt x="51049" y="25346"/>
                  </a:lnTo>
                  <a:lnTo>
                    <a:pt x="51049" y="43909"/>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5"/>
            <p:cNvSpPr/>
            <p:nvPr/>
          </p:nvSpPr>
          <p:spPr>
            <a:xfrm>
              <a:off x="3600250" y="2861950"/>
              <a:ext cx="419500" cy="419475"/>
            </a:xfrm>
            <a:custGeom>
              <a:rect b="b" l="l" r="r" t="t"/>
              <a:pathLst>
                <a:path extrusionOk="0" fill="none" h="16779" w="16780">
                  <a:moveTo>
                    <a:pt x="16779" y="8211"/>
                  </a:moveTo>
                  <a:lnTo>
                    <a:pt x="16779" y="8211"/>
                  </a:lnTo>
                  <a:lnTo>
                    <a:pt x="16779" y="9996"/>
                  </a:lnTo>
                  <a:lnTo>
                    <a:pt x="16422" y="11424"/>
                  </a:lnTo>
                  <a:lnTo>
                    <a:pt x="15351" y="12852"/>
                  </a:lnTo>
                  <a:lnTo>
                    <a:pt x="14280" y="14280"/>
                  </a:lnTo>
                  <a:lnTo>
                    <a:pt x="13209" y="15351"/>
                  </a:lnTo>
                  <a:lnTo>
                    <a:pt x="11781" y="16065"/>
                  </a:lnTo>
                  <a:lnTo>
                    <a:pt x="10353" y="16422"/>
                  </a:lnTo>
                  <a:lnTo>
                    <a:pt x="8569" y="16779"/>
                  </a:lnTo>
                  <a:lnTo>
                    <a:pt x="8569" y="16779"/>
                  </a:lnTo>
                  <a:lnTo>
                    <a:pt x="6784" y="16422"/>
                  </a:lnTo>
                  <a:lnTo>
                    <a:pt x="5356" y="16065"/>
                  </a:lnTo>
                  <a:lnTo>
                    <a:pt x="3928" y="15351"/>
                  </a:lnTo>
                  <a:lnTo>
                    <a:pt x="2500" y="14280"/>
                  </a:lnTo>
                  <a:lnTo>
                    <a:pt x="1429" y="12852"/>
                  </a:lnTo>
                  <a:lnTo>
                    <a:pt x="715" y="11424"/>
                  </a:lnTo>
                  <a:lnTo>
                    <a:pt x="358" y="9996"/>
                  </a:lnTo>
                  <a:lnTo>
                    <a:pt x="1" y="8211"/>
                  </a:lnTo>
                  <a:lnTo>
                    <a:pt x="1" y="8211"/>
                  </a:lnTo>
                  <a:lnTo>
                    <a:pt x="358" y="6783"/>
                  </a:lnTo>
                  <a:lnTo>
                    <a:pt x="715" y="4998"/>
                  </a:lnTo>
                  <a:lnTo>
                    <a:pt x="1429" y="3570"/>
                  </a:lnTo>
                  <a:lnTo>
                    <a:pt x="2500" y="2499"/>
                  </a:lnTo>
                  <a:lnTo>
                    <a:pt x="3928" y="1428"/>
                  </a:lnTo>
                  <a:lnTo>
                    <a:pt x="5356" y="714"/>
                  </a:lnTo>
                  <a:lnTo>
                    <a:pt x="6784" y="0"/>
                  </a:lnTo>
                  <a:lnTo>
                    <a:pt x="8569" y="0"/>
                  </a:lnTo>
                  <a:lnTo>
                    <a:pt x="8569" y="0"/>
                  </a:lnTo>
                  <a:lnTo>
                    <a:pt x="10353" y="0"/>
                  </a:lnTo>
                  <a:lnTo>
                    <a:pt x="11781" y="714"/>
                  </a:lnTo>
                  <a:lnTo>
                    <a:pt x="13209" y="1428"/>
                  </a:lnTo>
                  <a:lnTo>
                    <a:pt x="14280" y="2499"/>
                  </a:lnTo>
                  <a:lnTo>
                    <a:pt x="15351" y="3570"/>
                  </a:lnTo>
                  <a:lnTo>
                    <a:pt x="16422" y="4998"/>
                  </a:lnTo>
                  <a:lnTo>
                    <a:pt x="16779" y="6783"/>
                  </a:lnTo>
                  <a:lnTo>
                    <a:pt x="16779" y="8211"/>
                  </a:lnTo>
                  <a:lnTo>
                    <a:pt x="16779" y="821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5"/>
            <p:cNvSpPr/>
            <p:nvPr/>
          </p:nvSpPr>
          <p:spPr>
            <a:xfrm>
              <a:off x="3814450" y="3281400"/>
              <a:ext cx="25" cy="321325"/>
            </a:xfrm>
            <a:custGeom>
              <a:rect b="b" l="l" r="r" t="t"/>
              <a:pathLst>
                <a:path extrusionOk="0" fill="none" h="12853" w="1">
                  <a:moveTo>
                    <a:pt x="1" y="1"/>
                  </a:moveTo>
                  <a:lnTo>
                    <a:pt x="1" y="1285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0" name="Google Shape;470;p65"/>
          <p:cNvSpPr txBox="1"/>
          <p:nvPr/>
        </p:nvSpPr>
        <p:spPr>
          <a:xfrm>
            <a:off x="4275150" y="2321850"/>
            <a:ext cx="593700" cy="21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dk2"/>
                </a:solidFill>
                <a:latin typeface="Roboto"/>
                <a:ea typeface="Roboto"/>
                <a:cs typeface="Roboto"/>
                <a:sym typeface="Roboto"/>
              </a:rPr>
              <a:t>***</a:t>
            </a:r>
            <a:endParaRPr sz="2200">
              <a:solidFill>
                <a:schemeClr val="dk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4" name="Shape 474"/>
        <p:cNvGrpSpPr/>
        <p:nvPr/>
      </p:nvGrpSpPr>
      <p:grpSpPr>
        <a:xfrm>
          <a:off x="0" y="0"/>
          <a:ext cx="0" cy="0"/>
          <a:chOff x="0" y="0"/>
          <a:chExt cx="0" cy="0"/>
        </a:xfrm>
      </p:grpSpPr>
      <p:sp>
        <p:nvSpPr>
          <p:cNvPr id="475" name="Google Shape;475;p66"/>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1"/>
                </a:solidFill>
              </a:rPr>
              <a:t>Windows Credentials Refresher</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476" name="Google Shape;476;p66"/>
          <p:cNvSpPr txBox="1"/>
          <p:nvPr>
            <p:ph idx="1" type="body"/>
          </p:nvPr>
        </p:nvSpPr>
        <p:spPr>
          <a:xfrm>
            <a:off x="457200" y="842100"/>
            <a:ext cx="3999900" cy="337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solidFill>
                  <a:schemeClr val="lt1"/>
                </a:solidFill>
              </a:rPr>
              <a:t>Now that we have escalated to SYSTEM privileges, we can dump credentials stored in Windows.</a:t>
            </a:r>
            <a:endParaRPr sz="1800">
              <a:solidFill>
                <a:schemeClr val="lt1"/>
              </a:solidFill>
            </a:endParaRPr>
          </a:p>
          <a:p>
            <a:pPr indent="0" lvl="0" marL="0" rtl="0" algn="l">
              <a:lnSpc>
                <a:spcPct val="115000"/>
              </a:lnSpc>
              <a:spcBef>
                <a:spcPts val="0"/>
              </a:spcBef>
              <a:spcAft>
                <a:spcPts val="0"/>
              </a:spcAft>
              <a:buClr>
                <a:schemeClr val="dk1"/>
              </a:buClr>
              <a:buSzPts val="1100"/>
              <a:buFont typeface="Arial"/>
              <a:buNone/>
            </a:pPr>
            <a:r>
              <a:rPr lang="en" sz="1800">
                <a:solidFill>
                  <a:schemeClr val="lt1"/>
                </a:solidFill>
              </a:rPr>
              <a:t>In Linux, we can dump credentials (usernames and hashes) by viewing the contents of the </a:t>
            </a:r>
            <a:r>
              <a:rPr b="1" lang="en" sz="1800">
                <a:solidFill>
                  <a:schemeClr val="dk2"/>
                </a:solidFill>
                <a:highlight>
                  <a:schemeClr val="accent1"/>
                </a:highlight>
                <a:latin typeface="Inconsolata"/>
                <a:ea typeface="Inconsolata"/>
                <a:cs typeface="Inconsolata"/>
                <a:sym typeface="Inconsolata"/>
              </a:rPr>
              <a:t>/etc/shadow</a:t>
            </a:r>
            <a:r>
              <a:rPr lang="en" sz="1800">
                <a:solidFill>
                  <a:schemeClr val="lt1"/>
                </a:solidFill>
              </a:rPr>
              <a:t> file.</a:t>
            </a:r>
            <a:endParaRPr sz="1800">
              <a:solidFill>
                <a:schemeClr val="lt1"/>
              </a:solidFill>
            </a:endParaRPr>
          </a:p>
        </p:txBody>
      </p:sp>
      <p:pic>
        <p:nvPicPr>
          <p:cNvPr id="477" name="Google Shape;477;p66"/>
          <p:cNvPicPr preferRelativeResize="0"/>
          <p:nvPr/>
        </p:nvPicPr>
        <p:blipFill>
          <a:blip r:embed="rId3">
            <a:alphaModFix/>
          </a:blip>
          <a:stretch>
            <a:fillRect/>
          </a:stretch>
        </p:blipFill>
        <p:spPr>
          <a:xfrm>
            <a:off x="4950325" y="1011625"/>
            <a:ext cx="3514800" cy="3307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81" name="Shape 481"/>
        <p:cNvGrpSpPr/>
        <p:nvPr/>
      </p:nvGrpSpPr>
      <p:grpSpPr>
        <a:xfrm>
          <a:off x="0" y="0"/>
          <a:ext cx="0" cy="0"/>
          <a:chOff x="0" y="0"/>
          <a:chExt cx="0" cy="0"/>
        </a:xfrm>
      </p:grpSpPr>
      <p:sp>
        <p:nvSpPr>
          <p:cNvPr id="482" name="Google Shape;482;p67"/>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Windows Credentials Refresher</a:t>
            </a:r>
            <a:endParaRPr/>
          </a:p>
        </p:txBody>
      </p:sp>
      <p:sp>
        <p:nvSpPr>
          <p:cNvPr id="483" name="Google Shape;483;p67"/>
          <p:cNvSpPr txBox="1"/>
          <p:nvPr>
            <p:ph idx="1" type="body"/>
          </p:nvPr>
        </p:nvSpPr>
        <p:spPr>
          <a:xfrm>
            <a:off x="457200" y="927100"/>
            <a:ext cx="4875900" cy="3565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800"/>
              <a:t>In Windows, credentials are stored in the </a:t>
            </a:r>
            <a:r>
              <a:rPr b="1" lang="en" sz="1800">
                <a:latin typeface="Roboto"/>
                <a:ea typeface="Roboto"/>
                <a:cs typeface="Roboto"/>
                <a:sym typeface="Roboto"/>
              </a:rPr>
              <a:t>Security Accounts Manager (SAM)</a:t>
            </a:r>
            <a:r>
              <a:rPr lang="en" sz="1800"/>
              <a:t> database.</a:t>
            </a:r>
            <a:endParaRPr sz="1800"/>
          </a:p>
          <a:p>
            <a:pPr indent="0" lvl="0" marL="0" rtl="0" algn="l">
              <a:spcBef>
                <a:spcPts val="0"/>
              </a:spcBef>
              <a:spcAft>
                <a:spcPts val="0"/>
              </a:spcAft>
              <a:buNone/>
            </a:pPr>
            <a:r>
              <a:t/>
            </a:r>
            <a:endParaRPr sz="1800"/>
          </a:p>
          <a:p>
            <a:pPr indent="0" lvl="0" marL="0" rtl="0" algn="l">
              <a:lnSpc>
                <a:spcPct val="100000"/>
              </a:lnSpc>
              <a:spcBef>
                <a:spcPts val="0"/>
              </a:spcBef>
              <a:spcAft>
                <a:spcPts val="0"/>
              </a:spcAft>
              <a:buNone/>
            </a:pPr>
            <a:r>
              <a:rPr lang="en" sz="1800"/>
              <a:t>This database is stored within the </a:t>
            </a:r>
            <a:r>
              <a:rPr b="1" lang="en" sz="1800">
                <a:latin typeface="Roboto"/>
                <a:ea typeface="Roboto"/>
                <a:cs typeface="Roboto"/>
                <a:sym typeface="Roboto"/>
              </a:rPr>
              <a:t>Local Security Authority Subsystem Service (LSASS)</a:t>
            </a:r>
            <a:r>
              <a:rPr lang="en" sz="1800"/>
              <a:t> process.</a:t>
            </a:r>
            <a:endParaRPr sz="1800"/>
          </a:p>
          <a:p>
            <a:pPr indent="0" lvl="0" marL="0" rtl="0" algn="l">
              <a:lnSpc>
                <a:spcPct val="100000"/>
              </a:lnSpc>
              <a:spcBef>
                <a:spcPts val="0"/>
              </a:spcBef>
              <a:spcAft>
                <a:spcPts val="0"/>
              </a:spcAft>
              <a:buNone/>
            </a:pPr>
            <a:r>
              <a:t/>
            </a:r>
            <a:endParaRPr sz="1800"/>
          </a:p>
          <a:p>
            <a:pPr indent="0" lvl="0" marL="0" rtl="0" algn="l">
              <a:spcBef>
                <a:spcPts val="0"/>
              </a:spcBef>
              <a:spcAft>
                <a:spcPts val="0"/>
              </a:spcAft>
              <a:buNone/>
            </a:pPr>
            <a:r>
              <a:rPr lang="en" sz="1800"/>
              <a:t>If we access LSASS, which is always run </a:t>
            </a:r>
            <a:br>
              <a:rPr lang="en" sz="1800"/>
            </a:br>
            <a:r>
              <a:rPr lang="en" sz="1800"/>
              <a:t>as SYSTEM, we can dump the contents of </a:t>
            </a:r>
            <a:br>
              <a:rPr lang="en" sz="1800"/>
            </a:br>
            <a:r>
              <a:rPr lang="en" sz="1800"/>
              <a:t>the process. This includes the SAM database and any credentials stored in it</a:t>
            </a:r>
            <a:r>
              <a:rPr lang="en" sz="1800">
                <a:latin typeface="Roboto Light"/>
                <a:ea typeface="Roboto Light"/>
                <a:cs typeface="Roboto Light"/>
                <a:sym typeface="Roboto Light"/>
              </a:rPr>
              <a:t>.</a:t>
            </a:r>
            <a:endParaRPr sz="1800">
              <a:latin typeface="Roboto Light"/>
              <a:ea typeface="Roboto Light"/>
              <a:cs typeface="Roboto Light"/>
              <a:sym typeface="Roboto Light"/>
            </a:endParaRPr>
          </a:p>
          <a:p>
            <a:pPr indent="0" lvl="0" marL="0" rtl="0" algn="l">
              <a:spcBef>
                <a:spcPts val="1000"/>
              </a:spcBef>
              <a:spcAft>
                <a:spcPts val="0"/>
              </a:spcAft>
              <a:buNone/>
            </a:pPr>
            <a:r>
              <a:t/>
            </a:r>
            <a:endParaRPr sz="1800"/>
          </a:p>
        </p:txBody>
      </p:sp>
      <p:pic>
        <p:nvPicPr>
          <p:cNvPr id="484" name="Google Shape;484;p67"/>
          <p:cNvPicPr preferRelativeResize="0"/>
          <p:nvPr/>
        </p:nvPicPr>
        <p:blipFill rotWithShape="1">
          <a:blip r:embed="rId3">
            <a:alphaModFix/>
          </a:blip>
          <a:srcRect b="1325" l="1696" r="1889" t="1179"/>
          <a:stretch/>
        </p:blipFill>
        <p:spPr>
          <a:xfrm>
            <a:off x="5501750" y="655675"/>
            <a:ext cx="3367925" cy="42404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8"/>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t>Windows Credentials Refresher</a:t>
            </a:r>
            <a:endParaRPr/>
          </a:p>
          <a:p>
            <a:pPr indent="0" lvl="0" marL="0" rtl="0" algn="l">
              <a:spcBef>
                <a:spcPts val="0"/>
              </a:spcBef>
              <a:spcAft>
                <a:spcPts val="0"/>
              </a:spcAft>
              <a:buNone/>
            </a:pPr>
            <a:r>
              <a:t/>
            </a:r>
            <a:endParaRPr/>
          </a:p>
        </p:txBody>
      </p:sp>
      <p:pic>
        <p:nvPicPr>
          <p:cNvPr id="490" name="Google Shape;490;p68"/>
          <p:cNvPicPr preferRelativeResize="0"/>
          <p:nvPr/>
        </p:nvPicPr>
        <p:blipFill rotWithShape="1">
          <a:blip r:embed="rId3">
            <a:alphaModFix/>
          </a:blip>
          <a:srcRect b="0" l="0" r="0" t="0"/>
          <a:stretch/>
        </p:blipFill>
        <p:spPr>
          <a:xfrm>
            <a:off x="1246200" y="1254325"/>
            <a:ext cx="6883248" cy="3556325"/>
          </a:xfrm>
          <a:prstGeom prst="rect">
            <a:avLst/>
          </a:prstGeom>
          <a:noFill/>
          <a:ln>
            <a:noFill/>
          </a:ln>
        </p:spPr>
      </p:pic>
      <p:sp>
        <p:nvSpPr>
          <p:cNvPr id="491" name="Google Shape;491;p68"/>
          <p:cNvSpPr txBox="1"/>
          <p:nvPr/>
        </p:nvSpPr>
        <p:spPr>
          <a:xfrm>
            <a:off x="1653663" y="2346538"/>
            <a:ext cx="2615100" cy="13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000"/>
              </a:spcAft>
              <a:buClr>
                <a:schemeClr val="dk1"/>
              </a:buClr>
              <a:buSzPts val="1100"/>
              <a:buFont typeface="Arial"/>
              <a:buNone/>
            </a:pPr>
            <a:r>
              <a:rPr b="1" lang="en" sz="1600">
                <a:solidFill>
                  <a:schemeClr val="dk2"/>
                </a:solidFill>
                <a:latin typeface="Roboto"/>
                <a:ea typeface="Roboto"/>
                <a:cs typeface="Roboto"/>
                <a:sym typeface="Roboto"/>
              </a:rPr>
              <a:t>Local account</a:t>
            </a:r>
            <a:r>
              <a:rPr lang="en" sz="1600">
                <a:solidFill>
                  <a:schemeClr val="dk2"/>
                </a:solidFill>
                <a:highlight>
                  <a:schemeClr val="accent1"/>
                </a:highlight>
                <a:latin typeface="Roboto Light"/>
                <a:ea typeface="Roboto Light"/>
                <a:cs typeface="Roboto Light"/>
                <a:sym typeface="Roboto Light"/>
              </a:rPr>
              <a:t> </a:t>
            </a:r>
            <a:br>
              <a:rPr lang="en" sz="1600">
                <a:solidFill>
                  <a:schemeClr val="dk2"/>
                </a:solidFill>
                <a:highlight>
                  <a:schemeClr val="accent1"/>
                </a:highlight>
                <a:latin typeface="Roboto Light"/>
                <a:ea typeface="Roboto Light"/>
                <a:cs typeface="Roboto Light"/>
                <a:sym typeface="Roboto Light"/>
              </a:rPr>
            </a:br>
            <a:r>
              <a:rPr lang="en" sz="1600">
                <a:solidFill>
                  <a:schemeClr val="dk2"/>
                </a:solidFill>
                <a:latin typeface="Roboto"/>
                <a:ea typeface="Roboto"/>
                <a:cs typeface="Roboto"/>
                <a:sym typeface="Roboto"/>
              </a:rPr>
              <a:t>passwords</a:t>
            </a:r>
            <a:r>
              <a:rPr lang="en" sz="1600">
                <a:solidFill>
                  <a:schemeClr val="dk2"/>
                </a:solidFill>
                <a:latin typeface="Roboto"/>
                <a:ea typeface="Roboto"/>
                <a:cs typeface="Roboto"/>
                <a:sym typeface="Roboto"/>
              </a:rPr>
              <a:t> are continuously stored in</a:t>
            </a:r>
            <a:r>
              <a:rPr lang="en" sz="1600">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SAM</a:t>
            </a:r>
            <a:r>
              <a:rPr lang="en" sz="1600">
                <a:solidFill>
                  <a:schemeClr val="dk2"/>
                </a:solidFill>
                <a:latin typeface="Roboto Light"/>
                <a:ea typeface="Roboto Light"/>
                <a:cs typeface="Roboto Light"/>
                <a:sym typeface="Roboto Light"/>
              </a:rPr>
              <a:t> </a:t>
            </a:r>
            <a:r>
              <a:rPr lang="en" sz="1600">
                <a:solidFill>
                  <a:schemeClr val="dk2"/>
                </a:solidFill>
                <a:latin typeface="Roboto"/>
                <a:ea typeface="Roboto"/>
                <a:cs typeface="Roboto"/>
                <a:sym typeface="Roboto"/>
              </a:rPr>
              <a:t>and are</a:t>
            </a:r>
            <a:r>
              <a:rPr lang="en" sz="1600">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always </a:t>
            </a:r>
            <a:br>
              <a:rPr b="1" lang="en" sz="1600">
                <a:solidFill>
                  <a:schemeClr val="dk2"/>
                </a:solidFill>
                <a:latin typeface="Roboto"/>
                <a:ea typeface="Roboto"/>
                <a:cs typeface="Roboto"/>
                <a:sym typeface="Roboto"/>
              </a:rPr>
            </a:br>
            <a:r>
              <a:rPr b="1" lang="en" sz="1600">
                <a:solidFill>
                  <a:schemeClr val="dk2"/>
                </a:solidFill>
                <a:latin typeface="Roboto"/>
                <a:ea typeface="Roboto"/>
                <a:cs typeface="Roboto"/>
                <a:sym typeface="Roboto"/>
              </a:rPr>
              <a:t>available offline</a:t>
            </a:r>
            <a:r>
              <a:rPr lang="en" sz="1600">
                <a:solidFill>
                  <a:schemeClr val="dk2"/>
                </a:solidFill>
                <a:latin typeface="Roboto Light"/>
                <a:ea typeface="Roboto Light"/>
                <a:cs typeface="Roboto Light"/>
                <a:sym typeface="Roboto Light"/>
              </a:rPr>
              <a:t>.</a:t>
            </a:r>
            <a:endParaRPr sz="1600">
              <a:solidFill>
                <a:schemeClr val="dk2"/>
              </a:solidFill>
              <a:latin typeface="Roboto Light"/>
              <a:ea typeface="Roboto Light"/>
              <a:cs typeface="Roboto Light"/>
              <a:sym typeface="Roboto Light"/>
            </a:endParaRPr>
          </a:p>
        </p:txBody>
      </p:sp>
      <p:sp>
        <p:nvSpPr>
          <p:cNvPr id="492" name="Google Shape;492;p68"/>
          <p:cNvSpPr txBox="1"/>
          <p:nvPr/>
        </p:nvSpPr>
        <p:spPr>
          <a:xfrm>
            <a:off x="5165087" y="2346538"/>
            <a:ext cx="2556900" cy="137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800"/>
              </a:spcAft>
              <a:buClr>
                <a:schemeClr val="dk1"/>
              </a:buClr>
              <a:buSzPts val="1100"/>
              <a:buFont typeface="Arial"/>
              <a:buNone/>
            </a:pPr>
            <a:r>
              <a:rPr b="1" lang="en" sz="1600">
                <a:solidFill>
                  <a:schemeClr val="dk2"/>
                </a:solidFill>
                <a:latin typeface="Roboto"/>
                <a:ea typeface="Roboto"/>
                <a:cs typeface="Roboto"/>
                <a:sym typeface="Roboto"/>
              </a:rPr>
              <a:t>Domain accounts</a:t>
            </a:r>
            <a:r>
              <a:rPr lang="en" sz="1600">
                <a:solidFill>
                  <a:schemeClr val="dk2"/>
                </a:solidFill>
                <a:latin typeface="Roboto Light"/>
                <a:ea typeface="Roboto Light"/>
                <a:cs typeface="Roboto Light"/>
                <a:sym typeface="Roboto Light"/>
              </a:rPr>
              <a:t>, </a:t>
            </a:r>
            <a:br>
              <a:rPr lang="en" sz="1600">
                <a:solidFill>
                  <a:schemeClr val="dk2"/>
                </a:solidFill>
                <a:latin typeface="Roboto Light"/>
                <a:ea typeface="Roboto Light"/>
                <a:cs typeface="Roboto Light"/>
                <a:sym typeface="Roboto Light"/>
              </a:rPr>
            </a:br>
            <a:r>
              <a:rPr lang="en" sz="1600">
                <a:solidFill>
                  <a:schemeClr val="dk2"/>
                </a:solidFill>
                <a:latin typeface="Roboto"/>
                <a:ea typeface="Roboto"/>
                <a:cs typeface="Roboto"/>
                <a:sym typeface="Roboto"/>
              </a:rPr>
              <a:t>which primarily use</a:t>
            </a:r>
            <a:r>
              <a:rPr lang="en" sz="1600">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Kerberos</a:t>
            </a:r>
            <a:r>
              <a:rPr lang="en" sz="1600">
                <a:solidFill>
                  <a:schemeClr val="dk2"/>
                </a:solidFill>
                <a:latin typeface="Roboto Light"/>
                <a:ea typeface="Roboto Light"/>
                <a:cs typeface="Roboto Light"/>
                <a:sym typeface="Roboto Light"/>
              </a:rPr>
              <a:t> </a:t>
            </a:r>
            <a:r>
              <a:rPr lang="en" sz="1600">
                <a:solidFill>
                  <a:schemeClr val="dk2"/>
                </a:solidFill>
                <a:latin typeface="Roboto"/>
                <a:ea typeface="Roboto"/>
                <a:cs typeface="Roboto"/>
                <a:sym typeface="Roboto"/>
              </a:rPr>
              <a:t>for authentication, do not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have their credentials stored in SAM. </a:t>
            </a:r>
            <a:endParaRPr sz="1600">
              <a:solidFill>
                <a:schemeClr val="dk2"/>
              </a:solidFill>
              <a:latin typeface="Roboto"/>
              <a:ea typeface="Roboto"/>
              <a:cs typeface="Roboto"/>
              <a:sym typeface="Roboto"/>
            </a:endParaRPr>
          </a:p>
        </p:txBody>
      </p:sp>
      <p:sp>
        <p:nvSpPr>
          <p:cNvPr id="493" name="Google Shape;493;p68"/>
          <p:cNvSpPr txBox="1"/>
          <p:nvPr>
            <p:ph idx="2" type="title"/>
          </p:nvPr>
        </p:nvSpPr>
        <p:spPr>
          <a:xfrm>
            <a:off x="70200" y="5152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700"/>
              <a:t>When a domain user logs in to Windows, their credentials are cached in the registry. </a:t>
            </a:r>
            <a:endParaRPr sz="1700"/>
          </a:p>
          <a:p>
            <a:pPr indent="0" lvl="0" marL="0" rtl="0" algn="l">
              <a:spcBef>
                <a:spcPts val="0"/>
              </a:spcBef>
              <a:spcAft>
                <a:spcPts val="0"/>
              </a:spcAft>
              <a:buNone/>
            </a:pPr>
            <a:r>
              <a:rPr lang="en" sz="1700"/>
              <a:t>The registry is a database in Windows that stores settings for Windows and applications.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97" name="Shape 497"/>
        <p:cNvGrpSpPr/>
        <p:nvPr/>
      </p:nvGrpSpPr>
      <p:grpSpPr>
        <a:xfrm>
          <a:off x="0" y="0"/>
          <a:ext cx="0" cy="0"/>
          <a:chOff x="0" y="0"/>
          <a:chExt cx="0" cy="0"/>
        </a:xfrm>
      </p:grpSpPr>
      <p:sp>
        <p:nvSpPr>
          <p:cNvPr id="498" name="Google Shape;498;p69"/>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Windows Credentials Refresher</a:t>
            </a:r>
            <a:endParaRPr/>
          </a:p>
        </p:txBody>
      </p:sp>
      <p:pic>
        <p:nvPicPr>
          <p:cNvPr id="499" name="Google Shape;499;p69"/>
          <p:cNvPicPr preferRelativeResize="0"/>
          <p:nvPr/>
        </p:nvPicPr>
        <p:blipFill>
          <a:blip r:embed="rId3">
            <a:alphaModFix/>
          </a:blip>
          <a:stretch>
            <a:fillRect/>
          </a:stretch>
        </p:blipFill>
        <p:spPr>
          <a:xfrm>
            <a:off x="1331350" y="1261150"/>
            <a:ext cx="6481300" cy="3589000"/>
          </a:xfrm>
          <a:prstGeom prst="rect">
            <a:avLst/>
          </a:prstGeom>
          <a:noFill/>
          <a:ln>
            <a:noFill/>
          </a:ln>
          <a:effectLst>
            <a:outerShdw blurRad="57150" rotWithShape="0" algn="bl" dir="5400000" dist="19050">
              <a:srgbClr val="000000">
                <a:alpha val="50000"/>
              </a:srgbClr>
            </a:outerShdw>
          </a:effectLst>
        </p:spPr>
      </p:pic>
      <p:sp>
        <p:nvSpPr>
          <p:cNvPr id="500" name="Google Shape;500;p69"/>
          <p:cNvSpPr txBox="1"/>
          <p:nvPr>
            <p:ph idx="2" type="title"/>
          </p:nvPr>
        </p:nvSpPr>
        <p:spPr>
          <a:xfrm>
            <a:off x="70200" y="515275"/>
            <a:ext cx="9192600" cy="3231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0"/>
              </a:spcAft>
              <a:buNone/>
            </a:pPr>
            <a:r>
              <a:rPr lang="en" sz="1800"/>
              <a:t>The registry setting is</a:t>
            </a:r>
            <a:r>
              <a:rPr lang="en" sz="1800">
                <a:latin typeface="Roboto Light"/>
                <a:ea typeface="Roboto Light"/>
                <a:cs typeface="Roboto Light"/>
                <a:sym typeface="Roboto Light"/>
              </a:rPr>
              <a:t> </a:t>
            </a:r>
            <a:r>
              <a:rPr lang="en" sz="1800">
                <a:solidFill>
                  <a:schemeClr val="lt1"/>
                </a:solidFill>
                <a:highlight>
                  <a:schemeClr val="dk2"/>
                </a:highlight>
                <a:latin typeface="Inconsolata"/>
                <a:ea typeface="Inconsolata"/>
                <a:cs typeface="Inconsolata"/>
                <a:sym typeface="Inconsolata"/>
              </a:rPr>
              <a:t>HKEY_LOCAL_MACHINE\Security\Cache</a:t>
            </a:r>
            <a:r>
              <a:rPr lang="en" sz="1800"/>
              <a:t>, which is held in the file </a:t>
            </a:r>
            <a:r>
              <a:rPr lang="en" sz="1800">
                <a:solidFill>
                  <a:schemeClr val="lt1"/>
                </a:solidFill>
                <a:highlight>
                  <a:schemeClr val="dk2"/>
                </a:highlight>
                <a:latin typeface="Inconsolata"/>
                <a:ea typeface="Inconsolata"/>
                <a:cs typeface="Inconsolata"/>
                <a:sym typeface="Inconsolata"/>
              </a:rPr>
              <a:t>C:\Windows\System32\config\SECURITY</a:t>
            </a:r>
            <a:r>
              <a:rPr lang="en" sz="1800"/>
              <a:t>.</a:t>
            </a:r>
            <a:endParaRPr sz="1800"/>
          </a:p>
          <a:p>
            <a:pPr indent="0" lvl="0" marL="0" rtl="0" algn="l">
              <a:lnSpc>
                <a:spcPct val="115000"/>
              </a:lnSpc>
              <a:spcBef>
                <a:spcPts val="0"/>
              </a:spcBef>
              <a:spcAft>
                <a:spcPts val="0"/>
              </a:spcAft>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04" name="Shape 504"/>
        <p:cNvGrpSpPr/>
        <p:nvPr/>
      </p:nvGrpSpPr>
      <p:grpSpPr>
        <a:xfrm>
          <a:off x="0" y="0"/>
          <a:ext cx="0" cy="0"/>
          <a:chOff x="0" y="0"/>
          <a:chExt cx="0" cy="0"/>
        </a:xfrm>
      </p:grpSpPr>
      <p:sp>
        <p:nvSpPr>
          <p:cNvPr id="505" name="Google Shape;505;p70"/>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Windows Credentials Refresher</a:t>
            </a:r>
            <a:endParaRPr/>
          </a:p>
        </p:txBody>
      </p:sp>
      <p:pic>
        <p:nvPicPr>
          <p:cNvPr id="506" name="Google Shape;506;p70"/>
          <p:cNvPicPr preferRelativeResize="0"/>
          <p:nvPr/>
        </p:nvPicPr>
        <p:blipFill>
          <a:blip r:embed="rId3">
            <a:alphaModFix/>
          </a:blip>
          <a:stretch>
            <a:fillRect/>
          </a:stretch>
        </p:blipFill>
        <p:spPr>
          <a:xfrm>
            <a:off x="390000" y="1489750"/>
            <a:ext cx="5296325" cy="3102001"/>
          </a:xfrm>
          <a:prstGeom prst="rect">
            <a:avLst/>
          </a:prstGeom>
          <a:noFill/>
          <a:ln>
            <a:noFill/>
          </a:ln>
          <a:effectLst>
            <a:outerShdw blurRad="57150" rotWithShape="0" algn="bl" dir="5400000" dist="19050">
              <a:srgbClr val="000000">
                <a:alpha val="50000"/>
              </a:srgbClr>
            </a:outerShdw>
          </a:effectLst>
        </p:spPr>
      </p:pic>
      <p:sp>
        <p:nvSpPr>
          <p:cNvPr id="507" name="Google Shape;507;p70"/>
          <p:cNvSpPr/>
          <p:nvPr/>
        </p:nvSpPr>
        <p:spPr>
          <a:xfrm>
            <a:off x="5774075" y="3560750"/>
            <a:ext cx="3369900" cy="1031100"/>
          </a:xfrm>
          <a:prstGeom prst="roundRect">
            <a:avLst>
              <a:gd fmla="val 0" name="adj"/>
            </a:avLst>
          </a:prstGeom>
          <a:solidFill>
            <a:schemeClr val="accent1"/>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sz="1600">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sz="1600">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sz="1600">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u="none" cap="none" strike="noStrike">
              <a:solidFill>
                <a:srgbClr val="000000"/>
              </a:solidFill>
              <a:latin typeface="Roboto"/>
              <a:ea typeface="Roboto"/>
              <a:cs typeface="Roboto"/>
              <a:sym typeface="Roboto"/>
            </a:endParaRPr>
          </a:p>
        </p:txBody>
      </p:sp>
      <p:sp>
        <p:nvSpPr>
          <p:cNvPr id="508" name="Google Shape;508;p70"/>
          <p:cNvSpPr txBox="1"/>
          <p:nvPr>
            <p:ph idx="2" type="title"/>
          </p:nvPr>
        </p:nvSpPr>
        <p:spPr>
          <a:xfrm>
            <a:off x="70200" y="515275"/>
            <a:ext cx="9192600" cy="3231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0"/>
              </a:spcAft>
              <a:buClr>
                <a:srgbClr val="000000"/>
              </a:buClr>
              <a:buSzPts val="523"/>
              <a:buFont typeface="Arial"/>
              <a:buNone/>
            </a:pPr>
            <a:r>
              <a:rPr lang="en" sz="1800"/>
              <a:t>This specific registry key appears blank because it is only accessible by SYSTEM. However, the file </a:t>
            </a:r>
            <a:r>
              <a:rPr lang="en" sz="1800">
                <a:solidFill>
                  <a:schemeClr val="lt1"/>
                </a:solidFill>
                <a:highlight>
                  <a:schemeClr val="dk2"/>
                </a:highlight>
                <a:latin typeface="Inconsolata"/>
                <a:ea typeface="Inconsolata"/>
                <a:cs typeface="Inconsolata"/>
                <a:sym typeface="Inconsolata"/>
              </a:rPr>
              <a:t>C:\Windows\System32\config\SECURITY</a:t>
            </a:r>
            <a:r>
              <a:rPr lang="en" sz="1800"/>
              <a:t> shows that it contains data.</a:t>
            </a:r>
            <a:endParaRPr sz="1800"/>
          </a:p>
          <a:p>
            <a:pPr indent="0" lvl="0" marL="0" rtl="0" algn="l">
              <a:spcBef>
                <a:spcPts val="1200"/>
              </a:spcBef>
              <a:spcAft>
                <a:spcPts val="0"/>
              </a:spcAft>
              <a:buNone/>
            </a:pPr>
            <a:r>
              <a:t/>
            </a:r>
            <a:endParaRPr sz="1800"/>
          </a:p>
        </p:txBody>
      </p:sp>
      <p:pic>
        <p:nvPicPr>
          <p:cNvPr id="509" name="Google Shape;509;p70"/>
          <p:cNvPicPr preferRelativeResize="0"/>
          <p:nvPr/>
        </p:nvPicPr>
        <p:blipFill>
          <a:blip r:embed="rId4">
            <a:alphaModFix/>
          </a:blip>
          <a:stretch>
            <a:fillRect/>
          </a:stretch>
        </p:blipFill>
        <p:spPr>
          <a:xfrm>
            <a:off x="5897489" y="3741800"/>
            <a:ext cx="706371" cy="669000"/>
          </a:xfrm>
          <a:prstGeom prst="rect">
            <a:avLst/>
          </a:prstGeom>
          <a:noFill/>
          <a:ln>
            <a:noFill/>
          </a:ln>
        </p:spPr>
      </p:pic>
      <p:sp>
        <p:nvSpPr>
          <p:cNvPr id="510" name="Google Shape;510;p70"/>
          <p:cNvSpPr txBox="1"/>
          <p:nvPr/>
        </p:nvSpPr>
        <p:spPr>
          <a:xfrm>
            <a:off x="6645750" y="3670700"/>
            <a:ext cx="2355300" cy="8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This is not viewable as a standard user. You must be SYSTEM to access the file.</a:t>
            </a:r>
            <a:endParaRPr>
              <a:latin typeface="Roboto"/>
              <a:ea typeface="Roboto"/>
              <a:cs typeface="Roboto"/>
              <a:sym typeface="Roboto"/>
            </a:endParaRPr>
          </a:p>
          <a:p>
            <a:pPr indent="0" lvl="0" marL="0" rtl="0" algn="l">
              <a:spcBef>
                <a:spcPts val="0"/>
              </a:spcBef>
              <a:spcAft>
                <a:spcPts val="0"/>
              </a:spcAft>
              <a:buNone/>
            </a:pPr>
            <a:r>
              <a:t/>
            </a:r>
            <a:endParaRPr>
              <a:solidFill>
                <a:srgbClr val="2E5E73"/>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14" name="Shape 514"/>
        <p:cNvGrpSpPr/>
        <p:nvPr/>
      </p:nvGrpSpPr>
      <p:grpSpPr>
        <a:xfrm>
          <a:off x="0" y="0"/>
          <a:ext cx="0" cy="0"/>
          <a:chOff x="0" y="0"/>
          <a:chExt cx="0" cy="0"/>
        </a:xfrm>
      </p:grpSpPr>
      <p:sp>
        <p:nvSpPr>
          <p:cNvPr id="515" name="Google Shape;515;p71"/>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Windows Credentials Refresher</a:t>
            </a:r>
            <a:endParaRPr/>
          </a:p>
        </p:txBody>
      </p:sp>
      <p:pic>
        <p:nvPicPr>
          <p:cNvPr id="516" name="Google Shape;516;p71"/>
          <p:cNvPicPr preferRelativeResize="0"/>
          <p:nvPr/>
        </p:nvPicPr>
        <p:blipFill rotWithShape="1">
          <a:blip r:embed="rId3">
            <a:alphaModFix/>
          </a:blip>
          <a:srcRect b="783" l="494" r="701" t="0"/>
          <a:stretch/>
        </p:blipFill>
        <p:spPr>
          <a:xfrm>
            <a:off x="871675" y="1276825"/>
            <a:ext cx="7424701" cy="3545200"/>
          </a:xfrm>
          <a:prstGeom prst="rect">
            <a:avLst/>
          </a:prstGeom>
          <a:noFill/>
          <a:ln>
            <a:noFill/>
          </a:ln>
          <a:effectLst>
            <a:outerShdw blurRad="57150" rotWithShape="0" algn="bl" dir="5400000" dist="19050">
              <a:srgbClr val="000000">
                <a:alpha val="50000"/>
              </a:srgbClr>
            </a:outerShdw>
          </a:effectLst>
        </p:spPr>
      </p:pic>
      <p:sp>
        <p:nvSpPr>
          <p:cNvPr id="517" name="Google Shape;517;p71"/>
          <p:cNvSpPr txBox="1"/>
          <p:nvPr>
            <p:ph idx="2" type="title"/>
          </p:nvPr>
        </p:nvSpPr>
        <p:spPr>
          <a:xfrm>
            <a:off x="70200" y="515275"/>
            <a:ext cx="8306700" cy="3231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0"/>
              </a:spcAft>
              <a:buNone/>
            </a:pPr>
            <a:r>
              <a:rPr lang="en" sz="1800"/>
              <a:t>By default in Windows 10, up to 10 network or domain credentials are cached at a time. View this default value in the local security policy.</a:t>
            </a:r>
            <a:endParaRPr sz="1800"/>
          </a:p>
          <a:p>
            <a:pPr indent="0" lvl="0" marL="0" rtl="0" algn="l">
              <a:lnSpc>
                <a:spcPct val="115000"/>
              </a:lnSpc>
              <a:spcBef>
                <a:spcPts val="0"/>
              </a:spcBef>
              <a:spcAft>
                <a:spcPts val="0"/>
              </a:spcAft>
              <a:buNone/>
            </a:pPr>
            <a:r>
              <a:t/>
            </a:r>
            <a:endParaRPr sz="1800"/>
          </a:p>
        </p:txBody>
      </p:sp>
      <p:sp>
        <p:nvSpPr>
          <p:cNvPr id="518" name="Google Shape;518;p71"/>
          <p:cNvSpPr/>
          <p:nvPr/>
        </p:nvSpPr>
        <p:spPr>
          <a:xfrm>
            <a:off x="5823525" y="1224050"/>
            <a:ext cx="2553300" cy="436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2"/>
          <p:cNvSpPr txBox="1"/>
          <p:nvPr>
            <p:ph idx="4294967295" type="subTitle"/>
          </p:nvPr>
        </p:nvSpPr>
        <p:spPr>
          <a:xfrm>
            <a:off x="1766050" y="1080025"/>
            <a:ext cx="5857500" cy="3131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sz="2800">
                <a:latin typeface="Roboto"/>
                <a:ea typeface="Roboto"/>
                <a:cs typeface="Roboto"/>
                <a:sym typeface="Roboto"/>
              </a:rPr>
              <a:t>Mimikatz</a:t>
            </a:r>
            <a:r>
              <a:rPr lang="en" sz="2800"/>
              <a:t> is a Windows-purposed credential dumping tool that can decrypt almost all stored credentials in Windows.</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3"/>
          <p:cNvSpPr/>
          <p:nvPr/>
        </p:nvSpPr>
        <p:spPr>
          <a:xfrm>
            <a:off x="0" y="75"/>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9" name="Google Shape;529;p73"/>
          <p:cNvPicPr preferRelativeResize="0"/>
          <p:nvPr/>
        </p:nvPicPr>
        <p:blipFill>
          <a:blip r:embed="rId3">
            <a:alphaModFix/>
          </a:blip>
          <a:stretch>
            <a:fillRect/>
          </a:stretch>
        </p:blipFill>
        <p:spPr>
          <a:xfrm>
            <a:off x="4209000" y="675974"/>
            <a:ext cx="4935004" cy="4467524"/>
          </a:xfrm>
          <a:prstGeom prst="rect">
            <a:avLst/>
          </a:prstGeom>
          <a:noFill/>
          <a:ln>
            <a:noFill/>
          </a:ln>
        </p:spPr>
      </p:pic>
      <p:sp>
        <p:nvSpPr>
          <p:cNvPr id="530" name="Google Shape;530;p73"/>
          <p:cNvSpPr txBox="1"/>
          <p:nvPr>
            <p:ph idx="1" type="subTitle"/>
          </p:nvPr>
        </p:nvSpPr>
        <p:spPr>
          <a:xfrm>
            <a:off x="457200" y="1174075"/>
            <a:ext cx="3963000" cy="3070500"/>
          </a:xfrm>
          <a:prstGeom prst="rect">
            <a:avLst/>
          </a:prstGeom>
        </p:spPr>
        <p:txBody>
          <a:bodyPr anchorCtr="0" anchor="t" bIns="0" lIns="0" spcFirstLastPara="1" rIns="0" wrap="square" tIns="0">
            <a:noAutofit/>
          </a:bodyPr>
          <a:lstStyle/>
          <a:p>
            <a:pPr indent="0" lvl="0" marL="0" rtl="0" algn="l">
              <a:lnSpc>
                <a:spcPct val="105000"/>
              </a:lnSpc>
              <a:spcBef>
                <a:spcPts val="0"/>
              </a:spcBef>
              <a:spcAft>
                <a:spcPts val="0"/>
              </a:spcAft>
              <a:buNone/>
            </a:pPr>
            <a:r>
              <a:rPr b="1" lang="en" sz="2400">
                <a:highlight>
                  <a:schemeClr val="accent1"/>
                </a:highlight>
              </a:rPr>
              <a:t>Mimikatz</a:t>
            </a:r>
            <a:r>
              <a:rPr lang="en" sz="2400">
                <a:latin typeface="Roboto Light"/>
                <a:ea typeface="Roboto Light"/>
                <a:cs typeface="Roboto Light"/>
                <a:sym typeface="Roboto Light"/>
              </a:rPr>
              <a:t> </a:t>
            </a:r>
            <a:r>
              <a:rPr lang="en" sz="2400"/>
              <a:t>is a very complicated tool, so </a:t>
            </a:r>
            <a:br>
              <a:rPr lang="en" sz="2400"/>
            </a:br>
            <a:r>
              <a:rPr lang="en" sz="2400"/>
              <a:t>we won’t dive into the </a:t>
            </a:r>
            <a:br>
              <a:rPr lang="en" sz="2400"/>
            </a:br>
            <a:r>
              <a:rPr lang="en" sz="2400"/>
              <a:t>specifics of how it works.</a:t>
            </a:r>
            <a:endParaRPr sz="2400"/>
          </a:p>
          <a:p>
            <a:pPr indent="0" lvl="0" marL="0" rtl="0" algn="l">
              <a:lnSpc>
                <a:spcPct val="105000"/>
              </a:lnSpc>
              <a:spcBef>
                <a:spcPts val="1800"/>
              </a:spcBef>
              <a:spcAft>
                <a:spcPts val="0"/>
              </a:spcAft>
              <a:buNone/>
            </a:pPr>
            <a:r>
              <a:rPr lang="en" sz="2400"/>
              <a:t>We’ll use the </a:t>
            </a:r>
            <a:br>
              <a:rPr lang="en" sz="2400"/>
            </a:br>
            <a:r>
              <a:rPr lang="en" sz="2400"/>
              <a:t>Metasploit version of Mimikatz called</a:t>
            </a:r>
            <a:r>
              <a:rPr lang="en" sz="2400">
                <a:latin typeface="Roboto Light"/>
                <a:ea typeface="Roboto Light"/>
                <a:cs typeface="Roboto Light"/>
                <a:sym typeface="Roboto Light"/>
              </a:rPr>
              <a:t> </a:t>
            </a:r>
            <a:r>
              <a:rPr b="1" lang="en" sz="2400">
                <a:highlight>
                  <a:schemeClr val="accent1"/>
                </a:highlight>
              </a:rPr>
              <a:t>k</a:t>
            </a:r>
            <a:r>
              <a:rPr b="1" lang="en" sz="2400">
                <a:highlight>
                  <a:schemeClr val="accent1"/>
                </a:highlight>
              </a:rPr>
              <a:t>iwi</a:t>
            </a:r>
            <a:r>
              <a:rPr lang="en" sz="2400">
                <a:latin typeface="Roboto Light"/>
                <a:ea typeface="Roboto Light"/>
                <a:cs typeface="Roboto Light"/>
                <a:sym typeface="Roboto Light"/>
              </a:rPr>
              <a:t>.</a:t>
            </a:r>
            <a:endParaRPr sz="2400">
              <a:latin typeface="Roboto Light"/>
              <a:ea typeface="Roboto Light"/>
              <a:cs typeface="Roboto Light"/>
              <a:sym typeface="Robo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4"/>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kiwi</a:t>
            </a:r>
            <a:r>
              <a:rPr lang="en"/>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5"/>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541" name="Google Shape;541;p75"/>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Credential dumping</a:t>
            </a:r>
            <a:endParaRPr/>
          </a:p>
        </p:txBody>
      </p:sp>
      <p:sp>
        <p:nvSpPr>
          <p:cNvPr id="542" name="Google Shape;542;p75"/>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you’ll dump credentials using </a:t>
            </a:r>
            <a:r>
              <a:rPr lang="en">
                <a:solidFill>
                  <a:schemeClr val="lt1"/>
                </a:solidFill>
                <a:highlight>
                  <a:schemeClr val="dk2"/>
                </a:highlight>
              </a:rPr>
              <a:t>kiwi</a:t>
            </a:r>
            <a:r>
              <a:rPr lang="en"/>
              <a:t>.</a:t>
            </a:r>
            <a:endParaRPr/>
          </a:p>
          <a:p>
            <a:pPr indent="0" lvl="0" marL="0" rtl="0" algn="l">
              <a:spcBef>
                <a:spcPts val="0"/>
              </a:spcBef>
              <a:spcAft>
                <a:spcPts val="0"/>
              </a:spcAft>
              <a:buNone/>
            </a:pPr>
            <a:r>
              <a:rPr lang="en"/>
              <a:t>Then you’ll save and crack the hashes using </a:t>
            </a:r>
            <a:r>
              <a:rPr lang="en">
                <a:solidFill>
                  <a:schemeClr val="lt1"/>
                </a:solidFill>
                <a:highlight>
                  <a:schemeClr val="dk2"/>
                </a:highlight>
              </a:rPr>
              <a:t>john</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78"/>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1" lang="en">
                <a:latin typeface="Roboto"/>
                <a:ea typeface="Roboto"/>
                <a:cs typeface="Roboto"/>
                <a:sym typeface="Roboto"/>
              </a:rPr>
              <a:t>Lateral</a:t>
            </a:r>
            <a:r>
              <a:rPr b="1" lang="en">
                <a:latin typeface="Roboto"/>
                <a:ea typeface="Roboto"/>
                <a:cs typeface="Roboto"/>
                <a:sym typeface="Roboto"/>
              </a:rPr>
              <a:t> </a:t>
            </a:r>
            <a:r>
              <a:rPr lang="en"/>
              <a:t>Movement</a:t>
            </a:r>
            <a:endParaRPr/>
          </a:p>
        </p:txBody>
      </p:sp>
      <p:pic>
        <p:nvPicPr>
          <p:cNvPr id="556" name="Google Shape;556;p78"/>
          <p:cNvPicPr preferRelativeResize="0"/>
          <p:nvPr/>
        </p:nvPicPr>
        <p:blipFill>
          <a:blip r:embed="rId3">
            <a:alphaModFix/>
          </a:blip>
          <a:stretch>
            <a:fillRect/>
          </a:stretch>
        </p:blipFill>
        <p:spPr>
          <a:xfrm>
            <a:off x="3378233" y="2087675"/>
            <a:ext cx="658192" cy="434125"/>
          </a:xfrm>
          <a:prstGeom prst="rect">
            <a:avLst/>
          </a:prstGeom>
          <a:noFill/>
          <a:ln>
            <a:noFill/>
          </a:ln>
        </p:spPr>
      </p:pic>
      <p:pic>
        <p:nvPicPr>
          <p:cNvPr id="557" name="Google Shape;557;p78"/>
          <p:cNvPicPr preferRelativeResize="0"/>
          <p:nvPr/>
        </p:nvPicPr>
        <p:blipFill>
          <a:blip r:embed="rId4">
            <a:alphaModFix/>
          </a:blip>
          <a:stretch>
            <a:fillRect/>
          </a:stretch>
        </p:blipFill>
        <p:spPr>
          <a:xfrm>
            <a:off x="4321374" y="1967453"/>
            <a:ext cx="588200" cy="554350"/>
          </a:xfrm>
          <a:prstGeom prst="rect">
            <a:avLst/>
          </a:prstGeom>
          <a:noFill/>
          <a:ln>
            <a:noFill/>
          </a:ln>
        </p:spPr>
      </p:pic>
      <p:pic>
        <p:nvPicPr>
          <p:cNvPr id="558" name="Google Shape;558;p78"/>
          <p:cNvPicPr preferRelativeResize="0"/>
          <p:nvPr/>
        </p:nvPicPr>
        <p:blipFill>
          <a:blip r:embed="rId3">
            <a:alphaModFix/>
          </a:blip>
          <a:stretch>
            <a:fillRect/>
          </a:stretch>
        </p:blipFill>
        <p:spPr>
          <a:xfrm>
            <a:off x="4286383" y="1267125"/>
            <a:ext cx="658192" cy="434125"/>
          </a:xfrm>
          <a:prstGeom prst="rect">
            <a:avLst/>
          </a:prstGeom>
          <a:noFill/>
          <a:ln>
            <a:noFill/>
          </a:ln>
        </p:spPr>
      </p:pic>
      <p:pic>
        <p:nvPicPr>
          <p:cNvPr id="559" name="Google Shape;559;p78"/>
          <p:cNvPicPr preferRelativeResize="0"/>
          <p:nvPr/>
        </p:nvPicPr>
        <p:blipFill>
          <a:blip r:embed="rId3">
            <a:alphaModFix/>
          </a:blip>
          <a:stretch>
            <a:fillRect/>
          </a:stretch>
        </p:blipFill>
        <p:spPr>
          <a:xfrm>
            <a:off x="5194533" y="2087675"/>
            <a:ext cx="658192" cy="434125"/>
          </a:xfrm>
          <a:prstGeom prst="rect">
            <a:avLst/>
          </a:prstGeom>
          <a:noFill/>
          <a:ln>
            <a:noFill/>
          </a:ln>
        </p:spPr>
      </p:pic>
      <p:cxnSp>
        <p:nvCxnSpPr>
          <p:cNvPr id="560" name="Google Shape;560;p78"/>
          <p:cNvCxnSpPr/>
          <p:nvPr/>
        </p:nvCxnSpPr>
        <p:spPr>
          <a:xfrm>
            <a:off x="4089050" y="2304738"/>
            <a:ext cx="179700" cy="0"/>
          </a:xfrm>
          <a:prstGeom prst="straightConnector1">
            <a:avLst/>
          </a:prstGeom>
          <a:noFill/>
          <a:ln cap="flat" cmpd="sng" w="9525">
            <a:solidFill>
              <a:schemeClr val="dk2"/>
            </a:solidFill>
            <a:prstDash val="solid"/>
            <a:round/>
            <a:headEnd len="med" w="med" type="none"/>
            <a:tailEnd len="med" w="med" type="none"/>
          </a:ln>
        </p:spPr>
      </p:cxnSp>
      <p:cxnSp>
        <p:nvCxnSpPr>
          <p:cNvPr id="561" name="Google Shape;561;p78"/>
          <p:cNvCxnSpPr/>
          <p:nvPr/>
        </p:nvCxnSpPr>
        <p:spPr>
          <a:xfrm>
            <a:off x="4962200" y="2304738"/>
            <a:ext cx="179700" cy="0"/>
          </a:xfrm>
          <a:prstGeom prst="straightConnector1">
            <a:avLst/>
          </a:prstGeom>
          <a:noFill/>
          <a:ln cap="flat" cmpd="sng" w="9525">
            <a:solidFill>
              <a:schemeClr val="dk2"/>
            </a:solidFill>
            <a:prstDash val="solid"/>
            <a:round/>
            <a:headEnd len="med" w="med" type="none"/>
            <a:tailEnd len="med" w="med" type="none"/>
          </a:ln>
        </p:spPr>
      </p:cxnSp>
      <p:cxnSp>
        <p:nvCxnSpPr>
          <p:cNvPr id="562" name="Google Shape;562;p78"/>
          <p:cNvCxnSpPr/>
          <p:nvPr/>
        </p:nvCxnSpPr>
        <p:spPr>
          <a:xfrm>
            <a:off x="4615475" y="1757088"/>
            <a:ext cx="0" cy="154500"/>
          </a:xfrm>
          <a:prstGeom prst="straightConnector1">
            <a:avLst/>
          </a:prstGeom>
          <a:noFill/>
          <a:ln cap="flat" cmpd="sng" w="9525">
            <a:solidFill>
              <a:schemeClr val="dk2"/>
            </a:solidFill>
            <a:prstDash val="solid"/>
            <a:round/>
            <a:headEnd len="med" w="med" type="none"/>
            <a:tailEnd len="med" w="med" type="none"/>
          </a:ln>
        </p:spPr>
      </p:cxnSp>
      <p:pic>
        <p:nvPicPr>
          <p:cNvPr id="563" name="Google Shape;563;p78"/>
          <p:cNvPicPr preferRelativeResize="0"/>
          <p:nvPr/>
        </p:nvPicPr>
        <p:blipFill>
          <a:blip r:embed="rId5">
            <a:alphaModFix/>
          </a:blip>
          <a:stretch>
            <a:fillRect/>
          </a:stretch>
        </p:blipFill>
        <p:spPr>
          <a:xfrm>
            <a:off x="5396725" y="2162651"/>
            <a:ext cx="253800" cy="263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9"/>
          <p:cNvSpPr txBox="1"/>
          <p:nvPr/>
        </p:nvSpPr>
        <p:spPr>
          <a:xfrm>
            <a:off x="347250" y="512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2"/>
                </a:solidFill>
                <a:latin typeface="Roboto"/>
                <a:ea typeface="Roboto"/>
                <a:cs typeface="Roboto"/>
                <a:sym typeface="Roboto"/>
              </a:rPr>
              <a:t>Lateral Movement</a:t>
            </a:r>
            <a:endParaRPr b="1" sz="24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We have now:</a:t>
            </a:r>
            <a:endParaRPr sz="1800">
              <a:solidFill>
                <a:schemeClr val="dk2"/>
              </a:solidFill>
              <a:latin typeface="Roboto"/>
              <a:ea typeface="Roboto"/>
              <a:cs typeface="Roboto"/>
              <a:sym typeface="Roboto"/>
            </a:endParaRPr>
          </a:p>
        </p:txBody>
      </p:sp>
      <p:sp>
        <p:nvSpPr>
          <p:cNvPr id="569" name="Google Shape;569;p79"/>
          <p:cNvSpPr/>
          <p:nvPr/>
        </p:nvSpPr>
        <p:spPr>
          <a:xfrm>
            <a:off x="0" y="4406100"/>
            <a:ext cx="9144000" cy="7374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0" lvl="0" marL="1143000" rtl="0" algn="l">
              <a:spcBef>
                <a:spcPts val="0"/>
              </a:spcBef>
              <a:spcAft>
                <a:spcPts val="0"/>
              </a:spcAft>
              <a:buNone/>
            </a:pPr>
            <a:r>
              <a:t/>
            </a:r>
            <a:endParaRPr sz="1800">
              <a:latin typeface="Roboto"/>
              <a:ea typeface="Roboto"/>
              <a:cs typeface="Roboto"/>
              <a:sym typeface="Roboto"/>
            </a:endParaRPr>
          </a:p>
          <a:p>
            <a:pPr indent="0" lvl="0" marL="1143000" rtl="0" algn="l">
              <a:spcBef>
                <a:spcPts val="0"/>
              </a:spcBef>
              <a:spcAft>
                <a:spcPts val="0"/>
              </a:spcAft>
              <a:buNone/>
            </a:pPr>
            <a:r>
              <a:rPr lang="en" sz="1800">
                <a:latin typeface="Roboto Medium"/>
                <a:ea typeface="Roboto Medium"/>
                <a:cs typeface="Roboto Medium"/>
                <a:sym typeface="Roboto Medium"/>
              </a:rPr>
              <a:t>Next</a:t>
            </a:r>
            <a:r>
              <a:rPr lang="en" sz="1800">
                <a:latin typeface="Roboto"/>
                <a:ea typeface="Roboto"/>
                <a:cs typeface="Roboto"/>
                <a:sym typeface="Roboto"/>
              </a:rPr>
              <a:t>, we will learn how to expand our access on the network.</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pic>
        <p:nvPicPr>
          <p:cNvPr id="570" name="Google Shape;570;p79"/>
          <p:cNvPicPr preferRelativeResize="0"/>
          <p:nvPr/>
        </p:nvPicPr>
        <p:blipFill rotWithShape="1">
          <a:blip r:embed="rId3">
            <a:alphaModFix/>
          </a:blip>
          <a:srcRect b="0" l="0" r="0" t="0"/>
          <a:stretch/>
        </p:blipFill>
        <p:spPr>
          <a:xfrm>
            <a:off x="522802" y="4440300"/>
            <a:ext cx="706371" cy="669000"/>
          </a:xfrm>
          <a:prstGeom prst="rect">
            <a:avLst/>
          </a:prstGeom>
          <a:noFill/>
          <a:ln>
            <a:noFill/>
          </a:ln>
        </p:spPr>
      </p:pic>
      <p:grpSp>
        <p:nvGrpSpPr>
          <p:cNvPr id="571" name="Google Shape;571;p79"/>
          <p:cNvGrpSpPr/>
          <p:nvPr/>
        </p:nvGrpSpPr>
        <p:grpSpPr>
          <a:xfrm>
            <a:off x="-3" y="1171500"/>
            <a:ext cx="8686828" cy="400200"/>
            <a:chOff x="-3" y="1185750"/>
            <a:chExt cx="8686828" cy="400200"/>
          </a:xfrm>
        </p:grpSpPr>
        <p:cxnSp>
          <p:nvCxnSpPr>
            <p:cNvPr id="572" name="Google Shape;572;p79"/>
            <p:cNvCxnSpPr/>
            <p:nvPr/>
          </p:nvCxnSpPr>
          <p:spPr>
            <a:xfrm>
              <a:off x="-3" y="1385850"/>
              <a:ext cx="686400" cy="0"/>
            </a:xfrm>
            <a:prstGeom prst="straightConnector1">
              <a:avLst/>
            </a:prstGeom>
            <a:noFill/>
            <a:ln cap="flat" cmpd="sng" w="19050">
              <a:solidFill>
                <a:srgbClr val="2E5E73"/>
              </a:solidFill>
              <a:prstDash val="solid"/>
              <a:round/>
              <a:headEnd len="sm" w="sm" type="none"/>
              <a:tailEnd len="med" w="med" type="oval"/>
            </a:ln>
          </p:spPr>
        </p:cxnSp>
        <p:sp>
          <p:nvSpPr>
            <p:cNvPr id="573" name="Google Shape;573;p79"/>
            <p:cNvSpPr/>
            <p:nvPr/>
          </p:nvSpPr>
          <p:spPr>
            <a:xfrm>
              <a:off x="596125" y="1185750"/>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79"/>
            <p:cNvSpPr/>
            <p:nvPr/>
          </p:nvSpPr>
          <p:spPr>
            <a:xfrm>
              <a:off x="513600" y="122430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75" name="Google Shape;575;p79"/>
            <p:cNvSpPr/>
            <p:nvPr/>
          </p:nvSpPr>
          <p:spPr>
            <a:xfrm>
              <a:off x="593400" y="1304100"/>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576" name="Google Shape;576;p79"/>
          <p:cNvSpPr txBox="1"/>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Dumped domain credentials</a:t>
            </a:r>
            <a:endParaRPr sz="1800">
              <a:solidFill>
                <a:srgbClr val="082D49"/>
              </a:solidFill>
              <a:latin typeface="Roboto"/>
              <a:ea typeface="Roboto"/>
              <a:cs typeface="Roboto"/>
              <a:sym typeface="Roboto"/>
            </a:endParaRPr>
          </a:p>
        </p:txBody>
      </p:sp>
      <p:grpSp>
        <p:nvGrpSpPr>
          <p:cNvPr id="577" name="Google Shape;577;p79"/>
          <p:cNvGrpSpPr/>
          <p:nvPr/>
        </p:nvGrpSpPr>
        <p:grpSpPr>
          <a:xfrm>
            <a:off x="-3" y="1859013"/>
            <a:ext cx="8686828" cy="400200"/>
            <a:chOff x="-3" y="1185750"/>
            <a:chExt cx="8686828" cy="400200"/>
          </a:xfrm>
        </p:grpSpPr>
        <p:cxnSp>
          <p:nvCxnSpPr>
            <p:cNvPr id="578" name="Google Shape;578;p79"/>
            <p:cNvCxnSpPr/>
            <p:nvPr/>
          </p:nvCxnSpPr>
          <p:spPr>
            <a:xfrm>
              <a:off x="-3" y="1385850"/>
              <a:ext cx="686400" cy="0"/>
            </a:xfrm>
            <a:prstGeom prst="straightConnector1">
              <a:avLst/>
            </a:prstGeom>
            <a:noFill/>
            <a:ln cap="flat" cmpd="sng" w="19050">
              <a:solidFill>
                <a:srgbClr val="2E5E73"/>
              </a:solidFill>
              <a:prstDash val="solid"/>
              <a:round/>
              <a:headEnd len="sm" w="sm" type="none"/>
              <a:tailEnd len="med" w="med" type="oval"/>
            </a:ln>
          </p:spPr>
        </p:cxnSp>
        <p:sp>
          <p:nvSpPr>
            <p:cNvPr id="579" name="Google Shape;579;p79"/>
            <p:cNvSpPr/>
            <p:nvPr/>
          </p:nvSpPr>
          <p:spPr>
            <a:xfrm>
              <a:off x="596125" y="1185750"/>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79"/>
            <p:cNvSpPr/>
            <p:nvPr/>
          </p:nvSpPr>
          <p:spPr>
            <a:xfrm>
              <a:off x="513600" y="122430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81" name="Google Shape;581;p79"/>
            <p:cNvSpPr/>
            <p:nvPr/>
          </p:nvSpPr>
          <p:spPr>
            <a:xfrm>
              <a:off x="593400" y="1304100"/>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582" name="Google Shape;582;p79"/>
          <p:cNvSpPr txBox="1"/>
          <p:nvPr/>
        </p:nvSpPr>
        <p:spPr>
          <a:xfrm>
            <a:off x="914400" y="187626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Cracked their hashes</a:t>
            </a:r>
            <a:endParaRPr sz="1800">
              <a:solidFill>
                <a:srgbClr val="082D49"/>
              </a:solidFill>
              <a:latin typeface="Roboto"/>
              <a:ea typeface="Roboto"/>
              <a:cs typeface="Roboto"/>
              <a:sym typeface="Roboto"/>
            </a:endParaRPr>
          </a:p>
        </p:txBody>
      </p:sp>
      <p:grpSp>
        <p:nvGrpSpPr>
          <p:cNvPr id="583" name="Google Shape;583;p79"/>
          <p:cNvGrpSpPr/>
          <p:nvPr/>
        </p:nvGrpSpPr>
        <p:grpSpPr>
          <a:xfrm>
            <a:off x="-3" y="2577041"/>
            <a:ext cx="8686828" cy="400200"/>
            <a:chOff x="-3" y="1185750"/>
            <a:chExt cx="8686828" cy="400200"/>
          </a:xfrm>
        </p:grpSpPr>
        <p:cxnSp>
          <p:nvCxnSpPr>
            <p:cNvPr id="584" name="Google Shape;584;p79"/>
            <p:cNvCxnSpPr/>
            <p:nvPr/>
          </p:nvCxnSpPr>
          <p:spPr>
            <a:xfrm>
              <a:off x="-3" y="1385850"/>
              <a:ext cx="686400" cy="0"/>
            </a:xfrm>
            <a:prstGeom prst="straightConnector1">
              <a:avLst/>
            </a:prstGeom>
            <a:noFill/>
            <a:ln cap="flat" cmpd="sng" w="19050">
              <a:solidFill>
                <a:srgbClr val="2E5E73"/>
              </a:solidFill>
              <a:prstDash val="solid"/>
              <a:round/>
              <a:headEnd len="sm" w="sm" type="none"/>
              <a:tailEnd len="med" w="med" type="oval"/>
            </a:ln>
          </p:spPr>
        </p:cxnSp>
        <p:sp>
          <p:nvSpPr>
            <p:cNvPr id="585" name="Google Shape;585;p79"/>
            <p:cNvSpPr/>
            <p:nvPr/>
          </p:nvSpPr>
          <p:spPr>
            <a:xfrm>
              <a:off x="596125" y="1185750"/>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79"/>
            <p:cNvSpPr/>
            <p:nvPr/>
          </p:nvSpPr>
          <p:spPr>
            <a:xfrm>
              <a:off x="513600" y="122430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87" name="Google Shape;587;p79"/>
            <p:cNvSpPr/>
            <p:nvPr/>
          </p:nvSpPr>
          <p:spPr>
            <a:xfrm>
              <a:off x="593400" y="1304100"/>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588" name="Google Shape;588;p79"/>
          <p:cNvSpPr txBox="1"/>
          <p:nvPr/>
        </p:nvSpPr>
        <p:spPr>
          <a:xfrm>
            <a:off x="914400" y="2594291"/>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Established persistence on one machine</a:t>
            </a:r>
            <a:endParaRPr sz="1800">
              <a:solidFill>
                <a:srgbClr val="082D49"/>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0"/>
          <p:cNvSpPr txBox="1"/>
          <p:nvPr>
            <p:ph idx="1" type="body"/>
          </p:nvPr>
        </p:nvSpPr>
        <p:spPr>
          <a:xfrm>
            <a:off x="0" y="1371600"/>
            <a:ext cx="5486400" cy="1579200"/>
          </a:xfrm>
          <a:prstGeom prst="rect">
            <a:avLst/>
          </a:prstGeom>
        </p:spPr>
        <p:txBody>
          <a:bodyPr anchorCtr="0" anchor="t" bIns="91425" lIns="548625" spcFirstLastPara="1" rIns="457200" wrap="square" tIns="91425">
            <a:noAutofit/>
          </a:bodyPr>
          <a:lstStyle/>
          <a:p>
            <a:pPr indent="0" lvl="0" marL="0" rtl="0" algn="l">
              <a:spcBef>
                <a:spcPts val="0"/>
              </a:spcBef>
              <a:spcAft>
                <a:spcPts val="800"/>
              </a:spcAft>
              <a:buClr>
                <a:schemeClr val="dk1"/>
              </a:buClr>
              <a:buSzPts val="1100"/>
              <a:buFont typeface="Arial"/>
              <a:buNone/>
            </a:pPr>
            <a:r>
              <a:rPr lang="en" sz="2000"/>
              <a:t>It’s rare for pen testers to complete their goal by accessing a single machine. Often, they need to move throughout the network, compromising other machines to either obtain the goal or get access to achieve the goal.</a:t>
            </a:r>
            <a:endParaRPr sz="2000"/>
          </a:p>
        </p:txBody>
      </p:sp>
      <p:pic>
        <p:nvPicPr>
          <p:cNvPr id="594" name="Google Shape;594;p80"/>
          <p:cNvPicPr preferRelativeResize="0"/>
          <p:nvPr/>
        </p:nvPicPr>
        <p:blipFill rotWithShape="1">
          <a:blip r:embed="rId3">
            <a:alphaModFix/>
          </a:blip>
          <a:srcRect b="0" l="49198" r="9068" t="0"/>
          <a:stretch/>
        </p:blipFill>
        <p:spPr>
          <a:xfrm>
            <a:off x="5935800" y="0"/>
            <a:ext cx="3220500"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cxnSp>
        <p:nvCxnSpPr>
          <p:cNvPr id="599" name="Google Shape;599;p81"/>
          <p:cNvCxnSpPr/>
          <p:nvPr/>
        </p:nvCxnSpPr>
        <p:spPr>
          <a:xfrm>
            <a:off x="1819000" y="2047250"/>
            <a:ext cx="1520100" cy="0"/>
          </a:xfrm>
          <a:prstGeom prst="straightConnector1">
            <a:avLst/>
          </a:prstGeom>
          <a:noFill/>
          <a:ln cap="flat" cmpd="sng" w="19050">
            <a:solidFill>
              <a:schemeClr val="dk2"/>
            </a:solidFill>
            <a:prstDash val="solid"/>
            <a:round/>
            <a:headEnd len="med" w="med" type="none"/>
            <a:tailEnd len="med" w="med" type="triangle"/>
          </a:ln>
        </p:spPr>
      </p:cxnSp>
      <p:cxnSp>
        <p:nvCxnSpPr>
          <p:cNvPr id="600" name="Google Shape;600;p81"/>
          <p:cNvCxnSpPr/>
          <p:nvPr/>
        </p:nvCxnSpPr>
        <p:spPr>
          <a:xfrm>
            <a:off x="4190900" y="2047250"/>
            <a:ext cx="2151000" cy="0"/>
          </a:xfrm>
          <a:prstGeom prst="straightConnector1">
            <a:avLst/>
          </a:prstGeom>
          <a:noFill/>
          <a:ln cap="flat" cmpd="sng" w="19050">
            <a:solidFill>
              <a:schemeClr val="dk2"/>
            </a:solidFill>
            <a:prstDash val="solid"/>
            <a:round/>
            <a:headEnd len="med" w="med" type="none"/>
            <a:tailEnd len="med" w="med" type="triangle"/>
          </a:ln>
        </p:spPr>
      </p:cxnSp>
      <p:sp>
        <p:nvSpPr>
          <p:cNvPr id="601" name="Google Shape;601;p81"/>
          <p:cNvSpPr/>
          <p:nvPr/>
        </p:nvSpPr>
        <p:spPr>
          <a:xfrm>
            <a:off x="790675" y="1477775"/>
            <a:ext cx="1782600" cy="1114200"/>
          </a:xfrm>
          <a:prstGeom prst="roundRect">
            <a:avLst>
              <a:gd fmla="val 1054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2" name="Google Shape;602;p81"/>
          <p:cNvSpPr/>
          <p:nvPr/>
        </p:nvSpPr>
        <p:spPr>
          <a:xfrm>
            <a:off x="6863100" y="1382900"/>
            <a:ext cx="1303800" cy="1303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3" name="Google Shape;603;p81"/>
          <p:cNvSpPr/>
          <p:nvPr/>
        </p:nvSpPr>
        <p:spPr>
          <a:xfrm flipH="1">
            <a:off x="6333225" y="2970682"/>
            <a:ext cx="2428500" cy="1705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81"/>
          <p:cNvSpPr/>
          <p:nvPr/>
        </p:nvSpPr>
        <p:spPr>
          <a:xfrm>
            <a:off x="6332699" y="295505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5" name="Google Shape;605;p81"/>
          <p:cNvSpPr/>
          <p:nvPr/>
        </p:nvSpPr>
        <p:spPr>
          <a:xfrm flipH="1">
            <a:off x="467725" y="2970202"/>
            <a:ext cx="2428500" cy="1705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1"/>
          <p:cNvSpPr/>
          <p:nvPr/>
        </p:nvSpPr>
        <p:spPr>
          <a:xfrm>
            <a:off x="468324" y="2955150"/>
            <a:ext cx="2427300" cy="476700"/>
          </a:xfrm>
          <a:prstGeom prst="roundRect">
            <a:avLst>
              <a:gd fmla="val 13342"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FFFFFF"/>
              </a:solidFill>
              <a:latin typeface="Roboto"/>
              <a:ea typeface="Roboto"/>
              <a:cs typeface="Roboto"/>
              <a:sym typeface="Roboto"/>
            </a:endParaRPr>
          </a:p>
        </p:txBody>
      </p:sp>
      <p:sp>
        <p:nvSpPr>
          <p:cNvPr id="607" name="Google Shape;607;p81"/>
          <p:cNvSpPr/>
          <p:nvPr/>
        </p:nvSpPr>
        <p:spPr>
          <a:xfrm flipH="1">
            <a:off x="3405700" y="2970200"/>
            <a:ext cx="2420700" cy="1705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81"/>
          <p:cNvSpPr txBox="1"/>
          <p:nvPr/>
        </p:nvSpPr>
        <p:spPr>
          <a:xfrm>
            <a:off x="3366713" y="295505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09" name="Google Shape;609;p81"/>
          <p:cNvSpPr txBox="1"/>
          <p:nvPr/>
        </p:nvSpPr>
        <p:spPr>
          <a:xfrm>
            <a:off x="6304775" y="295505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Domain Controller</a:t>
            </a:r>
            <a:endParaRPr sz="1800">
              <a:solidFill>
                <a:schemeClr val="lt1"/>
              </a:solidFill>
              <a:latin typeface="Roboto"/>
              <a:ea typeface="Roboto"/>
              <a:cs typeface="Roboto"/>
              <a:sym typeface="Roboto"/>
            </a:endParaRPr>
          </a:p>
        </p:txBody>
      </p:sp>
      <p:sp>
        <p:nvSpPr>
          <p:cNvPr id="610" name="Google Shape;610;p81"/>
          <p:cNvSpPr/>
          <p:nvPr/>
        </p:nvSpPr>
        <p:spPr>
          <a:xfrm>
            <a:off x="3399112" y="2955150"/>
            <a:ext cx="2427300" cy="476700"/>
          </a:xfrm>
          <a:prstGeom prst="roundRect">
            <a:avLst>
              <a:gd fmla="val 13342"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1" name="Google Shape;611;p81"/>
          <p:cNvSpPr txBox="1"/>
          <p:nvPr/>
        </p:nvSpPr>
        <p:spPr>
          <a:xfrm>
            <a:off x="465975" y="295515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Linux Machine</a:t>
            </a:r>
            <a:endParaRPr sz="1800">
              <a:solidFill>
                <a:schemeClr val="dk2"/>
              </a:solidFill>
              <a:latin typeface="Roboto"/>
              <a:ea typeface="Roboto"/>
              <a:cs typeface="Roboto"/>
              <a:sym typeface="Roboto"/>
            </a:endParaRPr>
          </a:p>
        </p:txBody>
      </p:sp>
      <p:sp>
        <p:nvSpPr>
          <p:cNvPr id="612" name="Google Shape;612;p81"/>
          <p:cNvSpPr txBox="1"/>
          <p:nvPr/>
        </p:nvSpPr>
        <p:spPr>
          <a:xfrm>
            <a:off x="3429000" y="295515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Roboto"/>
                <a:ea typeface="Roboto"/>
                <a:cs typeface="Roboto"/>
                <a:sym typeface="Roboto"/>
              </a:rPr>
              <a:t>Windows Machine</a:t>
            </a:r>
            <a:endParaRPr sz="1800">
              <a:solidFill>
                <a:schemeClr val="lt1"/>
              </a:solidFill>
              <a:latin typeface="Roboto"/>
              <a:ea typeface="Roboto"/>
              <a:cs typeface="Roboto"/>
              <a:sym typeface="Roboto"/>
            </a:endParaRPr>
          </a:p>
        </p:txBody>
      </p:sp>
      <p:sp>
        <p:nvSpPr>
          <p:cNvPr id="613" name="Google Shape;613;p81"/>
          <p:cNvSpPr/>
          <p:nvPr/>
        </p:nvSpPr>
        <p:spPr>
          <a:xfrm>
            <a:off x="1266688" y="1595188"/>
            <a:ext cx="879300" cy="879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4" name="Google Shape;614;p81"/>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t>Lateral Movement</a:t>
            </a:r>
            <a:endParaRPr/>
          </a:p>
          <a:p>
            <a:pPr indent="0" lvl="0" marL="0" rtl="0" algn="l">
              <a:spcBef>
                <a:spcPts val="0"/>
              </a:spcBef>
              <a:spcAft>
                <a:spcPts val="0"/>
              </a:spcAft>
              <a:buNone/>
            </a:pPr>
            <a:r>
              <a:t/>
            </a:r>
            <a:endParaRPr/>
          </a:p>
        </p:txBody>
      </p:sp>
      <p:pic>
        <p:nvPicPr>
          <p:cNvPr id="615" name="Google Shape;615;p81"/>
          <p:cNvPicPr preferRelativeResize="0"/>
          <p:nvPr/>
        </p:nvPicPr>
        <p:blipFill>
          <a:blip r:embed="rId3">
            <a:alphaModFix/>
          </a:blip>
          <a:stretch>
            <a:fillRect/>
          </a:stretch>
        </p:blipFill>
        <p:spPr>
          <a:xfrm>
            <a:off x="1428110" y="1713178"/>
            <a:ext cx="556529" cy="643327"/>
          </a:xfrm>
          <a:prstGeom prst="rect">
            <a:avLst/>
          </a:prstGeom>
          <a:noFill/>
          <a:ln>
            <a:noFill/>
          </a:ln>
          <a:effectLst>
            <a:outerShdw blurRad="57150" rotWithShape="0" algn="bl" dir="5400000" dist="19050">
              <a:srgbClr val="000000">
                <a:alpha val="50000"/>
              </a:srgbClr>
            </a:outerShdw>
          </a:effectLst>
        </p:spPr>
      </p:pic>
      <p:sp>
        <p:nvSpPr>
          <p:cNvPr id="616" name="Google Shape;616;p81"/>
          <p:cNvSpPr txBox="1"/>
          <p:nvPr/>
        </p:nvSpPr>
        <p:spPr>
          <a:xfrm>
            <a:off x="542175" y="3377625"/>
            <a:ext cx="2452800" cy="1154400"/>
          </a:xfrm>
          <a:prstGeom prst="rect">
            <a:avLst/>
          </a:prstGeom>
          <a:noFill/>
          <a:ln>
            <a:noFill/>
          </a:ln>
        </p:spPr>
        <p:txBody>
          <a:bodyPr anchorCtr="0" anchor="t" bIns="91425" lIns="91425" spcFirstLastPara="1" rIns="91425" wrap="square" tIns="137150">
            <a:sp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We obtained initial access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to a Linux machine and used credentials we’d found on it to compromise a Windows machine.</a:t>
            </a:r>
            <a:endParaRPr sz="1200">
              <a:solidFill>
                <a:schemeClr val="dk2"/>
              </a:solidFill>
              <a:latin typeface="Roboto"/>
              <a:ea typeface="Roboto"/>
              <a:cs typeface="Roboto"/>
              <a:sym typeface="Roboto"/>
            </a:endParaRPr>
          </a:p>
        </p:txBody>
      </p:sp>
      <p:sp>
        <p:nvSpPr>
          <p:cNvPr id="617" name="Google Shape;617;p81"/>
          <p:cNvSpPr txBox="1"/>
          <p:nvPr/>
        </p:nvSpPr>
        <p:spPr>
          <a:xfrm>
            <a:off x="3482000" y="3377625"/>
            <a:ext cx="2428500" cy="969600"/>
          </a:xfrm>
          <a:prstGeom prst="rect">
            <a:avLst/>
          </a:prstGeom>
          <a:noFill/>
          <a:ln>
            <a:noFill/>
          </a:ln>
        </p:spPr>
        <p:txBody>
          <a:bodyPr anchorCtr="0" anchor="t" bIns="91425" lIns="91425" spcFirstLastPara="1" rIns="91425" wrap="square" tIns="137150">
            <a:sp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We obtained more credentials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on the Windows machine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and will now try to use those credentials elsewhere.</a:t>
            </a:r>
            <a:endParaRPr sz="1200">
              <a:solidFill>
                <a:schemeClr val="dk2"/>
              </a:solidFill>
              <a:latin typeface="Roboto"/>
              <a:ea typeface="Roboto"/>
              <a:cs typeface="Roboto"/>
              <a:sym typeface="Roboto"/>
            </a:endParaRPr>
          </a:p>
        </p:txBody>
      </p:sp>
      <p:sp>
        <p:nvSpPr>
          <p:cNvPr id="618" name="Google Shape;618;p81"/>
          <p:cNvSpPr txBox="1"/>
          <p:nvPr/>
        </p:nvSpPr>
        <p:spPr>
          <a:xfrm>
            <a:off x="6420075" y="3377625"/>
            <a:ext cx="2427300" cy="1154400"/>
          </a:xfrm>
          <a:prstGeom prst="rect">
            <a:avLst/>
          </a:prstGeom>
          <a:noFill/>
          <a:ln>
            <a:noFill/>
          </a:ln>
        </p:spPr>
        <p:txBody>
          <a:bodyPr anchorCtr="0" anchor="t" bIns="91425" lIns="91425" spcFirstLastPara="1" rIns="91425" wrap="square" tIns="137150">
            <a:sp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Our goal is to gain access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to credentials that can access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the domain controller (DC), WINDC01, where our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objective lies.</a:t>
            </a:r>
            <a:endParaRPr sz="1200">
              <a:solidFill>
                <a:schemeClr val="dk2"/>
              </a:solidFill>
              <a:latin typeface="Roboto"/>
              <a:ea typeface="Roboto"/>
              <a:cs typeface="Roboto"/>
              <a:sym typeface="Roboto"/>
            </a:endParaRPr>
          </a:p>
        </p:txBody>
      </p:sp>
      <p:sp>
        <p:nvSpPr>
          <p:cNvPr id="619" name="Google Shape;619;p81"/>
          <p:cNvSpPr/>
          <p:nvPr/>
        </p:nvSpPr>
        <p:spPr>
          <a:xfrm>
            <a:off x="3754100" y="1477775"/>
            <a:ext cx="1782600" cy="1114200"/>
          </a:xfrm>
          <a:prstGeom prst="roundRect">
            <a:avLst>
              <a:gd fmla="val 1054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20" name="Google Shape;620;p81"/>
          <p:cNvGrpSpPr/>
          <p:nvPr/>
        </p:nvGrpSpPr>
        <p:grpSpPr>
          <a:xfrm>
            <a:off x="4211399" y="1595223"/>
            <a:ext cx="879240" cy="879240"/>
            <a:chOff x="3588782" y="3815330"/>
            <a:chExt cx="1052100" cy="1052100"/>
          </a:xfrm>
        </p:grpSpPr>
        <p:sp>
          <p:nvSpPr>
            <p:cNvPr id="621" name="Google Shape;621;p81"/>
            <p:cNvSpPr/>
            <p:nvPr/>
          </p:nvSpPr>
          <p:spPr>
            <a:xfrm>
              <a:off x="3588782" y="3815330"/>
              <a:ext cx="1052100" cy="1052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2" name="Google Shape;622;p81"/>
            <p:cNvPicPr preferRelativeResize="0"/>
            <p:nvPr/>
          </p:nvPicPr>
          <p:blipFill>
            <a:blip r:embed="rId4">
              <a:alphaModFix/>
            </a:blip>
            <a:stretch>
              <a:fillRect/>
            </a:stretch>
          </p:blipFill>
          <p:spPr>
            <a:xfrm>
              <a:off x="3810019" y="4036568"/>
              <a:ext cx="609700" cy="609700"/>
            </a:xfrm>
            <a:prstGeom prst="rect">
              <a:avLst/>
            </a:prstGeom>
            <a:noFill/>
            <a:ln>
              <a:noFill/>
            </a:ln>
          </p:spPr>
        </p:pic>
      </p:grpSp>
      <p:pic>
        <p:nvPicPr>
          <p:cNvPr id="623" name="Google Shape;623;p81"/>
          <p:cNvPicPr preferRelativeResize="0"/>
          <p:nvPr/>
        </p:nvPicPr>
        <p:blipFill>
          <a:blip r:embed="rId5">
            <a:alphaModFix/>
          </a:blip>
          <a:stretch>
            <a:fillRect/>
          </a:stretch>
        </p:blipFill>
        <p:spPr>
          <a:xfrm>
            <a:off x="7131597" y="1666841"/>
            <a:ext cx="767055" cy="718854"/>
          </a:xfrm>
          <a:prstGeom prst="rect">
            <a:avLst/>
          </a:prstGeom>
          <a:noFill/>
          <a:ln>
            <a:noFill/>
          </a:ln>
        </p:spPr>
      </p:pic>
      <p:sp>
        <p:nvSpPr>
          <p:cNvPr id="624" name="Google Shape;624;p81"/>
          <p:cNvSpPr/>
          <p:nvPr/>
        </p:nvSpPr>
        <p:spPr>
          <a:xfrm>
            <a:off x="7843775" y="2205200"/>
            <a:ext cx="627300" cy="627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625" name="Google Shape;625;p81"/>
          <p:cNvPicPr preferRelativeResize="0"/>
          <p:nvPr/>
        </p:nvPicPr>
        <p:blipFill>
          <a:blip r:embed="rId6">
            <a:alphaModFix/>
          </a:blip>
          <a:stretch>
            <a:fillRect/>
          </a:stretch>
        </p:blipFill>
        <p:spPr>
          <a:xfrm>
            <a:off x="7943560" y="2355567"/>
            <a:ext cx="427657" cy="326496"/>
          </a:xfrm>
          <a:prstGeom prst="rect">
            <a:avLst/>
          </a:prstGeom>
          <a:noFill/>
          <a:ln>
            <a:noFill/>
          </a:ln>
        </p:spPr>
      </p:pic>
      <p:pic>
        <p:nvPicPr>
          <p:cNvPr id="626" name="Google Shape;626;p81"/>
          <p:cNvPicPr preferRelativeResize="0"/>
          <p:nvPr/>
        </p:nvPicPr>
        <p:blipFill>
          <a:blip r:embed="rId7">
            <a:alphaModFix/>
          </a:blip>
          <a:stretch>
            <a:fillRect/>
          </a:stretch>
        </p:blipFill>
        <p:spPr>
          <a:xfrm>
            <a:off x="708150" y="1467838"/>
            <a:ext cx="1941225" cy="1280312"/>
          </a:xfrm>
          <a:prstGeom prst="rect">
            <a:avLst/>
          </a:prstGeom>
          <a:noFill/>
          <a:ln>
            <a:noFill/>
          </a:ln>
        </p:spPr>
      </p:pic>
      <p:pic>
        <p:nvPicPr>
          <p:cNvPr id="627" name="Google Shape;627;p81"/>
          <p:cNvPicPr preferRelativeResize="0"/>
          <p:nvPr/>
        </p:nvPicPr>
        <p:blipFill>
          <a:blip r:embed="rId7">
            <a:alphaModFix/>
          </a:blip>
          <a:stretch>
            <a:fillRect/>
          </a:stretch>
        </p:blipFill>
        <p:spPr>
          <a:xfrm>
            <a:off x="3674787" y="1467838"/>
            <a:ext cx="1941225" cy="1280312"/>
          </a:xfrm>
          <a:prstGeom prst="rect">
            <a:avLst/>
          </a:prstGeom>
          <a:noFill/>
          <a:ln>
            <a:noFill/>
          </a:ln>
        </p:spPr>
      </p:pic>
      <p:sp>
        <p:nvSpPr>
          <p:cNvPr id="628" name="Google Shape;628;p81"/>
          <p:cNvSpPr txBox="1"/>
          <p:nvPr>
            <p:ph idx="2" type="title"/>
          </p:nvPr>
        </p:nvSpPr>
        <p:spPr>
          <a:xfrm>
            <a:off x="70200" y="439075"/>
            <a:ext cx="81729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For example, our objective in this penetration test is to gain access </a:t>
            </a:r>
            <a:br>
              <a:rPr lang="en" sz="1800"/>
            </a:br>
            <a:r>
              <a:rPr lang="en" sz="1800"/>
              <a:t>to MegaCorpOne’s domain controller and steal its top-secret file. </a:t>
            </a:r>
            <a:endParaRPr sz="1800"/>
          </a:p>
          <a:p>
            <a:pPr indent="0" lvl="0" marL="0" rtl="0" algn="l">
              <a:spcBef>
                <a:spcPts val="0"/>
              </a:spcBef>
              <a:spcAft>
                <a:spcPts val="0"/>
              </a:spcAft>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82"/>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Credential spraying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1" lang="en">
                <a:latin typeface="Roboto"/>
                <a:ea typeface="Roboto"/>
                <a:cs typeface="Roboto"/>
                <a:sym typeface="Roboto"/>
              </a:rPr>
              <a:t>Lateral</a:t>
            </a:r>
            <a:r>
              <a:rPr lang="en"/>
              <a:t> </a:t>
            </a:r>
            <a:r>
              <a:rPr lang="en"/>
              <a:t>Movement</a:t>
            </a:r>
            <a:endParaRPr/>
          </a:p>
        </p:txBody>
      </p:sp>
      <p:pic>
        <p:nvPicPr>
          <p:cNvPr id="639" name="Google Shape;639;p83"/>
          <p:cNvPicPr preferRelativeResize="0"/>
          <p:nvPr/>
        </p:nvPicPr>
        <p:blipFill>
          <a:blip r:embed="rId3">
            <a:alphaModFix/>
          </a:blip>
          <a:stretch>
            <a:fillRect/>
          </a:stretch>
        </p:blipFill>
        <p:spPr>
          <a:xfrm>
            <a:off x="3378233" y="2087675"/>
            <a:ext cx="658192" cy="434125"/>
          </a:xfrm>
          <a:prstGeom prst="rect">
            <a:avLst/>
          </a:prstGeom>
          <a:noFill/>
          <a:ln>
            <a:noFill/>
          </a:ln>
        </p:spPr>
      </p:pic>
      <p:pic>
        <p:nvPicPr>
          <p:cNvPr id="640" name="Google Shape;640;p83"/>
          <p:cNvPicPr preferRelativeResize="0"/>
          <p:nvPr/>
        </p:nvPicPr>
        <p:blipFill>
          <a:blip r:embed="rId4">
            <a:alphaModFix/>
          </a:blip>
          <a:stretch>
            <a:fillRect/>
          </a:stretch>
        </p:blipFill>
        <p:spPr>
          <a:xfrm>
            <a:off x="4321374" y="1967453"/>
            <a:ext cx="588200" cy="554350"/>
          </a:xfrm>
          <a:prstGeom prst="rect">
            <a:avLst/>
          </a:prstGeom>
          <a:noFill/>
          <a:ln>
            <a:noFill/>
          </a:ln>
        </p:spPr>
      </p:pic>
      <p:pic>
        <p:nvPicPr>
          <p:cNvPr id="641" name="Google Shape;641;p83"/>
          <p:cNvPicPr preferRelativeResize="0"/>
          <p:nvPr/>
        </p:nvPicPr>
        <p:blipFill>
          <a:blip r:embed="rId3">
            <a:alphaModFix/>
          </a:blip>
          <a:stretch>
            <a:fillRect/>
          </a:stretch>
        </p:blipFill>
        <p:spPr>
          <a:xfrm>
            <a:off x="4286383" y="1267125"/>
            <a:ext cx="658192" cy="434125"/>
          </a:xfrm>
          <a:prstGeom prst="rect">
            <a:avLst/>
          </a:prstGeom>
          <a:noFill/>
          <a:ln>
            <a:noFill/>
          </a:ln>
        </p:spPr>
      </p:pic>
      <p:pic>
        <p:nvPicPr>
          <p:cNvPr id="642" name="Google Shape;642;p83"/>
          <p:cNvPicPr preferRelativeResize="0"/>
          <p:nvPr/>
        </p:nvPicPr>
        <p:blipFill>
          <a:blip r:embed="rId3">
            <a:alphaModFix/>
          </a:blip>
          <a:stretch>
            <a:fillRect/>
          </a:stretch>
        </p:blipFill>
        <p:spPr>
          <a:xfrm>
            <a:off x="5194533" y="2087675"/>
            <a:ext cx="658192" cy="434125"/>
          </a:xfrm>
          <a:prstGeom prst="rect">
            <a:avLst/>
          </a:prstGeom>
          <a:noFill/>
          <a:ln>
            <a:noFill/>
          </a:ln>
        </p:spPr>
      </p:pic>
      <p:cxnSp>
        <p:nvCxnSpPr>
          <p:cNvPr id="643" name="Google Shape;643;p83"/>
          <p:cNvCxnSpPr/>
          <p:nvPr/>
        </p:nvCxnSpPr>
        <p:spPr>
          <a:xfrm>
            <a:off x="4089050" y="2304738"/>
            <a:ext cx="179700" cy="0"/>
          </a:xfrm>
          <a:prstGeom prst="straightConnector1">
            <a:avLst/>
          </a:prstGeom>
          <a:noFill/>
          <a:ln cap="flat" cmpd="sng" w="9525">
            <a:solidFill>
              <a:schemeClr val="dk2"/>
            </a:solidFill>
            <a:prstDash val="solid"/>
            <a:round/>
            <a:headEnd len="med" w="med" type="none"/>
            <a:tailEnd len="med" w="med" type="none"/>
          </a:ln>
        </p:spPr>
      </p:cxnSp>
      <p:cxnSp>
        <p:nvCxnSpPr>
          <p:cNvPr id="644" name="Google Shape;644;p83"/>
          <p:cNvCxnSpPr/>
          <p:nvPr/>
        </p:nvCxnSpPr>
        <p:spPr>
          <a:xfrm>
            <a:off x="4962200" y="2304738"/>
            <a:ext cx="179700" cy="0"/>
          </a:xfrm>
          <a:prstGeom prst="straightConnector1">
            <a:avLst/>
          </a:prstGeom>
          <a:noFill/>
          <a:ln cap="flat" cmpd="sng" w="9525">
            <a:solidFill>
              <a:schemeClr val="dk2"/>
            </a:solidFill>
            <a:prstDash val="solid"/>
            <a:round/>
            <a:headEnd len="med" w="med" type="none"/>
            <a:tailEnd len="med" w="med" type="none"/>
          </a:ln>
        </p:spPr>
      </p:cxnSp>
      <p:cxnSp>
        <p:nvCxnSpPr>
          <p:cNvPr id="645" name="Google Shape;645;p83"/>
          <p:cNvCxnSpPr/>
          <p:nvPr/>
        </p:nvCxnSpPr>
        <p:spPr>
          <a:xfrm>
            <a:off x="4615475" y="1757088"/>
            <a:ext cx="0" cy="154500"/>
          </a:xfrm>
          <a:prstGeom prst="straightConnector1">
            <a:avLst/>
          </a:prstGeom>
          <a:noFill/>
          <a:ln cap="flat" cmpd="sng" w="9525">
            <a:solidFill>
              <a:schemeClr val="dk2"/>
            </a:solidFill>
            <a:prstDash val="solid"/>
            <a:round/>
            <a:headEnd len="med" w="med" type="none"/>
            <a:tailEnd len="med" w="med" type="none"/>
          </a:ln>
        </p:spPr>
      </p:cxnSp>
      <p:pic>
        <p:nvPicPr>
          <p:cNvPr id="646" name="Google Shape;646;p83"/>
          <p:cNvPicPr preferRelativeResize="0"/>
          <p:nvPr/>
        </p:nvPicPr>
        <p:blipFill>
          <a:blip r:embed="rId5">
            <a:alphaModFix/>
          </a:blip>
          <a:stretch>
            <a:fillRect/>
          </a:stretch>
        </p:blipFill>
        <p:spPr>
          <a:xfrm>
            <a:off x="5396725" y="2162651"/>
            <a:ext cx="253800" cy="263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84"/>
          <p:cNvSpPr txBox="1"/>
          <p:nvPr>
            <p:ph idx="4294967295" type="subTitle"/>
          </p:nvPr>
        </p:nvSpPr>
        <p:spPr>
          <a:xfrm>
            <a:off x="1767150" y="1005900"/>
            <a:ext cx="6255000" cy="3131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sz="3300">
                <a:latin typeface="Roboto"/>
                <a:ea typeface="Roboto"/>
                <a:cs typeface="Roboto"/>
                <a:sym typeface="Roboto"/>
              </a:rPr>
              <a:t>Lateral movement</a:t>
            </a:r>
            <a:r>
              <a:rPr lang="en" sz="3300"/>
              <a:t> means moving through the network from one machine to another.</a:t>
            </a:r>
            <a:endParaRPr sz="33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5"/>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Lateral Movement</a:t>
            </a:r>
            <a:endParaRPr/>
          </a:p>
        </p:txBody>
      </p:sp>
      <p:sp>
        <p:nvSpPr>
          <p:cNvPr id="657" name="Google Shape;657;p85"/>
          <p:cNvSpPr txBox="1"/>
          <p:nvPr>
            <p:ph idx="2" type="title"/>
          </p:nvPr>
        </p:nvSpPr>
        <p:spPr>
          <a:xfrm>
            <a:off x="70200" y="4390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We can use several different techniques to achieve lateral movement. </a:t>
            </a:r>
            <a:endParaRPr sz="1800"/>
          </a:p>
          <a:p>
            <a:pPr indent="0" lvl="0" marL="0" rtl="0" algn="l">
              <a:spcBef>
                <a:spcPts val="0"/>
              </a:spcBef>
              <a:spcAft>
                <a:spcPts val="0"/>
              </a:spcAft>
              <a:buNone/>
            </a:pPr>
            <a:r>
              <a:rPr lang="en" sz="1800"/>
              <a:t>Once again, we perform many of them by using Windows tools maliciously.</a:t>
            </a:r>
            <a:endParaRPr sz="1800"/>
          </a:p>
          <a:p>
            <a:pPr indent="0" lvl="0" marL="0" rtl="0" algn="l">
              <a:spcBef>
                <a:spcPts val="0"/>
              </a:spcBef>
              <a:spcAft>
                <a:spcPts val="0"/>
              </a:spcAft>
              <a:buNone/>
            </a:pPr>
            <a:r>
              <a:t/>
            </a:r>
            <a:endParaRPr sz="1800"/>
          </a:p>
        </p:txBody>
      </p:sp>
      <p:sp>
        <p:nvSpPr>
          <p:cNvPr id="658" name="Google Shape;658;p85"/>
          <p:cNvSpPr/>
          <p:nvPr/>
        </p:nvSpPr>
        <p:spPr>
          <a:xfrm>
            <a:off x="4610125" y="1259750"/>
            <a:ext cx="4530000" cy="38838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9" name="Google Shape;659;p85"/>
          <p:cNvPicPr preferRelativeResize="0"/>
          <p:nvPr/>
        </p:nvPicPr>
        <p:blipFill rotWithShape="1">
          <a:blip r:embed="rId3">
            <a:alphaModFix/>
          </a:blip>
          <a:srcRect b="0" l="1030" r="4442" t="0"/>
          <a:stretch/>
        </p:blipFill>
        <p:spPr>
          <a:xfrm>
            <a:off x="4610125" y="1351800"/>
            <a:ext cx="4530000" cy="3313700"/>
          </a:xfrm>
          <a:prstGeom prst="rect">
            <a:avLst/>
          </a:prstGeom>
          <a:noFill/>
          <a:ln>
            <a:noFill/>
          </a:ln>
        </p:spPr>
      </p:pic>
      <p:sp>
        <p:nvSpPr>
          <p:cNvPr id="660" name="Google Shape;660;p85"/>
          <p:cNvSpPr txBox="1"/>
          <p:nvPr/>
        </p:nvSpPr>
        <p:spPr>
          <a:xfrm>
            <a:off x="76375" y="1290475"/>
            <a:ext cx="4530000" cy="3173100"/>
          </a:xfrm>
          <a:prstGeom prst="rect">
            <a:avLst/>
          </a:prstGeom>
          <a:noFill/>
          <a:ln>
            <a:noFill/>
          </a:ln>
        </p:spPr>
        <p:txBody>
          <a:bodyPr anchorCtr="0" anchor="t" bIns="914400" lIns="365750" spcFirstLastPara="1" rIns="457200" wrap="square" tIns="0">
            <a:noAutofit/>
          </a:bodyPr>
          <a:lstStyle/>
          <a:p>
            <a:pPr indent="0" lvl="0" marL="0" rtl="0" algn="l">
              <a:lnSpc>
                <a:spcPct val="115000"/>
              </a:lnSpc>
              <a:spcBef>
                <a:spcPts val="0"/>
              </a:spcBef>
              <a:spcAft>
                <a:spcPts val="0"/>
              </a:spcAft>
              <a:buNone/>
            </a:pPr>
            <a:r>
              <a:rPr b="1" lang="en" sz="1800">
                <a:solidFill>
                  <a:schemeClr val="dk2"/>
                </a:solidFill>
                <a:latin typeface="Roboto"/>
                <a:ea typeface="Roboto"/>
                <a:cs typeface="Roboto"/>
                <a:sym typeface="Roboto"/>
              </a:rPr>
              <a:t>For example: </a:t>
            </a:r>
            <a:endParaRPr b="1" sz="1800">
              <a:solidFill>
                <a:schemeClr val="dk2"/>
              </a:solidFill>
              <a:latin typeface="Roboto"/>
              <a:ea typeface="Roboto"/>
              <a:cs typeface="Roboto"/>
              <a:sym typeface="Roboto"/>
            </a:endParaRPr>
          </a:p>
          <a:p>
            <a:pPr indent="0" lvl="0" marL="0" rtl="0" algn="l">
              <a:lnSpc>
                <a:spcPct val="115000"/>
              </a:lnSpc>
              <a:spcBef>
                <a:spcPts val="500"/>
              </a:spcBef>
              <a:spcAft>
                <a:spcPts val="0"/>
              </a:spcAft>
              <a:buNone/>
            </a:pPr>
            <a:r>
              <a:rPr lang="en" sz="1800">
                <a:solidFill>
                  <a:schemeClr val="dk2"/>
                </a:solidFill>
                <a:latin typeface="Roboto"/>
                <a:ea typeface="Roboto"/>
                <a:cs typeface="Roboto"/>
                <a:sym typeface="Roboto"/>
              </a:rPr>
              <a:t>PsExec is a tool that manages Windows machines remotely using PowerShell. </a:t>
            </a:r>
            <a:endParaRPr sz="1800">
              <a:solidFill>
                <a:schemeClr val="dk2"/>
              </a:solidFill>
              <a:latin typeface="Roboto"/>
              <a:ea typeface="Roboto"/>
              <a:cs typeface="Roboto"/>
              <a:sym typeface="Roboto"/>
            </a:endParaRPr>
          </a:p>
          <a:p>
            <a:pPr indent="0" lvl="0" marL="0" rtl="0" algn="l">
              <a:lnSpc>
                <a:spcPct val="115000"/>
              </a:lnSpc>
              <a:spcBef>
                <a:spcPts val="500"/>
              </a:spcBef>
              <a:spcAft>
                <a:spcPts val="0"/>
              </a:spcAft>
              <a:buNone/>
            </a:pP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For MegaCorpOne, we’ll leverage the</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credentials that we gathered and cracked from the Windows 10 machine to move to the DC.</a:t>
            </a:r>
            <a:endParaRPr sz="1800">
              <a:solidFill>
                <a:schemeClr val="dk2"/>
              </a:solidFill>
              <a:latin typeface="Roboto"/>
              <a:ea typeface="Roboto"/>
              <a:cs typeface="Roboto"/>
              <a:sym typeface="Roboto"/>
            </a:endParaRPr>
          </a:p>
          <a:p>
            <a:pPr indent="0" lvl="0" marL="0" rtl="0" algn="l">
              <a:lnSpc>
                <a:spcPct val="115000"/>
              </a:lnSpc>
              <a:spcBef>
                <a:spcPts val="500"/>
              </a:spcBef>
              <a:spcAft>
                <a:spcPts val="50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6"/>
          <p:cNvSpPr txBox="1"/>
          <p:nvPr>
            <p:ph type="title"/>
          </p:nvPr>
        </p:nvSpPr>
        <p:spPr>
          <a:xfrm>
            <a:off x="3069324" y="1171050"/>
            <a:ext cx="5998500" cy="2801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3400">
                <a:latin typeface="Roboto"/>
                <a:ea typeface="Roboto"/>
                <a:cs typeface="Roboto"/>
                <a:sym typeface="Roboto"/>
              </a:rPr>
              <a:t>Lateral movement techniques</a:t>
            </a:r>
            <a:r>
              <a:rPr lang="en" sz="3400"/>
              <a:t> often overlap with initial access techniques, as both tactics typically leverage </a:t>
            </a:r>
            <a:br>
              <a:rPr lang="en" sz="3400"/>
            </a:br>
            <a:r>
              <a:rPr lang="en" sz="3400"/>
              <a:t>the execution of code. </a:t>
            </a:r>
            <a:endParaRPr sz="3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7"/>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671" name="Google Shape;671;p87"/>
          <p:cNvSpPr/>
          <p:nvPr/>
        </p:nvSpPr>
        <p:spPr>
          <a:xfrm rot="10800000">
            <a:off x="5097829" y="1681768"/>
            <a:ext cx="261029" cy="144694"/>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87"/>
          <p:cNvSpPr txBox="1"/>
          <p:nvPr/>
        </p:nvSpPr>
        <p:spPr>
          <a:xfrm>
            <a:off x="457150" y="2004350"/>
            <a:ext cx="3336900" cy="2489400"/>
          </a:xfrm>
          <a:prstGeom prst="rect">
            <a:avLst/>
          </a:prstGeom>
          <a:noFill/>
          <a:ln>
            <a:noFill/>
          </a:ln>
        </p:spPr>
        <p:txBody>
          <a:bodyPr anchorCtr="0" anchor="t" bIns="91425" lIns="91425" spcFirstLastPara="1" rIns="91425" wrap="square" tIns="91425">
            <a:noAutofit/>
          </a:bodyPr>
          <a:lstStyle/>
          <a:p>
            <a:pPr indent="-205740" lvl="0" marL="320040" rtl="0" algn="l">
              <a:spcBef>
                <a:spcPts val="1000"/>
              </a:spcBef>
              <a:spcAft>
                <a:spcPts val="0"/>
              </a:spcAft>
              <a:buClr>
                <a:schemeClr val="dk2"/>
              </a:buClr>
              <a:buSzPts val="1800"/>
              <a:buFont typeface="Roboto"/>
              <a:buChar char="●"/>
            </a:pPr>
            <a:r>
              <a:rPr lang="en" sz="1600">
                <a:solidFill>
                  <a:schemeClr val="dk2"/>
                </a:solidFill>
                <a:latin typeface="Roboto"/>
                <a:ea typeface="Roboto"/>
                <a:cs typeface="Roboto"/>
                <a:sym typeface="Roboto"/>
              </a:rPr>
              <a:t>Lateral movement requires already having internal network access, because “lateral” movement means moving inside the network. </a:t>
            </a:r>
            <a:endParaRPr sz="1600">
              <a:solidFill>
                <a:schemeClr val="dk2"/>
              </a:solidFill>
              <a:latin typeface="Roboto"/>
              <a:ea typeface="Roboto"/>
              <a:cs typeface="Roboto"/>
              <a:sym typeface="Roboto"/>
            </a:endParaRPr>
          </a:p>
          <a:p>
            <a:pPr indent="-205740" lvl="0" marL="320040" rtl="0" algn="l">
              <a:spcBef>
                <a:spcPts val="1000"/>
              </a:spcBef>
              <a:spcAft>
                <a:spcPts val="0"/>
              </a:spcAft>
              <a:buClr>
                <a:schemeClr val="dk2"/>
              </a:buClr>
              <a:buSzPts val="1800"/>
              <a:buFont typeface="Roboto"/>
              <a:buChar char="●"/>
            </a:pPr>
            <a:r>
              <a:rPr lang="en" sz="1600">
                <a:solidFill>
                  <a:schemeClr val="dk2"/>
                </a:solidFill>
                <a:latin typeface="Roboto"/>
                <a:ea typeface="Roboto"/>
                <a:cs typeface="Roboto"/>
                <a:sym typeface="Roboto"/>
              </a:rPr>
              <a:t>Initial access refers only to the initial way that we get access to a machine on the internal network.</a:t>
            </a:r>
            <a:endParaRPr sz="1600">
              <a:solidFill>
                <a:schemeClr val="dk2"/>
              </a:solidFill>
              <a:latin typeface="Roboto"/>
              <a:ea typeface="Roboto"/>
              <a:cs typeface="Roboto"/>
              <a:sym typeface="Roboto"/>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pic>
        <p:nvPicPr>
          <p:cNvPr id="673" name="Google Shape;673;p87"/>
          <p:cNvPicPr preferRelativeResize="0"/>
          <p:nvPr/>
        </p:nvPicPr>
        <p:blipFill rotWithShape="1">
          <a:blip r:embed="rId3">
            <a:alphaModFix/>
          </a:blip>
          <a:srcRect b="0" l="0" r="0" t="0"/>
          <a:stretch/>
        </p:blipFill>
        <p:spPr>
          <a:xfrm>
            <a:off x="4158263" y="1183050"/>
            <a:ext cx="827470" cy="3662574"/>
          </a:xfrm>
          <a:prstGeom prst="rect">
            <a:avLst/>
          </a:prstGeom>
          <a:noFill/>
          <a:ln>
            <a:noFill/>
          </a:ln>
        </p:spPr>
      </p:pic>
      <p:sp>
        <p:nvSpPr>
          <p:cNvPr id="674" name="Google Shape;674;p87"/>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Lateral Movement</a:t>
            </a:r>
            <a:endParaRPr b="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rPr lang="en" sz="1800">
                <a:solidFill>
                  <a:schemeClr val="dk2"/>
                </a:solidFill>
                <a:latin typeface="Roboto"/>
                <a:ea typeface="Roboto"/>
                <a:cs typeface="Roboto"/>
                <a:sym typeface="Roboto"/>
              </a:rPr>
              <a:t>Two key differences between lateral movement and initial access exist:</a:t>
            </a:r>
            <a:endParaRPr sz="1800">
              <a:solidFill>
                <a:schemeClr val="dk2"/>
              </a:solidFill>
              <a:latin typeface="Roboto"/>
              <a:ea typeface="Roboto"/>
              <a:cs typeface="Roboto"/>
              <a:sym typeface="Roboto"/>
            </a:endParaRPr>
          </a:p>
        </p:txBody>
      </p:sp>
      <p:grpSp>
        <p:nvGrpSpPr>
          <p:cNvPr id="675" name="Google Shape;675;p87"/>
          <p:cNvGrpSpPr/>
          <p:nvPr/>
        </p:nvGrpSpPr>
        <p:grpSpPr>
          <a:xfrm>
            <a:off x="457147" y="1281128"/>
            <a:ext cx="533372" cy="533480"/>
            <a:chOff x="457200" y="1378813"/>
            <a:chExt cx="695400" cy="695450"/>
          </a:xfrm>
        </p:grpSpPr>
        <p:sp>
          <p:nvSpPr>
            <p:cNvPr id="676" name="Google Shape;676;p87"/>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rgbClr val="FFFFFF"/>
                  </a:solidFill>
                  <a:latin typeface="Roboto"/>
                  <a:ea typeface="Roboto"/>
                  <a:cs typeface="Roboto"/>
                  <a:sym typeface="Roboto"/>
                </a:rPr>
                <a:t>01</a:t>
              </a:r>
              <a:endParaRPr b="1" i="0" sz="2000" u="none" cap="none" strike="noStrike">
                <a:solidFill>
                  <a:srgbClr val="FFFFFF"/>
                </a:solidFill>
                <a:latin typeface="Roboto"/>
                <a:ea typeface="Roboto"/>
                <a:cs typeface="Roboto"/>
                <a:sym typeface="Roboto"/>
              </a:endParaRPr>
            </a:p>
          </p:txBody>
        </p:sp>
        <p:sp>
          <p:nvSpPr>
            <p:cNvPr id="677" name="Google Shape;677;p87"/>
            <p:cNvSpPr/>
            <p:nvPr/>
          </p:nvSpPr>
          <p:spPr>
            <a:xfrm rot="10800000">
              <a:off x="634726" y="1885638"/>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300" u="none" cap="none" strike="noStrike">
                <a:solidFill>
                  <a:srgbClr val="FFFFFF"/>
                </a:solidFill>
                <a:latin typeface="Roboto"/>
                <a:ea typeface="Roboto"/>
                <a:cs typeface="Roboto"/>
                <a:sym typeface="Roboto"/>
              </a:endParaRPr>
            </a:p>
          </p:txBody>
        </p:sp>
      </p:grpSp>
      <p:grpSp>
        <p:nvGrpSpPr>
          <p:cNvPr id="678" name="Google Shape;678;p87"/>
          <p:cNvGrpSpPr/>
          <p:nvPr/>
        </p:nvGrpSpPr>
        <p:grpSpPr>
          <a:xfrm>
            <a:off x="4961656" y="1281128"/>
            <a:ext cx="533372" cy="533480"/>
            <a:chOff x="457200" y="1378813"/>
            <a:chExt cx="695400" cy="695450"/>
          </a:xfrm>
        </p:grpSpPr>
        <p:sp>
          <p:nvSpPr>
            <p:cNvPr id="679" name="Google Shape;679;p87"/>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n" sz="2000" u="none" cap="none" strike="noStrike">
                  <a:solidFill>
                    <a:srgbClr val="082D49"/>
                  </a:solidFill>
                  <a:latin typeface="Roboto"/>
                  <a:ea typeface="Roboto"/>
                  <a:cs typeface="Roboto"/>
                  <a:sym typeface="Roboto"/>
                </a:rPr>
                <a:t>02</a:t>
              </a:r>
              <a:endParaRPr b="1" i="0" sz="2000" u="none" cap="none" strike="noStrike">
                <a:solidFill>
                  <a:srgbClr val="082D49"/>
                </a:solidFill>
                <a:latin typeface="Roboto"/>
                <a:ea typeface="Roboto"/>
                <a:cs typeface="Roboto"/>
                <a:sym typeface="Roboto"/>
              </a:endParaRPr>
            </a:p>
          </p:txBody>
        </p:sp>
        <p:sp>
          <p:nvSpPr>
            <p:cNvPr id="680" name="Google Shape;680;p87"/>
            <p:cNvSpPr/>
            <p:nvPr/>
          </p:nvSpPr>
          <p:spPr>
            <a:xfrm rot="10800000">
              <a:off x="634726" y="1885638"/>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300" u="none" cap="none" strike="noStrike">
                <a:solidFill>
                  <a:srgbClr val="082D49"/>
                </a:solidFill>
                <a:latin typeface="Roboto"/>
                <a:ea typeface="Roboto"/>
                <a:cs typeface="Roboto"/>
                <a:sym typeface="Roboto"/>
              </a:endParaRPr>
            </a:p>
          </p:txBody>
        </p:sp>
      </p:grpSp>
      <p:sp>
        <p:nvSpPr>
          <p:cNvPr id="681" name="Google Shape;681;p87"/>
          <p:cNvSpPr txBox="1"/>
          <p:nvPr/>
        </p:nvSpPr>
        <p:spPr>
          <a:xfrm>
            <a:off x="4961659" y="2004350"/>
            <a:ext cx="3450600" cy="2489400"/>
          </a:xfrm>
          <a:prstGeom prst="rect">
            <a:avLst/>
          </a:prstGeom>
          <a:noFill/>
          <a:ln>
            <a:noFill/>
          </a:ln>
        </p:spPr>
        <p:txBody>
          <a:bodyPr anchorCtr="0" anchor="t" bIns="91425" lIns="91425" spcFirstLastPara="1" rIns="91425" wrap="square" tIns="91425">
            <a:noAutofit/>
          </a:bodyPr>
          <a:lstStyle/>
          <a:p>
            <a:pPr indent="-205740" lvl="0" marL="320040" rtl="0" algn="l">
              <a:spcBef>
                <a:spcPts val="1000"/>
              </a:spcBef>
              <a:spcAft>
                <a:spcPts val="0"/>
              </a:spcAft>
              <a:buClr>
                <a:schemeClr val="dk2"/>
              </a:buClr>
              <a:buSzPts val="1800"/>
              <a:buFont typeface="Roboto"/>
              <a:buChar char="●"/>
            </a:pPr>
            <a:r>
              <a:rPr lang="en" sz="1600">
                <a:solidFill>
                  <a:schemeClr val="dk2"/>
                </a:solidFill>
                <a:latin typeface="Roboto"/>
                <a:ea typeface="Roboto"/>
                <a:cs typeface="Roboto"/>
                <a:sym typeface="Roboto"/>
              </a:rPr>
              <a:t>There’s often a greater number of possibilities for code execution when performing lateral movement. </a:t>
            </a:r>
            <a:endParaRPr sz="1600">
              <a:solidFill>
                <a:schemeClr val="dk2"/>
              </a:solidFill>
              <a:latin typeface="Roboto"/>
              <a:ea typeface="Roboto"/>
              <a:cs typeface="Roboto"/>
              <a:sym typeface="Roboto"/>
            </a:endParaRPr>
          </a:p>
          <a:p>
            <a:pPr indent="-205740" lvl="0" marL="320040" rtl="0" algn="l">
              <a:spcBef>
                <a:spcPts val="1000"/>
              </a:spcBef>
              <a:spcAft>
                <a:spcPts val="0"/>
              </a:spcAft>
              <a:buClr>
                <a:schemeClr val="dk2"/>
              </a:buClr>
              <a:buSzPts val="1800"/>
              <a:buFont typeface="Roboto"/>
              <a:buChar char="●"/>
            </a:pPr>
            <a:r>
              <a:rPr lang="en" sz="1600">
                <a:solidFill>
                  <a:schemeClr val="dk2"/>
                </a:solidFill>
                <a:latin typeface="Roboto"/>
                <a:ea typeface="Roboto"/>
                <a:cs typeface="Roboto"/>
                <a:sym typeface="Roboto"/>
              </a:rPr>
              <a:t>Within an internal network, network firewall rules seldom apply and internally networked machines often have greater access to ports to other machines on the network.</a:t>
            </a:r>
            <a:endParaRPr sz="1600">
              <a:solidFill>
                <a:schemeClr val="dk2"/>
              </a:solidFill>
              <a:latin typeface="Roboto"/>
              <a:ea typeface="Roboto"/>
              <a:cs typeface="Roboto"/>
              <a:sym typeface="Roboto"/>
            </a:endParaRPr>
          </a:p>
          <a:p>
            <a:pPr indent="0" lvl="0" marL="0" rtl="0" algn="l">
              <a:spcBef>
                <a:spcPts val="0"/>
              </a:spcBef>
              <a:spcAft>
                <a:spcPts val="0"/>
              </a:spcAft>
              <a:buNone/>
            </a:pPr>
            <a:r>
              <a:t/>
            </a:r>
            <a:endParaRPr sz="1600">
              <a:solidFill>
                <a:schemeClr val="dk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88"/>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Lateral Movement Techniques</a:t>
            </a:r>
            <a:endParaRPr/>
          </a:p>
        </p:txBody>
      </p:sp>
      <p:graphicFrame>
        <p:nvGraphicFramePr>
          <p:cNvPr id="687" name="Google Shape;687;p88"/>
          <p:cNvGraphicFramePr/>
          <p:nvPr/>
        </p:nvGraphicFramePr>
        <p:xfrm>
          <a:off x="337213" y="883108"/>
          <a:ext cx="3000000" cy="3000000"/>
        </p:xfrm>
        <a:graphic>
          <a:graphicData uri="http://schemas.openxmlformats.org/drawingml/2006/table">
            <a:tbl>
              <a:tblPr>
                <a:noFill/>
                <a:tableStyleId>{BB1EDF43-A0A4-4143-9BBE-1FECD2574FE6}</a:tableStyleId>
              </a:tblPr>
              <a:tblGrid>
                <a:gridCol w="1679675"/>
                <a:gridCol w="6853175"/>
              </a:tblGrid>
              <a:tr h="1000450">
                <a:tc>
                  <a:txBody>
                    <a:bodyPr/>
                    <a:lstStyle/>
                    <a:p>
                      <a:pPr indent="0" lvl="0" marL="0" rtl="0" algn="l">
                        <a:lnSpc>
                          <a:spcPct val="100000"/>
                        </a:lnSpc>
                        <a:spcBef>
                          <a:spcPts val="0"/>
                        </a:spcBef>
                        <a:spcAft>
                          <a:spcPts val="0"/>
                        </a:spcAft>
                        <a:buNone/>
                      </a:pPr>
                      <a:r>
                        <a:rPr lang="en">
                          <a:solidFill>
                            <a:srgbClr val="FFFFFF"/>
                          </a:solidFill>
                          <a:latin typeface="Roboto"/>
                          <a:ea typeface="Roboto"/>
                          <a:cs typeface="Roboto"/>
                          <a:sym typeface="Roboto"/>
                        </a:rPr>
                        <a:t>Remote Services</a:t>
                      </a:r>
                      <a:endParaRPr>
                        <a:solidFill>
                          <a:srgbClr val="FFFFFF"/>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An umbrella technique for any remote services on a machine—for example, SSH, VNC, and RDP. PsExec is a common lateral movement tool. It lets an administrator execute PowerShell commands remotely. A pen tester can remotely execute a malicious PowerShell payload on a remote machine to gain access to it.</a:t>
                      </a:r>
                      <a:endParaRPr sz="1300">
                        <a:solidFill>
                          <a:schemeClr val="dk2"/>
                        </a:solidFill>
                        <a:latin typeface="Roboto"/>
                        <a:ea typeface="Roboto"/>
                        <a:cs typeface="Roboto"/>
                        <a:sym typeface="Roboto"/>
                      </a:endParaRPr>
                    </a:p>
                  </a:txBody>
                  <a:tcPr marT="91425" marB="91425" marR="182875" marL="137150" anchor="ctr">
                    <a:lnL cap="flat" cmpd="sng" w="19050">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844125">
                <a:tc>
                  <a:txBody>
                    <a:bodyPr/>
                    <a:lstStyle/>
                    <a:p>
                      <a:pPr indent="0" lvl="0" marL="0" rtl="0" algn="l">
                        <a:lnSpc>
                          <a:spcPct val="100000"/>
                        </a:lnSpc>
                        <a:spcBef>
                          <a:spcPts val="0"/>
                        </a:spcBef>
                        <a:spcAft>
                          <a:spcPts val="0"/>
                        </a:spcAft>
                        <a:buNone/>
                      </a:pPr>
                      <a:r>
                        <a:rPr b="1" lang="en">
                          <a:solidFill>
                            <a:srgbClr val="FFFFFF"/>
                          </a:solidFill>
                          <a:latin typeface="Roboto"/>
                          <a:ea typeface="Roboto"/>
                          <a:cs typeface="Roboto"/>
                          <a:sym typeface="Roboto"/>
                        </a:rPr>
                        <a:t>Remote Services:</a:t>
                      </a:r>
                      <a:r>
                        <a:rPr lang="en">
                          <a:solidFill>
                            <a:srgbClr val="FFFFFF"/>
                          </a:solidFill>
                          <a:latin typeface="Roboto"/>
                          <a:ea typeface="Roboto"/>
                          <a:cs typeface="Roboto"/>
                          <a:sym typeface="Roboto"/>
                        </a:rPr>
                        <a:t> </a:t>
                      </a:r>
                      <a:br>
                        <a:rPr lang="en">
                          <a:solidFill>
                            <a:srgbClr val="FFFFFF"/>
                          </a:solidFill>
                          <a:latin typeface="Roboto"/>
                          <a:ea typeface="Roboto"/>
                          <a:cs typeface="Roboto"/>
                          <a:sym typeface="Roboto"/>
                        </a:rPr>
                      </a:br>
                      <a:r>
                        <a:rPr lang="en">
                          <a:solidFill>
                            <a:srgbClr val="FFFFFF"/>
                          </a:solidFill>
                          <a:latin typeface="Roboto"/>
                          <a:ea typeface="Roboto"/>
                          <a:cs typeface="Roboto"/>
                          <a:sym typeface="Roboto"/>
                        </a:rPr>
                        <a:t>Remote Desktop</a:t>
                      </a:r>
                      <a:br>
                        <a:rPr lang="en">
                          <a:solidFill>
                            <a:srgbClr val="FFFFFF"/>
                          </a:solidFill>
                          <a:latin typeface="Roboto"/>
                          <a:ea typeface="Roboto"/>
                          <a:cs typeface="Roboto"/>
                          <a:sym typeface="Roboto"/>
                        </a:rPr>
                      </a:br>
                      <a:r>
                        <a:rPr lang="en">
                          <a:solidFill>
                            <a:srgbClr val="FFFFFF"/>
                          </a:solidFill>
                          <a:latin typeface="Roboto"/>
                          <a:ea typeface="Roboto"/>
                          <a:cs typeface="Roboto"/>
                          <a:sym typeface="Roboto"/>
                        </a:rPr>
                        <a:t>Protocol</a:t>
                      </a:r>
                      <a:endParaRPr>
                        <a:solidFill>
                          <a:srgbClr val="FFFFFF"/>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Remote Desktop Protocol (RDP) will let a user log in to a machine remotely and control </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it as if they were physically logged in. Pen testers can leverage this by logging </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in to any machines their compromised user has RDP access to.</a:t>
                      </a:r>
                      <a:endParaRPr sz="1300">
                        <a:solidFill>
                          <a:schemeClr val="dk2"/>
                        </a:solidFill>
                        <a:latin typeface="Roboto"/>
                        <a:ea typeface="Roboto"/>
                        <a:cs typeface="Roboto"/>
                        <a:sym typeface="Roboto"/>
                      </a:endParaRPr>
                    </a:p>
                  </a:txBody>
                  <a:tcPr marT="91425" marB="91425" marR="182875" marL="137150" anchor="ctr">
                    <a:lnL cap="flat" cmpd="sng" w="19050">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r>
              <a:tr h="797200">
                <a:tc>
                  <a:txBody>
                    <a:bodyPr/>
                    <a:lstStyle/>
                    <a:p>
                      <a:pPr indent="0" lvl="0" marL="0" rtl="0" algn="l">
                        <a:lnSpc>
                          <a:spcPct val="100000"/>
                        </a:lnSpc>
                        <a:spcBef>
                          <a:spcPts val="0"/>
                        </a:spcBef>
                        <a:spcAft>
                          <a:spcPts val="0"/>
                        </a:spcAft>
                        <a:buNone/>
                      </a:pPr>
                      <a:r>
                        <a:rPr lang="en">
                          <a:solidFill>
                            <a:srgbClr val="FFFFFF"/>
                          </a:solidFill>
                          <a:latin typeface="Roboto"/>
                          <a:ea typeface="Roboto"/>
                          <a:cs typeface="Roboto"/>
                          <a:sym typeface="Roboto"/>
                        </a:rPr>
                        <a:t>Exploitation of </a:t>
                      </a:r>
                      <a:br>
                        <a:rPr lang="en">
                          <a:solidFill>
                            <a:srgbClr val="FFFFFF"/>
                          </a:solidFill>
                          <a:latin typeface="Roboto"/>
                          <a:ea typeface="Roboto"/>
                          <a:cs typeface="Roboto"/>
                          <a:sym typeface="Roboto"/>
                        </a:rPr>
                      </a:br>
                      <a:r>
                        <a:rPr lang="en">
                          <a:solidFill>
                            <a:srgbClr val="FFFFFF"/>
                          </a:solidFill>
                          <a:latin typeface="Roboto"/>
                          <a:ea typeface="Roboto"/>
                          <a:cs typeface="Roboto"/>
                          <a:sym typeface="Roboto"/>
                        </a:rPr>
                        <a:t>Remote Services</a:t>
                      </a:r>
                      <a:endParaRPr>
                        <a:solidFill>
                          <a:srgbClr val="FFFFFF"/>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Exploitation of old services is also a common lateral movement technique. </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The SMB protocol has had several critical-severity vulnerabilities that allowed </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a pen tester to easily get SYSTEM privileges remotely over a machine.</a:t>
                      </a:r>
                      <a:endParaRPr sz="1300">
                        <a:solidFill>
                          <a:schemeClr val="dk2"/>
                        </a:solidFill>
                        <a:latin typeface="Roboto"/>
                        <a:ea typeface="Roboto"/>
                        <a:cs typeface="Roboto"/>
                        <a:sym typeface="Roboto"/>
                      </a:endParaRPr>
                    </a:p>
                  </a:txBody>
                  <a:tcPr marT="91425" marB="91425" marR="182875" marL="137150" anchor="ctr">
                    <a:lnL cap="flat" cmpd="sng" w="19050">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1000450">
                <a:tc>
                  <a:txBody>
                    <a:bodyPr/>
                    <a:lstStyle/>
                    <a:p>
                      <a:pPr indent="0" lvl="0" marL="0" rtl="0" algn="l">
                        <a:lnSpc>
                          <a:spcPct val="100000"/>
                        </a:lnSpc>
                        <a:spcBef>
                          <a:spcPts val="0"/>
                        </a:spcBef>
                        <a:spcAft>
                          <a:spcPts val="0"/>
                        </a:spcAft>
                        <a:buNone/>
                      </a:pPr>
                      <a:r>
                        <a:rPr b="1" lang="en">
                          <a:solidFill>
                            <a:srgbClr val="FFFFFF"/>
                          </a:solidFill>
                          <a:latin typeface="Roboto"/>
                          <a:ea typeface="Roboto"/>
                          <a:cs typeface="Roboto"/>
                          <a:sym typeface="Roboto"/>
                        </a:rPr>
                        <a:t>Remote Services: </a:t>
                      </a:r>
                      <a:r>
                        <a:rPr lang="en">
                          <a:solidFill>
                            <a:srgbClr val="FFFFFF"/>
                          </a:solidFill>
                          <a:latin typeface="Roboto"/>
                          <a:ea typeface="Roboto"/>
                          <a:cs typeface="Roboto"/>
                          <a:sym typeface="Roboto"/>
                        </a:rPr>
                        <a:t>SMB/Windows </a:t>
                      </a:r>
                      <a:endParaRPr>
                        <a:solidFill>
                          <a:srgbClr val="FFFFFF"/>
                        </a:solidFill>
                        <a:latin typeface="Roboto"/>
                        <a:ea typeface="Roboto"/>
                        <a:cs typeface="Roboto"/>
                        <a:sym typeface="Roboto"/>
                      </a:endParaRPr>
                    </a:p>
                    <a:p>
                      <a:pPr indent="0" lvl="0" marL="0" rtl="0" algn="l">
                        <a:lnSpc>
                          <a:spcPct val="100000"/>
                        </a:lnSpc>
                        <a:spcBef>
                          <a:spcPts val="0"/>
                        </a:spcBef>
                        <a:spcAft>
                          <a:spcPts val="0"/>
                        </a:spcAft>
                        <a:buNone/>
                      </a:pPr>
                      <a:r>
                        <a:rPr lang="en">
                          <a:solidFill>
                            <a:srgbClr val="FFFFFF"/>
                          </a:solidFill>
                          <a:latin typeface="Roboto"/>
                          <a:ea typeface="Roboto"/>
                          <a:cs typeface="Roboto"/>
                          <a:sym typeface="Roboto"/>
                        </a:rPr>
                        <a:t>Admin Shares</a:t>
                      </a:r>
                      <a:endParaRPr>
                        <a:solidFill>
                          <a:srgbClr val="FFFFFF"/>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300">
                          <a:solidFill>
                            <a:schemeClr val="dk2"/>
                          </a:solidFill>
                          <a:latin typeface="Roboto"/>
                          <a:ea typeface="Roboto"/>
                          <a:cs typeface="Roboto"/>
                          <a:sym typeface="Roboto"/>
                        </a:rPr>
                        <a:t>This last example uses SMB to get access to a remote file system. In addition to serving the file system service, SMB is used in conjunction with another protocol, RPC, to transfer files or access services such as Task Scheduler or Service Controller.</a:t>
                      </a:r>
                      <a:endParaRPr sz="1300">
                        <a:solidFill>
                          <a:schemeClr val="dk2"/>
                        </a:solidFill>
                        <a:latin typeface="Roboto"/>
                        <a:ea typeface="Roboto"/>
                        <a:cs typeface="Roboto"/>
                        <a:sym typeface="Roboto"/>
                      </a:endParaRPr>
                    </a:p>
                  </a:txBody>
                  <a:tcPr marT="91425" marB="91425" marR="182875" marL="137150" anchor="ctr">
                    <a:lnL cap="flat" cmpd="sng" w="19050">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89"/>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693" name="Google Shape;693;p8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Lateral movement</a:t>
            </a:r>
            <a:endParaRPr/>
          </a:p>
        </p:txBody>
      </p:sp>
      <p:sp>
        <p:nvSpPr>
          <p:cNvPr id="694" name="Google Shape;694;p8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we will use bbanner’s credentials to move laterally from Windows 10 to WINDC01.</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9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Credential</a:t>
            </a:r>
            <a:r>
              <a:rPr lang="en"/>
              <a:t> Access</a:t>
            </a:r>
            <a:endParaRPr/>
          </a:p>
        </p:txBody>
      </p:sp>
      <p:pic>
        <p:nvPicPr>
          <p:cNvPr id="708" name="Google Shape;708;p92"/>
          <p:cNvPicPr preferRelativeResize="0"/>
          <p:nvPr/>
        </p:nvPicPr>
        <p:blipFill>
          <a:blip r:embed="rId3">
            <a:alphaModFix/>
          </a:blip>
          <a:stretch>
            <a:fillRect/>
          </a:stretch>
        </p:blipFill>
        <p:spPr>
          <a:xfrm>
            <a:off x="3980326" y="1671225"/>
            <a:ext cx="1183350" cy="836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3"/>
          <p:cNvSpPr txBox="1"/>
          <p:nvPr>
            <p:ph type="title"/>
          </p:nvPr>
        </p:nvSpPr>
        <p:spPr>
          <a:xfrm>
            <a:off x="2998725" y="1087050"/>
            <a:ext cx="5721000" cy="299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t>Since we now have access to WINDC01 from a SYSTEM Meterpreter shell, we have unfettered access to the </a:t>
            </a:r>
            <a:r>
              <a:rPr b="1" lang="en" sz="3500">
                <a:latin typeface="Roboto"/>
                <a:ea typeface="Roboto"/>
                <a:cs typeface="Roboto"/>
                <a:sym typeface="Roboto"/>
              </a:rPr>
              <a:t>entire domain</a:t>
            </a:r>
            <a:r>
              <a:rPr lang="en" sz="3500"/>
              <a:t>.</a:t>
            </a:r>
            <a:r>
              <a:rPr lang="en" sz="3500"/>
              <a:t> </a:t>
            </a:r>
            <a:endParaRPr sz="3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4"/>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bbanner Account</a:t>
            </a:r>
            <a:endParaRPr b="1" sz="1800">
              <a:solidFill>
                <a:schemeClr val="dk2"/>
              </a:solidFill>
            </a:endParaRPr>
          </a:p>
        </p:txBody>
      </p:sp>
      <p:sp>
        <p:nvSpPr>
          <p:cNvPr id="719" name="Google Shape;719;p94"/>
          <p:cNvSpPr txBox="1"/>
          <p:nvPr>
            <p:ph idx="2"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Credential Access</a:t>
            </a:r>
            <a:endParaRPr/>
          </a:p>
        </p:txBody>
      </p:sp>
      <p:sp>
        <p:nvSpPr>
          <p:cNvPr id="720" name="Google Shape;720;p94"/>
          <p:cNvSpPr txBox="1"/>
          <p:nvPr>
            <p:ph idx="3" type="title"/>
          </p:nvPr>
        </p:nvSpPr>
        <p:spPr>
          <a:xfrm>
            <a:off x="5599593" y="1219907"/>
            <a:ext cx="3031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WINDC01</a:t>
            </a:r>
            <a:endParaRPr b="1" sz="1800">
              <a:solidFill>
                <a:schemeClr val="dk2"/>
              </a:solidFill>
            </a:endParaRPr>
          </a:p>
        </p:txBody>
      </p:sp>
      <p:sp>
        <p:nvSpPr>
          <p:cNvPr id="721" name="Google Shape;721;p94"/>
          <p:cNvSpPr txBox="1"/>
          <p:nvPr>
            <p:ph idx="4" type="title"/>
          </p:nvPr>
        </p:nvSpPr>
        <p:spPr>
          <a:xfrm>
            <a:off x="542175" y="2004350"/>
            <a:ext cx="3649200" cy="248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Part of the Domain Administrator group in AD</a:t>
            </a:r>
            <a:br>
              <a:rPr lang="en">
                <a:solidFill>
                  <a:schemeClr val="dk2"/>
                </a:solidFill>
                <a:latin typeface="Roboto"/>
                <a:ea typeface="Roboto"/>
                <a:cs typeface="Roboto"/>
                <a:sym typeface="Roboto"/>
              </a:rPr>
            </a:b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This means that we have the ability to log in to any machine by default to create and delete accounts, reset passwords, etc.</a:t>
            </a:r>
            <a:endParaRPr>
              <a:solidFill>
                <a:schemeClr val="dk2"/>
              </a:solidFill>
              <a:latin typeface="Roboto"/>
              <a:ea typeface="Roboto"/>
              <a:cs typeface="Roboto"/>
              <a:sym typeface="Roboto"/>
            </a:endParaRPr>
          </a:p>
        </p:txBody>
      </p:sp>
      <p:sp>
        <p:nvSpPr>
          <p:cNvPr id="722" name="Google Shape;722;p94"/>
          <p:cNvSpPr txBox="1"/>
          <p:nvPr>
            <p:ph idx="5" type="title"/>
          </p:nvPr>
        </p:nvSpPr>
        <p:spPr>
          <a:xfrm>
            <a:off x="4976200" y="2004350"/>
            <a:ext cx="3649200" cy="248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The primary DC for the domain</a:t>
            </a:r>
            <a:br>
              <a:rPr lang="en">
                <a:solidFill>
                  <a:schemeClr val="dk2"/>
                </a:solidFill>
                <a:latin typeface="Roboto"/>
                <a:ea typeface="Roboto"/>
                <a:cs typeface="Roboto"/>
                <a:sym typeface="Roboto"/>
              </a:rPr>
            </a:b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This is the machine that handles network logins, access control </a:t>
            </a:r>
            <a:endParaRPr>
              <a:solidFill>
                <a:schemeClr val="dk2"/>
              </a:solidFill>
              <a:latin typeface="Roboto"/>
              <a:ea typeface="Roboto"/>
              <a:cs typeface="Roboto"/>
              <a:sym typeface="Roboto"/>
            </a:endParaRPr>
          </a:p>
          <a:p>
            <a:pPr indent="0" lvl="0" marL="0" rtl="0" algn="l">
              <a:spcBef>
                <a:spcPts val="0"/>
              </a:spcBef>
              <a:spcAft>
                <a:spcPts val="0"/>
              </a:spcAft>
              <a:buNone/>
            </a:pPr>
            <a:r>
              <a:rPr lang="en">
                <a:solidFill>
                  <a:schemeClr val="dk2"/>
                </a:solidFill>
                <a:latin typeface="Roboto"/>
                <a:ea typeface="Roboto"/>
                <a:cs typeface="Roboto"/>
                <a:sym typeface="Roboto"/>
              </a:rPr>
              <a:t>for network assets, etc.</a:t>
            </a:r>
            <a:endParaRPr>
              <a:solidFill>
                <a:schemeClr val="dk2"/>
              </a:solidFill>
              <a:latin typeface="Roboto"/>
              <a:ea typeface="Roboto"/>
              <a:cs typeface="Roboto"/>
              <a:sym typeface="Roboto"/>
            </a:endParaRPr>
          </a:p>
          <a:p>
            <a:pPr indent="0" lvl="0" marL="0" rtl="0" algn="l">
              <a:spcBef>
                <a:spcPts val="0"/>
              </a:spcBef>
              <a:spcAft>
                <a:spcPts val="0"/>
              </a:spcAft>
              <a:buNone/>
            </a:pPr>
            <a:r>
              <a:t/>
            </a:r>
            <a:endParaRPr>
              <a:solidFill>
                <a:schemeClr val="dk2"/>
              </a:solidFill>
              <a:latin typeface="Roboto"/>
              <a:ea typeface="Roboto"/>
              <a:cs typeface="Roboto"/>
              <a:sym typeface="Roboto"/>
            </a:endParaRPr>
          </a:p>
        </p:txBody>
      </p:sp>
      <p:sp>
        <p:nvSpPr>
          <p:cNvPr id="723" name="Google Shape;723;p94"/>
          <p:cNvSpPr txBox="1"/>
          <p:nvPr>
            <p:ph idx="6" type="title"/>
          </p:nvPr>
        </p:nvSpPr>
        <p:spPr>
          <a:xfrm>
            <a:off x="76250" y="444800"/>
            <a:ext cx="9168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We now control two key pieces of the Active Directory (AD) domain:</a:t>
            </a:r>
            <a:endParaRPr sz="1800">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95"/>
          <p:cNvSpPr/>
          <p:nvPr/>
        </p:nvSpPr>
        <p:spPr>
          <a:xfrm>
            <a:off x="2333625" y="2038300"/>
            <a:ext cx="4887300" cy="1965600"/>
          </a:xfrm>
          <a:prstGeom prst="roundRect">
            <a:avLst>
              <a:gd fmla="val 2607" name="adj"/>
            </a:avLst>
          </a:prstGeom>
          <a:solidFill>
            <a:schemeClr val="lt2"/>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Roboto Medium"/>
                <a:ea typeface="Roboto Medium"/>
                <a:cs typeface="Roboto Medium"/>
                <a:sym typeface="Roboto Medium"/>
              </a:rPr>
              <a:t>Authentication Server</a:t>
            </a:r>
            <a:endParaRPr>
              <a:latin typeface="Roboto Medium"/>
              <a:ea typeface="Roboto Medium"/>
              <a:cs typeface="Roboto Medium"/>
              <a:sym typeface="Roboto Medium"/>
            </a:endParaRPr>
          </a:p>
        </p:txBody>
      </p:sp>
      <p:sp>
        <p:nvSpPr>
          <p:cNvPr id="729" name="Google Shape;729;p95"/>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Credential Access</a:t>
            </a:r>
            <a:endParaRPr/>
          </a:p>
        </p:txBody>
      </p:sp>
      <p:sp>
        <p:nvSpPr>
          <p:cNvPr id="730" name="Google Shape;730;p95"/>
          <p:cNvSpPr/>
          <p:nvPr/>
        </p:nvSpPr>
        <p:spPr>
          <a:xfrm>
            <a:off x="390525" y="2038300"/>
            <a:ext cx="1800300" cy="1530900"/>
          </a:xfrm>
          <a:prstGeom prst="roundRect">
            <a:avLst>
              <a:gd fmla="val 5883" name="adj"/>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2"/>
                </a:solidFill>
                <a:latin typeface="Roboto Medium"/>
                <a:ea typeface="Roboto Medium"/>
                <a:cs typeface="Roboto Medium"/>
                <a:sym typeface="Roboto Medium"/>
              </a:rPr>
              <a:t>Customer</a:t>
            </a:r>
            <a:endParaRPr>
              <a:solidFill>
                <a:schemeClr val="dk2"/>
              </a:solidFill>
            </a:endParaRPr>
          </a:p>
        </p:txBody>
      </p:sp>
      <p:sp>
        <p:nvSpPr>
          <p:cNvPr id="731" name="Google Shape;731;p95"/>
          <p:cNvSpPr/>
          <p:nvPr/>
        </p:nvSpPr>
        <p:spPr>
          <a:xfrm>
            <a:off x="533400" y="2509675"/>
            <a:ext cx="1533600" cy="364800"/>
          </a:xfrm>
          <a:prstGeom prst="roundRect">
            <a:avLst>
              <a:gd fmla="val 588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Username</a:t>
            </a:r>
            <a:endParaRPr>
              <a:latin typeface="Roboto"/>
              <a:ea typeface="Roboto"/>
              <a:cs typeface="Roboto"/>
              <a:sym typeface="Roboto"/>
            </a:endParaRPr>
          </a:p>
        </p:txBody>
      </p:sp>
      <p:sp>
        <p:nvSpPr>
          <p:cNvPr id="732" name="Google Shape;732;p95"/>
          <p:cNvSpPr/>
          <p:nvPr/>
        </p:nvSpPr>
        <p:spPr>
          <a:xfrm>
            <a:off x="533400" y="2995450"/>
            <a:ext cx="1533600" cy="364800"/>
          </a:xfrm>
          <a:prstGeom prst="roundRect">
            <a:avLst>
              <a:gd fmla="val 588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P</a:t>
            </a:r>
            <a:r>
              <a:rPr lang="en">
                <a:latin typeface="Roboto"/>
                <a:ea typeface="Roboto"/>
                <a:cs typeface="Roboto"/>
                <a:sym typeface="Roboto"/>
              </a:rPr>
              <a:t>assword</a:t>
            </a:r>
            <a:endParaRPr>
              <a:latin typeface="Roboto"/>
              <a:ea typeface="Roboto"/>
              <a:cs typeface="Roboto"/>
              <a:sym typeface="Roboto"/>
            </a:endParaRPr>
          </a:p>
        </p:txBody>
      </p:sp>
      <p:pic>
        <p:nvPicPr>
          <p:cNvPr id="733" name="Google Shape;733;p95"/>
          <p:cNvPicPr preferRelativeResize="0"/>
          <p:nvPr/>
        </p:nvPicPr>
        <p:blipFill>
          <a:blip r:embed="rId3">
            <a:alphaModFix/>
          </a:blip>
          <a:stretch>
            <a:fillRect/>
          </a:stretch>
        </p:blipFill>
        <p:spPr>
          <a:xfrm>
            <a:off x="7517364" y="1882302"/>
            <a:ext cx="1250425" cy="1709975"/>
          </a:xfrm>
          <a:prstGeom prst="rect">
            <a:avLst/>
          </a:prstGeom>
          <a:noFill/>
          <a:ln>
            <a:noFill/>
          </a:ln>
        </p:spPr>
      </p:pic>
      <p:sp>
        <p:nvSpPr>
          <p:cNvPr id="734" name="Google Shape;734;p95"/>
          <p:cNvSpPr txBox="1"/>
          <p:nvPr/>
        </p:nvSpPr>
        <p:spPr>
          <a:xfrm>
            <a:off x="7415513" y="3472450"/>
            <a:ext cx="1454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oboto Medium"/>
                <a:ea typeface="Roboto Medium"/>
                <a:cs typeface="Roboto Medium"/>
                <a:sym typeface="Roboto Medium"/>
              </a:rPr>
              <a:t>NTDS.dit Database</a:t>
            </a:r>
            <a:endParaRPr>
              <a:latin typeface="Roboto Medium"/>
              <a:ea typeface="Roboto Medium"/>
              <a:cs typeface="Roboto Medium"/>
              <a:sym typeface="Roboto Medium"/>
            </a:endParaRPr>
          </a:p>
        </p:txBody>
      </p:sp>
      <p:sp>
        <p:nvSpPr>
          <p:cNvPr id="735" name="Google Shape;735;p95"/>
          <p:cNvSpPr txBox="1"/>
          <p:nvPr/>
        </p:nvSpPr>
        <p:spPr>
          <a:xfrm>
            <a:off x="2333700" y="1576600"/>
            <a:ext cx="4887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Storing Hashed Passwords</a:t>
            </a:r>
            <a:endParaRPr b="1" sz="1800">
              <a:solidFill>
                <a:schemeClr val="dk2"/>
              </a:solidFill>
            </a:endParaRPr>
          </a:p>
        </p:txBody>
      </p:sp>
      <p:sp>
        <p:nvSpPr>
          <p:cNvPr id="736" name="Google Shape;736;p95"/>
          <p:cNvSpPr/>
          <p:nvPr/>
        </p:nvSpPr>
        <p:spPr>
          <a:xfrm>
            <a:off x="2486550" y="2171750"/>
            <a:ext cx="1527300" cy="1263900"/>
          </a:xfrm>
          <a:prstGeom prst="homePlate">
            <a:avLst>
              <a:gd fmla="val 36297" name="adj"/>
            </a:avLst>
          </a:prstGeom>
          <a:solidFill>
            <a:schemeClr val="accent3"/>
          </a:solidFill>
          <a:ln>
            <a:noFill/>
          </a:ln>
        </p:spPr>
        <p:txBody>
          <a:bodyPr anchorCtr="0" anchor="ctr" bIns="91425" lIns="182875" spcFirstLastPara="1" rIns="0" wrap="square" tIns="91425">
            <a:noAutofit/>
          </a:bodyPr>
          <a:lstStyle/>
          <a:p>
            <a:pPr indent="0" lvl="0" marL="0" rtl="0" algn="l">
              <a:spcBef>
                <a:spcPts val="0"/>
              </a:spcBef>
              <a:spcAft>
                <a:spcPts val="0"/>
              </a:spcAft>
              <a:buNone/>
            </a:pPr>
            <a:r>
              <a:rPr lang="en">
                <a:solidFill>
                  <a:schemeClr val="lt1"/>
                </a:solidFill>
                <a:latin typeface="Roboto"/>
                <a:ea typeface="Roboto"/>
                <a:cs typeface="Roboto"/>
                <a:sym typeface="Roboto"/>
              </a:rPr>
              <a:t>Validate password requirements</a:t>
            </a:r>
            <a:endParaRPr>
              <a:solidFill>
                <a:schemeClr val="lt1"/>
              </a:solidFill>
              <a:latin typeface="Roboto"/>
              <a:ea typeface="Roboto"/>
              <a:cs typeface="Roboto"/>
              <a:sym typeface="Roboto"/>
            </a:endParaRPr>
          </a:p>
        </p:txBody>
      </p:sp>
      <p:sp>
        <p:nvSpPr>
          <p:cNvPr id="737" name="Google Shape;737;p95"/>
          <p:cNvSpPr/>
          <p:nvPr/>
        </p:nvSpPr>
        <p:spPr>
          <a:xfrm>
            <a:off x="4022328" y="2171750"/>
            <a:ext cx="1527300" cy="1263900"/>
          </a:xfrm>
          <a:prstGeom prst="homePlate">
            <a:avLst>
              <a:gd fmla="val 36297" name="adj"/>
            </a:avLst>
          </a:prstGeom>
          <a:solidFill>
            <a:schemeClr val="accent1"/>
          </a:solidFill>
          <a:ln>
            <a:noFill/>
          </a:ln>
        </p:spPr>
        <p:txBody>
          <a:bodyPr anchorCtr="0" anchor="ctr" bIns="91425" lIns="274300" spcFirstLastPara="1" rIns="0"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Hash password</a:t>
            </a:r>
            <a:endParaRPr>
              <a:solidFill>
                <a:schemeClr val="dk2"/>
              </a:solidFill>
              <a:latin typeface="Roboto"/>
              <a:ea typeface="Roboto"/>
              <a:cs typeface="Roboto"/>
              <a:sym typeface="Roboto"/>
            </a:endParaRPr>
          </a:p>
        </p:txBody>
      </p:sp>
      <p:sp>
        <p:nvSpPr>
          <p:cNvPr id="738" name="Google Shape;738;p95"/>
          <p:cNvSpPr/>
          <p:nvPr/>
        </p:nvSpPr>
        <p:spPr>
          <a:xfrm>
            <a:off x="5540850" y="2171750"/>
            <a:ext cx="1527300" cy="1263900"/>
          </a:xfrm>
          <a:prstGeom prst="homePlate">
            <a:avLst>
              <a:gd fmla="val 36297" name="adj"/>
            </a:avLst>
          </a:prstGeom>
          <a:solidFill>
            <a:srgbClr val="043461"/>
          </a:solidFill>
          <a:ln>
            <a:noFill/>
          </a:ln>
        </p:spPr>
        <p:txBody>
          <a:bodyPr anchorCtr="0" anchor="ctr" bIns="91425" lIns="274300" spcFirstLastPara="1" rIns="0" wrap="square" tIns="91425">
            <a:noAutofit/>
          </a:bodyPr>
          <a:lstStyle/>
          <a:p>
            <a:pPr indent="0" lvl="0" marL="0" rtl="0" algn="l">
              <a:spcBef>
                <a:spcPts val="0"/>
              </a:spcBef>
              <a:spcAft>
                <a:spcPts val="0"/>
              </a:spcAft>
              <a:buNone/>
            </a:pPr>
            <a:r>
              <a:rPr lang="en">
                <a:solidFill>
                  <a:schemeClr val="lt1"/>
                </a:solidFill>
                <a:latin typeface="Roboto"/>
                <a:ea typeface="Roboto"/>
                <a:cs typeface="Roboto"/>
                <a:sym typeface="Roboto"/>
              </a:rPr>
              <a:t>Save </a:t>
            </a:r>
            <a:br>
              <a:rPr lang="en">
                <a:solidFill>
                  <a:schemeClr val="lt1"/>
                </a:solidFill>
                <a:latin typeface="Roboto"/>
                <a:ea typeface="Roboto"/>
                <a:cs typeface="Roboto"/>
                <a:sym typeface="Roboto"/>
              </a:rPr>
            </a:br>
            <a:r>
              <a:rPr lang="en">
                <a:solidFill>
                  <a:schemeClr val="lt1"/>
                </a:solidFill>
                <a:latin typeface="Roboto"/>
                <a:ea typeface="Roboto"/>
                <a:cs typeface="Roboto"/>
                <a:sym typeface="Roboto"/>
              </a:rPr>
              <a:t>new user</a:t>
            </a:r>
            <a:endParaRPr>
              <a:solidFill>
                <a:schemeClr val="lt1"/>
              </a:solidFill>
              <a:latin typeface="Roboto"/>
              <a:ea typeface="Roboto"/>
              <a:cs typeface="Roboto"/>
              <a:sym typeface="Roboto"/>
            </a:endParaRPr>
          </a:p>
        </p:txBody>
      </p:sp>
      <p:sp>
        <p:nvSpPr>
          <p:cNvPr id="739" name="Google Shape;739;p95"/>
          <p:cNvSpPr txBox="1"/>
          <p:nvPr>
            <p:ph idx="2" type="title"/>
          </p:nvPr>
        </p:nvSpPr>
        <p:spPr>
          <a:xfrm>
            <a:off x="70200" y="515275"/>
            <a:ext cx="89043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Having SYSTEM or Administrator access to a DC means that, directly or indirectly, you have access to every single domain user’s password hash, which can be exfiltrated and then cracked offline.</a:t>
            </a:r>
            <a:endParaRPr sz="1800"/>
          </a:p>
          <a:p>
            <a:pPr indent="0" lvl="0" marL="0" rtl="0" algn="l">
              <a:spcBef>
                <a:spcPts val="0"/>
              </a:spcBef>
              <a:spcAft>
                <a:spcPts val="0"/>
              </a:spcAft>
              <a:buNone/>
            </a:pPr>
            <a:r>
              <a:t/>
            </a:r>
            <a:endParaRPr>
              <a:latin typeface="Roboto Light"/>
              <a:ea typeface="Roboto Light"/>
              <a:cs typeface="Roboto Light"/>
              <a:sym typeface="Roboto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grpSp>
        <p:nvGrpSpPr>
          <p:cNvPr id="744" name="Google Shape;744;p96"/>
          <p:cNvGrpSpPr/>
          <p:nvPr/>
        </p:nvGrpSpPr>
        <p:grpSpPr>
          <a:xfrm>
            <a:off x="-3" y="2040688"/>
            <a:ext cx="8686828" cy="724800"/>
            <a:chOff x="-3" y="1033350"/>
            <a:chExt cx="8686828" cy="724800"/>
          </a:xfrm>
        </p:grpSpPr>
        <p:cxnSp>
          <p:nvCxnSpPr>
            <p:cNvPr id="745" name="Google Shape;745;p96"/>
            <p:cNvCxnSpPr/>
            <p:nvPr/>
          </p:nvCxnSpPr>
          <p:spPr>
            <a:xfrm>
              <a:off x="-3" y="1385850"/>
              <a:ext cx="686400" cy="0"/>
            </a:xfrm>
            <a:prstGeom prst="straightConnector1">
              <a:avLst/>
            </a:prstGeom>
            <a:noFill/>
            <a:ln cap="flat" cmpd="sng" w="19050">
              <a:solidFill>
                <a:srgbClr val="2E5E73"/>
              </a:solidFill>
              <a:prstDash val="solid"/>
              <a:round/>
              <a:headEnd len="sm" w="sm" type="none"/>
              <a:tailEnd len="med" w="med" type="oval"/>
            </a:ln>
          </p:spPr>
        </p:cxnSp>
        <p:sp>
          <p:nvSpPr>
            <p:cNvPr id="746" name="Google Shape;746;p96"/>
            <p:cNvSpPr/>
            <p:nvPr/>
          </p:nvSpPr>
          <p:spPr>
            <a:xfrm>
              <a:off x="596125" y="1033350"/>
              <a:ext cx="8090700" cy="724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96"/>
            <p:cNvSpPr/>
            <p:nvPr/>
          </p:nvSpPr>
          <p:spPr>
            <a:xfrm>
              <a:off x="513600" y="122430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48" name="Google Shape;748;p96"/>
            <p:cNvSpPr/>
            <p:nvPr/>
          </p:nvSpPr>
          <p:spPr>
            <a:xfrm>
              <a:off x="593400" y="1304100"/>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cxnSp>
        <p:nvCxnSpPr>
          <p:cNvPr id="749" name="Google Shape;749;p96"/>
          <p:cNvCxnSpPr/>
          <p:nvPr/>
        </p:nvCxnSpPr>
        <p:spPr>
          <a:xfrm>
            <a:off x="6161725" y="4099975"/>
            <a:ext cx="1052400" cy="0"/>
          </a:xfrm>
          <a:prstGeom prst="straightConnector1">
            <a:avLst/>
          </a:prstGeom>
          <a:noFill/>
          <a:ln cap="flat" cmpd="sng" w="9525">
            <a:solidFill>
              <a:schemeClr val="dk2"/>
            </a:solidFill>
            <a:prstDash val="solid"/>
            <a:round/>
            <a:headEnd len="med" w="med" type="none"/>
            <a:tailEnd len="med" w="med" type="triangle"/>
          </a:ln>
        </p:spPr>
      </p:cxnSp>
      <p:cxnSp>
        <p:nvCxnSpPr>
          <p:cNvPr id="750" name="Google Shape;750;p96"/>
          <p:cNvCxnSpPr/>
          <p:nvPr/>
        </p:nvCxnSpPr>
        <p:spPr>
          <a:xfrm>
            <a:off x="6742400" y="4274525"/>
            <a:ext cx="1038000" cy="0"/>
          </a:xfrm>
          <a:prstGeom prst="straightConnector1">
            <a:avLst/>
          </a:prstGeom>
          <a:noFill/>
          <a:ln cap="flat" cmpd="sng" w="9525">
            <a:solidFill>
              <a:schemeClr val="dk2"/>
            </a:solidFill>
            <a:prstDash val="solid"/>
            <a:round/>
            <a:headEnd len="med" w="med" type="triangle"/>
            <a:tailEnd len="med" w="med" type="none"/>
          </a:ln>
        </p:spPr>
      </p:cxnSp>
      <p:sp>
        <p:nvSpPr>
          <p:cNvPr id="751" name="Google Shape;751;p96"/>
          <p:cNvSpPr/>
          <p:nvPr/>
        </p:nvSpPr>
        <p:spPr>
          <a:xfrm>
            <a:off x="5653300" y="3713925"/>
            <a:ext cx="946800" cy="946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2" name="Google Shape;752;p96"/>
          <p:cNvSpPr txBox="1"/>
          <p:nvPr/>
        </p:nvSpPr>
        <p:spPr>
          <a:xfrm>
            <a:off x="5378303" y="4630950"/>
            <a:ext cx="1490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Primary</a:t>
            </a:r>
            <a:r>
              <a:rPr lang="en" sz="1200">
                <a:solidFill>
                  <a:schemeClr val="dk2"/>
                </a:solidFill>
                <a:latin typeface="Roboto"/>
                <a:ea typeface="Roboto"/>
                <a:cs typeface="Roboto"/>
                <a:sym typeface="Roboto"/>
              </a:rPr>
              <a:t>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Database </a:t>
            </a:r>
            <a:endParaRPr sz="1200">
              <a:solidFill>
                <a:schemeClr val="dk2"/>
              </a:solidFill>
              <a:latin typeface="Roboto"/>
              <a:ea typeface="Roboto"/>
              <a:cs typeface="Roboto"/>
              <a:sym typeface="Roboto"/>
            </a:endParaRPr>
          </a:p>
        </p:txBody>
      </p:sp>
      <p:sp>
        <p:nvSpPr>
          <p:cNvPr id="753" name="Google Shape;753;p96"/>
          <p:cNvSpPr txBox="1"/>
          <p:nvPr/>
        </p:nvSpPr>
        <p:spPr>
          <a:xfrm>
            <a:off x="7037100" y="4634950"/>
            <a:ext cx="1649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Secondary</a:t>
            </a:r>
            <a:r>
              <a:rPr lang="en" sz="1200">
                <a:solidFill>
                  <a:schemeClr val="dk2"/>
                </a:solidFill>
                <a:latin typeface="Roboto"/>
                <a:ea typeface="Roboto"/>
                <a:cs typeface="Roboto"/>
                <a:sym typeface="Roboto"/>
              </a:rPr>
              <a:t>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Database </a:t>
            </a:r>
            <a:endParaRPr sz="1200">
              <a:solidFill>
                <a:schemeClr val="dk2"/>
              </a:solidFill>
              <a:latin typeface="Roboto"/>
              <a:ea typeface="Roboto"/>
              <a:cs typeface="Roboto"/>
              <a:sym typeface="Roboto"/>
            </a:endParaRPr>
          </a:p>
        </p:txBody>
      </p:sp>
      <p:sp>
        <p:nvSpPr>
          <p:cNvPr id="754" name="Google Shape;754;p96"/>
          <p:cNvSpPr txBox="1"/>
          <p:nvPr>
            <p:ph idx="2" type="title"/>
          </p:nvPr>
        </p:nvSpPr>
        <p:spPr>
          <a:xfrm>
            <a:off x="76200" y="484875"/>
            <a:ext cx="9192600" cy="3231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1200"/>
              </a:spcAft>
              <a:buNone/>
            </a:pPr>
            <a:r>
              <a:rPr lang="en" sz="1800"/>
              <a:t>One network can contain </a:t>
            </a:r>
            <a:r>
              <a:rPr lang="en" sz="1800"/>
              <a:t>multiple </a:t>
            </a:r>
            <a:r>
              <a:rPr lang="en" sz="1800"/>
              <a:t>DCs.</a:t>
            </a:r>
            <a:endParaRPr sz="1800"/>
          </a:p>
        </p:txBody>
      </p:sp>
      <p:pic>
        <p:nvPicPr>
          <p:cNvPr id="755" name="Google Shape;755;p96"/>
          <p:cNvPicPr preferRelativeResize="0"/>
          <p:nvPr/>
        </p:nvPicPr>
        <p:blipFill>
          <a:blip r:embed="rId3">
            <a:alphaModFix/>
          </a:blip>
          <a:stretch>
            <a:fillRect/>
          </a:stretch>
        </p:blipFill>
        <p:spPr>
          <a:xfrm>
            <a:off x="5848231" y="3920062"/>
            <a:ext cx="556880" cy="524825"/>
          </a:xfrm>
          <a:prstGeom prst="rect">
            <a:avLst/>
          </a:prstGeom>
          <a:noFill/>
          <a:ln>
            <a:noFill/>
          </a:ln>
        </p:spPr>
      </p:pic>
      <p:sp>
        <p:nvSpPr>
          <p:cNvPr id="756" name="Google Shape;756;p96"/>
          <p:cNvSpPr/>
          <p:nvPr/>
        </p:nvSpPr>
        <p:spPr>
          <a:xfrm>
            <a:off x="7388549" y="3713850"/>
            <a:ext cx="946800" cy="946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757" name="Google Shape;757;p96"/>
          <p:cNvPicPr preferRelativeResize="0"/>
          <p:nvPr/>
        </p:nvPicPr>
        <p:blipFill>
          <a:blip r:embed="rId4">
            <a:alphaModFix/>
          </a:blip>
          <a:stretch>
            <a:fillRect/>
          </a:stretch>
        </p:blipFill>
        <p:spPr>
          <a:xfrm>
            <a:off x="7583502" y="3920021"/>
            <a:ext cx="556968" cy="521968"/>
          </a:xfrm>
          <a:prstGeom prst="rect">
            <a:avLst/>
          </a:prstGeom>
          <a:noFill/>
          <a:ln>
            <a:noFill/>
          </a:ln>
        </p:spPr>
      </p:pic>
      <p:sp>
        <p:nvSpPr>
          <p:cNvPr id="758" name="Google Shape;758;p96"/>
          <p:cNvSpPr txBox="1"/>
          <p:nvPr/>
        </p:nvSpPr>
        <p:spPr>
          <a:xfrm>
            <a:off x="347250" y="51200"/>
            <a:ext cx="81594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400">
                <a:solidFill>
                  <a:schemeClr val="dk2"/>
                </a:solidFill>
                <a:latin typeface="Roboto"/>
                <a:ea typeface="Roboto"/>
                <a:cs typeface="Roboto"/>
                <a:sym typeface="Roboto"/>
              </a:rPr>
              <a:t>Credential Access</a:t>
            </a:r>
            <a:endParaRPr b="1" sz="2400">
              <a:solidFill>
                <a:schemeClr val="dk2"/>
              </a:solidFill>
              <a:latin typeface="Roboto"/>
              <a:ea typeface="Roboto"/>
              <a:cs typeface="Roboto"/>
              <a:sym typeface="Roboto"/>
            </a:endParaRPr>
          </a:p>
        </p:txBody>
      </p:sp>
      <p:sp>
        <p:nvSpPr>
          <p:cNvPr id="759" name="Google Shape;759;p96"/>
          <p:cNvSpPr txBox="1"/>
          <p:nvPr/>
        </p:nvSpPr>
        <p:spPr>
          <a:xfrm>
            <a:off x="914400" y="2132900"/>
            <a:ext cx="7772400" cy="5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“Secondary” DCs often have other services running, such as file shares </a:t>
            </a:r>
            <a:br>
              <a:rPr lang="en" sz="1800">
                <a:solidFill>
                  <a:srgbClr val="082D49"/>
                </a:solidFill>
                <a:latin typeface="Roboto"/>
                <a:ea typeface="Roboto"/>
                <a:cs typeface="Roboto"/>
                <a:sym typeface="Roboto"/>
              </a:rPr>
            </a:br>
            <a:r>
              <a:rPr lang="en" sz="1800">
                <a:solidFill>
                  <a:srgbClr val="082D49"/>
                </a:solidFill>
                <a:latin typeface="Roboto"/>
                <a:ea typeface="Roboto"/>
                <a:cs typeface="Roboto"/>
                <a:sym typeface="Roboto"/>
              </a:rPr>
              <a:t>and VoIP services.</a:t>
            </a:r>
            <a:endParaRPr sz="1800">
              <a:solidFill>
                <a:srgbClr val="082D49"/>
              </a:solidFill>
              <a:latin typeface="Roboto"/>
              <a:ea typeface="Roboto"/>
              <a:cs typeface="Roboto"/>
              <a:sym typeface="Roboto"/>
            </a:endParaRPr>
          </a:p>
        </p:txBody>
      </p:sp>
      <p:grpSp>
        <p:nvGrpSpPr>
          <p:cNvPr id="760" name="Google Shape;760;p96"/>
          <p:cNvGrpSpPr/>
          <p:nvPr/>
        </p:nvGrpSpPr>
        <p:grpSpPr>
          <a:xfrm>
            <a:off x="-3" y="1171500"/>
            <a:ext cx="8686828" cy="724800"/>
            <a:chOff x="-3" y="1033350"/>
            <a:chExt cx="8686828" cy="724800"/>
          </a:xfrm>
        </p:grpSpPr>
        <p:cxnSp>
          <p:nvCxnSpPr>
            <p:cNvPr id="761" name="Google Shape;761;p96"/>
            <p:cNvCxnSpPr/>
            <p:nvPr/>
          </p:nvCxnSpPr>
          <p:spPr>
            <a:xfrm>
              <a:off x="-3" y="1385850"/>
              <a:ext cx="686400" cy="0"/>
            </a:xfrm>
            <a:prstGeom prst="straightConnector1">
              <a:avLst/>
            </a:prstGeom>
            <a:noFill/>
            <a:ln cap="flat" cmpd="sng" w="19050">
              <a:solidFill>
                <a:srgbClr val="2E5E73"/>
              </a:solidFill>
              <a:prstDash val="solid"/>
              <a:round/>
              <a:headEnd len="sm" w="sm" type="none"/>
              <a:tailEnd len="med" w="med" type="oval"/>
            </a:ln>
          </p:spPr>
        </p:cxnSp>
        <p:sp>
          <p:nvSpPr>
            <p:cNvPr id="762" name="Google Shape;762;p96"/>
            <p:cNvSpPr/>
            <p:nvPr/>
          </p:nvSpPr>
          <p:spPr>
            <a:xfrm>
              <a:off x="596125" y="1033350"/>
              <a:ext cx="8090700" cy="724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96"/>
            <p:cNvSpPr/>
            <p:nvPr/>
          </p:nvSpPr>
          <p:spPr>
            <a:xfrm>
              <a:off x="513600" y="122430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64" name="Google Shape;764;p96"/>
            <p:cNvSpPr/>
            <p:nvPr/>
          </p:nvSpPr>
          <p:spPr>
            <a:xfrm>
              <a:off x="593400" y="1304100"/>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765" name="Google Shape;765;p96"/>
          <p:cNvSpPr txBox="1"/>
          <p:nvPr/>
        </p:nvSpPr>
        <p:spPr>
          <a:xfrm>
            <a:off x="914400" y="1188750"/>
            <a:ext cx="7772400" cy="64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Often, there’s a “primary” that handles the Kerberos authentication and other services, such as DNS.</a:t>
            </a:r>
            <a:endParaRPr sz="1800">
              <a:solidFill>
                <a:srgbClr val="082D49"/>
              </a:solidFill>
              <a:latin typeface="Roboto"/>
              <a:ea typeface="Roboto"/>
              <a:cs typeface="Roboto"/>
              <a:sym typeface="Roboto"/>
            </a:endParaRPr>
          </a:p>
        </p:txBody>
      </p:sp>
      <p:sp>
        <p:nvSpPr>
          <p:cNvPr id="766" name="Google Shape;766;p96"/>
          <p:cNvSpPr txBox="1"/>
          <p:nvPr/>
        </p:nvSpPr>
        <p:spPr>
          <a:xfrm>
            <a:off x="914400" y="3056814"/>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Established persistence on one machine</a:t>
            </a:r>
            <a:endParaRPr sz="1800">
              <a:solidFill>
                <a:srgbClr val="082D49"/>
              </a:solidFill>
              <a:latin typeface="Roboto"/>
              <a:ea typeface="Roboto"/>
              <a:cs typeface="Roboto"/>
              <a:sym typeface="Roboto"/>
            </a:endParaRPr>
          </a:p>
        </p:txBody>
      </p:sp>
      <p:grpSp>
        <p:nvGrpSpPr>
          <p:cNvPr id="767" name="Google Shape;767;p96"/>
          <p:cNvGrpSpPr/>
          <p:nvPr/>
        </p:nvGrpSpPr>
        <p:grpSpPr>
          <a:xfrm>
            <a:off x="-3" y="2907685"/>
            <a:ext cx="8686828" cy="724800"/>
            <a:chOff x="-3" y="1033350"/>
            <a:chExt cx="8686828" cy="724800"/>
          </a:xfrm>
        </p:grpSpPr>
        <p:cxnSp>
          <p:nvCxnSpPr>
            <p:cNvPr id="768" name="Google Shape;768;p96"/>
            <p:cNvCxnSpPr/>
            <p:nvPr/>
          </p:nvCxnSpPr>
          <p:spPr>
            <a:xfrm>
              <a:off x="-3" y="1385850"/>
              <a:ext cx="686400" cy="0"/>
            </a:xfrm>
            <a:prstGeom prst="straightConnector1">
              <a:avLst/>
            </a:prstGeom>
            <a:noFill/>
            <a:ln cap="flat" cmpd="sng" w="19050">
              <a:solidFill>
                <a:srgbClr val="2E5E73"/>
              </a:solidFill>
              <a:prstDash val="solid"/>
              <a:round/>
              <a:headEnd len="sm" w="sm" type="none"/>
              <a:tailEnd len="med" w="med" type="oval"/>
            </a:ln>
          </p:spPr>
        </p:cxnSp>
        <p:sp>
          <p:nvSpPr>
            <p:cNvPr id="769" name="Google Shape;769;p96"/>
            <p:cNvSpPr/>
            <p:nvPr/>
          </p:nvSpPr>
          <p:spPr>
            <a:xfrm>
              <a:off x="596125" y="1033350"/>
              <a:ext cx="8090700" cy="724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96"/>
            <p:cNvSpPr/>
            <p:nvPr/>
          </p:nvSpPr>
          <p:spPr>
            <a:xfrm>
              <a:off x="513600" y="122430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71" name="Google Shape;771;p96"/>
            <p:cNvSpPr/>
            <p:nvPr/>
          </p:nvSpPr>
          <p:spPr>
            <a:xfrm>
              <a:off x="593400" y="1304100"/>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772" name="Google Shape;772;p96"/>
          <p:cNvSpPr txBox="1"/>
          <p:nvPr/>
        </p:nvSpPr>
        <p:spPr>
          <a:xfrm>
            <a:off x="914400" y="3027823"/>
            <a:ext cx="7772400" cy="5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However, if secondary DCs are configured with domain services, they can act as backups to the primary DC.</a:t>
            </a:r>
            <a:endParaRPr sz="1800">
              <a:solidFill>
                <a:srgbClr val="082D49"/>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97"/>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t>Credential</a:t>
            </a:r>
            <a:r>
              <a:rPr lang="en"/>
              <a:t> Access</a:t>
            </a:r>
            <a:endParaRPr/>
          </a:p>
          <a:p>
            <a:pPr indent="0" lvl="0" marL="0" rtl="0" algn="l">
              <a:spcBef>
                <a:spcPts val="0"/>
              </a:spcBef>
              <a:spcAft>
                <a:spcPts val="0"/>
              </a:spcAft>
              <a:buNone/>
            </a:pPr>
            <a:r>
              <a:t/>
            </a:r>
            <a:endParaRPr/>
          </a:p>
        </p:txBody>
      </p:sp>
      <p:pic>
        <p:nvPicPr>
          <p:cNvPr id="778" name="Google Shape;778;p97"/>
          <p:cNvPicPr preferRelativeResize="0"/>
          <p:nvPr/>
        </p:nvPicPr>
        <p:blipFill rotWithShape="1">
          <a:blip r:embed="rId3">
            <a:alphaModFix/>
          </a:blip>
          <a:srcRect b="0" l="0" r="0" t="0"/>
          <a:stretch/>
        </p:blipFill>
        <p:spPr>
          <a:xfrm>
            <a:off x="1253075" y="889450"/>
            <a:ext cx="6637848" cy="3733746"/>
          </a:xfrm>
          <a:prstGeom prst="rect">
            <a:avLst/>
          </a:prstGeom>
          <a:noFill/>
          <a:ln>
            <a:noFill/>
          </a:ln>
        </p:spPr>
      </p:pic>
      <p:sp>
        <p:nvSpPr>
          <p:cNvPr id="779" name="Google Shape;779;p97"/>
          <p:cNvSpPr txBox="1"/>
          <p:nvPr/>
        </p:nvSpPr>
        <p:spPr>
          <a:xfrm>
            <a:off x="1416425" y="1840425"/>
            <a:ext cx="3050400" cy="2427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1800">
                <a:solidFill>
                  <a:schemeClr val="dk2"/>
                </a:solidFill>
                <a:latin typeface="Roboto"/>
                <a:ea typeface="Roboto"/>
                <a:cs typeface="Roboto"/>
                <a:sym typeface="Roboto"/>
              </a:rPr>
              <a:t>In the event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the </a:t>
            </a:r>
            <a:r>
              <a:rPr b="1" lang="en" sz="1800">
                <a:solidFill>
                  <a:schemeClr val="dk2"/>
                </a:solidFill>
                <a:latin typeface="Roboto"/>
                <a:ea typeface="Roboto"/>
                <a:cs typeface="Roboto"/>
                <a:sym typeface="Roboto"/>
              </a:rPr>
              <a:t>primary</a:t>
            </a:r>
            <a:r>
              <a:rPr lang="en" sz="1800">
                <a:solidFill>
                  <a:schemeClr val="dk2"/>
                </a:solidFill>
                <a:latin typeface="Roboto"/>
                <a:ea typeface="Roboto"/>
                <a:cs typeface="Roboto"/>
                <a:sym typeface="Roboto"/>
              </a:rPr>
              <a:t> DC goes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down, the secondary DC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handles authentication.</a:t>
            </a:r>
            <a:endParaRPr i="0" sz="1800" u="none" cap="none" strike="noStrike">
              <a:solidFill>
                <a:schemeClr val="dk2"/>
              </a:solidFill>
              <a:latin typeface="Roboto"/>
              <a:ea typeface="Roboto"/>
              <a:cs typeface="Roboto"/>
              <a:sym typeface="Roboto"/>
            </a:endParaRPr>
          </a:p>
        </p:txBody>
      </p:sp>
      <p:sp>
        <p:nvSpPr>
          <p:cNvPr id="780" name="Google Shape;780;p97"/>
          <p:cNvSpPr txBox="1"/>
          <p:nvPr/>
        </p:nvSpPr>
        <p:spPr>
          <a:xfrm>
            <a:off x="4691025" y="1840425"/>
            <a:ext cx="3022200" cy="2427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lang="en" sz="1800">
                <a:solidFill>
                  <a:schemeClr val="dk2"/>
                </a:solidFill>
                <a:latin typeface="Roboto"/>
                <a:ea typeface="Roboto"/>
                <a:cs typeface="Roboto"/>
                <a:sym typeface="Roboto"/>
              </a:rPr>
              <a:t>For this to happen,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the </a:t>
            </a:r>
            <a:r>
              <a:rPr b="1" lang="en" sz="1800">
                <a:solidFill>
                  <a:schemeClr val="dk2"/>
                </a:solidFill>
                <a:latin typeface="Roboto"/>
                <a:ea typeface="Roboto"/>
                <a:cs typeface="Roboto"/>
                <a:sym typeface="Roboto"/>
              </a:rPr>
              <a:t>secondary</a:t>
            </a:r>
            <a:r>
              <a:rPr lang="en" sz="1800">
                <a:solidFill>
                  <a:schemeClr val="dk2"/>
                </a:solidFill>
                <a:latin typeface="Roboto"/>
                <a:ea typeface="Roboto"/>
                <a:cs typeface="Roboto"/>
                <a:sym typeface="Roboto"/>
              </a:rPr>
              <a:t> DC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must replicate the data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from the primary DC.</a:t>
            </a:r>
            <a:endParaRPr i="0" sz="1800" u="none" cap="none" strike="noStrike">
              <a:solidFill>
                <a:schemeClr val="dk2"/>
              </a:solidFill>
              <a:latin typeface="Roboto"/>
              <a:ea typeface="Roboto"/>
              <a:cs typeface="Roboto"/>
              <a:sym typeface="Roboto"/>
            </a:endParaRPr>
          </a:p>
        </p:txBody>
      </p:sp>
      <p:sp>
        <p:nvSpPr>
          <p:cNvPr id="781" name="Google Shape;781;p97"/>
          <p:cNvSpPr/>
          <p:nvPr/>
        </p:nvSpPr>
        <p:spPr>
          <a:xfrm>
            <a:off x="2483128" y="1511118"/>
            <a:ext cx="918000" cy="91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782" name="Google Shape;782;p97"/>
          <p:cNvPicPr preferRelativeResize="0"/>
          <p:nvPr/>
        </p:nvPicPr>
        <p:blipFill>
          <a:blip r:embed="rId4">
            <a:alphaModFix/>
          </a:blip>
          <a:stretch>
            <a:fillRect/>
          </a:stretch>
        </p:blipFill>
        <p:spPr>
          <a:xfrm>
            <a:off x="2672148" y="1711003"/>
            <a:ext cx="539992" cy="508906"/>
          </a:xfrm>
          <a:prstGeom prst="rect">
            <a:avLst/>
          </a:prstGeom>
          <a:noFill/>
          <a:ln>
            <a:noFill/>
          </a:ln>
        </p:spPr>
      </p:pic>
      <p:sp>
        <p:nvSpPr>
          <p:cNvPr id="783" name="Google Shape;783;p97"/>
          <p:cNvSpPr/>
          <p:nvPr/>
        </p:nvSpPr>
        <p:spPr>
          <a:xfrm>
            <a:off x="5755802" y="1511045"/>
            <a:ext cx="918000" cy="9180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784" name="Google Shape;784;p97"/>
          <p:cNvPicPr preferRelativeResize="0"/>
          <p:nvPr/>
        </p:nvPicPr>
        <p:blipFill>
          <a:blip r:embed="rId5">
            <a:alphaModFix/>
          </a:blip>
          <a:stretch>
            <a:fillRect/>
          </a:stretch>
        </p:blipFill>
        <p:spPr>
          <a:xfrm>
            <a:off x="5944843" y="1710963"/>
            <a:ext cx="540078" cy="50613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98"/>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Credential Access</a:t>
            </a:r>
            <a:endParaRPr/>
          </a:p>
        </p:txBody>
      </p:sp>
      <p:sp>
        <p:nvSpPr>
          <p:cNvPr id="790" name="Google Shape;790;p98"/>
          <p:cNvSpPr txBox="1"/>
          <p:nvPr>
            <p:ph idx="1" type="body"/>
          </p:nvPr>
        </p:nvSpPr>
        <p:spPr>
          <a:xfrm>
            <a:off x="70200" y="1421500"/>
            <a:ext cx="8783100" cy="34458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0"/>
              </a:spcAft>
              <a:buSzPts val="275"/>
              <a:buNone/>
            </a:pPr>
            <a:r>
              <a:rPr lang="en" sz="1800"/>
              <a:t>User password hashes are stored on disk on the primary DC inside the file:</a:t>
            </a:r>
            <a:endParaRPr sz="1800"/>
          </a:p>
          <a:p>
            <a:pPr indent="0" lvl="0" marL="0" rtl="0" algn="l">
              <a:lnSpc>
                <a:spcPct val="95000"/>
              </a:lnSpc>
              <a:spcBef>
                <a:spcPts val="0"/>
              </a:spcBef>
              <a:spcAft>
                <a:spcPts val="0"/>
              </a:spcAft>
              <a:buSzPts val="275"/>
              <a:buNone/>
            </a:pPr>
            <a:r>
              <a:t/>
            </a:r>
            <a:endParaRPr sz="1800"/>
          </a:p>
          <a:p>
            <a:pPr indent="0" lvl="0" marL="0" rtl="0" algn="l">
              <a:lnSpc>
                <a:spcPct val="95000"/>
              </a:lnSpc>
              <a:spcBef>
                <a:spcPts val="0"/>
              </a:spcBef>
              <a:spcAft>
                <a:spcPts val="0"/>
              </a:spcAft>
              <a:buSzPts val="275"/>
              <a:buNone/>
            </a:pPr>
            <a:r>
              <a:t/>
            </a:r>
            <a:endParaRPr sz="1800"/>
          </a:p>
          <a:p>
            <a:pPr indent="0" lvl="0" marL="0" rtl="0" algn="l">
              <a:lnSpc>
                <a:spcPct val="95000"/>
              </a:lnSpc>
              <a:spcBef>
                <a:spcPts val="0"/>
              </a:spcBef>
              <a:spcAft>
                <a:spcPts val="0"/>
              </a:spcAft>
              <a:buSzPts val="275"/>
              <a:buNone/>
            </a:pPr>
            <a:r>
              <a:t/>
            </a:r>
            <a:endParaRPr sz="1800"/>
          </a:p>
          <a:p>
            <a:pPr indent="0" lvl="0" marL="914400" rtl="0" algn="l">
              <a:spcBef>
                <a:spcPts val="0"/>
              </a:spcBef>
              <a:spcAft>
                <a:spcPts val="0"/>
              </a:spcAft>
              <a:buNone/>
            </a:pPr>
            <a:br>
              <a:rPr lang="en" sz="1800"/>
            </a:br>
            <a:r>
              <a:rPr lang="en" sz="1800"/>
              <a:t>Historically, this file was heavily targeted by pen testers. </a:t>
            </a:r>
            <a:br>
              <a:rPr lang="en" sz="1800"/>
            </a:br>
            <a:r>
              <a:rPr lang="en" sz="1800"/>
              <a:t>However, due to changes in how the hashes are actually </a:t>
            </a:r>
            <a:br>
              <a:rPr lang="en" sz="1800"/>
            </a:br>
            <a:r>
              <a:rPr lang="en" sz="1800"/>
              <a:t>stored and how the NTDS.dit file is read, this technique </a:t>
            </a:r>
            <a:br>
              <a:rPr lang="en" sz="1800"/>
            </a:br>
            <a:r>
              <a:rPr lang="en" sz="1800"/>
              <a:t>is not applicable to Windows 10+ and Server 2016+.</a:t>
            </a:r>
            <a:endParaRPr sz="1800"/>
          </a:p>
          <a:p>
            <a:pPr indent="0" lvl="0" marL="0" rtl="0" algn="l">
              <a:lnSpc>
                <a:spcPct val="95000"/>
              </a:lnSpc>
              <a:spcBef>
                <a:spcPts val="0"/>
              </a:spcBef>
              <a:spcAft>
                <a:spcPts val="0"/>
              </a:spcAft>
              <a:buSzPts val="275"/>
              <a:buNone/>
            </a:pPr>
            <a:r>
              <a:t/>
            </a:r>
            <a:endParaRPr sz="1800"/>
          </a:p>
        </p:txBody>
      </p:sp>
      <p:sp>
        <p:nvSpPr>
          <p:cNvPr id="791" name="Google Shape;791;p98"/>
          <p:cNvSpPr/>
          <p:nvPr/>
        </p:nvSpPr>
        <p:spPr>
          <a:xfrm>
            <a:off x="728375" y="1999600"/>
            <a:ext cx="8415600" cy="736200"/>
          </a:xfrm>
          <a:prstGeom prst="roundRect">
            <a:avLst>
              <a:gd fmla="val 0" name="adj"/>
            </a:avLst>
          </a:prstGeom>
          <a:solidFill>
            <a:schemeClr val="dk2"/>
          </a:solidFill>
          <a:ln>
            <a:noFill/>
          </a:ln>
        </p:spPr>
        <p:txBody>
          <a:bodyPr anchorCtr="0" anchor="ctr" bIns="91425" lIns="457200" spcFirstLastPara="1" rIns="0" wrap="square" tIns="91425">
            <a:noAutofit/>
          </a:bodyPr>
          <a:lstStyle/>
          <a:p>
            <a:pPr indent="0" lvl="0" marL="0" rtl="0" algn="l">
              <a:lnSpc>
                <a:spcPct val="115000"/>
              </a:lnSpc>
              <a:spcBef>
                <a:spcPts val="0"/>
              </a:spcBef>
              <a:spcAft>
                <a:spcPts val="0"/>
              </a:spcAft>
              <a:buNone/>
            </a:pPr>
            <a:r>
              <a:t/>
            </a:r>
            <a:endParaRPr sz="3400">
              <a:solidFill>
                <a:srgbClr val="0000FF"/>
              </a:solidFill>
              <a:latin typeface="Inconsolata"/>
              <a:ea typeface="Inconsolata"/>
              <a:cs typeface="Inconsolata"/>
              <a:sym typeface="Inconsolata"/>
            </a:endParaRPr>
          </a:p>
        </p:txBody>
      </p:sp>
      <p:sp>
        <p:nvSpPr>
          <p:cNvPr id="792" name="Google Shape;792;p98"/>
          <p:cNvSpPr txBox="1"/>
          <p:nvPr>
            <p:ph idx="2" type="title"/>
          </p:nvPr>
        </p:nvSpPr>
        <p:spPr>
          <a:xfrm>
            <a:off x="70200" y="4390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The ability to replicate data from a DC is a reserved privilege for DC computer accounts or domain administrators.</a:t>
            </a:r>
            <a:endParaRPr sz="1800"/>
          </a:p>
          <a:p>
            <a:pPr indent="0" lvl="0" marL="0" rtl="0" algn="l">
              <a:spcBef>
                <a:spcPts val="0"/>
              </a:spcBef>
              <a:spcAft>
                <a:spcPts val="0"/>
              </a:spcAft>
              <a:buNone/>
            </a:pPr>
            <a:r>
              <a:t/>
            </a:r>
            <a:endParaRPr>
              <a:latin typeface="Roboto Light"/>
              <a:ea typeface="Roboto Light"/>
              <a:cs typeface="Roboto Light"/>
              <a:sym typeface="Roboto Light"/>
            </a:endParaRPr>
          </a:p>
        </p:txBody>
      </p:sp>
      <p:sp>
        <p:nvSpPr>
          <p:cNvPr id="793" name="Google Shape;793;p98"/>
          <p:cNvSpPr/>
          <p:nvPr/>
        </p:nvSpPr>
        <p:spPr>
          <a:xfrm>
            <a:off x="361550" y="1999476"/>
            <a:ext cx="736200" cy="736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794" name="Google Shape;794;p98"/>
          <p:cNvPicPr preferRelativeResize="0"/>
          <p:nvPr/>
        </p:nvPicPr>
        <p:blipFill>
          <a:blip r:embed="rId3">
            <a:alphaModFix/>
          </a:blip>
          <a:stretch>
            <a:fillRect/>
          </a:stretch>
        </p:blipFill>
        <p:spPr>
          <a:xfrm>
            <a:off x="513140" y="2159778"/>
            <a:ext cx="433064" cy="408129"/>
          </a:xfrm>
          <a:prstGeom prst="rect">
            <a:avLst/>
          </a:prstGeom>
          <a:noFill/>
          <a:ln>
            <a:noFill/>
          </a:ln>
        </p:spPr>
      </p:pic>
      <p:sp>
        <p:nvSpPr>
          <p:cNvPr id="795" name="Google Shape;795;p98"/>
          <p:cNvSpPr txBox="1"/>
          <p:nvPr/>
        </p:nvSpPr>
        <p:spPr>
          <a:xfrm>
            <a:off x="1170400" y="2086800"/>
            <a:ext cx="62628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chemeClr val="lt1"/>
                </a:solidFill>
                <a:latin typeface="Inconsolata"/>
                <a:ea typeface="Inconsolata"/>
                <a:cs typeface="Inconsolata"/>
                <a:sym typeface="Inconsolata"/>
              </a:rPr>
              <a:t>C:\Windows\System32\NTDS.dit</a:t>
            </a:r>
            <a:endParaRPr sz="2400">
              <a:solidFill>
                <a:schemeClr val="lt1"/>
              </a:solidFill>
              <a:latin typeface="Inconsolata"/>
              <a:ea typeface="Inconsolata"/>
              <a:cs typeface="Inconsolata"/>
              <a:sym typeface="Inconsolat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cxnSp>
        <p:nvCxnSpPr>
          <p:cNvPr id="800" name="Google Shape;800;p99"/>
          <p:cNvCxnSpPr/>
          <p:nvPr/>
        </p:nvCxnSpPr>
        <p:spPr>
          <a:xfrm>
            <a:off x="2282500" y="2978775"/>
            <a:ext cx="1520100" cy="0"/>
          </a:xfrm>
          <a:prstGeom prst="straightConnector1">
            <a:avLst/>
          </a:prstGeom>
          <a:noFill/>
          <a:ln cap="flat" cmpd="sng" w="19050">
            <a:solidFill>
              <a:schemeClr val="dk2"/>
            </a:solidFill>
            <a:prstDash val="solid"/>
            <a:round/>
            <a:headEnd len="med" w="med" type="none"/>
            <a:tailEnd len="med" w="med" type="triangle"/>
          </a:ln>
        </p:spPr>
      </p:cxnSp>
      <p:sp>
        <p:nvSpPr>
          <p:cNvPr id="801" name="Google Shape;801;p99"/>
          <p:cNvSpPr/>
          <p:nvPr/>
        </p:nvSpPr>
        <p:spPr>
          <a:xfrm>
            <a:off x="1145838" y="2196537"/>
            <a:ext cx="1595100" cy="1595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02" name="Google Shape;802;p99"/>
          <p:cNvSpPr/>
          <p:nvPr/>
        </p:nvSpPr>
        <p:spPr>
          <a:xfrm flipH="1">
            <a:off x="551725" y="3910025"/>
            <a:ext cx="2764200" cy="658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99"/>
          <p:cNvSpPr/>
          <p:nvPr/>
        </p:nvSpPr>
        <p:spPr>
          <a:xfrm flipH="1">
            <a:off x="3495525" y="3910025"/>
            <a:ext cx="2685000" cy="658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99"/>
          <p:cNvSpPr/>
          <p:nvPr/>
        </p:nvSpPr>
        <p:spPr>
          <a:xfrm flipH="1">
            <a:off x="6360125" y="3910025"/>
            <a:ext cx="2685000" cy="658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05" name="Google Shape;805;p99"/>
          <p:cNvPicPr preferRelativeResize="0"/>
          <p:nvPr/>
        </p:nvPicPr>
        <p:blipFill>
          <a:blip r:embed="rId3">
            <a:alphaModFix/>
          </a:blip>
          <a:stretch>
            <a:fillRect/>
          </a:stretch>
        </p:blipFill>
        <p:spPr>
          <a:xfrm>
            <a:off x="10240925" y="1085938"/>
            <a:ext cx="8343900" cy="3224550"/>
          </a:xfrm>
          <a:prstGeom prst="rect">
            <a:avLst/>
          </a:prstGeom>
          <a:noFill/>
          <a:ln>
            <a:noFill/>
          </a:ln>
        </p:spPr>
      </p:pic>
      <p:sp>
        <p:nvSpPr>
          <p:cNvPr id="806" name="Google Shape;806;p99"/>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DCSync</a:t>
            </a:r>
            <a:endParaRPr/>
          </a:p>
        </p:txBody>
      </p:sp>
      <p:sp>
        <p:nvSpPr>
          <p:cNvPr id="807" name="Google Shape;807;p99"/>
          <p:cNvSpPr txBox="1"/>
          <p:nvPr>
            <p:ph idx="1" type="body"/>
          </p:nvPr>
        </p:nvSpPr>
        <p:spPr>
          <a:xfrm>
            <a:off x="327700" y="1733200"/>
            <a:ext cx="8570700" cy="2142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800"/>
              <a:t>This technique was discovered by the creator of Mimikatz, Benjamin Delpy.</a:t>
            </a:r>
            <a:endParaRPr sz="1800"/>
          </a:p>
        </p:txBody>
      </p:sp>
      <p:pic>
        <p:nvPicPr>
          <p:cNvPr id="808" name="Google Shape;808;p99"/>
          <p:cNvPicPr preferRelativeResize="0"/>
          <p:nvPr/>
        </p:nvPicPr>
        <p:blipFill>
          <a:blip r:embed="rId4">
            <a:alphaModFix/>
          </a:blip>
          <a:stretch>
            <a:fillRect/>
          </a:stretch>
        </p:blipFill>
        <p:spPr>
          <a:xfrm>
            <a:off x="1062425" y="2436487"/>
            <a:ext cx="1761925" cy="1335201"/>
          </a:xfrm>
          <a:prstGeom prst="rect">
            <a:avLst/>
          </a:prstGeom>
          <a:noFill/>
          <a:ln>
            <a:noFill/>
          </a:ln>
        </p:spPr>
      </p:pic>
      <p:sp>
        <p:nvSpPr>
          <p:cNvPr id="809" name="Google Shape;809;p99"/>
          <p:cNvSpPr txBox="1"/>
          <p:nvPr/>
        </p:nvSpPr>
        <p:spPr>
          <a:xfrm>
            <a:off x="3592500" y="3956250"/>
            <a:ext cx="2439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latin typeface="Roboto"/>
                <a:ea typeface="Roboto"/>
                <a:cs typeface="Roboto"/>
                <a:sym typeface="Roboto"/>
              </a:rPr>
              <a:t>Attacker replicates </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credentials data from the DC.</a:t>
            </a:r>
            <a:endParaRPr sz="1300">
              <a:solidFill>
                <a:schemeClr val="dk2"/>
              </a:solidFill>
              <a:latin typeface="Roboto"/>
              <a:ea typeface="Roboto"/>
              <a:cs typeface="Roboto"/>
              <a:sym typeface="Roboto"/>
            </a:endParaRPr>
          </a:p>
        </p:txBody>
      </p:sp>
      <p:cxnSp>
        <p:nvCxnSpPr>
          <p:cNvPr id="810" name="Google Shape;810;p99"/>
          <p:cNvCxnSpPr/>
          <p:nvPr/>
        </p:nvCxnSpPr>
        <p:spPr>
          <a:xfrm>
            <a:off x="4654400" y="2978775"/>
            <a:ext cx="2151000" cy="0"/>
          </a:xfrm>
          <a:prstGeom prst="straightConnector1">
            <a:avLst/>
          </a:prstGeom>
          <a:noFill/>
          <a:ln cap="flat" cmpd="sng" w="19050">
            <a:solidFill>
              <a:schemeClr val="dk2"/>
            </a:solidFill>
            <a:prstDash val="solid"/>
            <a:round/>
            <a:headEnd len="med" w="med" type="none"/>
            <a:tailEnd len="med" w="med" type="triangle"/>
          </a:ln>
        </p:spPr>
      </p:cxnSp>
      <p:sp>
        <p:nvSpPr>
          <p:cNvPr id="811" name="Google Shape;811;p99"/>
          <p:cNvSpPr txBox="1"/>
          <p:nvPr/>
        </p:nvSpPr>
        <p:spPr>
          <a:xfrm>
            <a:off x="6360200" y="3956250"/>
            <a:ext cx="268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latin typeface="Roboto"/>
                <a:ea typeface="Roboto"/>
                <a:cs typeface="Roboto"/>
                <a:sym typeface="Roboto"/>
              </a:rPr>
              <a:t>Attacker parses through the data to extract user password hashes.</a:t>
            </a:r>
            <a:endParaRPr sz="1300">
              <a:solidFill>
                <a:schemeClr val="dk2"/>
              </a:solidFill>
              <a:latin typeface="Roboto"/>
              <a:ea typeface="Roboto"/>
              <a:cs typeface="Roboto"/>
              <a:sym typeface="Roboto"/>
            </a:endParaRPr>
          </a:p>
        </p:txBody>
      </p:sp>
      <p:grpSp>
        <p:nvGrpSpPr>
          <p:cNvPr id="812" name="Google Shape;812;p99"/>
          <p:cNvGrpSpPr/>
          <p:nvPr/>
        </p:nvGrpSpPr>
        <p:grpSpPr>
          <a:xfrm>
            <a:off x="3084017" y="2775387"/>
            <a:ext cx="422736" cy="406868"/>
            <a:chOff x="1640125" y="676200"/>
            <a:chExt cx="4278700" cy="4118100"/>
          </a:xfrm>
        </p:grpSpPr>
        <p:sp>
          <p:nvSpPr>
            <p:cNvPr id="813" name="Google Shape;813;p99"/>
            <p:cNvSpPr/>
            <p:nvPr/>
          </p:nvSpPr>
          <p:spPr>
            <a:xfrm>
              <a:off x="1640125" y="676200"/>
              <a:ext cx="4278700" cy="4118100"/>
            </a:xfrm>
            <a:custGeom>
              <a:rect b="b" l="l" r="r" t="t"/>
              <a:pathLst>
                <a:path extrusionOk="0" h="164724" w="171148">
                  <a:moveTo>
                    <a:pt x="82977" y="0"/>
                  </a:moveTo>
                  <a:cubicBezTo>
                    <a:pt x="40659" y="0"/>
                    <a:pt x="0" y="32798"/>
                    <a:pt x="0" y="82368"/>
                  </a:cubicBezTo>
                  <a:cubicBezTo>
                    <a:pt x="0" y="127875"/>
                    <a:pt x="36849" y="164723"/>
                    <a:pt x="82355" y="164723"/>
                  </a:cubicBezTo>
                  <a:cubicBezTo>
                    <a:pt x="115653" y="164723"/>
                    <a:pt x="145620" y="144523"/>
                    <a:pt x="158273" y="113890"/>
                  </a:cubicBezTo>
                  <a:cubicBezTo>
                    <a:pt x="171148" y="83256"/>
                    <a:pt x="164044" y="47739"/>
                    <a:pt x="140514" y="24209"/>
                  </a:cubicBezTo>
                  <a:cubicBezTo>
                    <a:pt x="123792" y="7487"/>
                    <a:pt x="103195" y="0"/>
                    <a:pt x="82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14" name="Google Shape;814;p99"/>
            <p:cNvSpPr/>
            <p:nvPr/>
          </p:nvSpPr>
          <p:spPr>
            <a:xfrm>
              <a:off x="1834350" y="863700"/>
              <a:ext cx="3879150" cy="3741925"/>
            </a:xfrm>
            <a:custGeom>
              <a:rect b="b" l="l" r="r" t="t"/>
              <a:pathLst>
                <a:path extrusionOk="0" h="149677" w="155166">
                  <a:moveTo>
                    <a:pt x="75148" y="1"/>
                  </a:moveTo>
                  <a:cubicBezTo>
                    <a:pt x="36782" y="1"/>
                    <a:pt x="1" y="29814"/>
                    <a:pt x="1" y="74868"/>
                  </a:cubicBezTo>
                  <a:cubicBezTo>
                    <a:pt x="1" y="116157"/>
                    <a:pt x="33298" y="149454"/>
                    <a:pt x="74586" y="149676"/>
                  </a:cubicBezTo>
                  <a:cubicBezTo>
                    <a:pt x="104776" y="149676"/>
                    <a:pt x="132079" y="131474"/>
                    <a:pt x="143622" y="103504"/>
                  </a:cubicBezTo>
                  <a:cubicBezTo>
                    <a:pt x="155165" y="75534"/>
                    <a:pt x="148728" y="43347"/>
                    <a:pt x="127418" y="22037"/>
                  </a:cubicBezTo>
                  <a:cubicBezTo>
                    <a:pt x="112196" y="6815"/>
                    <a:pt x="93491" y="1"/>
                    <a:pt x="751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15" name="Google Shape;815;p99"/>
            <p:cNvSpPr/>
            <p:nvPr/>
          </p:nvSpPr>
          <p:spPr>
            <a:xfrm>
              <a:off x="3810000" y="1348025"/>
              <a:ext cx="1126575" cy="1230625"/>
            </a:xfrm>
            <a:custGeom>
              <a:rect b="b" l="l" r="r" t="t"/>
              <a:pathLst>
                <a:path extrusionOk="0" h="49225" w="45063">
                  <a:moveTo>
                    <a:pt x="22642" y="0"/>
                  </a:moveTo>
                  <a:cubicBezTo>
                    <a:pt x="10211" y="0"/>
                    <a:pt x="0" y="10211"/>
                    <a:pt x="0" y="22642"/>
                  </a:cubicBezTo>
                  <a:lnTo>
                    <a:pt x="0" y="44396"/>
                  </a:lnTo>
                  <a:cubicBezTo>
                    <a:pt x="0" y="47615"/>
                    <a:pt x="2442" y="49224"/>
                    <a:pt x="4884" y="49224"/>
                  </a:cubicBezTo>
                  <a:cubicBezTo>
                    <a:pt x="7325" y="49224"/>
                    <a:pt x="9767" y="47615"/>
                    <a:pt x="9767" y="44396"/>
                  </a:cubicBezTo>
                  <a:lnTo>
                    <a:pt x="9767" y="22642"/>
                  </a:lnTo>
                  <a:cubicBezTo>
                    <a:pt x="9767" y="14096"/>
                    <a:pt x="16205" y="9823"/>
                    <a:pt x="22642" y="9823"/>
                  </a:cubicBezTo>
                  <a:cubicBezTo>
                    <a:pt x="29080" y="9823"/>
                    <a:pt x="35517" y="14096"/>
                    <a:pt x="35517" y="22642"/>
                  </a:cubicBezTo>
                  <a:lnTo>
                    <a:pt x="35517" y="33519"/>
                  </a:lnTo>
                  <a:cubicBezTo>
                    <a:pt x="35739" y="36516"/>
                    <a:pt x="38014" y="38014"/>
                    <a:pt x="40290" y="38014"/>
                  </a:cubicBezTo>
                  <a:cubicBezTo>
                    <a:pt x="42565" y="38014"/>
                    <a:pt x="44840" y="36516"/>
                    <a:pt x="45062" y="33519"/>
                  </a:cubicBezTo>
                  <a:lnTo>
                    <a:pt x="45062" y="22642"/>
                  </a:lnTo>
                  <a:cubicBezTo>
                    <a:pt x="45062" y="10211"/>
                    <a:pt x="35073" y="0"/>
                    <a:pt x="226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16" name="Google Shape;816;p99"/>
            <p:cNvSpPr/>
            <p:nvPr/>
          </p:nvSpPr>
          <p:spPr>
            <a:xfrm>
              <a:off x="2566900" y="2291425"/>
              <a:ext cx="1842450" cy="1454000"/>
            </a:xfrm>
            <a:custGeom>
              <a:rect b="b" l="l" r="r" t="t"/>
              <a:pathLst>
                <a:path extrusionOk="0" h="58160" w="73698">
                  <a:moveTo>
                    <a:pt x="9323" y="1"/>
                  </a:moveTo>
                  <a:cubicBezTo>
                    <a:pt x="4218" y="1"/>
                    <a:pt x="0" y="3997"/>
                    <a:pt x="0" y="9324"/>
                  </a:cubicBezTo>
                  <a:lnTo>
                    <a:pt x="0" y="48837"/>
                  </a:lnTo>
                  <a:cubicBezTo>
                    <a:pt x="0" y="53942"/>
                    <a:pt x="4218" y="58160"/>
                    <a:pt x="9323" y="58160"/>
                  </a:cubicBezTo>
                  <a:lnTo>
                    <a:pt x="64375" y="58160"/>
                  </a:lnTo>
                  <a:cubicBezTo>
                    <a:pt x="69702" y="58160"/>
                    <a:pt x="73698" y="53942"/>
                    <a:pt x="73698" y="48837"/>
                  </a:cubicBezTo>
                  <a:lnTo>
                    <a:pt x="73698" y="9324"/>
                  </a:lnTo>
                  <a:cubicBezTo>
                    <a:pt x="73698" y="3997"/>
                    <a:pt x="69702" y="1"/>
                    <a:pt x="643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17" name="Google Shape;817;p99"/>
            <p:cNvSpPr/>
            <p:nvPr/>
          </p:nvSpPr>
          <p:spPr>
            <a:xfrm>
              <a:off x="3221750" y="2702100"/>
              <a:ext cx="532775" cy="634050"/>
            </a:xfrm>
            <a:custGeom>
              <a:rect b="b" l="l" r="r" t="t"/>
              <a:pathLst>
                <a:path extrusionOk="0" h="25362" w="21311">
                  <a:moveTo>
                    <a:pt x="10655" y="1"/>
                  </a:moveTo>
                  <a:cubicBezTo>
                    <a:pt x="2664" y="1"/>
                    <a:pt x="0" y="10656"/>
                    <a:pt x="6881" y="14429"/>
                  </a:cubicBezTo>
                  <a:lnTo>
                    <a:pt x="6881" y="21533"/>
                  </a:lnTo>
                  <a:cubicBezTo>
                    <a:pt x="6881" y="24085"/>
                    <a:pt x="8768" y="25362"/>
                    <a:pt x="10655" y="25362"/>
                  </a:cubicBezTo>
                  <a:cubicBezTo>
                    <a:pt x="12542" y="25362"/>
                    <a:pt x="14429" y="24085"/>
                    <a:pt x="14429" y="21533"/>
                  </a:cubicBezTo>
                  <a:lnTo>
                    <a:pt x="14429" y="14429"/>
                  </a:lnTo>
                  <a:cubicBezTo>
                    <a:pt x="21310" y="10656"/>
                    <a:pt x="18646" y="1"/>
                    <a:pt x="106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818" name="Google Shape;818;p99"/>
          <p:cNvSpPr/>
          <p:nvPr/>
        </p:nvSpPr>
        <p:spPr>
          <a:xfrm>
            <a:off x="6100119" y="2794845"/>
            <a:ext cx="351000" cy="351000"/>
          </a:xfrm>
          <a:prstGeom prst="roundRect">
            <a:avLst>
              <a:gd fmla="val 13255" name="adj"/>
            </a:avLst>
          </a:prstGeom>
          <a:solidFill>
            <a:schemeClr val="dk2"/>
          </a:solidFill>
          <a:ln cap="flat" cmpd="sng" w="28575">
            <a:solidFill>
              <a:srgbClr val="F2F5F9"/>
            </a:solidFill>
            <a:prstDash val="solid"/>
            <a:round/>
            <a:headEnd len="sm" w="sm" type="none"/>
            <a:tailEnd len="sm" w="sm" type="none"/>
          </a:ln>
        </p:spPr>
        <p:txBody>
          <a:bodyPr anchorCtr="0" anchor="ctr" bIns="27425" lIns="0" spcFirstLastPara="1" rIns="0" wrap="square" tIns="0">
            <a:noAutofit/>
          </a:bodyPr>
          <a:lstStyle/>
          <a:p>
            <a:pPr indent="0" lvl="0" marL="0" rtl="0" algn="ctr">
              <a:spcBef>
                <a:spcPts val="0"/>
              </a:spcBef>
              <a:spcAft>
                <a:spcPts val="0"/>
              </a:spcAft>
              <a:buNone/>
            </a:pPr>
            <a:r>
              <a:rPr b="1" lang="en" sz="2600">
                <a:solidFill>
                  <a:schemeClr val="lt1"/>
                </a:solidFill>
                <a:latin typeface="Roboto"/>
                <a:ea typeface="Roboto"/>
                <a:cs typeface="Roboto"/>
                <a:sym typeface="Roboto"/>
              </a:rPr>
              <a:t>+</a:t>
            </a:r>
            <a:endParaRPr b="1" sz="2600">
              <a:solidFill>
                <a:schemeClr val="lt1"/>
              </a:solidFill>
              <a:latin typeface="Roboto"/>
              <a:ea typeface="Roboto"/>
              <a:cs typeface="Roboto"/>
              <a:sym typeface="Roboto"/>
            </a:endParaRPr>
          </a:p>
        </p:txBody>
      </p:sp>
      <p:sp>
        <p:nvSpPr>
          <p:cNvPr id="819" name="Google Shape;819;p99"/>
          <p:cNvSpPr txBox="1"/>
          <p:nvPr>
            <p:ph idx="2" type="title"/>
          </p:nvPr>
        </p:nvSpPr>
        <p:spPr>
          <a:xfrm>
            <a:off x="70200" y="439075"/>
            <a:ext cx="87621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The newer, preferred technique for accessing password hashes on DCs is called DCSync. It involves replicating the data from a domain controller and parsing through it to extract the password hashes for users.</a:t>
            </a:r>
            <a:endParaRPr sz="1800"/>
          </a:p>
          <a:p>
            <a:pPr indent="0" lvl="0" marL="0" rtl="0" algn="l">
              <a:spcBef>
                <a:spcPts val="0"/>
              </a:spcBef>
              <a:spcAft>
                <a:spcPts val="0"/>
              </a:spcAft>
              <a:buNone/>
            </a:pPr>
            <a:r>
              <a:t/>
            </a:r>
            <a:endParaRPr sz="1800"/>
          </a:p>
        </p:txBody>
      </p:sp>
      <p:sp>
        <p:nvSpPr>
          <p:cNvPr id="820" name="Google Shape;820;p99"/>
          <p:cNvSpPr/>
          <p:nvPr/>
        </p:nvSpPr>
        <p:spPr>
          <a:xfrm>
            <a:off x="6905156" y="2196577"/>
            <a:ext cx="1595100" cy="1595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21" name="Google Shape;821;p99"/>
          <p:cNvSpPr/>
          <p:nvPr/>
        </p:nvSpPr>
        <p:spPr>
          <a:xfrm>
            <a:off x="3890175" y="2196462"/>
            <a:ext cx="1595100" cy="1595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822" name="Google Shape;822;p99"/>
          <p:cNvPicPr preferRelativeResize="0"/>
          <p:nvPr/>
        </p:nvPicPr>
        <p:blipFill>
          <a:blip r:embed="rId5">
            <a:alphaModFix/>
          </a:blip>
          <a:stretch>
            <a:fillRect/>
          </a:stretch>
        </p:blipFill>
        <p:spPr>
          <a:xfrm>
            <a:off x="4218625" y="2543790"/>
            <a:ext cx="938317" cy="884295"/>
          </a:xfrm>
          <a:prstGeom prst="rect">
            <a:avLst/>
          </a:prstGeom>
          <a:noFill/>
          <a:ln>
            <a:noFill/>
          </a:ln>
        </p:spPr>
      </p:pic>
      <p:pic>
        <p:nvPicPr>
          <p:cNvPr id="823" name="Google Shape;823;p99"/>
          <p:cNvPicPr preferRelativeResize="0"/>
          <p:nvPr/>
        </p:nvPicPr>
        <p:blipFill>
          <a:blip r:embed="rId6">
            <a:alphaModFix/>
          </a:blip>
          <a:stretch>
            <a:fillRect/>
          </a:stretch>
        </p:blipFill>
        <p:spPr>
          <a:xfrm>
            <a:off x="7194876" y="2656038"/>
            <a:ext cx="957633" cy="676095"/>
          </a:xfrm>
          <a:prstGeom prst="rect">
            <a:avLst/>
          </a:prstGeom>
          <a:noFill/>
          <a:ln>
            <a:noFill/>
          </a:ln>
        </p:spPr>
      </p:pic>
      <p:sp>
        <p:nvSpPr>
          <p:cNvPr id="824" name="Google Shape;824;p99"/>
          <p:cNvSpPr txBox="1"/>
          <p:nvPr/>
        </p:nvSpPr>
        <p:spPr>
          <a:xfrm>
            <a:off x="485575" y="3956250"/>
            <a:ext cx="28965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2"/>
                </a:solidFill>
                <a:latin typeface="Roboto"/>
                <a:ea typeface="Roboto"/>
                <a:cs typeface="Roboto"/>
                <a:sym typeface="Roboto"/>
              </a:rPr>
              <a:t>Attacker gains access to a machine with AD replication privileges.</a:t>
            </a:r>
            <a:endParaRPr sz="1300">
              <a:solidFill>
                <a:schemeClr val="dk2"/>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grpSp>
        <p:nvGrpSpPr>
          <p:cNvPr id="829" name="Google Shape;829;p100"/>
          <p:cNvGrpSpPr/>
          <p:nvPr/>
        </p:nvGrpSpPr>
        <p:grpSpPr>
          <a:xfrm>
            <a:off x="-3" y="2040688"/>
            <a:ext cx="8686828" cy="724800"/>
            <a:chOff x="-3" y="1033350"/>
            <a:chExt cx="8686828" cy="724800"/>
          </a:xfrm>
        </p:grpSpPr>
        <p:cxnSp>
          <p:nvCxnSpPr>
            <p:cNvPr id="830" name="Google Shape;830;p100"/>
            <p:cNvCxnSpPr/>
            <p:nvPr/>
          </p:nvCxnSpPr>
          <p:spPr>
            <a:xfrm>
              <a:off x="-3" y="1385850"/>
              <a:ext cx="686400" cy="0"/>
            </a:xfrm>
            <a:prstGeom prst="straightConnector1">
              <a:avLst/>
            </a:prstGeom>
            <a:noFill/>
            <a:ln cap="flat" cmpd="sng" w="19050">
              <a:solidFill>
                <a:srgbClr val="2E5E73"/>
              </a:solidFill>
              <a:prstDash val="solid"/>
              <a:round/>
              <a:headEnd len="sm" w="sm" type="none"/>
              <a:tailEnd len="med" w="med" type="oval"/>
            </a:ln>
          </p:spPr>
        </p:cxnSp>
        <p:sp>
          <p:nvSpPr>
            <p:cNvPr id="831" name="Google Shape;831;p100"/>
            <p:cNvSpPr/>
            <p:nvPr/>
          </p:nvSpPr>
          <p:spPr>
            <a:xfrm>
              <a:off x="596125" y="1033350"/>
              <a:ext cx="8090700" cy="724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100"/>
            <p:cNvSpPr/>
            <p:nvPr/>
          </p:nvSpPr>
          <p:spPr>
            <a:xfrm>
              <a:off x="513600" y="122430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833" name="Google Shape;833;p100"/>
            <p:cNvSpPr/>
            <p:nvPr/>
          </p:nvSpPr>
          <p:spPr>
            <a:xfrm>
              <a:off x="593400" y="1304100"/>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834" name="Google Shape;834;p100"/>
          <p:cNvSpPr txBox="1"/>
          <p:nvPr/>
        </p:nvSpPr>
        <p:spPr>
          <a:xfrm>
            <a:off x="347250" y="51200"/>
            <a:ext cx="81594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400">
                <a:solidFill>
                  <a:schemeClr val="dk2"/>
                </a:solidFill>
                <a:latin typeface="Roboto"/>
                <a:ea typeface="Roboto"/>
                <a:cs typeface="Roboto"/>
                <a:sym typeface="Roboto"/>
              </a:rPr>
              <a:t>DCSync</a:t>
            </a:r>
            <a:endParaRPr b="1" sz="2400">
              <a:solidFill>
                <a:schemeClr val="dk2"/>
              </a:solidFill>
              <a:latin typeface="Roboto"/>
              <a:ea typeface="Roboto"/>
              <a:cs typeface="Roboto"/>
              <a:sym typeface="Roboto"/>
            </a:endParaRPr>
          </a:p>
        </p:txBody>
      </p:sp>
      <p:sp>
        <p:nvSpPr>
          <p:cNvPr id="835" name="Google Shape;835;p100"/>
          <p:cNvSpPr txBox="1"/>
          <p:nvPr/>
        </p:nvSpPr>
        <p:spPr>
          <a:xfrm>
            <a:off x="914400" y="2132900"/>
            <a:ext cx="7772400" cy="522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DCSync does not have a standalone Metasploit module, however </a:t>
            </a:r>
            <a:br>
              <a:rPr lang="en" sz="1800">
                <a:solidFill>
                  <a:srgbClr val="082D49"/>
                </a:solidFill>
                <a:latin typeface="Roboto"/>
                <a:ea typeface="Roboto"/>
                <a:cs typeface="Roboto"/>
                <a:sym typeface="Roboto"/>
              </a:rPr>
            </a:br>
            <a:r>
              <a:rPr lang="en" sz="1800">
                <a:solidFill>
                  <a:srgbClr val="082D49"/>
                </a:solidFill>
                <a:latin typeface="Roboto"/>
                <a:ea typeface="Roboto"/>
                <a:cs typeface="Roboto"/>
                <a:sym typeface="Roboto"/>
              </a:rPr>
              <a:t>we can use </a:t>
            </a:r>
            <a:r>
              <a:rPr lang="en" sz="1800">
                <a:solidFill>
                  <a:schemeClr val="lt1"/>
                </a:solidFill>
                <a:highlight>
                  <a:schemeClr val="dk2"/>
                </a:highlight>
                <a:latin typeface="Roboto"/>
                <a:ea typeface="Roboto"/>
                <a:cs typeface="Roboto"/>
                <a:sym typeface="Roboto"/>
              </a:rPr>
              <a:t>kiwi</a:t>
            </a:r>
            <a:r>
              <a:rPr lang="en" sz="1800">
                <a:solidFill>
                  <a:srgbClr val="082D49"/>
                </a:solidFill>
                <a:latin typeface="Roboto"/>
                <a:ea typeface="Roboto"/>
                <a:cs typeface="Roboto"/>
                <a:sym typeface="Roboto"/>
              </a:rPr>
              <a:t> to perform DCSync.</a:t>
            </a:r>
            <a:endParaRPr sz="1800">
              <a:solidFill>
                <a:srgbClr val="082D49"/>
              </a:solidFill>
              <a:latin typeface="Roboto"/>
              <a:ea typeface="Roboto"/>
              <a:cs typeface="Roboto"/>
              <a:sym typeface="Roboto"/>
            </a:endParaRPr>
          </a:p>
        </p:txBody>
      </p:sp>
      <p:grpSp>
        <p:nvGrpSpPr>
          <p:cNvPr id="836" name="Google Shape;836;p100"/>
          <p:cNvGrpSpPr/>
          <p:nvPr/>
        </p:nvGrpSpPr>
        <p:grpSpPr>
          <a:xfrm>
            <a:off x="-3" y="1171500"/>
            <a:ext cx="8686828" cy="724800"/>
            <a:chOff x="-3" y="1033350"/>
            <a:chExt cx="8686828" cy="724800"/>
          </a:xfrm>
        </p:grpSpPr>
        <p:cxnSp>
          <p:nvCxnSpPr>
            <p:cNvPr id="837" name="Google Shape;837;p100"/>
            <p:cNvCxnSpPr/>
            <p:nvPr/>
          </p:nvCxnSpPr>
          <p:spPr>
            <a:xfrm>
              <a:off x="-3" y="1385850"/>
              <a:ext cx="686400" cy="0"/>
            </a:xfrm>
            <a:prstGeom prst="straightConnector1">
              <a:avLst/>
            </a:prstGeom>
            <a:noFill/>
            <a:ln cap="flat" cmpd="sng" w="19050">
              <a:solidFill>
                <a:srgbClr val="2E5E73"/>
              </a:solidFill>
              <a:prstDash val="solid"/>
              <a:round/>
              <a:headEnd len="sm" w="sm" type="none"/>
              <a:tailEnd len="med" w="med" type="oval"/>
            </a:ln>
          </p:spPr>
        </p:cxnSp>
        <p:sp>
          <p:nvSpPr>
            <p:cNvPr id="838" name="Google Shape;838;p100"/>
            <p:cNvSpPr/>
            <p:nvPr/>
          </p:nvSpPr>
          <p:spPr>
            <a:xfrm>
              <a:off x="596125" y="1033350"/>
              <a:ext cx="8090700" cy="724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00"/>
            <p:cNvSpPr/>
            <p:nvPr/>
          </p:nvSpPr>
          <p:spPr>
            <a:xfrm>
              <a:off x="513600" y="1224300"/>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840" name="Google Shape;840;p100"/>
            <p:cNvSpPr/>
            <p:nvPr/>
          </p:nvSpPr>
          <p:spPr>
            <a:xfrm>
              <a:off x="593400" y="1304100"/>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841" name="Google Shape;841;p100"/>
          <p:cNvSpPr txBox="1"/>
          <p:nvPr/>
        </p:nvSpPr>
        <p:spPr>
          <a:xfrm>
            <a:off x="914400" y="1188750"/>
            <a:ext cx="7772400" cy="64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DCSync requires replication rights, so you must have a domain administrator account or be SYSTEM on a DC itself.</a:t>
            </a:r>
            <a:endParaRPr sz="1800">
              <a:solidFill>
                <a:srgbClr val="082D49"/>
              </a:solidFill>
              <a:latin typeface="Roboto"/>
              <a:ea typeface="Roboto"/>
              <a:cs typeface="Roboto"/>
              <a:sym typeface="Roboto"/>
            </a:endParaRPr>
          </a:p>
        </p:txBody>
      </p:sp>
      <p:sp>
        <p:nvSpPr>
          <p:cNvPr id="842" name="Google Shape;842;p100"/>
          <p:cNvSpPr txBox="1"/>
          <p:nvPr/>
        </p:nvSpPr>
        <p:spPr>
          <a:xfrm>
            <a:off x="914400" y="3056814"/>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Established persistence on one machine</a:t>
            </a:r>
            <a:endParaRPr sz="1800">
              <a:solidFill>
                <a:srgbClr val="082D49"/>
              </a:solidFill>
              <a:latin typeface="Roboto"/>
              <a:ea typeface="Roboto"/>
              <a:cs typeface="Roboto"/>
              <a:sym typeface="Roboto"/>
            </a:endParaRPr>
          </a:p>
        </p:txBody>
      </p:sp>
      <p:cxnSp>
        <p:nvCxnSpPr>
          <p:cNvPr id="843" name="Google Shape;843;p100"/>
          <p:cNvCxnSpPr/>
          <p:nvPr/>
        </p:nvCxnSpPr>
        <p:spPr>
          <a:xfrm>
            <a:off x="-3" y="3564985"/>
            <a:ext cx="686400" cy="0"/>
          </a:xfrm>
          <a:prstGeom prst="straightConnector1">
            <a:avLst/>
          </a:prstGeom>
          <a:noFill/>
          <a:ln cap="flat" cmpd="sng" w="19050">
            <a:solidFill>
              <a:srgbClr val="2E5E73"/>
            </a:solidFill>
            <a:prstDash val="solid"/>
            <a:round/>
            <a:headEnd len="sm" w="sm" type="none"/>
            <a:tailEnd len="med" w="med" type="oval"/>
          </a:ln>
        </p:spPr>
      </p:cxnSp>
      <p:sp>
        <p:nvSpPr>
          <p:cNvPr id="844" name="Google Shape;844;p100"/>
          <p:cNvSpPr/>
          <p:nvPr/>
        </p:nvSpPr>
        <p:spPr>
          <a:xfrm>
            <a:off x="596125" y="2907666"/>
            <a:ext cx="8090700" cy="13659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100"/>
          <p:cNvSpPr/>
          <p:nvPr/>
        </p:nvSpPr>
        <p:spPr>
          <a:xfrm>
            <a:off x="513600" y="3403435"/>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846" name="Google Shape;846;p100"/>
          <p:cNvSpPr/>
          <p:nvPr/>
        </p:nvSpPr>
        <p:spPr>
          <a:xfrm>
            <a:off x="593400" y="3483235"/>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47" name="Google Shape;847;p100"/>
          <p:cNvSpPr txBox="1"/>
          <p:nvPr/>
        </p:nvSpPr>
        <p:spPr>
          <a:xfrm>
            <a:off x="914400" y="3027825"/>
            <a:ext cx="7772400" cy="118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There’s one major difference between DCSync in </a:t>
            </a:r>
            <a:r>
              <a:rPr lang="en" sz="1800">
                <a:solidFill>
                  <a:schemeClr val="lt1"/>
                </a:solidFill>
                <a:highlight>
                  <a:schemeClr val="dk2"/>
                </a:highlight>
                <a:latin typeface="Roboto"/>
                <a:ea typeface="Roboto"/>
                <a:cs typeface="Roboto"/>
                <a:sym typeface="Roboto"/>
              </a:rPr>
              <a:t>kiwi</a:t>
            </a:r>
            <a:r>
              <a:rPr lang="en" sz="1800">
                <a:solidFill>
                  <a:srgbClr val="082D49"/>
                </a:solidFill>
                <a:latin typeface="Roboto"/>
                <a:ea typeface="Roboto"/>
                <a:cs typeface="Roboto"/>
                <a:sym typeface="Roboto"/>
              </a:rPr>
              <a:t> and the </a:t>
            </a:r>
            <a:r>
              <a:rPr lang="en" sz="1800">
                <a:solidFill>
                  <a:schemeClr val="lt1"/>
                </a:solidFill>
                <a:highlight>
                  <a:schemeClr val="dk2"/>
                </a:highlight>
                <a:latin typeface="Roboto"/>
                <a:ea typeface="Roboto"/>
                <a:cs typeface="Roboto"/>
                <a:sym typeface="Roboto"/>
              </a:rPr>
              <a:t>.exe</a:t>
            </a:r>
            <a:r>
              <a:rPr lang="en" sz="1800">
                <a:solidFill>
                  <a:srgbClr val="082D49"/>
                </a:solidFill>
                <a:latin typeface="Roboto"/>
                <a:ea typeface="Roboto"/>
                <a:cs typeface="Roboto"/>
                <a:sym typeface="Roboto"/>
              </a:rPr>
              <a:t>  </a:t>
            </a:r>
            <a:br>
              <a:rPr lang="en" sz="1800">
                <a:solidFill>
                  <a:srgbClr val="082D49"/>
                </a:solidFill>
                <a:latin typeface="Roboto"/>
                <a:ea typeface="Roboto"/>
                <a:cs typeface="Roboto"/>
                <a:sym typeface="Roboto"/>
              </a:rPr>
            </a:br>
            <a:r>
              <a:rPr lang="en" sz="1800">
                <a:solidFill>
                  <a:srgbClr val="082D49"/>
                </a:solidFill>
                <a:latin typeface="Roboto"/>
                <a:ea typeface="Roboto"/>
                <a:cs typeface="Roboto"/>
                <a:sym typeface="Roboto"/>
              </a:rPr>
              <a:t>version of Mimikatz: In </a:t>
            </a:r>
            <a:r>
              <a:rPr lang="en" sz="1800">
                <a:solidFill>
                  <a:schemeClr val="lt1"/>
                </a:solidFill>
                <a:highlight>
                  <a:schemeClr val="dk2"/>
                </a:highlight>
                <a:latin typeface="Roboto"/>
                <a:ea typeface="Roboto"/>
                <a:cs typeface="Roboto"/>
                <a:sym typeface="Roboto"/>
              </a:rPr>
              <a:t>kiwi</a:t>
            </a:r>
            <a:r>
              <a:rPr lang="en" sz="1800">
                <a:solidFill>
                  <a:srgbClr val="082D49"/>
                </a:solidFill>
                <a:latin typeface="Roboto"/>
                <a:ea typeface="Roboto"/>
                <a:cs typeface="Roboto"/>
                <a:sym typeface="Roboto"/>
              </a:rPr>
              <a:t>, you must specify a username with the password hash you want. The </a:t>
            </a:r>
            <a:r>
              <a:rPr lang="en" sz="1800">
                <a:solidFill>
                  <a:schemeClr val="lt1"/>
                </a:solidFill>
                <a:highlight>
                  <a:schemeClr val="dk2"/>
                </a:highlight>
                <a:latin typeface="Roboto"/>
                <a:ea typeface="Roboto"/>
                <a:cs typeface="Roboto"/>
                <a:sym typeface="Roboto"/>
              </a:rPr>
              <a:t>.exe</a:t>
            </a:r>
            <a:r>
              <a:rPr lang="en" sz="1800">
                <a:solidFill>
                  <a:srgbClr val="082D49"/>
                </a:solidFill>
                <a:latin typeface="Roboto"/>
                <a:ea typeface="Roboto"/>
                <a:cs typeface="Roboto"/>
                <a:sym typeface="Roboto"/>
              </a:rPr>
              <a:t> version of Mimikatz will return </a:t>
            </a:r>
            <a:br>
              <a:rPr lang="en" sz="1800">
                <a:solidFill>
                  <a:srgbClr val="082D49"/>
                </a:solidFill>
                <a:latin typeface="Roboto"/>
                <a:ea typeface="Roboto"/>
                <a:cs typeface="Roboto"/>
                <a:sym typeface="Roboto"/>
              </a:rPr>
            </a:br>
            <a:r>
              <a:rPr lang="en" sz="1800">
                <a:solidFill>
                  <a:srgbClr val="082D49"/>
                </a:solidFill>
                <a:latin typeface="Roboto"/>
                <a:ea typeface="Roboto"/>
                <a:cs typeface="Roboto"/>
                <a:sym typeface="Roboto"/>
              </a:rPr>
              <a:t>all users’ password hashes when performing DCSync.</a:t>
            </a:r>
            <a:endParaRPr sz="1800">
              <a:solidFill>
                <a:srgbClr val="082D49"/>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01"/>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Credential access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02"/>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858" name="Google Shape;858;p102"/>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Credential access</a:t>
            </a:r>
            <a:endParaRPr/>
          </a:p>
        </p:txBody>
      </p:sp>
      <p:sp>
        <p:nvSpPr>
          <p:cNvPr id="859" name="Google Shape;859;p102"/>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perform DCSync on the WINDC01 machine </a:t>
            </a:r>
            <a:br>
              <a:rPr lang="en"/>
            </a:br>
            <a:r>
              <a:rPr lang="en"/>
              <a:t>and recover password hashes for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Due to the limitations of </a:t>
            </a:r>
            <a:r>
              <a:rPr lang="en">
                <a:solidFill>
                  <a:schemeClr val="lt1"/>
                </a:solidFill>
                <a:highlight>
                  <a:schemeClr val="dk2"/>
                </a:highlight>
              </a:rPr>
              <a:t>kiwi</a:t>
            </a:r>
            <a:r>
              <a:rPr lang="en"/>
              <a:t> in Metasploit, the instructions will inform you which usernames to DCSync.</a:t>
            </a:r>
            <a:endParaRPr/>
          </a:p>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06"/>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Weekly Recap: Windows Penetration Testing</a:t>
            </a:r>
            <a:endParaRPr/>
          </a:p>
        </p:txBody>
      </p:sp>
      <p:sp>
        <p:nvSpPr>
          <p:cNvPr id="877" name="Google Shape;877;p106"/>
          <p:cNvSpPr/>
          <p:nvPr/>
        </p:nvSpPr>
        <p:spPr>
          <a:xfrm flipH="1">
            <a:off x="6252275" y="844228"/>
            <a:ext cx="2624100" cy="39867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106"/>
          <p:cNvSpPr/>
          <p:nvPr/>
        </p:nvSpPr>
        <p:spPr>
          <a:xfrm>
            <a:off x="6251750" y="766150"/>
            <a:ext cx="26241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879" name="Google Shape;879;p106"/>
          <p:cNvSpPr txBox="1"/>
          <p:nvPr/>
        </p:nvSpPr>
        <p:spPr>
          <a:xfrm>
            <a:off x="6278800" y="1158773"/>
            <a:ext cx="2601000" cy="31617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b="1" lang="en" sz="1200">
                <a:solidFill>
                  <a:schemeClr val="dk2"/>
                </a:solidFill>
                <a:latin typeface="Roboto"/>
                <a:ea typeface="Roboto"/>
                <a:cs typeface="Roboto"/>
                <a:sym typeface="Roboto"/>
              </a:rPr>
              <a:t>We learned how to use </a:t>
            </a:r>
            <a:br>
              <a:rPr b="1" lang="en" sz="1200">
                <a:solidFill>
                  <a:schemeClr val="dk2"/>
                </a:solidFill>
                <a:latin typeface="Roboto"/>
                <a:ea typeface="Roboto"/>
                <a:cs typeface="Roboto"/>
                <a:sym typeface="Roboto"/>
              </a:rPr>
            </a:br>
            <a:r>
              <a:rPr b="1" lang="en" sz="1200">
                <a:solidFill>
                  <a:schemeClr val="dk2"/>
                </a:solidFill>
                <a:latin typeface="Roboto"/>
                <a:ea typeface="Roboto"/>
                <a:cs typeface="Roboto"/>
                <a:sym typeface="Roboto"/>
              </a:rPr>
              <a:t>Mimikatz to extract passwords from memory.</a:t>
            </a:r>
            <a:endParaRPr b="1"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Then we learned several lateral movement techniques to access other machines.</a:t>
            </a:r>
            <a:endParaRPr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We then concluded this week’s lesson by using DCSync to access password hashes on DCs.</a:t>
            </a:r>
            <a:endParaRPr sz="1200">
              <a:solidFill>
                <a:schemeClr val="dk2"/>
              </a:solidFill>
              <a:latin typeface="Roboto"/>
              <a:ea typeface="Roboto"/>
              <a:cs typeface="Roboto"/>
              <a:sym typeface="Roboto"/>
            </a:endParaRPr>
          </a:p>
        </p:txBody>
      </p:sp>
      <p:sp>
        <p:nvSpPr>
          <p:cNvPr id="880" name="Google Shape;880;p106"/>
          <p:cNvSpPr/>
          <p:nvPr/>
        </p:nvSpPr>
        <p:spPr>
          <a:xfrm flipH="1">
            <a:off x="386925" y="843100"/>
            <a:ext cx="2651100" cy="39867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106"/>
          <p:cNvSpPr txBox="1"/>
          <p:nvPr/>
        </p:nvSpPr>
        <p:spPr>
          <a:xfrm>
            <a:off x="413300" y="1157950"/>
            <a:ext cx="2624100" cy="32187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b="1" lang="en" sz="1200">
                <a:solidFill>
                  <a:schemeClr val="dk2"/>
                </a:solidFill>
                <a:latin typeface="Roboto"/>
                <a:ea typeface="Roboto"/>
                <a:cs typeface="Roboto"/>
                <a:sym typeface="Roboto"/>
              </a:rPr>
              <a:t>We began by illustrating the similarities and differences between Linux and Windows </a:t>
            </a:r>
            <a:br>
              <a:rPr b="1" lang="en" sz="1200">
                <a:solidFill>
                  <a:schemeClr val="dk2"/>
                </a:solidFill>
                <a:latin typeface="Roboto"/>
                <a:ea typeface="Roboto"/>
                <a:cs typeface="Roboto"/>
                <a:sym typeface="Roboto"/>
              </a:rPr>
            </a:br>
            <a:r>
              <a:rPr b="1" lang="en" sz="1200">
                <a:solidFill>
                  <a:schemeClr val="dk2"/>
                </a:solidFill>
                <a:latin typeface="Roboto"/>
                <a:ea typeface="Roboto"/>
                <a:cs typeface="Roboto"/>
                <a:sym typeface="Roboto"/>
              </a:rPr>
              <a:t>pen testing.</a:t>
            </a:r>
            <a:endParaRPr b="1"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We moved on to scanning and learning what ports Windows machines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have open.</a:t>
            </a:r>
            <a:endParaRPr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Then we conducted authentication attacks with password spraying and LLMNR poisoning.</a:t>
            </a:r>
            <a:endParaRPr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We also exploited our target with WMI to run commands remotely </a:t>
            </a:r>
            <a:br>
              <a:rPr lang="en" sz="1200">
                <a:solidFill>
                  <a:schemeClr val="dk2"/>
                </a:solidFill>
                <a:latin typeface="Roboto"/>
                <a:ea typeface="Roboto"/>
                <a:cs typeface="Roboto"/>
                <a:sym typeface="Roboto"/>
              </a:rPr>
            </a:br>
            <a:r>
              <a:rPr lang="en" sz="1200">
                <a:solidFill>
                  <a:schemeClr val="dk2"/>
                </a:solidFill>
                <a:latin typeface="Roboto"/>
                <a:ea typeface="Roboto"/>
                <a:cs typeface="Roboto"/>
                <a:sym typeface="Roboto"/>
              </a:rPr>
              <a:t>on the target machine.</a:t>
            </a:r>
            <a:endParaRPr sz="12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2"/>
              </a:solidFill>
              <a:latin typeface="Roboto"/>
              <a:ea typeface="Roboto"/>
              <a:cs typeface="Roboto"/>
              <a:sym typeface="Roboto"/>
            </a:endParaRPr>
          </a:p>
        </p:txBody>
      </p:sp>
      <p:sp>
        <p:nvSpPr>
          <p:cNvPr id="882" name="Google Shape;882;p106"/>
          <p:cNvSpPr/>
          <p:nvPr/>
        </p:nvSpPr>
        <p:spPr>
          <a:xfrm>
            <a:off x="387429" y="766150"/>
            <a:ext cx="26499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FFFFFF"/>
              </a:solidFill>
              <a:latin typeface="Roboto"/>
              <a:ea typeface="Roboto"/>
              <a:cs typeface="Roboto"/>
              <a:sym typeface="Roboto"/>
            </a:endParaRPr>
          </a:p>
        </p:txBody>
      </p:sp>
      <p:sp>
        <p:nvSpPr>
          <p:cNvPr id="883" name="Google Shape;883;p106"/>
          <p:cNvSpPr/>
          <p:nvPr/>
        </p:nvSpPr>
        <p:spPr>
          <a:xfrm flipH="1">
            <a:off x="3325561" y="843100"/>
            <a:ext cx="2663400" cy="39867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106"/>
          <p:cNvSpPr txBox="1"/>
          <p:nvPr/>
        </p:nvSpPr>
        <p:spPr>
          <a:xfrm>
            <a:off x="3354575" y="1157950"/>
            <a:ext cx="2663400" cy="2701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b="1" lang="en" sz="1200">
                <a:solidFill>
                  <a:schemeClr val="dk2"/>
                </a:solidFill>
                <a:latin typeface="Roboto"/>
                <a:ea typeface="Roboto"/>
                <a:cs typeface="Roboto"/>
                <a:sym typeface="Roboto"/>
              </a:rPr>
              <a:t>We began by using</a:t>
            </a:r>
            <a:r>
              <a:rPr lang="en">
                <a:solidFill>
                  <a:schemeClr val="dk2"/>
                </a:solidFill>
                <a:latin typeface="Inconsolata ExtraBold"/>
                <a:ea typeface="Inconsolata ExtraBold"/>
                <a:cs typeface="Inconsolata ExtraBold"/>
                <a:sym typeface="Inconsolata ExtraBold"/>
              </a:rPr>
              <a:t> msfvenom</a:t>
            </a:r>
            <a:r>
              <a:rPr b="1" lang="en" sz="1200">
                <a:solidFill>
                  <a:schemeClr val="dk2"/>
                </a:solidFill>
                <a:latin typeface="Roboto"/>
                <a:ea typeface="Roboto"/>
                <a:cs typeface="Roboto"/>
                <a:sym typeface="Roboto"/>
              </a:rPr>
              <a:t> </a:t>
            </a:r>
            <a:br>
              <a:rPr b="1" lang="en" sz="1200">
                <a:solidFill>
                  <a:schemeClr val="dk2"/>
                </a:solidFill>
                <a:latin typeface="Roboto"/>
                <a:ea typeface="Roboto"/>
                <a:cs typeface="Roboto"/>
                <a:sym typeface="Roboto"/>
              </a:rPr>
            </a:br>
            <a:r>
              <a:rPr b="1" lang="en" sz="1200">
                <a:solidFill>
                  <a:schemeClr val="dk2"/>
                </a:solidFill>
                <a:latin typeface="Roboto"/>
                <a:ea typeface="Roboto"/>
                <a:cs typeface="Roboto"/>
                <a:sym typeface="Roboto"/>
              </a:rPr>
              <a:t>to create custom payloads, which gave us a Meterpreter shell to conduct post-exploitation.</a:t>
            </a:r>
            <a:endParaRPr b="1"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Next we learned several privilege escalation techniques, how to conduct process migration, as well as several windows persistence techniques.</a:t>
            </a:r>
            <a:endParaRPr sz="1200">
              <a:solidFill>
                <a:schemeClr val="dk2"/>
              </a:solidFill>
              <a:latin typeface="Roboto"/>
              <a:ea typeface="Roboto"/>
              <a:cs typeface="Roboto"/>
              <a:sym typeface="Roboto"/>
            </a:endParaRPr>
          </a:p>
        </p:txBody>
      </p:sp>
      <p:sp>
        <p:nvSpPr>
          <p:cNvPr id="885" name="Google Shape;885;p106"/>
          <p:cNvSpPr txBox="1"/>
          <p:nvPr/>
        </p:nvSpPr>
        <p:spPr>
          <a:xfrm>
            <a:off x="3285763" y="76605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886" name="Google Shape;886;p106"/>
          <p:cNvSpPr txBox="1"/>
          <p:nvPr/>
        </p:nvSpPr>
        <p:spPr>
          <a:xfrm>
            <a:off x="6223825" y="76605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sp>
        <p:nvSpPr>
          <p:cNvPr id="887" name="Google Shape;887;p106"/>
          <p:cNvSpPr/>
          <p:nvPr/>
        </p:nvSpPr>
        <p:spPr>
          <a:xfrm>
            <a:off x="3318149" y="766150"/>
            <a:ext cx="26622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888" name="Google Shape;888;p106"/>
          <p:cNvSpPr txBox="1"/>
          <p:nvPr/>
        </p:nvSpPr>
        <p:spPr>
          <a:xfrm>
            <a:off x="385025" y="76615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Day 1</a:t>
            </a:r>
            <a:endParaRPr sz="1800">
              <a:solidFill>
                <a:srgbClr val="FFFFFF"/>
              </a:solidFill>
              <a:latin typeface="Roboto"/>
              <a:ea typeface="Roboto"/>
              <a:cs typeface="Roboto"/>
              <a:sym typeface="Roboto"/>
            </a:endParaRPr>
          </a:p>
        </p:txBody>
      </p:sp>
      <p:sp>
        <p:nvSpPr>
          <p:cNvPr id="889" name="Google Shape;889;p106"/>
          <p:cNvSpPr txBox="1"/>
          <p:nvPr/>
        </p:nvSpPr>
        <p:spPr>
          <a:xfrm>
            <a:off x="3348050" y="76615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082D49"/>
                </a:solidFill>
                <a:latin typeface="Roboto"/>
                <a:ea typeface="Roboto"/>
                <a:cs typeface="Roboto"/>
                <a:sym typeface="Roboto"/>
              </a:rPr>
              <a:t>Day 2</a:t>
            </a:r>
            <a:endParaRPr sz="1800">
              <a:solidFill>
                <a:srgbClr val="082D49"/>
              </a:solidFill>
              <a:latin typeface="Roboto"/>
              <a:ea typeface="Roboto"/>
              <a:cs typeface="Roboto"/>
              <a:sym typeface="Roboto"/>
            </a:endParaRPr>
          </a:p>
        </p:txBody>
      </p:sp>
      <p:sp>
        <p:nvSpPr>
          <p:cNvPr id="890" name="Google Shape;890;p106"/>
          <p:cNvSpPr txBox="1"/>
          <p:nvPr/>
        </p:nvSpPr>
        <p:spPr>
          <a:xfrm>
            <a:off x="6262925" y="76615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Day 3</a:t>
            </a:r>
            <a:endParaRPr sz="1800">
              <a:solidFill>
                <a:srgbClr val="FFFFFF"/>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94" name="Shape 894"/>
        <p:cNvGrpSpPr/>
        <p:nvPr/>
      </p:nvGrpSpPr>
      <p:grpSpPr>
        <a:xfrm>
          <a:off x="0" y="0"/>
          <a:ext cx="0" cy="0"/>
          <a:chOff x="0" y="0"/>
          <a:chExt cx="0" cy="0"/>
        </a:xfrm>
      </p:grpSpPr>
      <p:sp>
        <p:nvSpPr>
          <p:cNvPr id="895" name="Google Shape;895;p107"/>
          <p:cNvSpPr/>
          <p:nvPr/>
        </p:nvSpPr>
        <p:spPr>
          <a:xfrm>
            <a:off x="-50" y="0"/>
            <a:ext cx="9144000" cy="5143500"/>
          </a:xfrm>
          <a:prstGeom prst="rect">
            <a:avLst/>
          </a:prstGeom>
          <a:solidFill>
            <a:srgbClr val="8A5CD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6" name="Google Shape;896;p107"/>
          <p:cNvPicPr preferRelativeResize="0"/>
          <p:nvPr/>
        </p:nvPicPr>
        <p:blipFill rotWithShape="1">
          <a:blip r:embed="rId3">
            <a:alphaModFix/>
          </a:blip>
          <a:srcRect b="27568" l="0" r="0" t="23342"/>
          <a:stretch/>
        </p:blipFill>
        <p:spPr>
          <a:xfrm>
            <a:off x="1130700" y="1764225"/>
            <a:ext cx="6858000" cy="2524875"/>
          </a:xfrm>
          <a:prstGeom prst="rect">
            <a:avLst/>
          </a:prstGeom>
          <a:noFill/>
          <a:ln>
            <a:noFill/>
          </a:ln>
        </p:spPr>
      </p:pic>
      <p:sp>
        <p:nvSpPr>
          <p:cNvPr id="897" name="Google Shape;897;p107"/>
          <p:cNvSpPr txBox="1"/>
          <p:nvPr>
            <p:ph type="title"/>
          </p:nvPr>
        </p:nvSpPr>
        <p:spPr>
          <a:xfrm>
            <a:off x="-12300" y="777125"/>
            <a:ext cx="9144000" cy="1088100"/>
          </a:xfrm>
          <a:prstGeom prst="rect">
            <a:avLst/>
          </a:prstGeom>
        </p:spPr>
        <p:txBody>
          <a:bodyPr anchorCtr="0" anchor="t" bIns="91425" lIns="91425" spcFirstLastPara="1" rIns="457200" wrap="square" tIns="91425">
            <a:noAutofit/>
          </a:bodyPr>
          <a:lstStyle/>
          <a:p>
            <a:pPr indent="0" lvl="0" marL="0" rtl="0" algn="ctr">
              <a:lnSpc>
                <a:spcPct val="100000"/>
              </a:lnSpc>
              <a:spcBef>
                <a:spcPts val="0"/>
              </a:spcBef>
              <a:spcAft>
                <a:spcPts val="0"/>
              </a:spcAft>
              <a:buNone/>
            </a:pPr>
            <a:r>
              <a:rPr lang="en">
                <a:solidFill>
                  <a:srgbClr val="FFFFFF"/>
                </a:solidFill>
                <a:latin typeface="Roboto Light"/>
                <a:ea typeface="Roboto Light"/>
                <a:cs typeface="Roboto Light"/>
                <a:sym typeface="Roboto Light"/>
              </a:rPr>
              <a:t>To finish class, we’ll review what we’ve learned </a:t>
            </a:r>
            <a:br>
              <a:rPr lang="en">
                <a:solidFill>
                  <a:srgbClr val="FFFFFF"/>
                </a:solidFill>
                <a:latin typeface="Roboto Light"/>
                <a:ea typeface="Roboto Light"/>
                <a:cs typeface="Roboto Light"/>
                <a:sym typeface="Roboto Light"/>
              </a:rPr>
            </a:br>
            <a:r>
              <a:rPr lang="en">
                <a:solidFill>
                  <a:srgbClr val="FFFFFF"/>
                </a:solidFill>
                <a:latin typeface="Roboto Light"/>
                <a:ea typeface="Roboto Light"/>
                <a:cs typeface="Roboto Light"/>
                <a:sym typeface="Roboto Light"/>
              </a:rPr>
              <a:t>about pen testing with a game of </a:t>
            </a:r>
            <a:endParaRPr>
              <a:solidFill>
                <a:srgbClr val="FFFFFF"/>
              </a:solidFill>
              <a:latin typeface="Roboto Light"/>
              <a:ea typeface="Roboto Light"/>
              <a:cs typeface="Roboto Light"/>
              <a:sym typeface="Roboto Ligh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08"/>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What’s Kahoot?</a:t>
            </a:r>
            <a:endParaRPr/>
          </a:p>
        </p:txBody>
      </p:sp>
      <p:pic>
        <p:nvPicPr>
          <p:cNvPr id="903" name="Google Shape;903;p108"/>
          <p:cNvPicPr preferRelativeResize="0"/>
          <p:nvPr/>
        </p:nvPicPr>
        <p:blipFill>
          <a:blip r:embed="rId3">
            <a:alphaModFix/>
          </a:blip>
          <a:stretch>
            <a:fillRect/>
          </a:stretch>
        </p:blipFill>
        <p:spPr>
          <a:xfrm>
            <a:off x="3773024" y="900775"/>
            <a:ext cx="4811951" cy="3906701"/>
          </a:xfrm>
          <a:prstGeom prst="rect">
            <a:avLst/>
          </a:prstGeom>
          <a:noFill/>
          <a:ln>
            <a:noFill/>
          </a:ln>
          <a:effectLst>
            <a:outerShdw blurRad="57150" rotWithShape="0" algn="bl" dir="5400000" dist="19050">
              <a:srgbClr val="000000">
                <a:alpha val="50000"/>
              </a:srgbClr>
            </a:outerShdw>
          </a:effectLst>
        </p:spPr>
      </p:pic>
      <p:pic>
        <p:nvPicPr>
          <p:cNvPr id="904" name="Google Shape;904;p108"/>
          <p:cNvPicPr preferRelativeResize="0"/>
          <p:nvPr/>
        </p:nvPicPr>
        <p:blipFill>
          <a:blip r:embed="rId4">
            <a:alphaModFix/>
          </a:blip>
          <a:stretch>
            <a:fillRect/>
          </a:stretch>
        </p:blipFill>
        <p:spPr>
          <a:xfrm>
            <a:off x="460100" y="1172750"/>
            <a:ext cx="179550" cy="611800"/>
          </a:xfrm>
          <a:prstGeom prst="rect">
            <a:avLst/>
          </a:prstGeom>
          <a:noFill/>
          <a:ln>
            <a:noFill/>
          </a:ln>
        </p:spPr>
      </p:pic>
      <p:pic>
        <p:nvPicPr>
          <p:cNvPr id="905" name="Google Shape;905;p108"/>
          <p:cNvPicPr preferRelativeResize="0"/>
          <p:nvPr/>
        </p:nvPicPr>
        <p:blipFill>
          <a:blip r:embed="rId4">
            <a:alphaModFix/>
          </a:blip>
          <a:stretch>
            <a:fillRect/>
          </a:stretch>
        </p:blipFill>
        <p:spPr>
          <a:xfrm>
            <a:off x="460100" y="2564813"/>
            <a:ext cx="179550" cy="611800"/>
          </a:xfrm>
          <a:prstGeom prst="rect">
            <a:avLst/>
          </a:prstGeom>
          <a:noFill/>
          <a:ln>
            <a:noFill/>
          </a:ln>
        </p:spPr>
      </p:pic>
      <p:sp>
        <p:nvSpPr>
          <p:cNvPr id="906" name="Google Shape;906;p108"/>
          <p:cNvSpPr txBox="1"/>
          <p:nvPr>
            <p:ph idx="1" type="body"/>
          </p:nvPr>
        </p:nvSpPr>
        <p:spPr>
          <a:xfrm>
            <a:off x="-12300" y="2620900"/>
            <a:ext cx="3426600" cy="611700"/>
          </a:xfrm>
          <a:prstGeom prst="rect">
            <a:avLst/>
          </a:prstGeom>
        </p:spPr>
        <p:txBody>
          <a:bodyPr anchorCtr="0" anchor="t" bIns="0" lIns="914400" spcFirstLastPara="1" rIns="0" wrap="square" tIns="0">
            <a:noAutofit/>
          </a:bodyPr>
          <a:lstStyle/>
          <a:p>
            <a:pPr indent="0" lvl="0" marL="0" rtl="0" algn="l">
              <a:spcBef>
                <a:spcPts val="0"/>
              </a:spcBef>
              <a:spcAft>
                <a:spcPts val="0"/>
              </a:spcAft>
              <a:buClr>
                <a:schemeClr val="dk1"/>
              </a:buClr>
              <a:buSzPts val="1100"/>
              <a:buFont typeface="Arial"/>
              <a:buNone/>
            </a:pPr>
            <a:r>
              <a:rPr lang="en" sz="1800"/>
              <a:t>Keeps track of individual and team scores.</a:t>
            </a:r>
            <a:endParaRPr sz="1800"/>
          </a:p>
        </p:txBody>
      </p:sp>
      <p:pic>
        <p:nvPicPr>
          <p:cNvPr id="907" name="Google Shape;907;p108"/>
          <p:cNvPicPr preferRelativeResize="0"/>
          <p:nvPr/>
        </p:nvPicPr>
        <p:blipFill>
          <a:blip r:embed="rId4">
            <a:alphaModFix/>
          </a:blip>
          <a:stretch>
            <a:fillRect/>
          </a:stretch>
        </p:blipFill>
        <p:spPr>
          <a:xfrm>
            <a:off x="460100" y="3798188"/>
            <a:ext cx="179550" cy="611800"/>
          </a:xfrm>
          <a:prstGeom prst="rect">
            <a:avLst/>
          </a:prstGeom>
          <a:noFill/>
          <a:ln>
            <a:noFill/>
          </a:ln>
        </p:spPr>
      </p:pic>
      <p:sp>
        <p:nvSpPr>
          <p:cNvPr id="908" name="Google Shape;908;p108"/>
          <p:cNvSpPr txBox="1"/>
          <p:nvPr>
            <p:ph idx="1" type="body"/>
          </p:nvPr>
        </p:nvSpPr>
        <p:spPr>
          <a:xfrm>
            <a:off x="-12300" y="3861550"/>
            <a:ext cx="3492900" cy="611700"/>
          </a:xfrm>
          <a:prstGeom prst="rect">
            <a:avLst/>
          </a:prstGeom>
        </p:spPr>
        <p:txBody>
          <a:bodyPr anchorCtr="0" anchor="t" bIns="0" lIns="914400" spcFirstLastPara="1" rIns="0" wrap="square" tIns="0">
            <a:noAutofit/>
          </a:bodyPr>
          <a:lstStyle/>
          <a:p>
            <a:pPr indent="0" lvl="0" marL="0" rtl="0" algn="l">
              <a:spcBef>
                <a:spcPts val="0"/>
              </a:spcBef>
              <a:spcAft>
                <a:spcPts val="0"/>
              </a:spcAft>
              <a:buClr>
                <a:schemeClr val="dk1"/>
              </a:buClr>
              <a:buSzPts val="1100"/>
              <a:buFont typeface="Arial"/>
              <a:buNone/>
            </a:pPr>
            <a:r>
              <a:rPr lang="en" sz="1800"/>
              <a:t>Keeps track of remaining time for each question.</a:t>
            </a:r>
            <a:endParaRPr sz="1800"/>
          </a:p>
        </p:txBody>
      </p:sp>
      <p:sp>
        <p:nvSpPr>
          <p:cNvPr id="909" name="Google Shape;909;p108"/>
          <p:cNvSpPr txBox="1"/>
          <p:nvPr>
            <p:ph idx="2" type="title"/>
          </p:nvPr>
        </p:nvSpPr>
        <p:spPr>
          <a:xfrm>
            <a:off x="70200" y="4390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Kahoot! is a web-based tool that:</a:t>
            </a:r>
            <a:endParaRPr sz="1800"/>
          </a:p>
        </p:txBody>
      </p:sp>
      <p:sp>
        <p:nvSpPr>
          <p:cNvPr id="910" name="Google Shape;910;p108"/>
          <p:cNvSpPr txBox="1"/>
          <p:nvPr>
            <p:ph idx="1" type="body"/>
          </p:nvPr>
        </p:nvSpPr>
        <p:spPr>
          <a:xfrm>
            <a:off x="-12300" y="1225175"/>
            <a:ext cx="3426600" cy="611700"/>
          </a:xfrm>
          <a:prstGeom prst="rect">
            <a:avLst/>
          </a:prstGeom>
        </p:spPr>
        <p:txBody>
          <a:bodyPr anchorCtr="0" anchor="t" bIns="0" lIns="914400" spcFirstLastPara="1" rIns="0" wrap="square" tIns="0">
            <a:noAutofit/>
          </a:bodyPr>
          <a:lstStyle/>
          <a:p>
            <a:pPr indent="0" lvl="0" marL="0" rtl="0" algn="l">
              <a:spcBef>
                <a:spcPts val="0"/>
              </a:spcBef>
              <a:spcAft>
                <a:spcPts val="0"/>
              </a:spcAft>
              <a:buClr>
                <a:schemeClr val="dk1"/>
              </a:buClr>
              <a:buSzPts val="1100"/>
              <a:buFont typeface="Arial"/>
              <a:buNone/>
            </a:pPr>
            <a:r>
              <a:rPr lang="en" sz="1800"/>
              <a:t>Displays questions and answers to select from </a:t>
            </a:r>
            <a:br>
              <a:rPr lang="en" sz="1800"/>
            </a:br>
            <a:r>
              <a:rPr lang="en" sz="1800"/>
              <a:t>in real time.</a:t>
            </a:r>
            <a:endParaRPr sz="1800"/>
          </a:p>
          <a:p>
            <a:pPr indent="0" lvl="0" marL="0" rtl="0" algn="l">
              <a:spcBef>
                <a:spcPts val="0"/>
              </a:spcBef>
              <a:spcAft>
                <a:spcPts val="0"/>
              </a:spcAft>
              <a:buClr>
                <a:schemeClr val="dk1"/>
              </a:buClr>
              <a:buSzPts val="1100"/>
              <a:buFont typeface="Arial"/>
              <a:buNone/>
            </a:pPr>
            <a:r>
              <a:t/>
            </a:r>
            <a:endParaRPr sz="18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09"/>
          <p:cNvSpPr txBox="1"/>
          <p:nvPr>
            <p:ph type="title"/>
          </p:nvPr>
        </p:nvSpPr>
        <p:spPr>
          <a:xfrm>
            <a:off x="3996775" y="762400"/>
            <a:ext cx="3405300" cy="393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Rules and Guidelines</a:t>
            </a:r>
            <a:endParaRPr/>
          </a:p>
        </p:txBody>
      </p:sp>
      <p:sp>
        <p:nvSpPr>
          <p:cNvPr id="916" name="Google Shape;916;p109"/>
          <p:cNvSpPr/>
          <p:nvPr/>
        </p:nvSpPr>
        <p:spPr>
          <a:xfrm>
            <a:off x="586050" y="1402700"/>
            <a:ext cx="3867000" cy="897600"/>
          </a:xfrm>
          <a:prstGeom prst="roundRect">
            <a:avLst>
              <a:gd fmla="val 8753" name="adj"/>
            </a:avLst>
          </a:prstGeom>
          <a:solidFill>
            <a:schemeClr val="dk1"/>
          </a:solidFill>
          <a:ln>
            <a:noFill/>
          </a:ln>
        </p:spPr>
        <p:txBody>
          <a:bodyPr anchorCtr="0" anchor="ctr" bIns="91425" lIns="548625" spcFirstLastPara="1" rIns="91425" wrap="square" tIns="91425">
            <a:noAutofit/>
          </a:bodyPr>
          <a:lstStyle/>
          <a:p>
            <a:pPr indent="0" lvl="0" marL="0" rtl="0" algn="l">
              <a:spcBef>
                <a:spcPts val="0"/>
              </a:spcBef>
              <a:spcAft>
                <a:spcPts val="0"/>
              </a:spcAft>
              <a:buNone/>
            </a:pPr>
            <a:r>
              <a:rPr lang="en">
                <a:solidFill>
                  <a:srgbClr val="FFFFFF"/>
                </a:solidFill>
                <a:latin typeface="Roboto"/>
                <a:ea typeface="Roboto"/>
                <a:cs typeface="Roboto"/>
                <a:sym typeface="Roboto"/>
              </a:rPr>
              <a:t>There are a total of 30 questions.</a:t>
            </a:r>
            <a:endParaRPr/>
          </a:p>
        </p:txBody>
      </p:sp>
      <p:sp>
        <p:nvSpPr>
          <p:cNvPr id="917" name="Google Shape;917;p109"/>
          <p:cNvSpPr/>
          <p:nvPr/>
        </p:nvSpPr>
        <p:spPr>
          <a:xfrm>
            <a:off x="586050" y="2457525"/>
            <a:ext cx="3867000" cy="897600"/>
          </a:xfrm>
          <a:prstGeom prst="roundRect">
            <a:avLst>
              <a:gd fmla="val 8753" name="adj"/>
            </a:avLst>
          </a:prstGeom>
          <a:solidFill>
            <a:schemeClr val="accent3"/>
          </a:solidFill>
          <a:ln>
            <a:noFill/>
          </a:ln>
        </p:spPr>
        <p:txBody>
          <a:bodyPr anchorCtr="0" anchor="ctr" bIns="91425" lIns="548625" spcFirstLastPara="1" rIns="91425" wrap="square" tIns="91425">
            <a:noAutofit/>
          </a:bodyPr>
          <a:lstStyle/>
          <a:p>
            <a:pPr indent="0" lvl="0" marL="0" rtl="0" algn="l">
              <a:spcBef>
                <a:spcPts val="0"/>
              </a:spcBef>
              <a:spcAft>
                <a:spcPts val="0"/>
              </a:spcAft>
              <a:buNone/>
            </a:pPr>
            <a:r>
              <a:rPr lang="en">
                <a:solidFill>
                  <a:srgbClr val="FFFFFF"/>
                </a:solidFill>
                <a:latin typeface="Roboto"/>
                <a:ea typeface="Roboto"/>
                <a:cs typeface="Roboto"/>
                <a:sym typeface="Roboto"/>
              </a:rPr>
              <a:t>You will have two minutes to answer each question.</a:t>
            </a:r>
            <a:endParaRPr/>
          </a:p>
        </p:txBody>
      </p:sp>
      <p:sp>
        <p:nvSpPr>
          <p:cNvPr id="918" name="Google Shape;918;p109"/>
          <p:cNvSpPr/>
          <p:nvPr/>
        </p:nvSpPr>
        <p:spPr>
          <a:xfrm>
            <a:off x="586050" y="3512350"/>
            <a:ext cx="3867000" cy="897600"/>
          </a:xfrm>
          <a:prstGeom prst="roundRect">
            <a:avLst>
              <a:gd fmla="val 8753" name="adj"/>
            </a:avLst>
          </a:prstGeom>
          <a:solidFill>
            <a:schemeClr val="accent1"/>
          </a:solidFill>
          <a:ln>
            <a:noFill/>
          </a:ln>
        </p:spPr>
        <p:txBody>
          <a:bodyPr anchorCtr="0" anchor="ctr" bIns="91425" lIns="548625" spcFirstLastPara="1" rIns="91425" wrap="square" tIns="91425">
            <a:noAutofit/>
          </a:bodyPr>
          <a:lstStyle/>
          <a:p>
            <a:pPr indent="0" lvl="0" marL="0" rtl="0" algn="l">
              <a:lnSpc>
                <a:spcPct val="90000"/>
              </a:lnSpc>
              <a:spcBef>
                <a:spcPts val="0"/>
              </a:spcBef>
              <a:spcAft>
                <a:spcPts val="0"/>
              </a:spcAft>
              <a:buNone/>
            </a:pPr>
            <a:r>
              <a:rPr lang="en">
                <a:solidFill>
                  <a:schemeClr val="dk2"/>
                </a:solidFill>
                <a:latin typeface="Roboto"/>
                <a:ea typeface="Roboto"/>
                <a:cs typeface="Roboto"/>
                <a:sym typeface="Roboto"/>
              </a:rPr>
              <a:t>Points are awarded for correct answers and for how quickly you answer compared to your classmates.</a:t>
            </a:r>
            <a:endParaRPr>
              <a:solidFill>
                <a:schemeClr val="dk2"/>
              </a:solidFill>
            </a:endParaRPr>
          </a:p>
        </p:txBody>
      </p:sp>
      <p:sp>
        <p:nvSpPr>
          <p:cNvPr id="919" name="Google Shape;919;p109"/>
          <p:cNvSpPr/>
          <p:nvPr/>
        </p:nvSpPr>
        <p:spPr>
          <a:xfrm>
            <a:off x="4690939" y="1402700"/>
            <a:ext cx="3867000" cy="897600"/>
          </a:xfrm>
          <a:prstGeom prst="roundRect">
            <a:avLst>
              <a:gd fmla="val 8753" name="adj"/>
            </a:avLst>
          </a:prstGeom>
          <a:solidFill>
            <a:schemeClr val="accent5"/>
          </a:solidFill>
          <a:ln>
            <a:noFill/>
          </a:ln>
        </p:spPr>
        <p:txBody>
          <a:bodyPr anchorCtr="0" anchor="ctr" bIns="91425" lIns="548625" spcFirstLastPara="1" rIns="91425" wrap="square" tIns="91425">
            <a:noAutofit/>
          </a:bodyPr>
          <a:lstStyle/>
          <a:p>
            <a:pPr indent="0" lvl="0" marL="0" rtl="0" algn="l">
              <a:spcBef>
                <a:spcPts val="0"/>
              </a:spcBef>
              <a:spcAft>
                <a:spcPts val="0"/>
              </a:spcAft>
              <a:buNone/>
            </a:pPr>
            <a:r>
              <a:rPr lang="en">
                <a:solidFill>
                  <a:srgbClr val="FFFFFF"/>
                </a:solidFill>
                <a:latin typeface="Roboto"/>
                <a:ea typeface="Roboto"/>
                <a:cs typeface="Roboto"/>
                <a:sym typeface="Roboto"/>
              </a:rPr>
              <a:t>Points are not deducted for </a:t>
            </a:r>
            <a:br>
              <a:rPr lang="en">
                <a:solidFill>
                  <a:srgbClr val="FFFFFF"/>
                </a:solidFill>
                <a:latin typeface="Roboto"/>
                <a:ea typeface="Roboto"/>
                <a:cs typeface="Roboto"/>
                <a:sym typeface="Roboto"/>
              </a:rPr>
            </a:br>
            <a:r>
              <a:rPr lang="en">
                <a:solidFill>
                  <a:srgbClr val="FFFFFF"/>
                </a:solidFill>
                <a:latin typeface="Roboto"/>
                <a:ea typeface="Roboto"/>
                <a:cs typeface="Roboto"/>
                <a:sym typeface="Roboto"/>
              </a:rPr>
              <a:t>incorrect answers.</a:t>
            </a:r>
            <a:endParaRPr/>
          </a:p>
        </p:txBody>
      </p:sp>
      <p:sp>
        <p:nvSpPr>
          <p:cNvPr id="920" name="Google Shape;920;p109"/>
          <p:cNvSpPr/>
          <p:nvPr/>
        </p:nvSpPr>
        <p:spPr>
          <a:xfrm>
            <a:off x="4690939" y="2457525"/>
            <a:ext cx="3867000" cy="897600"/>
          </a:xfrm>
          <a:prstGeom prst="roundRect">
            <a:avLst>
              <a:gd fmla="val 8753" name="adj"/>
            </a:avLst>
          </a:prstGeom>
          <a:solidFill>
            <a:schemeClr val="accent4"/>
          </a:solidFill>
          <a:ln>
            <a:noFill/>
          </a:ln>
        </p:spPr>
        <p:txBody>
          <a:bodyPr anchorCtr="0" anchor="ctr" bIns="91425" lIns="5486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If you are competing as a team,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select a team captain to answer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the questions.</a:t>
            </a:r>
            <a:endParaRPr>
              <a:solidFill>
                <a:schemeClr val="dk2"/>
              </a:solidFill>
            </a:endParaRPr>
          </a:p>
        </p:txBody>
      </p:sp>
      <p:sp>
        <p:nvSpPr>
          <p:cNvPr id="921" name="Google Shape;921;p109"/>
          <p:cNvSpPr/>
          <p:nvPr/>
        </p:nvSpPr>
        <p:spPr>
          <a:xfrm>
            <a:off x="4690939" y="3512350"/>
            <a:ext cx="3867000" cy="897600"/>
          </a:xfrm>
          <a:prstGeom prst="roundRect">
            <a:avLst>
              <a:gd fmla="val 8753" name="adj"/>
            </a:avLst>
          </a:prstGeom>
          <a:solidFill>
            <a:schemeClr val="accent2"/>
          </a:solidFill>
          <a:ln>
            <a:noFill/>
          </a:ln>
        </p:spPr>
        <p:txBody>
          <a:bodyPr anchorCtr="0" anchor="ctr" bIns="91425" lIns="548625" spcFirstLastPara="1" rIns="91425" wrap="square" tIns="91425">
            <a:noAutofit/>
          </a:bodyPr>
          <a:lstStyle/>
          <a:p>
            <a:pPr indent="0" lvl="0" marL="0" rtl="0" algn="l">
              <a:spcBef>
                <a:spcPts val="0"/>
              </a:spcBef>
              <a:spcAft>
                <a:spcPts val="0"/>
              </a:spcAft>
              <a:buNone/>
            </a:pPr>
            <a:r>
              <a:rPr b="1" lang="en">
                <a:solidFill>
                  <a:schemeClr val="accent5"/>
                </a:solidFill>
                <a:latin typeface="Roboto"/>
                <a:ea typeface="Roboto"/>
                <a:cs typeface="Roboto"/>
                <a:sym typeface="Roboto"/>
              </a:rPr>
              <a:t>Note: </a:t>
            </a:r>
            <a:r>
              <a:rPr lang="en">
                <a:solidFill>
                  <a:schemeClr val="accent5"/>
                </a:solidFill>
                <a:latin typeface="Roboto"/>
                <a:ea typeface="Roboto"/>
                <a:cs typeface="Roboto"/>
                <a:sym typeface="Roboto"/>
              </a:rPr>
              <a:t>If your class is currently online, </a:t>
            </a:r>
            <a:br>
              <a:rPr lang="en">
                <a:solidFill>
                  <a:schemeClr val="accent5"/>
                </a:solidFill>
                <a:latin typeface="Roboto"/>
                <a:ea typeface="Roboto"/>
                <a:cs typeface="Roboto"/>
                <a:sym typeface="Roboto"/>
              </a:rPr>
            </a:br>
            <a:r>
              <a:rPr lang="en">
                <a:solidFill>
                  <a:schemeClr val="accent5"/>
                </a:solidFill>
                <a:latin typeface="Roboto"/>
                <a:ea typeface="Roboto"/>
                <a:cs typeface="Roboto"/>
                <a:sym typeface="Roboto"/>
              </a:rPr>
              <a:t>it will be easier if each student competes individually.</a:t>
            </a:r>
            <a:endParaRPr>
              <a:solidFill>
                <a:schemeClr val="accent5"/>
              </a:solidFill>
              <a:latin typeface="Roboto"/>
              <a:ea typeface="Roboto"/>
              <a:cs typeface="Roboto"/>
              <a:sym typeface="Roboto"/>
            </a:endParaRPr>
          </a:p>
        </p:txBody>
      </p:sp>
      <p:pic>
        <p:nvPicPr>
          <p:cNvPr id="922" name="Google Shape;922;p109"/>
          <p:cNvPicPr preferRelativeResize="0"/>
          <p:nvPr/>
        </p:nvPicPr>
        <p:blipFill>
          <a:blip r:embed="rId3">
            <a:alphaModFix/>
          </a:blip>
          <a:stretch>
            <a:fillRect/>
          </a:stretch>
        </p:blipFill>
        <p:spPr>
          <a:xfrm>
            <a:off x="772325" y="1548450"/>
            <a:ext cx="183500" cy="606100"/>
          </a:xfrm>
          <a:prstGeom prst="rect">
            <a:avLst/>
          </a:prstGeom>
          <a:noFill/>
          <a:ln>
            <a:noFill/>
          </a:ln>
        </p:spPr>
      </p:pic>
      <p:pic>
        <p:nvPicPr>
          <p:cNvPr id="923" name="Google Shape;923;p109"/>
          <p:cNvPicPr preferRelativeResize="0"/>
          <p:nvPr/>
        </p:nvPicPr>
        <p:blipFill>
          <a:blip r:embed="rId3">
            <a:alphaModFix/>
          </a:blip>
          <a:stretch>
            <a:fillRect/>
          </a:stretch>
        </p:blipFill>
        <p:spPr>
          <a:xfrm>
            <a:off x="772325" y="2603275"/>
            <a:ext cx="183500" cy="606100"/>
          </a:xfrm>
          <a:prstGeom prst="rect">
            <a:avLst/>
          </a:prstGeom>
          <a:noFill/>
          <a:ln>
            <a:noFill/>
          </a:ln>
        </p:spPr>
      </p:pic>
      <p:pic>
        <p:nvPicPr>
          <p:cNvPr id="924" name="Google Shape;924;p109"/>
          <p:cNvPicPr preferRelativeResize="0"/>
          <p:nvPr/>
        </p:nvPicPr>
        <p:blipFill>
          <a:blip r:embed="rId4">
            <a:alphaModFix/>
          </a:blip>
          <a:stretch>
            <a:fillRect/>
          </a:stretch>
        </p:blipFill>
        <p:spPr>
          <a:xfrm>
            <a:off x="772325" y="3658100"/>
            <a:ext cx="183500" cy="606100"/>
          </a:xfrm>
          <a:prstGeom prst="rect">
            <a:avLst/>
          </a:prstGeom>
          <a:noFill/>
          <a:ln>
            <a:noFill/>
          </a:ln>
        </p:spPr>
      </p:pic>
      <p:pic>
        <p:nvPicPr>
          <p:cNvPr id="925" name="Google Shape;925;p109"/>
          <p:cNvPicPr preferRelativeResize="0"/>
          <p:nvPr/>
        </p:nvPicPr>
        <p:blipFill>
          <a:blip r:embed="rId3">
            <a:alphaModFix/>
          </a:blip>
          <a:stretch>
            <a:fillRect/>
          </a:stretch>
        </p:blipFill>
        <p:spPr>
          <a:xfrm>
            <a:off x="4879450" y="1548450"/>
            <a:ext cx="183500" cy="606100"/>
          </a:xfrm>
          <a:prstGeom prst="rect">
            <a:avLst/>
          </a:prstGeom>
          <a:noFill/>
          <a:ln>
            <a:noFill/>
          </a:ln>
        </p:spPr>
      </p:pic>
      <p:pic>
        <p:nvPicPr>
          <p:cNvPr id="926" name="Google Shape;926;p109"/>
          <p:cNvPicPr preferRelativeResize="0"/>
          <p:nvPr/>
        </p:nvPicPr>
        <p:blipFill>
          <a:blip r:embed="rId4">
            <a:alphaModFix/>
          </a:blip>
          <a:stretch>
            <a:fillRect/>
          </a:stretch>
        </p:blipFill>
        <p:spPr>
          <a:xfrm>
            <a:off x="4879450" y="3658100"/>
            <a:ext cx="183500" cy="606100"/>
          </a:xfrm>
          <a:prstGeom prst="rect">
            <a:avLst/>
          </a:prstGeom>
          <a:noFill/>
          <a:ln>
            <a:noFill/>
          </a:ln>
        </p:spPr>
      </p:pic>
      <p:pic>
        <p:nvPicPr>
          <p:cNvPr id="927" name="Google Shape;927;p109"/>
          <p:cNvPicPr preferRelativeResize="0"/>
          <p:nvPr/>
        </p:nvPicPr>
        <p:blipFill rotWithShape="1">
          <a:blip r:embed="rId5">
            <a:alphaModFix/>
          </a:blip>
          <a:srcRect b="27568" l="0" r="0" t="23342"/>
          <a:stretch/>
        </p:blipFill>
        <p:spPr>
          <a:xfrm>
            <a:off x="2469975" y="647325"/>
            <a:ext cx="1452000" cy="534600"/>
          </a:xfrm>
          <a:prstGeom prst="roundRect">
            <a:avLst>
              <a:gd fmla="val 16667" name="adj"/>
            </a:avLst>
          </a:prstGeom>
          <a:noFill/>
          <a:ln>
            <a:noFill/>
          </a:ln>
        </p:spPr>
      </p:pic>
      <p:pic>
        <p:nvPicPr>
          <p:cNvPr id="928" name="Google Shape;928;p109"/>
          <p:cNvPicPr preferRelativeResize="0"/>
          <p:nvPr/>
        </p:nvPicPr>
        <p:blipFill>
          <a:blip r:embed="rId4">
            <a:alphaModFix/>
          </a:blip>
          <a:stretch>
            <a:fillRect/>
          </a:stretch>
        </p:blipFill>
        <p:spPr>
          <a:xfrm>
            <a:off x="4879450" y="2603275"/>
            <a:ext cx="183500" cy="6061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10"/>
          <p:cNvSpPr txBox="1"/>
          <p:nvPr>
            <p:ph idx="1" type="subTitle"/>
          </p:nvPr>
        </p:nvSpPr>
        <p:spPr>
          <a:xfrm>
            <a:off x="41700" y="3975525"/>
            <a:ext cx="9102300" cy="5490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000"/>
              <a:t>Start the Kahoot! Pen Testing Week 2 Challenge by accessing the link:</a:t>
            </a:r>
            <a:br>
              <a:rPr lang="en" sz="2000"/>
            </a:br>
            <a:r>
              <a:rPr lang="en" sz="2000" u="sng">
                <a:hlinkClick r:id="rId3"/>
              </a:rPr>
              <a:t>Kahoot! Pen Testing Week 2 Challenge</a:t>
            </a:r>
            <a:endParaRPr sz="2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grpSp>
        <p:nvGrpSpPr>
          <p:cNvPr id="938" name="Google Shape;938;p111"/>
          <p:cNvGrpSpPr/>
          <p:nvPr/>
        </p:nvGrpSpPr>
        <p:grpSpPr>
          <a:xfrm>
            <a:off x="440125" y="1136875"/>
            <a:ext cx="776900" cy="486300"/>
            <a:chOff x="457200" y="1466425"/>
            <a:chExt cx="776900" cy="486300"/>
          </a:xfrm>
        </p:grpSpPr>
        <p:sp>
          <p:nvSpPr>
            <p:cNvPr id="939" name="Google Shape;939;p111"/>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940" name="Google Shape;940;p111"/>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941" name="Google Shape;941;p111"/>
          <p:cNvGrpSpPr/>
          <p:nvPr/>
        </p:nvGrpSpPr>
        <p:grpSpPr>
          <a:xfrm>
            <a:off x="440125" y="1791730"/>
            <a:ext cx="776900" cy="486300"/>
            <a:chOff x="457200" y="1466425"/>
            <a:chExt cx="776900" cy="486300"/>
          </a:xfrm>
        </p:grpSpPr>
        <p:sp>
          <p:nvSpPr>
            <p:cNvPr id="942" name="Google Shape;942;p111"/>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943" name="Google Shape;943;p111"/>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944" name="Google Shape;944;p111"/>
          <p:cNvGrpSpPr/>
          <p:nvPr/>
        </p:nvGrpSpPr>
        <p:grpSpPr>
          <a:xfrm>
            <a:off x="440125" y="2446585"/>
            <a:ext cx="776900" cy="486300"/>
            <a:chOff x="457200" y="1466425"/>
            <a:chExt cx="776900" cy="486300"/>
          </a:xfrm>
        </p:grpSpPr>
        <p:sp>
          <p:nvSpPr>
            <p:cNvPr id="945" name="Google Shape;945;p111"/>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946" name="Google Shape;946;p111"/>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947" name="Google Shape;947;p111"/>
          <p:cNvGrpSpPr/>
          <p:nvPr/>
        </p:nvGrpSpPr>
        <p:grpSpPr>
          <a:xfrm>
            <a:off x="440125" y="3101440"/>
            <a:ext cx="776900" cy="486300"/>
            <a:chOff x="457200" y="1466425"/>
            <a:chExt cx="776900" cy="486300"/>
          </a:xfrm>
        </p:grpSpPr>
        <p:sp>
          <p:nvSpPr>
            <p:cNvPr id="948" name="Google Shape;948;p111"/>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04</a:t>
              </a:r>
              <a:endParaRPr i="0" sz="3000" u="none" cap="none" strike="noStrike">
                <a:solidFill>
                  <a:srgbClr val="082D49"/>
                </a:solidFill>
                <a:latin typeface="Roboto"/>
                <a:ea typeface="Roboto"/>
                <a:cs typeface="Roboto"/>
                <a:sym typeface="Roboto"/>
              </a:endParaRPr>
            </a:p>
          </p:txBody>
        </p:sp>
        <p:sp>
          <p:nvSpPr>
            <p:cNvPr id="949" name="Google Shape;949;p111"/>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950" name="Google Shape;950;p111"/>
          <p:cNvGrpSpPr/>
          <p:nvPr/>
        </p:nvGrpSpPr>
        <p:grpSpPr>
          <a:xfrm>
            <a:off x="440125" y="3756295"/>
            <a:ext cx="776900" cy="486300"/>
            <a:chOff x="457200" y="1466425"/>
            <a:chExt cx="776900" cy="486300"/>
          </a:xfrm>
        </p:grpSpPr>
        <p:sp>
          <p:nvSpPr>
            <p:cNvPr id="951" name="Google Shape;951;p111"/>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05</a:t>
              </a:r>
              <a:endParaRPr i="0" sz="3000" u="none" cap="none" strike="noStrike">
                <a:solidFill>
                  <a:srgbClr val="FFFFFF"/>
                </a:solidFill>
                <a:latin typeface="Roboto"/>
                <a:ea typeface="Roboto"/>
                <a:cs typeface="Roboto"/>
                <a:sym typeface="Roboto"/>
              </a:endParaRPr>
            </a:p>
          </p:txBody>
        </p:sp>
        <p:sp>
          <p:nvSpPr>
            <p:cNvPr id="952" name="Google Shape;952;p111"/>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953" name="Google Shape;953;p111"/>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chemeClr val="dk2"/>
              </a:solidFill>
              <a:latin typeface="Roboto"/>
              <a:ea typeface="Roboto"/>
              <a:cs typeface="Roboto"/>
              <a:sym typeface="Roboto"/>
            </a:endParaRPr>
          </a:p>
        </p:txBody>
      </p:sp>
      <p:sp>
        <p:nvSpPr>
          <p:cNvPr id="954" name="Google Shape;954;p111"/>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600">
              <a:solidFill>
                <a:schemeClr val="dk2"/>
              </a:solidFill>
              <a:latin typeface="Roboto"/>
              <a:ea typeface="Roboto"/>
              <a:cs typeface="Roboto"/>
              <a:sym typeface="Roboto"/>
            </a:endParaRPr>
          </a:p>
        </p:txBody>
      </p:sp>
      <p:sp>
        <p:nvSpPr>
          <p:cNvPr id="955" name="Google Shape;955;p111"/>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600">
              <a:solidFill>
                <a:schemeClr val="dk2"/>
              </a:solidFill>
              <a:latin typeface="Roboto"/>
              <a:ea typeface="Roboto"/>
              <a:cs typeface="Roboto"/>
              <a:sym typeface="Roboto"/>
            </a:endParaRPr>
          </a:p>
        </p:txBody>
      </p:sp>
      <p:sp>
        <p:nvSpPr>
          <p:cNvPr id="956" name="Google Shape;956;p111"/>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600">
              <a:solidFill>
                <a:schemeClr val="dk2"/>
              </a:solidFill>
              <a:latin typeface="Roboto"/>
              <a:ea typeface="Roboto"/>
              <a:cs typeface="Roboto"/>
              <a:sym typeface="Roboto"/>
            </a:endParaRPr>
          </a:p>
        </p:txBody>
      </p:sp>
      <p:sp>
        <p:nvSpPr>
          <p:cNvPr id="957" name="Google Shape;957;p111"/>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600">
              <a:solidFill>
                <a:schemeClr val="dk2"/>
              </a:solidFill>
              <a:latin typeface="Roboto"/>
              <a:ea typeface="Roboto"/>
              <a:cs typeface="Roboto"/>
              <a:sym typeface="Roboto"/>
            </a:endParaRPr>
          </a:p>
        </p:txBody>
      </p:sp>
      <p:sp>
        <p:nvSpPr>
          <p:cNvPr id="958" name="Google Shape;958;p111"/>
          <p:cNvSpPr txBox="1"/>
          <p:nvPr/>
        </p:nvSpPr>
        <p:spPr>
          <a:xfrm>
            <a:off x="1354400" y="1129175"/>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2"/>
              </a:solidFill>
              <a:latin typeface="Roboto Light"/>
              <a:ea typeface="Roboto Light"/>
              <a:cs typeface="Roboto Light"/>
              <a:sym typeface="Roboto Light"/>
            </a:endParaRPr>
          </a:p>
        </p:txBody>
      </p:sp>
      <p:sp>
        <p:nvSpPr>
          <p:cNvPr id="959" name="Google Shape;959;p111"/>
          <p:cNvSpPr txBox="1"/>
          <p:nvPr/>
        </p:nvSpPr>
        <p:spPr>
          <a:xfrm>
            <a:off x="1354400" y="1787875"/>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2"/>
              </a:solidFill>
              <a:latin typeface="Roboto Light"/>
              <a:ea typeface="Roboto Light"/>
              <a:cs typeface="Roboto Light"/>
              <a:sym typeface="Roboto Light"/>
            </a:endParaRPr>
          </a:p>
        </p:txBody>
      </p:sp>
      <p:sp>
        <p:nvSpPr>
          <p:cNvPr id="960" name="Google Shape;960;p111"/>
          <p:cNvSpPr txBox="1"/>
          <p:nvPr/>
        </p:nvSpPr>
        <p:spPr>
          <a:xfrm>
            <a:off x="1354400" y="2444663"/>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2"/>
              </a:solidFill>
              <a:latin typeface="Roboto Light"/>
              <a:ea typeface="Roboto Light"/>
              <a:cs typeface="Roboto Light"/>
              <a:sym typeface="Roboto Light"/>
            </a:endParaRPr>
          </a:p>
        </p:txBody>
      </p:sp>
      <p:sp>
        <p:nvSpPr>
          <p:cNvPr id="961" name="Google Shape;961;p111"/>
          <p:cNvSpPr txBox="1"/>
          <p:nvPr/>
        </p:nvSpPr>
        <p:spPr>
          <a:xfrm>
            <a:off x="1354400" y="3103363"/>
            <a:ext cx="7116000" cy="4863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None/>
            </a:pPr>
            <a:r>
              <a:t/>
            </a:r>
            <a:endParaRPr sz="1600">
              <a:solidFill>
                <a:schemeClr val="dk2"/>
              </a:solidFill>
              <a:latin typeface="Roboto Light"/>
              <a:ea typeface="Roboto Light"/>
              <a:cs typeface="Roboto Light"/>
              <a:sym typeface="Roboto Light"/>
            </a:endParaRPr>
          </a:p>
        </p:txBody>
      </p:sp>
      <p:sp>
        <p:nvSpPr>
          <p:cNvPr id="962" name="Google Shape;962;p111"/>
          <p:cNvSpPr txBox="1"/>
          <p:nvPr/>
        </p:nvSpPr>
        <p:spPr>
          <a:xfrm>
            <a:off x="1354400" y="37601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2E5E73"/>
              </a:buClr>
              <a:buSzPts val="1400"/>
              <a:buFont typeface="Arial"/>
              <a:buNone/>
            </a:pPr>
            <a:r>
              <a:rPr lang="en" sz="1600">
                <a:solidFill>
                  <a:schemeClr val="dk2"/>
                </a:solidFill>
                <a:latin typeface="Roboto"/>
                <a:ea typeface="Roboto"/>
                <a:cs typeface="Roboto"/>
                <a:sym typeface="Roboto"/>
              </a:rPr>
              <a:t>Enter the unique Kahoot! </a:t>
            </a:r>
            <a:r>
              <a:rPr b="1" lang="en" sz="1600">
                <a:solidFill>
                  <a:schemeClr val="dk2"/>
                </a:solidFill>
                <a:latin typeface="Roboto"/>
                <a:ea typeface="Roboto"/>
                <a:cs typeface="Roboto"/>
                <a:sym typeface="Roboto"/>
              </a:rPr>
              <a:t>code</a:t>
            </a:r>
            <a:r>
              <a:rPr lang="en" sz="1600">
                <a:solidFill>
                  <a:schemeClr val="dk2"/>
                </a:solidFill>
                <a:latin typeface="Roboto Light"/>
                <a:ea typeface="Roboto Light"/>
                <a:cs typeface="Roboto Light"/>
                <a:sym typeface="Roboto Light"/>
              </a:rPr>
              <a:t>.</a:t>
            </a:r>
            <a:endParaRPr sz="1600">
              <a:solidFill>
                <a:schemeClr val="dk2"/>
              </a:solidFill>
              <a:latin typeface="Roboto Light"/>
              <a:ea typeface="Roboto Light"/>
              <a:cs typeface="Roboto Light"/>
              <a:sym typeface="Roboto Light"/>
            </a:endParaRPr>
          </a:p>
        </p:txBody>
      </p:sp>
      <p:sp>
        <p:nvSpPr>
          <p:cNvPr id="963" name="Google Shape;963;p111"/>
          <p:cNvSpPr txBox="1"/>
          <p:nvPr/>
        </p:nvSpPr>
        <p:spPr>
          <a:xfrm>
            <a:off x="1892125" y="127400"/>
            <a:ext cx="6940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600">
                <a:solidFill>
                  <a:schemeClr val="dk2"/>
                </a:solidFill>
                <a:latin typeface="Roboto"/>
                <a:ea typeface="Roboto"/>
                <a:cs typeface="Roboto"/>
                <a:sym typeface="Roboto"/>
              </a:rPr>
              <a:t>Setup</a:t>
            </a:r>
            <a:endParaRPr sz="2600">
              <a:solidFill>
                <a:schemeClr val="dk2"/>
              </a:solidFill>
              <a:latin typeface="Roboto"/>
              <a:ea typeface="Roboto"/>
              <a:cs typeface="Roboto"/>
              <a:sym typeface="Roboto"/>
            </a:endParaRPr>
          </a:p>
        </p:txBody>
      </p:sp>
      <p:sp>
        <p:nvSpPr>
          <p:cNvPr id="964" name="Google Shape;964;p111"/>
          <p:cNvSpPr txBox="1"/>
          <p:nvPr/>
        </p:nvSpPr>
        <p:spPr>
          <a:xfrm>
            <a:off x="1354400" y="31033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Follow the instructions on the screen by going to</a:t>
            </a:r>
            <a:r>
              <a:rPr lang="en" sz="1600">
                <a:solidFill>
                  <a:schemeClr val="dk2"/>
                </a:solidFill>
                <a:latin typeface="Roboto Light"/>
                <a:ea typeface="Roboto Light"/>
                <a:cs typeface="Roboto Light"/>
                <a:sym typeface="Roboto Light"/>
              </a:rPr>
              <a:t> </a:t>
            </a:r>
            <a:r>
              <a:rPr b="1" lang="en" sz="1600" u="sng">
                <a:solidFill>
                  <a:schemeClr val="dk2"/>
                </a:solidFill>
                <a:latin typeface="Roboto"/>
                <a:ea typeface="Roboto"/>
                <a:cs typeface="Roboto"/>
                <a:sym typeface="Roboto"/>
                <a:hlinkClick r:id="rId3">
                  <a:extLst>
                    <a:ext uri="{A12FA001-AC4F-418D-AE19-62706E023703}">
                      <ahyp:hlinkClr val="tx"/>
                    </a:ext>
                  </a:extLst>
                </a:hlinkClick>
              </a:rPr>
              <a:t>kahoot.it</a:t>
            </a:r>
            <a:r>
              <a:rPr lang="en" sz="1600">
                <a:solidFill>
                  <a:schemeClr val="dk2"/>
                </a:solidFill>
                <a:latin typeface="Roboto Light"/>
                <a:ea typeface="Roboto Light"/>
                <a:cs typeface="Roboto Light"/>
                <a:sym typeface="Roboto Light"/>
              </a:rPr>
              <a:t>.</a:t>
            </a:r>
            <a:endParaRPr sz="1600">
              <a:solidFill>
                <a:schemeClr val="dk2"/>
              </a:solidFill>
              <a:latin typeface="Roboto Light"/>
              <a:ea typeface="Roboto Light"/>
              <a:cs typeface="Roboto Light"/>
              <a:sym typeface="Roboto Light"/>
            </a:endParaRPr>
          </a:p>
        </p:txBody>
      </p:sp>
      <p:sp>
        <p:nvSpPr>
          <p:cNvPr id="965" name="Google Shape;965;p111"/>
          <p:cNvSpPr txBox="1"/>
          <p:nvPr/>
        </p:nvSpPr>
        <p:spPr>
          <a:xfrm>
            <a:off x="1354400" y="244851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Leave all the other options as</a:t>
            </a:r>
            <a:r>
              <a:rPr lang="en" sz="1600">
                <a:solidFill>
                  <a:schemeClr val="dk2"/>
                </a:solidFill>
                <a:latin typeface="Roboto Light"/>
                <a:ea typeface="Roboto Light"/>
                <a:cs typeface="Roboto Light"/>
                <a:sym typeface="Roboto Light"/>
              </a:rPr>
              <a:t> </a:t>
            </a:r>
            <a:r>
              <a:rPr b="1" lang="en" sz="1600">
                <a:solidFill>
                  <a:schemeClr val="dk2"/>
                </a:solidFill>
                <a:latin typeface="Roboto"/>
                <a:ea typeface="Roboto"/>
                <a:cs typeface="Roboto"/>
                <a:sym typeface="Roboto"/>
              </a:rPr>
              <a:t>default</a:t>
            </a:r>
            <a:r>
              <a:rPr lang="en" sz="1600">
                <a:solidFill>
                  <a:schemeClr val="dk2"/>
                </a:solidFill>
                <a:latin typeface="Roboto Light"/>
                <a:ea typeface="Roboto Light"/>
                <a:cs typeface="Roboto Light"/>
                <a:sym typeface="Roboto Light"/>
              </a:rPr>
              <a:t>.</a:t>
            </a:r>
            <a:endParaRPr sz="1600">
              <a:solidFill>
                <a:schemeClr val="dk2"/>
              </a:solidFill>
              <a:latin typeface="Roboto Light"/>
              <a:ea typeface="Roboto Light"/>
              <a:cs typeface="Roboto Light"/>
              <a:sym typeface="Roboto Light"/>
            </a:endParaRPr>
          </a:p>
        </p:txBody>
      </p:sp>
      <p:sp>
        <p:nvSpPr>
          <p:cNvPr id="966" name="Google Shape;966;p111"/>
          <p:cNvSpPr txBox="1"/>
          <p:nvPr/>
        </p:nvSpPr>
        <p:spPr>
          <a:xfrm>
            <a:off x="1354400" y="179171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Select </a:t>
            </a:r>
            <a:r>
              <a:rPr b="1" lang="en" sz="1600">
                <a:solidFill>
                  <a:schemeClr val="dk2"/>
                </a:solidFill>
                <a:latin typeface="Roboto"/>
                <a:ea typeface="Roboto"/>
                <a:cs typeface="Roboto"/>
                <a:sym typeface="Roboto"/>
              </a:rPr>
              <a:t>Classic</a:t>
            </a:r>
            <a:r>
              <a:rPr lang="en" sz="1600">
                <a:solidFill>
                  <a:schemeClr val="dk2"/>
                </a:solidFill>
                <a:latin typeface="Roboto"/>
                <a:ea typeface="Roboto"/>
                <a:cs typeface="Roboto"/>
                <a:sym typeface="Roboto"/>
              </a:rPr>
              <a:t> if you are competing individually and </a:t>
            </a:r>
            <a:r>
              <a:rPr b="1" lang="en" sz="1600">
                <a:solidFill>
                  <a:schemeClr val="dk2"/>
                </a:solidFill>
                <a:latin typeface="Roboto"/>
                <a:ea typeface="Roboto"/>
                <a:cs typeface="Roboto"/>
                <a:sym typeface="Roboto"/>
              </a:rPr>
              <a:t>Team Mode</a:t>
            </a:r>
            <a:r>
              <a:rPr lang="en" sz="1600">
                <a:solidFill>
                  <a:schemeClr val="dk2"/>
                </a:solidFill>
                <a:latin typeface="Roboto"/>
                <a:ea typeface="Roboto"/>
                <a:cs typeface="Roboto"/>
                <a:sym typeface="Roboto"/>
              </a:rPr>
              <a:t> if you are competing in a group.</a:t>
            </a:r>
            <a:endParaRPr sz="1600">
              <a:solidFill>
                <a:schemeClr val="dk2"/>
              </a:solidFill>
              <a:latin typeface="Roboto"/>
              <a:ea typeface="Roboto"/>
              <a:cs typeface="Roboto"/>
              <a:sym typeface="Roboto"/>
            </a:endParaRPr>
          </a:p>
        </p:txBody>
      </p:sp>
      <p:sp>
        <p:nvSpPr>
          <p:cNvPr id="967" name="Google Shape;967;p111"/>
          <p:cNvSpPr txBox="1"/>
          <p:nvPr/>
        </p:nvSpPr>
        <p:spPr>
          <a:xfrm>
            <a:off x="1354400" y="11310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Roboto"/>
                <a:ea typeface="Roboto"/>
                <a:cs typeface="Roboto"/>
                <a:sym typeface="Roboto"/>
              </a:rPr>
              <a:t>Select </a:t>
            </a:r>
            <a:r>
              <a:rPr b="1" lang="en" sz="1600">
                <a:solidFill>
                  <a:schemeClr val="dk2"/>
                </a:solidFill>
                <a:latin typeface="Roboto"/>
                <a:ea typeface="Roboto"/>
                <a:cs typeface="Roboto"/>
                <a:sym typeface="Roboto"/>
              </a:rPr>
              <a:t>Play</a:t>
            </a:r>
            <a:r>
              <a:rPr lang="en" sz="1600">
                <a:solidFill>
                  <a:schemeClr val="dk2"/>
                </a:solidFill>
                <a:latin typeface="Roboto"/>
                <a:ea typeface="Roboto"/>
                <a:cs typeface="Roboto"/>
                <a:sym typeface="Roboto"/>
              </a:rPr>
              <a:t> if you are logged in. Select </a:t>
            </a:r>
            <a:r>
              <a:rPr b="1" lang="en" sz="1600">
                <a:solidFill>
                  <a:schemeClr val="dk2"/>
                </a:solidFill>
                <a:latin typeface="Roboto"/>
                <a:ea typeface="Roboto"/>
                <a:cs typeface="Roboto"/>
                <a:sym typeface="Roboto"/>
              </a:rPr>
              <a:t>Play as Guest</a:t>
            </a:r>
            <a:r>
              <a:rPr lang="en" sz="1600">
                <a:solidFill>
                  <a:schemeClr val="dk2"/>
                </a:solidFill>
                <a:latin typeface="Roboto"/>
                <a:ea typeface="Roboto"/>
                <a:cs typeface="Roboto"/>
                <a:sym typeface="Roboto"/>
              </a:rPr>
              <a:t> if you do not have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a Kahoot! account.</a:t>
            </a:r>
            <a:endParaRPr sz="1600">
              <a:solidFill>
                <a:schemeClr val="dk2"/>
              </a:solidFill>
              <a:latin typeface="Roboto"/>
              <a:ea typeface="Roboto"/>
              <a:cs typeface="Roboto"/>
              <a:sym typeface="Roboto"/>
            </a:endParaRPr>
          </a:p>
        </p:txBody>
      </p:sp>
      <p:pic>
        <p:nvPicPr>
          <p:cNvPr id="968" name="Google Shape;968;p111"/>
          <p:cNvPicPr preferRelativeResize="0"/>
          <p:nvPr/>
        </p:nvPicPr>
        <p:blipFill rotWithShape="1">
          <a:blip r:embed="rId4">
            <a:alphaModFix/>
          </a:blip>
          <a:srcRect b="27568" l="0" r="0" t="23342"/>
          <a:stretch/>
        </p:blipFill>
        <p:spPr>
          <a:xfrm>
            <a:off x="440125" y="146450"/>
            <a:ext cx="1452000" cy="534600"/>
          </a:xfrm>
          <a:prstGeom prst="roundRect">
            <a:avLst>
              <a:gd fmla="val 16667" name="adj"/>
            </a:avLst>
          </a:prstGeom>
          <a:noFill/>
          <a:ln>
            <a:noFill/>
          </a:ln>
        </p:spPr>
      </p:pic>
      <p:grpSp>
        <p:nvGrpSpPr>
          <p:cNvPr id="969" name="Google Shape;969;p111"/>
          <p:cNvGrpSpPr/>
          <p:nvPr/>
        </p:nvGrpSpPr>
        <p:grpSpPr>
          <a:xfrm>
            <a:off x="440125" y="4413095"/>
            <a:ext cx="776900" cy="486300"/>
            <a:chOff x="457200" y="1466425"/>
            <a:chExt cx="776900" cy="486300"/>
          </a:xfrm>
        </p:grpSpPr>
        <p:sp>
          <p:nvSpPr>
            <p:cNvPr id="970" name="Google Shape;970;p111"/>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a:t>
              </a:r>
              <a:r>
                <a:rPr lang="en" sz="3000">
                  <a:solidFill>
                    <a:schemeClr val="dk2"/>
                  </a:solidFill>
                  <a:latin typeface="Roboto"/>
                  <a:ea typeface="Roboto"/>
                  <a:cs typeface="Roboto"/>
                  <a:sym typeface="Roboto"/>
                </a:rPr>
                <a:t>6</a:t>
              </a:r>
              <a:endParaRPr i="0" sz="3000" u="none" cap="none" strike="noStrike">
                <a:solidFill>
                  <a:schemeClr val="dk2"/>
                </a:solidFill>
                <a:latin typeface="Roboto"/>
                <a:ea typeface="Roboto"/>
                <a:cs typeface="Roboto"/>
                <a:sym typeface="Roboto"/>
              </a:endParaRPr>
            </a:p>
          </p:txBody>
        </p:sp>
        <p:sp>
          <p:nvSpPr>
            <p:cNvPr id="971" name="Google Shape;971;p111"/>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972" name="Google Shape;972;p111"/>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sz="1600">
              <a:solidFill>
                <a:schemeClr val="dk2"/>
              </a:solidFill>
              <a:latin typeface="Roboto"/>
              <a:ea typeface="Roboto"/>
              <a:cs typeface="Roboto"/>
              <a:sym typeface="Roboto"/>
            </a:endParaRPr>
          </a:p>
        </p:txBody>
      </p:sp>
      <p:sp>
        <p:nvSpPr>
          <p:cNvPr id="973" name="Google Shape;973;p111"/>
          <p:cNvSpPr txBox="1"/>
          <p:nvPr/>
        </p:nvSpPr>
        <p:spPr>
          <a:xfrm>
            <a:off x="1354400" y="4416963"/>
            <a:ext cx="7116000" cy="48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2E5E73"/>
              </a:buClr>
              <a:buSzPts val="1400"/>
              <a:buFont typeface="Arial"/>
              <a:buNone/>
            </a:pPr>
            <a:r>
              <a:rPr lang="en" sz="1600">
                <a:solidFill>
                  <a:schemeClr val="dk2"/>
                </a:solidFill>
                <a:latin typeface="Roboto"/>
                <a:ea typeface="Roboto"/>
                <a:cs typeface="Roboto"/>
                <a:sym typeface="Roboto"/>
              </a:rPr>
              <a:t>Select </a:t>
            </a:r>
            <a:r>
              <a:rPr b="1" lang="en" sz="1600">
                <a:solidFill>
                  <a:schemeClr val="dk2"/>
                </a:solidFill>
                <a:latin typeface="Roboto"/>
                <a:ea typeface="Roboto"/>
                <a:cs typeface="Roboto"/>
                <a:sym typeface="Roboto"/>
              </a:rPr>
              <a:t>Start</a:t>
            </a:r>
            <a:r>
              <a:rPr lang="en" sz="1600">
                <a:solidFill>
                  <a:schemeClr val="dk2"/>
                </a:solidFill>
                <a:latin typeface="Roboto"/>
                <a:ea typeface="Roboto"/>
                <a:cs typeface="Roboto"/>
                <a:sym typeface="Roboto"/>
              </a:rPr>
              <a:t> to begin.</a:t>
            </a:r>
            <a:endParaRPr sz="1600">
              <a:solidFill>
                <a:schemeClr val="dk2"/>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