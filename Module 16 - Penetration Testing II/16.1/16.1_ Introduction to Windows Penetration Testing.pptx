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Lst>
  <p:sldSz cy="5143500" cx="9144000"/>
  <p:notesSz cx="6858000" cy="9144000"/>
  <p:embeddedFontLst>
    <p:embeddedFont>
      <p:font typeface="Roboto"/>
      <p:regular r:id="rId79"/>
      <p:bold r:id="rId80"/>
      <p:italic r:id="rId81"/>
      <p:boldItalic r:id="rId82"/>
    </p:embeddedFont>
    <p:embeddedFont>
      <p:font typeface="Roboto Medium"/>
      <p:regular r:id="rId83"/>
      <p:bold r:id="rId84"/>
      <p:italic r:id="rId85"/>
      <p:boldItalic r:id="rId86"/>
    </p:embeddedFont>
    <p:embeddedFont>
      <p:font typeface="Inconsolata"/>
      <p:regular r:id="rId87"/>
      <p:bold r:id="rId88"/>
    </p:embeddedFont>
    <p:embeddedFont>
      <p:font typeface="Inconsolata SemiBold"/>
      <p:regular r:id="rId89"/>
      <p:bold r:id="rId90"/>
    </p:embeddedFont>
    <p:embeddedFont>
      <p:font typeface="Roboto Light"/>
      <p:regular r:id="rId91"/>
      <p:bold r:id="rId92"/>
      <p:italic r:id="rId93"/>
      <p:boldItalic r:id="rId9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913C7F-31B9-4ADE-BA88-58018638AE0A}">
  <a:tblStyle styleId="{F6913C7F-31B9-4ADE-BA88-58018638AE0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obotoMedium-bold.fntdata"/><Relationship Id="rId83" Type="http://schemas.openxmlformats.org/officeDocument/2006/relationships/font" Target="fonts/RobotoMedium-regular.fntdata"/><Relationship Id="rId42" Type="http://schemas.openxmlformats.org/officeDocument/2006/relationships/slide" Target="slides/slide37.xml"/><Relationship Id="rId86" Type="http://schemas.openxmlformats.org/officeDocument/2006/relationships/font" Target="fonts/RobotoMedium-boldItalic.fntdata"/><Relationship Id="rId41" Type="http://schemas.openxmlformats.org/officeDocument/2006/relationships/slide" Target="slides/slide36.xml"/><Relationship Id="rId85" Type="http://schemas.openxmlformats.org/officeDocument/2006/relationships/font" Target="fonts/RobotoMedium-italic.fntdata"/><Relationship Id="rId44" Type="http://schemas.openxmlformats.org/officeDocument/2006/relationships/slide" Target="slides/slide39.xml"/><Relationship Id="rId88" Type="http://schemas.openxmlformats.org/officeDocument/2006/relationships/font" Target="fonts/Inconsolata-bold.fntdata"/><Relationship Id="rId43" Type="http://schemas.openxmlformats.org/officeDocument/2006/relationships/slide" Target="slides/slide38.xml"/><Relationship Id="rId87" Type="http://schemas.openxmlformats.org/officeDocument/2006/relationships/font" Target="fonts/Inconsolata-regular.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InconsolataSemiBold-regular.fntdata"/><Relationship Id="rId80" Type="http://schemas.openxmlformats.org/officeDocument/2006/relationships/font" Target="fonts/Roboto-bold.fntdata"/><Relationship Id="rId82" Type="http://schemas.openxmlformats.org/officeDocument/2006/relationships/font" Target="fonts/Roboto-boldItalic.fntdata"/><Relationship Id="rId81"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font" Target="fonts/Roboto-regular.fntdata"/><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94" Type="http://schemas.openxmlformats.org/officeDocument/2006/relationships/font" Target="fonts/RobotoLight-boldItalic.fntdata"/><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RobotoLight-regular.fntdata"/><Relationship Id="rId90" Type="http://schemas.openxmlformats.org/officeDocument/2006/relationships/font" Target="fonts/InconsolataSemiBold-bold.fntdata"/><Relationship Id="rId93" Type="http://schemas.openxmlformats.org/officeDocument/2006/relationships/font" Target="fonts/RobotoLight-italic.fntdata"/><Relationship Id="rId92" Type="http://schemas.openxmlformats.org/officeDocument/2006/relationships/font" Target="fonts/RobotoLight-bold.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b3139206ba_2_2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b3139206ba_2_2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d515f2284c_4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d515f2284c_4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b3139206ba_2_6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b3139206ba_2_6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b3139206ba_2_8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b3139206ba_2_8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10fabb502f_5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10fabb502f_5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b3139206ba_2_150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b3139206ba_2_15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b3139206ba_2_15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b3139206ba_2_15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b3139206ba_2_15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2b3139206ba_2_15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b3139206ba_2_15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b3139206ba_2_15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b3139206ba_2_15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b3139206ba_2_15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b3139206ba_2_15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2b3139206ba_2_15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b3139206ba_2_15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b3139206ba_2_15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b3139206ba_2_15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b3139206ba_2_15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2b3139206ba_2_15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2b3139206ba_2_15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b3139206ba_2_15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b3139206ba_2_15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2b3139206ba_2_15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2b3139206ba_2_15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b3139206ba_2_15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2b3139206ba_2_15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b3139206ba_2_15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2b3139206ba_2_15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2b3139206ba_2_15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2b3139206ba_2_15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2b3139206ba_2_15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2b3139206ba_2_15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b3139206ba_2_15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2b3139206ba_2_15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2b3139206ba_2_15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2b3139206ba_2_15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b3139206ba_2_15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2b3139206ba_2_15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shutterstock_488480038</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b3139206ba_2_15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2b3139206ba_2_15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10fabb502f_5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10fabb502f_5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2b3139206ba_2_15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2b3139206ba_2_15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2b3139206ba_2_15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2b3139206ba_2_15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2b3139206ba_2_15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2b3139206ba_2_15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10fabb502f_5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310fabb502f_5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10fabb502f_5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310fabb502f_5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10fabb502f_5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310fabb502f_5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2b3139206ba_2_15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2b3139206ba_2_15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2b3139206ba_2_15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2b3139206ba_2_15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2b3139206ba_2_15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2b3139206ba_2_15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shutterstock_1802004688</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2b3139206ba_2_15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2b3139206ba_2_15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10fabb502f_5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310fabb502f_5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2b3139206ba_2_15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2b3139206ba_2_15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10fabb502f_5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310fabb502f_5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10fabb502f_5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310fabb502f_5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2b3139206ba_2_15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2b3139206ba_2_15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2b3139206ba_2_15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2b3139206ba_2_15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10fabb502f_5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10fabb502f_5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3120247aeda_2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3120247aeda_2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3120247aeda_2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3120247aeda_2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120247aeda_2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3120247aeda_2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10fabb502f_5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310fabb502f_5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2b3139206ba_2_15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2b3139206ba_2_15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2b3139206ba_2_15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2b3139206ba_2_15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b3139206ba_2_15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2b3139206ba_2_15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2b3139206ba_2_15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2b3139206ba_2_15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2b3139206ba_2_15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2b3139206ba_2_15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g310fabb502f_5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8" name="Google Shape;1188;g310fabb502f_5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2b3139206ba_2_15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2b3139206ba_2_15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310fabb502f_5_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310fabb502f_5_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310fabb502f_5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310fabb502f_5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10fabb502f_5_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0" name="Google Shape;1300;g310fabb502f_5_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2b3139206ba_2_15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1" name="Google Shape;1331;g2b3139206ba_2_15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2b3139206ba_2_15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2b3139206ba_2_15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310fabb502f_5_9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310fabb502f_5_9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2b3139206ba_2_15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9" name="Google Shape;1359;g2b3139206ba_2_15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g2b3139206ba_2_15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6" name="Google Shape;1366;g2b3139206ba_2_15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2b3139206ba_2_15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0" name="Google Shape;1370;g2b3139206ba_2_15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g2b3139206ba_2_158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4" name="Google Shape;1374;g2b3139206ba_2_158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2b3139206ba_2_15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2b3139206ba_2_15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2b3139206ba_2_15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2b3139206ba_2_159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310fabb502f_5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3" name="Google Shape;1423;g310fabb502f_5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g2b3139206ba_2_15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0" name="Google Shape;1430;g2b3139206ba_2_15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g2b3139206ba_2_159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5" name="Google Shape;1435;g2b3139206ba_2_159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900">
                <a:solidFill>
                  <a:schemeClr val="dk1"/>
                </a:solidFill>
                <a:latin typeface="Roboto"/>
                <a:ea typeface="Roboto"/>
                <a:cs typeface="Roboto"/>
                <a:sym typeface="Roboto"/>
              </a:rPr>
              <a:t>Image source: shutterstock_393006970</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2b3139206ba_2_159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2b3139206ba_2_159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g310fabb502f_5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7" name="Google Shape;1447;g310fabb502f_5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g2b3139206ba_2_15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4" name="Google Shape;1454;g2b3139206ba_2_15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g2b3139206ba_2_15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8" name="Google Shape;1458;g2b3139206ba_2_15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2b3139206ba_2_15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2b3139206ba_2_15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2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2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2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2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3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3706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41143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4284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7424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20565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3707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20566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7425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4284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41143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a:t>
            </a:r>
            <a:r>
              <a:rPr lang="en" sz="800">
                <a:solidFill>
                  <a:srgbClr val="FFFFFF"/>
                </a:solidFill>
                <a:latin typeface="Roboto"/>
                <a:ea typeface="Roboto"/>
                <a:cs typeface="Roboto"/>
                <a:sym typeface="Roboto"/>
              </a:rPr>
              <a:t>4</a:t>
            </a:r>
            <a:r>
              <a:rPr b="0" i="0" lang="en" sz="800" u="none" cap="none" strike="noStrike">
                <a:solidFill>
                  <a:srgbClr val="FFFFFF"/>
                </a:solidFill>
                <a:latin typeface="Roboto"/>
                <a:ea typeface="Roboto"/>
                <a:cs typeface="Roboto"/>
                <a:sym typeface="Roboto"/>
              </a:rPr>
              <a:t>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35823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3592327" y="1823550"/>
            <a:ext cx="56634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35824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35837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3583700" y="3314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4" name="Shape 104"/>
        <p:cNvGrpSpPr/>
        <p:nvPr/>
      </p:nvGrpSpPr>
      <p:grpSpPr>
        <a:xfrm>
          <a:off x="0" y="0"/>
          <a:ext cx="0" cy="0"/>
          <a:chOff x="0" y="0"/>
          <a:chExt cx="0" cy="0"/>
        </a:xfrm>
      </p:grpSpPr>
      <p:sp>
        <p:nvSpPr>
          <p:cNvPr id="105" name="Google Shape;105;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6" name="Google Shape;106;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8" name="Shape 108"/>
        <p:cNvGrpSpPr/>
        <p:nvPr/>
      </p:nvGrpSpPr>
      <p:grpSpPr>
        <a:xfrm>
          <a:off x="0" y="0"/>
          <a:ext cx="0" cy="0"/>
          <a:chOff x="0" y="0"/>
          <a:chExt cx="0" cy="0"/>
        </a:xfrm>
      </p:grpSpPr>
      <p:sp>
        <p:nvSpPr>
          <p:cNvPr id="109" name="Google Shape;109;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0" name="Google Shape;110;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2" name="Google Shape;112;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3" name="Shape 113"/>
        <p:cNvGrpSpPr/>
        <p:nvPr/>
      </p:nvGrpSpPr>
      <p:grpSpPr>
        <a:xfrm>
          <a:off x="0" y="0"/>
          <a:ext cx="0" cy="0"/>
          <a:chOff x="0" y="0"/>
          <a:chExt cx="0" cy="0"/>
        </a:xfrm>
      </p:grpSpPr>
      <p:sp>
        <p:nvSpPr>
          <p:cNvPr id="114" name="Google Shape;114;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5" name="Google Shape;115;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6" name="Google Shape;116;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8" name="Google Shape;118;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19" name="Shape 119"/>
        <p:cNvGrpSpPr/>
        <p:nvPr/>
      </p:nvGrpSpPr>
      <p:grpSpPr>
        <a:xfrm>
          <a:off x="0" y="0"/>
          <a:ext cx="0" cy="0"/>
          <a:chOff x="0" y="0"/>
          <a:chExt cx="0" cy="0"/>
        </a:xfrm>
      </p:grpSpPr>
      <p:sp>
        <p:nvSpPr>
          <p:cNvPr id="120" name="Google Shape;120;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1" name="Google Shape;121;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2" name="Google Shape;122;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3" name="Google Shape;123;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4" name="Shape 124"/>
        <p:cNvGrpSpPr/>
        <p:nvPr/>
      </p:nvGrpSpPr>
      <p:grpSpPr>
        <a:xfrm>
          <a:off x="0" y="0"/>
          <a:ext cx="0" cy="0"/>
          <a:chOff x="0" y="0"/>
          <a:chExt cx="0" cy="0"/>
        </a:xfrm>
      </p:grpSpPr>
      <p:sp>
        <p:nvSpPr>
          <p:cNvPr id="125" name="Google Shape;125;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6" name="Google Shape;126;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7" name="Google Shape;127;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8" name="Google Shape;128;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29" name="Shape 129"/>
        <p:cNvGrpSpPr/>
        <p:nvPr/>
      </p:nvGrpSpPr>
      <p:grpSpPr>
        <a:xfrm>
          <a:off x="0" y="0"/>
          <a:ext cx="0" cy="0"/>
          <a:chOff x="0" y="0"/>
          <a:chExt cx="0" cy="0"/>
        </a:xfrm>
      </p:grpSpPr>
      <p:sp>
        <p:nvSpPr>
          <p:cNvPr id="130" name="Google Shape;130;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1" name="Google Shape;131;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2" name="Shape 132"/>
        <p:cNvGrpSpPr/>
        <p:nvPr/>
      </p:nvGrpSpPr>
      <p:grpSpPr>
        <a:xfrm>
          <a:off x="0" y="0"/>
          <a:ext cx="0" cy="0"/>
          <a:chOff x="0" y="0"/>
          <a:chExt cx="0" cy="0"/>
        </a:xfrm>
      </p:grpSpPr>
      <p:sp>
        <p:nvSpPr>
          <p:cNvPr id="133" name="Google Shape;133;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4" name="Google Shape;134;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5" name="Shape 135"/>
        <p:cNvGrpSpPr/>
        <p:nvPr/>
      </p:nvGrpSpPr>
      <p:grpSpPr>
        <a:xfrm>
          <a:off x="0" y="0"/>
          <a:ext cx="0" cy="0"/>
          <a:chOff x="0" y="0"/>
          <a:chExt cx="0" cy="0"/>
        </a:xfrm>
      </p:grpSpPr>
      <p:sp>
        <p:nvSpPr>
          <p:cNvPr id="136" name="Google Shape;136;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7" name="Google Shape;137;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8" name="Shape 138"/>
        <p:cNvGrpSpPr/>
        <p:nvPr/>
      </p:nvGrpSpPr>
      <p:grpSpPr>
        <a:xfrm>
          <a:off x="0" y="0"/>
          <a:ext cx="0" cy="0"/>
          <a:chOff x="0" y="0"/>
          <a:chExt cx="0" cy="0"/>
        </a:xfrm>
      </p:grpSpPr>
      <p:pic>
        <p:nvPicPr>
          <p:cNvPr id="139" name="Google Shape;139;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0" name="Google Shape;140;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1" name="Google Shape;141;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2" name="Shape 142"/>
        <p:cNvGrpSpPr/>
        <p:nvPr/>
      </p:nvGrpSpPr>
      <p:grpSpPr>
        <a:xfrm>
          <a:off x="0" y="0"/>
          <a:ext cx="0" cy="0"/>
          <a:chOff x="0" y="0"/>
          <a:chExt cx="0" cy="0"/>
        </a:xfrm>
      </p:grpSpPr>
      <p:pic>
        <p:nvPicPr>
          <p:cNvPr id="143" name="Google Shape;143;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4" name="Google Shape;144;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5" name="Google Shape;145;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6" name="Shape 146"/>
        <p:cNvGrpSpPr/>
        <p:nvPr/>
      </p:nvGrpSpPr>
      <p:grpSpPr>
        <a:xfrm>
          <a:off x="0" y="0"/>
          <a:ext cx="0" cy="0"/>
          <a:chOff x="0" y="0"/>
          <a:chExt cx="0" cy="0"/>
        </a:xfrm>
      </p:grpSpPr>
      <p:pic>
        <p:nvPicPr>
          <p:cNvPr id="147" name="Google Shape;147;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8" name="Google Shape;148;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49" name="Shape 149"/>
        <p:cNvGrpSpPr/>
        <p:nvPr/>
      </p:nvGrpSpPr>
      <p:grpSpPr>
        <a:xfrm>
          <a:off x="0" y="0"/>
          <a:ext cx="0" cy="0"/>
          <a:chOff x="0" y="0"/>
          <a:chExt cx="0" cy="0"/>
        </a:xfrm>
      </p:grpSpPr>
      <p:pic>
        <p:nvPicPr>
          <p:cNvPr id="150" name="Google Shape;150;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1" name="Google Shape;151;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2" name="Shape 152"/>
        <p:cNvGrpSpPr/>
        <p:nvPr/>
      </p:nvGrpSpPr>
      <p:grpSpPr>
        <a:xfrm>
          <a:off x="0" y="0"/>
          <a:ext cx="0" cy="0"/>
          <a:chOff x="0" y="0"/>
          <a:chExt cx="0" cy="0"/>
        </a:xfrm>
      </p:grpSpPr>
      <p:pic>
        <p:nvPicPr>
          <p:cNvPr id="153" name="Google Shape;153;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4" name="Google Shape;154;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a:t>
            </a:r>
            <a:r>
              <a:rPr lang="en" sz="4000">
                <a:solidFill>
                  <a:schemeClr val="lt1"/>
                </a:solidFill>
                <a:latin typeface="Roboto"/>
                <a:ea typeface="Roboto"/>
                <a:cs typeface="Roboto"/>
                <a:sym typeface="Roboto"/>
              </a:rPr>
              <a:t>R</a:t>
            </a:r>
            <a:r>
              <a:rPr b="0" i="0" lang="en" sz="4000" u="none" cap="none" strike="noStrike">
                <a:solidFill>
                  <a:schemeClr val="lt1"/>
                </a:solidFill>
                <a:latin typeface="Roboto"/>
                <a:ea typeface="Roboto"/>
                <a:cs typeface="Roboto"/>
                <a:sym typeface="Roboto"/>
              </a:rPr>
              <a:t>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5" name="Shape 155"/>
        <p:cNvGrpSpPr/>
        <p:nvPr/>
      </p:nvGrpSpPr>
      <p:grpSpPr>
        <a:xfrm>
          <a:off x="0" y="0"/>
          <a:ext cx="0" cy="0"/>
          <a:chOff x="0" y="0"/>
          <a:chExt cx="0" cy="0"/>
        </a:xfrm>
      </p:grpSpPr>
      <p:pic>
        <p:nvPicPr>
          <p:cNvPr id="156" name="Google Shape;156;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7" name="Google Shape;157;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8" name="Google Shape;158;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59" name="Shape 159"/>
        <p:cNvGrpSpPr/>
        <p:nvPr/>
      </p:nvGrpSpPr>
      <p:grpSpPr>
        <a:xfrm>
          <a:off x="0" y="0"/>
          <a:ext cx="0" cy="0"/>
          <a:chOff x="0" y="0"/>
          <a:chExt cx="0" cy="0"/>
        </a:xfrm>
      </p:grpSpPr>
      <p:sp>
        <p:nvSpPr>
          <p:cNvPr id="160" name="Google Shape;160;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1" name="Google Shape;161;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2" name="Google Shape;162;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3" name="Shape 163"/>
        <p:cNvGrpSpPr/>
        <p:nvPr/>
      </p:nvGrpSpPr>
      <p:grpSpPr>
        <a:xfrm>
          <a:off x="0" y="0"/>
          <a:ext cx="0" cy="0"/>
          <a:chOff x="0" y="0"/>
          <a:chExt cx="0" cy="0"/>
        </a:xfrm>
      </p:grpSpPr>
      <p:sp>
        <p:nvSpPr>
          <p:cNvPr id="164" name="Google Shape;164;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5" name="Google Shape;165;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6" name="Shape 166"/>
        <p:cNvGrpSpPr/>
        <p:nvPr/>
      </p:nvGrpSpPr>
      <p:grpSpPr>
        <a:xfrm>
          <a:off x="0" y="0"/>
          <a:ext cx="0" cy="0"/>
          <a:chOff x="0" y="0"/>
          <a:chExt cx="0" cy="0"/>
        </a:xfrm>
      </p:grpSpPr>
      <p:sp>
        <p:nvSpPr>
          <p:cNvPr id="167" name="Google Shape;167;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8" name="Google Shape;168;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69" name="Google Shape;169;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0" name="Google Shape;170;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1" name="Google Shape;171;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2" name="Google Shape;172;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4" name="Google Shape;174;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5" name="Google Shape;175;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6" name="Shape 176"/>
        <p:cNvGrpSpPr/>
        <p:nvPr/>
      </p:nvGrpSpPr>
      <p:grpSpPr>
        <a:xfrm>
          <a:off x="0" y="0"/>
          <a:ext cx="0" cy="0"/>
          <a:chOff x="0" y="0"/>
          <a:chExt cx="0" cy="0"/>
        </a:xfrm>
      </p:grpSpPr>
      <p:sp>
        <p:nvSpPr>
          <p:cNvPr id="177" name="Google Shape;177;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8" name="Google Shape;178;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9" name="Google Shape;179;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0" name="Google Shape;180;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1" name="Shape 181"/>
        <p:cNvGrpSpPr/>
        <p:nvPr/>
      </p:nvGrpSpPr>
      <p:grpSpPr>
        <a:xfrm>
          <a:off x="0" y="0"/>
          <a:ext cx="0" cy="0"/>
          <a:chOff x="0" y="0"/>
          <a:chExt cx="0" cy="0"/>
        </a:xfrm>
      </p:grpSpPr>
      <p:sp>
        <p:nvSpPr>
          <p:cNvPr id="182" name="Google Shape;182;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3" name="Shape 183"/>
        <p:cNvGrpSpPr/>
        <p:nvPr/>
      </p:nvGrpSpPr>
      <p:grpSpPr>
        <a:xfrm>
          <a:off x="0" y="0"/>
          <a:ext cx="0" cy="0"/>
          <a:chOff x="0" y="0"/>
          <a:chExt cx="0" cy="0"/>
        </a:xfrm>
      </p:grpSpPr>
      <p:cxnSp>
        <p:nvCxnSpPr>
          <p:cNvPr id="184" name="Google Shape;184;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5" name="Google Shape;185;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6" name="Google Shape;186;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7" name="Google Shape;187;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88" name="Shape 188"/>
        <p:cNvGrpSpPr/>
        <p:nvPr/>
      </p:nvGrpSpPr>
      <p:grpSpPr>
        <a:xfrm>
          <a:off x="0" y="0"/>
          <a:ext cx="0" cy="0"/>
          <a:chOff x="0" y="0"/>
          <a:chExt cx="0" cy="0"/>
        </a:xfrm>
      </p:grpSpPr>
      <p:cxnSp>
        <p:nvCxnSpPr>
          <p:cNvPr id="189" name="Google Shape;189;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0" name="Google Shape;190;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1" name="Google Shape;191;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2" name="Google Shape;192;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3" name="Google Shape;193;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199" name="Google Shape;199;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0" name="Google Shape;200;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4" name="Google Shape;204;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5" name="Google Shape;205;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08" name="Google Shape;208;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09" name="Shape 209"/>
        <p:cNvGrpSpPr/>
        <p:nvPr/>
      </p:nvGrpSpPr>
      <p:grpSpPr>
        <a:xfrm>
          <a:off x="0" y="0"/>
          <a:ext cx="0" cy="0"/>
          <a:chOff x="0" y="0"/>
          <a:chExt cx="0" cy="0"/>
        </a:xfrm>
      </p:grpSpPr>
      <p:cxnSp>
        <p:nvCxnSpPr>
          <p:cNvPr id="210" name="Google Shape;210;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1" name="Google Shape;211;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2" name="Google Shape;212;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3" name="Google Shape;213;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4" name="Google Shape;214;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5" name="Shape 215"/>
        <p:cNvGrpSpPr/>
        <p:nvPr/>
      </p:nvGrpSpPr>
      <p:grpSpPr>
        <a:xfrm>
          <a:off x="0" y="0"/>
          <a:ext cx="0" cy="0"/>
          <a:chOff x="0" y="0"/>
          <a:chExt cx="0" cy="0"/>
        </a:xfrm>
      </p:grpSpPr>
      <p:cxnSp>
        <p:nvCxnSpPr>
          <p:cNvPr id="216" name="Google Shape;216;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7" name="Google Shape;217;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8" name="Google Shape;218;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9" name="Google Shape;219;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5" name="Google Shape;225;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6" name="Google Shape;226;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0" name="Google Shape;230;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1" name="Google Shape;231;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4" name="Google Shape;234;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5" name="Google Shape;235;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6" name="Shape 236"/>
        <p:cNvGrpSpPr/>
        <p:nvPr/>
      </p:nvGrpSpPr>
      <p:grpSpPr>
        <a:xfrm>
          <a:off x="0" y="0"/>
          <a:ext cx="0" cy="0"/>
          <a:chOff x="0" y="0"/>
          <a:chExt cx="0" cy="0"/>
        </a:xfrm>
      </p:grpSpPr>
      <p:sp>
        <p:nvSpPr>
          <p:cNvPr id="237" name="Google Shape;237;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39" name="Google Shape;239;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0" name="Google Shape;240;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48" name="Google Shape;248;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49" name="Google Shape;249;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0" name="Google Shape;250;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1" name="Google Shape;251;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2" name="Google Shape;252;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3" name="Google Shape;253;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4" name="Google Shape;254;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2" name="Shape 262"/>
        <p:cNvGrpSpPr/>
        <p:nvPr/>
      </p:nvGrpSpPr>
      <p:grpSpPr>
        <a:xfrm>
          <a:off x="0" y="0"/>
          <a:ext cx="0" cy="0"/>
          <a:chOff x="0" y="0"/>
          <a:chExt cx="0" cy="0"/>
        </a:xfrm>
      </p:grpSpPr>
      <p:sp>
        <p:nvSpPr>
          <p:cNvPr id="263" name="Google Shape;263;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5" name="Google Shape;265;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6" name="Google Shape;266;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7" name="Google Shape;267;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68" name="Google Shape;268;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69" name="Google Shape;269;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0" name="Google Shape;270;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1" name="Google Shape;271;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2" name="Shape 272"/>
        <p:cNvGrpSpPr/>
        <p:nvPr/>
      </p:nvGrpSpPr>
      <p:grpSpPr>
        <a:xfrm>
          <a:off x="0" y="0"/>
          <a:ext cx="0" cy="0"/>
          <a:chOff x="0" y="0"/>
          <a:chExt cx="0" cy="0"/>
        </a:xfrm>
      </p:grpSpPr>
      <p:sp>
        <p:nvSpPr>
          <p:cNvPr id="273" name="Google Shape;273;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5" name="Google Shape;275;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6" name="Google Shape;276;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7" name="Google Shape;277;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8" name="Google Shape;278;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79" name="Google Shape;279;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0" name="Google Shape;280;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1" name="Google Shape;281;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2" name="Shape 282"/>
        <p:cNvGrpSpPr/>
        <p:nvPr/>
      </p:nvGrpSpPr>
      <p:grpSpPr>
        <a:xfrm>
          <a:off x="0" y="0"/>
          <a:ext cx="0" cy="0"/>
          <a:chOff x="0" y="0"/>
          <a:chExt cx="0" cy="0"/>
        </a:xfrm>
      </p:grpSpPr>
      <p:sp>
        <p:nvSpPr>
          <p:cNvPr id="283" name="Google Shape;283;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5" name="Google Shape;285;p40"/>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286" name="Google Shape;286;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7" name="Shape 287"/>
        <p:cNvGrpSpPr/>
        <p:nvPr/>
      </p:nvGrpSpPr>
      <p:grpSpPr>
        <a:xfrm>
          <a:off x="0" y="0"/>
          <a:ext cx="0" cy="0"/>
          <a:chOff x="0" y="0"/>
          <a:chExt cx="0" cy="0"/>
        </a:xfrm>
      </p:grpSpPr>
      <p:sp>
        <p:nvSpPr>
          <p:cNvPr id="288" name="Google Shape;288;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9" name="Google Shape;289;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0" name="Google Shape;290;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1" name="Google Shape;291;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2" name="Shape 292"/>
        <p:cNvGrpSpPr/>
        <p:nvPr/>
      </p:nvGrpSpPr>
      <p:grpSpPr>
        <a:xfrm>
          <a:off x="0" y="0"/>
          <a:ext cx="0" cy="0"/>
          <a:chOff x="0" y="0"/>
          <a:chExt cx="0" cy="0"/>
        </a:xfrm>
      </p:grpSpPr>
      <p:sp>
        <p:nvSpPr>
          <p:cNvPr id="293" name="Google Shape;293;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4" name="Google Shape;294;p42"/>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295" name="Google Shape;295;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6" name="Google Shape;296;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7" name="Shape 297"/>
        <p:cNvGrpSpPr/>
        <p:nvPr/>
      </p:nvGrpSpPr>
      <p:grpSpPr>
        <a:xfrm>
          <a:off x="0" y="0"/>
          <a:ext cx="0" cy="0"/>
          <a:chOff x="0" y="0"/>
          <a:chExt cx="0" cy="0"/>
        </a:xfrm>
      </p:grpSpPr>
      <p:sp>
        <p:nvSpPr>
          <p:cNvPr id="298" name="Google Shape;298;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9" name="Google Shape;299;p43"/>
          <p:cNvGrpSpPr/>
          <p:nvPr/>
        </p:nvGrpSpPr>
        <p:grpSpPr>
          <a:xfrm>
            <a:off x="1074625" y="2258150"/>
            <a:ext cx="1473491" cy="980288"/>
            <a:chOff x="1074625" y="2258150"/>
            <a:chExt cx="1473491" cy="980288"/>
          </a:xfrm>
        </p:grpSpPr>
        <p:sp>
          <p:nvSpPr>
            <p:cNvPr id="300" name="Google Shape;300;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2" name="Google Shape;302;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3" name="Google Shape;303;p43"/>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04" name="Google Shape;304;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5" name="Shape 305"/>
        <p:cNvGrpSpPr/>
        <p:nvPr/>
      </p:nvGrpSpPr>
      <p:grpSpPr>
        <a:xfrm>
          <a:off x="0" y="0"/>
          <a:ext cx="0" cy="0"/>
          <a:chOff x="0" y="0"/>
          <a:chExt cx="0" cy="0"/>
        </a:xfrm>
      </p:grpSpPr>
      <p:sp>
        <p:nvSpPr>
          <p:cNvPr id="306" name="Google Shape;306;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7" name="Google Shape;307;p44"/>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08" name="Google Shape;308;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09" name="Google Shape;309;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0" name="Shape 310"/>
        <p:cNvGrpSpPr/>
        <p:nvPr/>
      </p:nvGrpSpPr>
      <p:grpSpPr>
        <a:xfrm>
          <a:off x="0" y="0"/>
          <a:ext cx="0" cy="0"/>
          <a:chOff x="0" y="0"/>
          <a:chExt cx="0" cy="0"/>
        </a:xfrm>
      </p:grpSpPr>
      <p:sp>
        <p:nvSpPr>
          <p:cNvPr id="311" name="Google Shape;311;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5" name="Google Shape;315;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6" name="Google Shape;316;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7" name="Shape 317"/>
        <p:cNvGrpSpPr/>
        <p:nvPr/>
      </p:nvGrpSpPr>
      <p:grpSpPr>
        <a:xfrm>
          <a:off x="0" y="0"/>
          <a:ext cx="0" cy="0"/>
          <a:chOff x="0" y="0"/>
          <a:chExt cx="0" cy="0"/>
        </a:xfrm>
      </p:grpSpPr>
      <p:sp>
        <p:nvSpPr>
          <p:cNvPr id="318" name="Google Shape;318;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19" name="Google Shape;319;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0" name="Google Shape;320;p46"/>
          <p:cNvGrpSpPr/>
          <p:nvPr/>
        </p:nvGrpSpPr>
        <p:grpSpPr>
          <a:xfrm>
            <a:off x="3972318" y="1206125"/>
            <a:ext cx="1051285" cy="920372"/>
            <a:chOff x="587700" y="-13400"/>
            <a:chExt cx="5735325" cy="5021125"/>
          </a:xfrm>
        </p:grpSpPr>
        <p:sp>
          <p:nvSpPr>
            <p:cNvPr id="321" name="Google Shape;321;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6" name="Google Shape;326;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7" name="Google Shape;327;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28" name="Shape 328"/>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29" name="Shape 329"/>
        <p:cNvGrpSpPr/>
        <p:nvPr/>
      </p:nvGrpSpPr>
      <p:grpSpPr>
        <a:xfrm>
          <a:off x="0" y="0"/>
          <a:ext cx="0" cy="0"/>
          <a:chOff x="0" y="0"/>
          <a:chExt cx="0" cy="0"/>
        </a:xfrm>
      </p:grpSpPr>
      <p:sp>
        <p:nvSpPr>
          <p:cNvPr id="330" name="Google Shape;330;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1" name="Google Shape;331;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32" name="Google Shape;332;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333" name="Shape 333"/>
        <p:cNvGrpSpPr/>
        <p:nvPr/>
      </p:nvGrpSpPr>
      <p:grpSpPr>
        <a:xfrm>
          <a:off x="0" y="0"/>
          <a:ext cx="0" cy="0"/>
          <a:chOff x="0" y="0"/>
          <a:chExt cx="0" cy="0"/>
        </a:xfrm>
      </p:grpSpPr>
      <p:sp>
        <p:nvSpPr>
          <p:cNvPr id="334" name="Google Shape;334;p4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algn="ctr">
              <a:spcBef>
                <a:spcPts val="0"/>
              </a:spcBef>
              <a:spcAft>
                <a:spcPts val="0"/>
              </a:spcAft>
              <a:buSzPts val="4000"/>
              <a:buFont typeface="Roboto Light"/>
              <a:buNone/>
              <a:defRPr b="0" sz="4000">
                <a:latin typeface="Roboto Light"/>
                <a:ea typeface="Roboto Light"/>
                <a:cs typeface="Roboto Light"/>
                <a:sym typeface="Roboto Light"/>
              </a:defRPr>
            </a:lvl1pPr>
            <a:lvl2pPr lvl="1">
              <a:spcBef>
                <a:spcPts val="0"/>
              </a:spcBef>
              <a:spcAft>
                <a:spcPts val="0"/>
              </a:spcAft>
              <a:buSzPts val="2800"/>
              <a:buFont typeface="Roboto Light"/>
              <a:buNone/>
              <a:defRPr>
                <a:latin typeface="Roboto Light"/>
                <a:ea typeface="Roboto Light"/>
                <a:cs typeface="Roboto Light"/>
                <a:sym typeface="Roboto Light"/>
              </a:defRPr>
            </a:lvl2pPr>
            <a:lvl3pPr lvl="2">
              <a:spcBef>
                <a:spcPts val="0"/>
              </a:spcBef>
              <a:spcAft>
                <a:spcPts val="0"/>
              </a:spcAft>
              <a:buSzPts val="2800"/>
              <a:buFont typeface="Roboto Light"/>
              <a:buNone/>
              <a:defRPr>
                <a:latin typeface="Roboto Light"/>
                <a:ea typeface="Roboto Light"/>
                <a:cs typeface="Roboto Light"/>
                <a:sym typeface="Roboto Light"/>
              </a:defRPr>
            </a:lvl3pPr>
            <a:lvl4pPr lvl="3">
              <a:spcBef>
                <a:spcPts val="0"/>
              </a:spcBef>
              <a:spcAft>
                <a:spcPts val="0"/>
              </a:spcAft>
              <a:buSzPts val="2800"/>
              <a:buFont typeface="Roboto Light"/>
              <a:buNone/>
              <a:defRPr>
                <a:latin typeface="Roboto Light"/>
                <a:ea typeface="Roboto Light"/>
                <a:cs typeface="Roboto Light"/>
                <a:sym typeface="Roboto Light"/>
              </a:defRPr>
            </a:lvl4pPr>
            <a:lvl5pPr lvl="4">
              <a:spcBef>
                <a:spcPts val="0"/>
              </a:spcBef>
              <a:spcAft>
                <a:spcPts val="0"/>
              </a:spcAft>
              <a:buSzPts val="2800"/>
              <a:buFont typeface="Roboto Light"/>
              <a:buNone/>
              <a:defRPr>
                <a:latin typeface="Roboto Light"/>
                <a:ea typeface="Roboto Light"/>
                <a:cs typeface="Roboto Light"/>
                <a:sym typeface="Roboto Light"/>
              </a:defRPr>
            </a:lvl5pPr>
            <a:lvl6pPr lvl="5">
              <a:spcBef>
                <a:spcPts val="0"/>
              </a:spcBef>
              <a:spcAft>
                <a:spcPts val="0"/>
              </a:spcAft>
              <a:buSzPts val="2800"/>
              <a:buFont typeface="Roboto Light"/>
              <a:buNone/>
              <a:defRPr>
                <a:latin typeface="Roboto Light"/>
                <a:ea typeface="Roboto Light"/>
                <a:cs typeface="Roboto Light"/>
                <a:sym typeface="Roboto Light"/>
              </a:defRPr>
            </a:lvl6pPr>
            <a:lvl7pPr lvl="6">
              <a:spcBef>
                <a:spcPts val="0"/>
              </a:spcBef>
              <a:spcAft>
                <a:spcPts val="0"/>
              </a:spcAft>
              <a:buSzPts val="2800"/>
              <a:buFont typeface="Roboto Light"/>
              <a:buNone/>
              <a:defRPr>
                <a:latin typeface="Roboto Light"/>
                <a:ea typeface="Roboto Light"/>
                <a:cs typeface="Roboto Light"/>
                <a:sym typeface="Roboto Light"/>
              </a:defRPr>
            </a:lvl7pPr>
            <a:lvl8pPr lvl="7">
              <a:spcBef>
                <a:spcPts val="0"/>
              </a:spcBef>
              <a:spcAft>
                <a:spcPts val="0"/>
              </a:spcAft>
              <a:buSzPts val="2800"/>
              <a:buFont typeface="Roboto Light"/>
              <a:buNone/>
              <a:defRPr>
                <a:latin typeface="Roboto Light"/>
                <a:ea typeface="Roboto Light"/>
                <a:cs typeface="Roboto Light"/>
                <a:sym typeface="Roboto Light"/>
              </a:defRPr>
            </a:lvl8pPr>
            <a:lvl9pPr lvl="8">
              <a:spcBef>
                <a:spcPts val="0"/>
              </a:spcBef>
              <a:spcAft>
                <a:spcPts val="0"/>
              </a:spcAft>
              <a:buSzPts val="2800"/>
              <a:buFont typeface="Roboto Light"/>
              <a:buNone/>
              <a:defRPr>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35" name="Shape 335"/>
        <p:cNvGrpSpPr/>
        <p:nvPr/>
      </p:nvGrpSpPr>
      <p:grpSpPr>
        <a:xfrm>
          <a:off x="0" y="0"/>
          <a:ext cx="0" cy="0"/>
          <a:chOff x="0" y="0"/>
          <a:chExt cx="0" cy="0"/>
        </a:xfrm>
      </p:grpSpPr>
      <p:sp>
        <p:nvSpPr>
          <p:cNvPr id="336" name="Google Shape;336;p5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337" name="Google Shape;337;p5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338" name="Google Shape;338;p5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9" name="Google Shape;339;p5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s slide">
  <p:cSld name="CUSTOM_10_1_1_1_1_3">
    <p:bg>
      <p:bgPr>
        <a:solidFill>
          <a:srgbClr val="F2F2F2"/>
        </a:solidFill>
      </p:bgPr>
    </p:bg>
    <p:spTree>
      <p:nvGrpSpPr>
        <p:cNvPr id="340" name="Shape 340"/>
        <p:cNvGrpSpPr/>
        <p:nvPr/>
      </p:nvGrpSpPr>
      <p:grpSpPr>
        <a:xfrm>
          <a:off x="0" y="0"/>
          <a:ext cx="0" cy="0"/>
          <a:chOff x="0" y="0"/>
          <a:chExt cx="0" cy="0"/>
        </a:xfrm>
      </p:grpSpPr>
      <p:sp>
        <p:nvSpPr>
          <p:cNvPr id="341" name="Google Shape;341;p51"/>
          <p:cNvSpPr txBox="1"/>
          <p:nvPr/>
        </p:nvSpPr>
        <p:spPr>
          <a:xfrm>
            <a:off x="0" y="2688450"/>
            <a:ext cx="9144000" cy="752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Questions?</a:t>
            </a:r>
            <a:endParaRPr sz="4000">
              <a:solidFill>
                <a:srgbClr val="2E5E73"/>
              </a:solidFill>
              <a:latin typeface="Roboto Light"/>
              <a:ea typeface="Roboto Light"/>
              <a:cs typeface="Roboto Light"/>
              <a:sym typeface="Roboto Light"/>
            </a:endParaRPr>
          </a:p>
        </p:txBody>
      </p:sp>
      <p:pic>
        <p:nvPicPr>
          <p:cNvPr id="342" name="Google Shape;342;p51"/>
          <p:cNvPicPr preferRelativeResize="0"/>
          <p:nvPr/>
        </p:nvPicPr>
        <p:blipFill>
          <a:blip r:embed="rId2">
            <a:alphaModFix/>
          </a:blip>
          <a:stretch>
            <a:fillRect/>
          </a:stretch>
        </p:blipFill>
        <p:spPr>
          <a:xfrm>
            <a:off x="3762650" y="1443625"/>
            <a:ext cx="1345550" cy="1054620"/>
          </a:xfrm>
          <a:prstGeom prst="rect">
            <a:avLst/>
          </a:prstGeom>
          <a:noFill/>
          <a:ln>
            <a:noFill/>
          </a:ln>
        </p:spPr>
      </p:pic>
      <p:pic>
        <p:nvPicPr>
          <p:cNvPr id="343" name="Google Shape;343;p51"/>
          <p:cNvPicPr preferRelativeResize="0"/>
          <p:nvPr/>
        </p:nvPicPr>
        <p:blipFill rotWithShape="1">
          <a:blip r:embed="rId3">
            <a:alphaModFix/>
          </a:blip>
          <a:srcRect b="9853" l="0" r="0" t="0"/>
          <a:stretch/>
        </p:blipFill>
        <p:spPr>
          <a:xfrm>
            <a:off x="653025" y="3974475"/>
            <a:ext cx="870750" cy="1194250"/>
          </a:xfrm>
          <a:prstGeom prst="rect">
            <a:avLst/>
          </a:prstGeom>
          <a:noFill/>
          <a:ln>
            <a:noFill/>
          </a:ln>
        </p:spPr>
      </p:pic>
      <p:pic>
        <p:nvPicPr>
          <p:cNvPr id="344" name="Google Shape;344;p51"/>
          <p:cNvPicPr preferRelativeResize="0"/>
          <p:nvPr/>
        </p:nvPicPr>
        <p:blipFill rotWithShape="1">
          <a:blip r:embed="rId3">
            <a:alphaModFix/>
          </a:blip>
          <a:srcRect b="19665" l="0" r="0" t="0"/>
          <a:stretch/>
        </p:blipFill>
        <p:spPr>
          <a:xfrm flipH="1">
            <a:off x="1651350" y="4211600"/>
            <a:ext cx="783075" cy="957125"/>
          </a:xfrm>
          <a:prstGeom prst="rect">
            <a:avLst/>
          </a:prstGeom>
          <a:noFill/>
          <a:ln>
            <a:noFill/>
          </a:ln>
        </p:spPr>
      </p:pic>
      <p:pic>
        <p:nvPicPr>
          <p:cNvPr id="345" name="Google Shape;345;p51"/>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346" name="Google Shape;346;p51"/>
          <p:cNvPicPr preferRelativeResize="0"/>
          <p:nvPr/>
        </p:nvPicPr>
        <p:blipFill rotWithShape="1">
          <a:blip r:embed="rId3">
            <a:alphaModFix/>
          </a:blip>
          <a:srcRect b="9853" l="0" r="0" t="0"/>
          <a:stretch/>
        </p:blipFill>
        <p:spPr>
          <a:xfrm>
            <a:off x="2655487" y="3820875"/>
            <a:ext cx="982713" cy="1347850"/>
          </a:xfrm>
          <a:prstGeom prst="rect">
            <a:avLst/>
          </a:prstGeom>
          <a:noFill/>
          <a:ln>
            <a:noFill/>
          </a:ln>
        </p:spPr>
      </p:pic>
      <p:pic>
        <p:nvPicPr>
          <p:cNvPr id="347" name="Google Shape;347;p51"/>
          <p:cNvPicPr preferRelativeResize="0"/>
          <p:nvPr/>
        </p:nvPicPr>
        <p:blipFill rotWithShape="1">
          <a:blip r:embed="rId3">
            <a:alphaModFix/>
          </a:blip>
          <a:srcRect b="9853" l="0" r="0" t="0"/>
          <a:stretch/>
        </p:blipFill>
        <p:spPr>
          <a:xfrm>
            <a:off x="4517888" y="3982537"/>
            <a:ext cx="870750" cy="1194250"/>
          </a:xfrm>
          <a:prstGeom prst="rect">
            <a:avLst/>
          </a:prstGeom>
          <a:noFill/>
          <a:ln>
            <a:noFill/>
          </a:ln>
        </p:spPr>
      </p:pic>
      <p:pic>
        <p:nvPicPr>
          <p:cNvPr id="348" name="Google Shape;348;p51"/>
          <p:cNvPicPr preferRelativeResize="0"/>
          <p:nvPr/>
        </p:nvPicPr>
        <p:blipFill rotWithShape="1">
          <a:blip r:embed="rId3">
            <a:alphaModFix/>
          </a:blip>
          <a:srcRect b="5687" l="0" r="0" t="0"/>
          <a:stretch/>
        </p:blipFill>
        <p:spPr>
          <a:xfrm flipH="1">
            <a:off x="5979175" y="4016252"/>
            <a:ext cx="783075" cy="1123675"/>
          </a:xfrm>
          <a:prstGeom prst="rect">
            <a:avLst/>
          </a:prstGeom>
          <a:noFill/>
          <a:ln>
            <a:noFill/>
          </a:ln>
        </p:spPr>
      </p:pic>
      <p:pic>
        <p:nvPicPr>
          <p:cNvPr id="349" name="Google Shape;349;p51"/>
          <p:cNvPicPr preferRelativeResize="0"/>
          <p:nvPr/>
        </p:nvPicPr>
        <p:blipFill rotWithShape="1">
          <a:blip r:embed="rId3">
            <a:alphaModFix/>
          </a:blip>
          <a:srcRect b="0" l="0" r="0" t="0"/>
          <a:stretch/>
        </p:blipFill>
        <p:spPr>
          <a:xfrm>
            <a:off x="7223650" y="3820875"/>
            <a:ext cx="870750" cy="13248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slide">
  <p:cSld name="CUSTOM_4_1_2">
    <p:spTree>
      <p:nvGrpSpPr>
        <p:cNvPr id="350" name="Shape 350"/>
        <p:cNvGrpSpPr/>
        <p:nvPr/>
      </p:nvGrpSpPr>
      <p:grpSpPr>
        <a:xfrm>
          <a:off x="0" y="0"/>
          <a:ext cx="0" cy="0"/>
          <a:chOff x="0" y="0"/>
          <a:chExt cx="0" cy="0"/>
        </a:xfrm>
      </p:grpSpPr>
      <p:sp>
        <p:nvSpPr>
          <p:cNvPr id="351" name="Google Shape;351;p52"/>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2"/>
          <p:cNvSpPr txBox="1"/>
          <p:nvPr>
            <p:ph type="title"/>
          </p:nvPr>
        </p:nvSpPr>
        <p:spPr>
          <a:xfrm>
            <a:off x="3141250"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Font typeface="Roboto Light"/>
              <a:buNone/>
              <a:defRPr b="0" sz="3800">
                <a:latin typeface="Roboto Light"/>
                <a:ea typeface="Roboto Light"/>
                <a:cs typeface="Roboto Light"/>
                <a:sym typeface="Roboto Light"/>
              </a:defRPr>
            </a:lvl1pPr>
            <a:lvl2pPr lvl="1">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9pPr>
          </a:lstStyle>
          <a:p/>
        </p:txBody>
      </p:sp>
      <p:pic>
        <p:nvPicPr>
          <p:cNvPr id="353" name="Google Shape;353;p52"/>
          <p:cNvPicPr preferRelativeResize="0"/>
          <p:nvPr/>
        </p:nvPicPr>
        <p:blipFill>
          <a:blip r:embed="rId2">
            <a:alphaModFix/>
          </a:blip>
          <a:stretch>
            <a:fillRect/>
          </a:stretch>
        </p:blipFill>
        <p:spPr>
          <a:xfrm>
            <a:off x="1242338" y="1946150"/>
            <a:ext cx="904875" cy="1343025"/>
          </a:xfrm>
          <a:prstGeom prst="rect">
            <a:avLst/>
          </a:prstGeom>
          <a:noFill/>
          <a:ln>
            <a:noFill/>
          </a:ln>
        </p:spPr>
      </p:pic>
      <p:pic>
        <p:nvPicPr>
          <p:cNvPr id="354" name="Google Shape;354;p52"/>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55" name="Shape 355"/>
        <p:cNvGrpSpPr/>
        <p:nvPr/>
      </p:nvGrpSpPr>
      <p:grpSpPr>
        <a:xfrm>
          <a:off x="0" y="0"/>
          <a:ext cx="0" cy="0"/>
          <a:chOff x="0" y="0"/>
          <a:chExt cx="0" cy="0"/>
        </a:xfrm>
      </p:grpSpPr>
      <p:sp>
        <p:nvSpPr>
          <p:cNvPr id="356" name="Google Shape;356;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57" name="Google Shape;357;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358" name="Google Shape;358;p53"/>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9" name="Google Shape;359;p53"/>
          <p:cNvSpPr txBox="1"/>
          <p:nvPr>
            <p:ph idx="2" type="body"/>
          </p:nvPr>
        </p:nvSpPr>
        <p:spPr>
          <a:xfrm>
            <a:off x="175" y="1284250"/>
            <a:ext cx="9144000" cy="34626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360" name="Shape 360"/>
        <p:cNvGrpSpPr/>
        <p:nvPr/>
      </p:nvGrpSpPr>
      <p:grpSpPr>
        <a:xfrm>
          <a:off x="0" y="0"/>
          <a:ext cx="0" cy="0"/>
          <a:chOff x="0" y="0"/>
          <a:chExt cx="0" cy="0"/>
        </a:xfrm>
      </p:grpSpPr>
      <p:sp>
        <p:nvSpPr>
          <p:cNvPr id="361" name="Google Shape;361;p5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2" name="Google Shape;362;p5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363" name="Google Shape;363;p5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364" name="Google Shape;364;p5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Font typeface="Roboto Light"/>
              <a:buNone/>
              <a:defRPr b="0" sz="3800">
                <a:latin typeface="Roboto Light"/>
                <a:ea typeface="Roboto Light"/>
                <a:cs typeface="Roboto Light"/>
                <a:sym typeface="Roboto Light"/>
              </a:defRPr>
            </a:lvl1pPr>
            <a:lvl2pPr lvl="1">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Font typeface="Roboto Light"/>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lide">
  <p:cSld name="CUSTOM_23_3">
    <p:bg>
      <p:bgPr>
        <a:solidFill>
          <a:srgbClr val="F2F2F2"/>
        </a:solidFill>
      </p:bgPr>
    </p:bg>
    <p:spTree>
      <p:nvGrpSpPr>
        <p:cNvPr id="365" name="Shape 365"/>
        <p:cNvGrpSpPr/>
        <p:nvPr/>
      </p:nvGrpSpPr>
      <p:grpSpPr>
        <a:xfrm>
          <a:off x="0" y="0"/>
          <a:ext cx="0" cy="0"/>
          <a:chOff x="0" y="0"/>
          <a:chExt cx="0" cy="0"/>
        </a:xfrm>
      </p:grpSpPr>
      <p:sp>
        <p:nvSpPr>
          <p:cNvPr id="366" name="Google Shape;366;p55"/>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55"/>
          <p:cNvSpPr txBox="1"/>
          <p:nvPr/>
        </p:nvSpPr>
        <p:spPr>
          <a:xfrm>
            <a:off x="-5875" y="203600"/>
            <a:ext cx="9168600" cy="393600"/>
          </a:xfrm>
          <a:prstGeom prst="rect">
            <a:avLst/>
          </a:prstGeom>
          <a:noFill/>
          <a:ln>
            <a:noFill/>
          </a:ln>
        </p:spPr>
        <p:txBody>
          <a:bodyPr anchorCtr="0" anchor="ctr" bIns="91425" lIns="822950" spcFirstLastPara="1" rIns="91425" wrap="square" tIns="91425">
            <a:no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Activity: </a:t>
            </a:r>
            <a:endParaRPr b="1" sz="2400">
              <a:solidFill>
                <a:srgbClr val="2E5E73"/>
              </a:solidFill>
              <a:latin typeface="Roboto"/>
              <a:ea typeface="Roboto"/>
              <a:cs typeface="Roboto"/>
              <a:sym typeface="Roboto"/>
            </a:endParaRPr>
          </a:p>
        </p:txBody>
      </p:sp>
      <p:sp>
        <p:nvSpPr>
          <p:cNvPr id="368" name="Google Shape;368;p55"/>
          <p:cNvSpPr txBox="1"/>
          <p:nvPr/>
        </p:nvSpPr>
        <p:spPr>
          <a:xfrm>
            <a:off x="5901175" y="3977950"/>
            <a:ext cx="2872200" cy="434400"/>
          </a:xfrm>
          <a:prstGeom prst="rect">
            <a:avLst/>
          </a:prstGeom>
          <a:noFill/>
          <a:ln>
            <a:noFill/>
          </a:ln>
        </p:spPr>
        <p:txBody>
          <a:bodyPr anchorCtr="0" anchor="ctr" bIns="0" lIns="640075" spcFirstLastPara="1" rIns="91425" wrap="square" tIns="0">
            <a:noAutofit/>
          </a:bodyPr>
          <a:lstStyle/>
          <a:p>
            <a:pPr indent="0" lvl="0" marL="0" rtl="0" algn="r">
              <a:spcBef>
                <a:spcPts val="0"/>
              </a:spcBef>
              <a:spcAft>
                <a:spcPts val="0"/>
              </a:spcAft>
              <a:buNone/>
            </a:pPr>
            <a:r>
              <a:rPr b="1" lang="en">
                <a:solidFill>
                  <a:srgbClr val="2E5E73"/>
                </a:solidFill>
                <a:latin typeface="Roboto"/>
                <a:ea typeface="Roboto"/>
                <a:cs typeface="Roboto"/>
                <a:sym typeface="Roboto"/>
              </a:rPr>
              <a:t>Suggested Time:</a:t>
            </a:r>
            <a:endParaRPr b="1">
              <a:solidFill>
                <a:srgbClr val="2E5E73"/>
              </a:solidFill>
              <a:latin typeface="Roboto"/>
              <a:ea typeface="Roboto"/>
              <a:cs typeface="Roboto"/>
              <a:sym typeface="Roboto"/>
            </a:endParaRPr>
          </a:p>
        </p:txBody>
      </p:sp>
      <p:pic>
        <p:nvPicPr>
          <p:cNvPr id="369" name="Google Shape;369;p55"/>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370" name="Google Shape;370;p55"/>
          <p:cNvCxnSpPr/>
          <p:nvPr/>
        </p:nvCxnSpPr>
        <p:spPr>
          <a:xfrm>
            <a:off x="0" y="929900"/>
            <a:ext cx="7337400" cy="0"/>
          </a:xfrm>
          <a:prstGeom prst="straightConnector1">
            <a:avLst/>
          </a:prstGeom>
          <a:noFill/>
          <a:ln cap="flat" cmpd="sng" w="19050">
            <a:solidFill>
              <a:srgbClr val="2E5E73"/>
            </a:solidFill>
            <a:prstDash val="solid"/>
            <a:round/>
            <a:headEnd len="med" w="med" type="none"/>
            <a:tailEnd len="med" w="med" type="oval"/>
          </a:ln>
        </p:spPr>
      </p:cxnSp>
      <p:sp>
        <p:nvSpPr>
          <p:cNvPr id="371" name="Google Shape;371;p55"/>
          <p:cNvSpPr txBox="1"/>
          <p:nvPr>
            <p:ph idx="1" type="subTitle"/>
          </p:nvPr>
        </p:nvSpPr>
        <p:spPr>
          <a:xfrm>
            <a:off x="818575" y="1726975"/>
            <a:ext cx="6518700" cy="2116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72" name="Google Shape;372;p55"/>
          <p:cNvSpPr txBox="1"/>
          <p:nvPr>
            <p:ph idx="2" type="subTitle"/>
          </p:nvPr>
        </p:nvSpPr>
        <p:spPr>
          <a:xfrm>
            <a:off x="0" y="4246400"/>
            <a:ext cx="8703600" cy="323100"/>
          </a:xfrm>
          <a:prstGeom prst="rect">
            <a:avLst/>
          </a:prstGeom>
        </p:spPr>
        <p:txBody>
          <a:bodyPr anchorCtr="0" anchor="t" bIns="91425" lIns="0" spcFirstLastPara="1" rIns="91425" wrap="square" tIns="0">
            <a:noAutofit/>
          </a:bodyPr>
          <a:lstStyle>
            <a:lvl1pPr lvl="0" algn="r">
              <a:spcBef>
                <a:spcPts val="0"/>
              </a:spcBef>
              <a:spcAft>
                <a:spcPts val="0"/>
              </a:spcAft>
              <a:buSzPts val="1400"/>
              <a:buNone/>
              <a:defRPr sz="1400"/>
            </a:lvl1pPr>
            <a:lvl2pPr lvl="1" algn="r">
              <a:spcBef>
                <a:spcPts val="0"/>
              </a:spcBef>
              <a:spcAft>
                <a:spcPts val="0"/>
              </a:spcAft>
              <a:buSzPts val="1800"/>
              <a:buNone/>
              <a:defRPr/>
            </a:lvl2pPr>
            <a:lvl3pPr lvl="2" algn="r">
              <a:spcBef>
                <a:spcPts val="0"/>
              </a:spcBef>
              <a:spcAft>
                <a:spcPts val="0"/>
              </a:spcAft>
              <a:buSzPts val="1800"/>
              <a:buNone/>
              <a:defRPr/>
            </a:lvl3pPr>
            <a:lvl4pPr lvl="3" algn="r">
              <a:spcBef>
                <a:spcPts val="0"/>
              </a:spcBef>
              <a:spcAft>
                <a:spcPts val="0"/>
              </a:spcAft>
              <a:buSzPts val="1800"/>
              <a:buNone/>
              <a:defRPr/>
            </a:lvl4pPr>
            <a:lvl5pPr lvl="4" algn="r">
              <a:spcBef>
                <a:spcPts val="0"/>
              </a:spcBef>
              <a:spcAft>
                <a:spcPts val="0"/>
              </a:spcAft>
              <a:buSzPts val="1800"/>
              <a:buNone/>
              <a:defRPr/>
            </a:lvl5pPr>
            <a:lvl6pPr lvl="5" algn="r">
              <a:spcBef>
                <a:spcPts val="0"/>
              </a:spcBef>
              <a:spcAft>
                <a:spcPts val="0"/>
              </a:spcAft>
              <a:buSzPts val="1800"/>
              <a:buNone/>
              <a:defRPr/>
            </a:lvl6pPr>
            <a:lvl7pPr lvl="6" algn="r">
              <a:spcBef>
                <a:spcPts val="0"/>
              </a:spcBef>
              <a:spcAft>
                <a:spcPts val="0"/>
              </a:spcAft>
              <a:buSzPts val="1800"/>
              <a:buNone/>
              <a:defRPr/>
            </a:lvl7pPr>
            <a:lvl8pPr lvl="7" algn="r">
              <a:spcBef>
                <a:spcPts val="0"/>
              </a:spcBef>
              <a:spcAft>
                <a:spcPts val="0"/>
              </a:spcAft>
              <a:buSzPts val="1800"/>
              <a:buNone/>
              <a:defRPr/>
            </a:lvl8pPr>
            <a:lvl9pPr lvl="8" algn="r">
              <a:spcBef>
                <a:spcPts val="0"/>
              </a:spcBef>
              <a:spcAft>
                <a:spcPts val="0"/>
              </a:spcAft>
              <a:buSzPts val="1800"/>
              <a:buNone/>
              <a:defRPr/>
            </a:lvl9pPr>
          </a:lstStyle>
          <a:p/>
        </p:txBody>
      </p:sp>
      <p:pic>
        <p:nvPicPr>
          <p:cNvPr id="373" name="Google Shape;373;p55"/>
          <p:cNvPicPr preferRelativeResize="0"/>
          <p:nvPr/>
        </p:nvPicPr>
        <p:blipFill>
          <a:blip r:embed="rId3">
            <a:alphaModFix/>
          </a:blip>
          <a:stretch>
            <a:fillRect/>
          </a:stretch>
        </p:blipFill>
        <p:spPr>
          <a:xfrm>
            <a:off x="222821" y="323175"/>
            <a:ext cx="399107" cy="393600"/>
          </a:xfrm>
          <a:prstGeom prst="rect">
            <a:avLst/>
          </a:prstGeom>
          <a:noFill/>
          <a:ln>
            <a:noFill/>
          </a:ln>
        </p:spPr>
      </p:pic>
      <p:sp>
        <p:nvSpPr>
          <p:cNvPr id="374" name="Google Shape;374;p55"/>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Font typeface="Roboto Light"/>
              <a:buNone/>
              <a:defRPr>
                <a:latin typeface="Roboto Light"/>
                <a:ea typeface="Roboto Light"/>
                <a:cs typeface="Roboto Light"/>
                <a:sym typeface="Roboto Light"/>
              </a:defRPr>
            </a:lvl2pPr>
            <a:lvl3pPr lvl="2">
              <a:spcBef>
                <a:spcPts val="0"/>
              </a:spcBef>
              <a:spcAft>
                <a:spcPts val="0"/>
              </a:spcAft>
              <a:buSzPts val="2800"/>
              <a:buFont typeface="Roboto Light"/>
              <a:buNone/>
              <a:defRPr>
                <a:latin typeface="Roboto Light"/>
                <a:ea typeface="Roboto Light"/>
                <a:cs typeface="Roboto Light"/>
                <a:sym typeface="Roboto Light"/>
              </a:defRPr>
            </a:lvl3pPr>
            <a:lvl4pPr lvl="3">
              <a:spcBef>
                <a:spcPts val="0"/>
              </a:spcBef>
              <a:spcAft>
                <a:spcPts val="0"/>
              </a:spcAft>
              <a:buSzPts val="2800"/>
              <a:buFont typeface="Roboto Light"/>
              <a:buNone/>
              <a:defRPr>
                <a:latin typeface="Roboto Light"/>
                <a:ea typeface="Roboto Light"/>
                <a:cs typeface="Roboto Light"/>
                <a:sym typeface="Roboto Light"/>
              </a:defRPr>
            </a:lvl4pPr>
            <a:lvl5pPr lvl="4">
              <a:spcBef>
                <a:spcPts val="0"/>
              </a:spcBef>
              <a:spcAft>
                <a:spcPts val="0"/>
              </a:spcAft>
              <a:buSzPts val="2800"/>
              <a:buFont typeface="Roboto Light"/>
              <a:buNone/>
              <a:defRPr>
                <a:latin typeface="Roboto Light"/>
                <a:ea typeface="Roboto Light"/>
                <a:cs typeface="Roboto Light"/>
                <a:sym typeface="Roboto Light"/>
              </a:defRPr>
            </a:lvl5pPr>
            <a:lvl6pPr lvl="5">
              <a:spcBef>
                <a:spcPts val="0"/>
              </a:spcBef>
              <a:spcAft>
                <a:spcPts val="0"/>
              </a:spcAft>
              <a:buSzPts val="2800"/>
              <a:buFont typeface="Roboto Light"/>
              <a:buNone/>
              <a:defRPr>
                <a:latin typeface="Roboto Light"/>
                <a:ea typeface="Roboto Light"/>
                <a:cs typeface="Roboto Light"/>
                <a:sym typeface="Roboto Light"/>
              </a:defRPr>
            </a:lvl6pPr>
            <a:lvl7pPr lvl="6">
              <a:spcBef>
                <a:spcPts val="0"/>
              </a:spcBef>
              <a:spcAft>
                <a:spcPts val="0"/>
              </a:spcAft>
              <a:buSzPts val="2800"/>
              <a:buFont typeface="Roboto Light"/>
              <a:buNone/>
              <a:defRPr>
                <a:latin typeface="Roboto Light"/>
                <a:ea typeface="Roboto Light"/>
                <a:cs typeface="Roboto Light"/>
                <a:sym typeface="Roboto Light"/>
              </a:defRPr>
            </a:lvl7pPr>
            <a:lvl8pPr lvl="7">
              <a:spcBef>
                <a:spcPts val="0"/>
              </a:spcBef>
              <a:spcAft>
                <a:spcPts val="0"/>
              </a:spcAft>
              <a:buSzPts val="2800"/>
              <a:buFont typeface="Roboto Light"/>
              <a:buNone/>
              <a:defRPr>
                <a:latin typeface="Roboto Light"/>
                <a:ea typeface="Roboto Light"/>
                <a:cs typeface="Roboto Light"/>
                <a:sym typeface="Roboto Light"/>
              </a:defRPr>
            </a:lvl8pPr>
            <a:lvl9pPr lvl="8">
              <a:spcBef>
                <a:spcPts val="0"/>
              </a:spcBef>
              <a:spcAft>
                <a:spcPts val="0"/>
              </a:spcAft>
              <a:buSzPts val="2800"/>
              <a:buFont typeface="Roboto Light"/>
              <a:buNone/>
              <a:defRPr>
                <a:latin typeface="Roboto Light"/>
                <a:ea typeface="Roboto Light"/>
                <a:cs typeface="Roboto Light"/>
                <a:sym typeface="Roboto Light"/>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s Up slide 1">
  <p:cSld name="CUSTOM_10_2_1">
    <p:bg>
      <p:bgPr>
        <a:solidFill>
          <a:srgbClr val="F2F2F2"/>
        </a:solidFill>
      </p:bgPr>
    </p:bg>
    <p:spTree>
      <p:nvGrpSpPr>
        <p:cNvPr id="375" name="Shape 375"/>
        <p:cNvGrpSpPr/>
        <p:nvPr/>
      </p:nvGrpSpPr>
      <p:grpSpPr>
        <a:xfrm>
          <a:off x="0" y="0"/>
          <a:ext cx="0" cy="0"/>
          <a:chOff x="0" y="0"/>
          <a:chExt cx="0" cy="0"/>
        </a:xfrm>
      </p:grpSpPr>
      <p:sp>
        <p:nvSpPr>
          <p:cNvPr id="376" name="Google Shape;376;p56"/>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Time’s up!</a:t>
            </a:r>
            <a:endParaRPr b="1" sz="4000">
              <a:solidFill>
                <a:srgbClr val="2E5E73"/>
              </a:solidFill>
              <a:latin typeface="Roboto"/>
              <a:ea typeface="Roboto"/>
              <a:cs typeface="Roboto"/>
              <a:sym typeface="Roboto"/>
            </a:endParaRPr>
          </a:p>
          <a:p>
            <a:pPr indent="0" lvl="0" marL="0" rtl="0" algn="ctr">
              <a:spcBef>
                <a:spcPts val="0"/>
              </a:spcBef>
              <a:spcAft>
                <a:spcPts val="0"/>
              </a:spcAft>
              <a:buNone/>
            </a:pPr>
            <a:r>
              <a:rPr lang="en" sz="4000">
                <a:solidFill>
                  <a:srgbClr val="2E5E73"/>
                </a:solidFill>
                <a:latin typeface="Roboto Light"/>
                <a:ea typeface="Roboto Light"/>
                <a:cs typeface="Roboto Light"/>
                <a:sym typeface="Roboto Light"/>
              </a:rPr>
              <a:t>Let’s review</a:t>
            </a:r>
            <a:endParaRPr sz="4000">
              <a:solidFill>
                <a:srgbClr val="2E5E73"/>
              </a:solidFill>
              <a:latin typeface="Roboto Light"/>
              <a:ea typeface="Roboto Light"/>
              <a:cs typeface="Roboto Light"/>
              <a:sym typeface="Roboto Light"/>
            </a:endParaRPr>
          </a:p>
        </p:txBody>
      </p:sp>
      <p:pic>
        <p:nvPicPr>
          <p:cNvPr id="377" name="Google Shape;377;p56"/>
          <p:cNvPicPr preferRelativeResize="0"/>
          <p:nvPr/>
        </p:nvPicPr>
        <p:blipFill>
          <a:blip r:embed="rId2">
            <a:alphaModFix/>
          </a:blip>
          <a:stretch>
            <a:fillRect/>
          </a:stretch>
        </p:blipFill>
        <p:spPr>
          <a:xfrm>
            <a:off x="3975000" y="1536950"/>
            <a:ext cx="1194000" cy="114906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378" name="Shape 378"/>
        <p:cNvGrpSpPr/>
        <p:nvPr/>
      </p:nvGrpSpPr>
      <p:grpSpPr>
        <a:xfrm>
          <a:off x="0" y="0"/>
          <a:ext cx="0" cy="0"/>
          <a:chOff x="0" y="0"/>
          <a:chExt cx="0" cy="0"/>
        </a:xfrm>
      </p:grpSpPr>
      <p:pic>
        <p:nvPicPr>
          <p:cNvPr id="379" name="Google Shape;379;p57"/>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380" name="Google Shape;380;p57"/>
          <p:cNvSpPr txBox="1"/>
          <p:nvPr>
            <p:ph type="title"/>
          </p:nvPr>
        </p:nvSpPr>
        <p:spPr>
          <a:xfrm>
            <a:off x="1959725" y="1641200"/>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381" name="Google Shape;381;p57"/>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57"/>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57"/>
          <p:cNvSpPr txBox="1"/>
          <p:nvPr>
            <p:ph idx="2" type="title"/>
          </p:nvPr>
        </p:nvSpPr>
        <p:spPr>
          <a:xfrm>
            <a:off x="1450375" y="1039700"/>
            <a:ext cx="6244200" cy="3131700"/>
          </a:xfrm>
          <a:prstGeom prst="rect">
            <a:avLst/>
          </a:prstGeom>
        </p:spPr>
        <p:txBody>
          <a:bodyPr anchorCtr="0" anchor="ctr" bIns="0" lIns="0" spcFirstLastPara="1" rIns="0" wrap="square" tIns="0">
            <a:noAutofit/>
          </a:bodyPr>
          <a:lstStyle>
            <a:lvl1pPr lvl="0">
              <a:spcBef>
                <a:spcPts val="0"/>
              </a:spcBef>
              <a:spcAft>
                <a:spcPts val="0"/>
              </a:spcAft>
              <a:buSzPts val="3400"/>
              <a:buFont typeface="Roboto Light"/>
              <a:buNone/>
              <a:defRPr b="0" sz="3400">
                <a:latin typeface="Roboto Light"/>
                <a:ea typeface="Roboto Light"/>
                <a:cs typeface="Roboto Light"/>
                <a:sym typeface="Roboto Light"/>
              </a:defRPr>
            </a:lvl1pPr>
            <a:lvl2pPr lvl="1">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400"/>
              <a:buFont typeface="Roboto Light"/>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84" name="Shape 384"/>
        <p:cNvGrpSpPr/>
        <p:nvPr/>
      </p:nvGrpSpPr>
      <p:grpSpPr>
        <a:xfrm>
          <a:off x="0" y="0"/>
          <a:ext cx="0" cy="0"/>
          <a:chOff x="0" y="0"/>
          <a:chExt cx="0" cy="0"/>
        </a:xfrm>
      </p:grpSpPr>
      <p:sp>
        <p:nvSpPr>
          <p:cNvPr id="385" name="Google Shape;385;p5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86" name="Google Shape;386;p5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387" name="Google Shape;387;p58"/>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88" name="Google Shape;388;p5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89" name="Google Shape;389;p58"/>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90" name="Google Shape;390;p58"/>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a:spcBef>
                <a:spcPts val="0"/>
              </a:spcBef>
              <a:spcAft>
                <a:spcPts val="0"/>
              </a:spcAft>
              <a:buNone/>
              <a:defRPr sz="7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91" name="Google Shape;391;p58"/>
          <p:cNvSpPr txBox="1"/>
          <p:nvPr>
            <p:ph idx="3" type="body"/>
          </p:nvPr>
        </p:nvSpPr>
        <p:spPr>
          <a:xfrm>
            <a:off x="175" y="1284250"/>
            <a:ext cx="9144000" cy="35817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Char char="●"/>
              <a:defRPr/>
            </a:lvl1pPr>
            <a:lvl2pPr indent="-342900" lvl="1" marL="914400">
              <a:spcBef>
                <a:spcPts val="800"/>
              </a:spcBef>
              <a:spcAft>
                <a:spcPts val="0"/>
              </a:spcAft>
              <a:buSzPts val="1800"/>
              <a:buChar char="○"/>
              <a:defRPr/>
            </a:lvl2pPr>
            <a:lvl3pPr indent="-342900" lvl="2" marL="1371600">
              <a:spcBef>
                <a:spcPts val="800"/>
              </a:spcBef>
              <a:spcAft>
                <a:spcPts val="0"/>
              </a:spcAft>
              <a:buSzPts val="1800"/>
              <a:buChar char="■"/>
              <a:defRPr/>
            </a:lvl3pPr>
            <a:lvl4pPr indent="-342900" lvl="3" marL="1828800">
              <a:spcBef>
                <a:spcPts val="800"/>
              </a:spcBef>
              <a:spcAft>
                <a:spcPts val="0"/>
              </a:spcAft>
              <a:buSzPts val="1800"/>
              <a:buChar char="●"/>
              <a:defRPr/>
            </a:lvl4pPr>
            <a:lvl5pPr indent="-342900" lvl="4" marL="2286000">
              <a:spcBef>
                <a:spcPts val="800"/>
              </a:spcBef>
              <a:spcAft>
                <a:spcPts val="0"/>
              </a:spcAft>
              <a:buSzPts val="1800"/>
              <a:buChar char="○"/>
              <a:defRPr/>
            </a:lvl5pPr>
            <a:lvl6pPr indent="-342900" lvl="5" marL="2743200">
              <a:spcBef>
                <a:spcPts val="800"/>
              </a:spcBef>
              <a:spcAft>
                <a:spcPts val="0"/>
              </a:spcAft>
              <a:buSzPts val="1800"/>
              <a:buChar char="■"/>
              <a:defRPr/>
            </a:lvl6pPr>
            <a:lvl7pPr indent="-342900" lvl="6" marL="3200400">
              <a:spcBef>
                <a:spcPts val="800"/>
              </a:spcBef>
              <a:spcAft>
                <a:spcPts val="0"/>
              </a:spcAft>
              <a:buSzPts val="1800"/>
              <a:buChar char="●"/>
              <a:defRPr/>
            </a:lvl7pPr>
            <a:lvl8pPr indent="-342900" lvl="7" marL="3657600">
              <a:spcBef>
                <a:spcPts val="800"/>
              </a:spcBef>
              <a:spcAft>
                <a:spcPts val="0"/>
              </a:spcAft>
              <a:buSzPts val="1800"/>
              <a:buChar char="○"/>
              <a:defRPr/>
            </a:lvl8pPr>
            <a:lvl9pPr indent="-342900" lvl="8" marL="4114800">
              <a:spcBef>
                <a:spcPts val="800"/>
              </a:spcBef>
              <a:spcAft>
                <a:spcPts val="800"/>
              </a:spcAft>
              <a:buSzPts val="1800"/>
              <a:buChar char="■"/>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End slide">
  <p:cSld name="CUSTOM_10_1_1_1_2_1_3">
    <p:bg>
      <p:bgPr>
        <a:solidFill>
          <a:srgbClr val="F2F2F2"/>
        </a:solidFill>
      </p:bgPr>
    </p:bg>
    <p:spTree>
      <p:nvGrpSpPr>
        <p:cNvPr id="392" name="Shape 392"/>
        <p:cNvGrpSpPr/>
        <p:nvPr/>
      </p:nvGrpSpPr>
      <p:grpSpPr>
        <a:xfrm>
          <a:off x="0" y="0"/>
          <a:ext cx="0" cy="0"/>
          <a:chOff x="0" y="0"/>
          <a:chExt cx="0" cy="0"/>
        </a:xfrm>
      </p:grpSpPr>
      <p:sp>
        <p:nvSpPr>
          <p:cNvPr id="393" name="Google Shape;393;p59"/>
          <p:cNvSpPr txBox="1"/>
          <p:nvPr/>
        </p:nvSpPr>
        <p:spPr>
          <a:xfrm>
            <a:off x="0" y="2938100"/>
            <a:ext cx="91440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The</a:t>
            </a:r>
            <a:r>
              <a:rPr lang="en" sz="4000">
                <a:solidFill>
                  <a:srgbClr val="2E5E73"/>
                </a:solidFill>
                <a:latin typeface="Roboto"/>
                <a:ea typeface="Roboto"/>
                <a:cs typeface="Roboto"/>
                <a:sym typeface="Roboto"/>
              </a:rPr>
              <a:t> </a:t>
            </a:r>
            <a:r>
              <a:rPr b="1" lang="en" sz="4000">
                <a:solidFill>
                  <a:srgbClr val="2E5E73"/>
                </a:solidFill>
                <a:latin typeface="Roboto"/>
                <a:ea typeface="Roboto"/>
                <a:cs typeface="Roboto"/>
                <a:sym typeface="Roboto"/>
              </a:rPr>
              <a:t>End</a:t>
            </a:r>
            <a:endParaRPr b="1" sz="4000">
              <a:solidFill>
                <a:srgbClr val="2E5E73"/>
              </a:solidFill>
              <a:latin typeface="Roboto"/>
              <a:ea typeface="Roboto"/>
              <a:cs typeface="Roboto"/>
              <a:sym typeface="Roboto"/>
            </a:endParaRPr>
          </a:p>
        </p:txBody>
      </p:sp>
      <p:sp>
        <p:nvSpPr>
          <p:cNvPr id="394" name="Google Shape;394;p59"/>
          <p:cNvSpPr/>
          <p:nvPr/>
        </p:nvSpPr>
        <p:spPr>
          <a:xfrm>
            <a:off x="3731050" y="1119050"/>
            <a:ext cx="1681800" cy="16818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5" name="Google Shape;395;p59"/>
          <p:cNvPicPr preferRelativeResize="0"/>
          <p:nvPr/>
        </p:nvPicPr>
        <p:blipFill>
          <a:blip r:embed="rId2">
            <a:alphaModFix/>
          </a:blip>
          <a:stretch>
            <a:fillRect/>
          </a:stretch>
        </p:blipFill>
        <p:spPr>
          <a:xfrm>
            <a:off x="4099875" y="1496700"/>
            <a:ext cx="1051550" cy="10515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theme" Target="../theme/theme1.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Lst>
  <mc:AlternateContent>
    <mc:Choice Requires="p14">
      <p:transition p14:dur="400">
        <p:fade thruBlk="1"/>
      </p:transition>
    </mc:Choice>
    <mc:Fallback>
      <p:transition>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3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 Id="rId3" Type="http://schemas.openxmlformats.org/officeDocument/2006/relationships/image" Target="../media/image41.png"/><Relationship Id="rId4" Type="http://schemas.openxmlformats.org/officeDocument/2006/relationships/image" Target="../media/image4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4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 Id="rId3" Type="http://schemas.openxmlformats.org/officeDocument/2006/relationships/image" Target="../media/image6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9.xml"/><Relationship Id="rId3" Type="http://schemas.openxmlformats.org/officeDocument/2006/relationships/image" Target="../media/image6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1.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7.xml"/><Relationship Id="rId3" Type="http://schemas.openxmlformats.org/officeDocument/2006/relationships/image" Target="../media/image42.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55.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3.xml"/><Relationship Id="rId3" Type="http://schemas.openxmlformats.org/officeDocument/2006/relationships/image" Target="../media/image6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4.xml"/><Relationship Id="rId3"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6.xml"/><Relationship Id="rId3" Type="http://schemas.openxmlformats.org/officeDocument/2006/relationships/image" Target="../media/image48.png"/><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7.xml"/><Relationship Id="rId3" Type="http://schemas.openxmlformats.org/officeDocument/2006/relationships/image" Target="../media/image49.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1.xml"/><Relationship Id="rId3" Type="http://schemas.openxmlformats.org/officeDocument/2006/relationships/image" Target="../media/image55.png"/><Relationship Id="rId4" Type="http://schemas.openxmlformats.org/officeDocument/2006/relationships/image" Target="../media/image41.png"/><Relationship Id="rId5"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2.xml"/><Relationship Id="rId3" Type="http://schemas.openxmlformats.org/officeDocument/2006/relationships/image" Target="../media/image52.gif"/><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4.xml"/><Relationship Id="rId3" Type="http://schemas.openxmlformats.org/officeDocument/2006/relationships/image" Target="../media/image6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5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8.xml"/><Relationship Id="rId3" Type="http://schemas.openxmlformats.org/officeDocument/2006/relationships/image" Target="../media/image5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9.xml"/><Relationship Id="rId3"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3.xml"/><Relationship Id="rId3" Type="http://schemas.openxmlformats.org/officeDocument/2006/relationships/image" Target="../media/image55.png"/><Relationship Id="rId4" Type="http://schemas.openxmlformats.org/officeDocument/2006/relationships/image" Target="../media/image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4.xml"/><Relationship Id="rId3" Type="http://schemas.openxmlformats.org/officeDocument/2006/relationships/image" Target="../media/image55.png"/><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5.xml"/><Relationship Id="rId3" Type="http://schemas.openxmlformats.org/officeDocument/2006/relationships/image" Target="../media/image55.png"/><Relationship Id="rId4" Type="http://schemas.openxmlformats.org/officeDocument/2006/relationships/image" Target="../media/image41.png"/><Relationship Id="rId5" Type="http://schemas.openxmlformats.org/officeDocument/2006/relationships/image" Target="../media/image6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6.xml"/><Relationship Id="rId3" Type="http://schemas.openxmlformats.org/officeDocument/2006/relationships/image" Target="../media/image55.png"/><Relationship Id="rId4" Type="http://schemas.openxmlformats.org/officeDocument/2006/relationships/image" Target="../media/image41.png"/><Relationship Id="rId5" Type="http://schemas.openxmlformats.org/officeDocument/2006/relationships/image" Target="../media/image6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9.xml"/><Relationship Id="rId3"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3.xml"/><Relationship Id="rId3" Type="http://schemas.openxmlformats.org/officeDocument/2006/relationships/image" Target="../media/image2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 Id="rId3" Type="http://schemas.openxmlformats.org/officeDocument/2006/relationships/image" Target="../media/image43.png"/><Relationship Id="rId4" Type="http://schemas.openxmlformats.org/officeDocument/2006/relationships/image" Target="../media/image4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6.xml"/><Relationship Id="rId3" Type="http://schemas.openxmlformats.org/officeDocument/2006/relationships/image" Target="../media/image5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68.xml"/><Relationship Id="rId3" Type="http://schemas.openxmlformats.org/officeDocument/2006/relationships/image" Target="../media/image6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0"/>
          <p:cNvSpPr txBox="1"/>
          <p:nvPr>
            <p:ph type="title"/>
          </p:nvPr>
        </p:nvSpPr>
        <p:spPr>
          <a:xfrm>
            <a:off x="4572000" y="1747850"/>
            <a:ext cx="4571100" cy="181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Introduction to Windows Penetration Testing</a:t>
            </a:r>
            <a:endParaRPr sz="3600"/>
          </a:p>
        </p:txBody>
      </p:sp>
      <p:sp>
        <p:nvSpPr>
          <p:cNvPr id="401" name="Google Shape;401;p60"/>
          <p:cNvSpPr txBox="1"/>
          <p:nvPr>
            <p:ph idx="4294967295" type="title"/>
          </p:nvPr>
        </p:nvSpPr>
        <p:spPr>
          <a:xfrm>
            <a:off x="3254000" y="4157175"/>
            <a:ext cx="4373700" cy="43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Lesson 17.1</a:t>
            </a:r>
            <a:endParaRPr/>
          </a:p>
        </p:txBody>
      </p:sp>
      <p:sp>
        <p:nvSpPr>
          <p:cNvPr id="402" name="Google Shape;402;p60"/>
          <p:cNvSpPr txBox="1"/>
          <p:nvPr>
            <p:ph idx="2" type="subTitle"/>
          </p:nvPr>
        </p:nvSpPr>
        <p:spPr>
          <a:xfrm>
            <a:off x="4572000" y="1047653"/>
            <a:ext cx="4909200" cy="490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Cybersecurity</a:t>
            </a:r>
            <a:endParaRPr/>
          </a:p>
        </p:txBody>
      </p:sp>
      <p:sp>
        <p:nvSpPr>
          <p:cNvPr id="403" name="Google Shape;403;p60"/>
          <p:cNvSpPr txBox="1"/>
          <p:nvPr>
            <p:ph idx="1" type="subTitle"/>
          </p:nvPr>
        </p:nvSpPr>
        <p:spPr>
          <a:xfrm>
            <a:off x="4590900" y="3614313"/>
            <a:ext cx="4871400" cy="490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Lesson 16.1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cxnSp>
        <p:nvCxnSpPr>
          <p:cNvPr id="408" name="Google Shape;408;p61"/>
          <p:cNvCxnSpPr/>
          <p:nvPr/>
        </p:nvCxnSpPr>
        <p:spPr>
          <a:xfrm>
            <a:off x="-9375" y="929900"/>
            <a:ext cx="7346700" cy="0"/>
          </a:xfrm>
          <a:prstGeom prst="straightConnector1">
            <a:avLst/>
          </a:prstGeom>
          <a:noFill/>
          <a:ln cap="flat" cmpd="sng" w="19050">
            <a:solidFill>
              <a:schemeClr val="dk2"/>
            </a:solidFill>
            <a:prstDash val="solid"/>
            <a:round/>
            <a:headEnd len="med" w="med" type="none"/>
            <a:tailEnd len="med" w="med" type="oval"/>
          </a:ln>
        </p:spPr>
      </p:cxnSp>
      <p:sp>
        <p:nvSpPr>
          <p:cNvPr id="409" name="Google Shape;409;p61"/>
          <p:cNvSpPr/>
          <p:nvPr/>
        </p:nvSpPr>
        <p:spPr>
          <a:xfrm>
            <a:off x="377025" y="3922450"/>
            <a:ext cx="8419500" cy="753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lt1"/>
              </a:highlight>
            </a:endParaRPr>
          </a:p>
        </p:txBody>
      </p:sp>
      <p:sp>
        <p:nvSpPr>
          <p:cNvPr id="410" name="Google Shape;410;p61"/>
          <p:cNvSpPr txBox="1"/>
          <p:nvPr/>
        </p:nvSpPr>
        <p:spPr>
          <a:xfrm>
            <a:off x="1051725" y="1390848"/>
            <a:ext cx="75567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sz="1700">
                <a:solidFill>
                  <a:schemeClr val="dk2"/>
                </a:solidFill>
                <a:latin typeface="Roboto"/>
                <a:ea typeface="Roboto"/>
                <a:cs typeface="Roboto"/>
                <a:sym typeface="Roboto"/>
              </a:rPr>
              <a:t>Discern the differences between Windows and Linux penetration testing.</a:t>
            </a:r>
            <a:endParaRPr sz="1700">
              <a:solidFill>
                <a:schemeClr val="dk2"/>
              </a:solidFill>
              <a:latin typeface="Roboto"/>
              <a:ea typeface="Roboto"/>
              <a:cs typeface="Roboto"/>
              <a:sym typeface="Roboto"/>
            </a:endParaRPr>
          </a:p>
        </p:txBody>
      </p:sp>
      <p:sp>
        <p:nvSpPr>
          <p:cNvPr id="411" name="Google Shape;411;p61"/>
          <p:cNvSpPr txBox="1"/>
          <p:nvPr/>
        </p:nvSpPr>
        <p:spPr>
          <a:xfrm>
            <a:off x="1051725" y="2075204"/>
            <a:ext cx="75567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n" sz="1700">
                <a:solidFill>
                  <a:schemeClr val="dk2"/>
                </a:solidFill>
                <a:latin typeface="Roboto"/>
                <a:ea typeface="Roboto"/>
                <a:cs typeface="Roboto"/>
                <a:sym typeface="Roboto"/>
              </a:rPr>
              <a:t>Explain what ports a Windows machine commonly has open.</a:t>
            </a:r>
            <a:endParaRPr sz="1700">
              <a:solidFill>
                <a:schemeClr val="dk2"/>
              </a:solidFill>
              <a:latin typeface="Roboto"/>
              <a:ea typeface="Roboto"/>
              <a:cs typeface="Roboto"/>
              <a:sym typeface="Roboto"/>
            </a:endParaRPr>
          </a:p>
        </p:txBody>
      </p:sp>
      <p:sp>
        <p:nvSpPr>
          <p:cNvPr id="412" name="Google Shape;412;p61"/>
          <p:cNvSpPr txBox="1"/>
          <p:nvPr/>
        </p:nvSpPr>
        <p:spPr>
          <a:xfrm>
            <a:off x="1051725" y="2753817"/>
            <a:ext cx="75567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n" sz="1700">
                <a:solidFill>
                  <a:schemeClr val="dk2"/>
                </a:solidFill>
                <a:latin typeface="Roboto"/>
                <a:ea typeface="Roboto"/>
                <a:cs typeface="Roboto"/>
                <a:sym typeface="Roboto"/>
              </a:rPr>
              <a:t>Explain how Windows authentication works.</a:t>
            </a:r>
            <a:endParaRPr sz="1700">
              <a:solidFill>
                <a:schemeClr val="dk2"/>
              </a:solidFill>
              <a:latin typeface="Roboto"/>
              <a:ea typeface="Roboto"/>
              <a:cs typeface="Roboto"/>
              <a:sym typeface="Roboto"/>
            </a:endParaRPr>
          </a:p>
        </p:txBody>
      </p:sp>
      <p:sp>
        <p:nvSpPr>
          <p:cNvPr id="413" name="Google Shape;413;p61"/>
          <p:cNvSpPr txBox="1"/>
          <p:nvPr/>
        </p:nvSpPr>
        <p:spPr>
          <a:xfrm>
            <a:off x="1051725" y="3434471"/>
            <a:ext cx="75567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Clr>
                <a:schemeClr val="dk1"/>
              </a:buClr>
              <a:buSzPts val="1100"/>
              <a:buFont typeface="Arial"/>
              <a:buNone/>
            </a:pPr>
            <a:r>
              <a:rPr lang="en" sz="1700">
                <a:solidFill>
                  <a:schemeClr val="dk2"/>
                </a:solidFill>
                <a:latin typeface="Roboto"/>
                <a:ea typeface="Roboto"/>
                <a:cs typeface="Roboto"/>
                <a:sym typeface="Roboto"/>
              </a:rPr>
              <a:t>Perform poisoning or spoofing attacks on a Windows network.</a:t>
            </a:r>
            <a:endParaRPr sz="1700">
              <a:solidFill>
                <a:schemeClr val="dk2"/>
              </a:solidFill>
              <a:latin typeface="Roboto"/>
              <a:ea typeface="Roboto"/>
              <a:cs typeface="Roboto"/>
              <a:sym typeface="Roboto"/>
            </a:endParaRPr>
          </a:p>
        </p:txBody>
      </p:sp>
      <p:sp>
        <p:nvSpPr>
          <p:cNvPr id="414" name="Google Shape;414;p61"/>
          <p:cNvSpPr txBox="1"/>
          <p:nvPr/>
        </p:nvSpPr>
        <p:spPr>
          <a:xfrm>
            <a:off x="50" y="127400"/>
            <a:ext cx="9144000" cy="393600"/>
          </a:xfrm>
          <a:prstGeom prst="rect">
            <a:avLst/>
          </a:prstGeom>
          <a:noFill/>
          <a:ln>
            <a:noFill/>
          </a:ln>
        </p:spPr>
        <p:txBody>
          <a:bodyPr anchorCtr="0" anchor="t" bIns="91425" lIns="822950" spcFirstLastPara="1" rIns="91425" wrap="square" tIns="91425">
            <a:noAutofit/>
          </a:bodyPr>
          <a:lstStyle/>
          <a:p>
            <a:pPr indent="0" lvl="0" marL="0" rtl="0" algn="l">
              <a:spcBef>
                <a:spcPts val="0"/>
              </a:spcBef>
              <a:spcAft>
                <a:spcPts val="0"/>
              </a:spcAft>
              <a:buNone/>
            </a:pPr>
            <a:r>
              <a:rPr b="1" lang="en" sz="2400">
                <a:solidFill>
                  <a:schemeClr val="dk2"/>
                </a:solidFill>
                <a:latin typeface="Roboto"/>
                <a:ea typeface="Roboto"/>
                <a:cs typeface="Roboto"/>
                <a:sym typeface="Roboto"/>
              </a:rPr>
              <a:t>Class Objectives</a:t>
            </a:r>
            <a:endParaRPr b="1" i="1" sz="2400">
              <a:solidFill>
                <a:schemeClr val="dk2"/>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800">
                <a:solidFill>
                  <a:schemeClr val="dk2"/>
                </a:solidFill>
                <a:latin typeface="Roboto"/>
                <a:ea typeface="Roboto"/>
                <a:cs typeface="Roboto"/>
                <a:sym typeface="Roboto"/>
              </a:rPr>
              <a:t>By the end of today’s class, you will be able to:</a:t>
            </a:r>
            <a:endParaRPr sz="1800">
              <a:solidFill>
                <a:schemeClr val="dk2"/>
              </a:solidFill>
              <a:latin typeface="Roboto"/>
              <a:ea typeface="Roboto"/>
              <a:cs typeface="Roboto"/>
              <a:sym typeface="Roboto"/>
            </a:endParaRPr>
          </a:p>
          <a:p>
            <a:pPr indent="0" lvl="0" marL="0" rtl="0" algn="l">
              <a:spcBef>
                <a:spcPts val="1200"/>
              </a:spcBef>
              <a:spcAft>
                <a:spcPts val="0"/>
              </a:spcAft>
              <a:buNone/>
            </a:pPr>
            <a:r>
              <a:t/>
            </a:r>
            <a:endParaRPr sz="2400">
              <a:solidFill>
                <a:srgbClr val="2E5E73"/>
              </a:solidFill>
              <a:latin typeface="Roboto Light"/>
              <a:ea typeface="Roboto Light"/>
              <a:cs typeface="Roboto Light"/>
              <a:sym typeface="Roboto Light"/>
            </a:endParaRPr>
          </a:p>
        </p:txBody>
      </p:sp>
      <p:pic>
        <p:nvPicPr>
          <p:cNvPr id="415" name="Google Shape;415;p61"/>
          <p:cNvPicPr preferRelativeResize="0"/>
          <p:nvPr/>
        </p:nvPicPr>
        <p:blipFill rotWithShape="1">
          <a:blip r:embed="rId3">
            <a:alphaModFix/>
          </a:blip>
          <a:srcRect b="0" l="0" r="0" t="0"/>
          <a:stretch/>
        </p:blipFill>
        <p:spPr>
          <a:xfrm>
            <a:off x="208763" y="235363"/>
            <a:ext cx="496875" cy="496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2"/>
          <p:cNvSpPr txBox="1"/>
          <p:nvPr>
            <p:ph type="title"/>
          </p:nvPr>
        </p:nvSpPr>
        <p:spPr>
          <a:xfrm>
            <a:off x="0" y="2628900"/>
            <a:ext cx="9144000" cy="1484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Windows</a:t>
            </a:r>
            <a:endParaRPr/>
          </a:p>
          <a:p>
            <a:pPr indent="0" lvl="0" marL="0" rtl="0" algn="ctr">
              <a:spcBef>
                <a:spcPts val="0"/>
              </a:spcBef>
              <a:spcAft>
                <a:spcPts val="0"/>
              </a:spcAft>
              <a:buNone/>
            </a:pPr>
            <a:r>
              <a:rPr lang="en"/>
              <a:t>Penetration Testing</a:t>
            </a:r>
            <a:endParaRPr/>
          </a:p>
        </p:txBody>
      </p:sp>
      <p:pic>
        <p:nvPicPr>
          <p:cNvPr id="421" name="Google Shape;421;p62"/>
          <p:cNvPicPr preferRelativeResize="0"/>
          <p:nvPr/>
        </p:nvPicPr>
        <p:blipFill rotWithShape="1">
          <a:blip r:embed="rId3">
            <a:alphaModFix/>
          </a:blip>
          <a:srcRect b="0" l="179" r="179" t="0"/>
          <a:stretch/>
        </p:blipFill>
        <p:spPr>
          <a:xfrm>
            <a:off x="4137121" y="1465000"/>
            <a:ext cx="869769" cy="11219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5" name="Shape 425"/>
        <p:cNvGrpSpPr/>
        <p:nvPr/>
      </p:nvGrpSpPr>
      <p:grpSpPr>
        <a:xfrm>
          <a:off x="0" y="0"/>
          <a:ext cx="0" cy="0"/>
          <a:chOff x="0" y="0"/>
          <a:chExt cx="0" cy="0"/>
        </a:xfrm>
      </p:grpSpPr>
      <p:sp>
        <p:nvSpPr>
          <p:cNvPr id="426" name="Google Shape;426;p63"/>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427" name="Google Shape;427;p63"/>
          <p:cNvSpPr/>
          <p:nvPr/>
        </p:nvSpPr>
        <p:spPr>
          <a:xfrm>
            <a:off x="3281026" y="2579538"/>
            <a:ext cx="2578500" cy="759300"/>
          </a:xfrm>
          <a:prstGeom prst="homePlate">
            <a:avLst>
              <a:gd fmla="val 0" name="adj"/>
            </a:avLst>
          </a:prstGeom>
          <a:solidFill>
            <a:schemeClr val="accent2"/>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63"/>
          <p:cNvSpPr/>
          <p:nvPr/>
        </p:nvSpPr>
        <p:spPr>
          <a:xfrm flipH="1">
            <a:off x="655776" y="2579538"/>
            <a:ext cx="2578500" cy="759300"/>
          </a:xfrm>
          <a:prstGeom prst="homePlate">
            <a:avLst>
              <a:gd fmla="val 50000" name="adj"/>
            </a:avLst>
          </a:prstGeom>
          <a:solidFill>
            <a:schemeClr val="accent3"/>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429" name="Google Shape;429;p63"/>
          <p:cNvSpPr txBox="1"/>
          <p:nvPr/>
        </p:nvSpPr>
        <p:spPr>
          <a:xfrm>
            <a:off x="1062525" y="2740675"/>
            <a:ext cx="21381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900">
                <a:solidFill>
                  <a:schemeClr val="lt1"/>
                </a:solidFill>
                <a:latin typeface="Roboto"/>
                <a:ea typeface="Roboto"/>
                <a:cs typeface="Roboto"/>
                <a:sym typeface="Roboto"/>
              </a:rPr>
              <a:t>Previous week</a:t>
            </a:r>
            <a:endParaRPr b="1" sz="1900">
              <a:solidFill>
                <a:schemeClr val="lt1"/>
              </a:solidFill>
              <a:latin typeface="Roboto"/>
              <a:ea typeface="Roboto"/>
              <a:cs typeface="Roboto"/>
              <a:sym typeface="Roboto"/>
            </a:endParaRPr>
          </a:p>
        </p:txBody>
      </p:sp>
      <p:sp>
        <p:nvSpPr>
          <p:cNvPr id="430" name="Google Shape;430;p63"/>
          <p:cNvSpPr txBox="1"/>
          <p:nvPr/>
        </p:nvSpPr>
        <p:spPr>
          <a:xfrm>
            <a:off x="3738145" y="2740667"/>
            <a:ext cx="16677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900">
                <a:solidFill>
                  <a:schemeClr val="dk2"/>
                </a:solidFill>
                <a:latin typeface="Roboto"/>
                <a:ea typeface="Roboto"/>
                <a:cs typeface="Roboto"/>
                <a:sym typeface="Roboto"/>
              </a:rPr>
              <a:t>This week</a:t>
            </a:r>
            <a:endParaRPr b="1" sz="1900">
              <a:solidFill>
                <a:schemeClr val="dk2"/>
              </a:solidFill>
              <a:latin typeface="Roboto"/>
              <a:ea typeface="Roboto"/>
              <a:cs typeface="Roboto"/>
              <a:sym typeface="Roboto"/>
            </a:endParaRPr>
          </a:p>
        </p:txBody>
      </p:sp>
      <p:cxnSp>
        <p:nvCxnSpPr>
          <p:cNvPr id="431" name="Google Shape;431;p63"/>
          <p:cNvCxnSpPr/>
          <p:nvPr/>
        </p:nvCxnSpPr>
        <p:spPr>
          <a:xfrm rot="10800000">
            <a:off x="2021213" y="2597638"/>
            <a:ext cx="0" cy="142500"/>
          </a:xfrm>
          <a:prstGeom prst="straightConnector1">
            <a:avLst/>
          </a:prstGeom>
          <a:noFill/>
          <a:ln cap="flat" cmpd="sng" w="9525">
            <a:solidFill>
              <a:schemeClr val="lt1"/>
            </a:solidFill>
            <a:prstDash val="solid"/>
            <a:round/>
            <a:headEnd len="med" w="med" type="oval"/>
            <a:tailEnd len="med" w="med" type="none"/>
          </a:ln>
        </p:spPr>
      </p:cxnSp>
      <p:sp>
        <p:nvSpPr>
          <p:cNvPr id="432" name="Google Shape;432;p63"/>
          <p:cNvSpPr/>
          <p:nvPr/>
        </p:nvSpPr>
        <p:spPr>
          <a:xfrm>
            <a:off x="5909719" y="2579538"/>
            <a:ext cx="2578500" cy="759300"/>
          </a:xfrm>
          <a:prstGeom prst="homePlate">
            <a:avLst>
              <a:gd fmla="val 50000" name="adj"/>
            </a:avLst>
          </a:prstGeom>
          <a:solidFill>
            <a:schemeClr val="accent1"/>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3"/>
          <p:cNvSpPr txBox="1"/>
          <p:nvPr/>
        </p:nvSpPr>
        <p:spPr>
          <a:xfrm>
            <a:off x="5943600" y="2740675"/>
            <a:ext cx="2286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Next three days</a:t>
            </a:r>
            <a:endParaRPr b="1" sz="1800">
              <a:solidFill>
                <a:schemeClr val="dk2"/>
              </a:solidFill>
              <a:latin typeface="Roboto"/>
              <a:ea typeface="Roboto"/>
              <a:cs typeface="Roboto"/>
              <a:sym typeface="Roboto"/>
            </a:endParaRPr>
          </a:p>
        </p:txBody>
      </p:sp>
      <p:sp>
        <p:nvSpPr>
          <p:cNvPr id="434" name="Google Shape;434;p63"/>
          <p:cNvSpPr txBox="1"/>
          <p:nvPr>
            <p:ph type="title"/>
          </p:nvPr>
        </p:nvSpPr>
        <p:spPr>
          <a:xfrm>
            <a:off x="914400" y="28645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latin typeface="Roboto Medium"/>
                <a:ea typeface="Roboto Medium"/>
                <a:cs typeface="Roboto Medium"/>
                <a:sym typeface="Roboto Medium"/>
              </a:rPr>
              <a:t>Windows Penetration Testing</a:t>
            </a:r>
            <a:endParaRPr/>
          </a:p>
        </p:txBody>
      </p:sp>
      <p:cxnSp>
        <p:nvCxnSpPr>
          <p:cNvPr id="435" name="Google Shape;435;p63"/>
          <p:cNvCxnSpPr/>
          <p:nvPr/>
        </p:nvCxnSpPr>
        <p:spPr>
          <a:xfrm>
            <a:off x="7122775" y="3320325"/>
            <a:ext cx="0" cy="291600"/>
          </a:xfrm>
          <a:prstGeom prst="straightConnector1">
            <a:avLst/>
          </a:prstGeom>
          <a:noFill/>
          <a:ln cap="flat" cmpd="sng" w="9525">
            <a:solidFill>
              <a:schemeClr val="dk2"/>
            </a:solidFill>
            <a:prstDash val="solid"/>
            <a:round/>
            <a:headEnd len="med" w="med" type="none"/>
            <a:tailEnd len="med" w="med" type="none"/>
          </a:ln>
        </p:spPr>
      </p:cxnSp>
      <p:sp>
        <p:nvSpPr>
          <p:cNvPr id="436" name="Google Shape;436;p63"/>
          <p:cNvSpPr txBox="1"/>
          <p:nvPr/>
        </p:nvSpPr>
        <p:spPr>
          <a:xfrm>
            <a:off x="550925" y="3664500"/>
            <a:ext cx="8136000" cy="1292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700">
                <a:solidFill>
                  <a:schemeClr val="dk2"/>
                </a:solidFill>
                <a:highlight>
                  <a:schemeClr val="accent1"/>
                </a:highlight>
                <a:latin typeface="Roboto"/>
                <a:ea typeface="Roboto"/>
                <a:cs typeface="Roboto"/>
                <a:sym typeface="Roboto"/>
              </a:rPr>
              <a:t>We will continue</a:t>
            </a:r>
            <a:r>
              <a:rPr lang="en" sz="1700">
                <a:solidFill>
                  <a:schemeClr val="dk2"/>
                </a:solidFill>
                <a:latin typeface="Roboto"/>
                <a:ea typeface="Roboto"/>
                <a:cs typeface="Roboto"/>
                <a:sym typeface="Roboto"/>
              </a:rPr>
              <a:t> with the MegaCorpOne scenario and re-perform the penetration testing cycle from the perspective of attacking a Windows machine. </a:t>
            </a:r>
            <a:endParaRPr sz="1700">
              <a:solidFill>
                <a:schemeClr val="dk2"/>
              </a:solidFill>
              <a:latin typeface="Roboto"/>
              <a:ea typeface="Roboto"/>
              <a:cs typeface="Roboto"/>
              <a:sym typeface="Roboto"/>
            </a:endParaRPr>
          </a:p>
          <a:p>
            <a:pPr indent="0" lvl="0" marL="0" rtl="0" algn="l">
              <a:lnSpc>
                <a:spcPct val="115000"/>
              </a:lnSpc>
              <a:spcBef>
                <a:spcPts val="1000"/>
              </a:spcBef>
              <a:spcAft>
                <a:spcPts val="200"/>
              </a:spcAft>
              <a:buNone/>
            </a:pPr>
            <a:r>
              <a:rPr lang="en" sz="1700">
                <a:solidFill>
                  <a:schemeClr val="dk2"/>
                </a:solidFill>
                <a:highlight>
                  <a:schemeClr val="accent1"/>
                </a:highlight>
                <a:latin typeface="Roboto"/>
                <a:ea typeface="Roboto"/>
                <a:cs typeface="Roboto"/>
                <a:sym typeface="Roboto"/>
              </a:rPr>
              <a:t>We will learn</a:t>
            </a:r>
            <a:r>
              <a:rPr lang="en" sz="1700">
                <a:solidFill>
                  <a:schemeClr val="dk2"/>
                </a:solidFill>
                <a:latin typeface="Roboto"/>
                <a:ea typeface="Roboto"/>
                <a:cs typeface="Roboto"/>
                <a:sym typeface="Roboto"/>
              </a:rPr>
              <a:t> techniques and tactics for compromising a Windows network and how to recognize the differences between pen testing Linux and Windows machines.</a:t>
            </a:r>
            <a:endParaRPr sz="1700">
              <a:solidFill>
                <a:schemeClr val="dk2"/>
              </a:solidFill>
              <a:latin typeface="Roboto"/>
              <a:ea typeface="Roboto"/>
              <a:cs typeface="Roboto"/>
              <a:sym typeface="Roboto"/>
            </a:endParaRPr>
          </a:p>
        </p:txBody>
      </p:sp>
      <p:sp>
        <p:nvSpPr>
          <p:cNvPr id="437" name="Google Shape;437;p63"/>
          <p:cNvSpPr txBox="1"/>
          <p:nvPr/>
        </p:nvSpPr>
        <p:spPr>
          <a:xfrm>
            <a:off x="550925" y="892525"/>
            <a:ext cx="3537000" cy="142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200"/>
              </a:spcAft>
              <a:buNone/>
            </a:pPr>
            <a:r>
              <a:rPr lang="en" sz="1700">
                <a:solidFill>
                  <a:schemeClr val="lt1"/>
                </a:solidFill>
                <a:highlight>
                  <a:schemeClr val="accent3"/>
                </a:highlight>
                <a:latin typeface="Roboto"/>
                <a:ea typeface="Roboto"/>
                <a:cs typeface="Roboto"/>
                <a:sym typeface="Roboto"/>
              </a:rPr>
              <a:t>We learned</a:t>
            </a:r>
            <a:r>
              <a:rPr lang="en" sz="1700">
                <a:solidFill>
                  <a:schemeClr val="dk2"/>
                </a:solidFill>
                <a:latin typeface="Roboto"/>
                <a:ea typeface="Roboto"/>
                <a:cs typeface="Roboto"/>
                <a:sym typeface="Roboto"/>
              </a:rPr>
              <a:t> about penetration testing concepts, techniques, and the MITRE ATT&amp;CK matrix. We performed a pen test on a single Linux machine.</a:t>
            </a:r>
            <a:endParaRPr sz="1700">
              <a:solidFill>
                <a:schemeClr val="dk2"/>
              </a:solidFill>
              <a:latin typeface="Roboto"/>
              <a:ea typeface="Roboto"/>
              <a:cs typeface="Roboto"/>
              <a:sym typeface="Roboto"/>
            </a:endParaRPr>
          </a:p>
        </p:txBody>
      </p:sp>
      <p:cxnSp>
        <p:nvCxnSpPr>
          <p:cNvPr id="438" name="Google Shape;438;p63"/>
          <p:cNvCxnSpPr/>
          <p:nvPr/>
        </p:nvCxnSpPr>
        <p:spPr>
          <a:xfrm rot="10800000">
            <a:off x="4615658" y="2309046"/>
            <a:ext cx="0" cy="431100"/>
          </a:xfrm>
          <a:prstGeom prst="straightConnector1">
            <a:avLst/>
          </a:prstGeom>
          <a:noFill/>
          <a:ln cap="flat" cmpd="sng" w="9525">
            <a:solidFill>
              <a:schemeClr val="dk2"/>
            </a:solidFill>
            <a:prstDash val="solid"/>
            <a:round/>
            <a:headEnd len="med" w="med" type="oval"/>
            <a:tailEnd len="med" w="med" type="none"/>
          </a:ln>
        </p:spPr>
      </p:cxnSp>
      <p:sp>
        <p:nvSpPr>
          <p:cNvPr id="439" name="Google Shape;439;p63"/>
          <p:cNvSpPr txBox="1"/>
          <p:nvPr/>
        </p:nvSpPr>
        <p:spPr>
          <a:xfrm>
            <a:off x="4570175" y="994400"/>
            <a:ext cx="3871800" cy="1319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200"/>
              </a:spcAft>
              <a:buNone/>
            </a:pPr>
            <a:r>
              <a:rPr lang="en" sz="1700">
                <a:solidFill>
                  <a:schemeClr val="dk2"/>
                </a:solidFill>
                <a:highlight>
                  <a:schemeClr val="accent2"/>
                </a:highlight>
                <a:latin typeface="Roboto"/>
                <a:ea typeface="Roboto"/>
                <a:cs typeface="Roboto"/>
                <a:sym typeface="Roboto"/>
              </a:rPr>
              <a:t>We will expand</a:t>
            </a:r>
            <a:r>
              <a:rPr lang="en" sz="1700">
                <a:solidFill>
                  <a:schemeClr val="dk2"/>
                </a:solidFill>
                <a:latin typeface="Roboto"/>
                <a:ea typeface="Roboto"/>
                <a:cs typeface="Roboto"/>
                <a:sym typeface="Roboto"/>
              </a:rPr>
              <a:t> </a:t>
            </a:r>
            <a:r>
              <a:rPr lang="en" sz="1700">
                <a:solidFill>
                  <a:schemeClr val="dk2"/>
                </a:solidFill>
                <a:latin typeface="Roboto"/>
                <a:ea typeface="Roboto"/>
                <a:cs typeface="Roboto"/>
                <a:sym typeface="Roboto"/>
              </a:rPr>
              <a:t>the scope of our pen test to compromise a Windows domain that consists of a workstation and domain controller.</a:t>
            </a:r>
            <a:endParaRPr sz="1700">
              <a:solidFill>
                <a:schemeClr val="dk2"/>
              </a:solidFill>
              <a:latin typeface="Roboto"/>
              <a:ea typeface="Roboto"/>
              <a:cs typeface="Roboto"/>
              <a:sym typeface="Roboto"/>
            </a:endParaRPr>
          </a:p>
        </p:txBody>
      </p:sp>
      <p:cxnSp>
        <p:nvCxnSpPr>
          <p:cNvPr id="440" name="Google Shape;440;p63"/>
          <p:cNvCxnSpPr/>
          <p:nvPr/>
        </p:nvCxnSpPr>
        <p:spPr>
          <a:xfrm>
            <a:off x="7122763" y="3159288"/>
            <a:ext cx="0" cy="161100"/>
          </a:xfrm>
          <a:prstGeom prst="straightConnector1">
            <a:avLst/>
          </a:prstGeom>
          <a:noFill/>
          <a:ln cap="flat" cmpd="sng" w="9525">
            <a:solidFill>
              <a:schemeClr val="dk2"/>
            </a:solidFill>
            <a:prstDash val="solid"/>
            <a:round/>
            <a:headEnd len="med" w="med" type="oval"/>
            <a:tailEnd len="med" w="med" type="none"/>
          </a:ln>
        </p:spPr>
      </p:cxnSp>
      <p:cxnSp>
        <p:nvCxnSpPr>
          <p:cNvPr id="441" name="Google Shape;441;p63"/>
          <p:cNvCxnSpPr/>
          <p:nvPr/>
        </p:nvCxnSpPr>
        <p:spPr>
          <a:xfrm>
            <a:off x="2021225" y="2309054"/>
            <a:ext cx="0" cy="338400"/>
          </a:xfrm>
          <a:prstGeom prst="straightConnector1">
            <a:avLst/>
          </a:prstGeom>
          <a:noFill/>
          <a:ln cap="flat" cmpd="sng" w="9525">
            <a:solidFill>
              <a:schemeClr val="dk2"/>
            </a:solidFill>
            <a:prstDash val="solid"/>
            <a:round/>
            <a:headEnd len="med" w="med" type="none"/>
            <a:tailEnd len="med" w="med" type="none"/>
          </a:ln>
        </p:spPr>
      </p:cxnSp>
      <p:pic>
        <p:nvPicPr>
          <p:cNvPr id="442" name="Google Shape;442;p63"/>
          <p:cNvPicPr preferRelativeResize="0"/>
          <p:nvPr/>
        </p:nvPicPr>
        <p:blipFill rotWithShape="1">
          <a:blip r:embed="rId3">
            <a:alphaModFix/>
          </a:blip>
          <a:srcRect b="0" l="179" r="179" t="0"/>
          <a:stretch/>
        </p:blipFill>
        <p:spPr>
          <a:xfrm>
            <a:off x="278241" y="266650"/>
            <a:ext cx="357910" cy="461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6" name="Shape 446"/>
        <p:cNvGrpSpPr/>
        <p:nvPr/>
      </p:nvGrpSpPr>
      <p:grpSpPr>
        <a:xfrm>
          <a:off x="0" y="0"/>
          <a:ext cx="0" cy="0"/>
          <a:chOff x="0" y="0"/>
          <a:chExt cx="0" cy="0"/>
        </a:xfrm>
      </p:grpSpPr>
      <p:sp>
        <p:nvSpPr>
          <p:cNvPr id="447" name="Google Shape;447;p64"/>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Windows vs. Linux Pen Testing</a:t>
            </a:r>
            <a:endParaRPr>
              <a:latin typeface="Roboto Medium"/>
              <a:ea typeface="Roboto Medium"/>
              <a:cs typeface="Roboto Medium"/>
              <a:sym typeface="Roboto Medium"/>
            </a:endParaRPr>
          </a:p>
          <a:p>
            <a:pPr indent="0" lvl="0" marL="0" rtl="0" algn="l">
              <a:spcBef>
                <a:spcPts val="0"/>
              </a:spcBef>
              <a:spcAft>
                <a:spcPts val="0"/>
              </a:spcAft>
              <a:buNone/>
            </a:pPr>
            <a:r>
              <a:t/>
            </a:r>
            <a:endParaRPr/>
          </a:p>
        </p:txBody>
      </p:sp>
      <p:sp>
        <p:nvSpPr>
          <p:cNvPr id="448" name="Google Shape;448;p64"/>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449" name="Google Shape;449;p64"/>
          <p:cNvSpPr txBox="1"/>
          <p:nvPr>
            <p:ph idx="2" type="title"/>
          </p:nvPr>
        </p:nvSpPr>
        <p:spPr>
          <a:xfrm>
            <a:off x="70200" y="828225"/>
            <a:ext cx="8694600" cy="5664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1200"/>
              </a:spcAft>
              <a:buClr>
                <a:schemeClr val="dk1"/>
              </a:buClr>
              <a:buSzPts val="275"/>
              <a:buFont typeface="Arial"/>
              <a:buNone/>
            </a:pPr>
            <a:r>
              <a:rPr lang="en" sz="1800">
                <a:latin typeface="Roboto"/>
                <a:ea typeface="Roboto"/>
                <a:cs typeface="Roboto"/>
                <a:sym typeface="Roboto"/>
              </a:rPr>
              <a:t>While it is important for penetration testers to be able to conduct tests against Linux machines, most enterprises use Windows Server to run their business.</a:t>
            </a:r>
            <a:endParaRPr sz="1800">
              <a:latin typeface="Roboto"/>
              <a:ea typeface="Roboto"/>
              <a:cs typeface="Roboto"/>
              <a:sym typeface="Roboto"/>
            </a:endParaRPr>
          </a:p>
        </p:txBody>
      </p:sp>
      <p:sp>
        <p:nvSpPr>
          <p:cNvPr id="450" name="Google Shape;450;p64"/>
          <p:cNvSpPr/>
          <p:nvPr/>
        </p:nvSpPr>
        <p:spPr>
          <a:xfrm>
            <a:off x="878100" y="2779250"/>
            <a:ext cx="4860300" cy="9906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00025" rtl="0" algn="l">
              <a:spcBef>
                <a:spcPts val="0"/>
              </a:spcBef>
              <a:spcAft>
                <a:spcPts val="0"/>
              </a:spcAft>
              <a:buNone/>
            </a:pPr>
            <a:r>
              <a:rPr lang="en" sz="1800">
                <a:solidFill>
                  <a:schemeClr val="dk2"/>
                </a:solidFill>
                <a:latin typeface="Roboto"/>
                <a:ea typeface="Roboto"/>
                <a:cs typeface="Roboto"/>
                <a:sym typeface="Roboto"/>
              </a:rPr>
              <a:t>For Windows penetration testing, we’ll use many of the same tactics that we used</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for Linux. </a:t>
            </a:r>
            <a:endParaRPr sz="1800">
              <a:solidFill>
                <a:schemeClr val="dk2"/>
              </a:solidFill>
              <a:latin typeface="Roboto"/>
              <a:ea typeface="Roboto"/>
              <a:cs typeface="Roboto"/>
              <a:sym typeface="Roboto"/>
            </a:endParaRPr>
          </a:p>
        </p:txBody>
      </p:sp>
      <p:sp>
        <p:nvSpPr>
          <p:cNvPr id="451" name="Google Shape;451;p64"/>
          <p:cNvSpPr/>
          <p:nvPr/>
        </p:nvSpPr>
        <p:spPr>
          <a:xfrm>
            <a:off x="878100" y="3868825"/>
            <a:ext cx="4860300" cy="789900"/>
          </a:xfrm>
          <a:prstGeom prst="roundRect">
            <a:avLst>
              <a:gd fmla="val 16667" name="adj"/>
            </a:avLst>
          </a:prstGeom>
          <a:solidFill>
            <a:srgbClr val="F3F3F3"/>
          </a:solidFill>
          <a:ln>
            <a:noFill/>
          </a:ln>
        </p:spPr>
        <p:txBody>
          <a:bodyPr anchorCtr="0" anchor="ctr" bIns="91425" lIns="91425" spcFirstLastPara="1" rIns="91425" wrap="square" tIns="45700">
            <a:noAutofit/>
          </a:bodyPr>
          <a:lstStyle/>
          <a:p>
            <a:pPr indent="0" lvl="0" marL="200025" rtl="0" algn="l">
              <a:spcBef>
                <a:spcPts val="0"/>
              </a:spcBef>
              <a:spcAft>
                <a:spcPts val="0"/>
              </a:spcAft>
              <a:buNone/>
            </a:pPr>
            <a:r>
              <a:rPr lang="en" sz="1800">
                <a:solidFill>
                  <a:schemeClr val="dk2"/>
                </a:solidFill>
                <a:latin typeface="Roboto"/>
                <a:ea typeface="Roboto"/>
                <a:cs typeface="Roboto"/>
                <a:sym typeface="Roboto"/>
              </a:rPr>
              <a:t>However, we’ll carry out these tactics with different techniques.</a:t>
            </a:r>
            <a:endParaRPr sz="1800">
              <a:solidFill>
                <a:schemeClr val="dk2"/>
              </a:solidFill>
              <a:latin typeface="Roboto"/>
              <a:ea typeface="Roboto"/>
              <a:cs typeface="Roboto"/>
              <a:sym typeface="Roboto"/>
            </a:endParaRPr>
          </a:p>
        </p:txBody>
      </p:sp>
      <p:pic>
        <p:nvPicPr>
          <p:cNvPr id="452" name="Google Shape;452;p64"/>
          <p:cNvPicPr preferRelativeResize="0"/>
          <p:nvPr/>
        </p:nvPicPr>
        <p:blipFill>
          <a:blip r:embed="rId3">
            <a:alphaModFix/>
          </a:blip>
          <a:stretch>
            <a:fillRect/>
          </a:stretch>
        </p:blipFill>
        <p:spPr>
          <a:xfrm>
            <a:off x="5971125" y="2214025"/>
            <a:ext cx="1908414" cy="1838976"/>
          </a:xfrm>
          <a:prstGeom prst="rect">
            <a:avLst/>
          </a:prstGeom>
          <a:noFill/>
          <a:ln>
            <a:noFill/>
          </a:ln>
        </p:spPr>
      </p:pic>
      <p:pic>
        <p:nvPicPr>
          <p:cNvPr id="453" name="Google Shape;453;p64"/>
          <p:cNvPicPr preferRelativeResize="0"/>
          <p:nvPr/>
        </p:nvPicPr>
        <p:blipFill>
          <a:blip r:embed="rId4">
            <a:alphaModFix/>
          </a:blip>
          <a:stretch>
            <a:fillRect/>
          </a:stretch>
        </p:blipFill>
        <p:spPr>
          <a:xfrm>
            <a:off x="7174741" y="3176382"/>
            <a:ext cx="1313409" cy="1518369"/>
          </a:xfrm>
          <a:prstGeom prst="rect">
            <a:avLst/>
          </a:prstGeom>
          <a:noFill/>
          <a:ln>
            <a:noFill/>
          </a:ln>
        </p:spPr>
      </p:pic>
      <p:sp>
        <p:nvSpPr>
          <p:cNvPr id="454" name="Google Shape;454;p64"/>
          <p:cNvSpPr/>
          <p:nvPr/>
        </p:nvSpPr>
        <p:spPr>
          <a:xfrm>
            <a:off x="878100" y="1590675"/>
            <a:ext cx="4860300" cy="10896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00025" rtl="0" algn="l">
              <a:spcBef>
                <a:spcPts val="0"/>
              </a:spcBef>
              <a:spcAft>
                <a:spcPts val="0"/>
              </a:spcAft>
              <a:buNone/>
            </a:pPr>
            <a:r>
              <a:rPr lang="en" sz="1800">
                <a:solidFill>
                  <a:schemeClr val="dk2"/>
                </a:solidFill>
                <a:latin typeface="Roboto"/>
                <a:ea typeface="Roboto"/>
                <a:cs typeface="Roboto"/>
                <a:sym typeface="Roboto"/>
              </a:rPr>
              <a:t>Understanding and determining vulnerabilities within Windows systems is</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an important skill for a penetration tester.</a:t>
            </a:r>
            <a:endParaRPr sz="1800">
              <a:solidFill>
                <a:schemeClr val="dk2"/>
              </a:solidFill>
              <a:latin typeface="Roboto"/>
              <a:ea typeface="Roboto"/>
              <a:cs typeface="Roboto"/>
              <a:sym typeface="Roboto"/>
            </a:endParaRPr>
          </a:p>
        </p:txBody>
      </p:sp>
      <p:cxnSp>
        <p:nvCxnSpPr>
          <p:cNvPr id="455" name="Google Shape;455;p64"/>
          <p:cNvCxnSpPr/>
          <p:nvPr/>
        </p:nvCxnSpPr>
        <p:spPr>
          <a:xfrm>
            <a:off x="2" y="2123800"/>
            <a:ext cx="878100" cy="0"/>
          </a:xfrm>
          <a:prstGeom prst="straightConnector1">
            <a:avLst/>
          </a:prstGeom>
          <a:noFill/>
          <a:ln cap="flat" cmpd="sng" w="19050">
            <a:solidFill>
              <a:srgbClr val="2E5E73"/>
            </a:solidFill>
            <a:prstDash val="solid"/>
            <a:round/>
            <a:headEnd len="med" w="med" type="none"/>
            <a:tailEnd len="med" w="med" type="oval"/>
          </a:ln>
        </p:spPr>
      </p:cxnSp>
      <p:sp>
        <p:nvSpPr>
          <p:cNvPr id="456" name="Google Shape;456;p64"/>
          <p:cNvSpPr/>
          <p:nvPr/>
        </p:nvSpPr>
        <p:spPr>
          <a:xfrm>
            <a:off x="703634" y="1972354"/>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cxnSp>
        <p:nvCxnSpPr>
          <p:cNvPr id="457" name="Google Shape;457;p64"/>
          <p:cNvCxnSpPr/>
          <p:nvPr/>
        </p:nvCxnSpPr>
        <p:spPr>
          <a:xfrm>
            <a:off x="2" y="3264457"/>
            <a:ext cx="878100" cy="0"/>
          </a:xfrm>
          <a:prstGeom prst="straightConnector1">
            <a:avLst/>
          </a:prstGeom>
          <a:noFill/>
          <a:ln cap="flat" cmpd="sng" w="19050">
            <a:solidFill>
              <a:srgbClr val="2E5E73"/>
            </a:solidFill>
            <a:prstDash val="solid"/>
            <a:round/>
            <a:headEnd len="med" w="med" type="none"/>
            <a:tailEnd len="med" w="med" type="oval"/>
          </a:ln>
        </p:spPr>
      </p:cxnSp>
      <p:sp>
        <p:nvSpPr>
          <p:cNvPr id="458" name="Google Shape;458;p64"/>
          <p:cNvSpPr/>
          <p:nvPr/>
        </p:nvSpPr>
        <p:spPr>
          <a:xfrm>
            <a:off x="703634" y="3113011"/>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cxnSp>
        <p:nvCxnSpPr>
          <p:cNvPr id="459" name="Google Shape;459;p64"/>
          <p:cNvCxnSpPr/>
          <p:nvPr/>
        </p:nvCxnSpPr>
        <p:spPr>
          <a:xfrm>
            <a:off x="2" y="4253661"/>
            <a:ext cx="878100" cy="0"/>
          </a:xfrm>
          <a:prstGeom prst="straightConnector1">
            <a:avLst/>
          </a:prstGeom>
          <a:noFill/>
          <a:ln cap="flat" cmpd="sng" w="19050">
            <a:solidFill>
              <a:srgbClr val="2E5E73"/>
            </a:solidFill>
            <a:prstDash val="solid"/>
            <a:round/>
            <a:headEnd len="med" w="med" type="none"/>
            <a:tailEnd len="med" w="med" type="oval"/>
          </a:ln>
        </p:spPr>
      </p:cxnSp>
      <p:sp>
        <p:nvSpPr>
          <p:cNvPr id="460" name="Google Shape;460;p64"/>
          <p:cNvSpPr/>
          <p:nvPr/>
        </p:nvSpPr>
        <p:spPr>
          <a:xfrm>
            <a:off x="703634" y="4102215"/>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461" name="Google Shape;461;p64"/>
          <p:cNvSpPr/>
          <p:nvPr/>
        </p:nvSpPr>
        <p:spPr>
          <a:xfrm>
            <a:off x="783425" y="2052138"/>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62" name="Google Shape;462;p64"/>
          <p:cNvSpPr/>
          <p:nvPr/>
        </p:nvSpPr>
        <p:spPr>
          <a:xfrm>
            <a:off x="783425" y="3192788"/>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63" name="Google Shape;463;p64"/>
          <p:cNvSpPr/>
          <p:nvPr/>
        </p:nvSpPr>
        <p:spPr>
          <a:xfrm>
            <a:off x="783425" y="4182013"/>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7" name="Shape 467"/>
        <p:cNvGrpSpPr/>
        <p:nvPr/>
      </p:nvGrpSpPr>
      <p:grpSpPr>
        <a:xfrm>
          <a:off x="0" y="0"/>
          <a:ext cx="0" cy="0"/>
          <a:chOff x="0" y="0"/>
          <a:chExt cx="0" cy="0"/>
        </a:xfrm>
      </p:grpSpPr>
      <p:sp>
        <p:nvSpPr>
          <p:cNvPr id="468" name="Google Shape;468;p65"/>
          <p:cNvSpPr txBox="1"/>
          <p:nvPr>
            <p:ph type="title"/>
          </p:nvPr>
        </p:nvSpPr>
        <p:spPr>
          <a:xfrm>
            <a:off x="453225" y="136075"/>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Medium"/>
                <a:ea typeface="Roboto Medium"/>
                <a:cs typeface="Roboto Medium"/>
                <a:sym typeface="Roboto Medium"/>
              </a:rPr>
              <a:t>Tactics and Techniques</a:t>
            </a:r>
            <a:endParaRPr>
              <a:solidFill>
                <a:schemeClr val="dk2"/>
              </a:solidFill>
              <a:latin typeface="Roboto Medium"/>
              <a:ea typeface="Roboto Medium"/>
              <a:cs typeface="Roboto Medium"/>
              <a:sym typeface="Roboto Medium"/>
            </a:endParaRPr>
          </a:p>
        </p:txBody>
      </p:sp>
      <p:sp>
        <p:nvSpPr>
          <p:cNvPr id="469" name="Google Shape;469;p65"/>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470" name="Google Shape;470;p65"/>
          <p:cNvSpPr txBox="1"/>
          <p:nvPr>
            <p:ph idx="4294967295" type="title"/>
          </p:nvPr>
        </p:nvSpPr>
        <p:spPr>
          <a:xfrm>
            <a:off x="469600" y="793228"/>
            <a:ext cx="7988700" cy="5664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1200"/>
              </a:spcAft>
              <a:buNone/>
            </a:pPr>
            <a:r>
              <a:rPr b="0" lang="en" sz="1800"/>
              <a:t>Remember that on the MITRE ATT&amp;CK matrix, a tactic is a specific step </a:t>
            </a:r>
            <a:br>
              <a:rPr b="0" lang="en" sz="1800"/>
            </a:br>
            <a:r>
              <a:rPr b="0" lang="en" sz="1800"/>
              <a:t>in penetration testing. Examples of MITRE tactics are:</a:t>
            </a:r>
            <a:endParaRPr b="0" sz="1800"/>
          </a:p>
        </p:txBody>
      </p:sp>
      <p:sp>
        <p:nvSpPr>
          <p:cNvPr id="471" name="Google Shape;471;p65"/>
          <p:cNvSpPr/>
          <p:nvPr/>
        </p:nvSpPr>
        <p:spPr>
          <a:xfrm>
            <a:off x="824200" y="1630100"/>
            <a:ext cx="3021900" cy="4275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85750" rtl="0" algn="l">
              <a:spcBef>
                <a:spcPts val="0"/>
              </a:spcBef>
              <a:spcAft>
                <a:spcPts val="0"/>
              </a:spcAft>
              <a:buNone/>
            </a:pPr>
            <a:r>
              <a:rPr lang="en" sz="1800">
                <a:solidFill>
                  <a:schemeClr val="dk2"/>
                </a:solidFill>
                <a:latin typeface="Roboto"/>
                <a:ea typeface="Roboto"/>
                <a:cs typeface="Roboto"/>
                <a:sym typeface="Roboto"/>
              </a:rPr>
              <a:t>Reconnaissance</a:t>
            </a:r>
            <a:endParaRPr sz="1800">
              <a:solidFill>
                <a:schemeClr val="dk2"/>
              </a:solidFill>
              <a:latin typeface="Roboto"/>
              <a:ea typeface="Roboto"/>
              <a:cs typeface="Roboto"/>
              <a:sym typeface="Roboto"/>
            </a:endParaRPr>
          </a:p>
        </p:txBody>
      </p:sp>
      <p:sp>
        <p:nvSpPr>
          <p:cNvPr id="472" name="Google Shape;472;p65"/>
          <p:cNvSpPr/>
          <p:nvPr/>
        </p:nvSpPr>
        <p:spPr>
          <a:xfrm>
            <a:off x="824125" y="2233550"/>
            <a:ext cx="3021900" cy="4026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85750" rtl="0" algn="l">
              <a:spcBef>
                <a:spcPts val="0"/>
              </a:spcBef>
              <a:spcAft>
                <a:spcPts val="0"/>
              </a:spcAft>
              <a:buNone/>
            </a:pPr>
            <a:r>
              <a:rPr lang="en" sz="1800">
                <a:solidFill>
                  <a:schemeClr val="dk2"/>
                </a:solidFill>
                <a:latin typeface="Roboto"/>
                <a:ea typeface="Roboto"/>
                <a:cs typeface="Roboto"/>
                <a:sym typeface="Roboto"/>
              </a:rPr>
              <a:t>Initial access</a:t>
            </a:r>
            <a:endParaRPr sz="1800">
              <a:solidFill>
                <a:schemeClr val="dk2"/>
              </a:solidFill>
              <a:latin typeface="Roboto"/>
              <a:ea typeface="Roboto"/>
              <a:cs typeface="Roboto"/>
              <a:sym typeface="Roboto"/>
            </a:endParaRPr>
          </a:p>
        </p:txBody>
      </p:sp>
      <p:sp>
        <p:nvSpPr>
          <p:cNvPr id="473" name="Google Shape;473;p65"/>
          <p:cNvSpPr/>
          <p:nvPr/>
        </p:nvSpPr>
        <p:spPr>
          <a:xfrm>
            <a:off x="824125" y="2824650"/>
            <a:ext cx="3021900" cy="4026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85750" rtl="0" algn="l">
              <a:spcBef>
                <a:spcPts val="0"/>
              </a:spcBef>
              <a:spcAft>
                <a:spcPts val="0"/>
              </a:spcAft>
              <a:buNone/>
            </a:pPr>
            <a:r>
              <a:rPr lang="en" sz="1800">
                <a:solidFill>
                  <a:schemeClr val="dk2"/>
                </a:solidFill>
                <a:latin typeface="Roboto"/>
                <a:ea typeface="Roboto"/>
                <a:cs typeface="Roboto"/>
                <a:sym typeface="Roboto"/>
              </a:rPr>
              <a:t>Execution</a:t>
            </a:r>
            <a:endParaRPr sz="1800">
              <a:solidFill>
                <a:schemeClr val="dk2"/>
              </a:solidFill>
              <a:latin typeface="Roboto"/>
              <a:ea typeface="Roboto"/>
              <a:cs typeface="Roboto"/>
              <a:sym typeface="Roboto"/>
            </a:endParaRPr>
          </a:p>
        </p:txBody>
      </p:sp>
      <p:sp>
        <p:nvSpPr>
          <p:cNvPr id="474" name="Google Shape;474;p65"/>
          <p:cNvSpPr/>
          <p:nvPr/>
        </p:nvSpPr>
        <p:spPr>
          <a:xfrm>
            <a:off x="824125" y="3415725"/>
            <a:ext cx="3021900" cy="4026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85750" rtl="0" algn="l">
              <a:spcBef>
                <a:spcPts val="0"/>
              </a:spcBef>
              <a:spcAft>
                <a:spcPts val="0"/>
              </a:spcAft>
              <a:buNone/>
            </a:pPr>
            <a:r>
              <a:rPr lang="en" sz="1800">
                <a:solidFill>
                  <a:schemeClr val="dk2"/>
                </a:solidFill>
                <a:latin typeface="Roboto"/>
                <a:ea typeface="Roboto"/>
                <a:cs typeface="Roboto"/>
                <a:sym typeface="Roboto"/>
              </a:rPr>
              <a:t>Persistence</a:t>
            </a:r>
            <a:endParaRPr sz="1800">
              <a:solidFill>
                <a:schemeClr val="dk2"/>
              </a:solidFill>
              <a:latin typeface="Roboto"/>
              <a:ea typeface="Roboto"/>
              <a:cs typeface="Roboto"/>
              <a:sym typeface="Roboto"/>
            </a:endParaRPr>
          </a:p>
        </p:txBody>
      </p:sp>
      <p:sp>
        <p:nvSpPr>
          <p:cNvPr id="475" name="Google Shape;475;p65"/>
          <p:cNvSpPr/>
          <p:nvPr/>
        </p:nvSpPr>
        <p:spPr>
          <a:xfrm>
            <a:off x="824100" y="4006825"/>
            <a:ext cx="3021900" cy="4026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85750" rtl="0" algn="l">
              <a:spcBef>
                <a:spcPts val="0"/>
              </a:spcBef>
              <a:spcAft>
                <a:spcPts val="0"/>
              </a:spcAft>
              <a:buNone/>
            </a:pPr>
            <a:r>
              <a:rPr lang="en" sz="1800">
                <a:solidFill>
                  <a:schemeClr val="dk2"/>
                </a:solidFill>
                <a:latin typeface="Roboto"/>
                <a:ea typeface="Roboto"/>
                <a:cs typeface="Roboto"/>
                <a:sym typeface="Roboto"/>
              </a:rPr>
              <a:t>Privilege escalation</a:t>
            </a:r>
            <a:endParaRPr sz="1800">
              <a:solidFill>
                <a:schemeClr val="dk2"/>
              </a:solidFill>
              <a:latin typeface="Roboto"/>
              <a:ea typeface="Roboto"/>
              <a:cs typeface="Roboto"/>
              <a:sym typeface="Roboto"/>
            </a:endParaRPr>
          </a:p>
        </p:txBody>
      </p:sp>
      <p:pic>
        <p:nvPicPr>
          <p:cNvPr id="476" name="Google Shape;476;p65"/>
          <p:cNvPicPr preferRelativeResize="0"/>
          <p:nvPr/>
        </p:nvPicPr>
        <p:blipFill>
          <a:blip r:embed="rId3">
            <a:alphaModFix/>
          </a:blip>
          <a:stretch>
            <a:fillRect/>
          </a:stretch>
        </p:blipFill>
        <p:spPr>
          <a:xfrm>
            <a:off x="4155500" y="1288625"/>
            <a:ext cx="4658327" cy="3908324"/>
          </a:xfrm>
          <a:prstGeom prst="rect">
            <a:avLst/>
          </a:prstGeom>
          <a:noFill/>
          <a:ln>
            <a:noFill/>
          </a:ln>
        </p:spPr>
      </p:pic>
      <p:cxnSp>
        <p:nvCxnSpPr>
          <p:cNvPr id="477" name="Google Shape;477;p65"/>
          <p:cNvCxnSpPr/>
          <p:nvPr/>
        </p:nvCxnSpPr>
        <p:spPr>
          <a:xfrm>
            <a:off x="2" y="1827175"/>
            <a:ext cx="878100" cy="0"/>
          </a:xfrm>
          <a:prstGeom prst="straightConnector1">
            <a:avLst/>
          </a:prstGeom>
          <a:noFill/>
          <a:ln cap="flat" cmpd="sng" w="19050">
            <a:solidFill>
              <a:srgbClr val="2E5E73"/>
            </a:solidFill>
            <a:prstDash val="solid"/>
            <a:round/>
            <a:headEnd len="med" w="med" type="none"/>
            <a:tailEnd len="med" w="med" type="oval"/>
          </a:ln>
        </p:spPr>
      </p:cxnSp>
      <p:sp>
        <p:nvSpPr>
          <p:cNvPr id="478" name="Google Shape;478;p65"/>
          <p:cNvSpPr/>
          <p:nvPr/>
        </p:nvSpPr>
        <p:spPr>
          <a:xfrm>
            <a:off x="703634" y="1675729"/>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cxnSp>
        <p:nvCxnSpPr>
          <p:cNvPr id="479" name="Google Shape;479;p65"/>
          <p:cNvCxnSpPr/>
          <p:nvPr/>
        </p:nvCxnSpPr>
        <p:spPr>
          <a:xfrm>
            <a:off x="2" y="2424775"/>
            <a:ext cx="878100" cy="0"/>
          </a:xfrm>
          <a:prstGeom prst="straightConnector1">
            <a:avLst/>
          </a:prstGeom>
          <a:noFill/>
          <a:ln cap="flat" cmpd="sng" w="19050">
            <a:solidFill>
              <a:srgbClr val="2E5E73"/>
            </a:solidFill>
            <a:prstDash val="solid"/>
            <a:round/>
            <a:headEnd len="med" w="med" type="none"/>
            <a:tailEnd len="med" w="med" type="oval"/>
          </a:ln>
        </p:spPr>
      </p:cxnSp>
      <p:sp>
        <p:nvSpPr>
          <p:cNvPr id="480" name="Google Shape;480;p65"/>
          <p:cNvSpPr/>
          <p:nvPr/>
        </p:nvSpPr>
        <p:spPr>
          <a:xfrm>
            <a:off x="703634" y="2273329"/>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cxnSp>
        <p:nvCxnSpPr>
          <p:cNvPr id="481" name="Google Shape;481;p65"/>
          <p:cNvCxnSpPr/>
          <p:nvPr/>
        </p:nvCxnSpPr>
        <p:spPr>
          <a:xfrm>
            <a:off x="2" y="3015850"/>
            <a:ext cx="878100" cy="0"/>
          </a:xfrm>
          <a:prstGeom prst="straightConnector1">
            <a:avLst/>
          </a:prstGeom>
          <a:noFill/>
          <a:ln cap="flat" cmpd="sng" w="19050">
            <a:solidFill>
              <a:srgbClr val="2E5E73"/>
            </a:solidFill>
            <a:prstDash val="solid"/>
            <a:round/>
            <a:headEnd len="med" w="med" type="none"/>
            <a:tailEnd len="med" w="med" type="oval"/>
          </a:ln>
        </p:spPr>
      </p:cxnSp>
      <p:sp>
        <p:nvSpPr>
          <p:cNvPr id="482" name="Google Shape;482;p65"/>
          <p:cNvSpPr/>
          <p:nvPr/>
        </p:nvSpPr>
        <p:spPr>
          <a:xfrm>
            <a:off x="703634" y="2864404"/>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cxnSp>
        <p:nvCxnSpPr>
          <p:cNvPr id="483" name="Google Shape;483;p65"/>
          <p:cNvCxnSpPr/>
          <p:nvPr/>
        </p:nvCxnSpPr>
        <p:spPr>
          <a:xfrm>
            <a:off x="2" y="3606925"/>
            <a:ext cx="878100" cy="0"/>
          </a:xfrm>
          <a:prstGeom prst="straightConnector1">
            <a:avLst/>
          </a:prstGeom>
          <a:noFill/>
          <a:ln cap="flat" cmpd="sng" w="19050">
            <a:solidFill>
              <a:srgbClr val="2E5E73"/>
            </a:solidFill>
            <a:prstDash val="solid"/>
            <a:round/>
            <a:headEnd len="med" w="med" type="none"/>
            <a:tailEnd len="med" w="med" type="oval"/>
          </a:ln>
        </p:spPr>
      </p:cxnSp>
      <p:sp>
        <p:nvSpPr>
          <p:cNvPr id="484" name="Google Shape;484;p65"/>
          <p:cNvSpPr/>
          <p:nvPr/>
        </p:nvSpPr>
        <p:spPr>
          <a:xfrm>
            <a:off x="703634" y="3455479"/>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cxnSp>
        <p:nvCxnSpPr>
          <p:cNvPr id="485" name="Google Shape;485;p65"/>
          <p:cNvCxnSpPr/>
          <p:nvPr/>
        </p:nvCxnSpPr>
        <p:spPr>
          <a:xfrm>
            <a:off x="2" y="4198000"/>
            <a:ext cx="878100" cy="0"/>
          </a:xfrm>
          <a:prstGeom prst="straightConnector1">
            <a:avLst/>
          </a:prstGeom>
          <a:noFill/>
          <a:ln cap="flat" cmpd="sng" w="19050">
            <a:solidFill>
              <a:srgbClr val="2E5E73"/>
            </a:solidFill>
            <a:prstDash val="solid"/>
            <a:round/>
            <a:headEnd len="med" w="med" type="none"/>
            <a:tailEnd len="med" w="med" type="oval"/>
          </a:ln>
        </p:spPr>
      </p:cxnSp>
      <p:sp>
        <p:nvSpPr>
          <p:cNvPr id="486" name="Google Shape;486;p65"/>
          <p:cNvSpPr/>
          <p:nvPr/>
        </p:nvSpPr>
        <p:spPr>
          <a:xfrm>
            <a:off x="703634" y="4046554"/>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487" name="Google Shape;487;p65"/>
          <p:cNvSpPr/>
          <p:nvPr/>
        </p:nvSpPr>
        <p:spPr>
          <a:xfrm>
            <a:off x="783425" y="1755513"/>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88" name="Google Shape;488;p65"/>
          <p:cNvSpPr/>
          <p:nvPr/>
        </p:nvSpPr>
        <p:spPr>
          <a:xfrm>
            <a:off x="783425" y="2359363"/>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89" name="Google Shape;489;p65"/>
          <p:cNvSpPr/>
          <p:nvPr/>
        </p:nvSpPr>
        <p:spPr>
          <a:xfrm>
            <a:off x="783425" y="2944176"/>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90" name="Google Shape;490;p65"/>
          <p:cNvSpPr/>
          <p:nvPr/>
        </p:nvSpPr>
        <p:spPr>
          <a:xfrm>
            <a:off x="783425" y="3535288"/>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91" name="Google Shape;491;p65"/>
          <p:cNvSpPr/>
          <p:nvPr/>
        </p:nvSpPr>
        <p:spPr>
          <a:xfrm>
            <a:off x="783425" y="4126363"/>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95" name="Shape 495"/>
        <p:cNvGrpSpPr/>
        <p:nvPr/>
      </p:nvGrpSpPr>
      <p:grpSpPr>
        <a:xfrm>
          <a:off x="0" y="0"/>
          <a:ext cx="0" cy="0"/>
          <a:chOff x="0" y="0"/>
          <a:chExt cx="0" cy="0"/>
        </a:xfrm>
      </p:grpSpPr>
      <p:pic>
        <p:nvPicPr>
          <p:cNvPr id="496" name="Google Shape;496;p66"/>
          <p:cNvPicPr preferRelativeResize="0"/>
          <p:nvPr/>
        </p:nvPicPr>
        <p:blipFill rotWithShape="1">
          <a:blip r:embed="rId3">
            <a:alphaModFix amt="11000"/>
          </a:blip>
          <a:srcRect b="4085" l="0" r="0" t="0"/>
          <a:stretch/>
        </p:blipFill>
        <p:spPr>
          <a:xfrm>
            <a:off x="5672475" y="2991225"/>
            <a:ext cx="3471525" cy="2152275"/>
          </a:xfrm>
          <a:prstGeom prst="rect">
            <a:avLst/>
          </a:prstGeom>
          <a:noFill/>
          <a:ln>
            <a:noFill/>
          </a:ln>
        </p:spPr>
      </p:pic>
      <p:sp>
        <p:nvSpPr>
          <p:cNvPr id="497" name="Google Shape;497;p66"/>
          <p:cNvSpPr txBox="1"/>
          <p:nvPr/>
        </p:nvSpPr>
        <p:spPr>
          <a:xfrm>
            <a:off x="0" y="1039700"/>
            <a:ext cx="9187800" cy="3131700"/>
          </a:xfrm>
          <a:prstGeom prst="rect">
            <a:avLst/>
          </a:prstGeom>
          <a:noFill/>
          <a:ln>
            <a:noFill/>
          </a:ln>
        </p:spPr>
        <p:txBody>
          <a:bodyPr anchorCtr="0" anchor="t" bIns="182875" lIns="1828800" spcFirstLastPara="1" rIns="1828800" wrap="square" tIns="182875">
            <a:noAutofit/>
          </a:bodyPr>
          <a:lstStyle/>
          <a:p>
            <a:pPr indent="0" lvl="0" marL="0" rtl="0" algn="l">
              <a:spcBef>
                <a:spcPts val="0"/>
              </a:spcBef>
              <a:spcAft>
                <a:spcPts val="0"/>
              </a:spcAft>
              <a:buNone/>
            </a:pPr>
            <a:r>
              <a:t/>
            </a:r>
            <a:endParaRPr sz="2200">
              <a:latin typeface="Roboto"/>
              <a:ea typeface="Roboto"/>
              <a:cs typeface="Roboto"/>
              <a:sym typeface="Roboto"/>
            </a:endParaRPr>
          </a:p>
        </p:txBody>
      </p:sp>
      <p:sp>
        <p:nvSpPr>
          <p:cNvPr id="498" name="Google Shape;498;p66"/>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66"/>
          <p:cNvSpPr txBox="1"/>
          <p:nvPr>
            <p:ph idx="4294967295" type="body"/>
          </p:nvPr>
        </p:nvSpPr>
        <p:spPr>
          <a:xfrm>
            <a:off x="1942075" y="1069100"/>
            <a:ext cx="5541300" cy="3131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3400"/>
              <a:t>A </a:t>
            </a:r>
            <a:r>
              <a:rPr b="1" lang="en" sz="3400">
                <a:solidFill>
                  <a:schemeClr val="lt1"/>
                </a:solidFill>
                <a:highlight>
                  <a:schemeClr val="dk2"/>
                </a:highlight>
              </a:rPr>
              <a:t> technique </a:t>
            </a:r>
            <a:r>
              <a:rPr lang="en" sz="3400"/>
              <a:t> is how a specific tactic is carried out.</a:t>
            </a:r>
            <a:endParaRPr sz="3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3" name="Shape 503"/>
        <p:cNvGrpSpPr/>
        <p:nvPr/>
      </p:nvGrpSpPr>
      <p:grpSpPr>
        <a:xfrm>
          <a:off x="0" y="0"/>
          <a:ext cx="0" cy="0"/>
          <a:chOff x="0" y="0"/>
          <a:chExt cx="0" cy="0"/>
        </a:xfrm>
      </p:grpSpPr>
      <p:sp>
        <p:nvSpPr>
          <p:cNvPr id="504" name="Google Shape;504;p67"/>
          <p:cNvSpPr txBox="1"/>
          <p:nvPr>
            <p:ph type="title"/>
          </p:nvPr>
        </p:nvSpPr>
        <p:spPr>
          <a:xfrm>
            <a:off x="453225" y="134650"/>
            <a:ext cx="852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This Week</a:t>
            </a:r>
            <a:endParaRPr>
              <a:latin typeface="Roboto Medium"/>
              <a:ea typeface="Roboto Medium"/>
              <a:cs typeface="Roboto Medium"/>
              <a:sym typeface="Roboto Medium"/>
            </a:endParaRPr>
          </a:p>
        </p:txBody>
      </p:sp>
      <p:sp>
        <p:nvSpPr>
          <p:cNvPr id="505" name="Google Shape;505;p67"/>
          <p:cNvSpPr txBox="1"/>
          <p:nvPr>
            <p:ph idx="4294967295" type="title"/>
          </p:nvPr>
        </p:nvSpPr>
        <p:spPr>
          <a:xfrm>
            <a:off x="453225" y="738300"/>
            <a:ext cx="8137200" cy="5664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1200"/>
              </a:spcAft>
              <a:buNone/>
            </a:pPr>
            <a:r>
              <a:rPr b="0" lang="en" sz="1800"/>
              <a:t>Since we’re familiar with penetration methodology, we’ll take an accelerated approach to the Windows pen testing stages this week.</a:t>
            </a:r>
            <a:endParaRPr b="0" sz="1800"/>
          </a:p>
        </p:txBody>
      </p:sp>
      <p:sp>
        <p:nvSpPr>
          <p:cNvPr id="506" name="Google Shape;506;p67"/>
          <p:cNvSpPr txBox="1"/>
          <p:nvPr>
            <p:ph idx="1" type="body"/>
          </p:nvPr>
        </p:nvSpPr>
        <p:spPr>
          <a:xfrm>
            <a:off x="453225" y="1395050"/>
            <a:ext cx="8520600" cy="373800"/>
          </a:xfrm>
          <a:prstGeom prst="rect">
            <a:avLst/>
          </a:prstGeom>
        </p:spPr>
        <p:txBody>
          <a:bodyPr anchorCtr="0" anchor="t" bIns="91425" lIns="0" spcFirstLastPara="1" rIns="91425" wrap="square" tIns="0">
            <a:noAutofit/>
          </a:bodyPr>
          <a:lstStyle/>
          <a:p>
            <a:pPr indent="0" lvl="0" marL="0" rtl="0" algn="l">
              <a:lnSpc>
                <a:spcPct val="95000"/>
              </a:lnSpc>
              <a:spcBef>
                <a:spcPts val="0"/>
              </a:spcBef>
              <a:spcAft>
                <a:spcPts val="0"/>
              </a:spcAft>
              <a:buClr>
                <a:schemeClr val="dk1"/>
              </a:buClr>
              <a:buSzPts val="275"/>
              <a:buFont typeface="Arial"/>
              <a:buNone/>
            </a:pPr>
            <a:r>
              <a:rPr lang="en">
                <a:latin typeface="Roboto Medium"/>
                <a:ea typeface="Roboto Medium"/>
                <a:cs typeface="Roboto Medium"/>
                <a:sym typeface="Roboto Medium"/>
              </a:rPr>
              <a:t>Today we’ll cover: </a:t>
            </a:r>
            <a:endParaRPr>
              <a:latin typeface="Roboto Medium"/>
              <a:ea typeface="Roboto Medium"/>
              <a:cs typeface="Roboto Medium"/>
              <a:sym typeface="Roboto Medium"/>
            </a:endParaRPr>
          </a:p>
        </p:txBody>
      </p:sp>
      <p:sp>
        <p:nvSpPr>
          <p:cNvPr id="507" name="Google Shape;507;p67"/>
          <p:cNvSpPr/>
          <p:nvPr/>
        </p:nvSpPr>
        <p:spPr>
          <a:xfrm>
            <a:off x="1268588" y="1859200"/>
            <a:ext cx="34506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7"/>
          <p:cNvSpPr txBox="1"/>
          <p:nvPr/>
        </p:nvSpPr>
        <p:spPr>
          <a:xfrm>
            <a:off x="-96112" y="1896025"/>
            <a:ext cx="5220000" cy="4464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Port scanning</a:t>
            </a:r>
            <a:endParaRPr sz="1800">
              <a:solidFill>
                <a:schemeClr val="dk2"/>
              </a:solidFill>
              <a:latin typeface="Roboto"/>
              <a:ea typeface="Roboto"/>
              <a:cs typeface="Roboto"/>
              <a:sym typeface="Roboto"/>
            </a:endParaRPr>
          </a:p>
        </p:txBody>
      </p:sp>
      <p:sp>
        <p:nvSpPr>
          <p:cNvPr id="509" name="Google Shape;509;p67"/>
          <p:cNvSpPr/>
          <p:nvPr/>
        </p:nvSpPr>
        <p:spPr>
          <a:xfrm>
            <a:off x="1268588" y="2450278"/>
            <a:ext cx="34506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7"/>
          <p:cNvSpPr/>
          <p:nvPr/>
        </p:nvSpPr>
        <p:spPr>
          <a:xfrm>
            <a:off x="1268588" y="3041355"/>
            <a:ext cx="34506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67"/>
          <p:cNvSpPr/>
          <p:nvPr/>
        </p:nvSpPr>
        <p:spPr>
          <a:xfrm>
            <a:off x="1268588" y="3632433"/>
            <a:ext cx="34506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7"/>
          <p:cNvSpPr/>
          <p:nvPr/>
        </p:nvSpPr>
        <p:spPr>
          <a:xfrm>
            <a:off x="1268588" y="4223523"/>
            <a:ext cx="34506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67"/>
          <p:cNvSpPr txBox="1"/>
          <p:nvPr/>
        </p:nvSpPr>
        <p:spPr>
          <a:xfrm>
            <a:off x="-96070" y="2470228"/>
            <a:ext cx="5220000" cy="4464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Authentication</a:t>
            </a:r>
            <a:endParaRPr sz="1800">
              <a:solidFill>
                <a:schemeClr val="dk2"/>
              </a:solidFill>
              <a:latin typeface="Roboto"/>
              <a:ea typeface="Roboto"/>
              <a:cs typeface="Roboto"/>
              <a:sym typeface="Roboto"/>
            </a:endParaRPr>
          </a:p>
        </p:txBody>
      </p:sp>
      <p:sp>
        <p:nvSpPr>
          <p:cNvPr id="514" name="Google Shape;514;p67"/>
          <p:cNvSpPr txBox="1"/>
          <p:nvPr/>
        </p:nvSpPr>
        <p:spPr>
          <a:xfrm>
            <a:off x="-96070" y="3061305"/>
            <a:ext cx="5220000" cy="4464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Password spraying</a:t>
            </a:r>
            <a:endParaRPr sz="1800">
              <a:solidFill>
                <a:schemeClr val="dk2"/>
              </a:solidFill>
              <a:latin typeface="Roboto"/>
              <a:ea typeface="Roboto"/>
              <a:cs typeface="Roboto"/>
              <a:sym typeface="Roboto"/>
            </a:endParaRPr>
          </a:p>
        </p:txBody>
      </p:sp>
      <p:sp>
        <p:nvSpPr>
          <p:cNvPr id="515" name="Google Shape;515;p67"/>
          <p:cNvSpPr txBox="1"/>
          <p:nvPr/>
        </p:nvSpPr>
        <p:spPr>
          <a:xfrm>
            <a:off x="-96112" y="3652408"/>
            <a:ext cx="5220000" cy="4464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Protocol spoofing</a:t>
            </a:r>
            <a:endParaRPr sz="1800">
              <a:solidFill>
                <a:schemeClr val="dk2"/>
              </a:solidFill>
              <a:latin typeface="Roboto"/>
              <a:ea typeface="Roboto"/>
              <a:cs typeface="Roboto"/>
              <a:sym typeface="Roboto"/>
            </a:endParaRPr>
          </a:p>
        </p:txBody>
      </p:sp>
      <p:sp>
        <p:nvSpPr>
          <p:cNvPr id="516" name="Google Shape;516;p67"/>
          <p:cNvSpPr txBox="1"/>
          <p:nvPr/>
        </p:nvSpPr>
        <p:spPr>
          <a:xfrm>
            <a:off x="-112672" y="4243473"/>
            <a:ext cx="5205900" cy="4464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Exploitation and initial access</a:t>
            </a:r>
            <a:endParaRPr sz="1800">
              <a:solidFill>
                <a:schemeClr val="dk2"/>
              </a:solidFill>
              <a:latin typeface="Roboto"/>
              <a:ea typeface="Roboto"/>
              <a:cs typeface="Roboto"/>
              <a:sym typeface="Roboto"/>
            </a:endParaRPr>
          </a:p>
        </p:txBody>
      </p:sp>
      <p:sp>
        <p:nvSpPr>
          <p:cNvPr id="517" name="Google Shape;517;p67"/>
          <p:cNvSpPr/>
          <p:nvPr/>
        </p:nvSpPr>
        <p:spPr>
          <a:xfrm>
            <a:off x="5157175" y="1458475"/>
            <a:ext cx="3450600" cy="3251400"/>
          </a:xfrm>
          <a:prstGeom prst="roundRect">
            <a:avLst>
              <a:gd fmla="val 5653"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8" name="Google Shape;518;p67"/>
          <p:cNvPicPr preferRelativeResize="0"/>
          <p:nvPr/>
        </p:nvPicPr>
        <p:blipFill>
          <a:blip r:embed="rId3">
            <a:alphaModFix/>
          </a:blip>
          <a:stretch>
            <a:fillRect/>
          </a:stretch>
        </p:blipFill>
        <p:spPr>
          <a:xfrm>
            <a:off x="5335925" y="1734475"/>
            <a:ext cx="3019448" cy="2860224"/>
          </a:xfrm>
          <a:prstGeom prst="rect">
            <a:avLst/>
          </a:prstGeom>
          <a:noFill/>
          <a:ln>
            <a:noFill/>
          </a:ln>
        </p:spPr>
      </p:pic>
      <p:grpSp>
        <p:nvGrpSpPr>
          <p:cNvPr id="519" name="Google Shape;519;p67"/>
          <p:cNvGrpSpPr/>
          <p:nvPr/>
        </p:nvGrpSpPr>
        <p:grpSpPr>
          <a:xfrm>
            <a:off x="383033" y="1859200"/>
            <a:ext cx="776900" cy="486300"/>
            <a:chOff x="457200" y="1466425"/>
            <a:chExt cx="776900" cy="486300"/>
          </a:xfrm>
        </p:grpSpPr>
        <p:sp>
          <p:nvSpPr>
            <p:cNvPr id="520" name="Google Shape;520;p67"/>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01</a:t>
              </a:r>
              <a:endParaRPr i="0" sz="3000" u="none" cap="none" strike="noStrike">
                <a:solidFill>
                  <a:srgbClr val="082D49"/>
                </a:solidFill>
                <a:latin typeface="Roboto"/>
                <a:ea typeface="Roboto"/>
                <a:cs typeface="Roboto"/>
                <a:sym typeface="Roboto"/>
              </a:endParaRPr>
            </a:p>
          </p:txBody>
        </p:sp>
        <p:sp>
          <p:nvSpPr>
            <p:cNvPr id="521" name="Google Shape;521;p67"/>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Light"/>
                <a:ea typeface="Roboto Light"/>
                <a:cs typeface="Roboto Light"/>
                <a:sym typeface="Roboto Light"/>
              </a:endParaRPr>
            </a:p>
          </p:txBody>
        </p:sp>
      </p:grpSp>
      <p:grpSp>
        <p:nvGrpSpPr>
          <p:cNvPr id="522" name="Google Shape;522;p67"/>
          <p:cNvGrpSpPr/>
          <p:nvPr/>
        </p:nvGrpSpPr>
        <p:grpSpPr>
          <a:xfrm>
            <a:off x="383033" y="2459012"/>
            <a:ext cx="776900" cy="486300"/>
            <a:chOff x="457200" y="1466425"/>
            <a:chExt cx="776900" cy="486300"/>
          </a:xfrm>
        </p:grpSpPr>
        <p:sp>
          <p:nvSpPr>
            <p:cNvPr id="523" name="Google Shape;523;p67"/>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524" name="Google Shape;524;p67"/>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Light"/>
                <a:ea typeface="Roboto Light"/>
                <a:cs typeface="Roboto Light"/>
                <a:sym typeface="Roboto Light"/>
              </a:endParaRPr>
            </a:p>
          </p:txBody>
        </p:sp>
      </p:grpSp>
      <p:grpSp>
        <p:nvGrpSpPr>
          <p:cNvPr id="525" name="Google Shape;525;p67"/>
          <p:cNvGrpSpPr/>
          <p:nvPr/>
        </p:nvGrpSpPr>
        <p:grpSpPr>
          <a:xfrm>
            <a:off x="383033" y="3046591"/>
            <a:ext cx="776900" cy="486300"/>
            <a:chOff x="457200" y="1466425"/>
            <a:chExt cx="776900" cy="486300"/>
          </a:xfrm>
        </p:grpSpPr>
        <p:sp>
          <p:nvSpPr>
            <p:cNvPr id="526" name="Google Shape;526;p67"/>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527" name="Google Shape;527;p67"/>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528" name="Google Shape;528;p67"/>
          <p:cNvGrpSpPr/>
          <p:nvPr/>
        </p:nvGrpSpPr>
        <p:grpSpPr>
          <a:xfrm>
            <a:off x="383033" y="3634171"/>
            <a:ext cx="776900" cy="486300"/>
            <a:chOff x="457200" y="1466425"/>
            <a:chExt cx="776900" cy="486300"/>
          </a:xfrm>
        </p:grpSpPr>
        <p:sp>
          <p:nvSpPr>
            <p:cNvPr id="529" name="Google Shape;529;p67"/>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04</a:t>
              </a:r>
              <a:endParaRPr i="0" sz="3000" u="none" cap="none" strike="noStrike">
                <a:solidFill>
                  <a:srgbClr val="082D49"/>
                </a:solidFill>
                <a:latin typeface="Roboto"/>
                <a:ea typeface="Roboto"/>
                <a:cs typeface="Roboto"/>
                <a:sym typeface="Roboto"/>
              </a:endParaRPr>
            </a:p>
          </p:txBody>
        </p:sp>
        <p:sp>
          <p:nvSpPr>
            <p:cNvPr id="530" name="Google Shape;530;p67"/>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531" name="Google Shape;531;p67"/>
          <p:cNvGrpSpPr/>
          <p:nvPr/>
        </p:nvGrpSpPr>
        <p:grpSpPr>
          <a:xfrm>
            <a:off x="383033" y="4225556"/>
            <a:ext cx="776900" cy="486300"/>
            <a:chOff x="457200" y="1466425"/>
            <a:chExt cx="776900" cy="486300"/>
          </a:xfrm>
        </p:grpSpPr>
        <p:sp>
          <p:nvSpPr>
            <p:cNvPr id="532" name="Google Shape;532;p67"/>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05</a:t>
              </a:r>
              <a:endParaRPr i="0" sz="3000" u="none" cap="none" strike="noStrike">
                <a:solidFill>
                  <a:srgbClr val="FFFFFF"/>
                </a:solidFill>
                <a:latin typeface="Roboto"/>
                <a:ea typeface="Roboto"/>
                <a:cs typeface="Roboto"/>
                <a:sym typeface="Roboto"/>
              </a:endParaRPr>
            </a:p>
          </p:txBody>
        </p:sp>
        <p:sp>
          <p:nvSpPr>
            <p:cNvPr id="533" name="Google Shape;533;p67"/>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7" name="Shape 537"/>
        <p:cNvGrpSpPr/>
        <p:nvPr/>
      </p:nvGrpSpPr>
      <p:grpSpPr>
        <a:xfrm>
          <a:off x="0" y="0"/>
          <a:ext cx="0" cy="0"/>
          <a:chOff x="0" y="0"/>
          <a:chExt cx="0" cy="0"/>
        </a:xfrm>
      </p:grpSpPr>
      <p:sp>
        <p:nvSpPr>
          <p:cNvPr id="538" name="Google Shape;538;p68"/>
          <p:cNvSpPr txBox="1"/>
          <p:nvPr>
            <p:ph type="title"/>
          </p:nvPr>
        </p:nvSpPr>
        <p:spPr>
          <a:xfrm>
            <a:off x="453225" y="137526"/>
            <a:ext cx="852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This Week</a:t>
            </a:r>
            <a:endParaRPr>
              <a:latin typeface="Roboto Medium"/>
              <a:ea typeface="Roboto Medium"/>
              <a:cs typeface="Roboto Medium"/>
              <a:sym typeface="Roboto Medium"/>
            </a:endParaRPr>
          </a:p>
        </p:txBody>
      </p:sp>
      <p:sp>
        <p:nvSpPr>
          <p:cNvPr id="539" name="Google Shape;539;p68"/>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pic>
        <p:nvPicPr>
          <p:cNvPr id="540" name="Google Shape;540;p68"/>
          <p:cNvPicPr preferRelativeResize="0"/>
          <p:nvPr/>
        </p:nvPicPr>
        <p:blipFill>
          <a:blip r:embed="rId3">
            <a:alphaModFix/>
          </a:blip>
          <a:stretch>
            <a:fillRect/>
          </a:stretch>
        </p:blipFill>
        <p:spPr>
          <a:xfrm>
            <a:off x="137162" y="1249094"/>
            <a:ext cx="8869675" cy="3473981"/>
          </a:xfrm>
          <a:prstGeom prst="rect">
            <a:avLst/>
          </a:prstGeom>
          <a:noFill/>
          <a:ln>
            <a:noFill/>
          </a:ln>
        </p:spPr>
      </p:pic>
      <p:sp>
        <p:nvSpPr>
          <p:cNvPr id="541" name="Google Shape;541;p68"/>
          <p:cNvSpPr txBox="1"/>
          <p:nvPr>
            <p:ph idx="4294967295" type="subTitle"/>
          </p:nvPr>
        </p:nvSpPr>
        <p:spPr>
          <a:xfrm>
            <a:off x="719838" y="1983125"/>
            <a:ext cx="1676100" cy="1299600"/>
          </a:xfrm>
          <a:prstGeom prst="rect">
            <a:avLst/>
          </a:prstGeom>
        </p:spPr>
        <p:txBody>
          <a:bodyPr anchorCtr="0" anchor="t" bIns="91425" lIns="0" spcFirstLastPara="1" rIns="91425" wrap="square" tIns="0">
            <a:noAutofit/>
          </a:bodyPr>
          <a:lstStyle/>
          <a:p>
            <a:pPr indent="0" lvl="0" marL="0" rtl="0" algn="ctr">
              <a:lnSpc>
                <a:spcPct val="100000"/>
              </a:lnSpc>
              <a:spcBef>
                <a:spcPts val="0"/>
              </a:spcBef>
              <a:spcAft>
                <a:spcPts val="0"/>
              </a:spcAft>
              <a:buNone/>
            </a:pPr>
            <a:r>
              <a:rPr lang="en" sz="1800"/>
              <a:t>We’ll continue using the same scenario for activities. </a:t>
            </a:r>
            <a:endParaRPr sz="1800"/>
          </a:p>
        </p:txBody>
      </p:sp>
      <p:sp>
        <p:nvSpPr>
          <p:cNvPr id="542" name="Google Shape;542;p68"/>
          <p:cNvSpPr txBox="1"/>
          <p:nvPr>
            <p:ph idx="4294967295" type="subTitle"/>
          </p:nvPr>
        </p:nvSpPr>
        <p:spPr>
          <a:xfrm>
            <a:off x="3578342" y="1781123"/>
            <a:ext cx="1814400" cy="1893900"/>
          </a:xfrm>
          <a:prstGeom prst="rect">
            <a:avLst/>
          </a:prstGeom>
        </p:spPr>
        <p:txBody>
          <a:bodyPr anchorCtr="0" anchor="t" bIns="91425" lIns="0" spcFirstLastPara="1" rIns="91425" wrap="square" tIns="0">
            <a:noAutofit/>
          </a:bodyPr>
          <a:lstStyle/>
          <a:p>
            <a:pPr indent="0" lvl="0" marL="0" rtl="0" algn="ctr">
              <a:lnSpc>
                <a:spcPct val="100000"/>
              </a:lnSpc>
              <a:spcBef>
                <a:spcPts val="0"/>
              </a:spcBef>
              <a:spcAft>
                <a:spcPts val="0"/>
              </a:spcAft>
              <a:buNone/>
            </a:pPr>
            <a:r>
              <a:rPr lang="en" sz="1800"/>
              <a:t>At the end of </a:t>
            </a:r>
            <a:br>
              <a:rPr lang="en" sz="1800"/>
            </a:br>
            <a:r>
              <a:rPr lang="en" sz="1800"/>
              <a:t>the week, you’ll continue the report you started in the last module. </a:t>
            </a:r>
            <a:endParaRPr sz="1800"/>
          </a:p>
        </p:txBody>
      </p:sp>
      <p:sp>
        <p:nvSpPr>
          <p:cNvPr id="543" name="Google Shape;543;p68"/>
          <p:cNvSpPr txBox="1"/>
          <p:nvPr>
            <p:ph idx="4294967295" type="subTitle"/>
          </p:nvPr>
        </p:nvSpPr>
        <p:spPr>
          <a:xfrm>
            <a:off x="6701585" y="1851431"/>
            <a:ext cx="1753800" cy="1563000"/>
          </a:xfrm>
          <a:prstGeom prst="rect">
            <a:avLst/>
          </a:prstGeom>
        </p:spPr>
        <p:txBody>
          <a:bodyPr anchorCtr="0" anchor="t" bIns="91425" lIns="0" spcFirstLastPara="1" rIns="91425" wrap="square" tIns="0">
            <a:noAutofit/>
          </a:bodyPr>
          <a:lstStyle/>
          <a:p>
            <a:pPr indent="0" lvl="0" marL="0" rtl="0" algn="ctr">
              <a:lnSpc>
                <a:spcPct val="100000"/>
              </a:lnSpc>
              <a:spcBef>
                <a:spcPts val="0"/>
              </a:spcBef>
              <a:spcAft>
                <a:spcPts val="0"/>
              </a:spcAft>
              <a:buNone/>
            </a:pPr>
            <a:r>
              <a:rPr lang="en" sz="1800"/>
              <a:t>Remember to continue taking notes and document </a:t>
            </a:r>
            <a:br>
              <a:rPr lang="en" sz="1800"/>
            </a:br>
            <a:r>
              <a:rPr lang="en" sz="1800"/>
              <a:t>your findings.</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0"/>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Linux</a:t>
            </a:r>
            <a:r>
              <a:rPr b="0" lang="en"/>
              <a:t>,</a:t>
            </a:r>
            <a:r>
              <a:rPr lang="en"/>
              <a:t> Windows</a:t>
            </a:r>
            <a:r>
              <a:rPr b="0" lang="en"/>
              <a:t>,</a:t>
            </a:r>
            <a:r>
              <a:rPr lang="en"/>
              <a:t> </a:t>
            </a:r>
            <a:endParaRPr/>
          </a:p>
          <a:p>
            <a:pPr indent="0" lvl="0" marL="0" rtl="0" algn="ctr">
              <a:spcBef>
                <a:spcPts val="0"/>
              </a:spcBef>
              <a:spcAft>
                <a:spcPts val="0"/>
              </a:spcAft>
              <a:buNone/>
            </a:pPr>
            <a:r>
              <a:rPr b="1" lang="en">
                <a:latin typeface="Roboto"/>
                <a:ea typeface="Roboto"/>
                <a:cs typeface="Roboto"/>
                <a:sym typeface="Roboto"/>
              </a:rPr>
              <a:t>Ports</a:t>
            </a:r>
            <a:r>
              <a:rPr b="0" lang="en"/>
              <a:t>,</a:t>
            </a:r>
            <a:r>
              <a:rPr b="1" lang="en">
                <a:latin typeface="Roboto"/>
                <a:ea typeface="Roboto"/>
                <a:cs typeface="Roboto"/>
                <a:sym typeface="Roboto"/>
              </a:rPr>
              <a:t> and Protocols</a:t>
            </a:r>
            <a:endParaRPr b="1">
              <a:latin typeface="Roboto"/>
              <a:ea typeface="Roboto"/>
              <a:cs typeface="Roboto"/>
              <a:sym typeface="Roboto"/>
            </a:endParaRPr>
          </a:p>
        </p:txBody>
      </p:sp>
      <p:pic>
        <p:nvPicPr>
          <p:cNvPr id="553" name="Google Shape;553;p70"/>
          <p:cNvPicPr preferRelativeResize="0"/>
          <p:nvPr/>
        </p:nvPicPr>
        <p:blipFill rotWithShape="1">
          <a:blip r:embed="rId3">
            <a:alphaModFix amt="12000"/>
          </a:blip>
          <a:srcRect b="21874" l="0" r="0" t="0"/>
          <a:stretch/>
        </p:blipFill>
        <p:spPr>
          <a:xfrm>
            <a:off x="6504875" y="3069475"/>
            <a:ext cx="2639125" cy="2074025"/>
          </a:xfrm>
          <a:prstGeom prst="rect">
            <a:avLst/>
          </a:prstGeom>
          <a:noFill/>
          <a:ln>
            <a:noFill/>
          </a:ln>
        </p:spPr>
      </p:pic>
      <p:grpSp>
        <p:nvGrpSpPr>
          <p:cNvPr id="554" name="Google Shape;554;p70"/>
          <p:cNvGrpSpPr/>
          <p:nvPr/>
        </p:nvGrpSpPr>
        <p:grpSpPr>
          <a:xfrm>
            <a:off x="4062508" y="1467214"/>
            <a:ext cx="1020208" cy="1022128"/>
            <a:chOff x="1253075" y="295775"/>
            <a:chExt cx="5113825" cy="5123450"/>
          </a:xfrm>
        </p:grpSpPr>
        <p:sp>
          <p:nvSpPr>
            <p:cNvPr id="555" name="Google Shape;555;p70"/>
            <p:cNvSpPr/>
            <p:nvPr/>
          </p:nvSpPr>
          <p:spPr>
            <a:xfrm>
              <a:off x="3175550" y="295775"/>
              <a:ext cx="1268875" cy="1268875"/>
            </a:xfrm>
            <a:custGeom>
              <a:rect b="b" l="l" r="r" t="t"/>
              <a:pathLst>
                <a:path extrusionOk="0" fill="none" h="50755" w="50755">
                  <a:moveTo>
                    <a:pt x="50754" y="50754"/>
                  </a:moveTo>
                  <a:lnTo>
                    <a:pt x="1" y="50754"/>
                  </a:lnTo>
                  <a:lnTo>
                    <a:pt x="1" y="1"/>
                  </a:lnTo>
                  <a:lnTo>
                    <a:pt x="50754" y="1"/>
                  </a:lnTo>
                  <a:lnTo>
                    <a:pt x="50754" y="50754"/>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56" name="Google Shape;556;p70"/>
            <p:cNvSpPr/>
            <p:nvPr/>
          </p:nvSpPr>
          <p:spPr>
            <a:xfrm>
              <a:off x="3175550" y="4150350"/>
              <a:ext cx="1268875" cy="1268875"/>
            </a:xfrm>
            <a:custGeom>
              <a:rect b="b" l="l" r="r" t="t"/>
              <a:pathLst>
                <a:path extrusionOk="0" fill="none" h="50755" w="50755">
                  <a:moveTo>
                    <a:pt x="50754" y="50754"/>
                  </a:moveTo>
                  <a:lnTo>
                    <a:pt x="1" y="50754"/>
                  </a:lnTo>
                  <a:lnTo>
                    <a:pt x="1" y="1"/>
                  </a:lnTo>
                  <a:lnTo>
                    <a:pt x="50754" y="1"/>
                  </a:lnTo>
                  <a:lnTo>
                    <a:pt x="50754" y="50754"/>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57" name="Google Shape;557;p70"/>
            <p:cNvSpPr/>
            <p:nvPr/>
          </p:nvSpPr>
          <p:spPr>
            <a:xfrm>
              <a:off x="1253075" y="4150350"/>
              <a:ext cx="1268875" cy="1268875"/>
            </a:xfrm>
            <a:custGeom>
              <a:rect b="b" l="l" r="r" t="t"/>
              <a:pathLst>
                <a:path extrusionOk="0" fill="none" h="50755" w="50755">
                  <a:moveTo>
                    <a:pt x="50754" y="50754"/>
                  </a:moveTo>
                  <a:lnTo>
                    <a:pt x="1" y="50754"/>
                  </a:lnTo>
                  <a:lnTo>
                    <a:pt x="1" y="1"/>
                  </a:lnTo>
                  <a:lnTo>
                    <a:pt x="50754" y="1"/>
                  </a:lnTo>
                  <a:lnTo>
                    <a:pt x="50754" y="50754"/>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58" name="Google Shape;558;p70"/>
            <p:cNvSpPr/>
            <p:nvPr/>
          </p:nvSpPr>
          <p:spPr>
            <a:xfrm>
              <a:off x="5098025" y="4150350"/>
              <a:ext cx="1268875" cy="1268875"/>
            </a:xfrm>
            <a:custGeom>
              <a:rect b="b" l="l" r="r" t="t"/>
              <a:pathLst>
                <a:path extrusionOk="0" fill="none" h="50755" w="50755">
                  <a:moveTo>
                    <a:pt x="50754" y="50754"/>
                  </a:moveTo>
                  <a:lnTo>
                    <a:pt x="1" y="50754"/>
                  </a:lnTo>
                  <a:lnTo>
                    <a:pt x="1" y="1"/>
                  </a:lnTo>
                  <a:lnTo>
                    <a:pt x="50754" y="1"/>
                  </a:lnTo>
                  <a:lnTo>
                    <a:pt x="50754" y="50754"/>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59" name="Google Shape;559;p70"/>
            <p:cNvSpPr/>
            <p:nvPr/>
          </p:nvSpPr>
          <p:spPr>
            <a:xfrm>
              <a:off x="1887500" y="2852675"/>
              <a:ext cx="3844975" cy="1297700"/>
            </a:xfrm>
            <a:custGeom>
              <a:rect b="b" l="l" r="r" t="t"/>
              <a:pathLst>
                <a:path extrusionOk="0" fill="none" h="51908" w="153799">
                  <a:moveTo>
                    <a:pt x="1" y="51908"/>
                  </a:moveTo>
                  <a:lnTo>
                    <a:pt x="1" y="3846"/>
                  </a:lnTo>
                  <a:lnTo>
                    <a:pt x="1" y="3846"/>
                  </a:lnTo>
                  <a:lnTo>
                    <a:pt x="385" y="2692"/>
                  </a:lnTo>
                  <a:lnTo>
                    <a:pt x="1154" y="1154"/>
                  </a:lnTo>
                  <a:lnTo>
                    <a:pt x="2308" y="385"/>
                  </a:lnTo>
                  <a:lnTo>
                    <a:pt x="3846" y="1"/>
                  </a:lnTo>
                  <a:lnTo>
                    <a:pt x="149953" y="1"/>
                  </a:lnTo>
                  <a:lnTo>
                    <a:pt x="149953" y="1"/>
                  </a:lnTo>
                  <a:lnTo>
                    <a:pt x="151491" y="385"/>
                  </a:lnTo>
                  <a:lnTo>
                    <a:pt x="152645" y="1154"/>
                  </a:lnTo>
                  <a:lnTo>
                    <a:pt x="153414" y="2692"/>
                  </a:lnTo>
                  <a:lnTo>
                    <a:pt x="153798" y="3846"/>
                  </a:lnTo>
                  <a:lnTo>
                    <a:pt x="153798" y="51908"/>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60" name="Google Shape;560;p70"/>
            <p:cNvSpPr/>
            <p:nvPr/>
          </p:nvSpPr>
          <p:spPr>
            <a:xfrm>
              <a:off x="3809975" y="1564625"/>
              <a:ext cx="25" cy="2585750"/>
            </a:xfrm>
            <a:custGeom>
              <a:rect b="b" l="l" r="r" t="t"/>
              <a:pathLst>
                <a:path extrusionOk="0" fill="none" h="103430" w="1">
                  <a:moveTo>
                    <a:pt x="1" y="0"/>
                  </a:moveTo>
                  <a:lnTo>
                    <a:pt x="1" y="103430"/>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4" name="Shape 564"/>
        <p:cNvGrpSpPr/>
        <p:nvPr/>
      </p:nvGrpSpPr>
      <p:grpSpPr>
        <a:xfrm>
          <a:off x="0" y="0"/>
          <a:ext cx="0" cy="0"/>
          <a:chOff x="0" y="0"/>
          <a:chExt cx="0" cy="0"/>
        </a:xfrm>
      </p:grpSpPr>
      <p:sp>
        <p:nvSpPr>
          <p:cNvPr id="565" name="Google Shape;565;p71"/>
          <p:cNvSpPr txBox="1"/>
          <p:nvPr>
            <p:ph type="title"/>
          </p:nvPr>
        </p:nvSpPr>
        <p:spPr>
          <a:xfrm>
            <a:off x="914400" y="294975"/>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Linux and Windows</a:t>
            </a:r>
            <a:endParaRPr>
              <a:latin typeface="Roboto Medium"/>
              <a:ea typeface="Roboto Medium"/>
              <a:cs typeface="Roboto Medium"/>
              <a:sym typeface="Roboto Medium"/>
            </a:endParaRPr>
          </a:p>
        </p:txBody>
      </p:sp>
      <p:sp>
        <p:nvSpPr>
          <p:cNvPr id="566" name="Google Shape;566;p71"/>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567" name="Google Shape;567;p71"/>
          <p:cNvSpPr txBox="1"/>
          <p:nvPr>
            <p:ph idx="4294967295" type="title"/>
          </p:nvPr>
        </p:nvSpPr>
        <p:spPr>
          <a:xfrm>
            <a:off x="432325" y="1168225"/>
            <a:ext cx="8025900" cy="7281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1200"/>
              </a:spcAft>
              <a:buNone/>
            </a:pPr>
            <a:r>
              <a:rPr b="0" lang="en" sz="1800"/>
              <a:t>By learning how to be a system administrator for either Linux or Windows machines, we’ve established a base for understanding how the operating systems are different and how to potentially identify weaknesses in each.</a:t>
            </a:r>
            <a:endParaRPr b="0" sz="1800"/>
          </a:p>
        </p:txBody>
      </p:sp>
      <p:sp>
        <p:nvSpPr>
          <p:cNvPr id="568" name="Google Shape;568;p71"/>
          <p:cNvSpPr/>
          <p:nvPr/>
        </p:nvSpPr>
        <p:spPr>
          <a:xfrm>
            <a:off x="3377313" y="2060100"/>
            <a:ext cx="2897100" cy="2897100"/>
          </a:xfrm>
          <a:prstGeom prst="ellipse">
            <a:avLst/>
          </a:prstGeom>
          <a:solidFill>
            <a:schemeClr val="lt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lang="en" sz="1800">
                <a:solidFill>
                  <a:schemeClr val="dk2"/>
                </a:solidFill>
                <a:latin typeface="Roboto"/>
                <a:ea typeface="Roboto"/>
                <a:cs typeface="Roboto"/>
                <a:sym typeface="Roboto"/>
              </a:rPr>
              <a:t>While pen testing, we’ll use this knowledge to exploit weaknesses in both systems.</a:t>
            </a:r>
            <a:endParaRPr i="0" sz="1800" u="none" cap="none" strike="noStrike">
              <a:solidFill>
                <a:schemeClr val="dk2"/>
              </a:solidFill>
              <a:latin typeface="Roboto"/>
              <a:ea typeface="Roboto"/>
              <a:cs typeface="Roboto"/>
              <a:sym typeface="Roboto"/>
            </a:endParaRPr>
          </a:p>
        </p:txBody>
      </p:sp>
      <p:pic>
        <p:nvPicPr>
          <p:cNvPr id="569" name="Google Shape;569;p71"/>
          <p:cNvPicPr preferRelativeResize="0"/>
          <p:nvPr/>
        </p:nvPicPr>
        <p:blipFill>
          <a:blip r:embed="rId3">
            <a:alphaModFix/>
          </a:blip>
          <a:stretch>
            <a:fillRect/>
          </a:stretch>
        </p:blipFill>
        <p:spPr>
          <a:xfrm>
            <a:off x="1124034" y="2348612"/>
            <a:ext cx="2407579" cy="2319964"/>
          </a:xfrm>
          <a:prstGeom prst="rect">
            <a:avLst/>
          </a:prstGeom>
          <a:noFill/>
          <a:ln>
            <a:noFill/>
          </a:ln>
          <a:effectLst>
            <a:outerShdw blurRad="57150" rotWithShape="0" algn="bl" dir="5400000" dist="19050">
              <a:srgbClr val="000000">
                <a:alpha val="50000"/>
              </a:srgbClr>
            </a:outerShdw>
          </a:effectLst>
        </p:spPr>
      </p:pic>
      <p:pic>
        <p:nvPicPr>
          <p:cNvPr id="570" name="Google Shape;570;p71"/>
          <p:cNvPicPr preferRelativeResize="0"/>
          <p:nvPr/>
        </p:nvPicPr>
        <p:blipFill>
          <a:blip r:embed="rId4">
            <a:alphaModFix/>
          </a:blip>
          <a:stretch>
            <a:fillRect/>
          </a:stretch>
        </p:blipFill>
        <p:spPr>
          <a:xfrm>
            <a:off x="5783974" y="2502308"/>
            <a:ext cx="1988425" cy="2298741"/>
          </a:xfrm>
          <a:prstGeom prst="rect">
            <a:avLst/>
          </a:prstGeom>
          <a:noFill/>
          <a:ln>
            <a:noFill/>
          </a:ln>
          <a:effectLst>
            <a:outerShdw blurRad="57150" rotWithShape="0" algn="bl" dir="5400000" dist="19050">
              <a:srgbClr val="000000">
                <a:alpha val="50000"/>
              </a:srgbClr>
            </a:outerShdw>
          </a:effectLst>
        </p:spPr>
      </p:pic>
      <p:grpSp>
        <p:nvGrpSpPr>
          <p:cNvPr id="571" name="Google Shape;571;p71"/>
          <p:cNvGrpSpPr/>
          <p:nvPr/>
        </p:nvGrpSpPr>
        <p:grpSpPr>
          <a:xfrm>
            <a:off x="274736" y="274356"/>
            <a:ext cx="365127" cy="365814"/>
            <a:chOff x="1253075" y="295775"/>
            <a:chExt cx="5113825" cy="5123450"/>
          </a:xfrm>
        </p:grpSpPr>
        <p:sp>
          <p:nvSpPr>
            <p:cNvPr id="572" name="Google Shape;572;p71"/>
            <p:cNvSpPr/>
            <p:nvPr/>
          </p:nvSpPr>
          <p:spPr>
            <a:xfrm>
              <a:off x="3175550" y="295775"/>
              <a:ext cx="1268875" cy="1268875"/>
            </a:xfrm>
            <a:custGeom>
              <a:rect b="b" l="l" r="r" t="t"/>
              <a:pathLst>
                <a:path extrusionOk="0" fill="none" h="50755" w="50755">
                  <a:moveTo>
                    <a:pt x="50754" y="50754"/>
                  </a:moveTo>
                  <a:lnTo>
                    <a:pt x="1" y="50754"/>
                  </a:lnTo>
                  <a:lnTo>
                    <a:pt x="1" y="1"/>
                  </a:lnTo>
                  <a:lnTo>
                    <a:pt x="50754" y="1"/>
                  </a:lnTo>
                  <a:lnTo>
                    <a:pt x="50754" y="50754"/>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73" name="Google Shape;573;p71"/>
            <p:cNvSpPr/>
            <p:nvPr/>
          </p:nvSpPr>
          <p:spPr>
            <a:xfrm>
              <a:off x="3175550" y="4150350"/>
              <a:ext cx="1268875" cy="1268875"/>
            </a:xfrm>
            <a:custGeom>
              <a:rect b="b" l="l" r="r" t="t"/>
              <a:pathLst>
                <a:path extrusionOk="0" fill="none" h="50755" w="50755">
                  <a:moveTo>
                    <a:pt x="50754" y="50754"/>
                  </a:moveTo>
                  <a:lnTo>
                    <a:pt x="1" y="50754"/>
                  </a:lnTo>
                  <a:lnTo>
                    <a:pt x="1" y="1"/>
                  </a:lnTo>
                  <a:lnTo>
                    <a:pt x="50754" y="1"/>
                  </a:lnTo>
                  <a:lnTo>
                    <a:pt x="50754" y="50754"/>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74" name="Google Shape;574;p71"/>
            <p:cNvSpPr/>
            <p:nvPr/>
          </p:nvSpPr>
          <p:spPr>
            <a:xfrm>
              <a:off x="1253075" y="4150350"/>
              <a:ext cx="1268875" cy="1268875"/>
            </a:xfrm>
            <a:custGeom>
              <a:rect b="b" l="l" r="r" t="t"/>
              <a:pathLst>
                <a:path extrusionOk="0" fill="none" h="50755" w="50755">
                  <a:moveTo>
                    <a:pt x="50754" y="50754"/>
                  </a:moveTo>
                  <a:lnTo>
                    <a:pt x="1" y="50754"/>
                  </a:lnTo>
                  <a:lnTo>
                    <a:pt x="1" y="1"/>
                  </a:lnTo>
                  <a:lnTo>
                    <a:pt x="50754" y="1"/>
                  </a:lnTo>
                  <a:lnTo>
                    <a:pt x="50754" y="50754"/>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75" name="Google Shape;575;p71"/>
            <p:cNvSpPr/>
            <p:nvPr/>
          </p:nvSpPr>
          <p:spPr>
            <a:xfrm>
              <a:off x="5098025" y="4150350"/>
              <a:ext cx="1268875" cy="1268875"/>
            </a:xfrm>
            <a:custGeom>
              <a:rect b="b" l="l" r="r" t="t"/>
              <a:pathLst>
                <a:path extrusionOk="0" fill="none" h="50755" w="50755">
                  <a:moveTo>
                    <a:pt x="50754" y="50754"/>
                  </a:moveTo>
                  <a:lnTo>
                    <a:pt x="1" y="50754"/>
                  </a:lnTo>
                  <a:lnTo>
                    <a:pt x="1" y="1"/>
                  </a:lnTo>
                  <a:lnTo>
                    <a:pt x="50754" y="1"/>
                  </a:lnTo>
                  <a:lnTo>
                    <a:pt x="50754" y="50754"/>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76" name="Google Shape;576;p71"/>
            <p:cNvSpPr/>
            <p:nvPr/>
          </p:nvSpPr>
          <p:spPr>
            <a:xfrm>
              <a:off x="1887500" y="2852675"/>
              <a:ext cx="3844975" cy="1297700"/>
            </a:xfrm>
            <a:custGeom>
              <a:rect b="b" l="l" r="r" t="t"/>
              <a:pathLst>
                <a:path extrusionOk="0" fill="none" h="51908" w="153799">
                  <a:moveTo>
                    <a:pt x="1" y="51908"/>
                  </a:moveTo>
                  <a:lnTo>
                    <a:pt x="1" y="3846"/>
                  </a:lnTo>
                  <a:lnTo>
                    <a:pt x="1" y="3846"/>
                  </a:lnTo>
                  <a:lnTo>
                    <a:pt x="385" y="2692"/>
                  </a:lnTo>
                  <a:lnTo>
                    <a:pt x="1154" y="1154"/>
                  </a:lnTo>
                  <a:lnTo>
                    <a:pt x="2308" y="385"/>
                  </a:lnTo>
                  <a:lnTo>
                    <a:pt x="3846" y="1"/>
                  </a:lnTo>
                  <a:lnTo>
                    <a:pt x="149953" y="1"/>
                  </a:lnTo>
                  <a:lnTo>
                    <a:pt x="149953" y="1"/>
                  </a:lnTo>
                  <a:lnTo>
                    <a:pt x="151491" y="385"/>
                  </a:lnTo>
                  <a:lnTo>
                    <a:pt x="152645" y="1154"/>
                  </a:lnTo>
                  <a:lnTo>
                    <a:pt x="153414" y="2692"/>
                  </a:lnTo>
                  <a:lnTo>
                    <a:pt x="153798" y="3846"/>
                  </a:lnTo>
                  <a:lnTo>
                    <a:pt x="153798" y="51908"/>
                  </a:lnTo>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577" name="Google Shape;577;p71"/>
            <p:cNvSpPr/>
            <p:nvPr/>
          </p:nvSpPr>
          <p:spPr>
            <a:xfrm>
              <a:off x="3809975" y="1564625"/>
              <a:ext cx="25" cy="2585750"/>
            </a:xfrm>
            <a:custGeom>
              <a:rect b="b" l="l" r="r" t="t"/>
              <a:pathLst>
                <a:path extrusionOk="0" fill="none" h="103430" w="1">
                  <a:moveTo>
                    <a:pt x="1" y="0"/>
                  </a:moveTo>
                  <a:lnTo>
                    <a:pt x="1" y="103430"/>
                  </a:lnTo>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2"/>
          <p:cNvSpPr txBox="1"/>
          <p:nvPr>
            <p:ph idx="1" type="body"/>
          </p:nvPr>
        </p:nvSpPr>
        <p:spPr>
          <a:xfrm>
            <a:off x="3647875" y="1788452"/>
            <a:ext cx="4783500" cy="2467200"/>
          </a:xfrm>
          <a:prstGeom prst="rect">
            <a:avLst/>
          </a:prstGeom>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How can a penetration test be different when facing </a:t>
            </a:r>
            <a:r>
              <a:rPr b="1" lang="en"/>
              <a:t>Linux</a:t>
            </a:r>
            <a:r>
              <a:rPr lang="en"/>
              <a:t> versus </a:t>
            </a:r>
            <a:r>
              <a:rPr b="1" lang="en"/>
              <a:t>Windows</a:t>
            </a:r>
            <a:r>
              <a:rPr lang="en"/>
              <a:t>?</a:t>
            </a:r>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73"/>
          <p:cNvSpPr/>
          <p:nvPr/>
        </p:nvSpPr>
        <p:spPr>
          <a:xfrm>
            <a:off x="138025" y="515275"/>
            <a:ext cx="8823900" cy="22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3"/>
          <p:cNvSpPr/>
          <p:nvPr/>
        </p:nvSpPr>
        <p:spPr>
          <a:xfrm flipH="1" rot="10800000">
            <a:off x="4658369" y="515224"/>
            <a:ext cx="4141220" cy="1228526"/>
          </a:xfrm>
          <a:prstGeom prst="round2DiagRect">
            <a:avLst>
              <a:gd fmla="val 0" name="adj1"/>
              <a:gd fmla="val 17764"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589" name="Google Shape;589;p73"/>
          <p:cNvSpPr txBox="1"/>
          <p:nvPr/>
        </p:nvSpPr>
        <p:spPr>
          <a:xfrm>
            <a:off x="4706875" y="515175"/>
            <a:ext cx="4051800" cy="122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Because of Active Directory (AD), passwords are more reusable throughout a Windows network.</a:t>
            </a:r>
            <a:endParaRPr sz="1800">
              <a:solidFill>
                <a:schemeClr val="lt1"/>
              </a:solidFill>
              <a:latin typeface="Roboto"/>
              <a:ea typeface="Roboto"/>
              <a:cs typeface="Roboto"/>
              <a:sym typeface="Roboto"/>
            </a:endParaRPr>
          </a:p>
        </p:txBody>
      </p:sp>
      <p:grpSp>
        <p:nvGrpSpPr>
          <p:cNvPr id="590" name="Google Shape;590;p73"/>
          <p:cNvGrpSpPr/>
          <p:nvPr/>
        </p:nvGrpSpPr>
        <p:grpSpPr>
          <a:xfrm>
            <a:off x="371321" y="515175"/>
            <a:ext cx="4141220" cy="1233145"/>
            <a:chOff x="1126863" y="2007974"/>
            <a:chExt cx="1944600" cy="1575501"/>
          </a:xfrm>
        </p:grpSpPr>
        <p:sp>
          <p:nvSpPr>
            <p:cNvPr id="591" name="Google Shape;591;p73"/>
            <p:cNvSpPr/>
            <p:nvPr/>
          </p:nvSpPr>
          <p:spPr>
            <a:xfrm>
              <a:off x="1126863" y="2013875"/>
              <a:ext cx="1944600" cy="1569600"/>
            </a:xfrm>
            <a:prstGeom prst="round2DiagRect">
              <a:avLst>
                <a:gd fmla="val 0" name="adj1"/>
                <a:gd fmla="val 17764"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rgbClr val="FFFFFF"/>
                </a:solidFill>
                <a:latin typeface="Roboto"/>
                <a:ea typeface="Roboto"/>
                <a:cs typeface="Roboto"/>
                <a:sym typeface="Roboto"/>
              </a:endParaRPr>
            </a:p>
          </p:txBody>
        </p:sp>
        <p:sp>
          <p:nvSpPr>
            <p:cNvPr id="592" name="Google Shape;592;p73"/>
            <p:cNvSpPr txBox="1"/>
            <p:nvPr/>
          </p:nvSpPr>
          <p:spPr>
            <a:xfrm>
              <a:off x="1224700" y="2007974"/>
              <a:ext cx="1741200" cy="1569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Roboto"/>
                  <a:ea typeface="Roboto"/>
                  <a:cs typeface="Roboto"/>
                  <a:sym typeface="Roboto"/>
                </a:rPr>
                <a:t>Windows is much more prevalent</a:t>
              </a:r>
              <a:br>
                <a:rPr lang="en" sz="1800">
                  <a:solidFill>
                    <a:srgbClr val="FFFFFF"/>
                  </a:solidFill>
                  <a:latin typeface="Roboto"/>
                  <a:ea typeface="Roboto"/>
                  <a:cs typeface="Roboto"/>
                  <a:sym typeface="Roboto"/>
                </a:rPr>
              </a:br>
              <a:r>
                <a:rPr lang="en" sz="1800">
                  <a:solidFill>
                    <a:srgbClr val="FFFFFF"/>
                  </a:solidFill>
                  <a:latin typeface="Roboto"/>
                  <a:ea typeface="Roboto"/>
                  <a:cs typeface="Roboto"/>
                  <a:sym typeface="Roboto"/>
                </a:rPr>
                <a:t>in corporate environments.</a:t>
              </a:r>
              <a:endParaRPr sz="1800">
                <a:solidFill>
                  <a:srgbClr val="FFFFFF"/>
                </a:solidFill>
                <a:latin typeface="Roboto"/>
                <a:ea typeface="Roboto"/>
                <a:cs typeface="Roboto"/>
                <a:sym typeface="Roboto"/>
              </a:endParaRPr>
            </a:p>
          </p:txBody>
        </p:sp>
      </p:grpSp>
      <p:grpSp>
        <p:nvGrpSpPr>
          <p:cNvPr id="593" name="Google Shape;593;p73"/>
          <p:cNvGrpSpPr/>
          <p:nvPr/>
        </p:nvGrpSpPr>
        <p:grpSpPr>
          <a:xfrm flipH="1">
            <a:off x="371319" y="1915942"/>
            <a:ext cx="4141356" cy="1228534"/>
            <a:chOff x="5015938" y="2013875"/>
            <a:chExt cx="3001200" cy="1569611"/>
          </a:xfrm>
        </p:grpSpPr>
        <p:sp>
          <p:nvSpPr>
            <p:cNvPr id="594" name="Google Shape;594;p73"/>
            <p:cNvSpPr/>
            <p:nvPr/>
          </p:nvSpPr>
          <p:spPr>
            <a:xfrm>
              <a:off x="5015938" y="2013875"/>
              <a:ext cx="3001200" cy="1569600"/>
            </a:xfrm>
            <a:prstGeom prst="round2DiagRect">
              <a:avLst>
                <a:gd fmla="val 0" name="adj1"/>
                <a:gd fmla="val 17764" name="adj2"/>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sp>
          <p:nvSpPr>
            <p:cNvPr id="595" name="Google Shape;595;p73"/>
            <p:cNvSpPr txBox="1"/>
            <p:nvPr/>
          </p:nvSpPr>
          <p:spPr>
            <a:xfrm>
              <a:off x="5319687" y="2013886"/>
              <a:ext cx="2393700" cy="1569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Ports and protocols</a:t>
              </a:r>
              <a:br>
                <a:rPr lang="en" sz="1800">
                  <a:solidFill>
                    <a:schemeClr val="lt1"/>
                  </a:solidFill>
                  <a:latin typeface="Roboto"/>
                  <a:ea typeface="Roboto"/>
                  <a:cs typeface="Roboto"/>
                  <a:sym typeface="Roboto"/>
                </a:rPr>
              </a:br>
              <a:r>
                <a:rPr lang="en" sz="1800">
                  <a:solidFill>
                    <a:schemeClr val="lt1"/>
                  </a:solidFill>
                  <a:latin typeface="Roboto"/>
                  <a:ea typeface="Roboto"/>
                  <a:cs typeface="Roboto"/>
                  <a:sym typeface="Roboto"/>
                </a:rPr>
                <a:t>are very different.</a:t>
              </a:r>
              <a:endParaRPr sz="1800">
                <a:solidFill>
                  <a:schemeClr val="lt1"/>
                </a:solidFill>
                <a:latin typeface="Roboto"/>
                <a:ea typeface="Roboto"/>
                <a:cs typeface="Roboto"/>
                <a:sym typeface="Roboto"/>
              </a:endParaRPr>
            </a:p>
          </p:txBody>
        </p:sp>
      </p:grpSp>
      <p:grpSp>
        <p:nvGrpSpPr>
          <p:cNvPr id="596" name="Google Shape;596;p73"/>
          <p:cNvGrpSpPr/>
          <p:nvPr/>
        </p:nvGrpSpPr>
        <p:grpSpPr>
          <a:xfrm>
            <a:off x="4658369" y="1915925"/>
            <a:ext cx="4141220" cy="1228543"/>
            <a:chOff x="1126863" y="2013854"/>
            <a:chExt cx="1944600" cy="1569621"/>
          </a:xfrm>
        </p:grpSpPr>
        <p:sp>
          <p:nvSpPr>
            <p:cNvPr id="597" name="Google Shape;597;p73"/>
            <p:cNvSpPr/>
            <p:nvPr/>
          </p:nvSpPr>
          <p:spPr>
            <a:xfrm>
              <a:off x="1126863" y="2013875"/>
              <a:ext cx="1944600" cy="1569600"/>
            </a:xfrm>
            <a:prstGeom prst="round2DiagRect">
              <a:avLst>
                <a:gd fmla="val 0" name="adj1"/>
                <a:gd fmla="val 17764"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rgbClr val="FFFFFF"/>
                </a:solidFill>
                <a:latin typeface="Roboto"/>
                <a:ea typeface="Roboto"/>
                <a:cs typeface="Roboto"/>
                <a:sym typeface="Roboto"/>
              </a:endParaRPr>
            </a:p>
          </p:txBody>
        </p:sp>
        <p:sp>
          <p:nvSpPr>
            <p:cNvPr id="598" name="Google Shape;598;p73"/>
            <p:cNvSpPr txBox="1"/>
            <p:nvPr/>
          </p:nvSpPr>
          <p:spPr>
            <a:xfrm>
              <a:off x="1233724" y="2013854"/>
              <a:ext cx="1747800" cy="1541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Software and services are different, which introduces different potential exploits.</a:t>
              </a:r>
              <a:endParaRPr sz="1800">
                <a:solidFill>
                  <a:schemeClr val="dk2"/>
                </a:solidFill>
                <a:latin typeface="Roboto"/>
                <a:ea typeface="Roboto"/>
                <a:cs typeface="Roboto"/>
                <a:sym typeface="Roboto"/>
              </a:endParaRPr>
            </a:p>
          </p:txBody>
        </p:sp>
      </p:grpSp>
      <p:grpSp>
        <p:nvGrpSpPr>
          <p:cNvPr id="599" name="Google Shape;599;p73"/>
          <p:cNvGrpSpPr/>
          <p:nvPr/>
        </p:nvGrpSpPr>
        <p:grpSpPr>
          <a:xfrm>
            <a:off x="371319" y="3316650"/>
            <a:ext cx="4141220" cy="1228535"/>
            <a:chOff x="3071457" y="2013863"/>
            <a:chExt cx="1944600" cy="1569612"/>
          </a:xfrm>
        </p:grpSpPr>
        <p:sp>
          <p:nvSpPr>
            <p:cNvPr id="600" name="Google Shape;600;p73"/>
            <p:cNvSpPr/>
            <p:nvPr/>
          </p:nvSpPr>
          <p:spPr>
            <a:xfrm flipH="1" rot="10800000">
              <a:off x="3071457" y="2013875"/>
              <a:ext cx="1944600" cy="1569600"/>
            </a:xfrm>
            <a:prstGeom prst="round2DiagRect">
              <a:avLst>
                <a:gd fmla="val 0" name="adj1"/>
                <a:gd fmla="val 17764"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p:txBody>
        </p:sp>
        <p:sp>
          <p:nvSpPr>
            <p:cNvPr id="601" name="Google Shape;601;p73"/>
            <p:cNvSpPr txBox="1"/>
            <p:nvPr/>
          </p:nvSpPr>
          <p:spPr>
            <a:xfrm>
              <a:off x="3231983" y="2013863"/>
              <a:ext cx="1438200" cy="1569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Authentication protocols</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are different.</a:t>
              </a:r>
              <a:endParaRPr sz="1800">
                <a:solidFill>
                  <a:schemeClr val="dk2"/>
                </a:solidFill>
                <a:latin typeface="Roboto"/>
                <a:ea typeface="Roboto"/>
                <a:cs typeface="Roboto"/>
                <a:sym typeface="Roboto"/>
              </a:endParaRPr>
            </a:p>
          </p:txBody>
        </p:sp>
      </p:grpSp>
      <p:grpSp>
        <p:nvGrpSpPr>
          <p:cNvPr id="602" name="Google Shape;602;p73"/>
          <p:cNvGrpSpPr/>
          <p:nvPr/>
        </p:nvGrpSpPr>
        <p:grpSpPr>
          <a:xfrm>
            <a:off x="4658301" y="3316653"/>
            <a:ext cx="4141356" cy="1228532"/>
            <a:chOff x="5015938" y="2013868"/>
            <a:chExt cx="3001200" cy="1569607"/>
          </a:xfrm>
        </p:grpSpPr>
        <p:sp>
          <p:nvSpPr>
            <p:cNvPr id="603" name="Google Shape;603;p73"/>
            <p:cNvSpPr/>
            <p:nvPr/>
          </p:nvSpPr>
          <p:spPr>
            <a:xfrm>
              <a:off x="5015938" y="2013875"/>
              <a:ext cx="3001200" cy="1569600"/>
            </a:xfrm>
            <a:prstGeom prst="round2DiagRect">
              <a:avLst>
                <a:gd fmla="val 0" name="adj1"/>
                <a:gd fmla="val 17764"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sp>
          <p:nvSpPr>
            <p:cNvPr id="604" name="Google Shape;604;p73"/>
            <p:cNvSpPr txBox="1"/>
            <p:nvPr/>
          </p:nvSpPr>
          <p:spPr>
            <a:xfrm>
              <a:off x="5309255" y="2013868"/>
              <a:ext cx="2417100" cy="1569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Permissioning is different </a:t>
              </a:r>
              <a:br>
                <a:rPr lang="en" sz="1800">
                  <a:solidFill>
                    <a:schemeClr val="lt1"/>
                  </a:solidFill>
                  <a:latin typeface="Roboto"/>
                  <a:ea typeface="Roboto"/>
                  <a:cs typeface="Roboto"/>
                  <a:sym typeface="Roboto"/>
                </a:rPr>
              </a:br>
              <a:r>
                <a:rPr lang="en" sz="1800">
                  <a:solidFill>
                    <a:schemeClr val="lt1"/>
                  </a:solidFill>
                  <a:latin typeface="Roboto"/>
                  <a:ea typeface="Roboto"/>
                  <a:cs typeface="Roboto"/>
                  <a:sym typeface="Roboto"/>
                </a:rPr>
                <a:t>(e.g., no sudo in Windows).</a:t>
              </a:r>
              <a:endParaRPr sz="1800">
                <a:solidFill>
                  <a:schemeClr val="lt1"/>
                </a:solidFill>
                <a:latin typeface="Roboto"/>
                <a:ea typeface="Roboto"/>
                <a:cs typeface="Roboto"/>
                <a:sym typeface="Robot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4"/>
          <p:cNvSpPr txBox="1"/>
          <p:nvPr>
            <p:ph idx="1" type="body"/>
          </p:nvPr>
        </p:nvSpPr>
        <p:spPr>
          <a:xfrm>
            <a:off x="3647875" y="1639452"/>
            <a:ext cx="5038800" cy="2741400"/>
          </a:xfrm>
          <a:prstGeom prst="rect">
            <a:avLst/>
          </a:prstGeom>
        </p:spPr>
        <p:txBody>
          <a:bodyPr anchorCtr="0" anchor="ctr" bIns="91425" lIns="0" spcFirstLastPara="1" rIns="0" wrap="square" tIns="91425">
            <a:noAutofit/>
          </a:bodyPr>
          <a:lstStyle/>
          <a:p>
            <a:pPr indent="0" lvl="0" marL="0" rtl="0" algn="l">
              <a:lnSpc>
                <a:spcPct val="100000"/>
              </a:lnSpc>
              <a:spcBef>
                <a:spcPts val="0"/>
              </a:spcBef>
              <a:spcAft>
                <a:spcPts val="0"/>
              </a:spcAft>
              <a:buNone/>
            </a:pPr>
            <a:r>
              <a:rPr lang="en"/>
              <a:t>Windows commonly uses </a:t>
            </a:r>
            <a:r>
              <a:rPr b="1" lang="en"/>
              <a:t>different ports</a:t>
            </a:r>
            <a:r>
              <a:rPr lang="en"/>
              <a:t> than Linux when operating in a network.</a:t>
            </a:r>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3" name="Shape 613"/>
        <p:cNvGrpSpPr/>
        <p:nvPr/>
      </p:nvGrpSpPr>
      <p:grpSpPr>
        <a:xfrm>
          <a:off x="0" y="0"/>
          <a:ext cx="0" cy="0"/>
          <a:chOff x="0" y="0"/>
          <a:chExt cx="0" cy="0"/>
        </a:xfrm>
      </p:grpSpPr>
      <p:sp>
        <p:nvSpPr>
          <p:cNvPr id="614" name="Google Shape;614;p75"/>
          <p:cNvSpPr txBox="1"/>
          <p:nvPr>
            <p:ph type="title"/>
          </p:nvPr>
        </p:nvSpPr>
        <p:spPr>
          <a:xfrm>
            <a:off x="436918" y="137526"/>
            <a:ext cx="852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Ports and Protocols</a:t>
            </a:r>
            <a:endParaRPr>
              <a:latin typeface="Roboto Medium"/>
              <a:ea typeface="Roboto Medium"/>
              <a:cs typeface="Roboto Medium"/>
              <a:sym typeface="Roboto Medium"/>
            </a:endParaRPr>
          </a:p>
        </p:txBody>
      </p:sp>
      <p:sp>
        <p:nvSpPr>
          <p:cNvPr id="615" name="Google Shape;615;p75"/>
          <p:cNvSpPr txBox="1"/>
          <p:nvPr>
            <p:ph idx="4294967295" type="title"/>
          </p:nvPr>
        </p:nvSpPr>
        <p:spPr>
          <a:xfrm>
            <a:off x="436925" y="588350"/>
            <a:ext cx="8021400" cy="7281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1200"/>
              </a:spcAft>
              <a:buNone/>
            </a:pPr>
            <a:r>
              <a:rPr b="0" lang="en" sz="1800"/>
              <a:t>Knowledge of some common ports can help differentiate a port scan’s results and inform the pen tester of what systems are on the network.</a:t>
            </a:r>
            <a:endParaRPr b="0" sz="1800"/>
          </a:p>
        </p:txBody>
      </p:sp>
      <p:sp>
        <p:nvSpPr>
          <p:cNvPr id="616" name="Google Shape;616;p75"/>
          <p:cNvSpPr txBox="1"/>
          <p:nvPr>
            <p:ph idx="1" type="body"/>
          </p:nvPr>
        </p:nvSpPr>
        <p:spPr>
          <a:xfrm>
            <a:off x="464100" y="1546767"/>
            <a:ext cx="3409500" cy="3081000"/>
          </a:xfrm>
          <a:prstGeom prst="rect">
            <a:avLst/>
          </a:prstGeom>
        </p:spPr>
        <p:txBody>
          <a:bodyPr anchorCtr="0" anchor="t" bIns="91425" lIns="0" spcFirstLastPara="1" rIns="91425" wrap="square" tIns="0">
            <a:noAutofit/>
          </a:bodyPr>
          <a:lstStyle/>
          <a:p>
            <a:pPr indent="0" lvl="0" marL="0" rtl="0" algn="l">
              <a:lnSpc>
                <a:spcPct val="95000"/>
              </a:lnSpc>
              <a:spcBef>
                <a:spcPts val="0"/>
              </a:spcBef>
              <a:spcAft>
                <a:spcPts val="0"/>
              </a:spcAft>
              <a:buSzPts val="770"/>
              <a:buNone/>
            </a:pPr>
            <a:r>
              <a:rPr b="1" lang="en" sz="1300">
                <a:latin typeface="Roboto"/>
                <a:ea typeface="Roboto"/>
                <a:cs typeface="Roboto"/>
                <a:sym typeface="Roboto"/>
              </a:rPr>
              <a:t>For example:</a:t>
            </a:r>
            <a:endParaRPr b="1" sz="1300">
              <a:latin typeface="Roboto"/>
              <a:ea typeface="Roboto"/>
              <a:cs typeface="Roboto"/>
              <a:sym typeface="Roboto"/>
            </a:endParaRPr>
          </a:p>
          <a:p>
            <a:pPr indent="-173990" lvl="0" marL="320040" rtl="0" algn="l">
              <a:lnSpc>
                <a:spcPct val="115000"/>
              </a:lnSpc>
              <a:spcBef>
                <a:spcPts val="600"/>
              </a:spcBef>
              <a:spcAft>
                <a:spcPts val="0"/>
              </a:spcAft>
              <a:buSzPts val="1300"/>
              <a:buChar char="●"/>
            </a:pPr>
            <a:r>
              <a:rPr lang="en" sz="1300"/>
              <a:t>Port 22 (SSH) is a common port </a:t>
            </a:r>
            <a:br>
              <a:rPr lang="en" sz="1300"/>
            </a:br>
            <a:r>
              <a:rPr lang="en" sz="1300"/>
              <a:t>to find open on a Linux machine. </a:t>
            </a:r>
            <a:endParaRPr sz="1300"/>
          </a:p>
          <a:p>
            <a:pPr indent="-173990" lvl="0" marL="320040" rtl="0" algn="l">
              <a:lnSpc>
                <a:spcPct val="115000"/>
              </a:lnSpc>
              <a:spcBef>
                <a:spcPts val="600"/>
              </a:spcBef>
              <a:spcAft>
                <a:spcPts val="0"/>
              </a:spcAft>
              <a:buSzPts val="1300"/>
              <a:buChar char="●"/>
            </a:pPr>
            <a:r>
              <a:rPr lang="en" sz="1300"/>
              <a:t>It’s the protocol that is used for remotely accessing and administrating Linux. </a:t>
            </a:r>
            <a:endParaRPr sz="1300"/>
          </a:p>
          <a:p>
            <a:pPr indent="-173990" lvl="0" marL="320040" rtl="0" algn="l">
              <a:lnSpc>
                <a:spcPct val="115000"/>
              </a:lnSpc>
              <a:spcBef>
                <a:spcPts val="600"/>
              </a:spcBef>
              <a:spcAft>
                <a:spcPts val="0"/>
              </a:spcAft>
              <a:buSzPts val="1300"/>
              <a:buChar char="●"/>
            </a:pPr>
            <a:r>
              <a:rPr lang="en" sz="1300"/>
              <a:t>Windows does not natively have SSH </a:t>
            </a:r>
            <a:br>
              <a:rPr lang="en" sz="1300"/>
            </a:br>
            <a:r>
              <a:rPr lang="en" sz="1300"/>
              <a:t>as an installed service. </a:t>
            </a:r>
            <a:endParaRPr sz="1300"/>
          </a:p>
          <a:p>
            <a:pPr indent="-173990" lvl="0" marL="320040" rtl="0" algn="l">
              <a:lnSpc>
                <a:spcPct val="115000"/>
              </a:lnSpc>
              <a:spcBef>
                <a:spcPts val="600"/>
              </a:spcBef>
              <a:spcAft>
                <a:spcPts val="0"/>
              </a:spcAft>
              <a:buSzPts val="1300"/>
              <a:buChar char="●"/>
            </a:pPr>
            <a:r>
              <a:rPr lang="en" sz="1300"/>
              <a:t>Instead, it relies on other protocols </a:t>
            </a:r>
            <a:br>
              <a:rPr lang="en" sz="1300"/>
            </a:br>
            <a:r>
              <a:rPr lang="en" sz="1300"/>
              <a:t>such as SMB (port 445) and </a:t>
            </a:r>
            <a:br>
              <a:rPr lang="en" sz="1300"/>
            </a:br>
            <a:r>
              <a:rPr lang="en" sz="1300"/>
              <a:t>Remote Desktop Protocol (RDP, </a:t>
            </a:r>
            <a:br>
              <a:rPr lang="en" sz="1300"/>
            </a:br>
            <a:r>
              <a:rPr lang="en" sz="1300"/>
              <a:t>port 3389) to be remotely accessed.</a:t>
            </a:r>
            <a:endParaRPr sz="1300"/>
          </a:p>
        </p:txBody>
      </p:sp>
      <p:graphicFrame>
        <p:nvGraphicFramePr>
          <p:cNvPr id="617" name="Google Shape;617;p75"/>
          <p:cNvGraphicFramePr/>
          <p:nvPr/>
        </p:nvGraphicFramePr>
        <p:xfrm>
          <a:off x="3949138" y="1488025"/>
          <a:ext cx="3000000" cy="3000000"/>
        </p:xfrm>
        <a:graphic>
          <a:graphicData uri="http://schemas.openxmlformats.org/drawingml/2006/table">
            <a:tbl>
              <a:tblPr>
                <a:noFill/>
                <a:tableStyleId>{F6913C7F-31B9-4ADE-BA88-58018638AE0A}</a:tableStyleId>
              </a:tblPr>
              <a:tblGrid>
                <a:gridCol w="1005550"/>
                <a:gridCol w="743250"/>
                <a:gridCol w="3171725"/>
              </a:tblGrid>
              <a:tr h="381000">
                <a:tc>
                  <a:txBody>
                    <a:bodyPr/>
                    <a:lstStyle/>
                    <a:p>
                      <a:pPr indent="0" lvl="0" marL="0" rtl="0" algn="l">
                        <a:spcBef>
                          <a:spcPts val="0"/>
                        </a:spcBef>
                        <a:spcAft>
                          <a:spcPts val="0"/>
                        </a:spcAft>
                        <a:buNone/>
                      </a:pPr>
                      <a:r>
                        <a:rPr lang="en" sz="1300">
                          <a:solidFill>
                            <a:srgbClr val="FFFFFF"/>
                          </a:solidFill>
                          <a:latin typeface="Roboto Medium"/>
                          <a:ea typeface="Roboto Medium"/>
                          <a:cs typeface="Roboto Medium"/>
                          <a:sym typeface="Roboto Medium"/>
                        </a:rPr>
                        <a:t>Port</a:t>
                      </a:r>
                      <a:r>
                        <a:rPr b="1" lang="en" sz="1300">
                          <a:solidFill>
                            <a:srgbClr val="FFFFFF"/>
                          </a:solidFill>
                          <a:latin typeface="Roboto"/>
                          <a:ea typeface="Roboto"/>
                          <a:cs typeface="Roboto"/>
                          <a:sym typeface="Roboto"/>
                        </a:rPr>
                        <a:t> </a:t>
                      </a:r>
                      <a:r>
                        <a:rPr lang="en" sz="1500">
                          <a:solidFill>
                            <a:srgbClr val="FFFFFF"/>
                          </a:solidFill>
                          <a:latin typeface="Inconsolata SemiBold"/>
                          <a:ea typeface="Inconsolata SemiBold"/>
                          <a:cs typeface="Inconsolata SemiBold"/>
                          <a:sym typeface="Inconsolata SemiBold"/>
                        </a:rPr>
                        <a:t>80</a:t>
                      </a:r>
                      <a:endParaRPr sz="1500">
                        <a:solidFill>
                          <a:srgbClr val="FFFFFF"/>
                        </a:solidFill>
                        <a:latin typeface="Inconsolata SemiBold"/>
                        <a:ea typeface="Inconsolata SemiBold"/>
                        <a:cs typeface="Inconsolata SemiBold"/>
                        <a:sym typeface="Inconsolata SemiBold"/>
                      </a:endParaRPr>
                    </a:p>
                  </a:txBody>
                  <a:tcPr marT="91425" marB="91425" marR="0"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Medium"/>
                          <a:ea typeface="Roboto Medium"/>
                          <a:cs typeface="Roboto Medium"/>
                          <a:sym typeface="Roboto Medium"/>
                        </a:rPr>
                        <a:t>HTTP</a:t>
                      </a:r>
                      <a:endParaRPr sz="1300">
                        <a:solidFill>
                          <a:schemeClr val="dk2"/>
                        </a:solidFill>
                        <a:latin typeface="Roboto Medium"/>
                        <a:ea typeface="Roboto Medium"/>
                        <a:cs typeface="Roboto Medium"/>
                        <a:sym typeface="Roboto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Sending web traffic</a:t>
                      </a:r>
                      <a:endParaRPr sz="1300">
                        <a:solidFill>
                          <a:schemeClr val="dk2"/>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381000">
                <a:tc>
                  <a:txBody>
                    <a:bodyPr/>
                    <a:lstStyle/>
                    <a:p>
                      <a:pPr indent="0" lvl="0" marL="0" rtl="0" algn="l">
                        <a:spcBef>
                          <a:spcPts val="0"/>
                        </a:spcBef>
                        <a:spcAft>
                          <a:spcPts val="0"/>
                        </a:spcAft>
                        <a:buNone/>
                      </a:pPr>
                      <a:r>
                        <a:rPr lang="en" sz="1300">
                          <a:solidFill>
                            <a:srgbClr val="FFFFFF"/>
                          </a:solidFill>
                          <a:latin typeface="Roboto Medium"/>
                          <a:ea typeface="Roboto Medium"/>
                          <a:cs typeface="Roboto Medium"/>
                          <a:sym typeface="Roboto Medium"/>
                        </a:rPr>
                        <a:t>Port</a:t>
                      </a:r>
                      <a:r>
                        <a:rPr b="1" lang="en" sz="1300">
                          <a:solidFill>
                            <a:srgbClr val="FFFFFF"/>
                          </a:solidFill>
                          <a:latin typeface="Roboto"/>
                          <a:ea typeface="Roboto"/>
                          <a:cs typeface="Roboto"/>
                          <a:sym typeface="Roboto"/>
                        </a:rPr>
                        <a:t> </a:t>
                      </a:r>
                      <a:r>
                        <a:rPr lang="en" sz="1500">
                          <a:solidFill>
                            <a:srgbClr val="FFFFFF"/>
                          </a:solidFill>
                          <a:latin typeface="Inconsolata SemiBold"/>
                          <a:ea typeface="Inconsolata SemiBold"/>
                          <a:cs typeface="Inconsolata SemiBold"/>
                          <a:sym typeface="Inconsolata SemiBold"/>
                        </a:rPr>
                        <a:t>443</a:t>
                      </a:r>
                      <a:endParaRPr b="1" sz="1300">
                        <a:solidFill>
                          <a:srgbClr val="FFFFFF"/>
                        </a:solidFill>
                        <a:latin typeface="Roboto"/>
                        <a:ea typeface="Roboto"/>
                        <a:cs typeface="Roboto"/>
                        <a:sym typeface="Roboto"/>
                      </a:endParaRPr>
                    </a:p>
                  </a:txBody>
                  <a:tcPr marT="91425" marB="91425" marR="0"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Medium"/>
                          <a:ea typeface="Roboto Medium"/>
                          <a:cs typeface="Roboto Medium"/>
                          <a:sym typeface="Roboto Medium"/>
                        </a:rPr>
                        <a:t>HTTPS</a:t>
                      </a:r>
                      <a:endParaRPr sz="1300">
                        <a:solidFill>
                          <a:schemeClr val="dk2"/>
                        </a:solidFill>
                        <a:latin typeface="Roboto Medium"/>
                        <a:ea typeface="Roboto Medium"/>
                        <a:cs typeface="Roboto Medium"/>
                        <a:sym typeface="Roboto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Sending encrypted web traffic</a:t>
                      </a:r>
                      <a:endParaRPr sz="1300">
                        <a:solidFill>
                          <a:schemeClr val="dk2"/>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sz="1300">
                          <a:solidFill>
                            <a:srgbClr val="FFFFFF"/>
                          </a:solidFill>
                          <a:latin typeface="Roboto Medium"/>
                          <a:ea typeface="Roboto Medium"/>
                          <a:cs typeface="Roboto Medium"/>
                          <a:sym typeface="Roboto Medium"/>
                        </a:rPr>
                        <a:t>Port</a:t>
                      </a:r>
                      <a:r>
                        <a:rPr b="1" lang="en" sz="1300">
                          <a:solidFill>
                            <a:srgbClr val="FFFFFF"/>
                          </a:solidFill>
                          <a:latin typeface="Roboto"/>
                          <a:ea typeface="Roboto"/>
                          <a:cs typeface="Roboto"/>
                          <a:sym typeface="Roboto"/>
                        </a:rPr>
                        <a:t> </a:t>
                      </a:r>
                      <a:r>
                        <a:rPr lang="en" sz="1500">
                          <a:solidFill>
                            <a:srgbClr val="FFFFFF"/>
                          </a:solidFill>
                          <a:latin typeface="Inconsolata SemiBold"/>
                          <a:ea typeface="Inconsolata SemiBold"/>
                          <a:cs typeface="Inconsolata SemiBold"/>
                          <a:sym typeface="Inconsolata SemiBold"/>
                        </a:rPr>
                        <a:t>21</a:t>
                      </a:r>
                      <a:endParaRPr b="1" sz="1300">
                        <a:solidFill>
                          <a:srgbClr val="FFFFFF"/>
                        </a:solidFill>
                        <a:latin typeface="Roboto"/>
                        <a:ea typeface="Roboto"/>
                        <a:cs typeface="Roboto"/>
                        <a:sym typeface="Roboto"/>
                      </a:endParaRPr>
                    </a:p>
                  </a:txBody>
                  <a:tcPr marT="91425" marB="91425" marR="0"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Medium"/>
                          <a:ea typeface="Roboto Medium"/>
                          <a:cs typeface="Roboto Medium"/>
                          <a:sym typeface="Roboto Medium"/>
                        </a:rPr>
                        <a:t>FTP</a:t>
                      </a:r>
                      <a:endParaRPr sz="1300">
                        <a:solidFill>
                          <a:schemeClr val="dk2"/>
                        </a:solidFill>
                        <a:latin typeface="Roboto Medium"/>
                        <a:ea typeface="Roboto Medium"/>
                        <a:cs typeface="Roboto Medium"/>
                        <a:sym typeface="Roboto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Sending files</a:t>
                      </a:r>
                      <a:endParaRPr sz="1300">
                        <a:solidFill>
                          <a:schemeClr val="dk2"/>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381000">
                <a:tc>
                  <a:txBody>
                    <a:bodyPr/>
                    <a:lstStyle/>
                    <a:p>
                      <a:pPr indent="0" lvl="0" marL="0" rtl="0" algn="l">
                        <a:spcBef>
                          <a:spcPts val="0"/>
                        </a:spcBef>
                        <a:spcAft>
                          <a:spcPts val="0"/>
                        </a:spcAft>
                        <a:buNone/>
                      </a:pPr>
                      <a:r>
                        <a:rPr lang="en" sz="1300">
                          <a:solidFill>
                            <a:srgbClr val="FFFFFF"/>
                          </a:solidFill>
                          <a:latin typeface="Roboto Medium"/>
                          <a:ea typeface="Roboto Medium"/>
                          <a:cs typeface="Roboto Medium"/>
                          <a:sym typeface="Roboto Medium"/>
                        </a:rPr>
                        <a:t>Port</a:t>
                      </a:r>
                      <a:r>
                        <a:rPr b="1" lang="en" sz="1300">
                          <a:solidFill>
                            <a:srgbClr val="FFFFFF"/>
                          </a:solidFill>
                          <a:latin typeface="Roboto"/>
                          <a:ea typeface="Roboto"/>
                          <a:cs typeface="Roboto"/>
                          <a:sym typeface="Roboto"/>
                        </a:rPr>
                        <a:t> </a:t>
                      </a:r>
                      <a:r>
                        <a:rPr lang="en" sz="1500">
                          <a:solidFill>
                            <a:srgbClr val="FFFFFF"/>
                          </a:solidFill>
                          <a:latin typeface="Inconsolata SemiBold"/>
                          <a:ea typeface="Inconsolata SemiBold"/>
                          <a:cs typeface="Inconsolata SemiBold"/>
                          <a:sym typeface="Inconsolata SemiBold"/>
                        </a:rPr>
                        <a:t>22</a:t>
                      </a:r>
                      <a:endParaRPr b="1" sz="1300">
                        <a:solidFill>
                          <a:srgbClr val="FFFFFF"/>
                        </a:solidFill>
                        <a:latin typeface="Roboto"/>
                        <a:ea typeface="Roboto"/>
                        <a:cs typeface="Roboto"/>
                        <a:sym typeface="Roboto"/>
                      </a:endParaRPr>
                    </a:p>
                  </a:txBody>
                  <a:tcPr marT="91425" marB="91425" marR="0"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Medium"/>
                          <a:ea typeface="Roboto Medium"/>
                          <a:cs typeface="Roboto Medium"/>
                          <a:sym typeface="Roboto Medium"/>
                        </a:rPr>
                        <a:t>SSH</a:t>
                      </a:r>
                      <a:endParaRPr sz="1300">
                        <a:solidFill>
                          <a:schemeClr val="dk2"/>
                        </a:solidFill>
                        <a:latin typeface="Roboto Medium"/>
                        <a:ea typeface="Roboto Medium"/>
                        <a:cs typeface="Roboto Medium"/>
                        <a:sym typeface="Roboto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Securely operating network services</a:t>
                      </a:r>
                      <a:endParaRPr sz="1300">
                        <a:solidFill>
                          <a:schemeClr val="dk2"/>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sz="1300">
                          <a:solidFill>
                            <a:srgbClr val="FFFFFF"/>
                          </a:solidFill>
                          <a:latin typeface="Roboto Medium"/>
                          <a:ea typeface="Roboto Medium"/>
                          <a:cs typeface="Roboto Medium"/>
                          <a:sym typeface="Roboto Medium"/>
                        </a:rPr>
                        <a:t>Port</a:t>
                      </a:r>
                      <a:r>
                        <a:rPr b="1" lang="en" sz="1300">
                          <a:solidFill>
                            <a:srgbClr val="FFFFFF"/>
                          </a:solidFill>
                          <a:latin typeface="Roboto"/>
                          <a:ea typeface="Roboto"/>
                          <a:cs typeface="Roboto"/>
                          <a:sym typeface="Roboto"/>
                        </a:rPr>
                        <a:t> </a:t>
                      </a:r>
                      <a:r>
                        <a:rPr lang="en" sz="1500">
                          <a:solidFill>
                            <a:srgbClr val="FFFFFF"/>
                          </a:solidFill>
                          <a:latin typeface="Inconsolata SemiBold"/>
                          <a:ea typeface="Inconsolata SemiBold"/>
                          <a:cs typeface="Inconsolata SemiBold"/>
                          <a:sym typeface="Inconsolata SemiBold"/>
                        </a:rPr>
                        <a:t>25</a:t>
                      </a:r>
                      <a:endParaRPr b="1" sz="1300">
                        <a:solidFill>
                          <a:srgbClr val="FFFFFF"/>
                        </a:solidFill>
                        <a:latin typeface="Roboto"/>
                        <a:ea typeface="Roboto"/>
                        <a:cs typeface="Roboto"/>
                        <a:sym typeface="Roboto"/>
                      </a:endParaRPr>
                    </a:p>
                  </a:txBody>
                  <a:tcPr marT="91425" marB="91425" marR="0"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Medium"/>
                          <a:ea typeface="Roboto Medium"/>
                          <a:cs typeface="Roboto Medium"/>
                          <a:sym typeface="Roboto Medium"/>
                        </a:rPr>
                        <a:t>SMTP</a:t>
                      </a:r>
                      <a:endParaRPr sz="1300">
                        <a:solidFill>
                          <a:schemeClr val="dk2"/>
                        </a:solidFill>
                        <a:latin typeface="Roboto Medium"/>
                        <a:ea typeface="Roboto Medium"/>
                        <a:cs typeface="Roboto Medium"/>
                        <a:sym typeface="Roboto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Sending emails</a:t>
                      </a:r>
                      <a:endParaRPr sz="1300">
                        <a:solidFill>
                          <a:schemeClr val="dk2"/>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381000">
                <a:tc>
                  <a:txBody>
                    <a:bodyPr/>
                    <a:lstStyle/>
                    <a:p>
                      <a:pPr indent="0" lvl="0" marL="0" rtl="0" algn="l">
                        <a:spcBef>
                          <a:spcPts val="0"/>
                        </a:spcBef>
                        <a:spcAft>
                          <a:spcPts val="0"/>
                        </a:spcAft>
                        <a:buNone/>
                      </a:pPr>
                      <a:r>
                        <a:rPr lang="en" sz="1300">
                          <a:solidFill>
                            <a:srgbClr val="FFFFFF"/>
                          </a:solidFill>
                          <a:latin typeface="Roboto Medium"/>
                          <a:ea typeface="Roboto Medium"/>
                          <a:cs typeface="Roboto Medium"/>
                          <a:sym typeface="Roboto Medium"/>
                        </a:rPr>
                        <a:t>Port</a:t>
                      </a:r>
                      <a:r>
                        <a:rPr b="1" lang="en" sz="1300">
                          <a:solidFill>
                            <a:srgbClr val="FFFFFF"/>
                          </a:solidFill>
                          <a:latin typeface="Roboto"/>
                          <a:ea typeface="Roboto"/>
                          <a:cs typeface="Roboto"/>
                          <a:sym typeface="Roboto"/>
                        </a:rPr>
                        <a:t> </a:t>
                      </a:r>
                      <a:r>
                        <a:rPr lang="en" sz="1500">
                          <a:solidFill>
                            <a:srgbClr val="FFFFFF"/>
                          </a:solidFill>
                          <a:latin typeface="Inconsolata SemiBold"/>
                          <a:ea typeface="Inconsolata SemiBold"/>
                          <a:cs typeface="Inconsolata SemiBold"/>
                          <a:sym typeface="Inconsolata SemiBold"/>
                        </a:rPr>
                        <a:t>53</a:t>
                      </a:r>
                      <a:r>
                        <a:rPr b="1" lang="en" sz="1300">
                          <a:solidFill>
                            <a:srgbClr val="FFFFFF"/>
                          </a:solidFill>
                          <a:latin typeface="Roboto"/>
                          <a:ea typeface="Roboto"/>
                          <a:cs typeface="Roboto"/>
                          <a:sym typeface="Roboto"/>
                        </a:rPr>
                        <a:t> </a:t>
                      </a:r>
                      <a:endParaRPr b="1" sz="1300">
                        <a:solidFill>
                          <a:srgbClr val="FFFFFF"/>
                        </a:solidFill>
                        <a:latin typeface="Roboto"/>
                        <a:ea typeface="Roboto"/>
                        <a:cs typeface="Roboto"/>
                        <a:sym typeface="Roboto"/>
                      </a:endParaRPr>
                    </a:p>
                  </a:txBody>
                  <a:tcPr marT="91425" marB="91425" marR="0"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Medium"/>
                          <a:ea typeface="Roboto Medium"/>
                          <a:cs typeface="Roboto Medium"/>
                          <a:sym typeface="Roboto Medium"/>
                        </a:rPr>
                        <a:t>DNS</a:t>
                      </a:r>
                      <a:endParaRPr sz="1300">
                        <a:solidFill>
                          <a:schemeClr val="dk2"/>
                        </a:solidFill>
                        <a:latin typeface="Roboto Medium"/>
                        <a:ea typeface="Roboto Medium"/>
                        <a:cs typeface="Roboto Medium"/>
                        <a:sym typeface="Roboto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Translating domains into IP addresses</a:t>
                      </a:r>
                      <a:endParaRPr sz="1300">
                        <a:solidFill>
                          <a:schemeClr val="dk2"/>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FFFF"/>
                    </a:solidFill>
                  </a:tcPr>
                </a:tc>
              </a:tr>
              <a:tr h="381000">
                <a:tc>
                  <a:txBody>
                    <a:bodyPr/>
                    <a:lstStyle/>
                    <a:p>
                      <a:pPr indent="0" lvl="0" marL="0" rtl="0" algn="l">
                        <a:spcBef>
                          <a:spcPts val="0"/>
                        </a:spcBef>
                        <a:spcAft>
                          <a:spcPts val="0"/>
                        </a:spcAft>
                        <a:buNone/>
                      </a:pPr>
                      <a:r>
                        <a:rPr lang="en" sz="1300">
                          <a:solidFill>
                            <a:srgbClr val="FFFFFF"/>
                          </a:solidFill>
                          <a:latin typeface="Roboto Medium"/>
                          <a:ea typeface="Roboto Medium"/>
                          <a:cs typeface="Roboto Medium"/>
                          <a:sym typeface="Roboto Medium"/>
                        </a:rPr>
                        <a:t>Port 445</a:t>
                      </a:r>
                      <a:endParaRPr sz="1300">
                        <a:solidFill>
                          <a:srgbClr val="FFFFFF"/>
                        </a:solidFill>
                        <a:latin typeface="Roboto Medium"/>
                        <a:ea typeface="Roboto Medium"/>
                        <a:cs typeface="Roboto Medium"/>
                        <a:sym typeface="Roboto Medium"/>
                      </a:endParaRPr>
                    </a:p>
                  </a:txBody>
                  <a:tcPr marT="91425" marB="91425" marR="0"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Medium"/>
                          <a:ea typeface="Roboto Medium"/>
                          <a:cs typeface="Roboto Medium"/>
                          <a:sym typeface="Roboto Medium"/>
                        </a:rPr>
                        <a:t>SMB</a:t>
                      </a:r>
                      <a:endParaRPr sz="1300">
                        <a:solidFill>
                          <a:schemeClr val="dk2"/>
                        </a:solidFill>
                        <a:latin typeface="Roboto Medium"/>
                        <a:ea typeface="Roboto Medium"/>
                        <a:cs typeface="Roboto Medium"/>
                        <a:sym typeface="Roboto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Accessing files on remote servers</a:t>
                      </a:r>
                      <a:endParaRPr sz="1300">
                        <a:solidFill>
                          <a:schemeClr val="dk2"/>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381000">
                <a:tc>
                  <a:txBody>
                    <a:bodyPr/>
                    <a:lstStyle/>
                    <a:p>
                      <a:pPr indent="0" lvl="0" marL="0" rtl="0" algn="l">
                        <a:spcBef>
                          <a:spcPts val="0"/>
                        </a:spcBef>
                        <a:spcAft>
                          <a:spcPts val="0"/>
                        </a:spcAft>
                        <a:buNone/>
                      </a:pPr>
                      <a:r>
                        <a:rPr lang="en" sz="1300">
                          <a:solidFill>
                            <a:srgbClr val="FFFFFF"/>
                          </a:solidFill>
                          <a:latin typeface="Roboto Medium"/>
                          <a:ea typeface="Roboto Medium"/>
                          <a:cs typeface="Roboto Medium"/>
                          <a:sym typeface="Roboto Medium"/>
                        </a:rPr>
                        <a:t>Port 3389</a:t>
                      </a:r>
                      <a:endParaRPr sz="1300">
                        <a:solidFill>
                          <a:srgbClr val="FFFFFF"/>
                        </a:solidFill>
                        <a:latin typeface="Roboto Medium"/>
                        <a:ea typeface="Roboto Medium"/>
                        <a:cs typeface="Roboto Medium"/>
                        <a:sym typeface="Roboto Medium"/>
                      </a:endParaRPr>
                    </a:p>
                  </a:txBody>
                  <a:tcPr marT="91425" marB="91425" marR="0"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300">
                          <a:solidFill>
                            <a:schemeClr val="dk2"/>
                          </a:solidFill>
                          <a:latin typeface="Roboto Medium"/>
                          <a:ea typeface="Roboto Medium"/>
                          <a:cs typeface="Roboto Medium"/>
                          <a:sym typeface="Roboto Medium"/>
                        </a:rPr>
                        <a:t>RDP</a:t>
                      </a:r>
                      <a:endParaRPr sz="1300">
                        <a:solidFill>
                          <a:schemeClr val="dk2"/>
                        </a:solidFill>
                        <a:latin typeface="Roboto Medium"/>
                        <a:ea typeface="Roboto Medium"/>
                        <a:cs typeface="Roboto Medium"/>
                        <a:sym typeface="Roboto Medium"/>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c>
                  <a:txBody>
                    <a:bodyPr/>
                    <a:lstStyle/>
                    <a:p>
                      <a:pPr indent="0" lvl="0" marL="0" rtl="0" algn="l">
                        <a:spcBef>
                          <a:spcPts val="0"/>
                        </a:spcBef>
                        <a:spcAft>
                          <a:spcPts val="0"/>
                        </a:spcAft>
                        <a:buNone/>
                      </a:pPr>
                      <a:r>
                        <a:rPr lang="en" sz="1300">
                          <a:solidFill>
                            <a:schemeClr val="dk2"/>
                          </a:solidFill>
                          <a:latin typeface="Roboto"/>
                          <a:ea typeface="Roboto"/>
                          <a:cs typeface="Roboto"/>
                          <a:sym typeface="Roboto"/>
                        </a:rPr>
                        <a:t>Connecting to remote machines</a:t>
                      </a:r>
                      <a:endParaRPr sz="1300">
                        <a:solidFill>
                          <a:schemeClr val="dk2"/>
                        </a:solidFill>
                        <a:latin typeface="Roboto"/>
                        <a:ea typeface="Roboto"/>
                        <a:cs typeface="Roboto"/>
                        <a:sym typeface="Roboto"/>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FFFF"/>
                    </a:solidFill>
                  </a:tcPr>
                </a:tc>
              </a:tr>
            </a:tbl>
          </a:graphicData>
        </a:graphic>
      </p:graphicFrame>
      <p:sp>
        <p:nvSpPr>
          <p:cNvPr id="618" name="Google Shape;618;p75"/>
          <p:cNvSpPr/>
          <p:nvPr/>
        </p:nvSpPr>
        <p:spPr>
          <a:xfrm>
            <a:off x="3940413" y="3956725"/>
            <a:ext cx="4938000" cy="765900"/>
          </a:xfrm>
          <a:prstGeom prst="rect">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2" name="Shape 622"/>
        <p:cNvGrpSpPr/>
        <p:nvPr/>
      </p:nvGrpSpPr>
      <p:grpSpPr>
        <a:xfrm>
          <a:off x="0" y="0"/>
          <a:ext cx="0" cy="0"/>
          <a:chOff x="0" y="0"/>
          <a:chExt cx="0" cy="0"/>
        </a:xfrm>
      </p:grpSpPr>
      <p:sp>
        <p:nvSpPr>
          <p:cNvPr id="623" name="Google Shape;623;p76"/>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Ports and Protocols</a:t>
            </a:r>
            <a:endParaRPr>
              <a:latin typeface="Roboto Medium"/>
              <a:ea typeface="Roboto Medium"/>
              <a:cs typeface="Roboto Medium"/>
              <a:sym typeface="Roboto Medium"/>
            </a:endParaRPr>
          </a:p>
        </p:txBody>
      </p:sp>
      <p:sp>
        <p:nvSpPr>
          <p:cNvPr id="624" name="Google Shape;624;p76"/>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625" name="Google Shape;625;p76"/>
          <p:cNvSpPr txBox="1"/>
          <p:nvPr>
            <p:ph idx="2" type="title"/>
          </p:nvPr>
        </p:nvSpPr>
        <p:spPr>
          <a:xfrm>
            <a:off x="81843" y="945000"/>
            <a:ext cx="8388000" cy="7281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1200"/>
              </a:spcAft>
              <a:buNone/>
            </a:pPr>
            <a:r>
              <a:rPr lang="en" sz="1800">
                <a:latin typeface="Roboto"/>
                <a:ea typeface="Roboto"/>
                <a:cs typeface="Roboto"/>
                <a:sym typeface="Roboto"/>
              </a:rPr>
              <a:t>An overwhelming majority of enterprises use Windows AD for directory services, which includes the administration of users, computers, and policies.</a:t>
            </a:r>
            <a:endParaRPr sz="1800">
              <a:latin typeface="Roboto"/>
              <a:ea typeface="Roboto"/>
              <a:cs typeface="Roboto"/>
              <a:sym typeface="Roboto"/>
            </a:endParaRPr>
          </a:p>
        </p:txBody>
      </p:sp>
      <p:pic>
        <p:nvPicPr>
          <p:cNvPr id="626" name="Google Shape;626;p76"/>
          <p:cNvPicPr preferRelativeResize="0"/>
          <p:nvPr/>
        </p:nvPicPr>
        <p:blipFill>
          <a:blip r:embed="rId3">
            <a:alphaModFix/>
          </a:blip>
          <a:stretch>
            <a:fillRect/>
          </a:stretch>
        </p:blipFill>
        <p:spPr>
          <a:xfrm>
            <a:off x="326713" y="1892660"/>
            <a:ext cx="4130826" cy="2323590"/>
          </a:xfrm>
          <a:prstGeom prst="rect">
            <a:avLst/>
          </a:prstGeom>
          <a:noFill/>
          <a:ln>
            <a:noFill/>
          </a:ln>
        </p:spPr>
      </p:pic>
      <p:pic>
        <p:nvPicPr>
          <p:cNvPr id="627" name="Google Shape;627;p76"/>
          <p:cNvPicPr preferRelativeResize="0"/>
          <p:nvPr/>
        </p:nvPicPr>
        <p:blipFill rotWithShape="1">
          <a:blip r:embed="rId4">
            <a:alphaModFix/>
          </a:blip>
          <a:srcRect b="0" l="0" r="0" t="0"/>
          <a:stretch/>
        </p:blipFill>
        <p:spPr>
          <a:xfrm>
            <a:off x="4686462" y="1892660"/>
            <a:ext cx="4130826" cy="232359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1" name="Shape 631"/>
        <p:cNvGrpSpPr/>
        <p:nvPr/>
      </p:nvGrpSpPr>
      <p:grpSpPr>
        <a:xfrm>
          <a:off x="0" y="0"/>
          <a:ext cx="0" cy="0"/>
          <a:chOff x="0" y="0"/>
          <a:chExt cx="0" cy="0"/>
        </a:xfrm>
      </p:grpSpPr>
      <p:sp>
        <p:nvSpPr>
          <p:cNvPr id="632" name="Google Shape;632;p77"/>
          <p:cNvSpPr txBox="1"/>
          <p:nvPr>
            <p:ph type="title"/>
          </p:nvPr>
        </p:nvSpPr>
        <p:spPr>
          <a:xfrm>
            <a:off x="445467" y="214575"/>
            <a:ext cx="31695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Ports and Protocols</a:t>
            </a:r>
            <a:endParaRPr>
              <a:latin typeface="Roboto Medium"/>
              <a:ea typeface="Roboto Medium"/>
              <a:cs typeface="Roboto Medium"/>
              <a:sym typeface="Roboto Medium"/>
            </a:endParaRPr>
          </a:p>
        </p:txBody>
      </p:sp>
      <p:sp>
        <p:nvSpPr>
          <p:cNvPr id="633" name="Google Shape;633;p77"/>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634" name="Google Shape;634;p77"/>
          <p:cNvSpPr/>
          <p:nvPr/>
        </p:nvSpPr>
        <p:spPr>
          <a:xfrm>
            <a:off x="3625875" y="383674"/>
            <a:ext cx="5309100" cy="4511700"/>
          </a:xfrm>
          <a:prstGeom prst="roundRect">
            <a:avLst>
              <a:gd fmla="val 2952" name="adj"/>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Medium"/>
                <a:ea typeface="Roboto Medium"/>
                <a:cs typeface="Roboto Medium"/>
                <a:sym typeface="Roboto Medium"/>
              </a:rPr>
              <a:t>       </a:t>
            </a:r>
            <a:endParaRPr sz="1800">
              <a:latin typeface="Roboto Medium"/>
              <a:ea typeface="Roboto Medium"/>
              <a:cs typeface="Roboto Medium"/>
              <a:sym typeface="Roboto Medium"/>
            </a:endParaRPr>
          </a:p>
        </p:txBody>
      </p:sp>
      <p:sp>
        <p:nvSpPr>
          <p:cNvPr id="635" name="Google Shape;635;p77"/>
          <p:cNvSpPr txBox="1"/>
          <p:nvPr/>
        </p:nvSpPr>
        <p:spPr>
          <a:xfrm>
            <a:off x="-5943" y="873937"/>
            <a:ext cx="3395700" cy="3939600"/>
          </a:xfrm>
          <a:prstGeom prst="rect">
            <a:avLst/>
          </a:prstGeom>
          <a:noFill/>
          <a:ln>
            <a:noFill/>
          </a:ln>
        </p:spPr>
        <p:txBody>
          <a:bodyPr anchorCtr="0" anchor="t" bIns="0" lIns="457200" spcFirstLastPara="1" rIns="0" wrap="square" tIns="0">
            <a:noAutofit/>
          </a:bodyPr>
          <a:lstStyle/>
          <a:p>
            <a:pPr indent="0" lvl="0" marL="0" rtl="0" algn="l">
              <a:lnSpc>
                <a:spcPct val="115000"/>
              </a:lnSpc>
              <a:spcBef>
                <a:spcPts val="0"/>
              </a:spcBef>
              <a:spcAft>
                <a:spcPts val="0"/>
              </a:spcAft>
              <a:buNone/>
            </a:pPr>
            <a:r>
              <a:rPr b="1" lang="en" sz="1600">
                <a:solidFill>
                  <a:schemeClr val="dk2"/>
                </a:solidFill>
                <a:latin typeface="Roboto"/>
                <a:ea typeface="Roboto"/>
                <a:cs typeface="Roboto"/>
                <a:sym typeface="Roboto"/>
              </a:rPr>
              <a:t>AD needs several ports open to properly communicate between the domain controller (DC) </a:t>
            </a:r>
            <a:r>
              <a:rPr b="1" lang="en" sz="1600">
                <a:solidFill>
                  <a:schemeClr val="dk2"/>
                </a:solidFill>
                <a:latin typeface="Roboto"/>
                <a:ea typeface="Roboto"/>
                <a:cs typeface="Roboto"/>
                <a:sym typeface="Roboto"/>
              </a:rPr>
              <a:t>and</a:t>
            </a:r>
            <a:r>
              <a:rPr b="1" lang="en" sz="1600">
                <a:solidFill>
                  <a:schemeClr val="dk2"/>
                </a:solidFill>
                <a:latin typeface="Roboto"/>
                <a:ea typeface="Roboto"/>
                <a:cs typeface="Roboto"/>
                <a:sym typeface="Roboto"/>
              </a:rPr>
              <a:t> </a:t>
            </a:r>
            <a:r>
              <a:rPr b="1" lang="en" sz="1600">
                <a:solidFill>
                  <a:schemeClr val="dk2"/>
                </a:solidFill>
                <a:latin typeface="Roboto"/>
                <a:ea typeface="Roboto"/>
                <a:cs typeface="Roboto"/>
                <a:sym typeface="Roboto"/>
              </a:rPr>
              <a:t>workstations</a:t>
            </a:r>
            <a:r>
              <a:rPr b="1" lang="en" sz="1600">
                <a:solidFill>
                  <a:schemeClr val="dk2"/>
                </a:solidFill>
                <a:latin typeface="Roboto"/>
                <a:ea typeface="Roboto"/>
                <a:cs typeface="Roboto"/>
                <a:sym typeface="Roboto"/>
              </a:rPr>
              <a:t> on the network.</a:t>
            </a:r>
            <a:endParaRPr b="1" sz="1600">
              <a:solidFill>
                <a:schemeClr val="dk2"/>
              </a:solidFill>
              <a:latin typeface="Roboto"/>
              <a:ea typeface="Roboto"/>
              <a:cs typeface="Roboto"/>
              <a:sym typeface="Roboto"/>
            </a:endParaRPr>
          </a:p>
          <a:p>
            <a:pPr indent="-187325" lvl="0" marL="200025" rtl="0" algn="l">
              <a:lnSpc>
                <a:spcPct val="115000"/>
              </a:lnSpc>
              <a:spcBef>
                <a:spcPts val="1000"/>
              </a:spcBef>
              <a:spcAft>
                <a:spcPts val="0"/>
              </a:spcAft>
              <a:buClr>
                <a:schemeClr val="dk2"/>
              </a:buClr>
              <a:buSzPts val="1600"/>
              <a:buFont typeface="Roboto"/>
              <a:buChar char="●"/>
            </a:pPr>
            <a:r>
              <a:rPr lang="en" sz="1600">
                <a:solidFill>
                  <a:schemeClr val="dk2"/>
                </a:solidFill>
                <a:latin typeface="Roboto"/>
                <a:ea typeface="Roboto"/>
                <a:cs typeface="Roboto"/>
                <a:sym typeface="Roboto"/>
              </a:rPr>
              <a:t>When a change is made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to a group policy in AD, workstations on the network that are connected to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AD reach out to the DC over ports 445 and 135 to retrieve the group policy update.</a:t>
            </a:r>
            <a:endParaRPr sz="1600">
              <a:solidFill>
                <a:schemeClr val="dk2"/>
              </a:solidFill>
              <a:latin typeface="Roboto"/>
              <a:ea typeface="Roboto"/>
              <a:cs typeface="Roboto"/>
              <a:sym typeface="Roboto"/>
            </a:endParaRPr>
          </a:p>
          <a:p>
            <a:pPr indent="-215900" lvl="0" marL="228600" rtl="0" algn="l">
              <a:lnSpc>
                <a:spcPct val="115000"/>
              </a:lnSpc>
              <a:spcBef>
                <a:spcPts val="0"/>
              </a:spcBef>
              <a:spcAft>
                <a:spcPts val="0"/>
              </a:spcAft>
              <a:buSzPts val="1600"/>
              <a:buFont typeface="Roboto"/>
              <a:buChar char="●"/>
            </a:pPr>
            <a:r>
              <a:rPr lang="en" sz="1600">
                <a:solidFill>
                  <a:schemeClr val="dk2"/>
                </a:solidFill>
                <a:latin typeface="Roboto"/>
                <a:ea typeface="Roboto"/>
                <a:cs typeface="Roboto"/>
                <a:sym typeface="Roboto"/>
              </a:rPr>
              <a:t>Kerberos, the primary form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of authentication in AD, uses port 88</a:t>
            </a:r>
            <a:r>
              <a:rPr lang="en" sz="1600">
                <a:solidFill>
                  <a:schemeClr val="dk1"/>
                </a:solidFill>
                <a:latin typeface="Roboto"/>
                <a:ea typeface="Roboto"/>
                <a:cs typeface="Roboto"/>
                <a:sym typeface="Roboto"/>
              </a:rPr>
              <a:t>.</a:t>
            </a:r>
            <a:endParaRPr sz="1600">
              <a:solidFill>
                <a:schemeClr val="dk1"/>
              </a:solidFill>
              <a:latin typeface="Roboto"/>
              <a:ea typeface="Roboto"/>
              <a:cs typeface="Roboto"/>
              <a:sym typeface="Roboto"/>
            </a:endParaRPr>
          </a:p>
        </p:txBody>
      </p:sp>
      <p:pic>
        <p:nvPicPr>
          <p:cNvPr id="636" name="Google Shape;636;p77"/>
          <p:cNvPicPr preferRelativeResize="0"/>
          <p:nvPr/>
        </p:nvPicPr>
        <p:blipFill rotWithShape="1">
          <a:blip r:embed="rId3">
            <a:alphaModFix/>
          </a:blip>
          <a:srcRect b="8763" l="77499" r="-729" t="1533"/>
          <a:stretch/>
        </p:blipFill>
        <p:spPr>
          <a:xfrm>
            <a:off x="7461638" y="1860849"/>
            <a:ext cx="977225" cy="2022600"/>
          </a:xfrm>
          <a:prstGeom prst="rect">
            <a:avLst/>
          </a:prstGeom>
          <a:noFill/>
          <a:ln>
            <a:noFill/>
          </a:ln>
        </p:spPr>
      </p:pic>
      <p:sp>
        <p:nvSpPr>
          <p:cNvPr id="637" name="Google Shape;637;p77"/>
          <p:cNvSpPr/>
          <p:nvPr/>
        </p:nvSpPr>
        <p:spPr>
          <a:xfrm rot="1407">
            <a:off x="3799250" y="3219924"/>
            <a:ext cx="1466400" cy="235800"/>
          </a:xfrm>
          <a:prstGeom prst="roundRect">
            <a:avLst>
              <a:gd fmla="val 16667" name="adj"/>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Workstation</a:t>
            </a:r>
            <a:endParaRPr b="1" sz="1800">
              <a:solidFill>
                <a:schemeClr val="lt1"/>
              </a:solidFill>
              <a:latin typeface="Roboto"/>
              <a:ea typeface="Roboto"/>
              <a:cs typeface="Roboto"/>
              <a:sym typeface="Roboto"/>
            </a:endParaRPr>
          </a:p>
        </p:txBody>
      </p:sp>
      <p:grpSp>
        <p:nvGrpSpPr>
          <p:cNvPr id="638" name="Google Shape;638;p77"/>
          <p:cNvGrpSpPr/>
          <p:nvPr/>
        </p:nvGrpSpPr>
        <p:grpSpPr>
          <a:xfrm>
            <a:off x="8076662" y="2307825"/>
            <a:ext cx="564330" cy="564330"/>
            <a:chOff x="7189842" y="3080279"/>
            <a:chExt cx="716700" cy="716700"/>
          </a:xfrm>
        </p:grpSpPr>
        <p:sp>
          <p:nvSpPr>
            <p:cNvPr id="639" name="Google Shape;639;p77"/>
            <p:cNvSpPr/>
            <p:nvPr/>
          </p:nvSpPr>
          <p:spPr>
            <a:xfrm>
              <a:off x="7189842" y="3080279"/>
              <a:ext cx="716700" cy="716700"/>
            </a:xfrm>
            <a:prstGeom prst="ellipse">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0" name="Google Shape;640;p77"/>
            <p:cNvPicPr preferRelativeResize="0"/>
            <p:nvPr/>
          </p:nvPicPr>
          <p:blipFill rotWithShape="1">
            <a:blip r:embed="rId4">
              <a:alphaModFix/>
            </a:blip>
            <a:srcRect b="-12050" l="-12050" r="-12050" t="-12050"/>
            <a:stretch/>
          </p:blipFill>
          <p:spPr>
            <a:xfrm>
              <a:off x="7284895" y="3192438"/>
              <a:ext cx="510850" cy="492274"/>
            </a:xfrm>
            <a:prstGeom prst="rect">
              <a:avLst/>
            </a:prstGeom>
            <a:noFill/>
            <a:ln>
              <a:noFill/>
            </a:ln>
          </p:spPr>
        </p:pic>
      </p:grpSp>
      <p:sp>
        <p:nvSpPr>
          <p:cNvPr id="641" name="Google Shape;641;p77"/>
          <p:cNvSpPr/>
          <p:nvPr/>
        </p:nvSpPr>
        <p:spPr>
          <a:xfrm rot="2438">
            <a:off x="7400400" y="3220274"/>
            <a:ext cx="1269300" cy="225900"/>
          </a:xfrm>
          <a:prstGeom prst="roundRect">
            <a:avLst>
              <a:gd fmla="val 16667" name="adj"/>
            </a:avLst>
          </a:prstGeom>
          <a:solidFill>
            <a:schemeClr val="dk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Roboto"/>
                <a:ea typeface="Roboto"/>
                <a:cs typeface="Roboto"/>
                <a:sym typeface="Roboto"/>
              </a:rPr>
              <a:t>DC </a:t>
            </a:r>
            <a:endParaRPr b="1" sz="1700">
              <a:solidFill>
                <a:schemeClr val="lt1"/>
              </a:solidFill>
              <a:latin typeface="Roboto"/>
              <a:ea typeface="Roboto"/>
              <a:cs typeface="Roboto"/>
              <a:sym typeface="Roboto"/>
            </a:endParaRPr>
          </a:p>
        </p:txBody>
      </p:sp>
      <p:sp>
        <p:nvSpPr>
          <p:cNvPr id="642" name="Google Shape;642;p77"/>
          <p:cNvSpPr txBox="1"/>
          <p:nvPr/>
        </p:nvSpPr>
        <p:spPr>
          <a:xfrm>
            <a:off x="3657600" y="4378074"/>
            <a:ext cx="5260200" cy="38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Kerberos (88)</a:t>
            </a:r>
            <a:br>
              <a:rPr lang="en" sz="1800">
                <a:solidFill>
                  <a:schemeClr val="dk2"/>
                </a:solidFill>
                <a:latin typeface="Roboto Medium"/>
                <a:ea typeface="Roboto Medium"/>
                <a:cs typeface="Roboto Medium"/>
                <a:sym typeface="Roboto Medium"/>
              </a:rPr>
            </a:br>
            <a:r>
              <a:rPr lang="en" sz="1800">
                <a:solidFill>
                  <a:schemeClr val="dk2"/>
                </a:solidFill>
                <a:latin typeface="Roboto"/>
                <a:ea typeface="Roboto"/>
                <a:cs typeface="Roboto"/>
                <a:sym typeface="Roboto"/>
              </a:rPr>
              <a:t>Used for authentication</a:t>
            </a:r>
            <a:endParaRPr sz="1800">
              <a:solidFill>
                <a:schemeClr val="dk2"/>
              </a:solidFill>
              <a:latin typeface="Roboto"/>
              <a:ea typeface="Roboto"/>
              <a:cs typeface="Roboto"/>
              <a:sym typeface="Roboto"/>
            </a:endParaRPr>
          </a:p>
        </p:txBody>
      </p:sp>
      <p:sp>
        <p:nvSpPr>
          <p:cNvPr id="643" name="Google Shape;643;p77"/>
          <p:cNvSpPr txBox="1"/>
          <p:nvPr/>
        </p:nvSpPr>
        <p:spPr>
          <a:xfrm>
            <a:off x="4454975" y="1360649"/>
            <a:ext cx="3554700" cy="49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RPC (135)</a:t>
            </a:r>
            <a:endParaRPr b="1" sz="1800">
              <a:solidFill>
                <a:schemeClr val="dk2"/>
              </a:solidFill>
              <a:latin typeface="Roboto"/>
              <a:ea typeface="Roboto"/>
              <a:cs typeface="Roboto"/>
              <a:sym typeface="Roboto"/>
            </a:endParaRPr>
          </a:p>
          <a:p>
            <a:pPr indent="0" lvl="0" marL="0" rtl="0" algn="ctr">
              <a:spcBef>
                <a:spcPts val="0"/>
              </a:spcBef>
              <a:spcAft>
                <a:spcPts val="0"/>
              </a:spcAft>
              <a:buNone/>
            </a:pPr>
            <a:r>
              <a:rPr lang="en" sz="1800">
                <a:solidFill>
                  <a:schemeClr val="dk2"/>
                </a:solidFill>
                <a:latin typeface="Roboto"/>
                <a:ea typeface="Roboto"/>
                <a:cs typeface="Roboto"/>
                <a:sym typeface="Roboto"/>
              </a:rPr>
              <a:t>Used for process</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communication</a:t>
            </a:r>
            <a:endParaRPr sz="1800">
              <a:solidFill>
                <a:schemeClr val="dk2"/>
              </a:solidFill>
              <a:latin typeface="Roboto"/>
              <a:ea typeface="Roboto"/>
              <a:cs typeface="Roboto"/>
              <a:sym typeface="Roboto"/>
            </a:endParaRPr>
          </a:p>
        </p:txBody>
      </p:sp>
      <p:sp>
        <p:nvSpPr>
          <p:cNvPr id="644" name="Google Shape;644;p77"/>
          <p:cNvSpPr txBox="1"/>
          <p:nvPr/>
        </p:nvSpPr>
        <p:spPr>
          <a:xfrm>
            <a:off x="5265650" y="3075224"/>
            <a:ext cx="2154300" cy="49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Roboto"/>
                <a:ea typeface="Roboto"/>
                <a:cs typeface="Roboto"/>
                <a:sym typeface="Roboto"/>
              </a:rPr>
              <a:t>SMB (445)</a:t>
            </a:r>
            <a:br>
              <a:rPr lang="en" sz="1800">
                <a:solidFill>
                  <a:schemeClr val="dk2"/>
                </a:solidFill>
                <a:latin typeface="Roboto Medium"/>
                <a:ea typeface="Roboto Medium"/>
                <a:cs typeface="Roboto Medium"/>
                <a:sym typeface="Roboto Medium"/>
              </a:rPr>
            </a:br>
            <a:r>
              <a:rPr lang="en" sz="1800">
                <a:solidFill>
                  <a:schemeClr val="dk2"/>
                </a:solidFill>
                <a:latin typeface="Roboto"/>
                <a:ea typeface="Roboto"/>
                <a:cs typeface="Roboto"/>
                <a:sym typeface="Roboto"/>
              </a:rPr>
              <a:t>Commonly used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for sharing files</a:t>
            </a:r>
            <a:endParaRPr sz="1800">
              <a:solidFill>
                <a:schemeClr val="dk2"/>
              </a:solidFill>
              <a:latin typeface="Roboto"/>
              <a:ea typeface="Roboto"/>
              <a:cs typeface="Roboto"/>
              <a:sym typeface="Roboto"/>
            </a:endParaRPr>
          </a:p>
        </p:txBody>
      </p:sp>
      <p:cxnSp>
        <p:nvCxnSpPr>
          <p:cNvPr id="645" name="Google Shape;645;p77"/>
          <p:cNvCxnSpPr>
            <a:stCxn id="646" idx="0"/>
            <a:endCxn id="636" idx="0"/>
          </p:cNvCxnSpPr>
          <p:nvPr/>
        </p:nvCxnSpPr>
        <p:spPr>
          <a:xfrm rot="-5400000">
            <a:off x="5992400" y="333274"/>
            <a:ext cx="430500" cy="3485400"/>
          </a:xfrm>
          <a:prstGeom prst="bentConnector3">
            <a:avLst>
              <a:gd fmla="val 315290" name="adj1"/>
            </a:avLst>
          </a:prstGeom>
          <a:noFill/>
          <a:ln cap="flat" cmpd="sng" w="19050">
            <a:solidFill>
              <a:schemeClr val="dk2"/>
            </a:solidFill>
            <a:prstDash val="solid"/>
            <a:round/>
            <a:headEnd len="med" w="med" type="none"/>
            <a:tailEnd len="med" w="med" type="triangle"/>
          </a:ln>
        </p:spPr>
      </p:cxnSp>
      <p:grpSp>
        <p:nvGrpSpPr>
          <p:cNvPr id="647" name="Google Shape;647;p77"/>
          <p:cNvGrpSpPr/>
          <p:nvPr/>
        </p:nvGrpSpPr>
        <p:grpSpPr>
          <a:xfrm>
            <a:off x="3799251" y="2115098"/>
            <a:ext cx="1388875" cy="1041350"/>
            <a:chOff x="4163926" y="3212099"/>
            <a:chExt cx="1388875" cy="1041350"/>
          </a:xfrm>
        </p:grpSpPr>
        <p:pic>
          <p:nvPicPr>
            <p:cNvPr id="648" name="Google Shape;648;p77"/>
            <p:cNvPicPr preferRelativeResize="0"/>
            <p:nvPr/>
          </p:nvPicPr>
          <p:blipFill rotWithShape="1">
            <a:blip r:embed="rId3">
              <a:alphaModFix/>
            </a:blip>
            <a:srcRect b="8765" l="0" r="51763" t="23758"/>
            <a:stretch/>
          </p:blipFill>
          <p:spPr>
            <a:xfrm>
              <a:off x="4163926" y="3212099"/>
              <a:ext cx="1388875" cy="1041350"/>
            </a:xfrm>
            <a:prstGeom prst="rect">
              <a:avLst/>
            </a:prstGeom>
            <a:noFill/>
            <a:ln>
              <a:noFill/>
            </a:ln>
          </p:spPr>
        </p:pic>
        <p:sp>
          <p:nvSpPr>
            <p:cNvPr id="649" name="Google Shape;649;p77"/>
            <p:cNvSpPr/>
            <p:nvPr/>
          </p:nvSpPr>
          <p:spPr>
            <a:xfrm>
              <a:off x="4242225" y="3297750"/>
              <a:ext cx="1174800" cy="679200"/>
            </a:xfrm>
            <a:prstGeom prst="rect">
              <a:avLst/>
            </a:prstGeom>
            <a:solidFill>
              <a:srgbClr val="F2F5F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6" name="Google Shape;646;p77"/>
            <p:cNvPicPr preferRelativeResize="0"/>
            <p:nvPr/>
          </p:nvPicPr>
          <p:blipFill rotWithShape="1">
            <a:blip r:embed="rId4">
              <a:alphaModFix/>
            </a:blip>
            <a:srcRect b="-12050" l="-12050" r="-12050" t="-12050"/>
            <a:stretch/>
          </p:blipFill>
          <p:spPr>
            <a:xfrm>
              <a:off x="4549362" y="3388225"/>
              <a:ext cx="560526" cy="540099"/>
            </a:xfrm>
            <a:prstGeom prst="rect">
              <a:avLst/>
            </a:prstGeom>
            <a:noFill/>
            <a:ln>
              <a:noFill/>
            </a:ln>
          </p:spPr>
        </p:pic>
      </p:grpSp>
      <p:sp>
        <p:nvSpPr>
          <p:cNvPr id="650" name="Google Shape;650;p77"/>
          <p:cNvSpPr/>
          <p:nvPr/>
        </p:nvSpPr>
        <p:spPr>
          <a:xfrm flipH="1" rot="10800000">
            <a:off x="5425100" y="-678975"/>
            <a:ext cx="630900" cy="408300"/>
          </a:xfrm>
          <a:prstGeom prst="round2SameRect">
            <a:avLst>
              <a:gd fmla="val 8958"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1" name="Google Shape;651;p77"/>
          <p:cNvCxnSpPr>
            <a:stCxn id="637" idx="2"/>
            <a:endCxn id="636" idx="2"/>
          </p:cNvCxnSpPr>
          <p:nvPr/>
        </p:nvCxnSpPr>
        <p:spPr>
          <a:xfrm flipH="1" rot="-5400000">
            <a:off x="6027500" y="1960674"/>
            <a:ext cx="427800" cy="3417900"/>
          </a:xfrm>
          <a:prstGeom prst="bentConnector3">
            <a:avLst>
              <a:gd fmla="val 155645" name="adj1"/>
            </a:avLst>
          </a:prstGeom>
          <a:noFill/>
          <a:ln cap="flat" cmpd="sng" w="19050">
            <a:solidFill>
              <a:schemeClr val="dk2"/>
            </a:solidFill>
            <a:prstDash val="solid"/>
            <a:round/>
            <a:headEnd len="med" w="med" type="none"/>
            <a:tailEnd len="med" w="med" type="triangle"/>
          </a:ln>
        </p:spPr>
      </p:cxnSp>
      <p:cxnSp>
        <p:nvCxnSpPr>
          <p:cNvPr id="652" name="Google Shape;652;p77"/>
          <p:cNvCxnSpPr>
            <a:stCxn id="649" idx="3"/>
          </p:cNvCxnSpPr>
          <p:nvPr/>
        </p:nvCxnSpPr>
        <p:spPr>
          <a:xfrm>
            <a:off x="5052350" y="2540349"/>
            <a:ext cx="2569500" cy="0"/>
          </a:xfrm>
          <a:prstGeom prst="straightConnector1">
            <a:avLst/>
          </a:prstGeom>
          <a:noFill/>
          <a:ln cap="flat" cmpd="sng" w="19050">
            <a:solidFill>
              <a:schemeClr val="dk2"/>
            </a:solidFill>
            <a:prstDash val="solid"/>
            <a:round/>
            <a:headEnd len="med" w="med" type="none"/>
            <a:tailEnd len="med" w="med" type="triangle"/>
          </a:ln>
        </p:spPr>
      </p:cxnSp>
      <p:grpSp>
        <p:nvGrpSpPr>
          <p:cNvPr id="653" name="Google Shape;653;p77"/>
          <p:cNvGrpSpPr/>
          <p:nvPr/>
        </p:nvGrpSpPr>
        <p:grpSpPr>
          <a:xfrm>
            <a:off x="5819207" y="641594"/>
            <a:ext cx="790271" cy="551894"/>
            <a:chOff x="307025" y="411150"/>
            <a:chExt cx="7005950" cy="4892675"/>
          </a:xfrm>
        </p:grpSpPr>
        <p:sp>
          <p:nvSpPr>
            <p:cNvPr id="654" name="Google Shape;654;p77"/>
            <p:cNvSpPr/>
            <p:nvPr/>
          </p:nvSpPr>
          <p:spPr>
            <a:xfrm>
              <a:off x="307025" y="411150"/>
              <a:ext cx="7005950" cy="4892675"/>
            </a:xfrm>
            <a:custGeom>
              <a:rect b="b" l="l" r="r" t="t"/>
              <a:pathLst>
                <a:path extrusionOk="0" h="195707" w="280238">
                  <a:moveTo>
                    <a:pt x="5973" y="0"/>
                  </a:moveTo>
                  <a:lnTo>
                    <a:pt x="4594" y="460"/>
                  </a:lnTo>
                  <a:lnTo>
                    <a:pt x="2297" y="1838"/>
                  </a:lnTo>
                  <a:lnTo>
                    <a:pt x="919" y="4135"/>
                  </a:lnTo>
                  <a:lnTo>
                    <a:pt x="460" y="5513"/>
                  </a:lnTo>
                  <a:lnTo>
                    <a:pt x="0" y="6891"/>
                  </a:lnTo>
                  <a:lnTo>
                    <a:pt x="0" y="188816"/>
                  </a:lnTo>
                  <a:lnTo>
                    <a:pt x="460" y="190194"/>
                  </a:lnTo>
                  <a:lnTo>
                    <a:pt x="919" y="191572"/>
                  </a:lnTo>
                  <a:lnTo>
                    <a:pt x="2297" y="193869"/>
                  </a:lnTo>
                  <a:lnTo>
                    <a:pt x="4594" y="195247"/>
                  </a:lnTo>
                  <a:lnTo>
                    <a:pt x="5973" y="195707"/>
                  </a:lnTo>
                  <a:lnTo>
                    <a:pt x="274265" y="195707"/>
                  </a:lnTo>
                  <a:lnTo>
                    <a:pt x="275644" y="195247"/>
                  </a:lnTo>
                  <a:lnTo>
                    <a:pt x="277941" y="193869"/>
                  </a:lnTo>
                  <a:lnTo>
                    <a:pt x="279319" y="191572"/>
                  </a:lnTo>
                  <a:lnTo>
                    <a:pt x="279778" y="190194"/>
                  </a:lnTo>
                  <a:lnTo>
                    <a:pt x="280238" y="188816"/>
                  </a:lnTo>
                  <a:lnTo>
                    <a:pt x="280238" y="6891"/>
                  </a:lnTo>
                  <a:lnTo>
                    <a:pt x="279778" y="5513"/>
                  </a:lnTo>
                  <a:lnTo>
                    <a:pt x="279319" y="4135"/>
                  </a:lnTo>
                  <a:lnTo>
                    <a:pt x="277941" y="1838"/>
                  </a:lnTo>
                  <a:lnTo>
                    <a:pt x="275644" y="460"/>
                  </a:lnTo>
                  <a:lnTo>
                    <a:pt x="274265" y="0"/>
                  </a:lnTo>
                  <a:close/>
                </a:path>
              </a:pathLst>
            </a:custGeom>
            <a:solidFill>
              <a:srgbClr val="FFFFFF"/>
            </a:solid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77"/>
            <p:cNvSpPr/>
            <p:nvPr/>
          </p:nvSpPr>
          <p:spPr>
            <a:xfrm>
              <a:off x="307025" y="411150"/>
              <a:ext cx="7005950" cy="792500"/>
            </a:xfrm>
            <a:custGeom>
              <a:rect b="b" l="l" r="r" t="t"/>
              <a:pathLst>
                <a:path extrusionOk="0" h="31700" w="280238">
                  <a:moveTo>
                    <a:pt x="5973" y="0"/>
                  </a:moveTo>
                  <a:lnTo>
                    <a:pt x="4594" y="460"/>
                  </a:lnTo>
                  <a:lnTo>
                    <a:pt x="2297" y="1838"/>
                  </a:lnTo>
                  <a:lnTo>
                    <a:pt x="919" y="4135"/>
                  </a:lnTo>
                  <a:lnTo>
                    <a:pt x="460" y="5513"/>
                  </a:lnTo>
                  <a:lnTo>
                    <a:pt x="0" y="6891"/>
                  </a:lnTo>
                  <a:lnTo>
                    <a:pt x="0" y="31699"/>
                  </a:lnTo>
                  <a:lnTo>
                    <a:pt x="280238" y="31699"/>
                  </a:lnTo>
                  <a:lnTo>
                    <a:pt x="280238" y="6891"/>
                  </a:lnTo>
                  <a:lnTo>
                    <a:pt x="279778" y="5513"/>
                  </a:lnTo>
                  <a:lnTo>
                    <a:pt x="279319" y="4135"/>
                  </a:lnTo>
                  <a:lnTo>
                    <a:pt x="277941" y="1838"/>
                  </a:lnTo>
                  <a:lnTo>
                    <a:pt x="275644" y="460"/>
                  </a:lnTo>
                  <a:lnTo>
                    <a:pt x="274265" y="0"/>
                  </a:lnTo>
                  <a:close/>
                </a:path>
              </a:pathLst>
            </a:custGeom>
            <a:solidFill>
              <a:srgbClr val="FFFFFF"/>
            </a:solid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77"/>
            <p:cNvSpPr/>
            <p:nvPr/>
          </p:nvSpPr>
          <p:spPr>
            <a:xfrm>
              <a:off x="6830575" y="801650"/>
              <a:ext cx="34475" cy="25"/>
            </a:xfrm>
            <a:custGeom>
              <a:rect b="b" l="l" r="r" t="t"/>
              <a:pathLst>
                <a:path extrusionOk="0" h="1" w="1379">
                  <a:moveTo>
                    <a:pt x="1379" y="0"/>
                  </a:moveTo>
                  <a:lnTo>
                    <a:pt x="1" y="0"/>
                  </a:lnTo>
                  <a:close/>
                </a:path>
              </a:pathLst>
            </a:cu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77"/>
            <p:cNvSpPr/>
            <p:nvPr/>
          </p:nvSpPr>
          <p:spPr>
            <a:xfrm>
              <a:off x="6830575" y="801650"/>
              <a:ext cx="34475" cy="25"/>
            </a:xfrm>
            <a:custGeom>
              <a:rect b="b" l="l" r="r" t="t"/>
              <a:pathLst>
                <a:path extrusionOk="0" fill="none" h="1" w="1379">
                  <a:moveTo>
                    <a:pt x="1379" y="0"/>
                  </a:moveTo>
                  <a:lnTo>
                    <a:pt x="1"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77"/>
            <p:cNvSpPr/>
            <p:nvPr/>
          </p:nvSpPr>
          <p:spPr>
            <a:xfrm>
              <a:off x="6118500" y="801650"/>
              <a:ext cx="34475" cy="25"/>
            </a:xfrm>
            <a:custGeom>
              <a:rect b="b" l="l" r="r" t="t"/>
              <a:pathLst>
                <a:path extrusionOk="0" h="1" w="1379">
                  <a:moveTo>
                    <a:pt x="1379" y="0"/>
                  </a:moveTo>
                  <a:lnTo>
                    <a:pt x="0" y="0"/>
                  </a:lnTo>
                  <a:close/>
                </a:path>
              </a:pathLst>
            </a:cu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77"/>
            <p:cNvSpPr/>
            <p:nvPr/>
          </p:nvSpPr>
          <p:spPr>
            <a:xfrm>
              <a:off x="6118500" y="801650"/>
              <a:ext cx="34475" cy="25"/>
            </a:xfrm>
            <a:custGeom>
              <a:rect b="b" l="l" r="r" t="t"/>
              <a:pathLst>
                <a:path extrusionOk="0" fill="none" h="1" w="1379">
                  <a:moveTo>
                    <a:pt x="1379" y="0"/>
                  </a:moveTo>
                  <a:lnTo>
                    <a:pt x="0"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77"/>
            <p:cNvSpPr/>
            <p:nvPr/>
          </p:nvSpPr>
          <p:spPr>
            <a:xfrm>
              <a:off x="6474550" y="801650"/>
              <a:ext cx="34475" cy="25"/>
            </a:xfrm>
            <a:custGeom>
              <a:rect b="b" l="l" r="r" t="t"/>
              <a:pathLst>
                <a:path extrusionOk="0" h="1" w="1379">
                  <a:moveTo>
                    <a:pt x="1378" y="0"/>
                  </a:moveTo>
                  <a:lnTo>
                    <a:pt x="0" y="0"/>
                  </a:lnTo>
                  <a:close/>
                </a:path>
              </a:pathLst>
            </a:cu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77"/>
            <p:cNvSpPr/>
            <p:nvPr/>
          </p:nvSpPr>
          <p:spPr>
            <a:xfrm>
              <a:off x="6474550" y="801650"/>
              <a:ext cx="34475" cy="25"/>
            </a:xfrm>
            <a:custGeom>
              <a:rect b="b" l="l" r="r" t="t"/>
              <a:pathLst>
                <a:path extrusionOk="0" fill="none" h="1" w="1379">
                  <a:moveTo>
                    <a:pt x="1378" y="0"/>
                  </a:moveTo>
                  <a:lnTo>
                    <a:pt x="0"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77"/>
            <p:cNvSpPr/>
            <p:nvPr/>
          </p:nvSpPr>
          <p:spPr>
            <a:xfrm>
              <a:off x="4797700" y="2179850"/>
              <a:ext cx="1022200" cy="2055850"/>
            </a:xfrm>
            <a:custGeom>
              <a:rect b="b" l="l" r="r" t="t"/>
              <a:pathLst>
                <a:path extrusionOk="0" fill="none" h="82234" w="40888">
                  <a:moveTo>
                    <a:pt x="1" y="82234"/>
                  </a:moveTo>
                  <a:lnTo>
                    <a:pt x="1" y="1"/>
                  </a:lnTo>
                  <a:lnTo>
                    <a:pt x="1" y="1"/>
                  </a:lnTo>
                  <a:lnTo>
                    <a:pt x="20674" y="1"/>
                  </a:lnTo>
                  <a:lnTo>
                    <a:pt x="20674" y="1"/>
                  </a:lnTo>
                  <a:lnTo>
                    <a:pt x="24809" y="460"/>
                  </a:lnTo>
                  <a:lnTo>
                    <a:pt x="28484" y="1838"/>
                  </a:lnTo>
                  <a:lnTo>
                    <a:pt x="32159" y="3676"/>
                  </a:lnTo>
                  <a:lnTo>
                    <a:pt x="34916" y="5973"/>
                  </a:lnTo>
                  <a:lnTo>
                    <a:pt x="37672" y="9189"/>
                  </a:lnTo>
                  <a:lnTo>
                    <a:pt x="39510" y="12405"/>
                  </a:lnTo>
                  <a:lnTo>
                    <a:pt x="40429" y="16539"/>
                  </a:lnTo>
                  <a:lnTo>
                    <a:pt x="40888" y="20674"/>
                  </a:lnTo>
                  <a:lnTo>
                    <a:pt x="40888" y="20674"/>
                  </a:lnTo>
                  <a:lnTo>
                    <a:pt x="40429" y="24808"/>
                  </a:lnTo>
                  <a:lnTo>
                    <a:pt x="39510" y="28484"/>
                  </a:lnTo>
                  <a:lnTo>
                    <a:pt x="37672" y="32159"/>
                  </a:lnTo>
                  <a:lnTo>
                    <a:pt x="34916" y="34915"/>
                  </a:lnTo>
                  <a:lnTo>
                    <a:pt x="32159" y="37672"/>
                  </a:lnTo>
                  <a:lnTo>
                    <a:pt x="28484" y="39509"/>
                  </a:lnTo>
                  <a:lnTo>
                    <a:pt x="24809" y="40888"/>
                  </a:lnTo>
                  <a:lnTo>
                    <a:pt x="20674" y="40888"/>
                  </a:lnTo>
                  <a:lnTo>
                    <a:pt x="20674" y="40888"/>
                  </a:lnTo>
                  <a:lnTo>
                    <a:pt x="1" y="40888"/>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77"/>
            <p:cNvSpPr/>
            <p:nvPr/>
          </p:nvSpPr>
          <p:spPr>
            <a:xfrm>
              <a:off x="3408000" y="2179850"/>
              <a:ext cx="1022200" cy="2055850"/>
            </a:xfrm>
            <a:custGeom>
              <a:rect b="b" l="l" r="r" t="t"/>
              <a:pathLst>
                <a:path extrusionOk="0" fill="none" h="82234" w="40888">
                  <a:moveTo>
                    <a:pt x="1" y="82234"/>
                  </a:moveTo>
                  <a:lnTo>
                    <a:pt x="1" y="1"/>
                  </a:lnTo>
                  <a:lnTo>
                    <a:pt x="1" y="1"/>
                  </a:lnTo>
                  <a:lnTo>
                    <a:pt x="20215" y="1"/>
                  </a:lnTo>
                  <a:lnTo>
                    <a:pt x="20215" y="1"/>
                  </a:lnTo>
                  <a:lnTo>
                    <a:pt x="24349" y="460"/>
                  </a:lnTo>
                  <a:lnTo>
                    <a:pt x="28484" y="1838"/>
                  </a:lnTo>
                  <a:lnTo>
                    <a:pt x="31700" y="3676"/>
                  </a:lnTo>
                  <a:lnTo>
                    <a:pt x="34916" y="5973"/>
                  </a:lnTo>
                  <a:lnTo>
                    <a:pt x="37213" y="9189"/>
                  </a:lnTo>
                  <a:lnTo>
                    <a:pt x="39050" y="12405"/>
                  </a:lnTo>
                  <a:lnTo>
                    <a:pt x="40428" y="16539"/>
                  </a:lnTo>
                  <a:lnTo>
                    <a:pt x="40888" y="20674"/>
                  </a:lnTo>
                  <a:lnTo>
                    <a:pt x="40888" y="20674"/>
                  </a:lnTo>
                  <a:lnTo>
                    <a:pt x="40428" y="24808"/>
                  </a:lnTo>
                  <a:lnTo>
                    <a:pt x="39050" y="28484"/>
                  </a:lnTo>
                  <a:lnTo>
                    <a:pt x="37213" y="32159"/>
                  </a:lnTo>
                  <a:lnTo>
                    <a:pt x="34916" y="34915"/>
                  </a:lnTo>
                  <a:lnTo>
                    <a:pt x="31700" y="37672"/>
                  </a:lnTo>
                  <a:lnTo>
                    <a:pt x="28484" y="39509"/>
                  </a:lnTo>
                  <a:lnTo>
                    <a:pt x="24349" y="40888"/>
                  </a:lnTo>
                  <a:lnTo>
                    <a:pt x="20215" y="40888"/>
                  </a:lnTo>
                  <a:lnTo>
                    <a:pt x="20215" y="40888"/>
                  </a:lnTo>
                  <a:lnTo>
                    <a:pt x="1" y="40888"/>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77"/>
            <p:cNvSpPr/>
            <p:nvPr/>
          </p:nvSpPr>
          <p:spPr>
            <a:xfrm>
              <a:off x="1800100" y="2179850"/>
              <a:ext cx="1171500" cy="2055850"/>
            </a:xfrm>
            <a:custGeom>
              <a:rect b="b" l="l" r="r" t="t"/>
              <a:pathLst>
                <a:path extrusionOk="0" fill="none" h="82234" w="46860">
                  <a:moveTo>
                    <a:pt x="46859" y="82234"/>
                  </a:moveTo>
                  <a:lnTo>
                    <a:pt x="22511" y="1"/>
                  </a:lnTo>
                  <a:lnTo>
                    <a:pt x="0" y="82234"/>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77"/>
            <p:cNvSpPr/>
            <p:nvPr/>
          </p:nvSpPr>
          <p:spPr>
            <a:xfrm>
              <a:off x="2029800" y="3397275"/>
              <a:ext cx="689125" cy="25"/>
            </a:xfrm>
            <a:custGeom>
              <a:rect b="b" l="l" r="r" t="t"/>
              <a:pathLst>
                <a:path extrusionOk="0" fill="none" h="1" w="27565">
                  <a:moveTo>
                    <a:pt x="0" y="1"/>
                  </a:moveTo>
                  <a:lnTo>
                    <a:pt x="27565"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6" name="Google Shape;666;p77"/>
          <p:cNvGrpSpPr/>
          <p:nvPr/>
        </p:nvGrpSpPr>
        <p:grpSpPr>
          <a:xfrm>
            <a:off x="5924291" y="2170818"/>
            <a:ext cx="580104" cy="739757"/>
            <a:chOff x="1795750" y="288900"/>
            <a:chExt cx="4028500" cy="5137200"/>
          </a:xfrm>
        </p:grpSpPr>
        <p:sp>
          <p:nvSpPr>
            <p:cNvPr id="667" name="Google Shape;667;p77"/>
            <p:cNvSpPr/>
            <p:nvPr/>
          </p:nvSpPr>
          <p:spPr>
            <a:xfrm>
              <a:off x="1795750" y="288900"/>
              <a:ext cx="4028500" cy="5137200"/>
            </a:xfrm>
            <a:custGeom>
              <a:rect b="b" l="l" r="r" t="t"/>
              <a:pathLst>
                <a:path extrusionOk="0" h="205488" w="161140">
                  <a:moveTo>
                    <a:pt x="0" y="0"/>
                  </a:moveTo>
                  <a:lnTo>
                    <a:pt x="0" y="205488"/>
                  </a:lnTo>
                  <a:lnTo>
                    <a:pt x="161140" y="205488"/>
                  </a:lnTo>
                  <a:lnTo>
                    <a:pt x="161140" y="49764"/>
                  </a:lnTo>
                  <a:lnTo>
                    <a:pt x="111376" y="0"/>
                  </a:lnTo>
                  <a:close/>
                </a:path>
              </a:pathLst>
            </a:custGeom>
            <a:solidFill>
              <a:srgbClr val="FFFFFF"/>
            </a:solid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77"/>
            <p:cNvSpPr/>
            <p:nvPr/>
          </p:nvSpPr>
          <p:spPr>
            <a:xfrm>
              <a:off x="2515125" y="3141000"/>
              <a:ext cx="2555900" cy="25"/>
            </a:xfrm>
            <a:custGeom>
              <a:rect b="b" l="l" r="r" t="t"/>
              <a:pathLst>
                <a:path extrusionOk="0" fill="none" h="1" w="102236">
                  <a:moveTo>
                    <a:pt x="0" y="1"/>
                  </a:moveTo>
                  <a:lnTo>
                    <a:pt x="102236"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77"/>
            <p:cNvSpPr/>
            <p:nvPr/>
          </p:nvSpPr>
          <p:spPr>
            <a:xfrm>
              <a:off x="2515125" y="2472400"/>
              <a:ext cx="1447225" cy="25"/>
            </a:xfrm>
            <a:custGeom>
              <a:rect b="b" l="l" r="r" t="t"/>
              <a:pathLst>
                <a:path extrusionOk="0" fill="none" h="1" w="57889">
                  <a:moveTo>
                    <a:pt x="0" y="1"/>
                  </a:moveTo>
                  <a:lnTo>
                    <a:pt x="57889"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77"/>
            <p:cNvSpPr/>
            <p:nvPr/>
          </p:nvSpPr>
          <p:spPr>
            <a:xfrm>
              <a:off x="2515125" y="1803825"/>
              <a:ext cx="1447225" cy="25"/>
            </a:xfrm>
            <a:custGeom>
              <a:rect b="b" l="l" r="r" t="t"/>
              <a:pathLst>
                <a:path extrusionOk="0" fill="none" h="1" w="57889">
                  <a:moveTo>
                    <a:pt x="0" y="0"/>
                  </a:moveTo>
                  <a:lnTo>
                    <a:pt x="57889"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77"/>
            <p:cNvSpPr/>
            <p:nvPr/>
          </p:nvSpPr>
          <p:spPr>
            <a:xfrm>
              <a:off x="2515125" y="3809600"/>
              <a:ext cx="2555900" cy="25"/>
            </a:xfrm>
            <a:custGeom>
              <a:rect b="b" l="l" r="r" t="t"/>
              <a:pathLst>
                <a:path extrusionOk="0" fill="none" h="1" w="102236">
                  <a:moveTo>
                    <a:pt x="0" y="1"/>
                  </a:moveTo>
                  <a:lnTo>
                    <a:pt x="102236"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77"/>
            <p:cNvSpPr/>
            <p:nvPr/>
          </p:nvSpPr>
          <p:spPr>
            <a:xfrm>
              <a:off x="2515125" y="4478200"/>
              <a:ext cx="2555900" cy="25"/>
            </a:xfrm>
            <a:custGeom>
              <a:rect b="b" l="l" r="r" t="t"/>
              <a:pathLst>
                <a:path extrusionOk="0" fill="none" h="1" w="102236">
                  <a:moveTo>
                    <a:pt x="0" y="0"/>
                  </a:moveTo>
                  <a:lnTo>
                    <a:pt x="102236"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77"/>
            <p:cNvSpPr/>
            <p:nvPr/>
          </p:nvSpPr>
          <p:spPr>
            <a:xfrm>
              <a:off x="4580150" y="288900"/>
              <a:ext cx="1244100" cy="1244125"/>
            </a:xfrm>
            <a:custGeom>
              <a:rect b="b" l="l" r="r" t="t"/>
              <a:pathLst>
                <a:path extrusionOk="0" fill="none" h="49765" w="49764">
                  <a:moveTo>
                    <a:pt x="49764" y="49764"/>
                  </a:moveTo>
                  <a:lnTo>
                    <a:pt x="0" y="49764"/>
                  </a:lnTo>
                  <a:lnTo>
                    <a:pt x="0"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 name="Google Shape;674;p77"/>
          <p:cNvGrpSpPr/>
          <p:nvPr/>
        </p:nvGrpSpPr>
        <p:grpSpPr>
          <a:xfrm>
            <a:off x="5725612" y="3789088"/>
            <a:ext cx="977462" cy="525456"/>
            <a:chOff x="299000" y="970075"/>
            <a:chExt cx="7022000" cy="3774825"/>
          </a:xfrm>
        </p:grpSpPr>
        <p:sp>
          <p:nvSpPr>
            <p:cNvPr id="675" name="Google Shape;675;p77"/>
            <p:cNvSpPr/>
            <p:nvPr/>
          </p:nvSpPr>
          <p:spPr>
            <a:xfrm>
              <a:off x="299000" y="1954375"/>
              <a:ext cx="5063550" cy="1877275"/>
            </a:xfrm>
            <a:custGeom>
              <a:rect b="b" l="l" r="r" t="t"/>
              <a:pathLst>
                <a:path extrusionOk="0" h="75091" w="202542">
                  <a:moveTo>
                    <a:pt x="37343" y="0"/>
                  </a:moveTo>
                  <a:lnTo>
                    <a:pt x="33690" y="406"/>
                  </a:lnTo>
                  <a:lnTo>
                    <a:pt x="30037" y="812"/>
                  </a:lnTo>
                  <a:lnTo>
                    <a:pt x="26384" y="1624"/>
                  </a:lnTo>
                  <a:lnTo>
                    <a:pt x="22730" y="3247"/>
                  </a:lnTo>
                  <a:lnTo>
                    <a:pt x="19483" y="4465"/>
                  </a:lnTo>
                  <a:lnTo>
                    <a:pt x="16642" y="6494"/>
                  </a:lnTo>
                  <a:lnTo>
                    <a:pt x="13801" y="8524"/>
                  </a:lnTo>
                  <a:lnTo>
                    <a:pt x="10960" y="10959"/>
                  </a:lnTo>
                  <a:lnTo>
                    <a:pt x="8524" y="13800"/>
                  </a:lnTo>
                  <a:lnTo>
                    <a:pt x="6495" y="16642"/>
                  </a:lnTo>
                  <a:lnTo>
                    <a:pt x="4465" y="19889"/>
                  </a:lnTo>
                  <a:lnTo>
                    <a:pt x="2842" y="23136"/>
                  </a:lnTo>
                  <a:lnTo>
                    <a:pt x="1624" y="26383"/>
                  </a:lnTo>
                  <a:lnTo>
                    <a:pt x="812" y="30036"/>
                  </a:lnTo>
                  <a:lnTo>
                    <a:pt x="0" y="33689"/>
                  </a:lnTo>
                  <a:lnTo>
                    <a:pt x="0" y="37748"/>
                  </a:lnTo>
                  <a:lnTo>
                    <a:pt x="0" y="41401"/>
                  </a:lnTo>
                  <a:lnTo>
                    <a:pt x="812" y="45054"/>
                  </a:lnTo>
                  <a:lnTo>
                    <a:pt x="1624" y="48707"/>
                  </a:lnTo>
                  <a:lnTo>
                    <a:pt x="2842" y="52360"/>
                  </a:lnTo>
                  <a:lnTo>
                    <a:pt x="4465" y="55607"/>
                  </a:lnTo>
                  <a:lnTo>
                    <a:pt x="6495" y="58449"/>
                  </a:lnTo>
                  <a:lnTo>
                    <a:pt x="8524" y="61290"/>
                  </a:lnTo>
                  <a:lnTo>
                    <a:pt x="10960" y="64131"/>
                  </a:lnTo>
                  <a:lnTo>
                    <a:pt x="13801" y="66567"/>
                  </a:lnTo>
                  <a:lnTo>
                    <a:pt x="16642" y="68596"/>
                  </a:lnTo>
                  <a:lnTo>
                    <a:pt x="19483" y="70625"/>
                  </a:lnTo>
                  <a:lnTo>
                    <a:pt x="22730" y="72249"/>
                  </a:lnTo>
                  <a:lnTo>
                    <a:pt x="26384" y="73467"/>
                  </a:lnTo>
                  <a:lnTo>
                    <a:pt x="30037" y="74278"/>
                  </a:lnTo>
                  <a:lnTo>
                    <a:pt x="33690" y="75090"/>
                  </a:lnTo>
                  <a:lnTo>
                    <a:pt x="41402" y="75090"/>
                  </a:lnTo>
                  <a:lnTo>
                    <a:pt x="49925" y="64131"/>
                  </a:lnTo>
                  <a:lnTo>
                    <a:pt x="58043" y="75090"/>
                  </a:lnTo>
                  <a:lnTo>
                    <a:pt x="70626" y="75090"/>
                  </a:lnTo>
                  <a:lnTo>
                    <a:pt x="79150" y="64131"/>
                  </a:lnTo>
                  <a:lnTo>
                    <a:pt x="87268" y="75090"/>
                  </a:lnTo>
                  <a:lnTo>
                    <a:pt x="99851" y="75090"/>
                  </a:lnTo>
                  <a:lnTo>
                    <a:pt x="108374" y="64131"/>
                  </a:lnTo>
                  <a:lnTo>
                    <a:pt x="116492" y="75090"/>
                  </a:lnTo>
                  <a:lnTo>
                    <a:pt x="168853" y="75090"/>
                  </a:lnTo>
                  <a:lnTo>
                    <a:pt x="172506" y="74278"/>
                  </a:lnTo>
                  <a:lnTo>
                    <a:pt x="176159" y="73467"/>
                  </a:lnTo>
                  <a:lnTo>
                    <a:pt x="179812" y="72249"/>
                  </a:lnTo>
                  <a:lnTo>
                    <a:pt x="183059" y="70625"/>
                  </a:lnTo>
                  <a:lnTo>
                    <a:pt x="185900" y="68596"/>
                  </a:lnTo>
                  <a:lnTo>
                    <a:pt x="188741" y="66567"/>
                  </a:lnTo>
                  <a:lnTo>
                    <a:pt x="191583" y="64131"/>
                  </a:lnTo>
                  <a:lnTo>
                    <a:pt x="194018" y="61290"/>
                  </a:lnTo>
                  <a:lnTo>
                    <a:pt x="196048" y="58449"/>
                  </a:lnTo>
                  <a:lnTo>
                    <a:pt x="198077" y="55607"/>
                  </a:lnTo>
                  <a:lnTo>
                    <a:pt x="199701" y="52360"/>
                  </a:lnTo>
                  <a:lnTo>
                    <a:pt x="200918" y="48707"/>
                  </a:lnTo>
                  <a:lnTo>
                    <a:pt x="201730" y="45054"/>
                  </a:lnTo>
                  <a:lnTo>
                    <a:pt x="202542" y="41401"/>
                  </a:lnTo>
                  <a:lnTo>
                    <a:pt x="202542" y="37748"/>
                  </a:lnTo>
                  <a:lnTo>
                    <a:pt x="202542" y="33689"/>
                  </a:lnTo>
                  <a:lnTo>
                    <a:pt x="201730" y="30036"/>
                  </a:lnTo>
                  <a:lnTo>
                    <a:pt x="200918" y="26383"/>
                  </a:lnTo>
                  <a:lnTo>
                    <a:pt x="199701" y="23136"/>
                  </a:lnTo>
                  <a:lnTo>
                    <a:pt x="198077" y="19889"/>
                  </a:lnTo>
                  <a:lnTo>
                    <a:pt x="196048" y="16642"/>
                  </a:lnTo>
                  <a:lnTo>
                    <a:pt x="194018" y="13800"/>
                  </a:lnTo>
                  <a:lnTo>
                    <a:pt x="191583" y="10959"/>
                  </a:lnTo>
                  <a:lnTo>
                    <a:pt x="188741" y="8524"/>
                  </a:lnTo>
                  <a:lnTo>
                    <a:pt x="185900" y="6494"/>
                  </a:lnTo>
                  <a:lnTo>
                    <a:pt x="183059" y="4465"/>
                  </a:lnTo>
                  <a:lnTo>
                    <a:pt x="179812" y="3247"/>
                  </a:lnTo>
                  <a:lnTo>
                    <a:pt x="176159" y="1624"/>
                  </a:lnTo>
                  <a:lnTo>
                    <a:pt x="172506" y="812"/>
                  </a:lnTo>
                  <a:lnTo>
                    <a:pt x="168853" y="406"/>
                  </a:lnTo>
                  <a:lnTo>
                    <a:pt x="165200" y="0"/>
                  </a:lnTo>
                  <a:close/>
                </a:path>
              </a:pathLst>
            </a:custGeom>
            <a:solidFill>
              <a:srgbClr val="FFFFFF"/>
            </a:solid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77"/>
            <p:cNvSpPr/>
            <p:nvPr/>
          </p:nvSpPr>
          <p:spPr>
            <a:xfrm>
              <a:off x="3556300" y="970075"/>
              <a:ext cx="3764700" cy="3774825"/>
            </a:xfrm>
            <a:custGeom>
              <a:rect b="b" l="l" r="r" t="t"/>
              <a:pathLst>
                <a:path extrusionOk="0" h="150993" w="150588">
                  <a:moveTo>
                    <a:pt x="99445" y="55202"/>
                  </a:moveTo>
                  <a:lnTo>
                    <a:pt x="103504" y="55608"/>
                  </a:lnTo>
                  <a:lnTo>
                    <a:pt x="107157" y="56825"/>
                  </a:lnTo>
                  <a:lnTo>
                    <a:pt x="110810" y="58449"/>
                  </a:lnTo>
                  <a:lnTo>
                    <a:pt x="113651" y="60884"/>
                  </a:lnTo>
                  <a:lnTo>
                    <a:pt x="116087" y="64131"/>
                  </a:lnTo>
                  <a:lnTo>
                    <a:pt x="118116" y="67379"/>
                  </a:lnTo>
                  <a:lnTo>
                    <a:pt x="119334" y="71438"/>
                  </a:lnTo>
                  <a:lnTo>
                    <a:pt x="119740" y="75497"/>
                  </a:lnTo>
                  <a:lnTo>
                    <a:pt x="119334" y="79555"/>
                  </a:lnTo>
                  <a:lnTo>
                    <a:pt x="118116" y="83208"/>
                  </a:lnTo>
                  <a:lnTo>
                    <a:pt x="116087" y="86862"/>
                  </a:lnTo>
                  <a:lnTo>
                    <a:pt x="113651" y="89703"/>
                  </a:lnTo>
                  <a:lnTo>
                    <a:pt x="110810" y="92138"/>
                  </a:lnTo>
                  <a:lnTo>
                    <a:pt x="107157" y="94168"/>
                  </a:lnTo>
                  <a:lnTo>
                    <a:pt x="103504" y="95385"/>
                  </a:lnTo>
                  <a:lnTo>
                    <a:pt x="99445" y="95791"/>
                  </a:lnTo>
                  <a:lnTo>
                    <a:pt x="95386" y="95385"/>
                  </a:lnTo>
                  <a:lnTo>
                    <a:pt x="91327" y="94168"/>
                  </a:lnTo>
                  <a:lnTo>
                    <a:pt x="88080" y="92138"/>
                  </a:lnTo>
                  <a:lnTo>
                    <a:pt x="84833" y="89703"/>
                  </a:lnTo>
                  <a:lnTo>
                    <a:pt x="82397" y="86862"/>
                  </a:lnTo>
                  <a:lnTo>
                    <a:pt x="80368" y="83208"/>
                  </a:lnTo>
                  <a:lnTo>
                    <a:pt x="79556" y="79555"/>
                  </a:lnTo>
                  <a:lnTo>
                    <a:pt x="78744" y="75497"/>
                  </a:lnTo>
                  <a:lnTo>
                    <a:pt x="79556" y="71438"/>
                  </a:lnTo>
                  <a:lnTo>
                    <a:pt x="80368" y="67379"/>
                  </a:lnTo>
                  <a:lnTo>
                    <a:pt x="82397" y="64131"/>
                  </a:lnTo>
                  <a:lnTo>
                    <a:pt x="84833" y="60884"/>
                  </a:lnTo>
                  <a:lnTo>
                    <a:pt x="88080" y="58449"/>
                  </a:lnTo>
                  <a:lnTo>
                    <a:pt x="91327" y="56825"/>
                  </a:lnTo>
                  <a:lnTo>
                    <a:pt x="95386" y="55608"/>
                  </a:lnTo>
                  <a:lnTo>
                    <a:pt x="99445" y="55202"/>
                  </a:lnTo>
                  <a:close/>
                  <a:moveTo>
                    <a:pt x="75497" y="0"/>
                  </a:moveTo>
                  <a:lnTo>
                    <a:pt x="67785" y="406"/>
                  </a:lnTo>
                  <a:lnTo>
                    <a:pt x="60073" y="1624"/>
                  </a:lnTo>
                  <a:lnTo>
                    <a:pt x="52767" y="3653"/>
                  </a:lnTo>
                  <a:lnTo>
                    <a:pt x="45867" y="6089"/>
                  </a:lnTo>
                  <a:lnTo>
                    <a:pt x="39372" y="9336"/>
                  </a:lnTo>
                  <a:lnTo>
                    <a:pt x="33284" y="12989"/>
                  </a:lnTo>
                  <a:lnTo>
                    <a:pt x="27601" y="17454"/>
                  </a:lnTo>
                  <a:lnTo>
                    <a:pt x="21919" y="22324"/>
                  </a:lnTo>
                  <a:lnTo>
                    <a:pt x="17048" y="27601"/>
                  </a:lnTo>
                  <a:lnTo>
                    <a:pt x="12989" y="33284"/>
                  </a:lnTo>
                  <a:lnTo>
                    <a:pt x="8930" y="39778"/>
                  </a:lnTo>
                  <a:lnTo>
                    <a:pt x="6089" y="46272"/>
                  </a:lnTo>
                  <a:lnTo>
                    <a:pt x="3248" y="53172"/>
                  </a:lnTo>
                  <a:lnTo>
                    <a:pt x="1624" y="60478"/>
                  </a:lnTo>
                  <a:lnTo>
                    <a:pt x="407" y="67785"/>
                  </a:lnTo>
                  <a:lnTo>
                    <a:pt x="1" y="75497"/>
                  </a:lnTo>
                  <a:lnTo>
                    <a:pt x="407" y="83208"/>
                  </a:lnTo>
                  <a:lnTo>
                    <a:pt x="1624" y="90515"/>
                  </a:lnTo>
                  <a:lnTo>
                    <a:pt x="3248" y="97821"/>
                  </a:lnTo>
                  <a:lnTo>
                    <a:pt x="6089" y="104721"/>
                  </a:lnTo>
                  <a:lnTo>
                    <a:pt x="8930" y="111215"/>
                  </a:lnTo>
                  <a:lnTo>
                    <a:pt x="12989" y="117709"/>
                  </a:lnTo>
                  <a:lnTo>
                    <a:pt x="17048" y="123392"/>
                  </a:lnTo>
                  <a:lnTo>
                    <a:pt x="21919" y="128669"/>
                  </a:lnTo>
                  <a:lnTo>
                    <a:pt x="27601" y="133539"/>
                  </a:lnTo>
                  <a:lnTo>
                    <a:pt x="33284" y="138004"/>
                  </a:lnTo>
                  <a:lnTo>
                    <a:pt x="39372" y="141657"/>
                  </a:lnTo>
                  <a:lnTo>
                    <a:pt x="45867" y="144904"/>
                  </a:lnTo>
                  <a:lnTo>
                    <a:pt x="52767" y="147340"/>
                  </a:lnTo>
                  <a:lnTo>
                    <a:pt x="60073" y="149369"/>
                  </a:lnTo>
                  <a:lnTo>
                    <a:pt x="67785" y="150587"/>
                  </a:lnTo>
                  <a:lnTo>
                    <a:pt x="75497" y="150993"/>
                  </a:lnTo>
                  <a:lnTo>
                    <a:pt x="82803" y="150587"/>
                  </a:lnTo>
                  <a:lnTo>
                    <a:pt x="90515" y="149369"/>
                  </a:lnTo>
                  <a:lnTo>
                    <a:pt x="97821" y="147340"/>
                  </a:lnTo>
                  <a:lnTo>
                    <a:pt x="104722" y="144904"/>
                  </a:lnTo>
                  <a:lnTo>
                    <a:pt x="111216" y="141657"/>
                  </a:lnTo>
                  <a:lnTo>
                    <a:pt x="117304" y="138004"/>
                  </a:lnTo>
                  <a:lnTo>
                    <a:pt x="122987" y="133539"/>
                  </a:lnTo>
                  <a:lnTo>
                    <a:pt x="128669" y="128669"/>
                  </a:lnTo>
                  <a:lnTo>
                    <a:pt x="133540" y="123392"/>
                  </a:lnTo>
                  <a:lnTo>
                    <a:pt x="137599" y="117709"/>
                  </a:lnTo>
                  <a:lnTo>
                    <a:pt x="141658" y="111215"/>
                  </a:lnTo>
                  <a:lnTo>
                    <a:pt x="144905" y="104721"/>
                  </a:lnTo>
                  <a:lnTo>
                    <a:pt x="147340" y="97821"/>
                  </a:lnTo>
                  <a:lnTo>
                    <a:pt x="148964" y="90515"/>
                  </a:lnTo>
                  <a:lnTo>
                    <a:pt x="150182" y="83208"/>
                  </a:lnTo>
                  <a:lnTo>
                    <a:pt x="150588" y="75497"/>
                  </a:lnTo>
                  <a:lnTo>
                    <a:pt x="150182" y="67785"/>
                  </a:lnTo>
                  <a:lnTo>
                    <a:pt x="148964" y="60478"/>
                  </a:lnTo>
                  <a:lnTo>
                    <a:pt x="147340" y="53172"/>
                  </a:lnTo>
                  <a:lnTo>
                    <a:pt x="144905" y="46272"/>
                  </a:lnTo>
                  <a:lnTo>
                    <a:pt x="141658" y="39778"/>
                  </a:lnTo>
                  <a:lnTo>
                    <a:pt x="137599" y="33284"/>
                  </a:lnTo>
                  <a:lnTo>
                    <a:pt x="133540" y="27601"/>
                  </a:lnTo>
                  <a:lnTo>
                    <a:pt x="128669" y="22324"/>
                  </a:lnTo>
                  <a:lnTo>
                    <a:pt x="122987" y="17454"/>
                  </a:lnTo>
                  <a:lnTo>
                    <a:pt x="117304" y="12989"/>
                  </a:lnTo>
                  <a:lnTo>
                    <a:pt x="111216" y="9336"/>
                  </a:lnTo>
                  <a:lnTo>
                    <a:pt x="104722" y="6089"/>
                  </a:lnTo>
                  <a:lnTo>
                    <a:pt x="97821" y="3653"/>
                  </a:lnTo>
                  <a:lnTo>
                    <a:pt x="90515" y="1624"/>
                  </a:lnTo>
                  <a:lnTo>
                    <a:pt x="82803" y="406"/>
                  </a:lnTo>
                  <a:lnTo>
                    <a:pt x="75497" y="0"/>
                  </a:lnTo>
                  <a:close/>
                </a:path>
              </a:pathLst>
            </a:custGeom>
            <a:solidFill>
              <a:srgbClr val="FFFFFF"/>
            </a:solid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77"/>
            <p:cNvSpPr/>
            <p:nvPr/>
          </p:nvSpPr>
          <p:spPr>
            <a:xfrm>
              <a:off x="1313725" y="2350100"/>
              <a:ext cx="2262900" cy="25"/>
            </a:xfrm>
            <a:custGeom>
              <a:rect b="b" l="l" r="r" t="t"/>
              <a:pathLst>
                <a:path extrusionOk="0" h="1" w="90516">
                  <a:moveTo>
                    <a:pt x="1" y="1"/>
                  </a:moveTo>
                  <a:lnTo>
                    <a:pt x="90515" y="1"/>
                  </a:lnTo>
                  <a:close/>
                </a:path>
              </a:pathLst>
            </a:cu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77"/>
            <p:cNvSpPr/>
            <p:nvPr/>
          </p:nvSpPr>
          <p:spPr>
            <a:xfrm>
              <a:off x="1313725" y="2350100"/>
              <a:ext cx="2262900" cy="25"/>
            </a:xfrm>
            <a:custGeom>
              <a:rect b="b" l="l" r="r" t="t"/>
              <a:pathLst>
                <a:path extrusionOk="0" fill="none" h="1" w="90516">
                  <a:moveTo>
                    <a:pt x="1" y="1"/>
                  </a:moveTo>
                  <a:lnTo>
                    <a:pt x="90515"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78"/>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10 minutes</a:t>
            </a:r>
            <a:endParaRPr/>
          </a:p>
        </p:txBody>
      </p:sp>
      <p:sp>
        <p:nvSpPr>
          <p:cNvPr id="684" name="Google Shape;684;p78"/>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Port scanning</a:t>
            </a:r>
            <a:endParaRPr/>
          </a:p>
        </p:txBody>
      </p:sp>
      <p:sp>
        <p:nvSpPr>
          <p:cNvPr id="685" name="Google Shape;685;p78"/>
          <p:cNvSpPr txBox="1"/>
          <p:nvPr>
            <p:ph idx="3" type="body"/>
          </p:nvPr>
        </p:nvSpPr>
        <p:spPr>
          <a:xfrm>
            <a:off x="912725" y="1516225"/>
            <a:ext cx="64026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continue your engagement with MegaCorpOne. Now that you’ve compromised a Linux server on the internal network, you will focus on Windows machines. </a:t>
            </a:r>
            <a:endParaRPr/>
          </a:p>
          <a:p>
            <a:pPr indent="0" lvl="0" marL="0" rtl="0" algn="l">
              <a:spcBef>
                <a:spcPts val="0"/>
              </a:spcBef>
              <a:spcAft>
                <a:spcPts val="0"/>
              </a:spcAft>
              <a:buNone/>
            </a:pPr>
            <a:r>
              <a:rPr lang="en"/>
              <a:t>You’ll begin with a port scan.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81"/>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Windows Authentication and </a:t>
            </a:r>
            <a:r>
              <a:rPr b="1" lang="en">
                <a:latin typeface="Roboto"/>
                <a:ea typeface="Roboto"/>
                <a:cs typeface="Roboto"/>
                <a:sym typeface="Roboto"/>
              </a:rPr>
              <a:t>Password-</a:t>
            </a:r>
            <a:r>
              <a:rPr lang="en">
                <a:latin typeface="Roboto"/>
                <a:ea typeface="Roboto"/>
                <a:cs typeface="Roboto"/>
                <a:sym typeface="Roboto"/>
              </a:rPr>
              <a:t>B</a:t>
            </a:r>
            <a:r>
              <a:rPr b="1" lang="en">
                <a:latin typeface="Roboto"/>
                <a:ea typeface="Roboto"/>
                <a:cs typeface="Roboto"/>
                <a:sym typeface="Roboto"/>
              </a:rPr>
              <a:t>ased Attacks</a:t>
            </a:r>
            <a:endParaRPr b="1">
              <a:latin typeface="Roboto"/>
              <a:ea typeface="Roboto"/>
              <a:cs typeface="Roboto"/>
              <a:sym typeface="Roboto"/>
            </a:endParaRPr>
          </a:p>
        </p:txBody>
      </p:sp>
      <p:grpSp>
        <p:nvGrpSpPr>
          <p:cNvPr id="699" name="Google Shape;699;p81"/>
          <p:cNvGrpSpPr/>
          <p:nvPr/>
        </p:nvGrpSpPr>
        <p:grpSpPr>
          <a:xfrm>
            <a:off x="3976752" y="994085"/>
            <a:ext cx="1067543" cy="1166018"/>
            <a:chOff x="1465800" y="297075"/>
            <a:chExt cx="4688375" cy="5120850"/>
          </a:xfrm>
        </p:grpSpPr>
        <p:sp>
          <p:nvSpPr>
            <p:cNvPr id="700" name="Google Shape;700;p81"/>
            <p:cNvSpPr/>
            <p:nvPr/>
          </p:nvSpPr>
          <p:spPr>
            <a:xfrm>
              <a:off x="2104675" y="4248275"/>
              <a:ext cx="3410625" cy="1169650"/>
            </a:xfrm>
            <a:custGeom>
              <a:rect b="b" l="l" r="r" t="t"/>
              <a:pathLst>
                <a:path extrusionOk="0" fill="none" h="46786" w="136425">
                  <a:moveTo>
                    <a:pt x="130920" y="46785"/>
                  </a:moveTo>
                  <a:lnTo>
                    <a:pt x="5898" y="46785"/>
                  </a:lnTo>
                  <a:lnTo>
                    <a:pt x="5898" y="46785"/>
                  </a:lnTo>
                  <a:lnTo>
                    <a:pt x="4719" y="46785"/>
                  </a:lnTo>
                  <a:lnTo>
                    <a:pt x="3539" y="46392"/>
                  </a:lnTo>
                  <a:lnTo>
                    <a:pt x="1967" y="45212"/>
                  </a:lnTo>
                  <a:lnTo>
                    <a:pt x="787" y="43247"/>
                  </a:lnTo>
                  <a:lnTo>
                    <a:pt x="394" y="42067"/>
                  </a:lnTo>
                  <a:lnTo>
                    <a:pt x="1" y="40888"/>
                  </a:lnTo>
                  <a:lnTo>
                    <a:pt x="1" y="5897"/>
                  </a:lnTo>
                  <a:lnTo>
                    <a:pt x="1" y="5897"/>
                  </a:lnTo>
                  <a:lnTo>
                    <a:pt x="394" y="4718"/>
                  </a:lnTo>
                  <a:lnTo>
                    <a:pt x="787" y="3538"/>
                  </a:lnTo>
                  <a:lnTo>
                    <a:pt x="1967" y="1966"/>
                  </a:lnTo>
                  <a:lnTo>
                    <a:pt x="3539" y="786"/>
                  </a:lnTo>
                  <a:lnTo>
                    <a:pt x="4719" y="393"/>
                  </a:lnTo>
                  <a:lnTo>
                    <a:pt x="5898" y="0"/>
                  </a:lnTo>
                  <a:lnTo>
                    <a:pt x="130920" y="0"/>
                  </a:lnTo>
                  <a:lnTo>
                    <a:pt x="130920" y="0"/>
                  </a:lnTo>
                  <a:lnTo>
                    <a:pt x="132100" y="393"/>
                  </a:lnTo>
                  <a:lnTo>
                    <a:pt x="132886" y="786"/>
                  </a:lnTo>
                  <a:lnTo>
                    <a:pt x="134852" y="1966"/>
                  </a:lnTo>
                  <a:lnTo>
                    <a:pt x="136031" y="3538"/>
                  </a:lnTo>
                  <a:lnTo>
                    <a:pt x="136424" y="4718"/>
                  </a:lnTo>
                  <a:lnTo>
                    <a:pt x="136424" y="5897"/>
                  </a:lnTo>
                  <a:lnTo>
                    <a:pt x="136424" y="40888"/>
                  </a:lnTo>
                  <a:lnTo>
                    <a:pt x="136424" y="40888"/>
                  </a:lnTo>
                  <a:lnTo>
                    <a:pt x="136424" y="42067"/>
                  </a:lnTo>
                  <a:lnTo>
                    <a:pt x="136031" y="43247"/>
                  </a:lnTo>
                  <a:lnTo>
                    <a:pt x="134852" y="45212"/>
                  </a:lnTo>
                  <a:lnTo>
                    <a:pt x="132886" y="46392"/>
                  </a:lnTo>
                  <a:lnTo>
                    <a:pt x="132100" y="46785"/>
                  </a:lnTo>
                  <a:lnTo>
                    <a:pt x="130920" y="46785"/>
                  </a:lnTo>
                  <a:lnTo>
                    <a:pt x="130920" y="46785"/>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81"/>
            <p:cNvSpPr/>
            <p:nvPr/>
          </p:nvSpPr>
          <p:spPr>
            <a:xfrm>
              <a:off x="2576475" y="297075"/>
              <a:ext cx="2457200" cy="1523500"/>
            </a:xfrm>
            <a:custGeom>
              <a:rect b="b" l="l" r="r" t="t"/>
              <a:pathLst>
                <a:path extrusionOk="0" fill="none" h="60940" w="98288">
                  <a:moveTo>
                    <a:pt x="49144" y="60939"/>
                  </a:moveTo>
                  <a:lnTo>
                    <a:pt x="49144" y="60939"/>
                  </a:lnTo>
                  <a:lnTo>
                    <a:pt x="91604" y="60939"/>
                  </a:lnTo>
                  <a:lnTo>
                    <a:pt x="91604" y="60939"/>
                  </a:lnTo>
                  <a:lnTo>
                    <a:pt x="92784" y="60546"/>
                  </a:lnTo>
                  <a:lnTo>
                    <a:pt x="93963" y="60153"/>
                  </a:lnTo>
                  <a:lnTo>
                    <a:pt x="95143" y="59760"/>
                  </a:lnTo>
                  <a:lnTo>
                    <a:pt x="96322" y="58974"/>
                  </a:lnTo>
                  <a:lnTo>
                    <a:pt x="97108" y="57794"/>
                  </a:lnTo>
                  <a:lnTo>
                    <a:pt x="97502" y="56615"/>
                  </a:lnTo>
                  <a:lnTo>
                    <a:pt x="97895" y="55435"/>
                  </a:lnTo>
                  <a:lnTo>
                    <a:pt x="98288" y="54256"/>
                  </a:lnTo>
                  <a:lnTo>
                    <a:pt x="98288" y="54256"/>
                  </a:lnTo>
                  <a:lnTo>
                    <a:pt x="97895" y="52683"/>
                  </a:lnTo>
                  <a:lnTo>
                    <a:pt x="97502" y="51504"/>
                  </a:lnTo>
                  <a:lnTo>
                    <a:pt x="97108" y="50324"/>
                  </a:lnTo>
                  <a:lnTo>
                    <a:pt x="96322" y="49538"/>
                  </a:lnTo>
                  <a:lnTo>
                    <a:pt x="95143" y="48752"/>
                  </a:lnTo>
                  <a:lnTo>
                    <a:pt x="93963" y="47965"/>
                  </a:lnTo>
                  <a:lnTo>
                    <a:pt x="92784" y="47572"/>
                  </a:lnTo>
                  <a:lnTo>
                    <a:pt x="91604" y="47572"/>
                  </a:lnTo>
                  <a:lnTo>
                    <a:pt x="91604" y="47572"/>
                  </a:lnTo>
                  <a:lnTo>
                    <a:pt x="88066" y="47572"/>
                  </a:lnTo>
                  <a:lnTo>
                    <a:pt x="88066" y="47572"/>
                  </a:lnTo>
                  <a:lnTo>
                    <a:pt x="87280" y="40102"/>
                  </a:lnTo>
                  <a:lnTo>
                    <a:pt x="86493" y="32633"/>
                  </a:lnTo>
                  <a:lnTo>
                    <a:pt x="84921" y="23590"/>
                  </a:lnTo>
                  <a:lnTo>
                    <a:pt x="83741" y="19265"/>
                  </a:lnTo>
                  <a:lnTo>
                    <a:pt x="82562" y="14941"/>
                  </a:lnTo>
                  <a:lnTo>
                    <a:pt x="80989" y="11009"/>
                  </a:lnTo>
                  <a:lnTo>
                    <a:pt x="79023" y="7471"/>
                  </a:lnTo>
                  <a:lnTo>
                    <a:pt x="76665" y="4326"/>
                  </a:lnTo>
                  <a:lnTo>
                    <a:pt x="74306" y="1967"/>
                  </a:lnTo>
                  <a:lnTo>
                    <a:pt x="72733" y="1180"/>
                  </a:lnTo>
                  <a:lnTo>
                    <a:pt x="71554" y="394"/>
                  </a:lnTo>
                  <a:lnTo>
                    <a:pt x="69981" y="1"/>
                  </a:lnTo>
                  <a:lnTo>
                    <a:pt x="68015" y="1"/>
                  </a:lnTo>
                  <a:lnTo>
                    <a:pt x="68015" y="1"/>
                  </a:lnTo>
                  <a:lnTo>
                    <a:pt x="65656" y="1"/>
                  </a:lnTo>
                  <a:lnTo>
                    <a:pt x="63297" y="787"/>
                  </a:lnTo>
                  <a:lnTo>
                    <a:pt x="59759" y="2753"/>
                  </a:lnTo>
                  <a:lnTo>
                    <a:pt x="57793" y="3539"/>
                  </a:lnTo>
                  <a:lnTo>
                    <a:pt x="55434" y="4719"/>
                  </a:lnTo>
                  <a:lnTo>
                    <a:pt x="52682" y="5112"/>
                  </a:lnTo>
                  <a:lnTo>
                    <a:pt x="49144" y="5505"/>
                  </a:lnTo>
                  <a:lnTo>
                    <a:pt x="49144" y="5505"/>
                  </a:lnTo>
                  <a:lnTo>
                    <a:pt x="45606" y="5112"/>
                  </a:lnTo>
                  <a:lnTo>
                    <a:pt x="42854" y="4719"/>
                  </a:lnTo>
                  <a:lnTo>
                    <a:pt x="40495" y="3539"/>
                  </a:lnTo>
                  <a:lnTo>
                    <a:pt x="38529" y="2753"/>
                  </a:lnTo>
                  <a:lnTo>
                    <a:pt x="34597" y="787"/>
                  </a:lnTo>
                  <a:lnTo>
                    <a:pt x="32632" y="1"/>
                  </a:lnTo>
                  <a:lnTo>
                    <a:pt x="29880" y="1"/>
                  </a:lnTo>
                  <a:lnTo>
                    <a:pt x="29880" y="1"/>
                  </a:lnTo>
                  <a:lnTo>
                    <a:pt x="28307" y="1"/>
                  </a:lnTo>
                  <a:lnTo>
                    <a:pt x="26734" y="394"/>
                  </a:lnTo>
                  <a:lnTo>
                    <a:pt x="25162" y="1180"/>
                  </a:lnTo>
                  <a:lnTo>
                    <a:pt x="23982" y="1967"/>
                  </a:lnTo>
                  <a:lnTo>
                    <a:pt x="21230" y="4326"/>
                  </a:lnTo>
                  <a:lnTo>
                    <a:pt x="19264" y="7471"/>
                  </a:lnTo>
                  <a:lnTo>
                    <a:pt x="17299" y="11009"/>
                  </a:lnTo>
                  <a:lnTo>
                    <a:pt x="15726" y="14941"/>
                  </a:lnTo>
                  <a:lnTo>
                    <a:pt x="14153" y="19265"/>
                  </a:lnTo>
                  <a:lnTo>
                    <a:pt x="13367" y="23590"/>
                  </a:lnTo>
                  <a:lnTo>
                    <a:pt x="11795" y="32633"/>
                  </a:lnTo>
                  <a:lnTo>
                    <a:pt x="10615" y="40102"/>
                  </a:lnTo>
                  <a:lnTo>
                    <a:pt x="10222" y="47572"/>
                  </a:lnTo>
                  <a:lnTo>
                    <a:pt x="10222" y="47572"/>
                  </a:lnTo>
                  <a:lnTo>
                    <a:pt x="6684" y="47572"/>
                  </a:lnTo>
                  <a:lnTo>
                    <a:pt x="6684" y="47572"/>
                  </a:lnTo>
                  <a:lnTo>
                    <a:pt x="5111" y="47572"/>
                  </a:lnTo>
                  <a:lnTo>
                    <a:pt x="3932" y="47965"/>
                  </a:lnTo>
                  <a:lnTo>
                    <a:pt x="2752" y="48752"/>
                  </a:lnTo>
                  <a:lnTo>
                    <a:pt x="1966" y="49538"/>
                  </a:lnTo>
                  <a:lnTo>
                    <a:pt x="1179" y="50324"/>
                  </a:lnTo>
                  <a:lnTo>
                    <a:pt x="393" y="51504"/>
                  </a:lnTo>
                  <a:lnTo>
                    <a:pt x="0" y="52683"/>
                  </a:lnTo>
                  <a:lnTo>
                    <a:pt x="0" y="54256"/>
                  </a:lnTo>
                  <a:lnTo>
                    <a:pt x="0" y="54256"/>
                  </a:lnTo>
                  <a:lnTo>
                    <a:pt x="0" y="55435"/>
                  </a:lnTo>
                  <a:lnTo>
                    <a:pt x="393" y="56615"/>
                  </a:lnTo>
                  <a:lnTo>
                    <a:pt x="1179" y="57794"/>
                  </a:lnTo>
                  <a:lnTo>
                    <a:pt x="1966" y="58974"/>
                  </a:lnTo>
                  <a:lnTo>
                    <a:pt x="2752" y="59760"/>
                  </a:lnTo>
                  <a:lnTo>
                    <a:pt x="3932" y="60153"/>
                  </a:lnTo>
                  <a:lnTo>
                    <a:pt x="5111" y="60546"/>
                  </a:lnTo>
                  <a:lnTo>
                    <a:pt x="6684" y="60939"/>
                  </a:lnTo>
                  <a:lnTo>
                    <a:pt x="6684" y="60939"/>
                  </a:lnTo>
                  <a:lnTo>
                    <a:pt x="49144" y="60939"/>
                  </a:lnTo>
                  <a:lnTo>
                    <a:pt x="49144" y="60939"/>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81"/>
            <p:cNvSpPr/>
            <p:nvPr/>
          </p:nvSpPr>
          <p:spPr>
            <a:xfrm>
              <a:off x="1465800" y="2891900"/>
              <a:ext cx="1140175" cy="2398250"/>
            </a:xfrm>
            <a:custGeom>
              <a:rect b="b" l="l" r="r" t="t"/>
              <a:pathLst>
                <a:path extrusionOk="0" fill="none" h="95930" w="45607">
                  <a:moveTo>
                    <a:pt x="25163" y="95929"/>
                  </a:moveTo>
                  <a:lnTo>
                    <a:pt x="25163" y="95929"/>
                  </a:lnTo>
                  <a:lnTo>
                    <a:pt x="16120" y="86887"/>
                  </a:lnTo>
                  <a:lnTo>
                    <a:pt x="3932" y="74699"/>
                  </a:lnTo>
                  <a:lnTo>
                    <a:pt x="3932" y="74699"/>
                  </a:lnTo>
                  <a:lnTo>
                    <a:pt x="2753" y="73519"/>
                  </a:lnTo>
                  <a:lnTo>
                    <a:pt x="1967" y="71554"/>
                  </a:lnTo>
                  <a:lnTo>
                    <a:pt x="1180" y="69981"/>
                  </a:lnTo>
                  <a:lnTo>
                    <a:pt x="394" y="68015"/>
                  </a:lnTo>
                  <a:lnTo>
                    <a:pt x="1" y="65263"/>
                  </a:lnTo>
                  <a:lnTo>
                    <a:pt x="1" y="62511"/>
                  </a:lnTo>
                  <a:lnTo>
                    <a:pt x="394" y="58973"/>
                  </a:lnTo>
                  <a:lnTo>
                    <a:pt x="1180" y="55041"/>
                  </a:lnTo>
                  <a:lnTo>
                    <a:pt x="1180" y="55041"/>
                  </a:lnTo>
                  <a:lnTo>
                    <a:pt x="11009" y="9829"/>
                  </a:lnTo>
                  <a:lnTo>
                    <a:pt x="11009" y="9829"/>
                  </a:lnTo>
                  <a:lnTo>
                    <a:pt x="11402" y="7077"/>
                  </a:lnTo>
                  <a:lnTo>
                    <a:pt x="12189" y="5111"/>
                  </a:lnTo>
                  <a:lnTo>
                    <a:pt x="13368" y="3538"/>
                  </a:lnTo>
                  <a:lnTo>
                    <a:pt x="14548" y="2359"/>
                  </a:lnTo>
                  <a:lnTo>
                    <a:pt x="16120" y="1179"/>
                  </a:lnTo>
                  <a:lnTo>
                    <a:pt x="18086" y="786"/>
                  </a:lnTo>
                  <a:lnTo>
                    <a:pt x="20052" y="393"/>
                  </a:lnTo>
                  <a:lnTo>
                    <a:pt x="22804" y="0"/>
                  </a:lnTo>
                  <a:lnTo>
                    <a:pt x="22804" y="0"/>
                  </a:lnTo>
                  <a:lnTo>
                    <a:pt x="45606"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81"/>
            <p:cNvSpPr/>
            <p:nvPr/>
          </p:nvSpPr>
          <p:spPr>
            <a:xfrm>
              <a:off x="2242275" y="2361125"/>
              <a:ext cx="1071375" cy="1602125"/>
            </a:xfrm>
            <a:custGeom>
              <a:rect b="b" l="l" r="r" t="t"/>
              <a:pathLst>
                <a:path extrusionOk="0" fill="none" h="64085" w="42855">
                  <a:moveTo>
                    <a:pt x="42854" y="64085"/>
                  </a:moveTo>
                  <a:lnTo>
                    <a:pt x="1" y="1"/>
                  </a:lnTo>
                  <a:lnTo>
                    <a:pt x="31846"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81"/>
            <p:cNvSpPr/>
            <p:nvPr/>
          </p:nvSpPr>
          <p:spPr>
            <a:xfrm>
              <a:off x="2773050" y="2636350"/>
              <a:ext cx="570075" cy="855125"/>
            </a:xfrm>
            <a:custGeom>
              <a:rect b="b" l="l" r="r" t="t"/>
              <a:pathLst>
                <a:path extrusionOk="0" fill="none" h="34205" w="22803">
                  <a:moveTo>
                    <a:pt x="22803" y="34204"/>
                  </a:moveTo>
                  <a:lnTo>
                    <a:pt x="0"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81"/>
            <p:cNvSpPr/>
            <p:nvPr/>
          </p:nvSpPr>
          <p:spPr>
            <a:xfrm>
              <a:off x="5023825" y="2891900"/>
              <a:ext cx="1130350" cy="2398250"/>
            </a:xfrm>
            <a:custGeom>
              <a:rect b="b" l="l" r="r" t="t"/>
              <a:pathLst>
                <a:path extrusionOk="0" fill="none" h="95930" w="45214">
                  <a:moveTo>
                    <a:pt x="20051" y="95929"/>
                  </a:moveTo>
                  <a:lnTo>
                    <a:pt x="20051" y="95929"/>
                  </a:lnTo>
                  <a:lnTo>
                    <a:pt x="29487" y="86887"/>
                  </a:lnTo>
                  <a:lnTo>
                    <a:pt x="41282" y="74699"/>
                  </a:lnTo>
                  <a:lnTo>
                    <a:pt x="41282" y="74699"/>
                  </a:lnTo>
                  <a:lnTo>
                    <a:pt x="42461" y="73519"/>
                  </a:lnTo>
                  <a:lnTo>
                    <a:pt x="43640" y="71554"/>
                  </a:lnTo>
                  <a:lnTo>
                    <a:pt x="44427" y="69981"/>
                  </a:lnTo>
                  <a:lnTo>
                    <a:pt x="45213" y="68015"/>
                  </a:lnTo>
                  <a:lnTo>
                    <a:pt x="45213" y="65263"/>
                  </a:lnTo>
                  <a:lnTo>
                    <a:pt x="45213" y="62511"/>
                  </a:lnTo>
                  <a:lnTo>
                    <a:pt x="44820" y="58973"/>
                  </a:lnTo>
                  <a:lnTo>
                    <a:pt x="44034" y="55041"/>
                  </a:lnTo>
                  <a:lnTo>
                    <a:pt x="44034" y="55041"/>
                  </a:lnTo>
                  <a:lnTo>
                    <a:pt x="34598" y="9829"/>
                  </a:lnTo>
                  <a:lnTo>
                    <a:pt x="34598" y="9829"/>
                  </a:lnTo>
                  <a:lnTo>
                    <a:pt x="33812" y="7077"/>
                  </a:lnTo>
                  <a:lnTo>
                    <a:pt x="33025" y="5111"/>
                  </a:lnTo>
                  <a:lnTo>
                    <a:pt x="32239" y="3538"/>
                  </a:lnTo>
                  <a:lnTo>
                    <a:pt x="31060" y="2359"/>
                  </a:lnTo>
                  <a:lnTo>
                    <a:pt x="29487" y="1179"/>
                  </a:lnTo>
                  <a:lnTo>
                    <a:pt x="27521" y="786"/>
                  </a:lnTo>
                  <a:lnTo>
                    <a:pt x="25162" y="393"/>
                  </a:lnTo>
                  <a:lnTo>
                    <a:pt x="22803" y="0"/>
                  </a:lnTo>
                  <a:lnTo>
                    <a:pt x="22803" y="0"/>
                  </a:lnTo>
                  <a:lnTo>
                    <a:pt x="1"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81"/>
            <p:cNvSpPr/>
            <p:nvPr/>
          </p:nvSpPr>
          <p:spPr>
            <a:xfrm>
              <a:off x="4316150" y="2361125"/>
              <a:ext cx="1061550" cy="1602125"/>
            </a:xfrm>
            <a:custGeom>
              <a:rect b="b" l="l" r="r" t="t"/>
              <a:pathLst>
                <a:path extrusionOk="0" fill="none" h="64085" w="42462">
                  <a:moveTo>
                    <a:pt x="1" y="64085"/>
                  </a:moveTo>
                  <a:lnTo>
                    <a:pt x="42461" y="1"/>
                  </a:lnTo>
                  <a:lnTo>
                    <a:pt x="10616"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81"/>
            <p:cNvSpPr/>
            <p:nvPr/>
          </p:nvSpPr>
          <p:spPr>
            <a:xfrm>
              <a:off x="4286675" y="2636350"/>
              <a:ext cx="560250" cy="855125"/>
            </a:xfrm>
            <a:custGeom>
              <a:rect b="b" l="l" r="r" t="t"/>
              <a:pathLst>
                <a:path extrusionOk="0" fill="none" h="34205" w="22410">
                  <a:moveTo>
                    <a:pt x="0" y="34204"/>
                  </a:moveTo>
                  <a:lnTo>
                    <a:pt x="22410"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81"/>
            <p:cNvSpPr/>
            <p:nvPr/>
          </p:nvSpPr>
          <p:spPr>
            <a:xfrm>
              <a:off x="2832000" y="1486375"/>
              <a:ext cx="1946125" cy="25"/>
            </a:xfrm>
            <a:custGeom>
              <a:rect b="b" l="l" r="r" t="t"/>
              <a:pathLst>
                <a:path extrusionOk="0" fill="none" h="1" w="77845">
                  <a:moveTo>
                    <a:pt x="1" y="0"/>
                  </a:moveTo>
                  <a:lnTo>
                    <a:pt x="77845"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81"/>
            <p:cNvSpPr/>
            <p:nvPr/>
          </p:nvSpPr>
          <p:spPr>
            <a:xfrm>
              <a:off x="2999100" y="1820550"/>
              <a:ext cx="1611950" cy="1326900"/>
            </a:xfrm>
            <a:custGeom>
              <a:rect b="b" l="l" r="r" t="t"/>
              <a:pathLst>
                <a:path extrusionOk="0" fill="none" h="53076" w="64478">
                  <a:moveTo>
                    <a:pt x="64477" y="394"/>
                  </a:moveTo>
                  <a:lnTo>
                    <a:pt x="64477" y="394"/>
                  </a:lnTo>
                  <a:lnTo>
                    <a:pt x="64477" y="5111"/>
                  </a:lnTo>
                  <a:lnTo>
                    <a:pt x="64477" y="5111"/>
                  </a:lnTo>
                  <a:lnTo>
                    <a:pt x="64477" y="10222"/>
                  </a:lnTo>
                  <a:lnTo>
                    <a:pt x="64084" y="14940"/>
                  </a:lnTo>
                  <a:lnTo>
                    <a:pt x="63298" y="19265"/>
                  </a:lnTo>
                  <a:lnTo>
                    <a:pt x="62118" y="23983"/>
                  </a:lnTo>
                  <a:lnTo>
                    <a:pt x="60546" y="27914"/>
                  </a:lnTo>
                  <a:lnTo>
                    <a:pt x="58973" y="31846"/>
                  </a:lnTo>
                  <a:lnTo>
                    <a:pt x="57007" y="35777"/>
                  </a:lnTo>
                  <a:lnTo>
                    <a:pt x="55042" y="38923"/>
                  </a:lnTo>
                  <a:lnTo>
                    <a:pt x="52683" y="42068"/>
                  </a:lnTo>
                  <a:lnTo>
                    <a:pt x="50324" y="44820"/>
                  </a:lnTo>
                  <a:lnTo>
                    <a:pt x="47572" y="47179"/>
                  </a:lnTo>
                  <a:lnTo>
                    <a:pt x="44820" y="49144"/>
                  </a:lnTo>
                  <a:lnTo>
                    <a:pt x="41675" y="51110"/>
                  </a:lnTo>
                  <a:lnTo>
                    <a:pt x="38529" y="52290"/>
                  </a:lnTo>
                  <a:lnTo>
                    <a:pt x="35384" y="52683"/>
                  </a:lnTo>
                  <a:lnTo>
                    <a:pt x="32239" y="53076"/>
                  </a:lnTo>
                  <a:lnTo>
                    <a:pt x="32239" y="53076"/>
                  </a:lnTo>
                  <a:lnTo>
                    <a:pt x="28701" y="52683"/>
                  </a:lnTo>
                  <a:lnTo>
                    <a:pt x="25555" y="52290"/>
                  </a:lnTo>
                  <a:lnTo>
                    <a:pt x="22410" y="51110"/>
                  </a:lnTo>
                  <a:lnTo>
                    <a:pt x="19658" y="49144"/>
                  </a:lnTo>
                  <a:lnTo>
                    <a:pt x="16906" y="47179"/>
                  </a:lnTo>
                  <a:lnTo>
                    <a:pt x="14154" y="44820"/>
                  </a:lnTo>
                  <a:lnTo>
                    <a:pt x="11795" y="42068"/>
                  </a:lnTo>
                  <a:lnTo>
                    <a:pt x="9436" y="38923"/>
                  </a:lnTo>
                  <a:lnTo>
                    <a:pt x="7077" y="35777"/>
                  </a:lnTo>
                  <a:lnTo>
                    <a:pt x="5505" y="31846"/>
                  </a:lnTo>
                  <a:lnTo>
                    <a:pt x="3539" y="27914"/>
                  </a:lnTo>
                  <a:lnTo>
                    <a:pt x="2359" y="23983"/>
                  </a:lnTo>
                  <a:lnTo>
                    <a:pt x="1180" y="19265"/>
                  </a:lnTo>
                  <a:lnTo>
                    <a:pt x="394" y="14940"/>
                  </a:lnTo>
                  <a:lnTo>
                    <a:pt x="1" y="10222"/>
                  </a:lnTo>
                  <a:lnTo>
                    <a:pt x="1" y="5111"/>
                  </a:lnTo>
                  <a:lnTo>
                    <a:pt x="1" y="5111"/>
                  </a:lnTo>
                  <a:lnTo>
                    <a:pt x="1"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81"/>
            <p:cNvSpPr/>
            <p:nvPr/>
          </p:nvSpPr>
          <p:spPr>
            <a:xfrm>
              <a:off x="3677275" y="4602100"/>
              <a:ext cx="275250" cy="471800"/>
            </a:xfrm>
            <a:custGeom>
              <a:rect b="b" l="l" r="r" t="t"/>
              <a:pathLst>
                <a:path extrusionOk="0" fill="none" h="18872" w="11010">
                  <a:moveTo>
                    <a:pt x="1" y="0"/>
                  </a:moveTo>
                  <a:lnTo>
                    <a:pt x="11009" y="18872"/>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81"/>
            <p:cNvSpPr/>
            <p:nvPr/>
          </p:nvSpPr>
          <p:spPr>
            <a:xfrm>
              <a:off x="3677275" y="4602100"/>
              <a:ext cx="275250" cy="471800"/>
            </a:xfrm>
            <a:custGeom>
              <a:rect b="b" l="l" r="r" t="t"/>
              <a:pathLst>
                <a:path extrusionOk="0" fill="none" h="18872" w="11010">
                  <a:moveTo>
                    <a:pt x="1" y="18872"/>
                  </a:moveTo>
                  <a:lnTo>
                    <a:pt x="11009"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81"/>
            <p:cNvSpPr/>
            <p:nvPr/>
          </p:nvSpPr>
          <p:spPr>
            <a:xfrm>
              <a:off x="3539675" y="4838000"/>
              <a:ext cx="550450" cy="25"/>
            </a:xfrm>
            <a:custGeom>
              <a:rect b="b" l="l" r="r" t="t"/>
              <a:pathLst>
                <a:path extrusionOk="0" fill="none" h="1" w="22018">
                  <a:moveTo>
                    <a:pt x="1" y="0"/>
                  </a:moveTo>
                  <a:lnTo>
                    <a:pt x="22017"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81"/>
            <p:cNvSpPr/>
            <p:nvPr/>
          </p:nvSpPr>
          <p:spPr>
            <a:xfrm>
              <a:off x="2812350" y="4602100"/>
              <a:ext cx="275225" cy="471800"/>
            </a:xfrm>
            <a:custGeom>
              <a:rect b="b" l="l" r="r" t="t"/>
              <a:pathLst>
                <a:path extrusionOk="0" fill="none" h="18872" w="11009">
                  <a:moveTo>
                    <a:pt x="1" y="0"/>
                  </a:moveTo>
                  <a:lnTo>
                    <a:pt x="11009" y="18872"/>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81"/>
            <p:cNvSpPr/>
            <p:nvPr/>
          </p:nvSpPr>
          <p:spPr>
            <a:xfrm>
              <a:off x="2812350" y="4602100"/>
              <a:ext cx="275225" cy="471800"/>
            </a:xfrm>
            <a:custGeom>
              <a:rect b="b" l="l" r="r" t="t"/>
              <a:pathLst>
                <a:path extrusionOk="0" fill="none" h="18872" w="11009">
                  <a:moveTo>
                    <a:pt x="1" y="18872"/>
                  </a:moveTo>
                  <a:lnTo>
                    <a:pt x="11009"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81"/>
            <p:cNvSpPr/>
            <p:nvPr/>
          </p:nvSpPr>
          <p:spPr>
            <a:xfrm>
              <a:off x="2684575" y="4838000"/>
              <a:ext cx="540600" cy="25"/>
            </a:xfrm>
            <a:custGeom>
              <a:rect b="b" l="l" r="r" t="t"/>
              <a:pathLst>
                <a:path extrusionOk="0" fill="none" h="1" w="21624">
                  <a:moveTo>
                    <a:pt x="1" y="0"/>
                  </a:moveTo>
                  <a:lnTo>
                    <a:pt x="21624"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81"/>
            <p:cNvSpPr/>
            <p:nvPr/>
          </p:nvSpPr>
          <p:spPr>
            <a:xfrm>
              <a:off x="4542225" y="4602100"/>
              <a:ext cx="275225" cy="471800"/>
            </a:xfrm>
            <a:custGeom>
              <a:rect b="b" l="l" r="r" t="t"/>
              <a:pathLst>
                <a:path extrusionOk="0" fill="none" h="18872" w="11009">
                  <a:moveTo>
                    <a:pt x="0" y="0"/>
                  </a:moveTo>
                  <a:lnTo>
                    <a:pt x="11009" y="18872"/>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81"/>
            <p:cNvSpPr/>
            <p:nvPr/>
          </p:nvSpPr>
          <p:spPr>
            <a:xfrm>
              <a:off x="4542225" y="4602100"/>
              <a:ext cx="275225" cy="471800"/>
            </a:xfrm>
            <a:custGeom>
              <a:rect b="b" l="l" r="r" t="t"/>
              <a:pathLst>
                <a:path extrusionOk="0" fill="none" h="18872" w="11009">
                  <a:moveTo>
                    <a:pt x="0" y="18872"/>
                  </a:moveTo>
                  <a:lnTo>
                    <a:pt x="11009"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81"/>
            <p:cNvSpPr/>
            <p:nvPr/>
          </p:nvSpPr>
          <p:spPr>
            <a:xfrm>
              <a:off x="4404625" y="4838000"/>
              <a:ext cx="550425" cy="25"/>
            </a:xfrm>
            <a:custGeom>
              <a:rect b="b" l="l" r="r" t="t"/>
              <a:pathLst>
                <a:path extrusionOk="0" fill="none" h="1" w="22017">
                  <a:moveTo>
                    <a:pt x="0" y="0"/>
                  </a:moveTo>
                  <a:lnTo>
                    <a:pt x="22017"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19" name="Google Shape;719;p81"/>
          <p:cNvPicPr preferRelativeResize="0"/>
          <p:nvPr/>
        </p:nvPicPr>
        <p:blipFill rotWithShape="1">
          <a:blip r:embed="rId3">
            <a:alphaModFix amt="12000"/>
          </a:blip>
          <a:srcRect b="21874" l="0" r="0" t="0"/>
          <a:stretch/>
        </p:blipFill>
        <p:spPr>
          <a:xfrm>
            <a:off x="6504875" y="3069475"/>
            <a:ext cx="2639125" cy="20740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pic>
        <p:nvPicPr>
          <p:cNvPr id="724" name="Google Shape;724;p82"/>
          <p:cNvPicPr preferRelativeResize="0"/>
          <p:nvPr/>
        </p:nvPicPr>
        <p:blipFill rotWithShape="1">
          <a:blip r:embed="rId3">
            <a:alphaModFix/>
          </a:blip>
          <a:srcRect b="0" l="0" r="0" t="0"/>
          <a:stretch/>
        </p:blipFill>
        <p:spPr>
          <a:xfrm>
            <a:off x="-12300" y="-92025"/>
            <a:ext cx="9168600" cy="5143500"/>
          </a:xfrm>
          <a:prstGeom prst="rect">
            <a:avLst/>
          </a:prstGeom>
          <a:noFill/>
          <a:ln>
            <a:noFill/>
          </a:ln>
        </p:spPr>
      </p:pic>
      <p:sp>
        <p:nvSpPr>
          <p:cNvPr id="725" name="Google Shape;725;p82"/>
          <p:cNvSpPr txBox="1"/>
          <p:nvPr>
            <p:ph type="title"/>
          </p:nvPr>
        </p:nvSpPr>
        <p:spPr>
          <a:xfrm>
            <a:off x="-19420" y="39506"/>
            <a:ext cx="8980200" cy="11328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b="0" lang="en" sz="2200">
                <a:solidFill>
                  <a:schemeClr val="dk2"/>
                </a:solidFill>
                <a:latin typeface="Roboto"/>
                <a:ea typeface="Roboto"/>
                <a:cs typeface="Roboto"/>
                <a:sym typeface="Roboto"/>
              </a:rPr>
              <a:t>Before performing an attack on a Windows machine, it’s important to understand how authentication works in Windows.</a:t>
            </a:r>
            <a:endParaRPr b="0" sz="2200">
              <a:solidFill>
                <a:schemeClr val="dk2"/>
              </a:solidFill>
              <a:latin typeface="Roboto"/>
              <a:ea typeface="Roboto"/>
              <a:cs typeface="Roboto"/>
              <a:sym typeface="Roboto"/>
            </a:endParaRPr>
          </a:p>
        </p:txBody>
      </p:sp>
      <p:sp>
        <p:nvSpPr>
          <p:cNvPr id="726" name="Google Shape;726;p82"/>
          <p:cNvSpPr/>
          <p:nvPr/>
        </p:nvSpPr>
        <p:spPr>
          <a:xfrm>
            <a:off x="250900" y="2776650"/>
            <a:ext cx="560400" cy="326100"/>
          </a:xfrm>
          <a:prstGeom prst="rect">
            <a:avLst/>
          </a:prstGeom>
          <a:solidFill>
            <a:srgbClr val="CFDD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82"/>
          <p:cNvSpPr/>
          <p:nvPr/>
        </p:nvSpPr>
        <p:spPr>
          <a:xfrm>
            <a:off x="579575" y="1463000"/>
            <a:ext cx="2751900" cy="2751900"/>
          </a:xfrm>
          <a:prstGeom prst="ellipse">
            <a:avLst/>
          </a:prstGeom>
          <a:solidFill>
            <a:schemeClr val="accent4"/>
          </a:solidFill>
          <a:ln>
            <a:noFill/>
          </a:ln>
        </p:spPr>
        <p:txBody>
          <a:bodyPr anchorCtr="0" anchor="ctr" bIns="91425" lIns="0" spcFirstLastPara="1" rIns="0" wrap="square" tIns="91425">
            <a:noAutofit/>
          </a:bodyPr>
          <a:lstStyle/>
          <a:p>
            <a:pPr indent="0" lvl="0" marL="0" rtl="0" algn="ctr">
              <a:lnSpc>
                <a:spcPct val="115000"/>
              </a:lnSpc>
              <a:spcBef>
                <a:spcPts val="0"/>
              </a:spcBef>
              <a:spcAft>
                <a:spcPts val="0"/>
              </a:spcAft>
              <a:buClr>
                <a:schemeClr val="dk1"/>
              </a:buClr>
              <a:buSzPts val="1100"/>
              <a:buFont typeface="Arial"/>
              <a:buNone/>
            </a:pPr>
            <a:r>
              <a:t/>
            </a:r>
            <a:endParaRPr sz="1600">
              <a:latin typeface="Roboto"/>
              <a:ea typeface="Roboto"/>
              <a:cs typeface="Roboto"/>
              <a:sym typeface="Roboto"/>
            </a:endParaRPr>
          </a:p>
        </p:txBody>
      </p:sp>
      <p:sp>
        <p:nvSpPr>
          <p:cNvPr id="728" name="Google Shape;728;p82"/>
          <p:cNvSpPr txBox="1"/>
          <p:nvPr/>
        </p:nvSpPr>
        <p:spPr>
          <a:xfrm>
            <a:off x="514775" y="2337125"/>
            <a:ext cx="2816700" cy="969600"/>
          </a:xfrm>
          <a:prstGeom prst="rect">
            <a:avLst/>
          </a:prstGeom>
          <a:noFill/>
          <a:ln>
            <a:noFill/>
          </a:ln>
        </p:spPr>
        <p:txBody>
          <a:bodyPr anchorCtr="0" anchor="t" bIns="91425" lIns="91425" spcFirstLastPara="1" rIns="91425" wrap="square" tIns="91425">
            <a:spAutoFit/>
          </a:bodyPr>
          <a:lstStyle/>
          <a:p>
            <a:pPr indent="0" lvl="0" marL="0" rtl="0" algn="ctr">
              <a:lnSpc>
                <a:spcPct val="85000"/>
              </a:lnSpc>
              <a:spcBef>
                <a:spcPts val="0"/>
              </a:spcBef>
              <a:spcAft>
                <a:spcPts val="0"/>
              </a:spcAft>
              <a:buNone/>
            </a:pPr>
            <a:r>
              <a:rPr lang="en" sz="3000">
                <a:solidFill>
                  <a:schemeClr val="dk2"/>
                </a:solidFill>
                <a:latin typeface="Roboto"/>
                <a:ea typeface="Roboto"/>
                <a:cs typeface="Roboto"/>
                <a:sym typeface="Roboto"/>
              </a:rPr>
              <a:t>We’ll review</a:t>
            </a:r>
            <a:br>
              <a:rPr lang="en" sz="3000">
                <a:solidFill>
                  <a:schemeClr val="dk2"/>
                </a:solidFill>
                <a:latin typeface="Roboto"/>
                <a:ea typeface="Roboto"/>
                <a:cs typeface="Roboto"/>
                <a:sym typeface="Roboto"/>
              </a:rPr>
            </a:br>
            <a:r>
              <a:rPr lang="en" sz="3000">
                <a:solidFill>
                  <a:schemeClr val="dk2"/>
                </a:solidFill>
                <a:latin typeface="Roboto"/>
                <a:ea typeface="Roboto"/>
                <a:cs typeface="Roboto"/>
                <a:sym typeface="Roboto"/>
              </a:rPr>
              <a:t>it now.</a:t>
            </a:r>
            <a:endParaRPr sz="3000">
              <a:solidFill>
                <a:schemeClr val="dk2"/>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2" name="Shape 732"/>
        <p:cNvGrpSpPr/>
        <p:nvPr/>
      </p:nvGrpSpPr>
      <p:grpSpPr>
        <a:xfrm>
          <a:off x="0" y="0"/>
          <a:ext cx="0" cy="0"/>
          <a:chOff x="0" y="0"/>
          <a:chExt cx="0" cy="0"/>
        </a:xfrm>
      </p:grpSpPr>
      <p:sp>
        <p:nvSpPr>
          <p:cNvPr id="733" name="Google Shape;733;p83"/>
          <p:cNvSpPr txBox="1"/>
          <p:nvPr>
            <p:ph type="title"/>
          </p:nvPr>
        </p:nvSpPr>
        <p:spPr>
          <a:xfrm>
            <a:off x="453225" y="141225"/>
            <a:ext cx="8520600" cy="41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Windows Authentication</a:t>
            </a:r>
            <a:endParaRPr>
              <a:latin typeface="Roboto Medium"/>
              <a:ea typeface="Roboto Medium"/>
              <a:cs typeface="Roboto Medium"/>
              <a:sym typeface="Roboto Medium"/>
            </a:endParaRPr>
          </a:p>
        </p:txBody>
      </p:sp>
      <p:sp>
        <p:nvSpPr>
          <p:cNvPr id="734" name="Google Shape;734;p83"/>
          <p:cNvSpPr txBox="1"/>
          <p:nvPr>
            <p:ph idx="4294967295" type="title"/>
          </p:nvPr>
        </p:nvSpPr>
        <p:spPr>
          <a:xfrm>
            <a:off x="453225" y="588350"/>
            <a:ext cx="8004900" cy="3612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1200"/>
              </a:spcAft>
              <a:buNone/>
            </a:pPr>
            <a:r>
              <a:rPr b="0" lang="en" sz="1800"/>
              <a:t>There are two primary types of authentication in Windows:</a:t>
            </a:r>
            <a:endParaRPr b="0" sz="1800"/>
          </a:p>
        </p:txBody>
      </p:sp>
      <p:sp>
        <p:nvSpPr>
          <p:cNvPr id="735" name="Google Shape;735;p83"/>
          <p:cNvSpPr/>
          <p:nvPr/>
        </p:nvSpPr>
        <p:spPr>
          <a:xfrm>
            <a:off x="1102800" y="1292975"/>
            <a:ext cx="3202500" cy="476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736" name="Google Shape;736;p83"/>
          <p:cNvSpPr txBox="1"/>
          <p:nvPr/>
        </p:nvSpPr>
        <p:spPr>
          <a:xfrm>
            <a:off x="1066725" y="2004350"/>
            <a:ext cx="3200700" cy="2489400"/>
          </a:xfrm>
          <a:prstGeom prst="rect">
            <a:avLst/>
          </a:prstGeom>
          <a:noFill/>
          <a:ln>
            <a:noFill/>
          </a:ln>
        </p:spPr>
        <p:txBody>
          <a:bodyPr anchorCtr="0" anchor="t" bIns="91425" lIns="91425" spcFirstLastPara="1" rIns="91425" wrap="square" tIns="91425">
            <a:noAutofit/>
          </a:bodyPr>
          <a:lstStyle/>
          <a:p>
            <a:pPr indent="0" lvl="0" marL="45720" rtl="0" algn="l">
              <a:spcBef>
                <a:spcPts val="0"/>
              </a:spcBef>
              <a:spcAft>
                <a:spcPts val="0"/>
              </a:spcAft>
              <a:buNone/>
            </a:pPr>
            <a:r>
              <a:rPr lang="en" sz="1800">
                <a:solidFill>
                  <a:schemeClr val="dk2"/>
                </a:solidFill>
                <a:latin typeface="Roboto"/>
                <a:ea typeface="Roboto"/>
                <a:cs typeface="Roboto"/>
                <a:sym typeface="Roboto"/>
              </a:rPr>
              <a:t>Kerberos is the default protocol for authentication in Windows and is heavily used in AD.</a:t>
            </a:r>
            <a:endParaRPr sz="1800">
              <a:solidFill>
                <a:schemeClr val="dk2"/>
              </a:solidFill>
              <a:latin typeface="Roboto"/>
              <a:ea typeface="Roboto"/>
              <a:cs typeface="Roboto"/>
              <a:sym typeface="Roboto"/>
            </a:endParaRPr>
          </a:p>
        </p:txBody>
      </p:sp>
      <p:pic>
        <p:nvPicPr>
          <p:cNvPr id="737" name="Google Shape;737;p83"/>
          <p:cNvPicPr preferRelativeResize="0"/>
          <p:nvPr/>
        </p:nvPicPr>
        <p:blipFill rotWithShape="1">
          <a:blip r:embed="rId3">
            <a:alphaModFix/>
          </a:blip>
          <a:srcRect b="0" l="0" r="0" t="0"/>
          <a:stretch/>
        </p:blipFill>
        <p:spPr>
          <a:xfrm>
            <a:off x="4305138" y="1183050"/>
            <a:ext cx="827470" cy="3662574"/>
          </a:xfrm>
          <a:prstGeom prst="rect">
            <a:avLst/>
          </a:prstGeom>
          <a:noFill/>
          <a:ln>
            <a:noFill/>
          </a:ln>
        </p:spPr>
      </p:pic>
      <p:grpSp>
        <p:nvGrpSpPr>
          <p:cNvPr id="738" name="Google Shape;738;p83"/>
          <p:cNvGrpSpPr/>
          <p:nvPr/>
        </p:nvGrpSpPr>
        <p:grpSpPr>
          <a:xfrm>
            <a:off x="457147" y="1281128"/>
            <a:ext cx="533372" cy="533480"/>
            <a:chOff x="457200" y="1378813"/>
            <a:chExt cx="695400" cy="695450"/>
          </a:xfrm>
        </p:grpSpPr>
        <p:sp>
          <p:nvSpPr>
            <p:cNvPr id="739" name="Google Shape;739;p83"/>
            <p:cNvSpPr/>
            <p:nvPr/>
          </p:nvSpPr>
          <p:spPr>
            <a:xfrm>
              <a:off x="457200" y="1378813"/>
              <a:ext cx="695400" cy="621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a:ea typeface="Roboto"/>
                  <a:cs typeface="Roboto"/>
                  <a:sym typeface="Roboto"/>
                </a:rPr>
                <a:t>01</a:t>
              </a:r>
              <a:endParaRPr i="0" sz="2100" u="none" cap="none" strike="noStrike">
                <a:solidFill>
                  <a:srgbClr val="FFFFFF"/>
                </a:solidFill>
                <a:latin typeface="Roboto"/>
                <a:ea typeface="Roboto"/>
                <a:cs typeface="Roboto"/>
                <a:sym typeface="Roboto"/>
              </a:endParaRPr>
            </a:p>
          </p:txBody>
        </p:sp>
        <p:sp>
          <p:nvSpPr>
            <p:cNvPr id="740" name="Google Shape;740;p83"/>
            <p:cNvSpPr/>
            <p:nvPr/>
          </p:nvSpPr>
          <p:spPr>
            <a:xfrm rot="10800000">
              <a:off x="634726" y="1885638"/>
              <a:ext cx="34032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sp>
        <p:nvSpPr>
          <p:cNvPr id="741" name="Google Shape;741;p83"/>
          <p:cNvSpPr txBox="1"/>
          <p:nvPr/>
        </p:nvSpPr>
        <p:spPr>
          <a:xfrm>
            <a:off x="1176342" y="1329820"/>
            <a:ext cx="29739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Kerberos</a:t>
            </a:r>
            <a:endParaRPr b="1" sz="1800">
              <a:solidFill>
                <a:schemeClr val="dk2"/>
              </a:solidFill>
              <a:latin typeface="Roboto"/>
              <a:ea typeface="Roboto"/>
              <a:cs typeface="Roboto"/>
              <a:sym typeface="Roboto"/>
            </a:endParaRPr>
          </a:p>
        </p:txBody>
      </p:sp>
      <p:sp>
        <p:nvSpPr>
          <p:cNvPr id="742" name="Google Shape;742;p83"/>
          <p:cNvSpPr/>
          <p:nvPr/>
        </p:nvSpPr>
        <p:spPr>
          <a:xfrm>
            <a:off x="5539775" y="1292975"/>
            <a:ext cx="3202500" cy="476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743" name="Google Shape;743;p83"/>
          <p:cNvSpPr txBox="1"/>
          <p:nvPr/>
        </p:nvSpPr>
        <p:spPr>
          <a:xfrm>
            <a:off x="5613317" y="1329820"/>
            <a:ext cx="29739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Roboto"/>
                <a:ea typeface="Roboto"/>
                <a:cs typeface="Roboto"/>
                <a:sym typeface="Roboto"/>
              </a:rPr>
              <a:t>NTLM</a:t>
            </a:r>
            <a:endParaRPr b="1" sz="1800">
              <a:solidFill>
                <a:schemeClr val="dk2"/>
              </a:solidFill>
              <a:latin typeface="Roboto"/>
              <a:ea typeface="Roboto"/>
              <a:cs typeface="Roboto"/>
              <a:sym typeface="Roboto"/>
            </a:endParaRPr>
          </a:p>
        </p:txBody>
      </p:sp>
      <p:grpSp>
        <p:nvGrpSpPr>
          <p:cNvPr id="744" name="Google Shape;744;p83"/>
          <p:cNvGrpSpPr/>
          <p:nvPr/>
        </p:nvGrpSpPr>
        <p:grpSpPr>
          <a:xfrm>
            <a:off x="4876797" y="1281128"/>
            <a:ext cx="533372" cy="533480"/>
            <a:chOff x="457200" y="1378813"/>
            <a:chExt cx="695400" cy="695450"/>
          </a:xfrm>
        </p:grpSpPr>
        <p:sp>
          <p:nvSpPr>
            <p:cNvPr id="745" name="Google Shape;745;p83"/>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lt1"/>
                  </a:solidFill>
                  <a:latin typeface="Roboto"/>
                  <a:ea typeface="Roboto"/>
                  <a:cs typeface="Roboto"/>
                  <a:sym typeface="Roboto"/>
                </a:rPr>
                <a:t>02</a:t>
              </a:r>
              <a:endParaRPr i="0" sz="2100" u="none" cap="none" strike="noStrike">
                <a:solidFill>
                  <a:schemeClr val="lt1"/>
                </a:solidFill>
                <a:latin typeface="Roboto"/>
                <a:ea typeface="Roboto"/>
                <a:cs typeface="Roboto"/>
                <a:sym typeface="Roboto"/>
              </a:endParaRPr>
            </a:p>
          </p:txBody>
        </p:sp>
        <p:sp>
          <p:nvSpPr>
            <p:cNvPr id="746" name="Google Shape;746;p83"/>
            <p:cNvSpPr/>
            <p:nvPr/>
          </p:nvSpPr>
          <p:spPr>
            <a:xfrm rot="10800000">
              <a:off x="634726" y="1885638"/>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lt1"/>
                </a:solidFill>
                <a:latin typeface="Roboto"/>
                <a:ea typeface="Roboto"/>
                <a:cs typeface="Roboto"/>
                <a:sym typeface="Roboto"/>
              </a:endParaRPr>
            </a:p>
          </p:txBody>
        </p:sp>
      </p:grpSp>
      <p:sp>
        <p:nvSpPr>
          <p:cNvPr id="747" name="Google Shape;747;p83"/>
          <p:cNvSpPr txBox="1"/>
          <p:nvPr/>
        </p:nvSpPr>
        <p:spPr>
          <a:xfrm>
            <a:off x="5486375" y="2004350"/>
            <a:ext cx="3173100" cy="2489400"/>
          </a:xfrm>
          <a:prstGeom prst="rect">
            <a:avLst/>
          </a:prstGeom>
          <a:noFill/>
          <a:ln>
            <a:noFill/>
          </a:ln>
        </p:spPr>
        <p:txBody>
          <a:bodyPr anchorCtr="0" anchor="t" bIns="91425" lIns="91425" spcFirstLastPara="1" rIns="91425" wrap="square" tIns="91425">
            <a:noAutofit/>
          </a:bodyPr>
          <a:lstStyle/>
          <a:p>
            <a:pPr indent="0" lvl="0" marL="45720" rtl="0" algn="l">
              <a:spcBef>
                <a:spcPts val="0"/>
              </a:spcBef>
              <a:spcAft>
                <a:spcPts val="0"/>
              </a:spcAft>
              <a:buNone/>
            </a:pPr>
            <a:r>
              <a:rPr lang="en" sz="1800">
                <a:solidFill>
                  <a:schemeClr val="dk2"/>
                </a:solidFill>
                <a:latin typeface="Roboto"/>
                <a:ea typeface="Roboto"/>
                <a:cs typeface="Roboto"/>
                <a:sym typeface="Roboto"/>
              </a:rPr>
              <a:t>If Kerberos authentication is not possible, then Windows falls back to NTLM.</a:t>
            </a:r>
            <a:endParaRPr sz="1800">
              <a:solidFill>
                <a:schemeClr val="dk2"/>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84"/>
          <p:cNvSpPr/>
          <p:nvPr/>
        </p:nvSpPr>
        <p:spPr>
          <a:xfrm flipH="1">
            <a:off x="511766" y="201170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53" name="Google Shape;753;p84"/>
          <p:cNvGrpSpPr/>
          <p:nvPr/>
        </p:nvGrpSpPr>
        <p:grpSpPr>
          <a:xfrm>
            <a:off x="511772" y="1419028"/>
            <a:ext cx="533372" cy="533480"/>
            <a:chOff x="457200" y="1378813"/>
            <a:chExt cx="695400" cy="695450"/>
          </a:xfrm>
        </p:grpSpPr>
        <p:sp>
          <p:nvSpPr>
            <p:cNvPr id="754" name="Google Shape;754;p84"/>
            <p:cNvSpPr/>
            <p:nvPr/>
          </p:nvSpPr>
          <p:spPr>
            <a:xfrm>
              <a:off x="457200" y="1378813"/>
              <a:ext cx="695400" cy="621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a:ea typeface="Roboto"/>
                  <a:cs typeface="Roboto"/>
                  <a:sym typeface="Roboto"/>
                </a:rPr>
                <a:t>01</a:t>
              </a:r>
              <a:endParaRPr i="0" sz="2100" u="none" cap="none" strike="noStrike">
                <a:solidFill>
                  <a:srgbClr val="FFFFFF"/>
                </a:solidFill>
                <a:latin typeface="Roboto"/>
                <a:ea typeface="Roboto"/>
                <a:cs typeface="Roboto"/>
                <a:sym typeface="Roboto"/>
              </a:endParaRPr>
            </a:p>
          </p:txBody>
        </p:sp>
        <p:sp>
          <p:nvSpPr>
            <p:cNvPr id="755" name="Google Shape;755;p84"/>
            <p:cNvSpPr/>
            <p:nvPr/>
          </p:nvSpPr>
          <p:spPr>
            <a:xfrm rot="10800000">
              <a:off x="634726" y="1885638"/>
              <a:ext cx="34032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grpSp>
        <p:nvGrpSpPr>
          <p:cNvPr id="756" name="Google Shape;756;p84"/>
          <p:cNvGrpSpPr/>
          <p:nvPr/>
        </p:nvGrpSpPr>
        <p:grpSpPr>
          <a:xfrm>
            <a:off x="3283547" y="1419028"/>
            <a:ext cx="533372" cy="533480"/>
            <a:chOff x="457200" y="1378813"/>
            <a:chExt cx="695400" cy="695450"/>
          </a:xfrm>
        </p:grpSpPr>
        <p:sp>
          <p:nvSpPr>
            <p:cNvPr id="757" name="Google Shape;757;p84"/>
            <p:cNvSpPr/>
            <p:nvPr/>
          </p:nvSpPr>
          <p:spPr>
            <a:xfrm>
              <a:off x="457200" y="1378813"/>
              <a:ext cx="695400" cy="621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082D49"/>
                  </a:solidFill>
                  <a:latin typeface="Roboto"/>
                  <a:ea typeface="Roboto"/>
                  <a:cs typeface="Roboto"/>
                  <a:sym typeface="Roboto"/>
                </a:rPr>
                <a:t>02</a:t>
              </a:r>
              <a:endParaRPr i="0" sz="2100" u="none" cap="none" strike="noStrike">
                <a:solidFill>
                  <a:srgbClr val="082D49"/>
                </a:solidFill>
                <a:latin typeface="Roboto"/>
                <a:ea typeface="Roboto"/>
                <a:cs typeface="Roboto"/>
                <a:sym typeface="Roboto"/>
              </a:endParaRPr>
            </a:p>
          </p:txBody>
        </p:sp>
        <p:sp>
          <p:nvSpPr>
            <p:cNvPr id="758" name="Google Shape;758;p84"/>
            <p:cNvSpPr/>
            <p:nvPr/>
          </p:nvSpPr>
          <p:spPr>
            <a:xfrm rot="10800000">
              <a:off x="634726" y="1885638"/>
              <a:ext cx="34032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82D49"/>
                </a:solidFill>
                <a:latin typeface="Roboto"/>
                <a:ea typeface="Roboto"/>
                <a:cs typeface="Roboto"/>
                <a:sym typeface="Roboto"/>
              </a:endParaRPr>
            </a:p>
          </p:txBody>
        </p:sp>
      </p:grpSp>
      <p:sp>
        <p:nvSpPr>
          <p:cNvPr id="759" name="Google Shape;759;p84"/>
          <p:cNvSpPr/>
          <p:nvPr/>
        </p:nvSpPr>
        <p:spPr>
          <a:xfrm flipH="1">
            <a:off x="3283541" y="201170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60" name="Google Shape;760;p84"/>
          <p:cNvGrpSpPr/>
          <p:nvPr/>
        </p:nvGrpSpPr>
        <p:grpSpPr>
          <a:xfrm>
            <a:off x="6188672" y="1419778"/>
            <a:ext cx="533372" cy="533480"/>
            <a:chOff x="457200" y="1378813"/>
            <a:chExt cx="695400" cy="695450"/>
          </a:xfrm>
        </p:grpSpPr>
        <p:sp>
          <p:nvSpPr>
            <p:cNvPr id="761" name="Google Shape;761;p84"/>
            <p:cNvSpPr/>
            <p:nvPr/>
          </p:nvSpPr>
          <p:spPr>
            <a:xfrm>
              <a:off x="457200" y="1378813"/>
              <a:ext cx="695400" cy="621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082D49"/>
                  </a:solidFill>
                  <a:latin typeface="Roboto"/>
                  <a:ea typeface="Roboto"/>
                  <a:cs typeface="Roboto"/>
                  <a:sym typeface="Roboto"/>
                </a:rPr>
                <a:t>03</a:t>
              </a:r>
              <a:endParaRPr i="0" sz="2100" u="none" cap="none" strike="noStrike">
                <a:solidFill>
                  <a:srgbClr val="082D49"/>
                </a:solidFill>
                <a:latin typeface="Roboto"/>
                <a:ea typeface="Roboto"/>
                <a:cs typeface="Roboto"/>
                <a:sym typeface="Roboto"/>
              </a:endParaRPr>
            </a:p>
          </p:txBody>
        </p:sp>
        <p:sp>
          <p:nvSpPr>
            <p:cNvPr id="762" name="Google Shape;762;p84"/>
            <p:cNvSpPr/>
            <p:nvPr/>
          </p:nvSpPr>
          <p:spPr>
            <a:xfrm rot="10800000">
              <a:off x="634726" y="1885638"/>
              <a:ext cx="34032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82D49"/>
                </a:solidFill>
                <a:latin typeface="Roboto"/>
                <a:ea typeface="Roboto"/>
                <a:cs typeface="Roboto"/>
                <a:sym typeface="Roboto"/>
              </a:endParaRPr>
            </a:p>
          </p:txBody>
        </p:sp>
      </p:grpSp>
      <p:sp>
        <p:nvSpPr>
          <p:cNvPr id="763" name="Google Shape;763;p84"/>
          <p:cNvSpPr/>
          <p:nvPr/>
        </p:nvSpPr>
        <p:spPr>
          <a:xfrm flipH="1">
            <a:off x="6188666" y="201245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84"/>
          <p:cNvSpPr txBox="1"/>
          <p:nvPr/>
        </p:nvSpPr>
        <p:spPr>
          <a:xfrm>
            <a:off x="70200" y="402450"/>
            <a:ext cx="9168600" cy="3231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sp>
        <p:nvSpPr>
          <p:cNvPr id="765" name="Google Shape;765;p84"/>
          <p:cNvSpPr txBox="1"/>
          <p:nvPr/>
        </p:nvSpPr>
        <p:spPr>
          <a:xfrm>
            <a:off x="349107" y="56777"/>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Kerberos vs. NTLM</a:t>
            </a:r>
            <a:endParaRPr sz="1600">
              <a:solidFill>
                <a:schemeClr val="dk2"/>
              </a:solidFill>
              <a:latin typeface="Roboto"/>
              <a:ea typeface="Roboto"/>
              <a:cs typeface="Roboto"/>
              <a:sym typeface="Roboto"/>
            </a:endParaRPr>
          </a:p>
        </p:txBody>
      </p:sp>
      <p:sp>
        <p:nvSpPr>
          <p:cNvPr id="766" name="Google Shape;766;p84"/>
          <p:cNvSpPr txBox="1"/>
          <p:nvPr/>
        </p:nvSpPr>
        <p:spPr>
          <a:xfrm>
            <a:off x="567999" y="2135075"/>
            <a:ext cx="1969200" cy="8736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Negotiation message from the client</a:t>
            </a:r>
            <a:endParaRPr sz="1800">
              <a:solidFill>
                <a:schemeClr val="dk2"/>
              </a:solidFill>
              <a:latin typeface="Roboto"/>
              <a:ea typeface="Roboto"/>
              <a:cs typeface="Roboto"/>
              <a:sym typeface="Roboto"/>
            </a:endParaRPr>
          </a:p>
        </p:txBody>
      </p:sp>
      <p:sp>
        <p:nvSpPr>
          <p:cNvPr id="767" name="Google Shape;767;p84"/>
          <p:cNvSpPr txBox="1"/>
          <p:nvPr/>
        </p:nvSpPr>
        <p:spPr>
          <a:xfrm>
            <a:off x="3295193" y="2135074"/>
            <a:ext cx="2371500" cy="883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Challenge message from the server</a:t>
            </a:r>
            <a:endParaRPr sz="1800">
              <a:solidFill>
                <a:schemeClr val="dk2"/>
              </a:solidFill>
              <a:latin typeface="Roboto"/>
              <a:ea typeface="Roboto"/>
              <a:cs typeface="Roboto"/>
              <a:sym typeface="Roboto"/>
            </a:endParaRPr>
          </a:p>
        </p:txBody>
      </p:sp>
      <p:sp>
        <p:nvSpPr>
          <p:cNvPr id="768" name="Google Shape;768;p84"/>
          <p:cNvSpPr txBox="1"/>
          <p:nvPr/>
        </p:nvSpPr>
        <p:spPr>
          <a:xfrm>
            <a:off x="6227487" y="2135074"/>
            <a:ext cx="2371500" cy="883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Authentication message from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the client</a:t>
            </a:r>
            <a:endParaRPr sz="1800">
              <a:solidFill>
                <a:schemeClr val="dk2"/>
              </a:solidFill>
              <a:latin typeface="Roboto"/>
              <a:ea typeface="Roboto"/>
              <a:cs typeface="Roboto"/>
              <a:sym typeface="Roboto"/>
            </a:endParaRPr>
          </a:p>
        </p:txBody>
      </p:sp>
      <p:sp>
        <p:nvSpPr>
          <p:cNvPr id="769" name="Google Shape;769;p84"/>
          <p:cNvSpPr txBox="1"/>
          <p:nvPr>
            <p:ph idx="4294967295" type="title"/>
          </p:nvPr>
        </p:nvSpPr>
        <p:spPr>
          <a:xfrm>
            <a:off x="444446" y="677617"/>
            <a:ext cx="8053200" cy="3612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1200"/>
              </a:spcAft>
              <a:buClr>
                <a:schemeClr val="dk1"/>
              </a:buClr>
              <a:buSzPts val="275"/>
              <a:buFont typeface="Arial"/>
              <a:buNone/>
            </a:pPr>
            <a:r>
              <a:rPr b="0" lang="en" sz="1800"/>
              <a:t>Windows New Technology LAN Manager (NTLM) is a “challenge-response” protocol and uses a three-step method:</a:t>
            </a:r>
            <a:endParaRPr b="0"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85"/>
          <p:cNvSpPr txBox="1"/>
          <p:nvPr/>
        </p:nvSpPr>
        <p:spPr>
          <a:xfrm>
            <a:off x="352569" y="6006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dk2"/>
                </a:solidFill>
                <a:latin typeface="Roboto"/>
                <a:ea typeface="Roboto"/>
                <a:cs typeface="Roboto"/>
                <a:sym typeface="Roboto"/>
              </a:rPr>
              <a:t>NTLM Authentication</a:t>
            </a:r>
            <a:endParaRPr>
              <a:solidFill>
                <a:schemeClr val="dk2"/>
              </a:solidFill>
              <a:latin typeface="Roboto"/>
              <a:ea typeface="Roboto"/>
              <a:cs typeface="Roboto"/>
              <a:sym typeface="Roboto"/>
            </a:endParaRPr>
          </a:p>
        </p:txBody>
      </p:sp>
      <p:sp>
        <p:nvSpPr>
          <p:cNvPr id="775" name="Google Shape;775;p85"/>
          <p:cNvSpPr/>
          <p:nvPr/>
        </p:nvSpPr>
        <p:spPr>
          <a:xfrm>
            <a:off x="-12300" y="2910150"/>
            <a:ext cx="9178800" cy="2233200"/>
          </a:xfrm>
          <a:prstGeom prst="rect">
            <a:avLst/>
          </a:prstGeom>
          <a:solidFill>
            <a:srgbClr val="F2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776" name="Google Shape;776;p85"/>
          <p:cNvGraphicFramePr/>
          <p:nvPr/>
        </p:nvGraphicFramePr>
        <p:xfrm>
          <a:off x="4733475" y="679300"/>
          <a:ext cx="3000000" cy="3000000"/>
        </p:xfrm>
        <a:graphic>
          <a:graphicData uri="http://schemas.openxmlformats.org/drawingml/2006/table">
            <a:tbl>
              <a:tblPr>
                <a:noFill/>
                <a:tableStyleId>{F6913C7F-31B9-4ADE-BA88-58018638AE0A}</a:tableStyleId>
              </a:tblPr>
              <a:tblGrid>
                <a:gridCol w="583600"/>
                <a:gridCol w="3465250"/>
              </a:tblGrid>
              <a:tr h="491950">
                <a:tc>
                  <a:txBody>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In response, the client sends the challenge encrypted by the hash of the user’s password.</a:t>
                      </a:r>
                      <a:endParaRPr sz="1100">
                        <a:solidFill>
                          <a:schemeClr val="dk2"/>
                        </a:solidFill>
                        <a:latin typeface="Roboto"/>
                        <a:ea typeface="Roboto"/>
                        <a:cs typeface="Roboto"/>
                        <a:sym typeface="Roboto"/>
                      </a:endParaRPr>
                    </a:p>
                  </a:txBody>
                  <a:tcPr marT="18275" marB="182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r>
              <a:tr h="491950">
                <a:tc>
                  <a:txBody>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The server then sends the challenge, response, and username to the DC.</a:t>
                      </a:r>
                      <a:endParaRPr sz="1100">
                        <a:solidFill>
                          <a:schemeClr val="dk2"/>
                        </a:solidFill>
                        <a:latin typeface="Roboto"/>
                        <a:ea typeface="Roboto"/>
                        <a:cs typeface="Roboto"/>
                        <a:sym typeface="Roboto"/>
                      </a:endParaRPr>
                    </a:p>
                  </a:txBody>
                  <a:tcPr marT="18275" marB="182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91950">
                <a:tc>
                  <a:txBody>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The DC retrieves the user’s password from the database and uses it to encrypt the challenge.</a:t>
                      </a:r>
                      <a:endParaRPr sz="1100">
                        <a:solidFill>
                          <a:schemeClr val="dk2"/>
                        </a:solidFill>
                        <a:latin typeface="Roboto"/>
                        <a:ea typeface="Roboto"/>
                        <a:cs typeface="Roboto"/>
                        <a:sym typeface="Roboto"/>
                      </a:endParaRPr>
                    </a:p>
                  </a:txBody>
                  <a:tcPr marT="18275" marB="182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91950">
                <a:tc>
                  <a:txBody>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2"/>
                          </a:solidFill>
                          <a:latin typeface="Roboto"/>
                          <a:ea typeface="Roboto"/>
                          <a:cs typeface="Roboto"/>
                          <a:sym typeface="Roboto"/>
                        </a:rPr>
                        <a:t>The DC then compares the encrypted challenge and client response. If these two pieces match, then the user is authenticated and access is granted.</a:t>
                      </a:r>
                      <a:endParaRPr sz="1100">
                        <a:solidFill>
                          <a:schemeClr val="dk2"/>
                        </a:solidFill>
                        <a:latin typeface="Roboto"/>
                        <a:ea typeface="Roboto"/>
                        <a:cs typeface="Roboto"/>
                        <a:sym typeface="Roboto"/>
                      </a:endParaRPr>
                    </a:p>
                  </a:txBody>
                  <a:tcPr marT="18275" marB="182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r>
            </a:tbl>
          </a:graphicData>
        </a:graphic>
      </p:graphicFrame>
      <p:graphicFrame>
        <p:nvGraphicFramePr>
          <p:cNvPr id="777" name="Google Shape;777;p85"/>
          <p:cNvGraphicFramePr/>
          <p:nvPr/>
        </p:nvGraphicFramePr>
        <p:xfrm>
          <a:off x="429325" y="679300"/>
          <a:ext cx="3000000" cy="3000000"/>
        </p:xfrm>
        <a:graphic>
          <a:graphicData uri="http://schemas.openxmlformats.org/drawingml/2006/table">
            <a:tbl>
              <a:tblPr>
                <a:noFill/>
                <a:tableStyleId>{F6913C7F-31B9-4ADE-BA88-58018638AE0A}</a:tableStyleId>
              </a:tblPr>
              <a:tblGrid>
                <a:gridCol w="583600"/>
                <a:gridCol w="3298325"/>
              </a:tblGrid>
              <a:tr h="491950">
                <a:tc>
                  <a:txBody>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2"/>
                          </a:solidFill>
                          <a:latin typeface="Roboto"/>
                          <a:ea typeface="Roboto"/>
                          <a:cs typeface="Roboto"/>
                          <a:sym typeface="Roboto"/>
                        </a:rPr>
                        <a:t>The user shares their username, password, and domain name with the client.</a:t>
                      </a:r>
                      <a:endParaRPr sz="1200">
                        <a:solidFill>
                          <a:schemeClr val="dk2"/>
                        </a:solidFill>
                        <a:latin typeface="Roboto"/>
                        <a:ea typeface="Roboto"/>
                        <a:cs typeface="Roboto"/>
                        <a:sym typeface="Roboto"/>
                      </a:endParaRPr>
                    </a:p>
                  </a:txBody>
                  <a:tcPr marT="18275" marB="182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r>
              <a:tr h="491950">
                <a:tc>
                  <a:txBody>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2"/>
                          </a:solidFill>
                          <a:latin typeface="Roboto"/>
                          <a:ea typeface="Roboto"/>
                          <a:cs typeface="Roboto"/>
                          <a:sym typeface="Roboto"/>
                        </a:rPr>
                        <a:t>The client develops a scrambled version of the password—a hash—and deletes the full password.</a:t>
                      </a:r>
                      <a:endParaRPr sz="1200">
                        <a:solidFill>
                          <a:schemeClr val="dk2"/>
                        </a:solidFill>
                        <a:latin typeface="Roboto"/>
                        <a:ea typeface="Roboto"/>
                        <a:cs typeface="Roboto"/>
                        <a:sym typeface="Roboto"/>
                      </a:endParaRPr>
                    </a:p>
                  </a:txBody>
                  <a:tcPr marT="18275" marB="182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91950">
                <a:tc>
                  <a:txBody>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2"/>
                          </a:solidFill>
                          <a:latin typeface="Roboto"/>
                          <a:ea typeface="Roboto"/>
                          <a:cs typeface="Roboto"/>
                          <a:sym typeface="Roboto"/>
                        </a:rPr>
                        <a:t>The client passes a plain-text version of the username to the relevant server.</a:t>
                      </a:r>
                      <a:endParaRPr sz="1200">
                        <a:solidFill>
                          <a:schemeClr val="dk2"/>
                        </a:solidFill>
                        <a:latin typeface="Roboto"/>
                        <a:ea typeface="Roboto"/>
                        <a:cs typeface="Roboto"/>
                        <a:sym typeface="Roboto"/>
                      </a:endParaRPr>
                    </a:p>
                  </a:txBody>
                  <a:tcPr marT="18275" marB="182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91950">
                <a:tc>
                  <a:txBody>
                    <a:bodyPr/>
                    <a:lstStyle/>
                    <a:p>
                      <a:pPr indent="0" lvl="0" marL="0" rtl="0" algn="l">
                        <a:spcBef>
                          <a:spcPts val="0"/>
                        </a:spcBef>
                        <a:spcAft>
                          <a:spcPts val="0"/>
                        </a:spcAft>
                        <a:buNone/>
                      </a:pPr>
                      <a:r>
                        <a:t/>
                      </a:r>
                      <a:endParaRPr>
                        <a:solidFill>
                          <a:schemeClr val="dk2"/>
                        </a:solidFill>
                        <a:latin typeface="Roboto"/>
                        <a:ea typeface="Roboto"/>
                        <a:cs typeface="Roboto"/>
                        <a:sym typeface="Roboto"/>
                      </a:endParaRPr>
                    </a:p>
                  </a:txBody>
                  <a:tcPr marT="91425" marB="91425" marR="91425" marL="91425">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2"/>
                          </a:solidFill>
                          <a:latin typeface="Roboto"/>
                          <a:ea typeface="Roboto"/>
                          <a:cs typeface="Roboto"/>
                          <a:sym typeface="Roboto"/>
                        </a:rPr>
                        <a:t>The server replies to the client with a challenge, which is a 16-byte random number.</a:t>
                      </a:r>
                      <a:endParaRPr sz="1200">
                        <a:solidFill>
                          <a:schemeClr val="dk2"/>
                        </a:solidFill>
                        <a:latin typeface="Roboto"/>
                        <a:ea typeface="Roboto"/>
                        <a:cs typeface="Roboto"/>
                        <a:sym typeface="Roboto"/>
                      </a:endParaRPr>
                    </a:p>
                  </a:txBody>
                  <a:tcPr marT="18275" marB="18275" marR="91425" marL="91425" anchor="ctr">
                    <a:lnL cap="flat" cmpd="sng" w="9525">
                      <a:solidFill>
                        <a:schemeClr val="dk2">
                          <a:alpha val="0"/>
                        </a:scheme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r>
            </a:tbl>
          </a:graphicData>
        </a:graphic>
      </p:graphicFrame>
      <p:sp>
        <p:nvSpPr>
          <p:cNvPr id="778" name="Google Shape;778;p85"/>
          <p:cNvSpPr/>
          <p:nvPr/>
        </p:nvSpPr>
        <p:spPr>
          <a:xfrm rot="2339">
            <a:off x="499495" y="1263250"/>
            <a:ext cx="441000" cy="287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Roboto Medium"/>
                <a:ea typeface="Roboto Medium"/>
                <a:cs typeface="Roboto Medium"/>
                <a:sym typeface="Roboto Medium"/>
              </a:rPr>
              <a:t>2</a:t>
            </a:r>
            <a:endParaRPr sz="1600">
              <a:solidFill>
                <a:schemeClr val="accent5"/>
              </a:solidFill>
              <a:latin typeface="Roboto Medium"/>
              <a:ea typeface="Roboto Medium"/>
              <a:cs typeface="Roboto Medium"/>
              <a:sym typeface="Roboto Medium"/>
            </a:endParaRPr>
          </a:p>
        </p:txBody>
      </p:sp>
      <p:sp>
        <p:nvSpPr>
          <p:cNvPr id="779" name="Google Shape;779;p85"/>
          <p:cNvSpPr/>
          <p:nvPr/>
        </p:nvSpPr>
        <p:spPr>
          <a:xfrm rot="2339">
            <a:off x="499495" y="1836163"/>
            <a:ext cx="441000" cy="287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Roboto Medium"/>
                <a:ea typeface="Roboto Medium"/>
                <a:cs typeface="Roboto Medium"/>
                <a:sym typeface="Roboto Medium"/>
              </a:rPr>
              <a:t>3</a:t>
            </a:r>
            <a:endParaRPr sz="1600">
              <a:solidFill>
                <a:schemeClr val="accent5"/>
              </a:solidFill>
              <a:latin typeface="Roboto Medium"/>
              <a:ea typeface="Roboto Medium"/>
              <a:cs typeface="Roboto Medium"/>
              <a:sym typeface="Roboto Medium"/>
            </a:endParaRPr>
          </a:p>
        </p:txBody>
      </p:sp>
      <p:sp>
        <p:nvSpPr>
          <p:cNvPr id="780" name="Google Shape;780;p85"/>
          <p:cNvSpPr/>
          <p:nvPr/>
        </p:nvSpPr>
        <p:spPr>
          <a:xfrm rot="2339">
            <a:off x="499495" y="2332900"/>
            <a:ext cx="441000" cy="287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Roboto Medium"/>
                <a:ea typeface="Roboto Medium"/>
                <a:cs typeface="Roboto Medium"/>
                <a:sym typeface="Roboto Medium"/>
              </a:rPr>
              <a:t>4</a:t>
            </a:r>
            <a:endParaRPr sz="1600">
              <a:solidFill>
                <a:schemeClr val="dk2"/>
              </a:solidFill>
              <a:latin typeface="Roboto Medium"/>
              <a:ea typeface="Roboto Medium"/>
              <a:cs typeface="Roboto Medium"/>
              <a:sym typeface="Roboto Medium"/>
            </a:endParaRPr>
          </a:p>
        </p:txBody>
      </p:sp>
      <p:sp>
        <p:nvSpPr>
          <p:cNvPr id="781" name="Google Shape;781;p85"/>
          <p:cNvSpPr/>
          <p:nvPr/>
        </p:nvSpPr>
        <p:spPr>
          <a:xfrm rot="2339">
            <a:off x="4803645" y="766525"/>
            <a:ext cx="441000" cy="287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Roboto Medium"/>
                <a:ea typeface="Roboto Medium"/>
                <a:cs typeface="Roboto Medium"/>
                <a:sym typeface="Roboto Medium"/>
              </a:rPr>
              <a:t>5</a:t>
            </a:r>
            <a:endParaRPr sz="1600">
              <a:solidFill>
                <a:schemeClr val="accent5"/>
              </a:solidFill>
              <a:latin typeface="Roboto Medium"/>
              <a:ea typeface="Roboto Medium"/>
              <a:cs typeface="Roboto Medium"/>
              <a:sym typeface="Roboto Medium"/>
            </a:endParaRPr>
          </a:p>
        </p:txBody>
      </p:sp>
      <p:sp>
        <p:nvSpPr>
          <p:cNvPr id="782" name="Google Shape;782;p85"/>
          <p:cNvSpPr/>
          <p:nvPr/>
        </p:nvSpPr>
        <p:spPr>
          <a:xfrm rot="2339">
            <a:off x="499495" y="766525"/>
            <a:ext cx="441000" cy="287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Roboto Medium"/>
                <a:ea typeface="Roboto Medium"/>
                <a:cs typeface="Roboto Medium"/>
                <a:sym typeface="Roboto Medium"/>
              </a:rPr>
              <a:t>1</a:t>
            </a:r>
            <a:endParaRPr sz="1600">
              <a:solidFill>
                <a:schemeClr val="accent5"/>
              </a:solidFill>
              <a:latin typeface="Roboto Medium"/>
              <a:ea typeface="Roboto Medium"/>
              <a:cs typeface="Roboto Medium"/>
              <a:sym typeface="Roboto Medium"/>
            </a:endParaRPr>
          </a:p>
        </p:txBody>
      </p:sp>
      <p:sp>
        <p:nvSpPr>
          <p:cNvPr id="783" name="Google Shape;783;p85"/>
          <p:cNvSpPr/>
          <p:nvPr/>
        </p:nvSpPr>
        <p:spPr>
          <a:xfrm rot="2339">
            <a:off x="4803645" y="1263250"/>
            <a:ext cx="441000" cy="287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Roboto Medium"/>
                <a:ea typeface="Roboto Medium"/>
                <a:cs typeface="Roboto Medium"/>
                <a:sym typeface="Roboto Medium"/>
              </a:rPr>
              <a:t>6</a:t>
            </a:r>
            <a:endParaRPr sz="1600">
              <a:solidFill>
                <a:schemeClr val="accent5"/>
              </a:solidFill>
              <a:latin typeface="Roboto Medium"/>
              <a:ea typeface="Roboto Medium"/>
              <a:cs typeface="Roboto Medium"/>
              <a:sym typeface="Roboto Medium"/>
            </a:endParaRPr>
          </a:p>
        </p:txBody>
      </p:sp>
      <p:sp>
        <p:nvSpPr>
          <p:cNvPr id="784" name="Google Shape;784;p85"/>
          <p:cNvSpPr/>
          <p:nvPr/>
        </p:nvSpPr>
        <p:spPr>
          <a:xfrm rot="2339">
            <a:off x="4803645" y="1759963"/>
            <a:ext cx="441000" cy="287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Roboto Medium"/>
                <a:ea typeface="Roboto Medium"/>
                <a:cs typeface="Roboto Medium"/>
                <a:sym typeface="Roboto Medium"/>
              </a:rPr>
              <a:t>7</a:t>
            </a:r>
            <a:endParaRPr sz="1600">
              <a:solidFill>
                <a:schemeClr val="dk2"/>
              </a:solidFill>
              <a:latin typeface="Roboto Medium"/>
              <a:ea typeface="Roboto Medium"/>
              <a:cs typeface="Roboto Medium"/>
              <a:sym typeface="Roboto Medium"/>
            </a:endParaRPr>
          </a:p>
        </p:txBody>
      </p:sp>
      <p:sp>
        <p:nvSpPr>
          <p:cNvPr id="785" name="Google Shape;785;p85"/>
          <p:cNvSpPr/>
          <p:nvPr/>
        </p:nvSpPr>
        <p:spPr>
          <a:xfrm rot="2339">
            <a:off x="4803645" y="2256700"/>
            <a:ext cx="441000" cy="287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Roboto Medium"/>
                <a:ea typeface="Roboto Medium"/>
                <a:cs typeface="Roboto Medium"/>
                <a:sym typeface="Roboto Medium"/>
              </a:rPr>
              <a:t>8</a:t>
            </a:r>
            <a:endParaRPr sz="1600">
              <a:solidFill>
                <a:schemeClr val="dk2"/>
              </a:solidFill>
              <a:latin typeface="Roboto Medium"/>
              <a:ea typeface="Roboto Medium"/>
              <a:cs typeface="Roboto Medium"/>
              <a:sym typeface="Roboto Medium"/>
            </a:endParaRPr>
          </a:p>
        </p:txBody>
      </p:sp>
      <p:cxnSp>
        <p:nvCxnSpPr>
          <p:cNvPr id="786" name="Google Shape;786;p85"/>
          <p:cNvCxnSpPr/>
          <p:nvPr/>
        </p:nvCxnSpPr>
        <p:spPr>
          <a:xfrm>
            <a:off x="2033875" y="3417075"/>
            <a:ext cx="5233500" cy="0"/>
          </a:xfrm>
          <a:prstGeom prst="straightConnector1">
            <a:avLst/>
          </a:prstGeom>
          <a:noFill/>
          <a:ln cap="flat" cmpd="sng" w="9525">
            <a:solidFill>
              <a:schemeClr val="dk2"/>
            </a:solidFill>
            <a:prstDash val="solid"/>
            <a:round/>
            <a:headEnd len="med" w="med" type="none"/>
            <a:tailEnd len="med" w="med" type="triangle"/>
          </a:ln>
        </p:spPr>
      </p:cxnSp>
      <p:pic>
        <p:nvPicPr>
          <p:cNvPr id="787" name="Google Shape;787;p85"/>
          <p:cNvPicPr preferRelativeResize="0"/>
          <p:nvPr/>
        </p:nvPicPr>
        <p:blipFill>
          <a:blip r:embed="rId3">
            <a:alphaModFix/>
          </a:blip>
          <a:stretch>
            <a:fillRect/>
          </a:stretch>
        </p:blipFill>
        <p:spPr>
          <a:xfrm>
            <a:off x="985862" y="3143253"/>
            <a:ext cx="1048025" cy="1676850"/>
          </a:xfrm>
          <a:prstGeom prst="rect">
            <a:avLst/>
          </a:prstGeom>
          <a:noFill/>
          <a:ln>
            <a:noFill/>
          </a:ln>
        </p:spPr>
      </p:pic>
      <p:sp>
        <p:nvSpPr>
          <p:cNvPr id="788" name="Google Shape;788;p85"/>
          <p:cNvSpPr/>
          <p:nvPr/>
        </p:nvSpPr>
        <p:spPr>
          <a:xfrm rot="2339">
            <a:off x="3409582" y="3273219"/>
            <a:ext cx="441000" cy="287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Roboto Medium"/>
                <a:ea typeface="Roboto Medium"/>
                <a:cs typeface="Roboto Medium"/>
                <a:sym typeface="Roboto Medium"/>
              </a:rPr>
              <a:t>3</a:t>
            </a:r>
            <a:endParaRPr sz="1600">
              <a:solidFill>
                <a:schemeClr val="accent5"/>
              </a:solidFill>
              <a:latin typeface="Roboto Medium"/>
              <a:ea typeface="Roboto Medium"/>
              <a:cs typeface="Roboto Medium"/>
              <a:sym typeface="Roboto Medium"/>
            </a:endParaRPr>
          </a:p>
        </p:txBody>
      </p:sp>
      <p:cxnSp>
        <p:nvCxnSpPr>
          <p:cNvPr id="789" name="Google Shape;789;p85"/>
          <p:cNvCxnSpPr/>
          <p:nvPr/>
        </p:nvCxnSpPr>
        <p:spPr>
          <a:xfrm>
            <a:off x="2033875" y="3764217"/>
            <a:ext cx="5225100" cy="0"/>
          </a:xfrm>
          <a:prstGeom prst="straightConnector1">
            <a:avLst/>
          </a:prstGeom>
          <a:noFill/>
          <a:ln cap="flat" cmpd="sng" w="9525">
            <a:solidFill>
              <a:schemeClr val="dk2"/>
            </a:solidFill>
            <a:prstDash val="solid"/>
            <a:round/>
            <a:headEnd len="med" w="med" type="triangle"/>
            <a:tailEnd len="med" w="med" type="none"/>
          </a:ln>
        </p:spPr>
      </p:cxnSp>
      <p:sp>
        <p:nvSpPr>
          <p:cNvPr id="790" name="Google Shape;790;p85"/>
          <p:cNvSpPr/>
          <p:nvPr/>
        </p:nvSpPr>
        <p:spPr>
          <a:xfrm>
            <a:off x="3990980" y="3613163"/>
            <a:ext cx="441000" cy="287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Roboto Medium"/>
                <a:ea typeface="Roboto Medium"/>
                <a:cs typeface="Roboto Medium"/>
                <a:sym typeface="Roboto Medium"/>
              </a:rPr>
              <a:t>4</a:t>
            </a:r>
            <a:endParaRPr sz="1600">
              <a:solidFill>
                <a:schemeClr val="dk2"/>
              </a:solidFill>
              <a:latin typeface="Roboto Medium"/>
              <a:ea typeface="Roboto Medium"/>
              <a:cs typeface="Roboto Medium"/>
              <a:sym typeface="Roboto Medium"/>
            </a:endParaRPr>
          </a:p>
        </p:txBody>
      </p:sp>
      <p:cxnSp>
        <p:nvCxnSpPr>
          <p:cNvPr id="791" name="Google Shape;791;p85"/>
          <p:cNvCxnSpPr/>
          <p:nvPr/>
        </p:nvCxnSpPr>
        <p:spPr>
          <a:xfrm flipH="1" rot="10800000">
            <a:off x="2033875" y="4111358"/>
            <a:ext cx="5250300" cy="18000"/>
          </a:xfrm>
          <a:prstGeom prst="straightConnector1">
            <a:avLst/>
          </a:prstGeom>
          <a:noFill/>
          <a:ln cap="flat" cmpd="sng" w="9525">
            <a:solidFill>
              <a:schemeClr val="dk2"/>
            </a:solidFill>
            <a:prstDash val="solid"/>
            <a:round/>
            <a:headEnd len="med" w="med" type="none"/>
            <a:tailEnd len="med" w="med" type="triangle"/>
          </a:ln>
        </p:spPr>
      </p:cxnSp>
      <p:sp>
        <p:nvSpPr>
          <p:cNvPr id="792" name="Google Shape;792;p85"/>
          <p:cNvSpPr/>
          <p:nvPr/>
        </p:nvSpPr>
        <p:spPr>
          <a:xfrm>
            <a:off x="4635007" y="3976850"/>
            <a:ext cx="441000" cy="287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Roboto Medium"/>
                <a:ea typeface="Roboto Medium"/>
                <a:cs typeface="Roboto Medium"/>
                <a:sym typeface="Roboto Medium"/>
              </a:rPr>
              <a:t>5</a:t>
            </a:r>
            <a:endParaRPr sz="1600">
              <a:solidFill>
                <a:schemeClr val="accent5"/>
              </a:solidFill>
              <a:latin typeface="Roboto Medium"/>
              <a:ea typeface="Roboto Medium"/>
              <a:cs typeface="Roboto Medium"/>
              <a:sym typeface="Roboto Medium"/>
            </a:endParaRPr>
          </a:p>
        </p:txBody>
      </p:sp>
      <p:cxnSp>
        <p:nvCxnSpPr>
          <p:cNvPr id="793" name="Google Shape;793;p85"/>
          <p:cNvCxnSpPr/>
          <p:nvPr/>
        </p:nvCxnSpPr>
        <p:spPr>
          <a:xfrm>
            <a:off x="2033875" y="4476500"/>
            <a:ext cx="5226300" cy="0"/>
          </a:xfrm>
          <a:prstGeom prst="straightConnector1">
            <a:avLst/>
          </a:prstGeom>
          <a:noFill/>
          <a:ln cap="flat" cmpd="sng" w="9525">
            <a:solidFill>
              <a:schemeClr val="dk2"/>
            </a:solidFill>
            <a:prstDash val="solid"/>
            <a:round/>
            <a:headEnd len="med" w="med" type="triangle"/>
            <a:tailEnd len="med" w="med" type="none"/>
          </a:ln>
        </p:spPr>
      </p:cxnSp>
      <p:sp>
        <p:nvSpPr>
          <p:cNvPr id="794" name="Google Shape;794;p85"/>
          <p:cNvSpPr/>
          <p:nvPr/>
        </p:nvSpPr>
        <p:spPr>
          <a:xfrm rot="1568">
            <a:off x="384513" y="4264313"/>
            <a:ext cx="657900" cy="2358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latin typeface="Roboto"/>
                <a:ea typeface="Roboto"/>
                <a:cs typeface="Roboto"/>
                <a:sym typeface="Roboto"/>
              </a:rPr>
              <a:t>Client</a:t>
            </a:r>
            <a:endParaRPr b="1" sz="1200">
              <a:solidFill>
                <a:srgbClr val="FFFFFF"/>
              </a:solidFill>
              <a:latin typeface="Roboto"/>
              <a:ea typeface="Roboto"/>
              <a:cs typeface="Roboto"/>
              <a:sym typeface="Roboto"/>
            </a:endParaRPr>
          </a:p>
        </p:txBody>
      </p:sp>
      <p:pic>
        <p:nvPicPr>
          <p:cNvPr id="795" name="Google Shape;795;p85"/>
          <p:cNvPicPr preferRelativeResize="0"/>
          <p:nvPr/>
        </p:nvPicPr>
        <p:blipFill rotWithShape="1">
          <a:blip r:embed="rId4">
            <a:alphaModFix/>
          </a:blip>
          <a:srcRect b="0" l="7095" r="7104" t="0"/>
          <a:stretch/>
        </p:blipFill>
        <p:spPr>
          <a:xfrm>
            <a:off x="7308889" y="3043412"/>
            <a:ext cx="938176" cy="1966676"/>
          </a:xfrm>
          <a:prstGeom prst="rect">
            <a:avLst/>
          </a:prstGeom>
          <a:noFill/>
          <a:ln>
            <a:noFill/>
          </a:ln>
        </p:spPr>
      </p:pic>
      <p:sp>
        <p:nvSpPr>
          <p:cNvPr id="796" name="Google Shape;796;p85"/>
          <p:cNvSpPr/>
          <p:nvPr/>
        </p:nvSpPr>
        <p:spPr>
          <a:xfrm rot="1568">
            <a:off x="8288588" y="3230538"/>
            <a:ext cx="657900" cy="2358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latin typeface="Roboto"/>
                <a:ea typeface="Roboto"/>
                <a:cs typeface="Roboto"/>
                <a:sym typeface="Roboto"/>
              </a:rPr>
              <a:t>Server</a:t>
            </a:r>
            <a:endParaRPr b="1" sz="1200">
              <a:solidFill>
                <a:srgbClr val="FFFFFF"/>
              </a:solidFill>
              <a:latin typeface="Roboto"/>
              <a:ea typeface="Roboto"/>
              <a:cs typeface="Roboto"/>
              <a:sym typeface="Roboto"/>
            </a:endParaRPr>
          </a:p>
        </p:txBody>
      </p:sp>
      <p:sp>
        <p:nvSpPr>
          <p:cNvPr id="797" name="Google Shape;797;p85"/>
          <p:cNvSpPr/>
          <p:nvPr/>
        </p:nvSpPr>
        <p:spPr>
          <a:xfrm rot="2339">
            <a:off x="2815257" y="3273219"/>
            <a:ext cx="441000" cy="287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Roboto Medium"/>
                <a:ea typeface="Roboto Medium"/>
                <a:cs typeface="Roboto Medium"/>
                <a:sym typeface="Roboto Medium"/>
              </a:rPr>
              <a:t>2</a:t>
            </a:r>
            <a:endParaRPr sz="1600">
              <a:solidFill>
                <a:schemeClr val="accent5"/>
              </a:solidFill>
              <a:latin typeface="Roboto Medium"/>
              <a:ea typeface="Roboto Medium"/>
              <a:cs typeface="Roboto Medium"/>
              <a:sym typeface="Roboto Medium"/>
            </a:endParaRPr>
          </a:p>
        </p:txBody>
      </p:sp>
      <p:sp>
        <p:nvSpPr>
          <p:cNvPr id="798" name="Google Shape;798;p85"/>
          <p:cNvSpPr/>
          <p:nvPr/>
        </p:nvSpPr>
        <p:spPr>
          <a:xfrm rot="2339">
            <a:off x="2204070" y="3273219"/>
            <a:ext cx="441000" cy="287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Roboto Medium"/>
                <a:ea typeface="Roboto Medium"/>
                <a:cs typeface="Roboto Medium"/>
                <a:sym typeface="Roboto Medium"/>
              </a:rPr>
              <a:t>1</a:t>
            </a:r>
            <a:endParaRPr sz="1600">
              <a:solidFill>
                <a:schemeClr val="accent5"/>
              </a:solidFill>
              <a:latin typeface="Roboto Medium"/>
              <a:ea typeface="Roboto Medium"/>
              <a:cs typeface="Roboto Medium"/>
              <a:sym typeface="Roboto Medium"/>
            </a:endParaRPr>
          </a:p>
        </p:txBody>
      </p:sp>
      <p:sp>
        <p:nvSpPr>
          <p:cNvPr id="799" name="Google Shape;799;p85"/>
          <p:cNvSpPr/>
          <p:nvPr/>
        </p:nvSpPr>
        <p:spPr>
          <a:xfrm rot="2339">
            <a:off x="6474820" y="4332650"/>
            <a:ext cx="441000" cy="287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Roboto Medium"/>
                <a:ea typeface="Roboto Medium"/>
                <a:cs typeface="Roboto Medium"/>
                <a:sym typeface="Roboto Medium"/>
              </a:rPr>
              <a:t>7</a:t>
            </a:r>
            <a:endParaRPr sz="1600">
              <a:solidFill>
                <a:schemeClr val="dk2"/>
              </a:solidFill>
              <a:latin typeface="Roboto Medium"/>
              <a:ea typeface="Roboto Medium"/>
              <a:cs typeface="Roboto Medium"/>
              <a:sym typeface="Roboto Medium"/>
            </a:endParaRPr>
          </a:p>
        </p:txBody>
      </p:sp>
      <p:sp>
        <p:nvSpPr>
          <p:cNvPr id="800" name="Google Shape;800;p85"/>
          <p:cNvSpPr/>
          <p:nvPr/>
        </p:nvSpPr>
        <p:spPr>
          <a:xfrm rot="2339">
            <a:off x="5866370" y="4332650"/>
            <a:ext cx="441000" cy="287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2"/>
                </a:solidFill>
                <a:latin typeface="Roboto Medium"/>
                <a:ea typeface="Roboto Medium"/>
                <a:cs typeface="Roboto Medium"/>
                <a:sym typeface="Roboto Medium"/>
              </a:rPr>
              <a:t>8</a:t>
            </a:r>
            <a:endParaRPr sz="1600">
              <a:solidFill>
                <a:schemeClr val="dk2"/>
              </a:solidFill>
              <a:latin typeface="Roboto Medium"/>
              <a:ea typeface="Roboto Medium"/>
              <a:cs typeface="Roboto Medium"/>
              <a:sym typeface="Roboto Medium"/>
            </a:endParaRPr>
          </a:p>
        </p:txBody>
      </p:sp>
      <p:sp>
        <p:nvSpPr>
          <p:cNvPr id="801" name="Google Shape;801;p85"/>
          <p:cNvSpPr/>
          <p:nvPr/>
        </p:nvSpPr>
        <p:spPr>
          <a:xfrm rot="2339">
            <a:off x="5240882" y="3976331"/>
            <a:ext cx="441000" cy="2877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accent5"/>
                </a:solidFill>
                <a:latin typeface="Roboto Medium"/>
                <a:ea typeface="Roboto Medium"/>
                <a:cs typeface="Roboto Medium"/>
                <a:sym typeface="Roboto Medium"/>
              </a:rPr>
              <a:t>6</a:t>
            </a:r>
            <a:endParaRPr sz="1600">
              <a:solidFill>
                <a:schemeClr val="accent5"/>
              </a:solidFill>
              <a:latin typeface="Roboto Medium"/>
              <a:ea typeface="Roboto Medium"/>
              <a:cs typeface="Roboto Medium"/>
              <a:sym typeface="Roboto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05" name="Shape 805"/>
        <p:cNvGrpSpPr/>
        <p:nvPr/>
      </p:nvGrpSpPr>
      <p:grpSpPr>
        <a:xfrm>
          <a:off x="0" y="0"/>
          <a:ext cx="0" cy="0"/>
          <a:chOff x="0" y="0"/>
          <a:chExt cx="0" cy="0"/>
        </a:xfrm>
      </p:grpSpPr>
      <p:sp>
        <p:nvSpPr>
          <p:cNvPr id="806" name="Google Shape;806;p86"/>
          <p:cNvSpPr txBox="1"/>
          <p:nvPr/>
        </p:nvSpPr>
        <p:spPr>
          <a:xfrm>
            <a:off x="353582" y="1274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lt1"/>
                </a:solidFill>
                <a:latin typeface="Roboto"/>
                <a:ea typeface="Roboto"/>
                <a:cs typeface="Roboto"/>
                <a:sym typeface="Roboto"/>
              </a:rPr>
              <a:t>Kerberos Replacing NTLM</a:t>
            </a:r>
            <a:endParaRPr b="1" sz="2600">
              <a:solidFill>
                <a:schemeClr val="lt1"/>
              </a:solidFill>
              <a:latin typeface="Roboto"/>
              <a:ea typeface="Roboto"/>
              <a:cs typeface="Roboto"/>
              <a:sym typeface="Roboto"/>
            </a:endParaRPr>
          </a:p>
        </p:txBody>
      </p:sp>
      <p:pic>
        <p:nvPicPr>
          <p:cNvPr id="807" name="Google Shape;807;p86"/>
          <p:cNvPicPr preferRelativeResize="0"/>
          <p:nvPr/>
        </p:nvPicPr>
        <p:blipFill rotWithShape="1">
          <a:blip r:embed="rId3">
            <a:alphaModFix/>
          </a:blip>
          <a:srcRect b="-9029" l="-5603" r="4090" t="-6885"/>
          <a:stretch/>
        </p:blipFill>
        <p:spPr>
          <a:xfrm rot="-1079998">
            <a:off x="4856446" y="-315019"/>
            <a:ext cx="4627059" cy="3619091"/>
          </a:xfrm>
          <a:prstGeom prst="rect">
            <a:avLst/>
          </a:prstGeom>
          <a:noFill/>
          <a:ln>
            <a:noFill/>
          </a:ln>
          <a:effectLst>
            <a:outerShdw blurRad="57150" rotWithShape="0" algn="bl" dir="5400000" dist="19050">
              <a:srgbClr val="000000">
                <a:alpha val="36000"/>
              </a:srgbClr>
            </a:outerShdw>
          </a:effectLst>
        </p:spPr>
      </p:pic>
      <p:sp>
        <p:nvSpPr>
          <p:cNvPr id="808" name="Google Shape;808;p86"/>
          <p:cNvSpPr txBox="1"/>
          <p:nvPr/>
        </p:nvSpPr>
        <p:spPr>
          <a:xfrm>
            <a:off x="4061075" y="1790600"/>
            <a:ext cx="1312200" cy="30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Plain Text</a:t>
            </a:r>
            <a:endParaRPr b="1" sz="1800">
              <a:solidFill>
                <a:schemeClr val="lt1"/>
              </a:solidFill>
              <a:latin typeface="Roboto"/>
              <a:ea typeface="Roboto"/>
              <a:cs typeface="Roboto"/>
              <a:sym typeface="Roboto"/>
            </a:endParaRPr>
          </a:p>
        </p:txBody>
      </p:sp>
      <p:sp>
        <p:nvSpPr>
          <p:cNvPr id="809" name="Google Shape;809;p86"/>
          <p:cNvSpPr txBox="1"/>
          <p:nvPr/>
        </p:nvSpPr>
        <p:spPr>
          <a:xfrm>
            <a:off x="8112800" y="3218500"/>
            <a:ext cx="1143300" cy="53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oboto"/>
                <a:ea typeface="Roboto"/>
                <a:cs typeface="Roboto"/>
                <a:sym typeface="Roboto"/>
              </a:rPr>
              <a:t>Hash Function</a:t>
            </a:r>
            <a:endParaRPr b="1" sz="1800">
              <a:solidFill>
                <a:schemeClr val="lt1"/>
              </a:solidFill>
              <a:latin typeface="Roboto"/>
              <a:ea typeface="Roboto"/>
              <a:cs typeface="Roboto"/>
              <a:sym typeface="Roboto"/>
            </a:endParaRPr>
          </a:p>
        </p:txBody>
      </p:sp>
      <p:sp>
        <p:nvSpPr>
          <p:cNvPr id="810" name="Google Shape;810;p86"/>
          <p:cNvSpPr txBox="1"/>
          <p:nvPr/>
        </p:nvSpPr>
        <p:spPr>
          <a:xfrm>
            <a:off x="7115550" y="1790600"/>
            <a:ext cx="1312200" cy="30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Add Salt</a:t>
            </a:r>
            <a:endParaRPr b="1" sz="1800">
              <a:solidFill>
                <a:schemeClr val="lt1"/>
              </a:solidFill>
              <a:latin typeface="Roboto"/>
              <a:ea typeface="Roboto"/>
              <a:cs typeface="Roboto"/>
              <a:sym typeface="Roboto"/>
            </a:endParaRPr>
          </a:p>
        </p:txBody>
      </p:sp>
      <p:pic>
        <p:nvPicPr>
          <p:cNvPr id="811" name="Google Shape;811;p86"/>
          <p:cNvPicPr preferRelativeResize="0"/>
          <p:nvPr/>
        </p:nvPicPr>
        <p:blipFill rotWithShape="1">
          <a:blip r:embed="rId4">
            <a:alphaModFix/>
          </a:blip>
          <a:srcRect b="0" l="219" r="219" t="0"/>
          <a:stretch/>
        </p:blipFill>
        <p:spPr>
          <a:xfrm>
            <a:off x="7384800" y="3174513"/>
            <a:ext cx="773700" cy="621650"/>
          </a:xfrm>
          <a:prstGeom prst="rect">
            <a:avLst/>
          </a:prstGeom>
          <a:noFill/>
          <a:ln>
            <a:noFill/>
          </a:ln>
        </p:spPr>
      </p:pic>
      <p:sp>
        <p:nvSpPr>
          <p:cNvPr id="812" name="Google Shape;812;p86"/>
          <p:cNvSpPr/>
          <p:nvPr/>
        </p:nvSpPr>
        <p:spPr>
          <a:xfrm rot="5400000">
            <a:off x="7595850" y="2731621"/>
            <a:ext cx="351600" cy="307500"/>
          </a:xfrm>
          <a:prstGeom prst="rightArrow">
            <a:avLst>
              <a:gd fmla="val 50000"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86"/>
          <p:cNvSpPr txBox="1"/>
          <p:nvPr/>
        </p:nvSpPr>
        <p:spPr>
          <a:xfrm>
            <a:off x="7115550" y="2174300"/>
            <a:ext cx="1312200" cy="3507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27425" lIns="0" spcFirstLastPara="1" rIns="0" wrap="square" tIns="0">
            <a:noAutofit/>
          </a:bodyPr>
          <a:lstStyle/>
          <a:p>
            <a:pPr indent="0" lvl="0" marL="0" rtl="0" algn="ctr">
              <a:spcBef>
                <a:spcPts val="0"/>
              </a:spcBef>
              <a:spcAft>
                <a:spcPts val="0"/>
              </a:spcAft>
              <a:buNone/>
            </a:pPr>
            <a:r>
              <a:rPr lang="en" sz="2000">
                <a:solidFill>
                  <a:schemeClr val="dk2"/>
                </a:solidFill>
                <a:latin typeface="Inconsolata"/>
                <a:ea typeface="Inconsolata"/>
                <a:cs typeface="Inconsolata"/>
                <a:sym typeface="Inconsolata"/>
              </a:rPr>
              <a:t>hello3ab9</a:t>
            </a:r>
            <a:endParaRPr sz="2000">
              <a:solidFill>
                <a:schemeClr val="dk2"/>
              </a:solidFill>
              <a:latin typeface="Inconsolata"/>
              <a:ea typeface="Inconsolata"/>
              <a:cs typeface="Inconsolata"/>
              <a:sym typeface="Inconsolata"/>
            </a:endParaRPr>
          </a:p>
        </p:txBody>
      </p:sp>
      <p:sp>
        <p:nvSpPr>
          <p:cNvPr id="814" name="Google Shape;814;p86"/>
          <p:cNvSpPr txBox="1"/>
          <p:nvPr/>
        </p:nvSpPr>
        <p:spPr>
          <a:xfrm>
            <a:off x="4194425" y="2175200"/>
            <a:ext cx="931200" cy="3507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dk2"/>
                </a:solidFill>
                <a:latin typeface="Roboto"/>
                <a:ea typeface="Roboto"/>
                <a:cs typeface="Roboto"/>
                <a:sym typeface="Roboto"/>
              </a:rPr>
              <a:t>hello</a:t>
            </a:r>
            <a:endParaRPr sz="2000">
              <a:solidFill>
                <a:schemeClr val="dk2"/>
              </a:solidFill>
              <a:latin typeface="Roboto"/>
              <a:ea typeface="Roboto"/>
              <a:cs typeface="Roboto"/>
              <a:sym typeface="Roboto"/>
            </a:endParaRPr>
          </a:p>
        </p:txBody>
      </p:sp>
      <p:sp>
        <p:nvSpPr>
          <p:cNvPr id="815" name="Google Shape;815;p86"/>
          <p:cNvSpPr txBox="1"/>
          <p:nvPr/>
        </p:nvSpPr>
        <p:spPr>
          <a:xfrm>
            <a:off x="6604625" y="4269106"/>
            <a:ext cx="2348700" cy="53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Store Hash </a:t>
            </a:r>
            <a:br>
              <a:rPr b="1" lang="en" sz="1800">
                <a:solidFill>
                  <a:schemeClr val="lt1"/>
                </a:solidFill>
                <a:latin typeface="Roboto"/>
                <a:ea typeface="Roboto"/>
                <a:cs typeface="Roboto"/>
                <a:sym typeface="Roboto"/>
              </a:rPr>
            </a:br>
            <a:r>
              <a:rPr b="1" lang="en" sz="1800">
                <a:solidFill>
                  <a:schemeClr val="lt1"/>
                </a:solidFill>
                <a:latin typeface="Roboto"/>
                <a:ea typeface="Roboto"/>
                <a:cs typeface="Roboto"/>
                <a:sym typeface="Roboto"/>
              </a:rPr>
              <a:t>and Salt</a:t>
            </a:r>
            <a:endParaRPr b="1" sz="1800">
              <a:solidFill>
                <a:schemeClr val="lt1"/>
              </a:solidFill>
              <a:latin typeface="Roboto"/>
              <a:ea typeface="Roboto"/>
              <a:cs typeface="Roboto"/>
              <a:sym typeface="Roboto"/>
            </a:endParaRPr>
          </a:p>
        </p:txBody>
      </p:sp>
      <p:sp>
        <p:nvSpPr>
          <p:cNvPr id="816" name="Google Shape;816;p86"/>
          <p:cNvSpPr/>
          <p:nvPr/>
        </p:nvSpPr>
        <p:spPr>
          <a:xfrm rot="5400000">
            <a:off x="7595850" y="3997796"/>
            <a:ext cx="351600" cy="307500"/>
          </a:xfrm>
          <a:prstGeom prst="rightArrow">
            <a:avLst>
              <a:gd fmla="val 50000"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7" name="Google Shape;817;p86"/>
          <p:cNvGrpSpPr/>
          <p:nvPr/>
        </p:nvGrpSpPr>
        <p:grpSpPr>
          <a:xfrm>
            <a:off x="5748071" y="3357990"/>
            <a:ext cx="609111" cy="521199"/>
            <a:chOff x="5123296" y="2344590"/>
            <a:chExt cx="609111" cy="521199"/>
          </a:xfrm>
        </p:grpSpPr>
        <p:sp>
          <p:nvSpPr>
            <p:cNvPr id="818" name="Google Shape;818;p86"/>
            <p:cNvSpPr txBox="1"/>
            <p:nvPr/>
          </p:nvSpPr>
          <p:spPr>
            <a:xfrm rot="3002902">
              <a:off x="5193993" y="2504339"/>
              <a:ext cx="180801" cy="18080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Inconsolata"/>
                  <a:ea typeface="Inconsolata"/>
                  <a:cs typeface="Inconsolata"/>
                  <a:sym typeface="Inconsolata"/>
                </a:rPr>
                <a:t>a</a:t>
              </a:r>
              <a:endParaRPr>
                <a:solidFill>
                  <a:srgbClr val="FFFFFF"/>
                </a:solidFill>
                <a:latin typeface="Inconsolata"/>
                <a:ea typeface="Inconsolata"/>
                <a:cs typeface="Inconsolata"/>
                <a:sym typeface="Inconsolata"/>
              </a:endParaRPr>
            </a:p>
            <a:p>
              <a:pPr indent="0" lvl="0" marL="0" rtl="0" algn="l">
                <a:spcBef>
                  <a:spcPts val="0"/>
                </a:spcBef>
                <a:spcAft>
                  <a:spcPts val="0"/>
                </a:spcAft>
                <a:buNone/>
              </a:pPr>
              <a:r>
                <a:t/>
              </a:r>
              <a:endParaRPr>
                <a:solidFill>
                  <a:srgbClr val="FFFFFF"/>
                </a:solidFill>
                <a:latin typeface="Inconsolata"/>
                <a:ea typeface="Inconsolata"/>
                <a:cs typeface="Inconsolata"/>
                <a:sym typeface="Inconsolata"/>
              </a:endParaRPr>
            </a:p>
          </p:txBody>
        </p:sp>
        <p:sp>
          <p:nvSpPr>
            <p:cNvPr id="819" name="Google Shape;819;p86"/>
            <p:cNvSpPr txBox="1"/>
            <p:nvPr/>
          </p:nvSpPr>
          <p:spPr>
            <a:xfrm rot="3002182">
              <a:off x="5351193" y="2541100"/>
              <a:ext cx="292386" cy="18080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Inconsolata"/>
                  <a:ea typeface="Inconsolata"/>
                  <a:cs typeface="Inconsolata"/>
                  <a:sym typeface="Inconsolata"/>
                </a:rPr>
                <a:t>9</a:t>
              </a:r>
              <a:endParaRPr>
                <a:solidFill>
                  <a:srgbClr val="FFFFFF"/>
                </a:solidFill>
                <a:latin typeface="Inconsolata"/>
                <a:ea typeface="Inconsolata"/>
                <a:cs typeface="Inconsolata"/>
                <a:sym typeface="Inconsolata"/>
              </a:endParaRPr>
            </a:p>
          </p:txBody>
        </p:sp>
        <p:sp>
          <p:nvSpPr>
            <p:cNvPr id="820" name="Google Shape;820;p86"/>
            <p:cNvSpPr txBox="1"/>
            <p:nvPr/>
          </p:nvSpPr>
          <p:spPr>
            <a:xfrm rot="3002902">
              <a:off x="5514656" y="2381539"/>
              <a:ext cx="180801" cy="18080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Inconsolata"/>
                  <a:ea typeface="Inconsolata"/>
                  <a:cs typeface="Inconsolata"/>
                  <a:sym typeface="Inconsolata"/>
                </a:rPr>
                <a:t>3</a:t>
              </a:r>
              <a:endParaRPr>
                <a:solidFill>
                  <a:srgbClr val="FFFFFF"/>
                </a:solidFill>
                <a:latin typeface="Inconsolata"/>
                <a:ea typeface="Inconsolata"/>
                <a:cs typeface="Inconsolata"/>
                <a:sym typeface="Inconsolata"/>
              </a:endParaRPr>
            </a:p>
            <a:p>
              <a:pPr indent="0" lvl="0" marL="0" rtl="0" algn="l">
                <a:spcBef>
                  <a:spcPts val="0"/>
                </a:spcBef>
                <a:spcAft>
                  <a:spcPts val="0"/>
                </a:spcAft>
                <a:buNone/>
              </a:pPr>
              <a:r>
                <a:t/>
              </a:r>
              <a:endParaRPr>
                <a:solidFill>
                  <a:srgbClr val="FFFFFF"/>
                </a:solidFill>
                <a:latin typeface="Inconsolata"/>
                <a:ea typeface="Inconsolata"/>
                <a:cs typeface="Inconsolata"/>
                <a:sym typeface="Inconsolata"/>
              </a:endParaRPr>
            </a:p>
          </p:txBody>
        </p:sp>
        <p:sp>
          <p:nvSpPr>
            <p:cNvPr id="821" name="Google Shape;821;p86"/>
            <p:cNvSpPr txBox="1"/>
            <p:nvPr/>
          </p:nvSpPr>
          <p:spPr>
            <a:xfrm rot="-674446">
              <a:off x="5138191" y="2658239"/>
              <a:ext cx="292409" cy="180799"/>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Inconsolata"/>
                  <a:ea typeface="Inconsolata"/>
                  <a:cs typeface="Inconsolata"/>
                  <a:sym typeface="Inconsolata"/>
                </a:rPr>
                <a:t>b</a:t>
              </a:r>
              <a:endParaRPr>
                <a:solidFill>
                  <a:srgbClr val="FFFFFF"/>
                </a:solidFill>
                <a:latin typeface="Inconsolata"/>
                <a:ea typeface="Inconsolata"/>
                <a:cs typeface="Inconsolata"/>
                <a:sym typeface="Inconsolata"/>
              </a:endParaRPr>
            </a:p>
          </p:txBody>
        </p:sp>
      </p:grpSp>
      <p:sp>
        <p:nvSpPr>
          <p:cNvPr id="822" name="Google Shape;822;p86"/>
          <p:cNvSpPr txBox="1"/>
          <p:nvPr>
            <p:ph idx="4294967295" type="subTitle"/>
          </p:nvPr>
        </p:nvSpPr>
        <p:spPr>
          <a:xfrm>
            <a:off x="457200" y="902650"/>
            <a:ext cx="4719900" cy="621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solidFill>
                  <a:schemeClr val="lt1"/>
                </a:solidFill>
                <a:latin typeface="Roboto Medium"/>
                <a:ea typeface="Roboto Medium"/>
                <a:cs typeface="Roboto Medium"/>
                <a:sym typeface="Roboto Medium"/>
              </a:rPr>
              <a:t>NTLM was replaced by Kerberos in Windows 2000 and beyond due to several insecurities.</a:t>
            </a:r>
            <a:endParaRPr sz="1400">
              <a:solidFill>
                <a:schemeClr val="lt1"/>
              </a:solidFill>
              <a:latin typeface="Roboto Medium"/>
              <a:ea typeface="Roboto Medium"/>
              <a:cs typeface="Roboto Medium"/>
              <a:sym typeface="Roboto Medium"/>
            </a:endParaRPr>
          </a:p>
        </p:txBody>
      </p:sp>
      <p:sp>
        <p:nvSpPr>
          <p:cNvPr id="823" name="Google Shape;823;p86"/>
          <p:cNvSpPr/>
          <p:nvPr/>
        </p:nvSpPr>
        <p:spPr>
          <a:xfrm flipH="1" rot="10800000">
            <a:off x="6604625" y="2196809"/>
            <a:ext cx="351600" cy="307500"/>
          </a:xfrm>
          <a:prstGeom prst="rightArrow">
            <a:avLst>
              <a:gd fmla="val 50000"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86"/>
          <p:cNvSpPr/>
          <p:nvPr/>
        </p:nvSpPr>
        <p:spPr>
          <a:xfrm flipH="1" rot="10800000">
            <a:off x="5284950" y="2196809"/>
            <a:ext cx="351600" cy="307500"/>
          </a:xfrm>
          <a:prstGeom prst="rightArrow">
            <a:avLst>
              <a:gd fmla="val 50000" name="adj1"/>
              <a:gd fmla="val 5000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86"/>
          <p:cNvSpPr txBox="1"/>
          <p:nvPr>
            <p:ph idx="1" type="body"/>
          </p:nvPr>
        </p:nvSpPr>
        <p:spPr>
          <a:xfrm>
            <a:off x="457200" y="1659825"/>
            <a:ext cx="3461400" cy="1999500"/>
          </a:xfrm>
          <a:prstGeom prst="rect">
            <a:avLst/>
          </a:prstGeom>
        </p:spPr>
        <p:txBody>
          <a:bodyPr anchorCtr="0" anchor="t" bIns="91425" lIns="0" spcFirstLastPara="1" rIns="91425" wrap="square" tIns="0">
            <a:noAutofit/>
          </a:bodyPr>
          <a:lstStyle/>
          <a:p>
            <a:pPr indent="-205740" lvl="0" marL="320040" rtl="0" algn="l">
              <a:lnSpc>
                <a:spcPct val="115000"/>
              </a:lnSpc>
              <a:spcBef>
                <a:spcPts val="0"/>
              </a:spcBef>
              <a:spcAft>
                <a:spcPts val="1000"/>
              </a:spcAft>
              <a:buClr>
                <a:schemeClr val="lt1"/>
              </a:buClr>
              <a:buSzPts val="1800"/>
              <a:buFont typeface="Arial"/>
              <a:buChar char="●"/>
            </a:pPr>
            <a:r>
              <a:rPr lang="en">
                <a:solidFill>
                  <a:schemeClr val="lt1"/>
                </a:solidFill>
              </a:rPr>
              <a:t>NTLM password hashes were not salted, meaning that a random string of characters was not added to the hashed password to further protect it from cracking techniques.</a:t>
            </a:r>
            <a:endParaRPr>
              <a:solidFill>
                <a:schemeClr val="lt1"/>
              </a:solidFill>
            </a:endParaRPr>
          </a:p>
        </p:txBody>
      </p:sp>
      <p:sp>
        <p:nvSpPr>
          <p:cNvPr id="826" name="Google Shape;826;p86"/>
          <p:cNvSpPr txBox="1"/>
          <p:nvPr/>
        </p:nvSpPr>
        <p:spPr>
          <a:xfrm>
            <a:off x="457200" y="3749500"/>
            <a:ext cx="3603900" cy="1098900"/>
          </a:xfrm>
          <a:prstGeom prst="rect">
            <a:avLst/>
          </a:prstGeom>
          <a:noFill/>
          <a:ln>
            <a:noFill/>
          </a:ln>
        </p:spPr>
        <p:txBody>
          <a:bodyPr anchorCtr="0" anchor="t" bIns="91425" lIns="91425" spcFirstLastPara="1" rIns="91425" wrap="square" tIns="91425">
            <a:spAutoFit/>
          </a:bodyPr>
          <a:lstStyle/>
          <a:p>
            <a:pPr indent="-205740" lvl="0" marL="320040" rtl="0" algn="l">
              <a:lnSpc>
                <a:spcPct val="115000"/>
              </a:lnSpc>
              <a:spcBef>
                <a:spcPts val="0"/>
              </a:spcBef>
              <a:spcAft>
                <a:spcPts val="0"/>
              </a:spcAft>
              <a:buClr>
                <a:schemeClr val="lt1"/>
              </a:buClr>
              <a:buSzPts val="1800"/>
              <a:buChar char="●"/>
            </a:pPr>
            <a:r>
              <a:rPr lang="en" sz="1800">
                <a:solidFill>
                  <a:schemeClr val="lt1"/>
                </a:solidFill>
                <a:latin typeface="Roboto"/>
                <a:ea typeface="Roboto"/>
                <a:cs typeface="Roboto"/>
                <a:sym typeface="Roboto"/>
              </a:rPr>
              <a:t>This meant that NTLM passwords could easily </a:t>
            </a:r>
            <a:br>
              <a:rPr lang="en" sz="1800">
                <a:solidFill>
                  <a:schemeClr val="lt1"/>
                </a:solidFill>
                <a:latin typeface="Roboto"/>
                <a:ea typeface="Roboto"/>
                <a:cs typeface="Roboto"/>
                <a:sym typeface="Roboto"/>
              </a:rPr>
            </a:br>
            <a:r>
              <a:rPr lang="en" sz="1800">
                <a:solidFill>
                  <a:schemeClr val="lt1"/>
                </a:solidFill>
                <a:latin typeface="Roboto"/>
                <a:ea typeface="Roboto"/>
                <a:cs typeface="Roboto"/>
                <a:sym typeface="Roboto"/>
              </a:rPr>
              <a:t>be </a:t>
            </a:r>
            <a:r>
              <a:rPr lang="en" sz="1800">
                <a:solidFill>
                  <a:schemeClr val="lt1"/>
                </a:solidFill>
                <a:latin typeface="Roboto"/>
                <a:ea typeface="Roboto"/>
                <a:cs typeface="Roboto"/>
                <a:sym typeface="Roboto"/>
              </a:rPr>
              <a:t>brute-forced</a:t>
            </a:r>
            <a:r>
              <a:rPr lang="en" sz="1800">
                <a:solidFill>
                  <a:schemeClr val="lt1"/>
                </a:solidFill>
                <a:latin typeface="Roboto Medium"/>
                <a:ea typeface="Roboto Medium"/>
                <a:cs typeface="Roboto Medium"/>
                <a:sym typeface="Roboto Medium"/>
              </a:rPr>
              <a:t>. </a:t>
            </a:r>
            <a:endParaRPr sz="1800">
              <a:solidFill>
                <a:schemeClr val="lt1"/>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87"/>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lnSpc>
                <a:spcPct val="100000"/>
              </a:lnSpc>
              <a:spcBef>
                <a:spcPts val="0"/>
              </a:spcBef>
              <a:spcAft>
                <a:spcPts val="0"/>
              </a:spcAft>
              <a:buNone/>
            </a:pPr>
            <a:r>
              <a:rPr lang="en"/>
              <a:t>Kerberos differs from NTLM by using a </a:t>
            </a:r>
            <a:r>
              <a:rPr b="1" lang="en"/>
              <a:t>ticketing system</a:t>
            </a:r>
            <a:r>
              <a:rPr lang="en"/>
              <a:t> instead of a three-step method.</a:t>
            </a:r>
            <a:endParaRPr/>
          </a:p>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88"/>
          <p:cNvSpPr txBox="1"/>
          <p:nvPr/>
        </p:nvSpPr>
        <p:spPr>
          <a:xfrm>
            <a:off x="-6000" y="478650"/>
            <a:ext cx="9168600" cy="3231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sp>
        <p:nvSpPr>
          <p:cNvPr id="837" name="Google Shape;837;p88"/>
          <p:cNvSpPr txBox="1"/>
          <p:nvPr/>
        </p:nvSpPr>
        <p:spPr>
          <a:xfrm>
            <a:off x="345068" y="512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Kerberos vs. NTLM</a:t>
            </a:r>
            <a:endParaRPr sz="2600">
              <a:solidFill>
                <a:schemeClr val="dk2"/>
              </a:solidFill>
              <a:latin typeface="Roboto"/>
              <a:ea typeface="Roboto"/>
              <a:cs typeface="Roboto"/>
              <a:sym typeface="Roboto"/>
            </a:endParaRPr>
          </a:p>
        </p:txBody>
      </p:sp>
      <p:sp>
        <p:nvSpPr>
          <p:cNvPr id="838" name="Google Shape;838;p88"/>
          <p:cNvSpPr/>
          <p:nvPr/>
        </p:nvSpPr>
        <p:spPr>
          <a:xfrm>
            <a:off x="669325" y="3095000"/>
            <a:ext cx="8223300" cy="1584600"/>
          </a:xfrm>
          <a:prstGeom prst="roundRect">
            <a:avLst>
              <a:gd fmla="val 9515"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39" name="Google Shape;839;p88"/>
          <p:cNvSpPr/>
          <p:nvPr/>
        </p:nvSpPr>
        <p:spPr>
          <a:xfrm>
            <a:off x="399658" y="3612950"/>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rgbClr val="082D49"/>
                </a:solidFill>
              </a:rPr>
              <a:t>3</a:t>
            </a:r>
            <a:endParaRPr sz="1800">
              <a:solidFill>
                <a:srgbClr val="082D49"/>
              </a:solidFill>
            </a:endParaRPr>
          </a:p>
        </p:txBody>
      </p:sp>
      <p:sp>
        <p:nvSpPr>
          <p:cNvPr id="840" name="Google Shape;840;p88"/>
          <p:cNvSpPr/>
          <p:nvPr/>
        </p:nvSpPr>
        <p:spPr>
          <a:xfrm>
            <a:off x="669325" y="820050"/>
            <a:ext cx="8223300" cy="727200"/>
          </a:xfrm>
          <a:prstGeom prst="roundRect">
            <a:avLst>
              <a:gd fmla="val 20734"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41" name="Google Shape;841;p88"/>
          <p:cNvSpPr/>
          <p:nvPr/>
        </p:nvSpPr>
        <p:spPr>
          <a:xfrm>
            <a:off x="399658" y="909300"/>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rgbClr val="082D49"/>
                </a:solidFill>
              </a:rPr>
              <a:t>1</a:t>
            </a:r>
            <a:endParaRPr sz="1800">
              <a:solidFill>
                <a:srgbClr val="082D49"/>
              </a:solidFill>
            </a:endParaRPr>
          </a:p>
        </p:txBody>
      </p:sp>
      <p:sp>
        <p:nvSpPr>
          <p:cNvPr id="842" name="Google Shape;842;p88"/>
          <p:cNvSpPr/>
          <p:nvPr/>
        </p:nvSpPr>
        <p:spPr>
          <a:xfrm>
            <a:off x="669325" y="1809350"/>
            <a:ext cx="8223300" cy="9909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43" name="Google Shape;843;p88"/>
          <p:cNvSpPr/>
          <p:nvPr/>
        </p:nvSpPr>
        <p:spPr>
          <a:xfrm>
            <a:off x="399658" y="2030450"/>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rgbClr val="082D49"/>
                </a:solidFill>
              </a:rPr>
              <a:t>2</a:t>
            </a:r>
            <a:endParaRPr sz="1800">
              <a:solidFill>
                <a:srgbClr val="082D49"/>
              </a:solidFill>
            </a:endParaRPr>
          </a:p>
        </p:txBody>
      </p:sp>
      <p:sp>
        <p:nvSpPr>
          <p:cNvPr id="844" name="Google Shape;844;p88"/>
          <p:cNvSpPr txBox="1"/>
          <p:nvPr/>
        </p:nvSpPr>
        <p:spPr>
          <a:xfrm>
            <a:off x="1127375" y="3212450"/>
            <a:ext cx="7592400" cy="134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Light"/>
                <a:ea typeface="Roboto Light"/>
                <a:cs typeface="Roboto Light"/>
                <a:sym typeface="Roboto Light"/>
              </a:rPr>
              <a:t>T</a:t>
            </a:r>
            <a:r>
              <a:rPr lang="en" sz="1800">
                <a:solidFill>
                  <a:schemeClr val="dk2"/>
                </a:solidFill>
                <a:latin typeface="Roboto"/>
                <a:ea typeface="Roboto"/>
                <a:cs typeface="Roboto"/>
                <a:sym typeface="Roboto"/>
              </a:rPr>
              <a:t>he DC, also known as the </a:t>
            </a:r>
            <a:r>
              <a:rPr b="1" lang="en" sz="1800">
                <a:solidFill>
                  <a:schemeClr val="dk2"/>
                </a:solidFill>
                <a:latin typeface="Roboto"/>
                <a:ea typeface="Roboto"/>
                <a:cs typeface="Roboto"/>
                <a:sym typeface="Roboto"/>
              </a:rPr>
              <a:t>key distribution center (KDC)</a:t>
            </a:r>
            <a:r>
              <a:rPr lang="en" sz="1800">
                <a:solidFill>
                  <a:schemeClr val="dk2"/>
                </a:solidFill>
                <a:latin typeface="Roboto"/>
                <a:ea typeface="Roboto"/>
                <a:cs typeface="Roboto"/>
                <a:sym typeface="Roboto"/>
              </a:rPr>
              <a:t>, receives the user's request and checks the username. It looks up the user’s password hash and attempts to decrypt the message using the password hash.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If it successfully decrypts the message, it knows the user supplied the correct password.</a:t>
            </a:r>
            <a:endParaRPr sz="1800">
              <a:solidFill>
                <a:schemeClr val="dk2"/>
              </a:solidFill>
              <a:latin typeface="Roboto"/>
              <a:ea typeface="Roboto"/>
              <a:cs typeface="Roboto"/>
              <a:sym typeface="Roboto"/>
            </a:endParaRPr>
          </a:p>
        </p:txBody>
      </p:sp>
      <p:sp>
        <p:nvSpPr>
          <p:cNvPr id="845" name="Google Shape;845;p88"/>
          <p:cNvSpPr txBox="1"/>
          <p:nvPr/>
        </p:nvSpPr>
        <p:spPr>
          <a:xfrm>
            <a:off x="1127375" y="940500"/>
            <a:ext cx="7592400" cy="48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The user sends a message to the DC with the ID of the user, the ID of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the requested service, and the client net address (IP).</a:t>
            </a:r>
            <a:endParaRPr sz="1800">
              <a:solidFill>
                <a:schemeClr val="dk2"/>
              </a:solidFill>
              <a:latin typeface="Roboto"/>
              <a:ea typeface="Roboto"/>
              <a:cs typeface="Roboto"/>
              <a:sym typeface="Roboto"/>
            </a:endParaRPr>
          </a:p>
        </p:txBody>
      </p:sp>
      <p:sp>
        <p:nvSpPr>
          <p:cNvPr id="846" name="Google Shape;846;p88"/>
          <p:cNvSpPr txBox="1"/>
          <p:nvPr/>
        </p:nvSpPr>
        <p:spPr>
          <a:xfrm>
            <a:off x="1127375" y="1895150"/>
            <a:ext cx="7592400" cy="8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This message is encrypted with the password hash of the user and a timestamp. The message is sent in the form of an</a:t>
            </a:r>
            <a:r>
              <a:rPr lang="en" sz="1800">
                <a:solidFill>
                  <a:schemeClr val="dk2"/>
                </a:solidFill>
                <a:latin typeface="Roboto Light"/>
                <a:ea typeface="Roboto Light"/>
                <a:cs typeface="Roboto Light"/>
                <a:sym typeface="Roboto Light"/>
              </a:rPr>
              <a:t> </a:t>
            </a:r>
            <a:r>
              <a:rPr b="1" lang="en" sz="1800">
                <a:solidFill>
                  <a:schemeClr val="dk2"/>
                </a:solidFill>
                <a:latin typeface="Roboto"/>
                <a:ea typeface="Roboto"/>
                <a:cs typeface="Roboto"/>
                <a:sym typeface="Roboto"/>
              </a:rPr>
              <a:t>AS-REQ (authentication service request)</a:t>
            </a:r>
            <a:r>
              <a:rPr lang="en" sz="1800">
                <a:solidFill>
                  <a:schemeClr val="dk2"/>
                </a:solidFill>
                <a:latin typeface="Roboto Light"/>
                <a:ea typeface="Roboto Light"/>
                <a:cs typeface="Roboto Light"/>
                <a:sym typeface="Roboto Light"/>
              </a:rPr>
              <a:t>.</a:t>
            </a:r>
            <a:endParaRPr sz="1800">
              <a:solidFill>
                <a:schemeClr val="dk2"/>
              </a:solidFill>
              <a:latin typeface="Roboto Light"/>
              <a:ea typeface="Roboto Light"/>
              <a:cs typeface="Roboto Light"/>
              <a:sym typeface="Robot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89"/>
          <p:cNvSpPr/>
          <p:nvPr/>
        </p:nvSpPr>
        <p:spPr>
          <a:xfrm>
            <a:off x="669325" y="820050"/>
            <a:ext cx="8223300" cy="727200"/>
          </a:xfrm>
          <a:prstGeom prst="roundRect">
            <a:avLst>
              <a:gd fmla="val 20734"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52" name="Google Shape;852;p89"/>
          <p:cNvSpPr txBox="1"/>
          <p:nvPr/>
        </p:nvSpPr>
        <p:spPr>
          <a:xfrm>
            <a:off x="70200" y="402450"/>
            <a:ext cx="9168600" cy="3231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sp>
        <p:nvSpPr>
          <p:cNvPr id="853" name="Google Shape;853;p89"/>
          <p:cNvSpPr txBox="1"/>
          <p:nvPr/>
        </p:nvSpPr>
        <p:spPr>
          <a:xfrm>
            <a:off x="345068" y="512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Kerberos vs. NTLM</a:t>
            </a:r>
            <a:endParaRPr sz="2600">
              <a:solidFill>
                <a:schemeClr val="dk2"/>
              </a:solidFill>
              <a:latin typeface="Roboto"/>
              <a:ea typeface="Roboto"/>
              <a:cs typeface="Roboto"/>
              <a:sym typeface="Roboto"/>
            </a:endParaRPr>
          </a:p>
        </p:txBody>
      </p:sp>
      <p:sp>
        <p:nvSpPr>
          <p:cNvPr id="854" name="Google Shape;854;p89"/>
          <p:cNvSpPr/>
          <p:nvPr/>
        </p:nvSpPr>
        <p:spPr>
          <a:xfrm>
            <a:off x="399658" y="909300"/>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rgbClr val="082D49"/>
                </a:solidFill>
              </a:rPr>
              <a:t>4</a:t>
            </a:r>
            <a:endParaRPr sz="1800">
              <a:solidFill>
                <a:srgbClr val="082D49"/>
              </a:solidFill>
            </a:endParaRPr>
          </a:p>
        </p:txBody>
      </p:sp>
      <p:sp>
        <p:nvSpPr>
          <p:cNvPr id="855" name="Google Shape;855;p89"/>
          <p:cNvSpPr/>
          <p:nvPr/>
        </p:nvSpPr>
        <p:spPr>
          <a:xfrm>
            <a:off x="669325" y="1809350"/>
            <a:ext cx="8223300" cy="486300"/>
          </a:xfrm>
          <a:prstGeom prst="roundRect">
            <a:avLst>
              <a:gd fmla="val 2301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856" name="Google Shape;856;p89"/>
          <p:cNvSpPr/>
          <p:nvPr/>
        </p:nvSpPr>
        <p:spPr>
          <a:xfrm>
            <a:off x="399658" y="1780161"/>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rgbClr val="082D49"/>
                </a:solidFill>
              </a:rPr>
              <a:t>5</a:t>
            </a:r>
            <a:endParaRPr sz="1800">
              <a:solidFill>
                <a:srgbClr val="082D49"/>
              </a:solidFill>
            </a:endParaRPr>
          </a:p>
        </p:txBody>
      </p:sp>
      <p:sp>
        <p:nvSpPr>
          <p:cNvPr id="857" name="Google Shape;857;p89"/>
          <p:cNvSpPr txBox="1"/>
          <p:nvPr/>
        </p:nvSpPr>
        <p:spPr>
          <a:xfrm>
            <a:off x="1127375" y="940500"/>
            <a:ext cx="7592400" cy="48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The DC then responds to the message with a</a:t>
            </a:r>
            <a:r>
              <a:rPr lang="en" sz="1800">
                <a:solidFill>
                  <a:schemeClr val="dk2"/>
                </a:solidFill>
                <a:latin typeface="Roboto Light"/>
                <a:ea typeface="Roboto Light"/>
                <a:cs typeface="Roboto Light"/>
                <a:sym typeface="Roboto Light"/>
              </a:rPr>
              <a:t> </a:t>
            </a:r>
            <a:r>
              <a:rPr b="1" lang="en" sz="1800">
                <a:solidFill>
                  <a:schemeClr val="dk2"/>
                </a:solidFill>
                <a:latin typeface="Roboto"/>
                <a:ea typeface="Roboto"/>
                <a:cs typeface="Roboto"/>
                <a:sym typeface="Roboto"/>
              </a:rPr>
              <a:t>Ticket Granting Ticket (TGT)</a:t>
            </a:r>
            <a:r>
              <a:rPr lang="en" sz="1800">
                <a:solidFill>
                  <a:schemeClr val="dk2"/>
                </a:solidFill>
                <a:latin typeface="Roboto Light"/>
                <a:ea typeface="Roboto Light"/>
                <a:cs typeface="Roboto Light"/>
                <a:sym typeface="Roboto Light"/>
              </a:rPr>
              <a:t>. </a:t>
            </a:r>
            <a:r>
              <a:rPr lang="en" sz="1800">
                <a:solidFill>
                  <a:schemeClr val="dk2"/>
                </a:solidFill>
                <a:latin typeface="Roboto"/>
                <a:ea typeface="Roboto"/>
                <a:cs typeface="Roboto"/>
                <a:sym typeface="Roboto"/>
              </a:rPr>
              <a:t>This TGT is proof that the user is who they say they are.</a:t>
            </a:r>
            <a:endParaRPr sz="1800">
              <a:solidFill>
                <a:schemeClr val="dk2"/>
              </a:solidFill>
              <a:latin typeface="Roboto"/>
              <a:ea typeface="Roboto"/>
              <a:cs typeface="Roboto"/>
              <a:sym typeface="Roboto"/>
            </a:endParaRPr>
          </a:p>
        </p:txBody>
      </p:sp>
      <p:sp>
        <p:nvSpPr>
          <p:cNvPr id="858" name="Google Shape;858;p89"/>
          <p:cNvSpPr txBox="1"/>
          <p:nvPr/>
        </p:nvSpPr>
        <p:spPr>
          <a:xfrm>
            <a:off x="1127375" y="1895150"/>
            <a:ext cx="7592400" cy="32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This response is called the</a:t>
            </a:r>
            <a:r>
              <a:rPr lang="en" sz="1800">
                <a:solidFill>
                  <a:schemeClr val="dk2"/>
                </a:solidFill>
                <a:latin typeface="Roboto Light"/>
                <a:ea typeface="Roboto Light"/>
                <a:cs typeface="Roboto Light"/>
                <a:sym typeface="Roboto Light"/>
              </a:rPr>
              <a:t> </a:t>
            </a:r>
            <a:r>
              <a:rPr b="1" lang="en" sz="1800">
                <a:solidFill>
                  <a:schemeClr val="dk2"/>
                </a:solidFill>
                <a:latin typeface="Roboto"/>
                <a:ea typeface="Roboto"/>
                <a:cs typeface="Roboto"/>
                <a:sym typeface="Roboto"/>
              </a:rPr>
              <a:t>AS-REP (authentication service reply)</a:t>
            </a:r>
            <a:r>
              <a:rPr lang="en" sz="1800">
                <a:solidFill>
                  <a:schemeClr val="dk2"/>
                </a:solidFill>
                <a:latin typeface="Roboto Light"/>
                <a:ea typeface="Roboto Light"/>
                <a:cs typeface="Roboto Light"/>
                <a:sym typeface="Roboto Light"/>
              </a:rPr>
              <a:t>.</a:t>
            </a:r>
            <a:endParaRPr sz="1800">
              <a:solidFill>
                <a:schemeClr val="dk2"/>
              </a:solidFill>
              <a:latin typeface="Roboto Light"/>
              <a:ea typeface="Roboto Light"/>
              <a:cs typeface="Roboto Light"/>
              <a:sym typeface="Roboto Light"/>
            </a:endParaRPr>
          </a:p>
          <a:p>
            <a:pPr indent="0" lvl="0" marL="0" rtl="0" algn="l">
              <a:spcBef>
                <a:spcPts val="0"/>
              </a:spcBef>
              <a:spcAft>
                <a:spcPts val="0"/>
              </a:spcAft>
              <a:buNone/>
            </a:pPr>
            <a:r>
              <a:rPr lang="en" sz="1800">
                <a:solidFill>
                  <a:schemeClr val="dk2"/>
                </a:solidFill>
                <a:latin typeface="Roboto Light"/>
                <a:ea typeface="Roboto Light"/>
                <a:cs typeface="Roboto Light"/>
                <a:sym typeface="Roboto Light"/>
              </a:rPr>
              <a:t>.</a:t>
            </a:r>
            <a:endParaRPr sz="1800">
              <a:solidFill>
                <a:schemeClr val="dk2"/>
              </a:solidFill>
              <a:latin typeface="Roboto Light"/>
              <a:ea typeface="Roboto Light"/>
              <a:cs typeface="Roboto Light"/>
              <a:sym typeface="Robot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90"/>
          <p:cNvSpPr txBox="1"/>
          <p:nvPr/>
        </p:nvSpPr>
        <p:spPr>
          <a:xfrm>
            <a:off x="-6000" y="478650"/>
            <a:ext cx="9168600" cy="3231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sp>
        <p:nvSpPr>
          <p:cNvPr id="864" name="Google Shape;864;p90"/>
          <p:cNvSpPr txBox="1"/>
          <p:nvPr/>
        </p:nvSpPr>
        <p:spPr>
          <a:xfrm>
            <a:off x="355406" y="56081"/>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Authenticating to the Domain in Kerberos</a:t>
            </a:r>
            <a:endParaRPr b="1" sz="2600">
              <a:solidFill>
                <a:schemeClr val="dk2"/>
              </a:solidFill>
              <a:latin typeface="Roboto"/>
              <a:ea typeface="Roboto"/>
              <a:cs typeface="Roboto"/>
              <a:sym typeface="Roboto"/>
            </a:endParaRPr>
          </a:p>
        </p:txBody>
      </p:sp>
      <p:pic>
        <p:nvPicPr>
          <p:cNvPr id="865" name="Google Shape;865;p90"/>
          <p:cNvPicPr preferRelativeResize="0"/>
          <p:nvPr/>
        </p:nvPicPr>
        <p:blipFill rotWithShape="1">
          <a:blip r:embed="rId3">
            <a:alphaModFix/>
          </a:blip>
          <a:srcRect b="8765" l="0" r="51763" t="23758"/>
          <a:stretch/>
        </p:blipFill>
        <p:spPr>
          <a:xfrm>
            <a:off x="1915851" y="1977868"/>
            <a:ext cx="1388875" cy="1041350"/>
          </a:xfrm>
          <a:prstGeom prst="rect">
            <a:avLst/>
          </a:prstGeom>
          <a:noFill/>
          <a:ln>
            <a:noFill/>
          </a:ln>
        </p:spPr>
      </p:pic>
      <p:sp>
        <p:nvSpPr>
          <p:cNvPr id="866" name="Google Shape;866;p90"/>
          <p:cNvSpPr/>
          <p:nvPr/>
        </p:nvSpPr>
        <p:spPr>
          <a:xfrm>
            <a:off x="372750" y="936650"/>
            <a:ext cx="4407900" cy="1041300"/>
          </a:xfrm>
          <a:prstGeom prst="wedgeRoundRectCallout">
            <a:avLst>
              <a:gd fmla="val -7658" name="adj1"/>
              <a:gd fmla="val 72424" name="adj2"/>
              <a:gd fmla="val 0" name="adj3"/>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 want to log in. Can you send me a TGT? I’m sending a request encrypted with my password hash and timestamp.</a:t>
            </a:r>
            <a:endParaRPr sz="1800">
              <a:solidFill>
                <a:schemeClr val="dk2"/>
              </a:solidFill>
              <a:latin typeface="Roboto"/>
              <a:ea typeface="Roboto"/>
              <a:cs typeface="Roboto"/>
              <a:sym typeface="Roboto"/>
            </a:endParaRPr>
          </a:p>
        </p:txBody>
      </p:sp>
      <p:pic>
        <p:nvPicPr>
          <p:cNvPr id="867" name="Google Shape;867;p90"/>
          <p:cNvPicPr preferRelativeResize="0"/>
          <p:nvPr/>
        </p:nvPicPr>
        <p:blipFill rotWithShape="1">
          <a:blip r:embed="rId3">
            <a:alphaModFix/>
          </a:blip>
          <a:srcRect b="8765" l="0" r="51763" t="23758"/>
          <a:stretch/>
        </p:blipFill>
        <p:spPr>
          <a:xfrm>
            <a:off x="1915851" y="3612849"/>
            <a:ext cx="1388875" cy="1041350"/>
          </a:xfrm>
          <a:prstGeom prst="rect">
            <a:avLst/>
          </a:prstGeom>
          <a:noFill/>
          <a:ln>
            <a:noFill/>
          </a:ln>
        </p:spPr>
      </p:pic>
      <p:sp>
        <p:nvSpPr>
          <p:cNvPr id="868" name="Google Shape;868;p90"/>
          <p:cNvSpPr/>
          <p:nvPr/>
        </p:nvSpPr>
        <p:spPr>
          <a:xfrm>
            <a:off x="1596125" y="3183125"/>
            <a:ext cx="1147200" cy="406800"/>
          </a:xfrm>
          <a:prstGeom prst="wedgeRoundRectCallout">
            <a:avLst>
              <a:gd fmla="val -3743" name="adj1"/>
              <a:gd fmla="val 96177" name="adj2"/>
              <a:gd fmla="val 0" name="adj3"/>
            </a:avLst>
          </a:prstGeom>
          <a:solidFill>
            <a:schemeClr val="accent4"/>
          </a:solidFill>
          <a:ln>
            <a:noFill/>
          </a:ln>
        </p:spPr>
        <p:txBody>
          <a:bodyPr anchorCtr="0" anchor="ctr" bIns="91425" lIns="91425" spcFirstLastPara="1" rIns="91425" wrap="square" tIns="64000">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Thanks!</a:t>
            </a:r>
            <a:endParaRPr sz="1800">
              <a:solidFill>
                <a:schemeClr val="dk2"/>
              </a:solidFill>
              <a:latin typeface="Roboto"/>
              <a:ea typeface="Roboto"/>
              <a:cs typeface="Roboto"/>
              <a:sym typeface="Roboto"/>
            </a:endParaRPr>
          </a:p>
        </p:txBody>
      </p:sp>
      <p:sp>
        <p:nvSpPr>
          <p:cNvPr id="869" name="Google Shape;869;p90"/>
          <p:cNvSpPr/>
          <p:nvPr/>
        </p:nvSpPr>
        <p:spPr>
          <a:xfrm rot="1882">
            <a:off x="520275" y="2334012"/>
            <a:ext cx="1644300" cy="3291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Workstation</a:t>
            </a:r>
            <a:endParaRPr b="1" sz="1800">
              <a:solidFill>
                <a:srgbClr val="FFFFFF"/>
              </a:solidFill>
              <a:latin typeface="Roboto"/>
              <a:ea typeface="Roboto"/>
              <a:cs typeface="Roboto"/>
              <a:sym typeface="Roboto"/>
            </a:endParaRPr>
          </a:p>
        </p:txBody>
      </p:sp>
      <p:pic>
        <p:nvPicPr>
          <p:cNvPr id="870" name="Google Shape;870;p90"/>
          <p:cNvPicPr preferRelativeResize="0"/>
          <p:nvPr/>
        </p:nvPicPr>
        <p:blipFill rotWithShape="1">
          <a:blip r:embed="rId3">
            <a:alphaModFix/>
          </a:blip>
          <a:srcRect b="8763" l="77499" r="-729" t="1533"/>
          <a:stretch/>
        </p:blipFill>
        <p:spPr>
          <a:xfrm>
            <a:off x="4712263" y="714700"/>
            <a:ext cx="977225" cy="2022600"/>
          </a:xfrm>
          <a:prstGeom prst="rect">
            <a:avLst/>
          </a:prstGeom>
          <a:noFill/>
          <a:ln>
            <a:noFill/>
          </a:ln>
        </p:spPr>
      </p:pic>
      <p:grpSp>
        <p:nvGrpSpPr>
          <p:cNvPr id="871" name="Google Shape;871;p90"/>
          <p:cNvGrpSpPr/>
          <p:nvPr/>
        </p:nvGrpSpPr>
        <p:grpSpPr>
          <a:xfrm>
            <a:off x="5399837" y="1228926"/>
            <a:ext cx="564330" cy="564330"/>
            <a:chOff x="7189842" y="3080279"/>
            <a:chExt cx="716700" cy="716700"/>
          </a:xfrm>
        </p:grpSpPr>
        <p:sp>
          <p:nvSpPr>
            <p:cNvPr id="872" name="Google Shape;872;p90"/>
            <p:cNvSpPr/>
            <p:nvPr/>
          </p:nvSpPr>
          <p:spPr>
            <a:xfrm>
              <a:off x="7189842" y="3080279"/>
              <a:ext cx="716700" cy="716700"/>
            </a:xfrm>
            <a:prstGeom prst="ellipse">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3" name="Google Shape;873;p90"/>
            <p:cNvPicPr preferRelativeResize="0"/>
            <p:nvPr/>
          </p:nvPicPr>
          <p:blipFill rotWithShape="1">
            <a:blip r:embed="rId4">
              <a:alphaModFix/>
            </a:blip>
            <a:srcRect b="-12050" l="-12050" r="-12050" t="-12050"/>
            <a:stretch/>
          </p:blipFill>
          <p:spPr>
            <a:xfrm>
              <a:off x="7292700" y="3192438"/>
              <a:ext cx="510850" cy="492274"/>
            </a:xfrm>
            <a:prstGeom prst="rect">
              <a:avLst/>
            </a:prstGeom>
            <a:noFill/>
            <a:ln>
              <a:noFill/>
            </a:ln>
          </p:spPr>
        </p:pic>
      </p:grpSp>
      <p:sp>
        <p:nvSpPr>
          <p:cNvPr id="874" name="Google Shape;874;p90"/>
          <p:cNvSpPr/>
          <p:nvPr/>
        </p:nvSpPr>
        <p:spPr>
          <a:xfrm rot="1864">
            <a:off x="5425800" y="2289824"/>
            <a:ext cx="1106700" cy="3291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KDC</a:t>
            </a:r>
            <a:endParaRPr b="1" sz="1800">
              <a:solidFill>
                <a:srgbClr val="FFFFFF"/>
              </a:solidFill>
              <a:latin typeface="Roboto"/>
              <a:ea typeface="Roboto"/>
              <a:cs typeface="Roboto"/>
              <a:sym typeface="Roboto"/>
            </a:endParaRPr>
          </a:p>
        </p:txBody>
      </p:sp>
      <p:sp>
        <p:nvSpPr>
          <p:cNvPr id="875" name="Google Shape;875;p90"/>
          <p:cNvSpPr/>
          <p:nvPr/>
        </p:nvSpPr>
        <p:spPr>
          <a:xfrm>
            <a:off x="5985950" y="808775"/>
            <a:ext cx="2881800" cy="1242300"/>
          </a:xfrm>
          <a:prstGeom prst="wedgeRoundRectCallout">
            <a:avLst>
              <a:gd fmla="val -44435" name="adj1"/>
              <a:gd fmla="val 63692" name="adj2"/>
              <a:gd fmla="val 0" name="adj3"/>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accent5"/>
                </a:solidFill>
                <a:latin typeface="Roboto"/>
                <a:ea typeface="Roboto"/>
                <a:cs typeface="Roboto"/>
                <a:sym typeface="Roboto"/>
              </a:rPr>
              <a:t>Yep, if your password hash matches what’s in my database, I’ll encrypt and verify the request.</a:t>
            </a:r>
            <a:endParaRPr sz="1800">
              <a:solidFill>
                <a:schemeClr val="accent5"/>
              </a:solidFill>
              <a:latin typeface="Roboto"/>
              <a:ea typeface="Roboto"/>
              <a:cs typeface="Roboto"/>
              <a:sym typeface="Roboto"/>
            </a:endParaRPr>
          </a:p>
        </p:txBody>
      </p:sp>
      <p:pic>
        <p:nvPicPr>
          <p:cNvPr id="876" name="Google Shape;876;p90"/>
          <p:cNvPicPr preferRelativeResize="0"/>
          <p:nvPr/>
        </p:nvPicPr>
        <p:blipFill rotWithShape="1">
          <a:blip r:embed="rId3">
            <a:alphaModFix/>
          </a:blip>
          <a:srcRect b="8763" l="77499" r="-729" t="1533"/>
          <a:stretch/>
        </p:blipFill>
        <p:spPr>
          <a:xfrm>
            <a:off x="4712263" y="2848300"/>
            <a:ext cx="977225" cy="2022600"/>
          </a:xfrm>
          <a:prstGeom prst="rect">
            <a:avLst/>
          </a:prstGeom>
          <a:noFill/>
          <a:ln>
            <a:noFill/>
          </a:ln>
        </p:spPr>
      </p:pic>
      <p:grpSp>
        <p:nvGrpSpPr>
          <p:cNvPr id="877" name="Google Shape;877;p90"/>
          <p:cNvGrpSpPr/>
          <p:nvPr/>
        </p:nvGrpSpPr>
        <p:grpSpPr>
          <a:xfrm>
            <a:off x="5399837" y="3362526"/>
            <a:ext cx="564330" cy="564330"/>
            <a:chOff x="7189842" y="3080279"/>
            <a:chExt cx="716700" cy="716700"/>
          </a:xfrm>
        </p:grpSpPr>
        <p:sp>
          <p:nvSpPr>
            <p:cNvPr id="878" name="Google Shape;878;p90"/>
            <p:cNvSpPr/>
            <p:nvPr/>
          </p:nvSpPr>
          <p:spPr>
            <a:xfrm>
              <a:off x="7189842" y="3080279"/>
              <a:ext cx="716700" cy="716700"/>
            </a:xfrm>
            <a:prstGeom prst="ellipse">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9" name="Google Shape;879;p90"/>
            <p:cNvPicPr preferRelativeResize="0"/>
            <p:nvPr/>
          </p:nvPicPr>
          <p:blipFill rotWithShape="1">
            <a:blip r:embed="rId4">
              <a:alphaModFix/>
            </a:blip>
            <a:srcRect b="-12050" l="-12050" r="-12050" t="-12050"/>
            <a:stretch/>
          </p:blipFill>
          <p:spPr>
            <a:xfrm>
              <a:off x="7292700" y="3192438"/>
              <a:ext cx="510850" cy="492274"/>
            </a:xfrm>
            <a:prstGeom prst="rect">
              <a:avLst/>
            </a:prstGeom>
            <a:noFill/>
            <a:ln>
              <a:noFill/>
            </a:ln>
          </p:spPr>
        </p:pic>
      </p:grpSp>
      <p:sp>
        <p:nvSpPr>
          <p:cNvPr id="880" name="Google Shape;880;p90"/>
          <p:cNvSpPr/>
          <p:nvPr/>
        </p:nvSpPr>
        <p:spPr>
          <a:xfrm>
            <a:off x="6183550" y="3121900"/>
            <a:ext cx="1882200" cy="623700"/>
          </a:xfrm>
          <a:prstGeom prst="wedgeRoundRectCallout">
            <a:avLst>
              <a:gd fmla="val -53110" name="adj1"/>
              <a:gd fmla="val 96822" name="adj2"/>
              <a:gd fmla="val 0" name="adj3"/>
            </a:avLst>
          </a:prstGeom>
          <a:solidFill>
            <a:schemeClr val="accent1"/>
          </a:solidFill>
          <a:ln>
            <a:noFill/>
          </a:ln>
        </p:spPr>
        <p:txBody>
          <a:bodyPr anchorCtr="0" anchor="ctr" bIns="91425" lIns="91425" spcFirstLastPara="1" rIns="91425" wrap="square" tIns="45700">
            <a:noAutofit/>
          </a:bodyPr>
          <a:lstStyle/>
          <a:p>
            <a:pPr indent="0" lvl="0" marL="0" rtl="0" algn="l">
              <a:spcBef>
                <a:spcPts val="0"/>
              </a:spcBef>
              <a:spcAft>
                <a:spcPts val="0"/>
              </a:spcAft>
              <a:buNone/>
            </a:pPr>
            <a:r>
              <a:rPr lang="en" sz="1800">
                <a:solidFill>
                  <a:schemeClr val="accent5"/>
                </a:solidFill>
                <a:latin typeface="Roboto"/>
                <a:ea typeface="Roboto"/>
                <a:cs typeface="Roboto"/>
                <a:sym typeface="Roboto"/>
              </a:rPr>
              <a:t>It’s a match!</a:t>
            </a:r>
            <a:br>
              <a:rPr lang="en" sz="1800">
                <a:solidFill>
                  <a:schemeClr val="accent5"/>
                </a:solidFill>
                <a:latin typeface="Roboto"/>
                <a:ea typeface="Roboto"/>
                <a:cs typeface="Roboto"/>
                <a:sym typeface="Roboto"/>
              </a:rPr>
            </a:br>
            <a:r>
              <a:rPr lang="en" sz="1800">
                <a:solidFill>
                  <a:schemeClr val="accent5"/>
                </a:solidFill>
                <a:latin typeface="Roboto"/>
                <a:ea typeface="Roboto"/>
                <a:cs typeface="Roboto"/>
                <a:sym typeface="Roboto"/>
              </a:rPr>
              <a:t>Here’s your TGT.</a:t>
            </a:r>
            <a:endParaRPr sz="1800">
              <a:solidFill>
                <a:schemeClr val="accent5"/>
              </a:solidFill>
              <a:latin typeface="Roboto"/>
              <a:ea typeface="Roboto"/>
              <a:cs typeface="Roboto"/>
              <a:sym typeface="Roboto"/>
            </a:endParaRPr>
          </a:p>
        </p:txBody>
      </p:sp>
      <p:sp>
        <p:nvSpPr>
          <p:cNvPr id="881" name="Google Shape;881;p90"/>
          <p:cNvSpPr/>
          <p:nvPr/>
        </p:nvSpPr>
        <p:spPr>
          <a:xfrm>
            <a:off x="3269400" y="1999093"/>
            <a:ext cx="1488600" cy="55770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2"/>
                </a:solidFill>
                <a:latin typeface="Roboto"/>
                <a:ea typeface="Roboto"/>
                <a:cs typeface="Roboto"/>
                <a:sym typeface="Roboto"/>
              </a:rPr>
              <a:t>AS-REQ</a:t>
            </a:r>
            <a:endParaRPr sz="1800">
              <a:solidFill>
                <a:schemeClr val="dk2"/>
              </a:solidFill>
              <a:latin typeface="Roboto"/>
              <a:ea typeface="Roboto"/>
              <a:cs typeface="Roboto"/>
              <a:sym typeface="Roboto"/>
            </a:endParaRPr>
          </a:p>
        </p:txBody>
      </p:sp>
      <p:grpSp>
        <p:nvGrpSpPr>
          <p:cNvPr id="882" name="Google Shape;882;p90"/>
          <p:cNvGrpSpPr/>
          <p:nvPr/>
        </p:nvGrpSpPr>
        <p:grpSpPr>
          <a:xfrm>
            <a:off x="3269620" y="3763500"/>
            <a:ext cx="1488642" cy="557794"/>
            <a:chOff x="3400975" y="3398366"/>
            <a:chExt cx="1644000" cy="466500"/>
          </a:xfrm>
        </p:grpSpPr>
        <p:sp>
          <p:nvSpPr>
            <p:cNvPr id="883" name="Google Shape;883;p90"/>
            <p:cNvSpPr/>
            <p:nvPr/>
          </p:nvSpPr>
          <p:spPr>
            <a:xfrm flipH="1">
              <a:off x="3400975" y="3398366"/>
              <a:ext cx="1644000" cy="466500"/>
            </a:xfrm>
            <a:prstGeom prst="rightArrow">
              <a:avLst>
                <a:gd fmla="val 5000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4" name="Google Shape;884;p90"/>
            <p:cNvSpPr txBox="1"/>
            <p:nvPr/>
          </p:nvSpPr>
          <p:spPr>
            <a:xfrm>
              <a:off x="3829457" y="3515783"/>
              <a:ext cx="901500" cy="215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1800">
                  <a:solidFill>
                    <a:schemeClr val="lt1"/>
                  </a:solidFill>
                  <a:latin typeface="Roboto"/>
                  <a:ea typeface="Roboto"/>
                  <a:cs typeface="Roboto"/>
                  <a:sym typeface="Roboto"/>
                </a:rPr>
                <a:t>AS-REP</a:t>
              </a:r>
              <a:endParaRPr sz="1800">
                <a:solidFill>
                  <a:schemeClr val="lt1"/>
                </a:solidFill>
                <a:latin typeface="Roboto"/>
                <a:ea typeface="Roboto"/>
                <a:cs typeface="Roboto"/>
                <a:sym typeface="Roboto"/>
              </a:endParaRPr>
            </a:p>
          </p:txBody>
        </p:sp>
      </p:grpSp>
      <p:pic>
        <p:nvPicPr>
          <p:cNvPr id="885" name="Google Shape;885;p90"/>
          <p:cNvPicPr preferRelativeResize="0"/>
          <p:nvPr/>
        </p:nvPicPr>
        <p:blipFill>
          <a:blip r:embed="rId5">
            <a:alphaModFix/>
          </a:blip>
          <a:stretch>
            <a:fillRect/>
          </a:stretch>
        </p:blipFill>
        <p:spPr>
          <a:xfrm>
            <a:off x="3926325" y="4251225"/>
            <a:ext cx="738254" cy="533700"/>
          </a:xfrm>
          <a:prstGeom prst="rect">
            <a:avLst/>
          </a:prstGeom>
          <a:noFill/>
          <a:ln>
            <a:noFill/>
          </a:ln>
        </p:spPr>
      </p:pic>
      <p:sp>
        <p:nvSpPr>
          <p:cNvPr id="886" name="Google Shape;886;p90"/>
          <p:cNvSpPr/>
          <p:nvPr/>
        </p:nvSpPr>
        <p:spPr>
          <a:xfrm rot="1864">
            <a:off x="5425800" y="4420445"/>
            <a:ext cx="1106700" cy="3291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KDC</a:t>
            </a:r>
            <a:endParaRPr b="1" sz="1800">
              <a:solidFill>
                <a:srgbClr val="FFFFFF"/>
              </a:solidFill>
              <a:latin typeface="Roboto"/>
              <a:ea typeface="Roboto"/>
              <a:cs typeface="Roboto"/>
              <a:sym typeface="Roboto"/>
            </a:endParaRPr>
          </a:p>
        </p:txBody>
      </p:sp>
      <p:sp>
        <p:nvSpPr>
          <p:cNvPr id="887" name="Google Shape;887;p90"/>
          <p:cNvSpPr/>
          <p:nvPr/>
        </p:nvSpPr>
        <p:spPr>
          <a:xfrm rot="1882">
            <a:off x="520275" y="4134412"/>
            <a:ext cx="1644300" cy="3291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Workstation</a:t>
            </a:r>
            <a:endParaRPr b="1" sz="1800">
              <a:solidFill>
                <a:srgbClr val="FFFFF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1" name="Shape 891"/>
        <p:cNvGrpSpPr/>
        <p:nvPr/>
      </p:nvGrpSpPr>
      <p:grpSpPr>
        <a:xfrm>
          <a:off x="0" y="0"/>
          <a:ext cx="0" cy="0"/>
          <a:chOff x="0" y="0"/>
          <a:chExt cx="0" cy="0"/>
        </a:xfrm>
      </p:grpSpPr>
      <p:sp>
        <p:nvSpPr>
          <p:cNvPr id="892" name="Google Shape;892;p91"/>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Roboto Medium"/>
                <a:ea typeface="Roboto Medium"/>
                <a:cs typeface="Roboto Medium"/>
                <a:sym typeface="Roboto Medium"/>
              </a:rPr>
              <a:t>Kerberos and NTLM</a:t>
            </a:r>
            <a:endParaRPr>
              <a:latin typeface="Roboto Medium"/>
              <a:ea typeface="Roboto Medium"/>
              <a:cs typeface="Roboto Medium"/>
              <a:sym typeface="Roboto Medium"/>
            </a:endParaRPr>
          </a:p>
        </p:txBody>
      </p:sp>
      <p:sp>
        <p:nvSpPr>
          <p:cNvPr id="893" name="Google Shape;893;p91"/>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894" name="Google Shape;894;p91"/>
          <p:cNvSpPr txBox="1"/>
          <p:nvPr>
            <p:ph idx="2" type="title"/>
          </p:nvPr>
        </p:nvSpPr>
        <p:spPr>
          <a:xfrm>
            <a:off x="76200" y="602929"/>
            <a:ext cx="8388000" cy="3612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0"/>
              </a:spcAft>
              <a:buNone/>
            </a:pPr>
            <a:r>
              <a:rPr lang="en" sz="1800">
                <a:latin typeface="Roboto"/>
                <a:ea typeface="Roboto"/>
                <a:cs typeface="Roboto"/>
                <a:sym typeface="Roboto"/>
              </a:rPr>
              <a:t>Usually</a:t>
            </a:r>
            <a:r>
              <a:rPr lang="en" sz="1800">
                <a:solidFill>
                  <a:schemeClr val="dk1"/>
                </a:solidFill>
              </a:rPr>
              <a:t>…</a:t>
            </a:r>
            <a:endParaRPr sz="1800">
              <a:solidFill>
                <a:schemeClr val="dk1"/>
              </a:solidFill>
            </a:endParaRPr>
          </a:p>
          <a:p>
            <a:pPr indent="0" lvl="0" marL="0" rtl="0" algn="l">
              <a:lnSpc>
                <a:spcPct val="95000"/>
              </a:lnSpc>
              <a:spcBef>
                <a:spcPts val="1200"/>
              </a:spcBef>
              <a:spcAft>
                <a:spcPts val="0"/>
              </a:spcAft>
              <a:buNone/>
            </a:pPr>
            <a:r>
              <a:t/>
            </a:r>
            <a:endParaRPr>
              <a:solidFill>
                <a:schemeClr val="dk1"/>
              </a:solidFill>
            </a:endParaRPr>
          </a:p>
          <a:p>
            <a:pPr indent="0" lvl="0" marL="0" rtl="0" algn="l">
              <a:lnSpc>
                <a:spcPct val="95000"/>
              </a:lnSpc>
              <a:spcBef>
                <a:spcPts val="1200"/>
              </a:spcBef>
              <a:spcAft>
                <a:spcPts val="1200"/>
              </a:spcAft>
              <a:buNone/>
            </a:pPr>
            <a:r>
              <a:t/>
            </a:r>
            <a:endParaRPr>
              <a:solidFill>
                <a:schemeClr val="dk1"/>
              </a:solidFill>
            </a:endParaRPr>
          </a:p>
        </p:txBody>
      </p:sp>
      <p:sp>
        <p:nvSpPr>
          <p:cNvPr id="895" name="Google Shape;895;p91"/>
          <p:cNvSpPr/>
          <p:nvPr/>
        </p:nvSpPr>
        <p:spPr>
          <a:xfrm>
            <a:off x="1102800" y="1292975"/>
            <a:ext cx="3202500" cy="476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896" name="Google Shape;896;p91"/>
          <p:cNvSpPr txBox="1"/>
          <p:nvPr/>
        </p:nvSpPr>
        <p:spPr>
          <a:xfrm>
            <a:off x="1102800" y="2004350"/>
            <a:ext cx="3088500" cy="927000"/>
          </a:xfrm>
          <a:prstGeom prst="rect">
            <a:avLst/>
          </a:prstGeom>
          <a:noFill/>
          <a:ln>
            <a:noFill/>
          </a:ln>
        </p:spPr>
        <p:txBody>
          <a:bodyPr anchorCtr="0" anchor="t" bIns="91425" lIns="91425" spcFirstLastPara="1" rIns="91425" wrap="square" tIns="91425">
            <a:noAutofit/>
          </a:bodyPr>
          <a:lstStyle/>
          <a:p>
            <a:pPr indent="0" lvl="0" marL="45720" rtl="0" algn="l">
              <a:spcBef>
                <a:spcPts val="0"/>
              </a:spcBef>
              <a:spcAft>
                <a:spcPts val="0"/>
              </a:spcAft>
              <a:buNone/>
            </a:pPr>
            <a:r>
              <a:rPr lang="en" sz="1800">
                <a:solidFill>
                  <a:schemeClr val="dk2"/>
                </a:solidFill>
                <a:latin typeface="Roboto"/>
                <a:ea typeface="Roboto"/>
                <a:cs typeface="Roboto"/>
                <a:sym typeface="Roboto"/>
              </a:rPr>
              <a:t>Kerberos authentication is used for </a:t>
            </a:r>
            <a:r>
              <a:rPr lang="en" sz="1800">
                <a:solidFill>
                  <a:schemeClr val="lt1"/>
                </a:solidFill>
                <a:highlight>
                  <a:schemeClr val="accent3"/>
                </a:highlight>
                <a:latin typeface="Roboto"/>
                <a:ea typeface="Roboto"/>
                <a:cs typeface="Roboto"/>
                <a:sym typeface="Roboto"/>
              </a:rPr>
              <a:t>domain</a:t>
            </a:r>
            <a:r>
              <a:rPr lang="en" sz="1800">
                <a:solidFill>
                  <a:schemeClr val="dk2"/>
                </a:solidFill>
                <a:highlight>
                  <a:schemeClr val="accent3"/>
                </a:highlight>
                <a:latin typeface="Roboto"/>
                <a:ea typeface="Roboto"/>
                <a:cs typeface="Roboto"/>
                <a:sym typeface="Roboto"/>
              </a:rPr>
              <a:t> </a:t>
            </a:r>
            <a:r>
              <a:rPr lang="en" sz="1800">
                <a:solidFill>
                  <a:schemeClr val="dk2"/>
                </a:solidFill>
                <a:latin typeface="Roboto"/>
                <a:ea typeface="Roboto"/>
                <a:cs typeface="Roboto"/>
                <a:sym typeface="Roboto"/>
              </a:rPr>
              <a:t> accounts.</a:t>
            </a:r>
            <a:endParaRPr sz="1800">
              <a:solidFill>
                <a:schemeClr val="dk2"/>
              </a:solidFill>
              <a:latin typeface="Roboto"/>
              <a:ea typeface="Roboto"/>
              <a:cs typeface="Roboto"/>
              <a:sym typeface="Roboto"/>
            </a:endParaRPr>
          </a:p>
        </p:txBody>
      </p:sp>
      <p:grpSp>
        <p:nvGrpSpPr>
          <p:cNvPr id="897" name="Google Shape;897;p91"/>
          <p:cNvGrpSpPr/>
          <p:nvPr/>
        </p:nvGrpSpPr>
        <p:grpSpPr>
          <a:xfrm>
            <a:off x="457147" y="1281128"/>
            <a:ext cx="533372" cy="533480"/>
            <a:chOff x="457200" y="1378813"/>
            <a:chExt cx="695400" cy="695450"/>
          </a:xfrm>
        </p:grpSpPr>
        <p:sp>
          <p:nvSpPr>
            <p:cNvPr id="898" name="Google Shape;898;p91"/>
            <p:cNvSpPr/>
            <p:nvPr/>
          </p:nvSpPr>
          <p:spPr>
            <a:xfrm>
              <a:off x="457200" y="1378813"/>
              <a:ext cx="695400" cy="621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rgbClr val="FFFFFF"/>
                  </a:solidFill>
                  <a:latin typeface="Roboto"/>
                  <a:ea typeface="Roboto"/>
                  <a:cs typeface="Roboto"/>
                  <a:sym typeface="Roboto"/>
                </a:rPr>
                <a:t>01</a:t>
              </a:r>
              <a:endParaRPr i="0" sz="2100" u="none" cap="none" strike="noStrike">
                <a:solidFill>
                  <a:srgbClr val="FFFFFF"/>
                </a:solidFill>
                <a:latin typeface="Roboto"/>
                <a:ea typeface="Roboto"/>
                <a:cs typeface="Roboto"/>
                <a:sym typeface="Roboto"/>
              </a:endParaRPr>
            </a:p>
          </p:txBody>
        </p:sp>
        <p:sp>
          <p:nvSpPr>
            <p:cNvPr id="899" name="Google Shape;899;p91"/>
            <p:cNvSpPr/>
            <p:nvPr/>
          </p:nvSpPr>
          <p:spPr>
            <a:xfrm rot="10800000">
              <a:off x="634726" y="1885638"/>
              <a:ext cx="34032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a:ea typeface="Roboto"/>
                <a:cs typeface="Roboto"/>
                <a:sym typeface="Roboto"/>
              </a:endParaRPr>
            </a:p>
          </p:txBody>
        </p:sp>
      </p:grpSp>
      <p:sp>
        <p:nvSpPr>
          <p:cNvPr id="900" name="Google Shape;900;p91"/>
          <p:cNvSpPr txBox="1"/>
          <p:nvPr/>
        </p:nvSpPr>
        <p:spPr>
          <a:xfrm>
            <a:off x="1176342" y="1329820"/>
            <a:ext cx="29739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082D49"/>
                </a:solidFill>
                <a:latin typeface="Roboto"/>
                <a:ea typeface="Roboto"/>
                <a:cs typeface="Roboto"/>
                <a:sym typeface="Roboto"/>
              </a:rPr>
              <a:t>Kerberos</a:t>
            </a:r>
            <a:endParaRPr b="1" sz="1800">
              <a:solidFill>
                <a:srgbClr val="082D49"/>
              </a:solidFill>
              <a:latin typeface="Roboto"/>
              <a:ea typeface="Roboto"/>
              <a:cs typeface="Roboto"/>
              <a:sym typeface="Roboto"/>
            </a:endParaRPr>
          </a:p>
        </p:txBody>
      </p:sp>
      <p:sp>
        <p:nvSpPr>
          <p:cNvPr id="901" name="Google Shape;901;p91"/>
          <p:cNvSpPr/>
          <p:nvPr/>
        </p:nvSpPr>
        <p:spPr>
          <a:xfrm>
            <a:off x="5539775" y="1292975"/>
            <a:ext cx="3202500" cy="476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02" name="Google Shape;902;p91"/>
          <p:cNvSpPr txBox="1"/>
          <p:nvPr/>
        </p:nvSpPr>
        <p:spPr>
          <a:xfrm>
            <a:off x="5613317" y="1329820"/>
            <a:ext cx="29739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082D49"/>
                </a:solidFill>
                <a:latin typeface="Roboto"/>
                <a:ea typeface="Roboto"/>
                <a:cs typeface="Roboto"/>
                <a:sym typeface="Roboto"/>
              </a:rPr>
              <a:t>NTLM</a:t>
            </a:r>
            <a:endParaRPr b="1" sz="1800">
              <a:solidFill>
                <a:srgbClr val="082D49"/>
              </a:solidFill>
              <a:latin typeface="Roboto"/>
              <a:ea typeface="Roboto"/>
              <a:cs typeface="Roboto"/>
              <a:sym typeface="Roboto"/>
            </a:endParaRPr>
          </a:p>
        </p:txBody>
      </p:sp>
      <p:grpSp>
        <p:nvGrpSpPr>
          <p:cNvPr id="903" name="Google Shape;903;p91"/>
          <p:cNvGrpSpPr/>
          <p:nvPr/>
        </p:nvGrpSpPr>
        <p:grpSpPr>
          <a:xfrm>
            <a:off x="4876797" y="1281128"/>
            <a:ext cx="533372" cy="533480"/>
            <a:chOff x="457200" y="1378813"/>
            <a:chExt cx="695400" cy="695450"/>
          </a:xfrm>
        </p:grpSpPr>
        <p:sp>
          <p:nvSpPr>
            <p:cNvPr id="904" name="Google Shape;904;p91"/>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lt1"/>
                  </a:solidFill>
                  <a:latin typeface="Roboto"/>
                  <a:ea typeface="Roboto"/>
                  <a:cs typeface="Roboto"/>
                  <a:sym typeface="Roboto"/>
                </a:rPr>
                <a:t>02</a:t>
              </a:r>
              <a:endParaRPr i="0" sz="2100" u="none" cap="none" strike="noStrike">
                <a:solidFill>
                  <a:schemeClr val="lt1"/>
                </a:solidFill>
                <a:latin typeface="Roboto"/>
                <a:ea typeface="Roboto"/>
                <a:cs typeface="Roboto"/>
                <a:sym typeface="Roboto"/>
              </a:endParaRPr>
            </a:p>
          </p:txBody>
        </p:sp>
        <p:sp>
          <p:nvSpPr>
            <p:cNvPr id="905" name="Google Shape;905;p91"/>
            <p:cNvSpPr/>
            <p:nvPr/>
          </p:nvSpPr>
          <p:spPr>
            <a:xfrm rot="10800000">
              <a:off x="634726" y="1885638"/>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lt1"/>
                </a:solidFill>
                <a:latin typeface="Roboto"/>
                <a:ea typeface="Roboto"/>
                <a:cs typeface="Roboto"/>
                <a:sym typeface="Roboto"/>
              </a:endParaRPr>
            </a:p>
          </p:txBody>
        </p:sp>
      </p:grpSp>
      <p:sp>
        <p:nvSpPr>
          <p:cNvPr id="906" name="Google Shape;906;p91"/>
          <p:cNvSpPr txBox="1"/>
          <p:nvPr/>
        </p:nvSpPr>
        <p:spPr>
          <a:xfrm>
            <a:off x="5582600" y="2004350"/>
            <a:ext cx="2835600" cy="1018800"/>
          </a:xfrm>
          <a:prstGeom prst="rect">
            <a:avLst/>
          </a:prstGeom>
          <a:noFill/>
          <a:ln>
            <a:noFill/>
          </a:ln>
        </p:spPr>
        <p:txBody>
          <a:bodyPr anchorCtr="0" anchor="t" bIns="91425" lIns="91425" spcFirstLastPara="1" rIns="91425" wrap="square" tIns="91425">
            <a:noAutofit/>
          </a:bodyPr>
          <a:lstStyle/>
          <a:p>
            <a:pPr indent="0" lvl="0" marL="45720" rtl="0" algn="l">
              <a:spcBef>
                <a:spcPts val="0"/>
              </a:spcBef>
              <a:spcAft>
                <a:spcPts val="0"/>
              </a:spcAft>
              <a:buNone/>
            </a:pPr>
            <a:r>
              <a:rPr lang="en" sz="1800">
                <a:solidFill>
                  <a:schemeClr val="dk2"/>
                </a:solidFill>
                <a:latin typeface="Roboto"/>
                <a:ea typeface="Roboto"/>
                <a:cs typeface="Roboto"/>
                <a:sym typeface="Roboto"/>
              </a:rPr>
              <a:t>NTLM authentication is used for </a:t>
            </a:r>
            <a:r>
              <a:rPr lang="en" sz="1800">
                <a:solidFill>
                  <a:schemeClr val="lt1"/>
                </a:solidFill>
                <a:highlight>
                  <a:schemeClr val="dk2"/>
                </a:highlight>
                <a:latin typeface="Roboto"/>
                <a:ea typeface="Roboto"/>
                <a:cs typeface="Roboto"/>
                <a:sym typeface="Roboto"/>
              </a:rPr>
              <a:t>local</a:t>
            </a:r>
            <a:r>
              <a:rPr lang="en" sz="1800">
                <a:solidFill>
                  <a:schemeClr val="dk2"/>
                </a:solidFill>
                <a:latin typeface="Roboto"/>
                <a:ea typeface="Roboto"/>
                <a:cs typeface="Roboto"/>
                <a:sym typeface="Roboto"/>
              </a:rPr>
              <a:t> accounts.</a:t>
            </a:r>
            <a:endParaRPr sz="1800">
              <a:solidFill>
                <a:schemeClr val="dk2"/>
              </a:solidFill>
              <a:latin typeface="Roboto"/>
              <a:ea typeface="Roboto"/>
              <a:cs typeface="Roboto"/>
              <a:sym typeface="Roboto"/>
            </a:endParaRPr>
          </a:p>
        </p:txBody>
      </p:sp>
      <p:sp>
        <p:nvSpPr>
          <p:cNvPr id="907" name="Google Shape;907;p91"/>
          <p:cNvSpPr/>
          <p:nvPr/>
        </p:nvSpPr>
        <p:spPr>
          <a:xfrm>
            <a:off x="1504950" y="3915575"/>
            <a:ext cx="6997200" cy="621300"/>
          </a:xfrm>
          <a:prstGeom prst="roundRect">
            <a:avLst>
              <a:gd fmla="val 16667" name="adj"/>
            </a:avLst>
          </a:prstGeom>
          <a:solidFill>
            <a:schemeClr val="accent1"/>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sz="1800">
                <a:solidFill>
                  <a:schemeClr val="dk2"/>
                </a:solidFill>
                <a:latin typeface="Roboto"/>
                <a:ea typeface="Roboto"/>
                <a:cs typeface="Roboto"/>
                <a:sym typeface="Roboto"/>
              </a:rPr>
              <a:t>This is because normal Windows workstations and non-DC servers are not KDCs and thus cannot process Kerberos tickets.</a:t>
            </a:r>
            <a:endParaRPr b="0" i="0" sz="1800" u="none" cap="none" strike="noStrike">
              <a:solidFill>
                <a:schemeClr val="dk2"/>
              </a:solidFill>
              <a:latin typeface="Roboto"/>
              <a:ea typeface="Roboto"/>
              <a:cs typeface="Roboto"/>
              <a:sym typeface="Roboto"/>
            </a:endParaRPr>
          </a:p>
        </p:txBody>
      </p:sp>
      <p:pic>
        <p:nvPicPr>
          <p:cNvPr id="908" name="Google Shape;908;p91"/>
          <p:cNvPicPr preferRelativeResize="0"/>
          <p:nvPr/>
        </p:nvPicPr>
        <p:blipFill rotWithShape="1">
          <a:blip r:embed="rId3">
            <a:alphaModFix/>
          </a:blip>
          <a:srcRect b="0" l="0" r="0" t="0"/>
          <a:stretch/>
        </p:blipFill>
        <p:spPr>
          <a:xfrm>
            <a:off x="315688" y="3611334"/>
            <a:ext cx="1189274" cy="1189274"/>
          </a:xfrm>
          <a:prstGeom prst="rect">
            <a:avLst/>
          </a:prstGeom>
          <a:noFill/>
          <a:ln>
            <a:noFill/>
          </a:ln>
        </p:spPr>
      </p:pic>
      <p:pic>
        <p:nvPicPr>
          <p:cNvPr id="909" name="Google Shape;909;p91"/>
          <p:cNvPicPr preferRelativeResize="0"/>
          <p:nvPr/>
        </p:nvPicPr>
        <p:blipFill>
          <a:blip r:embed="rId4">
            <a:alphaModFix/>
          </a:blip>
          <a:stretch>
            <a:fillRect/>
          </a:stretch>
        </p:blipFill>
        <p:spPr>
          <a:xfrm>
            <a:off x="4247800" y="1113900"/>
            <a:ext cx="827450" cy="26245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92"/>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Password-Based </a:t>
            </a:r>
            <a:r>
              <a:rPr b="1" lang="en">
                <a:latin typeface="Roboto"/>
                <a:ea typeface="Roboto"/>
                <a:cs typeface="Roboto"/>
                <a:sym typeface="Roboto"/>
              </a:rPr>
              <a:t>Attacks</a:t>
            </a:r>
            <a:endParaRPr b="1">
              <a:latin typeface="Roboto"/>
              <a:ea typeface="Roboto"/>
              <a:cs typeface="Roboto"/>
              <a:sym typeface="Roboto"/>
            </a:endParaRPr>
          </a:p>
        </p:txBody>
      </p:sp>
      <p:grpSp>
        <p:nvGrpSpPr>
          <p:cNvPr id="915" name="Google Shape;915;p92"/>
          <p:cNvGrpSpPr/>
          <p:nvPr/>
        </p:nvGrpSpPr>
        <p:grpSpPr>
          <a:xfrm>
            <a:off x="3976752" y="1375085"/>
            <a:ext cx="1067543" cy="1166018"/>
            <a:chOff x="1465800" y="297075"/>
            <a:chExt cx="4688375" cy="5120850"/>
          </a:xfrm>
        </p:grpSpPr>
        <p:sp>
          <p:nvSpPr>
            <p:cNvPr id="916" name="Google Shape;916;p92"/>
            <p:cNvSpPr/>
            <p:nvPr/>
          </p:nvSpPr>
          <p:spPr>
            <a:xfrm>
              <a:off x="2104675" y="4248275"/>
              <a:ext cx="3410625" cy="1169650"/>
            </a:xfrm>
            <a:custGeom>
              <a:rect b="b" l="l" r="r" t="t"/>
              <a:pathLst>
                <a:path extrusionOk="0" fill="none" h="46786" w="136425">
                  <a:moveTo>
                    <a:pt x="130920" y="46785"/>
                  </a:moveTo>
                  <a:lnTo>
                    <a:pt x="5898" y="46785"/>
                  </a:lnTo>
                  <a:lnTo>
                    <a:pt x="5898" y="46785"/>
                  </a:lnTo>
                  <a:lnTo>
                    <a:pt x="4719" y="46785"/>
                  </a:lnTo>
                  <a:lnTo>
                    <a:pt x="3539" y="46392"/>
                  </a:lnTo>
                  <a:lnTo>
                    <a:pt x="1967" y="45212"/>
                  </a:lnTo>
                  <a:lnTo>
                    <a:pt x="787" y="43247"/>
                  </a:lnTo>
                  <a:lnTo>
                    <a:pt x="394" y="42067"/>
                  </a:lnTo>
                  <a:lnTo>
                    <a:pt x="1" y="40888"/>
                  </a:lnTo>
                  <a:lnTo>
                    <a:pt x="1" y="5897"/>
                  </a:lnTo>
                  <a:lnTo>
                    <a:pt x="1" y="5897"/>
                  </a:lnTo>
                  <a:lnTo>
                    <a:pt x="394" y="4718"/>
                  </a:lnTo>
                  <a:lnTo>
                    <a:pt x="787" y="3538"/>
                  </a:lnTo>
                  <a:lnTo>
                    <a:pt x="1967" y="1966"/>
                  </a:lnTo>
                  <a:lnTo>
                    <a:pt x="3539" y="786"/>
                  </a:lnTo>
                  <a:lnTo>
                    <a:pt x="4719" y="393"/>
                  </a:lnTo>
                  <a:lnTo>
                    <a:pt x="5898" y="0"/>
                  </a:lnTo>
                  <a:lnTo>
                    <a:pt x="130920" y="0"/>
                  </a:lnTo>
                  <a:lnTo>
                    <a:pt x="130920" y="0"/>
                  </a:lnTo>
                  <a:lnTo>
                    <a:pt x="132100" y="393"/>
                  </a:lnTo>
                  <a:lnTo>
                    <a:pt x="132886" y="786"/>
                  </a:lnTo>
                  <a:lnTo>
                    <a:pt x="134852" y="1966"/>
                  </a:lnTo>
                  <a:lnTo>
                    <a:pt x="136031" y="3538"/>
                  </a:lnTo>
                  <a:lnTo>
                    <a:pt x="136424" y="4718"/>
                  </a:lnTo>
                  <a:lnTo>
                    <a:pt x="136424" y="5897"/>
                  </a:lnTo>
                  <a:lnTo>
                    <a:pt x="136424" y="40888"/>
                  </a:lnTo>
                  <a:lnTo>
                    <a:pt x="136424" y="40888"/>
                  </a:lnTo>
                  <a:lnTo>
                    <a:pt x="136424" y="42067"/>
                  </a:lnTo>
                  <a:lnTo>
                    <a:pt x="136031" y="43247"/>
                  </a:lnTo>
                  <a:lnTo>
                    <a:pt x="134852" y="45212"/>
                  </a:lnTo>
                  <a:lnTo>
                    <a:pt x="132886" y="46392"/>
                  </a:lnTo>
                  <a:lnTo>
                    <a:pt x="132100" y="46785"/>
                  </a:lnTo>
                  <a:lnTo>
                    <a:pt x="130920" y="46785"/>
                  </a:lnTo>
                  <a:lnTo>
                    <a:pt x="130920" y="46785"/>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92"/>
            <p:cNvSpPr/>
            <p:nvPr/>
          </p:nvSpPr>
          <p:spPr>
            <a:xfrm>
              <a:off x="2576475" y="297075"/>
              <a:ext cx="2457200" cy="1523500"/>
            </a:xfrm>
            <a:custGeom>
              <a:rect b="b" l="l" r="r" t="t"/>
              <a:pathLst>
                <a:path extrusionOk="0" fill="none" h="60940" w="98288">
                  <a:moveTo>
                    <a:pt x="49144" y="60939"/>
                  </a:moveTo>
                  <a:lnTo>
                    <a:pt x="49144" y="60939"/>
                  </a:lnTo>
                  <a:lnTo>
                    <a:pt x="91604" y="60939"/>
                  </a:lnTo>
                  <a:lnTo>
                    <a:pt x="91604" y="60939"/>
                  </a:lnTo>
                  <a:lnTo>
                    <a:pt x="92784" y="60546"/>
                  </a:lnTo>
                  <a:lnTo>
                    <a:pt x="93963" y="60153"/>
                  </a:lnTo>
                  <a:lnTo>
                    <a:pt x="95143" y="59760"/>
                  </a:lnTo>
                  <a:lnTo>
                    <a:pt x="96322" y="58974"/>
                  </a:lnTo>
                  <a:lnTo>
                    <a:pt x="97108" y="57794"/>
                  </a:lnTo>
                  <a:lnTo>
                    <a:pt x="97502" y="56615"/>
                  </a:lnTo>
                  <a:lnTo>
                    <a:pt x="97895" y="55435"/>
                  </a:lnTo>
                  <a:lnTo>
                    <a:pt x="98288" y="54256"/>
                  </a:lnTo>
                  <a:lnTo>
                    <a:pt x="98288" y="54256"/>
                  </a:lnTo>
                  <a:lnTo>
                    <a:pt x="97895" y="52683"/>
                  </a:lnTo>
                  <a:lnTo>
                    <a:pt x="97502" y="51504"/>
                  </a:lnTo>
                  <a:lnTo>
                    <a:pt x="97108" y="50324"/>
                  </a:lnTo>
                  <a:lnTo>
                    <a:pt x="96322" y="49538"/>
                  </a:lnTo>
                  <a:lnTo>
                    <a:pt x="95143" y="48752"/>
                  </a:lnTo>
                  <a:lnTo>
                    <a:pt x="93963" y="47965"/>
                  </a:lnTo>
                  <a:lnTo>
                    <a:pt x="92784" y="47572"/>
                  </a:lnTo>
                  <a:lnTo>
                    <a:pt x="91604" y="47572"/>
                  </a:lnTo>
                  <a:lnTo>
                    <a:pt x="91604" y="47572"/>
                  </a:lnTo>
                  <a:lnTo>
                    <a:pt x="88066" y="47572"/>
                  </a:lnTo>
                  <a:lnTo>
                    <a:pt x="88066" y="47572"/>
                  </a:lnTo>
                  <a:lnTo>
                    <a:pt x="87280" y="40102"/>
                  </a:lnTo>
                  <a:lnTo>
                    <a:pt x="86493" y="32633"/>
                  </a:lnTo>
                  <a:lnTo>
                    <a:pt x="84921" y="23590"/>
                  </a:lnTo>
                  <a:lnTo>
                    <a:pt x="83741" y="19265"/>
                  </a:lnTo>
                  <a:lnTo>
                    <a:pt x="82562" y="14941"/>
                  </a:lnTo>
                  <a:lnTo>
                    <a:pt x="80989" y="11009"/>
                  </a:lnTo>
                  <a:lnTo>
                    <a:pt x="79023" y="7471"/>
                  </a:lnTo>
                  <a:lnTo>
                    <a:pt x="76665" y="4326"/>
                  </a:lnTo>
                  <a:lnTo>
                    <a:pt x="74306" y="1967"/>
                  </a:lnTo>
                  <a:lnTo>
                    <a:pt x="72733" y="1180"/>
                  </a:lnTo>
                  <a:lnTo>
                    <a:pt x="71554" y="394"/>
                  </a:lnTo>
                  <a:lnTo>
                    <a:pt x="69981" y="1"/>
                  </a:lnTo>
                  <a:lnTo>
                    <a:pt x="68015" y="1"/>
                  </a:lnTo>
                  <a:lnTo>
                    <a:pt x="68015" y="1"/>
                  </a:lnTo>
                  <a:lnTo>
                    <a:pt x="65656" y="1"/>
                  </a:lnTo>
                  <a:lnTo>
                    <a:pt x="63297" y="787"/>
                  </a:lnTo>
                  <a:lnTo>
                    <a:pt x="59759" y="2753"/>
                  </a:lnTo>
                  <a:lnTo>
                    <a:pt x="57793" y="3539"/>
                  </a:lnTo>
                  <a:lnTo>
                    <a:pt x="55434" y="4719"/>
                  </a:lnTo>
                  <a:lnTo>
                    <a:pt x="52682" y="5112"/>
                  </a:lnTo>
                  <a:lnTo>
                    <a:pt x="49144" y="5505"/>
                  </a:lnTo>
                  <a:lnTo>
                    <a:pt x="49144" y="5505"/>
                  </a:lnTo>
                  <a:lnTo>
                    <a:pt x="45606" y="5112"/>
                  </a:lnTo>
                  <a:lnTo>
                    <a:pt x="42854" y="4719"/>
                  </a:lnTo>
                  <a:lnTo>
                    <a:pt x="40495" y="3539"/>
                  </a:lnTo>
                  <a:lnTo>
                    <a:pt x="38529" y="2753"/>
                  </a:lnTo>
                  <a:lnTo>
                    <a:pt x="34597" y="787"/>
                  </a:lnTo>
                  <a:lnTo>
                    <a:pt x="32632" y="1"/>
                  </a:lnTo>
                  <a:lnTo>
                    <a:pt x="29880" y="1"/>
                  </a:lnTo>
                  <a:lnTo>
                    <a:pt x="29880" y="1"/>
                  </a:lnTo>
                  <a:lnTo>
                    <a:pt x="28307" y="1"/>
                  </a:lnTo>
                  <a:lnTo>
                    <a:pt x="26734" y="394"/>
                  </a:lnTo>
                  <a:lnTo>
                    <a:pt x="25162" y="1180"/>
                  </a:lnTo>
                  <a:lnTo>
                    <a:pt x="23982" y="1967"/>
                  </a:lnTo>
                  <a:lnTo>
                    <a:pt x="21230" y="4326"/>
                  </a:lnTo>
                  <a:lnTo>
                    <a:pt x="19264" y="7471"/>
                  </a:lnTo>
                  <a:lnTo>
                    <a:pt x="17299" y="11009"/>
                  </a:lnTo>
                  <a:lnTo>
                    <a:pt x="15726" y="14941"/>
                  </a:lnTo>
                  <a:lnTo>
                    <a:pt x="14153" y="19265"/>
                  </a:lnTo>
                  <a:lnTo>
                    <a:pt x="13367" y="23590"/>
                  </a:lnTo>
                  <a:lnTo>
                    <a:pt x="11795" y="32633"/>
                  </a:lnTo>
                  <a:lnTo>
                    <a:pt x="10615" y="40102"/>
                  </a:lnTo>
                  <a:lnTo>
                    <a:pt x="10222" y="47572"/>
                  </a:lnTo>
                  <a:lnTo>
                    <a:pt x="10222" y="47572"/>
                  </a:lnTo>
                  <a:lnTo>
                    <a:pt x="6684" y="47572"/>
                  </a:lnTo>
                  <a:lnTo>
                    <a:pt x="6684" y="47572"/>
                  </a:lnTo>
                  <a:lnTo>
                    <a:pt x="5111" y="47572"/>
                  </a:lnTo>
                  <a:lnTo>
                    <a:pt x="3932" y="47965"/>
                  </a:lnTo>
                  <a:lnTo>
                    <a:pt x="2752" y="48752"/>
                  </a:lnTo>
                  <a:lnTo>
                    <a:pt x="1966" y="49538"/>
                  </a:lnTo>
                  <a:lnTo>
                    <a:pt x="1179" y="50324"/>
                  </a:lnTo>
                  <a:lnTo>
                    <a:pt x="393" y="51504"/>
                  </a:lnTo>
                  <a:lnTo>
                    <a:pt x="0" y="52683"/>
                  </a:lnTo>
                  <a:lnTo>
                    <a:pt x="0" y="54256"/>
                  </a:lnTo>
                  <a:lnTo>
                    <a:pt x="0" y="54256"/>
                  </a:lnTo>
                  <a:lnTo>
                    <a:pt x="0" y="55435"/>
                  </a:lnTo>
                  <a:lnTo>
                    <a:pt x="393" y="56615"/>
                  </a:lnTo>
                  <a:lnTo>
                    <a:pt x="1179" y="57794"/>
                  </a:lnTo>
                  <a:lnTo>
                    <a:pt x="1966" y="58974"/>
                  </a:lnTo>
                  <a:lnTo>
                    <a:pt x="2752" y="59760"/>
                  </a:lnTo>
                  <a:lnTo>
                    <a:pt x="3932" y="60153"/>
                  </a:lnTo>
                  <a:lnTo>
                    <a:pt x="5111" y="60546"/>
                  </a:lnTo>
                  <a:lnTo>
                    <a:pt x="6684" y="60939"/>
                  </a:lnTo>
                  <a:lnTo>
                    <a:pt x="6684" y="60939"/>
                  </a:lnTo>
                  <a:lnTo>
                    <a:pt x="49144" y="60939"/>
                  </a:lnTo>
                  <a:lnTo>
                    <a:pt x="49144" y="60939"/>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92"/>
            <p:cNvSpPr/>
            <p:nvPr/>
          </p:nvSpPr>
          <p:spPr>
            <a:xfrm>
              <a:off x="1465800" y="2891900"/>
              <a:ext cx="1140175" cy="2398250"/>
            </a:xfrm>
            <a:custGeom>
              <a:rect b="b" l="l" r="r" t="t"/>
              <a:pathLst>
                <a:path extrusionOk="0" fill="none" h="95930" w="45607">
                  <a:moveTo>
                    <a:pt x="25163" y="95929"/>
                  </a:moveTo>
                  <a:lnTo>
                    <a:pt x="25163" y="95929"/>
                  </a:lnTo>
                  <a:lnTo>
                    <a:pt x="16120" y="86887"/>
                  </a:lnTo>
                  <a:lnTo>
                    <a:pt x="3932" y="74699"/>
                  </a:lnTo>
                  <a:lnTo>
                    <a:pt x="3932" y="74699"/>
                  </a:lnTo>
                  <a:lnTo>
                    <a:pt x="2753" y="73519"/>
                  </a:lnTo>
                  <a:lnTo>
                    <a:pt x="1967" y="71554"/>
                  </a:lnTo>
                  <a:lnTo>
                    <a:pt x="1180" y="69981"/>
                  </a:lnTo>
                  <a:lnTo>
                    <a:pt x="394" y="68015"/>
                  </a:lnTo>
                  <a:lnTo>
                    <a:pt x="1" y="65263"/>
                  </a:lnTo>
                  <a:lnTo>
                    <a:pt x="1" y="62511"/>
                  </a:lnTo>
                  <a:lnTo>
                    <a:pt x="394" y="58973"/>
                  </a:lnTo>
                  <a:lnTo>
                    <a:pt x="1180" y="55041"/>
                  </a:lnTo>
                  <a:lnTo>
                    <a:pt x="1180" y="55041"/>
                  </a:lnTo>
                  <a:lnTo>
                    <a:pt x="11009" y="9829"/>
                  </a:lnTo>
                  <a:lnTo>
                    <a:pt x="11009" y="9829"/>
                  </a:lnTo>
                  <a:lnTo>
                    <a:pt x="11402" y="7077"/>
                  </a:lnTo>
                  <a:lnTo>
                    <a:pt x="12189" y="5111"/>
                  </a:lnTo>
                  <a:lnTo>
                    <a:pt x="13368" y="3538"/>
                  </a:lnTo>
                  <a:lnTo>
                    <a:pt x="14548" y="2359"/>
                  </a:lnTo>
                  <a:lnTo>
                    <a:pt x="16120" y="1179"/>
                  </a:lnTo>
                  <a:lnTo>
                    <a:pt x="18086" y="786"/>
                  </a:lnTo>
                  <a:lnTo>
                    <a:pt x="20052" y="393"/>
                  </a:lnTo>
                  <a:lnTo>
                    <a:pt x="22804" y="0"/>
                  </a:lnTo>
                  <a:lnTo>
                    <a:pt x="22804" y="0"/>
                  </a:lnTo>
                  <a:lnTo>
                    <a:pt x="45606"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92"/>
            <p:cNvSpPr/>
            <p:nvPr/>
          </p:nvSpPr>
          <p:spPr>
            <a:xfrm>
              <a:off x="2242275" y="2361125"/>
              <a:ext cx="1071375" cy="1602125"/>
            </a:xfrm>
            <a:custGeom>
              <a:rect b="b" l="l" r="r" t="t"/>
              <a:pathLst>
                <a:path extrusionOk="0" fill="none" h="64085" w="42855">
                  <a:moveTo>
                    <a:pt x="42854" y="64085"/>
                  </a:moveTo>
                  <a:lnTo>
                    <a:pt x="1" y="1"/>
                  </a:lnTo>
                  <a:lnTo>
                    <a:pt x="31846"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92"/>
            <p:cNvSpPr/>
            <p:nvPr/>
          </p:nvSpPr>
          <p:spPr>
            <a:xfrm>
              <a:off x="2773050" y="2636350"/>
              <a:ext cx="570075" cy="855125"/>
            </a:xfrm>
            <a:custGeom>
              <a:rect b="b" l="l" r="r" t="t"/>
              <a:pathLst>
                <a:path extrusionOk="0" fill="none" h="34205" w="22803">
                  <a:moveTo>
                    <a:pt x="22803" y="34204"/>
                  </a:moveTo>
                  <a:lnTo>
                    <a:pt x="0"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92"/>
            <p:cNvSpPr/>
            <p:nvPr/>
          </p:nvSpPr>
          <p:spPr>
            <a:xfrm>
              <a:off x="5023825" y="2891900"/>
              <a:ext cx="1130350" cy="2398250"/>
            </a:xfrm>
            <a:custGeom>
              <a:rect b="b" l="l" r="r" t="t"/>
              <a:pathLst>
                <a:path extrusionOk="0" fill="none" h="95930" w="45214">
                  <a:moveTo>
                    <a:pt x="20051" y="95929"/>
                  </a:moveTo>
                  <a:lnTo>
                    <a:pt x="20051" y="95929"/>
                  </a:lnTo>
                  <a:lnTo>
                    <a:pt x="29487" y="86887"/>
                  </a:lnTo>
                  <a:lnTo>
                    <a:pt x="41282" y="74699"/>
                  </a:lnTo>
                  <a:lnTo>
                    <a:pt x="41282" y="74699"/>
                  </a:lnTo>
                  <a:lnTo>
                    <a:pt x="42461" y="73519"/>
                  </a:lnTo>
                  <a:lnTo>
                    <a:pt x="43640" y="71554"/>
                  </a:lnTo>
                  <a:lnTo>
                    <a:pt x="44427" y="69981"/>
                  </a:lnTo>
                  <a:lnTo>
                    <a:pt x="45213" y="68015"/>
                  </a:lnTo>
                  <a:lnTo>
                    <a:pt x="45213" y="65263"/>
                  </a:lnTo>
                  <a:lnTo>
                    <a:pt x="45213" y="62511"/>
                  </a:lnTo>
                  <a:lnTo>
                    <a:pt x="44820" y="58973"/>
                  </a:lnTo>
                  <a:lnTo>
                    <a:pt x="44034" y="55041"/>
                  </a:lnTo>
                  <a:lnTo>
                    <a:pt x="44034" y="55041"/>
                  </a:lnTo>
                  <a:lnTo>
                    <a:pt x="34598" y="9829"/>
                  </a:lnTo>
                  <a:lnTo>
                    <a:pt x="34598" y="9829"/>
                  </a:lnTo>
                  <a:lnTo>
                    <a:pt x="33812" y="7077"/>
                  </a:lnTo>
                  <a:lnTo>
                    <a:pt x="33025" y="5111"/>
                  </a:lnTo>
                  <a:lnTo>
                    <a:pt x="32239" y="3538"/>
                  </a:lnTo>
                  <a:lnTo>
                    <a:pt x="31060" y="2359"/>
                  </a:lnTo>
                  <a:lnTo>
                    <a:pt x="29487" y="1179"/>
                  </a:lnTo>
                  <a:lnTo>
                    <a:pt x="27521" y="786"/>
                  </a:lnTo>
                  <a:lnTo>
                    <a:pt x="25162" y="393"/>
                  </a:lnTo>
                  <a:lnTo>
                    <a:pt x="22803" y="0"/>
                  </a:lnTo>
                  <a:lnTo>
                    <a:pt x="22803" y="0"/>
                  </a:lnTo>
                  <a:lnTo>
                    <a:pt x="1"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92"/>
            <p:cNvSpPr/>
            <p:nvPr/>
          </p:nvSpPr>
          <p:spPr>
            <a:xfrm>
              <a:off x="4316150" y="2361125"/>
              <a:ext cx="1061550" cy="1602125"/>
            </a:xfrm>
            <a:custGeom>
              <a:rect b="b" l="l" r="r" t="t"/>
              <a:pathLst>
                <a:path extrusionOk="0" fill="none" h="64085" w="42462">
                  <a:moveTo>
                    <a:pt x="1" y="64085"/>
                  </a:moveTo>
                  <a:lnTo>
                    <a:pt x="42461" y="1"/>
                  </a:lnTo>
                  <a:lnTo>
                    <a:pt x="10616"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92"/>
            <p:cNvSpPr/>
            <p:nvPr/>
          </p:nvSpPr>
          <p:spPr>
            <a:xfrm>
              <a:off x="4286675" y="2636350"/>
              <a:ext cx="560250" cy="855125"/>
            </a:xfrm>
            <a:custGeom>
              <a:rect b="b" l="l" r="r" t="t"/>
              <a:pathLst>
                <a:path extrusionOk="0" fill="none" h="34205" w="22410">
                  <a:moveTo>
                    <a:pt x="0" y="34204"/>
                  </a:moveTo>
                  <a:lnTo>
                    <a:pt x="22410"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92"/>
            <p:cNvSpPr/>
            <p:nvPr/>
          </p:nvSpPr>
          <p:spPr>
            <a:xfrm>
              <a:off x="2832000" y="1486375"/>
              <a:ext cx="1946125" cy="25"/>
            </a:xfrm>
            <a:custGeom>
              <a:rect b="b" l="l" r="r" t="t"/>
              <a:pathLst>
                <a:path extrusionOk="0" fill="none" h="1" w="77845">
                  <a:moveTo>
                    <a:pt x="1" y="0"/>
                  </a:moveTo>
                  <a:lnTo>
                    <a:pt x="77845"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92"/>
            <p:cNvSpPr/>
            <p:nvPr/>
          </p:nvSpPr>
          <p:spPr>
            <a:xfrm>
              <a:off x="2999100" y="1820550"/>
              <a:ext cx="1611950" cy="1326900"/>
            </a:xfrm>
            <a:custGeom>
              <a:rect b="b" l="l" r="r" t="t"/>
              <a:pathLst>
                <a:path extrusionOk="0" fill="none" h="53076" w="64478">
                  <a:moveTo>
                    <a:pt x="64477" y="394"/>
                  </a:moveTo>
                  <a:lnTo>
                    <a:pt x="64477" y="394"/>
                  </a:lnTo>
                  <a:lnTo>
                    <a:pt x="64477" y="5111"/>
                  </a:lnTo>
                  <a:lnTo>
                    <a:pt x="64477" y="5111"/>
                  </a:lnTo>
                  <a:lnTo>
                    <a:pt x="64477" y="10222"/>
                  </a:lnTo>
                  <a:lnTo>
                    <a:pt x="64084" y="14940"/>
                  </a:lnTo>
                  <a:lnTo>
                    <a:pt x="63298" y="19265"/>
                  </a:lnTo>
                  <a:lnTo>
                    <a:pt x="62118" y="23983"/>
                  </a:lnTo>
                  <a:lnTo>
                    <a:pt x="60546" y="27914"/>
                  </a:lnTo>
                  <a:lnTo>
                    <a:pt x="58973" y="31846"/>
                  </a:lnTo>
                  <a:lnTo>
                    <a:pt x="57007" y="35777"/>
                  </a:lnTo>
                  <a:lnTo>
                    <a:pt x="55042" y="38923"/>
                  </a:lnTo>
                  <a:lnTo>
                    <a:pt x="52683" y="42068"/>
                  </a:lnTo>
                  <a:lnTo>
                    <a:pt x="50324" y="44820"/>
                  </a:lnTo>
                  <a:lnTo>
                    <a:pt x="47572" y="47179"/>
                  </a:lnTo>
                  <a:lnTo>
                    <a:pt x="44820" y="49144"/>
                  </a:lnTo>
                  <a:lnTo>
                    <a:pt x="41675" y="51110"/>
                  </a:lnTo>
                  <a:lnTo>
                    <a:pt x="38529" y="52290"/>
                  </a:lnTo>
                  <a:lnTo>
                    <a:pt x="35384" y="52683"/>
                  </a:lnTo>
                  <a:lnTo>
                    <a:pt x="32239" y="53076"/>
                  </a:lnTo>
                  <a:lnTo>
                    <a:pt x="32239" y="53076"/>
                  </a:lnTo>
                  <a:lnTo>
                    <a:pt x="28701" y="52683"/>
                  </a:lnTo>
                  <a:lnTo>
                    <a:pt x="25555" y="52290"/>
                  </a:lnTo>
                  <a:lnTo>
                    <a:pt x="22410" y="51110"/>
                  </a:lnTo>
                  <a:lnTo>
                    <a:pt x="19658" y="49144"/>
                  </a:lnTo>
                  <a:lnTo>
                    <a:pt x="16906" y="47179"/>
                  </a:lnTo>
                  <a:lnTo>
                    <a:pt x="14154" y="44820"/>
                  </a:lnTo>
                  <a:lnTo>
                    <a:pt x="11795" y="42068"/>
                  </a:lnTo>
                  <a:lnTo>
                    <a:pt x="9436" y="38923"/>
                  </a:lnTo>
                  <a:lnTo>
                    <a:pt x="7077" y="35777"/>
                  </a:lnTo>
                  <a:lnTo>
                    <a:pt x="5505" y="31846"/>
                  </a:lnTo>
                  <a:lnTo>
                    <a:pt x="3539" y="27914"/>
                  </a:lnTo>
                  <a:lnTo>
                    <a:pt x="2359" y="23983"/>
                  </a:lnTo>
                  <a:lnTo>
                    <a:pt x="1180" y="19265"/>
                  </a:lnTo>
                  <a:lnTo>
                    <a:pt x="394" y="14940"/>
                  </a:lnTo>
                  <a:lnTo>
                    <a:pt x="1" y="10222"/>
                  </a:lnTo>
                  <a:lnTo>
                    <a:pt x="1" y="5111"/>
                  </a:lnTo>
                  <a:lnTo>
                    <a:pt x="1" y="5111"/>
                  </a:lnTo>
                  <a:lnTo>
                    <a:pt x="1"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92"/>
            <p:cNvSpPr/>
            <p:nvPr/>
          </p:nvSpPr>
          <p:spPr>
            <a:xfrm>
              <a:off x="3677275" y="4602100"/>
              <a:ext cx="275250" cy="471800"/>
            </a:xfrm>
            <a:custGeom>
              <a:rect b="b" l="l" r="r" t="t"/>
              <a:pathLst>
                <a:path extrusionOk="0" fill="none" h="18872" w="11010">
                  <a:moveTo>
                    <a:pt x="1" y="0"/>
                  </a:moveTo>
                  <a:lnTo>
                    <a:pt x="11009" y="18872"/>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92"/>
            <p:cNvSpPr/>
            <p:nvPr/>
          </p:nvSpPr>
          <p:spPr>
            <a:xfrm>
              <a:off x="3677275" y="4602100"/>
              <a:ext cx="275250" cy="471800"/>
            </a:xfrm>
            <a:custGeom>
              <a:rect b="b" l="l" r="r" t="t"/>
              <a:pathLst>
                <a:path extrusionOk="0" fill="none" h="18872" w="11010">
                  <a:moveTo>
                    <a:pt x="1" y="18872"/>
                  </a:moveTo>
                  <a:lnTo>
                    <a:pt x="11009"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92"/>
            <p:cNvSpPr/>
            <p:nvPr/>
          </p:nvSpPr>
          <p:spPr>
            <a:xfrm>
              <a:off x="3539675" y="4838000"/>
              <a:ext cx="550450" cy="25"/>
            </a:xfrm>
            <a:custGeom>
              <a:rect b="b" l="l" r="r" t="t"/>
              <a:pathLst>
                <a:path extrusionOk="0" fill="none" h="1" w="22018">
                  <a:moveTo>
                    <a:pt x="1" y="0"/>
                  </a:moveTo>
                  <a:lnTo>
                    <a:pt x="22017"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92"/>
            <p:cNvSpPr/>
            <p:nvPr/>
          </p:nvSpPr>
          <p:spPr>
            <a:xfrm>
              <a:off x="2812350" y="4602100"/>
              <a:ext cx="275225" cy="471800"/>
            </a:xfrm>
            <a:custGeom>
              <a:rect b="b" l="l" r="r" t="t"/>
              <a:pathLst>
                <a:path extrusionOk="0" fill="none" h="18872" w="11009">
                  <a:moveTo>
                    <a:pt x="1" y="0"/>
                  </a:moveTo>
                  <a:lnTo>
                    <a:pt x="11009" y="18872"/>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92"/>
            <p:cNvSpPr/>
            <p:nvPr/>
          </p:nvSpPr>
          <p:spPr>
            <a:xfrm>
              <a:off x="2812350" y="4602100"/>
              <a:ext cx="275225" cy="471800"/>
            </a:xfrm>
            <a:custGeom>
              <a:rect b="b" l="l" r="r" t="t"/>
              <a:pathLst>
                <a:path extrusionOk="0" fill="none" h="18872" w="11009">
                  <a:moveTo>
                    <a:pt x="1" y="18872"/>
                  </a:moveTo>
                  <a:lnTo>
                    <a:pt x="11009"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92"/>
            <p:cNvSpPr/>
            <p:nvPr/>
          </p:nvSpPr>
          <p:spPr>
            <a:xfrm>
              <a:off x="2684575" y="4838000"/>
              <a:ext cx="540600" cy="25"/>
            </a:xfrm>
            <a:custGeom>
              <a:rect b="b" l="l" r="r" t="t"/>
              <a:pathLst>
                <a:path extrusionOk="0" fill="none" h="1" w="21624">
                  <a:moveTo>
                    <a:pt x="1" y="0"/>
                  </a:moveTo>
                  <a:lnTo>
                    <a:pt x="21624"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92"/>
            <p:cNvSpPr/>
            <p:nvPr/>
          </p:nvSpPr>
          <p:spPr>
            <a:xfrm>
              <a:off x="4542225" y="4602100"/>
              <a:ext cx="275225" cy="471800"/>
            </a:xfrm>
            <a:custGeom>
              <a:rect b="b" l="l" r="r" t="t"/>
              <a:pathLst>
                <a:path extrusionOk="0" fill="none" h="18872" w="11009">
                  <a:moveTo>
                    <a:pt x="0" y="0"/>
                  </a:moveTo>
                  <a:lnTo>
                    <a:pt x="11009" y="18872"/>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92"/>
            <p:cNvSpPr/>
            <p:nvPr/>
          </p:nvSpPr>
          <p:spPr>
            <a:xfrm>
              <a:off x="4542225" y="4602100"/>
              <a:ext cx="275225" cy="471800"/>
            </a:xfrm>
            <a:custGeom>
              <a:rect b="b" l="l" r="r" t="t"/>
              <a:pathLst>
                <a:path extrusionOk="0" fill="none" h="18872" w="11009">
                  <a:moveTo>
                    <a:pt x="0" y="18872"/>
                  </a:moveTo>
                  <a:lnTo>
                    <a:pt x="11009"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92"/>
            <p:cNvSpPr/>
            <p:nvPr/>
          </p:nvSpPr>
          <p:spPr>
            <a:xfrm>
              <a:off x="4404625" y="4838000"/>
              <a:ext cx="550425" cy="25"/>
            </a:xfrm>
            <a:custGeom>
              <a:rect b="b" l="l" r="r" t="t"/>
              <a:pathLst>
                <a:path extrusionOk="0" fill="none" h="1" w="22017">
                  <a:moveTo>
                    <a:pt x="0" y="0"/>
                  </a:moveTo>
                  <a:lnTo>
                    <a:pt x="22017"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35" name="Google Shape;935;p92"/>
          <p:cNvPicPr preferRelativeResize="0"/>
          <p:nvPr/>
        </p:nvPicPr>
        <p:blipFill rotWithShape="1">
          <a:blip r:embed="rId3">
            <a:alphaModFix amt="12000"/>
          </a:blip>
          <a:srcRect b="21874" l="0" r="0" t="0"/>
          <a:stretch/>
        </p:blipFill>
        <p:spPr>
          <a:xfrm>
            <a:off x="6504875" y="3069475"/>
            <a:ext cx="2639125" cy="20740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pic>
        <p:nvPicPr>
          <p:cNvPr id="940" name="Google Shape;940;p93"/>
          <p:cNvPicPr preferRelativeResize="0"/>
          <p:nvPr/>
        </p:nvPicPr>
        <p:blipFill rotWithShape="1">
          <a:blip r:embed="rId3">
            <a:alphaModFix/>
          </a:blip>
          <a:srcRect b="9211" l="0" r="17239" t="5971"/>
          <a:stretch/>
        </p:blipFill>
        <p:spPr>
          <a:xfrm>
            <a:off x="0" y="0"/>
            <a:ext cx="9144003" cy="5143500"/>
          </a:xfrm>
          <a:prstGeom prst="rect">
            <a:avLst/>
          </a:prstGeom>
          <a:noFill/>
          <a:ln>
            <a:noFill/>
          </a:ln>
        </p:spPr>
      </p:pic>
      <p:sp>
        <p:nvSpPr>
          <p:cNvPr id="941" name="Google Shape;941;p93"/>
          <p:cNvSpPr txBox="1"/>
          <p:nvPr>
            <p:ph idx="12" type="sldNum"/>
          </p:nvPr>
        </p:nvSpPr>
        <p:spPr>
          <a:xfrm>
            <a:off x="8607775" y="4957200"/>
            <a:ext cx="261900" cy="10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42" name="Google Shape;942;p93"/>
          <p:cNvSpPr/>
          <p:nvPr/>
        </p:nvSpPr>
        <p:spPr>
          <a:xfrm>
            <a:off x="246525" y="945750"/>
            <a:ext cx="3252000" cy="3252000"/>
          </a:xfrm>
          <a:prstGeom prst="ellipse">
            <a:avLst/>
          </a:prstGeom>
          <a:solidFill>
            <a:schemeClr val="accent1"/>
          </a:solidFill>
          <a:ln>
            <a:noFill/>
          </a:ln>
        </p:spPr>
        <p:txBody>
          <a:bodyPr anchorCtr="0" anchor="ctr" bIns="0" lIns="0" spcFirstLastPara="1" rIns="0"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2"/>
                </a:solidFill>
                <a:latin typeface="Roboto"/>
                <a:ea typeface="Roboto"/>
                <a:cs typeface="Roboto"/>
                <a:sym typeface="Roboto"/>
              </a:rPr>
              <a:t>Since local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accounts use NTLM authentication,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it’s possible to guess passwords for a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local account without having to interact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with any DCs.</a:t>
            </a:r>
            <a:endParaRPr sz="1800">
              <a:solidFill>
                <a:schemeClr val="dk2"/>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6" name="Shape 946"/>
        <p:cNvGrpSpPr/>
        <p:nvPr/>
      </p:nvGrpSpPr>
      <p:grpSpPr>
        <a:xfrm>
          <a:off x="0" y="0"/>
          <a:ext cx="0" cy="0"/>
          <a:chOff x="0" y="0"/>
          <a:chExt cx="0" cy="0"/>
        </a:xfrm>
      </p:grpSpPr>
      <p:sp>
        <p:nvSpPr>
          <p:cNvPr id="947" name="Google Shape;947;p94"/>
          <p:cNvSpPr txBox="1"/>
          <p:nvPr>
            <p:ph type="title"/>
          </p:nvPr>
        </p:nvSpPr>
        <p:spPr>
          <a:xfrm>
            <a:off x="914400" y="31135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Password-Based Attacks</a:t>
            </a:r>
            <a:endParaRPr>
              <a:latin typeface="Roboto Medium"/>
              <a:ea typeface="Roboto Medium"/>
              <a:cs typeface="Roboto Medium"/>
              <a:sym typeface="Roboto Medium"/>
            </a:endParaRPr>
          </a:p>
        </p:txBody>
      </p:sp>
      <p:sp>
        <p:nvSpPr>
          <p:cNvPr id="948" name="Google Shape;948;p94"/>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949" name="Google Shape;949;p94"/>
          <p:cNvSpPr/>
          <p:nvPr/>
        </p:nvSpPr>
        <p:spPr>
          <a:xfrm>
            <a:off x="-15075" y="2197725"/>
            <a:ext cx="9168600" cy="294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0" name="Google Shape;950;p94"/>
          <p:cNvPicPr preferRelativeResize="0"/>
          <p:nvPr/>
        </p:nvPicPr>
        <p:blipFill>
          <a:blip r:embed="rId3">
            <a:alphaModFix/>
          </a:blip>
          <a:stretch>
            <a:fillRect/>
          </a:stretch>
        </p:blipFill>
        <p:spPr>
          <a:xfrm>
            <a:off x="3012032" y="2406112"/>
            <a:ext cx="5711126" cy="2218975"/>
          </a:xfrm>
          <a:prstGeom prst="rect">
            <a:avLst/>
          </a:prstGeom>
          <a:noFill/>
          <a:ln>
            <a:noFill/>
          </a:ln>
        </p:spPr>
      </p:pic>
      <p:sp>
        <p:nvSpPr>
          <p:cNvPr id="951" name="Google Shape;951;p94"/>
          <p:cNvSpPr txBox="1"/>
          <p:nvPr>
            <p:ph idx="4294967295" type="title"/>
          </p:nvPr>
        </p:nvSpPr>
        <p:spPr>
          <a:xfrm>
            <a:off x="451500" y="1140175"/>
            <a:ext cx="7778100" cy="8028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1200"/>
              </a:spcAft>
              <a:buNone/>
            </a:pPr>
            <a:r>
              <a:rPr b="0" lang="en" sz="1800"/>
              <a:t>Local passwords are stored in the Security Account Manager (SAM) database. When a local user tries to authenticate to their own computer, </a:t>
            </a:r>
            <a:br>
              <a:rPr b="0" lang="en" sz="1800"/>
            </a:br>
            <a:r>
              <a:rPr b="0" lang="en" sz="1800"/>
              <a:t>the computer issues and verifies the challenge to check the password instead of a different machine.</a:t>
            </a:r>
            <a:endParaRPr b="0" sz="1800"/>
          </a:p>
        </p:txBody>
      </p:sp>
      <p:sp>
        <p:nvSpPr>
          <p:cNvPr id="952" name="Google Shape;952;p94"/>
          <p:cNvSpPr txBox="1"/>
          <p:nvPr>
            <p:ph idx="2" type="body"/>
          </p:nvPr>
        </p:nvSpPr>
        <p:spPr>
          <a:xfrm>
            <a:off x="457200" y="3064225"/>
            <a:ext cx="2585700" cy="1606200"/>
          </a:xfrm>
          <a:prstGeom prst="rect">
            <a:avLst/>
          </a:prstGeom>
        </p:spPr>
        <p:txBody>
          <a:bodyPr anchorCtr="0" anchor="t" bIns="0" lIns="0" spcFirstLastPara="1" rIns="0"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t>This lets an attacker  </a:t>
            </a:r>
            <a:r>
              <a:rPr b="1" lang="en" sz="1800">
                <a:latin typeface="Roboto"/>
                <a:ea typeface="Roboto"/>
                <a:cs typeface="Roboto"/>
                <a:sym typeface="Roboto"/>
              </a:rPr>
              <a:t>brute-force</a:t>
            </a:r>
            <a:r>
              <a:rPr lang="en" sz="1800"/>
              <a:t> or </a:t>
            </a:r>
            <a:br>
              <a:rPr lang="en" sz="1800"/>
            </a:br>
            <a:r>
              <a:rPr lang="en" sz="1800"/>
              <a:t>attempt to log in to </a:t>
            </a:r>
            <a:br>
              <a:rPr lang="en" sz="1800"/>
            </a:br>
            <a:r>
              <a:rPr lang="en" sz="1800"/>
              <a:t>an account by trying multiple passwords. </a:t>
            </a:r>
            <a:endParaRPr sz="1800"/>
          </a:p>
        </p:txBody>
      </p:sp>
      <p:grpSp>
        <p:nvGrpSpPr>
          <p:cNvPr id="953" name="Google Shape;953;p94"/>
          <p:cNvGrpSpPr/>
          <p:nvPr/>
        </p:nvGrpSpPr>
        <p:grpSpPr>
          <a:xfrm>
            <a:off x="263343" y="273412"/>
            <a:ext cx="387729" cy="423494"/>
            <a:chOff x="1465800" y="297075"/>
            <a:chExt cx="4688375" cy="5120850"/>
          </a:xfrm>
        </p:grpSpPr>
        <p:sp>
          <p:nvSpPr>
            <p:cNvPr id="954" name="Google Shape;954;p94"/>
            <p:cNvSpPr/>
            <p:nvPr/>
          </p:nvSpPr>
          <p:spPr>
            <a:xfrm>
              <a:off x="2104675" y="4248275"/>
              <a:ext cx="3410625" cy="1169650"/>
            </a:xfrm>
            <a:custGeom>
              <a:rect b="b" l="l" r="r" t="t"/>
              <a:pathLst>
                <a:path extrusionOk="0" fill="none" h="46786" w="136425">
                  <a:moveTo>
                    <a:pt x="130920" y="46785"/>
                  </a:moveTo>
                  <a:lnTo>
                    <a:pt x="5898" y="46785"/>
                  </a:lnTo>
                  <a:lnTo>
                    <a:pt x="5898" y="46785"/>
                  </a:lnTo>
                  <a:lnTo>
                    <a:pt x="4719" y="46785"/>
                  </a:lnTo>
                  <a:lnTo>
                    <a:pt x="3539" y="46392"/>
                  </a:lnTo>
                  <a:lnTo>
                    <a:pt x="1967" y="45212"/>
                  </a:lnTo>
                  <a:lnTo>
                    <a:pt x="787" y="43247"/>
                  </a:lnTo>
                  <a:lnTo>
                    <a:pt x="394" y="42067"/>
                  </a:lnTo>
                  <a:lnTo>
                    <a:pt x="1" y="40888"/>
                  </a:lnTo>
                  <a:lnTo>
                    <a:pt x="1" y="5897"/>
                  </a:lnTo>
                  <a:lnTo>
                    <a:pt x="1" y="5897"/>
                  </a:lnTo>
                  <a:lnTo>
                    <a:pt x="394" y="4718"/>
                  </a:lnTo>
                  <a:lnTo>
                    <a:pt x="787" y="3538"/>
                  </a:lnTo>
                  <a:lnTo>
                    <a:pt x="1967" y="1966"/>
                  </a:lnTo>
                  <a:lnTo>
                    <a:pt x="3539" y="786"/>
                  </a:lnTo>
                  <a:lnTo>
                    <a:pt x="4719" y="393"/>
                  </a:lnTo>
                  <a:lnTo>
                    <a:pt x="5898" y="0"/>
                  </a:lnTo>
                  <a:lnTo>
                    <a:pt x="130920" y="0"/>
                  </a:lnTo>
                  <a:lnTo>
                    <a:pt x="130920" y="0"/>
                  </a:lnTo>
                  <a:lnTo>
                    <a:pt x="132100" y="393"/>
                  </a:lnTo>
                  <a:lnTo>
                    <a:pt x="132886" y="786"/>
                  </a:lnTo>
                  <a:lnTo>
                    <a:pt x="134852" y="1966"/>
                  </a:lnTo>
                  <a:lnTo>
                    <a:pt x="136031" y="3538"/>
                  </a:lnTo>
                  <a:lnTo>
                    <a:pt x="136424" y="4718"/>
                  </a:lnTo>
                  <a:lnTo>
                    <a:pt x="136424" y="5897"/>
                  </a:lnTo>
                  <a:lnTo>
                    <a:pt x="136424" y="40888"/>
                  </a:lnTo>
                  <a:lnTo>
                    <a:pt x="136424" y="40888"/>
                  </a:lnTo>
                  <a:lnTo>
                    <a:pt x="136424" y="42067"/>
                  </a:lnTo>
                  <a:lnTo>
                    <a:pt x="136031" y="43247"/>
                  </a:lnTo>
                  <a:lnTo>
                    <a:pt x="134852" y="45212"/>
                  </a:lnTo>
                  <a:lnTo>
                    <a:pt x="132886" y="46392"/>
                  </a:lnTo>
                  <a:lnTo>
                    <a:pt x="132100" y="46785"/>
                  </a:lnTo>
                  <a:lnTo>
                    <a:pt x="130920" y="46785"/>
                  </a:lnTo>
                  <a:lnTo>
                    <a:pt x="130920" y="46785"/>
                  </a:lnTo>
                  <a:close/>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94"/>
            <p:cNvSpPr/>
            <p:nvPr/>
          </p:nvSpPr>
          <p:spPr>
            <a:xfrm>
              <a:off x="2576475" y="297075"/>
              <a:ext cx="2457200" cy="1523500"/>
            </a:xfrm>
            <a:custGeom>
              <a:rect b="b" l="l" r="r" t="t"/>
              <a:pathLst>
                <a:path extrusionOk="0" fill="none" h="60940" w="98288">
                  <a:moveTo>
                    <a:pt x="49144" y="60939"/>
                  </a:moveTo>
                  <a:lnTo>
                    <a:pt x="49144" y="60939"/>
                  </a:lnTo>
                  <a:lnTo>
                    <a:pt x="91604" y="60939"/>
                  </a:lnTo>
                  <a:lnTo>
                    <a:pt x="91604" y="60939"/>
                  </a:lnTo>
                  <a:lnTo>
                    <a:pt x="92784" y="60546"/>
                  </a:lnTo>
                  <a:lnTo>
                    <a:pt x="93963" y="60153"/>
                  </a:lnTo>
                  <a:lnTo>
                    <a:pt x="95143" y="59760"/>
                  </a:lnTo>
                  <a:lnTo>
                    <a:pt x="96322" y="58974"/>
                  </a:lnTo>
                  <a:lnTo>
                    <a:pt x="97108" y="57794"/>
                  </a:lnTo>
                  <a:lnTo>
                    <a:pt x="97502" y="56615"/>
                  </a:lnTo>
                  <a:lnTo>
                    <a:pt x="97895" y="55435"/>
                  </a:lnTo>
                  <a:lnTo>
                    <a:pt x="98288" y="54256"/>
                  </a:lnTo>
                  <a:lnTo>
                    <a:pt x="98288" y="54256"/>
                  </a:lnTo>
                  <a:lnTo>
                    <a:pt x="97895" y="52683"/>
                  </a:lnTo>
                  <a:lnTo>
                    <a:pt x="97502" y="51504"/>
                  </a:lnTo>
                  <a:lnTo>
                    <a:pt x="97108" y="50324"/>
                  </a:lnTo>
                  <a:lnTo>
                    <a:pt x="96322" y="49538"/>
                  </a:lnTo>
                  <a:lnTo>
                    <a:pt x="95143" y="48752"/>
                  </a:lnTo>
                  <a:lnTo>
                    <a:pt x="93963" y="47965"/>
                  </a:lnTo>
                  <a:lnTo>
                    <a:pt x="92784" y="47572"/>
                  </a:lnTo>
                  <a:lnTo>
                    <a:pt x="91604" y="47572"/>
                  </a:lnTo>
                  <a:lnTo>
                    <a:pt x="91604" y="47572"/>
                  </a:lnTo>
                  <a:lnTo>
                    <a:pt x="88066" y="47572"/>
                  </a:lnTo>
                  <a:lnTo>
                    <a:pt x="88066" y="47572"/>
                  </a:lnTo>
                  <a:lnTo>
                    <a:pt x="87280" y="40102"/>
                  </a:lnTo>
                  <a:lnTo>
                    <a:pt x="86493" y="32633"/>
                  </a:lnTo>
                  <a:lnTo>
                    <a:pt x="84921" y="23590"/>
                  </a:lnTo>
                  <a:lnTo>
                    <a:pt x="83741" y="19265"/>
                  </a:lnTo>
                  <a:lnTo>
                    <a:pt x="82562" y="14941"/>
                  </a:lnTo>
                  <a:lnTo>
                    <a:pt x="80989" y="11009"/>
                  </a:lnTo>
                  <a:lnTo>
                    <a:pt x="79023" y="7471"/>
                  </a:lnTo>
                  <a:lnTo>
                    <a:pt x="76665" y="4326"/>
                  </a:lnTo>
                  <a:lnTo>
                    <a:pt x="74306" y="1967"/>
                  </a:lnTo>
                  <a:lnTo>
                    <a:pt x="72733" y="1180"/>
                  </a:lnTo>
                  <a:lnTo>
                    <a:pt x="71554" y="394"/>
                  </a:lnTo>
                  <a:lnTo>
                    <a:pt x="69981" y="1"/>
                  </a:lnTo>
                  <a:lnTo>
                    <a:pt x="68015" y="1"/>
                  </a:lnTo>
                  <a:lnTo>
                    <a:pt x="68015" y="1"/>
                  </a:lnTo>
                  <a:lnTo>
                    <a:pt x="65656" y="1"/>
                  </a:lnTo>
                  <a:lnTo>
                    <a:pt x="63297" y="787"/>
                  </a:lnTo>
                  <a:lnTo>
                    <a:pt x="59759" y="2753"/>
                  </a:lnTo>
                  <a:lnTo>
                    <a:pt x="57793" y="3539"/>
                  </a:lnTo>
                  <a:lnTo>
                    <a:pt x="55434" y="4719"/>
                  </a:lnTo>
                  <a:lnTo>
                    <a:pt x="52682" y="5112"/>
                  </a:lnTo>
                  <a:lnTo>
                    <a:pt x="49144" y="5505"/>
                  </a:lnTo>
                  <a:lnTo>
                    <a:pt x="49144" y="5505"/>
                  </a:lnTo>
                  <a:lnTo>
                    <a:pt x="45606" y="5112"/>
                  </a:lnTo>
                  <a:lnTo>
                    <a:pt x="42854" y="4719"/>
                  </a:lnTo>
                  <a:lnTo>
                    <a:pt x="40495" y="3539"/>
                  </a:lnTo>
                  <a:lnTo>
                    <a:pt x="38529" y="2753"/>
                  </a:lnTo>
                  <a:lnTo>
                    <a:pt x="34597" y="787"/>
                  </a:lnTo>
                  <a:lnTo>
                    <a:pt x="32632" y="1"/>
                  </a:lnTo>
                  <a:lnTo>
                    <a:pt x="29880" y="1"/>
                  </a:lnTo>
                  <a:lnTo>
                    <a:pt x="29880" y="1"/>
                  </a:lnTo>
                  <a:lnTo>
                    <a:pt x="28307" y="1"/>
                  </a:lnTo>
                  <a:lnTo>
                    <a:pt x="26734" y="394"/>
                  </a:lnTo>
                  <a:lnTo>
                    <a:pt x="25162" y="1180"/>
                  </a:lnTo>
                  <a:lnTo>
                    <a:pt x="23982" y="1967"/>
                  </a:lnTo>
                  <a:lnTo>
                    <a:pt x="21230" y="4326"/>
                  </a:lnTo>
                  <a:lnTo>
                    <a:pt x="19264" y="7471"/>
                  </a:lnTo>
                  <a:lnTo>
                    <a:pt x="17299" y="11009"/>
                  </a:lnTo>
                  <a:lnTo>
                    <a:pt x="15726" y="14941"/>
                  </a:lnTo>
                  <a:lnTo>
                    <a:pt x="14153" y="19265"/>
                  </a:lnTo>
                  <a:lnTo>
                    <a:pt x="13367" y="23590"/>
                  </a:lnTo>
                  <a:lnTo>
                    <a:pt x="11795" y="32633"/>
                  </a:lnTo>
                  <a:lnTo>
                    <a:pt x="10615" y="40102"/>
                  </a:lnTo>
                  <a:lnTo>
                    <a:pt x="10222" y="47572"/>
                  </a:lnTo>
                  <a:lnTo>
                    <a:pt x="10222" y="47572"/>
                  </a:lnTo>
                  <a:lnTo>
                    <a:pt x="6684" y="47572"/>
                  </a:lnTo>
                  <a:lnTo>
                    <a:pt x="6684" y="47572"/>
                  </a:lnTo>
                  <a:lnTo>
                    <a:pt x="5111" y="47572"/>
                  </a:lnTo>
                  <a:lnTo>
                    <a:pt x="3932" y="47965"/>
                  </a:lnTo>
                  <a:lnTo>
                    <a:pt x="2752" y="48752"/>
                  </a:lnTo>
                  <a:lnTo>
                    <a:pt x="1966" y="49538"/>
                  </a:lnTo>
                  <a:lnTo>
                    <a:pt x="1179" y="50324"/>
                  </a:lnTo>
                  <a:lnTo>
                    <a:pt x="393" y="51504"/>
                  </a:lnTo>
                  <a:lnTo>
                    <a:pt x="0" y="52683"/>
                  </a:lnTo>
                  <a:lnTo>
                    <a:pt x="0" y="54256"/>
                  </a:lnTo>
                  <a:lnTo>
                    <a:pt x="0" y="54256"/>
                  </a:lnTo>
                  <a:lnTo>
                    <a:pt x="0" y="55435"/>
                  </a:lnTo>
                  <a:lnTo>
                    <a:pt x="393" y="56615"/>
                  </a:lnTo>
                  <a:lnTo>
                    <a:pt x="1179" y="57794"/>
                  </a:lnTo>
                  <a:lnTo>
                    <a:pt x="1966" y="58974"/>
                  </a:lnTo>
                  <a:lnTo>
                    <a:pt x="2752" y="59760"/>
                  </a:lnTo>
                  <a:lnTo>
                    <a:pt x="3932" y="60153"/>
                  </a:lnTo>
                  <a:lnTo>
                    <a:pt x="5111" y="60546"/>
                  </a:lnTo>
                  <a:lnTo>
                    <a:pt x="6684" y="60939"/>
                  </a:lnTo>
                  <a:lnTo>
                    <a:pt x="6684" y="60939"/>
                  </a:lnTo>
                  <a:lnTo>
                    <a:pt x="49144" y="60939"/>
                  </a:lnTo>
                  <a:lnTo>
                    <a:pt x="49144" y="60939"/>
                  </a:lnTo>
                  <a:close/>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94"/>
            <p:cNvSpPr/>
            <p:nvPr/>
          </p:nvSpPr>
          <p:spPr>
            <a:xfrm>
              <a:off x="1465800" y="2891900"/>
              <a:ext cx="1140175" cy="2398250"/>
            </a:xfrm>
            <a:custGeom>
              <a:rect b="b" l="l" r="r" t="t"/>
              <a:pathLst>
                <a:path extrusionOk="0" fill="none" h="95930" w="45607">
                  <a:moveTo>
                    <a:pt x="25163" y="95929"/>
                  </a:moveTo>
                  <a:lnTo>
                    <a:pt x="25163" y="95929"/>
                  </a:lnTo>
                  <a:lnTo>
                    <a:pt x="16120" y="86887"/>
                  </a:lnTo>
                  <a:lnTo>
                    <a:pt x="3932" y="74699"/>
                  </a:lnTo>
                  <a:lnTo>
                    <a:pt x="3932" y="74699"/>
                  </a:lnTo>
                  <a:lnTo>
                    <a:pt x="2753" y="73519"/>
                  </a:lnTo>
                  <a:lnTo>
                    <a:pt x="1967" y="71554"/>
                  </a:lnTo>
                  <a:lnTo>
                    <a:pt x="1180" y="69981"/>
                  </a:lnTo>
                  <a:lnTo>
                    <a:pt x="394" y="68015"/>
                  </a:lnTo>
                  <a:lnTo>
                    <a:pt x="1" y="65263"/>
                  </a:lnTo>
                  <a:lnTo>
                    <a:pt x="1" y="62511"/>
                  </a:lnTo>
                  <a:lnTo>
                    <a:pt x="394" y="58973"/>
                  </a:lnTo>
                  <a:lnTo>
                    <a:pt x="1180" y="55041"/>
                  </a:lnTo>
                  <a:lnTo>
                    <a:pt x="1180" y="55041"/>
                  </a:lnTo>
                  <a:lnTo>
                    <a:pt x="11009" y="9829"/>
                  </a:lnTo>
                  <a:lnTo>
                    <a:pt x="11009" y="9829"/>
                  </a:lnTo>
                  <a:lnTo>
                    <a:pt x="11402" y="7077"/>
                  </a:lnTo>
                  <a:lnTo>
                    <a:pt x="12189" y="5111"/>
                  </a:lnTo>
                  <a:lnTo>
                    <a:pt x="13368" y="3538"/>
                  </a:lnTo>
                  <a:lnTo>
                    <a:pt x="14548" y="2359"/>
                  </a:lnTo>
                  <a:lnTo>
                    <a:pt x="16120" y="1179"/>
                  </a:lnTo>
                  <a:lnTo>
                    <a:pt x="18086" y="786"/>
                  </a:lnTo>
                  <a:lnTo>
                    <a:pt x="20052" y="393"/>
                  </a:lnTo>
                  <a:lnTo>
                    <a:pt x="22804" y="0"/>
                  </a:lnTo>
                  <a:lnTo>
                    <a:pt x="22804" y="0"/>
                  </a:lnTo>
                  <a:lnTo>
                    <a:pt x="45606"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94"/>
            <p:cNvSpPr/>
            <p:nvPr/>
          </p:nvSpPr>
          <p:spPr>
            <a:xfrm>
              <a:off x="2242275" y="2361125"/>
              <a:ext cx="1071375" cy="1602125"/>
            </a:xfrm>
            <a:custGeom>
              <a:rect b="b" l="l" r="r" t="t"/>
              <a:pathLst>
                <a:path extrusionOk="0" fill="none" h="64085" w="42855">
                  <a:moveTo>
                    <a:pt x="42854" y="64085"/>
                  </a:moveTo>
                  <a:lnTo>
                    <a:pt x="1" y="1"/>
                  </a:lnTo>
                  <a:lnTo>
                    <a:pt x="31846" y="1"/>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94"/>
            <p:cNvSpPr/>
            <p:nvPr/>
          </p:nvSpPr>
          <p:spPr>
            <a:xfrm>
              <a:off x="2773050" y="2636350"/>
              <a:ext cx="570075" cy="855125"/>
            </a:xfrm>
            <a:custGeom>
              <a:rect b="b" l="l" r="r" t="t"/>
              <a:pathLst>
                <a:path extrusionOk="0" fill="none" h="34205" w="22803">
                  <a:moveTo>
                    <a:pt x="22803" y="34204"/>
                  </a:moveTo>
                  <a:lnTo>
                    <a:pt x="0"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94"/>
            <p:cNvSpPr/>
            <p:nvPr/>
          </p:nvSpPr>
          <p:spPr>
            <a:xfrm>
              <a:off x="5023825" y="2891900"/>
              <a:ext cx="1130350" cy="2398250"/>
            </a:xfrm>
            <a:custGeom>
              <a:rect b="b" l="l" r="r" t="t"/>
              <a:pathLst>
                <a:path extrusionOk="0" fill="none" h="95930" w="45214">
                  <a:moveTo>
                    <a:pt x="20051" y="95929"/>
                  </a:moveTo>
                  <a:lnTo>
                    <a:pt x="20051" y="95929"/>
                  </a:lnTo>
                  <a:lnTo>
                    <a:pt x="29487" y="86887"/>
                  </a:lnTo>
                  <a:lnTo>
                    <a:pt x="41282" y="74699"/>
                  </a:lnTo>
                  <a:lnTo>
                    <a:pt x="41282" y="74699"/>
                  </a:lnTo>
                  <a:lnTo>
                    <a:pt x="42461" y="73519"/>
                  </a:lnTo>
                  <a:lnTo>
                    <a:pt x="43640" y="71554"/>
                  </a:lnTo>
                  <a:lnTo>
                    <a:pt x="44427" y="69981"/>
                  </a:lnTo>
                  <a:lnTo>
                    <a:pt x="45213" y="68015"/>
                  </a:lnTo>
                  <a:lnTo>
                    <a:pt x="45213" y="65263"/>
                  </a:lnTo>
                  <a:lnTo>
                    <a:pt x="45213" y="62511"/>
                  </a:lnTo>
                  <a:lnTo>
                    <a:pt x="44820" y="58973"/>
                  </a:lnTo>
                  <a:lnTo>
                    <a:pt x="44034" y="55041"/>
                  </a:lnTo>
                  <a:lnTo>
                    <a:pt x="44034" y="55041"/>
                  </a:lnTo>
                  <a:lnTo>
                    <a:pt x="34598" y="9829"/>
                  </a:lnTo>
                  <a:lnTo>
                    <a:pt x="34598" y="9829"/>
                  </a:lnTo>
                  <a:lnTo>
                    <a:pt x="33812" y="7077"/>
                  </a:lnTo>
                  <a:lnTo>
                    <a:pt x="33025" y="5111"/>
                  </a:lnTo>
                  <a:lnTo>
                    <a:pt x="32239" y="3538"/>
                  </a:lnTo>
                  <a:lnTo>
                    <a:pt x="31060" y="2359"/>
                  </a:lnTo>
                  <a:lnTo>
                    <a:pt x="29487" y="1179"/>
                  </a:lnTo>
                  <a:lnTo>
                    <a:pt x="27521" y="786"/>
                  </a:lnTo>
                  <a:lnTo>
                    <a:pt x="25162" y="393"/>
                  </a:lnTo>
                  <a:lnTo>
                    <a:pt x="22803" y="0"/>
                  </a:lnTo>
                  <a:lnTo>
                    <a:pt x="22803" y="0"/>
                  </a:lnTo>
                  <a:lnTo>
                    <a:pt x="1"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94"/>
            <p:cNvSpPr/>
            <p:nvPr/>
          </p:nvSpPr>
          <p:spPr>
            <a:xfrm>
              <a:off x="4316150" y="2361125"/>
              <a:ext cx="1061550" cy="1602125"/>
            </a:xfrm>
            <a:custGeom>
              <a:rect b="b" l="l" r="r" t="t"/>
              <a:pathLst>
                <a:path extrusionOk="0" fill="none" h="64085" w="42462">
                  <a:moveTo>
                    <a:pt x="1" y="64085"/>
                  </a:moveTo>
                  <a:lnTo>
                    <a:pt x="42461" y="1"/>
                  </a:lnTo>
                  <a:lnTo>
                    <a:pt x="10616" y="1"/>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94"/>
            <p:cNvSpPr/>
            <p:nvPr/>
          </p:nvSpPr>
          <p:spPr>
            <a:xfrm>
              <a:off x="4286675" y="2636350"/>
              <a:ext cx="560250" cy="855125"/>
            </a:xfrm>
            <a:custGeom>
              <a:rect b="b" l="l" r="r" t="t"/>
              <a:pathLst>
                <a:path extrusionOk="0" fill="none" h="34205" w="22410">
                  <a:moveTo>
                    <a:pt x="0" y="34204"/>
                  </a:moveTo>
                  <a:lnTo>
                    <a:pt x="22410"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94"/>
            <p:cNvSpPr/>
            <p:nvPr/>
          </p:nvSpPr>
          <p:spPr>
            <a:xfrm>
              <a:off x="2832000" y="1486375"/>
              <a:ext cx="1946125" cy="25"/>
            </a:xfrm>
            <a:custGeom>
              <a:rect b="b" l="l" r="r" t="t"/>
              <a:pathLst>
                <a:path extrusionOk="0" fill="none" h="1" w="77845">
                  <a:moveTo>
                    <a:pt x="1" y="0"/>
                  </a:moveTo>
                  <a:lnTo>
                    <a:pt x="77845"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94"/>
            <p:cNvSpPr/>
            <p:nvPr/>
          </p:nvSpPr>
          <p:spPr>
            <a:xfrm>
              <a:off x="2999100" y="1820550"/>
              <a:ext cx="1611950" cy="1326900"/>
            </a:xfrm>
            <a:custGeom>
              <a:rect b="b" l="l" r="r" t="t"/>
              <a:pathLst>
                <a:path extrusionOk="0" fill="none" h="53076" w="64478">
                  <a:moveTo>
                    <a:pt x="64477" y="394"/>
                  </a:moveTo>
                  <a:lnTo>
                    <a:pt x="64477" y="394"/>
                  </a:lnTo>
                  <a:lnTo>
                    <a:pt x="64477" y="5111"/>
                  </a:lnTo>
                  <a:lnTo>
                    <a:pt x="64477" y="5111"/>
                  </a:lnTo>
                  <a:lnTo>
                    <a:pt x="64477" y="10222"/>
                  </a:lnTo>
                  <a:lnTo>
                    <a:pt x="64084" y="14940"/>
                  </a:lnTo>
                  <a:lnTo>
                    <a:pt x="63298" y="19265"/>
                  </a:lnTo>
                  <a:lnTo>
                    <a:pt x="62118" y="23983"/>
                  </a:lnTo>
                  <a:lnTo>
                    <a:pt x="60546" y="27914"/>
                  </a:lnTo>
                  <a:lnTo>
                    <a:pt x="58973" y="31846"/>
                  </a:lnTo>
                  <a:lnTo>
                    <a:pt x="57007" y="35777"/>
                  </a:lnTo>
                  <a:lnTo>
                    <a:pt x="55042" y="38923"/>
                  </a:lnTo>
                  <a:lnTo>
                    <a:pt x="52683" y="42068"/>
                  </a:lnTo>
                  <a:lnTo>
                    <a:pt x="50324" y="44820"/>
                  </a:lnTo>
                  <a:lnTo>
                    <a:pt x="47572" y="47179"/>
                  </a:lnTo>
                  <a:lnTo>
                    <a:pt x="44820" y="49144"/>
                  </a:lnTo>
                  <a:lnTo>
                    <a:pt x="41675" y="51110"/>
                  </a:lnTo>
                  <a:lnTo>
                    <a:pt x="38529" y="52290"/>
                  </a:lnTo>
                  <a:lnTo>
                    <a:pt x="35384" y="52683"/>
                  </a:lnTo>
                  <a:lnTo>
                    <a:pt x="32239" y="53076"/>
                  </a:lnTo>
                  <a:lnTo>
                    <a:pt x="32239" y="53076"/>
                  </a:lnTo>
                  <a:lnTo>
                    <a:pt x="28701" y="52683"/>
                  </a:lnTo>
                  <a:lnTo>
                    <a:pt x="25555" y="52290"/>
                  </a:lnTo>
                  <a:lnTo>
                    <a:pt x="22410" y="51110"/>
                  </a:lnTo>
                  <a:lnTo>
                    <a:pt x="19658" y="49144"/>
                  </a:lnTo>
                  <a:lnTo>
                    <a:pt x="16906" y="47179"/>
                  </a:lnTo>
                  <a:lnTo>
                    <a:pt x="14154" y="44820"/>
                  </a:lnTo>
                  <a:lnTo>
                    <a:pt x="11795" y="42068"/>
                  </a:lnTo>
                  <a:lnTo>
                    <a:pt x="9436" y="38923"/>
                  </a:lnTo>
                  <a:lnTo>
                    <a:pt x="7077" y="35777"/>
                  </a:lnTo>
                  <a:lnTo>
                    <a:pt x="5505" y="31846"/>
                  </a:lnTo>
                  <a:lnTo>
                    <a:pt x="3539" y="27914"/>
                  </a:lnTo>
                  <a:lnTo>
                    <a:pt x="2359" y="23983"/>
                  </a:lnTo>
                  <a:lnTo>
                    <a:pt x="1180" y="19265"/>
                  </a:lnTo>
                  <a:lnTo>
                    <a:pt x="394" y="14940"/>
                  </a:lnTo>
                  <a:lnTo>
                    <a:pt x="1" y="10222"/>
                  </a:lnTo>
                  <a:lnTo>
                    <a:pt x="1" y="5111"/>
                  </a:lnTo>
                  <a:lnTo>
                    <a:pt x="1" y="5111"/>
                  </a:lnTo>
                  <a:lnTo>
                    <a:pt x="1"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94"/>
            <p:cNvSpPr/>
            <p:nvPr/>
          </p:nvSpPr>
          <p:spPr>
            <a:xfrm>
              <a:off x="3677275" y="4602100"/>
              <a:ext cx="275250" cy="471800"/>
            </a:xfrm>
            <a:custGeom>
              <a:rect b="b" l="l" r="r" t="t"/>
              <a:pathLst>
                <a:path extrusionOk="0" fill="none" h="18872" w="11010">
                  <a:moveTo>
                    <a:pt x="1" y="0"/>
                  </a:moveTo>
                  <a:lnTo>
                    <a:pt x="11009" y="18872"/>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94"/>
            <p:cNvSpPr/>
            <p:nvPr/>
          </p:nvSpPr>
          <p:spPr>
            <a:xfrm>
              <a:off x="3677275" y="4602100"/>
              <a:ext cx="275250" cy="471800"/>
            </a:xfrm>
            <a:custGeom>
              <a:rect b="b" l="l" r="r" t="t"/>
              <a:pathLst>
                <a:path extrusionOk="0" fill="none" h="18872" w="11010">
                  <a:moveTo>
                    <a:pt x="1" y="18872"/>
                  </a:moveTo>
                  <a:lnTo>
                    <a:pt x="11009"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94"/>
            <p:cNvSpPr/>
            <p:nvPr/>
          </p:nvSpPr>
          <p:spPr>
            <a:xfrm>
              <a:off x="3539675" y="4838000"/>
              <a:ext cx="550450" cy="25"/>
            </a:xfrm>
            <a:custGeom>
              <a:rect b="b" l="l" r="r" t="t"/>
              <a:pathLst>
                <a:path extrusionOk="0" fill="none" h="1" w="22018">
                  <a:moveTo>
                    <a:pt x="1" y="0"/>
                  </a:moveTo>
                  <a:lnTo>
                    <a:pt x="22017"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94"/>
            <p:cNvSpPr/>
            <p:nvPr/>
          </p:nvSpPr>
          <p:spPr>
            <a:xfrm>
              <a:off x="2812350" y="4602100"/>
              <a:ext cx="275225" cy="471800"/>
            </a:xfrm>
            <a:custGeom>
              <a:rect b="b" l="l" r="r" t="t"/>
              <a:pathLst>
                <a:path extrusionOk="0" fill="none" h="18872" w="11009">
                  <a:moveTo>
                    <a:pt x="1" y="0"/>
                  </a:moveTo>
                  <a:lnTo>
                    <a:pt x="11009" y="18872"/>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94"/>
            <p:cNvSpPr/>
            <p:nvPr/>
          </p:nvSpPr>
          <p:spPr>
            <a:xfrm>
              <a:off x="2812350" y="4602100"/>
              <a:ext cx="275225" cy="471800"/>
            </a:xfrm>
            <a:custGeom>
              <a:rect b="b" l="l" r="r" t="t"/>
              <a:pathLst>
                <a:path extrusionOk="0" fill="none" h="18872" w="11009">
                  <a:moveTo>
                    <a:pt x="1" y="18872"/>
                  </a:moveTo>
                  <a:lnTo>
                    <a:pt x="11009"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94"/>
            <p:cNvSpPr/>
            <p:nvPr/>
          </p:nvSpPr>
          <p:spPr>
            <a:xfrm>
              <a:off x="2684575" y="4838000"/>
              <a:ext cx="540600" cy="25"/>
            </a:xfrm>
            <a:custGeom>
              <a:rect b="b" l="l" r="r" t="t"/>
              <a:pathLst>
                <a:path extrusionOk="0" fill="none" h="1" w="21624">
                  <a:moveTo>
                    <a:pt x="1" y="0"/>
                  </a:moveTo>
                  <a:lnTo>
                    <a:pt x="21624"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94"/>
            <p:cNvSpPr/>
            <p:nvPr/>
          </p:nvSpPr>
          <p:spPr>
            <a:xfrm>
              <a:off x="4542225" y="4602100"/>
              <a:ext cx="275225" cy="471800"/>
            </a:xfrm>
            <a:custGeom>
              <a:rect b="b" l="l" r="r" t="t"/>
              <a:pathLst>
                <a:path extrusionOk="0" fill="none" h="18872" w="11009">
                  <a:moveTo>
                    <a:pt x="0" y="0"/>
                  </a:moveTo>
                  <a:lnTo>
                    <a:pt x="11009" y="18872"/>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94"/>
            <p:cNvSpPr/>
            <p:nvPr/>
          </p:nvSpPr>
          <p:spPr>
            <a:xfrm>
              <a:off x="4542225" y="4602100"/>
              <a:ext cx="275225" cy="471800"/>
            </a:xfrm>
            <a:custGeom>
              <a:rect b="b" l="l" r="r" t="t"/>
              <a:pathLst>
                <a:path extrusionOk="0" fill="none" h="18872" w="11009">
                  <a:moveTo>
                    <a:pt x="0" y="18872"/>
                  </a:moveTo>
                  <a:lnTo>
                    <a:pt x="11009"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94"/>
            <p:cNvSpPr/>
            <p:nvPr/>
          </p:nvSpPr>
          <p:spPr>
            <a:xfrm>
              <a:off x="4404625" y="4838000"/>
              <a:ext cx="550425" cy="25"/>
            </a:xfrm>
            <a:custGeom>
              <a:rect b="b" l="l" r="r" t="t"/>
              <a:pathLst>
                <a:path extrusionOk="0" fill="none" h="1" w="22017">
                  <a:moveTo>
                    <a:pt x="0" y="0"/>
                  </a:moveTo>
                  <a:lnTo>
                    <a:pt x="22017"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95"/>
          <p:cNvSpPr txBox="1"/>
          <p:nvPr>
            <p:ph idx="1" type="body"/>
          </p:nvPr>
        </p:nvSpPr>
        <p:spPr>
          <a:xfrm>
            <a:off x="3647875" y="1633530"/>
            <a:ext cx="5038800" cy="2741400"/>
          </a:xfrm>
          <a:prstGeom prst="rect">
            <a:avLst/>
          </a:prstGeom>
        </p:spPr>
        <p:txBody>
          <a:bodyPr anchorCtr="0" anchor="ctr" bIns="91425" lIns="0" spcFirstLastPara="1" rIns="0" wrap="square" tIns="91425">
            <a:noAutofit/>
          </a:bodyPr>
          <a:lstStyle/>
          <a:p>
            <a:pPr indent="0" lvl="0" marL="0" rtl="0" algn="l">
              <a:lnSpc>
                <a:spcPct val="100000"/>
              </a:lnSpc>
              <a:spcBef>
                <a:spcPts val="0"/>
              </a:spcBef>
              <a:spcAft>
                <a:spcPts val="0"/>
              </a:spcAft>
              <a:buNone/>
            </a:pPr>
            <a:r>
              <a:rPr lang="en"/>
              <a:t>What </a:t>
            </a:r>
            <a:r>
              <a:rPr b="1" lang="en"/>
              <a:t>potential problem </a:t>
            </a:r>
            <a:r>
              <a:rPr lang="en"/>
              <a:t>could a pen tester run into when attempting to brute-force passwords?</a:t>
            </a:r>
            <a:endParaRPr/>
          </a:p>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96"/>
          <p:cNvSpPr txBox="1"/>
          <p:nvPr/>
        </p:nvSpPr>
        <p:spPr>
          <a:xfrm>
            <a:off x="70200" y="402450"/>
            <a:ext cx="9168600" cy="3231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sp>
        <p:nvSpPr>
          <p:cNvPr id="983" name="Google Shape;983;p96"/>
          <p:cNvSpPr txBox="1"/>
          <p:nvPr/>
        </p:nvSpPr>
        <p:spPr>
          <a:xfrm>
            <a:off x="361829" y="512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The Risk of Brute-Force Attacks</a:t>
            </a:r>
            <a:endParaRPr sz="2600">
              <a:solidFill>
                <a:schemeClr val="dk2"/>
              </a:solidFill>
              <a:latin typeface="Roboto"/>
              <a:ea typeface="Roboto"/>
              <a:cs typeface="Roboto"/>
              <a:sym typeface="Roboto"/>
            </a:endParaRPr>
          </a:p>
        </p:txBody>
      </p:sp>
      <p:sp>
        <p:nvSpPr>
          <p:cNvPr id="984" name="Google Shape;984;p96"/>
          <p:cNvSpPr/>
          <p:nvPr/>
        </p:nvSpPr>
        <p:spPr>
          <a:xfrm>
            <a:off x="669325" y="1675225"/>
            <a:ext cx="8017500" cy="671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96"/>
          <p:cNvSpPr/>
          <p:nvPr/>
        </p:nvSpPr>
        <p:spPr>
          <a:xfrm>
            <a:off x="399658" y="1733602"/>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rgbClr val="082D49"/>
                </a:solidFill>
                <a:latin typeface="Roboto"/>
                <a:ea typeface="Roboto"/>
                <a:cs typeface="Roboto"/>
                <a:sym typeface="Roboto"/>
              </a:rPr>
              <a:t>1</a:t>
            </a:r>
            <a:endParaRPr sz="1800">
              <a:solidFill>
                <a:srgbClr val="082D49"/>
              </a:solidFill>
              <a:latin typeface="Roboto"/>
              <a:ea typeface="Roboto"/>
              <a:cs typeface="Roboto"/>
              <a:sym typeface="Roboto"/>
            </a:endParaRPr>
          </a:p>
        </p:txBody>
      </p:sp>
      <p:sp>
        <p:nvSpPr>
          <p:cNvPr id="986" name="Google Shape;986;p96"/>
          <p:cNvSpPr/>
          <p:nvPr/>
        </p:nvSpPr>
        <p:spPr>
          <a:xfrm>
            <a:off x="669325" y="2664525"/>
            <a:ext cx="8017500" cy="6717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96"/>
          <p:cNvSpPr/>
          <p:nvPr/>
        </p:nvSpPr>
        <p:spPr>
          <a:xfrm>
            <a:off x="399658" y="2722902"/>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rgbClr val="082D49"/>
                </a:solidFill>
                <a:latin typeface="Roboto"/>
                <a:ea typeface="Roboto"/>
                <a:cs typeface="Roboto"/>
                <a:sym typeface="Roboto"/>
              </a:rPr>
              <a:t>2</a:t>
            </a:r>
            <a:endParaRPr sz="1800">
              <a:solidFill>
                <a:srgbClr val="082D49"/>
              </a:solidFill>
              <a:latin typeface="Roboto"/>
              <a:ea typeface="Roboto"/>
              <a:cs typeface="Roboto"/>
              <a:sym typeface="Roboto"/>
            </a:endParaRPr>
          </a:p>
        </p:txBody>
      </p:sp>
      <p:sp>
        <p:nvSpPr>
          <p:cNvPr id="988" name="Google Shape;988;p96"/>
          <p:cNvSpPr/>
          <p:nvPr/>
        </p:nvSpPr>
        <p:spPr>
          <a:xfrm>
            <a:off x="669325" y="3653825"/>
            <a:ext cx="8017500" cy="694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96"/>
          <p:cNvSpPr/>
          <p:nvPr/>
        </p:nvSpPr>
        <p:spPr>
          <a:xfrm>
            <a:off x="399658" y="3712202"/>
            <a:ext cx="548700" cy="5487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sz="1800">
                <a:solidFill>
                  <a:srgbClr val="082D49"/>
                </a:solidFill>
                <a:latin typeface="Roboto"/>
                <a:ea typeface="Roboto"/>
                <a:cs typeface="Roboto"/>
                <a:sym typeface="Roboto"/>
              </a:rPr>
              <a:t>3</a:t>
            </a:r>
            <a:endParaRPr sz="1800">
              <a:solidFill>
                <a:srgbClr val="082D49"/>
              </a:solidFill>
              <a:latin typeface="Roboto"/>
              <a:ea typeface="Roboto"/>
              <a:cs typeface="Roboto"/>
              <a:sym typeface="Roboto"/>
            </a:endParaRPr>
          </a:p>
        </p:txBody>
      </p:sp>
      <p:sp>
        <p:nvSpPr>
          <p:cNvPr id="990" name="Google Shape;990;p96"/>
          <p:cNvSpPr txBox="1"/>
          <p:nvPr/>
        </p:nvSpPr>
        <p:spPr>
          <a:xfrm>
            <a:off x="1115912" y="1716166"/>
            <a:ext cx="6858900" cy="43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However, events are still generated by Windows for each failed login attempt, even for local accounts.</a:t>
            </a:r>
            <a:endParaRPr sz="1800">
              <a:solidFill>
                <a:schemeClr val="dk2"/>
              </a:solidFill>
              <a:latin typeface="Roboto"/>
              <a:ea typeface="Roboto"/>
              <a:cs typeface="Roboto"/>
              <a:sym typeface="Roboto"/>
            </a:endParaRPr>
          </a:p>
        </p:txBody>
      </p:sp>
      <p:sp>
        <p:nvSpPr>
          <p:cNvPr id="991" name="Google Shape;991;p96"/>
          <p:cNvSpPr txBox="1"/>
          <p:nvPr/>
        </p:nvSpPr>
        <p:spPr>
          <a:xfrm>
            <a:off x="1115912" y="2705466"/>
            <a:ext cx="6436500" cy="43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If a blue team member is monitoring these logins, it’s very apparent when an attack is occurring.</a:t>
            </a:r>
            <a:endParaRPr sz="1800">
              <a:solidFill>
                <a:schemeClr val="dk2"/>
              </a:solidFill>
              <a:latin typeface="Roboto"/>
              <a:ea typeface="Roboto"/>
              <a:cs typeface="Roboto"/>
              <a:sym typeface="Roboto"/>
            </a:endParaRPr>
          </a:p>
        </p:txBody>
      </p:sp>
      <p:sp>
        <p:nvSpPr>
          <p:cNvPr id="992" name="Google Shape;992;p96"/>
          <p:cNvSpPr txBox="1"/>
          <p:nvPr/>
        </p:nvSpPr>
        <p:spPr>
          <a:xfrm>
            <a:off x="1115912" y="3694766"/>
            <a:ext cx="6303900" cy="431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We will investigate this type of attack from a blue team perspective later in the course.</a:t>
            </a:r>
            <a:endParaRPr sz="1800">
              <a:solidFill>
                <a:schemeClr val="dk2"/>
              </a:solidFill>
              <a:latin typeface="Roboto"/>
              <a:ea typeface="Roboto"/>
              <a:cs typeface="Roboto"/>
              <a:sym typeface="Roboto"/>
            </a:endParaRPr>
          </a:p>
        </p:txBody>
      </p:sp>
      <p:sp>
        <p:nvSpPr>
          <p:cNvPr id="993" name="Google Shape;993;p96"/>
          <p:cNvSpPr txBox="1"/>
          <p:nvPr>
            <p:ph idx="4294967295" type="title"/>
          </p:nvPr>
        </p:nvSpPr>
        <p:spPr>
          <a:xfrm>
            <a:off x="453225" y="664550"/>
            <a:ext cx="7559100" cy="5487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1200"/>
              </a:spcAft>
              <a:buNone/>
            </a:pPr>
            <a:r>
              <a:rPr b="0" lang="en" sz="1800"/>
              <a:t>Local accounts, by default, do not disable an account from logging in due to a bad password.</a:t>
            </a:r>
            <a:endParaRPr b="0"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7" name="Shape 997"/>
        <p:cNvGrpSpPr/>
        <p:nvPr/>
      </p:nvGrpSpPr>
      <p:grpSpPr>
        <a:xfrm>
          <a:off x="0" y="0"/>
          <a:ext cx="0" cy="0"/>
          <a:chOff x="0" y="0"/>
          <a:chExt cx="0" cy="0"/>
        </a:xfrm>
      </p:grpSpPr>
      <p:sp>
        <p:nvSpPr>
          <p:cNvPr id="998" name="Google Shape;998;p97"/>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Password Spraying</a:t>
            </a:r>
            <a:endParaRPr>
              <a:latin typeface="Roboto Medium"/>
              <a:ea typeface="Roboto Medium"/>
              <a:cs typeface="Roboto Medium"/>
              <a:sym typeface="Roboto Medium"/>
            </a:endParaRPr>
          </a:p>
        </p:txBody>
      </p:sp>
      <p:sp>
        <p:nvSpPr>
          <p:cNvPr id="999" name="Google Shape;999;p97"/>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r>
              <a:t/>
            </a:r>
            <a:endParaRPr sz="600"/>
          </a:p>
        </p:txBody>
      </p:sp>
      <p:sp>
        <p:nvSpPr>
          <p:cNvPr id="1000" name="Google Shape;1000;p97"/>
          <p:cNvSpPr txBox="1"/>
          <p:nvPr>
            <p:ph idx="2" type="title"/>
          </p:nvPr>
        </p:nvSpPr>
        <p:spPr>
          <a:xfrm>
            <a:off x="70200" y="588350"/>
            <a:ext cx="8388000" cy="5646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1200"/>
              </a:spcAft>
              <a:buNone/>
            </a:pPr>
            <a:r>
              <a:rPr lang="en" sz="1800">
                <a:latin typeface="Roboto"/>
                <a:ea typeface="Roboto"/>
                <a:cs typeface="Roboto"/>
                <a:sym typeface="Roboto"/>
              </a:rPr>
              <a:t>Successfully brute-forcing a domain account in Windows is less likely due to </a:t>
            </a:r>
            <a:br>
              <a:rPr lang="en" sz="1800">
                <a:latin typeface="Roboto"/>
                <a:ea typeface="Roboto"/>
                <a:cs typeface="Roboto"/>
                <a:sym typeface="Roboto"/>
              </a:rPr>
            </a:br>
            <a:r>
              <a:rPr lang="en" sz="1800">
                <a:latin typeface="Roboto"/>
                <a:ea typeface="Roboto"/>
                <a:cs typeface="Roboto"/>
                <a:sym typeface="Roboto"/>
              </a:rPr>
              <a:t>a default group policy that locks an account after five bad password attempts.</a:t>
            </a:r>
            <a:endParaRPr sz="1800">
              <a:latin typeface="Roboto"/>
              <a:ea typeface="Roboto"/>
              <a:cs typeface="Roboto"/>
              <a:sym typeface="Roboto"/>
            </a:endParaRPr>
          </a:p>
        </p:txBody>
      </p:sp>
      <p:sp>
        <p:nvSpPr>
          <p:cNvPr id="1001" name="Google Shape;1001;p97"/>
          <p:cNvSpPr txBox="1"/>
          <p:nvPr>
            <p:ph idx="2" type="title"/>
          </p:nvPr>
        </p:nvSpPr>
        <p:spPr>
          <a:xfrm>
            <a:off x="70200" y="1296500"/>
            <a:ext cx="8388000" cy="393600"/>
          </a:xfrm>
          <a:prstGeom prst="rect">
            <a:avLst/>
          </a:prstGeom>
        </p:spPr>
        <p:txBody>
          <a:bodyPr anchorCtr="0" anchor="t" bIns="91425" lIns="365750" spcFirstLastPara="1" rIns="91425" wrap="square" tIns="91425">
            <a:noAutofit/>
          </a:bodyPr>
          <a:lstStyle/>
          <a:p>
            <a:pPr indent="0" lvl="0" marL="0" rtl="0" algn="l">
              <a:lnSpc>
                <a:spcPct val="95000"/>
              </a:lnSpc>
              <a:spcBef>
                <a:spcPts val="0"/>
              </a:spcBef>
              <a:spcAft>
                <a:spcPts val="1200"/>
              </a:spcAft>
              <a:buNone/>
            </a:pPr>
            <a:r>
              <a:rPr lang="en" sz="1800">
                <a:latin typeface="Roboto"/>
                <a:ea typeface="Roboto"/>
                <a:cs typeface="Roboto"/>
                <a:sym typeface="Roboto"/>
              </a:rPr>
              <a:t>Instead, for domain accounts (which use Kerberos), </a:t>
            </a:r>
            <a:r>
              <a:rPr b="1" lang="en" sz="1800">
                <a:latin typeface="Roboto"/>
                <a:ea typeface="Roboto"/>
                <a:cs typeface="Roboto"/>
                <a:sym typeface="Roboto"/>
              </a:rPr>
              <a:t>password spraying</a:t>
            </a:r>
            <a:r>
              <a:rPr lang="en" sz="1800">
                <a:latin typeface="Roboto"/>
                <a:ea typeface="Roboto"/>
                <a:cs typeface="Roboto"/>
                <a:sym typeface="Roboto"/>
              </a:rPr>
              <a:t> </a:t>
            </a:r>
            <a:br>
              <a:rPr lang="en" sz="1800">
                <a:latin typeface="Roboto"/>
                <a:ea typeface="Roboto"/>
                <a:cs typeface="Roboto"/>
                <a:sym typeface="Roboto"/>
              </a:rPr>
            </a:br>
            <a:r>
              <a:rPr lang="en" sz="1800">
                <a:latin typeface="Roboto"/>
                <a:ea typeface="Roboto"/>
                <a:cs typeface="Roboto"/>
                <a:sym typeface="Roboto"/>
              </a:rPr>
              <a:t>is a more common attack.</a:t>
            </a:r>
            <a:endParaRPr sz="1800">
              <a:latin typeface="Roboto"/>
              <a:ea typeface="Roboto"/>
              <a:cs typeface="Roboto"/>
              <a:sym typeface="Roboto"/>
            </a:endParaRPr>
          </a:p>
        </p:txBody>
      </p:sp>
      <p:pic>
        <p:nvPicPr>
          <p:cNvPr id="1002" name="Google Shape;1002;p97"/>
          <p:cNvPicPr preferRelativeResize="0"/>
          <p:nvPr/>
        </p:nvPicPr>
        <p:blipFill rotWithShape="1">
          <a:blip r:embed="rId3">
            <a:alphaModFix/>
          </a:blip>
          <a:srcRect b="0" l="0" r="66400" t="0"/>
          <a:stretch/>
        </p:blipFill>
        <p:spPr>
          <a:xfrm>
            <a:off x="540522" y="2203183"/>
            <a:ext cx="1941395" cy="2244944"/>
          </a:xfrm>
          <a:prstGeom prst="rect">
            <a:avLst/>
          </a:prstGeom>
          <a:noFill/>
          <a:ln>
            <a:noFill/>
          </a:ln>
        </p:spPr>
      </p:pic>
      <p:grpSp>
        <p:nvGrpSpPr>
          <p:cNvPr id="1003" name="Google Shape;1003;p97"/>
          <p:cNvGrpSpPr/>
          <p:nvPr/>
        </p:nvGrpSpPr>
        <p:grpSpPr>
          <a:xfrm>
            <a:off x="6032942" y="4147461"/>
            <a:ext cx="1742933" cy="411209"/>
            <a:chOff x="2013700" y="3387375"/>
            <a:chExt cx="2084100" cy="491700"/>
          </a:xfrm>
        </p:grpSpPr>
        <p:sp>
          <p:nvSpPr>
            <p:cNvPr id="1004" name="Google Shape;1004;p97"/>
            <p:cNvSpPr/>
            <p:nvPr/>
          </p:nvSpPr>
          <p:spPr>
            <a:xfrm>
              <a:off x="2013700" y="3387375"/>
              <a:ext cx="2084100" cy="491700"/>
            </a:xfrm>
            <a:prstGeom prst="roundRect">
              <a:avLst>
                <a:gd fmla="val 16667" name="adj"/>
              </a:avLst>
            </a:prstGeom>
            <a:solidFill>
              <a:schemeClr val="lt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45720" rtl="0" algn="l">
                <a:spcBef>
                  <a:spcPts val="0"/>
                </a:spcBef>
                <a:spcAft>
                  <a:spcPts val="0"/>
                </a:spcAft>
                <a:buNone/>
              </a:pPr>
              <a:r>
                <a:rPr b="1" lang="en" sz="1800">
                  <a:solidFill>
                    <a:schemeClr val="dk2"/>
                  </a:solidFill>
                  <a:latin typeface="Roboto"/>
                  <a:ea typeface="Roboto"/>
                  <a:cs typeface="Roboto"/>
                  <a:sym typeface="Roboto"/>
                </a:rPr>
                <a:t>bkennedy</a:t>
              </a:r>
              <a:endParaRPr b="1" sz="1800">
                <a:solidFill>
                  <a:schemeClr val="dk2"/>
                </a:solidFill>
                <a:latin typeface="Roboto"/>
                <a:ea typeface="Roboto"/>
                <a:cs typeface="Roboto"/>
                <a:sym typeface="Roboto"/>
              </a:endParaRPr>
            </a:p>
          </p:txBody>
        </p:sp>
        <p:sp>
          <p:nvSpPr>
            <p:cNvPr id="1005" name="Google Shape;1005;p97"/>
            <p:cNvSpPr/>
            <p:nvPr/>
          </p:nvSpPr>
          <p:spPr>
            <a:xfrm flipH="1" rot="5400000">
              <a:off x="3629500" y="3399075"/>
              <a:ext cx="468300" cy="468300"/>
            </a:xfrm>
            <a:prstGeom prst="round2SameRect">
              <a:avLst>
                <a:gd fmla="val 16667" name="adj1"/>
                <a:gd fmla="val 0" name="adj2"/>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06" name="Google Shape;1006;p97"/>
            <p:cNvSpPr/>
            <p:nvPr/>
          </p:nvSpPr>
          <p:spPr>
            <a:xfrm>
              <a:off x="3709575" y="3519850"/>
              <a:ext cx="308144" cy="226746"/>
            </a:xfrm>
            <a:custGeom>
              <a:rect b="b" l="l" r="r" t="t"/>
              <a:pathLst>
                <a:path extrusionOk="0" h="90789" w="123381">
                  <a:moveTo>
                    <a:pt x="107385" y="1"/>
                  </a:moveTo>
                  <a:cubicBezTo>
                    <a:pt x="103079" y="1"/>
                    <a:pt x="98615" y="1757"/>
                    <a:pt x="95175" y="5214"/>
                  </a:cubicBezTo>
                  <a:lnTo>
                    <a:pt x="44890" y="55499"/>
                  </a:lnTo>
                  <a:lnTo>
                    <a:pt x="28205" y="38815"/>
                  </a:lnTo>
                  <a:cubicBezTo>
                    <a:pt x="24765" y="35374"/>
                    <a:pt x="20290" y="33626"/>
                    <a:pt x="15978" y="33626"/>
                  </a:cubicBezTo>
                  <a:cubicBezTo>
                    <a:pt x="12200" y="33626"/>
                    <a:pt x="8548" y="34968"/>
                    <a:pt x="5827" y="37689"/>
                  </a:cubicBezTo>
                  <a:cubicBezTo>
                    <a:pt x="1" y="43549"/>
                    <a:pt x="497" y="53612"/>
                    <a:pt x="6953" y="60068"/>
                  </a:cubicBezTo>
                  <a:lnTo>
                    <a:pt x="32509" y="85591"/>
                  </a:lnTo>
                  <a:cubicBezTo>
                    <a:pt x="35621" y="88769"/>
                    <a:pt x="39858" y="90623"/>
                    <a:pt x="44327" y="90788"/>
                  </a:cubicBezTo>
                  <a:lnTo>
                    <a:pt x="45453" y="90788"/>
                  </a:lnTo>
                  <a:cubicBezTo>
                    <a:pt x="49922" y="90623"/>
                    <a:pt x="54159" y="88769"/>
                    <a:pt x="57271" y="85591"/>
                  </a:cubicBezTo>
                  <a:lnTo>
                    <a:pt x="116428" y="26467"/>
                  </a:lnTo>
                  <a:cubicBezTo>
                    <a:pt x="122884" y="20011"/>
                    <a:pt x="123380" y="9915"/>
                    <a:pt x="117554" y="4088"/>
                  </a:cubicBezTo>
                  <a:cubicBezTo>
                    <a:pt x="114816" y="1351"/>
                    <a:pt x="111161" y="1"/>
                    <a:pt x="1073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grpSp>
      <p:grpSp>
        <p:nvGrpSpPr>
          <p:cNvPr id="1007" name="Google Shape;1007;p97"/>
          <p:cNvGrpSpPr/>
          <p:nvPr/>
        </p:nvGrpSpPr>
        <p:grpSpPr>
          <a:xfrm>
            <a:off x="6032937" y="2190849"/>
            <a:ext cx="1742933" cy="411209"/>
            <a:chOff x="644100" y="2638025"/>
            <a:chExt cx="2084100" cy="491700"/>
          </a:xfrm>
        </p:grpSpPr>
        <p:sp>
          <p:nvSpPr>
            <p:cNvPr id="1008" name="Google Shape;1008;p97"/>
            <p:cNvSpPr/>
            <p:nvPr/>
          </p:nvSpPr>
          <p:spPr>
            <a:xfrm>
              <a:off x="644100" y="2638025"/>
              <a:ext cx="2084100" cy="491700"/>
            </a:xfrm>
            <a:prstGeom prst="roundRect">
              <a:avLst>
                <a:gd fmla="val 16667" name="adj"/>
              </a:avLst>
            </a:prstGeom>
            <a:solidFill>
              <a:schemeClr val="lt1"/>
            </a:solidFill>
            <a:ln cap="flat" cmpd="sng" w="28575">
              <a:solidFill>
                <a:srgbClr val="E51470"/>
              </a:solidFill>
              <a:prstDash val="solid"/>
              <a:round/>
              <a:headEnd len="sm" w="sm" type="none"/>
              <a:tailEnd len="sm" w="sm" type="none"/>
            </a:ln>
          </p:spPr>
          <p:txBody>
            <a:bodyPr anchorCtr="0" anchor="ctr" bIns="91425" lIns="91425" spcFirstLastPara="1" rIns="91425" wrap="square" tIns="91425">
              <a:noAutofit/>
            </a:bodyPr>
            <a:lstStyle/>
            <a:p>
              <a:pPr indent="0" lvl="0" marL="45720" rtl="0" algn="l">
                <a:spcBef>
                  <a:spcPts val="0"/>
                </a:spcBef>
                <a:spcAft>
                  <a:spcPts val="0"/>
                </a:spcAft>
                <a:buNone/>
              </a:pPr>
              <a:r>
                <a:rPr lang="en" sz="1800">
                  <a:solidFill>
                    <a:schemeClr val="dk2"/>
                  </a:solidFill>
                  <a:latin typeface="Roboto Medium"/>
                  <a:ea typeface="Roboto Medium"/>
                  <a:cs typeface="Roboto Medium"/>
                  <a:sym typeface="Roboto Medium"/>
                </a:rPr>
                <a:t>msmith</a:t>
              </a:r>
              <a:endParaRPr sz="1800">
                <a:solidFill>
                  <a:schemeClr val="dk2"/>
                </a:solidFill>
              </a:endParaRPr>
            </a:p>
          </p:txBody>
        </p:sp>
        <p:sp>
          <p:nvSpPr>
            <p:cNvPr id="1009" name="Google Shape;1009;p97"/>
            <p:cNvSpPr/>
            <p:nvPr/>
          </p:nvSpPr>
          <p:spPr>
            <a:xfrm flipH="1" rot="5400000">
              <a:off x="2259900" y="2649725"/>
              <a:ext cx="468300" cy="468300"/>
            </a:xfrm>
            <a:prstGeom prst="round2SameRect">
              <a:avLst>
                <a:gd fmla="val 16667" name="adj1"/>
                <a:gd fmla="val 0" name="adj2"/>
              </a:avLst>
            </a:prstGeom>
            <a:solidFill>
              <a:srgbClr val="E51470"/>
            </a:solidFill>
            <a:ln cap="flat" cmpd="sng" w="28575">
              <a:solidFill>
                <a:srgbClr val="E514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10" name="Google Shape;1010;p97"/>
            <p:cNvSpPr/>
            <p:nvPr/>
          </p:nvSpPr>
          <p:spPr>
            <a:xfrm>
              <a:off x="2363113" y="2757523"/>
              <a:ext cx="261874" cy="252701"/>
            </a:xfrm>
            <a:custGeom>
              <a:rect b="b" l="l" r="r" t="t"/>
              <a:pathLst>
                <a:path extrusionOk="0" h="98519" w="102095">
                  <a:moveTo>
                    <a:pt x="15470" y="0"/>
                  </a:moveTo>
                  <a:cubicBezTo>
                    <a:pt x="11814" y="0"/>
                    <a:pt x="8305" y="1282"/>
                    <a:pt x="5695" y="3893"/>
                  </a:cubicBezTo>
                  <a:cubicBezTo>
                    <a:pt x="1" y="9620"/>
                    <a:pt x="630" y="19551"/>
                    <a:pt x="7085" y="26039"/>
                  </a:cubicBezTo>
                  <a:lnTo>
                    <a:pt x="30324" y="49245"/>
                  </a:lnTo>
                  <a:lnTo>
                    <a:pt x="7085" y="72485"/>
                  </a:lnTo>
                  <a:cubicBezTo>
                    <a:pt x="630" y="78940"/>
                    <a:pt x="1" y="88904"/>
                    <a:pt x="5695" y="94598"/>
                  </a:cubicBezTo>
                  <a:cubicBezTo>
                    <a:pt x="8310" y="97229"/>
                    <a:pt x="11826" y="98518"/>
                    <a:pt x="15489" y="98518"/>
                  </a:cubicBezTo>
                  <a:cubicBezTo>
                    <a:pt x="19802" y="98518"/>
                    <a:pt x="24318" y="96731"/>
                    <a:pt x="27808" y="93241"/>
                  </a:cubicBezTo>
                  <a:lnTo>
                    <a:pt x="51047" y="70002"/>
                  </a:lnTo>
                  <a:lnTo>
                    <a:pt x="74287" y="93241"/>
                  </a:lnTo>
                  <a:cubicBezTo>
                    <a:pt x="77777" y="96731"/>
                    <a:pt x="82293" y="98518"/>
                    <a:pt x="86605" y="98518"/>
                  </a:cubicBezTo>
                  <a:cubicBezTo>
                    <a:pt x="90269" y="98518"/>
                    <a:pt x="93785" y="97229"/>
                    <a:pt x="96400" y="94598"/>
                  </a:cubicBezTo>
                  <a:cubicBezTo>
                    <a:pt x="102094" y="88904"/>
                    <a:pt x="101498" y="78940"/>
                    <a:pt x="95010" y="72485"/>
                  </a:cubicBezTo>
                  <a:lnTo>
                    <a:pt x="71804" y="49245"/>
                  </a:lnTo>
                  <a:lnTo>
                    <a:pt x="95010" y="26039"/>
                  </a:lnTo>
                  <a:cubicBezTo>
                    <a:pt x="101465" y="19584"/>
                    <a:pt x="102094" y="9620"/>
                    <a:pt x="96400" y="3926"/>
                  </a:cubicBezTo>
                  <a:cubicBezTo>
                    <a:pt x="93785" y="1295"/>
                    <a:pt x="90269" y="6"/>
                    <a:pt x="86605" y="6"/>
                  </a:cubicBezTo>
                  <a:cubicBezTo>
                    <a:pt x="82293" y="6"/>
                    <a:pt x="77777" y="1793"/>
                    <a:pt x="74287" y="5283"/>
                  </a:cubicBezTo>
                  <a:lnTo>
                    <a:pt x="51047" y="28522"/>
                  </a:lnTo>
                  <a:lnTo>
                    <a:pt x="27808" y="5283"/>
                  </a:lnTo>
                  <a:cubicBezTo>
                    <a:pt x="24313" y="1788"/>
                    <a:pt x="19788" y="0"/>
                    <a:pt x="154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grpSp>
      <p:grpSp>
        <p:nvGrpSpPr>
          <p:cNvPr id="1011" name="Google Shape;1011;p97"/>
          <p:cNvGrpSpPr/>
          <p:nvPr/>
        </p:nvGrpSpPr>
        <p:grpSpPr>
          <a:xfrm>
            <a:off x="6032938" y="3466008"/>
            <a:ext cx="1742933" cy="411209"/>
            <a:chOff x="644100" y="2638025"/>
            <a:chExt cx="2084100" cy="491700"/>
          </a:xfrm>
        </p:grpSpPr>
        <p:sp>
          <p:nvSpPr>
            <p:cNvPr id="1012" name="Google Shape;1012;p97"/>
            <p:cNvSpPr/>
            <p:nvPr/>
          </p:nvSpPr>
          <p:spPr>
            <a:xfrm>
              <a:off x="644100" y="2638025"/>
              <a:ext cx="2084100" cy="491700"/>
            </a:xfrm>
            <a:prstGeom prst="roundRect">
              <a:avLst>
                <a:gd fmla="val 16667" name="adj"/>
              </a:avLst>
            </a:prstGeom>
            <a:solidFill>
              <a:schemeClr val="lt1"/>
            </a:solidFill>
            <a:ln cap="flat" cmpd="sng" w="28575">
              <a:solidFill>
                <a:srgbClr val="E51470"/>
              </a:solidFill>
              <a:prstDash val="solid"/>
              <a:round/>
              <a:headEnd len="sm" w="sm" type="none"/>
              <a:tailEnd len="sm" w="sm" type="none"/>
            </a:ln>
          </p:spPr>
          <p:txBody>
            <a:bodyPr anchorCtr="0" anchor="ctr" bIns="91425" lIns="91425" spcFirstLastPara="1" rIns="91425" wrap="square" tIns="91425">
              <a:noAutofit/>
            </a:bodyPr>
            <a:lstStyle/>
            <a:p>
              <a:pPr indent="0" lvl="0" marL="45720" rtl="0" algn="l">
                <a:spcBef>
                  <a:spcPts val="0"/>
                </a:spcBef>
                <a:spcAft>
                  <a:spcPts val="0"/>
                </a:spcAft>
                <a:buNone/>
              </a:pPr>
              <a:r>
                <a:rPr lang="en" sz="1800">
                  <a:solidFill>
                    <a:schemeClr val="dk2"/>
                  </a:solidFill>
                  <a:latin typeface="Roboto Medium"/>
                  <a:ea typeface="Roboto Medium"/>
                  <a:cs typeface="Roboto Medium"/>
                  <a:sym typeface="Roboto Medium"/>
                </a:rPr>
                <a:t>dwilliams</a:t>
              </a:r>
              <a:endParaRPr sz="1800">
                <a:solidFill>
                  <a:schemeClr val="dk2"/>
                </a:solidFill>
              </a:endParaRPr>
            </a:p>
          </p:txBody>
        </p:sp>
        <p:sp>
          <p:nvSpPr>
            <p:cNvPr id="1013" name="Google Shape;1013;p97"/>
            <p:cNvSpPr/>
            <p:nvPr/>
          </p:nvSpPr>
          <p:spPr>
            <a:xfrm flipH="1" rot="5400000">
              <a:off x="2259900" y="2649725"/>
              <a:ext cx="468300" cy="468300"/>
            </a:xfrm>
            <a:prstGeom prst="round2SameRect">
              <a:avLst>
                <a:gd fmla="val 16667" name="adj1"/>
                <a:gd fmla="val 0" name="adj2"/>
              </a:avLst>
            </a:prstGeom>
            <a:solidFill>
              <a:srgbClr val="E51470"/>
            </a:solidFill>
            <a:ln cap="flat" cmpd="sng" w="28575">
              <a:solidFill>
                <a:srgbClr val="E514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14" name="Google Shape;1014;p97"/>
            <p:cNvSpPr/>
            <p:nvPr/>
          </p:nvSpPr>
          <p:spPr>
            <a:xfrm>
              <a:off x="2363113" y="2757523"/>
              <a:ext cx="261874" cy="252701"/>
            </a:xfrm>
            <a:custGeom>
              <a:rect b="b" l="l" r="r" t="t"/>
              <a:pathLst>
                <a:path extrusionOk="0" h="98519" w="102095">
                  <a:moveTo>
                    <a:pt x="15470" y="0"/>
                  </a:moveTo>
                  <a:cubicBezTo>
                    <a:pt x="11814" y="0"/>
                    <a:pt x="8305" y="1282"/>
                    <a:pt x="5695" y="3893"/>
                  </a:cubicBezTo>
                  <a:cubicBezTo>
                    <a:pt x="1" y="9620"/>
                    <a:pt x="630" y="19551"/>
                    <a:pt x="7085" y="26039"/>
                  </a:cubicBezTo>
                  <a:lnTo>
                    <a:pt x="30324" y="49245"/>
                  </a:lnTo>
                  <a:lnTo>
                    <a:pt x="7085" y="72485"/>
                  </a:lnTo>
                  <a:cubicBezTo>
                    <a:pt x="630" y="78940"/>
                    <a:pt x="1" y="88904"/>
                    <a:pt x="5695" y="94598"/>
                  </a:cubicBezTo>
                  <a:cubicBezTo>
                    <a:pt x="8310" y="97229"/>
                    <a:pt x="11826" y="98518"/>
                    <a:pt x="15489" y="98518"/>
                  </a:cubicBezTo>
                  <a:cubicBezTo>
                    <a:pt x="19802" y="98518"/>
                    <a:pt x="24318" y="96731"/>
                    <a:pt x="27808" y="93241"/>
                  </a:cubicBezTo>
                  <a:lnTo>
                    <a:pt x="51047" y="70002"/>
                  </a:lnTo>
                  <a:lnTo>
                    <a:pt x="74287" y="93241"/>
                  </a:lnTo>
                  <a:cubicBezTo>
                    <a:pt x="77777" y="96731"/>
                    <a:pt x="82293" y="98518"/>
                    <a:pt x="86605" y="98518"/>
                  </a:cubicBezTo>
                  <a:cubicBezTo>
                    <a:pt x="90269" y="98518"/>
                    <a:pt x="93785" y="97229"/>
                    <a:pt x="96400" y="94598"/>
                  </a:cubicBezTo>
                  <a:cubicBezTo>
                    <a:pt x="102094" y="88904"/>
                    <a:pt x="101498" y="78940"/>
                    <a:pt x="95010" y="72485"/>
                  </a:cubicBezTo>
                  <a:lnTo>
                    <a:pt x="71804" y="49245"/>
                  </a:lnTo>
                  <a:lnTo>
                    <a:pt x="95010" y="26039"/>
                  </a:lnTo>
                  <a:cubicBezTo>
                    <a:pt x="101465" y="19584"/>
                    <a:pt x="102094" y="9620"/>
                    <a:pt x="96400" y="3926"/>
                  </a:cubicBezTo>
                  <a:cubicBezTo>
                    <a:pt x="93785" y="1295"/>
                    <a:pt x="90269" y="6"/>
                    <a:pt x="86605" y="6"/>
                  </a:cubicBezTo>
                  <a:cubicBezTo>
                    <a:pt x="82293" y="6"/>
                    <a:pt x="77777" y="1793"/>
                    <a:pt x="74287" y="5283"/>
                  </a:cubicBezTo>
                  <a:lnTo>
                    <a:pt x="51047" y="28522"/>
                  </a:lnTo>
                  <a:lnTo>
                    <a:pt x="27808" y="5283"/>
                  </a:lnTo>
                  <a:cubicBezTo>
                    <a:pt x="24313" y="1788"/>
                    <a:pt x="19788" y="0"/>
                    <a:pt x="154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grpSp>
      <p:grpSp>
        <p:nvGrpSpPr>
          <p:cNvPr id="1015" name="Google Shape;1015;p97"/>
          <p:cNvGrpSpPr/>
          <p:nvPr/>
        </p:nvGrpSpPr>
        <p:grpSpPr>
          <a:xfrm>
            <a:off x="6032938" y="2828424"/>
            <a:ext cx="1742933" cy="411209"/>
            <a:chOff x="644100" y="2638025"/>
            <a:chExt cx="2084100" cy="491700"/>
          </a:xfrm>
        </p:grpSpPr>
        <p:sp>
          <p:nvSpPr>
            <p:cNvPr id="1016" name="Google Shape;1016;p97"/>
            <p:cNvSpPr/>
            <p:nvPr/>
          </p:nvSpPr>
          <p:spPr>
            <a:xfrm>
              <a:off x="644100" y="2638025"/>
              <a:ext cx="2084100" cy="491700"/>
            </a:xfrm>
            <a:prstGeom prst="roundRect">
              <a:avLst>
                <a:gd fmla="val 16667" name="adj"/>
              </a:avLst>
            </a:prstGeom>
            <a:solidFill>
              <a:schemeClr val="lt1"/>
            </a:solidFill>
            <a:ln cap="flat" cmpd="sng" w="28575">
              <a:solidFill>
                <a:srgbClr val="E51470"/>
              </a:solidFill>
              <a:prstDash val="solid"/>
              <a:round/>
              <a:headEnd len="sm" w="sm" type="none"/>
              <a:tailEnd len="sm" w="sm" type="none"/>
            </a:ln>
          </p:spPr>
          <p:txBody>
            <a:bodyPr anchorCtr="0" anchor="ctr" bIns="91425" lIns="91425" spcFirstLastPara="1" rIns="91425" wrap="square" tIns="91425">
              <a:noAutofit/>
            </a:bodyPr>
            <a:lstStyle/>
            <a:p>
              <a:pPr indent="0" lvl="0" marL="45720" rtl="0" algn="l">
                <a:spcBef>
                  <a:spcPts val="0"/>
                </a:spcBef>
                <a:spcAft>
                  <a:spcPts val="0"/>
                </a:spcAft>
                <a:buNone/>
              </a:pPr>
              <a:r>
                <a:rPr lang="en" sz="1800">
                  <a:solidFill>
                    <a:schemeClr val="dk2"/>
                  </a:solidFill>
                  <a:latin typeface="Roboto Medium"/>
                  <a:ea typeface="Roboto Medium"/>
                  <a:cs typeface="Roboto Medium"/>
                  <a:sym typeface="Roboto Medium"/>
                </a:rPr>
                <a:t>awright</a:t>
              </a:r>
              <a:endParaRPr sz="1800">
                <a:solidFill>
                  <a:schemeClr val="dk2"/>
                </a:solidFill>
              </a:endParaRPr>
            </a:p>
          </p:txBody>
        </p:sp>
        <p:sp>
          <p:nvSpPr>
            <p:cNvPr id="1017" name="Google Shape;1017;p97"/>
            <p:cNvSpPr/>
            <p:nvPr/>
          </p:nvSpPr>
          <p:spPr>
            <a:xfrm flipH="1" rot="5400000">
              <a:off x="2259900" y="2649725"/>
              <a:ext cx="468300" cy="468300"/>
            </a:xfrm>
            <a:prstGeom prst="round2SameRect">
              <a:avLst>
                <a:gd fmla="val 16667" name="adj1"/>
                <a:gd fmla="val 0" name="adj2"/>
              </a:avLst>
            </a:prstGeom>
            <a:solidFill>
              <a:srgbClr val="E51470"/>
            </a:solidFill>
            <a:ln cap="flat" cmpd="sng" w="28575">
              <a:solidFill>
                <a:srgbClr val="E514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18" name="Google Shape;1018;p97"/>
            <p:cNvSpPr/>
            <p:nvPr/>
          </p:nvSpPr>
          <p:spPr>
            <a:xfrm>
              <a:off x="2363113" y="2757523"/>
              <a:ext cx="261874" cy="252701"/>
            </a:xfrm>
            <a:custGeom>
              <a:rect b="b" l="l" r="r" t="t"/>
              <a:pathLst>
                <a:path extrusionOk="0" h="98519" w="102095">
                  <a:moveTo>
                    <a:pt x="15470" y="0"/>
                  </a:moveTo>
                  <a:cubicBezTo>
                    <a:pt x="11814" y="0"/>
                    <a:pt x="8305" y="1282"/>
                    <a:pt x="5695" y="3893"/>
                  </a:cubicBezTo>
                  <a:cubicBezTo>
                    <a:pt x="1" y="9620"/>
                    <a:pt x="630" y="19551"/>
                    <a:pt x="7085" y="26039"/>
                  </a:cubicBezTo>
                  <a:lnTo>
                    <a:pt x="30324" y="49245"/>
                  </a:lnTo>
                  <a:lnTo>
                    <a:pt x="7085" y="72485"/>
                  </a:lnTo>
                  <a:cubicBezTo>
                    <a:pt x="630" y="78940"/>
                    <a:pt x="1" y="88904"/>
                    <a:pt x="5695" y="94598"/>
                  </a:cubicBezTo>
                  <a:cubicBezTo>
                    <a:pt x="8310" y="97229"/>
                    <a:pt x="11826" y="98518"/>
                    <a:pt x="15489" y="98518"/>
                  </a:cubicBezTo>
                  <a:cubicBezTo>
                    <a:pt x="19802" y="98518"/>
                    <a:pt x="24318" y="96731"/>
                    <a:pt x="27808" y="93241"/>
                  </a:cubicBezTo>
                  <a:lnTo>
                    <a:pt x="51047" y="70002"/>
                  </a:lnTo>
                  <a:lnTo>
                    <a:pt x="74287" y="93241"/>
                  </a:lnTo>
                  <a:cubicBezTo>
                    <a:pt x="77777" y="96731"/>
                    <a:pt x="82293" y="98518"/>
                    <a:pt x="86605" y="98518"/>
                  </a:cubicBezTo>
                  <a:cubicBezTo>
                    <a:pt x="90269" y="98518"/>
                    <a:pt x="93785" y="97229"/>
                    <a:pt x="96400" y="94598"/>
                  </a:cubicBezTo>
                  <a:cubicBezTo>
                    <a:pt x="102094" y="88904"/>
                    <a:pt x="101498" y="78940"/>
                    <a:pt x="95010" y="72485"/>
                  </a:cubicBezTo>
                  <a:lnTo>
                    <a:pt x="71804" y="49245"/>
                  </a:lnTo>
                  <a:lnTo>
                    <a:pt x="95010" y="26039"/>
                  </a:lnTo>
                  <a:cubicBezTo>
                    <a:pt x="101465" y="19584"/>
                    <a:pt x="102094" y="9620"/>
                    <a:pt x="96400" y="3926"/>
                  </a:cubicBezTo>
                  <a:cubicBezTo>
                    <a:pt x="93785" y="1295"/>
                    <a:pt x="90269" y="6"/>
                    <a:pt x="86605" y="6"/>
                  </a:cubicBezTo>
                  <a:cubicBezTo>
                    <a:pt x="82293" y="6"/>
                    <a:pt x="77777" y="1793"/>
                    <a:pt x="74287" y="5283"/>
                  </a:cubicBezTo>
                  <a:lnTo>
                    <a:pt x="51047" y="28522"/>
                  </a:lnTo>
                  <a:lnTo>
                    <a:pt x="27808" y="5283"/>
                  </a:lnTo>
                  <a:cubicBezTo>
                    <a:pt x="24313" y="1788"/>
                    <a:pt x="19788" y="0"/>
                    <a:pt x="154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grpSp>
      <p:grpSp>
        <p:nvGrpSpPr>
          <p:cNvPr id="1019" name="Google Shape;1019;p97"/>
          <p:cNvGrpSpPr/>
          <p:nvPr/>
        </p:nvGrpSpPr>
        <p:grpSpPr>
          <a:xfrm>
            <a:off x="3016137" y="3120774"/>
            <a:ext cx="1742933" cy="411209"/>
            <a:chOff x="644100" y="2638025"/>
            <a:chExt cx="2084100" cy="491700"/>
          </a:xfrm>
        </p:grpSpPr>
        <p:sp>
          <p:nvSpPr>
            <p:cNvPr id="1020" name="Google Shape;1020;p97"/>
            <p:cNvSpPr/>
            <p:nvPr/>
          </p:nvSpPr>
          <p:spPr>
            <a:xfrm>
              <a:off x="644100" y="2638025"/>
              <a:ext cx="2084100" cy="491700"/>
            </a:xfrm>
            <a:prstGeom prst="roundRect">
              <a:avLst>
                <a:gd fmla="val 16667" name="adj"/>
              </a:avLst>
            </a:prstGeom>
            <a:solidFill>
              <a:schemeClr val="lt1"/>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Medium"/>
                  <a:ea typeface="Roboto Medium"/>
                  <a:cs typeface="Roboto Medium"/>
                  <a:sym typeface="Roboto Medium"/>
                </a:rPr>
                <a:t>passw0rd1</a:t>
              </a:r>
              <a:r>
                <a:rPr lang="en" sz="1600">
                  <a:solidFill>
                    <a:schemeClr val="dk2"/>
                  </a:solidFill>
                  <a:latin typeface="Roboto Medium"/>
                  <a:ea typeface="Roboto Medium"/>
                  <a:cs typeface="Roboto Medium"/>
                  <a:sym typeface="Roboto Medium"/>
                </a:rPr>
                <a:t>!</a:t>
              </a:r>
              <a:endParaRPr>
                <a:solidFill>
                  <a:schemeClr val="dk2"/>
                </a:solidFill>
              </a:endParaRPr>
            </a:p>
          </p:txBody>
        </p:sp>
        <p:sp>
          <p:nvSpPr>
            <p:cNvPr id="1021" name="Google Shape;1021;p97"/>
            <p:cNvSpPr/>
            <p:nvPr/>
          </p:nvSpPr>
          <p:spPr>
            <a:xfrm flipH="1" rot="5400000">
              <a:off x="2259900" y="2649725"/>
              <a:ext cx="468300" cy="468300"/>
            </a:xfrm>
            <a:prstGeom prst="round2SameRect">
              <a:avLst>
                <a:gd fmla="val 16667" name="adj1"/>
                <a:gd fmla="val 0" name="adj2"/>
              </a:avLst>
            </a:prstGeom>
            <a:solidFill>
              <a:schemeClr val="accent3"/>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2" name="Google Shape;1022;p97"/>
          <p:cNvSpPr/>
          <p:nvPr/>
        </p:nvSpPr>
        <p:spPr>
          <a:xfrm>
            <a:off x="4416125" y="3212975"/>
            <a:ext cx="342900" cy="226800"/>
          </a:xfrm>
          <a:prstGeom prst="homePlate">
            <a:avLst>
              <a:gd fmla="val 50000" name="adj"/>
            </a:avLst>
          </a:prstGeom>
          <a:solidFill>
            <a:srgbClr val="F2F5F9"/>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3" name="Google Shape;1023;p97"/>
          <p:cNvCxnSpPr>
            <a:stCxn id="1021" idx="3"/>
            <a:endCxn id="1008" idx="1"/>
          </p:cNvCxnSpPr>
          <p:nvPr/>
        </p:nvCxnSpPr>
        <p:spPr>
          <a:xfrm flipH="1" rot="10800000">
            <a:off x="4759070" y="2396378"/>
            <a:ext cx="1273800" cy="930000"/>
          </a:xfrm>
          <a:prstGeom prst="straightConnector1">
            <a:avLst/>
          </a:prstGeom>
          <a:noFill/>
          <a:ln cap="flat" cmpd="sng" w="28575">
            <a:solidFill>
              <a:schemeClr val="dk2"/>
            </a:solidFill>
            <a:prstDash val="dash"/>
            <a:round/>
            <a:headEnd len="med" w="med" type="none"/>
            <a:tailEnd len="med" w="med" type="triangle"/>
          </a:ln>
        </p:spPr>
      </p:cxnSp>
      <p:cxnSp>
        <p:nvCxnSpPr>
          <p:cNvPr id="1024" name="Google Shape;1024;p97"/>
          <p:cNvCxnSpPr>
            <a:stCxn id="1022" idx="3"/>
            <a:endCxn id="1016" idx="1"/>
          </p:cNvCxnSpPr>
          <p:nvPr/>
        </p:nvCxnSpPr>
        <p:spPr>
          <a:xfrm flipH="1" rot="10800000">
            <a:off x="4759025" y="3034175"/>
            <a:ext cx="1273800" cy="292200"/>
          </a:xfrm>
          <a:prstGeom prst="straightConnector1">
            <a:avLst/>
          </a:prstGeom>
          <a:noFill/>
          <a:ln cap="flat" cmpd="sng" w="28575">
            <a:solidFill>
              <a:schemeClr val="dk2"/>
            </a:solidFill>
            <a:prstDash val="dash"/>
            <a:round/>
            <a:headEnd len="med" w="med" type="none"/>
            <a:tailEnd len="med" w="med" type="triangle"/>
          </a:ln>
        </p:spPr>
      </p:cxnSp>
      <p:cxnSp>
        <p:nvCxnSpPr>
          <p:cNvPr id="1025" name="Google Shape;1025;p97"/>
          <p:cNvCxnSpPr>
            <a:stCxn id="1022" idx="3"/>
            <a:endCxn id="1012" idx="1"/>
          </p:cNvCxnSpPr>
          <p:nvPr/>
        </p:nvCxnSpPr>
        <p:spPr>
          <a:xfrm>
            <a:off x="4759025" y="3326375"/>
            <a:ext cx="1273800" cy="345300"/>
          </a:xfrm>
          <a:prstGeom prst="straightConnector1">
            <a:avLst/>
          </a:prstGeom>
          <a:noFill/>
          <a:ln cap="flat" cmpd="sng" w="28575">
            <a:solidFill>
              <a:schemeClr val="dk2"/>
            </a:solidFill>
            <a:prstDash val="dash"/>
            <a:round/>
            <a:headEnd len="med" w="med" type="none"/>
            <a:tailEnd len="med" w="med" type="triangle"/>
          </a:ln>
        </p:spPr>
      </p:cxnSp>
      <p:cxnSp>
        <p:nvCxnSpPr>
          <p:cNvPr id="1026" name="Google Shape;1026;p97"/>
          <p:cNvCxnSpPr>
            <a:stCxn id="1022" idx="3"/>
            <a:endCxn id="1004" idx="1"/>
          </p:cNvCxnSpPr>
          <p:nvPr/>
        </p:nvCxnSpPr>
        <p:spPr>
          <a:xfrm>
            <a:off x="4759025" y="3326375"/>
            <a:ext cx="1273800" cy="1026600"/>
          </a:xfrm>
          <a:prstGeom prst="straightConnector1">
            <a:avLst/>
          </a:prstGeom>
          <a:noFill/>
          <a:ln cap="flat" cmpd="sng" w="28575">
            <a:solidFill>
              <a:schemeClr val="dk2"/>
            </a:solidFill>
            <a:prstDash val="dash"/>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98"/>
          <p:cNvSpPr txBox="1"/>
          <p:nvPr>
            <p:ph idx="4294967295" type="subTitle"/>
          </p:nvPr>
        </p:nvSpPr>
        <p:spPr>
          <a:xfrm>
            <a:off x="1784750" y="1039700"/>
            <a:ext cx="5730300" cy="3131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sz="3200">
                <a:solidFill>
                  <a:schemeClr val="lt1"/>
                </a:solidFill>
                <a:highlight>
                  <a:schemeClr val="dk2"/>
                </a:highlight>
                <a:latin typeface="Roboto"/>
                <a:ea typeface="Roboto"/>
                <a:cs typeface="Roboto"/>
                <a:sym typeface="Roboto"/>
              </a:rPr>
              <a:t>Password spraying</a:t>
            </a:r>
            <a:r>
              <a:rPr b="1" lang="en" sz="3200"/>
              <a:t> </a:t>
            </a:r>
            <a:r>
              <a:rPr lang="en" sz="3200"/>
              <a:t>involves getting a list of usernames and attempting a single password for those accounts.</a:t>
            </a:r>
            <a:endParaRPr sz="3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99"/>
          <p:cNvSpPr txBox="1"/>
          <p:nvPr>
            <p:ph idx="1" type="body"/>
          </p:nvPr>
        </p:nvSpPr>
        <p:spPr>
          <a:xfrm>
            <a:off x="3647875" y="1655070"/>
            <a:ext cx="5038800" cy="2741400"/>
          </a:xfrm>
          <a:prstGeom prst="rect">
            <a:avLst/>
          </a:prstGeom>
        </p:spPr>
        <p:txBody>
          <a:bodyPr anchorCtr="0" anchor="ctr"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Can you think of any common passwords that might be useful in a </a:t>
            </a:r>
            <a:r>
              <a:rPr b="1" lang="en"/>
              <a:t>password spray attack</a:t>
            </a:r>
            <a:r>
              <a:rPr lang="en"/>
              <a:t>?</a:t>
            </a:r>
            <a:endParaRPr/>
          </a:p>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00"/>
          <p:cNvSpPr txBox="1"/>
          <p:nvPr>
            <p:ph type="title"/>
          </p:nvPr>
        </p:nvSpPr>
        <p:spPr>
          <a:xfrm>
            <a:off x="914400" y="27435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Medium"/>
                <a:ea typeface="Roboto Medium"/>
                <a:cs typeface="Roboto Medium"/>
                <a:sym typeface="Roboto Medium"/>
              </a:rPr>
              <a:t>Common Passwords</a:t>
            </a:r>
            <a:endParaRPr b="0">
              <a:solidFill>
                <a:schemeClr val="dk2"/>
              </a:solidFill>
            </a:endParaRPr>
          </a:p>
          <a:p>
            <a:pPr indent="0" lvl="0" marL="0" rtl="0" algn="l">
              <a:spcBef>
                <a:spcPts val="0"/>
              </a:spcBef>
              <a:spcAft>
                <a:spcPts val="0"/>
              </a:spcAft>
              <a:buNone/>
            </a:pPr>
            <a:r>
              <a:t/>
            </a:r>
            <a:endParaRPr/>
          </a:p>
        </p:txBody>
      </p:sp>
      <p:sp>
        <p:nvSpPr>
          <p:cNvPr id="1042" name="Google Shape;1042;p100"/>
          <p:cNvSpPr/>
          <p:nvPr/>
        </p:nvSpPr>
        <p:spPr>
          <a:xfrm>
            <a:off x="684143" y="19310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43" name="Google Shape;1043;p100"/>
          <p:cNvSpPr/>
          <p:nvPr/>
        </p:nvSpPr>
        <p:spPr>
          <a:xfrm>
            <a:off x="684143" y="25734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44" name="Google Shape;1044;p100"/>
          <p:cNvSpPr/>
          <p:nvPr/>
        </p:nvSpPr>
        <p:spPr>
          <a:xfrm>
            <a:off x="684143" y="32159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45" name="Google Shape;1045;p100"/>
          <p:cNvSpPr/>
          <p:nvPr/>
        </p:nvSpPr>
        <p:spPr>
          <a:xfrm>
            <a:off x="684143" y="12892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46" name="Google Shape;1046;p100"/>
          <p:cNvSpPr/>
          <p:nvPr/>
        </p:nvSpPr>
        <p:spPr>
          <a:xfrm>
            <a:off x="533668" y="12598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1</a:t>
            </a:r>
            <a:endParaRPr sz="1800">
              <a:solidFill>
                <a:srgbClr val="082D49"/>
              </a:solidFill>
            </a:endParaRPr>
          </a:p>
        </p:txBody>
      </p:sp>
      <p:sp>
        <p:nvSpPr>
          <p:cNvPr id="1047" name="Google Shape;1047;p100"/>
          <p:cNvSpPr/>
          <p:nvPr/>
        </p:nvSpPr>
        <p:spPr>
          <a:xfrm>
            <a:off x="533668" y="19016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2</a:t>
            </a:r>
            <a:endParaRPr sz="1800">
              <a:solidFill>
                <a:srgbClr val="082D49"/>
              </a:solidFill>
            </a:endParaRPr>
          </a:p>
        </p:txBody>
      </p:sp>
      <p:sp>
        <p:nvSpPr>
          <p:cNvPr id="1048" name="Google Shape;1048;p100"/>
          <p:cNvSpPr/>
          <p:nvPr/>
        </p:nvSpPr>
        <p:spPr>
          <a:xfrm>
            <a:off x="533668" y="25440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3</a:t>
            </a:r>
            <a:endParaRPr sz="1800">
              <a:solidFill>
                <a:srgbClr val="082D49"/>
              </a:solidFill>
            </a:endParaRPr>
          </a:p>
        </p:txBody>
      </p:sp>
      <p:sp>
        <p:nvSpPr>
          <p:cNvPr id="1049" name="Google Shape;1049;p100"/>
          <p:cNvSpPr/>
          <p:nvPr/>
        </p:nvSpPr>
        <p:spPr>
          <a:xfrm>
            <a:off x="533668" y="317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4</a:t>
            </a:r>
            <a:endParaRPr sz="1800">
              <a:solidFill>
                <a:srgbClr val="082D49"/>
              </a:solidFill>
            </a:endParaRPr>
          </a:p>
        </p:txBody>
      </p:sp>
      <p:sp>
        <p:nvSpPr>
          <p:cNvPr id="1050" name="Google Shape;1050;p100"/>
          <p:cNvSpPr txBox="1"/>
          <p:nvPr/>
        </p:nvSpPr>
        <p:spPr>
          <a:xfrm>
            <a:off x="992668" y="1281575"/>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SeasonYear (e.g., Spring2021)</a:t>
            </a:r>
            <a:endParaRPr sz="1800">
              <a:solidFill>
                <a:schemeClr val="dk2"/>
              </a:solidFill>
              <a:latin typeface="Roboto"/>
              <a:ea typeface="Roboto"/>
              <a:cs typeface="Roboto"/>
              <a:sym typeface="Roboto"/>
            </a:endParaRPr>
          </a:p>
        </p:txBody>
      </p:sp>
      <p:sp>
        <p:nvSpPr>
          <p:cNvPr id="1051" name="Google Shape;1051;p100"/>
          <p:cNvSpPr txBox="1"/>
          <p:nvPr/>
        </p:nvSpPr>
        <p:spPr>
          <a:xfrm>
            <a:off x="992668" y="1889326"/>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Any variation of the word “password”</a:t>
            </a:r>
            <a:endParaRPr sz="1800">
              <a:solidFill>
                <a:schemeClr val="dk2"/>
              </a:solidFill>
              <a:latin typeface="Roboto"/>
              <a:ea typeface="Roboto"/>
              <a:cs typeface="Roboto"/>
              <a:sym typeface="Roboto"/>
            </a:endParaRPr>
          </a:p>
        </p:txBody>
      </p:sp>
      <p:sp>
        <p:nvSpPr>
          <p:cNvPr id="1052" name="Google Shape;1052;p100"/>
          <p:cNvSpPr txBox="1"/>
          <p:nvPr/>
        </p:nvSpPr>
        <p:spPr>
          <a:xfrm>
            <a:off x="992668" y="2549310"/>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PresidentYear</a:t>
            </a:r>
            <a:endParaRPr sz="1800">
              <a:solidFill>
                <a:schemeClr val="dk2"/>
              </a:solidFill>
              <a:latin typeface="Roboto"/>
              <a:ea typeface="Roboto"/>
              <a:cs typeface="Roboto"/>
              <a:sym typeface="Roboto"/>
            </a:endParaRPr>
          </a:p>
        </p:txBody>
      </p:sp>
      <p:sp>
        <p:nvSpPr>
          <p:cNvPr id="1053" name="Google Shape;1053;p100"/>
          <p:cNvSpPr txBox="1"/>
          <p:nvPr/>
        </p:nvSpPr>
        <p:spPr>
          <a:xfrm>
            <a:off x="992668" y="3172188"/>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LetMeIn</a:t>
            </a:r>
            <a:endParaRPr sz="1800">
              <a:solidFill>
                <a:schemeClr val="dk2"/>
              </a:solidFill>
              <a:latin typeface="Roboto"/>
              <a:ea typeface="Roboto"/>
              <a:cs typeface="Roboto"/>
              <a:sym typeface="Roboto"/>
            </a:endParaRPr>
          </a:p>
        </p:txBody>
      </p:sp>
      <p:sp>
        <p:nvSpPr>
          <p:cNvPr id="1054" name="Google Shape;1054;p100"/>
          <p:cNvSpPr/>
          <p:nvPr/>
        </p:nvSpPr>
        <p:spPr>
          <a:xfrm>
            <a:off x="684143" y="38577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55" name="Google Shape;1055;p100"/>
          <p:cNvSpPr/>
          <p:nvPr/>
        </p:nvSpPr>
        <p:spPr>
          <a:xfrm>
            <a:off x="533668" y="38144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5</a:t>
            </a:r>
            <a:endParaRPr sz="1800">
              <a:solidFill>
                <a:srgbClr val="082D49"/>
              </a:solidFill>
            </a:endParaRPr>
          </a:p>
        </p:txBody>
      </p:sp>
      <p:sp>
        <p:nvSpPr>
          <p:cNvPr id="1056" name="Google Shape;1056;p100"/>
          <p:cNvSpPr txBox="1"/>
          <p:nvPr/>
        </p:nvSpPr>
        <p:spPr>
          <a:xfrm>
            <a:off x="992668" y="3826535"/>
            <a:ext cx="7073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ILoveYou</a:t>
            </a:r>
            <a:endParaRPr sz="1800">
              <a:solidFill>
                <a:schemeClr val="dk2"/>
              </a:solidFill>
              <a:latin typeface="Roboto"/>
              <a:ea typeface="Roboto"/>
              <a:cs typeface="Roboto"/>
              <a:sym typeface="Roboto"/>
            </a:endParaRPr>
          </a:p>
        </p:txBody>
      </p:sp>
      <p:grpSp>
        <p:nvGrpSpPr>
          <p:cNvPr id="1057" name="Google Shape;1057;p100"/>
          <p:cNvGrpSpPr/>
          <p:nvPr/>
        </p:nvGrpSpPr>
        <p:grpSpPr>
          <a:xfrm>
            <a:off x="263343" y="273412"/>
            <a:ext cx="387729" cy="423494"/>
            <a:chOff x="1465800" y="297075"/>
            <a:chExt cx="4688375" cy="5120850"/>
          </a:xfrm>
        </p:grpSpPr>
        <p:sp>
          <p:nvSpPr>
            <p:cNvPr id="1058" name="Google Shape;1058;p100"/>
            <p:cNvSpPr/>
            <p:nvPr/>
          </p:nvSpPr>
          <p:spPr>
            <a:xfrm>
              <a:off x="2104675" y="4248275"/>
              <a:ext cx="3410625" cy="1169650"/>
            </a:xfrm>
            <a:custGeom>
              <a:rect b="b" l="l" r="r" t="t"/>
              <a:pathLst>
                <a:path extrusionOk="0" fill="none" h="46786" w="136425">
                  <a:moveTo>
                    <a:pt x="130920" y="46785"/>
                  </a:moveTo>
                  <a:lnTo>
                    <a:pt x="5898" y="46785"/>
                  </a:lnTo>
                  <a:lnTo>
                    <a:pt x="5898" y="46785"/>
                  </a:lnTo>
                  <a:lnTo>
                    <a:pt x="4719" y="46785"/>
                  </a:lnTo>
                  <a:lnTo>
                    <a:pt x="3539" y="46392"/>
                  </a:lnTo>
                  <a:lnTo>
                    <a:pt x="1967" y="45212"/>
                  </a:lnTo>
                  <a:lnTo>
                    <a:pt x="787" y="43247"/>
                  </a:lnTo>
                  <a:lnTo>
                    <a:pt x="394" y="42067"/>
                  </a:lnTo>
                  <a:lnTo>
                    <a:pt x="1" y="40888"/>
                  </a:lnTo>
                  <a:lnTo>
                    <a:pt x="1" y="5897"/>
                  </a:lnTo>
                  <a:lnTo>
                    <a:pt x="1" y="5897"/>
                  </a:lnTo>
                  <a:lnTo>
                    <a:pt x="394" y="4718"/>
                  </a:lnTo>
                  <a:lnTo>
                    <a:pt x="787" y="3538"/>
                  </a:lnTo>
                  <a:lnTo>
                    <a:pt x="1967" y="1966"/>
                  </a:lnTo>
                  <a:lnTo>
                    <a:pt x="3539" y="786"/>
                  </a:lnTo>
                  <a:lnTo>
                    <a:pt x="4719" y="393"/>
                  </a:lnTo>
                  <a:lnTo>
                    <a:pt x="5898" y="0"/>
                  </a:lnTo>
                  <a:lnTo>
                    <a:pt x="130920" y="0"/>
                  </a:lnTo>
                  <a:lnTo>
                    <a:pt x="130920" y="0"/>
                  </a:lnTo>
                  <a:lnTo>
                    <a:pt x="132100" y="393"/>
                  </a:lnTo>
                  <a:lnTo>
                    <a:pt x="132886" y="786"/>
                  </a:lnTo>
                  <a:lnTo>
                    <a:pt x="134852" y="1966"/>
                  </a:lnTo>
                  <a:lnTo>
                    <a:pt x="136031" y="3538"/>
                  </a:lnTo>
                  <a:lnTo>
                    <a:pt x="136424" y="4718"/>
                  </a:lnTo>
                  <a:lnTo>
                    <a:pt x="136424" y="5897"/>
                  </a:lnTo>
                  <a:lnTo>
                    <a:pt x="136424" y="40888"/>
                  </a:lnTo>
                  <a:lnTo>
                    <a:pt x="136424" y="40888"/>
                  </a:lnTo>
                  <a:lnTo>
                    <a:pt x="136424" y="42067"/>
                  </a:lnTo>
                  <a:lnTo>
                    <a:pt x="136031" y="43247"/>
                  </a:lnTo>
                  <a:lnTo>
                    <a:pt x="134852" y="45212"/>
                  </a:lnTo>
                  <a:lnTo>
                    <a:pt x="132886" y="46392"/>
                  </a:lnTo>
                  <a:lnTo>
                    <a:pt x="132100" y="46785"/>
                  </a:lnTo>
                  <a:lnTo>
                    <a:pt x="130920" y="46785"/>
                  </a:lnTo>
                  <a:lnTo>
                    <a:pt x="130920" y="46785"/>
                  </a:lnTo>
                  <a:close/>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00"/>
            <p:cNvSpPr/>
            <p:nvPr/>
          </p:nvSpPr>
          <p:spPr>
            <a:xfrm>
              <a:off x="2576475" y="297075"/>
              <a:ext cx="2457200" cy="1523500"/>
            </a:xfrm>
            <a:custGeom>
              <a:rect b="b" l="l" r="r" t="t"/>
              <a:pathLst>
                <a:path extrusionOk="0" fill="none" h="60940" w="98288">
                  <a:moveTo>
                    <a:pt x="49144" y="60939"/>
                  </a:moveTo>
                  <a:lnTo>
                    <a:pt x="49144" y="60939"/>
                  </a:lnTo>
                  <a:lnTo>
                    <a:pt x="91604" y="60939"/>
                  </a:lnTo>
                  <a:lnTo>
                    <a:pt x="91604" y="60939"/>
                  </a:lnTo>
                  <a:lnTo>
                    <a:pt x="92784" y="60546"/>
                  </a:lnTo>
                  <a:lnTo>
                    <a:pt x="93963" y="60153"/>
                  </a:lnTo>
                  <a:lnTo>
                    <a:pt x="95143" y="59760"/>
                  </a:lnTo>
                  <a:lnTo>
                    <a:pt x="96322" y="58974"/>
                  </a:lnTo>
                  <a:lnTo>
                    <a:pt x="97108" y="57794"/>
                  </a:lnTo>
                  <a:lnTo>
                    <a:pt x="97502" y="56615"/>
                  </a:lnTo>
                  <a:lnTo>
                    <a:pt x="97895" y="55435"/>
                  </a:lnTo>
                  <a:lnTo>
                    <a:pt x="98288" y="54256"/>
                  </a:lnTo>
                  <a:lnTo>
                    <a:pt x="98288" y="54256"/>
                  </a:lnTo>
                  <a:lnTo>
                    <a:pt x="97895" y="52683"/>
                  </a:lnTo>
                  <a:lnTo>
                    <a:pt x="97502" y="51504"/>
                  </a:lnTo>
                  <a:lnTo>
                    <a:pt x="97108" y="50324"/>
                  </a:lnTo>
                  <a:lnTo>
                    <a:pt x="96322" y="49538"/>
                  </a:lnTo>
                  <a:lnTo>
                    <a:pt x="95143" y="48752"/>
                  </a:lnTo>
                  <a:lnTo>
                    <a:pt x="93963" y="47965"/>
                  </a:lnTo>
                  <a:lnTo>
                    <a:pt x="92784" y="47572"/>
                  </a:lnTo>
                  <a:lnTo>
                    <a:pt x="91604" y="47572"/>
                  </a:lnTo>
                  <a:lnTo>
                    <a:pt x="91604" y="47572"/>
                  </a:lnTo>
                  <a:lnTo>
                    <a:pt x="88066" y="47572"/>
                  </a:lnTo>
                  <a:lnTo>
                    <a:pt x="88066" y="47572"/>
                  </a:lnTo>
                  <a:lnTo>
                    <a:pt x="87280" y="40102"/>
                  </a:lnTo>
                  <a:lnTo>
                    <a:pt x="86493" y="32633"/>
                  </a:lnTo>
                  <a:lnTo>
                    <a:pt x="84921" y="23590"/>
                  </a:lnTo>
                  <a:lnTo>
                    <a:pt x="83741" y="19265"/>
                  </a:lnTo>
                  <a:lnTo>
                    <a:pt x="82562" y="14941"/>
                  </a:lnTo>
                  <a:lnTo>
                    <a:pt x="80989" y="11009"/>
                  </a:lnTo>
                  <a:lnTo>
                    <a:pt x="79023" y="7471"/>
                  </a:lnTo>
                  <a:lnTo>
                    <a:pt x="76665" y="4326"/>
                  </a:lnTo>
                  <a:lnTo>
                    <a:pt x="74306" y="1967"/>
                  </a:lnTo>
                  <a:lnTo>
                    <a:pt x="72733" y="1180"/>
                  </a:lnTo>
                  <a:lnTo>
                    <a:pt x="71554" y="394"/>
                  </a:lnTo>
                  <a:lnTo>
                    <a:pt x="69981" y="1"/>
                  </a:lnTo>
                  <a:lnTo>
                    <a:pt x="68015" y="1"/>
                  </a:lnTo>
                  <a:lnTo>
                    <a:pt x="68015" y="1"/>
                  </a:lnTo>
                  <a:lnTo>
                    <a:pt x="65656" y="1"/>
                  </a:lnTo>
                  <a:lnTo>
                    <a:pt x="63297" y="787"/>
                  </a:lnTo>
                  <a:lnTo>
                    <a:pt x="59759" y="2753"/>
                  </a:lnTo>
                  <a:lnTo>
                    <a:pt x="57793" y="3539"/>
                  </a:lnTo>
                  <a:lnTo>
                    <a:pt x="55434" y="4719"/>
                  </a:lnTo>
                  <a:lnTo>
                    <a:pt x="52682" y="5112"/>
                  </a:lnTo>
                  <a:lnTo>
                    <a:pt x="49144" y="5505"/>
                  </a:lnTo>
                  <a:lnTo>
                    <a:pt x="49144" y="5505"/>
                  </a:lnTo>
                  <a:lnTo>
                    <a:pt x="45606" y="5112"/>
                  </a:lnTo>
                  <a:lnTo>
                    <a:pt x="42854" y="4719"/>
                  </a:lnTo>
                  <a:lnTo>
                    <a:pt x="40495" y="3539"/>
                  </a:lnTo>
                  <a:lnTo>
                    <a:pt x="38529" y="2753"/>
                  </a:lnTo>
                  <a:lnTo>
                    <a:pt x="34597" y="787"/>
                  </a:lnTo>
                  <a:lnTo>
                    <a:pt x="32632" y="1"/>
                  </a:lnTo>
                  <a:lnTo>
                    <a:pt x="29880" y="1"/>
                  </a:lnTo>
                  <a:lnTo>
                    <a:pt x="29880" y="1"/>
                  </a:lnTo>
                  <a:lnTo>
                    <a:pt x="28307" y="1"/>
                  </a:lnTo>
                  <a:lnTo>
                    <a:pt x="26734" y="394"/>
                  </a:lnTo>
                  <a:lnTo>
                    <a:pt x="25162" y="1180"/>
                  </a:lnTo>
                  <a:lnTo>
                    <a:pt x="23982" y="1967"/>
                  </a:lnTo>
                  <a:lnTo>
                    <a:pt x="21230" y="4326"/>
                  </a:lnTo>
                  <a:lnTo>
                    <a:pt x="19264" y="7471"/>
                  </a:lnTo>
                  <a:lnTo>
                    <a:pt x="17299" y="11009"/>
                  </a:lnTo>
                  <a:lnTo>
                    <a:pt x="15726" y="14941"/>
                  </a:lnTo>
                  <a:lnTo>
                    <a:pt x="14153" y="19265"/>
                  </a:lnTo>
                  <a:lnTo>
                    <a:pt x="13367" y="23590"/>
                  </a:lnTo>
                  <a:lnTo>
                    <a:pt x="11795" y="32633"/>
                  </a:lnTo>
                  <a:lnTo>
                    <a:pt x="10615" y="40102"/>
                  </a:lnTo>
                  <a:lnTo>
                    <a:pt x="10222" y="47572"/>
                  </a:lnTo>
                  <a:lnTo>
                    <a:pt x="10222" y="47572"/>
                  </a:lnTo>
                  <a:lnTo>
                    <a:pt x="6684" y="47572"/>
                  </a:lnTo>
                  <a:lnTo>
                    <a:pt x="6684" y="47572"/>
                  </a:lnTo>
                  <a:lnTo>
                    <a:pt x="5111" y="47572"/>
                  </a:lnTo>
                  <a:lnTo>
                    <a:pt x="3932" y="47965"/>
                  </a:lnTo>
                  <a:lnTo>
                    <a:pt x="2752" y="48752"/>
                  </a:lnTo>
                  <a:lnTo>
                    <a:pt x="1966" y="49538"/>
                  </a:lnTo>
                  <a:lnTo>
                    <a:pt x="1179" y="50324"/>
                  </a:lnTo>
                  <a:lnTo>
                    <a:pt x="393" y="51504"/>
                  </a:lnTo>
                  <a:lnTo>
                    <a:pt x="0" y="52683"/>
                  </a:lnTo>
                  <a:lnTo>
                    <a:pt x="0" y="54256"/>
                  </a:lnTo>
                  <a:lnTo>
                    <a:pt x="0" y="54256"/>
                  </a:lnTo>
                  <a:lnTo>
                    <a:pt x="0" y="55435"/>
                  </a:lnTo>
                  <a:lnTo>
                    <a:pt x="393" y="56615"/>
                  </a:lnTo>
                  <a:lnTo>
                    <a:pt x="1179" y="57794"/>
                  </a:lnTo>
                  <a:lnTo>
                    <a:pt x="1966" y="58974"/>
                  </a:lnTo>
                  <a:lnTo>
                    <a:pt x="2752" y="59760"/>
                  </a:lnTo>
                  <a:lnTo>
                    <a:pt x="3932" y="60153"/>
                  </a:lnTo>
                  <a:lnTo>
                    <a:pt x="5111" y="60546"/>
                  </a:lnTo>
                  <a:lnTo>
                    <a:pt x="6684" y="60939"/>
                  </a:lnTo>
                  <a:lnTo>
                    <a:pt x="6684" y="60939"/>
                  </a:lnTo>
                  <a:lnTo>
                    <a:pt x="49144" y="60939"/>
                  </a:lnTo>
                  <a:lnTo>
                    <a:pt x="49144" y="60939"/>
                  </a:lnTo>
                  <a:close/>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00"/>
            <p:cNvSpPr/>
            <p:nvPr/>
          </p:nvSpPr>
          <p:spPr>
            <a:xfrm>
              <a:off x="1465800" y="2891900"/>
              <a:ext cx="1140175" cy="2398250"/>
            </a:xfrm>
            <a:custGeom>
              <a:rect b="b" l="l" r="r" t="t"/>
              <a:pathLst>
                <a:path extrusionOk="0" fill="none" h="95930" w="45607">
                  <a:moveTo>
                    <a:pt x="25163" y="95929"/>
                  </a:moveTo>
                  <a:lnTo>
                    <a:pt x="25163" y="95929"/>
                  </a:lnTo>
                  <a:lnTo>
                    <a:pt x="16120" y="86887"/>
                  </a:lnTo>
                  <a:lnTo>
                    <a:pt x="3932" y="74699"/>
                  </a:lnTo>
                  <a:lnTo>
                    <a:pt x="3932" y="74699"/>
                  </a:lnTo>
                  <a:lnTo>
                    <a:pt x="2753" y="73519"/>
                  </a:lnTo>
                  <a:lnTo>
                    <a:pt x="1967" y="71554"/>
                  </a:lnTo>
                  <a:lnTo>
                    <a:pt x="1180" y="69981"/>
                  </a:lnTo>
                  <a:lnTo>
                    <a:pt x="394" y="68015"/>
                  </a:lnTo>
                  <a:lnTo>
                    <a:pt x="1" y="65263"/>
                  </a:lnTo>
                  <a:lnTo>
                    <a:pt x="1" y="62511"/>
                  </a:lnTo>
                  <a:lnTo>
                    <a:pt x="394" y="58973"/>
                  </a:lnTo>
                  <a:lnTo>
                    <a:pt x="1180" y="55041"/>
                  </a:lnTo>
                  <a:lnTo>
                    <a:pt x="1180" y="55041"/>
                  </a:lnTo>
                  <a:lnTo>
                    <a:pt x="11009" y="9829"/>
                  </a:lnTo>
                  <a:lnTo>
                    <a:pt x="11009" y="9829"/>
                  </a:lnTo>
                  <a:lnTo>
                    <a:pt x="11402" y="7077"/>
                  </a:lnTo>
                  <a:lnTo>
                    <a:pt x="12189" y="5111"/>
                  </a:lnTo>
                  <a:lnTo>
                    <a:pt x="13368" y="3538"/>
                  </a:lnTo>
                  <a:lnTo>
                    <a:pt x="14548" y="2359"/>
                  </a:lnTo>
                  <a:lnTo>
                    <a:pt x="16120" y="1179"/>
                  </a:lnTo>
                  <a:lnTo>
                    <a:pt x="18086" y="786"/>
                  </a:lnTo>
                  <a:lnTo>
                    <a:pt x="20052" y="393"/>
                  </a:lnTo>
                  <a:lnTo>
                    <a:pt x="22804" y="0"/>
                  </a:lnTo>
                  <a:lnTo>
                    <a:pt x="22804" y="0"/>
                  </a:lnTo>
                  <a:lnTo>
                    <a:pt x="45606"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00"/>
            <p:cNvSpPr/>
            <p:nvPr/>
          </p:nvSpPr>
          <p:spPr>
            <a:xfrm>
              <a:off x="2242275" y="2361125"/>
              <a:ext cx="1071375" cy="1602125"/>
            </a:xfrm>
            <a:custGeom>
              <a:rect b="b" l="l" r="r" t="t"/>
              <a:pathLst>
                <a:path extrusionOk="0" fill="none" h="64085" w="42855">
                  <a:moveTo>
                    <a:pt x="42854" y="64085"/>
                  </a:moveTo>
                  <a:lnTo>
                    <a:pt x="1" y="1"/>
                  </a:lnTo>
                  <a:lnTo>
                    <a:pt x="31846" y="1"/>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00"/>
            <p:cNvSpPr/>
            <p:nvPr/>
          </p:nvSpPr>
          <p:spPr>
            <a:xfrm>
              <a:off x="2773050" y="2636350"/>
              <a:ext cx="570075" cy="855125"/>
            </a:xfrm>
            <a:custGeom>
              <a:rect b="b" l="l" r="r" t="t"/>
              <a:pathLst>
                <a:path extrusionOk="0" fill="none" h="34205" w="22803">
                  <a:moveTo>
                    <a:pt x="22803" y="34204"/>
                  </a:moveTo>
                  <a:lnTo>
                    <a:pt x="0"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00"/>
            <p:cNvSpPr/>
            <p:nvPr/>
          </p:nvSpPr>
          <p:spPr>
            <a:xfrm>
              <a:off x="5023825" y="2891900"/>
              <a:ext cx="1130350" cy="2398250"/>
            </a:xfrm>
            <a:custGeom>
              <a:rect b="b" l="l" r="r" t="t"/>
              <a:pathLst>
                <a:path extrusionOk="0" fill="none" h="95930" w="45214">
                  <a:moveTo>
                    <a:pt x="20051" y="95929"/>
                  </a:moveTo>
                  <a:lnTo>
                    <a:pt x="20051" y="95929"/>
                  </a:lnTo>
                  <a:lnTo>
                    <a:pt x="29487" y="86887"/>
                  </a:lnTo>
                  <a:lnTo>
                    <a:pt x="41282" y="74699"/>
                  </a:lnTo>
                  <a:lnTo>
                    <a:pt x="41282" y="74699"/>
                  </a:lnTo>
                  <a:lnTo>
                    <a:pt x="42461" y="73519"/>
                  </a:lnTo>
                  <a:lnTo>
                    <a:pt x="43640" y="71554"/>
                  </a:lnTo>
                  <a:lnTo>
                    <a:pt x="44427" y="69981"/>
                  </a:lnTo>
                  <a:lnTo>
                    <a:pt x="45213" y="68015"/>
                  </a:lnTo>
                  <a:lnTo>
                    <a:pt x="45213" y="65263"/>
                  </a:lnTo>
                  <a:lnTo>
                    <a:pt x="45213" y="62511"/>
                  </a:lnTo>
                  <a:lnTo>
                    <a:pt x="44820" y="58973"/>
                  </a:lnTo>
                  <a:lnTo>
                    <a:pt x="44034" y="55041"/>
                  </a:lnTo>
                  <a:lnTo>
                    <a:pt x="44034" y="55041"/>
                  </a:lnTo>
                  <a:lnTo>
                    <a:pt x="34598" y="9829"/>
                  </a:lnTo>
                  <a:lnTo>
                    <a:pt x="34598" y="9829"/>
                  </a:lnTo>
                  <a:lnTo>
                    <a:pt x="33812" y="7077"/>
                  </a:lnTo>
                  <a:lnTo>
                    <a:pt x="33025" y="5111"/>
                  </a:lnTo>
                  <a:lnTo>
                    <a:pt x="32239" y="3538"/>
                  </a:lnTo>
                  <a:lnTo>
                    <a:pt x="31060" y="2359"/>
                  </a:lnTo>
                  <a:lnTo>
                    <a:pt x="29487" y="1179"/>
                  </a:lnTo>
                  <a:lnTo>
                    <a:pt x="27521" y="786"/>
                  </a:lnTo>
                  <a:lnTo>
                    <a:pt x="25162" y="393"/>
                  </a:lnTo>
                  <a:lnTo>
                    <a:pt x="22803" y="0"/>
                  </a:lnTo>
                  <a:lnTo>
                    <a:pt x="22803" y="0"/>
                  </a:lnTo>
                  <a:lnTo>
                    <a:pt x="1"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00"/>
            <p:cNvSpPr/>
            <p:nvPr/>
          </p:nvSpPr>
          <p:spPr>
            <a:xfrm>
              <a:off x="4316150" y="2361125"/>
              <a:ext cx="1061550" cy="1602125"/>
            </a:xfrm>
            <a:custGeom>
              <a:rect b="b" l="l" r="r" t="t"/>
              <a:pathLst>
                <a:path extrusionOk="0" fill="none" h="64085" w="42462">
                  <a:moveTo>
                    <a:pt x="1" y="64085"/>
                  </a:moveTo>
                  <a:lnTo>
                    <a:pt x="42461" y="1"/>
                  </a:lnTo>
                  <a:lnTo>
                    <a:pt x="10616" y="1"/>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00"/>
            <p:cNvSpPr/>
            <p:nvPr/>
          </p:nvSpPr>
          <p:spPr>
            <a:xfrm>
              <a:off x="4286675" y="2636350"/>
              <a:ext cx="560250" cy="855125"/>
            </a:xfrm>
            <a:custGeom>
              <a:rect b="b" l="l" r="r" t="t"/>
              <a:pathLst>
                <a:path extrusionOk="0" fill="none" h="34205" w="22410">
                  <a:moveTo>
                    <a:pt x="0" y="34204"/>
                  </a:moveTo>
                  <a:lnTo>
                    <a:pt x="22410"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00"/>
            <p:cNvSpPr/>
            <p:nvPr/>
          </p:nvSpPr>
          <p:spPr>
            <a:xfrm>
              <a:off x="2832000" y="1486375"/>
              <a:ext cx="1946125" cy="25"/>
            </a:xfrm>
            <a:custGeom>
              <a:rect b="b" l="l" r="r" t="t"/>
              <a:pathLst>
                <a:path extrusionOk="0" fill="none" h="1" w="77845">
                  <a:moveTo>
                    <a:pt x="1" y="0"/>
                  </a:moveTo>
                  <a:lnTo>
                    <a:pt x="77845"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00"/>
            <p:cNvSpPr/>
            <p:nvPr/>
          </p:nvSpPr>
          <p:spPr>
            <a:xfrm>
              <a:off x="2999100" y="1820550"/>
              <a:ext cx="1611950" cy="1326900"/>
            </a:xfrm>
            <a:custGeom>
              <a:rect b="b" l="l" r="r" t="t"/>
              <a:pathLst>
                <a:path extrusionOk="0" fill="none" h="53076" w="64478">
                  <a:moveTo>
                    <a:pt x="64477" y="394"/>
                  </a:moveTo>
                  <a:lnTo>
                    <a:pt x="64477" y="394"/>
                  </a:lnTo>
                  <a:lnTo>
                    <a:pt x="64477" y="5111"/>
                  </a:lnTo>
                  <a:lnTo>
                    <a:pt x="64477" y="5111"/>
                  </a:lnTo>
                  <a:lnTo>
                    <a:pt x="64477" y="10222"/>
                  </a:lnTo>
                  <a:lnTo>
                    <a:pt x="64084" y="14940"/>
                  </a:lnTo>
                  <a:lnTo>
                    <a:pt x="63298" y="19265"/>
                  </a:lnTo>
                  <a:lnTo>
                    <a:pt x="62118" y="23983"/>
                  </a:lnTo>
                  <a:lnTo>
                    <a:pt x="60546" y="27914"/>
                  </a:lnTo>
                  <a:lnTo>
                    <a:pt x="58973" y="31846"/>
                  </a:lnTo>
                  <a:lnTo>
                    <a:pt x="57007" y="35777"/>
                  </a:lnTo>
                  <a:lnTo>
                    <a:pt x="55042" y="38923"/>
                  </a:lnTo>
                  <a:lnTo>
                    <a:pt x="52683" y="42068"/>
                  </a:lnTo>
                  <a:lnTo>
                    <a:pt x="50324" y="44820"/>
                  </a:lnTo>
                  <a:lnTo>
                    <a:pt x="47572" y="47179"/>
                  </a:lnTo>
                  <a:lnTo>
                    <a:pt x="44820" y="49144"/>
                  </a:lnTo>
                  <a:lnTo>
                    <a:pt x="41675" y="51110"/>
                  </a:lnTo>
                  <a:lnTo>
                    <a:pt x="38529" y="52290"/>
                  </a:lnTo>
                  <a:lnTo>
                    <a:pt x="35384" y="52683"/>
                  </a:lnTo>
                  <a:lnTo>
                    <a:pt x="32239" y="53076"/>
                  </a:lnTo>
                  <a:lnTo>
                    <a:pt x="32239" y="53076"/>
                  </a:lnTo>
                  <a:lnTo>
                    <a:pt x="28701" y="52683"/>
                  </a:lnTo>
                  <a:lnTo>
                    <a:pt x="25555" y="52290"/>
                  </a:lnTo>
                  <a:lnTo>
                    <a:pt x="22410" y="51110"/>
                  </a:lnTo>
                  <a:lnTo>
                    <a:pt x="19658" y="49144"/>
                  </a:lnTo>
                  <a:lnTo>
                    <a:pt x="16906" y="47179"/>
                  </a:lnTo>
                  <a:lnTo>
                    <a:pt x="14154" y="44820"/>
                  </a:lnTo>
                  <a:lnTo>
                    <a:pt x="11795" y="42068"/>
                  </a:lnTo>
                  <a:lnTo>
                    <a:pt x="9436" y="38923"/>
                  </a:lnTo>
                  <a:lnTo>
                    <a:pt x="7077" y="35777"/>
                  </a:lnTo>
                  <a:lnTo>
                    <a:pt x="5505" y="31846"/>
                  </a:lnTo>
                  <a:lnTo>
                    <a:pt x="3539" y="27914"/>
                  </a:lnTo>
                  <a:lnTo>
                    <a:pt x="2359" y="23983"/>
                  </a:lnTo>
                  <a:lnTo>
                    <a:pt x="1180" y="19265"/>
                  </a:lnTo>
                  <a:lnTo>
                    <a:pt x="394" y="14940"/>
                  </a:lnTo>
                  <a:lnTo>
                    <a:pt x="1" y="10222"/>
                  </a:lnTo>
                  <a:lnTo>
                    <a:pt x="1" y="5111"/>
                  </a:lnTo>
                  <a:lnTo>
                    <a:pt x="1" y="5111"/>
                  </a:lnTo>
                  <a:lnTo>
                    <a:pt x="1"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00"/>
            <p:cNvSpPr/>
            <p:nvPr/>
          </p:nvSpPr>
          <p:spPr>
            <a:xfrm>
              <a:off x="3677275" y="4602100"/>
              <a:ext cx="275250" cy="471800"/>
            </a:xfrm>
            <a:custGeom>
              <a:rect b="b" l="l" r="r" t="t"/>
              <a:pathLst>
                <a:path extrusionOk="0" fill="none" h="18872" w="11010">
                  <a:moveTo>
                    <a:pt x="1" y="0"/>
                  </a:moveTo>
                  <a:lnTo>
                    <a:pt x="11009" y="18872"/>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00"/>
            <p:cNvSpPr/>
            <p:nvPr/>
          </p:nvSpPr>
          <p:spPr>
            <a:xfrm>
              <a:off x="3677275" y="4602100"/>
              <a:ext cx="275250" cy="471800"/>
            </a:xfrm>
            <a:custGeom>
              <a:rect b="b" l="l" r="r" t="t"/>
              <a:pathLst>
                <a:path extrusionOk="0" fill="none" h="18872" w="11010">
                  <a:moveTo>
                    <a:pt x="1" y="18872"/>
                  </a:moveTo>
                  <a:lnTo>
                    <a:pt x="11009"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00"/>
            <p:cNvSpPr/>
            <p:nvPr/>
          </p:nvSpPr>
          <p:spPr>
            <a:xfrm>
              <a:off x="3539675" y="4838000"/>
              <a:ext cx="550450" cy="25"/>
            </a:xfrm>
            <a:custGeom>
              <a:rect b="b" l="l" r="r" t="t"/>
              <a:pathLst>
                <a:path extrusionOk="0" fill="none" h="1" w="22018">
                  <a:moveTo>
                    <a:pt x="1" y="0"/>
                  </a:moveTo>
                  <a:lnTo>
                    <a:pt x="22017"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00"/>
            <p:cNvSpPr/>
            <p:nvPr/>
          </p:nvSpPr>
          <p:spPr>
            <a:xfrm>
              <a:off x="2812350" y="4602100"/>
              <a:ext cx="275225" cy="471800"/>
            </a:xfrm>
            <a:custGeom>
              <a:rect b="b" l="l" r="r" t="t"/>
              <a:pathLst>
                <a:path extrusionOk="0" fill="none" h="18872" w="11009">
                  <a:moveTo>
                    <a:pt x="1" y="0"/>
                  </a:moveTo>
                  <a:lnTo>
                    <a:pt x="11009" y="18872"/>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00"/>
            <p:cNvSpPr/>
            <p:nvPr/>
          </p:nvSpPr>
          <p:spPr>
            <a:xfrm>
              <a:off x="2812350" y="4602100"/>
              <a:ext cx="275225" cy="471800"/>
            </a:xfrm>
            <a:custGeom>
              <a:rect b="b" l="l" r="r" t="t"/>
              <a:pathLst>
                <a:path extrusionOk="0" fill="none" h="18872" w="11009">
                  <a:moveTo>
                    <a:pt x="1" y="18872"/>
                  </a:moveTo>
                  <a:lnTo>
                    <a:pt x="11009"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00"/>
            <p:cNvSpPr/>
            <p:nvPr/>
          </p:nvSpPr>
          <p:spPr>
            <a:xfrm>
              <a:off x="2684575" y="4838000"/>
              <a:ext cx="540600" cy="25"/>
            </a:xfrm>
            <a:custGeom>
              <a:rect b="b" l="l" r="r" t="t"/>
              <a:pathLst>
                <a:path extrusionOk="0" fill="none" h="1" w="21624">
                  <a:moveTo>
                    <a:pt x="1" y="0"/>
                  </a:moveTo>
                  <a:lnTo>
                    <a:pt x="21624"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00"/>
            <p:cNvSpPr/>
            <p:nvPr/>
          </p:nvSpPr>
          <p:spPr>
            <a:xfrm>
              <a:off x="4542225" y="4602100"/>
              <a:ext cx="275225" cy="471800"/>
            </a:xfrm>
            <a:custGeom>
              <a:rect b="b" l="l" r="r" t="t"/>
              <a:pathLst>
                <a:path extrusionOk="0" fill="none" h="18872" w="11009">
                  <a:moveTo>
                    <a:pt x="0" y="0"/>
                  </a:moveTo>
                  <a:lnTo>
                    <a:pt x="11009" y="18872"/>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00"/>
            <p:cNvSpPr/>
            <p:nvPr/>
          </p:nvSpPr>
          <p:spPr>
            <a:xfrm>
              <a:off x="4542225" y="4602100"/>
              <a:ext cx="275225" cy="471800"/>
            </a:xfrm>
            <a:custGeom>
              <a:rect b="b" l="l" r="r" t="t"/>
              <a:pathLst>
                <a:path extrusionOk="0" fill="none" h="18872" w="11009">
                  <a:moveTo>
                    <a:pt x="0" y="18872"/>
                  </a:moveTo>
                  <a:lnTo>
                    <a:pt x="11009"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00"/>
            <p:cNvSpPr/>
            <p:nvPr/>
          </p:nvSpPr>
          <p:spPr>
            <a:xfrm>
              <a:off x="4404625" y="4838000"/>
              <a:ext cx="550425" cy="25"/>
            </a:xfrm>
            <a:custGeom>
              <a:rect b="b" l="l" r="r" t="t"/>
              <a:pathLst>
                <a:path extrusionOk="0" fill="none" h="1" w="22017">
                  <a:moveTo>
                    <a:pt x="0" y="0"/>
                  </a:moveTo>
                  <a:lnTo>
                    <a:pt x="22017" y="0"/>
                  </a:lnTo>
                </a:path>
              </a:pathLst>
            </a:custGeom>
            <a:noFill/>
            <a:ln cap="rnd"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101"/>
          <p:cNvSpPr txBox="1"/>
          <p:nvPr/>
        </p:nvSpPr>
        <p:spPr>
          <a:xfrm>
            <a:off x="839667" y="4445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Medium"/>
                <a:ea typeface="Roboto Medium"/>
                <a:cs typeface="Roboto Medium"/>
                <a:sym typeface="Roboto Medium"/>
              </a:rPr>
              <a:t>Recap: Linux vs. Windows Pen Testing</a:t>
            </a:r>
            <a:endParaRPr b="1" sz="2600">
              <a:solidFill>
                <a:schemeClr val="dk2"/>
              </a:solidFill>
              <a:latin typeface="Roboto Medium"/>
              <a:ea typeface="Roboto Medium"/>
              <a:cs typeface="Roboto Medium"/>
              <a:sym typeface="Roboto Medium"/>
            </a:endParaRPr>
          </a:p>
        </p:txBody>
      </p:sp>
      <p:sp>
        <p:nvSpPr>
          <p:cNvPr id="1082" name="Google Shape;1082;p101"/>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0"/>
              </a:spcAft>
              <a:buNone/>
            </a:pPr>
            <a:r>
              <a:rPr lang="en" sz="1900"/>
              <a:t>Let’s review what we’ve covered so far:</a:t>
            </a:r>
            <a:endParaRPr sz="1900"/>
          </a:p>
          <a:p>
            <a:pPr indent="0" lvl="0" marL="0" rtl="0" algn="l">
              <a:spcBef>
                <a:spcPts val="1200"/>
              </a:spcBef>
              <a:spcAft>
                <a:spcPts val="0"/>
              </a:spcAft>
              <a:buNone/>
            </a:pPr>
            <a:r>
              <a:t/>
            </a:r>
            <a:endParaRPr/>
          </a:p>
        </p:txBody>
      </p:sp>
      <p:sp>
        <p:nvSpPr>
          <p:cNvPr id="1083" name="Google Shape;1083;p101"/>
          <p:cNvSpPr/>
          <p:nvPr/>
        </p:nvSpPr>
        <p:spPr>
          <a:xfrm>
            <a:off x="615775" y="1966350"/>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84" name="Google Shape;1084;p101"/>
          <p:cNvSpPr/>
          <p:nvPr/>
        </p:nvSpPr>
        <p:spPr>
          <a:xfrm>
            <a:off x="615779" y="2913563"/>
            <a:ext cx="78942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85" name="Google Shape;1085;p101"/>
          <p:cNvSpPr/>
          <p:nvPr/>
        </p:nvSpPr>
        <p:spPr>
          <a:xfrm>
            <a:off x="615779" y="3556000"/>
            <a:ext cx="78942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86" name="Google Shape;1086;p101"/>
          <p:cNvSpPr/>
          <p:nvPr/>
        </p:nvSpPr>
        <p:spPr>
          <a:xfrm>
            <a:off x="615779" y="1324550"/>
            <a:ext cx="78942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87" name="Google Shape;1087;p101"/>
          <p:cNvSpPr/>
          <p:nvPr/>
        </p:nvSpPr>
        <p:spPr>
          <a:xfrm>
            <a:off x="457193" y="12951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1</a:t>
            </a:r>
            <a:endParaRPr sz="1800">
              <a:solidFill>
                <a:srgbClr val="082D49"/>
              </a:solidFill>
            </a:endParaRPr>
          </a:p>
        </p:txBody>
      </p:sp>
      <p:sp>
        <p:nvSpPr>
          <p:cNvPr id="1088" name="Google Shape;1088;p101"/>
          <p:cNvSpPr/>
          <p:nvPr/>
        </p:nvSpPr>
        <p:spPr>
          <a:xfrm>
            <a:off x="457193" y="2074763"/>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2</a:t>
            </a:r>
            <a:endParaRPr sz="1800">
              <a:solidFill>
                <a:srgbClr val="082D49"/>
              </a:solidFill>
            </a:endParaRPr>
          </a:p>
        </p:txBody>
      </p:sp>
      <p:sp>
        <p:nvSpPr>
          <p:cNvPr id="1089" name="Google Shape;1089;p101"/>
          <p:cNvSpPr/>
          <p:nvPr/>
        </p:nvSpPr>
        <p:spPr>
          <a:xfrm>
            <a:off x="457193" y="28841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3</a:t>
            </a:r>
            <a:endParaRPr sz="1800">
              <a:solidFill>
                <a:srgbClr val="082D49"/>
              </a:solidFill>
            </a:endParaRPr>
          </a:p>
        </p:txBody>
      </p:sp>
      <p:sp>
        <p:nvSpPr>
          <p:cNvPr id="1090" name="Google Shape;1090;p101"/>
          <p:cNvSpPr/>
          <p:nvPr/>
        </p:nvSpPr>
        <p:spPr>
          <a:xfrm>
            <a:off x="457193" y="35193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4</a:t>
            </a:r>
            <a:endParaRPr sz="1800">
              <a:solidFill>
                <a:srgbClr val="082D49"/>
              </a:solidFill>
            </a:endParaRPr>
          </a:p>
        </p:txBody>
      </p:sp>
      <p:sp>
        <p:nvSpPr>
          <p:cNvPr id="1091" name="Google Shape;1091;p101"/>
          <p:cNvSpPr txBox="1"/>
          <p:nvPr/>
        </p:nvSpPr>
        <p:spPr>
          <a:xfrm>
            <a:off x="939791" y="1316850"/>
            <a:ext cx="74502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Windows and Linux penetration tests employ similar methodologies.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092" name="Google Shape;1092;p101"/>
          <p:cNvSpPr txBox="1"/>
          <p:nvPr/>
        </p:nvSpPr>
        <p:spPr>
          <a:xfrm>
            <a:off x="939799" y="1924600"/>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The difference between Linux and Windows pen testing is the techniques used to achieve tactics.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093" name="Google Shape;1093;p101"/>
          <p:cNvSpPr txBox="1"/>
          <p:nvPr/>
        </p:nvSpPr>
        <p:spPr>
          <a:xfrm>
            <a:off x="939783" y="2889385"/>
            <a:ext cx="7428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 </a:t>
            </a:r>
            <a:r>
              <a:rPr b="1" lang="en" sz="1800">
                <a:solidFill>
                  <a:schemeClr val="dk2"/>
                </a:solidFill>
                <a:latin typeface="Roboto"/>
                <a:ea typeface="Roboto"/>
                <a:cs typeface="Roboto"/>
                <a:sym typeface="Roboto"/>
              </a:rPr>
              <a:t>tactic</a:t>
            </a:r>
            <a:r>
              <a:rPr lang="en" sz="1800">
                <a:solidFill>
                  <a:schemeClr val="dk2"/>
                </a:solidFill>
                <a:latin typeface="Roboto"/>
                <a:ea typeface="Roboto"/>
                <a:cs typeface="Roboto"/>
                <a:sym typeface="Roboto"/>
              </a:rPr>
              <a:t> is a specific step in penetration testing.</a:t>
            </a:r>
            <a:endParaRPr sz="1800">
              <a:solidFill>
                <a:schemeClr val="dk2"/>
              </a:solidFill>
              <a:latin typeface="Roboto"/>
              <a:ea typeface="Roboto"/>
              <a:cs typeface="Roboto"/>
              <a:sym typeface="Roboto"/>
            </a:endParaRPr>
          </a:p>
        </p:txBody>
      </p:sp>
      <p:sp>
        <p:nvSpPr>
          <p:cNvPr id="1094" name="Google Shape;1094;p101"/>
          <p:cNvSpPr txBox="1"/>
          <p:nvPr/>
        </p:nvSpPr>
        <p:spPr>
          <a:xfrm>
            <a:off x="939783" y="3512263"/>
            <a:ext cx="74280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 </a:t>
            </a:r>
            <a:r>
              <a:rPr b="1" lang="en" sz="1800">
                <a:solidFill>
                  <a:schemeClr val="dk2"/>
                </a:solidFill>
                <a:latin typeface="Roboto"/>
                <a:ea typeface="Roboto"/>
                <a:cs typeface="Roboto"/>
                <a:sym typeface="Roboto"/>
              </a:rPr>
              <a:t>technique</a:t>
            </a:r>
            <a:r>
              <a:rPr lang="en" sz="1800">
                <a:solidFill>
                  <a:schemeClr val="dk2"/>
                </a:solidFill>
                <a:latin typeface="Roboto"/>
                <a:ea typeface="Roboto"/>
                <a:cs typeface="Roboto"/>
                <a:sym typeface="Roboto"/>
              </a:rPr>
              <a:t> is how a specific tactic is carried out.</a:t>
            </a:r>
            <a:endParaRPr sz="1800">
              <a:solidFill>
                <a:schemeClr val="dk2"/>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102"/>
          <p:cNvSpPr/>
          <p:nvPr/>
        </p:nvSpPr>
        <p:spPr>
          <a:xfrm>
            <a:off x="615775" y="2440334"/>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00" name="Google Shape;1100;p102"/>
          <p:cNvSpPr/>
          <p:nvPr/>
        </p:nvSpPr>
        <p:spPr>
          <a:xfrm>
            <a:off x="457193" y="254874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2</a:t>
            </a:r>
            <a:endParaRPr sz="1800">
              <a:solidFill>
                <a:srgbClr val="082D49"/>
              </a:solidFill>
            </a:endParaRPr>
          </a:p>
        </p:txBody>
      </p:sp>
      <p:sp>
        <p:nvSpPr>
          <p:cNvPr id="1101" name="Google Shape;1101;p102"/>
          <p:cNvSpPr txBox="1"/>
          <p:nvPr/>
        </p:nvSpPr>
        <p:spPr>
          <a:xfrm>
            <a:off x="939799" y="2398584"/>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AD needs several ports open to properly communicate between the DC and workstations on the network.</a:t>
            </a:r>
            <a:endParaRPr sz="1800">
              <a:solidFill>
                <a:schemeClr val="dk2"/>
              </a:solidFill>
              <a:latin typeface="Roboto"/>
              <a:ea typeface="Roboto"/>
              <a:cs typeface="Roboto"/>
              <a:sym typeface="Roboto"/>
            </a:endParaRPr>
          </a:p>
        </p:txBody>
      </p:sp>
      <p:sp>
        <p:nvSpPr>
          <p:cNvPr id="1102" name="Google Shape;1102;p102"/>
          <p:cNvSpPr txBox="1"/>
          <p:nvPr/>
        </p:nvSpPr>
        <p:spPr>
          <a:xfrm>
            <a:off x="794742" y="103775"/>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Medium"/>
                <a:ea typeface="Roboto Medium"/>
                <a:cs typeface="Roboto Medium"/>
                <a:sym typeface="Roboto Medium"/>
              </a:rPr>
              <a:t>Recap: Windows Active Directory</a:t>
            </a:r>
            <a:endParaRPr b="1" sz="2600">
              <a:solidFill>
                <a:schemeClr val="dk2"/>
              </a:solidFill>
              <a:latin typeface="Roboto Medium"/>
              <a:ea typeface="Roboto Medium"/>
              <a:cs typeface="Roboto Medium"/>
              <a:sym typeface="Roboto Medium"/>
            </a:endParaRPr>
          </a:p>
        </p:txBody>
      </p:sp>
      <p:sp>
        <p:nvSpPr>
          <p:cNvPr id="1103" name="Google Shape;1103;p102"/>
          <p:cNvSpPr/>
          <p:nvPr/>
        </p:nvSpPr>
        <p:spPr>
          <a:xfrm>
            <a:off x="627200" y="1497392"/>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04" name="Google Shape;1104;p102"/>
          <p:cNvSpPr/>
          <p:nvPr/>
        </p:nvSpPr>
        <p:spPr>
          <a:xfrm>
            <a:off x="468618" y="160580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1</a:t>
            </a:r>
            <a:endParaRPr sz="1800">
              <a:solidFill>
                <a:srgbClr val="082D49"/>
              </a:solidFill>
            </a:endParaRPr>
          </a:p>
        </p:txBody>
      </p:sp>
      <p:sp>
        <p:nvSpPr>
          <p:cNvPr id="1105" name="Google Shape;1105;p102"/>
          <p:cNvSpPr txBox="1"/>
          <p:nvPr/>
        </p:nvSpPr>
        <p:spPr>
          <a:xfrm>
            <a:off x="951224" y="1455642"/>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Enterprises that use Windows often employ Windows AD for directory services such as the administration of users, computers, and policies.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106" name="Google Shape;1106;p102"/>
          <p:cNvSpPr txBox="1"/>
          <p:nvPr>
            <p:ph idx="4294967295" type="title"/>
          </p:nvPr>
        </p:nvSpPr>
        <p:spPr>
          <a:xfrm>
            <a:off x="890225" y="587475"/>
            <a:ext cx="8808900" cy="5646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1200"/>
              </a:spcAft>
              <a:buNone/>
            </a:pPr>
            <a:r>
              <a:rPr b="0" lang="en" sz="1900"/>
              <a:t>Let’s review what we’ve covered so far:</a:t>
            </a:r>
            <a:endParaRPr b="0" sz="1900"/>
          </a:p>
        </p:txBody>
      </p:sp>
      <p:sp>
        <p:nvSpPr>
          <p:cNvPr id="1107" name="Google Shape;1107;p102"/>
          <p:cNvSpPr/>
          <p:nvPr/>
        </p:nvSpPr>
        <p:spPr>
          <a:xfrm>
            <a:off x="615775" y="3373107"/>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08" name="Google Shape;1108;p102"/>
          <p:cNvSpPr/>
          <p:nvPr/>
        </p:nvSpPr>
        <p:spPr>
          <a:xfrm>
            <a:off x="457193" y="3481520"/>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3</a:t>
            </a:r>
            <a:endParaRPr sz="1800">
              <a:solidFill>
                <a:srgbClr val="082D49"/>
              </a:solidFill>
            </a:endParaRPr>
          </a:p>
        </p:txBody>
      </p:sp>
      <p:sp>
        <p:nvSpPr>
          <p:cNvPr id="1109" name="Google Shape;1109;p102"/>
          <p:cNvSpPr txBox="1"/>
          <p:nvPr/>
        </p:nvSpPr>
        <p:spPr>
          <a:xfrm>
            <a:off x="939799" y="3331357"/>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AD requires port 445 (SMB) and port 135 (RPC) in order to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work properly.</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03"/>
          <p:cNvSpPr/>
          <p:nvPr/>
        </p:nvSpPr>
        <p:spPr>
          <a:xfrm>
            <a:off x="615775" y="2232784"/>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15" name="Google Shape;1115;p103"/>
          <p:cNvSpPr/>
          <p:nvPr/>
        </p:nvSpPr>
        <p:spPr>
          <a:xfrm>
            <a:off x="457193" y="234119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2</a:t>
            </a:r>
            <a:endParaRPr sz="1800">
              <a:solidFill>
                <a:srgbClr val="082D49"/>
              </a:solidFill>
            </a:endParaRPr>
          </a:p>
        </p:txBody>
      </p:sp>
      <p:sp>
        <p:nvSpPr>
          <p:cNvPr id="1116" name="Google Shape;1116;p103"/>
          <p:cNvSpPr txBox="1"/>
          <p:nvPr/>
        </p:nvSpPr>
        <p:spPr>
          <a:xfrm>
            <a:off x="939799" y="2191034"/>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Kerberos, a protocol that uses a ticketing system for authentication,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is primarily used for domain accounts.</a:t>
            </a:r>
            <a:endParaRPr sz="1800">
              <a:solidFill>
                <a:schemeClr val="dk2"/>
              </a:solidFill>
              <a:latin typeface="Roboto"/>
              <a:ea typeface="Roboto"/>
              <a:cs typeface="Roboto"/>
              <a:sym typeface="Roboto"/>
            </a:endParaRPr>
          </a:p>
        </p:txBody>
      </p:sp>
      <p:sp>
        <p:nvSpPr>
          <p:cNvPr id="1117" name="Google Shape;1117;p103"/>
          <p:cNvSpPr txBox="1"/>
          <p:nvPr/>
        </p:nvSpPr>
        <p:spPr>
          <a:xfrm>
            <a:off x="838192" y="1274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Medium"/>
                <a:ea typeface="Roboto Medium"/>
                <a:cs typeface="Roboto Medium"/>
                <a:sym typeface="Roboto Medium"/>
              </a:rPr>
              <a:t>Recap: Windows Authentication</a:t>
            </a:r>
            <a:endParaRPr b="1" sz="2600">
              <a:solidFill>
                <a:schemeClr val="dk2"/>
              </a:solidFill>
              <a:latin typeface="Roboto Medium"/>
              <a:ea typeface="Roboto Medium"/>
              <a:cs typeface="Roboto Medium"/>
              <a:sym typeface="Roboto Medium"/>
            </a:endParaRPr>
          </a:p>
        </p:txBody>
      </p:sp>
      <p:sp>
        <p:nvSpPr>
          <p:cNvPr id="1118" name="Google Shape;1118;p103"/>
          <p:cNvSpPr/>
          <p:nvPr/>
        </p:nvSpPr>
        <p:spPr>
          <a:xfrm>
            <a:off x="627200" y="1289842"/>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19" name="Google Shape;1119;p103"/>
          <p:cNvSpPr/>
          <p:nvPr/>
        </p:nvSpPr>
        <p:spPr>
          <a:xfrm>
            <a:off x="468618" y="13982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1</a:t>
            </a:r>
            <a:endParaRPr sz="1800">
              <a:solidFill>
                <a:srgbClr val="082D49"/>
              </a:solidFill>
            </a:endParaRPr>
          </a:p>
        </p:txBody>
      </p:sp>
      <p:sp>
        <p:nvSpPr>
          <p:cNvPr id="1120" name="Google Shape;1120;p103"/>
          <p:cNvSpPr txBox="1"/>
          <p:nvPr/>
        </p:nvSpPr>
        <p:spPr>
          <a:xfrm>
            <a:off x="951225" y="1248100"/>
            <a:ext cx="7294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NTLM, a "challenge-response" protocol that works in three steps,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is used primarily for local accounts.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121" name="Google Shape;1121;p103"/>
          <p:cNvSpPr txBox="1"/>
          <p:nvPr>
            <p:ph idx="4294967295" type="title"/>
          </p:nvPr>
        </p:nvSpPr>
        <p:spPr>
          <a:xfrm>
            <a:off x="933675" y="611100"/>
            <a:ext cx="8808900" cy="5646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0"/>
              </a:spcAft>
              <a:buNone/>
            </a:pPr>
            <a:r>
              <a:rPr b="0" lang="en" sz="1800"/>
              <a:t>The two primary types of authentication in Windows are NTLM and Kerberos.</a:t>
            </a:r>
            <a:endParaRPr b="0" sz="1800"/>
          </a:p>
          <a:p>
            <a:pPr indent="0" lvl="0" marL="0" rtl="0" algn="l">
              <a:lnSpc>
                <a:spcPct val="95000"/>
              </a:lnSpc>
              <a:spcBef>
                <a:spcPts val="1200"/>
              </a:spcBef>
              <a:spcAft>
                <a:spcPts val="1200"/>
              </a:spcAft>
              <a:buNone/>
            </a:pPr>
            <a:r>
              <a:t/>
            </a:r>
            <a:endParaRPr b="0" sz="1900"/>
          </a:p>
        </p:txBody>
      </p:sp>
      <p:sp>
        <p:nvSpPr>
          <p:cNvPr id="1122" name="Google Shape;1122;p103"/>
          <p:cNvSpPr/>
          <p:nvPr/>
        </p:nvSpPr>
        <p:spPr>
          <a:xfrm>
            <a:off x="615775" y="3165557"/>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23" name="Google Shape;1123;p103"/>
          <p:cNvSpPr/>
          <p:nvPr/>
        </p:nvSpPr>
        <p:spPr>
          <a:xfrm>
            <a:off x="457193" y="3273970"/>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3</a:t>
            </a:r>
            <a:endParaRPr sz="1800">
              <a:solidFill>
                <a:srgbClr val="082D49"/>
              </a:solidFill>
            </a:endParaRPr>
          </a:p>
        </p:txBody>
      </p:sp>
      <p:sp>
        <p:nvSpPr>
          <p:cNvPr id="1124" name="Google Shape;1124;p103"/>
          <p:cNvSpPr txBox="1"/>
          <p:nvPr/>
        </p:nvSpPr>
        <p:spPr>
          <a:xfrm>
            <a:off x="939799" y="3123807"/>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Kerberos is the default protocol for authentication in Windows and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is heavily used in AD.</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125" name="Google Shape;1125;p103"/>
          <p:cNvSpPr/>
          <p:nvPr/>
        </p:nvSpPr>
        <p:spPr>
          <a:xfrm>
            <a:off x="625161" y="4125249"/>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26" name="Google Shape;1126;p103"/>
          <p:cNvSpPr/>
          <p:nvPr/>
        </p:nvSpPr>
        <p:spPr>
          <a:xfrm>
            <a:off x="466579" y="423366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4</a:t>
            </a:r>
            <a:endParaRPr sz="1800">
              <a:solidFill>
                <a:srgbClr val="082D49"/>
              </a:solidFill>
            </a:endParaRPr>
          </a:p>
        </p:txBody>
      </p:sp>
      <p:sp>
        <p:nvSpPr>
          <p:cNvPr id="1127" name="Google Shape;1127;p103"/>
          <p:cNvSpPr txBox="1"/>
          <p:nvPr/>
        </p:nvSpPr>
        <p:spPr>
          <a:xfrm>
            <a:off x="949185" y="4083499"/>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If Kerberos authentication is not possible, then Windows falls back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to NTLM.</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04"/>
          <p:cNvSpPr/>
          <p:nvPr/>
        </p:nvSpPr>
        <p:spPr>
          <a:xfrm>
            <a:off x="615775" y="2356284"/>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33" name="Google Shape;1133;p104"/>
          <p:cNvSpPr/>
          <p:nvPr/>
        </p:nvSpPr>
        <p:spPr>
          <a:xfrm>
            <a:off x="457193" y="2464696"/>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2</a:t>
            </a:r>
            <a:endParaRPr sz="1800">
              <a:solidFill>
                <a:srgbClr val="082D49"/>
              </a:solidFill>
            </a:endParaRPr>
          </a:p>
        </p:txBody>
      </p:sp>
      <p:sp>
        <p:nvSpPr>
          <p:cNvPr id="1134" name="Google Shape;1134;p104"/>
          <p:cNvSpPr txBox="1"/>
          <p:nvPr/>
        </p:nvSpPr>
        <p:spPr>
          <a:xfrm>
            <a:off x="939799" y="2314534"/>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Password spraying is a password attack used against </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domain accounts.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135" name="Google Shape;1135;p104"/>
          <p:cNvSpPr txBox="1"/>
          <p:nvPr/>
        </p:nvSpPr>
        <p:spPr>
          <a:xfrm>
            <a:off x="794717" y="103775"/>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Medium"/>
                <a:ea typeface="Roboto Medium"/>
                <a:cs typeface="Roboto Medium"/>
                <a:sym typeface="Roboto Medium"/>
              </a:rPr>
              <a:t>Recap: Attacking Accounts</a:t>
            </a:r>
            <a:endParaRPr b="1" sz="2600">
              <a:solidFill>
                <a:schemeClr val="dk2"/>
              </a:solidFill>
              <a:latin typeface="Roboto Medium"/>
              <a:ea typeface="Roboto Medium"/>
              <a:cs typeface="Roboto Medium"/>
              <a:sym typeface="Roboto Medium"/>
            </a:endParaRPr>
          </a:p>
          <a:p>
            <a:pPr indent="0" lvl="0" marL="0" rtl="0" algn="l">
              <a:spcBef>
                <a:spcPts val="0"/>
              </a:spcBef>
              <a:spcAft>
                <a:spcPts val="0"/>
              </a:spcAft>
              <a:buNone/>
            </a:pPr>
            <a:r>
              <a:t/>
            </a:r>
            <a:endParaRPr b="1" sz="2600">
              <a:solidFill>
                <a:schemeClr val="dk2"/>
              </a:solidFill>
              <a:latin typeface="Roboto Medium"/>
              <a:ea typeface="Roboto Medium"/>
              <a:cs typeface="Roboto Medium"/>
              <a:sym typeface="Roboto Medium"/>
            </a:endParaRPr>
          </a:p>
        </p:txBody>
      </p:sp>
      <p:sp>
        <p:nvSpPr>
          <p:cNvPr id="1136" name="Google Shape;1136;p104"/>
          <p:cNvSpPr/>
          <p:nvPr/>
        </p:nvSpPr>
        <p:spPr>
          <a:xfrm>
            <a:off x="627200" y="1413342"/>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37" name="Google Shape;1137;p104"/>
          <p:cNvSpPr/>
          <p:nvPr/>
        </p:nvSpPr>
        <p:spPr>
          <a:xfrm>
            <a:off x="468618" y="15217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1</a:t>
            </a:r>
            <a:endParaRPr sz="1800">
              <a:solidFill>
                <a:srgbClr val="082D49"/>
              </a:solidFill>
            </a:endParaRPr>
          </a:p>
        </p:txBody>
      </p:sp>
      <p:sp>
        <p:nvSpPr>
          <p:cNvPr id="1138" name="Google Shape;1138;p104"/>
          <p:cNvSpPr txBox="1"/>
          <p:nvPr/>
        </p:nvSpPr>
        <p:spPr>
          <a:xfrm>
            <a:off x="951225" y="1371600"/>
            <a:ext cx="7294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Brute-force attacks are password attacks used against </a:t>
            </a:r>
            <a:endParaRPr sz="1800">
              <a:solidFill>
                <a:schemeClr val="dk2"/>
              </a:solidFill>
              <a:latin typeface="Roboto"/>
              <a:ea typeface="Roboto"/>
              <a:cs typeface="Roboto"/>
              <a:sym typeface="Roboto"/>
            </a:endParaRPr>
          </a:p>
          <a:p>
            <a:pPr indent="0" lvl="0" marL="0" rtl="0" algn="l">
              <a:spcBef>
                <a:spcPts val="0"/>
              </a:spcBef>
              <a:spcAft>
                <a:spcPts val="0"/>
              </a:spcAft>
              <a:buNone/>
            </a:pPr>
            <a:r>
              <a:rPr lang="en" sz="1800">
                <a:solidFill>
                  <a:schemeClr val="dk2"/>
                </a:solidFill>
                <a:latin typeface="Roboto"/>
                <a:ea typeface="Roboto"/>
                <a:cs typeface="Roboto"/>
                <a:sym typeface="Roboto"/>
              </a:rPr>
              <a:t>local accounts.</a:t>
            </a:r>
            <a:endParaRPr sz="1800">
              <a:solidFill>
                <a:schemeClr val="dk2"/>
              </a:solidFill>
              <a:latin typeface="Roboto"/>
              <a:ea typeface="Roboto"/>
              <a:cs typeface="Roboto"/>
              <a:sym typeface="Roboto"/>
            </a:endParaRPr>
          </a:p>
        </p:txBody>
      </p:sp>
      <p:sp>
        <p:nvSpPr>
          <p:cNvPr id="1139" name="Google Shape;1139;p104"/>
          <p:cNvSpPr txBox="1"/>
          <p:nvPr>
            <p:ph idx="4294967295" type="title"/>
          </p:nvPr>
        </p:nvSpPr>
        <p:spPr>
          <a:xfrm>
            <a:off x="890200" y="587475"/>
            <a:ext cx="8808900" cy="564600"/>
          </a:xfrm>
          <a:prstGeom prst="rect">
            <a:avLst/>
          </a:prstGeom>
        </p:spPr>
        <p:txBody>
          <a:bodyPr anchorCtr="0" anchor="t" bIns="0" lIns="0" spcFirstLastPara="1" rIns="0" wrap="square" tIns="0">
            <a:noAutofit/>
          </a:bodyPr>
          <a:lstStyle/>
          <a:p>
            <a:pPr indent="0" lvl="0" marL="0" rtl="0" algn="l">
              <a:lnSpc>
                <a:spcPct val="95000"/>
              </a:lnSpc>
              <a:spcBef>
                <a:spcPts val="0"/>
              </a:spcBef>
              <a:spcAft>
                <a:spcPts val="0"/>
              </a:spcAft>
              <a:buNone/>
            </a:pPr>
            <a:r>
              <a:rPr b="0" lang="en" sz="1800"/>
              <a:t>Let’s review what we’ve covered so far:</a:t>
            </a:r>
            <a:endParaRPr b="0" sz="1800"/>
          </a:p>
          <a:p>
            <a:pPr indent="0" lvl="0" marL="0" rtl="0" algn="l">
              <a:lnSpc>
                <a:spcPct val="95000"/>
              </a:lnSpc>
              <a:spcBef>
                <a:spcPts val="1200"/>
              </a:spcBef>
              <a:spcAft>
                <a:spcPts val="0"/>
              </a:spcAft>
              <a:buNone/>
            </a:pPr>
            <a:r>
              <a:t/>
            </a:r>
            <a:endParaRPr b="0" sz="1800"/>
          </a:p>
          <a:p>
            <a:pPr indent="0" lvl="0" marL="0" rtl="0" algn="l">
              <a:lnSpc>
                <a:spcPct val="95000"/>
              </a:lnSpc>
              <a:spcBef>
                <a:spcPts val="1200"/>
              </a:spcBef>
              <a:spcAft>
                <a:spcPts val="1200"/>
              </a:spcAft>
              <a:buNone/>
            </a:pPr>
            <a:r>
              <a:t/>
            </a:r>
            <a:endParaRPr b="0" sz="1900"/>
          </a:p>
        </p:txBody>
      </p:sp>
      <p:sp>
        <p:nvSpPr>
          <p:cNvPr id="1140" name="Google Shape;1140;p104"/>
          <p:cNvSpPr/>
          <p:nvPr/>
        </p:nvSpPr>
        <p:spPr>
          <a:xfrm>
            <a:off x="615775" y="3289057"/>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41" name="Google Shape;1141;p104"/>
          <p:cNvSpPr/>
          <p:nvPr/>
        </p:nvSpPr>
        <p:spPr>
          <a:xfrm>
            <a:off x="457193" y="3397470"/>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3</a:t>
            </a:r>
            <a:endParaRPr sz="1800">
              <a:solidFill>
                <a:srgbClr val="082D49"/>
              </a:solidFill>
            </a:endParaRPr>
          </a:p>
        </p:txBody>
      </p:sp>
      <p:sp>
        <p:nvSpPr>
          <p:cNvPr id="1142" name="Google Shape;1142;p104"/>
          <p:cNvSpPr txBox="1"/>
          <p:nvPr/>
        </p:nvSpPr>
        <p:spPr>
          <a:xfrm>
            <a:off x="939799" y="3247307"/>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Password spraying involves getting a list of usernames and attempting a single password for those accounts.</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105"/>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1148" name="Google Shape;1148;p105"/>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Password spraying</a:t>
            </a:r>
            <a:endParaRPr/>
          </a:p>
        </p:txBody>
      </p:sp>
      <p:sp>
        <p:nvSpPr>
          <p:cNvPr id="1149" name="Google Shape;1149;p105"/>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Now that you’ve determined which machines on MegaCorpOne’s network are Windows machines, you will perform your first attack: password spraying.</a:t>
            </a:r>
            <a:endParaRPr/>
          </a:p>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108"/>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LLMNR </a:t>
            </a:r>
            <a:r>
              <a:rPr b="1" lang="en">
                <a:latin typeface="Roboto"/>
                <a:ea typeface="Roboto"/>
                <a:cs typeface="Roboto"/>
                <a:sym typeface="Roboto"/>
              </a:rPr>
              <a:t>Poisoning</a:t>
            </a:r>
            <a:r>
              <a:rPr b="1" lang="en">
                <a:latin typeface="Roboto"/>
                <a:ea typeface="Roboto"/>
                <a:cs typeface="Roboto"/>
                <a:sym typeface="Roboto"/>
              </a:rPr>
              <a:t> </a:t>
            </a:r>
            <a:endParaRPr b="1">
              <a:latin typeface="Roboto"/>
              <a:ea typeface="Roboto"/>
              <a:cs typeface="Roboto"/>
              <a:sym typeface="Roboto"/>
            </a:endParaRPr>
          </a:p>
        </p:txBody>
      </p:sp>
      <p:pic>
        <p:nvPicPr>
          <p:cNvPr id="1163" name="Google Shape;1163;p108"/>
          <p:cNvPicPr preferRelativeResize="0"/>
          <p:nvPr/>
        </p:nvPicPr>
        <p:blipFill rotWithShape="1">
          <a:blip r:embed="rId3">
            <a:alphaModFix amt="12000"/>
          </a:blip>
          <a:srcRect b="21874" l="0" r="0" t="0"/>
          <a:stretch/>
        </p:blipFill>
        <p:spPr>
          <a:xfrm>
            <a:off x="6504875" y="3069475"/>
            <a:ext cx="2639125" cy="2074025"/>
          </a:xfrm>
          <a:prstGeom prst="rect">
            <a:avLst/>
          </a:prstGeom>
          <a:noFill/>
          <a:ln>
            <a:noFill/>
          </a:ln>
        </p:spPr>
      </p:pic>
      <p:grpSp>
        <p:nvGrpSpPr>
          <p:cNvPr id="1164" name="Google Shape;1164;p108"/>
          <p:cNvGrpSpPr/>
          <p:nvPr/>
        </p:nvGrpSpPr>
        <p:grpSpPr>
          <a:xfrm>
            <a:off x="4116527" y="1375874"/>
            <a:ext cx="787996" cy="1166062"/>
            <a:chOff x="2065875" y="276575"/>
            <a:chExt cx="3488250" cy="5161850"/>
          </a:xfrm>
        </p:grpSpPr>
        <p:sp>
          <p:nvSpPr>
            <p:cNvPr id="1165" name="Google Shape;1165;p108"/>
            <p:cNvSpPr/>
            <p:nvPr/>
          </p:nvSpPr>
          <p:spPr>
            <a:xfrm>
              <a:off x="2873825" y="2482375"/>
              <a:ext cx="1872350" cy="2359700"/>
            </a:xfrm>
            <a:custGeom>
              <a:rect b="b" l="l" r="r" t="t"/>
              <a:pathLst>
                <a:path extrusionOk="0" fill="none" h="94388" w="74894">
                  <a:moveTo>
                    <a:pt x="37447" y="1"/>
                  </a:moveTo>
                  <a:lnTo>
                    <a:pt x="37447" y="1"/>
                  </a:lnTo>
                  <a:lnTo>
                    <a:pt x="33600" y="257"/>
                  </a:lnTo>
                  <a:lnTo>
                    <a:pt x="29752" y="770"/>
                  </a:lnTo>
                  <a:lnTo>
                    <a:pt x="26162" y="1796"/>
                  </a:lnTo>
                  <a:lnTo>
                    <a:pt x="22827" y="2822"/>
                  </a:lnTo>
                  <a:lnTo>
                    <a:pt x="19493" y="4617"/>
                  </a:lnTo>
                  <a:lnTo>
                    <a:pt x="16415" y="6413"/>
                  </a:lnTo>
                  <a:lnTo>
                    <a:pt x="13594" y="8465"/>
                  </a:lnTo>
                  <a:lnTo>
                    <a:pt x="10773" y="11029"/>
                  </a:lnTo>
                  <a:lnTo>
                    <a:pt x="8464" y="13594"/>
                  </a:lnTo>
                  <a:lnTo>
                    <a:pt x="6412" y="16672"/>
                  </a:lnTo>
                  <a:lnTo>
                    <a:pt x="4360" y="19750"/>
                  </a:lnTo>
                  <a:lnTo>
                    <a:pt x="2821" y="22828"/>
                  </a:lnTo>
                  <a:lnTo>
                    <a:pt x="1539" y="26419"/>
                  </a:lnTo>
                  <a:lnTo>
                    <a:pt x="770" y="30010"/>
                  </a:lnTo>
                  <a:lnTo>
                    <a:pt x="0" y="33600"/>
                  </a:lnTo>
                  <a:lnTo>
                    <a:pt x="0" y="37448"/>
                  </a:lnTo>
                  <a:lnTo>
                    <a:pt x="0" y="37448"/>
                  </a:lnTo>
                  <a:lnTo>
                    <a:pt x="0" y="48477"/>
                  </a:lnTo>
                  <a:lnTo>
                    <a:pt x="0" y="48477"/>
                  </a:lnTo>
                  <a:lnTo>
                    <a:pt x="0" y="50528"/>
                  </a:lnTo>
                  <a:lnTo>
                    <a:pt x="257" y="52324"/>
                  </a:lnTo>
                  <a:lnTo>
                    <a:pt x="770" y="54376"/>
                  </a:lnTo>
                  <a:lnTo>
                    <a:pt x="1283" y="55915"/>
                  </a:lnTo>
                  <a:lnTo>
                    <a:pt x="2308" y="57710"/>
                  </a:lnTo>
                  <a:lnTo>
                    <a:pt x="3078" y="59249"/>
                  </a:lnTo>
                  <a:lnTo>
                    <a:pt x="4360" y="60788"/>
                  </a:lnTo>
                  <a:lnTo>
                    <a:pt x="5386" y="62070"/>
                  </a:lnTo>
                  <a:lnTo>
                    <a:pt x="6925" y="63353"/>
                  </a:lnTo>
                  <a:lnTo>
                    <a:pt x="8464" y="64379"/>
                  </a:lnTo>
                  <a:lnTo>
                    <a:pt x="10003" y="65405"/>
                  </a:lnTo>
                  <a:lnTo>
                    <a:pt x="11542" y="66174"/>
                  </a:lnTo>
                  <a:lnTo>
                    <a:pt x="13337" y="66944"/>
                  </a:lnTo>
                  <a:lnTo>
                    <a:pt x="15133" y="67457"/>
                  </a:lnTo>
                  <a:lnTo>
                    <a:pt x="17185" y="67713"/>
                  </a:lnTo>
                  <a:lnTo>
                    <a:pt x="18980" y="67713"/>
                  </a:lnTo>
                  <a:lnTo>
                    <a:pt x="18980" y="85667"/>
                  </a:lnTo>
                  <a:lnTo>
                    <a:pt x="18980" y="85667"/>
                  </a:lnTo>
                  <a:lnTo>
                    <a:pt x="19237" y="87463"/>
                  </a:lnTo>
                  <a:lnTo>
                    <a:pt x="19750" y="89002"/>
                  </a:lnTo>
                  <a:lnTo>
                    <a:pt x="20519" y="90540"/>
                  </a:lnTo>
                  <a:lnTo>
                    <a:pt x="21545" y="91823"/>
                  </a:lnTo>
                  <a:lnTo>
                    <a:pt x="22827" y="92849"/>
                  </a:lnTo>
                  <a:lnTo>
                    <a:pt x="24366" y="93875"/>
                  </a:lnTo>
                  <a:lnTo>
                    <a:pt x="25905" y="94388"/>
                  </a:lnTo>
                  <a:lnTo>
                    <a:pt x="27701" y="94388"/>
                  </a:lnTo>
                  <a:lnTo>
                    <a:pt x="47193" y="94388"/>
                  </a:lnTo>
                  <a:lnTo>
                    <a:pt x="47193" y="94388"/>
                  </a:lnTo>
                  <a:lnTo>
                    <a:pt x="48989" y="94388"/>
                  </a:lnTo>
                  <a:lnTo>
                    <a:pt x="50528" y="93875"/>
                  </a:lnTo>
                  <a:lnTo>
                    <a:pt x="52067" y="92849"/>
                  </a:lnTo>
                  <a:lnTo>
                    <a:pt x="53349" y="91823"/>
                  </a:lnTo>
                  <a:lnTo>
                    <a:pt x="54375" y="90540"/>
                  </a:lnTo>
                  <a:lnTo>
                    <a:pt x="55145" y="89002"/>
                  </a:lnTo>
                  <a:lnTo>
                    <a:pt x="55657" y="87463"/>
                  </a:lnTo>
                  <a:lnTo>
                    <a:pt x="55914" y="85667"/>
                  </a:lnTo>
                  <a:lnTo>
                    <a:pt x="55914" y="67713"/>
                  </a:lnTo>
                  <a:lnTo>
                    <a:pt x="55914" y="67713"/>
                  </a:lnTo>
                  <a:lnTo>
                    <a:pt x="57709" y="67713"/>
                  </a:lnTo>
                  <a:lnTo>
                    <a:pt x="59761" y="67457"/>
                  </a:lnTo>
                  <a:lnTo>
                    <a:pt x="61557" y="66944"/>
                  </a:lnTo>
                  <a:lnTo>
                    <a:pt x="63352" y="66174"/>
                  </a:lnTo>
                  <a:lnTo>
                    <a:pt x="64891" y="65405"/>
                  </a:lnTo>
                  <a:lnTo>
                    <a:pt x="66686" y="64379"/>
                  </a:lnTo>
                  <a:lnTo>
                    <a:pt x="67969" y="63353"/>
                  </a:lnTo>
                  <a:lnTo>
                    <a:pt x="69508" y="62070"/>
                  </a:lnTo>
                  <a:lnTo>
                    <a:pt x="70534" y="60788"/>
                  </a:lnTo>
                  <a:lnTo>
                    <a:pt x="71816" y="59249"/>
                  </a:lnTo>
                  <a:lnTo>
                    <a:pt x="72586" y="57710"/>
                  </a:lnTo>
                  <a:lnTo>
                    <a:pt x="73611" y="55915"/>
                  </a:lnTo>
                  <a:lnTo>
                    <a:pt x="74124" y="54376"/>
                  </a:lnTo>
                  <a:lnTo>
                    <a:pt x="74637" y="52324"/>
                  </a:lnTo>
                  <a:lnTo>
                    <a:pt x="74894" y="50528"/>
                  </a:lnTo>
                  <a:lnTo>
                    <a:pt x="74894" y="48477"/>
                  </a:lnTo>
                  <a:lnTo>
                    <a:pt x="74894" y="48477"/>
                  </a:lnTo>
                  <a:lnTo>
                    <a:pt x="74894" y="37448"/>
                  </a:lnTo>
                  <a:lnTo>
                    <a:pt x="74894" y="37448"/>
                  </a:lnTo>
                  <a:lnTo>
                    <a:pt x="74894" y="33600"/>
                  </a:lnTo>
                  <a:lnTo>
                    <a:pt x="74124" y="30010"/>
                  </a:lnTo>
                  <a:lnTo>
                    <a:pt x="73355" y="26419"/>
                  </a:lnTo>
                  <a:lnTo>
                    <a:pt x="72073" y="22828"/>
                  </a:lnTo>
                  <a:lnTo>
                    <a:pt x="70534" y="19750"/>
                  </a:lnTo>
                  <a:lnTo>
                    <a:pt x="68482" y="16672"/>
                  </a:lnTo>
                  <a:lnTo>
                    <a:pt x="66430" y="13594"/>
                  </a:lnTo>
                  <a:lnTo>
                    <a:pt x="64122" y="11029"/>
                  </a:lnTo>
                  <a:lnTo>
                    <a:pt x="61300" y="8465"/>
                  </a:lnTo>
                  <a:lnTo>
                    <a:pt x="58479" y="6413"/>
                  </a:lnTo>
                  <a:lnTo>
                    <a:pt x="55401" y="4617"/>
                  </a:lnTo>
                  <a:lnTo>
                    <a:pt x="52067" y="2822"/>
                  </a:lnTo>
                  <a:lnTo>
                    <a:pt x="48732" y="1796"/>
                  </a:lnTo>
                  <a:lnTo>
                    <a:pt x="45142" y="770"/>
                  </a:lnTo>
                  <a:lnTo>
                    <a:pt x="41294" y="257"/>
                  </a:lnTo>
                  <a:lnTo>
                    <a:pt x="37447" y="1"/>
                  </a:lnTo>
                  <a:lnTo>
                    <a:pt x="37447"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08"/>
            <p:cNvSpPr/>
            <p:nvPr/>
          </p:nvSpPr>
          <p:spPr>
            <a:xfrm>
              <a:off x="3348325" y="4399625"/>
              <a:ext cx="923350" cy="25"/>
            </a:xfrm>
            <a:custGeom>
              <a:rect b="b" l="l" r="r" t="t"/>
              <a:pathLst>
                <a:path extrusionOk="0" fill="none" h="1" w="36934">
                  <a:moveTo>
                    <a:pt x="0" y="0"/>
                  </a:moveTo>
                  <a:lnTo>
                    <a:pt x="36934" y="0"/>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08"/>
            <p:cNvSpPr/>
            <p:nvPr/>
          </p:nvSpPr>
          <p:spPr>
            <a:xfrm>
              <a:off x="3810000" y="4264950"/>
              <a:ext cx="0" cy="269350"/>
            </a:xfrm>
            <a:custGeom>
              <a:rect b="b" l="l" r="r" t="t"/>
              <a:pathLst>
                <a:path extrusionOk="0" fill="none" h="10774" w="0">
                  <a:moveTo>
                    <a:pt x="0" y="1"/>
                  </a:moveTo>
                  <a:lnTo>
                    <a:pt x="0" y="10773"/>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08"/>
            <p:cNvSpPr/>
            <p:nvPr/>
          </p:nvSpPr>
          <p:spPr>
            <a:xfrm>
              <a:off x="3579150" y="4264950"/>
              <a:ext cx="25" cy="269350"/>
            </a:xfrm>
            <a:custGeom>
              <a:rect b="b" l="l" r="r" t="t"/>
              <a:pathLst>
                <a:path extrusionOk="0" fill="none" h="10774" w="1">
                  <a:moveTo>
                    <a:pt x="1" y="1"/>
                  </a:moveTo>
                  <a:lnTo>
                    <a:pt x="1" y="10773"/>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08"/>
            <p:cNvSpPr/>
            <p:nvPr/>
          </p:nvSpPr>
          <p:spPr>
            <a:xfrm>
              <a:off x="4040825" y="4264950"/>
              <a:ext cx="25" cy="269350"/>
            </a:xfrm>
            <a:custGeom>
              <a:rect b="b" l="l" r="r" t="t"/>
              <a:pathLst>
                <a:path extrusionOk="0" fill="none" h="10774" w="1">
                  <a:moveTo>
                    <a:pt x="0" y="1"/>
                  </a:moveTo>
                  <a:lnTo>
                    <a:pt x="0" y="10773"/>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08"/>
            <p:cNvSpPr/>
            <p:nvPr/>
          </p:nvSpPr>
          <p:spPr>
            <a:xfrm>
              <a:off x="3155950" y="3386500"/>
              <a:ext cx="442450" cy="442450"/>
            </a:xfrm>
            <a:custGeom>
              <a:rect b="b" l="l" r="r" t="t"/>
              <a:pathLst>
                <a:path extrusionOk="0" fill="none" h="17698" w="17698">
                  <a:moveTo>
                    <a:pt x="17698" y="8977"/>
                  </a:moveTo>
                  <a:lnTo>
                    <a:pt x="17698" y="8977"/>
                  </a:lnTo>
                  <a:lnTo>
                    <a:pt x="17441" y="10773"/>
                  </a:lnTo>
                  <a:lnTo>
                    <a:pt x="16929" y="12312"/>
                  </a:lnTo>
                  <a:lnTo>
                    <a:pt x="16159" y="13851"/>
                  </a:lnTo>
                  <a:lnTo>
                    <a:pt x="15133" y="15133"/>
                  </a:lnTo>
                  <a:lnTo>
                    <a:pt x="13851" y="16415"/>
                  </a:lnTo>
                  <a:lnTo>
                    <a:pt x="12312" y="17185"/>
                  </a:lnTo>
                  <a:lnTo>
                    <a:pt x="10516" y="17698"/>
                  </a:lnTo>
                  <a:lnTo>
                    <a:pt x="8721" y="17698"/>
                  </a:lnTo>
                  <a:lnTo>
                    <a:pt x="8721" y="17698"/>
                  </a:lnTo>
                  <a:lnTo>
                    <a:pt x="6926" y="17698"/>
                  </a:lnTo>
                  <a:lnTo>
                    <a:pt x="5387" y="17185"/>
                  </a:lnTo>
                  <a:lnTo>
                    <a:pt x="3848" y="16415"/>
                  </a:lnTo>
                  <a:lnTo>
                    <a:pt x="2565" y="15133"/>
                  </a:lnTo>
                  <a:lnTo>
                    <a:pt x="1539" y="13851"/>
                  </a:lnTo>
                  <a:lnTo>
                    <a:pt x="513" y="12312"/>
                  </a:lnTo>
                  <a:lnTo>
                    <a:pt x="0" y="10773"/>
                  </a:lnTo>
                  <a:lnTo>
                    <a:pt x="0" y="8977"/>
                  </a:lnTo>
                  <a:lnTo>
                    <a:pt x="0" y="8977"/>
                  </a:lnTo>
                  <a:lnTo>
                    <a:pt x="0" y="7182"/>
                  </a:lnTo>
                  <a:lnTo>
                    <a:pt x="513" y="5386"/>
                  </a:lnTo>
                  <a:lnTo>
                    <a:pt x="1539" y="4104"/>
                  </a:lnTo>
                  <a:lnTo>
                    <a:pt x="2565" y="2565"/>
                  </a:lnTo>
                  <a:lnTo>
                    <a:pt x="3848" y="1539"/>
                  </a:lnTo>
                  <a:lnTo>
                    <a:pt x="5387" y="770"/>
                  </a:lnTo>
                  <a:lnTo>
                    <a:pt x="6926" y="257"/>
                  </a:lnTo>
                  <a:lnTo>
                    <a:pt x="8721" y="0"/>
                  </a:lnTo>
                  <a:lnTo>
                    <a:pt x="8721" y="0"/>
                  </a:lnTo>
                  <a:lnTo>
                    <a:pt x="10516" y="257"/>
                  </a:lnTo>
                  <a:lnTo>
                    <a:pt x="12312" y="770"/>
                  </a:lnTo>
                  <a:lnTo>
                    <a:pt x="13851" y="1539"/>
                  </a:lnTo>
                  <a:lnTo>
                    <a:pt x="15133" y="2565"/>
                  </a:lnTo>
                  <a:lnTo>
                    <a:pt x="16159" y="4104"/>
                  </a:lnTo>
                  <a:lnTo>
                    <a:pt x="16929" y="5386"/>
                  </a:lnTo>
                  <a:lnTo>
                    <a:pt x="17441" y="7182"/>
                  </a:lnTo>
                  <a:lnTo>
                    <a:pt x="17698" y="8977"/>
                  </a:lnTo>
                  <a:lnTo>
                    <a:pt x="17698" y="8977"/>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08"/>
            <p:cNvSpPr/>
            <p:nvPr/>
          </p:nvSpPr>
          <p:spPr>
            <a:xfrm>
              <a:off x="4021600" y="3386500"/>
              <a:ext cx="442450" cy="442450"/>
            </a:xfrm>
            <a:custGeom>
              <a:rect b="b" l="l" r="r" t="t"/>
              <a:pathLst>
                <a:path extrusionOk="0" fill="none" h="17698" w="17698">
                  <a:moveTo>
                    <a:pt x="17698" y="8977"/>
                  </a:moveTo>
                  <a:lnTo>
                    <a:pt x="17698" y="8977"/>
                  </a:lnTo>
                  <a:lnTo>
                    <a:pt x="17698" y="10773"/>
                  </a:lnTo>
                  <a:lnTo>
                    <a:pt x="17185" y="12312"/>
                  </a:lnTo>
                  <a:lnTo>
                    <a:pt x="16159" y="13851"/>
                  </a:lnTo>
                  <a:lnTo>
                    <a:pt x="15133" y="15133"/>
                  </a:lnTo>
                  <a:lnTo>
                    <a:pt x="13850" y="16415"/>
                  </a:lnTo>
                  <a:lnTo>
                    <a:pt x="12311" y="17185"/>
                  </a:lnTo>
                  <a:lnTo>
                    <a:pt x="10772" y="17698"/>
                  </a:lnTo>
                  <a:lnTo>
                    <a:pt x="8977" y="17698"/>
                  </a:lnTo>
                  <a:lnTo>
                    <a:pt x="8977" y="17698"/>
                  </a:lnTo>
                  <a:lnTo>
                    <a:pt x="7182" y="17698"/>
                  </a:lnTo>
                  <a:lnTo>
                    <a:pt x="5386" y="17185"/>
                  </a:lnTo>
                  <a:lnTo>
                    <a:pt x="3847" y="16415"/>
                  </a:lnTo>
                  <a:lnTo>
                    <a:pt x="2565" y="15133"/>
                  </a:lnTo>
                  <a:lnTo>
                    <a:pt x="1539" y="13851"/>
                  </a:lnTo>
                  <a:lnTo>
                    <a:pt x="769" y="12312"/>
                  </a:lnTo>
                  <a:lnTo>
                    <a:pt x="257" y="10773"/>
                  </a:lnTo>
                  <a:lnTo>
                    <a:pt x="0" y="8977"/>
                  </a:lnTo>
                  <a:lnTo>
                    <a:pt x="0" y="8977"/>
                  </a:lnTo>
                  <a:lnTo>
                    <a:pt x="257" y="7182"/>
                  </a:lnTo>
                  <a:lnTo>
                    <a:pt x="769" y="5386"/>
                  </a:lnTo>
                  <a:lnTo>
                    <a:pt x="1539" y="4104"/>
                  </a:lnTo>
                  <a:lnTo>
                    <a:pt x="2565" y="2565"/>
                  </a:lnTo>
                  <a:lnTo>
                    <a:pt x="3847" y="1539"/>
                  </a:lnTo>
                  <a:lnTo>
                    <a:pt x="5386" y="770"/>
                  </a:lnTo>
                  <a:lnTo>
                    <a:pt x="7182" y="257"/>
                  </a:lnTo>
                  <a:lnTo>
                    <a:pt x="8977" y="0"/>
                  </a:lnTo>
                  <a:lnTo>
                    <a:pt x="8977" y="0"/>
                  </a:lnTo>
                  <a:lnTo>
                    <a:pt x="10772" y="257"/>
                  </a:lnTo>
                  <a:lnTo>
                    <a:pt x="12311" y="770"/>
                  </a:lnTo>
                  <a:lnTo>
                    <a:pt x="13850" y="1539"/>
                  </a:lnTo>
                  <a:lnTo>
                    <a:pt x="15133" y="2565"/>
                  </a:lnTo>
                  <a:lnTo>
                    <a:pt x="16159" y="4104"/>
                  </a:lnTo>
                  <a:lnTo>
                    <a:pt x="17185" y="5386"/>
                  </a:lnTo>
                  <a:lnTo>
                    <a:pt x="17698" y="7182"/>
                  </a:lnTo>
                  <a:lnTo>
                    <a:pt x="17698" y="8977"/>
                  </a:lnTo>
                  <a:lnTo>
                    <a:pt x="17698" y="8977"/>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08"/>
            <p:cNvSpPr/>
            <p:nvPr/>
          </p:nvSpPr>
          <p:spPr>
            <a:xfrm>
              <a:off x="3675325" y="3828925"/>
              <a:ext cx="269350" cy="237275"/>
            </a:xfrm>
            <a:custGeom>
              <a:rect b="b" l="l" r="r" t="t"/>
              <a:pathLst>
                <a:path extrusionOk="0" fill="none" h="9491" w="10774">
                  <a:moveTo>
                    <a:pt x="5387" y="1"/>
                  </a:moveTo>
                  <a:lnTo>
                    <a:pt x="1" y="9491"/>
                  </a:lnTo>
                  <a:lnTo>
                    <a:pt x="10773" y="9491"/>
                  </a:lnTo>
                  <a:lnTo>
                    <a:pt x="5387"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08"/>
            <p:cNvSpPr/>
            <p:nvPr/>
          </p:nvSpPr>
          <p:spPr>
            <a:xfrm>
              <a:off x="2386500" y="1969400"/>
              <a:ext cx="2847000" cy="3469025"/>
            </a:xfrm>
            <a:custGeom>
              <a:rect b="b" l="l" r="r" t="t"/>
              <a:pathLst>
                <a:path extrusionOk="0" fill="none" h="138761" w="113880">
                  <a:moveTo>
                    <a:pt x="91822" y="138760"/>
                  </a:moveTo>
                  <a:lnTo>
                    <a:pt x="22058" y="138760"/>
                  </a:lnTo>
                  <a:lnTo>
                    <a:pt x="22058" y="138760"/>
                  </a:lnTo>
                  <a:lnTo>
                    <a:pt x="20006" y="138760"/>
                  </a:lnTo>
                  <a:lnTo>
                    <a:pt x="17698" y="138247"/>
                  </a:lnTo>
                  <a:lnTo>
                    <a:pt x="15646" y="137734"/>
                  </a:lnTo>
                  <a:lnTo>
                    <a:pt x="13594" y="136965"/>
                  </a:lnTo>
                  <a:lnTo>
                    <a:pt x="11542" y="136195"/>
                  </a:lnTo>
                  <a:lnTo>
                    <a:pt x="9747" y="134913"/>
                  </a:lnTo>
                  <a:lnTo>
                    <a:pt x="7951" y="133630"/>
                  </a:lnTo>
                  <a:lnTo>
                    <a:pt x="6412" y="132348"/>
                  </a:lnTo>
                  <a:lnTo>
                    <a:pt x="5130" y="130809"/>
                  </a:lnTo>
                  <a:lnTo>
                    <a:pt x="3847" y="129014"/>
                  </a:lnTo>
                  <a:lnTo>
                    <a:pt x="2565" y="127218"/>
                  </a:lnTo>
                  <a:lnTo>
                    <a:pt x="1796" y="125166"/>
                  </a:lnTo>
                  <a:lnTo>
                    <a:pt x="1026" y="123114"/>
                  </a:lnTo>
                  <a:lnTo>
                    <a:pt x="513" y="121062"/>
                  </a:lnTo>
                  <a:lnTo>
                    <a:pt x="0" y="118754"/>
                  </a:lnTo>
                  <a:lnTo>
                    <a:pt x="0" y="116702"/>
                  </a:lnTo>
                  <a:lnTo>
                    <a:pt x="0" y="1"/>
                  </a:lnTo>
                  <a:lnTo>
                    <a:pt x="113880" y="1"/>
                  </a:lnTo>
                  <a:lnTo>
                    <a:pt x="113880" y="116702"/>
                  </a:lnTo>
                  <a:lnTo>
                    <a:pt x="113880" y="116702"/>
                  </a:lnTo>
                  <a:lnTo>
                    <a:pt x="113880" y="118754"/>
                  </a:lnTo>
                  <a:lnTo>
                    <a:pt x="113367" y="121062"/>
                  </a:lnTo>
                  <a:lnTo>
                    <a:pt x="112854" y="123114"/>
                  </a:lnTo>
                  <a:lnTo>
                    <a:pt x="112084" y="125166"/>
                  </a:lnTo>
                  <a:lnTo>
                    <a:pt x="111315" y="127218"/>
                  </a:lnTo>
                  <a:lnTo>
                    <a:pt x="110033" y="129014"/>
                  </a:lnTo>
                  <a:lnTo>
                    <a:pt x="108750" y="130809"/>
                  </a:lnTo>
                  <a:lnTo>
                    <a:pt x="107468" y="132348"/>
                  </a:lnTo>
                  <a:lnTo>
                    <a:pt x="105929" y="133630"/>
                  </a:lnTo>
                  <a:lnTo>
                    <a:pt x="104133" y="134913"/>
                  </a:lnTo>
                  <a:lnTo>
                    <a:pt x="102338" y="136195"/>
                  </a:lnTo>
                  <a:lnTo>
                    <a:pt x="100286" y="136965"/>
                  </a:lnTo>
                  <a:lnTo>
                    <a:pt x="98234" y="137734"/>
                  </a:lnTo>
                  <a:lnTo>
                    <a:pt x="96182" y="138247"/>
                  </a:lnTo>
                  <a:lnTo>
                    <a:pt x="93874" y="138760"/>
                  </a:lnTo>
                  <a:lnTo>
                    <a:pt x="91822" y="138760"/>
                  </a:lnTo>
                  <a:lnTo>
                    <a:pt x="91822" y="138760"/>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08"/>
            <p:cNvSpPr/>
            <p:nvPr/>
          </p:nvSpPr>
          <p:spPr>
            <a:xfrm>
              <a:off x="2065875" y="1462850"/>
              <a:ext cx="3488250" cy="506575"/>
            </a:xfrm>
            <a:custGeom>
              <a:rect b="b" l="l" r="r" t="t"/>
              <a:pathLst>
                <a:path extrusionOk="0" fill="none" h="20263" w="139530">
                  <a:moveTo>
                    <a:pt x="129526" y="20263"/>
                  </a:moveTo>
                  <a:lnTo>
                    <a:pt x="10004" y="20263"/>
                  </a:lnTo>
                  <a:lnTo>
                    <a:pt x="10004" y="20263"/>
                  </a:lnTo>
                  <a:lnTo>
                    <a:pt x="7952" y="20006"/>
                  </a:lnTo>
                  <a:lnTo>
                    <a:pt x="6157" y="19493"/>
                  </a:lnTo>
                  <a:lnTo>
                    <a:pt x="4361" y="18467"/>
                  </a:lnTo>
                  <a:lnTo>
                    <a:pt x="2822" y="17185"/>
                  </a:lnTo>
                  <a:lnTo>
                    <a:pt x="1796" y="15646"/>
                  </a:lnTo>
                  <a:lnTo>
                    <a:pt x="770" y="14107"/>
                  </a:lnTo>
                  <a:lnTo>
                    <a:pt x="257" y="12055"/>
                  </a:lnTo>
                  <a:lnTo>
                    <a:pt x="1" y="10003"/>
                  </a:lnTo>
                  <a:lnTo>
                    <a:pt x="1" y="10003"/>
                  </a:lnTo>
                  <a:lnTo>
                    <a:pt x="1" y="10003"/>
                  </a:lnTo>
                  <a:lnTo>
                    <a:pt x="257" y="8208"/>
                  </a:lnTo>
                  <a:lnTo>
                    <a:pt x="770" y="6156"/>
                  </a:lnTo>
                  <a:lnTo>
                    <a:pt x="1796" y="4617"/>
                  </a:lnTo>
                  <a:lnTo>
                    <a:pt x="2822" y="3078"/>
                  </a:lnTo>
                  <a:lnTo>
                    <a:pt x="4361" y="1795"/>
                  </a:lnTo>
                  <a:lnTo>
                    <a:pt x="6157" y="770"/>
                  </a:lnTo>
                  <a:lnTo>
                    <a:pt x="7952" y="257"/>
                  </a:lnTo>
                  <a:lnTo>
                    <a:pt x="10004" y="0"/>
                  </a:lnTo>
                  <a:lnTo>
                    <a:pt x="129526" y="0"/>
                  </a:lnTo>
                  <a:lnTo>
                    <a:pt x="129526" y="0"/>
                  </a:lnTo>
                  <a:lnTo>
                    <a:pt x="131578" y="257"/>
                  </a:lnTo>
                  <a:lnTo>
                    <a:pt x="133373" y="770"/>
                  </a:lnTo>
                  <a:lnTo>
                    <a:pt x="135169" y="1795"/>
                  </a:lnTo>
                  <a:lnTo>
                    <a:pt x="136708" y="3078"/>
                  </a:lnTo>
                  <a:lnTo>
                    <a:pt x="137734" y="4617"/>
                  </a:lnTo>
                  <a:lnTo>
                    <a:pt x="138760" y="6156"/>
                  </a:lnTo>
                  <a:lnTo>
                    <a:pt x="139273" y="8208"/>
                  </a:lnTo>
                  <a:lnTo>
                    <a:pt x="139529" y="10003"/>
                  </a:lnTo>
                  <a:lnTo>
                    <a:pt x="139529" y="10003"/>
                  </a:lnTo>
                  <a:lnTo>
                    <a:pt x="139529" y="10003"/>
                  </a:lnTo>
                  <a:lnTo>
                    <a:pt x="139273" y="12055"/>
                  </a:lnTo>
                  <a:lnTo>
                    <a:pt x="138760" y="14107"/>
                  </a:lnTo>
                  <a:lnTo>
                    <a:pt x="137734" y="15646"/>
                  </a:lnTo>
                  <a:lnTo>
                    <a:pt x="136708" y="17185"/>
                  </a:lnTo>
                  <a:lnTo>
                    <a:pt x="135169" y="18467"/>
                  </a:lnTo>
                  <a:lnTo>
                    <a:pt x="133373" y="19493"/>
                  </a:lnTo>
                  <a:lnTo>
                    <a:pt x="131578" y="20006"/>
                  </a:lnTo>
                  <a:lnTo>
                    <a:pt x="129526" y="20263"/>
                  </a:lnTo>
                  <a:lnTo>
                    <a:pt x="129526" y="20263"/>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08"/>
            <p:cNvSpPr/>
            <p:nvPr/>
          </p:nvSpPr>
          <p:spPr>
            <a:xfrm>
              <a:off x="2976400" y="276575"/>
              <a:ext cx="1667200" cy="1186300"/>
            </a:xfrm>
            <a:custGeom>
              <a:rect b="b" l="l" r="r" t="t"/>
              <a:pathLst>
                <a:path extrusionOk="0" fill="none" h="47452" w="66688">
                  <a:moveTo>
                    <a:pt x="53093" y="47451"/>
                  </a:moveTo>
                  <a:lnTo>
                    <a:pt x="66174" y="12569"/>
                  </a:lnTo>
                  <a:lnTo>
                    <a:pt x="66174" y="12569"/>
                  </a:lnTo>
                  <a:lnTo>
                    <a:pt x="66687" y="10260"/>
                  </a:lnTo>
                  <a:lnTo>
                    <a:pt x="66687" y="7952"/>
                  </a:lnTo>
                  <a:lnTo>
                    <a:pt x="66174" y="5900"/>
                  </a:lnTo>
                  <a:lnTo>
                    <a:pt x="65148" y="3848"/>
                  </a:lnTo>
                  <a:lnTo>
                    <a:pt x="63609" y="2309"/>
                  </a:lnTo>
                  <a:lnTo>
                    <a:pt x="62070" y="1027"/>
                  </a:lnTo>
                  <a:lnTo>
                    <a:pt x="59762" y="257"/>
                  </a:lnTo>
                  <a:lnTo>
                    <a:pt x="57454" y="1"/>
                  </a:lnTo>
                  <a:lnTo>
                    <a:pt x="9234" y="1"/>
                  </a:lnTo>
                  <a:lnTo>
                    <a:pt x="9234" y="1"/>
                  </a:lnTo>
                  <a:lnTo>
                    <a:pt x="6926" y="257"/>
                  </a:lnTo>
                  <a:lnTo>
                    <a:pt x="4874" y="1027"/>
                  </a:lnTo>
                  <a:lnTo>
                    <a:pt x="3079" y="2309"/>
                  </a:lnTo>
                  <a:lnTo>
                    <a:pt x="1540" y="3848"/>
                  </a:lnTo>
                  <a:lnTo>
                    <a:pt x="514" y="5900"/>
                  </a:lnTo>
                  <a:lnTo>
                    <a:pt x="1" y="7952"/>
                  </a:lnTo>
                  <a:lnTo>
                    <a:pt x="1" y="10260"/>
                  </a:lnTo>
                  <a:lnTo>
                    <a:pt x="514" y="12569"/>
                  </a:lnTo>
                  <a:lnTo>
                    <a:pt x="13595" y="47451"/>
                  </a:lnTo>
                  <a:lnTo>
                    <a:pt x="53093" y="4745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109"/>
          <p:cNvSpPr txBox="1"/>
          <p:nvPr>
            <p:ph idx="1" type="body"/>
          </p:nvPr>
        </p:nvSpPr>
        <p:spPr>
          <a:xfrm>
            <a:off x="3647875" y="1606200"/>
            <a:ext cx="5038800" cy="2741400"/>
          </a:xfrm>
          <a:prstGeom prst="rect">
            <a:avLst/>
          </a:prstGeom>
        </p:spPr>
        <p:txBody>
          <a:bodyPr anchorCtr="0" anchor="ctr" bIns="91425" lIns="0" spcFirstLastPara="1" rIns="0" wrap="square" tIns="91425">
            <a:noAutofit/>
          </a:bodyPr>
          <a:lstStyle/>
          <a:p>
            <a:pPr indent="0" lvl="0" marL="0" rtl="0" algn="l">
              <a:lnSpc>
                <a:spcPct val="100000"/>
              </a:lnSpc>
              <a:spcBef>
                <a:spcPts val="0"/>
              </a:spcBef>
              <a:spcAft>
                <a:spcPts val="0"/>
              </a:spcAft>
              <a:buNone/>
            </a:pPr>
            <a:r>
              <a:rPr lang="en"/>
              <a:t>There’s </a:t>
            </a:r>
            <a:r>
              <a:rPr b="1" lang="en"/>
              <a:t>another way</a:t>
            </a:r>
            <a:r>
              <a:rPr lang="en"/>
              <a:t> to get credentials for a domain account without brute-forcing or password spraying…</a:t>
            </a:r>
            <a:endParaRPr/>
          </a:p>
          <a:p>
            <a:pPr indent="0" lvl="0" marL="0" rtl="0" algn="l">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110"/>
          <p:cNvSpPr txBox="1"/>
          <p:nvPr>
            <p:ph idx="4294967295" type="subTitle"/>
          </p:nvPr>
        </p:nvSpPr>
        <p:spPr>
          <a:xfrm>
            <a:off x="1800500" y="1039700"/>
            <a:ext cx="5849100" cy="3131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sz="3100">
                <a:solidFill>
                  <a:schemeClr val="lt1"/>
                </a:solidFill>
                <a:highlight>
                  <a:schemeClr val="dk2"/>
                </a:highlight>
                <a:latin typeface="Roboto"/>
                <a:ea typeface="Roboto"/>
                <a:cs typeface="Roboto"/>
                <a:sym typeface="Roboto"/>
              </a:rPr>
              <a:t>Link-Local Multicast Name</a:t>
            </a:r>
            <a:r>
              <a:rPr b="1" lang="en" sz="3100">
                <a:solidFill>
                  <a:schemeClr val="lt1"/>
                </a:solidFill>
                <a:highlight>
                  <a:schemeClr val="dk2"/>
                </a:highlight>
              </a:rPr>
              <a:t> </a:t>
            </a:r>
            <a:r>
              <a:rPr b="1" lang="en" sz="3100">
                <a:solidFill>
                  <a:schemeClr val="lt1"/>
                </a:solidFill>
                <a:highlight>
                  <a:schemeClr val="dk2"/>
                </a:highlight>
                <a:latin typeface="Roboto"/>
                <a:ea typeface="Roboto"/>
                <a:cs typeface="Roboto"/>
                <a:sym typeface="Roboto"/>
              </a:rPr>
              <a:t>Resolution (LLMNR)</a:t>
            </a:r>
            <a:r>
              <a:rPr lang="en" sz="3100"/>
              <a:t> is an older broadcast protocol that serves as a local backup for DNS.</a:t>
            </a:r>
            <a:endParaRPr sz="31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111"/>
          <p:cNvSpPr txBox="1"/>
          <p:nvPr>
            <p:ph type="title"/>
          </p:nvPr>
        </p:nvSpPr>
        <p:spPr>
          <a:xfrm>
            <a:off x="888625" y="300388"/>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Medium"/>
                <a:ea typeface="Roboto Medium"/>
                <a:cs typeface="Roboto Medium"/>
                <a:sym typeface="Roboto Medium"/>
              </a:rPr>
              <a:t>LLMNR Poisoning</a:t>
            </a:r>
            <a:endParaRPr/>
          </a:p>
        </p:txBody>
      </p:sp>
      <p:sp>
        <p:nvSpPr>
          <p:cNvPr id="1191" name="Google Shape;1191;p111"/>
          <p:cNvSpPr/>
          <p:nvPr/>
        </p:nvSpPr>
        <p:spPr>
          <a:xfrm>
            <a:off x="680825" y="2235254"/>
            <a:ext cx="78942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92" name="Google Shape;1192;p111"/>
          <p:cNvSpPr/>
          <p:nvPr/>
        </p:nvSpPr>
        <p:spPr>
          <a:xfrm>
            <a:off x="522243" y="2210710"/>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2</a:t>
            </a:r>
            <a:endParaRPr sz="1800">
              <a:solidFill>
                <a:srgbClr val="082D49"/>
              </a:solidFill>
            </a:endParaRPr>
          </a:p>
        </p:txBody>
      </p:sp>
      <p:sp>
        <p:nvSpPr>
          <p:cNvPr id="1193" name="Google Shape;1193;p111"/>
          <p:cNvSpPr txBox="1"/>
          <p:nvPr/>
        </p:nvSpPr>
        <p:spPr>
          <a:xfrm>
            <a:off x="1004849" y="2193509"/>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LLMNR is an older protocol that is left on in the default group policy.</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1194" name="Google Shape;1194;p111"/>
          <p:cNvSpPr/>
          <p:nvPr/>
        </p:nvSpPr>
        <p:spPr>
          <a:xfrm>
            <a:off x="692250" y="1292317"/>
            <a:ext cx="7894200" cy="667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95" name="Google Shape;1195;p111"/>
          <p:cNvSpPr/>
          <p:nvPr/>
        </p:nvSpPr>
        <p:spPr>
          <a:xfrm>
            <a:off x="533668" y="140072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1</a:t>
            </a:r>
            <a:endParaRPr sz="1800">
              <a:solidFill>
                <a:srgbClr val="082D49"/>
              </a:solidFill>
            </a:endParaRPr>
          </a:p>
        </p:txBody>
      </p:sp>
      <p:sp>
        <p:nvSpPr>
          <p:cNvPr id="1196" name="Google Shape;1196;p111"/>
          <p:cNvSpPr txBox="1"/>
          <p:nvPr/>
        </p:nvSpPr>
        <p:spPr>
          <a:xfrm>
            <a:off x="1016274" y="1250567"/>
            <a:ext cx="7522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Since LLMNR is a broadcast protocol, a request is sent out to the entire network rather than to a single host.</a:t>
            </a:r>
            <a:endParaRPr sz="1800">
              <a:solidFill>
                <a:schemeClr val="dk2"/>
              </a:solidFill>
              <a:latin typeface="Roboto"/>
              <a:ea typeface="Roboto"/>
              <a:cs typeface="Roboto"/>
              <a:sym typeface="Roboto"/>
            </a:endParaRPr>
          </a:p>
        </p:txBody>
      </p:sp>
      <p:sp>
        <p:nvSpPr>
          <p:cNvPr id="1197" name="Google Shape;1197;p111"/>
          <p:cNvSpPr/>
          <p:nvPr/>
        </p:nvSpPr>
        <p:spPr>
          <a:xfrm>
            <a:off x="680825" y="2929699"/>
            <a:ext cx="7894200" cy="12468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198" name="Google Shape;1198;p111"/>
          <p:cNvSpPr/>
          <p:nvPr/>
        </p:nvSpPr>
        <p:spPr>
          <a:xfrm>
            <a:off x="522243" y="3342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2D49"/>
                </a:solidFill>
              </a:rPr>
              <a:t>3</a:t>
            </a:r>
            <a:endParaRPr sz="1800">
              <a:solidFill>
                <a:srgbClr val="082D49"/>
              </a:solidFill>
            </a:endParaRPr>
          </a:p>
        </p:txBody>
      </p:sp>
      <p:sp>
        <p:nvSpPr>
          <p:cNvPr id="1199" name="Google Shape;1199;p111"/>
          <p:cNvSpPr txBox="1"/>
          <p:nvPr/>
        </p:nvSpPr>
        <p:spPr>
          <a:xfrm>
            <a:off x="1004850" y="2887940"/>
            <a:ext cx="7522800" cy="12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Attackers can take advantage of this protocol by listening for LLMNR request broadcasts on the network and spoofing (faking) a response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to the request, asking for the requesting computer to complete a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password challenge.</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grpSp>
        <p:nvGrpSpPr>
          <p:cNvPr id="1200" name="Google Shape;1200;p111"/>
          <p:cNvGrpSpPr/>
          <p:nvPr/>
        </p:nvGrpSpPr>
        <p:grpSpPr>
          <a:xfrm>
            <a:off x="321970" y="283155"/>
            <a:ext cx="270339" cy="400043"/>
            <a:chOff x="2065875" y="276575"/>
            <a:chExt cx="3488250" cy="5161850"/>
          </a:xfrm>
        </p:grpSpPr>
        <p:sp>
          <p:nvSpPr>
            <p:cNvPr id="1201" name="Google Shape;1201;p111"/>
            <p:cNvSpPr/>
            <p:nvPr/>
          </p:nvSpPr>
          <p:spPr>
            <a:xfrm>
              <a:off x="2873825" y="2482375"/>
              <a:ext cx="1872350" cy="2359700"/>
            </a:xfrm>
            <a:custGeom>
              <a:rect b="b" l="l" r="r" t="t"/>
              <a:pathLst>
                <a:path extrusionOk="0" fill="none" h="94388" w="74894">
                  <a:moveTo>
                    <a:pt x="37447" y="1"/>
                  </a:moveTo>
                  <a:lnTo>
                    <a:pt x="37447" y="1"/>
                  </a:lnTo>
                  <a:lnTo>
                    <a:pt x="33600" y="257"/>
                  </a:lnTo>
                  <a:lnTo>
                    <a:pt x="29752" y="770"/>
                  </a:lnTo>
                  <a:lnTo>
                    <a:pt x="26162" y="1796"/>
                  </a:lnTo>
                  <a:lnTo>
                    <a:pt x="22827" y="2822"/>
                  </a:lnTo>
                  <a:lnTo>
                    <a:pt x="19493" y="4617"/>
                  </a:lnTo>
                  <a:lnTo>
                    <a:pt x="16415" y="6413"/>
                  </a:lnTo>
                  <a:lnTo>
                    <a:pt x="13594" y="8465"/>
                  </a:lnTo>
                  <a:lnTo>
                    <a:pt x="10773" y="11029"/>
                  </a:lnTo>
                  <a:lnTo>
                    <a:pt x="8464" y="13594"/>
                  </a:lnTo>
                  <a:lnTo>
                    <a:pt x="6412" y="16672"/>
                  </a:lnTo>
                  <a:lnTo>
                    <a:pt x="4360" y="19750"/>
                  </a:lnTo>
                  <a:lnTo>
                    <a:pt x="2821" y="22828"/>
                  </a:lnTo>
                  <a:lnTo>
                    <a:pt x="1539" y="26419"/>
                  </a:lnTo>
                  <a:lnTo>
                    <a:pt x="770" y="30010"/>
                  </a:lnTo>
                  <a:lnTo>
                    <a:pt x="0" y="33600"/>
                  </a:lnTo>
                  <a:lnTo>
                    <a:pt x="0" y="37448"/>
                  </a:lnTo>
                  <a:lnTo>
                    <a:pt x="0" y="37448"/>
                  </a:lnTo>
                  <a:lnTo>
                    <a:pt x="0" y="48477"/>
                  </a:lnTo>
                  <a:lnTo>
                    <a:pt x="0" y="48477"/>
                  </a:lnTo>
                  <a:lnTo>
                    <a:pt x="0" y="50528"/>
                  </a:lnTo>
                  <a:lnTo>
                    <a:pt x="257" y="52324"/>
                  </a:lnTo>
                  <a:lnTo>
                    <a:pt x="770" y="54376"/>
                  </a:lnTo>
                  <a:lnTo>
                    <a:pt x="1283" y="55915"/>
                  </a:lnTo>
                  <a:lnTo>
                    <a:pt x="2308" y="57710"/>
                  </a:lnTo>
                  <a:lnTo>
                    <a:pt x="3078" y="59249"/>
                  </a:lnTo>
                  <a:lnTo>
                    <a:pt x="4360" y="60788"/>
                  </a:lnTo>
                  <a:lnTo>
                    <a:pt x="5386" y="62070"/>
                  </a:lnTo>
                  <a:lnTo>
                    <a:pt x="6925" y="63353"/>
                  </a:lnTo>
                  <a:lnTo>
                    <a:pt x="8464" y="64379"/>
                  </a:lnTo>
                  <a:lnTo>
                    <a:pt x="10003" y="65405"/>
                  </a:lnTo>
                  <a:lnTo>
                    <a:pt x="11542" y="66174"/>
                  </a:lnTo>
                  <a:lnTo>
                    <a:pt x="13337" y="66944"/>
                  </a:lnTo>
                  <a:lnTo>
                    <a:pt x="15133" y="67457"/>
                  </a:lnTo>
                  <a:lnTo>
                    <a:pt x="17185" y="67713"/>
                  </a:lnTo>
                  <a:lnTo>
                    <a:pt x="18980" y="67713"/>
                  </a:lnTo>
                  <a:lnTo>
                    <a:pt x="18980" y="85667"/>
                  </a:lnTo>
                  <a:lnTo>
                    <a:pt x="18980" y="85667"/>
                  </a:lnTo>
                  <a:lnTo>
                    <a:pt x="19237" y="87463"/>
                  </a:lnTo>
                  <a:lnTo>
                    <a:pt x="19750" y="89002"/>
                  </a:lnTo>
                  <a:lnTo>
                    <a:pt x="20519" y="90540"/>
                  </a:lnTo>
                  <a:lnTo>
                    <a:pt x="21545" y="91823"/>
                  </a:lnTo>
                  <a:lnTo>
                    <a:pt x="22827" y="92849"/>
                  </a:lnTo>
                  <a:lnTo>
                    <a:pt x="24366" y="93875"/>
                  </a:lnTo>
                  <a:lnTo>
                    <a:pt x="25905" y="94388"/>
                  </a:lnTo>
                  <a:lnTo>
                    <a:pt x="27701" y="94388"/>
                  </a:lnTo>
                  <a:lnTo>
                    <a:pt x="47193" y="94388"/>
                  </a:lnTo>
                  <a:lnTo>
                    <a:pt x="47193" y="94388"/>
                  </a:lnTo>
                  <a:lnTo>
                    <a:pt x="48989" y="94388"/>
                  </a:lnTo>
                  <a:lnTo>
                    <a:pt x="50528" y="93875"/>
                  </a:lnTo>
                  <a:lnTo>
                    <a:pt x="52067" y="92849"/>
                  </a:lnTo>
                  <a:lnTo>
                    <a:pt x="53349" y="91823"/>
                  </a:lnTo>
                  <a:lnTo>
                    <a:pt x="54375" y="90540"/>
                  </a:lnTo>
                  <a:lnTo>
                    <a:pt x="55145" y="89002"/>
                  </a:lnTo>
                  <a:lnTo>
                    <a:pt x="55657" y="87463"/>
                  </a:lnTo>
                  <a:lnTo>
                    <a:pt x="55914" y="85667"/>
                  </a:lnTo>
                  <a:lnTo>
                    <a:pt x="55914" y="67713"/>
                  </a:lnTo>
                  <a:lnTo>
                    <a:pt x="55914" y="67713"/>
                  </a:lnTo>
                  <a:lnTo>
                    <a:pt x="57709" y="67713"/>
                  </a:lnTo>
                  <a:lnTo>
                    <a:pt x="59761" y="67457"/>
                  </a:lnTo>
                  <a:lnTo>
                    <a:pt x="61557" y="66944"/>
                  </a:lnTo>
                  <a:lnTo>
                    <a:pt x="63352" y="66174"/>
                  </a:lnTo>
                  <a:lnTo>
                    <a:pt x="64891" y="65405"/>
                  </a:lnTo>
                  <a:lnTo>
                    <a:pt x="66686" y="64379"/>
                  </a:lnTo>
                  <a:lnTo>
                    <a:pt x="67969" y="63353"/>
                  </a:lnTo>
                  <a:lnTo>
                    <a:pt x="69508" y="62070"/>
                  </a:lnTo>
                  <a:lnTo>
                    <a:pt x="70534" y="60788"/>
                  </a:lnTo>
                  <a:lnTo>
                    <a:pt x="71816" y="59249"/>
                  </a:lnTo>
                  <a:lnTo>
                    <a:pt x="72586" y="57710"/>
                  </a:lnTo>
                  <a:lnTo>
                    <a:pt x="73611" y="55915"/>
                  </a:lnTo>
                  <a:lnTo>
                    <a:pt x="74124" y="54376"/>
                  </a:lnTo>
                  <a:lnTo>
                    <a:pt x="74637" y="52324"/>
                  </a:lnTo>
                  <a:lnTo>
                    <a:pt x="74894" y="50528"/>
                  </a:lnTo>
                  <a:lnTo>
                    <a:pt x="74894" y="48477"/>
                  </a:lnTo>
                  <a:lnTo>
                    <a:pt x="74894" y="48477"/>
                  </a:lnTo>
                  <a:lnTo>
                    <a:pt x="74894" y="37448"/>
                  </a:lnTo>
                  <a:lnTo>
                    <a:pt x="74894" y="37448"/>
                  </a:lnTo>
                  <a:lnTo>
                    <a:pt x="74894" y="33600"/>
                  </a:lnTo>
                  <a:lnTo>
                    <a:pt x="74124" y="30010"/>
                  </a:lnTo>
                  <a:lnTo>
                    <a:pt x="73355" y="26419"/>
                  </a:lnTo>
                  <a:lnTo>
                    <a:pt x="72073" y="22828"/>
                  </a:lnTo>
                  <a:lnTo>
                    <a:pt x="70534" y="19750"/>
                  </a:lnTo>
                  <a:lnTo>
                    <a:pt x="68482" y="16672"/>
                  </a:lnTo>
                  <a:lnTo>
                    <a:pt x="66430" y="13594"/>
                  </a:lnTo>
                  <a:lnTo>
                    <a:pt x="64122" y="11029"/>
                  </a:lnTo>
                  <a:lnTo>
                    <a:pt x="61300" y="8465"/>
                  </a:lnTo>
                  <a:lnTo>
                    <a:pt x="58479" y="6413"/>
                  </a:lnTo>
                  <a:lnTo>
                    <a:pt x="55401" y="4617"/>
                  </a:lnTo>
                  <a:lnTo>
                    <a:pt x="52067" y="2822"/>
                  </a:lnTo>
                  <a:lnTo>
                    <a:pt x="48732" y="1796"/>
                  </a:lnTo>
                  <a:lnTo>
                    <a:pt x="45142" y="770"/>
                  </a:lnTo>
                  <a:lnTo>
                    <a:pt x="41294" y="257"/>
                  </a:lnTo>
                  <a:lnTo>
                    <a:pt x="37447" y="1"/>
                  </a:lnTo>
                  <a:lnTo>
                    <a:pt x="37447" y="1"/>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11"/>
            <p:cNvSpPr/>
            <p:nvPr/>
          </p:nvSpPr>
          <p:spPr>
            <a:xfrm>
              <a:off x="3348325" y="4399625"/>
              <a:ext cx="923350" cy="25"/>
            </a:xfrm>
            <a:custGeom>
              <a:rect b="b" l="l" r="r" t="t"/>
              <a:pathLst>
                <a:path extrusionOk="0" fill="none" h="1" w="36934">
                  <a:moveTo>
                    <a:pt x="0" y="0"/>
                  </a:moveTo>
                  <a:lnTo>
                    <a:pt x="36934" y="0"/>
                  </a:lnTo>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11"/>
            <p:cNvSpPr/>
            <p:nvPr/>
          </p:nvSpPr>
          <p:spPr>
            <a:xfrm>
              <a:off x="3810000" y="4264950"/>
              <a:ext cx="0" cy="269350"/>
            </a:xfrm>
            <a:custGeom>
              <a:rect b="b" l="l" r="r" t="t"/>
              <a:pathLst>
                <a:path extrusionOk="0" fill="none" h="10774" w="0">
                  <a:moveTo>
                    <a:pt x="0" y="1"/>
                  </a:moveTo>
                  <a:lnTo>
                    <a:pt x="0" y="10773"/>
                  </a:lnTo>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11"/>
            <p:cNvSpPr/>
            <p:nvPr/>
          </p:nvSpPr>
          <p:spPr>
            <a:xfrm>
              <a:off x="3579150" y="4264950"/>
              <a:ext cx="25" cy="269350"/>
            </a:xfrm>
            <a:custGeom>
              <a:rect b="b" l="l" r="r" t="t"/>
              <a:pathLst>
                <a:path extrusionOk="0" fill="none" h="10774" w="1">
                  <a:moveTo>
                    <a:pt x="1" y="1"/>
                  </a:moveTo>
                  <a:lnTo>
                    <a:pt x="1" y="10773"/>
                  </a:lnTo>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11"/>
            <p:cNvSpPr/>
            <p:nvPr/>
          </p:nvSpPr>
          <p:spPr>
            <a:xfrm>
              <a:off x="4040825" y="4264950"/>
              <a:ext cx="25" cy="269350"/>
            </a:xfrm>
            <a:custGeom>
              <a:rect b="b" l="l" r="r" t="t"/>
              <a:pathLst>
                <a:path extrusionOk="0" fill="none" h="10774" w="1">
                  <a:moveTo>
                    <a:pt x="0" y="1"/>
                  </a:moveTo>
                  <a:lnTo>
                    <a:pt x="0" y="10773"/>
                  </a:lnTo>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11"/>
            <p:cNvSpPr/>
            <p:nvPr/>
          </p:nvSpPr>
          <p:spPr>
            <a:xfrm>
              <a:off x="3155950" y="3386500"/>
              <a:ext cx="442450" cy="442450"/>
            </a:xfrm>
            <a:custGeom>
              <a:rect b="b" l="l" r="r" t="t"/>
              <a:pathLst>
                <a:path extrusionOk="0" fill="none" h="17698" w="17698">
                  <a:moveTo>
                    <a:pt x="17698" y="8977"/>
                  </a:moveTo>
                  <a:lnTo>
                    <a:pt x="17698" y="8977"/>
                  </a:lnTo>
                  <a:lnTo>
                    <a:pt x="17441" y="10773"/>
                  </a:lnTo>
                  <a:lnTo>
                    <a:pt x="16929" y="12312"/>
                  </a:lnTo>
                  <a:lnTo>
                    <a:pt x="16159" y="13851"/>
                  </a:lnTo>
                  <a:lnTo>
                    <a:pt x="15133" y="15133"/>
                  </a:lnTo>
                  <a:lnTo>
                    <a:pt x="13851" y="16415"/>
                  </a:lnTo>
                  <a:lnTo>
                    <a:pt x="12312" y="17185"/>
                  </a:lnTo>
                  <a:lnTo>
                    <a:pt x="10516" y="17698"/>
                  </a:lnTo>
                  <a:lnTo>
                    <a:pt x="8721" y="17698"/>
                  </a:lnTo>
                  <a:lnTo>
                    <a:pt x="8721" y="17698"/>
                  </a:lnTo>
                  <a:lnTo>
                    <a:pt x="6926" y="17698"/>
                  </a:lnTo>
                  <a:lnTo>
                    <a:pt x="5387" y="17185"/>
                  </a:lnTo>
                  <a:lnTo>
                    <a:pt x="3848" y="16415"/>
                  </a:lnTo>
                  <a:lnTo>
                    <a:pt x="2565" y="15133"/>
                  </a:lnTo>
                  <a:lnTo>
                    <a:pt x="1539" y="13851"/>
                  </a:lnTo>
                  <a:lnTo>
                    <a:pt x="513" y="12312"/>
                  </a:lnTo>
                  <a:lnTo>
                    <a:pt x="0" y="10773"/>
                  </a:lnTo>
                  <a:lnTo>
                    <a:pt x="0" y="8977"/>
                  </a:lnTo>
                  <a:lnTo>
                    <a:pt x="0" y="8977"/>
                  </a:lnTo>
                  <a:lnTo>
                    <a:pt x="0" y="7182"/>
                  </a:lnTo>
                  <a:lnTo>
                    <a:pt x="513" y="5386"/>
                  </a:lnTo>
                  <a:lnTo>
                    <a:pt x="1539" y="4104"/>
                  </a:lnTo>
                  <a:lnTo>
                    <a:pt x="2565" y="2565"/>
                  </a:lnTo>
                  <a:lnTo>
                    <a:pt x="3848" y="1539"/>
                  </a:lnTo>
                  <a:lnTo>
                    <a:pt x="5387" y="770"/>
                  </a:lnTo>
                  <a:lnTo>
                    <a:pt x="6926" y="257"/>
                  </a:lnTo>
                  <a:lnTo>
                    <a:pt x="8721" y="0"/>
                  </a:lnTo>
                  <a:lnTo>
                    <a:pt x="8721" y="0"/>
                  </a:lnTo>
                  <a:lnTo>
                    <a:pt x="10516" y="257"/>
                  </a:lnTo>
                  <a:lnTo>
                    <a:pt x="12312" y="770"/>
                  </a:lnTo>
                  <a:lnTo>
                    <a:pt x="13851" y="1539"/>
                  </a:lnTo>
                  <a:lnTo>
                    <a:pt x="15133" y="2565"/>
                  </a:lnTo>
                  <a:lnTo>
                    <a:pt x="16159" y="4104"/>
                  </a:lnTo>
                  <a:lnTo>
                    <a:pt x="16929" y="5386"/>
                  </a:lnTo>
                  <a:lnTo>
                    <a:pt x="17441" y="7182"/>
                  </a:lnTo>
                  <a:lnTo>
                    <a:pt x="17698" y="8977"/>
                  </a:lnTo>
                  <a:lnTo>
                    <a:pt x="17698" y="8977"/>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11"/>
            <p:cNvSpPr/>
            <p:nvPr/>
          </p:nvSpPr>
          <p:spPr>
            <a:xfrm>
              <a:off x="4021600" y="3386500"/>
              <a:ext cx="442450" cy="442450"/>
            </a:xfrm>
            <a:custGeom>
              <a:rect b="b" l="l" r="r" t="t"/>
              <a:pathLst>
                <a:path extrusionOk="0" fill="none" h="17698" w="17698">
                  <a:moveTo>
                    <a:pt x="17698" y="8977"/>
                  </a:moveTo>
                  <a:lnTo>
                    <a:pt x="17698" y="8977"/>
                  </a:lnTo>
                  <a:lnTo>
                    <a:pt x="17698" y="10773"/>
                  </a:lnTo>
                  <a:lnTo>
                    <a:pt x="17185" y="12312"/>
                  </a:lnTo>
                  <a:lnTo>
                    <a:pt x="16159" y="13851"/>
                  </a:lnTo>
                  <a:lnTo>
                    <a:pt x="15133" y="15133"/>
                  </a:lnTo>
                  <a:lnTo>
                    <a:pt x="13850" y="16415"/>
                  </a:lnTo>
                  <a:lnTo>
                    <a:pt x="12311" y="17185"/>
                  </a:lnTo>
                  <a:lnTo>
                    <a:pt x="10772" y="17698"/>
                  </a:lnTo>
                  <a:lnTo>
                    <a:pt x="8977" y="17698"/>
                  </a:lnTo>
                  <a:lnTo>
                    <a:pt x="8977" y="17698"/>
                  </a:lnTo>
                  <a:lnTo>
                    <a:pt x="7182" y="17698"/>
                  </a:lnTo>
                  <a:lnTo>
                    <a:pt x="5386" y="17185"/>
                  </a:lnTo>
                  <a:lnTo>
                    <a:pt x="3847" y="16415"/>
                  </a:lnTo>
                  <a:lnTo>
                    <a:pt x="2565" y="15133"/>
                  </a:lnTo>
                  <a:lnTo>
                    <a:pt x="1539" y="13851"/>
                  </a:lnTo>
                  <a:lnTo>
                    <a:pt x="769" y="12312"/>
                  </a:lnTo>
                  <a:lnTo>
                    <a:pt x="257" y="10773"/>
                  </a:lnTo>
                  <a:lnTo>
                    <a:pt x="0" y="8977"/>
                  </a:lnTo>
                  <a:lnTo>
                    <a:pt x="0" y="8977"/>
                  </a:lnTo>
                  <a:lnTo>
                    <a:pt x="257" y="7182"/>
                  </a:lnTo>
                  <a:lnTo>
                    <a:pt x="769" y="5386"/>
                  </a:lnTo>
                  <a:lnTo>
                    <a:pt x="1539" y="4104"/>
                  </a:lnTo>
                  <a:lnTo>
                    <a:pt x="2565" y="2565"/>
                  </a:lnTo>
                  <a:lnTo>
                    <a:pt x="3847" y="1539"/>
                  </a:lnTo>
                  <a:lnTo>
                    <a:pt x="5386" y="770"/>
                  </a:lnTo>
                  <a:lnTo>
                    <a:pt x="7182" y="257"/>
                  </a:lnTo>
                  <a:lnTo>
                    <a:pt x="8977" y="0"/>
                  </a:lnTo>
                  <a:lnTo>
                    <a:pt x="8977" y="0"/>
                  </a:lnTo>
                  <a:lnTo>
                    <a:pt x="10772" y="257"/>
                  </a:lnTo>
                  <a:lnTo>
                    <a:pt x="12311" y="770"/>
                  </a:lnTo>
                  <a:lnTo>
                    <a:pt x="13850" y="1539"/>
                  </a:lnTo>
                  <a:lnTo>
                    <a:pt x="15133" y="2565"/>
                  </a:lnTo>
                  <a:lnTo>
                    <a:pt x="16159" y="4104"/>
                  </a:lnTo>
                  <a:lnTo>
                    <a:pt x="17185" y="5386"/>
                  </a:lnTo>
                  <a:lnTo>
                    <a:pt x="17698" y="7182"/>
                  </a:lnTo>
                  <a:lnTo>
                    <a:pt x="17698" y="8977"/>
                  </a:lnTo>
                  <a:lnTo>
                    <a:pt x="17698" y="8977"/>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11"/>
            <p:cNvSpPr/>
            <p:nvPr/>
          </p:nvSpPr>
          <p:spPr>
            <a:xfrm>
              <a:off x="3675325" y="3828925"/>
              <a:ext cx="269350" cy="237275"/>
            </a:xfrm>
            <a:custGeom>
              <a:rect b="b" l="l" r="r" t="t"/>
              <a:pathLst>
                <a:path extrusionOk="0" fill="none" h="9491" w="10774">
                  <a:moveTo>
                    <a:pt x="5387" y="1"/>
                  </a:moveTo>
                  <a:lnTo>
                    <a:pt x="1" y="9491"/>
                  </a:lnTo>
                  <a:lnTo>
                    <a:pt x="10773" y="9491"/>
                  </a:lnTo>
                  <a:lnTo>
                    <a:pt x="5387" y="1"/>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11"/>
            <p:cNvSpPr/>
            <p:nvPr/>
          </p:nvSpPr>
          <p:spPr>
            <a:xfrm>
              <a:off x="2386500" y="1969400"/>
              <a:ext cx="2847000" cy="3469025"/>
            </a:xfrm>
            <a:custGeom>
              <a:rect b="b" l="l" r="r" t="t"/>
              <a:pathLst>
                <a:path extrusionOk="0" fill="none" h="138761" w="113880">
                  <a:moveTo>
                    <a:pt x="91822" y="138760"/>
                  </a:moveTo>
                  <a:lnTo>
                    <a:pt x="22058" y="138760"/>
                  </a:lnTo>
                  <a:lnTo>
                    <a:pt x="22058" y="138760"/>
                  </a:lnTo>
                  <a:lnTo>
                    <a:pt x="20006" y="138760"/>
                  </a:lnTo>
                  <a:lnTo>
                    <a:pt x="17698" y="138247"/>
                  </a:lnTo>
                  <a:lnTo>
                    <a:pt x="15646" y="137734"/>
                  </a:lnTo>
                  <a:lnTo>
                    <a:pt x="13594" y="136965"/>
                  </a:lnTo>
                  <a:lnTo>
                    <a:pt x="11542" y="136195"/>
                  </a:lnTo>
                  <a:lnTo>
                    <a:pt x="9747" y="134913"/>
                  </a:lnTo>
                  <a:lnTo>
                    <a:pt x="7951" y="133630"/>
                  </a:lnTo>
                  <a:lnTo>
                    <a:pt x="6412" y="132348"/>
                  </a:lnTo>
                  <a:lnTo>
                    <a:pt x="5130" y="130809"/>
                  </a:lnTo>
                  <a:lnTo>
                    <a:pt x="3847" y="129014"/>
                  </a:lnTo>
                  <a:lnTo>
                    <a:pt x="2565" y="127218"/>
                  </a:lnTo>
                  <a:lnTo>
                    <a:pt x="1796" y="125166"/>
                  </a:lnTo>
                  <a:lnTo>
                    <a:pt x="1026" y="123114"/>
                  </a:lnTo>
                  <a:lnTo>
                    <a:pt x="513" y="121062"/>
                  </a:lnTo>
                  <a:lnTo>
                    <a:pt x="0" y="118754"/>
                  </a:lnTo>
                  <a:lnTo>
                    <a:pt x="0" y="116702"/>
                  </a:lnTo>
                  <a:lnTo>
                    <a:pt x="0" y="1"/>
                  </a:lnTo>
                  <a:lnTo>
                    <a:pt x="113880" y="1"/>
                  </a:lnTo>
                  <a:lnTo>
                    <a:pt x="113880" y="116702"/>
                  </a:lnTo>
                  <a:lnTo>
                    <a:pt x="113880" y="116702"/>
                  </a:lnTo>
                  <a:lnTo>
                    <a:pt x="113880" y="118754"/>
                  </a:lnTo>
                  <a:lnTo>
                    <a:pt x="113367" y="121062"/>
                  </a:lnTo>
                  <a:lnTo>
                    <a:pt x="112854" y="123114"/>
                  </a:lnTo>
                  <a:lnTo>
                    <a:pt x="112084" y="125166"/>
                  </a:lnTo>
                  <a:lnTo>
                    <a:pt x="111315" y="127218"/>
                  </a:lnTo>
                  <a:lnTo>
                    <a:pt x="110033" y="129014"/>
                  </a:lnTo>
                  <a:lnTo>
                    <a:pt x="108750" y="130809"/>
                  </a:lnTo>
                  <a:lnTo>
                    <a:pt x="107468" y="132348"/>
                  </a:lnTo>
                  <a:lnTo>
                    <a:pt x="105929" y="133630"/>
                  </a:lnTo>
                  <a:lnTo>
                    <a:pt x="104133" y="134913"/>
                  </a:lnTo>
                  <a:lnTo>
                    <a:pt x="102338" y="136195"/>
                  </a:lnTo>
                  <a:lnTo>
                    <a:pt x="100286" y="136965"/>
                  </a:lnTo>
                  <a:lnTo>
                    <a:pt x="98234" y="137734"/>
                  </a:lnTo>
                  <a:lnTo>
                    <a:pt x="96182" y="138247"/>
                  </a:lnTo>
                  <a:lnTo>
                    <a:pt x="93874" y="138760"/>
                  </a:lnTo>
                  <a:lnTo>
                    <a:pt x="91822" y="138760"/>
                  </a:lnTo>
                  <a:lnTo>
                    <a:pt x="91822" y="138760"/>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11"/>
            <p:cNvSpPr/>
            <p:nvPr/>
          </p:nvSpPr>
          <p:spPr>
            <a:xfrm>
              <a:off x="2065875" y="1462850"/>
              <a:ext cx="3488250" cy="506575"/>
            </a:xfrm>
            <a:custGeom>
              <a:rect b="b" l="l" r="r" t="t"/>
              <a:pathLst>
                <a:path extrusionOk="0" fill="none" h="20263" w="139530">
                  <a:moveTo>
                    <a:pt x="129526" y="20263"/>
                  </a:moveTo>
                  <a:lnTo>
                    <a:pt x="10004" y="20263"/>
                  </a:lnTo>
                  <a:lnTo>
                    <a:pt x="10004" y="20263"/>
                  </a:lnTo>
                  <a:lnTo>
                    <a:pt x="7952" y="20006"/>
                  </a:lnTo>
                  <a:lnTo>
                    <a:pt x="6157" y="19493"/>
                  </a:lnTo>
                  <a:lnTo>
                    <a:pt x="4361" y="18467"/>
                  </a:lnTo>
                  <a:lnTo>
                    <a:pt x="2822" y="17185"/>
                  </a:lnTo>
                  <a:lnTo>
                    <a:pt x="1796" y="15646"/>
                  </a:lnTo>
                  <a:lnTo>
                    <a:pt x="770" y="14107"/>
                  </a:lnTo>
                  <a:lnTo>
                    <a:pt x="257" y="12055"/>
                  </a:lnTo>
                  <a:lnTo>
                    <a:pt x="1" y="10003"/>
                  </a:lnTo>
                  <a:lnTo>
                    <a:pt x="1" y="10003"/>
                  </a:lnTo>
                  <a:lnTo>
                    <a:pt x="1" y="10003"/>
                  </a:lnTo>
                  <a:lnTo>
                    <a:pt x="257" y="8208"/>
                  </a:lnTo>
                  <a:lnTo>
                    <a:pt x="770" y="6156"/>
                  </a:lnTo>
                  <a:lnTo>
                    <a:pt x="1796" y="4617"/>
                  </a:lnTo>
                  <a:lnTo>
                    <a:pt x="2822" y="3078"/>
                  </a:lnTo>
                  <a:lnTo>
                    <a:pt x="4361" y="1795"/>
                  </a:lnTo>
                  <a:lnTo>
                    <a:pt x="6157" y="770"/>
                  </a:lnTo>
                  <a:lnTo>
                    <a:pt x="7952" y="257"/>
                  </a:lnTo>
                  <a:lnTo>
                    <a:pt x="10004" y="0"/>
                  </a:lnTo>
                  <a:lnTo>
                    <a:pt x="129526" y="0"/>
                  </a:lnTo>
                  <a:lnTo>
                    <a:pt x="129526" y="0"/>
                  </a:lnTo>
                  <a:lnTo>
                    <a:pt x="131578" y="257"/>
                  </a:lnTo>
                  <a:lnTo>
                    <a:pt x="133373" y="770"/>
                  </a:lnTo>
                  <a:lnTo>
                    <a:pt x="135169" y="1795"/>
                  </a:lnTo>
                  <a:lnTo>
                    <a:pt x="136708" y="3078"/>
                  </a:lnTo>
                  <a:lnTo>
                    <a:pt x="137734" y="4617"/>
                  </a:lnTo>
                  <a:lnTo>
                    <a:pt x="138760" y="6156"/>
                  </a:lnTo>
                  <a:lnTo>
                    <a:pt x="139273" y="8208"/>
                  </a:lnTo>
                  <a:lnTo>
                    <a:pt x="139529" y="10003"/>
                  </a:lnTo>
                  <a:lnTo>
                    <a:pt x="139529" y="10003"/>
                  </a:lnTo>
                  <a:lnTo>
                    <a:pt x="139529" y="10003"/>
                  </a:lnTo>
                  <a:lnTo>
                    <a:pt x="139273" y="12055"/>
                  </a:lnTo>
                  <a:lnTo>
                    <a:pt x="138760" y="14107"/>
                  </a:lnTo>
                  <a:lnTo>
                    <a:pt x="137734" y="15646"/>
                  </a:lnTo>
                  <a:lnTo>
                    <a:pt x="136708" y="17185"/>
                  </a:lnTo>
                  <a:lnTo>
                    <a:pt x="135169" y="18467"/>
                  </a:lnTo>
                  <a:lnTo>
                    <a:pt x="133373" y="19493"/>
                  </a:lnTo>
                  <a:lnTo>
                    <a:pt x="131578" y="20006"/>
                  </a:lnTo>
                  <a:lnTo>
                    <a:pt x="129526" y="20263"/>
                  </a:lnTo>
                  <a:lnTo>
                    <a:pt x="129526" y="20263"/>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11"/>
            <p:cNvSpPr/>
            <p:nvPr/>
          </p:nvSpPr>
          <p:spPr>
            <a:xfrm>
              <a:off x="2976400" y="276575"/>
              <a:ext cx="1667200" cy="1186300"/>
            </a:xfrm>
            <a:custGeom>
              <a:rect b="b" l="l" r="r" t="t"/>
              <a:pathLst>
                <a:path extrusionOk="0" fill="none" h="47452" w="66688">
                  <a:moveTo>
                    <a:pt x="53093" y="47451"/>
                  </a:moveTo>
                  <a:lnTo>
                    <a:pt x="66174" y="12569"/>
                  </a:lnTo>
                  <a:lnTo>
                    <a:pt x="66174" y="12569"/>
                  </a:lnTo>
                  <a:lnTo>
                    <a:pt x="66687" y="10260"/>
                  </a:lnTo>
                  <a:lnTo>
                    <a:pt x="66687" y="7952"/>
                  </a:lnTo>
                  <a:lnTo>
                    <a:pt x="66174" y="5900"/>
                  </a:lnTo>
                  <a:lnTo>
                    <a:pt x="65148" y="3848"/>
                  </a:lnTo>
                  <a:lnTo>
                    <a:pt x="63609" y="2309"/>
                  </a:lnTo>
                  <a:lnTo>
                    <a:pt x="62070" y="1027"/>
                  </a:lnTo>
                  <a:lnTo>
                    <a:pt x="59762" y="257"/>
                  </a:lnTo>
                  <a:lnTo>
                    <a:pt x="57454" y="1"/>
                  </a:lnTo>
                  <a:lnTo>
                    <a:pt x="9234" y="1"/>
                  </a:lnTo>
                  <a:lnTo>
                    <a:pt x="9234" y="1"/>
                  </a:lnTo>
                  <a:lnTo>
                    <a:pt x="6926" y="257"/>
                  </a:lnTo>
                  <a:lnTo>
                    <a:pt x="4874" y="1027"/>
                  </a:lnTo>
                  <a:lnTo>
                    <a:pt x="3079" y="2309"/>
                  </a:lnTo>
                  <a:lnTo>
                    <a:pt x="1540" y="3848"/>
                  </a:lnTo>
                  <a:lnTo>
                    <a:pt x="514" y="5900"/>
                  </a:lnTo>
                  <a:lnTo>
                    <a:pt x="1" y="7952"/>
                  </a:lnTo>
                  <a:lnTo>
                    <a:pt x="1" y="10260"/>
                  </a:lnTo>
                  <a:lnTo>
                    <a:pt x="514" y="12569"/>
                  </a:lnTo>
                  <a:lnTo>
                    <a:pt x="13595" y="47451"/>
                  </a:lnTo>
                  <a:lnTo>
                    <a:pt x="53093" y="47451"/>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12"/>
          <p:cNvSpPr/>
          <p:nvPr/>
        </p:nvSpPr>
        <p:spPr>
          <a:xfrm>
            <a:off x="1352550" y="1480363"/>
            <a:ext cx="7517100" cy="5949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7" name="Google Shape;1217;p112"/>
          <p:cNvGrpSpPr/>
          <p:nvPr/>
        </p:nvGrpSpPr>
        <p:grpSpPr>
          <a:xfrm>
            <a:off x="457200" y="1524100"/>
            <a:ext cx="776900" cy="486300"/>
            <a:chOff x="457200" y="1466425"/>
            <a:chExt cx="776900" cy="486300"/>
          </a:xfrm>
        </p:grpSpPr>
        <p:sp>
          <p:nvSpPr>
            <p:cNvPr id="1218" name="Google Shape;1218;p112"/>
            <p:cNvSpPr/>
            <p:nvPr/>
          </p:nvSpPr>
          <p:spPr>
            <a:xfrm>
              <a:off x="457200" y="1466425"/>
              <a:ext cx="695400" cy="4863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02</a:t>
              </a:r>
              <a:endParaRPr sz="3000">
                <a:solidFill>
                  <a:schemeClr val="lt1"/>
                </a:solidFill>
                <a:latin typeface="Roboto"/>
                <a:ea typeface="Roboto"/>
                <a:cs typeface="Roboto"/>
                <a:sym typeface="Roboto"/>
              </a:endParaRPr>
            </a:p>
          </p:txBody>
        </p:sp>
        <p:sp>
          <p:nvSpPr>
            <p:cNvPr id="1219" name="Google Shape;1219;p112"/>
            <p:cNvSpPr/>
            <p:nvPr/>
          </p:nvSpPr>
          <p:spPr>
            <a:xfrm rot="5400000">
              <a:off x="973100" y="1624950"/>
              <a:ext cx="333375" cy="188625"/>
            </a:xfrm>
            <a:prstGeom prst="flowChartExtra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solidFill>
                  <a:schemeClr val="lt1"/>
                </a:solidFill>
                <a:latin typeface="Roboto"/>
                <a:ea typeface="Roboto"/>
                <a:cs typeface="Roboto"/>
                <a:sym typeface="Roboto"/>
              </a:endParaRPr>
            </a:p>
          </p:txBody>
        </p:sp>
      </p:grpSp>
      <p:sp>
        <p:nvSpPr>
          <p:cNvPr id="1220" name="Google Shape;1220;p112"/>
          <p:cNvSpPr txBox="1"/>
          <p:nvPr/>
        </p:nvSpPr>
        <p:spPr>
          <a:xfrm>
            <a:off x="1352625" y="1544050"/>
            <a:ext cx="7656000" cy="4464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A Windows machine user tries to visit a network share that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doesn't exist or makes a typo trying to visit an existing one.</a:t>
            </a:r>
            <a:endParaRPr sz="1800">
              <a:solidFill>
                <a:schemeClr val="dk2"/>
              </a:solidFill>
              <a:latin typeface="Roboto"/>
              <a:ea typeface="Roboto"/>
              <a:cs typeface="Roboto"/>
              <a:sym typeface="Roboto"/>
            </a:endParaRPr>
          </a:p>
        </p:txBody>
      </p:sp>
      <p:sp>
        <p:nvSpPr>
          <p:cNvPr id="1221" name="Google Shape;1221;p112"/>
          <p:cNvSpPr/>
          <p:nvPr/>
        </p:nvSpPr>
        <p:spPr>
          <a:xfrm>
            <a:off x="1352550" y="856825"/>
            <a:ext cx="7517100" cy="486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2" name="Google Shape;1222;p112"/>
          <p:cNvGrpSpPr/>
          <p:nvPr/>
        </p:nvGrpSpPr>
        <p:grpSpPr>
          <a:xfrm>
            <a:off x="457200" y="856825"/>
            <a:ext cx="776900" cy="486300"/>
            <a:chOff x="457200" y="1466425"/>
            <a:chExt cx="776900" cy="486300"/>
          </a:xfrm>
        </p:grpSpPr>
        <p:sp>
          <p:nvSpPr>
            <p:cNvPr id="1223" name="Google Shape;1223;p112"/>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oboto"/>
                  <a:ea typeface="Roboto"/>
                  <a:cs typeface="Roboto"/>
                  <a:sym typeface="Roboto"/>
                </a:rPr>
                <a:t>01</a:t>
              </a:r>
              <a:endParaRPr sz="3000">
                <a:solidFill>
                  <a:schemeClr val="dk2"/>
                </a:solidFill>
                <a:latin typeface="Roboto"/>
                <a:ea typeface="Roboto"/>
                <a:cs typeface="Roboto"/>
                <a:sym typeface="Roboto"/>
              </a:endParaRPr>
            </a:p>
          </p:txBody>
        </p:sp>
        <p:sp>
          <p:nvSpPr>
            <p:cNvPr id="1224" name="Google Shape;1224;p112"/>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solidFill>
                  <a:schemeClr val="lt1"/>
                </a:solidFill>
                <a:latin typeface="Roboto"/>
                <a:ea typeface="Roboto"/>
                <a:cs typeface="Roboto"/>
                <a:sym typeface="Roboto"/>
              </a:endParaRPr>
            </a:p>
          </p:txBody>
        </p:sp>
      </p:grpSp>
      <p:sp>
        <p:nvSpPr>
          <p:cNvPr id="1225" name="Google Shape;1225;p112"/>
          <p:cNvSpPr txBox="1"/>
          <p:nvPr/>
        </p:nvSpPr>
        <p:spPr>
          <a:xfrm>
            <a:off x="1352550" y="893650"/>
            <a:ext cx="7116900" cy="4464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The </a:t>
            </a:r>
            <a:r>
              <a:rPr lang="en" sz="1800">
                <a:solidFill>
                  <a:schemeClr val="dk2"/>
                </a:solidFill>
                <a:latin typeface="Roboto"/>
                <a:ea typeface="Roboto"/>
                <a:cs typeface="Roboto"/>
                <a:sym typeface="Roboto"/>
              </a:rPr>
              <a:t>attacker</a:t>
            </a:r>
            <a:r>
              <a:rPr lang="en" sz="1800">
                <a:solidFill>
                  <a:schemeClr val="dk2"/>
                </a:solidFill>
                <a:latin typeface="Roboto"/>
                <a:ea typeface="Roboto"/>
                <a:cs typeface="Roboto"/>
                <a:sym typeface="Roboto"/>
              </a:rPr>
              <a:t> listens for LLMNR requests on the network.</a:t>
            </a:r>
            <a:endParaRPr sz="1800">
              <a:solidFill>
                <a:schemeClr val="dk2"/>
              </a:solidFill>
              <a:latin typeface="Roboto"/>
              <a:ea typeface="Roboto"/>
              <a:cs typeface="Roboto"/>
              <a:sym typeface="Roboto"/>
            </a:endParaRPr>
          </a:p>
        </p:txBody>
      </p:sp>
      <p:pic>
        <p:nvPicPr>
          <p:cNvPr id="1226" name="Google Shape;1226;p112"/>
          <p:cNvPicPr preferRelativeResize="0"/>
          <p:nvPr/>
        </p:nvPicPr>
        <p:blipFill rotWithShape="1">
          <a:blip r:embed="rId3">
            <a:alphaModFix/>
          </a:blip>
          <a:srcRect b="8765" l="0" r="51763" t="23758"/>
          <a:stretch/>
        </p:blipFill>
        <p:spPr>
          <a:xfrm>
            <a:off x="2832323" y="3861879"/>
            <a:ext cx="1388875" cy="1041350"/>
          </a:xfrm>
          <a:prstGeom prst="rect">
            <a:avLst/>
          </a:prstGeom>
          <a:noFill/>
          <a:ln>
            <a:noFill/>
          </a:ln>
        </p:spPr>
      </p:pic>
      <p:sp>
        <p:nvSpPr>
          <p:cNvPr id="1227" name="Google Shape;1227;p112"/>
          <p:cNvSpPr/>
          <p:nvPr/>
        </p:nvSpPr>
        <p:spPr>
          <a:xfrm>
            <a:off x="581975" y="3052504"/>
            <a:ext cx="3549900" cy="724500"/>
          </a:xfrm>
          <a:prstGeom prst="wedgeRoundRectCallout">
            <a:avLst>
              <a:gd fmla="val -3743" name="adj1"/>
              <a:gd fmla="val 96177" name="adj2"/>
              <a:gd fmla="val 0" name="adj3"/>
            </a:avLst>
          </a:prstGeom>
          <a:solidFill>
            <a:schemeClr val="accent4"/>
          </a:solidFill>
          <a:ln>
            <a:noFill/>
          </a:ln>
        </p:spPr>
        <p:txBody>
          <a:bodyPr anchorCtr="0" anchor="ctr" bIns="91425" lIns="137150" spcFirstLastPara="1" rIns="91425" wrap="square" tIns="4570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I need to access \\fileshrae01,</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do you know where it is?</a:t>
            </a:r>
            <a:endParaRPr sz="1800">
              <a:solidFill>
                <a:schemeClr val="dk2"/>
              </a:solidFill>
              <a:latin typeface="Roboto"/>
              <a:ea typeface="Roboto"/>
              <a:cs typeface="Roboto"/>
              <a:sym typeface="Roboto"/>
            </a:endParaRPr>
          </a:p>
        </p:txBody>
      </p:sp>
      <p:sp>
        <p:nvSpPr>
          <p:cNvPr id="1228" name="Google Shape;1228;p112"/>
          <p:cNvSpPr/>
          <p:nvPr/>
        </p:nvSpPr>
        <p:spPr>
          <a:xfrm rot="2519">
            <a:off x="1519900" y="4298129"/>
            <a:ext cx="1637400" cy="3282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Workstation</a:t>
            </a:r>
            <a:endParaRPr b="1" sz="1800">
              <a:solidFill>
                <a:srgbClr val="FFFFFF"/>
              </a:solidFill>
              <a:latin typeface="Roboto"/>
              <a:ea typeface="Roboto"/>
              <a:cs typeface="Roboto"/>
              <a:sym typeface="Roboto"/>
            </a:endParaRPr>
          </a:p>
        </p:txBody>
      </p:sp>
      <p:pic>
        <p:nvPicPr>
          <p:cNvPr id="1229" name="Google Shape;1229;p112"/>
          <p:cNvPicPr preferRelativeResize="0"/>
          <p:nvPr/>
        </p:nvPicPr>
        <p:blipFill rotWithShape="1">
          <a:blip r:embed="rId3">
            <a:alphaModFix/>
          </a:blip>
          <a:srcRect b="8763" l="77499" r="-729" t="1533"/>
          <a:stretch/>
        </p:blipFill>
        <p:spPr>
          <a:xfrm>
            <a:off x="5493313" y="2939079"/>
            <a:ext cx="977225" cy="2022600"/>
          </a:xfrm>
          <a:prstGeom prst="rect">
            <a:avLst/>
          </a:prstGeom>
          <a:noFill/>
          <a:ln>
            <a:noFill/>
          </a:ln>
        </p:spPr>
      </p:pic>
      <p:grpSp>
        <p:nvGrpSpPr>
          <p:cNvPr id="1230" name="Google Shape;1230;p112"/>
          <p:cNvGrpSpPr/>
          <p:nvPr/>
        </p:nvGrpSpPr>
        <p:grpSpPr>
          <a:xfrm>
            <a:off x="6180887" y="3453306"/>
            <a:ext cx="564330" cy="564330"/>
            <a:chOff x="7189842" y="3080279"/>
            <a:chExt cx="716700" cy="716700"/>
          </a:xfrm>
        </p:grpSpPr>
        <p:sp>
          <p:nvSpPr>
            <p:cNvPr id="1231" name="Google Shape;1231;p112"/>
            <p:cNvSpPr/>
            <p:nvPr/>
          </p:nvSpPr>
          <p:spPr>
            <a:xfrm>
              <a:off x="7189842" y="3080279"/>
              <a:ext cx="716700" cy="716700"/>
            </a:xfrm>
            <a:prstGeom prst="ellipse">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2" name="Google Shape;1232;p112"/>
            <p:cNvPicPr preferRelativeResize="0"/>
            <p:nvPr/>
          </p:nvPicPr>
          <p:blipFill rotWithShape="1">
            <a:blip r:embed="rId4">
              <a:alphaModFix/>
            </a:blip>
            <a:srcRect b="-12050" l="-12050" r="-12050" t="-12050"/>
            <a:stretch/>
          </p:blipFill>
          <p:spPr>
            <a:xfrm>
              <a:off x="7292700" y="3192438"/>
              <a:ext cx="510850" cy="492274"/>
            </a:xfrm>
            <a:prstGeom prst="rect">
              <a:avLst/>
            </a:prstGeom>
            <a:noFill/>
            <a:ln>
              <a:noFill/>
            </a:ln>
          </p:spPr>
        </p:pic>
      </p:grpSp>
      <p:sp>
        <p:nvSpPr>
          <p:cNvPr id="1233" name="Google Shape;1233;p112"/>
          <p:cNvSpPr/>
          <p:nvPr/>
        </p:nvSpPr>
        <p:spPr>
          <a:xfrm rot="2998">
            <a:off x="6180875" y="4298679"/>
            <a:ext cx="1719901" cy="3282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DNS Server</a:t>
            </a:r>
            <a:endParaRPr b="1" sz="1800">
              <a:solidFill>
                <a:srgbClr val="FFFFFF"/>
              </a:solidFill>
              <a:latin typeface="Roboto"/>
              <a:ea typeface="Roboto"/>
              <a:cs typeface="Roboto"/>
              <a:sym typeface="Roboto"/>
            </a:endParaRPr>
          </a:p>
        </p:txBody>
      </p:sp>
      <p:sp>
        <p:nvSpPr>
          <p:cNvPr id="1234" name="Google Shape;1234;p112"/>
          <p:cNvSpPr/>
          <p:nvPr/>
        </p:nvSpPr>
        <p:spPr>
          <a:xfrm>
            <a:off x="1352550" y="2226493"/>
            <a:ext cx="7517100" cy="5949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5" name="Google Shape;1235;p112"/>
          <p:cNvGrpSpPr/>
          <p:nvPr/>
        </p:nvGrpSpPr>
        <p:grpSpPr>
          <a:xfrm>
            <a:off x="457200" y="2272435"/>
            <a:ext cx="776900" cy="486300"/>
            <a:chOff x="457200" y="1466425"/>
            <a:chExt cx="776900" cy="486300"/>
          </a:xfrm>
        </p:grpSpPr>
        <p:sp>
          <p:nvSpPr>
            <p:cNvPr id="1236" name="Google Shape;1236;p112"/>
            <p:cNvSpPr/>
            <p:nvPr/>
          </p:nvSpPr>
          <p:spPr>
            <a:xfrm>
              <a:off x="457200" y="1466425"/>
              <a:ext cx="695400" cy="486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lt1"/>
                  </a:solidFill>
                  <a:latin typeface="Roboto"/>
                  <a:ea typeface="Roboto"/>
                  <a:cs typeface="Roboto"/>
                  <a:sym typeface="Roboto"/>
                </a:rPr>
                <a:t>03</a:t>
              </a:r>
              <a:endParaRPr sz="3000">
                <a:solidFill>
                  <a:schemeClr val="lt1"/>
                </a:solidFill>
                <a:latin typeface="Roboto"/>
                <a:ea typeface="Roboto"/>
                <a:cs typeface="Roboto"/>
                <a:sym typeface="Roboto"/>
              </a:endParaRPr>
            </a:p>
          </p:txBody>
        </p:sp>
        <p:sp>
          <p:nvSpPr>
            <p:cNvPr id="1237" name="Google Shape;1237;p112"/>
            <p:cNvSpPr/>
            <p:nvPr/>
          </p:nvSpPr>
          <p:spPr>
            <a:xfrm rot="5400000">
              <a:off x="973100" y="1624950"/>
              <a:ext cx="33337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solidFill>
                  <a:schemeClr val="lt1"/>
                </a:solidFill>
                <a:latin typeface="Roboto"/>
                <a:ea typeface="Roboto"/>
                <a:cs typeface="Roboto"/>
                <a:sym typeface="Roboto"/>
              </a:endParaRPr>
            </a:p>
          </p:txBody>
        </p:sp>
      </p:grpSp>
      <p:sp>
        <p:nvSpPr>
          <p:cNvPr id="1238" name="Google Shape;1238;p112"/>
          <p:cNvSpPr txBox="1"/>
          <p:nvPr/>
        </p:nvSpPr>
        <p:spPr>
          <a:xfrm>
            <a:off x="1352625" y="2292375"/>
            <a:ext cx="7656000" cy="446400"/>
          </a:xfrm>
          <a:prstGeom prst="rect">
            <a:avLst/>
          </a:prstGeom>
          <a:noFill/>
          <a:ln>
            <a:noFill/>
          </a:ln>
        </p:spPr>
        <p:txBody>
          <a:bodyPr anchorCtr="0" anchor="ctr" bIns="0" lIns="1554475" spcFirstLastPara="1" rIns="45720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The victim’s computer asks the DNS server if it knows where the network share is.The server responds with a share not found.</a:t>
            </a:r>
            <a:endParaRPr sz="1800">
              <a:solidFill>
                <a:schemeClr val="dk2"/>
              </a:solidFill>
              <a:latin typeface="Roboto"/>
              <a:ea typeface="Roboto"/>
              <a:cs typeface="Roboto"/>
              <a:sym typeface="Roboto"/>
            </a:endParaRPr>
          </a:p>
        </p:txBody>
      </p:sp>
      <p:sp>
        <p:nvSpPr>
          <p:cNvPr id="1239" name="Google Shape;1239;p112"/>
          <p:cNvSpPr/>
          <p:nvPr/>
        </p:nvSpPr>
        <p:spPr>
          <a:xfrm>
            <a:off x="7296325" y="3052504"/>
            <a:ext cx="817200" cy="724500"/>
          </a:xfrm>
          <a:prstGeom prst="wedgeRoundRectCallout">
            <a:avLst>
              <a:gd fmla="val -145598" name="adj1"/>
              <a:gd fmla="val -13112" name="adj2"/>
              <a:gd fmla="val 0" name="adj3"/>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5"/>
                </a:solidFill>
                <a:latin typeface="Roboto"/>
                <a:ea typeface="Roboto"/>
                <a:cs typeface="Roboto"/>
                <a:sym typeface="Roboto"/>
              </a:rPr>
              <a:t>No.</a:t>
            </a:r>
            <a:endParaRPr sz="1800">
              <a:solidFill>
                <a:schemeClr val="accent5"/>
              </a:solidFill>
              <a:latin typeface="Roboto"/>
              <a:ea typeface="Roboto"/>
              <a:cs typeface="Roboto"/>
              <a:sym typeface="Roboto"/>
            </a:endParaRPr>
          </a:p>
        </p:txBody>
      </p:sp>
      <p:sp>
        <p:nvSpPr>
          <p:cNvPr id="1240" name="Google Shape;1240;p112"/>
          <p:cNvSpPr txBox="1"/>
          <p:nvPr/>
        </p:nvSpPr>
        <p:spPr>
          <a:xfrm>
            <a:off x="350567"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Medium"/>
                <a:ea typeface="Roboto Medium"/>
                <a:cs typeface="Roboto Medium"/>
                <a:sym typeface="Roboto Medium"/>
              </a:rPr>
              <a:t>LLMNR Poisoning</a:t>
            </a:r>
            <a:endParaRPr b="1" sz="2600">
              <a:solidFill>
                <a:schemeClr val="dk2"/>
              </a:solidFill>
              <a:latin typeface="Roboto Medium"/>
              <a:ea typeface="Roboto Medium"/>
              <a:cs typeface="Roboto Medium"/>
              <a:sym typeface="Roboto Medium"/>
            </a:endParaRPr>
          </a:p>
          <a:p>
            <a:pPr indent="0" lvl="0" marL="0" rtl="0" algn="l">
              <a:spcBef>
                <a:spcPts val="0"/>
              </a:spcBef>
              <a:spcAft>
                <a:spcPts val="0"/>
              </a:spcAft>
              <a:buNone/>
            </a:pPr>
            <a:r>
              <a:t/>
            </a:r>
            <a:endParaRPr b="1" sz="2600">
              <a:solidFill>
                <a:schemeClr val="dk2"/>
              </a:solidFill>
              <a:latin typeface="Roboto Medium"/>
              <a:ea typeface="Roboto Medium"/>
              <a:cs typeface="Roboto Medium"/>
              <a:sym typeface="Roboto Medium"/>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113"/>
          <p:cNvSpPr/>
          <p:nvPr/>
        </p:nvSpPr>
        <p:spPr>
          <a:xfrm>
            <a:off x="1352550" y="870763"/>
            <a:ext cx="7517100" cy="5949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6" name="Google Shape;1246;p113"/>
          <p:cNvGrpSpPr/>
          <p:nvPr/>
        </p:nvGrpSpPr>
        <p:grpSpPr>
          <a:xfrm>
            <a:off x="457200" y="914500"/>
            <a:ext cx="776900" cy="486300"/>
            <a:chOff x="457200" y="1466425"/>
            <a:chExt cx="776900" cy="486300"/>
          </a:xfrm>
        </p:grpSpPr>
        <p:sp>
          <p:nvSpPr>
            <p:cNvPr id="1247" name="Google Shape;1247;p113"/>
            <p:cNvSpPr/>
            <p:nvPr/>
          </p:nvSpPr>
          <p:spPr>
            <a:xfrm>
              <a:off x="457200" y="1466425"/>
              <a:ext cx="695400" cy="486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oboto"/>
                  <a:ea typeface="Roboto"/>
                  <a:cs typeface="Roboto"/>
                  <a:sym typeface="Roboto"/>
                </a:rPr>
                <a:t>04</a:t>
              </a:r>
              <a:endParaRPr sz="3000">
                <a:solidFill>
                  <a:schemeClr val="dk2"/>
                </a:solidFill>
                <a:latin typeface="Roboto"/>
                <a:ea typeface="Roboto"/>
                <a:cs typeface="Roboto"/>
                <a:sym typeface="Roboto"/>
              </a:endParaRPr>
            </a:p>
          </p:txBody>
        </p:sp>
        <p:sp>
          <p:nvSpPr>
            <p:cNvPr id="1248" name="Google Shape;1248;p113"/>
            <p:cNvSpPr/>
            <p:nvPr/>
          </p:nvSpPr>
          <p:spPr>
            <a:xfrm rot="5400000">
              <a:off x="973100" y="1624950"/>
              <a:ext cx="33337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solidFill>
                  <a:schemeClr val="lt1"/>
                </a:solidFill>
                <a:latin typeface="Roboto"/>
                <a:ea typeface="Roboto"/>
                <a:cs typeface="Roboto"/>
                <a:sym typeface="Roboto"/>
              </a:endParaRPr>
            </a:p>
          </p:txBody>
        </p:sp>
      </p:grpSp>
      <p:sp>
        <p:nvSpPr>
          <p:cNvPr id="1249" name="Google Shape;1249;p113"/>
          <p:cNvSpPr txBox="1"/>
          <p:nvPr/>
        </p:nvSpPr>
        <p:spPr>
          <a:xfrm>
            <a:off x="1352625" y="828022"/>
            <a:ext cx="7656000" cy="682500"/>
          </a:xfrm>
          <a:prstGeom prst="rect">
            <a:avLst/>
          </a:prstGeom>
          <a:noFill/>
          <a:ln>
            <a:noFill/>
          </a:ln>
        </p:spPr>
        <p:txBody>
          <a:bodyPr anchorCtr="0" anchor="ctr" bIns="0" lIns="1554475" spcFirstLastPara="1" rIns="45720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The user’s computer then sends an LLMNR broadcast to the entire network, asking if any machines know where the file share is.</a:t>
            </a:r>
            <a:endParaRPr sz="1800">
              <a:solidFill>
                <a:schemeClr val="dk2"/>
              </a:solidFill>
              <a:latin typeface="Roboto"/>
              <a:ea typeface="Roboto"/>
              <a:cs typeface="Roboto"/>
              <a:sym typeface="Roboto"/>
            </a:endParaRPr>
          </a:p>
        </p:txBody>
      </p:sp>
      <p:sp>
        <p:nvSpPr>
          <p:cNvPr id="1250" name="Google Shape;1250;p113"/>
          <p:cNvSpPr txBox="1"/>
          <p:nvPr/>
        </p:nvSpPr>
        <p:spPr>
          <a:xfrm>
            <a:off x="350567"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Medium"/>
                <a:ea typeface="Roboto Medium"/>
                <a:cs typeface="Roboto Medium"/>
                <a:sym typeface="Roboto Medium"/>
              </a:rPr>
              <a:t>LLMNR Poisoning</a:t>
            </a:r>
            <a:endParaRPr b="1" sz="2600">
              <a:solidFill>
                <a:schemeClr val="dk2"/>
              </a:solidFill>
              <a:latin typeface="Roboto Medium"/>
              <a:ea typeface="Roboto Medium"/>
              <a:cs typeface="Roboto Medium"/>
              <a:sym typeface="Roboto Medium"/>
            </a:endParaRPr>
          </a:p>
          <a:p>
            <a:pPr indent="0" lvl="0" marL="0" rtl="0" algn="l">
              <a:spcBef>
                <a:spcPts val="0"/>
              </a:spcBef>
              <a:spcAft>
                <a:spcPts val="0"/>
              </a:spcAft>
              <a:buNone/>
            </a:pPr>
            <a:r>
              <a:t/>
            </a:r>
            <a:endParaRPr b="1" sz="2600">
              <a:solidFill>
                <a:schemeClr val="dk2"/>
              </a:solidFill>
              <a:latin typeface="Roboto Medium"/>
              <a:ea typeface="Roboto Medium"/>
              <a:cs typeface="Roboto Medium"/>
              <a:sym typeface="Roboto Medium"/>
            </a:endParaRPr>
          </a:p>
        </p:txBody>
      </p:sp>
      <p:sp>
        <p:nvSpPr>
          <p:cNvPr id="1251" name="Google Shape;1251;p113"/>
          <p:cNvSpPr/>
          <p:nvPr/>
        </p:nvSpPr>
        <p:spPr>
          <a:xfrm>
            <a:off x="1788600" y="2074575"/>
            <a:ext cx="2823600" cy="724500"/>
          </a:xfrm>
          <a:prstGeom prst="wedgeRoundRectCallout">
            <a:avLst>
              <a:gd fmla="val -47641" name="adj1"/>
              <a:gd fmla="val 127191" name="adj2"/>
              <a:gd fmla="val 0" name="adj3"/>
            </a:avLst>
          </a:prstGeom>
          <a:solidFill>
            <a:schemeClr val="accent4"/>
          </a:solidFill>
          <a:ln>
            <a:noFill/>
          </a:ln>
        </p:spPr>
        <p:txBody>
          <a:bodyPr anchorCtr="0" anchor="ctr" bIns="91425" lIns="137150" spcFirstLastPara="1" rIns="91425" wrap="square" tIns="4570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Does anyone know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where \\</a:t>
            </a:r>
            <a:r>
              <a:rPr lang="en" sz="1800">
                <a:solidFill>
                  <a:schemeClr val="dk2"/>
                </a:solidFill>
                <a:latin typeface="Roboto"/>
                <a:ea typeface="Roboto"/>
                <a:cs typeface="Roboto"/>
                <a:sym typeface="Roboto"/>
              </a:rPr>
              <a:t>fileshrae01</a:t>
            </a:r>
            <a:r>
              <a:rPr lang="en" sz="1800">
                <a:solidFill>
                  <a:schemeClr val="dk2"/>
                </a:solidFill>
                <a:latin typeface="Roboto"/>
                <a:ea typeface="Roboto"/>
                <a:cs typeface="Roboto"/>
                <a:sym typeface="Roboto"/>
              </a:rPr>
              <a:t> is?</a:t>
            </a:r>
            <a:endParaRPr sz="1800">
              <a:solidFill>
                <a:schemeClr val="dk2"/>
              </a:solidFill>
              <a:latin typeface="Roboto"/>
              <a:ea typeface="Roboto"/>
              <a:cs typeface="Roboto"/>
              <a:sym typeface="Roboto"/>
            </a:endParaRPr>
          </a:p>
        </p:txBody>
      </p:sp>
      <p:pic>
        <p:nvPicPr>
          <p:cNvPr id="1252" name="Google Shape;1252;p113"/>
          <p:cNvPicPr preferRelativeResize="0"/>
          <p:nvPr/>
        </p:nvPicPr>
        <p:blipFill rotWithShape="1">
          <a:blip r:embed="rId3">
            <a:alphaModFix/>
          </a:blip>
          <a:srcRect b="8763" l="77499" r="-729" t="1533"/>
          <a:stretch/>
        </p:blipFill>
        <p:spPr>
          <a:xfrm>
            <a:off x="7391651" y="1550825"/>
            <a:ext cx="800540" cy="1656906"/>
          </a:xfrm>
          <a:prstGeom prst="rect">
            <a:avLst/>
          </a:prstGeom>
          <a:noFill/>
          <a:ln>
            <a:noFill/>
          </a:ln>
        </p:spPr>
      </p:pic>
      <p:grpSp>
        <p:nvGrpSpPr>
          <p:cNvPr id="1253" name="Google Shape;1253;p113"/>
          <p:cNvGrpSpPr/>
          <p:nvPr/>
        </p:nvGrpSpPr>
        <p:grpSpPr>
          <a:xfrm>
            <a:off x="7954658" y="1971970"/>
            <a:ext cx="462271" cy="462272"/>
            <a:chOff x="7189842" y="3080279"/>
            <a:chExt cx="716700" cy="716700"/>
          </a:xfrm>
        </p:grpSpPr>
        <p:sp>
          <p:nvSpPr>
            <p:cNvPr id="1254" name="Google Shape;1254;p113"/>
            <p:cNvSpPr/>
            <p:nvPr/>
          </p:nvSpPr>
          <p:spPr>
            <a:xfrm>
              <a:off x="7189842" y="3080279"/>
              <a:ext cx="716700" cy="716700"/>
            </a:xfrm>
            <a:prstGeom prst="ellipse">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55" name="Google Shape;1255;p113"/>
            <p:cNvPicPr preferRelativeResize="0"/>
            <p:nvPr/>
          </p:nvPicPr>
          <p:blipFill rotWithShape="1">
            <a:blip r:embed="rId4">
              <a:alphaModFix/>
            </a:blip>
            <a:srcRect b="-12050" l="-12050" r="-12050" t="-12050"/>
            <a:stretch/>
          </p:blipFill>
          <p:spPr>
            <a:xfrm>
              <a:off x="7292700" y="3192438"/>
              <a:ext cx="510850" cy="492274"/>
            </a:xfrm>
            <a:prstGeom prst="rect">
              <a:avLst/>
            </a:prstGeom>
            <a:noFill/>
            <a:ln>
              <a:noFill/>
            </a:ln>
          </p:spPr>
        </p:pic>
      </p:grpSp>
      <p:pic>
        <p:nvPicPr>
          <p:cNvPr id="1256" name="Google Shape;1256;p113"/>
          <p:cNvPicPr preferRelativeResize="0"/>
          <p:nvPr/>
        </p:nvPicPr>
        <p:blipFill rotWithShape="1">
          <a:blip r:embed="rId3">
            <a:alphaModFix/>
          </a:blip>
          <a:srcRect b="8763" l="77499" r="-729" t="1533"/>
          <a:stretch/>
        </p:blipFill>
        <p:spPr>
          <a:xfrm>
            <a:off x="7391651" y="3251844"/>
            <a:ext cx="800540" cy="1656906"/>
          </a:xfrm>
          <a:prstGeom prst="rect">
            <a:avLst/>
          </a:prstGeom>
          <a:noFill/>
          <a:ln>
            <a:noFill/>
          </a:ln>
        </p:spPr>
      </p:pic>
      <p:grpSp>
        <p:nvGrpSpPr>
          <p:cNvPr id="1257" name="Google Shape;1257;p113"/>
          <p:cNvGrpSpPr/>
          <p:nvPr/>
        </p:nvGrpSpPr>
        <p:grpSpPr>
          <a:xfrm>
            <a:off x="7954658" y="3672989"/>
            <a:ext cx="462271" cy="462272"/>
            <a:chOff x="7189842" y="3080279"/>
            <a:chExt cx="716700" cy="716700"/>
          </a:xfrm>
        </p:grpSpPr>
        <p:sp>
          <p:nvSpPr>
            <p:cNvPr id="1258" name="Google Shape;1258;p113"/>
            <p:cNvSpPr/>
            <p:nvPr/>
          </p:nvSpPr>
          <p:spPr>
            <a:xfrm>
              <a:off x="7189842" y="3080279"/>
              <a:ext cx="716700" cy="716700"/>
            </a:xfrm>
            <a:prstGeom prst="ellipse">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59" name="Google Shape;1259;p113"/>
            <p:cNvPicPr preferRelativeResize="0"/>
            <p:nvPr/>
          </p:nvPicPr>
          <p:blipFill rotWithShape="1">
            <a:blip r:embed="rId4">
              <a:alphaModFix/>
            </a:blip>
            <a:srcRect b="-12050" l="-12050" r="-12050" t="-12050"/>
            <a:stretch/>
          </p:blipFill>
          <p:spPr>
            <a:xfrm>
              <a:off x="7292700" y="3192438"/>
              <a:ext cx="510850" cy="492274"/>
            </a:xfrm>
            <a:prstGeom prst="rect">
              <a:avLst/>
            </a:prstGeom>
            <a:noFill/>
            <a:ln>
              <a:noFill/>
            </a:ln>
          </p:spPr>
        </p:pic>
      </p:grpSp>
      <p:pic>
        <p:nvPicPr>
          <p:cNvPr id="1260" name="Google Shape;1260;p113"/>
          <p:cNvPicPr preferRelativeResize="0"/>
          <p:nvPr/>
        </p:nvPicPr>
        <p:blipFill rotWithShape="1">
          <a:blip r:embed="rId3">
            <a:alphaModFix/>
          </a:blip>
          <a:srcRect b="8765" l="0" r="51763" t="23758"/>
          <a:stretch/>
        </p:blipFill>
        <p:spPr>
          <a:xfrm>
            <a:off x="6294677" y="4010952"/>
            <a:ext cx="1137760" cy="853069"/>
          </a:xfrm>
          <a:prstGeom prst="rect">
            <a:avLst/>
          </a:prstGeom>
          <a:noFill/>
          <a:ln>
            <a:noFill/>
          </a:ln>
        </p:spPr>
      </p:pic>
      <p:pic>
        <p:nvPicPr>
          <p:cNvPr id="1261" name="Google Shape;1261;p113"/>
          <p:cNvPicPr preferRelativeResize="0"/>
          <p:nvPr/>
        </p:nvPicPr>
        <p:blipFill rotWithShape="1">
          <a:blip r:embed="rId3">
            <a:alphaModFix/>
          </a:blip>
          <a:srcRect b="8765" l="0" r="51763" t="23758"/>
          <a:stretch/>
        </p:blipFill>
        <p:spPr>
          <a:xfrm>
            <a:off x="5124250" y="4010952"/>
            <a:ext cx="1137760" cy="853069"/>
          </a:xfrm>
          <a:prstGeom prst="rect">
            <a:avLst/>
          </a:prstGeom>
          <a:noFill/>
          <a:ln>
            <a:noFill/>
          </a:ln>
        </p:spPr>
      </p:pic>
      <p:sp>
        <p:nvSpPr>
          <p:cNvPr id="1262" name="Google Shape;1262;p113"/>
          <p:cNvSpPr/>
          <p:nvPr/>
        </p:nvSpPr>
        <p:spPr>
          <a:xfrm rot="1435">
            <a:off x="7531325" y="2647625"/>
            <a:ext cx="1437000" cy="283500"/>
          </a:xfrm>
          <a:prstGeom prst="roundRect">
            <a:avLst>
              <a:gd fmla="val 16667" name="adj"/>
            </a:avLst>
          </a:prstGeom>
          <a:solidFill>
            <a:schemeClr val="dk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DNS Server</a:t>
            </a:r>
            <a:endParaRPr b="1" sz="1800">
              <a:solidFill>
                <a:srgbClr val="FFFFFF"/>
              </a:solidFill>
              <a:latin typeface="Roboto"/>
              <a:ea typeface="Roboto"/>
              <a:cs typeface="Roboto"/>
              <a:sym typeface="Roboto"/>
            </a:endParaRPr>
          </a:p>
        </p:txBody>
      </p:sp>
      <p:pic>
        <p:nvPicPr>
          <p:cNvPr id="1263" name="Google Shape;1263;p113"/>
          <p:cNvPicPr preferRelativeResize="0"/>
          <p:nvPr/>
        </p:nvPicPr>
        <p:blipFill rotWithShape="1">
          <a:blip r:embed="rId3">
            <a:alphaModFix/>
          </a:blip>
          <a:srcRect b="8765" l="0" r="51763" t="23758"/>
          <a:stretch/>
        </p:blipFill>
        <p:spPr>
          <a:xfrm>
            <a:off x="1547151" y="3311674"/>
            <a:ext cx="1388875" cy="1041350"/>
          </a:xfrm>
          <a:prstGeom prst="rect">
            <a:avLst/>
          </a:prstGeom>
          <a:noFill/>
          <a:ln>
            <a:noFill/>
          </a:ln>
        </p:spPr>
      </p:pic>
      <p:sp>
        <p:nvSpPr>
          <p:cNvPr id="1264" name="Google Shape;1264;p113"/>
          <p:cNvSpPr/>
          <p:nvPr/>
        </p:nvSpPr>
        <p:spPr>
          <a:xfrm rot="1393">
            <a:off x="384375" y="3748025"/>
            <a:ext cx="1480500" cy="329100"/>
          </a:xfrm>
          <a:prstGeom prst="roundRect">
            <a:avLst>
              <a:gd fmla="val 16667" name="adj"/>
            </a:avLst>
          </a:prstGeom>
          <a:solidFill>
            <a:schemeClr val="dk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Workstation</a:t>
            </a:r>
            <a:endParaRPr b="1" sz="1800">
              <a:solidFill>
                <a:srgbClr val="FFFFFF"/>
              </a:solidFill>
              <a:latin typeface="Roboto"/>
              <a:ea typeface="Roboto"/>
              <a:cs typeface="Roboto"/>
              <a:sym typeface="Roboto"/>
            </a:endParaRPr>
          </a:p>
        </p:txBody>
      </p:sp>
      <p:pic>
        <p:nvPicPr>
          <p:cNvPr id="1265" name="Google Shape;1265;p113"/>
          <p:cNvPicPr preferRelativeResize="0"/>
          <p:nvPr/>
        </p:nvPicPr>
        <p:blipFill rotWithShape="1">
          <a:blip r:embed="rId3">
            <a:alphaModFix/>
          </a:blip>
          <a:srcRect b="8765" l="0" r="51763" t="23758"/>
          <a:stretch/>
        </p:blipFill>
        <p:spPr>
          <a:xfrm>
            <a:off x="6294677" y="2241535"/>
            <a:ext cx="1137760" cy="853069"/>
          </a:xfrm>
          <a:prstGeom prst="rect">
            <a:avLst/>
          </a:prstGeom>
          <a:noFill/>
          <a:ln>
            <a:noFill/>
          </a:ln>
        </p:spPr>
      </p:pic>
      <p:pic>
        <p:nvPicPr>
          <p:cNvPr id="1266" name="Google Shape;1266;p113"/>
          <p:cNvPicPr preferRelativeResize="0"/>
          <p:nvPr/>
        </p:nvPicPr>
        <p:blipFill rotWithShape="1">
          <a:blip r:embed="rId3">
            <a:alphaModFix/>
          </a:blip>
          <a:srcRect b="8765" l="0" r="51763" t="23758"/>
          <a:stretch/>
        </p:blipFill>
        <p:spPr>
          <a:xfrm>
            <a:off x="5124250" y="2241535"/>
            <a:ext cx="1137760" cy="85306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114"/>
          <p:cNvSpPr/>
          <p:nvPr/>
        </p:nvSpPr>
        <p:spPr>
          <a:xfrm>
            <a:off x="1352550" y="870763"/>
            <a:ext cx="7517100" cy="5949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2" name="Google Shape;1272;p114"/>
          <p:cNvGrpSpPr/>
          <p:nvPr/>
        </p:nvGrpSpPr>
        <p:grpSpPr>
          <a:xfrm>
            <a:off x="457200" y="914500"/>
            <a:ext cx="776900" cy="486300"/>
            <a:chOff x="457200" y="1466425"/>
            <a:chExt cx="776900" cy="486300"/>
          </a:xfrm>
        </p:grpSpPr>
        <p:sp>
          <p:nvSpPr>
            <p:cNvPr id="1273" name="Google Shape;1273;p114"/>
            <p:cNvSpPr/>
            <p:nvPr/>
          </p:nvSpPr>
          <p:spPr>
            <a:xfrm>
              <a:off x="457200" y="1466425"/>
              <a:ext cx="695400" cy="486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oboto"/>
                  <a:ea typeface="Roboto"/>
                  <a:cs typeface="Roboto"/>
                  <a:sym typeface="Roboto"/>
                </a:rPr>
                <a:t>05</a:t>
              </a:r>
              <a:endParaRPr sz="3000">
                <a:solidFill>
                  <a:schemeClr val="dk2"/>
                </a:solidFill>
                <a:latin typeface="Roboto"/>
                <a:ea typeface="Roboto"/>
                <a:cs typeface="Roboto"/>
                <a:sym typeface="Roboto"/>
              </a:endParaRPr>
            </a:p>
          </p:txBody>
        </p:sp>
        <p:sp>
          <p:nvSpPr>
            <p:cNvPr id="1274" name="Google Shape;1274;p114"/>
            <p:cNvSpPr/>
            <p:nvPr/>
          </p:nvSpPr>
          <p:spPr>
            <a:xfrm rot="5400000">
              <a:off x="973100" y="1624950"/>
              <a:ext cx="33337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solidFill>
                  <a:schemeClr val="lt1"/>
                </a:solidFill>
                <a:latin typeface="Roboto"/>
                <a:ea typeface="Roboto"/>
                <a:cs typeface="Roboto"/>
                <a:sym typeface="Roboto"/>
              </a:endParaRPr>
            </a:p>
          </p:txBody>
        </p:sp>
      </p:grpSp>
      <p:sp>
        <p:nvSpPr>
          <p:cNvPr id="1275" name="Google Shape;1275;p114"/>
          <p:cNvSpPr txBox="1"/>
          <p:nvPr/>
        </p:nvSpPr>
        <p:spPr>
          <a:xfrm>
            <a:off x="1352625" y="828022"/>
            <a:ext cx="7656000" cy="682500"/>
          </a:xfrm>
          <a:prstGeom prst="rect">
            <a:avLst/>
          </a:prstGeom>
          <a:noFill/>
          <a:ln>
            <a:noFill/>
          </a:ln>
        </p:spPr>
        <p:txBody>
          <a:bodyPr anchorCtr="0" anchor="ctr" bIns="0" lIns="1554475" spcFirstLastPara="1" rIns="45720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The</a:t>
            </a:r>
            <a:r>
              <a:rPr lang="en" sz="1800">
                <a:solidFill>
                  <a:schemeClr val="dk2"/>
                </a:solidFill>
                <a:latin typeface="Roboto"/>
                <a:ea typeface="Roboto"/>
                <a:cs typeface="Roboto"/>
                <a:sym typeface="Roboto"/>
              </a:rPr>
              <a:t> attacker receives this request and responds by asking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the computer to encode a challenge with the user’s password.</a:t>
            </a:r>
            <a:endParaRPr sz="1800">
              <a:solidFill>
                <a:schemeClr val="dk2"/>
              </a:solidFill>
              <a:latin typeface="Roboto"/>
              <a:ea typeface="Roboto"/>
              <a:cs typeface="Roboto"/>
              <a:sym typeface="Roboto"/>
            </a:endParaRPr>
          </a:p>
        </p:txBody>
      </p:sp>
      <p:sp>
        <p:nvSpPr>
          <p:cNvPr id="1276" name="Google Shape;1276;p114"/>
          <p:cNvSpPr txBox="1"/>
          <p:nvPr/>
        </p:nvSpPr>
        <p:spPr>
          <a:xfrm>
            <a:off x="350567"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Medium"/>
                <a:ea typeface="Roboto Medium"/>
                <a:cs typeface="Roboto Medium"/>
                <a:sym typeface="Roboto Medium"/>
              </a:rPr>
              <a:t>LLMNR Poisoning</a:t>
            </a:r>
            <a:endParaRPr b="1" sz="2600">
              <a:solidFill>
                <a:schemeClr val="dk2"/>
              </a:solidFill>
              <a:latin typeface="Roboto Medium"/>
              <a:ea typeface="Roboto Medium"/>
              <a:cs typeface="Roboto Medium"/>
              <a:sym typeface="Roboto Medium"/>
            </a:endParaRPr>
          </a:p>
          <a:p>
            <a:pPr indent="0" lvl="0" marL="0" rtl="0" algn="l">
              <a:spcBef>
                <a:spcPts val="0"/>
              </a:spcBef>
              <a:spcAft>
                <a:spcPts val="0"/>
              </a:spcAft>
              <a:buNone/>
            </a:pPr>
            <a:r>
              <a:t/>
            </a:r>
            <a:endParaRPr b="1" sz="2600">
              <a:solidFill>
                <a:schemeClr val="dk2"/>
              </a:solidFill>
              <a:latin typeface="Roboto Medium"/>
              <a:ea typeface="Roboto Medium"/>
              <a:cs typeface="Roboto Medium"/>
              <a:sym typeface="Roboto Medium"/>
            </a:endParaRPr>
          </a:p>
        </p:txBody>
      </p:sp>
      <p:sp>
        <p:nvSpPr>
          <p:cNvPr id="1277" name="Google Shape;1277;p114"/>
          <p:cNvSpPr/>
          <p:nvPr/>
        </p:nvSpPr>
        <p:spPr>
          <a:xfrm>
            <a:off x="1788600" y="2074575"/>
            <a:ext cx="2823600" cy="724500"/>
          </a:xfrm>
          <a:prstGeom prst="wedgeRoundRectCallout">
            <a:avLst>
              <a:gd fmla="val -47641" name="adj1"/>
              <a:gd fmla="val 127191" name="adj2"/>
              <a:gd fmla="val 0" name="adj3"/>
            </a:avLst>
          </a:prstGeom>
          <a:solidFill>
            <a:schemeClr val="accent4"/>
          </a:solidFill>
          <a:ln>
            <a:noFill/>
          </a:ln>
        </p:spPr>
        <p:txBody>
          <a:bodyPr anchorCtr="0" anchor="ctr" bIns="91425" lIns="137150" spcFirstLastPara="1" rIns="91425" wrap="square" tIns="4570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Does anyone know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where \\</a:t>
            </a:r>
            <a:r>
              <a:rPr lang="en" sz="1800">
                <a:solidFill>
                  <a:schemeClr val="dk2"/>
                </a:solidFill>
                <a:latin typeface="Roboto"/>
                <a:ea typeface="Roboto"/>
                <a:cs typeface="Roboto"/>
                <a:sym typeface="Roboto"/>
              </a:rPr>
              <a:t>fileshrae01</a:t>
            </a:r>
            <a:r>
              <a:rPr lang="en" sz="1800">
                <a:solidFill>
                  <a:schemeClr val="dk2"/>
                </a:solidFill>
                <a:latin typeface="Roboto"/>
                <a:ea typeface="Roboto"/>
                <a:cs typeface="Roboto"/>
                <a:sym typeface="Roboto"/>
              </a:rPr>
              <a:t> is?</a:t>
            </a:r>
            <a:endParaRPr sz="1800">
              <a:solidFill>
                <a:schemeClr val="dk2"/>
              </a:solidFill>
              <a:latin typeface="Roboto"/>
              <a:ea typeface="Roboto"/>
              <a:cs typeface="Roboto"/>
              <a:sym typeface="Roboto"/>
            </a:endParaRPr>
          </a:p>
        </p:txBody>
      </p:sp>
      <p:pic>
        <p:nvPicPr>
          <p:cNvPr id="1278" name="Google Shape;1278;p114"/>
          <p:cNvPicPr preferRelativeResize="0"/>
          <p:nvPr/>
        </p:nvPicPr>
        <p:blipFill rotWithShape="1">
          <a:blip r:embed="rId3">
            <a:alphaModFix/>
          </a:blip>
          <a:srcRect b="8763" l="77499" r="-729" t="1533"/>
          <a:stretch/>
        </p:blipFill>
        <p:spPr>
          <a:xfrm>
            <a:off x="7391651" y="1550825"/>
            <a:ext cx="800540" cy="1656906"/>
          </a:xfrm>
          <a:prstGeom prst="rect">
            <a:avLst/>
          </a:prstGeom>
          <a:noFill/>
          <a:ln>
            <a:noFill/>
          </a:ln>
        </p:spPr>
      </p:pic>
      <p:grpSp>
        <p:nvGrpSpPr>
          <p:cNvPr id="1279" name="Google Shape;1279;p114"/>
          <p:cNvGrpSpPr/>
          <p:nvPr/>
        </p:nvGrpSpPr>
        <p:grpSpPr>
          <a:xfrm>
            <a:off x="7954658" y="1971970"/>
            <a:ext cx="462271" cy="462272"/>
            <a:chOff x="7189842" y="3080279"/>
            <a:chExt cx="716700" cy="716700"/>
          </a:xfrm>
        </p:grpSpPr>
        <p:sp>
          <p:nvSpPr>
            <p:cNvPr id="1280" name="Google Shape;1280;p114"/>
            <p:cNvSpPr/>
            <p:nvPr/>
          </p:nvSpPr>
          <p:spPr>
            <a:xfrm>
              <a:off x="7189842" y="3080279"/>
              <a:ext cx="716700" cy="716700"/>
            </a:xfrm>
            <a:prstGeom prst="ellipse">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81" name="Google Shape;1281;p114"/>
            <p:cNvPicPr preferRelativeResize="0"/>
            <p:nvPr/>
          </p:nvPicPr>
          <p:blipFill rotWithShape="1">
            <a:blip r:embed="rId4">
              <a:alphaModFix/>
            </a:blip>
            <a:srcRect b="-12050" l="-12050" r="-12050" t="-12050"/>
            <a:stretch/>
          </p:blipFill>
          <p:spPr>
            <a:xfrm>
              <a:off x="7292700" y="3192438"/>
              <a:ext cx="510850" cy="492274"/>
            </a:xfrm>
            <a:prstGeom prst="rect">
              <a:avLst/>
            </a:prstGeom>
            <a:noFill/>
            <a:ln>
              <a:noFill/>
            </a:ln>
          </p:spPr>
        </p:pic>
      </p:grpSp>
      <p:pic>
        <p:nvPicPr>
          <p:cNvPr id="1282" name="Google Shape;1282;p114"/>
          <p:cNvPicPr preferRelativeResize="0"/>
          <p:nvPr/>
        </p:nvPicPr>
        <p:blipFill rotWithShape="1">
          <a:blip r:embed="rId3">
            <a:alphaModFix/>
          </a:blip>
          <a:srcRect b="8763" l="77499" r="-729" t="1533"/>
          <a:stretch/>
        </p:blipFill>
        <p:spPr>
          <a:xfrm>
            <a:off x="7391651" y="3251844"/>
            <a:ext cx="800540" cy="1656906"/>
          </a:xfrm>
          <a:prstGeom prst="rect">
            <a:avLst/>
          </a:prstGeom>
          <a:noFill/>
          <a:ln>
            <a:noFill/>
          </a:ln>
        </p:spPr>
      </p:pic>
      <p:grpSp>
        <p:nvGrpSpPr>
          <p:cNvPr id="1283" name="Google Shape;1283;p114"/>
          <p:cNvGrpSpPr/>
          <p:nvPr/>
        </p:nvGrpSpPr>
        <p:grpSpPr>
          <a:xfrm>
            <a:off x="7954658" y="3672989"/>
            <a:ext cx="462271" cy="462272"/>
            <a:chOff x="7189842" y="3080279"/>
            <a:chExt cx="716700" cy="716700"/>
          </a:xfrm>
        </p:grpSpPr>
        <p:sp>
          <p:nvSpPr>
            <p:cNvPr id="1284" name="Google Shape;1284;p114"/>
            <p:cNvSpPr/>
            <p:nvPr/>
          </p:nvSpPr>
          <p:spPr>
            <a:xfrm>
              <a:off x="7189842" y="3080279"/>
              <a:ext cx="716700" cy="716700"/>
            </a:xfrm>
            <a:prstGeom prst="ellipse">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85" name="Google Shape;1285;p114"/>
            <p:cNvPicPr preferRelativeResize="0"/>
            <p:nvPr/>
          </p:nvPicPr>
          <p:blipFill rotWithShape="1">
            <a:blip r:embed="rId4">
              <a:alphaModFix/>
            </a:blip>
            <a:srcRect b="-12050" l="-12050" r="-12050" t="-12050"/>
            <a:stretch/>
          </p:blipFill>
          <p:spPr>
            <a:xfrm>
              <a:off x="7292700" y="3192438"/>
              <a:ext cx="510850" cy="492274"/>
            </a:xfrm>
            <a:prstGeom prst="rect">
              <a:avLst/>
            </a:prstGeom>
            <a:noFill/>
            <a:ln>
              <a:noFill/>
            </a:ln>
          </p:spPr>
        </p:pic>
      </p:grpSp>
      <p:pic>
        <p:nvPicPr>
          <p:cNvPr id="1286" name="Google Shape;1286;p114"/>
          <p:cNvPicPr preferRelativeResize="0"/>
          <p:nvPr/>
        </p:nvPicPr>
        <p:blipFill rotWithShape="1">
          <a:blip r:embed="rId3">
            <a:alphaModFix/>
          </a:blip>
          <a:srcRect b="8765" l="0" r="51763" t="23758"/>
          <a:stretch/>
        </p:blipFill>
        <p:spPr>
          <a:xfrm>
            <a:off x="6294677" y="4010952"/>
            <a:ext cx="1137760" cy="853069"/>
          </a:xfrm>
          <a:prstGeom prst="rect">
            <a:avLst/>
          </a:prstGeom>
          <a:noFill/>
          <a:ln>
            <a:noFill/>
          </a:ln>
        </p:spPr>
      </p:pic>
      <p:pic>
        <p:nvPicPr>
          <p:cNvPr id="1287" name="Google Shape;1287;p114"/>
          <p:cNvPicPr preferRelativeResize="0"/>
          <p:nvPr/>
        </p:nvPicPr>
        <p:blipFill rotWithShape="1">
          <a:blip r:embed="rId3">
            <a:alphaModFix/>
          </a:blip>
          <a:srcRect b="8765" l="0" r="51763" t="23758"/>
          <a:stretch/>
        </p:blipFill>
        <p:spPr>
          <a:xfrm>
            <a:off x="5124250" y="4010952"/>
            <a:ext cx="1137760" cy="853069"/>
          </a:xfrm>
          <a:prstGeom prst="rect">
            <a:avLst/>
          </a:prstGeom>
          <a:noFill/>
          <a:ln>
            <a:noFill/>
          </a:ln>
        </p:spPr>
      </p:pic>
      <p:sp>
        <p:nvSpPr>
          <p:cNvPr id="1288" name="Google Shape;1288;p114"/>
          <p:cNvSpPr/>
          <p:nvPr/>
        </p:nvSpPr>
        <p:spPr>
          <a:xfrm rot="1435">
            <a:off x="7531325" y="2647625"/>
            <a:ext cx="1437000" cy="283500"/>
          </a:xfrm>
          <a:prstGeom prst="roundRect">
            <a:avLst>
              <a:gd fmla="val 16667" name="adj"/>
            </a:avLst>
          </a:prstGeom>
          <a:solidFill>
            <a:schemeClr val="dk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DNS Server</a:t>
            </a:r>
            <a:endParaRPr b="1" sz="1800">
              <a:solidFill>
                <a:srgbClr val="FFFFFF"/>
              </a:solidFill>
              <a:latin typeface="Roboto"/>
              <a:ea typeface="Roboto"/>
              <a:cs typeface="Roboto"/>
              <a:sym typeface="Roboto"/>
            </a:endParaRPr>
          </a:p>
        </p:txBody>
      </p:sp>
      <p:pic>
        <p:nvPicPr>
          <p:cNvPr id="1289" name="Google Shape;1289;p114"/>
          <p:cNvPicPr preferRelativeResize="0"/>
          <p:nvPr/>
        </p:nvPicPr>
        <p:blipFill rotWithShape="1">
          <a:blip r:embed="rId3">
            <a:alphaModFix/>
          </a:blip>
          <a:srcRect b="8765" l="0" r="51763" t="23758"/>
          <a:stretch/>
        </p:blipFill>
        <p:spPr>
          <a:xfrm>
            <a:off x="1547151" y="3311674"/>
            <a:ext cx="1388875" cy="1041350"/>
          </a:xfrm>
          <a:prstGeom prst="rect">
            <a:avLst/>
          </a:prstGeom>
          <a:noFill/>
          <a:ln>
            <a:noFill/>
          </a:ln>
        </p:spPr>
      </p:pic>
      <p:sp>
        <p:nvSpPr>
          <p:cNvPr id="1290" name="Google Shape;1290;p114"/>
          <p:cNvSpPr/>
          <p:nvPr/>
        </p:nvSpPr>
        <p:spPr>
          <a:xfrm rot="1393">
            <a:off x="384375" y="3748025"/>
            <a:ext cx="1480500" cy="329100"/>
          </a:xfrm>
          <a:prstGeom prst="roundRect">
            <a:avLst>
              <a:gd fmla="val 16667" name="adj"/>
            </a:avLst>
          </a:prstGeom>
          <a:solidFill>
            <a:schemeClr val="dk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Workstation</a:t>
            </a:r>
            <a:endParaRPr b="1" sz="1800">
              <a:solidFill>
                <a:srgbClr val="FFFFFF"/>
              </a:solidFill>
              <a:latin typeface="Roboto"/>
              <a:ea typeface="Roboto"/>
              <a:cs typeface="Roboto"/>
              <a:sym typeface="Roboto"/>
            </a:endParaRPr>
          </a:p>
        </p:txBody>
      </p:sp>
      <p:pic>
        <p:nvPicPr>
          <p:cNvPr id="1291" name="Google Shape;1291;p114"/>
          <p:cNvPicPr preferRelativeResize="0"/>
          <p:nvPr/>
        </p:nvPicPr>
        <p:blipFill rotWithShape="1">
          <a:blip r:embed="rId3">
            <a:alphaModFix/>
          </a:blip>
          <a:srcRect b="8765" l="0" r="51763" t="23758"/>
          <a:stretch/>
        </p:blipFill>
        <p:spPr>
          <a:xfrm>
            <a:off x="6294677" y="2241535"/>
            <a:ext cx="1137760" cy="853069"/>
          </a:xfrm>
          <a:prstGeom prst="rect">
            <a:avLst/>
          </a:prstGeom>
          <a:noFill/>
          <a:ln>
            <a:noFill/>
          </a:ln>
        </p:spPr>
      </p:pic>
      <p:pic>
        <p:nvPicPr>
          <p:cNvPr id="1292" name="Google Shape;1292;p114"/>
          <p:cNvPicPr preferRelativeResize="0"/>
          <p:nvPr/>
        </p:nvPicPr>
        <p:blipFill rotWithShape="1">
          <a:blip r:embed="rId3">
            <a:alphaModFix/>
          </a:blip>
          <a:srcRect b="8765" l="0" r="51763" t="23758"/>
          <a:stretch/>
        </p:blipFill>
        <p:spPr>
          <a:xfrm>
            <a:off x="5124250" y="2241535"/>
            <a:ext cx="1137760" cy="853069"/>
          </a:xfrm>
          <a:prstGeom prst="rect">
            <a:avLst/>
          </a:prstGeom>
          <a:noFill/>
          <a:ln>
            <a:noFill/>
          </a:ln>
        </p:spPr>
      </p:pic>
      <p:pic>
        <p:nvPicPr>
          <p:cNvPr id="1293" name="Google Shape;1293;p114"/>
          <p:cNvPicPr preferRelativeResize="0"/>
          <p:nvPr/>
        </p:nvPicPr>
        <p:blipFill rotWithShape="1">
          <a:blip r:embed="rId3">
            <a:alphaModFix/>
          </a:blip>
          <a:srcRect b="8765" l="0" r="51763" t="23758"/>
          <a:stretch/>
        </p:blipFill>
        <p:spPr>
          <a:xfrm>
            <a:off x="6294677" y="4010952"/>
            <a:ext cx="1137760" cy="853069"/>
          </a:xfrm>
          <a:prstGeom prst="rect">
            <a:avLst/>
          </a:prstGeom>
          <a:noFill/>
          <a:ln>
            <a:noFill/>
          </a:ln>
        </p:spPr>
      </p:pic>
      <p:grpSp>
        <p:nvGrpSpPr>
          <p:cNvPr id="1294" name="Google Shape;1294;p114"/>
          <p:cNvGrpSpPr/>
          <p:nvPr/>
        </p:nvGrpSpPr>
        <p:grpSpPr>
          <a:xfrm>
            <a:off x="6357558" y="4088316"/>
            <a:ext cx="964341" cy="552523"/>
            <a:chOff x="5883213" y="3997663"/>
            <a:chExt cx="1180200" cy="676200"/>
          </a:xfrm>
        </p:grpSpPr>
        <p:sp>
          <p:nvSpPr>
            <p:cNvPr id="1295" name="Google Shape;1295;p114"/>
            <p:cNvSpPr/>
            <p:nvPr/>
          </p:nvSpPr>
          <p:spPr>
            <a:xfrm>
              <a:off x="5883213" y="3997663"/>
              <a:ext cx="1180200" cy="676200"/>
            </a:xfrm>
            <a:prstGeom prst="rect">
              <a:avLst/>
            </a:prstGeom>
            <a:solidFill>
              <a:srgbClr val="E5147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96" name="Google Shape;1296;p114"/>
            <p:cNvPicPr preferRelativeResize="0"/>
            <p:nvPr/>
          </p:nvPicPr>
          <p:blipFill>
            <a:blip r:embed="rId5">
              <a:alphaModFix/>
            </a:blip>
            <a:stretch>
              <a:fillRect/>
            </a:stretch>
          </p:blipFill>
          <p:spPr>
            <a:xfrm>
              <a:off x="6191137" y="4132475"/>
              <a:ext cx="564350" cy="406575"/>
            </a:xfrm>
            <a:prstGeom prst="rect">
              <a:avLst/>
            </a:prstGeom>
            <a:noFill/>
            <a:ln>
              <a:noFill/>
            </a:ln>
          </p:spPr>
        </p:pic>
      </p:grpSp>
      <p:sp>
        <p:nvSpPr>
          <p:cNvPr id="1297" name="Google Shape;1297;p114"/>
          <p:cNvSpPr/>
          <p:nvPr/>
        </p:nvSpPr>
        <p:spPr>
          <a:xfrm>
            <a:off x="2942850" y="3166509"/>
            <a:ext cx="4627200" cy="682500"/>
          </a:xfrm>
          <a:prstGeom prst="wedgeRoundRectCallout">
            <a:avLst>
              <a:gd fmla="val 36455" name="adj1"/>
              <a:gd fmla="val 86413" name="adj2"/>
              <a:gd fmla="val 0" name="adj3"/>
            </a:avLst>
          </a:prstGeom>
          <a:solidFill>
            <a:schemeClr val="accent1"/>
          </a:solidFill>
          <a:ln>
            <a:noFill/>
          </a:ln>
        </p:spPr>
        <p:txBody>
          <a:bodyPr anchorCtr="0" anchor="ctr" bIns="91425" lIns="91425" spcFirstLastPara="1" rIns="91425" wrap="square" tIns="45700">
            <a:noAutofit/>
          </a:bodyPr>
          <a:lstStyle/>
          <a:p>
            <a:pPr indent="0" lvl="0" marL="0" rtl="0" algn="l">
              <a:spcBef>
                <a:spcPts val="0"/>
              </a:spcBef>
              <a:spcAft>
                <a:spcPts val="0"/>
              </a:spcAft>
              <a:buNone/>
            </a:pPr>
            <a:r>
              <a:rPr lang="en" sz="1900">
                <a:solidFill>
                  <a:schemeClr val="dk2"/>
                </a:solidFill>
                <a:latin typeface="Roboto"/>
                <a:ea typeface="Roboto"/>
                <a:cs typeface="Roboto"/>
                <a:sym typeface="Roboto"/>
              </a:rPr>
              <a:t>Yes, I do, but before I tell you, encode </a:t>
            </a:r>
            <a:br>
              <a:rPr lang="en" sz="1900">
                <a:solidFill>
                  <a:schemeClr val="dk2"/>
                </a:solidFill>
                <a:latin typeface="Roboto"/>
                <a:ea typeface="Roboto"/>
                <a:cs typeface="Roboto"/>
                <a:sym typeface="Roboto"/>
              </a:rPr>
            </a:br>
            <a:r>
              <a:rPr lang="en" sz="1900">
                <a:solidFill>
                  <a:schemeClr val="dk2"/>
                </a:solidFill>
                <a:latin typeface="Roboto"/>
                <a:ea typeface="Roboto"/>
                <a:cs typeface="Roboto"/>
                <a:sym typeface="Roboto"/>
              </a:rPr>
              <a:t>this challenge with your password hash.</a:t>
            </a:r>
            <a:endParaRPr sz="1900">
              <a:solidFill>
                <a:schemeClr val="dk2"/>
              </a:solidFill>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grpSp>
        <p:nvGrpSpPr>
          <p:cNvPr id="1302" name="Google Shape;1302;p115"/>
          <p:cNvGrpSpPr/>
          <p:nvPr/>
        </p:nvGrpSpPr>
        <p:grpSpPr>
          <a:xfrm>
            <a:off x="457200" y="914500"/>
            <a:ext cx="776900" cy="486300"/>
            <a:chOff x="457200" y="1466425"/>
            <a:chExt cx="776900" cy="486300"/>
          </a:xfrm>
        </p:grpSpPr>
        <p:sp>
          <p:nvSpPr>
            <p:cNvPr id="1303" name="Google Shape;1303;p115"/>
            <p:cNvSpPr/>
            <p:nvPr/>
          </p:nvSpPr>
          <p:spPr>
            <a:xfrm>
              <a:off x="457200" y="1466425"/>
              <a:ext cx="695400" cy="486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oboto"/>
                  <a:ea typeface="Roboto"/>
                  <a:cs typeface="Roboto"/>
                  <a:sym typeface="Roboto"/>
                </a:rPr>
                <a:t>06</a:t>
              </a:r>
              <a:endParaRPr sz="3000">
                <a:solidFill>
                  <a:schemeClr val="dk2"/>
                </a:solidFill>
                <a:latin typeface="Roboto"/>
                <a:ea typeface="Roboto"/>
                <a:cs typeface="Roboto"/>
                <a:sym typeface="Roboto"/>
              </a:endParaRPr>
            </a:p>
          </p:txBody>
        </p:sp>
        <p:sp>
          <p:nvSpPr>
            <p:cNvPr id="1304" name="Google Shape;1304;p115"/>
            <p:cNvSpPr/>
            <p:nvPr/>
          </p:nvSpPr>
          <p:spPr>
            <a:xfrm rot="5400000">
              <a:off x="973100" y="1624950"/>
              <a:ext cx="33337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solidFill>
                  <a:schemeClr val="lt1"/>
                </a:solidFill>
                <a:latin typeface="Roboto"/>
                <a:ea typeface="Roboto"/>
                <a:cs typeface="Roboto"/>
                <a:sym typeface="Roboto"/>
              </a:endParaRPr>
            </a:p>
          </p:txBody>
        </p:sp>
      </p:grpSp>
      <p:sp>
        <p:nvSpPr>
          <p:cNvPr id="1305" name="Google Shape;1305;p115"/>
          <p:cNvSpPr txBox="1"/>
          <p:nvPr/>
        </p:nvSpPr>
        <p:spPr>
          <a:xfrm>
            <a:off x="350575" y="51200"/>
            <a:ext cx="8484900" cy="52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Medium"/>
                <a:ea typeface="Roboto Medium"/>
                <a:cs typeface="Roboto Medium"/>
                <a:sym typeface="Roboto Medium"/>
              </a:rPr>
              <a:t>LLMNR Poisoning</a:t>
            </a:r>
            <a:endParaRPr b="1" sz="2600">
              <a:solidFill>
                <a:schemeClr val="dk2"/>
              </a:solidFill>
              <a:latin typeface="Roboto Medium"/>
              <a:ea typeface="Roboto Medium"/>
              <a:cs typeface="Roboto Medium"/>
              <a:sym typeface="Roboto Medium"/>
            </a:endParaRPr>
          </a:p>
          <a:p>
            <a:pPr indent="0" lvl="0" marL="0" rtl="0" algn="l">
              <a:spcBef>
                <a:spcPts val="0"/>
              </a:spcBef>
              <a:spcAft>
                <a:spcPts val="0"/>
              </a:spcAft>
              <a:buNone/>
            </a:pPr>
            <a:r>
              <a:t/>
            </a:r>
            <a:endParaRPr b="1" sz="2600">
              <a:solidFill>
                <a:schemeClr val="dk2"/>
              </a:solidFill>
              <a:latin typeface="Roboto Medium"/>
              <a:ea typeface="Roboto Medium"/>
              <a:cs typeface="Roboto Medium"/>
              <a:sym typeface="Roboto Medium"/>
            </a:endParaRPr>
          </a:p>
        </p:txBody>
      </p:sp>
      <p:sp>
        <p:nvSpPr>
          <p:cNvPr id="1306" name="Google Shape;1306;p115"/>
          <p:cNvSpPr/>
          <p:nvPr/>
        </p:nvSpPr>
        <p:spPr>
          <a:xfrm>
            <a:off x="1788600" y="2074575"/>
            <a:ext cx="2166000" cy="724500"/>
          </a:xfrm>
          <a:prstGeom prst="wedgeRoundRectCallout">
            <a:avLst>
              <a:gd fmla="val -47641" name="adj1"/>
              <a:gd fmla="val 127191" name="adj2"/>
              <a:gd fmla="val 0" name="adj3"/>
            </a:avLst>
          </a:prstGeom>
          <a:solidFill>
            <a:schemeClr val="accent4"/>
          </a:solidFill>
          <a:ln>
            <a:noFill/>
          </a:ln>
        </p:spPr>
        <p:txBody>
          <a:bodyPr anchorCtr="0" anchor="ctr" bIns="91425" lIns="137150" spcFirstLastPara="1" rIns="91425" wrap="square" tIns="45700">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No problem.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Here you go.</a:t>
            </a:r>
            <a:endParaRPr sz="1800">
              <a:solidFill>
                <a:schemeClr val="dk2"/>
              </a:solidFill>
              <a:latin typeface="Roboto"/>
              <a:ea typeface="Roboto"/>
              <a:cs typeface="Roboto"/>
              <a:sym typeface="Roboto"/>
            </a:endParaRPr>
          </a:p>
        </p:txBody>
      </p:sp>
      <p:pic>
        <p:nvPicPr>
          <p:cNvPr id="1307" name="Google Shape;1307;p115"/>
          <p:cNvPicPr preferRelativeResize="0"/>
          <p:nvPr/>
        </p:nvPicPr>
        <p:blipFill rotWithShape="1">
          <a:blip r:embed="rId3">
            <a:alphaModFix/>
          </a:blip>
          <a:srcRect b="8763" l="77499" r="-729" t="1533"/>
          <a:stretch/>
        </p:blipFill>
        <p:spPr>
          <a:xfrm>
            <a:off x="7391651" y="1550825"/>
            <a:ext cx="800540" cy="1656906"/>
          </a:xfrm>
          <a:prstGeom prst="rect">
            <a:avLst/>
          </a:prstGeom>
          <a:noFill/>
          <a:ln>
            <a:noFill/>
          </a:ln>
        </p:spPr>
      </p:pic>
      <p:grpSp>
        <p:nvGrpSpPr>
          <p:cNvPr id="1308" name="Google Shape;1308;p115"/>
          <p:cNvGrpSpPr/>
          <p:nvPr/>
        </p:nvGrpSpPr>
        <p:grpSpPr>
          <a:xfrm>
            <a:off x="7954658" y="1971970"/>
            <a:ext cx="462271" cy="462272"/>
            <a:chOff x="7189842" y="3080279"/>
            <a:chExt cx="716700" cy="716700"/>
          </a:xfrm>
        </p:grpSpPr>
        <p:sp>
          <p:nvSpPr>
            <p:cNvPr id="1309" name="Google Shape;1309;p115"/>
            <p:cNvSpPr/>
            <p:nvPr/>
          </p:nvSpPr>
          <p:spPr>
            <a:xfrm>
              <a:off x="7189842" y="3080279"/>
              <a:ext cx="716700" cy="716700"/>
            </a:xfrm>
            <a:prstGeom prst="ellipse">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0" name="Google Shape;1310;p115"/>
            <p:cNvPicPr preferRelativeResize="0"/>
            <p:nvPr/>
          </p:nvPicPr>
          <p:blipFill rotWithShape="1">
            <a:blip r:embed="rId4">
              <a:alphaModFix/>
            </a:blip>
            <a:srcRect b="-12050" l="-12050" r="-12050" t="-12050"/>
            <a:stretch/>
          </p:blipFill>
          <p:spPr>
            <a:xfrm>
              <a:off x="7292700" y="3192438"/>
              <a:ext cx="510850" cy="492274"/>
            </a:xfrm>
            <a:prstGeom prst="rect">
              <a:avLst/>
            </a:prstGeom>
            <a:noFill/>
            <a:ln>
              <a:noFill/>
            </a:ln>
          </p:spPr>
        </p:pic>
      </p:grpSp>
      <p:pic>
        <p:nvPicPr>
          <p:cNvPr id="1311" name="Google Shape;1311;p115"/>
          <p:cNvPicPr preferRelativeResize="0"/>
          <p:nvPr/>
        </p:nvPicPr>
        <p:blipFill rotWithShape="1">
          <a:blip r:embed="rId3">
            <a:alphaModFix/>
          </a:blip>
          <a:srcRect b="8763" l="77499" r="-729" t="1533"/>
          <a:stretch/>
        </p:blipFill>
        <p:spPr>
          <a:xfrm>
            <a:off x="7391651" y="3251844"/>
            <a:ext cx="800540" cy="1656906"/>
          </a:xfrm>
          <a:prstGeom prst="rect">
            <a:avLst/>
          </a:prstGeom>
          <a:noFill/>
          <a:ln>
            <a:noFill/>
          </a:ln>
        </p:spPr>
      </p:pic>
      <p:sp>
        <p:nvSpPr>
          <p:cNvPr id="1312" name="Google Shape;1312;p115"/>
          <p:cNvSpPr/>
          <p:nvPr/>
        </p:nvSpPr>
        <p:spPr>
          <a:xfrm>
            <a:off x="1352550" y="870775"/>
            <a:ext cx="7615800" cy="9201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15"/>
          <p:cNvSpPr txBox="1"/>
          <p:nvPr/>
        </p:nvSpPr>
        <p:spPr>
          <a:xfrm>
            <a:off x="1352625" y="1127965"/>
            <a:ext cx="8146800" cy="682500"/>
          </a:xfrm>
          <a:prstGeom prst="rect">
            <a:avLst/>
          </a:prstGeom>
          <a:noFill/>
          <a:ln>
            <a:noFill/>
          </a:ln>
        </p:spPr>
        <p:txBody>
          <a:bodyPr anchorCtr="0" anchor="ctr" bIns="0" lIns="1554475" spcFirstLastPara="1" rIns="457200" wrap="square" tIns="0">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Once the attacker receives the challenge encoded with the password, it responds to the computer with an error, which ends the communication. The attacker now has the victim’s password, which they can crack offline.</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grpSp>
        <p:nvGrpSpPr>
          <p:cNvPr id="1314" name="Google Shape;1314;p115"/>
          <p:cNvGrpSpPr/>
          <p:nvPr/>
        </p:nvGrpSpPr>
        <p:grpSpPr>
          <a:xfrm>
            <a:off x="7954658" y="3672989"/>
            <a:ext cx="462271" cy="462272"/>
            <a:chOff x="7189842" y="3080279"/>
            <a:chExt cx="716700" cy="716700"/>
          </a:xfrm>
        </p:grpSpPr>
        <p:sp>
          <p:nvSpPr>
            <p:cNvPr id="1315" name="Google Shape;1315;p115"/>
            <p:cNvSpPr/>
            <p:nvPr/>
          </p:nvSpPr>
          <p:spPr>
            <a:xfrm>
              <a:off x="7189842" y="3080279"/>
              <a:ext cx="716700" cy="716700"/>
            </a:xfrm>
            <a:prstGeom prst="ellipse">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6" name="Google Shape;1316;p115"/>
            <p:cNvPicPr preferRelativeResize="0"/>
            <p:nvPr/>
          </p:nvPicPr>
          <p:blipFill rotWithShape="1">
            <a:blip r:embed="rId4">
              <a:alphaModFix/>
            </a:blip>
            <a:srcRect b="-12050" l="-12050" r="-12050" t="-12050"/>
            <a:stretch/>
          </p:blipFill>
          <p:spPr>
            <a:xfrm>
              <a:off x="7292700" y="3192438"/>
              <a:ext cx="510850" cy="492274"/>
            </a:xfrm>
            <a:prstGeom prst="rect">
              <a:avLst/>
            </a:prstGeom>
            <a:noFill/>
            <a:ln>
              <a:noFill/>
            </a:ln>
          </p:spPr>
        </p:pic>
      </p:grpSp>
      <p:pic>
        <p:nvPicPr>
          <p:cNvPr id="1317" name="Google Shape;1317;p115"/>
          <p:cNvPicPr preferRelativeResize="0"/>
          <p:nvPr/>
        </p:nvPicPr>
        <p:blipFill rotWithShape="1">
          <a:blip r:embed="rId3">
            <a:alphaModFix/>
          </a:blip>
          <a:srcRect b="8765" l="0" r="51763" t="23758"/>
          <a:stretch/>
        </p:blipFill>
        <p:spPr>
          <a:xfrm>
            <a:off x="6294677" y="4010952"/>
            <a:ext cx="1137760" cy="853069"/>
          </a:xfrm>
          <a:prstGeom prst="rect">
            <a:avLst/>
          </a:prstGeom>
          <a:noFill/>
          <a:ln>
            <a:noFill/>
          </a:ln>
        </p:spPr>
      </p:pic>
      <p:pic>
        <p:nvPicPr>
          <p:cNvPr id="1318" name="Google Shape;1318;p115"/>
          <p:cNvPicPr preferRelativeResize="0"/>
          <p:nvPr/>
        </p:nvPicPr>
        <p:blipFill rotWithShape="1">
          <a:blip r:embed="rId3">
            <a:alphaModFix/>
          </a:blip>
          <a:srcRect b="8765" l="0" r="51763" t="23758"/>
          <a:stretch/>
        </p:blipFill>
        <p:spPr>
          <a:xfrm>
            <a:off x="5124250" y="4010952"/>
            <a:ext cx="1137760" cy="853069"/>
          </a:xfrm>
          <a:prstGeom prst="rect">
            <a:avLst/>
          </a:prstGeom>
          <a:noFill/>
          <a:ln>
            <a:noFill/>
          </a:ln>
        </p:spPr>
      </p:pic>
      <p:sp>
        <p:nvSpPr>
          <p:cNvPr id="1319" name="Google Shape;1319;p115"/>
          <p:cNvSpPr/>
          <p:nvPr/>
        </p:nvSpPr>
        <p:spPr>
          <a:xfrm rot="1435">
            <a:off x="7531325" y="2647625"/>
            <a:ext cx="1437000" cy="283500"/>
          </a:xfrm>
          <a:prstGeom prst="roundRect">
            <a:avLst>
              <a:gd fmla="val 16667" name="adj"/>
            </a:avLst>
          </a:prstGeom>
          <a:solidFill>
            <a:schemeClr val="dk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DNS Server</a:t>
            </a:r>
            <a:endParaRPr b="1" sz="1800">
              <a:solidFill>
                <a:srgbClr val="FFFFFF"/>
              </a:solidFill>
              <a:latin typeface="Roboto"/>
              <a:ea typeface="Roboto"/>
              <a:cs typeface="Roboto"/>
              <a:sym typeface="Roboto"/>
            </a:endParaRPr>
          </a:p>
        </p:txBody>
      </p:sp>
      <p:pic>
        <p:nvPicPr>
          <p:cNvPr id="1320" name="Google Shape;1320;p115"/>
          <p:cNvPicPr preferRelativeResize="0"/>
          <p:nvPr/>
        </p:nvPicPr>
        <p:blipFill rotWithShape="1">
          <a:blip r:embed="rId3">
            <a:alphaModFix/>
          </a:blip>
          <a:srcRect b="8765" l="0" r="51763" t="23758"/>
          <a:stretch/>
        </p:blipFill>
        <p:spPr>
          <a:xfrm>
            <a:off x="1547151" y="3311674"/>
            <a:ext cx="1388875" cy="1041350"/>
          </a:xfrm>
          <a:prstGeom prst="rect">
            <a:avLst/>
          </a:prstGeom>
          <a:noFill/>
          <a:ln>
            <a:noFill/>
          </a:ln>
        </p:spPr>
      </p:pic>
      <p:sp>
        <p:nvSpPr>
          <p:cNvPr id="1321" name="Google Shape;1321;p115"/>
          <p:cNvSpPr/>
          <p:nvPr/>
        </p:nvSpPr>
        <p:spPr>
          <a:xfrm rot="1393">
            <a:off x="384375" y="3748025"/>
            <a:ext cx="1480500" cy="329100"/>
          </a:xfrm>
          <a:prstGeom prst="roundRect">
            <a:avLst>
              <a:gd fmla="val 16667" name="adj"/>
            </a:avLst>
          </a:prstGeom>
          <a:solidFill>
            <a:schemeClr val="dk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latin typeface="Roboto"/>
                <a:ea typeface="Roboto"/>
                <a:cs typeface="Roboto"/>
                <a:sym typeface="Roboto"/>
              </a:rPr>
              <a:t>Workstation</a:t>
            </a:r>
            <a:endParaRPr b="1" sz="1800">
              <a:solidFill>
                <a:srgbClr val="FFFFFF"/>
              </a:solidFill>
              <a:latin typeface="Roboto"/>
              <a:ea typeface="Roboto"/>
              <a:cs typeface="Roboto"/>
              <a:sym typeface="Roboto"/>
            </a:endParaRPr>
          </a:p>
        </p:txBody>
      </p:sp>
      <p:pic>
        <p:nvPicPr>
          <p:cNvPr id="1322" name="Google Shape;1322;p115"/>
          <p:cNvPicPr preferRelativeResize="0"/>
          <p:nvPr/>
        </p:nvPicPr>
        <p:blipFill rotWithShape="1">
          <a:blip r:embed="rId3">
            <a:alphaModFix/>
          </a:blip>
          <a:srcRect b="8765" l="0" r="51763" t="23758"/>
          <a:stretch/>
        </p:blipFill>
        <p:spPr>
          <a:xfrm>
            <a:off x="6294677" y="2241535"/>
            <a:ext cx="1137760" cy="853069"/>
          </a:xfrm>
          <a:prstGeom prst="rect">
            <a:avLst/>
          </a:prstGeom>
          <a:noFill/>
          <a:ln>
            <a:noFill/>
          </a:ln>
        </p:spPr>
      </p:pic>
      <p:pic>
        <p:nvPicPr>
          <p:cNvPr id="1323" name="Google Shape;1323;p115"/>
          <p:cNvPicPr preferRelativeResize="0"/>
          <p:nvPr/>
        </p:nvPicPr>
        <p:blipFill rotWithShape="1">
          <a:blip r:embed="rId3">
            <a:alphaModFix/>
          </a:blip>
          <a:srcRect b="8765" l="0" r="51763" t="23758"/>
          <a:stretch/>
        </p:blipFill>
        <p:spPr>
          <a:xfrm>
            <a:off x="5124250" y="2241535"/>
            <a:ext cx="1137760" cy="853069"/>
          </a:xfrm>
          <a:prstGeom prst="rect">
            <a:avLst/>
          </a:prstGeom>
          <a:noFill/>
          <a:ln>
            <a:noFill/>
          </a:ln>
        </p:spPr>
      </p:pic>
      <p:pic>
        <p:nvPicPr>
          <p:cNvPr id="1324" name="Google Shape;1324;p115"/>
          <p:cNvPicPr preferRelativeResize="0"/>
          <p:nvPr/>
        </p:nvPicPr>
        <p:blipFill rotWithShape="1">
          <a:blip r:embed="rId3">
            <a:alphaModFix/>
          </a:blip>
          <a:srcRect b="8765" l="0" r="51763" t="23758"/>
          <a:stretch/>
        </p:blipFill>
        <p:spPr>
          <a:xfrm>
            <a:off x="6294677" y="4010952"/>
            <a:ext cx="1137760" cy="853069"/>
          </a:xfrm>
          <a:prstGeom prst="rect">
            <a:avLst/>
          </a:prstGeom>
          <a:noFill/>
          <a:ln>
            <a:noFill/>
          </a:ln>
        </p:spPr>
      </p:pic>
      <p:grpSp>
        <p:nvGrpSpPr>
          <p:cNvPr id="1325" name="Google Shape;1325;p115"/>
          <p:cNvGrpSpPr/>
          <p:nvPr/>
        </p:nvGrpSpPr>
        <p:grpSpPr>
          <a:xfrm>
            <a:off x="6357558" y="4088316"/>
            <a:ext cx="964341" cy="552523"/>
            <a:chOff x="5883213" y="3997663"/>
            <a:chExt cx="1180200" cy="676200"/>
          </a:xfrm>
        </p:grpSpPr>
        <p:sp>
          <p:nvSpPr>
            <p:cNvPr id="1326" name="Google Shape;1326;p115"/>
            <p:cNvSpPr/>
            <p:nvPr/>
          </p:nvSpPr>
          <p:spPr>
            <a:xfrm>
              <a:off x="5883213" y="3997663"/>
              <a:ext cx="1180200" cy="676200"/>
            </a:xfrm>
            <a:prstGeom prst="rect">
              <a:avLst/>
            </a:prstGeom>
            <a:solidFill>
              <a:srgbClr val="E5147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7" name="Google Shape;1327;p115"/>
            <p:cNvPicPr preferRelativeResize="0"/>
            <p:nvPr/>
          </p:nvPicPr>
          <p:blipFill>
            <a:blip r:embed="rId5">
              <a:alphaModFix/>
            </a:blip>
            <a:stretch>
              <a:fillRect/>
            </a:stretch>
          </p:blipFill>
          <p:spPr>
            <a:xfrm>
              <a:off x="6191137" y="4132475"/>
              <a:ext cx="564350" cy="406575"/>
            </a:xfrm>
            <a:prstGeom prst="rect">
              <a:avLst/>
            </a:prstGeom>
            <a:noFill/>
            <a:ln>
              <a:noFill/>
            </a:ln>
          </p:spPr>
        </p:pic>
      </p:grpSp>
      <p:sp>
        <p:nvSpPr>
          <p:cNvPr id="1328" name="Google Shape;1328;p115"/>
          <p:cNvSpPr/>
          <p:nvPr/>
        </p:nvSpPr>
        <p:spPr>
          <a:xfrm>
            <a:off x="3891425" y="3166500"/>
            <a:ext cx="3298500" cy="682500"/>
          </a:xfrm>
          <a:prstGeom prst="wedgeRoundRectCallout">
            <a:avLst>
              <a:gd fmla="val 36455" name="adj1"/>
              <a:gd fmla="val 86413" name="adj2"/>
              <a:gd fmla="val 0" name="adj3"/>
            </a:avLst>
          </a:prstGeom>
          <a:solidFill>
            <a:schemeClr val="accent1"/>
          </a:solidFill>
          <a:ln>
            <a:noFill/>
          </a:ln>
        </p:spPr>
        <p:txBody>
          <a:bodyPr anchorCtr="0" anchor="ctr" bIns="91425" lIns="91425" spcFirstLastPara="1" rIns="91425" wrap="square" tIns="45700">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Thanks. By the way: ERROR.</a:t>
            </a:r>
            <a:endParaRPr sz="1900">
              <a:solidFill>
                <a:schemeClr val="dk2"/>
              </a:solidFill>
              <a:latin typeface="Roboto"/>
              <a:ea typeface="Roboto"/>
              <a:cs typeface="Roboto"/>
              <a:sym typeface="Robot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117"/>
          <p:cNvSpPr txBox="1"/>
          <p:nvPr>
            <p:ph idx="4294967295" type="subTitle"/>
          </p:nvPr>
        </p:nvSpPr>
        <p:spPr>
          <a:xfrm>
            <a:off x="1789975" y="1039700"/>
            <a:ext cx="5688300" cy="3131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b="1" lang="en" sz="2600">
                <a:solidFill>
                  <a:schemeClr val="lt1"/>
                </a:solidFill>
                <a:highlight>
                  <a:schemeClr val="dk2"/>
                </a:highlight>
                <a:latin typeface="Roboto"/>
                <a:ea typeface="Roboto"/>
                <a:cs typeface="Roboto"/>
                <a:sym typeface="Roboto"/>
              </a:rPr>
              <a:t>LLMNR</a:t>
            </a:r>
            <a:r>
              <a:rPr lang="en" sz="2600"/>
              <a:t> is a broadcast protocol, meaning an LLMNR request is sent out to the entire network instead of going to a single host.</a:t>
            </a:r>
            <a:endParaRPr sz="26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cxnSp>
        <p:nvCxnSpPr>
          <p:cNvPr id="1342" name="Google Shape;1342;p11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1343" name="Google Shape;1343;p118"/>
          <p:cNvSpPr txBox="1"/>
          <p:nvPr>
            <p:ph idx="1" type="subTitle"/>
          </p:nvPr>
        </p:nvSpPr>
        <p:spPr>
          <a:xfrm>
            <a:off x="377025" y="1165825"/>
            <a:ext cx="8194200" cy="1065000"/>
          </a:xfrm>
          <a:prstGeom prst="rect">
            <a:avLst/>
          </a:prstGeom>
        </p:spPr>
        <p:txBody>
          <a:bodyPr anchorCtr="0" anchor="t" bIns="0" lIns="0" spcFirstLastPara="1" rIns="0" wrap="square" tIns="0">
            <a:noAutofit/>
          </a:bodyPr>
          <a:lstStyle/>
          <a:p>
            <a:pPr indent="0" lvl="0" marL="0" rtl="0" algn="l">
              <a:lnSpc>
                <a:spcPct val="105000"/>
              </a:lnSpc>
              <a:spcBef>
                <a:spcPts val="0"/>
              </a:spcBef>
              <a:spcAft>
                <a:spcPts val="1000"/>
              </a:spcAft>
              <a:buSzPts val="275"/>
              <a:buNone/>
            </a:pPr>
            <a:r>
              <a:rPr lang="en"/>
              <a:t>LLMNR poisoning is a way of getting credentials to a domain account without the need for brute force or password spraying. It involves taking advantage of the LLMNR protocol, which is left on in the default group policy. </a:t>
            </a:r>
            <a:endParaRPr/>
          </a:p>
        </p:txBody>
      </p:sp>
      <p:sp>
        <p:nvSpPr>
          <p:cNvPr id="1344" name="Google Shape;1344;p118"/>
          <p:cNvSpPr txBox="1"/>
          <p:nvPr>
            <p:ph idx="4294967295" type="body"/>
          </p:nvPr>
        </p:nvSpPr>
        <p:spPr>
          <a:xfrm>
            <a:off x="392187" y="2281792"/>
            <a:ext cx="9144000" cy="323700"/>
          </a:xfrm>
          <a:prstGeom prst="rect">
            <a:avLst/>
          </a:prstGeom>
        </p:spPr>
        <p:txBody>
          <a:bodyPr anchorCtr="0" anchor="t" bIns="91425" lIns="0" spcFirstLastPara="1" rIns="91425" wrap="square" tIns="0">
            <a:noAutofit/>
          </a:bodyPr>
          <a:lstStyle/>
          <a:p>
            <a:pPr indent="0" lvl="0" marL="0" rtl="0" algn="l">
              <a:lnSpc>
                <a:spcPct val="95000"/>
              </a:lnSpc>
              <a:spcBef>
                <a:spcPts val="0"/>
              </a:spcBef>
              <a:spcAft>
                <a:spcPts val="0"/>
              </a:spcAft>
              <a:buSzPts val="275"/>
              <a:buNone/>
            </a:pPr>
            <a:r>
              <a:rPr b="1" lang="en"/>
              <a:t>Attackers can take advantage of this protocol by:</a:t>
            </a:r>
            <a:endParaRPr b="1"/>
          </a:p>
        </p:txBody>
      </p:sp>
      <p:pic>
        <p:nvPicPr>
          <p:cNvPr id="1345" name="Google Shape;1345;p118"/>
          <p:cNvPicPr preferRelativeResize="0"/>
          <p:nvPr/>
        </p:nvPicPr>
        <p:blipFill>
          <a:blip r:embed="rId3">
            <a:alphaModFix/>
          </a:blip>
          <a:stretch>
            <a:fillRect/>
          </a:stretch>
        </p:blipFill>
        <p:spPr>
          <a:xfrm>
            <a:off x="4418105" y="2693317"/>
            <a:ext cx="827450" cy="2274526"/>
          </a:xfrm>
          <a:prstGeom prst="rect">
            <a:avLst/>
          </a:prstGeom>
          <a:noFill/>
          <a:ln>
            <a:noFill/>
          </a:ln>
        </p:spPr>
      </p:pic>
      <p:sp>
        <p:nvSpPr>
          <p:cNvPr id="1346" name="Google Shape;1346;p118"/>
          <p:cNvSpPr txBox="1"/>
          <p:nvPr/>
        </p:nvSpPr>
        <p:spPr>
          <a:xfrm>
            <a:off x="379722" y="3646107"/>
            <a:ext cx="4251300" cy="1016100"/>
          </a:xfrm>
          <a:prstGeom prst="rect">
            <a:avLst/>
          </a:prstGeom>
          <a:noFill/>
          <a:ln>
            <a:noFill/>
          </a:ln>
        </p:spPr>
        <p:txBody>
          <a:bodyPr anchorCtr="0" anchor="t" bIns="0" lIns="457200" spcFirstLastPara="1" rIns="457200" wrap="square" tIns="0">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Listening for LLMNR request broadcasts on the network and spoofing a request response.</a:t>
            </a:r>
            <a:endParaRPr sz="1800">
              <a:solidFill>
                <a:schemeClr val="dk2"/>
              </a:solidFill>
              <a:latin typeface="Roboto"/>
              <a:ea typeface="Roboto"/>
              <a:cs typeface="Roboto"/>
              <a:sym typeface="Roboto"/>
            </a:endParaRPr>
          </a:p>
        </p:txBody>
      </p:sp>
      <p:sp>
        <p:nvSpPr>
          <p:cNvPr id="1347" name="Google Shape;1347;p118"/>
          <p:cNvSpPr txBox="1"/>
          <p:nvPr/>
        </p:nvSpPr>
        <p:spPr>
          <a:xfrm>
            <a:off x="4858822" y="3647007"/>
            <a:ext cx="3916800" cy="1016100"/>
          </a:xfrm>
          <a:prstGeom prst="rect">
            <a:avLst/>
          </a:prstGeom>
          <a:noFill/>
          <a:ln>
            <a:noFill/>
          </a:ln>
        </p:spPr>
        <p:txBody>
          <a:bodyPr anchorCtr="0" anchor="t" bIns="0" lIns="457200" spcFirstLastPara="1" rIns="457200" wrap="square" tIns="0">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Asking for the requesting computer to complete a password challenge.</a:t>
            </a:r>
            <a:endParaRPr sz="1800">
              <a:solidFill>
                <a:schemeClr val="dk2"/>
              </a:solidFill>
              <a:latin typeface="Roboto"/>
              <a:ea typeface="Roboto"/>
              <a:cs typeface="Roboto"/>
              <a:sym typeface="Roboto"/>
            </a:endParaRPr>
          </a:p>
        </p:txBody>
      </p:sp>
      <p:sp>
        <p:nvSpPr>
          <p:cNvPr id="1348" name="Google Shape;1348;p118"/>
          <p:cNvSpPr/>
          <p:nvPr/>
        </p:nvSpPr>
        <p:spPr>
          <a:xfrm>
            <a:off x="849218" y="2902995"/>
            <a:ext cx="533400" cy="4767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a:ea typeface="Roboto"/>
                <a:cs typeface="Roboto"/>
                <a:sym typeface="Roboto"/>
              </a:rPr>
              <a:t>01</a:t>
            </a:r>
            <a:endParaRPr sz="2100">
              <a:solidFill>
                <a:srgbClr val="FFFFFF"/>
              </a:solidFill>
              <a:latin typeface="Roboto"/>
              <a:ea typeface="Roboto"/>
              <a:cs typeface="Roboto"/>
              <a:sym typeface="Roboto"/>
            </a:endParaRPr>
          </a:p>
        </p:txBody>
      </p:sp>
      <p:sp>
        <p:nvSpPr>
          <p:cNvPr id="1349" name="Google Shape;1349;p118"/>
          <p:cNvSpPr/>
          <p:nvPr/>
        </p:nvSpPr>
        <p:spPr>
          <a:xfrm rot="10800000">
            <a:off x="985381" y="3291780"/>
            <a:ext cx="261029" cy="144694"/>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350" name="Google Shape;1350;p118"/>
          <p:cNvSpPr/>
          <p:nvPr/>
        </p:nvSpPr>
        <p:spPr>
          <a:xfrm>
            <a:off x="5328307" y="2905242"/>
            <a:ext cx="5304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2100">
                <a:solidFill>
                  <a:srgbClr val="FFFFFF"/>
                </a:solidFill>
                <a:latin typeface="Roboto"/>
                <a:ea typeface="Roboto"/>
                <a:cs typeface="Roboto"/>
                <a:sym typeface="Roboto"/>
              </a:rPr>
              <a:t>02</a:t>
            </a:r>
            <a:endParaRPr sz="2100">
              <a:solidFill>
                <a:srgbClr val="FFFFFF"/>
              </a:solidFill>
              <a:latin typeface="Roboto"/>
              <a:ea typeface="Roboto"/>
              <a:cs typeface="Roboto"/>
              <a:sym typeface="Roboto"/>
            </a:endParaRPr>
          </a:p>
        </p:txBody>
      </p:sp>
      <p:sp>
        <p:nvSpPr>
          <p:cNvPr id="1351" name="Google Shape;1351;p118"/>
          <p:cNvSpPr/>
          <p:nvPr/>
        </p:nvSpPr>
        <p:spPr>
          <a:xfrm rot="10800000">
            <a:off x="5464481" y="3294030"/>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18"/>
          <p:cNvSpPr/>
          <p:nvPr/>
        </p:nvSpPr>
        <p:spPr>
          <a:xfrm>
            <a:off x="1468337" y="2905242"/>
            <a:ext cx="2688300" cy="4761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18"/>
          <p:cNvSpPr/>
          <p:nvPr/>
        </p:nvSpPr>
        <p:spPr>
          <a:xfrm>
            <a:off x="5947437" y="2907492"/>
            <a:ext cx="2688300" cy="4761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18"/>
          <p:cNvSpPr txBox="1"/>
          <p:nvPr/>
        </p:nvSpPr>
        <p:spPr>
          <a:xfrm>
            <a:off x="1472262" y="2917942"/>
            <a:ext cx="2688300" cy="476100"/>
          </a:xfrm>
          <a:prstGeom prst="rect">
            <a:avLst/>
          </a:prstGeom>
          <a:noFill/>
          <a:ln>
            <a:noFill/>
          </a:ln>
        </p:spPr>
        <p:txBody>
          <a:bodyPr anchorCtr="0" anchor="ctr" bIns="91425" lIns="137150" spcFirstLastPara="1" rIns="91425" wrap="square" tIns="91425">
            <a:noAutofit/>
          </a:bodyPr>
          <a:lstStyle/>
          <a:p>
            <a:pPr indent="0" lvl="0" marL="0" rtl="0" algn="l">
              <a:spcBef>
                <a:spcPts val="0"/>
              </a:spcBef>
              <a:spcAft>
                <a:spcPts val="0"/>
              </a:spcAft>
              <a:buNone/>
            </a:pPr>
            <a:r>
              <a:rPr lang="en" sz="1800">
                <a:solidFill>
                  <a:schemeClr val="dk2"/>
                </a:solidFill>
                <a:latin typeface="Roboto Medium"/>
                <a:ea typeface="Roboto Medium"/>
                <a:cs typeface="Roboto Medium"/>
                <a:sym typeface="Roboto Medium"/>
              </a:rPr>
              <a:t>Listening</a:t>
            </a:r>
            <a:endParaRPr sz="1800">
              <a:solidFill>
                <a:schemeClr val="dk2"/>
              </a:solidFill>
              <a:latin typeface="Roboto Medium"/>
              <a:ea typeface="Roboto Medium"/>
              <a:cs typeface="Roboto Medium"/>
              <a:sym typeface="Roboto Medium"/>
            </a:endParaRPr>
          </a:p>
        </p:txBody>
      </p:sp>
      <p:sp>
        <p:nvSpPr>
          <p:cNvPr id="1355" name="Google Shape;1355;p118"/>
          <p:cNvSpPr txBox="1"/>
          <p:nvPr/>
        </p:nvSpPr>
        <p:spPr>
          <a:xfrm>
            <a:off x="5965162" y="2917942"/>
            <a:ext cx="2688300" cy="476100"/>
          </a:xfrm>
          <a:prstGeom prst="rect">
            <a:avLst/>
          </a:prstGeom>
          <a:noFill/>
          <a:ln>
            <a:noFill/>
          </a:ln>
        </p:spPr>
        <p:txBody>
          <a:bodyPr anchorCtr="0" anchor="ctr" bIns="91425" lIns="137150" spcFirstLastPara="1" rIns="91425" wrap="square" tIns="91425">
            <a:noAutofit/>
          </a:bodyPr>
          <a:lstStyle/>
          <a:p>
            <a:pPr indent="0" lvl="0" marL="0" rtl="0" algn="l">
              <a:spcBef>
                <a:spcPts val="0"/>
              </a:spcBef>
              <a:spcAft>
                <a:spcPts val="0"/>
              </a:spcAft>
              <a:buNone/>
            </a:pPr>
            <a:r>
              <a:rPr lang="en" sz="1800">
                <a:solidFill>
                  <a:schemeClr val="dk2"/>
                </a:solidFill>
                <a:latin typeface="Roboto Medium"/>
                <a:ea typeface="Roboto Medium"/>
                <a:cs typeface="Roboto Medium"/>
                <a:sym typeface="Roboto Medium"/>
              </a:rPr>
              <a:t>Asking</a:t>
            </a:r>
            <a:endParaRPr sz="1800">
              <a:solidFill>
                <a:schemeClr val="dk2"/>
              </a:solidFill>
              <a:latin typeface="Roboto Medium"/>
              <a:ea typeface="Roboto Medium"/>
              <a:cs typeface="Roboto Medium"/>
              <a:sym typeface="Roboto Medium"/>
            </a:endParaRPr>
          </a:p>
        </p:txBody>
      </p:sp>
      <p:sp>
        <p:nvSpPr>
          <p:cNvPr id="1356" name="Google Shape;1356;p118"/>
          <p:cNvSpPr txBox="1"/>
          <p:nvPr>
            <p:ph idx="4294967295" type="title"/>
          </p:nvPr>
        </p:nvSpPr>
        <p:spPr>
          <a:xfrm>
            <a:off x="888625" y="300388"/>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oboto Medium"/>
                <a:ea typeface="Roboto Medium"/>
                <a:cs typeface="Roboto Medium"/>
                <a:sym typeface="Roboto Medium"/>
              </a:rPr>
              <a:t>Recap: </a:t>
            </a:r>
            <a:r>
              <a:rPr lang="en">
                <a:solidFill>
                  <a:schemeClr val="dk2"/>
                </a:solidFill>
                <a:latin typeface="Roboto Medium"/>
                <a:ea typeface="Roboto Medium"/>
                <a:cs typeface="Roboto Medium"/>
                <a:sym typeface="Roboto Medium"/>
              </a:rPr>
              <a:t>LLMNR Poisoning</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119"/>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1362" name="Google Shape;1362;p119"/>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a:t>LLMNR spoofing</a:t>
            </a:r>
            <a:endParaRPr/>
          </a:p>
        </p:txBody>
      </p:sp>
      <p:sp>
        <p:nvSpPr>
          <p:cNvPr id="1363" name="Google Shape;1363;p119"/>
          <p:cNvSpPr txBox="1"/>
          <p:nvPr>
            <p:ph idx="3" type="body"/>
          </p:nvPr>
        </p:nvSpPr>
        <p:spPr>
          <a:xfrm>
            <a:off x="912725" y="1516225"/>
            <a:ext cx="64026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you’ll perform LLMNR spoofing to retrieve a set of credentials for a domain user, which you will crack offline with John the Ripper.</a:t>
            </a:r>
            <a:endParaRPr/>
          </a:p>
          <a:p>
            <a:pPr indent="0" lvl="0" marL="0" rtl="0" algn="l">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122"/>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1" lang="en">
                <a:latin typeface="Roboto"/>
                <a:ea typeface="Roboto"/>
                <a:cs typeface="Roboto"/>
                <a:sym typeface="Roboto"/>
              </a:rPr>
              <a:t>Windows Exploitation</a:t>
            </a:r>
            <a:endParaRPr b="1">
              <a:latin typeface="Roboto"/>
              <a:ea typeface="Roboto"/>
              <a:cs typeface="Roboto"/>
              <a:sym typeface="Roboto"/>
            </a:endParaRPr>
          </a:p>
          <a:p>
            <a:pPr indent="0" lvl="0" marL="0" rtl="0" algn="ctr">
              <a:spcBef>
                <a:spcPts val="0"/>
              </a:spcBef>
              <a:spcAft>
                <a:spcPts val="0"/>
              </a:spcAft>
              <a:buNone/>
            </a:pPr>
            <a:r>
              <a:rPr lang="en"/>
              <a:t>and WMI</a:t>
            </a:r>
            <a:endParaRPr/>
          </a:p>
        </p:txBody>
      </p:sp>
      <p:grpSp>
        <p:nvGrpSpPr>
          <p:cNvPr id="1377" name="Google Shape;1377;p122"/>
          <p:cNvGrpSpPr/>
          <p:nvPr/>
        </p:nvGrpSpPr>
        <p:grpSpPr>
          <a:xfrm>
            <a:off x="3989290" y="1315209"/>
            <a:ext cx="1165429" cy="1170304"/>
            <a:chOff x="1256475" y="298900"/>
            <a:chExt cx="5107050" cy="5117200"/>
          </a:xfrm>
        </p:grpSpPr>
        <p:sp>
          <p:nvSpPr>
            <p:cNvPr id="1378" name="Google Shape;1378;p122"/>
            <p:cNvSpPr/>
            <p:nvPr/>
          </p:nvSpPr>
          <p:spPr>
            <a:xfrm>
              <a:off x="1256475" y="298900"/>
              <a:ext cx="2421800" cy="2421825"/>
            </a:xfrm>
            <a:custGeom>
              <a:rect b="b" l="l" r="r" t="t"/>
              <a:pathLst>
                <a:path extrusionOk="0" fill="none" h="96873" w="96872">
                  <a:moveTo>
                    <a:pt x="1" y="1"/>
                  </a:moveTo>
                  <a:lnTo>
                    <a:pt x="96872" y="1"/>
                  </a:lnTo>
                  <a:lnTo>
                    <a:pt x="96872" y="96872"/>
                  </a:lnTo>
                  <a:lnTo>
                    <a:pt x="1" y="96872"/>
                  </a:lnTo>
                  <a:lnTo>
                    <a:pt x="1"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22"/>
            <p:cNvSpPr/>
            <p:nvPr/>
          </p:nvSpPr>
          <p:spPr>
            <a:xfrm>
              <a:off x="3941725" y="298900"/>
              <a:ext cx="2421800" cy="2421825"/>
            </a:xfrm>
            <a:custGeom>
              <a:rect b="b" l="l" r="r" t="t"/>
              <a:pathLst>
                <a:path extrusionOk="0" fill="none" h="96873" w="96872">
                  <a:moveTo>
                    <a:pt x="0" y="1"/>
                  </a:moveTo>
                  <a:lnTo>
                    <a:pt x="96871" y="1"/>
                  </a:lnTo>
                  <a:lnTo>
                    <a:pt x="96871" y="96872"/>
                  </a:lnTo>
                  <a:lnTo>
                    <a:pt x="0" y="96872"/>
                  </a:lnTo>
                  <a:lnTo>
                    <a:pt x="0"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22"/>
            <p:cNvSpPr/>
            <p:nvPr/>
          </p:nvSpPr>
          <p:spPr>
            <a:xfrm>
              <a:off x="1256475" y="2994275"/>
              <a:ext cx="2421800" cy="2421825"/>
            </a:xfrm>
            <a:custGeom>
              <a:rect b="b" l="l" r="r" t="t"/>
              <a:pathLst>
                <a:path extrusionOk="0" fill="none" h="96873" w="96872">
                  <a:moveTo>
                    <a:pt x="1" y="1"/>
                  </a:moveTo>
                  <a:lnTo>
                    <a:pt x="96872" y="1"/>
                  </a:lnTo>
                  <a:lnTo>
                    <a:pt x="96872" y="96872"/>
                  </a:lnTo>
                  <a:lnTo>
                    <a:pt x="1" y="96872"/>
                  </a:lnTo>
                  <a:lnTo>
                    <a:pt x="1"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22"/>
            <p:cNvSpPr/>
            <p:nvPr/>
          </p:nvSpPr>
          <p:spPr>
            <a:xfrm>
              <a:off x="3941725" y="2994275"/>
              <a:ext cx="2421800" cy="2421825"/>
            </a:xfrm>
            <a:custGeom>
              <a:rect b="b" l="l" r="r" t="t"/>
              <a:pathLst>
                <a:path extrusionOk="0" fill="none" h="96873" w="96872">
                  <a:moveTo>
                    <a:pt x="0" y="1"/>
                  </a:moveTo>
                  <a:lnTo>
                    <a:pt x="96871" y="1"/>
                  </a:lnTo>
                  <a:lnTo>
                    <a:pt x="96871" y="96872"/>
                  </a:lnTo>
                  <a:lnTo>
                    <a:pt x="0" y="96872"/>
                  </a:lnTo>
                  <a:lnTo>
                    <a:pt x="0"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82" name="Google Shape;1382;p122"/>
          <p:cNvPicPr preferRelativeResize="0"/>
          <p:nvPr/>
        </p:nvPicPr>
        <p:blipFill rotWithShape="1">
          <a:blip r:embed="rId3">
            <a:alphaModFix amt="12000"/>
          </a:blip>
          <a:srcRect b="21874" l="0" r="0" t="0"/>
          <a:stretch/>
        </p:blipFill>
        <p:spPr>
          <a:xfrm>
            <a:off x="6504875" y="3069475"/>
            <a:ext cx="2639125" cy="20740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123"/>
          <p:cNvSpPr/>
          <p:nvPr/>
        </p:nvSpPr>
        <p:spPr>
          <a:xfrm>
            <a:off x="4572000" y="1104903"/>
            <a:ext cx="4612800" cy="4038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23"/>
          <p:cNvSpPr/>
          <p:nvPr/>
        </p:nvSpPr>
        <p:spPr>
          <a:xfrm>
            <a:off x="374300" y="1114619"/>
            <a:ext cx="4092900" cy="3550500"/>
          </a:xfrm>
          <a:prstGeom prst="re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23"/>
          <p:cNvSpPr txBox="1"/>
          <p:nvPr/>
        </p:nvSpPr>
        <p:spPr>
          <a:xfrm>
            <a:off x="4933950" y="1349050"/>
            <a:ext cx="3728700" cy="1558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1800">
                <a:solidFill>
                  <a:schemeClr val="dk2"/>
                </a:solidFill>
                <a:latin typeface="Roboto"/>
                <a:ea typeface="Roboto"/>
                <a:cs typeface="Roboto"/>
                <a:sym typeface="Roboto"/>
              </a:rPr>
              <a:t>In order to compromise a Windows machine, we will exploit any vulnerable services on the system and leverage legitimate tools and services for Windows. </a:t>
            </a:r>
            <a:endParaRPr sz="1800">
              <a:solidFill>
                <a:schemeClr val="dk2"/>
              </a:solidFill>
              <a:latin typeface="Roboto"/>
              <a:ea typeface="Roboto"/>
              <a:cs typeface="Roboto"/>
              <a:sym typeface="Roboto"/>
            </a:endParaRPr>
          </a:p>
        </p:txBody>
      </p:sp>
      <p:sp>
        <p:nvSpPr>
          <p:cNvPr id="1390" name="Google Shape;1390;p123"/>
          <p:cNvSpPr txBox="1"/>
          <p:nvPr/>
        </p:nvSpPr>
        <p:spPr>
          <a:xfrm>
            <a:off x="655600" y="1331494"/>
            <a:ext cx="3654300" cy="2243700"/>
          </a:xfrm>
          <a:prstGeom prst="rect">
            <a:avLst/>
          </a:prstGeom>
          <a:solidFill>
            <a:srgbClr val="1475D4"/>
          </a:solid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Exploitation for Windows is similar to exploitation for Linux.</a:t>
            </a:r>
            <a:r>
              <a:rPr lang="en" sz="1800">
                <a:solidFill>
                  <a:srgbClr val="FFFFFF"/>
                </a:solidFill>
                <a:latin typeface="Roboto Light"/>
                <a:ea typeface="Roboto Light"/>
                <a:cs typeface="Roboto Light"/>
                <a:sym typeface="Roboto Light"/>
              </a:rPr>
              <a:t> </a:t>
            </a:r>
            <a:endParaRPr sz="1800">
              <a:solidFill>
                <a:srgbClr val="FFFFFF"/>
              </a:solidFill>
              <a:latin typeface="Roboto Light"/>
              <a:ea typeface="Roboto Light"/>
              <a:cs typeface="Roboto Light"/>
              <a:sym typeface="Roboto Light"/>
            </a:endParaRPr>
          </a:p>
        </p:txBody>
      </p:sp>
      <p:pic>
        <p:nvPicPr>
          <p:cNvPr id="1391" name="Google Shape;1391;p123"/>
          <p:cNvPicPr preferRelativeResize="0"/>
          <p:nvPr/>
        </p:nvPicPr>
        <p:blipFill>
          <a:blip r:embed="rId3">
            <a:alphaModFix/>
          </a:blip>
          <a:stretch>
            <a:fillRect/>
          </a:stretch>
        </p:blipFill>
        <p:spPr>
          <a:xfrm>
            <a:off x="3089225" y="3095025"/>
            <a:ext cx="1149400" cy="1328774"/>
          </a:xfrm>
          <a:prstGeom prst="rect">
            <a:avLst/>
          </a:prstGeom>
          <a:noFill/>
          <a:ln>
            <a:noFill/>
          </a:ln>
        </p:spPr>
      </p:pic>
      <p:pic>
        <p:nvPicPr>
          <p:cNvPr id="1392" name="Google Shape;1392;p123"/>
          <p:cNvPicPr preferRelativeResize="0"/>
          <p:nvPr/>
        </p:nvPicPr>
        <p:blipFill>
          <a:blip r:embed="rId4">
            <a:alphaModFix/>
          </a:blip>
          <a:stretch>
            <a:fillRect/>
          </a:stretch>
        </p:blipFill>
        <p:spPr>
          <a:xfrm>
            <a:off x="7315200" y="3366100"/>
            <a:ext cx="1296450" cy="1249275"/>
          </a:xfrm>
          <a:prstGeom prst="rect">
            <a:avLst/>
          </a:prstGeom>
          <a:noFill/>
          <a:ln>
            <a:noFill/>
          </a:ln>
        </p:spPr>
      </p:pic>
      <p:sp>
        <p:nvSpPr>
          <p:cNvPr id="1393" name="Google Shape;1393;p123"/>
          <p:cNvSpPr txBox="1"/>
          <p:nvPr>
            <p:ph type="title"/>
          </p:nvPr>
        </p:nvSpPr>
        <p:spPr>
          <a:xfrm>
            <a:off x="914400" y="2987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latin typeface="Roboto Medium"/>
                <a:ea typeface="Roboto Medium"/>
                <a:cs typeface="Roboto Medium"/>
                <a:sym typeface="Roboto Medium"/>
              </a:rPr>
              <a:t>Windows Exploitation</a:t>
            </a:r>
            <a:endParaRPr>
              <a:solidFill>
                <a:schemeClr val="dk2"/>
              </a:solidFill>
              <a:latin typeface="Roboto Medium"/>
              <a:ea typeface="Roboto Medium"/>
              <a:cs typeface="Roboto Medium"/>
              <a:sym typeface="Roboto Medium"/>
            </a:endParaRPr>
          </a:p>
          <a:p>
            <a:pPr indent="0" lvl="0" marL="0" rtl="0" algn="l">
              <a:spcBef>
                <a:spcPts val="0"/>
              </a:spcBef>
              <a:spcAft>
                <a:spcPts val="0"/>
              </a:spcAft>
              <a:buNone/>
            </a:pPr>
            <a:r>
              <a:t/>
            </a:r>
            <a:endParaRPr/>
          </a:p>
        </p:txBody>
      </p:sp>
      <p:grpSp>
        <p:nvGrpSpPr>
          <p:cNvPr id="1394" name="Google Shape;1394;p123"/>
          <p:cNvGrpSpPr/>
          <p:nvPr/>
        </p:nvGrpSpPr>
        <p:grpSpPr>
          <a:xfrm>
            <a:off x="275126" y="298609"/>
            <a:ext cx="364133" cy="365880"/>
            <a:chOff x="1256475" y="298900"/>
            <a:chExt cx="5107050" cy="5117200"/>
          </a:xfrm>
        </p:grpSpPr>
        <p:sp>
          <p:nvSpPr>
            <p:cNvPr id="1395" name="Google Shape;1395;p123"/>
            <p:cNvSpPr/>
            <p:nvPr/>
          </p:nvSpPr>
          <p:spPr>
            <a:xfrm>
              <a:off x="1256475" y="298900"/>
              <a:ext cx="2421800" cy="2421825"/>
            </a:xfrm>
            <a:custGeom>
              <a:rect b="b" l="l" r="r" t="t"/>
              <a:pathLst>
                <a:path extrusionOk="0" fill="none" h="96873" w="96872">
                  <a:moveTo>
                    <a:pt x="1" y="1"/>
                  </a:moveTo>
                  <a:lnTo>
                    <a:pt x="96872" y="1"/>
                  </a:lnTo>
                  <a:lnTo>
                    <a:pt x="96872" y="96872"/>
                  </a:lnTo>
                  <a:lnTo>
                    <a:pt x="1" y="96872"/>
                  </a:lnTo>
                  <a:lnTo>
                    <a:pt x="1" y="1"/>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23"/>
            <p:cNvSpPr/>
            <p:nvPr/>
          </p:nvSpPr>
          <p:spPr>
            <a:xfrm>
              <a:off x="3941725" y="298900"/>
              <a:ext cx="2421800" cy="2421825"/>
            </a:xfrm>
            <a:custGeom>
              <a:rect b="b" l="l" r="r" t="t"/>
              <a:pathLst>
                <a:path extrusionOk="0" fill="none" h="96873" w="96872">
                  <a:moveTo>
                    <a:pt x="0" y="1"/>
                  </a:moveTo>
                  <a:lnTo>
                    <a:pt x="96871" y="1"/>
                  </a:lnTo>
                  <a:lnTo>
                    <a:pt x="96871" y="96872"/>
                  </a:lnTo>
                  <a:lnTo>
                    <a:pt x="0" y="96872"/>
                  </a:lnTo>
                  <a:lnTo>
                    <a:pt x="0" y="1"/>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23"/>
            <p:cNvSpPr/>
            <p:nvPr/>
          </p:nvSpPr>
          <p:spPr>
            <a:xfrm>
              <a:off x="1256475" y="2994275"/>
              <a:ext cx="2421800" cy="2421825"/>
            </a:xfrm>
            <a:custGeom>
              <a:rect b="b" l="l" r="r" t="t"/>
              <a:pathLst>
                <a:path extrusionOk="0" fill="none" h="96873" w="96872">
                  <a:moveTo>
                    <a:pt x="1" y="1"/>
                  </a:moveTo>
                  <a:lnTo>
                    <a:pt x="96872" y="1"/>
                  </a:lnTo>
                  <a:lnTo>
                    <a:pt x="96872" y="96872"/>
                  </a:lnTo>
                  <a:lnTo>
                    <a:pt x="1" y="96872"/>
                  </a:lnTo>
                  <a:lnTo>
                    <a:pt x="1" y="1"/>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23"/>
            <p:cNvSpPr/>
            <p:nvPr/>
          </p:nvSpPr>
          <p:spPr>
            <a:xfrm>
              <a:off x="3941725" y="2994275"/>
              <a:ext cx="2421800" cy="2421825"/>
            </a:xfrm>
            <a:custGeom>
              <a:rect b="b" l="l" r="r" t="t"/>
              <a:pathLst>
                <a:path extrusionOk="0" fill="none" h="96873" w="96872">
                  <a:moveTo>
                    <a:pt x="0" y="1"/>
                  </a:moveTo>
                  <a:lnTo>
                    <a:pt x="96871" y="1"/>
                  </a:lnTo>
                  <a:lnTo>
                    <a:pt x="96871" y="96872"/>
                  </a:lnTo>
                  <a:lnTo>
                    <a:pt x="0" y="96872"/>
                  </a:lnTo>
                  <a:lnTo>
                    <a:pt x="0" y="1"/>
                  </a:lnTo>
                  <a:close/>
                </a:path>
              </a:pathLst>
            </a:custGeom>
            <a:noFill/>
            <a:ln cap="rnd" cmpd="sng" w="952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124"/>
          <p:cNvSpPr txBox="1"/>
          <p:nvPr/>
        </p:nvSpPr>
        <p:spPr>
          <a:xfrm>
            <a:off x="365125" y="90067"/>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Medium"/>
                <a:ea typeface="Roboto Medium"/>
                <a:cs typeface="Roboto Medium"/>
                <a:sym typeface="Roboto Medium"/>
              </a:rPr>
              <a:t>WMI</a:t>
            </a:r>
            <a:endParaRPr b="1" sz="2600">
              <a:solidFill>
                <a:schemeClr val="dk2"/>
              </a:solidFill>
              <a:latin typeface="Roboto Medium"/>
              <a:ea typeface="Roboto Medium"/>
              <a:cs typeface="Roboto Medium"/>
              <a:sym typeface="Roboto Medium"/>
            </a:endParaRPr>
          </a:p>
        </p:txBody>
      </p:sp>
      <p:sp>
        <p:nvSpPr>
          <p:cNvPr id="1404" name="Google Shape;1404;p124"/>
          <p:cNvSpPr txBox="1"/>
          <p:nvPr>
            <p:ph idx="1" type="body"/>
          </p:nvPr>
        </p:nvSpPr>
        <p:spPr>
          <a:xfrm>
            <a:off x="453225" y="711625"/>
            <a:ext cx="8622000" cy="702000"/>
          </a:xfrm>
          <a:prstGeom prst="rect">
            <a:avLst/>
          </a:prstGeom>
        </p:spPr>
        <p:txBody>
          <a:bodyPr anchorCtr="0" anchor="t" bIns="91425" lIns="457200" spcFirstLastPara="1" rIns="182875" wrap="square" tIns="91425">
            <a:noAutofit/>
          </a:bodyPr>
          <a:lstStyle/>
          <a:p>
            <a:pPr indent="0" lvl="0" marL="0" rtl="0" algn="l">
              <a:spcBef>
                <a:spcPts val="0"/>
              </a:spcBef>
              <a:spcAft>
                <a:spcPts val="0"/>
              </a:spcAft>
              <a:buSzPts val="605"/>
              <a:buNone/>
            </a:pPr>
            <a:r>
              <a:rPr lang="en" sz="1735"/>
              <a:t>The first tool we’ll use is </a:t>
            </a:r>
            <a:r>
              <a:rPr b="1" lang="en" sz="1735"/>
              <a:t>Windows Management Instrumentation (WMI)</a:t>
            </a:r>
            <a:r>
              <a:rPr lang="en" sz="1735"/>
              <a:t>, a Microsoft tool created with the intention of remotely administering Windows machines.</a:t>
            </a:r>
            <a:endParaRPr sz="1735"/>
          </a:p>
        </p:txBody>
      </p:sp>
      <p:sp>
        <p:nvSpPr>
          <p:cNvPr id="1405" name="Google Shape;1405;p124"/>
          <p:cNvSpPr/>
          <p:nvPr/>
        </p:nvSpPr>
        <p:spPr>
          <a:xfrm>
            <a:off x="857757" y="1836025"/>
            <a:ext cx="80487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00025" rtl="0" algn="l">
              <a:spcBef>
                <a:spcPts val="0"/>
              </a:spcBef>
              <a:spcAft>
                <a:spcPts val="0"/>
              </a:spcAft>
              <a:buNone/>
            </a:pPr>
            <a:r>
              <a:rPr lang="en" sz="1600">
                <a:solidFill>
                  <a:schemeClr val="dk2"/>
                </a:solidFill>
                <a:latin typeface="Roboto"/>
                <a:ea typeface="Roboto"/>
                <a:cs typeface="Roboto"/>
                <a:sym typeface="Roboto"/>
              </a:rPr>
              <a:t>Similar to how most Linux machines are managed over SSH, Windows machines can be managed remotely via WMI.</a:t>
            </a:r>
            <a:endParaRPr sz="1600">
              <a:solidFill>
                <a:schemeClr val="dk2"/>
              </a:solidFill>
              <a:latin typeface="Roboto"/>
              <a:ea typeface="Roboto"/>
              <a:cs typeface="Roboto"/>
              <a:sym typeface="Roboto"/>
            </a:endParaRPr>
          </a:p>
        </p:txBody>
      </p:sp>
      <p:sp>
        <p:nvSpPr>
          <p:cNvPr id="1406" name="Google Shape;1406;p124"/>
          <p:cNvSpPr/>
          <p:nvPr/>
        </p:nvSpPr>
        <p:spPr>
          <a:xfrm>
            <a:off x="857757" y="2632500"/>
            <a:ext cx="80487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00025" rtl="0" algn="l">
              <a:spcBef>
                <a:spcPts val="0"/>
              </a:spcBef>
              <a:spcAft>
                <a:spcPts val="0"/>
              </a:spcAft>
              <a:buNone/>
            </a:pPr>
            <a:r>
              <a:rPr lang="en" sz="1600">
                <a:solidFill>
                  <a:schemeClr val="dk2"/>
                </a:solidFill>
                <a:latin typeface="Roboto"/>
                <a:ea typeface="Roboto"/>
                <a:cs typeface="Roboto"/>
                <a:sym typeface="Roboto"/>
              </a:rPr>
              <a:t>WMI operates over RPC, which is port 135.</a:t>
            </a:r>
            <a:endParaRPr sz="1600">
              <a:solidFill>
                <a:schemeClr val="dk2"/>
              </a:solidFill>
              <a:latin typeface="Roboto"/>
              <a:ea typeface="Roboto"/>
              <a:cs typeface="Roboto"/>
              <a:sym typeface="Roboto"/>
            </a:endParaRPr>
          </a:p>
        </p:txBody>
      </p:sp>
      <p:sp>
        <p:nvSpPr>
          <p:cNvPr id="1407" name="Google Shape;1407;p124"/>
          <p:cNvSpPr/>
          <p:nvPr/>
        </p:nvSpPr>
        <p:spPr>
          <a:xfrm>
            <a:off x="857757" y="3409800"/>
            <a:ext cx="8048700" cy="8157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00025" rtl="0" algn="l">
              <a:spcBef>
                <a:spcPts val="0"/>
              </a:spcBef>
              <a:spcAft>
                <a:spcPts val="0"/>
              </a:spcAft>
              <a:buNone/>
            </a:pPr>
            <a:r>
              <a:rPr lang="en" sz="1600">
                <a:solidFill>
                  <a:schemeClr val="dk2"/>
                </a:solidFill>
                <a:latin typeface="Roboto"/>
                <a:ea typeface="Roboto"/>
                <a:cs typeface="Roboto"/>
                <a:sym typeface="Roboto"/>
              </a:rPr>
              <a:t>Because WMI operates on port 135, which is also used for communication for AD,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a port scan against the Windows machine does not show the service WMI on port 135, as WMI simply leverages the RPC protocol on that port for communications.</a:t>
            </a:r>
            <a:endParaRPr sz="1600">
              <a:solidFill>
                <a:schemeClr val="dk2"/>
              </a:solidFill>
              <a:latin typeface="Roboto"/>
              <a:ea typeface="Roboto"/>
              <a:cs typeface="Roboto"/>
              <a:sym typeface="Roboto"/>
            </a:endParaRPr>
          </a:p>
        </p:txBody>
      </p:sp>
      <p:sp>
        <p:nvSpPr>
          <p:cNvPr id="1408" name="Google Shape;1408;p124"/>
          <p:cNvSpPr/>
          <p:nvPr/>
        </p:nvSpPr>
        <p:spPr>
          <a:xfrm>
            <a:off x="857757" y="4381500"/>
            <a:ext cx="80487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200025" rtl="0" algn="l">
              <a:spcBef>
                <a:spcPts val="0"/>
              </a:spcBef>
              <a:spcAft>
                <a:spcPts val="0"/>
              </a:spcAft>
              <a:buNone/>
            </a:pPr>
            <a:r>
              <a:rPr lang="en" sz="1600">
                <a:solidFill>
                  <a:schemeClr val="dk2"/>
                </a:solidFill>
                <a:latin typeface="Roboto"/>
                <a:ea typeface="Roboto"/>
                <a:cs typeface="Roboto"/>
                <a:sym typeface="Roboto"/>
              </a:rPr>
              <a:t>WMI is a default-installed tool on Windows.</a:t>
            </a:r>
            <a:endParaRPr sz="1600">
              <a:solidFill>
                <a:schemeClr val="dk2"/>
              </a:solidFill>
              <a:latin typeface="Roboto"/>
              <a:ea typeface="Roboto"/>
              <a:cs typeface="Roboto"/>
              <a:sym typeface="Roboto"/>
            </a:endParaRPr>
          </a:p>
        </p:txBody>
      </p:sp>
      <p:cxnSp>
        <p:nvCxnSpPr>
          <p:cNvPr id="1409" name="Google Shape;1409;p124"/>
          <p:cNvCxnSpPr/>
          <p:nvPr/>
        </p:nvCxnSpPr>
        <p:spPr>
          <a:xfrm>
            <a:off x="-187443" y="2136575"/>
            <a:ext cx="1045200" cy="0"/>
          </a:xfrm>
          <a:prstGeom prst="straightConnector1">
            <a:avLst/>
          </a:prstGeom>
          <a:noFill/>
          <a:ln cap="flat" cmpd="sng" w="19050">
            <a:solidFill>
              <a:srgbClr val="2E5E73"/>
            </a:solidFill>
            <a:prstDash val="solid"/>
            <a:round/>
            <a:headEnd len="med" w="med" type="none"/>
            <a:tailEnd len="med" w="med" type="oval"/>
          </a:ln>
        </p:spPr>
      </p:cxnSp>
      <p:sp>
        <p:nvSpPr>
          <p:cNvPr id="1410" name="Google Shape;1410;p124"/>
          <p:cNvSpPr/>
          <p:nvPr/>
        </p:nvSpPr>
        <p:spPr>
          <a:xfrm>
            <a:off x="683357" y="1985122"/>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cxnSp>
        <p:nvCxnSpPr>
          <p:cNvPr id="1411" name="Google Shape;1411;p124"/>
          <p:cNvCxnSpPr/>
          <p:nvPr/>
        </p:nvCxnSpPr>
        <p:spPr>
          <a:xfrm>
            <a:off x="-187443" y="2933050"/>
            <a:ext cx="1045200" cy="0"/>
          </a:xfrm>
          <a:prstGeom prst="straightConnector1">
            <a:avLst/>
          </a:prstGeom>
          <a:noFill/>
          <a:ln cap="flat" cmpd="sng" w="19050">
            <a:solidFill>
              <a:srgbClr val="2E5E73"/>
            </a:solidFill>
            <a:prstDash val="solid"/>
            <a:round/>
            <a:headEnd len="med" w="med" type="none"/>
            <a:tailEnd len="med" w="med" type="oval"/>
          </a:ln>
        </p:spPr>
      </p:cxnSp>
      <p:sp>
        <p:nvSpPr>
          <p:cNvPr id="1412" name="Google Shape;1412;p124"/>
          <p:cNvSpPr/>
          <p:nvPr/>
        </p:nvSpPr>
        <p:spPr>
          <a:xfrm>
            <a:off x="683357" y="278159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cxnSp>
        <p:nvCxnSpPr>
          <p:cNvPr id="1413" name="Google Shape;1413;p124"/>
          <p:cNvCxnSpPr/>
          <p:nvPr/>
        </p:nvCxnSpPr>
        <p:spPr>
          <a:xfrm>
            <a:off x="-187443" y="3807550"/>
            <a:ext cx="1045200" cy="0"/>
          </a:xfrm>
          <a:prstGeom prst="straightConnector1">
            <a:avLst/>
          </a:prstGeom>
          <a:noFill/>
          <a:ln cap="flat" cmpd="sng" w="19050">
            <a:solidFill>
              <a:srgbClr val="2E5E73"/>
            </a:solidFill>
            <a:prstDash val="solid"/>
            <a:round/>
            <a:headEnd len="med" w="med" type="none"/>
            <a:tailEnd len="med" w="med" type="oval"/>
          </a:ln>
        </p:spPr>
      </p:cxnSp>
      <p:sp>
        <p:nvSpPr>
          <p:cNvPr id="1414" name="Google Shape;1414;p124"/>
          <p:cNvSpPr/>
          <p:nvPr/>
        </p:nvSpPr>
        <p:spPr>
          <a:xfrm>
            <a:off x="683357" y="365609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cxnSp>
        <p:nvCxnSpPr>
          <p:cNvPr id="1415" name="Google Shape;1415;p124"/>
          <p:cNvCxnSpPr/>
          <p:nvPr/>
        </p:nvCxnSpPr>
        <p:spPr>
          <a:xfrm>
            <a:off x="-187443" y="4682050"/>
            <a:ext cx="1045200" cy="0"/>
          </a:xfrm>
          <a:prstGeom prst="straightConnector1">
            <a:avLst/>
          </a:prstGeom>
          <a:noFill/>
          <a:ln cap="flat" cmpd="sng" w="19050">
            <a:solidFill>
              <a:srgbClr val="2E5E73"/>
            </a:solidFill>
            <a:prstDash val="solid"/>
            <a:round/>
            <a:headEnd len="med" w="med" type="none"/>
            <a:tailEnd len="med" w="med" type="oval"/>
          </a:ln>
        </p:spPr>
      </p:cxnSp>
      <p:sp>
        <p:nvSpPr>
          <p:cNvPr id="1416" name="Google Shape;1416;p124"/>
          <p:cNvSpPr/>
          <p:nvPr/>
        </p:nvSpPr>
        <p:spPr>
          <a:xfrm>
            <a:off x="683357" y="4530597"/>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417" name="Google Shape;1417;p124"/>
          <p:cNvSpPr/>
          <p:nvPr/>
        </p:nvSpPr>
        <p:spPr>
          <a:xfrm>
            <a:off x="763150" y="2066701"/>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418" name="Google Shape;1418;p124"/>
          <p:cNvSpPr/>
          <p:nvPr/>
        </p:nvSpPr>
        <p:spPr>
          <a:xfrm>
            <a:off x="763150" y="2861401"/>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419" name="Google Shape;1419;p124"/>
          <p:cNvSpPr/>
          <p:nvPr/>
        </p:nvSpPr>
        <p:spPr>
          <a:xfrm>
            <a:off x="763150" y="3735900"/>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420" name="Google Shape;1420;p124"/>
          <p:cNvSpPr/>
          <p:nvPr/>
        </p:nvSpPr>
        <p:spPr>
          <a:xfrm>
            <a:off x="763150" y="4610401"/>
            <a:ext cx="163500" cy="163500"/>
          </a:xfrm>
          <a:prstGeom prst="ellipse">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24" name="Shape 1424"/>
        <p:cNvGrpSpPr/>
        <p:nvPr/>
      </p:nvGrpSpPr>
      <p:grpSpPr>
        <a:xfrm>
          <a:off x="0" y="0"/>
          <a:ext cx="0" cy="0"/>
          <a:chOff x="0" y="0"/>
          <a:chExt cx="0" cy="0"/>
        </a:xfrm>
      </p:grpSpPr>
      <p:sp>
        <p:nvSpPr>
          <p:cNvPr id="1425" name="Google Shape;1425;p125"/>
          <p:cNvSpPr txBox="1"/>
          <p:nvPr/>
        </p:nvSpPr>
        <p:spPr>
          <a:xfrm>
            <a:off x="355431" y="9018"/>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Medium"/>
                <a:ea typeface="Roboto Medium"/>
                <a:cs typeface="Roboto Medium"/>
                <a:sym typeface="Roboto Medium"/>
              </a:rPr>
              <a:t>WMI Demo</a:t>
            </a:r>
            <a:endParaRPr b="1" sz="2600">
              <a:solidFill>
                <a:schemeClr val="dk2"/>
              </a:solidFill>
              <a:latin typeface="Roboto Medium"/>
              <a:ea typeface="Roboto Medium"/>
              <a:cs typeface="Roboto Medium"/>
              <a:sym typeface="Roboto Medium"/>
            </a:endParaRPr>
          </a:p>
        </p:txBody>
      </p:sp>
      <p:sp>
        <p:nvSpPr>
          <p:cNvPr id="1426" name="Google Shape;1426;p125"/>
          <p:cNvSpPr txBox="1"/>
          <p:nvPr>
            <p:ph idx="1" type="body"/>
          </p:nvPr>
        </p:nvSpPr>
        <p:spPr>
          <a:xfrm>
            <a:off x="-15694" y="554004"/>
            <a:ext cx="8520600" cy="330000"/>
          </a:xfrm>
          <a:prstGeom prst="rect">
            <a:avLst/>
          </a:prstGeom>
        </p:spPr>
        <p:txBody>
          <a:bodyPr anchorCtr="0" anchor="t" bIns="91425" lIns="457200" spcFirstLastPara="1" rIns="182875" wrap="square" tIns="91425">
            <a:noAutofit/>
          </a:bodyPr>
          <a:lstStyle/>
          <a:p>
            <a:pPr indent="0" lvl="0" marL="0" rtl="0" algn="l">
              <a:spcBef>
                <a:spcPts val="0"/>
              </a:spcBef>
              <a:spcAft>
                <a:spcPts val="0"/>
              </a:spcAft>
              <a:buSzPts val="605"/>
              <a:buNone/>
            </a:pPr>
            <a:r>
              <a:rPr lang="en" sz="1835"/>
              <a:t>Let’s explore how WMI is intended to work.</a:t>
            </a:r>
            <a:endParaRPr sz="1835"/>
          </a:p>
        </p:txBody>
      </p:sp>
      <p:pic>
        <p:nvPicPr>
          <p:cNvPr id="1427" name="Google Shape;1427;p125"/>
          <p:cNvPicPr preferRelativeResize="0"/>
          <p:nvPr/>
        </p:nvPicPr>
        <p:blipFill>
          <a:blip r:embed="rId3">
            <a:alphaModFix/>
          </a:blip>
          <a:stretch>
            <a:fillRect/>
          </a:stretch>
        </p:blipFill>
        <p:spPr>
          <a:xfrm>
            <a:off x="1017163" y="1193175"/>
            <a:ext cx="7109686" cy="3571075"/>
          </a:xfrm>
          <a:prstGeom prst="rect">
            <a:avLst/>
          </a:prstGeom>
          <a:noFill/>
          <a:ln>
            <a:noFill/>
          </a:ln>
          <a:effectLst>
            <a:outerShdw blurRad="100013" rotWithShape="0" algn="bl" dir="5400000" dist="38100">
              <a:srgbClr val="000000">
                <a:alpha val="50000"/>
              </a:srgbClr>
            </a:outerShdw>
          </a:effectLst>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126"/>
          <p:cNvSpPr txBox="1"/>
          <p:nvPr>
            <p:ph type="title"/>
          </p:nvPr>
        </p:nvSpPr>
        <p:spPr>
          <a:xfrm>
            <a:off x="0" y="3789950"/>
            <a:ext cx="9127500" cy="566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500">
                <a:solidFill>
                  <a:schemeClr val="lt1"/>
                </a:solidFill>
              </a:rPr>
              <a:t>WMI</a:t>
            </a:r>
            <a:endParaRPr sz="2500">
              <a:solidFill>
                <a:schemeClr val="lt1"/>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36" name="Shape 1436"/>
        <p:cNvGrpSpPr/>
        <p:nvPr/>
      </p:nvGrpSpPr>
      <p:grpSpPr>
        <a:xfrm>
          <a:off x="0" y="0"/>
          <a:ext cx="0" cy="0"/>
          <a:chOff x="0" y="0"/>
          <a:chExt cx="0" cy="0"/>
        </a:xfrm>
      </p:grpSpPr>
      <p:pic>
        <p:nvPicPr>
          <p:cNvPr id="1437" name="Google Shape;1437;p127"/>
          <p:cNvPicPr preferRelativeResize="0"/>
          <p:nvPr/>
        </p:nvPicPr>
        <p:blipFill>
          <a:blip r:embed="rId3">
            <a:alphaModFix/>
          </a:blip>
          <a:stretch>
            <a:fillRect/>
          </a:stretch>
        </p:blipFill>
        <p:spPr>
          <a:xfrm>
            <a:off x="184525" y="1030250"/>
            <a:ext cx="8774950" cy="4113250"/>
          </a:xfrm>
          <a:prstGeom prst="rect">
            <a:avLst/>
          </a:prstGeom>
          <a:noFill/>
          <a:ln>
            <a:noFill/>
          </a:ln>
        </p:spPr>
      </p:pic>
      <p:sp>
        <p:nvSpPr>
          <p:cNvPr id="1438" name="Google Shape;1438;p127"/>
          <p:cNvSpPr/>
          <p:nvPr/>
        </p:nvSpPr>
        <p:spPr>
          <a:xfrm>
            <a:off x="201225" y="467125"/>
            <a:ext cx="8668500" cy="191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127"/>
          <p:cNvSpPr txBox="1"/>
          <p:nvPr>
            <p:ph type="title"/>
          </p:nvPr>
        </p:nvSpPr>
        <p:spPr>
          <a:xfrm>
            <a:off x="0" y="198500"/>
            <a:ext cx="9144000" cy="1019700"/>
          </a:xfrm>
          <a:prstGeom prst="rect">
            <a:avLst/>
          </a:prstGeom>
          <a:noFill/>
        </p:spPr>
        <p:txBody>
          <a:bodyPr anchorCtr="0" anchor="t" bIns="91425" lIns="274300" spcFirstLastPara="1" rIns="274300" wrap="square" tIns="91425">
            <a:noAutofit/>
          </a:bodyPr>
          <a:lstStyle/>
          <a:p>
            <a:pPr indent="0" lvl="0" marL="0" rtl="0" algn="ctr">
              <a:spcBef>
                <a:spcPts val="0"/>
              </a:spcBef>
              <a:spcAft>
                <a:spcPts val="0"/>
              </a:spcAft>
              <a:buNone/>
            </a:pPr>
            <a:r>
              <a:rPr b="0" lang="en" sz="1800">
                <a:solidFill>
                  <a:srgbClr val="FFFFFF"/>
                </a:solidFill>
                <a:latin typeface="Roboto"/>
                <a:ea typeface="Roboto"/>
                <a:cs typeface="Roboto"/>
                <a:sym typeface="Roboto"/>
              </a:rPr>
              <a:t>Now that you understand how WMI normally operates, we will use the Metasploit </a:t>
            </a:r>
            <a:br>
              <a:rPr b="0" lang="en" sz="1800">
                <a:solidFill>
                  <a:srgbClr val="FFFFFF"/>
                </a:solidFill>
                <a:latin typeface="Roboto"/>
                <a:ea typeface="Roboto"/>
                <a:cs typeface="Roboto"/>
                <a:sym typeface="Roboto"/>
              </a:rPr>
            </a:br>
            <a:r>
              <a:rPr b="0" lang="en" sz="1800">
                <a:solidFill>
                  <a:srgbClr val="FFFFFF"/>
                </a:solidFill>
                <a:latin typeface="Roboto"/>
                <a:ea typeface="Roboto"/>
                <a:cs typeface="Roboto"/>
                <a:sym typeface="Roboto"/>
              </a:rPr>
              <a:t>module and WMI to run commands remotely on the target machine.</a:t>
            </a:r>
            <a:endParaRPr b="0" sz="1800">
              <a:solidFill>
                <a:srgbClr val="FFFFFF"/>
              </a:solidFill>
              <a:latin typeface="Roboto"/>
              <a:ea typeface="Roboto"/>
              <a:cs typeface="Roboto"/>
              <a:sym typeface="Robot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28"/>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lnSpc>
                <a:spcPct val="100000"/>
              </a:lnSpc>
              <a:spcBef>
                <a:spcPts val="0"/>
              </a:spcBef>
              <a:spcAft>
                <a:spcPts val="0"/>
              </a:spcAft>
              <a:buNone/>
            </a:pPr>
            <a:r>
              <a:rPr lang="en"/>
              <a:t>135 (RPC)</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8" name="Shape 1448"/>
        <p:cNvGrpSpPr/>
        <p:nvPr/>
      </p:nvGrpSpPr>
      <p:grpSpPr>
        <a:xfrm>
          <a:off x="0" y="0"/>
          <a:ext cx="0" cy="0"/>
          <a:chOff x="0" y="0"/>
          <a:chExt cx="0" cy="0"/>
        </a:xfrm>
      </p:grpSpPr>
      <p:sp>
        <p:nvSpPr>
          <p:cNvPr id="1449" name="Google Shape;1449;p129"/>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1450" name="Google Shape;1450;p129"/>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t>Windows exploitation</a:t>
            </a:r>
            <a:endParaRPr/>
          </a:p>
          <a:p>
            <a:pPr indent="0" lvl="0" marL="0" rtl="0" algn="l">
              <a:spcBef>
                <a:spcPts val="0"/>
              </a:spcBef>
              <a:spcAft>
                <a:spcPts val="0"/>
              </a:spcAft>
              <a:buNone/>
            </a:pPr>
            <a:r>
              <a:t/>
            </a:r>
            <a:endParaRPr/>
          </a:p>
        </p:txBody>
      </p:sp>
      <p:sp>
        <p:nvSpPr>
          <p:cNvPr id="1451" name="Google Shape;1451;p129"/>
          <p:cNvSpPr txBox="1"/>
          <p:nvPr>
            <p:ph idx="3" type="body"/>
          </p:nvPr>
        </p:nvSpPr>
        <p:spPr>
          <a:xfrm>
            <a:off x="912725" y="1516225"/>
            <a:ext cx="65895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you’ll leverage the credentials you found </a:t>
            </a:r>
            <a:br>
              <a:rPr lang="en"/>
            </a:br>
            <a:r>
              <a:rPr lang="en"/>
              <a:t>in previous activities and use a Metasploit module to run commands on the remote machine.</a:t>
            </a:r>
            <a:endParaRPr/>
          </a:p>
          <a:p>
            <a:pPr indent="0" lvl="0" marL="0" rtl="0" algn="l">
              <a:spcBef>
                <a:spcPts val="0"/>
              </a:spcBef>
              <a:spcAft>
                <a:spcPts val="0"/>
              </a:spcAft>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