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  <p:embeddedFont>
      <p:font typeface="Roboto Medium"/>
      <p:regular r:id="rId52"/>
      <p:bold r:id="rId53"/>
      <p:italic r:id="rId54"/>
      <p:boldItalic r:id="rId55"/>
    </p:embeddedFont>
    <p:embeddedFont>
      <p:font typeface="Roboto Light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0" roundtripDataSignature="AMtx7mh8ShMr2Y/W65gva/Cjg3IkIS2D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Corey Thomps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regular.fntdata"/><Relationship Id="rId47" Type="http://schemas.openxmlformats.org/officeDocument/2006/relationships/slide" Target="slides/slide42.xml"/><Relationship Id="rId49" Type="http://schemas.openxmlformats.org/officeDocument/2006/relationships/font" Target="fonts/Robot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customschemas.google.com/relationships/presentationmetadata" Target="meta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RobotoMedium-bold.fntdata"/><Relationship Id="rId52" Type="http://schemas.openxmlformats.org/officeDocument/2006/relationships/font" Target="fonts/RobotoMedium-regular.fntdata"/><Relationship Id="rId11" Type="http://schemas.openxmlformats.org/officeDocument/2006/relationships/slide" Target="slides/slide6.xml"/><Relationship Id="rId55" Type="http://schemas.openxmlformats.org/officeDocument/2006/relationships/font" Target="fonts/RobotoMedium-boldItalic.fntdata"/><Relationship Id="rId10" Type="http://schemas.openxmlformats.org/officeDocument/2006/relationships/slide" Target="slides/slide5.xml"/><Relationship Id="rId54" Type="http://schemas.openxmlformats.org/officeDocument/2006/relationships/font" Target="fonts/RobotoMedium-italic.fntdata"/><Relationship Id="rId13" Type="http://schemas.openxmlformats.org/officeDocument/2006/relationships/slide" Target="slides/slide8.xml"/><Relationship Id="rId57" Type="http://schemas.openxmlformats.org/officeDocument/2006/relationships/font" Target="fonts/RobotoLight-bold.fntdata"/><Relationship Id="rId12" Type="http://schemas.openxmlformats.org/officeDocument/2006/relationships/slide" Target="slides/slide7.xml"/><Relationship Id="rId56" Type="http://schemas.openxmlformats.org/officeDocument/2006/relationships/font" Target="fonts/RobotoLight-regular.fntdata"/><Relationship Id="rId15" Type="http://schemas.openxmlformats.org/officeDocument/2006/relationships/slide" Target="slides/slide10.xml"/><Relationship Id="rId59" Type="http://schemas.openxmlformats.org/officeDocument/2006/relationships/font" Target="fonts/RobotoLight-boldItalic.fntdata"/><Relationship Id="rId14" Type="http://schemas.openxmlformats.org/officeDocument/2006/relationships/slide" Target="slides/slide9.xml"/><Relationship Id="rId58" Type="http://schemas.openxmlformats.org/officeDocument/2006/relationships/font" Target="fonts/RobotoLight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07-30T23:45:50.243">
    <p:pos x="6000" y="0"/>
    <p:text>New Slide, image is the same as in the LP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S3sHMfo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2ef79be130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2ef79be130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3" name="Google Shape;4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2ef79be130c_0_9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2ef79be130c_0_9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ef79be130c_0_19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ef79be130c_0_19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2ef79be130c_0_20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2ef79be130c_0_20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ef79be130c_0_20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2ef79be130c_0_20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5" name="Google Shape;4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" name="Google Shape;4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ef79be130c_0_20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2ef79be130c_0_20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Shutterstock_792833623 </a:t>
            </a:r>
            <a:r>
              <a:rPr lang="en"/>
              <a:t>shutterstock_693068344 shutterstock_693068344.png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ef79be130c_0_30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2ef79be130c_0_3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ef79be130c_0_30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2ef79be130c_0_30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ef79be130c_0_30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ef79be130c_0_30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2" name="Google Shape;59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2ef79be130c_0_30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2ef79be130c_0_3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2" name="Google Shape;60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ef79be130c_0_30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ef79be130c_0_30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ef79be130c_0_3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2ef79be130c_0_3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0" name="Google Shape;65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2ef79be130c_0_3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2ef79be130c_0_3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2" name="Google Shape;66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ebb55b162e_0_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2ebb55b162e_0_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2ef79be130c_0_3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0" name="Google Shape;700;g2ef79be130c_0_3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ef79be130c_0_3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6" name="Google Shape;716;g2ef79be130c_0_3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2ef79be130c_0_3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4" name="Google Shape;724;g2ef79be130c_0_3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ef79be130c_0_3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ef79be130c_0_3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ef79be130c_0_35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ef79be130c_0_35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6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28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29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Relationship Id="rId3" Type="http://schemas.openxmlformats.org/officeDocument/2006/relationships/image" Target="../media/image30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1.png"/><Relationship Id="rId3" Type="http://schemas.openxmlformats.org/officeDocument/2006/relationships/image" Target="../media/image28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2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s + Body text">
  <p:cSld name="CUSTOM_1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ebb55b162e_0_4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g2ebb55b162e_0_4"/>
          <p:cNvSpPr txBox="1"/>
          <p:nvPr>
            <p:ph idx="1" type="subTitle"/>
          </p:nvPr>
        </p:nvSpPr>
        <p:spPr>
          <a:xfrm>
            <a:off x="457200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2" name="Google Shape;12;g2ebb55b162e_0_4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Right image layout">
  <p:cSld name="CUSTOM_6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2ebb55b162e_0_8"/>
          <p:cNvSpPr/>
          <p:nvPr>
            <p:ph idx="2" type="pic"/>
          </p:nvPr>
        </p:nvSpPr>
        <p:spPr>
          <a:xfrm>
            <a:off x="5943725" y="150"/>
            <a:ext cx="32001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5" name="Google Shape;15;g2ebb55b162e_0_8"/>
          <p:cNvSpPr txBox="1"/>
          <p:nvPr>
            <p:ph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g2ebb55b162e_0_8"/>
          <p:cNvSpPr txBox="1"/>
          <p:nvPr>
            <p:ph idx="1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7" name="Google Shape;17;g2ebb55b162e_0_8"/>
          <p:cNvSpPr txBox="1"/>
          <p:nvPr>
            <p:ph idx="3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right text layout">
  <p:cSld name="CUSTOM_3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2ebb55b162e_0_13"/>
          <p:cNvSpPr/>
          <p:nvPr/>
        </p:nvSpPr>
        <p:spPr>
          <a:xfrm>
            <a:off x="5943650" y="0"/>
            <a:ext cx="31965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g2ebb55b162e_0_13"/>
          <p:cNvSpPr txBox="1"/>
          <p:nvPr>
            <p:ph type="title"/>
          </p:nvPr>
        </p:nvSpPr>
        <p:spPr>
          <a:xfrm>
            <a:off x="6400800" y="725688"/>
            <a:ext cx="22860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" name="Google Shape;21;g2ebb55b162e_0_13"/>
          <p:cNvSpPr txBox="1"/>
          <p:nvPr>
            <p:ph idx="1" type="subTitle"/>
          </p:nvPr>
        </p:nvSpPr>
        <p:spPr>
          <a:xfrm>
            <a:off x="6400800" y="1600088"/>
            <a:ext cx="2349300" cy="29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" name="Google Shape;22;g2ebb55b162e_0_13"/>
          <p:cNvSpPr txBox="1"/>
          <p:nvPr>
            <p:ph idx="2" type="body"/>
          </p:nvPr>
        </p:nvSpPr>
        <p:spPr>
          <a:xfrm>
            <a:off x="457200" y="1063525"/>
            <a:ext cx="50292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" name="Google Shape;23;g2ebb55b162e_0_13"/>
          <p:cNvSpPr txBox="1"/>
          <p:nvPr>
            <p:ph idx="3" type="subTitle"/>
          </p:nvPr>
        </p:nvSpPr>
        <p:spPr>
          <a:xfrm>
            <a:off x="461220" y="548650"/>
            <a:ext cx="54825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4" name="Google Shape;24;g2ebb55b162e_0_13"/>
          <p:cNvSpPr txBox="1"/>
          <p:nvPr>
            <p:ph idx="4" type="title"/>
          </p:nvPr>
        </p:nvSpPr>
        <p:spPr>
          <a:xfrm>
            <a:off x="457200" y="146300"/>
            <a:ext cx="548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With image insert">
  <p:cSld name="CUSTOM_8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g2ebb55b162e_0_20"/>
          <p:cNvCxnSpPr/>
          <p:nvPr/>
        </p:nvCxnSpPr>
        <p:spPr>
          <a:xfrm rot="10800000">
            <a:off x="3453900" y="1729748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cxnSp>
        <p:nvCxnSpPr>
          <p:cNvPr id="27" name="Google Shape;27;g2ebb55b162e_0_20"/>
          <p:cNvCxnSpPr/>
          <p:nvPr/>
        </p:nvCxnSpPr>
        <p:spPr>
          <a:xfrm rot="10800000">
            <a:off x="3453900" y="3524825"/>
            <a:ext cx="585300" cy="0"/>
          </a:xfrm>
          <a:prstGeom prst="straightConnector1">
            <a:avLst/>
          </a:prstGeom>
          <a:noFill/>
          <a:ln cap="rnd" cmpd="sng" w="9525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" name="Google Shape;28;g2ebb55b162e_0_20"/>
          <p:cNvSpPr/>
          <p:nvPr>
            <p:ph idx="2" type="pic"/>
          </p:nvPr>
        </p:nvSpPr>
        <p:spPr>
          <a:xfrm>
            <a:off x="3657600" y="1371600"/>
            <a:ext cx="5029200" cy="27423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sp>
      <p:sp>
        <p:nvSpPr>
          <p:cNvPr id="29" name="Google Shape;29;g2ebb55b162e_0_2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g2ebb55b162e_0_20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" name="Google Shape;31;g2ebb55b162e_0_20"/>
          <p:cNvSpPr txBox="1"/>
          <p:nvPr>
            <p:ph idx="3" type="body"/>
          </p:nvPr>
        </p:nvSpPr>
        <p:spPr>
          <a:xfrm>
            <a:off x="457200" y="1592650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2" name="Google Shape;32;g2ebb55b162e_0_20"/>
          <p:cNvSpPr txBox="1"/>
          <p:nvPr>
            <p:ph idx="4" type="body"/>
          </p:nvPr>
        </p:nvSpPr>
        <p:spPr>
          <a:xfrm>
            <a:off x="457200" y="3413275"/>
            <a:ext cx="3013200" cy="11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Left image layout">
  <p:cSld name="CUSTOM_7_2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2ebb55b162e_0_28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g2ebb55b162e_0_28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" name="Google Shape;36;g2ebb55b162e_0_28"/>
          <p:cNvSpPr txBox="1"/>
          <p:nvPr>
            <p:ph type="title"/>
          </p:nvPr>
        </p:nvSpPr>
        <p:spPr>
          <a:xfrm>
            <a:off x="3657601" y="146300"/>
            <a:ext cx="5029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g2ebb55b162e_0_28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 + Subheading blank">
  <p:cSld name="CUSTOM_21_2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g2ebb55b162e_0_33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0" name="Google Shape;40;g2ebb55b162e_0_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2ebb55b162e_0_33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g2ebb55b162e_0_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3" name="Google Shape;43;g2ebb55b162e_0_33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 line (with bullets)">
  <p:cSld name="CUSTOM_2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g2ebb55b162e_0_39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46" name="Google Shape;46;g2ebb55b162e_0_39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g2ebb55b162e_0_39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2ebb55b162e_0_39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ebb55b162e_0_39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2ebb55b162e_0_39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2ebb55b162e_0_39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2ebb55b162e_0_39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2ebb55b162e_0_39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g2ebb55b162e_0_39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2ebb55b162e_0_39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2ebb55b162e_0_3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g2ebb55b162e_0_3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8" name="Google Shape;58;g2ebb55b162e_0_3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9" name="Google Shape;59;g2ebb55b162e_0_39"/>
          <p:cNvSpPr txBox="1"/>
          <p:nvPr>
            <p:ph idx="2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0" name="Google Shape;60;g2ebb55b162e_0_39"/>
          <p:cNvSpPr txBox="1"/>
          <p:nvPr>
            <p:ph idx="3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g2ebb55b162e_0_39"/>
          <p:cNvSpPr txBox="1"/>
          <p:nvPr>
            <p:ph idx="4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g2ebb55b162e_0_39"/>
          <p:cNvSpPr txBox="1"/>
          <p:nvPr>
            <p:ph idx="5" type="body"/>
          </p:nvPr>
        </p:nvSpPr>
        <p:spPr>
          <a:xfrm>
            <a:off x="914400" y="324536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63" name="Google Shape;63;g2ebb55b162e_0_39"/>
          <p:cNvSpPr txBox="1"/>
          <p:nvPr>
            <p:ph idx="6" type="body"/>
          </p:nvPr>
        </p:nvSpPr>
        <p:spPr>
          <a:xfrm>
            <a:off x="914400" y="393089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blank)">
  <p:cSld name="CUSTOM_21_2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bb55b162e_0_5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2ebb55b162e_0_59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g2ebb55b162e_0_5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68" name="Google Shape;68;g2ebb55b162e_0_59"/>
          <p:cNvSpPr txBox="1"/>
          <p:nvPr>
            <p:ph idx="2" type="body"/>
          </p:nvPr>
        </p:nvSpPr>
        <p:spPr>
          <a:xfrm>
            <a:off x="461225" y="1063525"/>
            <a:ext cx="82296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 - Headings without line (With bullets)">
  <p:cSld name="CUSTOM_2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bb55b162e_0_64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2ebb55b162e_0_64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g2ebb55b162e_0_64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g2ebb55b162e_0_64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g2ebb55b162e_0_64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g2ebb55b162e_0_64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6" name="Google Shape;76;g2ebb55b162e_0_64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7" name="Google Shape;77;g2ebb55b162e_0_64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8" name="Google Shape;78;g2ebb55b162e_0_64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" name="Google Shape;79;g2ebb55b162e_0_64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0" name="Google Shape;80;g2ebb55b162e_0_64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g2ebb55b162e_0_64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2ebb55b162e_0_64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2ebb55b162e_0_64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2ebb55b162e_0_64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g2ebb55b162e_0_64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ebb55b162e_0_64"/>
          <p:cNvSpPr txBox="1"/>
          <p:nvPr>
            <p:ph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g2ebb55b162e_0_64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2 - Heading + Subheading blank">
  <p:cSld name="CUSTOM_11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bb55b162e_0_83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g2ebb55b162e_0_83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Longer title" type="secHead">
  <p:cSld name="SECTION_HEADER">
    <p:bg>
      <p:bgPr>
        <a:solidFill>
          <a:schemeClr val="dk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g2ebb55b162e_0_86"/>
          <p:cNvCxnSpPr/>
          <p:nvPr/>
        </p:nvCxnSpPr>
        <p:spPr>
          <a:xfrm>
            <a:off x="4580627" y="16187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93" name="Google Shape;93;g2ebb55b162e_0_86"/>
          <p:cNvSpPr txBox="1"/>
          <p:nvPr>
            <p:ph type="title"/>
          </p:nvPr>
        </p:nvSpPr>
        <p:spPr>
          <a:xfrm>
            <a:off x="4570700" y="1804650"/>
            <a:ext cx="4557900" cy="1215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4" name="Google Shape;94;g2ebb55b162e_0_86"/>
          <p:cNvSpPr txBox="1"/>
          <p:nvPr>
            <p:ph idx="1" type="subTitle"/>
          </p:nvPr>
        </p:nvSpPr>
        <p:spPr>
          <a:xfrm>
            <a:off x="4572000" y="1127800"/>
            <a:ext cx="4572000" cy="185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5" name="Google Shape;95;g2ebb55b162e_0_86"/>
          <p:cNvSpPr txBox="1"/>
          <p:nvPr>
            <p:ph idx="2" type="subTitle"/>
          </p:nvPr>
        </p:nvSpPr>
        <p:spPr>
          <a:xfrm>
            <a:off x="4572000" y="32034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g2ebb55b162e_0_86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316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- Shorter title">
  <p:cSld name="SECTION_HEADER_1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8" name="Google Shape;98;g2ebb55b162e_0_92"/>
          <p:cNvCxnSpPr/>
          <p:nvPr/>
        </p:nvCxnSpPr>
        <p:spPr>
          <a:xfrm>
            <a:off x="4570695" y="1823650"/>
            <a:ext cx="9207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cxnSp>
        <p:nvCxnSpPr>
          <p:cNvPr id="99" name="Google Shape;99;g2ebb55b162e_0_92"/>
          <p:cNvCxnSpPr/>
          <p:nvPr/>
        </p:nvCxnSpPr>
        <p:spPr>
          <a:xfrm>
            <a:off x="4580627" y="1823550"/>
            <a:ext cx="5175900" cy="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med" w="med" type="oval"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</p:cxnSp>
      <p:sp>
        <p:nvSpPr>
          <p:cNvPr id="100" name="Google Shape;100;g2ebb55b162e_0_92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Roboto"/>
              <a:buNone/>
              <a:defRPr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1" name="Google Shape;101;g2ebb55b162e_0_92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  <a:defRPr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02" name="Google Shape;102;g2ebb55b162e_0_92"/>
          <p:cNvSpPr txBox="1"/>
          <p:nvPr>
            <p:ph idx="2" type="subTitle"/>
          </p:nvPr>
        </p:nvSpPr>
        <p:spPr>
          <a:xfrm>
            <a:off x="4572000" y="2882050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800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g2ebb55b162e_0_92"/>
          <p:cNvSpPr txBox="1"/>
          <p:nvPr/>
        </p:nvSpPr>
        <p:spPr>
          <a:xfrm>
            <a:off x="6058325" y="3097550"/>
            <a:ext cx="3095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" name="Google Shape;104;g2ebb55b162e_0_92"/>
          <p:cNvSpPr txBox="1"/>
          <p:nvPr/>
        </p:nvSpPr>
        <p:spPr>
          <a:xfrm>
            <a:off x="414900" y="4911900"/>
            <a:ext cx="50643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© 2024 edX Boot Camps LLC. Confidential and Proprietary. All Rights Reserved.</a:t>
            </a:r>
            <a:endParaRPr b="0" i="0" sz="1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Blank">
  <p:cSld name="CUSTOM_26_1">
    <p:bg>
      <p:bgPr>
        <a:solidFill>
          <a:schemeClr val="dk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bb55b162e_0_100"/>
          <p:cNvSpPr txBox="1"/>
          <p:nvPr>
            <p:ph type="title"/>
          </p:nvPr>
        </p:nvSpPr>
        <p:spPr>
          <a:xfrm>
            <a:off x="0" y="3073400"/>
            <a:ext cx="91440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07" name="Google Shape;107;g2ebb55b162e_0_100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2ebb55b162e_0_100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Next class">
  <p:cSld name="CUSTOM_10_1_1_1_2_2_1">
    <p:bg>
      <p:bgPr>
        <a:solidFill>
          <a:schemeClr val="dk2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bb55b162e_0_10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lass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g2ebb55b162e_0_104"/>
          <p:cNvSpPr/>
          <p:nvPr/>
        </p:nvSpPr>
        <p:spPr>
          <a:xfrm>
            <a:off x="36575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2ebb55b162e_0_104"/>
          <p:cNvSpPr/>
          <p:nvPr/>
        </p:nvSpPr>
        <p:spPr>
          <a:xfrm>
            <a:off x="4429130" y="1541930"/>
            <a:ext cx="285844" cy="574072"/>
          </a:xfrm>
          <a:custGeom>
            <a:rect b="b" l="l" r="r" t="t"/>
            <a:pathLst>
              <a:path extrusionOk="0" fill="none" h="206130" w="102637">
                <a:moveTo>
                  <a:pt x="0" y="1"/>
                </a:moveTo>
                <a:lnTo>
                  <a:pt x="102637" y="103065"/>
                </a:lnTo>
                <a:lnTo>
                  <a:pt x="0" y="206129"/>
                </a:lnTo>
              </a:path>
            </a:pathLst>
          </a:custGeom>
          <a:solidFill>
            <a:srgbClr val="FFFFFF"/>
          </a:solidFill>
          <a:ln cap="rnd" cmpd="sng" w="28575">
            <a:solidFill>
              <a:srgbClr val="2836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2836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2ebb55b162e_0_104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Time to Code">
  <p:cSld name="CUSTOM_10_1_1_1_2_2_1_1">
    <p:bg>
      <p:bgPr>
        <a:solidFill>
          <a:schemeClr val="dk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bb55b162e_0_109"/>
          <p:cNvSpPr txBox="1"/>
          <p:nvPr/>
        </p:nvSpPr>
        <p:spPr>
          <a:xfrm>
            <a:off x="5901175" y="3977950"/>
            <a:ext cx="27855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" name="Google Shape;116;g2ebb55b162e_0_109"/>
          <p:cNvSpPr txBox="1"/>
          <p:nvPr/>
        </p:nvSpPr>
        <p:spPr>
          <a:xfrm>
            <a:off x="0" y="3086100"/>
            <a:ext cx="9144000" cy="6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to 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ode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" name="Google Shape;117;g2ebb55b162e_0_109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8" name="Google Shape;118;g2ebb55b162e_0_10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94290" y="1424853"/>
            <a:ext cx="1155368" cy="818142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g2ebb55b162e_0_109"/>
          <p:cNvSpPr txBox="1"/>
          <p:nvPr>
            <p:ph idx="1" type="subTitle"/>
          </p:nvPr>
        </p:nvSpPr>
        <p:spPr>
          <a:xfrm>
            <a:off x="5029200" y="4245725"/>
            <a:ext cx="3657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hallenge">
  <p:cSld name="CUSTOM_10_1_1_1_2_1_1">
    <p:bg>
      <p:bgPr>
        <a:solidFill>
          <a:schemeClr val="dk2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ebb55b162e_0_115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Challenge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2" name="Google Shape;122;g2ebb55b162e_0_11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g2ebb55b162e_0_115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4" name="Google Shape;124;g2ebb55b162e_0_1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72546" y="1094559"/>
            <a:ext cx="1390807" cy="12124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A - Course overview">
  <p:cSld name="CUSTOM_10_1_1_1_2_1_1_1">
    <p:bg>
      <p:bgPr>
        <a:solidFill>
          <a:schemeClr val="dk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ebb55b162e_0_120"/>
          <p:cNvSpPr txBox="1"/>
          <p:nvPr/>
        </p:nvSpPr>
        <p:spPr>
          <a:xfrm>
            <a:off x="0" y="3086100"/>
            <a:ext cx="9144000" cy="60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</a:t>
            </a:r>
            <a:r>
              <a:rPr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ourse overview</a:t>
            </a:r>
            <a:endParaRPr b="0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sp>
        <p:nvSpPr>
          <p:cNvPr id="127" name="Google Shape;127;g2ebb55b162e_0_120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8" name="Google Shape;128;g2ebb55b162e_0_120"/>
          <p:cNvSpPr/>
          <p:nvPr/>
        </p:nvSpPr>
        <p:spPr>
          <a:xfrm>
            <a:off x="3657600" y="914400"/>
            <a:ext cx="1820700" cy="18207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g2ebb55b162e_0_1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6605" y="1339647"/>
            <a:ext cx="950800" cy="97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lank slide">
  <p:cSld name="CUSTOM_26_1_1">
    <p:bg>
      <p:bgPr>
        <a:solidFill>
          <a:schemeClr val="dk2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bb55b162e_0_125"/>
          <p:cNvSpPr txBox="1"/>
          <p:nvPr>
            <p:ph type="title"/>
          </p:nvPr>
        </p:nvSpPr>
        <p:spPr>
          <a:xfrm>
            <a:off x="0" y="3072384"/>
            <a:ext cx="91440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0" sz="4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2" name="Google Shape;132;g2ebb55b162e_0_12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Welcome page">
  <p:cSld name="CUSTOM_26_1_1_1">
    <p:bg>
      <p:bgPr>
        <a:solidFill>
          <a:schemeClr val="dk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bb55b162e_0_128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Welcome</a:t>
            </a:r>
            <a:endParaRPr b="1" i="0" sz="40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5" name="Google Shape;135;g2ebb55b162e_0_1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684112" y="1371590"/>
            <a:ext cx="1776025" cy="13246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Conclusion">
  <p:cSld name="CUSTOM_26_1_1_1_1">
    <p:bg>
      <p:bgPr>
        <a:solidFill>
          <a:schemeClr val="dk2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2ebb55b162e_0_131"/>
          <p:cNvSpPr txBox="1"/>
          <p:nvPr/>
        </p:nvSpPr>
        <p:spPr>
          <a:xfrm>
            <a:off x="0" y="3073400"/>
            <a:ext cx="91440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rPr>
              <a:t>Conclusion</a:t>
            </a:r>
            <a:endParaRPr b="1" sz="4000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38" name="Google Shape;138;g2ebb55b162e_0_1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48275" y="1452275"/>
            <a:ext cx="1047450" cy="120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's up! Let's review">
  <p:cSld name="CUSTOM_10_2_1_1_1">
    <p:bg>
      <p:bgPr>
        <a:solidFill>
          <a:schemeClr val="dk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2ebb55b162e_0_1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6863" y="1371602"/>
            <a:ext cx="1430525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2ebb55b162e_0_134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" name="Google Shape;142;g2ebb55b162e_0_134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review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Break">
  <p:cSld name="CUSTOM_10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g2ebb55b162e_0_1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61200" y="1371599"/>
            <a:ext cx="1421602" cy="137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bb55b162e_0_13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Break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6" name="Google Shape;146;g2ebb55b162e_0_138"/>
          <p:cNvSpPr txBox="1"/>
          <p:nvPr/>
        </p:nvSpPr>
        <p:spPr>
          <a:xfrm>
            <a:off x="311700" y="3657600"/>
            <a:ext cx="8520600" cy="63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" sz="2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15 mins</a:t>
            </a:r>
            <a:endParaRPr b="0" i="0" sz="28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ime for a quick review">
  <p:cSld name="CUSTOM_10_1_1_2">
    <p:bg>
      <p:bgPr>
        <a:solidFill>
          <a:schemeClr val="dk2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g2ebb55b162e_0_1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2162" y="1448847"/>
            <a:ext cx="1699675" cy="1224853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g2ebb55b162e_0_142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Time for a quick video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Peer review">
  <p:cSld name="CUSTOM_10_1_1_1_3">
    <p:bg>
      <p:bgPr>
        <a:solidFill>
          <a:schemeClr val="dk2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g2ebb55b162e_0_1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53000"/>
            <a:ext cx="1291550" cy="129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g2ebb55b162e_0_14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Peer review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Let's recap">
  <p:cSld name="CUSTOM_10_1_1_1_2">
    <p:bg>
      <p:bgPr>
        <a:solidFill>
          <a:schemeClr val="dk2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2ebb55b162e_0_1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26225" y="1435359"/>
            <a:ext cx="1291550" cy="132683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2ebb55b162e_0_148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Let’s recap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Office hours">
  <p:cSld name="CUSTOM_10_1_1_1_2_3_2">
    <p:bg>
      <p:bgPr>
        <a:solidFill>
          <a:schemeClr val="dk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g2ebb55b162e_0_1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492850" y="1583850"/>
            <a:ext cx="2158300" cy="11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2ebb55b162e_0_151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Office hours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9" name="Google Shape;159;g2ebb55b162e_0_151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Slack slide">
  <p:cSld name="CUSTOM_10_1_1_1_2_3_1">
    <p:bg>
      <p:bgPr>
        <a:solidFill>
          <a:schemeClr val="dk2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ebb55b162e_0_155"/>
          <p:cNvSpPr txBox="1"/>
          <p:nvPr/>
        </p:nvSpPr>
        <p:spPr>
          <a:xfrm>
            <a:off x="0" y="307780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Class Slack Channel: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2" name="Google Shape;162;g2ebb55b162e_0_155"/>
          <p:cNvSpPr txBox="1"/>
          <p:nvPr>
            <p:ph idx="1" type="subTitle"/>
          </p:nvPr>
        </p:nvSpPr>
        <p:spPr>
          <a:xfrm>
            <a:off x="41700" y="3746925"/>
            <a:ext cx="91023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63" name="Google Shape;163;g2ebb55b162e_0_155"/>
          <p:cNvPicPr preferRelativeResize="0"/>
          <p:nvPr/>
        </p:nvPicPr>
        <p:blipFill rotWithShape="1">
          <a:blip r:embed="rId2">
            <a:alphaModFix/>
          </a:blip>
          <a:srcRect b="24412" l="9534" r="69121" t="23790"/>
          <a:stretch/>
        </p:blipFill>
        <p:spPr>
          <a:xfrm>
            <a:off x="3876275" y="1390350"/>
            <a:ext cx="1391451" cy="138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Thank you">
  <p:cSld name="CUSTOM_10_1_1_1_2_1_2">
    <p:bg>
      <p:bgPr>
        <a:solidFill>
          <a:schemeClr val="dk2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ebb55b162e_0_159"/>
          <p:cNvSpPr txBox="1"/>
          <p:nvPr/>
        </p:nvSpPr>
        <p:spPr>
          <a:xfrm>
            <a:off x="0" y="3073400"/>
            <a:ext cx="91440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Thank you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6" name="Google Shape;166;g2ebb55b162e_0_15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83775" y="1371600"/>
            <a:ext cx="1376700" cy="13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B - Questions">
  <p:cSld name="CUSTOM_10_1_1_1_1_2">
    <p:bg>
      <p:bgPr>
        <a:solidFill>
          <a:schemeClr val="dk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bb55b162e_0_162"/>
          <p:cNvSpPr txBox="1"/>
          <p:nvPr/>
        </p:nvSpPr>
        <p:spPr>
          <a:xfrm>
            <a:off x="0" y="3054950"/>
            <a:ext cx="9144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b="0" i="0" sz="4000" u="none" cap="none" strike="noStrik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69" name="Google Shape;169;g2ebb55b162e_0_16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726873" y="1589513"/>
            <a:ext cx="1690255" cy="132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2ebb55b162e_0_162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653025" y="4126875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2ebb55b162e_0_162"/>
          <p:cNvPicPr preferRelativeResize="0"/>
          <p:nvPr/>
        </p:nvPicPr>
        <p:blipFill rotWithShape="1">
          <a:blip r:embed="rId3">
            <a:alphaModFix/>
          </a:blip>
          <a:srcRect b="19665" l="0" r="0" t="0"/>
          <a:stretch/>
        </p:blipFill>
        <p:spPr>
          <a:xfrm flipH="1">
            <a:off x="1651350" y="4364000"/>
            <a:ext cx="783075" cy="957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g2ebb55b162e_0_162"/>
          <p:cNvPicPr preferRelativeResize="0"/>
          <p:nvPr/>
        </p:nvPicPr>
        <p:blipFill rotWithShape="1">
          <a:blip r:embed="rId3">
            <a:alphaModFix/>
          </a:blip>
          <a:srcRect b="30598" l="0" r="0" t="0"/>
          <a:stretch/>
        </p:blipFill>
        <p:spPr>
          <a:xfrm flipH="1">
            <a:off x="3638200" y="4387525"/>
            <a:ext cx="712575" cy="7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g2ebb55b162e_0_162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2655487" y="3973275"/>
            <a:ext cx="982713" cy="13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2ebb55b162e_0_162"/>
          <p:cNvPicPr preferRelativeResize="0"/>
          <p:nvPr/>
        </p:nvPicPr>
        <p:blipFill rotWithShape="1">
          <a:blip r:embed="rId3">
            <a:alphaModFix/>
          </a:blip>
          <a:srcRect b="9853" l="0" r="0" t="0"/>
          <a:stretch/>
        </p:blipFill>
        <p:spPr>
          <a:xfrm>
            <a:off x="4517888" y="4134937"/>
            <a:ext cx="870750" cy="119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2ebb55b162e_0_162"/>
          <p:cNvPicPr preferRelativeResize="0"/>
          <p:nvPr/>
        </p:nvPicPr>
        <p:blipFill rotWithShape="1">
          <a:blip r:embed="rId3">
            <a:alphaModFix/>
          </a:blip>
          <a:srcRect b="5687" l="0" r="0" t="0"/>
          <a:stretch/>
        </p:blipFill>
        <p:spPr>
          <a:xfrm flipH="1">
            <a:off x="5979175" y="4168652"/>
            <a:ext cx="783075" cy="1123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2ebb55b162e_0_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23650" y="3973275"/>
            <a:ext cx="870750" cy="13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C - Instructor Demonstration">
  <p:cSld name="CUSTOM_10_2">
    <p:bg>
      <p:bgPr>
        <a:solidFill>
          <a:schemeClr val="dk2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bb55b162e_0_172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None/>
              <a:defRPr sz="2800">
                <a:solidFill>
                  <a:schemeClr val="accent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79" name="Google Shape;179;g2ebb55b162e_0_172"/>
          <p:cNvSpPr/>
          <p:nvPr/>
        </p:nvSpPr>
        <p:spPr>
          <a:xfrm>
            <a:off x="3657600" y="919500"/>
            <a:ext cx="1828800" cy="18288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ebb55b162e_0_172"/>
          <p:cNvSpPr txBox="1"/>
          <p:nvPr/>
        </p:nvSpPr>
        <p:spPr>
          <a:xfrm>
            <a:off x="311700" y="3073125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Instructor</a:t>
            </a:r>
            <a:r>
              <a:rPr i="0" lang="en" sz="4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Demonstration</a:t>
            </a:r>
            <a:endParaRPr i="0" sz="2400" u="none" cap="none" strike="noStrike">
              <a:solidFill>
                <a:schemeClr val="lt1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81" name="Google Shape;181;g2ebb55b162e_0_1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34596" y="1424818"/>
            <a:ext cx="1274808" cy="818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D - Blank chapter title slide">
  <p:cSld name="CUSTOM_26_2">
    <p:bg>
      <p:bgPr>
        <a:solidFill>
          <a:schemeClr val="accent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bb55b162e_0_17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blank)">
  <p:cSld name="CUSTOM_21_2_2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5" name="Google Shape;185;g2ebb55b162e_0_17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86" name="Google Shape;186;g2ebb55b162e_0_17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2ebb55b162e_0_17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2ebb55b162e_0_179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89" name="Google Shape;189;g2ebb55b162e_0_179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cap (with bullets)">
  <p:cSld name="CUSTOM_21_2_3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1" name="Google Shape;191;g2ebb55b162e_0_18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192" name="Google Shape;192;g2ebb55b162e_0_18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g2ebb55b162e_0_1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2ebb55b162e_0_185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Recap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g2ebb55b162e_0_185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2ebb55b162e_0_185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g2ebb55b162e_0_185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g2ebb55b162e_0_185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g2ebb55b162e_0_185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g2ebb55b162e_0_185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g2ebb55b162e_0_185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2" name="Google Shape;202;g2ebb55b162e_0_185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3" name="Google Shape;203;g2ebb55b162e_0_185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4" name="Google Shape;204;g2ebb55b162e_0_185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5" name="Google Shape;205;g2ebb55b162e_0_185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2ebb55b162e_0_185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g2ebb55b162e_0_185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g2ebb55b162e_0_185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g2ebb55b162e_0_185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2ebb55b162e_0_185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blank)">
  <p:cSld name="CUSTOM_21_2_2_1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2" name="Google Shape;212;g2ebb55b162e_0_206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3" name="Google Shape;213;g2ebb55b162e_0_20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g2ebb55b162e_0_20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2ebb55b162e_0_206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6" name="Google Shape;216;g2ebb55b162e_0_20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earning Objectives (with bullets)">
  <p:cSld name="CUSTOM_21_2_2_1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8" name="Google Shape;218;g2ebb55b162e_0_21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19" name="Google Shape;219;g2ebb55b162e_0_21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g2ebb55b162e_0_2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763" y="235363"/>
            <a:ext cx="496875" cy="496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2ebb55b162e_0_212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g2ebb55b162e_0_212"/>
          <p:cNvSpPr/>
          <p:nvPr/>
        </p:nvSpPr>
        <p:spPr>
          <a:xfrm>
            <a:off x="607675" y="388574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2ebb55b162e_0_212"/>
          <p:cNvSpPr/>
          <p:nvPr/>
        </p:nvSpPr>
        <p:spPr>
          <a:xfrm>
            <a:off x="607675" y="3199824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2ebb55b162e_0_212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2ebb55b162e_0_212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2ebb55b162e_0_212"/>
          <p:cNvSpPr txBox="1"/>
          <p:nvPr>
            <p:ph idx="1" type="subTitle"/>
          </p:nvPr>
        </p:nvSpPr>
        <p:spPr>
          <a:xfrm>
            <a:off x="916200" y="11528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7" name="Google Shape;227;g2ebb55b162e_0_212"/>
          <p:cNvSpPr txBox="1"/>
          <p:nvPr>
            <p:ph idx="2" type="subTitle"/>
          </p:nvPr>
        </p:nvSpPr>
        <p:spPr>
          <a:xfrm>
            <a:off x="916200" y="183877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g2ebb55b162e_0_212"/>
          <p:cNvSpPr txBox="1"/>
          <p:nvPr>
            <p:ph idx="3" type="subTitle"/>
          </p:nvPr>
        </p:nvSpPr>
        <p:spPr>
          <a:xfrm>
            <a:off x="916200" y="252470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9" name="Google Shape;229;g2ebb55b162e_0_212"/>
          <p:cNvSpPr txBox="1"/>
          <p:nvPr>
            <p:ph idx="4" type="subTitle"/>
          </p:nvPr>
        </p:nvSpPr>
        <p:spPr>
          <a:xfrm>
            <a:off x="916200" y="3210625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0" name="Google Shape;230;g2ebb55b162e_0_212"/>
          <p:cNvSpPr txBox="1"/>
          <p:nvPr>
            <p:ph idx="5" type="subTitle"/>
          </p:nvPr>
        </p:nvSpPr>
        <p:spPr>
          <a:xfrm>
            <a:off x="916200" y="3896550"/>
            <a:ext cx="77706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g2ebb55b162e_0_212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2ebb55b162e_0_212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2ebb55b162e_0_212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2ebb55b162e_0_212"/>
          <p:cNvSpPr/>
          <p:nvPr/>
        </p:nvSpPr>
        <p:spPr>
          <a:xfrm>
            <a:off x="457200" y="3199837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2ebb55b162e_0_212"/>
          <p:cNvSpPr/>
          <p:nvPr/>
        </p:nvSpPr>
        <p:spPr>
          <a:xfrm>
            <a:off x="457200" y="3885749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2ebb55b162e_0_212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Learning Objectives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g2ebb55b162e_0_212"/>
          <p:cNvSpPr txBox="1"/>
          <p:nvPr>
            <p:ph idx="6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2ebb55b162e_0_233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2ebb55b162e_0_233"/>
          <p:cNvSpPr txBox="1"/>
          <p:nvPr/>
        </p:nvSpPr>
        <p:spPr>
          <a:xfrm>
            <a:off x="4572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01.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2ebb55b162e_0_233"/>
          <p:cNvSpPr txBox="1"/>
          <p:nvPr/>
        </p:nvSpPr>
        <p:spPr>
          <a:xfrm>
            <a:off x="457197" y="206217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02.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2" name="Google Shape;242;g2ebb55b162e_0_233"/>
          <p:cNvSpPr txBox="1"/>
          <p:nvPr/>
        </p:nvSpPr>
        <p:spPr>
          <a:xfrm>
            <a:off x="457204" y="253925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03.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3" name="Google Shape;243;g2ebb55b162e_0_233"/>
          <p:cNvSpPr txBox="1"/>
          <p:nvPr/>
        </p:nvSpPr>
        <p:spPr>
          <a:xfrm>
            <a:off x="457197" y="298165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04.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g2ebb55b162e_0_233"/>
          <p:cNvSpPr txBox="1"/>
          <p:nvPr/>
        </p:nvSpPr>
        <p:spPr>
          <a:xfrm>
            <a:off x="457200" y="344330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05.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Google Shape;245;g2ebb55b162e_0_233"/>
          <p:cNvSpPr txBox="1"/>
          <p:nvPr/>
        </p:nvSpPr>
        <p:spPr>
          <a:xfrm>
            <a:off x="4563800" y="1600200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06.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6" name="Google Shape;246;g2ebb55b162e_0_233"/>
          <p:cNvSpPr txBox="1"/>
          <p:nvPr/>
        </p:nvSpPr>
        <p:spPr>
          <a:xfrm>
            <a:off x="4563800" y="2064886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07.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7" name="Google Shape;247;g2ebb55b162e_0_233"/>
          <p:cNvSpPr txBox="1"/>
          <p:nvPr/>
        </p:nvSpPr>
        <p:spPr>
          <a:xfrm>
            <a:off x="4563800" y="2529587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08.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8" name="Google Shape;248;g2ebb55b162e_0_233"/>
          <p:cNvSpPr txBox="1"/>
          <p:nvPr/>
        </p:nvSpPr>
        <p:spPr>
          <a:xfrm>
            <a:off x="4563800" y="2981625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09.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9" name="Google Shape;249;g2ebb55b162e_0_233"/>
          <p:cNvSpPr txBox="1"/>
          <p:nvPr/>
        </p:nvSpPr>
        <p:spPr>
          <a:xfrm>
            <a:off x="4563800" y="3444731"/>
            <a:ext cx="4515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10.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0" name="Google Shape;250;g2ebb55b162e_0_2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13425" y="301475"/>
            <a:ext cx="287550" cy="36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g2ebb55b162e_0_233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52" name="Google Shape;252;g2ebb55b162e_0_233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53" name="Google Shape;253;g2ebb55b162e_0_233"/>
          <p:cNvSpPr txBox="1"/>
          <p:nvPr/>
        </p:nvSpPr>
        <p:spPr>
          <a:xfrm>
            <a:off x="916200" y="146300"/>
            <a:ext cx="777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Table of Contents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g2ebb55b162e_0_233"/>
          <p:cNvSpPr txBox="1"/>
          <p:nvPr>
            <p:ph idx="2" type="body"/>
          </p:nvPr>
        </p:nvSpPr>
        <p:spPr>
          <a:xfrm>
            <a:off x="914400" y="160934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5" name="Google Shape;255;g2ebb55b162e_0_233"/>
          <p:cNvSpPr txBox="1"/>
          <p:nvPr>
            <p:ph idx="3" type="body"/>
          </p:nvPr>
        </p:nvSpPr>
        <p:spPr>
          <a:xfrm>
            <a:off x="914400" y="343556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6" name="Google Shape;256;g2ebb55b162e_0_233"/>
          <p:cNvSpPr txBox="1"/>
          <p:nvPr>
            <p:ph idx="4" type="body"/>
          </p:nvPr>
        </p:nvSpPr>
        <p:spPr>
          <a:xfrm>
            <a:off x="914400" y="2065902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7" name="Google Shape;257;g2ebb55b162e_0_233"/>
          <p:cNvSpPr txBox="1"/>
          <p:nvPr>
            <p:ph idx="5" type="body"/>
          </p:nvPr>
        </p:nvSpPr>
        <p:spPr>
          <a:xfrm>
            <a:off x="914400" y="2522456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8" name="Google Shape;258;g2ebb55b162e_0_233"/>
          <p:cNvSpPr txBox="1"/>
          <p:nvPr>
            <p:ph idx="6" type="body"/>
          </p:nvPr>
        </p:nvSpPr>
        <p:spPr>
          <a:xfrm>
            <a:off x="914400" y="2979009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59" name="Google Shape;259;g2ebb55b162e_0_233"/>
          <p:cNvSpPr txBox="1"/>
          <p:nvPr>
            <p:ph idx="7" type="body"/>
          </p:nvPr>
        </p:nvSpPr>
        <p:spPr>
          <a:xfrm>
            <a:off x="5029200" y="16093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0" name="Google Shape;260;g2ebb55b162e_0_233"/>
          <p:cNvSpPr txBox="1"/>
          <p:nvPr>
            <p:ph idx="8" type="body"/>
          </p:nvPr>
        </p:nvSpPr>
        <p:spPr>
          <a:xfrm>
            <a:off x="5029200" y="343555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1" name="Google Shape;261;g2ebb55b162e_0_233"/>
          <p:cNvSpPr txBox="1"/>
          <p:nvPr>
            <p:ph idx="9" type="body"/>
          </p:nvPr>
        </p:nvSpPr>
        <p:spPr>
          <a:xfrm>
            <a:off x="5029200" y="20659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2" name="Google Shape;262;g2ebb55b162e_0_233"/>
          <p:cNvSpPr txBox="1"/>
          <p:nvPr>
            <p:ph idx="13" type="body"/>
          </p:nvPr>
        </p:nvSpPr>
        <p:spPr>
          <a:xfrm>
            <a:off x="5029200" y="2522451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63" name="Google Shape;263;g2ebb55b162e_0_233"/>
          <p:cNvSpPr txBox="1"/>
          <p:nvPr>
            <p:ph idx="14" type="body"/>
          </p:nvPr>
        </p:nvSpPr>
        <p:spPr>
          <a:xfrm>
            <a:off x="5029200" y="2979000"/>
            <a:ext cx="3200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72">
          <p15:clr>
            <a:srgbClr val="E46962"/>
          </p15:clr>
        </p15:guide>
        <p15:guide id="2" pos="2884">
          <p15:clr>
            <a:srgbClr val="E46962"/>
          </p15:clr>
        </p15:guide>
        <p15:guide id="3" pos="3168">
          <p15:clr>
            <a:srgbClr val="E46962"/>
          </p15:clr>
        </p15:guide>
        <p15:guide id="4" orient="horz" pos="288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">
  <p:cSld name="CUSTOM_23">
    <p:bg>
      <p:bgPr>
        <a:solidFill>
          <a:srgbClr val="F2F2F2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2ebb55b162e_0_25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2ebb55b162e_0_25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g2ebb55b162e_0_25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68" name="Google Shape;268;g2ebb55b162e_0_25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" name="Google Shape;269;g2ebb55b162e_0_25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70" name="Google Shape;270;g2ebb55b162e_0_25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71" name="Google Shape;271;g2ebb55b162e_0_2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2ebb55b162e_0_25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73" name="Google Shape;273;g2ebb55b162e_0_25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(Class activity)">
  <p:cSld name="CUSTOM_23_2">
    <p:bg>
      <p:bgPr>
        <a:solidFill>
          <a:srgbClr val="F2F2F2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ebb55b162e_0_269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g2ebb55b162e_0_269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" sz="26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Class </a:t>
            </a: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7" name="Google Shape;277;g2ebb55b162e_0_269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78" name="Google Shape;278;g2ebb55b162e_0_269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9" name="Google Shape;279;g2ebb55b162e_0_269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280" name="Google Shape;280;g2ebb55b162e_0_269"/>
          <p:cNvSpPr txBox="1"/>
          <p:nvPr>
            <p:ph idx="1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281" name="Google Shape;281;g2ebb55b162e_0_2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g2ebb55b162e_0_269"/>
          <p:cNvSpPr txBox="1"/>
          <p:nvPr>
            <p:ph idx="2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83" name="Google Shape;283;g2ebb55b162e_0_269"/>
          <p:cNvSpPr txBox="1"/>
          <p:nvPr>
            <p:ph idx="3" type="body"/>
          </p:nvPr>
        </p:nvSpPr>
        <p:spPr>
          <a:xfrm>
            <a:off x="912725" y="1516225"/>
            <a:ext cx="7337400" cy="25974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">
  <p:cSld name="CUSTOM_22_1_1">
    <p:bg>
      <p:bgPr>
        <a:solidFill>
          <a:schemeClr val="lt2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ebb55b162e_0_279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g2ebb55b162e_0_279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g2ebb55b162e_0_27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g2ebb55b162e_0_279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Key Idea">
  <p:cSld name="CUSTOM_4">
    <p:bg>
      <p:bgPr>
        <a:solidFill>
          <a:schemeClr val="lt2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ebb55b162e_0_284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1" name="Google Shape;291;g2ebb55b162e_0_28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00550" y="1861613"/>
            <a:ext cx="1856475" cy="1856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g2ebb55b162e_0_28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g2ebb55b162e_0_28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estion">
  <p:cSld name="CUSTOM_4_1_2_1">
    <p:bg>
      <p:bgPr>
        <a:solidFill>
          <a:schemeClr val="lt2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ebb55b162e_0_289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g2ebb55b162e_0_289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g2ebb55b162e_0_2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27875" y="2012779"/>
            <a:ext cx="1003696" cy="1489696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g2ebb55b162e_0_289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Quotation">
  <p:cSld name="CUSTOM_4_1_1">
    <p:bg>
      <p:bgPr>
        <a:solidFill>
          <a:schemeClr val="lt2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2ebb55b162e_0_294"/>
          <p:cNvSpPr/>
          <p:nvPr/>
        </p:nvSpPr>
        <p:spPr>
          <a:xfrm>
            <a:off x="459100" y="1377600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1" name="Google Shape;301;g2ebb55b162e_0_294"/>
          <p:cNvGrpSpPr/>
          <p:nvPr/>
        </p:nvGrpSpPr>
        <p:grpSpPr>
          <a:xfrm>
            <a:off x="1074625" y="2258150"/>
            <a:ext cx="1473491" cy="980288"/>
            <a:chOff x="1074625" y="2258150"/>
            <a:chExt cx="1473491" cy="980288"/>
          </a:xfrm>
        </p:grpSpPr>
        <p:sp>
          <p:nvSpPr>
            <p:cNvPr id="302" name="Google Shape;302;g2ebb55b162e_0_294"/>
            <p:cNvSpPr/>
            <p:nvPr/>
          </p:nvSpPr>
          <p:spPr>
            <a:xfrm>
              <a:off x="1074625" y="2258150"/>
              <a:ext cx="704970" cy="980288"/>
            </a:xfrm>
            <a:custGeom>
              <a:rect b="b" l="l" r="r" t="t"/>
              <a:pathLst>
                <a:path extrusionOk="0" fill="none" h="79682" w="57303">
                  <a:moveTo>
                    <a:pt x="12677" y="79681"/>
                  </a:moveTo>
                  <a:lnTo>
                    <a:pt x="12677" y="79681"/>
                  </a:lnTo>
                  <a:lnTo>
                    <a:pt x="15652" y="75283"/>
                  </a:lnTo>
                  <a:lnTo>
                    <a:pt x="17980" y="71403"/>
                  </a:lnTo>
                  <a:lnTo>
                    <a:pt x="19920" y="67910"/>
                  </a:lnTo>
                  <a:lnTo>
                    <a:pt x="21343" y="64806"/>
                  </a:lnTo>
                  <a:lnTo>
                    <a:pt x="22378" y="62090"/>
                  </a:lnTo>
                  <a:lnTo>
                    <a:pt x="23025" y="59891"/>
                  </a:lnTo>
                  <a:lnTo>
                    <a:pt x="23413" y="58080"/>
                  </a:lnTo>
                  <a:lnTo>
                    <a:pt x="23542" y="56786"/>
                  </a:lnTo>
                  <a:lnTo>
                    <a:pt x="23542" y="56786"/>
                  </a:lnTo>
                  <a:lnTo>
                    <a:pt x="21084" y="56139"/>
                  </a:lnTo>
                  <a:lnTo>
                    <a:pt x="18627" y="55363"/>
                  </a:lnTo>
                  <a:lnTo>
                    <a:pt x="16428" y="54458"/>
                  </a:lnTo>
                  <a:lnTo>
                    <a:pt x="14229" y="53294"/>
                  </a:lnTo>
                  <a:lnTo>
                    <a:pt x="12159" y="52000"/>
                  </a:lnTo>
                  <a:lnTo>
                    <a:pt x="10219" y="50448"/>
                  </a:lnTo>
                  <a:lnTo>
                    <a:pt x="8408" y="48896"/>
                  </a:lnTo>
                  <a:lnTo>
                    <a:pt x="6726" y="47085"/>
                  </a:lnTo>
                  <a:lnTo>
                    <a:pt x="5304" y="45144"/>
                  </a:lnTo>
                  <a:lnTo>
                    <a:pt x="4010" y="43075"/>
                  </a:lnTo>
                  <a:lnTo>
                    <a:pt x="2846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518" y="33761"/>
                  </a:lnTo>
                  <a:lnTo>
                    <a:pt x="129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259" y="25742"/>
                  </a:lnTo>
                  <a:lnTo>
                    <a:pt x="647" y="22896"/>
                  </a:lnTo>
                  <a:lnTo>
                    <a:pt x="1294" y="20050"/>
                  </a:lnTo>
                  <a:lnTo>
                    <a:pt x="2328" y="17463"/>
                  </a:lnTo>
                  <a:lnTo>
                    <a:pt x="3493" y="15005"/>
                  </a:lnTo>
                  <a:lnTo>
                    <a:pt x="4915" y="12677"/>
                  </a:lnTo>
                  <a:lnTo>
                    <a:pt x="6597" y="10478"/>
                  </a:lnTo>
                  <a:lnTo>
                    <a:pt x="8408" y="8409"/>
                  </a:lnTo>
                  <a:lnTo>
                    <a:pt x="10478" y="6598"/>
                  </a:lnTo>
                  <a:lnTo>
                    <a:pt x="12677" y="4916"/>
                  </a:lnTo>
                  <a:lnTo>
                    <a:pt x="15005" y="3493"/>
                  </a:lnTo>
                  <a:lnTo>
                    <a:pt x="17592" y="2200"/>
                  </a:lnTo>
                  <a:lnTo>
                    <a:pt x="20179" y="1294"/>
                  </a:lnTo>
                  <a:lnTo>
                    <a:pt x="22895" y="647"/>
                  </a:lnTo>
                  <a:lnTo>
                    <a:pt x="25741" y="130"/>
                  </a:lnTo>
                  <a:lnTo>
                    <a:pt x="28716" y="1"/>
                  </a:lnTo>
                  <a:lnTo>
                    <a:pt x="28716" y="1"/>
                  </a:lnTo>
                  <a:lnTo>
                    <a:pt x="31562" y="130"/>
                  </a:lnTo>
                  <a:lnTo>
                    <a:pt x="34408" y="647"/>
                  </a:lnTo>
                  <a:lnTo>
                    <a:pt x="37124" y="1294"/>
                  </a:lnTo>
                  <a:lnTo>
                    <a:pt x="39840" y="2200"/>
                  </a:lnTo>
                  <a:lnTo>
                    <a:pt x="42298" y="3493"/>
                  </a:lnTo>
                  <a:lnTo>
                    <a:pt x="44626" y="4916"/>
                  </a:lnTo>
                  <a:lnTo>
                    <a:pt x="46825" y="6598"/>
                  </a:lnTo>
                  <a:lnTo>
                    <a:pt x="48895" y="8409"/>
                  </a:lnTo>
                  <a:lnTo>
                    <a:pt x="50706" y="10478"/>
                  </a:lnTo>
                  <a:lnTo>
                    <a:pt x="52388" y="12677"/>
                  </a:lnTo>
                  <a:lnTo>
                    <a:pt x="53810" y="15005"/>
                  </a:lnTo>
                  <a:lnTo>
                    <a:pt x="54975" y="17463"/>
                  </a:lnTo>
                  <a:lnTo>
                    <a:pt x="56009" y="20050"/>
                  </a:lnTo>
                  <a:lnTo>
                    <a:pt x="56656" y="22896"/>
                  </a:lnTo>
                  <a:lnTo>
                    <a:pt x="57174" y="25742"/>
                  </a:lnTo>
                  <a:lnTo>
                    <a:pt x="57303" y="28587"/>
                  </a:lnTo>
                  <a:lnTo>
                    <a:pt x="57303" y="28587"/>
                  </a:lnTo>
                  <a:lnTo>
                    <a:pt x="57174" y="31562"/>
                  </a:lnTo>
                  <a:lnTo>
                    <a:pt x="56915" y="34279"/>
                  </a:lnTo>
                  <a:lnTo>
                    <a:pt x="56398" y="37125"/>
                  </a:lnTo>
                  <a:lnTo>
                    <a:pt x="55751" y="39712"/>
                  </a:lnTo>
                  <a:lnTo>
                    <a:pt x="54845" y="42299"/>
                  </a:lnTo>
                  <a:lnTo>
                    <a:pt x="53940" y="44886"/>
                  </a:lnTo>
                  <a:lnTo>
                    <a:pt x="52776" y="47214"/>
                  </a:lnTo>
                  <a:lnTo>
                    <a:pt x="51611" y="49542"/>
                  </a:lnTo>
                  <a:lnTo>
                    <a:pt x="50189" y="51871"/>
                  </a:lnTo>
                  <a:lnTo>
                    <a:pt x="48766" y="54070"/>
                  </a:lnTo>
                  <a:lnTo>
                    <a:pt x="47214" y="56139"/>
                  </a:lnTo>
                  <a:lnTo>
                    <a:pt x="45532" y="58209"/>
                  </a:lnTo>
                  <a:lnTo>
                    <a:pt x="43850" y="60020"/>
                  </a:lnTo>
                  <a:lnTo>
                    <a:pt x="42039" y="61960"/>
                  </a:lnTo>
                  <a:lnTo>
                    <a:pt x="40229" y="63642"/>
                  </a:lnTo>
                  <a:lnTo>
                    <a:pt x="38288" y="65323"/>
                  </a:lnTo>
                  <a:lnTo>
                    <a:pt x="36477" y="66876"/>
                  </a:lnTo>
                  <a:lnTo>
                    <a:pt x="34537" y="68428"/>
                  </a:lnTo>
                  <a:lnTo>
                    <a:pt x="30786" y="71144"/>
                  </a:lnTo>
                  <a:lnTo>
                    <a:pt x="27035" y="73472"/>
                  </a:lnTo>
                  <a:lnTo>
                    <a:pt x="23413" y="75413"/>
                  </a:lnTo>
                  <a:lnTo>
                    <a:pt x="20050" y="77094"/>
                  </a:lnTo>
                  <a:lnTo>
                    <a:pt x="17204" y="78388"/>
                  </a:lnTo>
                  <a:lnTo>
                    <a:pt x="14617" y="79164"/>
                  </a:lnTo>
                  <a:lnTo>
                    <a:pt x="12677" y="79681"/>
                  </a:lnTo>
                  <a:lnTo>
                    <a:pt x="12677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g2ebb55b162e_0_294"/>
            <p:cNvSpPr/>
            <p:nvPr/>
          </p:nvSpPr>
          <p:spPr>
            <a:xfrm>
              <a:off x="1844733" y="2258150"/>
              <a:ext cx="703383" cy="980288"/>
            </a:xfrm>
            <a:custGeom>
              <a:rect b="b" l="l" r="r" t="t"/>
              <a:pathLst>
                <a:path extrusionOk="0" fill="none" h="79682" w="57174">
                  <a:moveTo>
                    <a:pt x="12548" y="79681"/>
                  </a:moveTo>
                  <a:lnTo>
                    <a:pt x="12548" y="79681"/>
                  </a:lnTo>
                  <a:lnTo>
                    <a:pt x="15523" y="75283"/>
                  </a:lnTo>
                  <a:lnTo>
                    <a:pt x="17980" y="71403"/>
                  </a:lnTo>
                  <a:lnTo>
                    <a:pt x="19791" y="67910"/>
                  </a:lnTo>
                  <a:lnTo>
                    <a:pt x="21214" y="64806"/>
                  </a:lnTo>
                  <a:lnTo>
                    <a:pt x="22249" y="62090"/>
                  </a:lnTo>
                  <a:lnTo>
                    <a:pt x="22896" y="59891"/>
                  </a:lnTo>
                  <a:lnTo>
                    <a:pt x="23284" y="58080"/>
                  </a:lnTo>
                  <a:lnTo>
                    <a:pt x="23413" y="56786"/>
                  </a:lnTo>
                  <a:lnTo>
                    <a:pt x="23413" y="56786"/>
                  </a:lnTo>
                  <a:lnTo>
                    <a:pt x="20955" y="56139"/>
                  </a:lnTo>
                  <a:lnTo>
                    <a:pt x="18498" y="55363"/>
                  </a:lnTo>
                  <a:lnTo>
                    <a:pt x="16299" y="54458"/>
                  </a:lnTo>
                  <a:lnTo>
                    <a:pt x="14100" y="53294"/>
                  </a:lnTo>
                  <a:lnTo>
                    <a:pt x="12030" y="52000"/>
                  </a:lnTo>
                  <a:lnTo>
                    <a:pt x="10090" y="50448"/>
                  </a:lnTo>
                  <a:lnTo>
                    <a:pt x="8279" y="48896"/>
                  </a:lnTo>
                  <a:lnTo>
                    <a:pt x="6727" y="47085"/>
                  </a:lnTo>
                  <a:lnTo>
                    <a:pt x="5174" y="45144"/>
                  </a:lnTo>
                  <a:lnTo>
                    <a:pt x="3881" y="43075"/>
                  </a:lnTo>
                  <a:lnTo>
                    <a:pt x="2717" y="40876"/>
                  </a:lnTo>
                  <a:lnTo>
                    <a:pt x="1811" y="38547"/>
                  </a:lnTo>
                  <a:lnTo>
                    <a:pt x="1035" y="36219"/>
                  </a:lnTo>
                  <a:lnTo>
                    <a:pt x="388" y="33761"/>
                  </a:lnTo>
                  <a:lnTo>
                    <a:pt x="130" y="31174"/>
                  </a:lnTo>
                  <a:lnTo>
                    <a:pt x="0" y="28587"/>
                  </a:lnTo>
                  <a:lnTo>
                    <a:pt x="0" y="28587"/>
                  </a:lnTo>
                  <a:lnTo>
                    <a:pt x="130" y="25742"/>
                  </a:lnTo>
                  <a:lnTo>
                    <a:pt x="518" y="22896"/>
                  </a:lnTo>
                  <a:lnTo>
                    <a:pt x="1294" y="20050"/>
                  </a:lnTo>
                  <a:lnTo>
                    <a:pt x="2199" y="17463"/>
                  </a:lnTo>
                  <a:lnTo>
                    <a:pt x="3364" y="15005"/>
                  </a:lnTo>
                  <a:lnTo>
                    <a:pt x="4786" y="12677"/>
                  </a:lnTo>
                  <a:lnTo>
                    <a:pt x="6468" y="10478"/>
                  </a:lnTo>
                  <a:lnTo>
                    <a:pt x="8279" y="8409"/>
                  </a:lnTo>
                  <a:lnTo>
                    <a:pt x="10349" y="6598"/>
                  </a:lnTo>
                  <a:lnTo>
                    <a:pt x="12548" y="4916"/>
                  </a:lnTo>
                  <a:lnTo>
                    <a:pt x="14876" y="3493"/>
                  </a:lnTo>
                  <a:lnTo>
                    <a:pt x="17463" y="2200"/>
                  </a:lnTo>
                  <a:lnTo>
                    <a:pt x="20050" y="1294"/>
                  </a:lnTo>
                  <a:lnTo>
                    <a:pt x="22766" y="647"/>
                  </a:lnTo>
                  <a:lnTo>
                    <a:pt x="25612" y="130"/>
                  </a:lnTo>
                  <a:lnTo>
                    <a:pt x="28587" y="1"/>
                  </a:lnTo>
                  <a:lnTo>
                    <a:pt x="28587" y="1"/>
                  </a:lnTo>
                  <a:lnTo>
                    <a:pt x="31433" y="130"/>
                  </a:lnTo>
                  <a:lnTo>
                    <a:pt x="34279" y="647"/>
                  </a:lnTo>
                  <a:lnTo>
                    <a:pt x="37124" y="1294"/>
                  </a:lnTo>
                  <a:lnTo>
                    <a:pt x="39711" y="2200"/>
                  </a:lnTo>
                  <a:lnTo>
                    <a:pt x="42169" y="3493"/>
                  </a:lnTo>
                  <a:lnTo>
                    <a:pt x="44627" y="4916"/>
                  </a:lnTo>
                  <a:lnTo>
                    <a:pt x="46826" y="6598"/>
                  </a:lnTo>
                  <a:lnTo>
                    <a:pt x="48766" y="8409"/>
                  </a:lnTo>
                  <a:lnTo>
                    <a:pt x="50706" y="10478"/>
                  </a:lnTo>
                  <a:lnTo>
                    <a:pt x="52259" y="12677"/>
                  </a:lnTo>
                  <a:lnTo>
                    <a:pt x="53681" y="15005"/>
                  </a:lnTo>
                  <a:lnTo>
                    <a:pt x="54975" y="17463"/>
                  </a:lnTo>
                  <a:lnTo>
                    <a:pt x="55880" y="20050"/>
                  </a:lnTo>
                  <a:lnTo>
                    <a:pt x="56657" y="22896"/>
                  </a:lnTo>
                  <a:lnTo>
                    <a:pt x="57045" y="25742"/>
                  </a:lnTo>
                  <a:lnTo>
                    <a:pt x="57174" y="28587"/>
                  </a:lnTo>
                  <a:lnTo>
                    <a:pt x="57174" y="28587"/>
                  </a:lnTo>
                  <a:lnTo>
                    <a:pt x="57045" y="31562"/>
                  </a:lnTo>
                  <a:lnTo>
                    <a:pt x="56786" y="34279"/>
                  </a:lnTo>
                  <a:lnTo>
                    <a:pt x="56268" y="37125"/>
                  </a:lnTo>
                  <a:lnTo>
                    <a:pt x="55622" y="39712"/>
                  </a:lnTo>
                  <a:lnTo>
                    <a:pt x="54846" y="42299"/>
                  </a:lnTo>
                  <a:lnTo>
                    <a:pt x="53811" y="44886"/>
                  </a:lnTo>
                  <a:lnTo>
                    <a:pt x="52776" y="47214"/>
                  </a:lnTo>
                  <a:lnTo>
                    <a:pt x="51482" y="49542"/>
                  </a:lnTo>
                  <a:lnTo>
                    <a:pt x="50060" y="51871"/>
                  </a:lnTo>
                  <a:lnTo>
                    <a:pt x="48637" y="54070"/>
                  </a:lnTo>
                  <a:lnTo>
                    <a:pt x="47084" y="56139"/>
                  </a:lnTo>
                  <a:lnTo>
                    <a:pt x="45403" y="58209"/>
                  </a:lnTo>
                  <a:lnTo>
                    <a:pt x="43721" y="60020"/>
                  </a:lnTo>
                  <a:lnTo>
                    <a:pt x="41910" y="61960"/>
                  </a:lnTo>
                  <a:lnTo>
                    <a:pt x="40099" y="63642"/>
                  </a:lnTo>
                  <a:lnTo>
                    <a:pt x="38289" y="65323"/>
                  </a:lnTo>
                  <a:lnTo>
                    <a:pt x="36348" y="66876"/>
                  </a:lnTo>
                  <a:lnTo>
                    <a:pt x="34408" y="68428"/>
                  </a:lnTo>
                  <a:lnTo>
                    <a:pt x="30657" y="71144"/>
                  </a:lnTo>
                  <a:lnTo>
                    <a:pt x="26906" y="73472"/>
                  </a:lnTo>
                  <a:lnTo>
                    <a:pt x="23284" y="75413"/>
                  </a:lnTo>
                  <a:lnTo>
                    <a:pt x="20050" y="77094"/>
                  </a:lnTo>
                  <a:lnTo>
                    <a:pt x="17075" y="78388"/>
                  </a:lnTo>
                  <a:lnTo>
                    <a:pt x="14488" y="79164"/>
                  </a:lnTo>
                  <a:lnTo>
                    <a:pt x="12548" y="79681"/>
                  </a:lnTo>
                  <a:lnTo>
                    <a:pt x="12548" y="79681"/>
                  </a:lnTo>
                  <a:close/>
                </a:path>
              </a:pathLst>
            </a:custGeom>
            <a:noFill/>
            <a:ln cap="rnd" cmpd="sng" w="28575">
              <a:solidFill>
                <a:srgbClr val="28363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4" name="Google Shape;304;g2ebb55b162e_0_294"/>
          <p:cNvSpPr txBox="1"/>
          <p:nvPr>
            <p:ph idx="1" type="subTitle"/>
          </p:nvPr>
        </p:nvSpPr>
        <p:spPr>
          <a:xfrm>
            <a:off x="459100" y="4189950"/>
            <a:ext cx="2741400" cy="5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05" name="Google Shape;305;g2ebb55b162e_0_294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g2ebb55b162e_0_294"/>
          <p:cNvSpPr txBox="1"/>
          <p:nvPr>
            <p:ph idx="2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arge icons - Tip or Answer">
  <p:cSld name="CUSTOM_4_1_1_1">
    <p:bg>
      <p:bgPr>
        <a:solidFill>
          <a:schemeClr val="lt2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ebb55b162e_0_302"/>
          <p:cNvSpPr/>
          <p:nvPr/>
        </p:nvSpPr>
        <p:spPr>
          <a:xfrm>
            <a:off x="459100" y="1380744"/>
            <a:ext cx="2741400" cy="2741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2ebb55b162e_0_302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g2ebb55b162e_0_3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7670" y="1896525"/>
            <a:ext cx="1724260" cy="162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2ebb55b162e_0_30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indent="-457200" lvl="0" marL="4572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57200" lvl="1" marL="9144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indent="-457200" lvl="2" marL="13716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indent="-457200" lvl="3" marL="18288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indent="-457200" lvl="4" marL="22860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indent="-457200" lvl="5" marL="27432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indent="-457200" lvl="6" marL="3200400" rtl="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indent="-457200" lvl="7" marL="3657600" rtl="0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indent="-457200" lvl="8" marL="4114800" rtl="0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re Your Answers">
  <p:cSld name="CUSTOM_10_1_1_1_1_1_2">
    <p:bg>
      <p:bgPr>
        <a:solidFill>
          <a:srgbClr val="F2F2F2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ebb55b162e_0_307"/>
          <p:cNvSpPr/>
          <p:nvPr/>
        </p:nvSpPr>
        <p:spPr>
          <a:xfrm flipH="1">
            <a:off x="1251238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g2ebb55b162e_0_307"/>
          <p:cNvSpPr/>
          <p:nvPr/>
        </p:nvSpPr>
        <p:spPr>
          <a:xfrm>
            <a:off x="5449563" y="1174875"/>
            <a:ext cx="2443200" cy="24435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00C7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g2ebb55b162e_0_307"/>
          <p:cNvSpPr/>
          <p:nvPr/>
        </p:nvSpPr>
        <p:spPr>
          <a:xfrm>
            <a:off x="3586938" y="1399275"/>
            <a:ext cx="1994400" cy="1994700"/>
          </a:xfrm>
          <a:prstGeom prst="wedgeEllipseCallout">
            <a:avLst>
              <a:gd fmla="val -20833" name="adj1"/>
              <a:gd fmla="val 62500" name="adj2"/>
            </a:avLst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2ebb55b162e_0_307"/>
          <p:cNvSpPr txBox="1"/>
          <p:nvPr/>
        </p:nvSpPr>
        <p:spPr>
          <a:xfrm>
            <a:off x="14183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7" name="Google Shape;317;g2ebb55b162e_0_307"/>
          <p:cNvSpPr txBox="1"/>
          <p:nvPr/>
        </p:nvSpPr>
        <p:spPr>
          <a:xfrm>
            <a:off x="3529638" y="2020425"/>
            <a:ext cx="21090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Your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8" name="Google Shape;318;g2ebb55b162e_0_307"/>
          <p:cNvSpPr txBox="1"/>
          <p:nvPr/>
        </p:nvSpPr>
        <p:spPr>
          <a:xfrm>
            <a:off x="5469363" y="2020425"/>
            <a:ext cx="2403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Answers</a:t>
            </a:r>
            <a:endParaRPr b="1" i="0" sz="40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member">
  <p:cSld name="CUSTOM_10_1_1_1_1_1_1">
    <p:bg>
      <p:bgPr>
        <a:solidFill>
          <a:srgbClr val="F2F2F2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bb55b162e_0_314"/>
          <p:cNvSpPr txBox="1"/>
          <p:nvPr/>
        </p:nvSpPr>
        <p:spPr>
          <a:xfrm>
            <a:off x="4869500" y="1501000"/>
            <a:ext cx="39012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200" spcFirstLastPara="1" rIns="457200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1" i="0" lang="en" sz="4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Remember, </a:t>
            </a:r>
            <a:endParaRPr b="1" i="0" sz="45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1" name="Google Shape;321;g2ebb55b162e_0_3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flipH="1">
            <a:off x="-556324" y="1502075"/>
            <a:ext cx="5962899" cy="2537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2" name="Google Shape;322;g2ebb55b162e_0_314"/>
          <p:cNvGrpSpPr/>
          <p:nvPr/>
        </p:nvGrpSpPr>
        <p:grpSpPr>
          <a:xfrm>
            <a:off x="3972318" y="1206125"/>
            <a:ext cx="1051285" cy="920372"/>
            <a:chOff x="587700" y="-13400"/>
            <a:chExt cx="5735325" cy="5021125"/>
          </a:xfrm>
        </p:grpSpPr>
        <p:sp>
          <p:nvSpPr>
            <p:cNvPr id="323" name="Google Shape;323;g2ebb55b162e_0_314"/>
            <p:cNvSpPr/>
            <p:nvPr/>
          </p:nvSpPr>
          <p:spPr>
            <a:xfrm>
              <a:off x="3126550" y="3129550"/>
              <a:ext cx="449525" cy="1850775"/>
            </a:xfrm>
            <a:custGeom>
              <a:rect b="b" l="l" r="r" t="t"/>
              <a:pathLst>
                <a:path extrusionOk="0" fill="none" h="74031" w="17981">
                  <a:moveTo>
                    <a:pt x="1" y="68541"/>
                  </a:moveTo>
                  <a:cubicBezTo>
                    <a:pt x="7486" y="74031"/>
                    <a:pt x="17981" y="42278"/>
                    <a:pt x="5491" y="0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g2ebb55b162e_0_314"/>
            <p:cNvSpPr/>
            <p:nvPr/>
          </p:nvSpPr>
          <p:spPr>
            <a:xfrm>
              <a:off x="3253475" y="3038050"/>
              <a:ext cx="1008375" cy="1969675"/>
            </a:xfrm>
            <a:custGeom>
              <a:rect b="b" l="l" r="r" t="t"/>
              <a:pathLst>
                <a:path extrusionOk="0" fill="none" h="78787" w="40335">
                  <a:moveTo>
                    <a:pt x="0" y="69792"/>
                  </a:moveTo>
                  <a:cubicBezTo>
                    <a:pt x="16481" y="78787"/>
                    <a:pt x="40334" y="34844"/>
                    <a:pt x="28206" y="11125"/>
                  </a:cubicBezTo>
                  <a:cubicBezTo>
                    <a:pt x="22519" y="0"/>
                    <a:pt x="1541" y="5118"/>
                    <a:pt x="1913" y="9099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g2ebb55b162e_0_314"/>
            <p:cNvSpPr/>
            <p:nvPr/>
          </p:nvSpPr>
          <p:spPr>
            <a:xfrm>
              <a:off x="587700" y="131875"/>
              <a:ext cx="2878775" cy="2997700"/>
            </a:xfrm>
            <a:custGeom>
              <a:rect b="b" l="l" r="r" t="t"/>
              <a:pathLst>
                <a:path extrusionOk="0" fill="none" h="119908" w="115151">
                  <a:moveTo>
                    <a:pt x="115151" y="119907"/>
                  </a:moveTo>
                  <a:cubicBezTo>
                    <a:pt x="50602" y="114789"/>
                    <a:pt x="1" y="75106"/>
                    <a:pt x="30926" y="48761"/>
                  </a:cubicBezTo>
                  <a:cubicBezTo>
                    <a:pt x="88165" y="0"/>
                    <a:pt x="115151" y="119907"/>
                    <a:pt x="115151" y="119907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g2ebb55b162e_0_314"/>
            <p:cNvSpPr/>
            <p:nvPr/>
          </p:nvSpPr>
          <p:spPr>
            <a:xfrm>
              <a:off x="3408550" y="-13400"/>
              <a:ext cx="1796500" cy="3142975"/>
            </a:xfrm>
            <a:custGeom>
              <a:rect b="b" l="l" r="r" t="t"/>
              <a:pathLst>
                <a:path extrusionOk="0" fill="none" h="125719" w="71860">
                  <a:moveTo>
                    <a:pt x="2317" y="125718"/>
                  </a:moveTo>
                  <a:cubicBezTo>
                    <a:pt x="1" y="63568"/>
                    <a:pt x="64974" y="1"/>
                    <a:pt x="69492" y="63568"/>
                  </a:cubicBezTo>
                  <a:cubicBezTo>
                    <a:pt x="71860" y="96850"/>
                    <a:pt x="2317" y="125718"/>
                    <a:pt x="2317" y="125718"/>
                  </a:cubicBezTo>
                  <a:close/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g2ebb55b162e_0_314"/>
            <p:cNvSpPr/>
            <p:nvPr/>
          </p:nvSpPr>
          <p:spPr>
            <a:xfrm>
              <a:off x="3466450" y="2580250"/>
              <a:ext cx="2856575" cy="1271275"/>
            </a:xfrm>
            <a:custGeom>
              <a:rect b="b" l="l" r="r" t="t"/>
              <a:pathLst>
                <a:path extrusionOk="0" fill="none" h="50851" w="114263">
                  <a:moveTo>
                    <a:pt x="1" y="21972"/>
                  </a:moveTo>
                  <a:cubicBezTo>
                    <a:pt x="52732" y="1"/>
                    <a:pt x="75965" y="50850"/>
                    <a:pt x="114262" y="13184"/>
                  </a:cubicBezTo>
                </a:path>
              </a:pathLst>
            </a:custGeom>
            <a:noFill/>
            <a:ln cap="rnd" cmpd="sng" w="76200">
              <a:solidFill>
                <a:srgbClr val="FCB91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8" name="Google Shape;328;g2ebb55b162e_0_314"/>
          <p:cNvSpPr txBox="1"/>
          <p:nvPr/>
        </p:nvSpPr>
        <p:spPr>
          <a:xfrm>
            <a:off x="5345350" y="2338950"/>
            <a:ext cx="3524400" cy="24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4572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29" name="Google Shape;329;g2ebb55b162e_0_314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Heading slide">
  <p:cSld name="CUSTOM_21_2_1_2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2" name="Google Shape;332;g2ebb55b162e_0_326"/>
          <p:cNvCxnSpPr/>
          <p:nvPr/>
        </p:nvCxnSpPr>
        <p:spPr>
          <a:xfrm>
            <a:off x="-9375" y="929900"/>
            <a:ext cx="7346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33" name="Google Shape;333;g2ebb55b162e_0_326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g2ebb55b162e_0_326"/>
          <p:cNvSpPr txBox="1"/>
          <p:nvPr>
            <p:ph type="title"/>
          </p:nvPr>
        </p:nvSpPr>
        <p:spPr>
          <a:xfrm>
            <a:off x="908700" y="146300"/>
            <a:ext cx="77781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5" name="Google Shape;335;g2ebb55b162e_0_32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ebb55b162e_0_3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8" name="Google Shape;338;g2ebb55b162e_0_3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39" name="Google Shape;339;g2ebb55b162e_0_3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vity slide">
  <p:cSld name="CUSTOM_23_3">
    <p:bg>
      <p:bgPr>
        <a:solidFill>
          <a:srgbClr val="F2F2F2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ebb55b162e_0_335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g2ebb55b162e_0_335"/>
          <p:cNvSpPr txBox="1"/>
          <p:nvPr/>
        </p:nvSpPr>
        <p:spPr>
          <a:xfrm>
            <a:off x="914400" y="14630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Activity: </a:t>
            </a:r>
            <a:endParaRPr b="1" i="0" sz="26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3" name="Google Shape;343;g2ebb55b162e_0_335"/>
          <p:cNvSpPr txBox="1"/>
          <p:nvPr/>
        </p:nvSpPr>
        <p:spPr>
          <a:xfrm>
            <a:off x="5901175" y="4263275"/>
            <a:ext cx="32427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40075" spcFirstLastPara="1" rIns="45720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Suggested Time: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4" name="Google Shape;344;g2ebb55b162e_0_335"/>
          <p:cNvPicPr preferRelativeResize="0"/>
          <p:nvPr/>
        </p:nvPicPr>
        <p:blipFill rotWithShape="1">
          <a:blip r:embed="rId2">
            <a:alphaModFix amt="12000"/>
          </a:blip>
          <a:srcRect b="41054" l="-3280" r="-37524" t="-19179"/>
          <a:stretch/>
        </p:blipFill>
        <p:spPr>
          <a:xfrm>
            <a:off x="0" y="3069475"/>
            <a:ext cx="3716100" cy="2074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45" name="Google Shape;345;g2ebb55b162e_0_335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346" name="Google Shape;346;g2ebb55b162e_0_335"/>
          <p:cNvSpPr txBox="1"/>
          <p:nvPr>
            <p:ph idx="1" type="subTitle"/>
          </p:nvPr>
        </p:nvSpPr>
        <p:spPr>
          <a:xfrm>
            <a:off x="914400" y="1523200"/>
            <a:ext cx="7315200" cy="2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47" name="Google Shape;347;g2ebb55b162e_0_335"/>
          <p:cNvSpPr txBox="1"/>
          <p:nvPr>
            <p:ph idx="2" type="subTitle"/>
          </p:nvPr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pic>
        <p:nvPicPr>
          <p:cNvPr id="348" name="Google Shape;348;g2ebb55b162e_0_3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646" y="287000"/>
            <a:ext cx="399107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2ebb55b162e_0_335"/>
          <p:cNvSpPr txBox="1"/>
          <p:nvPr>
            <p:ph idx="3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's Up slide 1">
  <p:cSld name="CUSTOM_10_2_1">
    <p:bg>
      <p:bgPr>
        <a:solidFill>
          <a:srgbClr val="F2F2F2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ebb55b162e_0_345"/>
          <p:cNvSpPr txBox="1"/>
          <p:nvPr/>
        </p:nvSpPr>
        <p:spPr>
          <a:xfrm>
            <a:off x="311700" y="2688450"/>
            <a:ext cx="8520600" cy="7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" sz="4000" u="none" cap="none" strike="noStrike">
                <a:solidFill>
                  <a:srgbClr val="2E5E73"/>
                </a:solidFill>
                <a:latin typeface="Roboto"/>
                <a:ea typeface="Roboto"/>
                <a:cs typeface="Roboto"/>
                <a:sym typeface="Roboto"/>
              </a:rPr>
              <a:t>Time’s up!</a:t>
            </a:r>
            <a:endParaRPr b="1" i="0" sz="40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" sz="4000" u="none" cap="none" strike="noStrike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rPr>
              <a:t>Let’s review</a:t>
            </a:r>
            <a:endParaRPr b="0" i="0" sz="4000" u="none" cap="none" strike="noStrike">
              <a:solidFill>
                <a:srgbClr val="2E5E73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352" name="Google Shape;352;g2ebb55b162e_0_3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75000" y="1536950"/>
            <a:ext cx="1194000" cy="11490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initions 1">
  <p:cSld name="CUSTOM_22_1_1_1">
    <p:bg>
      <p:bgPr>
        <a:solidFill>
          <a:schemeClr val="lt2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2ebb55b162e_0_348"/>
          <p:cNvSpPr/>
          <p:nvPr/>
        </p:nvSpPr>
        <p:spPr>
          <a:xfrm flipH="1" rot="10800000">
            <a:off x="688800" y="692100"/>
            <a:ext cx="7766400" cy="3759300"/>
          </a:xfrm>
          <a:prstGeom prst="bracePair">
            <a:avLst/>
          </a:prstGeom>
          <a:noFill/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g2ebb55b162e_0_348"/>
          <p:cNvSpPr/>
          <p:nvPr/>
        </p:nvSpPr>
        <p:spPr>
          <a:xfrm>
            <a:off x="1104268" y="1039688"/>
            <a:ext cx="6935464" cy="3131678"/>
          </a:xfrm>
          <a:custGeom>
            <a:rect b="b" l="l" r="r" t="t"/>
            <a:pathLst>
              <a:path extrusionOk="0" h="128611" w="284824">
                <a:moveTo>
                  <a:pt x="26676" y="0"/>
                </a:moveTo>
                <a:cubicBezTo>
                  <a:pt x="22180" y="0"/>
                  <a:pt x="18965" y="1390"/>
                  <a:pt x="17030" y="4169"/>
                </a:cubicBezTo>
                <a:cubicBezTo>
                  <a:pt x="15068" y="6948"/>
                  <a:pt x="14114" y="11035"/>
                  <a:pt x="14114" y="16431"/>
                </a:cubicBezTo>
                <a:lnTo>
                  <a:pt x="14114" y="45150"/>
                </a:lnTo>
                <a:cubicBezTo>
                  <a:pt x="14114" y="50191"/>
                  <a:pt x="12807" y="54360"/>
                  <a:pt x="10191" y="57684"/>
                </a:cubicBezTo>
                <a:cubicBezTo>
                  <a:pt x="7684" y="60981"/>
                  <a:pt x="4060" y="63242"/>
                  <a:pt x="0" y="64087"/>
                </a:cubicBezTo>
                <a:lnTo>
                  <a:pt x="0" y="64305"/>
                </a:lnTo>
                <a:cubicBezTo>
                  <a:pt x="4332" y="65368"/>
                  <a:pt x="7766" y="67548"/>
                  <a:pt x="10300" y="70817"/>
                </a:cubicBezTo>
                <a:cubicBezTo>
                  <a:pt x="12834" y="74087"/>
                  <a:pt x="14114" y="78283"/>
                  <a:pt x="14114" y="83460"/>
                </a:cubicBezTo>
                <a:lnTo>
                  <a:pt x="14114" y="112180"/>
                </a:lnTo>
                <a:cubicBezTo>
                  <a:pt x="14114" y="117684"/>
                  <a:pt x="15068" y="121798"/>
                  <a:pt x="17030" y="124523"/>
                </a:cubicBezTo>
                <a:cubicBezTo>
                  <a:pt x="18992" y="127248"/>
                  <a:pt x="22207" y="128610"/>
                  <a:pt x="26676" y="128610"/>
                </a:cubicBezTo>
                <a:lnTo>
                  <a:pt x="258148" y="128610"/>
                </a:lnTo>
                <a:cubicBezTo>
                  <a:pt x="262644" y="128610"/>
                  <a:pt x="265832" y="127248"/>
                  <a:pt x="267794" y="124523"/>
                </a:cubicBezTo>
                <a:cubicBezTo>
                  <a:pt x="269728" y="121798"/>
                  <a:pt x="270709" y="117684"/>
                  <a:pt x="270709" y="112180"/>
                </a:cubicBezTo>
                <a:lnTo>
                  <a:pt x="270709" y="83460"/>
                </a:lnTo>
                <a:cubicBezTo>
                  <a:pt x="270709" y="78283"/>
                  <a:pt x="271990" y="74087"/>
                  <a:pt x="274497" y="70817"/>
                </a:cubicBezTo>
                <a:cubicBezTo>
                  <a:pt x="277058" y="67548"/>
                  <a:pt x="280491" y="65395"/>
                  <a:pt x="284824" y="64305"/>
                </a:cubicBezTo>
                <a:lnTo>
                  <a:pt x="284824" y="64087"/>
                </a:lnTo>
                <a:cubicBezTo>
                  <a:pt x="280764" y="63242"/>
                  <a:pt x="277140" y="60981"/>
                  <a:pt x="274606" y="57684"/>
                </a:cubicBezTo>
                <a:cubicBezTo>
                  <a:pt x="272017" y="54360"/>
                  <a:pt x="270709" y="50191"/>
                  <a:pt x="270709" y="45150"/>
                </a:cubicBezTo>
                <a:lnTo>
                  <a:pt x="270709" y="16431"/>
                </a:lnTo>
                <a:cubicBezTo>
                  <a:pt x="270709" y="11035"/>
                  <a:pt x="269728" y="6948"/>
                  <a:pt x="267794" y="4169"/>
                </a:cubicBezTo>
                <a:cubicBezTo>
                  <a:pt x="265832" y="1417"/>
                  <a:pt x="262616" y="27"/>
                  <a:pt x="258148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g2ebb55b162e_0_348"/>
          <p:cNvPicPr preferRelativeResize="0"/>
          <p:nvPr/>
        </p:nvPicPr>
        <p:blipFill rotWithShape="1">
          <a:blip r:embed="rId2">
            <a:alphaModFix amt="7000"/>
          </a:blip>
          <a:srcRect b="0" l="0" r="0" t="0"/>
          <a:stretch/>
        </p:blipFill>
        <p:spPr>
          <a:xfrm>
            <a:off x="5484975" y="2744075"/>
            <a:ext cx="4044599" cy="26226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g2ebb55b162e_0_348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>
            <a:lvl1pPr indent="-444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1pPr>
            <a:lvl2pPr indent="-444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2pPr>
            <a:lvl3pPr indent="-444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3pPr>
            <a:lvl4pPr indent="-444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4pPr>
            <a:lvl5pPr indent="-444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5pPr>
            <a:lvl6pPr indent="-444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6pPr>
            <a:lvl7pPr indent="-444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 sz="3400"/>
            </a:lvl7pPr>
            <a:lvl8pPr indent="-444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○"/>
              <a:defRPr sz="3400"/>
            </a:lvl8pPr>
            <a:lvl9pPr indent="-444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■"/>
              <a:defRPr sz="34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estion slide">
  <p:cSld name="CUSTOM_4_1_2_2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ebb55b162e_0_353"/>
          <p:cNvSpPr/>
          <p:nvPr/>
        </p:nvSpPr>
        <p:spPr>
          <a:xfrm>
            <a:off x="459099" y="1336050"/>
            <a:ext cx="2471400" cy="2471400"/>
          </a:xfrm>
          <a:prstGeom prst="ellipse">
            <a:avLst/>
          </a:prstGeom>
          <a:solidFill>
            <a:srgbClr val="FCB912"/>
          </a:solidFill>
          <a:ln cap="flat" cmpd="sng" w="190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g2ebb55b162e_0_353"/>
          <p:cNvSpPr txBox="1"/>
          <p:nvPr>
            <p:ph type="title"/>
          </p:nvPr>
        </p:nvSpPr>
        <p:spPr>
          <a:xfrm>
            <a:off x="3141250" y="1925250"/>
            <a:ext cx="5555100" cy="13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3800"/>
              <a:buNone/>
              <a:defRPr sz="38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361" name="Google Shape;361;g2ebb55b162e_0_3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42338" y="1946150"/>
            <a:ext cx="9048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g2ebb55b162e_0_353"/>
          <p:cNvPicPr preferRelativeResize="0"/>
          <p:nvPr/>
        </p:nvPicPr>
        <p:blipFill rotWithShape="1">
          <a:blip r:embed="rId3">
            <a:alphaModFix amt="11000"/>
          </a:blip>
          <a:srcRect b="7136" l="-6410" r="6410" t="-3050"/>
          <a:stretch/>
        </p:blipFill>
        <p:spPr>
          <a:xfrm>
            <a:off x="5157740" y="2672100"/>
            <a:ext cx="3986260" cy="247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ebb55b162e_0_358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g2ebb55b162e_0_358"/>
          <p:cNvSpPr txBox="1"/>
          <p:nvPr>
            <p:ph idx="1" type="body"/>
          </p:nvPr>
        </p:nvSpPr>
        <p:spPr>
          <a:xfrm>
            <a:off x="0" y="1063525"/>
            <a:ext cx="8686800" cy="3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137150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1pPr>
            <a:lvl2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2pPr>
            <a:lvl3pPr indent="-3429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4pPr>
            <a:lvl5pPr indent="-3429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5pPr>
            <a:lvl6pPr indent="-3429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6pPr>
            <a:lvl7pPr indent="-3429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>
                <a:solidFill>
                  <a:schemeClr val="dk2"/>
                </a:solidFill>
              </a:defRPr>
            </a:lvl7pPr>
            <a:lvl8pPr indent="-3429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>
                <a:solidFill>
                  <a:schemeClr val="dk2"/>
                </a:solidFill>
              </a:defRPr>
            </a:lvl8pPr>
            <a:lvl9pPr indent="-3429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66" name="Google Shape;366;g2ebb55b162e_0_358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600"/>
              <a:buNone/>
              <a:defRPr>
                <a:solidFill>
                  <a:schemeClr val="accent5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7" name="Google Shape;367;g2ebb55b162e_0_358"/>
          <p:cNvSpPr txBox="1"/>
          <p:nvPr>
            <p:ph idx="2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01">
  <p:cSld name="CUSTOM_26_3">
    <p:bg>
      <p:bgPr>
        <a:solidFill>
          <a:schemeClr val="accent2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ef79be130c_0_984"/>
          <p:cNvSpPr txBox="1"/>
          <p:nvPr>
            <p:ph type="title"/>
          </p:nvPr>
        </p:nvSpPr>
        <p:spPr>
          <a:xfrm>
            <a:off x="0" y="2694300"/>
            <a:ext cx="9144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  <a:defRPr sz="4000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1">
  <p:cSld name="CUSTOM_2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ef79be130c_0_1974"/>
          <p:cNvSpPr txBox="1"/>
          <p:nvPr>
            <p:ph idx="1" type="body"/>
          </p:nvPr>
        </p:nvSpPr>
        <p:spPr>
          <a:xfrm>
            <a:off x="590350" y="1121725"/>
            <a:ext cx="7933800" cy="3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2" name="Google Shape;372;g2ef79be130c_0_1974"/>
          <p:cNvSpPr txBox="1"/>
          <p:nvPr/>
        </p:nvSpPr>
        <p:spPr>
          <a:xfrm>
            <a:off x="1172100" y="4916650"/>
            <a:ext cx="7971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4300" spcFirstLastPara="1" rIns="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2E5E7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g2ef79be130c_0_1974"/>
          <p:cNvSpPr txBox="1"/>
          <p:nvPr>
            <p:ph type="title"/>
          </p:nvPr>
        </p:nvSpPr>
        <p:spPr>
          <a:xfrm>
            <a:off x="50" y="127400"/>
            <a:ext cx="91440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4" name="Google Shape;374;g2ef79be130c_0_1974"/>
          <p:cNvSpPr txBox="1"/>
          <p:nvPr>
            <p:ph idx="2" type="title"/>
          </p:nvPr>
        </p:nvSpPr>
        <p:spPr>
          <a:xfrm>
            <a:off x="-6000" y="515275"/>
            <a:ext cx="9168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365750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boto"/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. Text Only">
  <p:cSld name="CUSTOM_2_7_2_2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ef79be130c_0_3047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400"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7" name="Google Shape;377;g2ef79be130c_0_3047"/>
          <p:cNvSpPr txBox="1"/>
          <p:nvPr>
            <p:ph idx="1" type="subTitle"/>
          </p:nvPr>
        </p:nvSpPr>
        <p:spPr>
          <a:xfrm>
            <a:off x="0" y="675975"/>
            <a:ext cx="9144000" cy="364800"/>
          </a:xfrm>
          <a:prstGeom prst="rect">
            <a:avLst/>
          </a:prstGeom>
        </p:spPr>
        <p:txBody>
          <a:bodyPr anchorCtr="0" anchor="t" bIns="0" lIns="457200" spcFirstLastPara="1" rIns="45720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8" name="Google Shape;378;g2ef79be130c_0_3047"/>
          <p:cNvSpPr txBox="1"/>
          <p:nvPr>
            <p:ph idx="12" type="sldNum"/>
          </p:nvPr>
        </p:nvSpPr>
        <p:spPr>
          <a:xfrm>
            <a:off x="8607775" y="4957200"/>
            <a:ext cx="261900" cy="1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0">
            <a:noAutofit/>
          </a:bodyPr>
          <a:lstStyle>
            <a:lvl1pPr lvl="0" rtl="0">
              <a:buNone/>
              <a:defRPr sz="600">
                <a:solidFill>
                  <a:srgbClr val="000000"/>
                </a:solidFill>
              </a:defRPr>
            </a:lvl1pPr>
            <a:lvl2pPr lvl="1" rtl="0">
              <a:buNone/>
              <a:defRPr sz="600">
                <a:solidFill>
                  <a:srgbClr val="000000"/>
                </a:solidFill>
              </a:defRPr>
            </a:lvl2pPr>
            <a:lvl3pPr lvl="2" rtl="0">
              <a:buNone/>
              <a:defRPr sz="600">
                <a:solidFill>
                  <a:srgbClr val="000000"/>
                </a:solidFill>
              </a:defRPr>
            </a:lvl3pPr>
            <a:lvl4pPr lvl="3" rtl="0">
              <a:buNone/>
              <a:defRPr sz="600">
                <a:solidFill>
                  <a:srgbClr val="000000"/>
                </a:solidFill>
              </a:defRPr>
            </a:lvl4pPr>
            <a:lvl5pPr lvl="4" rtl="0">
              <a:buNone/>
              <a:defRPr sz="600">
                <a:solidFill>
                  <a:srgbClr val="000000"/>
                </a:solidFill>
              </a:defRPr>
            </a:lvl5pPr>
            <a:lvl6pPr lvl="5" rtl="0">
              <a:buNone/>
              <a:defRPr sz="600">
                <a:solidFill>
                  <a:srgbClr val="000000"/>
                </a:solidFill>
              </a:defRPr>
            </a:lvl6pPr>
            <a:lvl7pPr lvl="6" rtl="0">
              <a:buNone/>
              <a:defRPr sz="600">
                <a:solidFill>
                  <a:srgbClr val="000000"/>
                </a:solidFill>
              </a:defRPr>
            </a:lvl7pPr>
            <a:lvl8pPr lvl="7" rtl="0">
              <a:buNone/>
              <a:defRPr sz="600">
                <a:solidFill>
                  <a:srgbClr val="000000"/>
                </a:solidFill>
              </a:defRPr>
            </a:lvl8pPr>
            <a:lvl9pPr lvl="8" rtl="0">
              <a:buNone/>
              <a:defRPr sz="600">
                <a:solidFill>
                  <a:srgbClr val="000000"/>
                </a:solidFill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9" name="Google Shape;379;g2ef79be130c_0_3047"/>
          <p:cNvCxnSpPr/>
          <p:nvPr/>
        </p:nvCxnSpPr>
        <p:spPr>
          <a:xfrm>
            <a:off x="274320" y="4906455"/>
            <a:ext cx="8595600" cy="10200"/>
          </a:xfrm>
          <a:prstGeom prst="straightConnector1">
            <a:avLst/>
          </a:prstGeom>
          <a:noFill/>
          <a:ln cap="flat" cmpd="sng" w="9525">
            <a:solidFill>
              <a:srgbClr val="A9B7C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0" name="Google Shape;380;g2ef79be130c_0_3047"/>
          <p:cNvSpPr txBox="1"/>
          <p:nvPr>
            <p:ph idx="2" type="subTitle"/>
          </p:nvPr>
        </p:nvSpPr>
        <p:spPr>
          <a:xfrm>
            <a:off x="-12300" y="4916650"/>
            <a:ext cx="7971900" cy="226800"/>
          </a:xfrm>
          <a:prstGeom prst="rect">
            <a:avLst/>
          </a:prstGeom>
        </p:spPr>
        <p:txBody>
          <a:bodyPr anchorCtr="0" anchor="t" bIns="0" lIns="274300" spcFirstLastPara="1" rIns="0" wrap="square" tIns="4570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700"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81" name="Google Shape;381;g2ef79be130c_0_3047"/>
          <p:cNvSpPr txBox="1"/>
          <p:nvPr>
            <p:ph idx="3" type="body"/>
          </p:nvPr>
        </p:nvSpPr>
        <p:spPr>
          <a:xfrm>
            <a:off x="175" y="1284250"/>
            <a:ext cx="9144000" cy="3622200"/>
          </a:xfrm>
          <a:prstGeom prst="rect">
            <a:avLst/>
          </a:prstGeom>
        </p:spPr>
        <p:txBody>
          <a:bodyPr anchorCtr="0" anchor="t" bIns="914400" lIns="457200" spcFirstLastPara="1" rIns="457200" wrap="square" tIns="0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spcBef>
                <a:spcPts val="800"/>
              </a:spcBef>
              <a:spcAft>
                <a:spcPts val="0"/>
              </a:spcAft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spcBef>
                <a:spcPts val="800"/>
              </a:spcBef>
              <a:spcAft>
                <a:spcPts val="800"/>
              </a:spcAft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1">
  <p:cSld name="CUSTOM_24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ef79be130c_0_35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buNone/>
              <a:defRPr sz="1300">
                <a:solidFill>
                  <a:srgbClr val="2E5E73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5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10.xml"/><Relationship Id="rId54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13.xml"/><Relationship Id="rId5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12.xml"/><Relationship Id="rId56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5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ebb55b162e_0_0"/>
          <p:cNvSpPr txBox="1"/>
          <p:nvPr>
            <p:ph type="title"/>
          </p:nvPr>
        </p:nvSpPr>
        <p:spPr>
          <a:xfrm>
            <a:off x="457200" y="640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Roboto"/>
              <a:buNone/>
              <a:defRPr b="1" i="0" sz="26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2ebb55b162e_0_0"/>
          <p:cNvSpPr txBox="1"/>
          <p:nvPr>
            <p:ph idx="1" type="body"/>
          </p:nvPr>
        </p:nvSpPr>
        <p:spPr>
          <a:xfrm>
            <a:off x="457125" y="1143000"/>
            <a:ext cx="8229600" cy="349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■"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g2ebb55b162e_0_0"/>
          <p:cNvSpPr txBox="1"/>
          <p:nvPr>
            <p:ph idx="2" type="title"/>
          </p:nvPr>
        </p:nvSpPr>
        <p:spPr>
          <a:xfrm>
            <a:off x="457200" y="457200"/>
            <a:ext cx="8229600" cy="3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b="0" i="0" sz="18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pos="5472">
          <p15:clr>
            <a:srgbClr val="E46962"/>
          </p15:clr>
        </p15:guide>
        <p15:guide id="4" orient="horz" pos="2878">
          <p15:clr>
            <a:srgbClr val="E46962"/>
          </p15:clr>
        </p15:guide>
        <p15:guide id="5" orient="horz" pos="864">
          <p15:clr>
            <a:srgbClr val="E46962"/>
          </p15:clr>
        </p15:guide>
        <p15:guide id="6" pos="576">
          <p15:clr>
            <a:srgbClr val="E46962"/>
          </p15:clr>
        </p15:guide>
        <p15:guide id="7" pos="864">
          <p15:clr>
            <a:srgbClr val="E46962"/>
          </p15:clr>
        </p15:guide>
        <p15:guide id="8" pos="1152">
          <p15:clr>
            <a:srgbClr val="E46962"/>
          </p15:clr>
        </p15:guide>
        <p15:guide id="9" pos="1440">
          <p15:clr>
            <a:srgbClr val="E46962"/>
          </p15:clr>
        </p15:guide>
        <p15:guide id="10" pos="1728">
          <p15:clr>
            <a:srgbClr val="E46962"/>
          </p15:clr>
        </p15:guide>
        <p15:guide id="11" pos="2016">
          <p15:clr>
            <a:srgbClr val="E46962"/>
          </p15:clr>
        </p15:guide>
        <p15:guide id="12" pos="2304">
          <p15:clr>
            <a:srgbClr val="E46962"/>
          </p15:clr>
        </p15:guide>
        <p15:guide id="13" pos="2592">
          <p15:clr>
            <a:srgbClr val="E46962"/>
          </p15:clr>
        </p15:guide>
        <p15:guide id="14" pos="2880">
          <p15:clr>
            <a:srgbClr val="E46962"/>
          </p15:clr>
        </p15:guide>
        <p15:guide id="15" pos="3168">
          <p15:clr>
            <a:srgbClr val="E46962"/>
          </p15:clr>
        </p15:guide>
        <p15:guide id="16" pos="3456">
          <p15:clr>
            <a:srgbClr val="E46962"/>
          </p15:clr>
        </p15:guide>
        <p15:guide id="17" pos="3744">
          <p15:clr>
            <a:srgbClr val="E46962"/>
          </p15:clr>
        </p15:guide>
        <p15:guide id="18" pos="4032">
          <p15:clr>
            <a:srgbClr val="E46962"/>
          </p15:clr>
        </p15:guide>
        <p15:guide id="19" pos="4320">
          <p15:clr>
            <a:srgbClr val="E46962"/>
          </p15:clr>
        </p15:guide>
        <p15:guide id="20" pos="4608">
          <p15:clr>
            <a:srgbClr val="E46962"/>
          </p15:clr>
        </p15:guide>
        <p15:guide id="21" pos="4896">
          <p15:clr>
            <a:srgbClr val="E46962"/>
          </p15:clr>
        </p15:guide>
        <p15:guide id="22" pos="5184">
          <p15:clr>
            <a:srgbClr val="E46962"/>
          </p15:clr>
        </p15:guide>
        <p15:guide id="23" orient="horz" pos="584">
          <p15:clr>
            <a:srgbClr val="E46962"/>
          </p15:clr>
        </p15:guide>
        <p15:guide id="24" orient="horz" pos="1152">
          <p15:clr>
            <a:srgbClr val="E46962"/>
          </p15:clr>
        </p15:guide>
        <p15:guide id="25" orient="horz" pos="1440">
          <p15:clr>
            <a:srgbClr val="E46962"/>
          </p15:clr>
        </p15:guide>
        <p15:guide id="26" orient="horz" pos="1731">
          <p15:clr>
            <a:srgbClr val="E46962"/>
          </p15:clr>
        </p15:guide>
        <p15:guide id="27" orient="horz" pos="2018">
          <p15:clr>
            <a:srgbClr val="E46962"/>
          </p15:clr>
        </p15:guide>
        <p15:guide id="28" orient="horz" pos="2305">
          <p15:clr>
            <a:srgbClr val="E46962"/>
          </p15:clr>
        </p15:guide>
        <p15:guide id="29" orient="horz" pos="2591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7.png"/><Relationship Id="rId4" Type="http://schemas.openxmlformats.org/officeDocument/2006/relationships/image" Target="../media/image53.jpg"/><Relationship Id="rId5" Type="http://schemas.openxmlformats.org/officeDocument/2006/relationships/image" Target="../media/image4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5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2.xml"/><Relationship Id="rId3" Type="http://schemas.openxmlformats.org/officeDocument/2006/relationships/comments" Target="../comments/comment1.xml"/><Relationship Id="rId4" Type="http://schemas.openxmlformats.org/officeDocument/2006/relationships/image" Target="../media/image49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"/>
          <p:cNvSpPr txBox="1"/>
          <p:nvPr>
            <p:ph type="title"/>
          </p:nvPr>
        </p:nvSpPr>
        <p:spPr>
          <a:xfrm>
            <a:off x="4570700" y="2028900"/>
            <a:ext cx="4557900" cy="719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"/>
              <a:t>ML and AI in Cybersecurity Offense</a:t>
            </a:r>
            <a:endParaRPr/>
          </a:p>
        </p:txBody>
      </p:sp>
      <p:sp>
        <p:nvSpPr>
          <p:cNvPr id="389" name="Google Shape;389;p1"/>
          <p:cNvSpPr txBox="1"/>
          <p:nvPr>
            <p:ph idx="1" type="subTitle"/>
          </p:nvPr>
        </p:nvSpPr>
        <p:spPr>
          <a:xfrm>
            <a:off x="4572000" y="1533250"/>
            <a:ext cx="4572000" cy="18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Cybersecurity</a:t>
            </a:r>
            <a:endParaRPr/>
          </a:p>
        </p:txBody>
      </p:sp>
      <p:sp>
        <p:nvSpPr>
          <p:cNvPr id="390" name="Google Shape;390;p1"/>
          <p:cNvSpPr txBox="1"/>
          <p:nvPr>
            <p:ph idx="2" type="subTitle"/>
          </p:nvPr>
        </p:nvSpPr>
        <p:spPr>
          <a:xfrm>
            <a:off x="4570700" y="3990825"/>
            <a:ext cx="4557900" cy="244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49411"/>
              </a:srgbClr>
            </a:outerShdw>
          </a:effectLst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Lesson 2.3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"/>
          <p:cNvSpPr/>
          <p:nvPr/>
        </p:nvSpPr>
        <p:spPr>
          <a:xfrm>
            <a:off x="607675" y="1142050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"/>
          <p:cNvSpPr/>
          <p:nvPr/>
        </p:nvSpPr>
        <p:spPr>
          <a:xfrm>
            <a:off x="607675" y="2513899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2"/>
          <p:cNvSpPr/>
          <p:nvPr/>
        </p:nvSpPr>
        <p:spPr>
          <a:xfrm>
            <a:off x="607675" y="1827975"/>
            <a:ext cx="80790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2"/>
          <p:cNvSpPr/>
          <p:nvPr/>
        </p:nvSpPr>
        <p:spPr>
          <a:xfrm>
            <a:off x="457200" y="1142102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2"/>
          <p:cNvSpPr/>
          <p:nvPr/>
        </p:nvSpPr>
        <p:spPr>
          <a:xfrm>
            <a:off x="457200" y="1828014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2"/>
          <p:cNvSpPr/>
          <p:nvPr/>
        </p:nvSpPr>
        <p:spPr>
          <a:xfrm>
            <a:off x="457200" y="2513925"/>
            <a:ext cx="459000" cy="4590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82D4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2"/>
          <p:cNvSpPr txBox="1"/>
          <p:nvPr>
            <p:ph idx="4294967295" type="body"/>
          </p:nvPr>
        </p:nvSpPr>
        <p:spPr>
          <a:xfrm>
            <a:off x="914400" y="11887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Understand how AI is used in cybersecurity offense.</a:t>
            </a:r>
            <a:endParaRPr/>
          </a:p>
        </p:txBody>
      </p:sp>
      <p:sp>
        <p:nvSpPr>
          <p:cNvPr id="402" name="Google Shape;402;p2"/>
          <p:cNvSpPr txBox="1"/>
          <p:nvPr>
            <p:ph idx="4294967295" type="body"/>
          </p:nvPr>
        </p:nvSpPr>
        <p:spPr>
          <a:xfrm>
            <a:off x="914400" y="1874287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Learn about specific AI and ML techniques for offensive security.</a:t>
            </a:r>
            <a:endParaRPr/>
          </a:p>
        </p:txBody>
      </p:sp>
      <p:sp>
        <p:nvSpPr>
          <p:cNvPr id="403" name="Google Shape;403;p2"/>
          <p:cNvSpPr txBox="1"/>
          <p:nvPr>
            <p:ph idx="4294967295" type="body"/>
          </p:nvPr>
        </p:nvSpPr>
        <p:spPr>
          <a:xfrm>
            <a:off x="914400" y="2559823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Gain hands-on experience with AI tools used in cybersecurity offense.</a:t>
            </a:r>
            <a:endParaRPr/>
          </a:p>
        </p:txBody>
      </p:sp>
      <p:sp>
        <p:nvSpPr>
          <p:cNvPr id="404" name="Google Shape;404;p2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/>
              <a:t>By the end of today’s class, you will: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2ef79be130c_0_0"/>
          <p:cNvSpPr txBox="1"/>
          <p:nvPr>
            <p:ph type="title"/>
          </p:nvPr>
        </p:nvSpPr>
        <p:spPr>
          <a:xfrm>
            <a:off x="0" y="2694300"/>
            <a:ext cx="9144000" cy="16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0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AI and ML Techniques for </a:t>
            </a:r>
            <a:br>
              <a:rPr b="0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Cybersecurity</a:t>
            </a:r>
            <a:r>
              <a:rPr b="0"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Offense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0" name="Google Shape;410;g2ef79be130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74387" y="1349925"/>
            <a:ext cx="1595224" cy="11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/>
              <a:t>Offensive security</a:t>
            </a:r>
            <a:r>
              <a:rPr lang="en" sz="3200"/>
              <a:t> involves using AI and ML techniques to simulate cyber attacks.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ef79be130c_0_986"/>
          <p:cNvSpPr txBox="1"/>
          <p:nvPr/>
        </p:nvSpPr>
        <p:spPr>
          <a:xfrm>
            <a:off x="0" y="1133000"/>
            <a:ext cx="40095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Penetration Testing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Identifying specific vulnerabilities in a system or application.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1" name="Google Shape;421;g2ef79be130c_0_986"/>
          <p:cNvCxnSpPr/>
          <p:nvPr/>
        </p:nvCxnSpPr>
        <p:spPr>
          <a:xfrm>
            <a:off x="4537850" y="1145600"/>
            <a:ext cx="0" cy="3363900"/>
          </a:xfrm>
          <a:prstGeom prst="straightConnector1">
            <a:avLst/>
          </a:prstGeom>
          <a:noFill/>
          <a:ln cap="flat" cmpd="sng" w="19050">
            <a:solidFill>
              <a:srgbClr val="2E5E7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g2ef79be130c_0_986"/>
          <p:cNvSpPr txBox="1"/>
          <p:nvPr/>
        </p:nvSpPr>
        <p:spPr>
          <a:xfrm>
            <a:off x="4537850" y="1133000"/>
            <a:ext cx="3856200" cy="11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Red Teaming</a:t>
            </a:r>
            <a:endParaRPr b="1" i="0" sz="20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Testing overall security posture and response capabilities. </a:t>
            </a:r>
            <a:endParaRPr b="1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g2ef79be130c_0_986"/>
          <p:cNvSpPr txBox="1"/>
          <p:nvPr>
            <p:ph type="title"/>
          </p:nvPr>
        </p:nvSpPr>
        <p:spPr>
          <a:xfrm>
            <a:off x="-243550" y="127400"/>
            <a:ext cx="93003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457200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Common Applications Using AI in Offensive Cybersecurity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424" name="Google Shape;424;g2ef79be130c_0_9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6767" y="2570239"/>
            <a:ext cx="2861071" cy="19374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g2ef79be130c_0_9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2925" y="2568450"/>
            <a:ext cx="2864679" cy="194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ef79be130c_0_1996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</p:spPr>
      </p:sp>
      <p:sp>
        <p:nvSpPr>
          <p:cNvPr id="431" name="Google Shape;431;g2ef79be130c_0_1996"/>
          <p:cNvSpPr txBox="1"/>
          <p:nvPr>
            <p:ph type="title"/>
          </p:nvPr>
        </p:nvSpPr>
        <p:spPr>
          <a:xfrm>
            <a:off x="3657600" y="146300"/>
            <a:ext cx="54078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Automated Exploitation Generation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g2ef79be130c_0_1996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Helps identify vulnerabilities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2ef79be130c_0_1996"/>
          <p:cNvSpPr txBox="1"/>
          <p:nvPr>
            <p:ph idx="1" type="body"/>
          </p:nvPr>
        </p:nvSpPr>
        <p:spPr>
          <a:xfrm>
            <a:off x="3661275" y="1956150"/>
            <a:ext cx="5025600" cy="1231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Analyzes software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Generates exploits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Speeds up process</a:t>
            </a:r>
            <a:endParaRPr/>
          </a:p>
        </p:txBody>
      </p:sp>
      <p:pic>
        <p:nvPicPr>
          <p:cNvPr id="434" name="Google Shape;434;g2ef79be130c_0_1996"/>
          <p:cNvPicPr preferRelativeResize="0"/>
          <p:nvPr/>
        </p:nvPicPr>
        <p:blipFill rotWithShape="1">
          <a:blip r:embed="rId3">
            <a:alphaModFix/>
          </a:blip>
          <a:srcRect b="0" l="27743" r="37680" t="0"/>
          <a:stretch/>
        </p:blipFill>
        <p:spPr>
          <a:xfrm>
            <a:off x="-208450" y="150"/>
            <a:ext cx="3581353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ef79be130c_0_2014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</p:spPr>
      </p:sp>
      <p:sp>
        <p:nvSpPr>
          <p:cNvPr id="440" name="Google Shape;440;g2ef79be130c_0_2014"/>
          <p:cNvSpPr txBox="1"/>
          <p:nvPr>
            <p:ph type="title"/>
          </p:nvPr>
        </p:nvSpPr>
        <p:spPr>
          <a:xfrm>
            <a:off x="3657600" y="146300"/>
            <a:ext cx="54078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Phishing Campaign Automation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2ef79be130c_0_2014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Increases effectiveness of phishing campaigns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g2ef79be130c_0_2014"/>
          <p:cNvSpPr txBox="1"/>
          <p:nvPr>
            <p:ph idx="1" type="body"/>
          </p:nvPr>
        </p:nvSpPr>
        <p:spPr>
          <a:xfrm>
            <a:off x="3661275" y="1956150"/>
            <a:ext cx="5025600" cy="1231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Crafts and sends phishing emails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Adjusts based on recipient response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Adapts and improves overtime</a:t>
            </a:r>
            <a:endParaRPr/>
          </a:p>
        </p:txBody>
      </p:sp>
      <p:pic>
        <p:nvPicPr>
          <p:cNvPr id="443" name="Google Shape;443;g2ef79be130c_0_2014"/>
          <p:cNvPicPr preferRelativeResize="0"/>
          <p:nvPr/>
        </p:nvPicPr>
        <p:blipFill rotWithShape="1">
          <a:blip r:embed="rId3">
            <a:alphaModFix/>
          </a:blip>
          <a:srcRect b="0" l="31039" r="11093" t="0"/>
          <a:stretch/>
        </p:blipFill>
        <p:spPr>
          <a:xfrm>
            <a:off x="-199750" y="0"/>
            <a:ext cx="357265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2ef79be130c_0_2023"/>
          <p:cNvSpPr/>
          <p:nvPr>
            <p:ph idx="2" type="pic"/>
          </p:nvPr>
        </p:nvSpPr>
        <p:spPr>
          <a:xfrm>
            <a:off x="0" y="150"/>
            <a:ext cx="3220500" cy="5143500"/>
          </a:xfrm>
          <a:prstGeom prst="rect">
            <a:avLst/>
          </a:prstGeom>
        </p:spPr>
      </p:sp>
      <p:sp>
        <p:nvSpPr>
          <p:cNvPr id="449" name="Google Shape;449;g2ef79be130c_0_2023"/>
          <p:cNvSpPr txBox="1"/>
          <p:nvPr>
            <p:ph type="title"/>
          </p:nvPr>
        </p:nvSpPr>
        <p:spPr>
          <a:xfrm>
            <a:off x="3657600" y="146300"/>
            <a:ext cx="54078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Social Engineering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2ef79be130c_0_2023"/>
          <p:cNvSpPr txBox="1"/>
          <p:nvPr>
            <p:ph idx="3" type="subTitle"/>
          </p:nvPr>
        </p:nvSpPr>
        <p:spPr>
          <a:xfrm>
            <a:off x="3661286" y="548650"/>
            <a:ext cx="5025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Crafts personalized attack vectors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g2ef79be130c_0_2023"/>
          <p:cNvSpPr txBox="1"/>
          <p:nvPr>
            <p:ph idx="1" type="body"/>
          </p:nvPr>
        </p:nvSpPr>
        <p:spPr>
          <a:xfrm>
            <a:off x="3661275" y="1956150"/>
            <a:ext cx="5025600" cy="12315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Gathers and analyzes detailed information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Uses</a:t>
            </a:r>
            <a:r>
              <a:rPr lang="en"/>
              <a:t> various social media platforms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Designs effective attacks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2" name="Google Shape;452;g2ef79be130c_0_2023"/>
          <p:cNvPicPr preferRelativeResize="0"/>
          <p:nvPr/>
        </p:nvPicPr>
        <p:blipFill rotWithShape="1">
          <a:blip r:embed="rId3">
            <a:alphaModFix/>
          </a:blip>
          <a:srcRect b="0" l="22056" r="32587" t="0"/>
          <a:stretch/>
        </p:blipFill>
        <p:spPr>
          <a:xfrm>
            <a:off x="-158700" y="150"/>
            <a:ext cx="351296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7" name="Google Shape;457;p6"/>
          <p:cNvGrpSpPr/>
          <p:nvPr/>
        </p:nvGrpSpPr>
        <p:grpSpPr>
          <a:xfrm>
            <a:off x="6105221" y="1106048"/>
            <a:ext cx="2661925" cy="3635341"/>
            <a:chOff x="6257775" y="933275"/>
            <a:chExt cx="2439000" cy="3635341"/>
          </a:xfrm>
        </p:grpSpPr>
        <p:sp>
          <p:nvSpPr>
            <p:cNvPr id="458" name="Google Shape;458;p6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6257775" y="933275"/>
              <a:ext cx="2439000" cy="676800"/>
            </a:xfrm>
            <a:prstGeom prst="roundRect">
              <a:avLst>
                <a:gd fmla="val 1334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Advanced </a:t>
              </a: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</a:t>
              </a:r>
              <a:r>
                <a:rPr b="1" i="0" lang="en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ersistent </a:t>
              </a: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b="1" i="0" lang="en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hreat (APT) </a:t>
              </a:r>
              <a:r>
                <a:rPr b="1" lang="en" sz="1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b="1" i="0" lang="en" sz="16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imulations</a:t>
              </a:r>
              <a:endParaRPr b="1" i="0" sz="16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0" name="Google Shape;460;p6"/>
          <p:cNvGrpSpPr/>
          <p:nvPr/>
        </p:nvGrpSpPr>
        <p:grpSpPr>
          <a:xfrm>
            <a:off x="457247" y="1106050"/>
            <a:ext cx="2553415" cy="3634375"/>
            <a:chOff x="457200" y="933275"/>
            <a:chExt cx="2439025" cy="3634375"/>
          </a:xfrm>
        </p:grpSpPr>
        <p:sp>
          <p:nvSpPr>
            <p:cNvPr id="461" name="Google Shape;461;p6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457200" y="933275"/>
              <a:ext cx="2438400" cy="676800"/>
            </a:xfrm>
            <a:prstGeom prst="roundRect">
              <a:avLst>
                <a:gd fmla="val 133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Penetration </a:t>
              </a: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b="1" i="0" lang="en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esting </a:t>
              </a:r>
              <a:r>
                <a:rPr b="1" lang="en" sz="18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t</a:t>
              </a:r>
              <a:r>
                <a:rPr b="1" i="0" lang="en" sz="1800" u="none" cap="none" strike="noStrike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ools</a:t>
              </a:r>
              <a:endParaRPr b="1" i="0" sz="18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63" name="Google Shape;463;p6"/>
          <p:cNvGrpSpPr/>
          <p:nvPr/>
        </p:nvGrpSpPr>
        <p:grpSpPr>
          <a:xfrm>
            <a:off x="3283181" y="1106050"/>
            <a:ext cx="2580569" cy="3634374"/>
            <a:chOff x="3399100" y="933275"/>
            <a:chExt cx="2435188" cy="3634374"/>
          </a:xfrm>
        </p:grpSpPr>
        <p:sp>
          <p:nvSpPr>
            <p:cNvPr id="464" name="Google Shape;464;p6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5" name="Google Shape;465;p6"/>
            <p:cNvSpPr/>
            <p:nvPr/>
          </p:nvSpPr>
          <p:spPr>
            <a:xfrm>
              <a:off x="3399100" y="933275"/>
              <a:ext cx="2427300" cy="6768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1" i="0" lang="en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Phishing </a:t>
              </a: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s</a:t>
              </a:r>
              <a:r>
                <a:rPr b="1" i="0" lang="en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imulation </a:t>
              </a:r>
              <a:r>
                <a:rPr b="1" lang="en" sz="1800">
                  <a:latin typeface="Roboto"/>
                  <a:ea typeface="Roboto"/>
                  <a:cs typeface="Roboto"/>
                  <a:sym typeface="Roboto"/>
                </a:rPr>
                <a:t>p</a:t>
              </a:r>
              <a:r>
                <a:rPr b="1" i="0" lang="en" sz="18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latforms</a:t>
              </a:r>
              <a:endParaRPr b="1" i="0" sz="18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66" name="Google Shape;466;p6"/>
          <p:cNvSpPr txBox="1"/>
          <p:nvPr>
            <p:ph idx="4294967295" type="body"/>
          </p:nvPr>
        </p:nvSpPr>
        <p:spPr>
          <a:xfrm>
            <a:off x="457175" y="2013000"/>
            <a:ext cx="2580600" cy="26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2875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AI-driven tools like automated vulnerability scanners identify and exploit system weaknesses, providing a comprehensive security assessment.</a:t>
            </a:r>
            <a:endParaRPr sz="1700"/>
          </a:p>
        </p:txBody>
      </p:sp>
      <p:sp>
        <p:nvSpPr>
          <p:cNvPr id="467" name="Google Shape;467;p6"/>
          <p:cNvSpPr txBox="1"/>
          <p:nvPr>
            <p:ph idx="1" type="subTitle"/>
          </p:nvPr>
        </p:nvSpPr>
        <p:spPr>
          <a:xfrm>
            <a:off x="3314100" y="2013000"/>
            <a:ext cx="25533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AI-powered platforms simulate phishing attacks to train employees on recognizing and responding to phishing attempts. </a:t>
            </a:r>
            <a:endParaRPr sz="1700"/>
          </a:p>
        </p:txBody>
      </p:sp>
      <p:sp>
        <p:nvSpPr>
          <p:cNvPr id="468" name="Google Shape;468;p6"/>
          <p:cNvSpPr txBox="1"/>
          <p:nvPr>
            <p:ph idx="4294967295" type="body"/>
          </p:nvPr>
        </p:nvSpPr>
        <p:spPr>
          <a:xfrm>
            <a:off x="6105925" y="2013000"/>
            <a:ext cx="2661900" cy="27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AI tools that simulate APTs test organizational defenses against prolonged and sophisticated cyber attacks. </a:t>
            </a:r>
            <a:endParaRPr/>
          </a:p>
        </p:txBody>
      </p:sp>
      <p:sp>
        <p:nvSpPr>
          <p:cNvPr id="469" name="Google Shape;469;p6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Examples of AI and ML Applications in Offensive Security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7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AI and ML for Automated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Vulnerability Scanning</a:t>
            </a:r>
            <a:endParaRPr/>
          </a:p>
        </p:txBody>
      </p:sp>
      <p:pic>
        <p:nvPicPr>
          <p:cNvPr id="475" name="Google Shape;4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76877" y="1673208"/>
            <a:ext cx="790254" cy="8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/>
              <a:t>Automated vulnerability scanning</a:t>
            </a:r>
            <a:r>
              <a:rPr lang="en" sz="3000"/>
              <a:t> involves using specialized tools to identify security vulnerabilities in systems, networks, and applications.</a:t>
            </a:r>
            <a:endParaRPr sz="3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ef79be130c_0_2038"/>
          <p:cNvSpPr/>
          <p:nvPr/>
        </p:nvSpPr>
        <p:spPr>
          <a:xfrm flipH="1">
            <a:off x="724296" y="1477754"/>
            <a:ext cx="2428500" cy="281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2ef79be130c_0_2038"/>
          <p:cNvSpPr txBox="1"/>
          <p:nvPr/>
        </p:nvSpPr>
        <p:spPr>
          <a:xfrm>
            <a:off x="724294" y="1477807"/>
            <a:ext cx="2466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2"/>
                </a:solidFill>
              </a:rPr>
              <a:t>Unpatched software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87" name="Google Shape;487;g2ef79be130c_0_2038"/>
          <p:cNvGrpSpPr/>
          <p:nvPr/>
        </p:nvGrpSpPr>
        <p:grpSpPr>
          <a:xfrm>
            <a:off x="457200" y="851551"/>
            <a:ext cx="533372" cy="563662"/>
            <a:chOff x="457200" y="1378813"/>
            <a:chExt cx="695400" cy="695450"/>
          </a:xfrm>
        </p:grpSpPr>
        <p:sp>
          <p:nvSpPr>
            <p:cNvPr id="488" name="Google Shape;488;g2ef79be130c_0_203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1" sz="2000"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9" name="Google Shape;489;g2ef79be130c_0_203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00D6C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490" name="Google Shape;490;g2ef79be130c_0_2038"/>
          <p:cNvGrpSpPr/>
          <p:nvPr/>
        </p:nvGrpSpPr>
        <p:grpSpPr>
          <a:xfrm>
            <a:off x="3228977" y="851551"/>
            <a:ext cx="533372" cy="563662"/>
            <a:chOff x="457200" y="1378813"/>
            <a:chExt cx="695400" cy="695450"/>
          </a:xfrm>
        </p:grpSpPr>
        <p:sp>
          <p:nvSpPr>
            <p:cNvPr id="491" name="Google Shape;491;g2ef79be130c_0_203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1" sz="2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2" name="Google Shape;492;g2ef79be130c_0_203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rgbClr val="1475D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93" name="Google Shape;493;g2ef79be130c_0_2038"/>
          <p:cNvSpPr/>
          <p:nvPr/>
        </p:nvSpPr>
        <p:spPr>
          <a:xfrm flipH="1">
            <a:off x="3496073" y="1477754"/>
            <a:ext cx="2428500" cy="281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2ef79be130c_0_2038"/>
          <p:cNvSpPr txBox="1"/>
          <p:nvPr/>
        </p:nvSpPr>
        <p:spPr>
          <a:xfrm>
            <a:off x="3496071" y="1477810"/>
            <a:ext cx="23715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</a:rPr>
              <a:t>Misconfigurations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95" name="Google Shape;495;g2ef79be130c_0_2038"/>
          <p:cNvGrpSpPr/>
          <p:nvPr/>
        </p:nvGrpSpPr>
        <p:grpSpPr>
          <a:xfrm>
            <a:off x="6134104" y="852344"/>
            <a:ext cx="533372" cy="563662"/>
            <a:chOff x="457200" y="1378813"/>
            <a:chExt cx="695400" cy="695450"/>
          </a:xfrm>
        </p:grpSpPr>
        <p:sp>
          <p:nvSpPr>
            <p:cNvPr id="496" name="Google Shape;496;g2ef79be130c_0_2038"/>
            <p:cNvSpPr/>
            <p:nvPr/>
          </p:nvSpPr>
          <p:spPr>
            <a:xfrm>
              <a:off x="457200" y="1378813"/>
              <a:ext cx="695400" cy="621300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1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97" name="Google Shape;497;g2ef79be130c_0_2038"/>
            <p:cNvSpPr/>
            <p:nvPr/>
          </p:nvSpPr>
          <p:spPr>
            <a:xfrm rot="10800000">
              <a:off x="634726" y="1885638"/>
              <a:ext cx="340325" cy="188625"/>
            </a:xfrm>
            <a:prstGeom prst="flowChartExtra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3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498" name="Google Shape;498;g2ef79be130c_0_2038"/>
          <p:cNvSpPr/>
          <p:nvPr/>
        </p:nvSpPr>
        <p:spPr>
          <a:xfrm flipH="1">
            <a:off x="6401200" y="1478546"/>
            <a:ext cx="2428500" cy="2813400"/>
          </a:xfrm>
          <a:prstGeom prst="round2DiagRect">
            <a:avLst>
              <a:gd fmla="val 16667" name="adj1"/>
              <a:gd fmla="val 0" name="adj2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g2ef79be130c_0_2038"/>
          <p:cNvSpPr txBox="1"/>
          <p:nvPr/>
        </p:nvSpPr>
        <p:spPr>
          <a:xfrm>
            <a:off x="6344200" y="1478050"/>
            <a:ext cx="259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2"/>
                </a:solidFill>
              </a:rPr>
              <a:t>Potential exploit points</a:t>
            </a:r>
            <a:endParaRPr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g2ef79be130c_0_2038"/>
          <p:cNvSpPr txBox="1"/>
          <p:nvPr>
            <p:ph type="title"/>
          </p:nvPr>
        </p:nvSpPr>
        <p:spPr>
          <a:xfrm>
            <a:off x="-12125" y="0"/>
            <a:ext cx="9168600" cy="533700"/>
          </a:xfrm>
          <a:prstGeom prst="rect">
            <a:avLst/>
          </a:prstGeom>
        </p:spPr>
        <p:txBody>
          <a:bodyPr anchorCtr="0" anchor="t" bIns="91425" lIns="457200" spcFirstLastPara="1" rIns="274300" wrap="square" tIns="182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 sz="2600">
                <a:latin typeface="Roboto"/>
                <a:ea typeface="Roboto"/>
                <a:cs typeface="Roboto"/>
                <a:sym typeface="Roboto"/>
              </a:rPr>
              <a:t>Understanding Automated Vulnerability Scanning</a:t>
            </a:r>
            <a:endParaRPr sz="26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1" name="Google Shape;501;g2ef79be130c_0_2038"/>
          <p:cNvPicPr preferRelativeResize="0"/>
          <p:nvPr/>
        </p:nvPicPr>
        <p:blipFill rotWithShape="1">
          <a:blip r:embed="rId3">
            <a:alphaModFix/>
          </a:blip>
          <a:srcRect b="0" l="17940" r="17940" t="0"/>
          <a:stretch/>
        </p:blipFill>
        <p:spPr>
          <a:xfrm>
            <a:off x="3837422" y="2145401"/>
            <a:ext cx="1791600" cy="186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02" name="Google Shape;502;g2ef79be130c_0_2038"/>
          <p:cNvPicPr preferRelativeResize="0"/>
          <p:nvPr/>
        </p:nvPicPr>
        <p:blipFill rotWithShape="1">
          <a:blip r:embed="rId4">
            <a:alphaModFix/>
          </a:blip>
          <a:srcRect b="0" l="16546" r="16546" t="0"/>
          <a:stretch/>
        </p:blipFill>
        <p:spPr>
          <a:xfrm>
            <a:off x="1020125" y="2145421"/>
            <a:ext cx="1875000" cy="186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03" name="Google Shape;503;g2ef79be130c_0_2038"/>
          <p:cNvPicPr preferRelativeResize="0"/>
          <p:nvPr/>
        </p:nvPicPr>
        <p:blipFill rotWithShape="1">
          <a:blip r:embed="rId5">
            <a:alphaModFix/>
          </a:blip>
          <a:srcRect b="0" l="23556" r="23556" t="0"/>
          <a:stretch/>
        </p:blipFill>
        <p:spPr>
          <a:xfrm>
            <a:off x="6696548" y="2145401"/>
            <a:ext cx="1875000" cy="1867800"/>
          </a:xfrm>
          <a:prstGeom prst="ellipse">
            <a:avLst/>
          </a:prstGeom>
          <a:solidFill>
            <a:srgbClr val="F3F3F3"/>
          </a:solidFill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0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>
                <a:solidFill>
                  <a:schemeClr val="dk2"/>
                </a:solidFill>
              </a:rPr>
              <a:t>AI and ML Enhances Vulnerability Scanning</a:t>
            </a:r>
            <a:endParaRPr/>
          </a:p>
        </p:txBody>
      </p:sp>
      <p:grpSp>
        <p:nvGrpSpPr>
          <p:cNvPr id="509" name="Google Shape;509;p10"/>
          <p:cNvGrpSpPr/>
          <p:nvPr/>
        </p:nvGrpSpPr>
        <p:grpSpPr>
          <a:xfrm>
            <a:off x="-3" y="1171500"/>
            <a:ext cx="8686828" cy="685800"/>
            <a:chOff x="-3" y="1185750"/>
            <a:chExt cx="8686828" cy="685800"/>
          </a:xfrm>
        </p:grpSpPr>
        <p:cxnSp>
          <p:nvCxnSpPr>
            <p:cNvPr id="510" name="Google Shape;510;p10"/>
            <p:cNvCxnSpPr/>
            <p:nvPr/>
          </p:nvCxnSpPr>
          <p:spPr>
            <a:xfrm>
              <a:off x="-3" y="1385850"/>
              <a:ext cx="686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11" name="Google Shape;511;p10"/>
            <p:cNvSpPr/>
            <p:nvPr/>
          </p:nvSpPr>
          <p:spPr>
            <a:xfrm>
              <a:off x="596125" y="1185750"/>
              <a:ext cx="8090700" cy="685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10"/>
            <p:cNvSpPr/>
            <p:nvPr/>
          </p:nvSpPr>
          <p:spPr>
            <a:xfrm>
              <a:off x="513600" y="1224300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10"/>
            <p:cNvSpPr/>
            <p:nvPr/>
          </p:nvSpPr>
          <p:spPr>
            <a:xfrm>
              <a:off x="593400" y="1304100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14" name="Google Shape;514;p10"/>
          <p:cNvGrpSpPr/>
          <p:nvPr/>
        </p:nvGrpSpPr>
        <p:grpSpPr>
          <a:xfrm>
            <a:off x="-3" y="2151505"/>
            <a:ext cx="8686828" cy="400200"/>
            <a:chOff x="-3" y="1885788"/>
            <a:chExt cx="8686828" cy="400200"/>
          </a:xfrm>
        </p:grpSpPr>
        <p:cxnSp>
          <p:nvCxnSpPr>
            <p:cNvPr id="515" name="Google Shape;515;p10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516" name="Google Shape;516;p10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17" name="Google Shape;517;p10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0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10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520" name="Google Shape;520;p10"/>
          <p:cNvGrpSpPr/>
          <p:nvPr/>
        </p:nvGrpSpPr>
        <p:grpSpPr>
          <a:xfrm>
            <a:off x="-3" y="2837247"/>
            <a:ext cx="8686828" cy="400200"/>
            <a:chOff x="-3" y="2566213"/>
            <a:chExt cx="8686828" cy="400200"/>
          </a:xfrm>
        </p:grpSpPr>
        <p:cxnSp>
          <p:nvCxnSpPr>
            <p:cNvPr id="521" name="Google Shape;521;p10"/>
            <p:cNvCxnSpPr/>
            <p:nvPr/>
          </p:nvCxnSpPr>
          <p:spPr>
            <a:xfrm>
              <a:off x="-3" y="2766313"/>
              <a:ext cx="6663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522" name="Google Shape;522;p10"/>
            <p:cNvSpPr/>
            <p:nvPr/>
          </p:nvSpPr>
          <p:spPr>
            <a:xfrm>
              <a:off x="596125" y="2566213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0"/>
            <p:cNvSpPr/>
            <p:nvPr/>
          </p:nvSpPr>
          <p:spPr>
            <a:xfrm>
              <a:off x="513600" y="2604763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0"/>
            <p:cNvSpPr/>
            <p:nvPr/>
          </p:nvSpPr>
          <p:spPr>
            <a:xfrm>
              <a:off x="593400" y="2684563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525" name="Google Shape;525;p10"/>
          <p:cNvSpPr txBox="1"/>
          <p:nvPr>
            <p:ph idx="1" type="subTitle"/>
          </p:nvPr>
        </p:nvSpPr>
        <p:spPr>
          <a:xfrm>
            <a:off x="914400" y="21685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AI and ML improve the effectiveness of vulnerability scans.</a:t>
            </a:r>
            <a:endParaRPr sz="1700"/>
          </a:p>
        </p:txBody>
      </p:sp>
      <p:sp>
        <p:nvSpPr>
          <p:cNvPr id="526" name="Google Shape;526;p10"/>
          <p:cNvSpPr txBox="1"/>
          <p:nvPr>
            <p:ph idx="4294967295" type="body"/>
          </p:nvPr>
        </p:nvSpPr>
        <p:spPr>
          <a:xfrm>
            <a:off x="914400" y="2854086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Prioritization of vulnerabilities helps resource optimization for remediation.</a:t>
            </a:r>
            <a:r>
              <a:rPr b="1" lang="en" sz="1700"/>
              <a:t> </a:t>
            </a:r>
            <a:endParaRPr sz="1700"/>
          </a:p>
        </p:txBody>
      </p:sp>
      <p:sp>
        <p:nvSpPr>
          <p:cNvPr id="527" name="Google Shape;527;p10"/>
          <p:cNvSpPr txBox="1"/>
          <p:nvPr/>
        </p:nvSpPr>
        <p:spPr>
          <a:xfrm>
            <a:off x="7544125" y="-78050"/>
            <a:ext cx="749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10"/>
          <p:cNvSpPr txBox="1"/>
          <p:nvPr>
            <p:ph idx="4294967295" type="body"/>
          </p:nvPr>
        </p:nvSpPr>
        <p:spPr>
          <a:xfrm>
            <a:off x="849375" y="1283550"/>
            <a:ext cx="6999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AI can assess the potential impact and exploitability of vulnerabilities, and prioritize remediation efforts accordingly.</a:t>
            </a:r>
            <a:endParaRPr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11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Key AI and ML Techniques for Vulnerability Scanning</a:t>
            </a:r>
            <a:endParaRPr/>
          </a:p>
        </p:txBody>
      </p:sp>
      <p:sp>
        <p:nvSpPr>
          <p:cNvPr id="534" name="Google Shape;534;p11"/>
          <p:cNvSpPr/>
          <p:nvPr/>
        </p:nvSpPr>
        <p:spPr>
          <a:xfrm>
            <a:off x="423125" y="1147400"/>
            <a:ext cx="2645700" cy="3157500"/>
          </a:xfrm>
          <a:prstGeom prst="rect">
            <a:avLst/>
          </a:prstGeom>
          <a:solidFill>
            <a:srgbClr val="2E5E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1"/>
          <p:cNvSpPr/>
          <p:nvPr/>
        </p:nvSpPr>
        <p:spPr>
          <a:xfrm>
            <a:off x="3235150" y="1147400"/>
            <a:ext cx="2645700" cy="3157500"/>
          </a:xfrm>
          <a:prstGeom prst="rect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1"/>
          <p:cNvSpPr/>
          <p:nvPr/>
        </p:nvSpPr>
        <p:spPr>
          <a:xfrm>
            <a:off x="6047175" y="1147400"/>
            <a:ext cx="2645700" cy="3157500"/>
          </a:xfrm>
          <a:prstGeom prst="rect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1"/>
          <p:cNvSpPr txBox="1"/>
          <p:nvPr/>
        </p:nvSpPr>
        <p:spPr>
          <a:xfrm>
            <a:off x="423075" y="1159401"/>
            <a:ext cx="26457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Pattern </a:t>
            </a:r>
            <a:r>
              <a:rPr b="1"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b="1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ecognition</a:t>
            </a:r>
            <a:endParaRPr b="1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AI can identify </a:t>
            </a:r>
            <a:b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known vulnerabilities by matching patterns </a:t>
            </a:r>
            <a:b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 code against </a:t>
            </a:r>
            <a:b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database of </a:t>
            </a:r>
            <a:b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known issues.</a:t>
            </a:r>
            <a:endParaRPr b="0" i="0" sz="18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11"/>
          <p:cNvSpPr txBox="1"/>
          <p:nvPr/>
        </p:nvSpPr>
        <p:spPr>
          <a:xfrm>
            <a:off x="3235075" y="1159378"/>
            <a:ext cx="2645700" cy="31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Anomaly </a:t>
            </a: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  <a:r>
              <a:rPr b="1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etection</a:t>
            </a:r>
            <a:endParaRPr b="1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AI can identify unusual patterns 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that</a:t>
            </a:r>
            <a:r>
              <a:rPr b="0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could indicate novel vulnerabilities.</a:t>
            </a:r>
            <a:endParaRPr b="0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11"/>
          <p:cNvSpPr txBox="1"/>
          <p:nvPr/>
        </p:nvSpPr>
        <p:spPr>
          <a:xfrm>
            <a:off x="6047100" y="1147400"/>
            <a:ext cx="26457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E5E73"/>
              </a:buClr>
              <a:buSzPts val="1100"/>
              <a:buFont typeface="Arial"/>
              <a:buNone/>
            </a:pPr>
            <a:r>
              <a:rPr b="1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Predictive </a:t>
            </a:r>
            <a:r>
              <a:rPr b="1"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b="1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nalysis</a:t>
            </a:r>
            <a:endParaRPr b="1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Historical data </a:t>
            </a:r>
            <a:br>
              <a:rPr b="0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b="0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is used to forecast future potential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0" i="0" lang="en" sz="18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vulnerabilities and prioritize them based on likelihood of being exploited.</a:t>
            </a:r>
            <a:endParaRPr b="0" i="0" sz="1800" u="none" cap="none" strike="noStrike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ef79be130c_0_3056"/>
          <p:cNvSpPr txBox="1"/>
          <p:nvPr>
            <p:ph type="title"/>
          </p:nvPr>
        </p:nvSpPr>
        <p:spPr>
          <a:xfrm>
            <a:off x="9087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and ML Applications in Vulnerability Scanning</a:t>
            </a:r>
            <a:endParaRPr/>
          </a:p>
        </p:txBody>
      </p:sp>
      <p:sp>
        <p:nvSpPr>
          <p:cNvPr id="545" name="Google Shape;545;g2ef79be130c_0_3056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Tenable.io &amp; Rapid7 InsightVM</a:t>
            </a:r>
            <a:endParaRPr/>
          </a:p>
        </p:txBody>
      </p:sp>
      <p:pic>
        <p:nvPicPr>
          <p:cNvPr id="546" name="Google Shape;546;g2ef79be130c_0_30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9875" y="1119675"/>
            <a:ext cx="4595148" cy="3650226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2ef79be130c_0_3056"/>
          <p:cNvSpPr txBox="1"/>
          <p:nvPr/>
        </p:nvSpPr>
        <p:spPr>
          <a:xfrm>
            <a:off x="390150" y="1999935"/>
            <a:ext cx="37917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Identification of weaknesses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Prioritization of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vulnerabilities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Continuous monitoring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Automated a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ssessments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48" name="Google Shape;548;g2ef79be130c_0_30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82" y="294781"/>
            <a:ext cx="357900" cy="370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2ef79be130c_0_3077"/>
          <p:cNvSpPr txBox="1"/>
          <p:nvPr>
            <p:ph type="title"/>
          </p:nvPr>
        </p:nvSpPr>
        <p:spPr>
          <a:xfrm>
            <a:off x="9087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and ML Applications in Vulnerability Scanning</a:t>
            </a:r>
            <a:endParaRPr/>
          </a:p>
        </p:txBody>
      </p:sp>
      <p:sp>
        <p:nvSpPr>
          <p:cNvPr id="554" name="Google Shape;554;g2ef79be130c_0_3077"/>
          <p:cNvSpPr txBox="1"/>
          <p:nvPr>
            <p:ph idx="1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Automated Scanners with AI Integration</a:t>
            </a:r>
            <a:endParaRPr/>
          </a:p>
        </p:txBody>
      </p:sp>
      <p:sp>
        <p:nvSpPr>
          <p:cNvPr id="555" name="Google Shape;555;g2ef79be130c_0_3077"/>
          <p:cNvSpPr txBox="1"/>
          <p:nvPr/>
        </p:nvSpPr>
        <p:spPr>
          <a:xfrm>
            <a:off x="390150" y="1999935"/>
            <a:ext cx="3791700" cy="18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Assessment of security posture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Real-time assessments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Adaptation to new threats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Up-to-date information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56" name="Google Shape;556;g2ef79be130c_0_30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252" y="315900"/>
            <a:ext cx="389895" cy="36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7" name="Google Shape;557;g2ef79be130c_0_30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9550" y="1449481"/>
            <a:ext cx="3182850" cy="2990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3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APT Threat Analysis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4"/>
          <p:cNvSpPr txBox="1"/>
          <p:nvPr>
            <p:ph type="title"/>
          </p:nvPr>
        </p:nvSpPr>
        <p:spPr>
          <a:xfrm>
            <a:off x="2151000" y="3329950"/>
            <a:ext cx="48420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ChatGPT: </a:t>
            </a:r>
            <a:r>
              <a:rPr b="0" lang="en"/>
              <a:t>“Summarize APT 29.”</a:t>
            </a:r>
            <a:endParaRPr b="0"/>
          </a:p>
        </p:txBody>
      </p:sp>
      <p:sp>
        <p:nvSpPr>
          <p:cNvPr id="568" name="Google Shape;568;p14"/>
          <p:cNvSpPr/>
          <p:nvPr/>
        </p:nvSpPr>
        <p:spPr>
          <a:xfrm>
            <a:off x="3657600" y="914400"/>
            <a:ext cx="1828800" cy="1828800"/>
          </a:xfrm>
          <a:prstGeom prst="ellipse">
            <a:avLst/>
          </a:prstGeom>
          <a:solidFill>
            <a:srgbClr val="AAD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9" name="Google Shape;5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7214" y="1331906"/>
            <a:ext cx="669570" cy="993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4" name="Google Shape;574;p15"/>
          <p:cNvPicPr preferRelativeResize="0"/>
          <p:nvPr/>
        </p:nvPicPr>
        <p:blipFill rotWithShape="1">
          <a:blip r:embed="rId3">
            <a:alphaModFix/>
          </a:blip>
          <a:srcRect b="3725" l="0" r="0" t="0"/>
          <a:stretch/>
        </p:blipFill>
        <p:spPr>
          <a:xfrm>
            <a:off x="1371600" y="0"/>
            <a:ext cx="613421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6"/>
          <p:cNvSpPr txBox="1"/>
          <p:nvPr>
            <p:ph idx="1" type="subTitle"/>
          </p:nvPr>
        </p:nvSpPr>
        <p:spPr>
          <a:xfrm>
            <a:off x="914400" y="1523200"/>
            <a:ext cx="7315200" cy="2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 this activity, you will be researching APT threats </a:t>
            </a:r>
            <a:r>
              <a:rPr lang="en"/>
              <a:t>targeting</a:t>
            </a:r>
            <a:r>
              <a:rPr lang="en"/>
              <a:t> financial organizations and summarizing the results using ChatGPT.</a:t>
            </a:r>
            <a:endParaRPr/>
          </a:p>
        </p:txBody>
      </p:sp>
      <p:sp>
        <p:nvSpPr>
          <p:cNvPr id="580" name="Google Shape;580;p16"/>
          <p:cNvSpPr txBox="1"/>
          <p:nvPr>
            <p:ph idx="3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Analyzing APTs with AI</a:t>
            </a:r>
            <a:endParaRPr/>
          </a:p>
        </p:txBody>
      </p:sp>
      <p:sp>
        <p:nvSpPr>
          <p:cNvPr id="581" name="Google Shape;581;p16"/>
          <p:cNvSpPr txBox="1"/>
          <p:nvPr/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Minutes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ef79be130c_0_3089"/>
          <p:cNvSpPr txBox="1"/>
          <p:nvPr>
            <p:ph type="title"/>
          </p:nvPr>
        </p:nvSpPr>
        <p:spPr>
          <a:xfrm>
            <a:off x="0" y="2628900"/>
            <a:ext cx="9144000" cy="8064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AI Techniques</a:t>
            </a:r>
            <a:r>
              <a:rPr b="0" lang="en">
                <a:latin typeface="Roboto"/>
                <a:ea typeface="Roboto"/>
                <a:cs typeface="Roboto"/>
                <a:sym typeface="Roboto"/>
              </a:rPr>
              <a:t> for </a:t>
            </a:r>
            <a:endParaRPr b="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>
                <a:latin typeface="Roboto"/>
                <a:ea typeface="Roboto"/>
                <a:cs typeface="Roboto"/>
                <a:sym typeface="Roboto"/>
              </a:rPr>
              <a:t>Automated Exploit Generation</a:t>
            </a:r>
            <a:endParaRPr b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99" name="Google Shape;599;g2ef79be130c_0_30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532" y="1498600"/>
            <a:ext cx="1150938" cy="107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0"/>
          <p:cNvSpPr txBox="1"/>
          <p:nvPr>
            <p:ph idx="1" type="body"/>
          </p:nvPr>
        </p:nvSpPr>
        <p:spPr>
          <a:xfrm>
            <a:off x="1482938" y="1039700"/>
            <a:ext cx="61434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b="1" lang="en" sz="2600"/>
              <a:t>Exploit generation </a:t>
            </a:r>
            <a:r>
              <a:rPr lang="en" sz="2600"/>
              <a:t>involves creating code or techniques designed to take advantage of vulnerabilities in software, systems, or networks.</a:t>
            </a:r>
            <a:endParaRPr sz="2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21"/>
          <p:cNvSpPr txBox="1"/>
          <p:nvPr>
            <p:ph idx="1" type="body"/>
          </p:nvPr>
        </p:nvSpPr>
        <p:spPr>
          <a:xfrm>
            <a:off x="3450400" y="1377600"/>
            <a:ext cx="5431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The primary goal of </a:t>
            </a:r>
            <a:r>
              <a:rPr b="1" lang="en" sz="2600"/>
              <a:t>exploit generation </a:t>
            </a:r>
            <a:r>
              <a:rPr lang="en" sz="2600"/>
              <a:t>is to demonstrate the potential impact of a vulnerability and to help security professionals understand how it can be mitigated.</a:t>
            </a:r>
            <a:endParaRPr sz="26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22"/>
          <p:cNvSpPr txBox="1"/>
          <p:nvPr>
            <p:ph idx="1" type="body"/>
          </p:nvPr>
        </p:nvSpPr>
        <p:spPr>
          <a:xfrm>
            <a:off x="3647875" y="1377600"/>
            <a:ext cx="5038800" cy="27414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How does AI and ML enhance </a:t>
            </a:r>
            <a:r>
              <a:rPr b="1" lang="en" sz="3200"/>
              <a:t>exploit generation</a:t>
            </a:r>
            <a:r>
              <a:rPr lang="en" sz="3200"/>
              <a:t>?</a:t>
            </a:r>
            <a:endParaRPr sz="42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ef79be130c_0_3095"/>
          <p:cNvSpPr txBox="1"/>
          <p:nvPr>
            <p:ph idx="1" type="body"/>
          </p:nvPr>
        </p:nvSpPr>
        <p:spPr>
          <a:xfrm>
            <a:off x="3657600" y="1054550"/>
            <a:ext cx="5025600" cy="34533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Key benefits:</a:t>
            </a:r>
            <a:endParaRPr b="1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Speed and efficiency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Accuracy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Thorough analysis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Deeper insights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Complex vulnerabilities</a:t>
            </a:r>
            <a:r>
              <a:rPr lang="en"/>
              <a:t>: AI can identify complex and subtle vulnerabilities that human analysts might miss.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g2ef79be130c_0_3095"/>
          <p:cNvSpPr txBox="1"/>
          <p:nvPr>
            <p:ph type="title"/>
          </p:nvPr>
        </p:nvSpPr>
        <p:spPr>
          <a:xfrm>
            <a:off x="3432900" y="91500"/>
            <a:ext cx="5750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AI and ML Enhances Exploit Generation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1" name="Google Shape;621;g2ef79be130c_0_309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1516" r="43979" t="0"/>
          <a:stretch/>
        </p:blipFill>
        <p:spPr>
          <a:xfrm>
            <a:off x="0" y="0"/>
            <a:ext cx="313602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6" name="Google Shape;626;p24"/>
          <p:cNvGrpSpPr/>
          <p:nvPr/>
        </p:nvGrpSpPr>
        <p:grpSpPr>
          <a:xfrm>
            <a:off x="6257775" y="927075"/>
            <a:ext cx="2429025" cy="3921193"/>
            <a:chOff x="6257775" y="927092"/>
            <a:chExt cx="2429025" cy="3641524"/>
          </a:xfrm>
        </p:grpSpPr>
        <p:sp>
          <p:nvSpPr>
            <p:cNvPr id="627" name="Google Shape;627;p24"/>
            <p:cNvSpPr/>
            <p:nvPr/>
          </p:nvSpPr>
          <p:spPr>
            <a:xfrm flipH="1">
              <a:off x="6258300" y="1134216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24"/>
            <p:cNvSpPr/>
            <p:nvPr/>
          </p:nvSpPr>
          <p:spPr>
            <a:xfrm>
              <a:off x="6257775" y="927092"/>
              <a:ext cx="2427300" cy="677400"/>
            </a:xfrm>
            <a:prstGeom prst="roundRect">
              <a:avLst>
                <a:gd fmla="val 13342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18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Fuzzing</a:t>
              </a:r>
              <a:endParaRPr b="0" i="0" sz="18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629" name="Google Shape;629;p24"/>
          <p:cNvGrpSpPr/>
          <p:nvPr/>
        </p:nvGrpSpPr>
        <p:grpSpPr>
          <a:xfrm>
            <a:off x="457200" y="927065"/>
            <a:ext cx="2439025" cy="3921236"/>
            <a:chOff x="457200" y="927100"/>
            <a:chExt cx="2439025" cy="3640550"/>
          </a:xfrm>
        </p:grpSpPr>
        <p:sp>
          <p:nvSpPr>
            <p:cNvPr id="630" name="Google Shape;630;p24"/>
            <p:cNvSpPr/>
            <p:nvPr/>
          </p:nvSpPr>
          <p:spPr>
            <a:xfrm flipH="1">
              <a:off x="467725" y="1133250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1" name="Google Shape;631;p24"/>
            <p:cNvSpPr/>
            <p:nvPr/>
          </p:nvSpPr>
          <p:spPr>
            <a:xfrm>
              <a:off x="457200" y="927100"/>
              <a:ext cx="2438400" cy="682800"/>
            </a:xfrm>
            <a:prstGeom prst="roundRect">
              <a:avLst>
                <a:gd fmla="val 13342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17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Machine </a:t>
              </a:r>
              <a:r>
                <a:rPr lang="en" sz="1700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l</a:t>
              </a:r>
              <a:r>
                <a:rPr b="0" i="0" lang="en" sz="17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earning for </a:t>
              </a:r>
              <a:r>
                <a:rPr lang="en" sz="1700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v</a:t>
              </a:r>
              <a:r>
                <a:rPr b="0" i="0" lang="en" sz="17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ulnerability </a:t>
              </a:r>
              <a:r>
                <a:rPr lang="en" sz="1700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d</a:t>
              </a:r>
              <a:r>
                <a:rPr b="0" i="0" lang="en" sz="1700" u="none" cap="none" strike="noStrike">
                  <a:solidFill>
                    <a:schemeClr val="lt1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etection</a:t>
              </a:r>
              <a:endParaRPr b="0" i="0" sz="1700" u="none" cap="none" strike="noStrike">
                <a:solidFill>
                  <a:schemeClr val="lt1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grpSp>
        <p:nvGrpSpPr>
          <p:cNvPr id="632" name="Google Shape;632;p24"/>
          <p:cNvGrpSpPr/>
          <p:nvPr/>
        </p:nvGrpSpPr>
        <p:grpSpPr>
          <a:xfrm>
            <a:off x="3359383" y="927103"/>
            <a:ext cx="2435188" cy="3921235"/>
            <a:chOff x="3399100" y="927100"/>
            <a:chExt cx="2435188" cy="3640549"/>
          </a:xfrm>
        </p:grpSpPr>
        <p:sp>
          <p:nvSpPr>
            <p:cNvPr id="633" name="Google Shape;633;p24"/>
            <p:cNvSpPr/>
            <p:nvPr/>
          </p:nvSpPr>
          <p:spPr>
            <a:xfrm flipH="1">
              <a:off x="3405788" y="1133249"/>
              <a:ext cx="2428500" cy="34344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34" name="Google Shape;634;p24"/>
            <p:cNvSpPr/>
            <p:nvPr/>
          </p:nvSpPr>
          <p:spPr>
            <a:xfrm>
              <a:off x="3399100" y="927100"/>
              <a:ext cx="2427300" cy="682800"/>
            </a:xfrm>
            <a:prstGeom prst="roundRect">
              <a:avLst>
                <a:gd fmla="val 13342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100"/>
                <a:buFont typeface="Arial"/>
                <a:buNone/>
              </a:pPr>
              <a:r>
                <a:rPr b="0" i="0" lang="en" sz="1700" u="none" cap="none" strike="noStrike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Automated exploit </a:t>
              </a:r>
              <a:r>
                <a:rPr lang="en" sz="1700">
                  <a:latin typeface="Roboto Medium"/>
                  <a:ea typeface="Roboto Medium"/>
                  <a:cs typeface="Roboto Medium"/>
                  <a:sym typeface="Roboto Medium"/>
                </a:rPr>
                <a:t>d</a:t>
              </a:r>
              <a:r>
                <a:rPr b="0" i="0" lang="en" sz="1700" u="none" cap="none" strike="noStrike">
                  <a:solidFill>
                    <a:srgbClr val="000000"/>
                  </a:solidFill>
                  <a:latin typeface="Roboto Medium"/>
                  <a:ea typeface="Roboto Medium"/>
                  <a:cs typeface="Roboto Medium"/>
                  <a:sym typeface="Roboto Medium"/>
                </a:rPr>
                <a:t>evelopment</a:t>
              </a:r>
              <a:endParaRPr b="0" i="0" sz="1600" u="none" cap="none" strike="noStrike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endParaRPr>
            </a:p>
          </p:txBody>
        </p:sp>
      </p:grpSp>
      <p:sp>
        <p:nvSpPr>
          <p:cNvPr id="635" name="Google Shape;635;p24"/>
          <p:cNvSpPr txBox="1"/>
          <p:nvPr>
            <p:ph idx="4294967295" type="body"/>
          </p:nvPr>
        </p:nvSpPr>
        <p:spPr>
          <a:xfrm>
            <a:off x="457200" y="1656525"/>
            <a:ext cx="2546100" cy="26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ML to identify vulnerabilities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Example:</a:t>
            </a:r>
            <a:r>
              <a:rPr lang="en"/>
              <a:t> Training ML on a dataset of known vulnerabilities</a:t>
            </a:r>
            <a:endParaRPr/>
          </a:p>
        </p:txBody>
      </p:sp>
      <p:sp>
        <p:nvSpPr>
          <p:cNvPr id="636" name="Google Shape;636;p24"/>
          <p:cNvSpPr txBox="1"/>
          <p:nvPr>
            <p:ph idx="4294967295" type="body"/>
          </p:nvPr>
        </p:nvSpPr>
        <p:spPr>
          <a:xfrm>
            <a:off x="3319850" y="1656525"/>
            <a:ext cx="2478600" cy="27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AI to generate exploits for vulnerabilities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Example:</a:t>
            </a:r>
            <a:r>
              <a:rPr lang="en"/>
              <a:t> Using reinforcement learning to optimize exploit code</a:t>
            </a:r>
            <a:endParaRPr/>
          </a:p>
        </p:txBody>
      </p:sp>
      <p:sp>
        <p:nvSpPr>
          <p:cNvPr id="637" name="Google Shape;637;p24"/>
          <p:cNvSpPr txBox="1"/>
          <p:nvPr>
            <p:ph idx="4294967295" type="body"/>
          </p:nvPr>
        </p:nvSpPr>
        <p:spPr>
          <a:xfrm>
            <a:off x="6257775" y="1656525"/>
            <a:ext cx="2478600" cy="225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75" lIns="182875" spcFirstLastPara="1" rIns="182875" wrap="square" tIns="1828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Testing technique inputting random or unexpected data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Example: </a:t>
            </a:r>
            <a:r>
              <a:rPr lang="en"/>
              <a:t>Using genetic algorithms to evolve inputs to test software issues</a:t>
            </a:r>
            <a:endParaRPr/>
          </a:p>
        </p:txBody>
      </p:sp>
      <p:sp>
        <p:nvSpPr>
          <p:cNvPr id="638" name="Google Shape;638;p24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Key AI and ML Techniques for Exploit Generation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g2ef79be130c_0_310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Examples of AI/ML Applications in Exploit Generation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g2ef79be130c_0_3107"/>
          <p:cNvSpPr txBox="1"/>
          <p:nvPr>
            <p:ph idx="1" type="subTitle"/>
          </p:nvPr>
        </p:nvSpPr>
        <p:spPr>
          <a:xfrm>
            <a:off x="463231" y="548650"/>
            <a:ext cx="8223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AI modules can help in exploit generation</a:t>
            </a:r>
            <a:endParaRPr/>
          </a:p>
        </p:txBody>
      </p:sp>
      <p:pic>
        <p:nvPicPr>
          <p:cNvPr id="645" name="Google Shape;645;g2ef79be130c_0_310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1005" r="10997" t="0"/>
          <a:stretch/>
        </p:blipFill>
        <p:spPr>
          <a:xfrm>
            <a:off x="3657600" y="1371600"/>
            <a:ext cx="5029202" cy="2742298"/>
          </a:xfrm>
          <a:prstGeom prst="rect">
            <a:avLst/>
          </a:prstGeom>
        </p:spPr>
      </p:pic>
      <p:sp>
        <p:nvSpPr>
          <p:cNvPr id="646" name="Google Shape;646;g2ef79be130c_0_3107"/>
          <p:cNvSpPr txBox="1"/>
          <p:nvPr>
            <p:ph idx="3" type="body"/>
          </p:nvPr>
        </p:nvSpPr>
        <p:spPr>
          <a:xfrm>
            <a:off x="528225" y="1592650"/>
            <a:ext cx="29421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OpenAI’s GPT-4: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Analyzes vulnerabilities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Generates exploit code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g2ef79be130c_0_3107"/>
          <p:cNvSpPr txBox="1"/>
          <p:nvPr>
            <p:ph idx="4" type="body"/>
          </p:nvPr>
        </p:nvSpPr>
        <p:spPr>
          <a:xfrm>
            <a:off x="528225" y="3413275"/>
            <a:ext cx="2942100" cy="1155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AI-powered fuzzing tools: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Tests for weaknesses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Generates reports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Provides actionable insights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6"/>
          <p:cNvSpPr txBox="1"/>
          <p:nvPr>
            <p:ph type="title"/>
          </p:nvPr>
        </p:nvSpPr>
        <p:spPr>
          <a:xfrm>
            <a:off x="0" y="3772475"/>
            <a:ext cx="9144000" cy="4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AI and ML Tools for Exploit Generation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2ef79be130c_0_3117"/>
          <p:cNvSpPr txBox="1"/>
          <p:nvPr>
            <p:ph idx="1" type="subTitle"/>
          </p:nvPr>
        </p:nvSpPr>
        <p:spPr>
          <a:xfrm>
            <a:off x="463231" y="548650"/>
            <a:ext cx="8229600" cy="27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cve.mitre.org</a:t>
            </a:r>
            <a:endParaRPr/>
          </a:p>
        </p:txBody>
      </p:sp>
      <p:sp>
        <p:nvSpPr>
          <p:cNvPr id="658" name="Google Shape;658;g2ef79be130c_0_3117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Vulnerabilities and Exposure</a:t>
            </a:r>
            <a:endParaRPr/>
          </a:p>
        </p:txBody>
      </p:sp>
      <p:pic>
        <p:nvPicPr>
          <p:cNvPr id="659" name="Google Shape;659;g2ef79be130c_0_31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475" y="991850"/>
            <a:ext cx="8763049" cy="382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27"/>
          <p:cNvSpPr txBox="1"/>
          <p:nvPr>
            <p:ph idx="1" type="body"/>
          </p:nvPr>
        </p:nvSpPr>
        <p:spPr>
          <a:xfrm>
            <a:off x="1450375" y="1039700"/>
            <a:ext cx="6244200" cy="31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36575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b="1" lang="en" sz="2600"/>
              <a:t>Common vulnerabilities and exposures (CVE) </a:t>
            </a:r>
            <a:r>
              <a:rPr lang="en" sz="2600"/>
              <a:t>is a list of publicly disclosed computer security flaws.</a:t>
            </a:r>
            <a:endParaRPr sz="2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ebb55b162e_0_565"/>
          <p:cNvSpPr txBox="1"/>
          <p:nvPr>
            <p:ph type="title"/>
          </p:nvPr>
        </p:nvSpPr>
        <p:spPr>
          <a:xfrm>
            <a:off x="457200" y="146300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Common Vulnerabilities and Exposures</a:t>
            </a:r>
            <a:endParaRPr/>
          </a:p>
        </p:txBody>
      </p:sp>
      <p:grpSp>
        <p:nvGrpSpPr>
          <p:cNvPr id="670" name="Google Shape;670;g2ebb55b162e_0_565"/>
          <p:cNvGrpSpPr/>
          <p:nvPr/>
        </p:nvGrpSpPr>
        <p:grpSpPr>
          <a:xfrm>
            <a:off x="-3" y="1828797"/>
            <a:ext cx="8686828" cy="685800"/>
            <a:chOff x="-3" y="1885780"/>
            <a:chExt cx="8686828" cy="685800"/>
          </a:xfrm>
        </p:grpSpPr>
        <p:cxnSp>
          <p:nvCxnSpPr>
            <p:cNvPr id="671" name="Google Shape;671;g2ebb55b162e_0_56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72" name="Google Shape;672;g2ebb55b162e_0_56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73" name="Google Shape;673;g2ebb55b162e_0_565"/>
            <p:cNvSpPr/>
            <p:nvPr/>
          </p:nvSpPr>
          <p:spPr>
            <a:xfrm>
              <a:off x="596125" y="1885780"/>
              <a:ext cx="8090700" cy="685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g2ebb55b162e_0_56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g2ebb55b162e_0_56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76" name="Google Shape;676;g2ebb55b162e_0_565"/>
          <p:cNvGrpSpPr/>
          <p:nvPr/>
        </p:nvGrpSpPr>
        <p:grpSpPr>
          <a:xfrm>
            <a:off x="-3" y="1171505"/>
            <a:ext cx="8686828" cy="400200"/>
            <a:chOff x="-3" y="1885788"/>
            <a:chExt cx="8686828" cy="400200"/>
          </a:xfrm>
        </p:grpSpPr>
        <p:cxnSp>
          <p:nvCxnSpPr>
            <p:cNvPr id="677" name="Google Shape;677;g2ebb55b162e_0_56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78" name="Google Shape;678;g2ebb55b162e_0_56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79" name="Google Shape;679;g2ebb55b162e_0_565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g2ebb55b162e_0_56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g2ebb55b162e_0_56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82" name="Google Shape;682;g2ebb55b162e_0_565"/>
          <p:cNvSpPr txBox="1"/>
          <p:nvPr>
            <p:ph idx="2" type="subTitle"/>
          </p:nvPr>
        </p:nvSpPr>
        <p:spPr>
          <a:xfrm>
            <a:off x="914400" y="11885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Provides a standardized identifier for a vulnerability</a:t>
            </a:r>
            <a:endParaRPr sz="1700"/>
          </a:p>
        </p:txBody>
      </p:sp>
      <p:grpSp>
        <p:nvGrpSpPr>
          <p:cNvPr id="683" name="Google Shape;683;g2ebb55b162e_0_565"/>
          <p:cNvGrpSpPr/>
          <p:nvPr/>
        </p:nvGrpSpPr>
        <p:grpSpPr>
          <a:xfrm>
            <a:off x="-3" y="3749505"/>
            <a:ext cx="8686828" cy="400200"/>
            <a:chOff x="-3" y="1885788"/>
            <a:chExt cx="8686828" cy="400200"/>
          </a:xfrm>
        </p:grpSpPr>
        <p:cxnSp>
          <p:nvCxnSpPr>
            <p:cNvPr id="684" name="Google Shape;684;g2ebb55b162e_0_56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85" name="Google Shape;685;g2ebb55b162e_0_56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86" name="Google Shape;686;g2ebb55b162e_0_565"/>
            <p:cNvSpPr/>
            <p:nvPr/>
          </p:nvSpPr>
          <p:spPr>
            <a:xfrm>
              <a:off x="596125" y="1885788"/>
              <a:ext cx="8090700" cy="4002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g2ebb55b162e_0_56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g2ebb55b162e_0_56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89" name="Google Shape;689;g2ebb55b162e_0_565"/>
          <p:cNvSpPr txBox="1"/>
          <p:nvPr>
            <p:ph idx="2" type="subTitle"/>
          </p:nvPr>
        </p:nvSpPr>
        <p:spPr>
          <a:xfrm>
            <a:off x="914400" y="3766550"/>
            <a:ext cx="8127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Tracks vulnerability metrics and manages patches and updates to mitigate threats</a:t>
            </a:r>
            <a:endParaRPr sz="1700"/>
          </a:p>
        </p:txBody>
      </p:sp>
      <p:grpSp>
        <p:nvGrpSpPr>
          <p:cNvPr id="690" name="Google Shape;690;g2ebb55b162e_0_565"/>
          <p:cNvGrpSpPr/>
          <p:nvPr/>
        </p:nvGrpSpPr>
        <p:grpSpPr>
          <a:xfrm>
            <a:off x="-3" y="2789147"/>
            <a:ext cx="8686828" cy="685800"/>
            <a:chOff x="-3" y="1885780"/>
            <a:chExt cx="8686828" cy="685800"/>
          </a:xfrm>
        </p:grpSpPr>
        <p:cxnSp>
          <p:nvCxnSpPr>
            <p:cNvPr id="691" name="Google Shape;691;g2ebb55b162e_0_565"/>
            <p:cNvCxnSpPr/>
            <p:nvPr/>
          </p:nvCxnSpPr>
          <p:spPr>
            <a:xfrm>
              <a:off x="-3" y="2085888"/>
              <a:ext cx="6624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cxnSp>
          <p:nvCxnSpPr>
            <p:cNvPr id="692" name="Google Shape;692;g2ebb55b162e_0_565"/>
            <p:cNvCxnSpPr/>
            <p:nvPr/>
          </p:nvCxnSpPr>
          <p:spPr>
            <a:xfrm>
              <a:off x="-3" y="2085888"/>
              <a:ext cx="672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med" w="med" type="oval"/>
            </a:ln>
          </p:spPr>
        </p:cxnSp>
        <p:sp>
          <p:nvSpPr>
            <p:cNvPr id="693" name="Google Shape;693;g2ebb55b162e_0_565"/>
            <p:cNvSpPr/>
            <p:nvPr/>
          </p:nvSpPr>
          <p:spPr>
            <a:xfrm>
              <a:off x="596125" y="1885780"/>
              <a:ext cx="8090700" cy="685800"/>
            </a:xfrm>
            <a:prstGeom prst="roundRect">
              <a:avLst>
                <a:gd fmla="val 16667" name="adj"/>
              </a:avLst>
            </a:prstGeom>
            <a:solidFill>
              <a:srgbClr val="F2F2F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g2ebb55b162e_0_565"/>
            <p:cNvSpPr/>
            <p:nvPr/>
          </p:nvSpPr>
          <p:spPr>
            <a:xfrm>
              <a:off x="513600" y="1924338"/>
              <a:ext cx="323100" cy="323100"/>
            </a:xfrm>
            <a:prstGeom prst="ellipse">
              <a:avLst/>
            </a:prstGeom>
            <a:solidFill>
              <a:schemeClr val="lt2"/>
            </a:solidFill>
            <a:ln cap="flat" cmpd="sng" w="762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82D4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g2ebb55b162e_0_565"/>
            <p:cNvSpPr/>
            <p:nvPr/>
          </p:nvSpPr>
          <p:spPr>
            <a:xfrm>
              <a:off x="593400" y="2004138"/>
              <a:ext cx="163500" cy="1635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696" name="Google Shape;696;g2ebb55b162e_0_565"/>
          <p:cNvSpPr txBox="1"/>
          <p:nvPr>
            <p:ph idx="2" type="subTitle"/>
          </p:nvPr>
        </p:nvSpPr>
        <p:spPr>
          <a:xfrm>
            <a:off x="914400" y="1988850"/>
            <a:ext cx="7772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Widely used in the cybersecurity industry to quickly and accurately share information about vulnerabilities</a:t>
            </a:r>
            <a:endParaRPr sz="1700"/>
          </a:p>
        </p:txBody>
      </p:sp>
      <p:sp>
        <p:nvSpPr>
          <p:cNvPr id="697" name="Google Shape;697;g2ebb55b162e_0_565"/>
          <p:cNvSpPr txBox="1"/>
          <p:nvPr>
            <p:ph idx="4294967295" type="body"/>
          </p:nvPr>
        </p:nvSpPr>
        <p:spPr>
          <a:xfrm>
            <a:off x="914400" y="2912923"/>
            <a:ext cx="77724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" sz="1700"/>
              <a:t>Information relates to nature of vulnerabilities, systems affected, and degree of criticality</a:t>
            </a:r>
            <a:endParaRPr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g2ef79be130c_0_3146"/>
          <p:cNvSpPr txBox="1"/>
          <p:nvPr/>
        </p:nvSpPr>
        <p:spPr>
          <a:xfrm>
            <a:off x="4253775" y="2307300"/>
            <a:ext cx="4654500" cy="24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are not expected to understand all of these concepts right now, as they will be covered in upcoming classes.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29"/>
          <p:cNvSpPr txBox="1"/>
          <p:nvPr>
            <p:ph idx="1" type="subTitle"/>
          </p:nvPr>
        </p:nvSpPr>
        <p:spPr>
          <a:xfrm>
            <a:off x="914400" y="1523200"/>
            <a:ext cx="7315200" cy="25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In this activity, you will be using ChatGPT and WhiteRabbitNeo to generate an exploit to analyze.</a:t>
            </a:r>
            <a:endParaRPr/>
          </a:p>
        </p:txBody>
      </p:sp>
      <p:sp>
        <p:nvSpPr>
          <p:cNvPr id="708" name="Google Shape;708;p29"/>
          <p:cNvSpPr txBox="1"/>
          <p:nvPr>
            <p:ph idx="3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Generating Exploits with AI</a:t>
            </a:r>
            <a:endParaRPr/>
          </a:p>
        </p:txBody>
      </p:sp>
      <p:sp>
        <p:nvSpPr>
          <p:cNvPr id="709" name="Google Shape;709;p29"/>
          <p:cNvSpPr txBox="1"/>
          <p:nvPr/>
        </p:nvSpPr>
        <p:spPr>
          <a:xfrm>
            <a:off x="0" y="4568875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457200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20</a:t>
            </a:r>
            <a:r>
              <a:rPr lang="en" sz="1800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rPr>
              <a:t> Minutes</a:t>
            </a:r>
            <a:endParaRPr sz="1800">
              <a:solidFill>
                <a:srgbClr val="082D4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2ef79be130c_0_3162"/>
          <p:cNvSpPr/>
          <p:nvPr/>
        </p:nvSpPr>
        <p:spPr>
          <a:xfrm>
            <a:off x="170850" y="197450"/>
            <a:ext cx="572700" cy="572700"/>
          </a:xfrm>
          <a:prstGeom prst="ellipse">
            <a:avLst/>
          </a:prstGeom>
          <a:solidFill>
            <a:srgbClr val="FCB91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7" name="Google Shape;727;g2ef79be130c_0_3162"/>
          <p:cNvCxnSpPr/>
          <p:nvPr/>
        </p:nvCxnSpPr>
        <p:spPr>
          <a:xfrm>
            <a:off x="0" y="929900"/>
            <a:ext cx="7337400" cy="0"/>
          </a:xfrm>
          <a:prstGeom prst="straightConnector1">
            <a:avLst/>
          </a:prstGeom>
          <a:noFill/>
          <a:ln cap="flat" cmpd="sng" w="19050">
            <a:solidFill>
              <a:srgbClr val="082D49"/>
            </a:solidFill>
            <a:prstDash val="solid"/>
            <a:round/>
            <a:headEnd len="sm" w="sm" type="none"/>
            <a:tailEnd len="med" w="med" type="oval"/>
          </a:ln>
        </p:spPr>
      </p:cxnSp>
      <p:pic>
        <p:nvPicPr>
          <p:cNvPr id="728" name="Google Shape;728;g2ef79be130c_0_3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7700" y="248025"/>
            <a:ext cx="459000" cy="471541"/>
          </a:xfrm>
          <a:prstGeom prst="rect">
            <a:avLst/>
          </a:prstGeom>
          <a:noFill/>
          <a:ln>
            <a:noFill/>
          </a:ln>
        </p:spPr>
      </p:pic>
      <p:sp>
        <p:nvSpPr>
          <p:cNvPr id="729" name="Google Shape;729;g2ef79be130c_0_3162"/>
          <p:cNvSpPr txBox="1"/>
          <p:nvPr>
            <p:ph idx="4294967295" type="title"/>
          </p:nvPr>
        </p:nvSpPr>
        <p:spPr>
          <a:xfrm>
            <a:off x="914400" y="146300"/>
            <a:ext cx="7778100" cy="36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Recap</a:t>
            </a:r>
            <a:endParaRPr/>
          </a:p>
        </p:txBody>
      </p:sp>
      <p:sp>
        <p:nvSpPr>
          <p:cNvPr id="730" name="Google Shape;730;g2ef79be130c_0_3162"/>
          <p:cNvSpPr txBox="1"/>
          <p:nvPr>
            <p:ph idx="4294967295" type="subTitle"/>
          </p:nvPr>
        </p:nvSpPr>
        <p:spPr>
          <a:xfrm>
            <a:off x="914400" y="548650"/>
            <a:ext cx="7772400" cy="27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ML and AI in Cybersecurity Offense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g2ef79be130c_0_3162"/>
          <p:cNvSpPr/>
          <p:nvPr/>
        </p:nvSpPr>
        <p:spPr>
          <a:xfrm>
            <a:off x="1287175" y="13716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g2ef79be130c_0_3162"/>
          <p:cNvSpPr/>
          <p:nvPr/>
        </p:nvSpPr>
        <p:spPr>
          <a:xfrm>
            <a:off x="1287175" y="2746988"/>
            <a:ext cx="7399500" cy="4374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g2ef79be130c_0_3162"/>
          <p:cNvSpPr/>
          <p:nvPr/>
        </p:nvSpPr>
        <p:spPr>
          <a:xfrm>
            <a:off x="1287175" y="2046700"/>
            <a:ext cx="7399500" cy="45900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34" name="Google Shape;734;g2ef79be130c_0_3162"/>
          <p:cNvGrpSpPr/>
          <p:nvPr/>
        </p:nvGrpSpPr>
        <p:grpSpPr>
          <a:xfrm>
            <a:off x="457200" y="1371604"/>
            <a:ext cx="776900" cy="459019"/>
            <a:chOff x="457200" y="1466425"/>
            <a:chExt cx="776900" cy="486300"/>
          </a:xfrm>
        </p:grpSpPr>
        <p:sp>
          <p:nvSpPr>
            <p:cNvPr id="735" name="Google Shape;735;g2ef79be130c_0_316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082D49"/>
                  </a:solidFill>
                  <a:latin typeface="Roboto"/>
                  <a:ea typeface="Roboto"/>
                  <a:cs typeface="Roboto"/>
                  <a:sym typeface="Roboto"/>
                </a:rPr>
                <a:t>01</a:t>
              </a:r>
              <a:endParaRPr b="0" i="0" sz="3000" u="none" cap="none" strike="noStrike">
                <a:solidFill>
                  <a:srgbClr val="082D49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6" name="Google Shape;736;g2ef79be130c_0_316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FCB91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37" name="Google Shape;737;g2ef79be130c_0_3162"/>
          <p:cNvGrpSpPr/>
          <p:nvPr/>
        </p:nvGrpSpPr>
        <p:grpSpPr>
          <a:xfrm>
            <a:off x="457200" y="2026480"/>
            <a:ext cx="776900" cy="486300"/>
            <a:chOff x="457200" y="1466425"/>
            <a:chExt cx="776900" cy="486300"/>
          </a:xfrm>
        </p:grpSpPr>
        <p:sp>
          <p:nvSpPr>
            <p:cNvPr id="738" name="Google Shape;738;g2ef79be130c_0_316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02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39" name="Google Shape;739;g2ef79be130c_0_316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82D4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grpSp>
        <p:nvGrpSpPr>
          <p:cNvPr id="740" name="Google Shape;740;g2ef79be130c_0_3162"/>
          <p:cNvGrpSpPr/>
          <p:nvPr/>
        </p:nvGrpSpPr>
        <p:grpSpPr>
          <a:xfrm>
            <a:off x="457200" y="2743336"/>
            <a:ext cx="776900" cy="437378"/>
            <a:chOff x="457200" y="1466425"/>
            <a:chExt cx="776900" cy="486300"/>
          </a:xfrm>
        </p:grpSpPr>
        <p:sp>
          <p:nvSpPr>
            <p:cNvPr id="741" name="Google Shape;741;g2ef79be130c_0_3162"/>
            <p:cNvSpPr/>
            <p:nvPr/>
          </p:nvSpPr>
          <p:spPr>
            <a:xfrm>
              <a:off x="457200" y="1466425"/>
              <a:ext cx="695400" cy="486300"/>
            </a:xfrm>
            <a:prstGeom prst="roundRect">
              <a:avLst>
                <a:gd fmla="val 16667" name="adj"/>
              </a:avLst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000"/>
                <a:buFont typeface="Arial"/>
                <a:buNone/>
              </a:pPr>
              <a:r>
                <a:rPr b="0" i="0" lang="en" sz="3000" u="none" cap="none" strike="noStrik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03</a:t>
              </a:r>
              <a:endParaRPr b="0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742" name="Google Shape;742;g2ef79be130c_0_3162"/>
            <p:cNvSpPr/>
            <p:nvPr/>
          </p:nvSpPr>
          <p:spPr>
            <a:xfrm rot="5400000">
              <a:off x="973100" y="1624950"/>
              <a:ext cx="333375" cy="188625"/>
            </a:xfrm>
            <a:prstGeom prst="flowChartExtract">
              <a:avLst/>
            </a:prstGeom>
            <a:solidFill>
              <a:srgbClr val="0077D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2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endParaRPr>
            </a:p>
          </p:txBody>
        </p:sp>
      </p:grpSp>
      <p:sp>
        <p:nvSpPr>
          <p:cNvPr id="743" name="Google Shape;743;g2ef79be130c_0_3162"/>
          <p:cNvSpPr txBox="1"/>
          <p:nvPr/>
        </p:nvSpPr>
        <p:spPr>
          <a:xfrm>
            <a:off x="1287250" y="1392975"/>
            <a:ext cx="64851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 d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iscussed how AI is used in cybersecurity offense.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4" name="Google Shape;744;g2ef79be130c_0_3162"/>
          <p:cNvSpPr txBox="1"/>
          <p:nvPr/>
        </p:nvSpPr>
        <p:spPr>
          <a:xfrm>
            <a:off x="1287250" y="2068150"/>
            <a:ext cx="73374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l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earned about specific AI/ML techniques for offensive security.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5" name="Google Shape;745;g2ef79be130c_0_3162"/>
          <p:cNvSpPr txBox="1"/>
          <p:nvPr/>
        </p:nvSpPr>
        <p:spPr>
          <a:xfrm>
            <a:off x="1287250" y="2751975"/>
            <a:ext cx="73995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You explored</a:t>
            </a:r>
            <a:r>
              <a:rPr lang="en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AI tools used in cybersecurity offense.</a:t>
            </a:r>
            <a:endParaRPr sz="185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ef79be130c_0_3552"/>
          <p:cNvSpPr txBox="1"/>
          <p:nvPr>
            <p:ph idx="1" type="subTitle"/>
          </p:nvPr>
        </p:nvSpPr>
        <p:spPr>
          <a:xfrm>
            <a:off x="41700" y="3746925"/>
            <a:ext cx="9102300" cy="1092900"/>
          </a:xfrm>
          <a:prstGeom prst="rect">
            <a:avLst/>
          </a:prstGeom>
        </p:spPr>
        <p:txBody>
          <a:bodyPr anchorCtr="0" anchor="ctr" bIns="91425" lIns="0" spcFirstLastPara="1" rIns="91425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</a:t>
            </a:r>
            <a:r>
              <a:rPr lang="en"/>
              <a:t>discuss</a:t>
            </a:r>
            <a:r>
              <a:rPr lang="en"/>
              <a:t> basic </a:t>
            </a:r>
            <a:r>
              <a:rPr b="1" lang="en"/>
              <a:t>Linux systems</a:t>
            </a:r>
            <a:r>
              <a:rPr lang="en"/>
              <a:t> and the command line, looking into distros and file structures.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ootcamp Slides New Theme - July 2024">
  <a:themeElements>
    <a:clrScheme name="Simple Light">
      <a:dk1>
        <a:srgbClr val="2E5E73"/>
      </a:dk1>
      <a:lt1>
        <a:srgbClr val="FFFFFF"/>
      </a:lt1>
      <a:dk2>
        <a:srgbClr val="082D49"/>
      </a:dk2>
      <a:lt2>
        <a:srgbClr val="F2F2F2"/>
      </a:lt2>
      <a:accent1>
        <a:srgbClr val="FCB912"/>
      </a:accent1>
      <a:accent2>
        <a:srgbClr val="AADCF2"/>
      </a:accent2>
      <a:accent3>
        <a:srgbClr val="1475D4"/>
      </a:accent3>
      <a:accent4>
        <a:srgbClr val="00C7CC"/>
      </a:accent4>
      <a:accent5>
        <a:srgbClr val="082D49"/>
      </a:accent5>
      <a:accent6>
        <a:srgbClr val="2E5E73"/>
      </a:accent6>
      <a:hlink>
        <a:srgbClr val="2E5E7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