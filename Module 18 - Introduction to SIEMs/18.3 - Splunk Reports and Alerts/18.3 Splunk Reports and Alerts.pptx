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embeddedFontLst>
    <p:embeddedFont>
      <p:font typeface="Roboto"/>
      <p:regular r:id="rId66"/>
      <p:bold r:id="rId67"/>
      <p:italic r:id="rId68"/>
      <p:boldItalic r:id="rId69"/>
    </p:embeddedFont>
    <p:embeddedFont>
      <p:font typeface="Roboto Medium"/>
      <p:regular r:id="rId70"/>
      <p:bold r:id="rId71"/>
      <p:italic r:id="rId72"/>
      <p:boldItalic r:id="rId73"/>
    </p:embeddedFont>
    <p:embeddedFont>
      <p:font typeface="Inconsolata"/>
      <p:regular r:id="rId74"/>
      <p:bold r:id="rId75"/>
    </p:embeddedFont>
    <p:embeddedFont>
      <p:font typeface="Inconsolata SemiBold"/>
      <p:regular r:id="rId76"/>
      <p:bold r:id="rId77"/>
    </p:embeddedFont>
    <p:embeddedFont>
      <p:font typeface="Roboto Light"/>
      <p:regular r:id="rId78"/>
      <p:bold r:id="rId79"/>
      <p:italic r:id="rId80"/>
      <p:boldItalic r:id="rId81"/>
    </p:embeddedFont>
    <p:embeddedFont>
      <p:font typeface="Inconsolata Medium"/>
      <p:regular r:id="rId82"/>
      <p:bold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">
          <p15:clr>
            <a:srgbClr val="9AA0A6"/>
          </p15:clr>
        </p15:guide>
        <p15:guide id="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EE5F12-8908-41B0-8E85-2836280A9196}">
  <a:tblStyle styleId="{8BEE5F12-8908-41B0-8E85-2836280A919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"/>
        <p:guide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schemas.openxmlformats.org/officeDocument/2006/relationships/font" Target="fonts/InconsolataMedium-bold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RobotoLight-italic.fntdata"/><Relationship Id="rId82" Type="http://schemas.openxmlformats.org/officeDocument/2006/relationships/font" Target="fonts/InconsolataMedium-regular.fntdata"/><Relationship Id="rId81" Type="http://schemas.openxmlformats.org/officeDocument/2006/relationships/font" Target="fonts/Roboto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edium-boldItalic.fntdata"/><Relationship Id="rId72" Type="http://schemas.openxmlformats.org/officeDocument/2006/relationships/font" Target="fonts/RobotoMedium-italic.fntdata"/><Relationship Id="rId31" Type="http://schemas.openxmlformats.org/officeDocument/2006/relationships/slide" Target="slides/slide25.xml"/><Relationship Id="rId75" Type="http://schemas.openxmlformats.org/officeDocument/2006/relationships/font" Target="fonts/Inconsolata-bold.fntdata"/><Relationship Id="rId30" Type="http://schemas.openxmlformats.org/officeDocument/2006/relationships/slide" Target="slides/slide24.xml"/><Relationship Id="rId74" Type="http://schemas.openxmlformats.org/officeDocument/2006/relationships/font" Target="fonts/Inconsolata-regular.fntdata"/><Relationship Id="rId33" Type="http://schemas.openxmlformats.org/officeDocument/2006/relationships/slide" Target="slides/slide27.xml"/><Relationship Id="rId77" Type="http://schemas.openxmlformats.org/officeDocument/2006/relationships/font" Target="fonts/InconsolataSemiBold-bold.fntdata"/><Relationship Id="rId32" Type="http://schemas.openxmlformats.org/officeDocument/2006/relationships/slide" Target="slides/slide26.xml"/><Relationship Id="rId76" Type="http://schemas.openxmlformats.org/officeDocument/2006/relationships/font" Target="fonts/InconsolataSemiBold-regular.fntdata"/><Relationship Id="rId35" Type="http://schemas.openxmlformats.org/officeDocument/2006/relationships/slide" Target="slides/slide29.xml"/><Relationship Id="rId79" Type="http://schemas.openxmlformats.org/officeDocument/2006/relationships/font" Target="fonts/RobotoLight-bold.fntdata"/><Relationship Id="rId34" Type="http://schemas.openxmlformats.org/officeDocument/2006/relationships/slide" Target="slides/slide28.xml"/><Relationship Id="rId78" Type="http://schemas.openxmlformats.org/officeDocument/2006/relationships/font" Target="fonts/RobotoLight-regular.fntdata"/><Relationship Id="rId71" Type="http://schemas.openxmlformats.org/officeDocument/2006/relationships/font" Target="fonts/RobotoMedium-bold.fntdata"/><Relationship Id="rId70" Type="http://schemas.openxmlformats.org/officeDocument/2006/relationships/font" Target="fonts/RobotoMedium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oboto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Roboto-italic.fntdata"/><Relationship Id="rId23" Type="http://schemas.openxmlformats.org/officeDocument/2006/relationships/slide" Target="slides/slide17.xml"/><Relationship Id="rId67" Type="http://schemas.openxmlformats.org/officeDocument/2006/relationships/font" Target="fonts/Roboto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b5e43ae456_0_1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2b5e43ae456_0_1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1609ead4b1_0_2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1609ead4b1_0_2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b5e43ae456_0_1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2b5e43ae456_0_1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b5e43ae456_0_1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2b5e43ae456_0_1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b5e43ae456_0_1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2b5e43ae456_0_1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b5e43ae456_0_1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g2b5e43ae456_0_1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b5e43ae456_0_1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2b5e43ae456_0_1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1609ead4b1_0_1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1609ead4b1_0_1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b5e43ae456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2b5e43ae456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b5e43ae456_0_1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2b5e43ae456_0_1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b5e43ae456_0_1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2b5e43ae456_0_1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b5e43ae456_0_1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2b5e43ae456_0_1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b5e43ae456_0_1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g2b5e43ae456_0_1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b5e43ae456_0_1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g2b5e43ae456_0_1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5e43ae456_0_1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2b5e43ae456_0_1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b5e43ae456_0_1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2b5e43ae456_0_1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b5e43ae456_0_1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g2b5e43ae456_0_1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1609ead4b1_0_2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g31609ead4b1_0_2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b5e43ae456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2b5e43ae456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b5e43ae456_0_1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g2b5e43ae456_0_1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b5e43ae456_0_1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g2b5e43ae456_0_1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b5e43ae456_0_1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g2b5e43ae456_0_1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b5e43ae456_0_1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2b5e43ae456_0_1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1609ead4b1_0_2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1609ead4b1_0_2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1609ead4b1_0_2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g31609ead4b1_0_2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1609ead4b1_0_2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g31609ead4b1_0_2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2b5e43ae456_0_1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g2b5e43ae456_0_1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b5e43ae456_0_1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g2b5e43ae456_0_1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1609ead4b1_0_2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1609ead4b1_0_2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1609ead4b1_0_2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g31609ead4b1_0_2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1609ead4b1_0_2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1609ead4b1_0_2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b5e43ae456_0_1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g2b5e43ae456_0_1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b5e43ae456_0_1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g2b5e43ae456_0_1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b5e43ae456_0_1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g2b5e43ae456_0_1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b5e43ae456_0_1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g2b5e43ae456_0_1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b5e43ae456_0_1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g2b5e43ae456_0_1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b5e43ae456_0_1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g2b5e43ae456_0_1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2b5e43ae456_0_1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3" name="Google Shape;843;g2b5e43ae456_0_1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b5e43ae456_0_1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g2b5e43ae456_0_1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2b5e43ae456_0_1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8" name="Google Shape;858;g2b5e43ae456_0_1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1609ead4b1_0_2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1609ead4b1_0_2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1609ead4b1_0_2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1609ead4b1_0_2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b5e43ae456_0_1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8" name="Google Shape;898;g2b5e43ae456_0_1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b5e43ae456_0_1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3" name="Google Shape;903;g2b5e43ae456_0_1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2b5e43ae456_0_1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8" name="Google Shape;908;g2b5e43ae456_0_1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b5e43ae456_0_2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g2b5e43ae456_0_2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b5e43ae456_0_2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6" name="Google Shape;926;g2b5e43ae456_0_2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b5e43ae456_0_2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g2b5e43ae456_0_2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b5e43ae456_0_2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" name="Google Shape;944;g2b5e43ae456_0_2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1609ead4b1_0_2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1609ead4b1_0_2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b5e43ae456_0_2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g2b5e43ae456_0_2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b5e43ae456_0_2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g2b5e43ae456_0_2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2b5e43ae456_0_2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1" name="Google Shape;971;g2b5e43ae456_0_2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b5e43ae456_0_2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g2b5e43ae456_0_2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2b5e43ae456_0_2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5" name="Google Shape;985;g2b5e43ae456_0_2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1609ead4b1_0_2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31609ead4b1_0_2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b5e43ae456_0_2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" name="Google Shape;1008;g2b5e43ae456_0_2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b5e43ae456_0_2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" name="Google Shape;1013;g2b5e43ae456_0_2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2b5e43ae456_0_2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g2b5e43ae456_0_2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38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4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38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3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</a:t>
            </a: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35823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3592327" y="1823550"/>
            <a:ext cx="566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35824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35837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3583700" y="3314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6" name="Google Shape;106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" name="Google Shape;121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" name="Google Shape;126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2" name="Google Shape;162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8" name="Google Shape;178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5" name="Google Shape;185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8" name="Google Shape;188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1" name="Google Shape;191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2" name="Google Shape;212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8" name="Google Shape;218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9" name="Google Shape;24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1" name="Google Shape;251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4" name="Google Shape;254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7" name="Google Shape;267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68" name="Google Shape;268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69" name="Google Shape;26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1" name="Google Shape;271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6" name="Google Shape;276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9" name="Google Shape;2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1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9" name="Google Shape;299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0" name="Google Shape;300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3" name="Google Shape;303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9" name="Google Shape;31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1" name="Google Shape;321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7" name="Google Shape;327;p46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3">
  <p:cSld name="CUSTOM_21_1_1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Google Shape;330;p4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31" name="Google Shape;331;p48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8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8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8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335" name="Google Shape;335;p48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336" name="Google Shape;336;p48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337" name="Google Shape;337;p48"/>
          <p:cNvSpPr txBox="1"/>
          <p:nvPr>
            <p:ph idx="1" type="subTitle"/>
          </p:nvPr>
        </p:nvSpPr>
        <p:spPr>
          <a:xfrm>
            <a:off x="1224625" y="11291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48"/>
          <p:cNvSpPr txBox="1"/>
          <p:nvPr>
            <p:ph idx="2" type="subTitle"/>
          </p:nvPr>
        </p:nvSpPr>
        <p:spPr>
          <a:xfrm>
            <a:off x="1224625" y="17936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39" name="Google Shape;339;p48"/>
          <p:cNvSpPr txBox="1"/>
          <p:nvPr>
            <p:ph idx="3" type="subTitle"/>
          </p:nvPr>
        </p:nvSpPr>
        <p:spPr>
          <a:xfrm>
            <a:off x="1224625" y="24357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40" name="Google Shape;340;p4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48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8"/>
          <p:cNvSpPr txBox="1"/>
          <p:nvPr>
            <p:ph idx="4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_3">
    <p:bg>
      <p:bgPr>
        <a:solidFill>
          <a:srgbClr val="F2F2F2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9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Roboto Light"/>
              <a:buNone/>
              <a:defRPr b="0"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48" name="Google Shape;348;p5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9" name="Google Shape;349;p50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1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2" name="Google Shape;352;p51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1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1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Font typeface="Roboto Light"/>
              <a:buNone/>
              <a:defRPr b="0"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2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7" name="Google Shape;357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8" name="Google Shape;358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9" name="Google Shape;359;p52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">
  <p:cSld name="CUSTOM_23_3">
    <p:bg>
      <p:bgPr>
        <a:solidFill>
          <a:srgbClr val="F2F2F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3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3"/>
          <p:cNvSpPr txBox="1"/>
          <p:nvPr/>
        </p:nvSpPr>
        <p:spPr>
          <a:xfrm>
            <a:off x="-5875" y="203600"/>
            <a:ext cx="916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53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4" name="Google Shape;364;p53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5" name="Google Shape;365;p5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66" name="Google Shape;366;p53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7" name="Google Shape;367;p53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368" name="Google Shape;36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1" y="323175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3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's Up slide 1">
  <p:cSld name="CUSTOM_10_2_1">
    <p:bg>
      <p:bgPr>
        <a:solidFill>
          <a:srgbClr val="F2F2F2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4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Let’s review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72" name="Google Shape;37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5000" y="1536950"/>
            <a:ext cx="1194000" cy="114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s slide">
  <p:cSld name="CUSTOM_10_1_1_1_1_3">
    <p:bg>
      <p:bgPr>
        <a:solidFill>
          <a:srgbClr val="F2F2F2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5"/>
          <p:cNvSpPr txBox="1"/>
          <p:nvPr/>
        </p:nvSpPr>
        <p:spPr>
          <a:xfrm>
            <a:off x="0" y="26884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75" name="Google Shape;375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62650" y="1443625"/>
            <a:ext cx="1345550" cy="105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55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39744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55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2116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55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55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8208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5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39825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5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0162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8208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">
  <p:cSld name="CUSTOM_6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6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6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3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_1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7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0" name="Google Shape;39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57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7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Font typeface="Roboto Light"/>
              <a:buNone/>
              <a:defRPr b="0"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8"/>
          <p:cNvSpPr txBox="1"/>
          <p:nvPr>
            <p:ph type="ctrTitle"/>
          </p:nvPr>
        </p:nvSpPr>
        <p:spPr>
          <a:xfrm>
            <a:off x="0" y="744575"/>
            <a:ext cx="91440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5" name="Google Shape;395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6" name="Google Shape;39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 slide 1">
  <p:cSld name="CUSTOM_10_1_2">
    <p:bg>
      <p:bgPr>
        <a:solidFill>
          <a:srgbClr val="F2F2F2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9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15 mins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99" name="Google Shape;399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34827" y="1454325"/>
            <a:ext cx="1274325" cy="123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28_1"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0"/>
          <p:cNvSpPr/>
          <p:nvPr/>
        </p:nvSpPr>
        <p:spPr>
          <a:xfrm>
            <a:off x="11088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60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0" sz="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03" name="Google Shape;403;p60"/>
          <p:cNvSpPr txBox="1"/>
          <p:nvPr>
            <p:ph idx="2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4" name="Google Shape;404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5" name="Google Shape;405;p60"/>
          <p:cNvGrpSpPr/>
          <p:nvPr/>
        </p:nvGrpSpPr>
        <p:grpSpPr>
          <a:xfrm>
            <a:off x="457147" y="1190428"/>
            <a:ext cx="533372" cy="533480"/>
            <a:chOff x="457200" y="1378813"/>
            <a:chExt cx="695400" cy="695450"/>
          </a:xfrm>
        </p:grpSpPr>
        <p:sp>
          <p:nvSpPr>
            <p:cNvPr id="406" name="Google Shape;406;p60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7" name="Google Shape;407;p60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8" name="Google Shape;408;p60"/>
          <p:cNvGrpSpPr/>
          <p:nvPr/>
        </p:nvGrpSpPr>
        <p:grpSpPr>
          <a:xfrm>
            <a:off x="4876797" y="1190428"/>
            <a:ext cx="533372" cy="533480"/>
            <a:chOff x="2605668" y="1378813"/>
            <a:chExt cx="695400" cy="695450"/>
          </a:xfrm>
        </p:grpSpPr>
        <p:sp>
          <p:nvSpPr>
            <p:cNvPr id="409" name="Google Shape;409;p60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0" name="Google Shape;410;p60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60"/>
          <p:cNvSpPr/>
          <p:nvPr/>
        </p:nvSpPr>
        <p:spPr>
          <a:xfrm>
            <a:off x="55289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12" name="Google Shape;412;p60"/>
          <p:cNvSpPr txBox="1"/>
          <p:nvPr>
            <p:ph idx="3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0" sz="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13" name="Google Shape;413;p60"/>
          <p:cNvSpPr txBox="1"/>
          <p:nvPr>
            <p:ph idx="4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b="0"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14" name="Google Shape;414;p60"/>
          <p:cNvSpPr txBox="1"/>
          <p:nvPr>
            <p:ph idx="5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15" name="Google Shape;415;p60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1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8" name="Google Shape;418;p6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419" name="Google Shape;419;p61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6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1" name="Google Shape;421;p61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61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3" name="Google Shape;423;p61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End slide">
  <p:cSld name="CUSTOM_10_1_1_1_2_1_3">
    <p:bg>
      <p:bgPr>
        <a:solidFill>
          <a:srgbClr val="F2F2F2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2"/>
          <p:cNvSpPr txBox="1"/>
          <p:nvPr/>
        </p:nvSpPr>
        <p:spPr>
          <a:xfrm>
            <a:off x="0" y="29381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2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7" name="Google Shape;427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9875" y="1496700"/>
            <a:ext cx="1051550" cy="10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0" name="Google Shape;430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1" name="Google Shape;431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4 1">
  <p:cSld name="CUSTOM_11_1_1_3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4"/>
          <p:cNvSpPr/>
          <p:nvPr/>
        </p:nvSpPr>
        <p:spPr>
          <a:xfrm>
            <a:off x="953325" y="1857573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64"/>
          <p:cNvSpPr/>
          <p:nvPr/>
        </p:nvSpPr>
        <p:spPr>
          <a:xfrm>
            <a:off x="953325" y="256325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64"/>
          <p:cNvSpPr/>
          <p:nvPr/>
        </p:nvSpPr>
        <p:spPr>
          <a:xfrm>
            <a:off x="953325" y="1136875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64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37" name="Google Shape;437;p64"/>
          <p:cNvSpPr/>
          <p:nvPr/>
        </p:nvSpPr>
        <p:spPr>
          <a:xfrm>
            <a:off x="802850" y="184255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38" name="Google Shape;438;p64"/>
          <p:cNvSpPr/>
          <p:nvPr/>
        </p:nvSpPr>
        <p:spPr>
          <a:xfrm>
            <a:off x="802850" y="2563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39" name="Google Shape;439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6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6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2" name="Google Shape;442;p64"/>
          <p:cNvSpPr txBox="1"/>
          <p:nvPr>
            <p:ph idx="1" type="subTitle"/>
          </p:nvPr>
        </p:nvSpPr>
        <p:spPr>
          <a:xfrm>
            <a:off x="1354400" y="1129175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64"/>
          <p:cNvSpPr txBox="1"/>
          <p:nvPr>
            <p:ph idx="3" type="subTitle"/>
          </p:nvPr>
        </p:nvSpPr>
        <p:spPr>
          <a:xfrm>
            <a:off x="1354400" y="1857451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44" name="Google Shape;444;p64"/>
          <p:cNvSpPr txBox="1"/>
          <p:nvPr>
            <p:ph idx="4" type="subTitle"/>
          </p:nvPr>
        </p:nvSpPr>
        <p:spPr>
          <a:xfrm>
            <a:off x="1354400" y="257827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64"/>
          <p:cNvSpPr/>
          <p:nvPr/>
        </p:nvSpPr>
        <p:spPr>
          <a:xfrm>
            <a:off x="953325" y="327620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64"/>
          <p:cNvSpPr/>
          <p:nvPr/>
        </p:nvSpPr>
        <p:spPr>
          <a:xfrm>
            <a:off x="802850" y="3276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47" name="Google Shape;447;p64"/>
          <p:cNvSpPr txBox="1"/>
          <p:nvPr>
            <p:ph idx="5" type="subTitle"/>
          </p:nvPr>
        </p:nvSpPr>
        <p:spPr>
          <a:xfrm>
            <a:off x="1354400" y="329122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0" name="Google Shape;450;p6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2" name="Google Shape;452;p6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 1">
  <p:cSld name="CUSTOM_23_3_1">
    <p:bg>
      <p:bgPr>
        <a:solidFill>
          <a:srgbClr val="F2F2F2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6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66"/>
          <p:cNvSpPr txBox="1"/>
          <p:nvPr/>
        </p:nvSpPr>
        <p:spPr>
          <a:xfrm>
            <a:off x="-5875" y="203600"/>
            <a:ext cx="916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66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7" name="Google Shape;457;p66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" name="Google Shape;458;p6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59" name="Google Shape;459;p66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66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61" name="Google Shape;46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821" y="323175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66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8229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 3">
  <p:cSld name="CUSTOM_4_4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7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5" name="Google Shape;465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67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 5">
  <p:cSld name="CUSTOM_26_8">
    <p:bg>
      <p:bgPr>
        <a:solidFill>
          <a:srgbClr val="F2F2F2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8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</p:sldLayoutIdLst>
  <mc:AlternateContent>
    <mc:Choice Requires="p14">
      <p:transition p14:dur="40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Relationship Id="rId4" Type="http://schemas.openxmlformats.org/officeDocument/2006/relationships/hyperlink" Target="https://www.splunk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0.png"/><Relationship Id="rId4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9"/>
          <p:cNvSpPr txBox="1"/>
          <p:nvPr>
            <p:ph type="title"/>
          </p:nvPr>
        </p:nvSpPr>
        <p:spPr>
          <a:xfrm>
            <a:off x="1466250" y="2021250"/>
            <a:ext cx="72012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108950" spcFirstLastPara="1" rIns="18287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Splunk Reports and Alerts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4" name="Google Shape;474;p69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69"/>
          <p:cNvSpPr txBox="1"/>
          <p:nvPr>
            <p:ph idx="4294967295" type="title"/>
          </p:nvPr>
        </p:nvSpPr>
        <p:spPr>
          <a:xfrm>
            <a:off x="3254000" y="4157175"/>
            <a:ext cx="4373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SIEM Day 2</a:t>
            </a:r>
            <a:endParaRPr/>
          </a:p>
        </p:txBody>
      </p:sp>
      <p:sp>
        <p:nvSpPr>
          <p:cNvPr id="476" name="Google Shape;476;p69"/>
          <p:cNvSpPr txBox="1"/>
          <p:nvPr>
            <p:ph idx="1" type="subTitle"/>
          </p:nvPr>
        </p:nvSpPr>
        <p:spPr>
          <a:xfrm>
            <a:off x="4481200" y="1050300"/>
            <a:ext cx="49092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200"/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477" name="Google Shape;477;p69"/>
          <p:cNvSpPr txBox="1"/>
          <p:nvPr>
            <p:ph idx="2" type="subTitle"/>
          </p:nvPr>
        </p:nvSpPr>
        <p:spPr>
          <a:xfrm>
            <a:off x="4500100" y="2936400"/>
            <a:ext cx="48714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200"/>
              <a:buNone/>
            </a:pPr>
            <a:r>
              <a:rPr lang="en"/>
              <a:t>SIEM Day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0"/>
          <p:cNvSpPr/>
          <p:nvPr/>
        </p:nvSpPr>
        <p:spPr>
          <a:xfrm>
            <a:off x="607675" y="35046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70"/>
          <p:cNvSpPr/>
          <p:nvPr/>
        </p:nvSpPr>
        <p:spPr>
          <a:xfrm>
            <a:off x="607675" y="28186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70"/>
          <p:cNvSpPr/>
          <p:nvPr/>
        </p:nvSpPr>
        <p:spPr>
          <a:xfrm>
            <a:off x="457200" y="28187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70"/>
          <p:cNvSpPr/>
          <p:nvPr/>
        </p:nvSpPr>
        <p:spPr>
          <a:xfrm>
            <a:off x="457200" y="35046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70"/>
          <p:cNvSpPr txBox="1"/>
          <p:nvPr/>
        </p:nvSpPr>
        <p:spPr>
          <a:xfrm>
            <a:off x="914400" y="286534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70"/>
          <p:cNvSpPr txBox="1"/>
          <p:nvPr/>
        </p:nvSpPr>
        <p:spPr>
          <a:xfrm>
            <a:off x="914400" y="355088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70"/>
          <p:cNvSpPr txBox="1"/>
          <p:nvPr>
            <p:ph idx="4294967295" type="body"/>
          </p:nvPr>
        </p:nvSpPr>
        <p:spPr>
          <a:xfrm>
            <a:off x="1043850" y="2867973"/>
            <a:ext cx="77724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Determine baselines of normal activity in order to trigger alerts.</a:t>
            </a:r>
            <a:endParaRPr/>
          </a:p>
        </p:txBody>
      </p:sp>
      <p:sp>
        <p:nvSpPr>
          <p:cNvPr id="489" name="Google Shape;489;p70"/>
          <p:cNvSpPr txBox="1"/>
          <p:nvPr>
            <p:ph idx="4294967295" type="body"/>
          </p:nvPr>
        </p:nvSpPr>
        <p:spPr>
          <a:xfrm>
            <a:off x="1043850" y="3597935"/>
            <a:ext cx="77724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schedule alerts to notify if an attack is occurring.</a:t>
            </a:r>
            <a:endParaRPr/>
          </a:p>
        </p:txBody>
      </p:sp>
      <p:sp>
        <p:nvSpPr>
          <p:cNvPr id="490" name="Google Shape;490;p70"/>
          <p:cNvSpPr/>
          <p:nvPr/>
        </p:nvSpPr>
        <p:spPr>
          <a:xfrm>
            <a:off x="618125" y="21380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70"/>
          <p:cNvSpPr/>
          <p:nvPr/>
        </p:nvSpPr>
        <p:spPr>
          <a:xfrm>
            <a:off x="618125" y="14520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0"/>
          <p:cNvSpPr/>
          <p:nvPr/>
        </p:nvSpPr>
        <p:spPr>
          <a:xfrm>
            <a:off x="467650" y="14521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70"/>
          <p:cNvSpPr/>
          <p:nvPr/>
        </p:nvSpPr>
        <p:spPr>
          <a:xfrm>
            <a:off x="467650" y="21380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70"/>
          <p:cNvSpPr txBox="1"/>
          <p:nvPr/>
        </p:nvSpPr>
        <p:spPr>
          <a:xfrm>
            <a:off x="924850" y="149874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70"/>
          <p:cNvSpPr txBox="1"/>
          <p:nvPr/>
        </p:nvSpPr>
        <p:spPr>
          <a:xfrm>
            <a:off x="924850" y="218428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70"/>
          <p:cNvSpPr txBox="1"/>
          <p:nvPr>
            <p:ph idx="4294967295" type="body"/>
          </p:nvPr>
        </p:nvSpPr>
        <p:spPr>
          <a:xfrm>
            <a:off x="1054300" y="1505823"/>
            <a:ext cx="77724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SPL commands stats and eval to create new fields in Splunk.</a:t>
            </a:r>
            <a:endParaRPr/>
          </a:p>
        </p:txBody>
      </p:sp>
      <p:sp>
        <p:nvSpPr>
          <p:cNvPr id="497" name="Google Shape;497;p70"/>
          <p:cNvSpPr txBox="1"/>
          <p:nvPr>
            <p:ph idx="4294967295" type="body"/>
          </p:nvPr>
        </p:nvSpPr>
        <p:spPr>
          <a:xfrm>
            <a:off x="1054300" y="2199060"/>
            <a:ext cx="77724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 statistical reports in Splunk.</a:t>
            </a:r>
            <a:endParaRPr/>
          </a:p>
        </p:txBody>
      </p:sp>
      <p:sp>
        <p:nvSpPr>
          <p:cNvPr id="498" name="Google Shape;498;p70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0" name="Google Shape;500;p70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01" name="Google Shape;501;p70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</a:t>
            </a:r>
            <a:r>
              <a:rPr lang="en">
                <a:solidFill>
                  <a:schemeClr val="dk2"/>
                </a:solidFill>
              </a:rPr>
              <a:t> Objectives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02" name="Google Shape;502;p70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the end of today’s lesson, you will be able to: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1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72"/>
          <p:cNvPicPr preferRelativeResize="0"/>
          <p:nvPr/>
        </p:nvPicPr>
        <p:blipFill rotWithShape="1">
          <a:blip r:embed="rId3">
            <a:alphaModFix/>
          </a:blip>
          <a:srcRect b="0" l="8223" r="0" t="0"/>
          <a:stretch/>
        </p:blipFill>
        <p:spPr>
          <a:xfrm>
            <a:off x="0" y="0"/>
            <a:ext cx="91686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72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72"/>
          <p:cNvSpPr txBox="1"/>
          <p:nvPr>
            <p:ph type="title"/>
          </p:nvPr>
        </p:nvSpPr>
        <p:spPr>
          <a:xfrm>
            <a:off x="-12300" y="632550"/>
            <a:ext cx="3943500" cy="3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640075" spcFirstLastPara="1" rIns="4572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000">
                <a:solidFill>
                  <a:schemeClr val="lt1"/>
                </a:solidFill>
              </a:rPr>
              <a:t>Today we will continue </a:t>
            </a:r>
            <a:br>
              <a:rPr b="0" lang="en" sz="2000">
                <a:solidFill>
                  <a:schemeClr val="lt1"/>
                </a:solidFill>
              </a:rPr>
            </a:br>
            <a:r>
              <a:rPr b="0" lang="en" sz="2000">
                <a:solidFill>
                  <a:schemeClr val="lt1"/>
                </a:solidFill>
              </a:rPr>
              <a:t>to learn about Splunk’s capabilities. </a:t>
            </a:r>
            <a:endParaRPr b="0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000">
                <a:solidFill>
                  <a:schemeClr val="lt1"/>
                </a:solidFill>
              </a:rPr>
              <a:t>First, let’s review what was covered in the </a:t>
            </a:r>
            <a:br>
              <a:rPr b="0" lang="en" sz="2000">
                <a:solidFill>
                  <a:schemeClr val="lt1"/>
                </a:solidFill>
              </a:rPr>
            </a:br>
            <a:r>
              <a:rPr b="0" lang="en" sz="2000">
                <a:solidFill>
                  <a:schemeClr val="lt1"/>
                </a:solidFill>
              </a:rPr>
              <a:t>last lesson.</a:t>
            </a:r>
            <a:endParaRPr b="0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3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Splunk Review</a:t>
            </a:r>
            <a:endParaRPr/>
          </a:p>
        </p:txBody>
      </p:sp>
      <p:sp>
        <p:nvSpPr>
          <p:cNvPr id="520" name="Google Shape;520;p73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73"/>
          <p:cNvSpPr txBox="1"/>
          <p:nvPr>
            <p:ph idx="2" type="title"/>
          </p:nvPr>
        </p:nvSpPr>
        <p:spPr>
          <a:xfrm>
            <a:off x="70200" y="588264"/>
            <a:ext cx="88149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Splunk provides software utilities that search, analyze, and monitor big data in </a:t>
            </a:r>
            <a:br>
              <a:rPr lang="en" sz="1800"/>
            </a:br>
            <a:r>
              <a:rPr lang="en" sz="1800"/>
              <a:t>a straightforward interface. We can add additional functionality to Splunk with apps and add-ons for specific vendors and industries.</a:t>
            </a:r>
            <a:endParaRPr sz="1800"/>
          </a:p>
        </p:txBody>
      </p:sp>
      <p:pic>
        <p:nvPicPr>
          <p:cNvPr id="522" name="Google Shape;522;p73"/>
          <p:cNvPicPr preferRelativeResize="0"/>
          <p:nvPr/>
        </p:nvPicPr>
        <p:blipFill rotWithShape="1">
          <a:blip r:embed="rId3">
            <a:alphaModFix/>
          </a:blip>
          <a:srcRect b="0" l="22112" r="21246" t="0"/>
          <a:stretch/>
        </p:blipFill>
        <p:spPr>
          <a:xfrm>
            <a:off x="0" y="1669900"/>
            <a:ext cx="9143999" cy="34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73"/>
          <p:cNvSpPr txBox="1"/>
          <p:nvPr/>
        </p:nvSpPr>
        <p:spPr>
          <a:xfrm>
            <a:off x="-12300" y="4820894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Source: </a:t>
            </a:r>
            <a:r>
              <a:rPr i="0" lang="en" sz="1300" u="sng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splunk.com</a:t>
            </a:r>
            <a:endParaRPr i="0" sz="13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4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Review</a:t>
            </a:r>
            <a:endParaRPr/>
          </a:p>
        </p:txBody>
      </p:sp>
      <p:sp>
        <p:nvSpPr>
          <p:cNvPr id="529" name="Google Shape;529;p74"/>
          <p:cNvSpPr txBox="1"/>
          <p:nvPr>
            <p:ph idx="2" type="title"/>
          </p:nvPr>
        </p:nvSpPr>
        <p:spPr>
          <a:xfrm>
            <a:off x="70200" y="588264"/>
            <a:ext cx="8814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Splunk has three primary methods for accessing data:</a:t>
            </a:r>
            <a:endParaRPr sz="1800"/>
          </a:p>
        </p:txBody>
      </p:sp>
      <p:sp>
        <p:nvSpPr>
          <p:cNvPr id="530" name="Google Shape;530;p74"/>
          <p:cNvSpPr/>
          <p:nvPr/>
        </p:nvSpPr>
        <p:spPr>
          <a:xfrm flipH="1">
            <a:off x="391475" y="1785375"/>
            <a:ext cx="2384700" cy="3175800"/>
          </a:xfrm>
          <a:prstGeom prst="round2DiagRect">
            <a:avLst>
              <a:gd fmla="val 918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31" name="Google Shape;531;p74"/>
          <p:cNvGrpSpPr/>
          <p:nvPr/>
        </p:nvGrpSpPr>
        <p:grpSpPr>
          <a:xfrm>
            <a:off x="391476" y="1192702"/>
            <a:ext cx="1528094" cy="533483"/>
            <a:chOff x="457161" y="1378809"/>
            <a:chExt cx="1992300" cy="695454"/>
          </a:xfrm>
        </p:grpSpPr>
        <p:sp>
          <p:nvSpPr>
            <p:cNvPr id="532" name="Google Shape;532;p74"/>
            <p:cNvSpPr/>
            <p:nvPr/>
          </p:nvSpPr>
          <p:spPr>
            <a:xfrm>
              <a:off x="457161" y="1378809"/>
              <a:ext cx="19923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Monitoring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3" name="Google Shape;533;p74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34" name="Google Shape;534;p74"/>
          <p:cNvSpPr txBox="1"/>
          <p:nvPr/>
        </p:nvSpPr>
        <p:spPr>
          <a:xfrm>
            <a:off x="391475" y="1786225"/>
            <a:ext cx="2384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Splunk monitors logs from a system, device, or application to which  it has direct access.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74"/>
          <p:cNvSpPr txBox="1"/>
          <p:nvPr/>
        </p:nvSpPr>
        <p:spPr>
          <a:xfrm>
            <a:off x="391475" y="3126525"/>
            <a:ext cx="238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Businesses commonly use this method </a:t>
            </a: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monitor their production environment.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74"/>
          <p:cNvSpPr/>
          <p:nvPr/>
        </p:nvSpPr>
        <p:spPr>
          <a:xfrm flipH="1">
            <a:off x="3343988" y="1785375"/>
            <a:ext cx="2384700" cy="3175800"/>
          </a:xfrm>
          <a:prstGeom prst="round2DiagRect">
            <a:avLst>
              <a:gd fmla="val 918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37" name="Google Shape;537;p74"/>
          <p:cNvGrpSpPr/>
          <p:nvPr/>
        </p:nvGrpSpPr>
        <p:grpSpPr>
          <a:xfrm>
            <a:off x="3343989" y="1192702"/>
            <a:ext cx="1528094" cy="533483"/>
            <a:chOff x="457161" y="1378809"/>
            <a:chExt cx="1992300" cy="695454"/>
          </a:xfrm>
        </p:grpSpPr>
        <p:sp>
          <p:nvSpPr>
            <p:cNvPr id="538" name="Google Shape;538;p74"/>
            <p:cNvSpPr/>
            <p:nvPr/>
          </p:nvSpPr>
          <p:spPr>
            <a:xfrm>
              <a:off x="457161" y="1378809"/>
              <a:ext cx="19923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Forwarding</a:t>
              </a:r>
              <a:endParaRPr b="1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9" name="Google Shape;539;p74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40" name="Google Shape;540;p74"/>
          <p:cNvSpPr txBox="1"/>
          <p:nvPr/>
        </p:nvSpPr>
        <p:spPr>
          <a:xfrm>
            <a:off x="3343988" y="1786225"/>
            <a:ext cx="2384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Install a program called a forwarder on the system from which logs are collected.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74"/>
          <p:cNvSpPr txBox="1"/>
          <p:nvPr/>
        </p:nvSpPr>
        <p:spPr>
          <a:xfrm>
            <a:off x="3343988" y="3126525"/>
            <a:ext cx="2384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Forwarders forward logs from a device into the Splunk system.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74"/>
          <p:cNvSpPr/>
          <p:nvPr/>
        </p:nvSpPr>
        <p:spPr>
          <a:xfrm flipH="1">
            <a:off x="6291975" y="1785375"/>
            <a:ext cx="2384700" cy="3175800"/>
          </a:xfrm>
          <a:prstGeom prst="round2DiagRect">
            <a:avLst>
              <a:gd fmla="val 918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43" name="Google Shape;543;p74"/>
          <p:cNvGrpSpPr/>
          <p:nvPr/>
        </p:nvGrpSpPr>
        <p:grpSpPr>
          <a:xfrm>
            <a:off x="6291976" y="1192702"/>
            <a:ext cx="1528094" cy="533483"/>
            <a:chOff x="457161" y="1378809"/>
            <a:chExt cx="1992300" cy="695454"/>
          </a:xfrm>
        </p:grpSpPr>
        <p:sp>
          <p:nvSpPr>
            <p:cNvPr id="544" name="Google Shape;544;p74"/>
            <p:cNvSpPr/>
            <p:nvPr/>
          </p:nvSpPr>
          <p:spPr>
            <a:xfrm>
              <a:off x="457161" y="1378809"/>
              <a:ext cx="1992300" cy="621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Uploading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5" name="Google Shape;545;p74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46" name="Google Shape;546;p74"/>
          <p:cNvSpPr txBox="1"/>
          <p:nvPr/>
        </p:nvSpPr>
        <p:spPr>
          <a:xfrm>
            <a:off x="6291975" y="1786225"/>
            <a:ext cx="238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Manually upload logs directly into your Splunk repository.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74"/>
          <p:cNvSpPr txBox="1"/>
          <p:nvPr/>
        </p:nvSpPr>
        <p:spPr>
          <a:xfrm>
            <a:off x="6291975" y="3126525"/>
            <a:ext cx="23847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While monitoring </a:t>
            </a:r>
            <a:b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forwarding are important to understand </a:t>
            </a: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onceptually, we will primarily use the upload process for the rest of this </a:t>
            </a: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lesson</a:t>
            </a: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8" name="Google Shape;548;p74"/>
          <p:cNvCxnSpPr/>
          <p:nvPr/>
        </p:nvCxnSpPr>
        <p:spPr>
          <a:xfrm>
            <a:off x="387450" y="3087875"/>
            <a:ext cx="829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5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Review</a:t>
            </a:r>
            <a:endParaRPr/>
          </a:p>
        </p:txBody>
      </p:sp>
      <p:sp>
        <p:nvSpPr>
          <p:cNvPr id="554" name="Google Shape;554;p75"/>
          <p:cNvSpPr txBox="1"/>
          <p:nvPr>
            <p:ph idx="2" type="title"/>
          </p:nvPr>
        </p:nvSpPr>
        <p:spPr>
          <a:xfrm>
            <a:off x="70200" y="588275"/>
            <a:ext cx="80580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Splunk’s primary feature is 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searching</a:t>
            </a:r>
            <a:r>
              <a:rPr lang="en" sz="1800"/>
              <a:t>, which uses a coding language native to Splunk called Splunk Processing Language (SPL).</a:t>
            </a:r>
            <a:endParaRPr sz="1800"/>
          </a:p>
        </p:txBody>
      </p:sp>
      <p:pic>
        <p:nvPicPr>
          <p:cNvPr id="555" name="Google Shape;55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375" y="1505925"/>
            <a:ext cx="6012124" cy="300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6" name="Google Shape;556;p75"/>
          <p:cNvSpPr/>
          <p:nvPr/>
        </p:nvSpPr>
        <p:spPr>
          <a:xfrm>
            <a:off x="6094400" y="2072700"/>
            <a:ext cx="334500" cy="3345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75"/>
          <p:cNvSpPr/>
          <p:nvPr/>
        </p:nvSpPr>
        <p:spPr>
          <a:xfrm rot="10800000">
            <a:off x="6505100" y="2102700"/>
            <a:ext cx="414000" cy="274500"/>
          </a:xfrm>
          <a:prstGeom prst="homePlate">
            <a:avLst>
              <a:gd fmla="val 4482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75"/>
          <p:cNvSpPr txBox="1"/>
          <p:nvPr>
            <p:ph idx="1" type="body"/>
          </p:nvPr>
        </p:nvSpPr>
        <p:spPr>
          <a:xfrm>
            <a:off x="6925575" y="2108700"/>
            <a:ext cx="1761300" cy="16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18287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Splunk uses </a:t>
            </a:r>
            <a:r>
              <a:rPr lang="en" sz="1800">
                <a:highlight>
                  <a:schemeClr val="accent1"/>
                </a:highlight>
              </a:rPr>
              <a:t>time-based search</a:t>
            </a:r>
            <a:r>
              <a:rPr lang="en" sz="1800"/>
              <a:t> wherein each event or log has a time associated with it.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6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564" name="Google Shape;564;p76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Splunk warm-up</a:t>
            </a:r>
            <a:endParaRPr/>
          </a:p>
        </p:txBody>
      </p:sp>
      <p:sp>
        <p:nvSpPr>
          <p:cNvPr id="565" name="Google Shape;565;p76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analyze logs from a Fortinet IPS system, determine the security issue, and provide mitigation strategies.</a:t>
            </a:r>
            <a:endParaRPr/>
          </a:p>
        </p:txBody>
      </p:sp>
      <p:grpSp>
        <p:nvGrpSpPr>
          <p:cNvPr id="566" name="Google Shape;566;p76"/>
          <p:cNvGrpSpPr/>
          <p:nvPr/>
        </p:nvGrpSpPr>
        <p:grpSpPr>
          <a:xfrm>
            <a:off x="2729075" y="2420762"/>
            <a:ext cx="3984300" cy="1614928"/>
            <a:chOff x="2729075" y="2573163"/>
            <a:chExt cx="3984300" cy="1614928"/>
          </a:xfrm>
        </p:grpSpPr>
        <p:sp>
          <p:nvSpPr>
            <p:cNvPr id="567" name="Google Shape;567;p76"/>
            <p:cNvSpPr/>
            <p:nvPr/>
          </p:nvSpPr>
          <p:spPr>
            <a:xfrm>
              <a:off x="2729075" y="3730591"/>
              <a:ext cx="3984300" cy="45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274300" spcFirstLastPara="1" rIns="91425" wrap="square" tIns="1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8" name="Google Shape;568;p76"/>
            <p:cNvSpPr/>
            <p:nvPr/>
          </p:nvSpPr>
          <p:spPr>
            <a:xfrm>
              <a:off x="2729075" y="2573163"/>
              <a:ext cx="3984300" cy="457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274300" spcFirstLastPara="1" rIns="91425" wrap="square" tIns="1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Breakout Rooms</a:t>
              </a:r>
              <a:endParaRPr b="0" i="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9" name="Google Shape;569;p76"/>
            <p:cNvSpPr/>
            <p:nvPr/>
          </p:nvSpPr>
          <p:spPr>
            <a:xfrm>
              <a:off x="2729075" y="2870100"/>
              <a:ext cx="3984300" cy="1241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76"/>
            <p:cNvSpPr txBox="1"/>
            <p:nvPr/>
          </p:nvSpPr>
          <p:spPr>
            <a:xfrm>
              <a:off x="3476575" y="2997888"/>
              <a:ext cx="31740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 host is inviting you to join Breakout Room:</a:t>
              </a:r>
              <a:endPara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Breakout Room 1</a:t>
              </a:r>
              <a:r>
                <a:rPr b="0" i="0" lang="en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71" name="Google Shape;571;p76"/>
            <p:cNvCxnSpPr/>
            <p:nvPr/>
          </p:nvCxnSpPr>
          <p:spPr>
            <a:xfrm>
              <a:off x="2733150" y="3740775"/>
              <a:ext cx="3972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572" name="Google Shape;572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16475" y="2995545"/>
              <a:ext cx="560101" cy="5866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" name="Google Shape;573;p76"/>
            <p:cNvSpPr/>
            <p:nvPr/>
          </p:nvSpPr>
          <p:spPr>
            <a:xfrm>
              <a:off x="2807964" y="2647003"/>
              <a:ext cx="150000" cy="15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X</a:t>
              </a:r>
              <a:endParaRPr b="0" i="0" sz="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4" name="Google Shape;574;p76"/>
            <p:cNvSpPr/>
            <p:nvPr/>
          </p:nvSpPr>
          <p:spPr>
            <a:xfrm>
              <a:off x="5340496" y="3870143"/>
              <a:ext cx="560100" cy="181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Join</a:t>
              </a:r>
              <a:endPara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5" name="Google Shape;575;p76"/>
            <p:cNvSpPr/>
            <p:nvPr/>
          </p:nvSpPr>
          <p:spPr>
            <a:xfrm>
              <a:off x="5974275" y="3870143"/>
              <a:ext cx="560100" cy="181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Later</a:t>
              </a:r>
              <a:endPara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76"/>
            <p:cNvSpPr/>
            <p:nvPr/>
          </p:nvSpPr>
          <p:spPr>
            <a:xfrm>
              <a:off x="4870823" y="3870143"/>
              <a:ext cx="396000" cy="181500"/>
            </a:xfrm>
            <a:prstGeom prst="homePlat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7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9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Splunk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Statistics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1" name="Google Shape;59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8750" y="1767875"/>
            <a:ext cx="1046476" cy="85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0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Statistics</a:t>
            </a:r>
            <a:endParaRPr/>
          </a:p>
        </p:txBody>
      </p:sp>
      <p:sp>
        <p:nvSpPr>
          <p:cNvPr id="597" name="Google Shape;597;p80"/>
          <p:cNvSpPr txBox="1"/>
          <p:nvPr>
            <p:ph idx="2" type="title"/>
          </p:nvPr>
        </p:nvSpPr>
        <p:spPr>
          <a:xfrm>
            <a:off x="70200" y="588264"/>
            <a:ext cx="7777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Security professionals often need to present Splunk search results </a:t>
            </a:r>
            <a:br>
              <a:rPr lang="en" sz="1800"/>
            </a:br>
            <a:r>
              <a:rPr lang="en" sz="1800"/>
              <a:t>to non-technical audiences using simple formats.</a:t>
            </a:r>
            <a:endParaRPr sz="1800"/>
          </a:p>
        </p:txBody>
      </p:sp>
      <p:sp>
        <p:nvSpPr>
          <p:cNvPr id="598" name="Google Shape;598;p80"/>
          <p:cNvSpPr txBox="1"/>
          <p:nvPr>
            <p:ph idx="1" type="body"/>
          </p:nvPr>
        </p:nvSpPr>
        <p:spPr>
          <a:xfrm>
            <a:off x="175" y="1796275"/>
            <a:ext cx="2482800" cy="17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For example: </a:t>
            </a:r>
            <a:endParaRPr sz="18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If we need to illustrate the top 10 IP addresses from a DoS attack, this results page could be confusing to </a:t>
            </a:r>
            <a:br>
              <a:rPr lang="en" sz="1800"/>
            </a:br>
            <a:r>
              <a:rPr lang="en" sz="1800"/>
              <a:t>a non-expert.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</a:pPr>
            <a:r>
              <a:t/>
            </a:r>
            <a:endParaRPr sz="1800"/>
          </a:p>
        </p:txBody>
      </p:sp>
      <p:pic>
        <p:nvPicPr>
          <p:cNvPr id="599" name="Google Shape;59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7900" y="1782563"/>
            <a:ext cx="6386599" cy="25929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0" name="Google Shape;600;p80"/>
          <p:cNvSpPr/>
          <p:nvPr/>
        </p:nvSpPr>
        <p:spPr>
          <a:xfrm>
            <a:off x="2427900" y="3990975"/>
            <a:ext cx="1772700" cy="1383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80"/>
          <p:cNvSpPr/>
          <p:nvPr/>
        </p:nvSpPr>
        <p:spPr>
          <a:xfrm flipH="1" rot="10800000">
            <a:off x="1908175" y="3922875"/>
            <a:ext cx="414000" cy="274500"/>
          </a:xfrm>
          <a:prstGeom prst="homePlate">
            <a:avLst>
              <a:gd fmla="val 4482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1"/>
          <p:cNvSpPr/>
          <p:nvPr/>
        </p:nvSpPr>
        <p:spPr>
          <a:xfrm>
            <a:off x="0" y="4012625"/>
            <a:ext cx="2616600" cy="809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81"/>
          <p:cNvSpPr/>
          <p:nvPr/>
        </p:nvSpPr>
        <p:spPr>
          <a:xfrm>
            <a:off x="1504625" y="4011375"/>
            <a:ext cx="7639500" cy="809700"/>
          </a:xfrm>
          <a:prstGeom prst="roundRect">
            <a:avLst>
              <a:gd fmla="val 0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stats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the most basic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Splunk command to create a statistics report.</a:t>
            </a:r>
            <a:endParaRPr sz="1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8" name="Google Shape;60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227" y="4082967"/>
            <a:ext cx="706371" cy="66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451" y="1283000"/>
            <a:ext cx="4725452" cy="2575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0" name="Google Shape;610;p81"/>
          <p:cNvSpPr txBox="1"/>
          <p:nvPr>
            <p:ph type="title"/>
          </p:nvPr>
        </p:nvSpPr>
        <p:spPr>
          <a:xfrm>
            <a:off x="64075" y="7620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Statistics</a:t>
            </a:r>
            <a:endParaRPr/>
          </a:p>
        </p:txBody>
      </p:sp>
      <p:sp>
        <p:nvSpPr>
          <p:cNvPr id="611" name="Google Shape;611;p81"/>
          <p:cNvSpPr txBox="1"/>
          <p:nvPr>
            <p:ph idx="4294967295" type="title"/>
          </p:nvPr>
        </p:nvSpPr>
        <p:spPr>
          <a:xfrm>
            <a:off x="70200" y="512064"/>
            <a:ext cx="8328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Splunk uses the statistics feature to display specific data points </a:t>
            </a:r>
            <a:br>
              <a:rPr lang="en"/>
            </a:br>
            <a:r>
              <a:rPr lang="en"/>
              <a:t>from search results in an easy-to-read format.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2"/>
          <p:cNvSpPr txBox="1"/>
          <p:nvPr>
            <p:ph type="title"/>
          </p:nvPr>
        </p:nvSpPr>
        <p:spPr>
          <a:xfrm>
            <a:off x="3145525" y="1373475"/>
            <a:ext cx="5555100" cy="23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b="0" lang="en" sz="3000">
                <a:latin typeface="Roboto"/>
                <a:ea typeface="Roboto"/>
                <a:cs typeface="Roboto"/>
                <a:sym typeface="Roboto"/>
              </a:rPr>
              <a:t>We will use the </a:t>
            </a:r>
            <a:r>
              <a:rPr b="0" lang="en" sz="3000"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stats</a:t>
            </a:r>
            <a:r>
              <a:rPr b="0" lang="en" sz="3000">
                <a:latin typeface="Roboto"/>
                <a:ea typeface="Roboto"/>
                <a:cs typeface="Roboto"/>
                <a:sym typeface="Roboto"/>
              </a:rPr>
              <a:t> command to create a simple statistical report of the top account names </a:t>
            </a:r>
            <a:r>
              <a:rPr b="0" lang="en" sz="3000"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(Account_Name)</a:t>
            </a:r>
            <a:r>
              <a:rPr b="0" lang="en" sz="3000">
                <a:latin typeface="Roboto"/>
                <a:ea typeface="Roboto"/>
                <a:cs typeface="Roboto"/>
                <a:sym typeface="Roboto"/>
              </a:rPr>
              <a:t> being targeted in a brute-force attack.</a:t>
            </a:r>
            <a:endParaRPr b="0" sz="3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3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Splunk statistics</a:t>
            </a:r>
            <a:endParaRPr/>
          </a:p>
        </p:txBody>
      </p:sp>
      <p:sp>
        <p:nvSpPr>
          <p:cNvPr id="622" name="Google Shape;622;p83"/>
          <p:cNvSpPr txBox="1"/>
          <p:nvPr/>
        </p:nvSpPr>
        <p:spPr>
          <a:xfrm>
            <a:off x="0" y="3438425"/>
            <a:ext cx="91440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84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Creating Fields with Eval</a:t>
            </a:r>
            <a:endParaRPr/>
          </a:p>
        </p:txBody>
      </p:sp>
      <p:sp>
        <p:nvSpPr>
          <p:cNvPr id="628" name="Google Shape;628;p84"/>
          <p:cNvSpPr txBox="1"/>
          <p:nvPr>
            <p:ph idx="2" type="title"/>
          </p:nvPr>
        </p:nvSpPr>
        <p:spPr>
          <a:xfrm>
            <a:off x="70200" y="512064"/>
            <a:ext cx="8328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We can use Splunk to create new fields and add them to a statistical report.</a:t>
            </a:r>
            <a:endParaRPr sz="1800"/>
          </a:p>
        </p:txBody>
      </p:sp>
      <p:sp>
        <p:nvSpPr>
          <p:cNvPr id="629" name="Google Shape;629;p84"/>
          <p:cNvSpPr txBox="1"/>
          <p:nvPr>
            <p:ph idx="2" type="title"/>
          </p:nvPr>
        </p:nvSpPr>
        <p:spPr>
          <a:xfrm>
            <a:off x="70200" y="1022950"/>
            <a:ext cx="83289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For example:</a:t>
            </a:r>
            <a:r>
              <a:rPr lang="en" sz="1800"/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Suppose we are analyzing logs for potential brute-force attempts.</a:t>
            </a:r>
            <a:endParaRPr sz="1800"/>
          </a:p>
        </p:txBody>
      </p:sp>
      <p:sp>
        <p:nvSpPr>
          <p:cNvPr id="630" name="Google Shape;630;p84"/>
          <p:cNvSpPr/>
          <p:nvPr/>
        </p:nvSpPr>
        <p:spPr>
          <a:xfrm>
            <a:off x="5170298" y="2442237"/>
            <a:ext cx="373200" cy="31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84"/>
          <p:cNvSpPr/>
          <p:nvPr/>
        </p:nvSpPr>
        <p:spPr>
          <a:xfrm>
            <a:off x="5170298" y="3920356"/>
            <a:ext cx="373200" cy="31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84"/>
          <p:cNvSpPr/>
          <p:nvPr/>
        </p:nvSpPr>
        <p:spPr>
          <a:xfrm>
            <a:off x="3207102" y="2042625"/>
            <a:ext cx="1963200" cy="2589900"/>
          </a:xfrm>
          <a:prstGeom prst="roundRect">
            <a:avLst>
              <a:gd fmla="val 7895" name="adj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Since user lockouts are a potential identifier of a brute-force attack, we can create a new field to identify events that contain this event code.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84"/>
          <p:cNvSpPr/>
          <p:nvPr/>
        </p:nvSpPr>
        <p:spPr>
          <a:xfrm>
            <a:off x="5982525" y="2042625"/>
            <a:ext cx="2852400" cy="1263900"/>
          </a:xfrm>
          <a:prstGeom prst="roundRect">
            <a:avLst>
              <a:gd fmla="val 7895" name="adj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365750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the </a:t>
            </a:r>
            <a:r>
              <a:rPr b="0" i="0" lang="en" sz="16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EventCode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field has </a:t>
            </a:r>
            <a:b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value of </a:t>
            </a:r>
            <a:r>
              <a:rPr b="0" i="0" lang="en" sz="16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4740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the field 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value will be </a:t>
            </a:r>
            <a:r>
              <a:rPr b="0" i="0" lang="en" sz="16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Potential</a:t>
            </a:r>
            <a:r>
              <a:rPr b="0" i="0" lang="en" sz="16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b="0" i="0" lang="en" sz="16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Brute Force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84"/>
          <p:cNvSpPr/>
          <p:nvPr/>
        </p:nvSpPr>
        <p:spPr>
          <a:xfrm>
            <a:off x="406825" y="2042625"/>
            <a:ext cx="2243400" cy="2589900"/>
          </a:xfrm>
          <a:prstGeom prst="roundRect">
            <a:avLst>
              <a:gd fmla="val 7895" name="adj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Our logs have event codes </a:t>
            </a:r>
            <a:r>
              <a:rPr b="0" i="0" lang="en" sz="16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0" i="0" lang="en" sz="16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EventCode</a:t>
            </a:r>
            <a:r>
              <a:rPr b="0" i="0" lang="en" sz="16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that assign numerical codes to events. 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EventCode 4740</a:t>
            </a:r>
            <a:r>
              <a:rPr b="0" i="0" lang="en" sz="16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indicates a user lockout.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84"/>
          <p:cNvSpPr/>
          <p:nvPr/>
        </p:nvSpPr>
        <p:spPr>
          <a:xfrm>
            <a:off x="5982450" y="3522825"/>
            <a:ext cx="2852400" cy="1109700"/>
          </a:xfrm>
          <a:prstGeom prst="roundRect">
            <a:avLst>
              <a:gd fmla="val 7895" name="adj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365750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the field does not have a value of </a:t>
            </a:r>
            <a:r>
              <a:rPr b="0" i="0" lang="en" sz="16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4740</a:t>
            </a: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the field value will be </a:t>
            </a:r>
            <a:r>
              <a:rPr b="0" i="0" lang="en" sz="16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Not Brute Force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36" name="Google Shape;636;p84"/>
          <p:cNvGrpSpPr/>
          <p:nvPr/>
        </p:nvGrpSpPr>
        <p:grpSpPr>
          <a:xfrm>
            <a:off x="5724334" y="3820111"/>
            <a:ext cx="515136" cy="515136"/>
            <a:chOff x="1190625" y="238125"/>
            <a:chExt cx="5213925" cy="5213925"/>
          </a:xfrm>
        </p:grpSpPr>
        <p:sp>
          <p:nvSpPr>
            <p:cNvPr id="637" name="Google Shape;637;p84"/>
            <p:cNvSpPr/>
            <p:nvPr/>
          </p:nvSpPr>
          <p:spPr>
            <a:xfrm>
              <a:off x="1190625" y="238125"/>
              <a:ext cx="5213925" cy="5213925"/>
            </a:xfrm>
            <a:custGeom>
              <a:rect b="b" l="l" r="r" t="t"/>
              <a:pathLst>
                <a:path extrusionOk="0" h="208557" w="208557">
                  <a:moveTo>
                    <a:pt x="104278" y="0"/>
                  </a:moveTo>
                  <a:cubicBezTo>
                    <a:pt x="46677" y="0"/>
                    <a:pt x="0" y="46677"/>
                    <a:pt x="0" y="104278"/>
                  </a:cubicBezTo>
                  <a:cubicBezTo>
                    <a:pt x="0" y="161880"/>
                    <a:pt x="46677" y="208557"/>
                    <a:pt x="104278" y="208557"/>
                  </a:cubicBezTo>
                  <a:cubicBezTo>
                    <a:pt x="161880" y="208557"/>
                    <a:pt x="208557" y="161880"/>
                    <a:pt x="208557" y="104278"/>
                  </a:cubicBezTo>
                  <a:cubicBezTo>
                    <a:pt x="208557" y="46677"/>
                    <a:pt x="161880" y="0"/>
                    <a:pt x="1042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84"/>
            <p:cNvSpPr/>
            <p:nvPr/>
          </p:nvSpPr>
          <p:spPr>
            <a:xfrm>
              <a:off x="2521400" y="1613950"/>
              <a:ext cx="2552375" cy="2462975"/>
            </a:xfrm>
            <a:custGeom>
              <a:rect b="b" l="l" r="r" t="t"/>
              <a:pathLst>
                <a:path extrusionOk="0" h="98519" w="102095">
                  <a:moveTo>
                    <a:pt x="15470" y="0"/>
                  </a:moveTo>
                  <a:cubicBezTo>
                    <a:pt x="11814" y="0"/>
                    <a:pt x="8305" y="1282"/>
                    <a:pt x="5695" y="3893"/>
                  </a:cubicBezTo>
                  <a:cubicBezTo>
                    <a:pt x="1" y="9620"/>
                    <a:pt x="630" y="19551"/>
                    <a:pt x="7085" y="26039"/>
                  </a:cubicBezTo>
                  <a:lnTo>
                    <a:pt x="30324" y="49245"/>
                  </a:lnTo>
                  <a:lnTo>
                    <a:pt x="7085" y="72485"/>
                  </a:lnTo>
                  <a:cubicBezTo>
                    <a:pt x="630" y="78940"/>
                    <a:pt x="1" y="88904"/>
                    <a:pt x="5695" y="94598"/>
                  </a:cubicBezTo>
                  <a:cubicBezTo>
                    <a:pt x="8310" y="97229"/>
                    <a:pt x="11826" y="98518"/>
                    <a:pt x="15489" y="98518"/>
                  </a:cubicBezTo>
                  <a:cubicBezTo>
                    <a:pt x="19802" y="98518"/>
                    <a:pt x="24318" y="96731"/>
                    <a:pt x="27808" y="93241"/>
                  </a:cubicBezTo>
                  <a:lnTo>
                    <a:pt x="51047" y="70002"/>
                  </a:lnTo>
                  <a:lnTo>
                    <a:pt x="74287" y="93241"/>
                  </a:lnTo>
                  <a:cubicBezTo>
                    <a:pt x="77777" y="96731"/>
                    <a:pt x="82293" y="98518"/>
                    <a:pt x="86605" y="98518"/>
                  </a:cubicBezTo>
                  <a:cubicBezTo>
                    <a:pt x="90269" y="98518"/>
                    <a:pt x="93785" y="97229"/>
                    <a:pt x="96400" y="94598"/>
                  </a:cubicBezTo>
                  <a:cubicBezTo>
                    <a:pt x="102094" y="88904"/>
                    <a:pt x="101498" y="78940"/>
                    <a:pt x="95010" y="72485"/>
                  </a:cubicBezTo>
                  <a:lnTo>
                    <a:pt x="71804" y="49245"/>
                  </a:lnTo>
                  <a:lnTo>
                    <a:pt x="95010" y="26039"/>
                  </a:lnTo>
                  <a:cubicBezTo>
                    <a:pt x="101465" y="19584"/>
                    <a:pt x="102094" y="9620"/>
                    <a:pt x="96400" y="3926"/>
                  </a:cubicBezTo>
                  <a:cubicBezTo>
                    <a:pt x="93785" y="1295"/>
                    <a:pt x="90269" y="6"/>
                    <a:pt x="86605" y="6"/>
                  </a:cubicBezTo>
                  <a:cubicBezTo>
                    <a:pt x="82293" y="6"/>
                    <a:pt x="77777" y="1793"/>
                    <a:pt x="74287" y="5283"/>
                  </a:cubicBezTo>
                  <a:lnTo>
                    <a:pt x="51047" y="28522"/>
                  </a:lnTo>
                  <a:lnTo>
                    <a:pt x="27808" y="5283"/>
                  </a:lnTo>
                  <a:cubicBezTo>
                    <a:pt x="24313" y="1788"/>
                    <a:pt x="19788" y="0"/>
                    <a:pt x="154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9" name="Google Shape;639;p84"/>
          <p:cNvGrpSpPr/>
          <p:nvPr/>
        </p:nvGrpSpPr>
        <p:grpSpPr>
          <a:xfrm>
            <a:off x="5724332" y="2331130"/>
            <a:ext cx="515136" cy="515136"/>
            <a:chOff x="1190625" y="238125"/>
            <a:chExt cx="5213925" cy="5213925"/>
          </a:xfrm>
        </p:grpSpPr>
        <p:sp>
          <p:nvSpPr>
            <p:cNvPr id="640" name="Google Shape;640;p84"/>
            <p:cNvSpPr/>
            <p:nvPr/>
          </p:nvSpPr>
          <p:spPr>
            <a:xfrm>
              <a:off x="1190625" y="238125"/>
              <a:ext cx="5213925" cy="5213925"/>
            </a:xfrm>
            <a:custGeom>
              <a:rect b="b" l="l" r="r" t="t"/>
              <a:pathLst>
                <a:path extrusionOk="0" h="208557" w="208557">
                  <a:moveTo>
                    <a:pt x="104278" y="0"/>
                  </a:moveTo>
                  <a:cubicBezTo>
                    <a:pt x="46677" y="0"/>
                    <a:pt x="0" y="46677"/>
                    <a:pt x="0" y="104278"/>
                  </a:cubicBezTo>
                  <a:cubicBezTo>
                    <a:pt x="0" y="161880"/>
                    <a:pt x="46677" y="208557"/>
                    <a:pt x="104278" y="208557"/>
                  </a:cubicBezTo>
                  <a:cubicBezTo>
                    <a:pt x="161880" y="208557"/>
                    <a:pt x="208557" y="161880"/>
                    <a:pt x="208557" y="104278"/>
                  </a:cubicBezTo>
                  <a:cubicBezTo>
                    <a:pt x="208557" y="46677"/>
                    <a:pt x="161880" y="0"/>
                    <a:pt x="1042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84"/>
            <p:cNvSpPr/>
            <p:nvPr/>
          </p:nvSpPr>
          <p:spPr>
            <a:xfrm>
              <a:off x="2283050" y="1710025"/>
              <a:ext cx="3084525" cy="2269725"/>
            </a:xfrm>
            <a:custGeom>
              <a:rect b="b" l="l" r="r" t="t"/>
              <a:pathLst>
                <a:path extrusionOk="0" h="90789" w="123381">
                  <a:moveTo>
                    <a:pt x="107385" y="1"/>
                  </a:moveTo>
                  <a:cubicBezTo>
                    <a:pt x="103079" y="1"/>
                    <a:pt x="98615" y="1757"/>
                    <a:pt x="95175" y="5214"/>
                  </a:cubicBezTo>
                  <a:lnTo>
                    <a:pt x="44890" y="55499"/>
                  </a:lnTo>
                  <a:lnTo>
                    <a:pt x="28205" y="38815"/>
                  </a:lnTo>
                  <a:cubicBezTo>
                    <a:pt x="24765" y="35374"/>
                    <a:pt x="20290" y="33626"/>
                    <a:pt x="15978" y="33626"/>
                  </a:cubicBezTo>
                  <a:cubicBezTo>
                    <a:pt x="12200" y="33626"/>
                    <a:pt x="8548" y="34968"/>
                    <a:pt x="5827" y="37689"/>
                  </a:cubicBezTo>
                  <a:cubicBezTo>
                    <a:pt x="1" y="43549"/>
                    <a:pt x="497" y="53612"/>
                    <a:pt x="6953" y="60068"/>
                  </a:cubicBezTo>
                  <a:lnTo>
                    <a:pt x="32509" y="85591"/>
                  </a:lnTo>
                  <a:cubicBezTo>
                    <a:pt x="35621" y="88769"/>
                    <a:pt x="39858" y="90623"/>
                    <a:pt x="44327" y="90788"/>
                  </a:cubicBezTo>
                  <a:lnTo>
                    <a:pt x="45453" y="90788"/>
                  </a:lnTo>
                  <a:cubicBezTo>
                    <a:pt x="49922" y="90623"/>
                    <a:pt x="54159" y="88769"/>
                    <a:pt x="57271" y="85591"/>
                  </a:cubicBezTo>
                  <a:lnTo>
                    <a:pt x="116428" y="26467"/>
                  </a:lnTo>
                  <a:cubicBezTo>
                    <a:pt x="122884" y="20011"/>
                    <a:pt x="123380" y="9915"/>
                    <a:pt x="117554" y="4088"/>
                  </a:cubicBezTo>
                  <a:cubicBezTo>
                    <a:pt x="114816" y="1351"/>
                    <a:pt x="111161" y="1"/>
                    <a:pt x="1073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2" name="Google Shape;642;p84"/>
          <p:cNvSpPr/>
          <p:nvPr/>
        </p:nvSpPr>
        <p:spPr>
          <a:xfrm>
            <a:off x="2650221" y="3180237"/>
            <a:ext cx="373200" cy="31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85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The Eval Command</a:t>
            </a:r>
            <a:endParaRPr/>
          </a:p>
        </p:txBody>
      </p:sp>
      <p:sp>
        <p:nvSpPr>
          <p:cNvPr id="648" name="Google Shape;648;p85"/>
          <p:cNvSpPr txBox="1"/>
          <p:nvPr>
            <p:ph idx="2" type="title"/>
          </p:nvPr>
        </p:nvSpPr>
        <p:spPr>
          <a:xfrm>
            <a:off x="116575" y="599764"/>
            <a:ext cx="8694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 can use the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</a:rPr>
              <a:t>eval</a:t>
            </a:r>
            <a:r>
              <a:rPr lang="en" sz="1800"/>
              <a:t> command to create fields.</a:t>
            </a:r>
            <a:endParaRPr sz="1800"/>
          </a:p>
        </p:txBody>
      </p:sp>
      <p:sp>
        <p:nvSpPr>
          <p:cNvPr id="649" name="Google Shape;649;p85"/>
          <p:cNvSpPr/>
          <p:nvPr/>
        </p:nvSpPr>
        <p:spPr>
          <a:xfrm>
            <a:off x="466200" y="3744600"/>
            <a:ext cx="8220600" cy="805800"/>
          </a:xfrm>
          <a:prstGeom prst="roundRect">
            <a:avLst>
              <a:gd fmla="val 1036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137150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source="statsreport.csv" | eval BruteForce = if('EventCode'="4740",</a:t>
            </a:r>
            <a:endParaRPr b="0" i="0" sz="180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"Potential Brute Force", "Not Brute Force")</a:t>
            </a:r>
            <a:endParaRPr b="0" i="0" sz="180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650" name="Google Shape;650;p85"/>
          <p:cNvSpPr/>
          <p:nvPr/>
        </p:nvSpPr>
        <p:spPr>
          <a:xfrm>
            <a:off x="607675" y="30472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85"/>
          <p:cNvSpPr/>
          <p:nvPr/>
        </p:nvSpPr>
        <p:spPr>
          <a:xfrm>
            <a:off x="457200" y="30473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85"/>
          <p:cNvSpPr txBox="1"/>
          <p:nvPr/>
        </p:nvSpPr>
        <p:spPr>
          <a:xfrm>
            <a:off x="914400" y="309394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85"/>
          <p:cNvSpPr txBox="1"/>
          <p:nvPr>
            <p:ph idx="4294967295" type="body"/>
          </p:nvPr>
        </p:nvSpPr>
        <p:spPr>
          <a:xfrm>
            <a:off x="1043850" y="3174598"/>
            <a:ext cx="77724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 search field does exist, it overwrites the field with the new values.</a:t>
            </a:r>
            <a:endParaRPr/>
          </a:p>
        </p:txBody>
      </p:sp>
      <p:sp>
        <p:nvSpPr>
          <p:cNvPr id="654" name="Google Shape;654;p85"/>
          <p:cNvSpPr/>
          <p:nvPr/>
        </p:nvSpPr>
        <p:spPr>
          <a:xfrm>
            <a:off x="618125" y="23666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85"/>
          <p:cNvSpPr/>
          <p:nvPr/>
        </p:nvSpPr>
        <p:spPr>
          <a:xfrm>
            <a:off x="618125" y="1452101"/>
            <a:ext cx="8079000" cy="73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85"/>
          <p:cNvSpPr/>
          <p:nvPr/>
        </p:nvSpPr>
        <p:spPr>
          <a:xfrm>
            <a:off x="467650" y="157797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85"/>
          <p:cNvSpPr/>
          <p:nvPr/>
        </p:nvSpPr>
        <p:spPr>
          <a:xfrm>
            <a:off x="467650" y="23666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85"/>
          <p:cNvSpPr txBox="1"/>
          <p:nvPr/>
        </p:nvSpPr>
        <p:spPr>
          <a:xfrm>
            <a:off x="924850" y="1498750"/>
            <a:ext cx="7042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85"/>
          <p:cNvSpPr txBox="1"/>
          <p:nvPr/>
        </p:nvSpPr>
        <p:spPr>
          <a:xfrm>
            <a:off x="924850" y="241288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85"/>
          <p:cNvSpPr txBox="1"/>
          <p:nvPr>
            <p:ph idx="4294967295" type="body"/>
          </p:nvPr>
        </p:nvSpPr>
        <p:spPr>
          <a:xfrm>
            <a:off x="1054300" y="1579400"/>
            <a:ext cx="74460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eval</a:t>
            </a:r>
            <a:r>
              <a:rPr lang="en"/>
              <a:t> command calculates an expression (such as </a:t>
            </a: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if then</a:t>
            </a:r>
            <a:r>
              <a:rPr lang="en"/>
              <a:t>) </a:t>
            </a:r>
            <a:br>
              <a:rPr lang="en"/>
            </a:br>
            <a:r>
              <a:rPr lang="en"/>
              <a:t>and places the resulting values into a search field.</a:t>
            </a:r>
            <a:endParaRPr/>
          </a:p>
        </p:txBody>
      </p:sp>
      <p:sp>
        <p:nvSpPr>
          <p:cNvPr id="661" name="Google Shape;661;p85"/>
          <p:cNvSpPr txBox="1"/>
          <p:nvPr>
            <p:ph idx="4294967295" type="body"/>
          </p:nvPr>
        </p:nvSpPr>
        <p:spPr>
          <a:xfrm>
            <a:off x="1054300" y="2493535"/>
            <a:ext cx="77724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 search field doesn’t exist, it creates a new search field.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6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The Eval Command</a:t>
            </a:r>
            <a:endParaRPr/>
          </a:p>
        </p:txBody>
      </p:sp>
      <p:sp>
        <p:nvSpPr>
          <p:cNvPr id="667" name="Google Shape;667;p86"/>
          <p:cNvSpPr txBox="1"/>
          <p:nvPr>
            <p:ph idx="2" type="title"/>
          </p:nvPr>
        </p:nvSpPr>
        <p:spPr>
          <a:xfrm>
            <a:off x="116575" y="599764"/>
            <a:ext cx="8694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We can use the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eval</a:t>
            </a:r>
            <a:r>
              <a:rPr lang="en" sz="1800"/>
              <a:t> command expressions, such as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800"/>
              <a:t>, and place the resulting values into a search field.</a:t>
            </a:r>
            <a:endParaRPr sz="1800"/>
          </a:p>
        </p:txBody>
      </p:sp>
      <p:sp>
        <p:nvSpPr>
          <p:cNvPr id="668" name="Google Shape;668;p86"/>
          <p:cNvSpPr/>
          <p:nvPr/>
        </p:nvSpPr>
        <p:spPr>
          <a:xfrm>
            <a:off x="466200" y="2418550"/>
            <a:ext cx="8211600" cy="944100"/>
          </a:xfrm>
          <a:prstGeom prst="roundRect">
            <a:avLst>
              <a:gd fmla="val 1036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source="statsreport.csv"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| eval BruteForce = </a:t>
            </a:r>
            <a:b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if('EventCode'="4740", "Potential Brute Force", "Not Brute Force")</a:t>
            </a:r>
            <a:endParaRPr b="0" i="0" sz="1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69" name="Google Shape;669;p86"/>
          <p:cNvSpPr/>
          <p:nvPr/>
        </p:nvSpPr>
        <p:spPr>
          <a:xfrm flipH="1" rot="-5400000">
            <a:off x="648050" y="1913850"/>
            <a:ext cx="566700" cy="274500"/>
          </a:xfrm>
          <a:prstGeom prst="homePlate">
            <a:avLst>
              <a:gd fmla="val 4482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86"/>
          <p:cNvSpPr txBox="1"/>
          <p:nvPr>
            <p:ph idx="1" type="body"/>
          </p:nvPr>
        </p:nvSpPr>
        <p:spPr>
          <a:xfrm>
            <a:off x="1258350" y="1715050"/>
            <a:ext cx="48543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Searches through all the results </a:t>
            </a:r>
            <a:br>
              <a:rPr lang="en" sz="1800"/>
            </a:br>
            <a:r>
              <a:rPr lang="en" sz="1800"/>
              <a:t>from the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statsreport.csv</a:t>
            </a:r>
            <a:r>
              <a:rPr lang="en" sz="1800"/>
              <a:t> file.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7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The Eval Command</a:t>
            </a:r>
            <a:endParaRPr/>
          </a:p>
        </p:txBody>
      </p:sp>
      <p:sp>
        <p:nvSpPr>
          <p:cNvPr id="676" name="Google Shape;676;p87"/>
          <p:cNvSpPr txBox="1"/>
          <p:nvPr>
            <p:ph idx="2" type="title"/>
          </p:nvPr>
        </p:nvSpPr>
        <p:spPr>
          <a:xfrm>
            <a:off x="70200" y="588264"/>
            <a:ext cx="8694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We can use the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eval</a:t>
            </a:r>
            <a:r>
              <a:rPr lang="en" sz="1800"/>
              <a:t> command expressions, such as</a:t>
            </a:r>
            <a:r>
              <a:rPr lang="en" sz="1800">
                <a:solidFill>
                  <a:schemeClr val="lt1"/>
                </a:solidFill>
              </a:rPr>
              <a:t>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800"/>
              <a:t>, and place the resulting values into a search field.</a:t>
            </a:r>
            <a:endParaRPr sz="1800"/>
          </a:p>
        </p:txBody>
      </p:sp>
      <p:sp>
        <p:nvSpPr>
          <p:cNvPr id="677" name="Google Shape;677;p87"/>
          <p:cNvSpPr/>
          <p:nvPr/>
        </p:nvSpPr>
        <p:spPr>
          <a:xfrm>
            <a:off x="466200" y="2342350"/>
            <a:ext cx="8211600" cy="944100"/>
          </a:xfrm>
          <a:prstGeom prst="roundRect">
            <a:avLst>
              <a:gd fmla="val 1036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source="statsreport.csv" | </a:t>
            </a:r>
            <a:r>
              <a:rPr b="0" i="0" lang="en" sz="1800" u="none" cap="none" strike="noStrike">
                <a:solidFill>
                  <a:schemeClr val="dk2"/>
                </a:solidFill>
                <a:highlight>
                  <a:schemeClr val="accent4"/>
                </a:highlight>
                <a:latin typeface="Inconsolata"/>
                <a:ea typeface="Inconsolata"/>
                <a:cs typeface="Inconsolata"/>
                <a:sym typeface="Inconsolata"/>
              </a:rPr>
              <a:t>eval BruteForce =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b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if('EventCode'="4740", "Potential Brute Force", "Not Brute Force")</a:t>
            </a:r>
            <a:endParaRPr b="0" i="0" sz="1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78" name="Google Shape;678;p87"/>
          <p:cNvSpPr txBox="1"/>
          <p:nvPr>
            <p:ph idx="1" type="body"/>
          </p:nvPr>
        </p:nvSpPr>
        <p:spPr>
          <a:xfrm>
            <a:off x="4951600" y="1638850"/>
            <a:ext cx="365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Creates a new field </a:t>
            </a:r>
            <a:br>
              <a:rPr lang="en" sz="1800"/>
            </a:br>
            <a:r>
              <a:rPr lang="en" sz="1800"/>
              <a:t>called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BruteForce</a:t>
            </a:r>
            <a:r>
              <a:rPr lang="en" sz="1800"/>
              <a:t>.</a:t>
            </a:r>
            <a:endParaRPr sz="1800"/>
          </a:p>
        </p:txBody>
      </p:sp>
      <p:sp>
        <p:nvSpPr>
          <p:cNvPr id="679" name="Google Shape;679;p87"/>
          <p:cNvSpPr/>
          <p:nvPr/>
        </p:nvSpPr>
        <p:spPr>
          <a:xfrm flipH="1" rot="-5400000">
            <a:off x="4395150" y="1837650"/>
            <a:ext cx="566700" cy="274500"/>
          </a:xfrm>
          <a:prstGeom prst="homePlate">
            <a:avLst>
              <a:gd fmla="val 44822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88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The Eval Command</a:t>
            </a:r>
            <a:endParaRPr/>
          </a:p>
        </p:txBody>
      </p:sp>
      <p:sp>
        <p:nvSpPr>
          <p:cNvPr id="685" name="Google Shape;685;p88"/>
          <p:cNvSpPr txBox="1"/>
          <p:nvPr>
            <p:ph idx="2" type="title"/>
          </p:nvPr>
        </p:nvSpPr>
        <p:spPr>
          <a:xfrm>
            <a:off x="70200" y="588264"/>
            <a:ext cx="8694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We can use the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eval</a:t>
            </a:r>
            <a:r>
              <a:rPr lang="en" sz="1800"/>
              <a:t> command expressions, such as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800"/>
              <a:t>, and place the resulting values into a search field.</a:t>
            </a:r>
            <a:endParaRPr sz="1800"/>
          </a:p>
        </p:txBody>
      </p:sp>
      <p:sp>
        <p:nvSpPr>
          <p:cNvPr id="686" name="Google Shape;686;p88"/>
          <p:cNvSpPr/>
          <p:nvPr/>
        </p:nvSpPr>
        <p:spPr>
          <a:xfrm>
            <a:off x="466200" y="2189950"/>
            <a:ext cx="8211600" cy="944100"/>
          </a:xfrm>
          <a:prstGeom prst="roundRect">
            <a:avLst>
              <a:gd fmla="val 1036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source="statsreport.csv" | eval BruteForce = </a:t>
            </a:r>
            <a:b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b="0" i="0" lang="en" sz="1800" u="none" cap="none" strike="noStrike">
                <a:solidFill>
                  <a:schemeClr val="lt1"/>
                </a:solidFill>
                <a:highlight>
                  <a:schemeClr val="accent3"/>
                </a:highlight>
                <a:latin typeface="Inconsolata"/>
                <a:ea typeface="Inconsolata"/>
                <a:cs typeface="Inconsolata"/>
                <a:sym typeface="Inconsolata"/>
              </a:rPr>
              <a:t>if('EventCode'="4740"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, "Potential Brute Force", "Not Brute Force")</a:t>
            </a:r>
            <a:endParaRPr b="0" i="0" sz="1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87" name="Google Shape;687;p88"/>
          <p:cNvSpPr txBox="1"/>
          <p:nvPr>
            <p:ph idx="1" type="body"/>
          </p:nvPr>
        </p:nvSpPr>
        <p:spPr>
          <a:xfrm>
            <a:off x="1137150" y="3338125"/>
            <a:ext cx="34350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States the following expression: “If the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EventCode</a:t>
            </a:r>
            <a:r>
              <a:rPr lang="en" sz="1800"/>
              <a:t> field has </a:t>
            </a:r>
            <a:br>
              <a:rPr lang="en" sz="1800"/>
            </a:br>
            <a:r>
              <a:rPr lang="en" sz="1800"/>
              <a:t>a value of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4740</a:t>
            </a:r>
            <a:r>
              <a:rPr lang="en" sz="1800"/>
              <a:t>.”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688" name="Google Shape;688;p88"/>
          <p:cNvSpPr/>
          <p:nvPr/>
        </p:nvSpPr>
        <p:spPr>
          <a:xfrm rot="-5400000">
            <a:off x="564175" y="3484225"/>
            <a:ext cx="566700" cy="274500"/>
          </a:xfrm>
          <a:prstGeom prst="homePlate">
            <a:avLst>
              <a:gd fmla="val 44822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9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The Eval Command</a:t>
            </a:r>
            <a:endParaRPr/>
          </a:p>
        </p:txBody>
      </p:sp>
      <p:sp>
        <p:nvSpPr>
          <p:cNvPr id="694" name="Google Shape;694;p89"/>
          <p:cNvSpPr txBox="1"/>
          <p:nvPr>
            <p:ph idx="2" type="title"/>
          </p:nvPr>
        </p:nvSpPr>
        <p:spPr>
          <a:xfrm>
            <a:off x="76250" y="588264"/>
            <a:ext cx="8694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We can use the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eval</a:t>
            </a:r>
            <a:r>
              <a:rPr lang="en" sz="1800"/>
              <a:t> command expressions, such as</a:t>
            </a:r>
            <a:r>
              <a:rPr lang="en" sz="1800">
                <a:solidFill>
                  <a:schemeClr val="lt1"/>
                </a:solidFill>
              </a:rPr>
              <a:t>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800"/>
              <a:t>, and place the resulting values into a search field.</a:t>
            </a:r>
            <a:endParaRPr sz="1800"/>
          </a:p>
        </p:txBody>
      </p:sp>
      <p:sp>
        <p:nvSpPr>
          <p:cNvPr id="695" name="Google Shape;695;p89"/>
          <p:cNvSpPr/>
          <p:nvPr/>
        </p:nvSpPr>
        <p:spPr>
          <a:xfrm>
            <a:off x="466200" y="2189950"/>
            <a:ext cx="8211600" cy="944100"/>
          </a:xfrm>
          <a:prstGeom prst="roundRect">
            <a:avLst>
              <a:gd fmla="val 1036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source="statsreport.csv" | eval BruteForce = </a:t>
            </a:r>
            <a:b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if('EventCode'="4740", </a:t>
            </a:r>
            <a:r>
              <a:rPr b="0" i="0" lang="en" sz="18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Inconsolata"/>
                <a:ea typeface="Inconsolata"/>
                <a:cs typeface="Inconsolata"/>
                <a:sym typeface="Inconsolata"/>
              </a:rPr>
              <a:t>"Potential Brute Force"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, "Not Brute Force")</a:t>
            </a:r>
            <a:endParaRPr b="0" i="0" sz="1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96" name="Google Shape;696;p89"/>
          <p:cNvSpPr txBox="1"/>
          <p:nvPr>
            <p:ph idx="1" type="body"/>
          </p:nvPr>
        </p:nvSpPr>
        <p:spPr>
          <a:xfrm>
            <a:off x="3784350" y="3338125"/>
            <a:ext cx="2665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Continues the statement, </a:t>
            </a:r>
            <a:br>
              <a:rPr lang="en" sz="1800"/>
            </a:br>
            <a:r>
              <a:rPr lang="en" sz="1800"/>
              <a:t>“If true, name this value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Potential Brute Force</a:t>
            </a:r>
            <a:r>
              <a:rPr lang="en" sz="1800"/>
              <a:t>.”</a:t>
            </a:r>
            <a:endParaRPr sz="1800"/>
          </a:p>
        </p:txBody>
      </p:sp>
      <p:sp>
        <p:nvSpPr>
          <p:cNvPr id="697" name="Google Shape;697;p89"/>
          <p:cNvSpPr/>
          <p:nvPr/>
        </p:nvSpPr>
        <p:spPr>
          <a:xfrm rot="-5400000">
            <a:off x="3211375" y="3484225"/>
            <a:ext cx="566700" cy="274500"/>
          </a:xfrm>
          <a:prstGeom prst="homePlate">
            <a:avLst>
              <a:gd fmla="val 4482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0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The Eval Command</a:t>
            </a:r>
            <a:endParaRPr/>
          </a:p>
        </p:txBody>
      </p:sp>
      <p:sp>
        <p:nvSpPr>
          <p:cNvPr id="703" name="Google Shape;703;p90"/>
          <p:cNvSpPr txBox="1"/>
          <p:nvPr>
            <p:ph idx="2" type="title"/>
          </p:nvPr>
        </p:nvSpPr>
        <p:spPr>
          <a:xfrm>
            <a:off x="70200" y="588264"/>
            <a:ext cx="8694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We can use the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eval</a:t>
            </a:r>
            <a:r>
              <a:rPr lang="en" sz="1800"/>
              <a:t> command expressions, such as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800"/>
              <a:t>, and place the resulting values into a search field.</a:t>
            </a:r>
            <a:endParaRPr sz="1800"/>
          </a:p>
        </p:txBody>
      </p:sp>
      <p:sp>
        <p:nvSpPr>
          <p:cNvPr id="704" name="Google Shape;704;p90"/>
          <p:cNvSpPr/>
          <p:nvPr/>
        </p:nvSpPr>
        <p:spPr>
          <a:xfrm>
            <a:off x="466200" y="2189950"/>
            <a:ext cx="8211600" cy="944100"/>
          </a:xfrm>
          <a:prstGeom prst="roundRect">
            <a:avLst>
              <a:gd fmla="val 1036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source="statsreport.csv" | eval BruteForce = </a:t>
            </a:r>
            <a:b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if('EventCode'="4740", "Potential Brute Force", </a:t>
            </a:r>
            <a:r>
              <a:rPr b="0" i="0" lang="en" sz="1800" u="none" cap="none" strike="noStrike">
                <a:solidFill>
                  <a:schemeClr val="dk2"/>
                </a:solidFill>
                <a:highlight>
                  <a:schemeClr val="accent2"/>
                </a:highlight>
                <a:latin typeface="Inconsolata"/>
                <a:ea typeface="Inconsolata"/>
                <a:cs typeface="Inconsolata"/>
                <a:sym typeface="Inconsolata"/>
              </a:rPr>
              <a:t>"Not Brute Force"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0" i="0" sz="1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05" name="Google Shape;705;p90"/>
          <p:cNvSpPr txBox="1"/>
          <p:nvPr>
            <p:ph idx="1" type="body"/>
          </p:nvPr>
        </p:nvSpPr>
        <p:spPr>
          <a:xfrm>
            <a:off x="6153775" y="3338125"/>
            <a:ext cx="2946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Continues the statement, </a:t>
            </a:r>
            <a:br>
              <a:rPr lang="en" sz="1800"/>
            </a:br>
            <a:r>
              <a:rPr lang="en" sz="1800"/>
              <a:t>“If false, name this value </a:t>
            </a:r>
            <a:br>
              <a:rPr lang="en" sz="1800"/>
            </a:b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Not Brute Force</a:t>
            </a:r>
            <a:r>
              <a:rPr lang="en" sz="1800"/>
              <a:t>.”</a:t>
            </a:r>
            <a:endParaRPr sz="1800"/>
          </a:p>
        </p:txBody>
      </p:sp>
      <p:sp>
        <p:nvSpPr>
          <p:cNvPr id="706" name="Google Shape;706;p90"/>
          <p:cNvSpPr/>
          <p:nvPr/>
        </p:nvSpPr>
        <p:spPr>
          <a:xfrm rot="-5400000">
            <a:off x="5523000" y="3484225"/>
            <a:ext cx="566700" cy="274500"/>
          </a:xfrm>
          <a:prstGeom prst="homePlate">
            <a:avLst>
              <a:gd fmla="val 4482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91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The Eval Command</a:t>
            </a:r>
            <a:endParaRPr/>
          </a:p>
        </p:txBody>
      </p:sp>
      <p:sp>
        <p:nvSpPr>
          <p:cNvPr id="712" name="Google Shape;712;p91"/>
          <p:cNvSpPr txBox="1"/>
          <p:nvPr>
            <p:ph idx="2" type="title"/>
          </p:nvPr>
        </p:nvSpPr>
        <p:spPr>
          <a:xfrm>
            <a:off x="70200" y="588264"/>
            <a:ext cx="8694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We can use the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eval</a:t>
            </a:r>
            <a:r>
              <a:rPr lang="en" sz="1800"/>
              <a:t> command expressions, such as </a:t>
            </a:r>
            <a:r>
              <a:rPr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800"/>
              <a:t>, and place the resulting values into a search field.</a:t>
            </a:r>
            <a:endParaRPr sz="1800"/>
          </a:p>
        </p:txBody>
      </p:sp>
      <p:sp>
        <p:nvSpPr>
          <p:cNvPr id="713" name="Google Shape;713;p91"/>
          <p:cNvSpPr/>
          <p:nvPr/>
        </p:nvSpPr>
        <p:spPr>
          <a:xfrm>
            <a:off x="390000" y="2266150"/>
            <a:ext cx="8211600" cy="944100"/>
          </a:xfrm>
          <a:prstGeom prst="roundRect">
            <a:avLst>
              <a:gd fmla="val 1036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source="statsreport.csv"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| </a:t>
            </a:r>
            <a:r>
              <a:rPr b="0" i="0" lang="en" sz="1800" u="none" cap="none" strike="noStrike">
                <a:solidFill>
                  <a:schemeClr val="dk2"/>
                </a:solidFill>
                <a:highlight>
                  <a:schemeClr val="accent4"/>
                </a:highlight>
                <a:latin typeface="Inconsolata"/>
                <a:ea typeface="Inconsolata"/>
                <a:cs typeface="Inconsolata"/>
                <a:sym typeface="Inconsolata"/>
              </a:rPr>
              <a:t>eval BruteForce =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b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b="0" i="0" lang="en" sz="1800" u="none" cap="none" strike="noStrike">
                <a:solidFill>
                  <a:schemeClr val="lt1"/>
                </a:solidFill>
                <a:highlight>
                  <a:schemeClr val="accent3"/>
                </a:highlight>
                <a:latin typeface="Inconsolata"/>
                <a:ea typeface="Inconsolata"/>
                <a:cs typeface="Inconsolata"/>
                <a:sym typeface="Inconsolata"/>
              </a:rPr>
              <a:t>if('EventCode'="4740"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0" i="0" lang="en" sz="18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Inconsolata"/>
                <a:ea typeface="Inconsolata"/>
                <a:cs typeface="Inconsolata"/>
                <a:sym typeface="Inconsolata"/>
              </a:rPr>
              <a:t>"Potential Brute Force"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0" i="0" lang="en" sz="1800" u="none" cap="none" strike="noStrike">
                <a:solidFill>
                  <a:schemeClr val="dk2"/>
                </a:solidFill>
                <a:highlight>
                  <a:schemeClr val="accent2"/>
                </a:highlight>
                <a:latin typeface="Inconsolata"/>
                <a:ea typeface="Inconsolata"/>
                <a:cs typeface="Inconsolata"/>
                <a:sym typeface="Inconsolata"/>
              </a:rPr>
              <a:t>"Not Brute Force"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0" i="0" sz="1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14" name="Google Shape;714;p91"/>
          <p:cNvSpPr/>
          <p:nvPr/>
        </p:nvSpPr>
        <p:spPr>
          <a:xfrm flipH="1" rot="-5400000">
            <a:off x="571850" y="1761450"/>
            <a:ext cx="566700" cy="274500"/>
          </a:xfrm>
          <a:prstGeom prst="homePlate">
            <a:avLst>
              <a:gd fmla="val 4482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91"/>
          <p:cNvSpPr txBox="1"/>
          <p:nvPr>
            <p:ph idx="1" type="body"/>
          </p:nvPr>
        </p:nvSpPr>
        <p:spPr>
          <a:xfrm>
            <a:off x="1182150" y="1562650"/>
            <a:ext cx="29361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/>
              <a:t>Searches through all the results from the </a:t>
            </a:r>
            <a:r>
              <a:rPr lang="en" sz="1600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statsreport.csv</a:t>
            </a:r>
            <a:r>
              <a:rPr lang="en" sz="1600">
                <a:solidFill>
                  <a:schemeClr val="lt1"/>
                </a:solidFill>
              </a:rPr>
              <a:t> </a:t>
            </a:r>
            <a:r>
              <a:rPr lang="en" sz="1600"/>
              <a:t>file</a:t>
            </a:r>
            <a:r>
              <a:rPr lang="en" sz="1600"/>
              <a:t>.</a:t>
            </a:r>
            <a:endParaRPr sz="1600"/>
          </a:p>
        </p:txBody>
      </p:sp>
      <p:sp>
        <p:nvSpPr>
          <p:cNvPr id="716" name="Google Shape;716;p91"/>
          <p:cNvSpPr txBox="1"/>
          <p:nvPr>
            <p:ph idx="1" type="body"/>
          </p:nvPr>
        </p:nvSpPr>
        <p:spPr>
          <a:xfrm>
            <a:off x="4875400" y="1562650"/>
            <a:ext cx="365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/>
              <a:t>Creates a new field called </a:t>
            </a:r>
            <a:r>
              <a:rPr lang="en" sz="1600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BruteForce</a:t>
            </a:r>
            <a:r>
              <a:rPr lang="en" sz="1600">
                <a:solidFill>
                  <a:srgbClr val="000000"/>
                </a:solidFill>
              </a:rPr>
              <a:t>.</a:t>
            </a:r>
            <a:r>
              <a:rPr lang="en" sz="1600">
                <a:solidFill>
                  <a:schemeClr val="lt1"/>
                </a:solidFill>
              </a:rPr>
              <a:t>..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717" name="Google Shape;717;p91"/>
          <p:cNvSpPr/>
          <p:nvPr/>
        </p:nvSpPr>
        <p:spPr>
          <a:xfrm flipH="1" rot="-5400000">
            <a:off x="4318950" y="1761450"/>
            <a:ext cx="566700" cy="274500"/>
          </a:xfrm>
          <a:prstGeom prst="homePlate">
            <a:avLst>
              <a:gd fmla="val 44822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91"/>
          <p:cNvSpPr txBox="1"/>
          <p:nvPr>
            <p:ph idx="1" type="body"/>
          </p:nvPr>
        </p:nvSpPr>
        <p:spPr>
          <a:xfrm>
            <a:off x="816875" y="3449650"/>
            <a:ext cx="20472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/>
              <a:t>States the following expression: “If the </a:t>
            </a:r>
            <a:r>
              <a:rPr lang="en" sz="1600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EventCode</a:t>
            </a:r>
            <a:r>
              <a:rPr lang="en" sz="1600"/>
              <a:t> field has </a:t>
            </a:r>
            <a:br>
              <a:rPr lang="en" sz="1600"/>
            </a:br>
            <a:r>
              <a:rPr lang="en" sz="1600"/>
              <a:t>a value of </a:t>
            </a:r>
            <a:r>
              <a:rPr lang="en" sz="1600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4740</a:t>
            </a:r>
            <a:r>
              <a:rPr lang="en" sz="1600"/>
              <a:t>.”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</p:txBody>
      </p:sp>
      <p:sp>
        <p:nvSpPr>
          <p:cNvPr id="719" name="Google Shape;719;p91"/>
          <p:cNvSpPr/>
          <p:nvPr/>
        </p:nvSpPr>
        <p:spPr>
          <a:xfrm rot="-5400000">
            <a:off x="243900" y="3595750"/>
            <a:ext cx="566700" cy="274500"/>
          </a:xfrm>
          <a:prstGeom prst="homePlate">
            <a:avLst>
              <a:gd fmla="val 44822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91"/>
          <p:cNvSpPr txBox="1"/>
          <p:nvPr>
            <p:ph idx="1" type="body"/>
          </p:nvPr>
        </p:nvSpPr>
        <p:spPr>
          <a:xfrm>
            <a:off x="3699225" y="3449650"/>
            <a:ext cx="2472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/>
              <a:t>Continues the statement, </a:t>
            </a:r>
            <a:br>
              <a:rPr lang="en" sz="1600"/>
            </a:br>
            <a:r>
              <a:rPr lang="en" sz="1600"/>
              <a:t>“If true, name this value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Potential Brute Force</a:t>
            </a:r>
            <a:r>
              <a:rPr lang="en" sz="1600"/>
              <a:t>.”</a:t>
            </a:r>
            <a:endParaRPr sz="1600"/>
          </a:p>
        </p:txBody>
      </p:sp>
      <p:sp>
        <p:nvSpPr>
          <p:cNvPr id="721" name="Google Shape;721;p91"/>
          <p:cNvSpPr/>
          <p:nvPr/>
        </p:nvSpPr>
        <p:spPr>
          <a:xfrm rot="-5400000">
            <a:off x="3126250" y="3595750"/>
            <a:ext cx="566700" cy="274500"/>
          </a:xfrm>
          <a:prstGeom prst="homePlate">
            <a:avLst>
              <a:gd fmla="val 4482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91"/>
          <p:cNvSpPr txBox="1"/>
          <p:nvPr>
            <p:ph idx="1" type="body"/>
          </p:nvPr>
        </p:nvSpPr>
        <p:spPr>
          <a:xfrm>
            <a:off x="6674975" y="3449650"/>
            <a:ext cx="19659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/>
              <a:t>Continues the statement, </a:t>
            </a:r>
            <a:br>
              <a:rPr lang="en" sz="1600"/>
            </a:br>
            <a:r>
              <a:rPr lang="en" sz="1600"/>
              <a:t>“If false, name </a:t>
            </a:r>
            <a:br>
              <a:rPr lang="en" sz="1600"/>
            </a:br>
            <a:r>
              <a:rPr lang="en" sz="1600"/>
              <a:t>this value </a:t>
            </a:r>
            <a:br>
              <a:rPr lang="en" sz="1600"/>
            </a:br>
            <a:r>
              <a:rPr lang="en" sz="1600">
                <a:solidFill>
                  <a:schemeClr val="lt1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Not Brute Force</a:t>
            </a:r>
            <a:r>
              <a:rPr lang="en" sz="1600"/>
              <a:t>.”</a:t>
            </a:r>
            <a:endParaRPr sz="1600"/>
          </a:p>
        </p:txBody>
      </p:sp>
      <p:sp>
        <p:nvSpPr>
          <p:cNvPr id="723" name="Google Shape;723;p91"/>
          <p:cNvSpPr/>
          <p:nvPr/>
        </p:nvSpPr>
        <p:spPr>
          <a:xfrm rot="-5400000">
            <a:off x="6102000" y="3595750"/>
            <a:ext cx="566700" cy="274500"/>
          </a:xfrm>
          <a:prstGeom prst="homePlate">
            <a:avLst>
              <a:gd fmla="val 4482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2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729" name="Google Shape;729;p92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Splunk statistics</a:t>
            </a:r>
            <a:endParaRPr/>
          </a:p>
        </p:txBody>
      </p:sp>
      <p:sp>
        <p:nvSpPr>
          <p:cNvPr id="730" name="Google Shape;730;p92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this activity, you will create statistical reports to illustrate details about the DoS attack.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93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94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95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Splunk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Reports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6" name="Google Shape;74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9675" y="1658625"/>
            <a:ext cx="764651" cy="96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96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Reports</a:t>
            </a:r>
            <a:endParaRPr/>
          </a:p>
        </p:txBody>
      </p:sp>
      <p:sp>
        <p:nvSpPr>
          <p:cNvPr id="752" name="Google Shape;752;p96"/>
          <p:cNvSpPr txBox="1"/>
          <p:nvPr>
            <p:ph idx="2" type="title"/>
          </p:nvPr>
        </p:nvSpPr>
        <p:spPr>
          <a:xfrm>
            <a:off x="70200" y="512064"/>
            <a:ext cx="8694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Statistical reports may need to be run at specific or recurring times.</a:t>
            </a:r>
            <a:endParaRPr sz="1800"/>
          </a:p>
        </p:txBody>
      </p:sp>
      <p:sp>
        <p:nvSpPr>
          <p:cNvPr id="753" name="Google Shape;753;p96"/>
          <p:cNvSpPr txBox="1"/>
          <p:nvPr>
            <p:ph idx="1" type="body"/>
          </p:nvPr>
        </p:nvSpPr>
        <p:spPr>
          <a:xfrm>
            <a:off x="-12125" y="1400675"/>
            <a:ext cx="4278900" cy="14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800"/>
              <a:t>For example: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800"/>
              </a:spcAft>
              <a:buSzPts val="1400"/>
              <a:buNone/>
            </a:pPr>
            <a:r>
              <a:rPr lang="en" sz="1800"/>
              <a:t>If an organization is experiencing suspicious network attacks around 12am nightly, it would want to analyze its network traffic every night at that time.</a:t>
            </a:r>
            <a:endParaRPr sz="1800"/>
          </a:p>
        </p:txBody>
      </p:sp>
      <p:sp>
        <p:nvSpPr>
          <p:cNvPr id="754" name="Google Shape;754;p96"/>
          <p:cNvSpPr/>
          <p:nvPr/>
        </p:nvSpPr>
        <p:spPr>
          <a:xfrm flipH="1">
            <a:off x="456900" y="3732775"/>
            <a:ext cx="3200700" cy="953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82875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With Splunk, we can create </a:t>
            </a:r>
            <a:br>
              <a:rPr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schedule custom reports </a:t>
            </a:r>
            <a:br>
              <a:rPr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 automate this task.</a:t>
            </a:r>
            <a:endParaRPr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5" name="Google Shape;755;p96"/>
          <p:cNvPicPr preferRelativeResize="0"/>
          <p:nvPr/>
        </p:nvPicPr>
        <p:blipFill rotWithShape="1">
          <a:blip r:embed="rId3">
            <a:alphaModFix/>
          </a:blip>
          <a:srcRect b="17990" l="8046" r="14138" t="9932"/>
          <a:stretch/>
        </p:blipFill>
        <p:spPr>
          <a:xfrm>
            <a:off x="4409775" y="848750"/>
            <a:ext cx="4278825" cy="3963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7"/>
          <p:cNvSpPr/>
          <p:nvPr/>
        </p:nvSpPr>
        <p:spPr>
          <a:xfrm>
            <a:off x="607675" y="1446850"/>
            <a:ext cx="8079000" cy="686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97"/>
          <p:cNvSpPr txBox="1"/>
          <p:nvPr>
            <p:ph idx="4294967295" type="body"/>
          </p:nvPr>
        </p:nvSpPr>
        <p:spPr>
          <a:xfrm>
            <a:off x="1043850" y="1498725"/>
            <a:ext cx="74931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were notified that the most recent brute-force attacks happened around 12am.</a:t>
            </a:r>
            <a:endParaRPr/>
          </a:p>
        </p:txBody>
      </p:sp>
      <p:sp>
        <p:nvSpPr>
          <p:cNvPr id="762" name="Google Shape;762;p97"/>
          <p:cNvSpPr/>
          <p:nvPr/>
        </p:nvSpPr>
        <p:spPr>
          <a:xfrm>
            <a:off x="413925" y="15604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97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Splunk Report Demonstration</a:t>
            </a:r>
            <a:endParaRPr/>
          </a:p>
        </p:txBody>
      </p:sp>
      <p:sp>
        <p:nvSpPr>
          <p:cNvPr id="764" name="Google Shape;764;p97"/>
          <p:cNvSpPr txBox="1"/>
          <p:nvPr>
            <p:ph idx="2" type="title"/>
          </p:nvPr>
        </p:nvSpPr>
        <p:spPr>
          <a:xfrm>
            <a:off x="70200" y="512064"/>
            <a:ext cx="822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the following demonstration, we will create and schedule a report using the continued scenario of monitoring brute-force attacks:</a:t>
            </a:r>
            <a:endParaRPr sz="1800"/>
          </a:p>
        </p:txBody>
      </p:sp>
      <p:sp>
        <p:nvSpPr>
          <p:cNvPr id="765" name="Google Shape;765;p97"/>
          <p:cNvSpPr/>
          <p:nvPr/>
        </p:nvSpPr>
        <p:spPr>
          <a:xfrm>
            <a:off x="563563" y="2517475"/>
            <a:ext cx="8079000" cy="686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97"/>
          <p:cNvSpPr txBox="1"/>
          <p:nvPr>
            <p:ph idx="4294967295" type="body"/>
          </p:nvPr>
        </p:nvSpPr>
        <p:spPr>
          <a:xfrm>
            <a:off x="999750" y="2569350"/>
            <a:ext cx="74931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Therefore, we will run a report at 1am each night to view activity for the past several hours.</a:t>
            </a:r>
            <a:endParaRPr/>
          </a:p>
        </p:txBody>
      </p:sp>
      <p:sp>
        <p:nvSpPr>
          <p:cNvPr id="767" name="Google Shape;767;p97"/>
          <p:cNvSpPr/>
          <p:nvPr/>
        </p:nvSpPr>
        <p:spPr>
          <a:xfrm>
            <a:off x="369813" y="263102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97"/>
          <p:cNvSpPr/>
          <p:nvPr/>
        </p:nvSpPr>
        <p:spPr>
          <a:xfrm>
            <a:off x="595650" y="3563775"/>
            <a:ext cx="8079000" cy="686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97"/>
          <p:cNvSpPr txBox="1"/>
          <p:nvPr>
            <p:ph idx="4294967295" type="body"/>
          </p:nvPr>
        </p:nvSpPr>
        <p:spPr>
          <a:xfrm>
            <a:off x="1031825" y="3768050"/>
            <a:ext cx="77724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also automate an email linking to the report after it runs.</a:t>
            </a:r>
            <a:endParaRPr/>
          </a:p>
        </p:txBody>
      </p:sp>
      <p:sp>
        <p:nvSpPr>
          <p:cNvPr id="770" name="Google Shape;770;p97"/>
          <p:cNvSpPr/>
          <p:nvPr/>
        </p:nvSpPr>
        <p:spPr>
          <a:xfrm>
            <a:off x="401900" y="367732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98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and scheduling reports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9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781" name="Google Shape;781;p9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Splunk reports</a:t>
            </a:r>
            <a:endParaRPr/>
          </a:p>
        </p:txBody>
      </p:sp>
      <p:sp>
        <p:nvSpPr>
          <p:cNvPr id="782" name="Google Shape;782;p9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this activity, you will schedule a statistical report for OMP management so they can review the current state of the attacks </a:t>
            </a:r>
            <a:br>
              <a:rPr lang="en"/>
            </a:br>
            <a:r>
              <a:rPr lang="en"/>
              <a:t>against a server.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00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01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03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Splunk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Alerts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2" name="Google Shape;802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5888" y="1767875"/>
            <a:ext cx="1172191" cy="85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04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Alerts</a:t>
            </a:r>
            <a:endParaRPr/>
          </a:p>
        </p:txBody>
      </p:sp>
      <p:sp>
        <p:nvSpPr>
          <p:cNvPr id="808" name="Google Shape;808;p104"/>
          <p:cNvSpPr txBox="1"/>
          <p:nvPr>
            <p:ph idx="2" type="title"/>
          </p:nvPr>
        </p:nvSpPr>
        <p:spPr>
          <a:xfrm>
            <a:off x="70200" y="512075"/>
            <a:ext cx="48060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So far we have covered how </a:t>
            </a:r>
            <a:br>
              <a:rPr lang="en" sz="1800"/>
            </a:br>
            <a:r>
              <a:rPr lang="en" sz="1800"/>
              <a:t>Splunk statistics and reports </a:t>
            </a:r>
            <a:br>
              <a:rPr lang="en" sz="1800"/>
            </a:br>
            <a:r>
              <a:rPr lang="en" sz="1800"/>
              <a:t>help information security professionals identify potential security issues. </a:t>
            </a:r>
            <a:endParaRPr sz="1800"/>
          </a:p>
        </p:txBody>
      </p:sp>
      <p:sp>
        <p:nvSpPr>
          <p:cNvPr id="809" name="Google Shape;809;p104"/>
          <p:cNvSpPr txBox="1"/>
          <p:nvPr>
            <p:ph idx="1" type="body"/>
          </p:nvPr>
        </p:nvSpPr>
        <p:spPr>
          <a:xfrm>
            <a:off x="175" y="1856075"/>
            <a:ext cx="45168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-2057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This process can be further improved through the use of </a:t>
            </a:r>
            <a:r>
              <a:rPr b="1" lang="en" sz="1800">
                <a:solidFill>
                  <a:schemeClr val="lt1"/>
                </a:solidFill>
                <a:highlight>
                  <a:schemeClr val="dk2"/>
                </a:highlight>
              </a:rPr>
              <a:t>alerts</a:t>
            </a:r>
            <a:r>
              <a:rPr lang="en" sz="1800"/>
              <a:t>.</a:t>
            </a:r>
            <a:endParaRPr sz="1800"/>
          </a:p>
        </p:txBody>
      </p:sp>
      <p:pic>
        <p:nvPicPr>
          <p:cNvPr id="810" name="Google Shape;81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4250" y="197900"/>
            <a:ext cx="3675424" cy="449014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04"/>
          <p:cNvSpPr/>
          <p:nvPr/>
        </p:nvSpPr>
        <p:spPr>
          <a:xfrm>
            <a:off x="4572250" y="2676825"/>
            <a:ext cx="566700" cy="274500"/>
          </a:xfrm>
          <a:prstGeom prst="homePlate">
            <a:avLst>
              <a:gd fmla="val 4482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04"/>
          <p:cNvSpPr/>
          <p:nvPr/>
        </p:nvSpPr>
        <p:spPr>
          <a:xfrm>
            <a:off x="4572250" y="1901275"/>
            <a:ext cx="566700" cy="274500"/>
          </a:xfrm>
          <a:prstGeom prst="homePlate">
            <a:avLst>
              <a:gd fmla="val 4482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04"/>
          <p:cNvSpPr txBox="1"/>
          <p:nvPr>
            <p:ph idx="1" type="body"/>
          </p:nvPr>
        </p:nvSpPr>
        <p:spPr>
          <a:xfrm>
            <a:off x="175" y="2703275"/>
            <a:ext cx="49317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-2057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Splunk alerts are designed to automatically notify one or more individuals when a specific condition, known as a </a:t>
            </a:r>
            <a:r>
              <a:rPr b="1" lang="en" sz="1800">
                <a:solidFill>
                  <a:schemeClr val="lt1"/>
                </a:solidFill>
                <a:highlight>
                  <a:schemeClr val="dk2"/>
                </a:highlight>
              </a:rPr>
              <a:t>trigger condition</a:t>
            </a:r>
            <a:r>
              <a:rPr lang="en" sz="1800"/>
              <a:t>, is met.</a:t>
            </a:r>
            <a:endParaRPr sz="1800"/>
          </a:p>
        </p:txBody>
      </p:sp>
      <p:sp>
        <p:nvSpPr>
          <p:cNvPr id="814" name="Google Shape;814;p104"/>
          <p:cNvSpPr/>
          <p:nvPr/>
        </p:nvSpPr>
        <p:spPr>
          <a:xfrm>
            <a:off x="5194175" y="1899875"/>
            <a:ext cx="3675300" cy="7257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104"/>
          <p:cNvSpPr/>
          <p:nvPr/>
        </p:nvSpPr>
        <p:spPr>
          <a:xfrm>
            <a:off x="5194175" y="2717050"/>
            <a:ext cx="3675300" cy="16338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04"/>
          <p:cNvSpPr txBox="1"/>
          <p:nvPr>
            <p:ph idx="1" type="body"/>
          </p:nvPr>
        </p:nvSpPr>
        <p:spPr>
          <a:xfrm>
            <a:off x="175" y="4135325"/>
            <a:ext cx="53115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-2057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Splunk alerts are </a:t>
            </a:r>
            <a:r>
              <a:rPr b="1" lang="en" sz="1800">
                <a:solidFill>
                  <a:schemeClr val="lt1"/>
                </a:solidFill>
                <a:highlight>
                  <a:schemeClr val="dk2"/>
                </a:highlight>
              </a:rPr>
              <a:t>automatic</a:t>
            </a:r>
            <a:r>
              <a:rPr lang="en" sz="1800"/>
              <a:t>. Once </a:t>
            </a:r>
            <a:br>
              <a:rPr lang="en" sz="1800"/>
            </a:br>
            <a:r>
              <a:rPr lang="en" sz="1800"/>
              <a:t>they are created, Splunk’s software checks the trigger condition.</a:t>
            </a:r>
            <a:endParaRPr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5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Alerts</a:t>
            </a:r>
            <a:endParaRPr/>
          </a:p>
        </p:txBody>
      </p:sp>
      <p:sp>
        <p:nvSpPr>
          <p:cNvPr id="822" name="Google Shape;822;p105"/>
          <p:cNvSpPr txBox="1"/>
          <p:nvPr>
            <p:ph idx="2" type="title"/>
          </p:nvPr>
        </p:nvSpPr>
        <p:spPr>
          <a:xfrm>
            <a:off x="70200" y="588264"/>
            <a:ext cx="79977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A Splunk user selects a trigger condition based on the security event they are trying to monitor. Trigger conditions contain the following:</a:t>
            </a:r>
            <a:endParaRPr sz="1800"/>
          </a:p>
        </p:txBody>
      </p:sp>
      <p:sp>
        <p:nvSpPr>
          <p:cNvPr id="823" name="Google Shape;823;p105"/>
          <p:cNvSpPr/>
          <p:nvPr/>
        </p:nvSpPr>
        <p:spPr>
          <a:xfrm flipH="1">
            <a:off x="724275" y="20901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105"/>
          <p:cNvSpPr txBox="1"/>
          <p:nvPr/>
        </p:nvSpPr>
        <p:spPr>
          <a:xfrm>
            <a:off x="648075" y="2090225"/>
            <a:ext cx="25524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Search/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eport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esults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ndicate which criteria to check.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25" name="Google Shape;825;p105"/>
          <p:cNvGrpSpPr/>
          <p:nvPr/>
        </p:nvGrpSpPr>
        <p:grpSpPr>
          <a:xfrm>
            <a:off x="457181" y="1497501"/>
            <a:ext cx="533372" cy="533480"/>
            <a:chOff x="457200" y="1378813"/>
            <a:chExt cx="695400" cy="695450"/>
          </a:xfrm>
        </p:grpSpPr>
        <p:sp>
          <p:nvSpPr>
            <p:cNvPr id="826" name="Google Shape;826;p10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7" name="Google Shape;827;p10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28" name="Google Shape;828;p105"/>
          <p:cNvGrpSpPr/>
          <p:nvPr/>
        </p:nvGrpSpPr>
        <p:grpSpPr>
          <a:xfrm>
            <a:off x="3228956" y="1497501"/>
            <a:ext cx="533372" cy="533480"/>
            <a:chOff x="457200" y="1378813"/>
            <a:chExt cx="695400" cy="695450"/>
          </a:xfrm>
        </p:grpSpPr>
        <p:sp>
          <p:nvSpPr>
            <p:cNvPr id="829" name="Google Shape;829;p10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0" name="Google Shape;830;p10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31" name="Google Shape;831;p105"/>
          <p:cNvSpPr/>
          <p:nvPr/>
        </p:nvSpPr>
        <p:spPr>
          <a:xfrm flipH="1">
            <a:off x="3496050" y="20901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05"/>
          <p:cNvSpPr txBox="1"/>
          <p:nvPr/>
        </p:nvSpPr>
        <p:spPr>
          <a:xfrm>
            <a:off x="3419850" y="2090226"/>
            <a:ext cx="23715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Time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arameters</a:t>
            </a:r>
            <a:r>
              <a:rPr i="0" lang="en" sz="16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ndicate the time period to check.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33" name="Google Shape;833;p105"/>
          <p:cNvGrpSpPr/>
          <p:nvPr/>
        </p:nvGrpSpPr>
        <p:grpSpPr>
          <a:xfrm>
            <a:off x="6134081" y="1498251"/>
            <a:ext cx="533372" cy="533480"/>
            <a:chOff x="457200" y="1378813"/>
            <a:chExt cx="695400" cy="695450"/>
          </a:xfrm>
        </p:grpSpPr>
        <p:sp>
          <p:nvSpPr>
            <p:cNvPr id="834" name="Google Shape;834;p10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5" name="Google Shape;835;p10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36" name="Google Shape;836;p105"/>
          <p:cNvSpPr/>
          <p:nvPr/>
        </p:nvSpPr>
        <p:spPr>
          <a:xfrm flipH="1">
            <a:off x="6401175" y="20909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105"/>
          <p:cNvSpPr txBox="1"/>
          <p:nvPr/>
        </p:nvSpPr>
        <p:spPr>
          <a:xfrm>
            <a:off x="6267825" y="2090975"/>
            <a:ext cx="27999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Schedule</a:t>
            </a:r>
            <a:r>
              <a:rPr i="0" lang="en" sz="16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etermines </a:t>
            </a:r>
            <a:b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frequency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with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which these criteria are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hecked.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105"/>
          <p:cNvSpPr/>
          <p:nvPr/>
        </p:nvSpPr>
        <p:spPr>
          <a:xfrm>
            <a:off x="929475" y="3532700"/>
            <a:ext cx="2012100" cy="103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18287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example:</a:t>
            </a:r>
            <a:endParaRPr b="1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300 logins have </a:t>
            </a:r>
            <a:b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been attempted.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105"/>
          <p:cNvSpPr/>
          <p:nvPr/>
        </p:nvSpPr>
        <p:spPr>
          <a:xfrm>
            <a:off x="3740731" y="3532700"/>
            <a:ext cx="2012100" cy="103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18287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 example:</a:t>
            </a:r>
            <a:endParaRPr b="1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Within last </a:t>
            </a:r>
            <a:br>
              <a:rPr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24 hours.</a:t>
            </a:r>
            <a:endParaRPr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105"/>
          <p:cNvSpPr/>
          <p:nvPr/>
        </p:nvSpPr>
        <p:spPr>
          <a:xfrm>
            <a:off x="6674653" y="3532700"/>
            <a:ext cx="2012100" cy="103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18287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example:</a:t>
            </a:r>
            <a:endParaRPr b="1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Every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night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 12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06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Alerts</a:t>
            </a:r>
            <a:endParaRPr/>
          </a:p>
        </p:txBody>
      </p:sp>
      <p:sp>
        <p:nvSpPr>
          <p:cNvPr id="846" name="Google Shape;846;p106"/>
          <p:cNvSpPr txBox="1"/>
          <p:nvPr>
            <p:ph idx="2" type="title"/>
          </p:nvPr>
        </p:nvSpPr>
        <p:spPr>
          <a:xfrm>
            <a:off x="55225" y="627675"/>
            <a:ext cx="84243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When the condition is met, a 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trigger action</a:t>
            </a:r>
            <a:r>
              <a:rPr lang="en" sz="1800"/>
              <a:t> is executed to alert the Splunk user.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For example:</a:t>
            </a:r>
            <a:endParaRPr sz="1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47" name="Google Shape;847;p106"/>
          <p:cNvSpPr/>
          <p:nvPr/>
        </p:nvSpPr>
        <p:spPr>
          <a:xfrm>
            <a:off x="466375" y="1465438"/>
            <a:ext cx="8211600" cy="1052100"/>
          </a:xfrm>
          <a:prstGeom prst="roundRect">
            <a:avLst>
              <a:gd fmla="val 1533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182875" lIns="27430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"Send an email to 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soc_manager@acme.com</a:t>
            </a:r>
            <a:r>
              <a:rPr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"</a:t>
            </a:r>
            <a:endParaRPr b="0" i="0" sz="1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48" name="Google Shape;848;p106"/>
          <p:cNvSpPr txBox="1"/>
          <p:nvPr>
            <p:ph idx="1" type="body"/>
          </p:nvPr>
        </p:nvSpPr>
        <p:spPr>
          <a:xfrm>
            <a:off x="175" y="2942225"/>
            <a:ext cx="9144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b="1" lang="en" sz="1800"/>
              <a:t>In summary, the complete alert would be:</a:t>
            </a:r>
            <a:endParaRPr b="1" sz="1800"/>
          </a:p>
        </p:txBody>
      </p:sp>
      <p:sp>
        <p:nvSpPr>
          <p:cNvPr id="849" name="Google Shape;849;p106"/>
          <p:cNvSpPr/>
          <p:nvPr/>
        </p:nvSpPr>
        <p:spPr>
          <a:xfrm>
            <a:off x="466375" y="3385588"/>
            <a:ext cx="8211600" cy="1052100"/>
          </a:xfrm>
          <a:prstGeom prst="roundRect">
            <a:avLst>
              <a:gd fmla="val 1533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137150" lIns="2743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Every day at 12</a:t>
            </a: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m, check if at least 300 login attempts have occurred within the last 24 hours. If this condition is met, </a:t>
            </a:r>
            <a:b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send an email to 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soc_manager@acme.com</a:t>
            </a:r>
            <a:r>
              <a:rPr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endParaRPr i="0" sz="1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0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Baselining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855" name="Google Shape;855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9525" y="1478450"/>
            <a:ext cx="804950" cy="114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08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Designing Strong Alerts</a:t>
            </a:r>
            <a:endParaRPr/>
          </a:p>
        </p:txBody>
      </p:sp>
      <p:sp>
        <p:nvSpPr>
          <p:cNvPr id="861" name="Google Shape;861;p108"/>
          <p:cNvSpPr txBox="1"/>
          <p:nvPr>
            <p:ph idx="2" type="title"/>
          </p:nvPr>
        </p:nvSpPr>
        <p:spPr>
          <a:xfrm>
            <a:off x="70200" y="512064"/>
            <a:ext cx="82926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The key to</a:t>
            </a:r>
            <a:r>
              <a:rPr lang="en" sz="1800"/>
              <a:t> designing strong alerts is to avoid 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false positives</a:t>
            </a:r>
            <a:r>
              <a:rPr lang="en" sz="1800"/>
              <a:t> </a:t>
            </a:r>
            <a:br>
              <a:rPr lang="en" sz="1800"/>
            </a:br>
            <a:r>
              <a:rPr lang="en" sz="1800"/>
              <a:t>and 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false negatives</a:t>
            </a:r>
            <a:r>
              <a:rPr lang="en" sz="1800"/>
              <a:t>.</a:t>
            </a:r>
            <a:endParaRPr sz="1800"/>
          </a:p>
        </p:txBody>
      </p:sp>
      <p:graphicFrame>
        <p:nvGraphicFramePr>
          <p:cNvPr id="862" name="Google Shape;862;p108"/>
          <p:cNvGraphicFramePr/>
          <p:nvPr/>
        </p:nvGraphicFramePr>
        <p:xfrm>
          <a:off x="457200" y="1658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{8BEE5F12-8908-41B0-8E85-2836280A9196}</a:tableStyleId>
              </a:tblPr>
              <a:tblGrid>
                <a:gridCol w="1840125"/>
                <a:gridCol w="2938475"/>
                <a:gridCol w="3371975"/>
              </a:tblGrid>
              <a:tr h="35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False </a:t>
                      </a:r>
                      <a:r>
                        <a:rPr lang="en" sz="16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</a:t>
                      </a: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ositive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False </a:t>
                      </a:r>
                      <a:r>
                        <a:rPr lang="en" sz="16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N</a:t>
                      </a: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egative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295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What </a:t>
                      </a:r>
                      <a:r>
                        <a:rPr lang="en" sz="1600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O</a:t>
                      </a: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ccurred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82875" marB="182875" marR="18287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Regular</a:t>
                      </a: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login activity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Brute-force attack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3A0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Alerts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82875" marB="182875" marR="18287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3A0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Outcome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37150" marB="137150" marR="18287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Alerts went off, but </a:t>
                      </a:r>
                      <a:b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security professionals identified a non-issue. 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7150" marB="137150" marR="18287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 alerts went off, a brute-force attack occurred, and several accounts were breached. 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7150" marB="137150" marR="0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3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09"/>
          <p:cNvSpPr/>
          <p:nvPr/>
        </p:nvSpPr>
        <p:spPr>
          <a:xfrm>
            <a:off x="607675" y="1446850"/>
            <a:ext cx="8079000" cy="686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109"/>
          <p:cNvSpPr txBox="1"/>
          <p:nvPr>
            <p:ph idx="4294967295" type="body"/>
          </p:nvPr>
        </p:nvSpPr>
        <p:spPr>
          <a:xfrm>
            <a:off x="1043850" y="1498725"/>
            <a:ext cx="77724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example, an alert is created to detect suspicious login activity on our Linux server.</a:t>
            </a:r>
            <a:endParaRPr/>
          </a:p>
        </p:txBody>
      </p:sp>
      <p:sp>
        <p:nvSpPr>
          <p:cNvPr id="869" name="Google Shape;869;p109"/>
          <p:cNvSpPr/>
          <p:nvPr/>
        </p:nvSpPr>
        <p:spPr>
          <a:xfrm>
            <a:off x="413925" y="15604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109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False Positives</a:t>
            </a:r>
            <a:endParaRPr/>
          </a:p>
        </p:txBody>
      </p:sp>
      <p:sp>
        <p:nvSpPr>
          <p:cNvPr id="871" name="Google Shape;871;p109"/>
          <p:cNvSpPr txBox="1"/>
          <p:nvPr>
            <p:ph idx="2" type="title"/>
          </p:nvPr>
        </p:nvSpPr>
        <p:spPr>
          <a:xfrm>
            <a:off x="70200" y="512064"/>
            <a:ext cx="822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False positives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800"/>
              <a:t>occur when conditions are met and an alert is triggered, </a:t>
            </a:r>
            <a:br>
              <a:rPr lang="en" sz="1800"/>
            </a:br>
            <a:r>
              <a:rPr lang="en" sz="1800"/>
              <a:t>but the security situation did not actually occur.</a:t>
            </a:r>
            <a:endParaRPr sz="1800"/>
          </a:p>
        </p:txBody>
      </p:sp>
      <p:sp>
        <p:nvSpPr>
          <p:cNvPr id="872" name="Google Shape;872;p109"/>
          <p:cNvSpPr/>
          <p:nvPr/>
        </p:nvSpPr>
        <p:spPr>
          <a:xfrm>
            <a:off x="586500" y="2276713"/>
            <a:ext cx="8079000" cy="686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09"/>
          <p:cNvSpPr txBox="1"/>
          <p:nvPr>
            <p:ph idx="4294967295" type="body"/>
          </p:nvPr>
        </p:nvSpPr>
        <p:spPr>
          <a:xfrm>
            <a:off x="1022675" y="2328600"/>
            <a:ext cx="75471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chosen criteria checks activity every hour and creates an alert when 10 login attempts occur within an hour.</a:t>
            </a:r>
            <a:endParaRPr/>
          </a:p>
        </p:txBody>
      </p:sp>
      <p:sp>
        <p:nvSpPr>
          <p:cNvPr id="874" name="Google Shape;874;p109"/>
          <p:cNvSpPr/>
          <p:nvPr/>
        </p:nvSpPr>
        <p:spPr>
          <a:xfrm>
            <a:off x="392750" y="239026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109"/>
          <p:cNvSpPr/>
          <p:nvPr/>
        </p:nvSpPr>
        <p:spPr>
          <a:xfrm>
            <a:off x="586513" y="3126438"/>
            <a:ext cx="8079000" cy="686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09"/>
          <p:cNvSpPr txBox="1"/>
          <p:nvPr>
            <p:ph idx="4294967295" type="body"/>
          </p:nvPr>
        </p:nvSpPr>
        <p:spPr>
          <a:xfrm>
            <a:off x="1022688" y="3178313"/>
            <a:ext cx="77724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Several alerts were triggered per these conditions, but further research determined that the alerts were set off by normal user activity.</a:t>
            </a:r>
            <a:endParaRPr/>
          </a:p>
        </p:txBody>
      </p:sp>
      <p:sp>
        <p:nvSpPr>
          <p:cNvPr id="877" name="Google Shape;877;p109"/>
          <p:cNvSpPr/>
          <p:nvPr/>
        </p:nvSpPr>
        <p:spPr>
          <a:xfrm>
            <a:off x="392763" y="3239990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09"/>
          <p:cNvSpPr/>
          <p:nvPr/>
        </p:nvSpPr>
        <p:spPr>
          <a:xfrm>
            <a:off x="564625" y="3976175"/>
            <a:ext cx="8079000" cy="686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09"/>
          <p:cNvSpPr txBox="1"/>
          <p:nvPr>
            <p:ph idx="4294967295" type="body"/>
          </p:nvPr>
        </p:nvSpPr>
        <p:spPr>
          <a:xfrm>
            <a:off x="1022700" y="4136375"/>
            <a:ext cx="77724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SOC realizes that 10 login attempts within an hour is not suspicious.</a:t>
            </a:r>
            <a:endParaRPr/>
          </a:p>
        </p:txBody>
      </p:sp>
      <p:sp>
        <p:nvSpPr>
          <p:cNvPr id="880" name="Google Shape;880;p109"/>
          <p:cNvSpPr/>
          <p:nvPr/>
        </p:nvSpPr>
        <p:spPr>
          <a:xfrm>
            <a:off x="370875" y="408972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10"/>
          <p:cNvSpPr/>
          <p:nvPr/>
        </p:nvSpPr>
        <p:spPr>
          <a:xfrm>
            <a:off x="607675" y="1446850"/>
            <a:ext cx="8079000" cy="686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10"/>
          <p:cNvSpPr txBox="1"/>
          <p:nvPr>
            <p:ph idx="4294967295" type="body"/>
          </p:nvPr>
        </p:nvSpPr>
        <p:spPr>
          <a:xfrm>
            <a:off x="1043850" y="1498725"/>
            <a:ext cx="74742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example, an alert is created to detect suspicious login activity on our Linux server.</a:t>
            </a:r>
            <a:endParaRPr/>
          </a:p>
        </p:txBody>
      </p:sp>
      <p:sp>
        <p:nvSpPr>
          <p:cNvPr id="887" name="Google Shape;887;p110"/>
          <p:cNvSpPr/>
          <p:nvPr/>
        </p:nvSpPr>
        <p:spPr>
          <a:xfrm>
            <a:off x="413925" y="15604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10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False Negatives</a:t>
            </a:r>
            <a:endParaRPr/>
          </a:p>
        </p:txBody>
      </p:sp>
      <p:sp>
        <p:nvSpPr>
          <p:cNvPr id="889" name="Google Shape;889;p110"/>
          <p:cNvSpPr txBox="1"/>
          <p:nvPr>
            <p:ph idx="2" type="title"/>
          </p:nvPr>
        </p:nvSpPr>
        <p:spPr>
          <a:xfrm>
            <a:off x="70200" y="512064"/>
            <a:ext cx="822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False negatives</a:t>
            </a:r>
            <a:r>
              <a:rPr lang="en" sz="1800"/>
              <a:t> occur when the condition is met and an alert is not triggered, meaning the security situation occurred undetected.</a:t>
            </a:r>
            <a:endParaRPr sz="1800"/>
          </a:p>
        </p:txBody>
      </p:sp>
      <p:sp>
        <p:nvSpPr>
          <p:cNvPr id="890" name="Google Shape;890;p110"/>
          <p:cNvSpPr/>
          <p:nvPr/>
        </p:nvSpPr>
        <p:spPr>
          <a:xfrm>
            <a:off x="563563" y="2517475"/>
            <a:ext cx="8079000" cy="686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10"/>
          <p:cNvSpPr txBox="1"/>
          <p:nvPr>
            <p:ph idx="4294967295" type="body"/>
          </p:nvPr>
        </p:nvSpPr>
        <p:spPr>
          <a:xfrm>
            <a:off x="999738" y="2569350"/>
            <a:ext cx="77724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chosen criteria checks activity every hour and creates an alert when 500 login attempts occur within an hour.</a:t>
            </a:r>
            <a:endParaRPr/>
          </a:p>
        </p:txBody>
      </p:sp>
      <p:sp>
        <p:nvSpPr>
          <p:cNvPr id="892" name="Google Shape;892;p110"/>
          <p:cNvSpPr/>
          <p:nvPr/>
        </p:nvSpPr>
        <p:spPr>
          <a:xfrm>
            <a:off x="369813" y="263102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10"/>
          <p:cNvSpPr/>
          <p:nvPr/>
        </p:nvSpPr>
        <p:spPr>
          <a:xfrm>
            <a:off x="564588" y="3588100"/>
            <a:ext cx="8079000" cy="686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110"/>
          <p:cNvSpPr txBox="1"/>
          <p:nvPr>
            <p:ph idx="4294967295" type="body"/>
          </p:nvPr>
        </p:nvSpPr>
        <p:spPr>
          <a:xfrm>
            <a:off x="1000763" y="3639975"/>
            <a:ext cx="7772400" cy="36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Suspicious login activity did occur on the server when an attacker tried to brute force the Linux server with 400 attempts, but no alerts were triggered.</a:t>
            </a:r>
            <a:endParaRPr/>
          </a:p>
        </p:txBody>
      </p:sp>
      <p:sp>
        <p:nvSpPr>
          <p:cNvPr id="895" name="Google Shape;895;p110"/>
          <p:cNvSpPr/>
          <p:nvPr/>
        </p:nvSpPr>
        <p:spPr>
          <a:xfrm>
            <a:off x="370838" y="370165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11"/>
          <p:cNvSpPr txBox="1"/>
          <p:nvPr>
            <p:ph type="title"/>
          </p:nvPr>
        </p:nvSpPr>
        <p:spPr>
          <a:xfrm>
            <a:off x="3145525" y="1373475"/>
            <a:ext cx="5174400" cy="23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b="0" lang="en" sz="3400">
                <a:latin typeface="Roboto"/>
                <a:ea typeface="Roboto"/>
                <a:cs typeface="Roboto"/>
                <a:sym typeface="Roboto"/>
              </a:rPr>
              <a:t>Security professionals can avoid these false results by using </a:t>
            </a:r>
            <a:r>
              <a:rPr lang="en" sz="3400">
                <a:latin typeface="Roboto"/>
                <a:ea typeface="Roboto"/>
                <a:cs typeface="Roboto"/>
                <a:sym typeface="Roboto"/>
              </a:rPr>
              <a:t>baselines</a:t>
            </a:r>
            <a:r>
              <a:rPr b="0" lang="en" sz="3400"/>
              <a:t> </a:t>
            </a:r>
            <a:r>
              <a:rPr b="0" lang="en" sz="3400">
                <a:latin typeface="Roboto"/>
                <a:ea typeface="Roboto"/>
                <a:cs typeface="Roboto"/>
                <a:sym typeface="Roboto"/>
              </a:rPr>
              <a:t>to design their alerts.</a:t>
            </a:r>
            <a:endParaRPr b="0" sz="3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12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400"/>
              <a:buNone/>
            </a:pPr>
            <a:r>
              <a:rPr b="0" lang="en" sz="3600">
                <a:solidFill>
                  <a:schemeClr val="lt1"/>
                </a:solidFill>
                <a:highlight>
                  <a:schemeClr val="dk2"/>
                </a:highlight>
                <a:latin typeface="Roboto Medium"/>
                <a:ea typeface="Roboto Medium"/>
                <a:cs typeface="Roboto Medium"/>
                <a:sym typeface="Roboto Medium"/>
              </a:rPr>
              <a:t>Baselining</a:t>
            </a:r>
            <a:r>
              <a:rPr b="0" lang="en" sz="3600">
                <a:solidFill>
                  <a:schemeClr val="dk1"/>
                </a:solidFill>
              </a:rPr>
              <a:t> </a:t>
            </a:r>
            <a:r>
              <a:rPr lang="en" sz="3600">
                <a:latin typeface="Roboto"/>
                <a:ea typeface="Roboto"/>
                <a:cs typeface="Roboto"/>
                <a:sym typeface="Roboto"/>
              </a:rPr>
              <a:t>is a method of looking at historical data to determine what should be considered normal activity.</a:t>
            </a:r>
            <a:endParaRPr sz="3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13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aselining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14"/>
          <p:cNvSpPr/>
          <p:nvPr/>
        </p:nvSpPr>
        <p:spPr>
          <a:xfrm>
            <a:off x="76200" y="-76200"/>
            <a:ext cx="9144000" cy="301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114"/>
          <p:cNvSpPr/>
          <p:nvPr/>
        </p:nvSpPr>
        <p:spPr>
          <a:xfrm>
            <a:off x="0" y="2966400"/>
            <a:ext cx="9144000" cy="217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114"/>
          <p:cNvSpPr/>
          <p:nvPr/>
        </p:nvSpPr>
        <p:spPr>
          <a:xfrm rot="8336907">
            <a:off x="2241121" y="2927809"/>
            <a:ext cx="3080681" cy="1107194"/>
          </a:xfrm>
          <a:prstGeom prst="rightArrow">
            <a:avLst>
              <a:gd fmla="val 31740" name="adj1"/>
              <a:gd fmla="val 59957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14"/>
          <p:cNvSpPr txBox="1"/>
          <p:nvPr/>
        </p:nvSpPr>
        <p:spPr>
          <a:xfrm>
            <a:off x="1006800" y="1775475"/>
            <a:ext cx="3565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Setting the threshold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too </a:t>
            </a:r>
            <a:br>
              <a:rPr b="0" i="0" lang="en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high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risks missing an alert.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9" name="Google Shape;919;p114"/>
          <p:cNvSpPr txBox="1"/>
          <p:nvPr/>
        </p:nvSpPr>
        <p:spPr>
          <a:xfrm>
            <a:off x="4252300" y="3569475"/>
            <a:ext cx="3565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Setting the threshold </a:t>
            </a:r>
            <a:r>
              <a:rPr i="0" lang="en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too low </a:t>
            </a:r>
            <a:endParaRPr i="0" sz="18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creates too many false positives.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920" name="Google Shape;920;p114"/>
          <p:cNvCxnSpPr/>
          <p:nvPr/>
        </p:nvCxnSpPr>
        <p:spPr>
          <a:xfrm>
            <a:off x="71400" y="2966400"/>
            <a:ext cx="9001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21" name="Google Shape;921;p114"/>
          <p:cNvSpPr/>
          <p:nvPr/>
        </p:nvSpPr>
        <p:spPr>
          <a:xfrm rot="-2463217">
            <a:off x="2507965" y="2082157"/>
            <a:ext cx="3140850" cy="1112951"/>
          </a:xfrm>
          <a:prstGeom prst="rightArrow">
            <a:avLst>
              <a:gd fmla="val 32267" name="adj1"/>
              <a:gd fmla="val 6523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14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Setting a Baseline Threshold</a:t>
            </a:r>
            <a:endParaRPr/>
          </a:p>
        </p:txBody>
      </p:sp>
      <p:sp>
        <p:nvSpPr>
          <p:cNvPr id="923" name="Google Shape;923;p114"/>
          <p:cNvSpPr txBox="1"/>
          <p:nvPr>
            <p:ph idx="2" type="title"/>
          </p:nvPr>
        </p:nvSpPr>
        <p:spPr>
          <a:xfrm>
            <a:off x="70200" y="512064"/>
            <a:ext cx="82257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Baselining looks at historical data to determine typical activity, which is known as a threshold. When the </a:t>
            </a:r>
            <a:r>
              <a:rPr lang="en" sz="1800"/>
              <a:t>threshold</a:t>
            </a:r>
            <a:r>
              <a:rPr lang="en" sz="1800"/>
              <a:t> is exceeded, an alert is triggered.</a:t>
            </a:r>
            <a:endParaRPr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15"/>
          <p:cNvSpPr/>
          <p:nvPr/>
        </p:nvSpPr>
        <p:spPr>
          <a:xfrm>
            <a:off x="0" y="0"/>
            <a:ext cx="9144000" cy="316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115"/>
          <p:cNvSpPr txBox="1"/>
          <p:nvPr>
            <p:ph idx="4294967295" type="subTitle"/>
          </p:nvPr>
        </p:nvSpPr>
        <p:spPr>
          <a:xfrm>
            <a:off x="4895850" y="154850"/>
            <a:ext cx="3924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b="0" i="0" lang="en" sz="1800" u="none" cap="none" strike="noStrike">
                <a:latin typeface="Roboto Medium"/>
                <a:ea typeface="Roboto Medium"/>
                <a:cs typeface="Roboto Medium"/>
                <a:sym typeface="Roboto Medium"/>
              </a:rPr>
              <a:t>Alert fatigue</a:t>
            </a:r>
            <a:r>
              <a:rPr b="0" i="0" lang="en" sz="1800" u="none" cap="none" strike="noStrike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800" u="none" cap="none" strike="noStrike"/>
              <a:t>occurs when security professionals receive so many alerts that they cannot adequately respond to each one.</a:t>
            </a:r>
            <a:endParaRPr i="0" sz="1800" u="none" cap="none" strike="noStrike"/>
          </a:p>
        </p:txBody>
      </p:sp>
      <p:sp>
        <p:nvSpPr>
          <p:cNvPr id="930" name="Google Shape;930;p115"/>
          <p:cNvSpPr txBox="1"/>
          <p:nvPr>
            <p:ph idx="1" type="body"/>
          </p:nvPr>
        </p:nvSpPr>
        <p:spPr>
          <a:xfrm>
            <a:off x="4810200" y="1523075"/>
            <a:ext cx="38766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1968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Even when an organization builds good alerts and one gets triggered, security professionals will need to research and respond to it.</a:t>
            </a:r>
            <a:endParaRPr sz="1800"/>
          </a:p>
          <a:p>
            <a:pPr indent="-196850" lvl="0" marL="17145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 sz="1800"/>
              <a:t>If an organization’s system triggers too many alerts</a:t>
            </a:r>
            <a:r>
              <a:rPr lang="en" sz="1800"/>
              <a:t>, </a:t>
            </a:r>
            <a:r>
              <a:rPr lang="en" sz="1800"/>
              <a:t>even if they are good alerts</a:t>
            </a:r>
            <a:r>
              <a:rPr lang="en" sz="1800"/>
              <a:t>,</a:t>
            </a:r>
            <a:r>
              <a:rPr lang="en" sz="1800"/>
              <a:t> security professionals will often miss issues as they get lost in the noise.</a:t>
            </a:r>
            <a:endParaRPr sz="1800"/>
          </a:p>
        </p:txBody>
      </p:sp>
      <p:pic>
        <p:nvPicPr>
          <p:cNvPr id="931" name="Google Shape;931;p115"/>
          <p:cNvPicPr preferRelativeResize="0"/>
          <p:nvPr/>
        </p:nvPicPr>
        <p:blipFill rotWithShape="1">
          <a:blip r:embed="rId3">
            <a:alphaModFix/>
          </a:blip>
          <a:srcRect b="0" l="7961" r="0" t="8700"/>
          <a:stretch/>
        </p:blipFill>
        <p:spPr>
          <a:xfrm>
            <a:off x="-12301" y="0"/>
            <a:ext cx="4589200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16"/>
          <p:cNvSpPr/>
          <p:nvPr/>
        </p:nvSpPr>
        <p:spPr>
          <a:xfrm>
            <a:off x="0" y="0"/>
            <a:ext cx="9144000" cy="316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116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Alert Fatigue</a:t>
            </a:r>
            <a:endParaRPr/>
          </a:p>
        </p:txBody>
      </p:sp>
      <p:sp>
        <p:nvSpPr>
          <p:cNvPr id="938" name="Google Shape;938;p116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116"/>
          <p:cNvSpPr txBox="1"/>
          <p:nvPr>
            <p:ph idx="2" type="title"/>
          </p:nvPr>
        </p:nvSpPr>
        <p:spPr>
          <a:xfrm>
            <a:off x="70200" y="512075"/>
            <a:ext cx="38382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Alert fatigue can have a major impact on organizations:</a:t>
            </a:r>
            <a:endParaRPr sz="1800"/>
          </a:p>
        </p:txBody>
      </p:sp>
      <p:sp>
        <p:nvSpPr>
          <p:cNvPr id="940" name="Google Shape;940;p116"/>
          <p:cNvSpPr txBox="1"/>
          <p:nvPr>
            <p:ph idx="1" type="body"/>
          </p:nvPr>
        </p:nvSpPr>
        <p:spPr>
          <a:xfrm>
            <a:off x="-12300" y="1447800"/>
            <a:ext cx="41748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0">
            <a:noAutofit/>
          </a:bodyPr>
          <a:lstStyle/>
          <a:p>
            <a:pPr indent="-2057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 2014, a breach at Target </a:t>
            </a:r>
            <a:br>
              <a:rPr lang="en" sz="1800"/>
            </a:br>
            <a:r>
              <a:rPr lang="en" sz="1800"/>
              <a:t>cost the company $252 million and led to the resignation of </a:t>
            </a:r>
            <a:br>
              <a:rPr lang="en" sz="1800"/>
            </a:br>
            <a:r>
              <a:rPr lang="en" sz="1800"/>
              <a:t>its CIO and CEO.</a:t>
            </a:r>
            <a:endParaRPr sz="1800"/>
          </a:p>
          <a:p>
            <a:pPr indent="-205740" lvl="0" marL="320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One of the company’s security products detected the breach, but due to the </a:t>
            </a:r>
            <a:r>
              <a:rPr b="1" lang="en" sz="1800"/>
              <a:t>high quantity </a:t>
            </a:r>
            <a:br>
              <a:rPr b="1" lang="en" sz="1800"/>
            </a:br>
            <a:r>
              <a:rPr b="1" lang="en" sz="1800"/>
              <a:t>of alerts</a:t>
            </a:r>
            <a:r>
              <a:rPr lang="en" sz="1800"/>
              <a:t> and the </a:t>
            </a:r>
            <a:r>
              <a:rPr b="1" lang="en" sz="1800"/>
              <a:t>frequency </a:t>
            </a:r>
            <a:br>
              <a:rPr b="1" lang="en" sz="1800"/>
            </a:br>
            <a:r>
              <a:rPr b="1" lang="en" sz="1800"/>
              <a:t>of false alerts</a:t>
            </a:r>
            <a:r>
              <a:rPr lang="en" sz="1800"/>
              <a:t>, Target’s IT security team ignored it.</a:t>
            </a:r>
            <a:endParaRPr sz="1800"/>
          </a:p>
        </p:txBody>
      </p:sp>
      <p:pic>
        <p:nvPicPr>
          <p:cNvPr id="941" name="Google Shape;941;p116"/>
          <p:cNvPicPr preferRelativeResize="0"/>
          <p:nvPr/>
        </p:nvPicPr>
        <p:blipFill rotWithShape="1">
          <a:blip r:embed="rId3">
            <a:alphaModFix/>
          </a:blip>
          <a:srcRect b="9889" l="1594" r="0" t="856"/>
          <a:stretch/>
        </p:blipFill>
        <p:spPr>
          <a:xfrm>
            <a:off x="3832282" y="512075"/>
            <a:ext cx="5464120" cy="463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17"/>
          <p:cNvSpPr/>
          <p:nvPr/>
        </p:nvSpPr>
        <p:spPr>
          <a:xfrm>
            <a:off x="76200" y="-76200"/>
            <a:ext cx="9144000" cy="316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17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Alert Fatigue</a:t>
            </a:r>
            <a:endParaRPr/>
          </a:p>
        </p:txBody>
      </p:sp>
      <p:sp>
        <p:nvSpPr>
          <p:cNvPr id="948" name="Google Shape;948;p117"/>
          <p:cNvSpPr txBox="1"/>
          <p:nvPr>
            <p:ph idx="2" type="title"/>
          </p:nvPr>
        </p:nvSpPr>
        <p:spPr>
          <a:xfrm>
            <a:off x="70200" y="512064"/>
            <a:ext cx="33687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To prevent alert fatigue:</a:t>
            </a:r>
            <a:endParaRPr sz="1800"/>
          </a:p>
        </p:txBody>
      </p:sp>
      <p:pic>
        <p:nvPicPr>
          <p:cNvPr id="949" name="Google Shape;949;p117"/>
          <p:cNvPicPr preferRelativeResize="0"/>
          <p:nvPr/>
        </p:nvPicPr>
        <p:blipFill rotWithShape="1">
          <a:blip r:embed="rId3">
            <a:alphaModFix/>
          </a:blip>
          <a:srcRect b="3418" l="0" r="0" t="0"/>
          <a:stretch/>
        </p:blipFill>
        <p:spPr>
          <a:xfrm>
            <a:off x="1277150" y="968825"/>
            <a:ext cx="6591451" cy="3832776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117"/>
          <p:cNvSpPr txBox="1"/>
          <p:nvPr/>
        </p:nvSpPr>
        <p:spPr>
          <a:xfrm>
            <a:off x="1958975" y="2100275"/>
            <a:ext cx="2199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Limit the quantity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your alerts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a manageable level for your organization.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117"/>
          <p:cNvSpPr txBox="1"/>
          <p:nvPr/>
        </p:nvSpPr>
        <p:spPr>
          <a:xfrm>
            <a:off x="5059750" y="2100275"/>
            <a:ext cx="2146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Provide indicators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severity in the alerts so that they can be prioritized, such as critical vs. low-priority alerts.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1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957" name="Google Shape;957;p11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Baselining</a:t>
            </a:r>
            <a:endParaRPr/>
          </a:p>
        </p:txBody>
      </p:sp>
      <p:sp>
        <p:nvSpPr>
          <p:cNvPr id="958" name="Google Shape;958;p11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this activity, you will review logs and create a baseline of typical </a:t>
            </a:r>
            <a:br>
              <a:rPr lang="en"/>
            </a:br>
            <a:r>
              <a:rPr lang="en"/>
              <a:t>hourly login counts.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19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20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2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Creating</a:t>
            </a:r>
            <a:r>
              <a:rPr b="0" lang="en"/>
              <a:t>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b="0" lang="en"/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Scheduling</a:t>
            </a:r>
            <a:r>
              <a:rPr b="0" lang="en"/>
              <a:t>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Alerts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4" name="Google Shape;974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5888" y="1767875"/>
            <a:ext cx="1172191" cy="85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22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Creating and Scheduling Alerts</a:t>
            </a:r>
            <a:endParaRPr/>
          </a:p>
        </p:txBody>
      </p:sp>
      <p:sp>
        <p:nvSpPr>
          <p:cNvPr id="980" name="Google Shape;980;p122"/>
          <p:cNvSpPr txBox="1"/>
          <p:nvPr>
            <p:ph idx="2" type="title"/>
          </p:nvPr>
        </p:nvSpPr>
        <p:spPr>
          <a:xfrm>
            <a:off x="70200" y="588264"/>
            <a:ext cx="85740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Now that we can determine accurate baselines, we can continue with our scenario and design the alerts.</a:t>
            </a:r>
            <a:endParaRPr sz="1800"/>
          </a:p>
        </p:txBody>
      </p:sp>
      <p:sp>
        <p:nvSpPr>
          <p:cNvPr id="981" name="Google Shape;981;p122"/>
          <p:cNvSpPr txBox="1"/>
          <p:nvPr>
            <p:ph idx="1" type="body"/>
          </p:nvPr>
        </p:nvSpPr>
        <p:spPr>
          <a:xfrm>
            <a:off x="-170825" y="1409400"/>
            <a:ext cx="2913900" cy="29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-2057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will design </a:t>
            </a:r>
            <a:br>
              <a:rPr lang="en" sz="1800"/>
            </a:br>
            <a:r>
              <a:rPr lang="en" sz="1800"/>
              <a:t>an alert to trigger when 30 login attempts occur </a:t>
            </a:r>
            <a:br>
              <a:rPr lang="en" sz="1800"/>
            </a:br>
            <a:r>
              <a:rPr lang="en" sz="1800"/>
              <a:t>in an hour.</a:t>
            </a:r>
            <a:endParaRPr sz="1800"/>
          </a:p>
          <a:p>
            <a:pPr indent="-205740" lvl="0" marL="320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will run this alert to check the count every hour.</a:t>
            </a:r>
            <a:endParaRPr sz="1800"/>
          </a:p>
          <a:p>
            <a:pPr indent="-205740" lvl="0" marL="320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Once the alert </a:t>
            </a:r>
            <a:br>
              <a:rPr lang="en" sz="1800"/>
            </a:br>
            <a:r>
              <a:rPr lang="en" sz="1800"/>
              <a:t>is triggered, an email will be sent.</a:t>
            </a:r>
            <a:endParaRPr sz="1800"/>
          </a:p>
        </p:txBody>
      </p:sp>
      <p:pic>
        <p:nvPicPr>
          <p:cNvPr id="982" name="Google Shape;982;p122"/>
          <p:cNvPicPr preferRelativeResize="0"/>
          <p:nvPr/>
        </p:nvPicPr>
        <p:blipFill rotWithShape="1">
          <a:blip r:embed="rId3">
            <a:alphaModFix/>
          </a:blip>
          <a:srcRect b="2808" l="0" r="616" t="0"/>
          <a:stretch/>
        </p:blipFill>
        <p:spPr>
          <a:xfrm>
            <a:off x="2684975" y="1602489"/>
            <a:ext cx="6118724" cy="3202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23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and scheduling alerts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24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993" name="Google Shape;993;p12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and scheduling alerts</a:t>
            </a:r>
            <a:endParaRPr/>
          </a:p>
        </p:txBody>
      </p:sp>
      <p:sp>
        <p:nvSpPr>
          <p:cNvPr id="994" name="Google Shape;994;p124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design and schedule an alert to notify your team if a brute-force attack is occurring.</a:t>
            </a:r>
            <a:endParaRPr/>
          </a:p>
        </p:txBody>
      </p:sp>
      <p:grpSp>
        <p:nvGrpSpPr>
          <p:cNvPr id="995" name="Google Shape;995;p124"/>
          <p:cNvGrpSpPr/>
          <p:nvPr/>
        </p:nvGrpSpPr>
        <p:grpSpPr>
          <a:xfrm>
            <a:off x="2729075" y="2420762"/>
            <a:ext cx="3984300" cy="1614928"/>
            <a:chOff x="2729075" y="2573163"/>
            <a:chExt cx="3984300" cy="1614928"/>
          </a:xfrm>
        </p:grpSpPr>
        <p:sp>
          <p:nvSpPr>
            <p:cNvPr id="996" name="Google Shape;996;p124"/>
            <p:cNvSpPr/>
            <p:nvPr/>
          </p:nvSpPr>
          <p:spPr>
            <a:xfrm>
              <a:off x="2729075" y="3730591"/>
              <a:ext cx="3984300" cy="45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274300" spcFirstLastPara="1" rIns="91425" wrap="square" tIns="1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7" name="Google Shape;997;p124"/>
            <p:cNvSpPr/>
            <p:nvPr/>
          </p:nvSpPr>
          <p:spPr>
            <a:xfrm>
              <a:off x="2729075" y="2573163"/>
              <a:ext cx="3984300" cy="457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274300" spcFirstLastPara="1" rIns="91425" wrap="square" tIns="1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Breakout Rooms</a:t>
              </a:r>
              <a:endParaRPr b="0" i="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8" name="Google Shape;998;p124"/>
            <p:cNvSpPr/>
            <p:nvPr/>
          </p:nvSpPr>
          <p:spPr>
            <a:xfrm>
              <a:off x="2729075" y="2870100"/>
              <a:ext cx="3984300" cy="1241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24"/>
            <p:cNvSpPr txBox="1"/>
            <p:nvPr/>
          </p:nvSpPr>
          <p:spPr>
            <a:xfrm>
              <a:off x="3476575" y="2997888"/>
              <a:ext cx="31740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 host is inviting you to join Breakout Room:</a:t>
              </a:r>
              <a:endPara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Breakout Room 1</a:t>
              </a:r>
              <a:r>
                <a:rPr b="0" i="0" lang="en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00" name="Google Shape;1000;p124"/>
            <p:cNvCxnSpPr/>
            <p:nvPr/>
          </p:nvCxnSpPr>
          <p:spPr>
            <a:xfrm>
              <a:off x="2733150" y="3740775"/>
              <a:ext cx="3972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001" name="Google Shape;1001;p1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16475" y="2995545"/>
              <a:ext cx="560101" cy="5866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124"/>
            <p:cNvSpPr/>
            <p:nvPr/>
          </p:nvSpPr>
          <p:spPr>
            <a:xfrm>
              <a:off x="2807964" y="2647003"/>
              <a:ext cx="150000" cy="15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X</a:t>
              </a:r>
              <a:endParaRPr b="0" i="0" sz="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3" name="Google Shape;1003;p124"/>
            <p:cNvSpPr/>
            <p:nvPr/>
          </p:nvSpPr>
          <p:spPr>
            <a:xfrm>
              <a:off x="5340496" y="3870143"/>
              <a:ext cx="560100" cy="181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Join</a:t>
              </a:r>
              <a:endPara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4" name="Google Shape;1004;p124"/>
            <p:cNvSpPr/>
            <p:nvPr/>
          </p:nvSpPr>
          <p:spPr>
            <a:xfrm>
              <a:off x="5974275" y="3870143"/>
              <a:ext cx="560100" cy="181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Later</a:t>
              </a:r>
              <a:endPara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5" name="Google Shape;1005;p124"/>
            <p:cNvSpPr/>
            <p:nvPr/>
          </p:nvSpPr>
          <p:spPr>
            <a:xfrm>
              <a:off x="4870823" y="3870143"/>
              <a:ext cx="396000" cy="181500"/>
            </a:xfrm>
            <a:prstGeom prst="homePlat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25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126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