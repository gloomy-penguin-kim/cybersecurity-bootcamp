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y="5143500" cx="9144000"/>
  <p:notesSz cx="6858000" cy="9144000"/>
  <p:embeddedFontLst>
    <p:embeddedFont>
      <p:font typeface="Roboto"/>
      <p:regular r:id="rId83"/>
      <p:bold r:id="rId84"/>
      <p:italic r:id="rId85"/>
      <p:boldItalic r:id="rId86"/>
    </p:embeddedFont>
    <p:embeddedFont>
      <p:font typeface="Roboto Medium"/>
      <p:regular r:id="rId87"/>
      <p:bold r:id="rId88"/>
      <p:italic r:id="rId89"/>
      <p:boldItalic r:id="rId90"/>
    </p:embeddedFont>
    <p:embeddedFont>
      <p:font typeface="Inconsolata"/>
      <p:regular r:id="rId91"/>
      <p:bold r:id="rId92"/>
    </p:embeddedFont>
    <p:embeddedFont>
      <p:font typeface="Roboto Light"/>
      <p:regular r:id="rId93"/>
      <p:bold r:id="rId94"/>
      <p:italic r:id="rId95"/>
      <p:boldItalic r:id="rId96"/>
    </p:embeddedFont>
    <p:embeddedFont>
      <p:font typeface="Inconsolata Medium"/>
      <p:regular r:id="rId97"/>
      <p:bold r:id="rId9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65">
          <p15:clr>
            <a:srgbClr val="9AA0A6"/>
          </p15:clr>
        </p15:guide>
        <p15:guide id="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48AF0A-4A15-48A5-AAEB-BC40537E2A46}">
  <a:tblStyle styleId="{D548AF0A-4A15-48A5-AAEB-BC40537E2A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5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Light-italic.fntdata"/><Relationship Id="rId94" Type="http://schemas.openxmlformats.org/officeDocument/2006/relationships/font" Target="fonts/RobotoLight-bold.fntdata"/><Relationship Id="rId97" Type="http://schemas.openxmlformats.org/officeDocument/2006/relationships/font" Target="fonts/InconsolataMedium-regular.fntdata"/><Relationship Id="rId96" Type="http://schemas.openxmlformats.org/officeDocument/2006/relationships/font" Target="fonts/Roboto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schemas.openxmlformats.org/officeDocument/2006/relationships/font" Target="fonts/Inconsolata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Inconsolata-regular.fntdata"/><Relationship Id="rId90" Type="http://schemas.openxmlformats.org/officeDocument/2006/relationships/font" Target="fonts/RobotoMedium-boldItalic.fntdata"/><Relationship Id="rId93" Type="http://schemas.openxmlformats.org/officeDocument/2006/relationships/font" Target="fonts/RobotoLight-regular.fntdata"/><Relationship Id="rId92" Type="http://schemas.openxmlformats.org/officeDocument/2006/relationships/font" Target="fonts/Inconsolat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Roboto-bold.fntdata"/><Relationship Id="rId83" Type="http://schemas.openxmlformats.org/officeDocument/2006/relationships/font" Target="fonts/Roboto-regular.fntdata"/><Relationship Id="rId86" Type="http://schemas.openxmlformats.org/officeDocument/2006/relationships/font" Target="fonts/Roboto-boldItalic.fntdata"/><Relationship Id="rId85" Type="http://schemas.openxmlformats.org/officeDocument/2006/relationships/font" Target="fonts/Roboto-italic.fntdata"/><Relationship Id="rId88" Type="http://schemas.openxmlformats.org/officeDocument/2006/relationships/font" Target="fonts/RobotoMedium-bold.fntdata"/><Relationship Id="rId87" Type="http://schemas.openxmlformats.org/officeDocument/2006/relationships/font" Target="fonts/RobotoMedium-regular.fntdata"/><Relationship Id="rId89" Type="http://schemas.openxmlformats.org/officeDocument/2006/relationships/font" Target="fonts/RobotoMedium-italic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676f43dd68_1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2676f43dd68_1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676f43dd68_1_1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2676f43dd68_1_1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676f43dd68_1_1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2676f43dd68_1_1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676f43dd68_1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2676f43dd68_1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676f43dd68_1_1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2676f43dd68_1_1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shutterstock_1249231492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676f43dd68_1_1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2676f43dd68_1_1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676f43dd68_1_1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2676f43dd68_1_1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676f43dd68_1_1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2676f43dd68_1_1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676f43dd68_1_1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2676f43dd68_1_1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676f43dd68_1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2676f43dd68_1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676f43dd68_1_1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2676f43dd68_1_1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shutterstock_376748761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676f43dd68_1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2676f43dd68_1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shutterstock_1052081066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676f43dd68_1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2676f43dd68_1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shutterstock_1027449325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676f43dd68_1_1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2676f43dd68_1_1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676f43dd68_1_1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2676f43dd68_1_1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676f43dd68_1_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2676f43dd68_1_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676f43dd68_1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2676f43dd68_1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676f43dd68_1_2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2676f43dd68_1_2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676f43dd68_1_2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g2676f43dd68_1_2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676f43dd68_1_2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2676f43dd68_1_2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676f43dd68_1_2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2676f43dd68_1_2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676f43dd68_1_2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2676f43dd68_1_2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676f43dd68_1_2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2676f43dd68_1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676f43dd68_1_2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2676f43dd68_1_2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676f43dd68_1_2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2676f43dd68_1_2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676f43dd68_1_2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2676f43dd68_1_2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676f43dd68_1_2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2676f43dd68_1_2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shutterstock_1148076149</a:t>
            </a:r>
            <a:endParaRPr>
              <a:solidFill>
                <a:srgbClr val="DAF090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676f43dd68_1_2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2676f43dd68_1_2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676f43dd68_1_2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2676f43dd68_1_2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676f43dd68_1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2676f43dd68_1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676f43dd68_1_2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g2676f43dd68_1_2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676f43dd68_1_2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2676f43dd68_1_2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676f43dd68_1_2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g2676f43dd68_1_2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676f43dd68_1_2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g2676f43dd68_1_2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676f43dd68_1_2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2676f43dd68_1_2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676f43dd68_1_2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g2676f43dd68_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676f43dd68_1_2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g2676f43dd68_1_2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676f43dd68_1_2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g2676f43dd68_1_2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676f43dd68_1_2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g2676f43dd68_1_2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676f43dd68_1_2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g2676f43dd68_1_2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676f43dd68_1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2676f43dd68_1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676f43dd68_1_2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2676f43dd68_1_2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676f43dd68_1_2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g2676f43dd68_1_2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source: AdobeStock_56885471</a:t>
            </a:r>
            <a:endParaRPr i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Break</a:t>
            </a:r>
            <a:endParaRPr i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676f43dd68_1_2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2676f43dd68_1_2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676f43dd68_1_2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2676f43dd68_1_2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shutterstock_145597207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676f43dd68_1_2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g2676f43dd68_1_2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676f43dd68_1_2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g2676f43dd68_1_2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Shutterstock_572923834 earth AdobeStock_96904257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676f43dd68_1_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g2676f43dd68_1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676f43dd68_1_2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g2676f43dd68_1_2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676f43dd68_1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2676f43dd68_1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676f43dd68_1_2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2676f43dd68_1_2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676f43dd68_1_2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g2676f43dd68_1_2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676f43dd68_1_2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2676f43dd68_1_2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676f43dd68_1_2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g2676f43dd68_1_2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676f43dd68_1_2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g2676f43dd68_1_2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676f43dd68_1_2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g2676f43dd68_1_2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165de77bd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3165de77bd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676f43dd68_1_2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g2676f43dd68_1_2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676f43dd68_1_2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g2676f43dd68_1_2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676f43dd68_1_2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g2676f43dd68_1_2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676f43dd68_1_2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g2676f43dd68_1_2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shutterstock_1728727282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676f43dd68_1_2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" name="Google Shape;1005;g2676f43dd68_1_2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676f43dd68_1_2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g2676f43dd68_1_2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676f43dd68_1_2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5" name="Google Shape;1025;g2676f43dd68_1_2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676f43dd68_1_2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g2676f43dd68_1_2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676f43dd68_1_2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g2676f43dd68_1_2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165de77bd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g3165de77bd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676f43dd68_1_2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g2676f43dd68_1_2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676f43dd68_1_2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g2676f43dd68_1_2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676f43dd68_1_2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g2676f43dd68_1_2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676f43dd68_1_2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g2676f43dd68_1_2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676f43dd68_1_2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3" name="Google Shape;1093;g2676f43dd68_1_2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676f43dd68_1_2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g2676f43dd68_1_2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5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676f43dd68_1_2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g2676f43dd68_1_2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676f43dd68_1_2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g2676f43dd68_1_2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676f43dd68_1_2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g2676f43dd68_1_2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1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2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5" name="Google Shape;185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1" name="Google Shape;191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2" name="Google Shape;212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8" name="Google Shape;218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1" name="Google Shape;251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9" name="Google Shape;269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0" name="Google Shape;27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2" name="Google Shape;272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9" name="Google Shape;279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2" name="Google Shape;282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1" name="Google Shape;301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2" name="Google Shape;322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">
  <p:cSld name="CUSTOM_21_2_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" name="Google Shape;332;p4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33" name="Google Shape;333;p4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4" name="Google Shape;334;p4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9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40" name="Google Shape;340;p50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2" name="Google Shape;342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3" type="body"/>
          </p:nvPr>
        </p:nvSpPr>
        <p:spPr>
          <a:xfrm>
            <a:off x="175" y="1284250"/>
            <a:ext cx="9144000" cy="3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/>
          <p:nvPr/>
        </p:nvSpPr>
        <p:spPr>
          <a:xfrm flipH="1">
            <a:off x="6333225" y="1422768"/>
            <a:ext cx="2428500" cy="2550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2"/>
          <p:cNvSpPr txBox="1"/>
          <p:nvPr/>
        </p:nvSpPr>
        <p:spPr>
          <a:xfrm>
            <a:off x="6359750" y="1906966"/>
            <a:ext cx="23715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50" name="Google Shape;350;p52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51" name="Google Shape;351;p52"/>
          <p:cNvSpPr/>
          <p:nvPr/>
        </p:nvSpPr>
        <p:spPr>
          <a:xfrm flipH="1">
            <a:off x="467725" y="1422050"/>
            <a:ext cx="2428500" cy="2550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2"/>
          <p:cNvSpPr txBox="1"/>
          <p:nvPr/>
        </p:nvSpPr>
        <p:spPr>
          <a:xfrm>
            <a:off x="494250" y="1906475"/>
            <a:ext cx="23715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53" name="Google Shape;353;p52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52"/>
          <p:cNvSpPr/>
          <p:nvPr/>
        </p:nvSpPr>
        <p:spPr>
          <a:xfrm flipH="1">
            <a:off x="3405788" y="1422050"/>
            <a:ext cx="2428500" cy="2550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2"/>
          <p:cNvSpPr txBox="1"/>
          <p:nvPr/>
        </p:nvSpPr>
        <p:spPr>
          <a:xfrm>
            <a:off x="3432313" y="1906482"/>
            <a:ext cx="23715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56" name="Google Shape;356;p52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7" name="Google Shape;357;p52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52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5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0" name="Google Shape;360;p5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slide">
  <p:cSld name="CUSTOM_10_1_1_1_1_3">
    <p:bg>
      <p:bgPr>
        <a:solidFill>
          <a:srgbClr val="F2F2F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3"/>
          <p:cNvSpPr txBox="1"/>
          <p:nvPr/>
        </p:nvSpPr>
        <p:spPr>
          <a:xfrm>
            <a:off x="0" y="26884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63" name="Google Shape;363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3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3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53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53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3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3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4"/>
          <p:cNvSpPr txBox="1"/>
          <p:nvPr/>
        </p:nvSpPr>
        <p:spPr>
          <a:xfrm>
            <a:off x="731520" y="203600"/>
            <a:ext cx="5372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54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54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5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77" name="Google Shape;377;p54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54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9" name="Google Shape;37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4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8229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1">
    <p:bg>
      <p:bgPr>
        <a:solidFill>
          <a:srgbClr val="F2F2F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i="0" sz="40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review</a:t>
            </a:r>
            <a:endParaRPr b="0" i="0" sz="40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83" name="Google Shape;38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. Three Section Infographic ">
  <p:cSld name="CUSTOM_2_7_1_5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7162" y="12490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6"/>
          <p:cNvSpPr txBox="1"/>
          <p:nvPr>
            <p:ph idx="1" type="subTitle"/>
          </p:nvPr>
        </p:nvSpPr>
        <p:spPr>
          <a:xfrm>
            <a:off x="382800" y="1836237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2" type="subTitle"/>
          </p:nvPr>
        </p:nvSpPr>
        <p:spPr>
          <a:xfrm>
            <a:off x="3285075" y="1836246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56"/>
          <p:cNvSpPr txBox="1"/>
          <p:nvPr>
            <p:ph idx="3" type="subTitle"/>
          </p:nvPr>
        </p:nvSpPr>
        <p:spPr>
          <a:xfrm>
            <a:off x="6401175" y="1836779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5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0" name="Google Shape;390;p56"/>
          <p:cNvSpPr txBox="1"/>
          <p:nvPr>
            <p:ph idx="4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8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8" name="Google Shape;398;p58"/>
          <p:cNvSpPr txBox="1"/>
          <p:nvPr>
            <p:ph idx="2" type="title"/>
          </p:nvPr>
        </p:nvSpPr>
        <p:spPr>
          <a:xfrm>
            <a:off x="896225" y="1871375"/>
            <a:ext cx="3408900" cy="2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9" name="Google Shape;399;p58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00" name="Google Shape;400;p58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1" name="Google Shape;40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58"/>
          <p:cNvGrpSpPr/>
          <p:nvPr/>
        </p:nvGrpSpPr>
        <p:grpSpPr>
          <a:xfrm>
            <a:off x="457147" y="1190427"/>
            <a:ext cx="533372" cy="533480"/>
            <a:chOff x="457200" y="1378813"/>
            <a:chExt cx="695400" cy="695450"/>
          </a:xfrm>
        </p:grpSpPr>
        <p:sp>
          <p:nvSpPr>
            <p:cNvPr id="403" name="Google Shape;403;p5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4" name="Google Shape;404;p5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5" name="Google Shape;405;p58"/>
          <p:cNvGrpSpPr/>
          <p:nvPr/>
        </p:nvGrpSpPr>
        <p:grpSpPr>
          <a:xfrm>
            <a:off x="4876796" y="1190427"/>
            <a:ext cx="533372" cy="533480"/>
            <a:chOff x="2605668" y="1378813"/>
            <a:chExt cx="695400" cy="695450"/>
          </a:xfrm>
        </p:grpSpPr>
        <p:sp>
          <p:nvSpPr>
            <p:cNvPr id="406" name="Google Shape;406;p58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58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08" name="Google Shape;408;p58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9" name="Google Shape;409;p58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0" name="Google Shape;410;p5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_3"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9"/>
          <p:cNvSpPr/>
          <p:nvPr/>
        </p:nvSpPr>
        <p:spPr>
          <a:xfrm flipH="1">
            <a:off x="6333225" y="1422990"/>
            <a:ext cx="2428500" cy="3336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9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4" name="Google Shape;414;p59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5" name="Google Shape;415;p59"/>
          <p:cNvSpPr/>
          <p:nvPr/>
        </p:nvSpPr>
        <p:spPr>
          <a:xfrm flipH="1">
            <a:off x="467725" y="1422050"/>
            <a:ext cx="2428500" cy="3336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9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7" name="Google Shape;417;p59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9"/>
          <p:cNvSpPr/>
          <p:nvPr/>
        </p:nvSpPr>
        <p:spPr>
          <a:xfrm flipH="1">
            <a:off x="3405788" y="1422050"/>
            <a:ext cx="2428500" cy="3336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9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0" name="Google Shape;420;p59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21" name="Google Shape;421;p59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59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5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4" name="Google Shape;424;p59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0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7" name="Google Shape;427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8" name="Google Shape;428;p60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_3">
    <p:bg>
      <p:bgPr>
        <a:solidFill>
          <a:srgbClr val="F2F2F2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1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0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i="0" sz="40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61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hyperlink" Target="https://www.splunk.com/en_us/products/apps-and-add-ons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plunkbase.splunk.com/apps/" TargetMode="External"/><Relationship Id="rId4" Type="http://schemas.openxmlformats.org/officeDocument/2006/relationships/image" Target="../media/image58.png"/><Relationship Id="rId5" Type="http://schemas.openxmlformats.org/officeDocument/2006/relationships/hyperlink" Target="https://splunkbase.splunk.com/apps/#/type/app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hyperlink" Target="https://splunkbase.splunk.com/apps/#/type/addo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splunk.com/en_us/software.html" TargetMode="External"/><Relationship Id="rId4" Type="http://schemas.openxmlformats.org/officeDocument/2006/relationships/image" Target="../media/image45.gif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hyperlink" Target="https://splunkbase.splunk.com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Relationship Id="rId4" Type="http://schemas.openxmlformats.org/officeDocument/2006/relationships/image" Target="../media/image72.png"/><Relationship Id="rId5" Type="http://schemas.openxmlformats.org/officeDocument/2006/relationships/image" Target="../media/image6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ocs.splunk.com/Documentation/Splunk/latest/SearchTutorial/Startsearching" TargetMode="External"/><Relationship Id="rId4" Type="http://schemas.openxmlformats.org/officeDocument/2006/relationships/image" Target="../media/image6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slideshare.net/Splunk/power-of-splunk-search-processing-language-spl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2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62"/>
          <p:cNvSpPr txBox="1"/>
          <p:nvPr>
            <p:ph idx="4294967295" type="title"/>
          </p:nvPr>
        </p:nvSpPr>
        <p:spPr>
          <a:xfrm>
            <a:off x="3254000" y="4157175"/>
            <a:ext cx="4373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SIEM Day 2</a:t>
            </a:r>
            <a:endParaRPr/>
          </a:p>
        </p:txBody>
      </p:sp>
      <p:sp>
        <p:nvSpPr>
          <p:cNvPr id="439" name="Google Shape;439;p62"/>
          <p:cNvSpPr txBox="1"/>
          <p:nvPr/>
        </p:nvSpPr>
        <p:spPr>
          <a:xfrm>
            <a:off x="4489575" y="1828800"/>
            <a:ext cx="46713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Splunk Searches</a:t>
            </a:r>
            <a:endParaRPr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 txBox="1"/>
          <p:nvPr/>
        </p:nvSpPr>
        <p:spPr>
          <a:xfrm>
            <a:off x="4572000" y="12040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Cybersecurity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4570700" y="2747975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SIEM Day 2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3"/>
          <p:cNvSpPr txBox="1"/>
          <p:nvPr/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63"/>
          <p:cNvSpPr txBox="1"/>
          <p:nvPr/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By the end of today’s lesson, you will be able to: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8" name="Google Shape;448;p63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449" name="Google Shape;449;p63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50" name="Google Shape;450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1" name="Google Shape;451;p63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52" name="Google Shape;452;p63"/>
          <p:cNvSpPr/>
          <p:nvPr/>
        </p:nvSpPr>
        <p:spPr>
          <a:xfrm>
            <a:off x="398575" y="2816154"/>
            <a:ext cx="8057100" cy="843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/>
          <p:nvPr/>
        </p:nvSpPr>
        <p:spPr>
          <a:xfrm>
            <a:off x="322375" y="2989921"/>
            <a:ext cx="457200" cy="436500"/>
          </a:xfrm>
          <a:prstGeom prst="ellipse">
            <a:avLst/>
          </a:prstGeom>
          <a:solidFill>
            <a:srgbClr val="FCB912"/>
          </a:solidFill>
          <a:ln cap="flat" cmpd="sng" w="9525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772125" y="2811775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Write complex Splunk Processing Language (SPL) queries </a:t>
            </a:r>
            <a:b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to analyze specific security situations.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5" name="Google Shape;455;p63"/>
          <p:cNvGrpSpPr/>
          <p:nvPr/>
        </p:nvGrpSpPr>
        <p:grpSpPr>
          <a:xfrm>
            <a:off x="322375" y="1434683"/>
            <a:ext cx="8133300" cy="450088"/>
            <a:chOff x="314850" y="1757288"/>
            <a:chExt cx="8133300" cy="450088"/>
          </a:xfrm>
        </p:grpSpPr>
        <p:sp>
          <p:nvSpPr>
            <p:cNvPr id="456" name="Google Shape;456;p63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7" name="Google Shape;457;p63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8" name="Google Shape;458;p63"/>
            <p:cNvSpPr txBox="1"/>
            <p:nvPr/>
          </p:nvSpPr>
          <p:spPr>
            <a:xfrm>
              <a:off x="817950" y="1757288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Explore and select Splunk add-ons and apps based on project needs.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9" name="Google Shape;459;p63"/>
          <p:cNvGrpSpPr/>
          <p:nvPr/>
        </p:nvGrpSpPr>
        <p:grpSpPr>
          <a:xfrm>
            <a:off x="300536" y="2113008"/>
            <a:ext cx="8133300" cy="450088"/>
            <a:chOff x="314850" y="1757288"/>
            <a:chExt cx="8133300" cy="450088"/>
          </a:xfrm>
        </p:grpSpPr>
        <p:sp>
          <p:nvSpPr>
            <p:cNvPr id="460" name="Google Shape;460;p63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1" name="Google Shape;461;p63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rgbClr val="FCB912"/>
            </a:solidFill>
            <a:ln cap="flat" cmpd="sng" w="9525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63"/>
            <p:cNvSpPr txBox="1"/>
            <p:nvPr/>
          </p:nvSpPr>
          <p:spPr>
            <a:xfrm>
              <a:off x="817950" y="1757288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Upload logs into a Splunk repository.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4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5"/>
          <p:cNvSpPr txBox="1"/>
          <p:nvPr>
            <p:ph idx="1" type="subTitle"/>
          </p:nvPr>
        </p:nvSpPr>
        <p:spPr>
          <a:xfrm>
            <a:off x="914400" y="548650"/>
            <a:ext cx="78477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Before we introduce Splunk and its capabilities, let’s review the concepts covered in the last lesson:</a:t>
            </a:r>
            <a:endParaRPr sz="1400"/>
          </a:p>
        </p:txBody>
      </p:sp>
      <p:sp>
        <p:nvSpPr>
          <p:cNvPr id="473" name="Google Shape;473;p65"/>
          <p:cNvSpPr/>
          <p:nvPr/>
        </p:nvSpPr>
        <p:spPr>
          <a:xfrm>
            <a:off x="607675" y="1120193"/>
            <a:ext cx="8079000" cy="672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65"/>
          <p:cNvSpPr/>
          <p:nvPr/>
        </p:nvSpPr>
        <p:spPr>
          <a:xfrm>
            <a:off x="630100" y="439507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65"/>
          <p:cNvSpPr/>
          <p:nvPr/>
        </p:nvSpPr>
        <p:spPr>
          <a:xfrm>
            <a:off x="457200" y="12183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65"/>
          <p:cNvSpPr/>
          <p:nvPr/>
        </p:nvSpPr>
        <p:spPr>
          <a:xfrm>
            <a:off x="479625" y="439507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65"/>
          <p:cNvSpPr txBox="1"/>
          <p:nvPr/>
        </p:nvSpPr>
        <p:spPr>
          <a:xfrm>
            <a:off x="914400" y="1227143"/>
            <a:ext cx="73599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Organizations use </a:t>
            </a: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continuous monitoring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to monitor risks to the confidentiality, integrity, and availability of their technical assets.</a:t>
            </a:r>
            <a:endParaRPr sz="1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65"/>
          <p:cNvSpPr txBox="1"/>
          <p:nvPr/>
        </p:nvSpPr>
        <p:spPr>
          <a:xfrm>
            <a:off x="936825" y="444094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SIEM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software is a security tool that can assist with all of the above processes.</a:t>
            </a:r>
            <a:endParaRPr sz="1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65"/>
          <p:cNvSpPr/>
          <p:nvPr/>
        </p:nvSpPr>
        <p:spPr>
          <a:xfrm>
            <a:off x="607675" y="2001311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5"/>
          <p:cNvSpPr/>
          <p:nvPr/>
        </p:nvSpPr>
        <p:spPr>
          <a:xfrm>
            <a:off x="457200" y="2001311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65"/>
          <p:cNvSpPr txBox="1"/>
          <p:nvPr/>
        </p:nvSpPr>
        <p:spPr>
          <a:xfrm>
            <a:off x="914400" y="2047184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Organizations use </a:t>
            </a: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logs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that contain </a:t>
            </a: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log entries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to monitor against these risks.</a:t>
            </a:r>
            <a:endParaRPr sz="1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65"/>
          <p:cNvSpPr/>
          <p:nvPr/>
        </p:nvSpPr>
        <p:spPr>
          <a:xfrm>
            <a:off x="607738" y="2668493"/>
            <a:ext cx="8079000" cy="672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5"/>
          <p:cNvSpPr/>
          <p:nvPr/>
        </p:nvSpPr>
        <p:spPr>
          <a:xfrm>
            <a:off x="457263" y="27666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65"/>
          <p:cNvSpPr txBox="1"/>
          <p:nvPr/>
        </p:nvSpPr>
        <p:spPr>
          <a:xfrm>
            <a:off x="914463" y="2775443"/>
            <a:ext cx="73599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Organizations </a:t>
            </a: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aggregate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parse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normalize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multiple logs so that they can be analyzed together.</a:t>
            </a:r>
            <a:endParaRPr sz="1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65"/>
          <p:cNvSpPr/>
          <p:nvPr/>
        </p:nvSpPr>
        <p:spPr>
          <a:xfrm>
            <a:off x="607725" y="3550081"/>
            <a:ext cx="8079000" cy="6729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5"/>
          <p:cNvSpPr/>
          <p:nvPr/>
        </p:nvSpPr>
        <p:spPr>
          <a:xfrm>
            <a:off x="457250" y="364818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5"/>
          <p:cNvSpPr txBox="1"/>
          <p:nvPr/>
        </p:nvSpPr>
        <p:spPr>
          <a:xfrm>
            <a:off x="914450" y="3657031"/>
            <a:ext cx="73599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Organizations correlate these logs with </a:t>
            </a:r>
            <a:r>
              <a:rPr b="1"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correlation rules</a:t>
            </a: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to alert when </a:t>
            </a:r>
            <a:b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 security event or suspicious activity is detected.</a:t>
            </a:r>
            <a:endParaRPr sz="1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00" y="0"/>
            <a:ext cx="9168594" cy="515733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6"/>
          <p:cNvSpPr txBox="1"/>
          <p:nvPr>
            <p:ph type="title"/>
          </p:nvPr>
        </p:nvSpPr>
        <p:spPr>
          <a:xfrm>
            <a:off x="564225" y="1181575"/>
            <a:ext cx="8043600" cy="18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also learned about the many 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SIEM vendors available, each with different features, strengths, and weaknesses.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7"/>
          <p:cNvSpPr txBox="1"/>
          <p:nvPr>
            <p:ph idx="4294967295" type="title"/>
          </p:nvPr>
        </p:nvSpPr>
        <p:spPr>
          <a:xfrm>
            <a:off x="-12300" y="-24384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 the Next Two Modules…</a:t>
            </a:r>
            <a:endParaRPr/>
          </a:p>
        </p:txBody>
      </p:sp>
      <p:sp>
        <p:nvSpPr>
          <p:cNvPr id="499" name="Google Shape;499;p67"/>
          <p:cNvSpPr txBox="1"/>
          <p:nvPr>
            <p:ph idx="4294967295" type="subTitle"/>
          </p:nvPr>
        </p:nvSpPr>
        <p:spPr>
          <a:xfrm>
            <a:off x="0" y="51206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lang="en"/>
              <a:t>… w</a:t>
            </a:r>
            <a:r>
              <a:rPr i="0" lang="en" u="none" cap="none" strike="noStrike"/>
              <a:t>e will:</a:t>
            </a:r>
            <a:endParaRPr i="0" u="none" cap="none" strike="noStrike"/>
          </a:p>
        </p:txBody>
      </p:sp>
      <p:sp>
        <p:nvSpPr>
          <p:cNvPr id="500" name="Google Shape;500;p67"/>
          <p:cNvSpPr/>
          <p:nvPr/>
        </p:nvSpPr>
        <p:spPr>
          <a:xfrm>
            <a:off x="678600" y="1276775"/>
            <a:ext cx="7929300" cy="533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0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1" name="Google Shape;501;p67"/>
          <p:cNvSpPr/>
          <p:nvPr/>
        </p:nvSpPr>
        <p:spPr>
          <a:xfrm>
            <a:off x="678600" y="2088525"/>
            <a:ext cx="7929300" cy="507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0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2" name="Google Shape;502;p67"/>
          <p:cNvSpPr/>
          <p:nvPr/>
        </p:nvSpPr>
        <p:spPr>
          <a:xfrm>
            <a:off x="678600" y="2842375"/>
            <a:ext cx="7929300" cy="713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0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3" name="Google Shape;503;p67"/>
          <p:cNvSpPr/>
          <p:nvPr/>
        </p:nvSpPr>
        <p:spPr>
          <a:xfrm>
            <a:off x="399658" y="125606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67"/>
          <p:cNvSpPr/>
          <p:nvPr/>
        </p:nvSpPr>
        <p:spPr>
          <a:xfrm>
            <a:off x="399658" y="205041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67"/>
          <p:cNvSpPr/>
          <p:nvPr/>
        </p:nvSpPr>
        <p:spPr>
          <a:xfrm>
            <a:off x="399658" y="284236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67"/>
          <p:cNvSpPr txBox="1"/>
          <p:nvPr/>
        </p:nvSpPr>
        <p:spPr>
          <a:xfrm>
            <a:off x="995025" y="1284100"/>
            <a:ext cx="74466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Focus on one of the most popular SIEM vendors: Splunk.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67"/>
          <p:cNvSpPr txBox="1"/>
          <p:nvPr/>
        </p:nvSpPr>
        <p:spPr>
          <a:xfrm>
            <a:off x="995025" y="2063238"/>
            <a:ext cx="74466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 about Splunk and its features.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67"/>
          <p:cNvSpPr txBox="1"/>
          <p:nvPr/>
        </p:nvSpPr>
        <p:spPr>
          <a:xfrm>
            <a:off x="995025" y="2842388"/>
            <a:ext cx="74466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Complete hands-on activities within Splunk that mirror the actions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that security professionals perform every day.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Splunk</a:t>
            </a:r>
            <a:r>
              <a:rPr b="0"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Capabilities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4" name="Google Shape;51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537" y="1596251"/>
            <a:ext cx="1186925" cy="10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9"/>
          <p:cNvSpPr txBox="1"/>
          <p:nvPr>
            <p:ph idx="4294967295" type="title"/>
          </p:nvPr>
        </p:nvSpPr>
        <p:spPr>
          <a:xfrm>
            <a:off x="426200" y="2861625"/>
            <a:ext cx="8291700" cy="18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45720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latin typeface="Roboto Light"/>
                <a:ea typeface="Roboto Light"/>
                <a:cs typeface="Roboto Light"/>
                <a:sym typeface="Roboto Light"/>
              </a:rPr>
              <a:t>Splunk is the vendor name of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big data software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/>
              <a:t>solution</a:t>
            </a:r>
            <a:r>
              <a:rPr b="0" lang="en">
                <a:latin typeface="Roboto Light"/>
                <a:ea typeface="Roboto Light"/>
                <a:cs typeface="Roboto Light"/>
                <a:sym typeface="Roboto Light"/>
              </a:rPr>
              <a:t>, and the SIEM tool is just one of the </a:t>
            </a:r>
            <a:br>
              <a:rPr b="0" lang="en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lang="en">
                <a:latin typeface="Roboto Light"/>
                <a:ea typeface="Roboto Light"/>
                <a:cs typeface="Roboto Light"/>
                <a:sym typeface="Roboto Light"/>
              </a:rPr>
              <a:t>thousands of features Splunk provides.</a:t>
            </a:r>
            <a:endParaRPr b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20" name="Google Shape;52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725" y="881800"/>
            <a:ext cx="5918551" cy="179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0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Capabilities</a:t>
            </a:r>
            <a:endParaRPr/>
          </a:p>
        </p:txBody>
      </p:sp>
      <p:sp>
        <p:nvSpPr>
          <p:cNvPr id="526" name="Google Shape;526;p70"/>
          <p:cNvSpPr/>
          <p:nvPr/>
        </p:nvSpPr>
        <p:spPr>
          <a:xfrm flipH="1">
            <a:off x="6333225" y="1118113"/>
            <a:ext cx="2428500" cy="306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70"/>
          <p:cNvSpPr/>
          <p:nvPr/>
        </p:nvSpPr>
        <p:spPr>
          <a:xfrm>
            <a:off x="6332699" y="10403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8" name="Google Shape;528;p70"/>
          <p:cNvSpPr txBox="1"/>
          <p:nvPr/>
        </p:nvSpPr>
        <p:spPr>
          <a:xfrm>
            <a:off x="6359750" y="1602278"/>
            <a:ext cx="23715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base product that is designed to conduct basic tasks such as searching and reporting.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70"/>
          <p:cNvSpPr/>
          <p:nvPr/>
        </p:nvSpPr>
        <p:spPr>
          <a:xfrm flipH="1">
            <a:off x="467725" y="1117250"/>
            <a:ext cx="2428500" cy="306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70"/>
          <p:cNvSpPr txBox="1"/>
          <p:nvPr/>
        </p:nvSpPr>
        <p:spPr>
          <a:xfrm>
            <a:off x="494250" y="1601675"/>
            <a:ext cx="23715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software tool that searches, analyzes, and monitors big data with an easy-to-use interface.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1" name="Google Shape;531;p70"/>
          <p:cNvSpPr/>
          <p:nvPr/>
        </p:nvSpPr>
        <p:spPr>
          <a:xfrm>
            <a:off x="468324" y="1040300"/>
            <a:ext cx="2427300" cy="476700"/>
          </a:xfrm>
          <a:prstGeom prst="roundRect">
            <a:avLst>
              <a:gd fmla="val 13342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70"/>
          <p:cNvSpPr/>
          <p:nvPr/>
        </p:nvSpPr>
        <p:spPr>
          <a:xfrm flipH="1">
            <a:off x="3405788" y="1117250"/>
            <a:ext cx="2428500" cy="306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70"/>
          <p:cNvSpPr txBox="1"/>
          <p:nvPr/>
        </p:nvSpPr>
        <p:spPr>
          <a:xfrm>
            <a:off x="3432313" y="1601684"/>
            <a:ext cx="23715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Capture large amounts of incoming data, which can be  used to create visualizations, reports, and alerts.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4" name="Google Shape;534;p70"/>
          <p:cNvSpPr txBox="1"/>
          <p:nvPr/>
        </p:nvSpPr>
        <p:spPr>
          <a:xfrm>
            <a:off x="3366713" y="10402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5" name="Google Shape;535;p70"/>
          <p:cNvSpPr txBox="1"/>
          <p:nvPr/>
        </p:nvSpPr>
        <p:spPr>
          <a:xfrm>
            <a:off x="6304775" y="10402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70"/>
          <p:cNvSpPr/>
          <p:nvPr/>
        </p:nvSpPr>
        <p:spPr>
          <a:xfrm>
            <a:off x="3399112" y="1040300"/>
            <a:ext cx="2427300" cy="476700"/>
          </a:xfrm>
          <a:prstGeom prst="roundRect">
            <a:avLst>
              <a:gd fmla="val 1334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70"/>
          <p:cNvSpPr txBox="1"/>
          <p:nvPr/>
        </p:nvSpPr>
        <p:spPr>
          <a:xfrm>
            <a:off x="465975" y="1040300"/>
            <a:ext cx="2039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is…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70"/>
          <p:cNvSpPr txBox="1"/>
          <p:nvPr/>
        </p:nvSpPr>
        <p:spPr>
          <a:xfrm>
            <a:off x="3429000" y="1040300"/>
            <a:ext cx="2039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Splunk can…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0"/>
          <p:cNvSpPr txBox="1"/>
          <p:nvPr/>
        </p:nvSpPr>
        <p:spPr>
          <a:xfrm>
            <a:off x="6343875" y="1040300"/>
            <a:ext cx="20976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Splunk has…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1"/>
          <p:cNvSpPr/>
          <p:nvPr/>
        </p:nvSpPr>
        <p:spPr>
          <a:xfrm>
            <a:off x="942625" y="1728375"/>
            <a:ext cx="2653200" cy="26532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71"/>
          <p:cNvSpPr/>
          <p:nvPr/>
        </p:nvSpPr>
        <p:spPr>
          <a:xfrm>
            <a:off x="3245463" y="1728375"/>
            <a:ext cx="2653200" cy="26532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71"/>
          <p:cNvSpPr/>
          <p:nvPr/>
        </p:nvSpPr>
        <p:spPr>
          <a:xfrm>
            <a:off x="5548301" y="1728375"/>
            <a:ext cx="2653200" cy="2653200"/>
          </a:xfrm>
          <a:prstGeom prst="ellipse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1"/>
          <p:cNvSpPr txBox="1"/>
          <p:nvPr>
            <p:ph idx="4294967295"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Capabilities</a:t>
            </a:r>
            <a:endParaRPr/>
          </a:p>
        </p:txBody>
      </p:sp>
      <p:sp>
        <p:nvSpPr>
          <p:cNvPr id="548" name="Google Shape;548;p71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This week, we’re focusing on Splunk’s benefits to the InfoSec industry</a:t>
            </a:r>
            <a:r>
              <a:rPr lang="en"/>
              <a:t>. </a:t>
            </a:r>
            <a:br>
              <a:rPr lang="en"/>
            </a:br>
            <a:r>
              <a:rPr b="1" lang="en"/>
              <a:t>However</a:t>
            </a:r>
            <a:r>
              <a:rPr lang="en"/>
              <a:t>, </a:t>
            </a:r>
            <a:r>
              <a:rPr i="0" lang="en" u="none" cap="none" strike="noStrike"/>
              <a:t>Splunk is useful for a variety of industries, such as:</a:t>
            </a:r>
            <a:endParaRPr i="0" u="none" cap="none" strike="noStrike"/>
          </a:p>
        </p:txBody>
      </p:sp>
      <p:sp>
        <p:nvSpPr>
          <p:cNvPr id="549" name="Google Shape;549;p71"/>
          <p:cNvSpPr txBox="1"/>
          <p:nvPr/>
        </p:nvSpPr>
        <p:spPr>
          <a:xfrm>
            <a:off x="1264100" y="2281075"/>
            <a:ext cx="20412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Finance</a:t>
            </a:r>
            <a:endParaRPr b="0" i="0" sz="24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0" name="Google Shape;550;p71"/>
          <p:cNvSpPr txBox="1"/>
          <p:nvPr/>
        </p:nvSpPr>
        <p:spPr>
          <a:xfrm>
            <a:off x="3551400" y="2281075"/>
            <a:ext cx="20412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Utilities</a:t>
            </a:r>
            <a:endParaRPr b="0" i="0" sz="2400" u="none" cap="none" strike="noStrike">
              <a:solidFill>
                <a:schemeClr val="dk2"/>
              </a:solidFill>
              <a:highlight>
                <a:srgbClr val="000000"/>
              </a:highlight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51" name="Google Shape;551;p71"/>
          <p:cNvSpPr txBox="1"/>
          <p:nvPr/>
        </p:nvSpPr>
        <p:spPr>
          <a:xfrm>
            <a:off x="5838700" y="2281075"/>
            <a:ext cx="20412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Healthcare</a:t>
            </a:r>
            <a:endParaRPr b="0" i="0" sz="2400" u="none" cap="none" strike="noStrike">
              <a:solidFill>
                <a:schemeClr val="dk2"/>
              </a:solidFill>
              <a:highlight>
                <a:srgbClr val="000000"/>
              </a:highlight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72"/>
          <p:cNvPicPr preferRelativeResize="0"/>
          <p:nvPr/>
        </p:nvPicPr>
        <p:blipFill rotWithShape="1">
          <a:blip r:embed="rId3">
            <a:alphaModFix/>
          </a:blip>
          <a:srcRect b="5500" l="19220" r="1684" t="5500"/>
          <a:stretch/>
        </p:blipFill>
        <p:spPr>
          <a:xfrm>
            <a:off x="0" y="0"/>
            <a:ext cx="9143994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72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p72"/>
          <p:cNvGrpSpPr/>
          <p:nvPr/>
        </p:nvGrpSpPr>
        <p:grpSpPr>
          <a:xfrm>
            <a:off x="332075" y="578175"/>
            <a:ext cx="3979200" cy="3889200"/>
            <a:chOff x="332075" y="578175"/>
            <a:chExt cx="3979200" cy="3889200"/>
          </a:xfrm>
        </p:grpSpPr>
        <p:sp>
          <p:nvSpPr>
            <p:cNvPr id="559" name="Google Shape;559;p72"/>
            <p:cNvSpPr/>
            <p:nvPr/>
          </p:nvSpPr>
          <p:spPr>
            <a:xfrm>
              <a:off x="377075" y="578175"/>
              <a:ext cx="3889200" cy="388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72"/>
            <p:cNvSpPr txBox="1"/>
            <p:nvPr/>
          </p:nvSpPr>
          <p:spPr>
            <a:xfrm>
              <a:off x="332075" y="1997925"/>
              <a:ext cx="3979200" cy="17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2875" spcFirstLastPara="1" rIns="18287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Financial organizations </a:t>
              </a:r>
              <a:b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can use Splunk to analyze</a:t>
              </a:r>
              <a:b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mortgage rates and </a:t>
              </a:r>
              <a:b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determine future </a:t>
              </a:r>
              <a:endParaRPr i="0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rate changes.</a:t>
              </a:r>
              <a:endParaRPr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1" name="Google Shape;561;p72"/>
            <p:cNvSpPr txBox="1"/>
            <p:nvPr/>
          </p:nvSpPr>
          <p:spPr>
            <a:xfrm>
              <a:off x="1298525" y="1413999"/>
              <a:ext cx="19902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Finance</a:t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73"/>
          <p:cNvPicPr preferRelativeResize="0"/>
          <p:nvPr/>
        </p:nvPicPr>
        <p:blipFill rotWithShape="1">
          <a:blip r:embed="rId3">
            <a:alphaModFix/>
          </a:blip>
          <a:srcRect b="20917" l="0" r="8062" t="0"/>
          <a:stretch/>
        </p:blipFill>
        <p:spPr>
          <a:xfrm>
            <a:off x="0" y="-80700"/>
            <a:ext cx="9144000" cy="522419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7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73"/>
          <p:cNvGrpSpPr/>
          <p:nvPr/>
        </p:nvGrpSpPr>
        <p:grpSpPr>
          <a:xfrm>
            <a:off x="332075" y="578175"/>
            <a:ext cx="3979200" cy="3889200"/>
            <a:chOff x="332075" y="578175"/>
            <a:chExt cx="3979200" cy="3889200"/>
          </a:xfrm>
        </p:grpSpPr>
        <p:sp>
          <p:nvSpPr>
            <p:cNvPr id="569" name="Google Shape;569;p73"/>
            <p:cNvSpPr/>
            <p:nvPr/>
          </p:nvSpPr>
          <p:spPr>
            <a:xfrm>
              <a:off x="377075" y="578175"/>
              <a:ext cx="3889200" cy="3889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73"/>
            <p:cNvSpPr txBox="1"/>
            <p:nvPr/>
          </p:nvSpPr>
          <p:spPr>
            <a:xfrm>
              <a:off x="332075" y="2074125"/>
              <a:ext cx="3979200" cy="12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365750" spcFirstLastPara="1" rIns="36575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Gas companies can </a:t>
              </a:r>
              <a:br>
                <a:rPr i="0" lang="en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i="0" lang="en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use Splunk to monitor customer use levels.</a:t>
              </a:r>
              <a:endParaRPr i="0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1" name="Google Shape;571;p73"/>
            <p:cNvSpPr txBox="1"/>
            <p:nvPr/>
          </p:nvSpPr>
          <p:spPr>
            <a:xfrm>
              <a:off x="1298525" y="1464475"/>
              <a:ext cx="19902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Utilities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74"/>
          <p:cNvPicPr preferRelativeResize="0"/>
          <p:nvPr/>
        </p:nvPicPr>
        <p:blipFill rotWithShape="1">
          <a:blip r:embed="rId3">
            <a:alphaModFix/>
          </a:blip>
          <a:srcRect b="0" l="20730" r="8518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4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" name="Google Shape;578;p74"/>
          <p:cNvGrpSpPr/>
          <p:nvPr/>
        </p:nvGrpSpPr>
        <p:grpSpPr>
          <a:xfrm>
            <a:off x="332075" y="578175"/>
            <a:ext cx="3979200" cy="3889200"/>
            <a:chOff x="332075" y="578175"/>
            <a:chExt cx="3979200" cy="3889200"/>
          </a:xfrm>
        </p:grpSpPr>
        <p:sp>
          <p:nvSpPr>
            <p:cNvPr id="579" name="Google Shape;579;p74"/>
            <p:cNvSpPr/>
            <p:nvPr/>
          </p:nvSpPr>
          <p:spPr>
            <a:xfrm>
              <a:off x="377075" y="578175"/>
              <a:ext cx="3889200" cy="3889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74"/>
            <p:cNvSpPr txBox="1"/>
            <p:nvPr/>
          </p:nvSpPr>
          <p:spPr>
            <a:xfrm>
              <a:off x="332075" y="2074125"/>
              <a:ext cx="3979200" cy="172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365750" spcFirstLastPara="1" rIns="36575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Medical researchers can </a:t>
              </a:r>
              <a:b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Splunk to create </a:t>
              </a:r>
              <a:b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reports and metrics for analyzing the success </a:t>
              </a:r>
              <a:b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i="0" lang="en" sz="2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of medical trials.</a:t>
              </a:r>
              <a:endParaRPr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1" name="Google Shape;581;p74"/>
            <p:cNvSpPr txBox="1"/>
            <p:nvPr/>
          </p:nvSpPr>
          <p:spPr>
            <a:xfrm>
              <a:off x="1298525" y="1464475"/>
              <a:ext cx="19902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400" u="none" cap="none" strike="noStrike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Healthcare</a:t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75"/>
          <p:cNvPicPr preferRelativeResize="0"/>
          <p:nvPr/>
        </p:nvPicPr>
        <p:blipFill rotWithShape="1">
          <a:blip r:embed="rId3">
            <a:alphaModFix/>
          </a:blip>
          <a:srcRect b="0" l="22112" r="21246" t="0"/>
          <a:stretch/>
        </p:blipFill>
        <p:spPr>
          <a:xfrm>
            <a:off x="0" y="1669900"/>
            <a:ext cx="9143999" cy="34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5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Apps, Add-Ons, and Suites</a:t>
            </a:r>
            <a:endParaRPr/>
          </a:p>
        </p:txBody>
      </p:sp>
      <p:sp>
        <p:nvSpPr>
          <p:cNvPr id="588" name="Google Shape;588;p75"/>
          <p:cNvSpPr txBox="1"/>
          <p:nvPr>
            <p:ph idx="4294967295" type="subTitle"/>
          </p:nvPr>
        </p:nvSpPr>
        <p:spPr>
          <a:xfrm>
            <a:off x="0" y="676650"/>
            <a:ext cx="860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Splunk can be used for these industry-specific tasks by adding the following to the base product: </a:t>
            </a:r>
            <a:r>
              <a:rPr b="1" i="0" lang="en" u="none" cap="none" strike="noStrike"/>
              <a:t>Splunk apps</a:t>
            </a:r>
            <a:r>
              <a:rPr i="0" lang="en" u="none" cap="none" strike="noStrike"/>
              <a:t>, </a:t>
            </a:r>
            <a:r>
              <a:rPr b="1" i="0" lang="en" u="none" cap="none" strike="noStrike"/>
              <a:t>Splunk add-ons</a:t>
            </a:r>
            <a:r>
              <a:rPr i="0" lang="en" u="none" cap="none" strike="noStrike"/>
              <a:t>,</a:t>
            </a:r>
            <a:r>
              <a:rPr b="0" i="0" lang="en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u="none" cap="none" strike="noStrike"/>
              <a:t>and </a:t>
            </a:r>
            <a:r>
              <a:rPr b="1" i="0" lang="en" u="none" cap="none" strike="noStrike"/>
              <a:t>Splunk suites</a:t>
            </a:r>
            <a:r>
              <a:rPr i="0" lang="en" u="none" cap="none" strike="noStrike"/>
              <a:t>.</a:t>
            </a:r>
            <a:endParaRPr i="0" u="none" cap="none" strike="noStrike"/>
          </a:p>
        </p:txBody>
      </p:sp>
      <p:sp>
        <p:nvSpPr>
          <p:cNvPr id="589" name="Google Shape;589;p75"/>
          <p:cNvSpPr txBox="1"/>
          <p:nvPr>
            <p:ph idx="4294967295" type="subTitle"/>
          </p:nvPr>
        </p:nvSpPr>
        <p:spPr>
          <a:xfrm>
            <a:off x="-12300" y="4820894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700"/>
              <a:buFont typeface="Roboto Light"/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splunk.com</a:t>
            </a:r>
            <a:endParaRPr b="0" i="0" sz="13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(Source)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95" name="Google Shape;595;p76"/>
          <p:cNvPicPr preferRelativeResize="0"/>
          <p:nvPr/>
        </p:nvPicPr>
        <p:blipFill rotWithShape="1">
          <a:blip r:embed="rId4">
            <a:alphaModFix/>
          </a:blip>
          <a:srcRect b="-3945" l="22091" r="-1842" t="1455"/>
          <a:stretch/>
        </p:blipFill>
        <p:spPr>
          <a:xfrm>
            <a:off x="2852054" y="0"/>
            <a:ext cx="636814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76"/>
          <p:cNvSpPr txBox="1"/>
          <p:nvPr/>
        </p:nvSpPr>
        <p:spPr>
          <a:xfrm>
            <a:off x="504000" y="176225"/>
            <a:ext cx="356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457200" spcFirstLastPara="1" rIns="274300" wrap="square" tIns="1828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are a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pplications that users can add to their Splunk base product that have custom searches </a:t>
            </a:r>
            <a:b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features, and </a:t>
            </a:r>
            <a:b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their own interfaces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76"/>
          <p:cNvSpPr/>
          <p:nvPr/>
        </p:nvSpPr>
        <p:spPr>
          <a:xfrm>
            <a:off x="215011" y="1181625"/>
            <a:ext cx="2222100" cy="50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Apps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76"/>
          <p:cNvSpPr txBox="1"/>
          <p:nvPr>
            <p:ph idx="2" type="subTitle"/>
          </p:nvPr>
        </p:nvSpPr>
        <p:spPr>
          <a:xfrm>
            <a:off x="-12300" y="4916650"/>
            <a:ext cx="3596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splunkbase.splunk.com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77"/>
          <p:cNvPicPr preferRelativeResize="0"/>
          <p:nvPr/>
        </p:nvPicPr>
        <p:blipFill rotWithShape="1">
          <a:blip r:embed="rId3">
            <a:alphaModFix/>
          </a:blip>
          <a:srcRect b="-3566" l="21600" r="-1072" t="1369"/>
          <a:stretch/>
        </p:blipFill>
        <p:spPr>
          <a:xfrm>
            <a:off x="2775854" y="0"/>
            <a:ext cx="636814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77"/>
          <p:cNvSpPr txBox="1"/>
          <p:nvPr/>
        </p:nvSpPr>
        <p:spPr>
          <a:xfrm>
            <a:off x="-12350" y="0"/>
            <a:ext cx="3744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365750" spcFirstLastPara="1" rIns="274300" wrap="square" tIns="1828800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are s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maller </a:t>
            </a:r>
            <a:b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components </a:t>
            </a:r>
            <a:b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that provide additional functionality without </a:t>
            </a:r>
            <a:b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their own interfaces.</a:t>
            </a:r>
            <a:endParaRPr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77"/>
          <p:cNvSpPr/>
          <p:nvPr/>
        </p:nvSpPr>
        <p:spPr>
          <a:xfrm>
            <a:off x="215000" y="1181625"/>
            <a:ext cx="2629200" cy="50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Add-Ons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7"/>
          <p:cNvSpPr txBox="1"/>
          <p:nvPr>
            <p:ph idx="2" type="subTitle"/>
          </p:nvPr>
        </p:nvSpPr>
        <p:spPr>
          <a:xfrm>
            <a:off x="-12300" y="4916650"/>
            <a:ext cx="3596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splunkbase.splunk.com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7" name="Google Shape;607;p77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8"/>
          <p:cNvSpPr txBox="1"/>
          <p:nvPr/>
        </p:nvSpPr>
        <p:spPr>
          <a:xfrm>
            <a:off x="49300" y="0"/>
            <a:ext cx="3721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11475" spcFirstLastPara="1" rIns="91425" wrap="square" tIns="1828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a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 collections </a:t>
            </a:r>
            <a:b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Splunk apps with a </a:t>
            </a:r>
            <a:b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single focus, such as an industry or technology.</a:t>
            </a:r>
            <a:endParaRPr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78"/>
          <p:cNvSpPr txBox="1"/>
          <p:nvPr>
            <p:ph idx="429496729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700"/>
              <a:buFont typeface="Roboto Light"/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splunk.com</a:t>
            </a:r>
            <a:endParaRPr i="0" sz="13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14" name="Google Shape;614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6363" y="414075"/>
            <a:ext cx="4475849" cy="275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78"/>
          <p:cNvPicPr preferRelativeResize="0"/>
          <p:nvPr/>
        </p:nvPicPr>
        <p:blipFill rotWithShape="1">
          <a:blip r:embed="rId5">
            <a:alphaModFix/>
          </a:blip>
          <a:srcRect b="3028" l="14058" r="15543" t="63017"/>
          <a:stretch/>
        </p:blipFill>
        <p:spPr>
          <a:xfrm>
            <a:off x="4086375" y="3344518"/>
            <a:ext cx="4475826" cy="1324338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78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8"/>
          <p:cNvSpPr/>
          <p:nvPr/>
        </p:nvSpPr>
        <p:spPr>
          <a:xfrm>
            <a:off x="210208" y="1181625"/>
            <a:ext cx="2348700" cy="50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182875" spcFirstLastPara="1" rIns="9142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Suites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8"/>
          <p:cNvSpPr/>
          <p:nvPr/>
        </p:nvSpPr>
        <p:spPr>
          <a:xfrm>
            <a:off x="175" y="3657600"/>
            <a:ext cx="3906000" cy="914400"/>
          </a:xfrm>
          <a:prstGeom prst="roundRect">
            <a:avLst>
              <a:gd fmla="val 212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		We will not review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	 	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suites 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this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lesson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9" name="Google Shape;619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502" y="3762330"/>
            <a:ext cx="706371" cy="6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9"/>
          <p:cNvSpPr txBox="1"/>
          <p:nvPr>
            <p:ph type="title"/>
          </p:nvPr>
        </p:nvSpPr>
        <p:spPr>
          <a:xfrm>
            <a:off x="50" y="3048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Apps, Add-Ons, and Suites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25" name="Google Shape;625;p79"/>
          <p:cNvSpPr txBox="1"/>
          <p:nvPr>
            <p:ph idx="4294967295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Splunk has so many of these apps and add-ons that they are broken up by type</a:t>
            </a:r>
            <a:r>
              <a:rPr lang="en"/>
              <a:t>.</a:t>
            </a:r>
            <a:endParaRPr i="0" u="none" cap="none" strike="noStrike"/>
          </a:p>
        </p:txBody>
      </p:sp>
      <p:sp>
        <p:nvSpPr>
          <p:cNvPr id="626" name="Google Shape;626;p79"/>
          <p:cNvSpPr txBox="1"/>
          <p:nvPr/>
        </p:nvSpPr>
        <p:spPr>
          <a:xfrm>
            <a:off x="460800" y="1341801"/>
            <a:ext cx="1971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Technology</a:t>
            </a:r>
            <a:endParaRPr b="0" i="0" sz="18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7" name="Google Shape;627;p79"/>
          <p:cNvSpPr txBox="1"/>
          <p:nvPr/>
        </p:nvSpPr>
        <p:spPr>
          <a:xfrm>
            <a:off x="460800" y="1895475"/>
            <a:ext cx="2384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example, t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here are apps and add-ons specific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cloud servers.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79"/>
          <p:cNvSpPr txBox="1"/>
          <p:nvPr/>
        </p:nvSpPr>
        <p:spPr>
          <a:xfrm>
            <a:off x="3407339" y="1341801"/>
            <a:ext cx="1971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Vendor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29" name="Google Shape;629;p79"/>
          <p:cNvSpPr txBox="1"/>
          <p:nvPr/>
        </p:nvSpPr>
        <p:spPr>
          <a:xfrm>
            <a:off x="3393443" y="1895475"/>
            <a:ext cx="2384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example, t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here are apps and add-ons specific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the security vendor Rapid7.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79"/>
          <p:cNvSpPr txBox="1"/>
          <p:nvPr/>
        </p:nvSpPr>
        <p:spPr>
          <a:xfrm>
            <a:off x="6313946" y="1341801"/>
            <a:ext cx="1971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</a:t>
            </a:r>
            <a:endParaRPr b="0" i="0" sz="18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31" name="Google Shape;631;p79"/>
          <p:cNvSpPr txBox="1"/>
          <p:nvPr/>
        </p:nvSpPr>
        <p:spPr>
          <a:xfrm>
            <a:off x="6325475" y="1895475"/>
            <a:ext cx="2384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286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example, t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here are apps and add-ons specific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manufacturing organizations.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0"/>
          <p:cNvSpPr txBox="1"/>
          <p:nvPr>
            <p:ph idx="4294967295"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Apps and Add-Ons</a:t>
            </a:r>
            <a:endParaRPr/>
          </a:p>
        </p:txBody>
      </p:sp>
      <p:sp>
        <p:nvSpPr>
          <p:cNvPr id="637" name="Google Shape;637;p80"/>
          <p:cNvSpPr txBox="1"/>
          <p:nvPr>
            <p:ph idx="4294967295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We will explore various Splunk apps and add-ons with the following scenario:</a:t>
            </a:r>
            <a:endParaRPr i="0" u="none" cap="none" strike="noStrike"/>
          </a:p>
        </p:txBody>
      </p:sp>
      <p:pic>
        <p:nvPicPr>
          <p:cNvPr id="638" name="Google Shape;63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84" y="1120246"/>
            <a:ext cx="4466255" cy="3577001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0"/>
          <p:cNvSpPr txBox="1"/>
          <p:nvPr>
            <p:ph idx="4294967295" type="subTitle"/>
          </p:nvPr>
        </p:nvSpPr>
        <p:spPr>
          <a:xfrm>
            <a:off x="-12300" y="4611850"/>
            <a:ext cx="3150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700"/>
              <a:buFont typeface="Roboto Light"/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i="0" lang="en" sz="1300" u="sng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splunkbase.splunk.com</a:t>
            </a:r>
            <a:endParaRPr i="0" sz="13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0" name="Google Shape;640;p80"/>
          <p:cNvSpPr txBox="1"/>
          <p:nvPr>
            <p:ph idx="4294967295" type="body"/>
          </p:nvPr>
        </p:nvSpPr>
        <p:spPr>
          <a:xfrm>
            <a:off x="-76025" y="1512850"/>
            <a:ext cx="4551600" cy="27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has notified </a:t>
            </a:r>
            <a:br>
              <a:rPr lang="en"/>
            </a:br>
            <a:r>
              <a:rPr lang="en"/>
              <a:t>you that the organization has purchased a web application filter from the vendor F5.</a:t>
            </a:r>
            <a:endParaRPr/>
          </a:p>
          <a:p>
            <a:pPr indent="-205740" lvl="0" marL="32004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would like you </a:t>
            </a:r>
            <a:br>
              <a:rPr lang="en"/>
            </a:br>
            <a:r>
              <a:rPr lang="en"/>
              <a:t>to find the appropriate Splunk app to assist with monitoring this product.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1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8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Splunk apps and add-ons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2"/>
          <p:cNvSpPr txBox="1"/>
          <p:nvPr>
            <p:ph idx="4294967295"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Account</a:t>
            </a:r>
            <a:endParaRPr/>
          </a:p>
        </p:txBody>
      </p:sp>
      <p:sp>
        <p:nvSpPr>
          <p:cNvPr id="652" name="Google Shape;652;p82"/>
          <p:cNvSpPr txBox="1"/>
          <p:nvPr>
            <p:ph idx="4294967295" type="subTitle"/>
          </p:nvPr>
        </p:nvSpPr>
        <p:spPr>
          <a:xfrm>
            <a:off x="0" y="904575"/>
            <a:ext cx="45813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000"/>
              <a:buFont typeface="Roboto Light"/>
              <a:buNone/>
            </a:pPr>
            <a:r>
              <a:rPr i="0" lang="en" sz="2100" u="none" cap="none" strike="noStrike"/>
              <a:t>Do not sign up for a Splunk account at this time.</a:t>
            </a:r>
            <a:endParaRPr i="0" sz="2100" u="none" cap="none" strike="noStrike"/>
          </a:p>
        </p:txBody>
      </p:sp>
      <p:sp>
        <p:nvSpPr>
          <p:cNvPr id="653" name="Google Shape;653;p82"/>
          <p:cNvSpPr txBox="1"/>
          <p:nvPr>
            <p:ph idx="4294967295" type="body"/>
          </p:nvPr>
        </p:nvSpPr>
        <p:spPr>
          <a:xfrm>
            <a:off x="250" y="1990725"/>
            <a:ext cx="5133600" cy="26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/>
              <a:t>There is a 7-day trial window that </a:t>
            </a:r>
            <a:br>
              <a:rPr lang="en"/>
            </a:br>
            <a:r>
              <a:rPr lang="en"/>
              <a:t>we will start next week so that we </a:t>
            </a:r>
            <a:br>
              <a:rPr lang="en"/>
            </a:br>
            <a:r>
              <a:rPr lang="en"/>
              <a:t>have access to Splunk for as long </a:t>
            </a:r>
            <a:br>
              <a:rPr lang="en"/>
            </a:br>
            <a:r>
              <a:rPr lang="en"/>
              <a:t>as the curriculum requires it.</a:t>
            </a:r>
            <a:endParaRPr/>
          </a:p>
        </p:txBody>
      </p:sp>
      <p:pic>
        <p:nvPicPr>
          <p:cNvPr id="654" name="Google Shape;65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1550" y="281807"/>
            <a:ext cx="1963925" cy="458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5" name="Google Shape;655;p82"/>
          <p:cNvSpPr/>
          <p:nvPr/>
        </p:nvSpPr>
        <p:spPr>
          <a:xfrm>
            <a:off x="5595675" y="1339153"/>
            <a:ext cx="2455672" cy="2456360"/>
          </a:xfrm>
          <a:custGeom>
            <a:rect b="b" l="l" r="r" t="t"/>
            <a:pathLst>
              <a:path extrusionOk="0" h="125117" w="125082">
                <a:moveTo>
                  <a:pt x="62468" y="14931"/>
                </a:moveTo>
                <a:cubicBezTo>
                  <a:pt x="72203" y="14931"/>
                  <a:pt x="81885" y="17921"/>
                  <a:pt x="90096" y="23804"/>
                </a:cubicBezTo>
                <a:lnTo>
                  <a:pt x="62541" y="51360"/>
                </a:lnTo>
                <a:lnTo>
                  <a:pt x="23769" y="90132"/>
                </a:lnTo>
                <a:cubicBezTo>
                  <a:pt x="17998" y="82089"/>
                  <a:pt x="14897" y="72459"/>
                  <a:pt x="14897" y="62577"/>
                </a:cubicBezTo>
                <a:cubicBezTo>
                  <a:pt x="14861" y="44723"/>
                  <a:pt x="24815" y="28385"/>
                  <a:pt x="40649" y="20234"/>
                </a:cubicBezTo>
                <a:cubicBezTo>
                  <a:pt x="47530" y="16684"/>
                  <a:pt x="55015" y="14931"/>
                  <a:pt x="62468" y="14931"/>
                </a:cubicBezTo>
                <a:close/>
                <a:moveTo>
                  <a:pt x="101313" y="35021"/>
                </a:moveTo>
                <a:cubicBezTo>
                  <a:pt x="105064" y="40251"/>
                  <a:pt x="107733" y="46238"/>
                  <a:pt x="109104" y="52550"/>
                </a:cubicBezTo>
                <a:cubicBezTo>
                  <a:pt x="109176" y="52838"/>
                  <a:pt x="109248" y="53127"/>
                  <a:pt x="109284" y="53452"/>
                </a:cubicBezTo>
                <a:cubicBezTo>
                  <a:pt x="109428" y="54029"/>
                  <a:pt x="109537" y="54642"/>
                  <a:pt x="109609" y="55255"/>
                </a:cubicBezTo>
                <a:cubicBezTo>
                  <a:pt x="109789" y="56445"/>
                  <a:pt x="109933" y="57671"/>
                  <a:pt x="110042" y="58898"/>
                </a:cubicBezTo>
                <a:cubicBezTo>
                  <a:pt x="110078" y="59475"/>
                  <a:pt x="110114" y="60088"/>
                  <a:pt x="110150" y="60737"/>
                </a:cubicBezTo>
                <a:cubicBezTo>
                  <a:pt x="110150" y="61350"/>
                  <a:pt x="110186" y="61963"/>
                  <a:pt x="110186" y="62577"/>
                </a:cubicBezTo>
                <a:cubicBezTo>
                  <a:pt x="110114" y="88870"/>
                  <a:pt x="88834" y="110149"/>
                  <a:pt x="62541" y="110185"/>
                </a:cubicBezTo>
                <a:cubicBezTo>
                  <a:pt x="52659" y="110185"/>
                  <a:pt x="43029" y="107120"/>
                  <a:pt x="34986" y="101349"/>
                </a:cubicBezTo>
                <a:lnTo>
                  <a:pt x="62541" y="73793"/>
                </a:lnTo>
                <a:lnTo>
                  <a:pt x="101313" y="35021"/>
                </a:lnTo>
                <a:close/>
                <a:moveTo>
                  <a:pt x="62541" y="0"/>
                </a:moveTo>
                <a:cubicBezTo>
                  <a:pt x="28169" y="0"/>
                  <a:pt x="1" y="28169"/>
                  <a:pt x="1" y="62577"/>
                </a:cubicBezTo>
                <a:cubicBezTo>
                  <a:pt x="1" y="96949"/>
                  <a:pt x="28169" y="125117"/>
                  <a:pt x="62541" y="125117"/>
                </a:cubicBezTo>
                <a:cubicBezTo>
                  <a:pt x="96913" y="125117"/>
                  <a:pt x="125081" y="96949"/>
                  <a:pt x="125081" y="62577"/>
                </a:cubicBezTo>
                <a:cubicBezTo>
                  <a:pt x="125081" y="28205"/>
                  <a:pt x="96913" y="0"/>
                  <a:pt x="625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4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666" name="Google Shape;666;p8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features</a:t>
            </a:r>
            <a:endParaRPr/>
          </a:p>
        </p:txBody>
      </p:sp>
      <p:sp>
        <p:nvSpPr>
          <p:cNvPr id="667" name="Google Shape;667;p84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analyze Splunk apps and add-ons </a:t>
            </a:r>
            <a:br>
              <a:rPr lang="en"/>
            </a:br>
            <a:r>
              <a:rPr lang="en"/>
              <a:t>to determine which will work with your security products.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5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6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Tour</a:t>
            </a:r>
            <a:r>
              <a:rPr b="0" lang="en"/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of Splunk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87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4" name="Google Shape;68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223" y="1667950"/>
            <a:ext cx="1151553" cy="9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8"/>
          <p:cNvSpPr txBox="1"/>
          <p:nvPr>
            <p:ph idx="4294967295" type="title"/>
          </p:nvPr>
        </p:nvSpPr>
        <p:spPr>
          <a:xfrm>
            <a:off x="455572" y="-23486"/>
            <a:ext cx="6616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Tour of Splunk</a:t>
            </a:r>
            <a:endParaRPr/>
          </a:p>
        </p:txBody>
      </p:sp>
      <p:sp>
        <p:nvSpPr>
          <p:cNvPr id="690" name="Google Shape;690;p88"/>
          <p:cNvSpPr txBox="1"/>
          <p:nvPr>
            <p:ph idx="4294967295" type="subTitle"/>
          </p:nvPr>
        </p:nvSpPr>
        <p:spPr>
          <a:xfrm>
            <a:off x="469300" y="740425"/>
            <a:ext cx="2384700" cy="2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u="none" cap="none" strike="noStrike"/>
              <a:t>The best way to learn how to use the Splunk product is to dive right in and start using the application.</a:t>
            </a:r>
            <a:endParaRPr i="0" u="none" cap="none" strike="noStrike"/>
          </a:p>
        </p:txBody>
      </p:sp>
      <p:pic>
        <p:nvPicPr>
          <p:cNvPr id="691" name="Google Shape;691;p88"/>
          <p:cNvPicPr preferRelativeResize="0"/>
          <p:nvPr/>
        </p:nvPicPr>
        <p:blipFill rotWithShape="1">
          <a:blip r:embed="rId3">
            <a:alphaModFix/>
          </a:blip>
          <a:srcRect b="6375" l="13729" r="9951" t="0"/>
          <a:stretch/>
        </p:blipFill>
        <p:spPr>
          <a:xfrm>
            <a:off x="3071050" y="364025"/>
            <a:ext cx="5719051" cy="44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9"/>
          <p:cNvSpPr txBox="1"/>
          <p:nvPr>
            <p:ph type="title"/>
          </p:nvPr>
        </p:nvSpPr>
        <p:spPr>
          <a:xfrm>
            <a:off x="50" y="-250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Tour of Splunk</a:t>
            </a:r>
            <a:endParaRPr/>
          </a:p>
        </p:txBody>
      </p:sp>
      <p:sp>
        <p:nvSpPr>
          <p:cNvPr id="697" name="Google Shape;697;p89"/>
          <p:cNvSpPr txBox="1"/>
          <p:nvPr>
            <p:ph idx="4294967295" type="subTitle"/>
          </p:nvPr>
        </p:nvSpPr>
        <p:spPr>
          <a:xfrm>
            <a:off x="0" y="623261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In the following walk-through, we’ll explore the Splunk:</a:t>
            </a:r>
            <a:endParaRPr i="0" u="none" cap="none" strike="noStrike"/>
          </a:p>
        </p:txBody>
      </p:sp>
      <p:sp>
        <p:nvSpPr>
          <p:cNvPr id="698" name="Google Shape;698;p89"/>
          <p:cNvSpPr txBox="1"/>
          <p:nvPr>
            <p:ph idx="4294967295" type="subTitle"/>
          </p:nvPr>
        </p:nvSpPr>
        <p:spPr>
          <a:xfrm>
            <a:off x="382800" y="1683837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000"/>
              <a:buFont typeface="Roboto Light"/>
              <a:buNone/>
            </a:pPr>
            <a:r>
              <a:rPr b="0" i="0" lang="en" sz="2600" u="none" cap="none" strike="noStrike">
                <a:latin typeface="Roboto Medium"/>
                <a:ea typeface="Roboto Medium"/>
                <a:cs typeface="Roboto Medium"/>
                <a:sym typeface="Roboto Medium"/>
              </a:rPr>
              <a:t>Setup</a:t>
            </a:r>
            <a:endParaRPr b="0" i="0" sz="2600" u="none" cap="none" strike="noStrike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9" name="Google Shape;699;p89"/>
          <p:cNvSpPr txBox="1"/>
          <p:nvPr>
            <p:ph idx="2" type="subTitle"/>
          </p:nvPr>
        </p:nvSpPr>
        <p:spPr>
          <a:xfrm>
            <a:off x="3285075" y="1683821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>
                <a:latin typeface="Roboto Medium"/>
                <a:ea typeface="Roboto Medium"/>
                <a:cs typeface="Roboto Medium"/>
                <a:sym typeface="Roboto Medium"/>
              </a:rPr>
              <a:t>Interface</a:t>
            </a:r>
            <a:endParaRPr sz="2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0" name="Google Shape;700;p89"/>
          <p:cNvSpPr txBox="1"/>
          <p:nvPr>
            <p:ph idx="1" type="subTitle"/>
          </p:nvPr>
        </p:nvSpPr>
        <p:spPr>
          <a:xfrm>
            <a:off x="6439600" y="1683837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>
                <a:latin typeface="Roboto Medium"/>
                <a:ea typeface="Roboto Medium"/>
                <a:cs typeface="Roboto Medium"/>
                <a:sym typeface="Roboto Medium"/>
              </a:rPr>
              <a:t>Features</a:t>
            </a:r>
            <a:endParaRPr sz="2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0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90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Splunk tour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1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Adding Data</a:t>
            </a:r>
            <a:r>
              <a:rPr b="0" lang="en"/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into Splunk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7" name="Google Shape;71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2950" y="1722875"/>
            <a:ext cx="858100" cy="8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93"/>
          <p:cNvSpPr txBox="1"/>
          <p:nvPr>
            <p:ph type="title"/>
          </p:nvPr>
        </p:nvSpPr>
        <p:spPr>
          <a:xfrm>
            <a:off x="946425" y="763300"/>
            <a:ext cx="7754100" cy="3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00" lIns="2377425" spcFirstLastPara="1" rIns="91425" wrap="square" tIns="457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3400">
                <a:latin typeface="Roboto"/>
                <a:ea typeface="Roboto"/>
                <a:cs typeface="Roboto"/>
                <a:sym typeface="Roboto"/>
              </a:rPr>
              <a:t>Before we add data, </a:t>
            </a:r>
            <a:endParaRPr b="0" sz="3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3400">
                <a:latin typeface="Roboto"/>
                <a:ea typeface="Roboto"/>
                <a:cs typeface="Roboto"/>
                <a:sym typeface="Roboto"/>
              </a:rPr>
              <a:t>it is important to understand</a:t>
            </a:r>
            <a:r>
              <a:rPr b="0" lang="en" sz="3400"/>
              <a:t> </a:t>
            </a:r>
            <a:r>
              <a:rPr lang="en" sz="3400">
                <a:latin typeface="Roboto"/>
                <a:ea typeface="Roboto"/>
                <a:cs typeface="Roboto"/>
                <a:sym typeface="Roboto"/>
              </a:rPr>
              <a:t>Splunk’s architecture</a:t>
            </a:r>
            <a:r>
              <a:rPr b="0" lang="en" sz="3400"/>
              <a:t> </a:t>
            </a:r>
            <a:r>
              <a:rPr b="0" lang="en" sz="3400">
                <a:latin typeface="Roboto"/>
                <a:ea typeface="Roboto"/>
                <a:cs typeface="Roboto"/>
                <a:sym typeface="Roboto"/>
              </a:rPr>
              <a:t>and how it handles incoming data.</a:t>
            </a:r>
            <a:endParaRPr b="0" sz="3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4"/>
          <p:cNvSpPr txBox="1"/>
          <p:nvPr>
            <p:ph idx="4" type="title"/>
          </p:nvPr>
        </p:nvSpPr>
        <p:spPr>
          <a:xfrm>
            <a:off x="50" y="-250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Architecture Basics</a:t>
            </a:r>
            <a:endParaRPr/>
          </a:p>
        </p:txBody>
      </p:sp>
      <p:sp>
        <p:nvSpPr>
          <p:cNvPr id="728" name="Google Shape;728;p94"/>
          <p:cNvSpPr txBox="1"/>
          <p:nvPr>
            <p:ph idx="4294967295" type="subTitle"/>
          </p:nvPr>
        </p:nvSpPr>
        <p:spPr>
          <a:xfrm>
            <a:off x="-12275" y="1926825"/>
            <a:ext cx="46278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274300" wrap="square" tIns="0">
            <a:noAutofit/>
          </a:bodyPr>
          <a:lstStyle/>
          <a:p>
            <a:pPr indent="-197612" lvl="0" marL="210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i="0" lang="en" u="none" cap="none" strike="noStrike"/>
              <a:t>Splunk transforms incoming data into </a:t>
            </a:r>
            <a:r>
              <a:rPr b="1" i="0" lang="en" u="none" cap="none" strike="noStrike"/>
              <a:t>events</a:t>
            </a:r>
            <a:r>
              <a:rPr i="0" lang="en" u="none" cap="none" strike="noStrike"/>
              <a:t>.</a:t>
            </a:r>
            <a:endParaRPr i="0" u="none" cap="none" strike="noStrike"/>
          </a:p>
          <a:p>
            <a:pPr indent="-197612" lvl="0" marL="21031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i="0" lang="en" u="none" cap="none" strike="noStrike"/>
              <a:t>Splunk adds these events into repositories called </a:t>
            </a:r>
            <a:r>
              <a:rPr b="1" i="0" lang="en" u="none" cap="none" strike="noStrike"/>
              <a:t>indexes</a:t>
            </a:r>
            <a:r>
              <a:rPr i="0" lang="en" u="none" cap="none" strike="noStrike"/>
              <a:t>.</a:t>
            </a:r>
            <a:endParaRPr i="0" u="none" cap="none" strike="noStrike"/>
          </a:p>
          <a:p>
            <a:pPr indent="-197612" lvl="0" marL="210312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●"/>
            </a:pPr>
            <a:r>
              <a:rPr b="1" i="0" lang="en" u="none" cap="none" strike="noStrike"/>
              <a:t>Indexers</a:t>
            </a:r>
            <a:r>
              <a:rPr i="0" lang="en" u="none" cap="none" strike="noStrike"/>
              <a:t> are used to add events </a:t>
            </a:r>
            <a:br>
              <a:rPr i="0" lang="en" u="none" cap="none" strike="noStrike"/>
            </a:br>
            <a:r>
              <a:rPr i="0" lang="en" u="none" cap="none" strike="noStrike"/>
              <a:t>to indexes and search through </a:t>
            </a:r>
            <a:br>
              <a:rPr i="0" lang="en" u="none" cap="none" strike="noStrike"/>
            </a:br>
            <a:r>
              <a:rPr i="0" lang="en" u="none" cap="none" strike="noStrike"/>
              <a:t>the data.</a:t>
            </a:r>
            <a:endParaRPr i="0" u="none" cap="none" strike="noStrike"/>
          </a:p>
        </p:txBody>
      </p:sp>
      <p:sp>
        <p:nvSpPr>
          <p:cNvPr id="729" name="Google Shape;729;p94"/>
          <p:cNvSpPr txBox="1"/>
          <p:nvPr>
            <p:ph idx="4294967295" type="subTitle"/>
          </p:nvPr>
        </p:nvSpPr>
        <p:spPr>
          <a:xfrm>
            <a:off x="4598625" y="1926825"/>
            <a:ext cx="46278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274300" wrap="square" tIns="0">
            <a:noAutofit/>
          </a:bodyPr>
          <a:lstStyle/>
          <a:p>
            <a:pPr indent="-20574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i="0" lang="en" u="none" cap="none" strike="noStrike"/>
              <a:t>The </a:t>
            </a:r>
            <a:r>
              <a:rPr b="1" i="0" lang="en" u="none" cap="none" strike="noStrike"/>
              <a:t>search head</a:t>
            </a:r>
            <a:r>
              <a:rPr i="0" lang="en" u="none" cap="none" strike="noStrike"/>
              <a:t> is Splunk’s GUI that we use to conduct searches. </a:t>
            </a:r>
            <a:endParaRPr i="0" u="none" cap="none" strike="noStrike"/>
          </a:p>
          <a:p>
            <a:pPr indent="-20574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i="0" lang="en" u="none" cap="none" strike="noStrike"/>
              <a:t>It manages search requests </a:t>
            </a:r>
            <a:br>
              <a:rPr i="0" lang="en" u="none" cap="none" strike="noStrike"/>
            </a:br>
            <a:r>
              <a:rPr i="0" lang="en" u="none" cap="none" strike="noStrike"/>
              <a:t>to the indexer and provides the </a:t>
            </a:r>
            <a:br>
              <a:rPr i="0" lang="en" u="none" cap="none" strike="noStrike"/>
            </a:br>
            <a:r>
              <a:rPr i="0" lang="en" u="none" cap="none" strike="noStrike"/>
              <a:t>search results back to the user.</a:t>
            </a:r>
            <a:endParaRPr i="0" u="none" cap="none" strike="noStrike"/>
          </a:p>
        </p:txBody>
      </p:sp>
      <p:sp>
        <p:nvSpPr>
          <p:cNvPr id="730" name="Google Shape;730;p94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Indexer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94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Search Head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94"/>
          <p:cNvSpPr txBox="1"/>
          <p:nvPr>
            <p:ph idx="6" type="title"/>
          </p:nvPr>
        </p:nvSpPr>
        <p:spPr>
          <a:xfrm>
            <a:off x="99064" y="600456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Splunk architecture contains two primary components: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5"/>
          <p:cNvSpPr txBox="1"/>
          <p:nvPr>
            <p:ph idx="4294967295" type="title"/>
          </p:nvPr>
        </p:nvSpPr>
        <p:spPr>
          <a:xfrm>
            <a:off x="-12125" y="-24384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Data Addition Methods</a:t>
            </a:r>
            <a:endParaRPr/>
          </a:p>
        </p:txBody>
      </p:sp>
      <p:sp>
        <p:nvSpPr>
          <p:cNvPr id="738" name="Google Shape;738;p95"/>
          <p:cNvSpPr txBox="1"/>
          <p:nvPr>
            <p:ph idx="4294967295" type="subTitle"/>
          </p:nvPr>
        </p:nvSpPr>
        <p:spPr>
          <a:xfrm>
            <a:off x="0" y="599775"/>
            <a:ext cx="90849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lang="en"/>
              <a:t>T</a:t>
            </a:r>
            <a:r>
              <a:rPr i="0" lang="en" u="none" cap="none" strike="noStrike"/>
              <a:t>o add data to Splunk on the </a:t>
            </a:r>
            <a:r>
              <a:rPr b="1" i="0" lang="en" u="none" cap="none" strike="noStrike"/>
              <a:t>Add Data</a:t>
            </a:r>
            <a:r>
              <a:rPr i="0" lang="en" u="none" cap="none" strike="noStrike"/>
              <a:t> page, we use one of the following paths:</a:t>
            </a:r>
            <a:endParaRPr i="0" u="none" cap="none" strike="noStrike"/>
          </a:p>
        </p:txBody>
      </p:sp>
      <p:pic>
        <p:nvPicPr>
          <p:cNvPr id="739" name="Google Shape;73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138" y="11068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95"/>
          <p:cNvSpPr/>
          <p:nvPr/>
        </p:nvSpPr>
        <p:spPr>
          <a:xfrm>
            <a:off x="457160" y="1345100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41" name="Google Shape;741;p95"/>
          <p:cNvSpPr/>
          <p:nvPr/>
        </p:nvSpPr>
        <p:spPr>
          <a:xfrm rot="10800000">
            <a:off x="593369" y="1733888"/>
            <a:ext cx="261029" cy="144694"/>
          </a:xfrm>
          <a:prstGeom prst="flowChartExtra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95"/>
          <p:cNvSpPr txBox="1"/>
          <p:nvPr/>
        </p:nvSpPr>
        <p:spPr>
          <a:xfrm>
            <a:off x="164325" y="1983450"/>
            <a:ext cx="44640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Go to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“Explore Splunk Enterprise”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select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“Add Data.”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95"/>
          <p:cNvSpPr txBox="1"/>
          <p:nvPr/>
        </p:nvSpPr>
        <p:spPr>
          <a:xfrm>
            <a:off x="4594976" y="1984075"/>
            <a:ext cx="4024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Select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“Settings”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then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“Add Data.”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95"/>
          <p:cNvSpPr txBox="1"/>
          <p:nvPr/>
        </p:nvSpPr>
        <p:spPr>
          <a:xfrm>
            <a:off x="457150" y="135693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From the Welcome </a:t>
            </a: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age</a:t>
            </a:r>
            <a:endParaRPr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95"/>
          <p:cNvSpPr/>
          <p:nvPr/>
        </p:nvSpPr>
        <p:spPr>
          <a:xfrm>
            <a:off x="4876760" y="1328563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46" name="Google Shape;746;p95"/>
          <p:cNvSpPr/>
          <p:nvPr/>
        </p:nvSpPr>
        <p:spPr>
          <a:xfrm rot="10800000">
            <a:off x="5012969" y="1717351"/>
            <a:ext cx="261029" cy="144694"/>
          </a:xfrm>
          <a:prstGeom prst="flowChartExtra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95"/>
          <p:cNvSpPr txBox="1"/>
          <p:nvPr/>
        </p:nvSpPr>
        <p:spPr>
          <a:xfrm>
            <a:off x="4876750" y="1340400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From the Search &amp; Reporting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pp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8" name="Google Shape;748;p95"/>
          <p:cNvPicPr preferRelativeResize="0"/>
          <p:nvPr/>
        </p:nvPicPr>
        <p:blipFill rotWithShape="1">
          <a:blip r:embed="rId4">
            <a:alphaModFix/>
          </a:blip>
          <a:srcRect b="22408" l="0" r="20025" t="585"/>
          <a:stretch/>
        </p:blipFill>
        <p:spPr>
          <a:xfrm>
            <a:off x="459525" y="2776025"/>
            <a:ext cx="3769528" cy="188744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9" name="Google Shape;749;p95"/>
          <p:cNvPicPr preferRelativeResize="0"/>
          <p:nvPr/>
        </p:nvPicPr>
        <p:blipFill rotWithShape="1">
          <a:blip r:embed="rId5">
            <a:alphaModFix/>
          </a:blip>
          <a:srcRect b="33459" l="0" r="0" t="9306"/>
          <a:stretch/>
        </p:blipFill>
        <p:spPr>
          <a:xfrm>
            <a:off x="4934400" y="2727550"/>
            <a:ext cx="3769525" cy="19359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0" name="Google Shape;750;p95"/>
          <p:cNvSpPr/>
          <p:nvPr/>
        </p:nvSpPr>
        <p:spPr>
          <a:xfrm>
            <a:off x="5593400" y="2877775"/>
            <a:ext cx="2940300" cy="1785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95"/>
          <p:cNvSpPr/>
          <p:nvPr/>
        </p:nvSpPr>
        <p:spPr>
          <a:xfrm>
            <a:off x="5404950" y="3080775"/>
            <a:ext cx="348600" cy="1926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95"/>
          <p:cNvSpPr/>
          <p:nvPr/>
        </p:nvSpPr>
        <p:spPr>
          <a:xfrm>
            <a:off x="6845775" y="2956150"/>
            <a:ext cx="414000" cy="1503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95"/>
          <p:cNvSpPr/>
          <p:nvPr/>
        </p:nvSpPr>
        <p:spPr>
          <a:xfrm>
            <a:off x="1346175" y="2877775"/>
            <a:ext cx="2882700" cy="9003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95"/>
          <p:cNvSpPr/>
          <p:nvPr/>
        </p:nvSpPr>
        <p:spPr>
          <a:xfrm flipH="1" rot="5400000">
            <a:off x="2665938" y="3778713"/>
            <a:ext cx="348600" cy="1926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95"/>
          <p:cNvSpPr/>
          <p:nvPr/>
        </p:nvSpPr>
        <p:spPr>
          <a:xfrm rot="5400000">
            <a:off x="6915950" y="2726550"/>
            <a:ext cx="280800" cy="1785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6"/>
          <p:cNvSpPr txBox="1"/>
          <p:nvPr>
            <p:ph idx="4294967295" type="title"/>
          </p:nvPr>
        </p:nvSpPr>
        <p:spPr>
          <a:xfrm>
            <a:off x="-12125" y="-24384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Splunk Data Addition Methods</a:t>
            </a:r>
            <a:endParaRPr/>
          </a:p>
        </p:txBody>
      </p:sp>
      <p:sp>
        <p:nvSpPr>
          <p:cNvPr id="761" name="Google Shape;761;p96"/>
          <p:cNvSpPr txBox="1"/>
          <p:nvPr>
            <p:ph idx="4294967295" type="subTitle"/>
          </p:nvPr>
        </p:nvSpPr>
        <p:spPr>
          <a:xfrm>
            <a:off x="0" y="675975"/>
            <a:ext cx="3228900" cy="1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The Add Data page prompts you to add data either by:</a:t>
            </a:r>
            <a:endParaRPr i="0" u="none" cap="none" strike="noStrike"/>
          </a:p>
          <a:p>
            <a:pPr indent="-20574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i="0" lang="en" u="none" cap="none" strike="noStrike"/>
              <a:t>Data source</a:t>
            </a:r>
            <a:endParaRPr i="0" u="none" cap="none" strike="noStrike"/>
          </a:p>
          <a:p>
            <a:pPr indent="-205740" lvl="0" marL="32004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0" lang="en" u="none" cap="none" strike="noStrike"/>
              <a:t>Specific method</a:t>
            </a:r>
            <a:endParaRPr i="0" u="none" cap="none" strike="noStrike"/>
          </a:p>
        </p:txBody>
      </p:sp>
      <p:pic>
        <p:nvPicPr>
          <p:cNvPr id="762" name="Google Shape;762;p96"/>
          <p:cNvPicPr preferRelativeResize="0"/>
          <p:nvPr/>
        </p:nvPicPr>
        <p:blipFill rotWithShape="1">
          <a:blip r:embed="rId3">
            <a:alphaModFix/>
          </a:blip>
          <a:srcRect b="1422" l="24025" r="25008" t="14923"/>
          <a:stretch/>
        </p:blipFill>
        <p:spPr>
          <a:xfrm>
            <a:off x="3159625" y="813500"/>
            <a:ext cx="5252851" cy="3920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7"/>
          <p:cNvSpPr/>
          <p:nvPr/>
        </p:nvSpPr>
        <p:spPr>
          <a:xfrm>
            <a:off x="678600" y="1276775"/>
            <a:ext cx="7929300" cy="533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0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  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example, a Splunk user may want to add Palo Alto Firewall logs into Splunk.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68" name="Google Shape;768;p97"/>
          <p:cNvSpPr/>
          <p:nvPr/>
        </p:nvSpPr>
        <p:spPr>
          <a:xfrm>
            <a:off x="678600" y="2088525"/>
            <a:ext cx="7929300" cy="507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0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  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Palo Alto option under Networking is an example of a data type.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69" name="Google Shape;769;p97"/>
          <p:cNvSpPr/>
          <p:nvPr/>
        </p:nvSpPr>
        <p:spPr>
          <a:xfrm>
            <a:off x="678600" y="2842375"/>
            <a:ext cx="7929300" cy="54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0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  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Based on the option selected, an add-on may be provided or settings configured.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70" name="Google Shape;770;p97"/>
          <p:cNvSpPr txBox="1"/>
          <p:nvPr>
            <p:ph idx="4294967295" type="title"/>
          </p:nvPr>
        </p:nvSpPr>
        <p:spPr>
          <a:xfrm>
            <a:off x="50" y="-250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Adding Data: Data Source</a:t>
            </a:r>
            <a:endParaRPr/>
          </a:p>
        </p:txBody>
      </p:sp>
      <p:sp>
        <p:nvSpPr>
          <p:cNvPr id="771" name="Google Shape;771;p97"/>
          <p:cNvSpPr txBox="1"/>
          <p:nvPr>
            <p:ph idx="4294967295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Adding data by data source lets us upload various types of data.</a:t>
            </a:r>
            <a:endParaRPr i="0" u="none" cap="none" strike="noStrike"/>
          </a:p>
        </p:txBody>
      </p:sp>
      <p:sp>
        <p:nvSpPr>
          <p:cNvPr id="772" name="Google Shape;772;p97"/>
          <p:cNvSpPr/>
          <p:nvPr/>
        </p:nvSpPr>
        <p:spPr>
          <a:xfrm>
            <a:off x="399658" y="125606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97"/>
          <p:cNvSpPr/>
          <p:nvPr/>
        </p:nvSpPr>
        <p:spPr>
          <a:xfrm>
            <a:off x="399658" y="205041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97"/>
          <p:cNvSpPr/>
          <p:nvPr/>
        </p:nvSpPr>
        <p:spPr>
          <a:xfrm>
            <a:off x="399658" y="284236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8"/>
          <p:cNvSpPr txBox="1"/>
          <p:nvPr>
            <p:ph type="title"/>
          </p:nvPr>
        </p:nvSpPr>
        <p:spPr>
          <a:xfrm>
            <a:off x="50" y="-250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Adding Data: Specific Method</a:t>
            </a:r>
            <a:endParaRPr/>
          </a:p>
        </p:txBody>
      </p:sp>
      <p:sp>
        <p:nvSpPr>
          <p:cNvPr id="780" name="Google Shape;780;p98"/>
          <p:cNvSpPr txBox="1"/>
          <p:nvPr>
            <p:ph idx="4294967295" type="subTitle"/>
          </p:nvPr>
        </p:nvSpPr>
        <p:spPr>
          <a:xfrm>
            <a:off x="0" y="60350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lang="en"/>
              <a:t>This feature let </a:t>
            </a:r>
            <a:r>
              <a:rPr i="0" lang="en" u="none" cap="none" strike="noStrike"/>
              <a:t>you add data by one of the following methods:</a:t>
            </a:r>
            <a:endParaRPr i="0" u="none" cap="none" strike="noStrike"/>
          </a:p>
        </p:txBody>
      </p:sp>
      <p:sp>
        <p:nvSpPr>
          <p:cNvPr id="781" name="Google Shape;781;p98"/>
          <p:cNvSpPr txBox="1"/>
          <p:nvPr/>
        </p:nvSpPr>
        <p:spPr>
          <a:xfrm>
            <a:off x="510900" y="1710025"/>
            <a:ext cx="2384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Splunk monitors logs from a system, device, or application to </a:t>
            </a:r>
            <a:r>
              <a:rPr lang="en" sz="15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which  </a:t>
            </a:r>
            <a:r>
              <a:rPr b="0" i="0" lang="en" sz="15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it has direct access.</a:t>
            </a:r>
            <a:endParaRPr b="0" i="0" sz="15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82" name="Google Shape;782;p98"/>
          <p:cNvSpPr txBox="1"/>
          <p:nvPr/>
        </p:nvSpPr>
        <p:spPr>
          <a:xfrm>
            <a:off x="510900" y="2897925"/>
            <a:ext cx="2384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method is commonly used by businesses to monitor their production environment.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98"/>
          <p:cNvSpPr txBox="1"/>
          <p:nvPr/>
        </p:nvSpPr>
        <p:spPr>
          <a:xfrm>
            <a:off x="3382688" y="1710025"/>
            <a:ext cx="2384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Install a program called a forwarder on the system from which logs are collected.</a:t>
            </a:r>
            <a:endParaRPr b="0" i="0" sz="15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84" name="Google Shape;784;p98"/>
          <p:cNvSpPr txBox="1"/>
          <p:nvPr/>
        </p:nvSpPr>
        <p:spPr>
          <a:xfrm>
            <a:off x="3382688" y="2897925"/>
            <a:ext cx="2384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Forwarders forward logs from a device into the Splunk system.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98"/>
          <p:cNvSpPr txBox="1"/>
          <p:nvPr/>
        </p:nvSpPr>
        <p:spPr>
          <a:xfrm>
            <a:off x="6330675" y="1710025"/>
            <a:ext cx="2384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Manually upload logs directly into your Splunk repository.</a:t>
            </a:r>
            <a:endParaRPr b="0" i="0" sz="15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86" name="Google Shape;786;p98"/>
          <p:cNvSpPr txBox="1"/>
          <p:nvPr/>
        </p:nvSpPr>
        <p:spPr>
          <a:xfrm>
            <a:off x="6330675" y="2669325"/>
            <a:ext cx="2384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While monitoring </a:t>
            </a:r>
            <a:b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forwarding are important to understand conceptually, we will primarily use the upload process for the rest of this 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lesson</a:t>
            </a: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98"/>
          <p:cNvSpPr txBox="1"/>
          <p:nvPr/>
        </p:nvSpPr>
        <p:spPr>
          <a:xfrm>
            <a:off x="540000" y="1368000"/>
            <a:ext cx="15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Monitor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98"/>
          <p:cNvSpPr txBox="1"/>
          <p:nvPr/>
        </p:nvSpPr>
        <p:spPr>
          <a:xfrm>
            <a:off x="3490088" y="1368000"/>
            <a:ext cx="15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Forward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98"/>
          <p:cNvSpPr txBox="1"/>
          <p:nvPr/>
        </p:nvSpPr>
        <p:spPr>
          <a:xfrm>
            <a:off x="6394088" y="1368000"/>
            <a:ext cx="15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Upload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9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Uploading Data into Splunk</a:t>
            </a:r>
            <a:endParaRPr/>
          </a:p>
        </p:txBody>
      </p:sp>
      <p:sp>
        <p:nvSpPr>
          <p:cNvPr id="795" name="Google Shape;795;p99"/>
          <p:cNvSpPr txBox="1"/>
          <p:nvPr>
            <p:ph idx="4294967295" type="subTitle"/>
          </p:nvPr>
        </p:nvSpPr>
        <p:spPr>
          <a:xfrm>
            <a:off x="0" y="60350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sz="1700" u="none" cap="none" strike="noStrike"/>
              <a:t>In this walk-through, we will use the following scenario to upload data into Splunk:</a:t>
            </a:r>
            <a:endParaRPr i="0" sz="1700" u="none" cap="none" strike="noStrike"/>
          </a:p>
        </p:txBody>
      </p:sp>
      <p:sp>
        <p:nvSpPr>
          <p:cNvPr id="796" name="Google Shape;796;p99"/>
          <p:cNvSpPr/>
          <p:nvPr/>
        </p:nvSpPr>
        <p:spPr>
          <a:xfrm>
            <a:off x="713125" y="1299798"/>
            <a:ext cx="8070600" cy="48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Your manager has reported some suspicious login activity on your Linux servers.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99"/>
          <p:cNvSpPr/>
          <p:nvPr/>
        </p:nvSpPr>
        <p:spPr>
          <a:xfrm>
            <a:off x="713125" y="2080429"/>
            <a:ext cx="8070600" cy="48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They have provided you with the login activity.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99"/>
          <p:cNvSpPr/>
          <p:nvPr/>
        </p:nvSpPr>
        <p:spPr>
          <a:xfrm>
            <a:off x="713125" y="2863447"/>
            <a:ext cx="8070600" cy="48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You must upload th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activity data 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into Splunk so t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hat it</a:t>
            </a:r>
            <a:r>
              <a:rPr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can be analyzed.</a:t>
            </a:r>
            <a:endParaRPr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99"/>
          <p:cNvSpPr/>
          <p:nvPr/>
        </p:nvSpPr>
        <p:spPr>
          <a:xfrm>
            <a:off x="399658" y="125606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99"/>
          <p:cNvSpPr/>
          <p:nvPr/>
        </p:nvSpPr>
        <p:spPr>
          <a:xfrm>
            <a:off x="399658" y="205041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99"/>
          <p:cNvSpPr/>
          <p:nvPr/>
        </p:nvSpPr>
        <p:spPr>
          <a:xfrm>
            <a:off x="399658" y="284236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00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 upload</a:t>
            </a:r>
            <a:endParaRPr/>
          </a:p>
        </p:txBody>
      </p:sp>
      <p:sp>
        <p:nvSpPr>
          <p:cNvPr id="807" name="Google Shape;807;p100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01"/>
          <p:cNvSpPr txBox="1"/>
          <p:nvPr>
            <p:ph idx="1" type="subTitle"/>
          </p:nvPr>
        </p:nvSpPr>
        <p:spPr>
          <a:xfrm>
            <a:off x="0" y="4568875"/>
            <a:ext cx="874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813" name="Google Shape;813;p101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Uploading data into </a:t>
            </a:r>
            <a:r>
              <a:rPr lang="en"/>
              <a:t>S</a:t>
            </a:r>
            <a:r>
              <a:rPr lang="en"/>
              <a:t>plunk</a:t>
            </a:r>
            <a:endParaRPr/>
          </a:p>
        </p:txBody>
      </p:sp>
      <p:sp>
        <p:nvSpPr>
          <p:cNvPr id="814" name="Google Shape;814;p101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upload several log files that will be used </a:t>
            </a:r>
            <a:br>
              <a:rPr lang="en"/>
            </a:br>
            <a:r>
              <a:rPr lang="en"/>
              <a:t>later to analyze security events.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02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04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05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Searching with</a:t>
            </a:r>
            <a:r>
              <a:rPr b="0"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Splunk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5" name="Google Shape;83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213" y="1589075"/>
            <a:ext cx="949575" cy="9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106"/>
          <p:cNvPicPr preferRelativeResize="0"/>
          <p:nvPr/>
        </p:nvPicPr>
        <p:blipFill rotWithShape="1">
          <a:blip r:embed="rId3">
            <a:alphaModFix/>
          </a:blip>
          <a:srcRect b="14033" l="0" r="0" t="5125"/>
          <a:stretch/>
        </p:blipFill>
        <p:spPr>
          <a:xfrm>
            <a:off x="0" y="0"/>
            <a:ext cx="9143997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106"/>
          <p:cNvSpPr/>
          <p:nvPr/>
        </p:nvSpPr>
        <p:spPr>
          <a:xfrm rot="-5400000">
            <a:off x="1991100" y="-2009400"/>
            <a:ext cx="5161800" cy="9162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06"/>
          <p:cNvSpPr/>
          <p:nvPr/>
        </p:nvSpPr>
        <p:spPr>
          <a:xfrm>
            <a:off x="0" y="2844325"/>
            <a:ext cx="7017000" cy="1374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06"/>
          <p:cNvSpPr txBox="1"/>
          <p:nvPr>
            <p:ph type="title"/>
          </p:nvPr>
        </p:nvSpPr>
        <p:spPr>
          <a:xfrm>
            <a:off x="0" y="2953576"/>
            <a:ext cx="39981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now focus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on Splunk’s most popular feature: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Searching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07"/>
          <p:cNvSpPr txBox="1"/>
          <p:nvPr>
            <p:ph idx="4294967295"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Searching with Splunk</a:t>
            </a:r>
            <a:endParaRPr/>
          </a:p>
        </p:txBody>
      </p:sp>
      <p:sp>
        <p:nvSpPr>
          <p:cNvPr id="849" name="Google Shape;849;p107"/>
          <p:cNvSpPr txBox="1"/>
          <p:nvPr>
            <p:ph idx="4294967295" type="subTitle"/>
          </p:nvPr>
        </p:nvSpPr>
        <p:spPr>
          <a:xfrm>
            <a:off x="0" y="60350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Searching in Splunk allows users to query uploaded and monitored data. </a:t>
            </a:r>
            <a:endParaRPr i="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t/>
            </a:r>
            <a:endParaRPr i="0" u="none" cap="none" strike="noStrike"/>
          </a:p>
        </p:txBody>
      </p:sp>
      <p:sp>
        <p:nvSpPr>
          <p:cNvPr id="850" name="Google Shape;850;p107"/>
          <p:cNvSpPr txBox="1"/>
          <p:nvPr>
            <p:ph idx="4294967295" type="subTitle"/>
          </p:nvPr>
        </p:nvSpPr>
        <p:spPr>
          <a:xfrm>
            <a:off x="140100" y="4599875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700"/>
              <a:buFont typeface="Roboto Light"/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b="0" i="0" lang="en" sz="1300" u="sng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docs.splunk.com</a:t>
            </a:r>
            <a:endParaRPr b="0" i="0" sz="13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51" name="Google Shape;851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75" y="1353525"/>
            <a:ext cx="6012124" cy="300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2" name="Google Shape;852;p107"/>
          <p:cNvSpPr/>
          <p:nvPr/>
        </p:nvSpPr>
        <p:spPr>
          <a:xfrm>
            <a:off x="6094400" y="1920300"/>
            <a:ext cx="334500" cy="334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07"/>
          <p:cNvSpPr/>
          <p:nvPr/>
        </p:nvSpPr>
        <p:spPr>
          <a:xfrm rot="10800000">
            <a:off x="6428900" y="1950300"/>
            <a:ext cx="414000" cy="2745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07"/>
          <p:cNvSpPr txBox="1"/>
          <p:nvPr>
            <p:ph idx="4294967295" type="body"/>
          </p:nvPr>
        </p:nvSpPr>
        <p:spPr>
          <a:xfrm>
            <a:off x="6925575" y="1920300"/>
            <a:ext cx="23772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Splunk queries </a:t>
            </a:r>
            <a:br>
              <a:rPr lang="en"/>
            </a:br>
            <a:r>
              <a:rPr b="1" lang="en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can be customized</a:t>
            </a:r>
            <a:r>
              <a:rPr lang="en">
                <a:highlight>
                  <a:srgbClr val="FECF48"/>
                </a:highlight>
              </a:rPr>
              <a:t> </a:t>
            </a:r>
            <a:br>
              <a:rPr lang="en">
                <a:highlight>
                  <a:srgbClr val="FECF48"/>
                </a:highlight>
              </a:rPr>
            </a:br>
            <a:r>
              <a:rPr lang="en"/>
              <a:t>to search only for specific data or to manipulate how the data is displayed.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08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Searching in Splunk</a:t>
            </a:r>
            <a:endParaRPr/>
          </a:p>
        </p:txBody>
      </p:sp>
      <p:sp>
        <p:nvSpPr>
          <p:cNvPr id="860" name="Google Shape;860;p108"/>
          <p:cNvSpPr txBox="1"/>
          <p:nvPr>
            <p:ph idx="4294967295" type="subTitle"/>
          </p:nvPr>
        </p:nvSpPr>
        <p:spPr>
          <a:xfrm>
            <a:off x="0" y="603500"/>
            <a:ext cx="8869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2E5E73"/>
              </a:buClr>
              <a:buSzPts val="1700"/>
              <a:buFont typeface="Roboto Light"/>
              <a:buNone/>
            </a:pPr>
            <a:r>
              <a:rPr i="0" lang="en" u="none" cap="none" strike="noStrike"/>
              <a:t>We can use Splunk queries to find specific, helpful information about </a:t>
            </a:r>
            <a:br>
              <a:rPr i="0" lang="en" u="none" cap="none" strike="noStrike"/>
            </a:br>
            <a:r>
              <a:rPr i="0" lang="en" u="none" cap="none" strike="noStrike"/>
              <a:t>a security event.</a:t>
            </a:r>
            <a:endParaRPr i="0" u="none" cap="none" strike="noStrike"/>
          </a:p>
        </p:txBody>
      </p:sp>
      <p:pic>
        <p:nvPicPr>
          <p:cNvPr id="861" name="Google Shape;861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1475" y="2659650"/>
            <a:ext cx="5939150" cy="233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108"/>
          <p:cNvSpPr txBox="1"/>
          <p:nvPr/>
        </p:nvSpPr>
        <p:spPr>
          <a:xfrm>
            <a:off x="175" y="1430925"/>
            <a:ext cx="87273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example, we can use Sp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lunk to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Determine the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primary IP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that is being attacked during a DDoS attack.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Determine the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 ID</a:t>
            </a:r>
            <a:r>
              <a:rPr i="0" lang="en" sz="18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that is being used in a brute-force attack.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108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09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Searching in Splunk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9" name="Google Shape;869;p109"/>
          <p:cNvSpPr txBox="1"/>
          <p:nvPr>
            <p:ph idx="4294967295" type="subTitle"/>
          </p:nvPr>
        </p:nvSpPr>
        <p:spPr>
          <a:xfrm>
            <a:off x="0" y="60350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Splunk searching is almost always a time-based search. </a:t>
            </a:r>
            <a:endParaRPr i="0" u="none" cap="none" strike="noStrike"/>
          </a:p>
        </p:txBody>
      </p:sp>
      <p:pic>
        <p:nvPicPr>
          <p:cNvPr id="870" name="Google Shape;870;p109"/>
          <p:cNvPicPr preferRelativeResize="0"/>
          <p:nvPr/>
        </p:nvPicPr>
        <p:blipFill rotWithShape="1">
          <a:blip r:embed="rId3">
            <a:alphaModFix/>
          </a:blip>
          <a:srcRect b="0" l="14929" r="0" t="0"/>
          <a:stretch/>
        </p:blipFill>
        <p:spPr>
          <a:xfrm>
            <a:off x="465548" y="1356725"/>
            <a:ext cx="5529475" cy="3243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sp>
        <p:nvSpPr>
          <p:cNvPr id="871" name="Google Shape;871;p109"/>
          <p:cNvSpPr/>
          <p:nvPr/>
        </p:nvSpPr>
        <p:spPr>
          <a:xfrm>
            <a:off x="4963613" y="1524300"/>
            <a:ext cx="1016100" cy="274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09"/>
          <p:cNvSpPr/>
          <p:nvPr/>
        </p:nvSpPr>
        <p:spPr>
          <a:xfrm rot="10800000">
            <a:off x="6042863" y="1524300"/>
            <a:ext cx="414000" cy="2745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09"/>
          <p:cNvSpPr txBox="1"/>
          <p:nvPr>
            <p:ph idx="4294967295" type="body"/>
          </p:nvPr>
        </p:nvSpPr>
        <p:spPr>
          <a:xfrm>
            <a:off x="6577175" y="1470625"/>
            <a:ext cx="2566500" cy="22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All events have </a:t>
            </a:r>
            <a:br>
              <a:rPr lang="en"/>
            </a:br>
            <a:r>
              <a:rPr lang="en"/>
              <a:t>associated timestamps.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/>
              <a:t>To search for events, </a:t>
            </a:r>
            <a:br>
              <a:rPr lang="en"/>
            </a:br>
            <a:r>
              <a:rPr lang="en"/>
              <a:t>we must designate </a:t>
            </a:r>
            <a:br>
              <a:rPr lang="en"/>
            </a:br>
            <a:r>
              <a:rPr lang="en"/>
              <a:t>a time range or </a:t>
            </a:r>
            <a:br>
              <a:rPr lang="en"/>
            </a:br>
            <a:r>
              <a:rPr lang="en"/>
              <a:t>real-time period.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10"/>
          <p:cNvSpPr txBox="1"/>
          <p:nvPr>
            <p:ph type="title"/>
          </p:nvPr>
        </p:nvSpPr>
        <p:spPr>
          <a:xfrm>
            <a:off x="50" y="-250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Searching in Splunk</a:t>
            </a:r>
            <a:endParaRPr/>
          </a:p>
        </p:txBody>
      </p:sp>
      <p:sp>
        <p:nvSpPr>
          <p:cNvPr id="879" name="Google Shape;879;p110"/>
          <p:cNvSpPr txBox="1"/>
          <p:nvPr>
            <p:ph idx="4294967295" type="subTitle"/>
          </p:nvPr>
        </p:nvSpPr>
        <p:spPr>
          <a:xfrm>
            <a:off x="0" y="527304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A user can select the following:</a:t>
            </a:r>
            <a:endParaRPr i="0" u="none" cap="none" strike="noStrike"/>
          </a:p>
        </p:txBody>
      </p:sp>
      <p:sp>
        <p:nvSpPr>
          <p:cNvPr id="880" name="Google Shape;880;p110"/>
          <p:cNvSpPr txBox="1"/>
          <p:nvPr/>
        </p:nvSpPr>
        <p:spPr>
          <a:xfrm>
            <a:off x="421956" y="1248975"/>
            <a:ext cx="26607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Real-</a:t>
            </a:r>
            <a:r>
              <a:rPr lang="en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</a:t>
            </a:r>
            <a:r>
              <a:rPr b="0" i="0" lang="en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ime </a:t>
            </a:r>
            <a:r>
              <a:rPr lang="en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r>
              <a:rPr b="0" i="0" lang="en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earch</a:t>
            </a:r>
            <a:endParaRPr b="0" i="0" sz="2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1" name="Google Shape;881;p110"/>
          <p:cNvSpPr txBox="1"/>
          <p:nvPr/>
        </p:nvSpPr>
        <p:spPr>
          <a:xfrm>
            <a:off x="460800" y="1895475"/>
            <a:ext cx="24723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Returns a window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real-time data as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 is happening and continues to update as the events occur.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110"/>
          <p:cNvSpPr txBox="1"/>
          <p:nvPr/>
        </p:nvSpPr>
        <p:spPr>
          <a:xfrm>
            <a:off x="3335100" y="1248975"/>
            <a:ext cx="26607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Relative </a:t>
            </a:r>
            <a:r>
              <a:rPr lang="en" sz="2000"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r>
              <a:rPr b="0" i="0" lang="en" sz="20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earch</a:t>
            </a:r>
            <a:endParaRPr b="0" i="0" sz="20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3" name="Google Shape;883;p110"/>
          <p:cNvSpPr txBox="1"/>
          <p:nvPr/>
        </p:nvSpPr>
        <p:spPr>
          <a:xfrm>
            <a:off x="3373950" y="1895475"/>
            <a:ext cx="25479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Returns data by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date, date range,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time, or time range. Results will not change even if </a:t>
            </a:r>
            <a:b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more events occur.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110"/>
          <p:cNvSpPr txBox="1"/>
          <p:nvPr/>
        </p:nvSpPr>
        <p:spPr>
          <a:xfrm>
            <a:off x="6257576" y="1248975"/>
            <a:ext cx="26607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All</a:t>
            </a:r>
            <a:r>
              <a:rPr lang="en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-T</a:t>
            </a:r>
            <a:r>
              <a:rPr b="0" i="0" lang="en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ime Search</a:t>
            </a:r>
            <a:endParaRPr b="0" i="0" sz="2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5" name="Google Shape;885;p110"/>
          <p:cNvSpPr txBox="1"/>
          <p:nvPr/>
        </p:nvSpPr>
        <p:spPr>
          <a:xfrm>
            <a:off x="6220225" y="1895475"/>
            <a:ext cx="2660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286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Returns all available data based on the search.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11"/>
          <p:cNvSpPr txBox="1"/>
          <p:nvPr>
            <p:ph type="title"/>
          </p:nvPr>
        </p:nvSpPr>
        <p:spPr>
          <a:xfrm>
            <a:off x="990125" y="1164850"/>
            <a:ext cx="7710600" cy="28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00" lIns="2377425" spcFirstLastPara="1" rIns="91425" wrap="square" tIns="457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 sz="3500">
                <a:latin typeface="Roboto"/>
                <a:ea typeface="Roboto"/>
                <a:cs typeface="Roboto"/>
                <a:sym typeface="Roboto"/>
              </a:rPr>
              <a:t>Splunk queries are designed using a coding language called </a:t>
            </a:r>
            <a:br>
              <a:rPr b="0" lang="en" sz="3500"/>
            </a:br>
            <a:r>
              <a:rPr lang="en" sz="3500">
                <a:latin typeface="Roboto"/>
                <a:ea typeface="Roboto"/>
                <a:cs typeface="Roboto"/>
                <a:sym typeface="Roboto"/>
              </a:rPr>
              <a:t>Splunk processing language (SPL)</a:t>
            </a:r>
            <a:r>
              <a:rPr b="0" lang="en" sz="3500"/>
              <a:t>.</a:t>
            </a:r>
            <a:endParaRPr b="0" sz="3500"/>
          </a:p>
        </p:txBody>
      </p:sp>
      <p:sp>
        <p:nvSpPr>
          <p:cNvPr id="891" name="Google Shape;891;p111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11"/>
          <p:cNvSpPr txBox="1"/>
          <p:nvPr/>
        </p:nvSpPr>
        <p:spPr>
          <a:xfrm>
            <a:off x="11001375" y="1272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https://www.slideshare.net/Splunk/power-of-splunk-search-processing-language-spl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2"/>
          <p:cNvSpPr txBox="1"/>
          <p:nvPr>
            <p:ph idx="4294967295"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Key-Value Pairs</a:t>
            </a:r>
            <a:endParaRPr/>
          </a:p>
        </p:txBody>
      </p:sp>
      <p:sp>
        <p:nvSpPr>
          <p:cNvPr id="898" name="Google Shape;898;p112"/>
          <p:cNvSpPr txBox="1"/>
          <p:nvPr>
            <p:ph idx="4294967295" type="subTitle"/>
          </p:nvPr>
        </p:nvSpPr>
        <p:spPr>
          <a:xfrm>
            <a:off x="0" y="599775"/>
            <a:ext cx="91440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Using k</a:t>
            </a:r>
            <a:r>
              <a:rPr i="0" lang="en" u="none" cap="none" strike="noStrike"/>
              <a:t>ey-value pairs</a:t>
            </a:r>
            <a:r>
              <a:rPr lang="en"/>
              <a:t> is </a:t>
            </a:r>
            <a:r>
              <a:rPr i="0" lang="en" u="none" cap="none" strike="noStrike"/>
              <a:t>the most common way</a:t>
            </a:r>
            <a:r>
              <a:rPr lang="en"/>
              <a:t> </a:t>
            </a:r>
            <a:r>
              <a:rPr i="0" lang="en" u="none" cap="none" strike="noStrike"/>
              <a:t>to search for </a:t>
            </a:r>
            <a:br>
              <a:rPr i="0" lang="en" u="none" cap="none" strike="noStrike"/>
            </a:br>
            <a:r>
              <a:rPr i="0" lang="en" u="none" cap="none" strike="noStrike"/>
              <a:t>data</a:t>
            </a:r>
            <a:r>
              <a:rPr lang="en"/>
              <a:t> by</a:t>
            </a:r>
            <a:r>
              <a:rPr i="0" lang="en" u="none" cap="none" strike="noStrike"/>
              <a:t> matching keywords with specific information (values).</a:t>
            </a:r>
            <a:endParaRPr i="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t/>
            </a:r>
            <a:endParaRPr b="0" i="0" u="none" cap="none" strike="noStrike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9" name="Google Shape;899;p112"/>
          <p:cNvSpPr txBox="1"/>
          <p:nvPr>
            <p:ph idx="4294967295" type="body"/>
          </p:nvPr>
        </p:nvSpPr>
        <p:spPr>
          <a:xfrm>
            <a:off x="175" y="1390650"/>
            <a:ext cx="91440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For example: </a:t>
            </a:r>
            <a:r>
              <a:rPr lang="en"/>
              <a:t>If you want to find a user named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jonathan</a:t>
            </a:r>
            <a:r>
              <a:rPr lang="en"/>
              <a:t> in </a:t>
            </a:r>
            <a:br>
              <a:rPr lang="en"/>
            </a:br>
            <a:r>
              <a:rPr lang="en"/>
              <a:t>your search results, you would design the following search:</a:t>
            </a:r>
            <a:endParaRPr/>
          </a:p>
        </p:txBody>
      </p:sp>
      <p:sp>
        <p:nvSpPr>
          <p:cNvPr id="900" name="Google Shape;900;p112"/>
          <p:cNvSpPr/>
          <p:nvPr/>
        </p:nvSpPr>
        <p:spPr>
          <a:xfrm>
            <a:off x="1076600" y="2540063"/>
            <a:ext cx="3225600" cy="8205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</a:t>
            </a:r>
            <a:r>
              <a:rPr b="0" i="0" lang="en" sz="2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jonathan</a:t>
            </a:r>
            <a:endParaRPr b="0" i="0" sz="2800" u="none" cap="none" strike="noStrike">
              <a:solidFill>
                <a:schemeClr val="dk2"/>
              </a:solidFill>
              <a:highlight>
                <a:srgbClr val="00D6CB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901" name="Google Shape;901;p112"/>
          <p:cNvCxnSpPr/>
          <p:nvPr/>
        </p:nvCxnSpPr>
        <p:spPr>
          <a:xfrm flipH="1">
            <a:off x="1338125" y="3289688"/>
            <a:ext cx="530400" cy="42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02" name="Google Shape;902;p112"/>
          <p:cNvSpPr txBox="1"/>
          <p:nvPr>
            <p:ph idx="4294967295" type="body"/>
          </p:nvPr>
        </p:nvSpPr>
        <p:spPr>
          <a:xfrm>
            <a:off x="216300" y="3753438"/>
            <a:ext cx="22359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</a:t>
            </a:r>
            <a:endParaRPr sz="2400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is the </a:t>
            </a:r>
            <a:r>
              <a:rPr b="1" lang="en" sz="2400">
                <a:solidFill>
                  <a:schemeClr val="dk2"/>
                </a:solidFill>
              </a:rPr>
              <a:t>key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903" name="Google Shape;903;p112"/>
          <p:cNvSpPr txBox="1"/>
          <p:nvPr>
            <p:ph idx="4294967295" type="subTitle"/>
          </p:nvPr>
        </p:nvSpPr>
        <p:spPr>
          <a:xfrm>
            <a:off x="2452200" y="3753438"/>
            <a:ext cx="25413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jonathan</a:t>
            </a:r>
            <a:r>
              <a:rPr b="0" i="0" lang="en" sz="2400" u="none" cap="none" strike="noStrike">
                <a:solidFill>
                  <a:schemeClr val="dk2"/>
                </a:solidFill>
                <a:highlight>
                  <a:srgbClr val="00FFFF"/>
                </a:highlight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b="0" i="0" sz="2400" u="none" cap="none" strike="noStrike">
              <a:solidFill>
                <a:schemeClr val="dk2"/>
              </a:solidFill>
              <a:highlight>
                <a:srgbClr val="00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is the </a:t>
            </a:r>
            <a:r>
              <a:rPr b="1" i="0" lang="en" sz="2400" u="none" cap="none" strike="noStrike">
                <a:solidFill>
                  <a:schemeClr val="dk2"/>
                </a:solidFill>
              </a:rPr>
              <a:t>value</a:t>
            </a:r>
            <a:endParaRPr b="1" i="0" sz="2400" u="none" cap="none" strike="noStrike">
              <a:solidFill>
                <a:schemeClr val="dk2"/>
              </a:solidFill>
            </a:endParaRPr>
          </a:p>
        </p:txBody>
      </p:sp>
      <p:sp>
        <p:nvSpPr>
          <p:cNvPr id="904" name="Google Shape;904;p112"/>
          <p:cNvSpPr txBox="1"/>
          <p:nvPr>
            <p:ph idx="4294967295" type="body"/>
          </p:nvPr>
        </p:nvSpPr>
        <p:spPr>
          <a:xfrm>
            <a:off x="5112850" y="3753450"/>
            <a:ext cx="39843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user=</a:t>
            </a:r>
            <a:r>
              <a:rPr lang="en" sz="2400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jonathan</a:t>
            </a:r>
            <a:br>
              <a:rPr lang="en" sz="2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is the </a:t>
            </a:r>
            <a:r>
              <a:rPr b="1" lang="en" sz="2400">
                <a:solidFill>
                  <a:schemeClr val="dk2"/>
                </a:solidFill>
              </a:rPr>
              <a:t>key-value pair</a:t>
            </a:r>
            <a:endParaRPr b="1" sz="2400">
              <a:solidFill>
                <a:schemeClr val="dk2"/>
              </a:solidFill>
            </a:endParaRPr>
          </a:p>
        </p:txBody>
      </p:sp>
      <p:cxnSp>
        <p:nvCxnSpPr>
          <p:cNvPr id="905" name="Google Shape;905;p112"/>
          <p:cNvCxnSpPr/>
          <p:nvPr/>
        </p:nvCxnSpPr>
        <p:spPr>
          <a:xfrm>
            <a:off x="3173800" y="3289688"/>
            <a:ext cx="530400" cy="42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pic>
        <p:nvPicPr>
          <p:cNvPr id="906" name="Google Shape;906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900" y="2492112"/>
            <a:ext cx="827450" cy="230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13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Wildcards</a:t>
            </a:r>
            <a:endParaRPr/>
          </a:p>
        </p:txBody>
      </p:sp>
      <p:sp>
        <p:nvSpPr>
          <p:cNvPr id="912" name="Google Shape;912;p113"/>
          <p:cNvSpPr txBox="1"/>
          <p:nvPr>
            <p:ph idx="4294967295" type="subTitle"/>
          </p:nvPr>
        </p:nvSpPr>
        <p:spPr>
          <a:xfrm>
            <a:off x="0" y="675975"/>
            <a:ext cx="829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Similar to other programming languages, SPL uses </a:t>
            </a:r>
            <a:r>
              <a:rPr b="1" i="0" lang="en" u="none" cap="none" strike="noStrike"/>
              <a:t>wildcards</a:t>
            </a:r>
            <a:r>
              <a:rPr i="0" lang="en" u="none" cap="none" strike="noStrike"/>
              <a:t>. When used with the wildcard symbol (*), the search results return the search term followed by any character or string in place of the wildcard symbol.</a:t>
            </a:r>
            <a:endParaRPr i="0" u="none" cap="none" strike="noStrike"/>
          </a:p>
        </p:txBody>
      </p:sp>
      <p:sp>
        <p:nvSpPr>
          <p:cNvPr id="913" name="Google Shape;913;p113"/>
          <p:cNvSpPr txBox="1"/>
          <p:nvPr>
            <p:ph idx="4294967295" type="body"/>
          </p:nvPr>
        </p:nvSpPr>
        <p:spPr>
          <a:xfrm>
            <a:off x="175" y="1817650"/>
            <a:ext cx="45084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For example: </a:t>
            </a:r>
            <a:endParaRPr b="1" sz="1900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SzPts val="1400"/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user=mary*</a:t>
            </a:r>
            <a:r>
              <a:rPr lang="en"/>
              <a:t> would return:</a:t>
            </a:r>
            <a:endParaRPr/>
          </a:p>
        </p:txBody>
      </p:sp>
      <p:sp>
        <p:nvSpPr>
          <p:cNvPr id="914" name="Google Shape;914;p113"/>
          <p:cNvSpPr/>
          <p:nvPr/>
        </p:nvSpPr>
        <p:spPr>
          <a:xfrm>
            <a:off x="3998550" y="2060350"/>
            <a:ext cx="26007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mary</a:t>
            </a:r>
            <a:r>
              <a:rPr b="0" i="0" lang="en" sz="2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ann</a:t>
            </a:r>
            <a:endParaRPr b="0" i="0" sz="2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15" name="Google Shape;915;p113"/>
          <p:cNvSpPr/>
          <p:nvPr/>
        </p:nvSpPr>
        <p:spPr>
          <a:xfrm>
            <a:off x="3998550" y="2976750"/>
            <a:ext cx="26007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mary</a:t>
            </a:r>
            <a:r>
              <a:rPr b="0" i="0" lang="en" sz="2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beth</a:t>
            </a:r>
            <a:endParaRPr b="0" i="0" sz="2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16" name="Google Shape;916;p113"/>
          <p:cNvSpPr/>
          <p:nvPr/>
        </p:nvSpPr>
        <p:spPr>
          <a:xfrm>
            <a:off x="3998550" y="3893150"/>
            <a:ext cx="26007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mary</a:t>
            </a:r>
            <a:r>
              <a:rPr b="0" i="0" lang="en" sz="2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belle</a:t>
            </a:r>
            <a:endParaRPr b="0" i="0" sz="2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17" name="Google Shape;917;p113"/>
          <p:cNvSpPr/>
          <p:nvPr/>
        </p:nvSpPr>
        <p:spPr>
          <a:xfrm>
            <a:off x="472950" y="2778350"/>
            <a:ext cx="25446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user=</a:t>
            </a: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mary*</a:t>
            </a:r>
            <a:endParaRPr b="0" i="0" sz="2800" u="none" cap="none" strike="noStrike">
              <a:solidFill>
                <a:schemeClr val="dk2"/>
              </a:solidFill>
              <a:highlight>
                <a:srgbClr val="00D6CB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918" name="Google Shape;918;p113"/>
          <p:cNvCxnSpPr/>
          <p:nvPr/>
        </p:nvCxnSpPr>
        <p:spPr>
          <a:xfrm flipH="1">
            <a:off x="3017550" y="2464050"/>
            <a:ext cx="981000" cy="69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19" name="Google Shape;919;p113"/>
          <p:cNvCxnSpPr>
            <a:stCxn id="916" idx="1"/>
          </p:cNvCxnSpPr>
          <p:nvPr/>
        </p:nvCxnSpPr>
        <p:spPr>
          <a:xfrm rot="10800000">
            <a:off x="3017550" y="3147950"/>
            <a:ext cx="981000" cy="108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20" name="Google Shape;920;p113"/>
          <p:cNvCxnSpPr>
            <a:stCxn id="915" idx="1"/>
          </p:cNvCxnSpPr>
          <p:nvPr/>
        </p:nvCxnSpPr>
        <p:spPr>
          <a:xfrm rot="10800000">
            <a:off x="3017550" y="3154050"/>
            <a:ext cx="981000" cy="16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14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Wildcards</a:t>
            </a:r>
            <a:endParaRPr/>
          </a:p>
        </p:txBody>
      </p:sp>
      <p:sp>
        <p:nvSpPr>
          <p:cNvPr id="926" name="Google Shape;926;p114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Wildcards can also be used to find a value surrounded by any character.</a:t>
            </a:r>
            <a:endParaRPr i="0" u="none" cap="none" strike="noStrike"/>
          </a:p>
        </p:txBody>
      </p:sp>
      <p:sp>
        <p:nvSpPr>
          <p:cNvPr id="927" name="Google Shape;927;p114"/>
          <p:cNvSpPr txBox="1"/>
          <p:nvPr>
            <p:ph idx="4294967295" type="body"/>
          </p:nvPr>
        </p:nvSpPr>
        <p:spPr>
          <a:xfrm>
            <a:off x="175" y="1817650"/>
            <a:ext cx="4508400" cy="7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For example: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SzPts val="1400"/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user=*beth*</a:t>
            </a:r>
            <a:r>
              <a:rPr lang="en"/>
              <a:t> would return:</a:t>
            </a:r>
            <a:endParaRPr/>
          </a:p>
        </p:txBody>
      </p:sp>
      <p:sp>
        <p:nvSpPr>
          <p:cNvPr id="928" name="Google Shape;928;p114"/>
          <p:cNvSpPr/>
          <p:nvPr/>
        </p:nvSpPr>
        <p:spPr>
          <a:xfrm>
            <a:off x="3998550" y="2060350"/>
            <a:ext cx="26007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mary </a:t>
            </a: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beth</a:t>
            </a:r>
            <a:endParaRPr b="0" i="0" sz="2800" u="none" cap="none" strike="noStrike">
              <a:solidFill>
                <a:schemeClr val="dk2"/>
              </a:solidFill>
              <a:highlight>
                <a:srgbClr val="00D6CB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29" name="Google Shape;929;p114"/>
          <p:cNvSpPr/>
          <p:nvPr/>
        </p:nvSpPr>
        <p:spPr>
          <a:xfrm>
            <a:off x="3998550" y="2976750"/>
            <a:ext cx="26007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beth</a:t>
            </a:r>
            <a:r>
              <a:rPr b="0" i="0" lang="en" sz="2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anny</a:t>
            </a:r>
            <a:endParaRPr b="0" i="0" sz="2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30" name="Google Shape;930;p114"/>
          <p:cNvSpPr/>
          <p:nvPr/>
        </p:nvSpPr>
        <p:spPr>
          <a:xfrm>
            <a:off x="3998550" y="3893150"/>
            <a:ext cx="26007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eliza</a:t>
            </a: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beth</a:t>
            </a:r>
            <a:endParaRPr b="0" i="0" sz="2800" u="none" cap="none" strike="noStrike">
              <a:solidFill>
                <a:schemeClr val="dk2"/>
              </a:solidFill>
              <a:highlight>
                <a:srgbClr val="00D6CB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31" name="Google Shape;931;p114"/>
          <p:cNvSpPr/>
          <p:nvPr/>
        </p:nvSpPr>
        <p:spPr>
          <a:xfrm>
            <a:off x="472950" y="2778350"/>
            <a:ext cx="25446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user=</a:t>
            </a:r>
            <a:r>
              <a:rPr b="0" i="0" lang="en" sz="28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Inconsolata"/>
                <a:ea typeface="Inconsolata"/>
                <a:cs typeface="Inconsolata"/>
                <a:sym typeface="Inconsolata"/>
              </a:rPr>
              <a:t>*beth*</a:t>
            </a:r>
            <a:endParaRPr b="0" i="0" sz="2800" u="none" cap="none" strike="noStrike">
              <a:solidFill>
                <a:schemeClr val="dk2"/>
              </a:solidFill>
              <a:highlight>
                <a:srgbClr val="00D6CB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932" name="Google Shape;932;p114"/>
          <p:cNvCxnSpPr/>
          <p:nvPr/>
        </p:nvCxnSpPr>
        <p:spPr>
          <a:xfrm flipH="1">
            <a:off x="3017550" y="2464050"/>
            <a:ext cx="981000" cy="69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33" name="Google Shape;933;p114"/>
          <p:cNvCxnSpPr>
            <a:stCxn id="930" idx="1"/>
          </p:cNvCxnSpPr>
          <p:nvPr/>
        </p:nvCxnSpPr>
        <p:spPr>
          <a:xfrm rot="10800000">
            <a:off x="3017550" y="3147950"/>
            <a:ext cx="981000" cy="108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34" name="Google Shape;934;p114"/>
          <p:cNvCxnSpPr>
            <a:stCxn id="929" idx="1"/>
          </p:cNvCxnSpPr>
          <p:nvPr/>
        </p:nvCxnSpPr>
        <p:spPr>
          <a:xfrm rot="10800000">
            <a:off x="3017550" y="3154050"/>
            <a:ext cx="981000" cy="16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15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Boolean Expressions</a:t>
            </a:r>
            <a:endParaRPr/>
          </a:p>
        </p:txBody>
      </p:sp>
      <p:sp>
        <p:nvSpPr>
          <p:cNvPr id="940" name="Google Shape;940;p115"/>
          <p:cNvSpPr txBox="1"/>
          <p:nvPr>
            <p:ph idx="4294967295" type="subTitle"/>
          </p:nvPr>
        </p:nvSpPr>
        <p:spPr>
          <a:xfrm>
            <a:off x="0" y="675975"/>
            <a:ext cx="8246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u="none" cap="none" strike="noStrike"/>
              <a:t>SPL uses the Boolean expressions</a:t>
            </a:r>
            <a:r>
              <a:rPr b="0" i="0" lang="en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u="none" cap="none" strike="noStrike"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i="0" lang="en" u="none" cap="none" strike="noStrike"/>
              <a:t>,</a:t>
            </a:r>
            <a:r>
              <a:rPr b="0" i="0" lang="en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u="none" cap="none" strike="noStrike"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i="0" lang="en" u="none" cap="none" strike="noStrike"/>
              <a:t>,</a:t>
            </a:r>
            <a:r>
              <a:rPr b="0" i="0" lang="en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u="none" cap="none" strike="noStrike"/>
              <a:t>and</a:t>
            </a:r>
            <a:r>
              <a:rPr b="0" i="0" lang="en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u="none" cap="none" strike="noStrike"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b="0" i="0" lang="en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u="none" cap="none" strike="noStrike"/>
              <a:t>to assist </a:t>
            </a:r>
            <a:br>
              <a:rPr i="0" lang="en" u="none" cap="none" strike="noStrike"/>
            </a:br>
            <a:r>
              <a:rPr i="0" lang="en" u="none" cap="none" strike="noStrike"/>
              <a:t>in searching for specific data.</a:t>
            </a:r>
            <a:endParaRPr i="0" u="none" cap="none" strike="noStrike"/>
          </a:p>
        </p:txBody>
      </p:sp>
      <p:graphicFrame>
        <p:nvGraphicFramePr>
          <p:cNvPr id="941" name="Google Shape;941;p115"/>
          <p:cNvGraphicFramePr/>
          <p:nvPr/>
        </p:nvGraphicFramePr>
        <p:xfrm>
          <a:off x="457200" y="1618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{D548AF0A-4A15-48A5-AAEB-BC40537E2A46}</a:tableStyleId>
              </a:tblPr>
              <a:tblGrid>
                <a:gridCol w="1289850"/>
                <a:gridCol w="2884225"/>
                <a:gridCol w="4326050"/>
              </a:tblGrid>
              <a:tr h="44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Expression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7425" marB="27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Use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7425" marB="27425" marR="9142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Example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27425" marB="27425" marR="9142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8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AND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Combines two </a:t>
                      </a:r>
                      <a:b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key-value searches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9142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user=jonathan </a:t>
                      </a:r>
                      <a:r>
                        <a:rPr b="1"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AND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activity=login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26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Looks for multiple instances of a </a:t>
                      </a:r>
                      <a:b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key-value pair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9142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user=jonathan </a:t>
                      </a:r>
                      <a:r>
                        <a:rPr b="1"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user=beth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Excludes certain values from search results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9142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user=jonathan </a:t>
                      </a:r>
                      <a:r>
                        <a:rPr b="1"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</a:t>
                      </a: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activity=logout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201150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16"/>
          <p:cNvSpPr txBox="1"/>
          <p:nvPr>
            <p:ph idx="4294967295"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Search Demonstration</a:t>
            </a:r>
            <a:endParaRPr/>
          </a:p>
        </p:txBody>
      </p:sp>
      <p:sp>
        <p:nvSpPr>
          <p:cNvPr id="947" name="Google Shape;947;p116"/>
          <p:cNvSpPr/>
          <p:nvPr/>
        </p:nvSpPr>
        <p:spPr>
          <a:xfrm>
            <a:off x="1352550" y="1313699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16"/>
          <p:cNvSpPr txBox="1"/>
          <p:nvPr/>
        </p:nvSpPr>
        <p:spPr>
          <a:xfrm>
            <a:off x="1521275" y="1335249"/>
            <a:ext cx="7056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Your manager has reported some suspicious login activity on your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Linux servers.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116"/>
          <p:cNvSpPr/>
          <p:nvPr/>
        </p:nvSpPr>
        <p:spPr>
          <a:xfrm>
            <a:off x="1352550" y="2099611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16"/>
          <p:cNvSpPr/>
          <p:nvPr/>
        </p:nvSpPr>
        <p:spPr>
          <a:xfrm>
            <a:off x="1352550" y="2922724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16"/>
          <p:cNvSpPr txBox="1"/>
          <p:nvPr/>
        </p:nvSpPr>
        <p:spPr>
          <a:xfrm>
            <a:off x="1521275" y="2102025"/>
            <a:ext cx="73485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They would like you to write a query to look at these activities,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specifically for logins coming from the source</a:t>
            </a:r>
            <a:r>
              <a:rPr i="0" lang="en" sz="18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i="0" lang="en" sz="18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IP 10.11.36.17</a:t>
            </a:r>
            <a:r>
              <a:rPr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116"/>
          <p:cNvSpPr txBox="1"/>
          <p:nvPr/>
        </p:nvSpPr>
        <p:spPr>
          <a:xfrm>
            <a:off x="1521275" y="2925124"/>
            <a:ext cx="7056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They believe this IP is from a machine infected with malware.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116"/>
          <p:cNvSpPr txBox="1"/>
          <p:nvPr>
            <p:ph idx="4294967295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We will use the following scenario:</a:t>
            </a:r>
            <a:endParaRPr i="0" u="none" cap="none" strike="noStrike"/>
          </a:p>
        </p:txBody>
      </p:sp>
      <p:grpSp>
        <p:nvGrpSpPr>
          <p:cNvPr id="954" name="Google Shape;954;p116"/>
          <p:cNvGrpSpPr/>
          <p:nvPr/>
        </p:nvGrpSpPr>
        <p:grpSpPr>
          <a:xfrm>
            <a:off x="440125" y="1365475"/>
            <a:ext cx="776900" cy="486300"/>
            <a:chOff x="457200" y="1466425"/>
            <a:chExt cx="776900" cy="486300"/>
          </a:xfrm>
        </p:grpSpPr>
        <p:sp>
          <p:nvSpPr>
            <p:cNvPr id="955" name="Google Shape;955;p116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6" name="Google Shape;956;p116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7" name="Google Shape;957;p116"/>
          <p:cNvGrpSpPr/>
          <p:nvPr/>
        </p:nvGrpSpPr>
        <p:grpSpPr>
          <a:xfrm>
            <a:off x="440125" y="2172730"/>
            <a:ext cx="776900" cy="486300"/>
            <a:chOff x="457200" y="1466425"/>
            <a:chExt cx="776900" cy="486300"/>
          </a:xfrm>
        </p:grpSpPr>
        <p:sp>
          <p:nvSpPr>
            <p:cNvPr id="958" name="Google Shape;958;p116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9" name="Google Shape;959;p116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0" name="Google Shape;960;p116"/>
          <p:cNvGrpSpPr/>
          <p:nvPr/>
        </p:nvGrpSpPr>
        <p:grpSpPr>
          <a:xfrm>
            <a:off x="440125" y="2979985"/>
            <a:ext cx="776900" cy="486300"/>
            <a:chOff x="457200" y="1466425"/>
            <a:chExt cx="776900" cy="486300"/>
          </a:xfrm>
        </p:grpSpPr>
        <p:sp>
          <p:nvSpPr>
            <p:cNvPr id="961" name="Google Shape;961;p116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2" name="Google Shape;962;p116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63" name="Google Shape;963;p116"/>
          <p:cNvSpPr/>
          <p:nvPr/>
        </p:nvSpPr>
        <p:spPr>
          <a:xfrm>
            <a:off x="175" y="3810000"/>
            <a:ext cx="9144000" cy="914400"/>
          </a:xfrm>
          <a:prstGeom prst="roundRect">
            <a:avLst>
              <a:gd fmla="val 0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-57150" lvl="0" marL="2171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lt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src_ip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the field name for the source IP.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4" name="Google Shape;964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727" y="3914730"/>
            <a:ext cx="706371" cy="6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17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Searching</a:t>
            </a:r>
            <a:endParaRPr/>
          </a:p>
        </p:txBody>
      </p:sp>
      <p:sp>
        <p:nvSpPr>
          <p:cNvPr id="970" name="Google Shape;970;p117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18"/>
          <p:cNvSpPr txBox="1"/>
          <p:nvPr>
            <p:ph idx="1" type="subTitle"/>
          </p:nvPr>
        </p:nvSpPr>
        <p:spPr>
          <a:xfrm>
            <a:off x="0" y="4568875"/>
            <a:ext cx="868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976" name="Google Shape;976;p11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 search</a:t>
            </a:r>
            <a:endParaRPr/>
          </a:p>
        </p:txBody>
      </p:sp>
      <p:sp>
        <p:nvSpPr>
          <p:cNvPr id="977" name="Google Shape;977;p11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design SPL searches to run against the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vulnerability-scanning log file nessus.txt.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19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20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2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Searching Fields with</a:t>
            </a:r>
            <a:r>
              <a:rPr b="0"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Splunk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3" name="Google Shape;993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213" y="1589075"/>
            <a:ext cx="949575" cy="9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122"/>
          <p:cNvPicPr preferRelativeResize="0"/>
          <p:nvPr/>
        </p:nvPicPr>
        <p:blipFill rotWithShape="1">
          <a:blip r:embed="rId3">
            <a:alphaModFix/>
          </a:blip>
          <a:srcRect b="0" l="22212" r="2695" t="0"/>
          <a:stretch/>
        </p:blipFill>
        <p:spPr>
          <a:xfrm>
            <a:off x="0" y="-2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122"/>
          <p:cNvSpPr txBox="1"/>
          <p:nvPr>
            <p:ph idx="4294967295"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Searching Fields with Splunk</a:t>
            </a:r>
            <a:endParaRPr/>
          </a:p>
        </p:txBody>
      </p:sp>
      <p:sp>
        <p:nvSpPr>
          <p:cNvPr id="1000" name="Google Shape;1000;p122"/>
          <p:cNvSpPr txBox="1"/>
          <p:nvPr>
            <p:ph idx="4294967295" type="subTitle"/>
          </p:nvPr>
        </p:nvSpPr>
        <p:spPr>
          <a:xfrm>
            <a:off x="0" y="675975"/>
            <a:ext cx="46365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So far we</a:t>
            </a:r>
            <a:r>
              <a:rPr lang="en"/>
              <a:t>’</a:t>
            </a:r>
            <a:r>
              <a:rPr i="0" lang="en" u="none" cap="none" strike="noStrike"/>
              <a:t>ve manually typed out the keys and values for our SPL </a:t>
            </a:r>
            <a:r>
              <a:rPr lang="en"/>
              <a:t>q</a:t>
            </a:r>
            <a:r>
              <a:rPr i="0" lang="en" u="none" cap="none" strike="noStrike"/>
              <a:t>ueries.</a:t>
            </a:r>
            <a:endParaRPr i="0" u="none" cap="none" strike="noStrike"/>
          </a:p>
        </p:txBody>
      </p:sp>
      <p:sp>
        <p:nvSpPr>
          <p:cNvPr id="1001" name="Google Shape;1001;p122"/>
          <p:cNvSpPr txBox="1"/>
          <p:nvPr>
            <p:ph idx="4294967295" type="body"/>
          </p:nvPr>
        </p:nvSpPr>
        <p:spPr>
          <a:xfrm>
            <a:off x="75" y="1838775"/>
            <a:ext cx="41700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b="1" lang="en"/>
              <a:t>The more complex the </a:t>
            </a:r>
            <a:br>
              <a:rPr b="1" lang="en"/>
            </a:br>
            <a:r>
              <a:rPr b="1" lang="en"/>
              <a:t>queries become, the </a:t>
            </a:r>
            <a:br>
              <a:rPr b="1" lang="en"/>
            </a:br>
            <a:r>
              <a:rPr b="1" lang="en"/>
              <a:t>more </a:t>
            </a:r>
            <a:r>
              <a:rPr b="1" lang="en"/>
              <a:t>t</a:t>
            </a:r>
            <a:r>
              <a:rPr b="1" lang="en"/>
              <a:t>ime-consuming </a:t>
            </a:r>
            <a:br>
              <a:rPr b="1" lang="en"/>
            </a:br>
            <a:r>
              <a:rPr b="1" lang="en"/>
              <a:t>this task will be.</a:t>
            </a:r>
            <a:endParaRPr b="1"/>
          </a:p>
        </p:txBody>
      </p:sp>
      <p:sp>
        <p:nvSpPr>
          <p:cNvPr id="1002" name="Google Shape;1002;p122"/>
          <p:cNvSpPr txBox="1"/>
          <p:nvPr>
            <p:ph idx="4294967295" type="body"/>
          </p:nvPr>
        </p:nvSpPr>
        <p:spPr>
          <a:xfrm>
            <a:off x="75" y="3985625"/>
            <a:ext cx="4840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"/>
              <a:t>Sometimes we don’t know the values or the format of the values that exist </a:t>
            </a:r>
            <a:br>
              <a:rPr lang="en"/>
            </a:br>
            <a:r>
              <a:rPr lang="en"/>
              <a:t>in the search results.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23"/>
          <p:cNvSpPr txBox="1"/>
          <p:nvPr>
            <p:ph type="title"/>
          </p:nvPr>
        </p:nvSpPr>
        <p:spPr>
          <a:xfrm>
            <a:off x="844500" y="1925250"/>
            <a:ext cx="79065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00" lIns="2377425" spcFirstLastPara="1" rIns="91425" wrap="square" tIns="457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Each server and application creates </a:t>
            </a:r>
            <a:br>
              <a:rPr b="0" lang="en">
                <a:latin typeface="Roboto"/>
                <a:ea typeface="Roboto"/>
                <a:cs typeface="Roboto"/>
                <a:sym typeface="Roboto"/>
              </a:rPr>
            </a:br>
            <a:r>
              <a:rPr b="0" lang="en">
                <a:latin typeface="Roboto"/>
                <a:ea typeface="Roboto"/>
                <a:cs typeface="Roboto"/>
                <a:sym typeface="Roboto"/>
              </a:rPr>
              <a:t>their own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key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and </a:t>
            </a:r>
            <a:br>
              <a:rPr b="0"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value names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.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24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Complexities of SPL Queries  </a:t>
            </a:r>
            <a:endParaRPr/>
          </a:p>
        </p:txBody>
      </p:sp>
      <p:sp>
        <p:nvSpPr>
          <p:cNvPr id="1013" name="Google Shape;1013;p124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b="1" i="0" lang="en" u="none" cap="none" strike="noStrike">
                <a:latin typeface="Roboto"/>
                <a:ea typeface="Roboto"/>
                <a:cs typeface="Roboto"/>
                <a:sym typeface="Roboto"/>
              </a:rPr>
              <a:t>For example:</a:t>
            </a:r>
            <a:r>
              <a:rPr b="0" i="0" lang="en" u="none" cap="none" strike="noStrike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i="0" lang="en" u="none" cap="none" strike="noStrike"/>
              <a:t>If we need to find users that logged in to a machine:</a:t>
            </a:r>
            <a:endParaRPr i="0" u="none" cap="none" strike="noStrike"/>
          </a:p>
        </p:txBody>
      </p:sp>
      <p:sp>
        <p:nvSpPr>
          <p:cNvPr id="1014" name="Google Shape;1014;p124"/>
          <p:cNvSpPr/>
          <p:nvPr/>
        </p:nvSpPr>
        <p:spPr>
          <a:xfrm>
            <a:off x="1443475" y="2052750"/>
            <a:ext cx="2447700" cy="6630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Activity</a:t>
            </a:r>
            <a:endParaRPr b="0" i="0" sz="22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15" name="Google Shape;1015;p124"/>
          <p:cNvSpPr/>
          <p:nvPr/>
        </p:nvSpPr>
        <p:spPr>
          <a:xfrm>
            <a:off x="1443475" y="2897925"/>
            <a:ext cx="2447700" cy="6630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Event_type</a:t>
            </a:r>
            <a:endParaRPr b="0" i="0" sz="22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16" name="Google Shape;1016;p124"/>
          <p:cNvSpPr/>
          <p:nvPr/>
        </p:nvSpPr>
        <p:spPr>
          <a:xfrm>
            <a:off x="1443475" y="3743099"/>
            <a:ext cx="2447700" cy="6630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User_activity</a:t>
            </a:r>
            <a:endParaRPr b="0" i="0" sz="22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17" name="Google Shape;1017;p124"/>
          <p:cNvSpPr/>
          <p:nvPr/>
        </p:nvSpPr>
        <p:spPr>
          <a:xfrm>
            <a:off x="5271200" y="2052750"/>
            <a:ext cx="2447700" cy="6630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Login</a:t>
            </a:r>
            <a:endParaRPr b="0" i="0" sz="22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18" name="Google Shape;1018;p124"/>
          <p:cNvSpPr/>
          <p:nvPr/>
        </p:nvSpPr>
        <p:spPr>
          <a:xfrm>
            <a:off x="5271200" y="2897925"/>
            <a:ext cx="2447700" cy="6630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Logon</a:t>
            </a:r>
            <a:endParaRPr b="0" i="0" sz="22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19" name="Google Shape;1019;p124"/>
          <p:cNvSpPr/>
          <p:nvPr/>
        </p:nvSpPr>
        <p:spPr>
          <a:xfrm>
            <a:off x="5271200" y="3743099"/>
            <a:ext cx="2447700" cy="6630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Logged In</a:t>
            </a:r>
            <a:endParaRPr b="0" i="0" sz="220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020" name="Google Shape;1020;p124"/>
          <p:cNvSpPr txBox="1"/>
          <p:nvPr/>
        </p:nvSpPr>
        <p:spPr>
          <a:xfrm>
            <a:off x="1443475" y="1399550"/>
            <a:ext cx="244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0" i="0" lang="e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2000" u="none" cap="none" strike="noStrike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key</a:t>
            </a:r>
            <a:r>
              <a:rPr b="0" i="0" lang="e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might be: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1" name="Google Shape;1021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125" y="1399550"/>
            <a:ext cx="827425" cy="33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124"/>
          <p:cNvSpPr txBox="1"/>
          <p:nvPr/>
        </p:nvSpPr>
        <p:spPr>
          <a:xfrm>
            <a:off x="5147600" y="1399550"/>
            <a:ext cx="26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0" i="0" lang="e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2000" u="none" cap="none" strike="noStrike">
                <a:solidFill>
                  <a:schemeClr val="dk2"/>
                </a:solidFill>
                <a:highlight>
                  <a:srgbClr val="00D6CB"/>
                </a:highlight>
                <a:latin typeface="Roboto"/>
                <a:ea typeface="Roboto"/>
                <a:cs typeface="Roboto"/>
                <a:sym typeface="Roboto"/>
              </a:rPr>
              <a:t>value</a:t>
            </a:r>
            <a:r>
              <a:rPr b="0" i="0" lang="en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might be:</a:t>
            </a:r>
            <a:endParaRPr b="0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25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125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Splunk fields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6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Search Fields</a:t>
            </a:r>
            <a:endParaRPr/>
          </a:p>
        </p:txBody>
      </p:sp>
      <p:sp>
        <p:nvSpPr>
          <p:cNvPr id="1034" name="Google Shape;1034;p126"/>
          <p:cNvSpPr txBox="1"/>
          <p:nvPr>
            <p:ph idx="4294967295" type="subTitle"/>
          </p:nvPr>
        </p:nvSpPr>
        <p:spPr>
          <a:xfrm>
            <a:off x="100" y="675975"/>
            <a:ext cx="33966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u="none" cap="none" strike="noStrike"/>
              <a:t>When files are uploaded and parsed, the data is separated into fields, as shown on the left side of Splunk’s search page.</a:t>
            </a:r>
            <a:endParaRPr i="0" u="none" cap="none" strike="noStrike"/>
          </a:p>
        </p:txBody>
      </p:sp>
      <p:pic>
        <p:nvPicPr>
          <p:cNvPr id="1035" name="Google Shape;1035;p126"/>
          <p:cNvPicPr preferRelativeResize="0"/>
          <p:nvPr/>
        </p:nvPicPr>
        <p:blipFill rotWithShape="1">
          <a:blip r:embed="rId3">
            <a:alphaModFix/>
          </a:blip>
          <a:srcRect b="0" l="0" r="48482" t="4012"/>
          <a:stretch/>
        </p:blipFill>
        <p:spPr>
          <a:xfrm>
            <a:off x="3459425" y="366237"/>
            <a:ext cx="1617425" cy="43647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6" name="Google Shape;1036;p126"/>
          <p:cNvSpPr txBox="1"/>
          <p:nvPr>
            <p:ph idx="4294967295" type="body"/>
          </p:nvPr>
        </p:nvSpPr>
        <p:spPr>
          <a:xfrm>
            <a:off x="5238863" y="1141950"/>
            <a:ext cx="2920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Appear in every log event.</a:t>
            </a:r>
            <a:endParaRPr/>
          </a:p>
        </p:txBody>
      </p:sp>
      <p:sp>
        <p:nvSpPr>
          <p:cNvPr id="1037" name="Google Shape;1037;p126"/>
          <p:cNvSpPr txBox="1"/>
          <p:nvPr>
            <p:ph idx="4294967295" type="body"/>
          </p:nvPr>
        </p:nvSpPr>
        <p:spPr>
          <a:xfrm>
            <a:off x="5238875" y="2389350"/>
            <a:ext cx="3175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Appear in at least 20% </a:t>
            </a:r>
            <a:br>
              <a:rPr lang="en"/>
            </a:br>
            <a:r>
              <a:rPr lang="en"/>
              <a:t>of the log events.</a:t>
            </a:r>
            <a:endParaRPr/>
          </a:p>
        </p:txBody>
      </p:sp>
      <p:sp>
        <p:nvSpPr>
          <p:cNvPr id="1038" name="Google Shape;1038;p126"/>
          <p:cNvSpPr/>
          <p:nvPr/>
        </p:nvSpPr>
        <p:spPr>
          <a:xfrm>
            <a:off x="3459375" y="840650"/>
            <a:ext cx="1677900" cy="2385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26"/>
          <p:cNvSpPr/>
          <p:nvPr/>
        </p:nvSpPr>
        <p:spPr>
          <a:xfrm rot="10800000">
            <a:off x="4980543" y="766184"/>
            <a:ext cx="1677900" cy="365700"/>
          </a:xfrm>
          <a:prstGeom prst="homePlate">
            <a:avLst>
              <a:gd fmla="val 44822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26"/>
          <p:cNvSpPr txBox="1"/>
          <p:nvPr/>
        </p:nvSpPr>
        <p:spPr>
          <a:xfrm>
            <a:off x="5151274" y="741750"/>
            <a:ext cx="139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Default </a:t>
            </a: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F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ields</a:t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41" name="Google Shape;1041;p126"/>
          <p:cNvSpPr/>
          <p:nvPr/>
        </p:nvSpPr>
        <p:spPr>
          <a:xfrm>
            <a:off x="3459375" y="1966900"/>
            <a:ext cx="1677900" cy="2385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26"/>
          <p:cNvSpPr/>
          <p:nvPr/>
        </p:nvSpPr>
        <p:spPr>
          <a:xfrm rot="10800000">
            <a:off x="4980543" y="1915575"/>
            <a:ext cx="1677900" cy="3657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26"/>
          <p:cNvSpPr txBox="1"/>
          <p:nvPr/>
        </p:nvSpPr>
        <p:spPr>
          <a:xfrm>
            <a:off x="5151283" y="1904550"/>
            <a:ext cx="15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Interesting </a:t>
            </a: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F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ields</a:t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44" name="Google Shape;1044;p126"/>
          <p:cNvSpPr txBox="1"/>
          <p:nvPr>
            <p:ph idx="4294967295" type="subTitle"/>
          </p:nvPr>
        </p:nvSpPr>
        <p:spPr>
          <a:xfrm>
            <a:off x="5238875" y="3531300"/>
            <a:ext cx="32571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None/>
            </a:pPr>
            <a:r>
              <a:rPr lang="en"/>
              <a:t>A</a:t>
            </a:r>
            <a:r>
              <a:rPr i="0" lang="en" u="none" cap="none" strike="noStrike"/>
              <a:t> number </a:t>
            </a:r>
            <a:r>
              <a:rPr lang="en"/>
              <a:t>on the right of each field </a:t>
            </a:r>
            <a:r>
              <a:rPr i="0" lang="en" u="none" cap="none" strike="noStrike"/>
              <a:t>indicating the count of different values for that field.</a:t>
            </a:r>
            <a:endParaRPr i="0" u="none" cap="none" strike="noStrike"/>
          </a:p>
        </p:txBody>
      </p:sp>
      <p:sp>
        <p:nvSpPr>
          <p:cNvPr id="1045" name="Google Shape;1045;p126"/>
          <p:cNvSpPr/>
          <p:nvPr/>
        </p:nvSpPr>
        <p:spPr>
          <a:xfrm>
            <a:off x="4678216" y="3117250"/>
            <a:ext cx="459000" cy="238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26"/>
          <p:cNvSpPr/>
          <p:nvPr/>
        </p:nvSpPr>
        <p:spPr>
          <a:xfrm rot="10800000">
            <a:off x="4980543" y="3055449"/>
            <a:ext cx="1677900" cy="365700"/>
          </a:xfrm>
          <a:prstGeom prst="homePlate">
            <a:avLst>
              <a:gd fmla="val 4482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26"/>
          <p:cNvSpPr txBox="1"/>
          <p:nvPr/>
        </p:nvSpPr>
        <p:spPr>
          <a:xfrm>
            <a:off x="5151283" y="3054900"/>
            <a:ext cx="15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Value </a:t>
            </a: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</a:t>
            </a: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ount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27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27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Creating queries by selecting fields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2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1059" name="Google Shape;1059;p12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 fields with Splunk</a:t>
            </a:r>
            <a:endParaRPr/>
          </a:p>
        </p:txBody>
      </p:sp>
      <p:sp>
        <p:nvSpPr>
          <p:cNvPr id="1060" name="Google Shape;1060;p12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create complex SPL queries by selecting fields </a:t>
            </a:r>
            <a:br>
              <a:rPr lang="en"/>
            </a:br>
            <a:r>
              <a:rPr lang="en"/>
              <a:t>in your Splunk search.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29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0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3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Advanced Searches with</a:t>
            </a:r>
            <a:r>
              <a:rPr b="0"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Piping</a:t>
            </a:r>
            <a:r>
              <a:rPr b="0" lang="en"/>
              <a:t> </a:t>
            </a:r>
            <a:endParaRPr b="0"/>
          </a:p>
        </p:txBody>
      </p:sp>
      <p:pic>
        <p:nvPicPr>
          <p:cNvPr id="1076" name="Google Shape;107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213" y="1589075"/>
            <a:ext cx="949575" cy="9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32"/>
          <p:cNvSpPr txBox="1"/>
          <p:nvPr>
            <p:ph type="title"/>
          </p:nvPr>
        </p:nvSpPr>
        <p:spPr>
          <a:xfrm>
            <a:off x="50" y="-250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SPL Piping</a:t>
            </a:r>
            <a:endParaRPr/>
          </a:p>
        </p:txBody>
      </p:sp>
      <p:sp>
        <p:nvSpPr>
          <p:cNvPr id="1082" name="Google Shape;1082;p132"/>
          <p:cNvSpPr txBox="1"/>
          <p:nvPr>
            <p:ph idx="4294967295" type="subTitle"/>
          </p:nvPr>
        </p:nvSpPr>
        <p:spPr>
          <a:xfrm>
            <a:off x="0" y="599775"/>
            <a:ext cx="8298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None/>
            </a:pPr>
            <a:r>
              <a:rPr i="0" lang="en" u="none" cap="none" strike="noStrike"/>
              <a:t>We can add piping to our SPL queries to modify or adjust the display of the results, or to create custom reports.</a:t>
            </a:r>
            <a:endParaRPr i="0" u="none" cap="none" strike="noStrike"/>
          </a:p>
        </p:txBody>
      </p:sp>
      <p:sp>
        <p:nvSpPr>
          <p:cNvPr id="1083" name="Google Shape;1083;p132"/>
          <p:cNvSpPr txBox="1"/>
          <p:nvPr>
            <p:ph idx="1" type="body"/>
          </p:nvPr>
        </p:nvSpPr>
        <p:spPr>
          <a:xfrm>
            <a:off x="5723825" y="3554125"/>
            <a:ext cx="2902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800"/>
              <a:t>Piping works in Splunk 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800"/>
              <a:t>as it does in Linux: </a:t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t</a:t>
            </a:r>
            <a:r>
              <a:rPr lang="en" sz="1800"/>
              <a:t>he data is modified from left to right as it flows through the pipeline.</a:t>
            </a:r>
            <a:endParaRPr sz="1800"/>
          </a:p>
        </p:txBody>
      </p:sp>
      <p:sp>
        <p:nvSpPr>
          <p:cNvPr id="1084" name="Google Shape;1084;p132"/>
          <p:cNvSpPr/>
          <p:nvPr/>
        </p:nvSpPr>
        <p:spPr>
          <a:xfrm>
            <a:off x="281025" y="1761675"/>
            <a:ext cx="8588700" cy="6852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" sz="1450" u="none" cap="none" strike="noStrike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source="Linux_login.csv" host="Linux_Server__" sourcetype="csv" | head 20 | sort src_ip</a:t>
            </a:r>
            <a:endParaRPr b="0" i="0" sz="1450" u="none" cap="none" strike="noStrike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cxnSp>
        <p:nvCxnSpPr>
          <p:cNvPr id="1085" name="Google Shape;1085;p132"/>
          <p:cNvCxnSpPr/>
          <p:nvPr/>
        </p:nvCxnSpPr>
        <p:spPr>
          <a:xfrm rot="10800000">
            <a:off x="6508925" y="2273600"/>
            <a:ext cx="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6" name="Google Shape;1086;p132"/>
          <p:cNvSpPr/>
          <p:nvPr/>
        </p:nvSpPr>
        <p:spPr>
          <a:xfrm>
            <a:off x="6435250" y="1968800"/>
            <a:ext cx="165600" cy="304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4654" y="3617554"/>
            <a:ext cx="802050" cy="9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32"/>
          <p:cNvSpPr/>
          <p:nvPr/>
        </p:nvSpPr>
        <p:spPr>
          <a:xfrm>
            <a:off x="7351025" y="1968800"/>
            <a:ext cx="165600" cy="304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9" name="Google Shape;1089;p132"/>
          <p:cNvCxnSpPr/>
          <p:nvPr/>
        </p:nvCxnSpPr>
        <p:spPr>
          <a:xfrm rot="10800000">
            <a:off x="7434525" y="2273600"/>
            <a:ext cx="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0" name="Google Shape;1090;p132"/>
          <p:cNvSpPr/>
          <p:nvPr/>
        </p:nvSpPr>
        <p:spPr>
          <a:xfrm>
            <a:off x="5616700" y="2665100"/>
            <a:ext cx="2948100" cy="74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137150" spcFirstLastPara="1" rIns="914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 piping uses the </a:t>
            </a:r>
            <a:r>
              <a:rPr i="0" lang="en" sz="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symbol in the search queries.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3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3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SPL piping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34"/>
          <p:cNvSpPr txBox="1"/>
          <p:nvPr>
            <p:ph idx="1" type="subTitle"/>
          </p:nvPr>
        </p:nvSpPr>
        <p:spPr>
          <a:xfrm>
            <a:off x="0" y="4568875"/>
            <a:ext cx="868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/>
              <a:t>10 minutes</a:t>
            </a:r>
            <a:endParaRPr/>
          </a:p>
        </p:txBody>
      </p:sp>
      <p:sp>
        <p:nvSpPr>
          <p:cNvPr id="1102" name="Google Shape;1102;p13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searches with piping </a:t>
            </a:r>
            <a:endParaRPr/>
          </a:p>
        </p:txBody>
      </p:sp>
      <p:sp>
        <p:nvSpPr>
          <p:cNvPr id="1103" name="Google Shape;1103;p134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run several advanced searches to find </a:t>
            </a:r>
            <a:br>
              <a:rPr lang="en"/>
            </a:br>
            <a:r>
              <a:rPr lang="en"/>
              <a:t>out whether a specific user is being targeted by an attacker.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35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36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