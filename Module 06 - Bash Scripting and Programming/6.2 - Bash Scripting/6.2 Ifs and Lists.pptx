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B18450-3CB6-4380-85C5-84720A3C3953}">
  <a:tblStyle styleId="{11B18450-3CB6-4380-85C5-84720A3C39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f76b728eb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f76b728eb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source: shutterstock_1665404392</a:t>
            </a:r>
            <a:endParaRPr i="1"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76b728ebe_0_2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2f76b728ebe_0_2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f76b728ebe_0_2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f76b728ebe_0_2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f76b728ebe_0_2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2f76b728ebe_0_2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f76b728ebe_0_2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f76b728ebe_0_2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f76b728ebe_0_2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2f76b728ebe_0_2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f76b728ebe_0_2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f76b728ebe_0_2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2f76b728ebe_0_2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2f76b728ebe_0_2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76b728ebe_0_2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76b728ebe_0_2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f76b728ebe_0_3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f76b728ebe_0_3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f76b728ebe_0_3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f76b728ebe_0_3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f76b728ebe_0_5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f76b728ebe_0_5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f76b728ebe_0_39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f76b728ebe_0_39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f76b728ebe_0_3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f76b728ebe_0_3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2f76b728ebe_0_4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2f76b728ebe_0_4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f76b728ebe_0_4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f76b728ebe_0_4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f76b728ebe_0_4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f76b728ebe_0_4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f76b728ebe_0_5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f76b728ebe_0_5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f76b728ebe_0_5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2f76b728ebe_0_5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f76b728ebe_0_6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f76b728ebe_0_6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f76b728ebe_0_6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f76b728ebe_0_6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f76b728ebe_0_6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f76b728ebe_0_6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f76b728ebe_0_6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f76b728ebe_0_6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f76b728ebe_0_6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f76b728ebe_0_6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f76b728ebe_0_6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f76b728ebe_0_6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f76b728ebe_0_6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f76b728ebe_0_6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f76b728ebe_0_6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f76b728ebe_0_6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f76b728ebe_0_6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f76b728ebe_0_6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f76b728ebe_0_6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2f76b728ebe_0_6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f76b728ebe_0_6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f76b728ebe_0_6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f76b728ebe_0_6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f76b728ebe_0_6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f76b728ebe_0_6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f76b728ebe_0_6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2f6b54f9d13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2f6b54f9d13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f6b54f9d13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f6b54f9d13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f6b54f9d13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f6b54f9d13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f6b54f9d13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f6b54f9d13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f76b728ebe_0_6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f76b728ebe_0_6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f76b728ebe_0_7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f76b728ebe_0_7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shutterstock_144883519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f76b728ebe_0_8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f76b728ebe_0_8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f76b728ebe_0_8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f76b728ebe_0_8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f3b1f22086_1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f3b1f22086_1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f76b728ebe_0_8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f76b728ebe_0_8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f6b54f9d13_0_2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f6b54f9d13_0_2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6b54f9d13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6b54f9d13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f6b54f9d13_0_2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f6b54f9d13_0_2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f6b54f9d13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f6b54f9d13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f3c77fc7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f3c77fc7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f6b54f9d13_0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2f6b54f9d13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f76b728ebe_0_8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f76b728ebe_0_8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f76b728ebe_0_9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f76b728ebe_0_9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f76b728ebe_0_9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f76b728ebe_0_9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f6b54f9d13_0_2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f6b54f9d13_0_2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f3c77fc737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f3c77fc737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f2ee463b77_0_7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f2ee463b77_0_7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f2ee463b77_0_7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f2ee463b77_0_7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f76b728ebe_0_9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f76b728ebe_0_9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shutterstock_1209178531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0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5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1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8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8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0" name="Google Shape;410;p58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8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8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9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5" name="Google Shape;415;p5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jp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jp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jpg"/><Relationship Id="rId4" Type="http://schemas.openxmlformats.org/officeDocument/2006/relationships/image" Target="../media/image9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jp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jpg"/><Relationship Id="rId4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png"/><Relationship Id="rId4" Type="http://schemas.openxmlformats.org/officeDocument/2006/relationships/image" Target="../media/image55.png"/><Relationship Id="rId5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6.jpg"/><Relationship Id="rId4" Type="http://schemas.openxmlformats.org/officeDocument/2006/relationships/image" Target="../media/image38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jpg"/><Relationship Id="rId4" Type="http://schemas.openxmlformats.org/officeDocument/2006/relationships/image" Target="../media/image50.jp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jpg"/><Relationship Id="rId4" Type="http://schemas.openxmlformats.org/officeDocument/2006/relationships/image" Target="../media/image9.png"/><Relationship Id="rId5" Type="http://schemas.openxmlformats.org/officeDocument/2006/relationships/image" Target="../media/image5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Ifs and Lists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22" name="Google Shape;422;p60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23" name="Google Shape;423;p60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6.2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29" name="Google Shape;429;p6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61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31" name="Google Shape;431;p61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2" name="Google Shape;432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33" name="Google Shape;433;p61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34" name="Google Shape;434;p61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61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61"/>
          <p:cNvSpPr/>
          <p:nvPr/>
        </p:nvSpPr>
        <p:spPr>
          <a:xfrm>
            <a:off x="543450" y="264582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1"/>
          <p:cNvSpPr/>
          <p:nvPr/>
        </p:nvSpPr>
        <p:spPr>
          <a:xfrm>
            <a:off x="543450" y="33596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61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61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1"/>
          <p:cNvSpPr/>
          <p:nvPr/>
        </p:nvSpPr>
        <p:spPr>
          <a:xfrm>
            <a:off x="482300" y="26371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1"/>
          <p:cNvSpPr/>
          <p:nvPr/>
        </p:nvSpPr>
        <p:spPr>
          <a:xfrm>
            <a:off x="482300" y="33509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1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Read Bash and interpret scripts.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1"/>
          <p:cNvSpPr txBox="1"/>
          <p:nvPr/>
        </p:nvSpPr>
        <p:spPr>
          <a:xfrm>
            <a:off x="970350" y="19526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variables in Bash scripts.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1"/>
          <p:cNvSpPr txBox="1"/>
          <p:nvPr/>
        </p:nvSpPr>
        <p:spPr>
          <a:xfrm>
            <a:off x="970350" y="264582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statements in Bash scripts.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61"/>
          <p:cNvSpPr txBox="1"/>
          <p:nvPr/>
        </p:nvSpPr>
        <p:spPr>
          <a:xfrm>
            <a:off x="970350" y="335967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lists in Bash scripts.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61"/>
          <p:cNvSpPr/>
          <p:nvPr/>
        </p:nvSpPr>
        <p:spPr>
          <a:xfrm>
            <a:off x="543450" y="407352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61"/>
          <p:cNvSpPr/>
          <p:nvPr/>
        </p:nvSpPr>
        <p:spPr>
          <a:xfrm>
            <a:off x="482300" y="40648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61"/>
          <p:cNvSpPr txBox="1"/>
          <p:nvPr/>
        </p:nvSpPr>
        <p:spPr>
          <a:xfrm>
            <a:off x="970350" y="407352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Iterate through lists with a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for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loop.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/>
              <a:t> Statements 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58" name="Google Shape;4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550" y="1559568"/>
            <a:ext cx="3687600" cy="3190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64"/>
          <p:cNvCxnSpPr/>
          <p:nvPr/>
        </p:nvCxnSpPr>
        <p:spPr>
          <a:xfrm>
            <a:off x="2136200" y="1919955"/>
            <a:ext cx="1221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5" name="Google Shape;465;p64"/>
          <p:cNvSpPr txBox="1"/>
          <p:nvPr/>
        </p:nvSpPr>
        <p:spPr>
          <a:xfrm>
            <a:off x="4047175" y="2379025"/>
            <a:ext cx="3256500" cy="34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Forensics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use them for investigations.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6" name="Google Shape;466;p64"/>
          <p:cNvCxnSpPr/>
          <p:nvPr/>
        </p:nvCxnSpPr>
        <p:spPr>
          <a:xfrm>
            <a:off x="3378775" y="2547175"/>
            <a:ext cx="668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64"/>
          <p:cNvSpPr txBox="1"/>
          <p:nvPr/>
        </p:nvSpPr>
        <p:spPr>
          <a:xfrm>
            <a:off x="5503875" y="3021125"/>
            <a:ext cx="2807400" cy="574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Pentesters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use them to probe networks and find vulnerabilities.</a:t>
            </a:r>
            <a:endParaRPr i="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4"/>
          <p:cNvCxnSpPr>
            <a:endCxn id="467" idx="1"/>
          </p:cNvCxnSpPr>
          <p:nvPr/>
        </p:nvCxnSpPr>
        <p:spPr>
          <a:xfrm>
            <a:off x="4704075" y="3308525"/>
            <a:ext cx="799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64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Bash Scripting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470" name="Google Shape;470;p6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64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lt1"/>
                </a:solidFill>
              </a:rPr>
              <a:t>Bash scripting is a vital skill for any cybersecurity professional. Scripts can be used for the following: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72" name="Google Shape;472;p64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64"/>
          <p:cNvSpPr txBox="1"/>
          <p:nvPr/>
        </p:nvSpPr>
        <p:spPr>
          <a:xfrm>
            <a:off x="2952125" y="1565225"/>
            <a:ext cx="3391200" cy="53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System administrators</a:t>
            </a:r>
            <a:r>
              <a:rPr lang="en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(sysadmins) use them to set up and configure machines.</a:t>
            </a:r>
            <a:endParaRPr i="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65"/>
          <p:cNvGrpSpPr/>
          <p:nvPr/>
        </p:nvGrpSpPr>
        <p:grpSpPr>
          <a:xfrm>
            <a:off x="-3" y="1525417"/>
            <a:ext cx="8686828" cy="400200"/>
            <a:chOff x="-3" y="1885788"/>
            <a:chExt cx="8686828" cy="400200"/>
          </a:xfrm>
        </p:grpSpPr>
        <p:cxnSp>
          <p:nvCxnSpPr>
            <p:cNvPr id="479" name="Google Shape;479;p6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80" name="Google Shape;480;p6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81" name="Google Shape;481;p6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4" name="Google Shape;484;p65"/>
          <p:cNvGrpSpPr/>
          <p:nvPr/>
        </p:nvGrpSpPr>
        <p:grpSpPr>
          <a:xfrm>
            <a:off x="-3" y="2211159"/>
            <a:ext cx="8686828" cy="400200"/>
            <a:chOff x="-3" y="2566213"/>
            <a:chExt cx="8686828" cy="400200"/>
          </a:xfrm>
        </p:grpSpPr>
        <p:cxnSp>
          <p:nvCxnSpPr>
            <p:cNvPr id="485" name="Google Shape;485;p65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86" name="Google Shape;486;p65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9" name="Google Shape;489;p65"/>
          <p:cNvGrpSpPr/>
          <p:nvPr/>
        </p:nvGrpSpPr>
        <p:grpSpPr>
          <a:xfrm>
            <a:off x="-3" y="2896901"/>
            <a:ext cx="8684268" cy="402300"/>
            <a:chOff x="-3" y="3236976"/>
            <a:chExt cx="8684268" cy="402300"/>
          </a:xfrm>
        </p:grpSpPr>
        <p:cxnSp>
          <p:nvCxnSpPr>
            <p:cNvPr id="490" name="Google Shape;490;p65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91" name="Google Shape;491;p65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4" name="Google Shape;494;p65"/>
          <p:cNvSpPr txBox="1"/>
          <p:nvPr>
            <p:ph idx="4294967295" type="body"/>
          </p:nvPr>
        </p:nvSpPr>
        <p:spPr>
          <a:xfrm>
            <a:off x="914400" y="15424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/>
              <a:t> statements to control flow based on conditions</a:t>
            </a:r>
            <a:endParaRPr/>
          </a:p>
        </p:txBody>
      </p:sp>
      <p:sp>
        <p:nvSpPr>
          <p:cNvPr id="495" name="Google Shape;495;p65"/>
          <p:cNvSpPr txBox="1"/>
          <p:nvPr>
            <p:ph idx="4294967295" type="body"/>
          </p:nvPr>
        </p:nvSpPr>
        <p:spPr>
          <a:xfrm>
            <a:off x="914400" y="22279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or </a:t>
            </a:r>
            <a:r>
              <a:rPr lang="en"/>
              <a:t>loops to complete repetitive tasks</a:t>
            </a:r>
            <a:endParaRPr/>
          </a:p>
        </p:txBody>
      </p:sp>
      <p:sp>
        <p:nvSpPr>
          <p:cNvPr id="496" name="Google Shape;496;p65"/>
          <p:cNvSpPr txBox="1"/>
          <p:nvPr>
            <p:ph idx="4294967295" type="body"/>
          </p:nvPr>
        </p:nvSpPr>
        <p:spPr>
          <a:xfrm>
            <a:off x="914400" y="293351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automate the setup of a machine</a:t>
            </a:r>
            <a:endParaRPr/>
          </a:p>
        </p:txBody>
      </p:sp>
      <p:sp>
        <p:nvSpPr>
          <p:cNvPr id="497" name="Google Shape;497;p6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Scripting Skills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498" name="Google Shape;498;p65"/>
          <p:cNvSpPr txBox="1"/>
          <p:nvPr>
            <p:ph idx="1" type="subTitle"/>
          </p:nvPr>
        </p:nvSpPr>
        <p:spPr>
          <a:xfrm>
            <a:off x="463225" y="548650"/>
            <a:ext cx="82296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Today, we’ll continue to develop our scripting skills to incorporate the following into our script: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and Decision-Making</a:t>
            </a:r>
            <a:endParaRPr/>
          </a:p>
        </p:txBody>
      </p:sp>
      <p:sp>
        <p:nvSpPr>
          <p:cNvPr id="504" name="Google Shape;504;p6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will need our scripts to make decisions based on specific criteria</a:t>
            </a:r>
            <a:endParaRPr/>
          </a:p>
        </p:txBody>
      </p:sp>
      <p:sp>
        <p:nvSpPr>
          <p:cNvPr id="505" name="Google Shape;505;p66"/>
          <p:cNvSpPr txBox="1"/>
          <p:nvPr>
            <p:ph idx="2" type="body"/>
          </p:nvPr>
        </p:nvSpPr>
        <p:spPr>
          <a:xfrm>
            <a:off x="4572000" y="1063525"/>
            <a:ext cx="4118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scripts can </a:t>
            </a:r>
            <a:r>
              <a:rPr b="1" lang="en"/>
              <a:t>check</a:t>
            </a:r>
            <a:r>
              <a:rPr lang="en"/>
              <a:t> for: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Directories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Permissions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the results, the script can take a specific action.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6" name="Google Shape;50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8012" y="1088625"/>
            <a:ext cx="5888024" cy="4054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51" y="24250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and Decision-Making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accomplish these tasks, we will need to learn a few scripting techniques: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7"/>
          <p:cNvSpPr txBox="1"/>
          <p:nvPr>
            <p:ph idx="2" type="body"/>
          </p:nvPr>
        </p:nvSpPr>
        <p:spPr>
          <a:xfrm>
            <a:off x="222975" y="1639425"/>
            <a:ext cx="4486800" cy="3102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/>
              <a:t> statements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if/else</a:t>
            </a:r>
            <a:r>
              <a:rPr lang="en"/>
              <a:t> statements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Comparing multiple conditions 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if/else</a:t>
            </a:r>
            <a:r>
              <a:rPr lang="en"/>
              <a:t> statements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67"/>
          <p:cNvPicPr preferRelativeResize="0"/>
          <p:nvPr/>
        </p:nvPicPr>
        <p:blipFill rotWithShape="1">
          <a:blip r:embed="rId3">
            <a:alphaModFix/>
          </a:blip>
          <a:srcRect b="0" l="6664" r="6664" t="0"/>
          <a:stretch/>
        </p:blipFill>
        <p:spPr>
          <a:xfrm>
            <a:off x="9143999" y="2285989"/>
            <a:ext cx="3950299" cy="3036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4600" y="1478913"/>
            <a:ext cx="4486800" cy="3089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51" y="24250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Criteria and Decision-Making</a:t>
            </a:r>
            <a:endParaRPr/>
          </a:p>
        </p:txBody>
      </p:sp>
      <p:sp>
        <p:nvSpPr>
          <p:cNvPr id="523" name="Google Shape;523;p6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need our scripts to make decisions based on specific criteria.</a:t>
            </a:r>
            <a:endParaRPr/>
          </a:p>
        </p:txBody>
      </p:sp>
      <p:sp>
        <p:nvSpPr>
          <p:cNvPr id="524" name="Google Shape;524;p68"/>
          <p:cNvSpPr txBox="1"/>
          <p:nvPr>
            <p:ph idx="2" type="body"/>
          </p:nvPr>
        </p:nvSpPr>
        <p:spPr>
          <a:xfrm>
            <a:off x="4572000" y="1063525"/>
            <a:ext cx="41187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/>
              <a:t>is used in our scripts as part of a </a:t>
            </a:r>
            <a:r>
              <a:rPr b="1" lang="en"/>
              <a:t>conditional statement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Based on a</a:t>
            </a:r>
            <a:r>
              <a:rPr b="1" lang="en"/>
              <a:t> specific condition</a:t>
            </a:r>
            <a:r>
              <a:rPr lang="en"/>
              <a:t> (or criterion), the script will take a certain action: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If </a:t>
            </a:r>
            <a:r>
              <a:rPr lang="en"/>
              <a:t>this command runs, </a:t>
            </a:r>
            <a:r>
              <a:rPr b="1" lang="en"/>
              <a:t>then</a:t>
            </a:r>
            <a:r>
              <a:rPr lang="en"/>
              <a:t> exit the script.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If</a:t>
            </a:r>
            <a:r>
              <a:rPr lang="en"/>
              <a:t> this file exists, </a:t>
            </a:r>
            <a:r>
              <a:rPr b="1" lang="en"/>
              <a:t>then</a:t>
            </a:r>
            <a:r>
              <a:rPr lang="en"/>
              <a:t> run that command.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5" name="Google Shape;525;p68"/>
          <p:cNvPicPr preferRelativeResize="0"/>
          <p:nvPr/>
        </p:nvPicPr>
        <p:blipFill rotWithShape="1">
          <a:blip r:embed="rId3">
            <a:alphaModFix/>
          </a:blip>
          <a:srcRect b="11567" l="0" r="0" t="11574"/>
          <a:stretch/>
        </p:blipFill>
        <p:spPr>
          <a:xfrm>
            <a:off x="9316613" y="2373500"/>
            <a:ext cx="3604173" cy="27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77525" y="1035876"/>
            <a:ext cx="5327049" cy="36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51" y="24250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311700" y="1044400"/>
            <a:ext cx="3702600" cy="335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will give a quick overview of each technique and then provide a few specific demonstrations.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We will also encounter </a:t>
            </a:r>
            <a:r>
              <a:rPr b="1" lang="en"/>
              <a:t>comments</a:t>
            </a:r>
            <a:r>
              <a:rPr lang="en"/>
              <a:t> and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exit </a:t>
            </a:r>
            <a:r>
              <a:rPr lang="en"/>
              <a:t>command.</a:t>
            </a:r>
            <a:endParaRPr/>
          </a:p>
        </p:txBody>
      </p:sp>
      <p:pic>
        <p:nvPicPr>
          <p:cNvPr id="533" name="Google Shape;533;p69"/>
          <p:cNvPicPr preferRelativeResize="0"/>
          <p:nvPr/>
        </p:nvPicPr>
        <p:blipFill rotWithShape="1">
          <a:blip r:embed="rId3">
            <a:alphaModFix/>
          </a:blip>
          <a:srcRect b="14203" l="0" r="0" t="14203"/>
          <a:stretch/>
        </p:blipFill>
        <p:spPr>
          <a:xfrm>
            <a:off x="9326950" y="1558925"/>
            <a:ext cx="5007027" cy="35845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4" name="Google Shape;534;p69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35" name="Google Shape;535;p69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69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9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6700" y="954150"/>
            <a:ext cx="4824900" cy="3322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545" name="Google Shape;545;p7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546" name="Google Shape;54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0"/>
          <p:cNvSpPr/>
          <p:nvPr/>
        </p:nvSpPr>
        <p:spPr>
          <a:xfrm>
            <a:off x="-12300" y="1395225"/>
            <a:ext cx="9168600" cy="660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</a:t>
            </a:r>
            <a:r>
              <a:rPr lang="en" sz="24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This is a comment</a:t>
            </a:r>
            <a:endParaRPr sz="24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grpSp>
        <p:nvGrpSpPr>
          <p:cNvPr id="548" name="Google Shape;548;p70"/>
          <p:cNvGrpSpPr/>
          <p:nvPr/>
        </p:nvGrpSpPr>
        <p:grpSpPr>
          <a:xfrm>
            <a:off x="-3" y="2668417"/>
            <a:ext cx="8686828" cy="400200"/>
            <a:chOff x="-3" y="1885788"/>
            <a:chExt cx="8686828" cy="400200"/>
          </a:xfrm>
        </p:grpSpPr>
        <p:cxnSp>
          <p:nvCxnSpPr>
            <p:cNvPr id="549" name="Google Shape;549;p70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50" name="Google Shape;550;p70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51" name="Google Shape;551;p70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70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70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4" name="Google Shape;554;p70"/>
          <p:cNvGrpSpPr/>
          <p:nvPr/>
        </p:nvGrpSpPr>
        <p:grpSpPr>
          <a:xfrm>
            <a:off x="-3" y="3201759"/>
            <a:ext cx="8686828" cy="400200"/>
            <a:chOff x="-3" y="2566213"/>
            <a:chExt cx="8686828" cy="400200"/>
          </a:xfrm>
        </p:grpSpPr>
        <p:cxnSp>
          <p:nvCxnSpPr>
            <p:cNvPr id="555" name="Google Shape;555;p70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56" name="Google Shape;556;p70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70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70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59" name="Google Shape;559;p70"/>
          <p:cNvGrpSpPr/>
          <p:nvPr/>
        </p:nvGrpSpPr>
        <p:grpSpPr>
          <a:xfrm>
            <a:off x="-3" y="3735101"/>
            <a:ext cx="8684268" cy="402300"/>
            <a:chOff x="-3" y="3236976"/>
            <a:chExt cx="8684268" cy="402300"/>
          </a:xfrm>
        </p:grpSpPr>
        <p:cxnSp>
          <p:nvCxnSpPr>
            <p:cNvPr id="560" name="Google Shape;560;p70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61" name="Google Shape;561;p70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70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70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64" name="Google Shape;564;p70"/>
          <p:cNvSpPr txBox="1"/>
          <p:nvPr>
            <p:ph idx="4294967295" type="body"/>
          </p:nvPr>
        </p:nvSpPr>
        <p:spPr>
          <a:xfrm>
            <a:off x="914400" y="26854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</a:t>
            </a:r>
            <a:r>
              <a:rPr lang="en"/>
              <a:t> comment is a </a:t>
            </a:r>
            <a:r>
              <a:rPr b="1" lang="en"/>
              <a:t>non-executable</a:t>
            </a:r>
            <a:r>
              <a:rPr lang="en"/>
              <a:t> line of text.</a:t>
            </a:r>
            <a:endParaRPr/>
          </a:p>
        </p:txBody>
      </p:sp>
      <p:sp>
        <p:nvSpPr>
          <p:cNvPr id="565" name="Google Shape;565;p70"/>
          <p:cNvSpPr txBox="1"/>
          <p:nvPr>
            <p:ph idx="4294967295" type="body"/>
          </p:nvPr>
        </p:nvSpPr>
        <p:spPr>
          <a:xfrm>
            <a:off x="914400" y="32185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</a:t>
            </a:r>
            <a:r>
              <a:rPr lang="en"/>
              <a:t>elps the developers remember what their script is supposed to do. </a:t>
            </a:r>
            <a:endParaRPr/>
          </a:p>
        </p:txBody>
      </p:sp>
      <p:sp>
        <p:nvSpPr>
          <p:cNvPr id="566" name="Google Shape;566;p70"/>
          <p:cNvSpPr txBox="1"/>
          <p:nvPr>
            <p:ph idx="4294967295" type="body"/>
          </p:nvPr>
        </p:nvSpPr>
        <p:spPr>
          <a:xfrm>
            <a:off x="914400" y="377171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</a:t>
            </a:r>
            <a:r>
              <a:rPr lang="en"/>
              <a:t>lace a </a:t>
            </a:r>
            <a:r>
              <a:rPr b="1" lang="en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# </a:t>
            </a:r>
            <a:r>
              <a:rPr lang="en"/>
              <a:t>in front of any line we want to be a comment.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/>
              <a:t> Syntax</a:t>
            </a:r>
            <a:endParaRPr/>
          </a:p>
        </p:txBody>
      </p:sp>
      <p:sp>
        <p:nvSpPr>
          <p:cNvPr id="572" name="Google Shape;572;p7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573" name="Google Shape;57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71"/>
          <p:cNvSpPr/>
          <p:nvPr/>
        </p:nvSpPr>
        <p:spPr>
          <a:xfrm>
            <a:off x="-12175" y="1433700"/>
            <a:ext cx="5020200" cy="284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[ &lt;test&gt; ]</a:t>
            </a:r>
            <a:endParaRPr sz="1800">
              <a:solidFill>
                <a:schemeClr val="accent4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then</a:t>
            </a: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800">
              <a:solidFill>
                <a:srgbClr val="00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&lt;run_this_command&gt;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chemeClr val="accent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575" name="Google Shape;575;p71"/>
          <p:cNvGraphicFramePr/>
          <p:nvPr/>
        </p:nvGraphicFramePr>
        <p:xfrm>
          <a:off x="5213463" y="1433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777550"/>
                <a:gridCol w="2878650"/>
              </a:tblGrid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Initiates our if statement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[]</a:t>
                      </a:r>
                      <a:endParaRPr sz="1800">
                        <a:solidFill>
                          <a:schemeClr val="accent4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Encapsulates the condition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1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00FF00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 runs following commands if the condition is met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chemeClr val="accent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/>
              <a:t> Syntax</a:t>
            </a:r>
            <a:endParaRPr/>
          </a:p>
        </p:txBody>
      </p:sp>
      <p:sp>
        <p:nvSpPr>
          <p:cNvPr id="581" name="Google Shape;581;p7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582" name="Google Shape;58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2"/>
          <p:cNvSpPr/>
          <p:nvPr/>
        </p:nvSpPr>
        <p:spPr>
          <a:xfrm>
            <a:off x="-12175" y="998975"/>
            <a:ext cx="9168600" cy="1739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[ 5 -gt 8 ]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  echo “This doesn’t make sense!”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584" name="Google Shape;584;p72"/>
          <p:cNvGraphicFramePr/>
          <p:nvPr/>
        </p:nvGraphicFramePr>
        <p:xfrm>
          <a:off x="326625" y="2872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957775"/>
                <a:gridCol w="5533200"/>
              </a:tblGrid>
              <a:tr h="3825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[ 5 -gt 8 ]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will check if 5 is greater than 8.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825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r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uns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the following commands if the condition is met.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3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“This doesn’t make sense!”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will have the script print to the screen “That doesn't make sense!”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25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ends the if statement.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if/else</a:t>
            </a:r>
            <a:r>
              <a:rPr lang="en"/>
              <a:t> Syntax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591" name="Google Shape;59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73"/>
          <p:cNvSpPr/>
          <p:nvPr/>
        </p:nvSpPr>
        <p:spPr>
          <a:xfrm>
            <a:off x="-12175" y="1357500"/>
            <a:ext cx="4330500" cy="3506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&lt;test&gt;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&lt;run_this_code&gt;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else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&lt;run_this_code&gt;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593" name="Google Shape;593;p73"/>
          <p:cNvGraphicFramePr/>
          <p:nvPr/>
        </p:nvGraphicFramePr>
        <p:xfrm>
          <a:off x="4639013" y="1357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107625"/>
                <a:gridCol w="2105650"/>
              </a:tblGrid>
              <a:tr h="763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br>
                        <a:rPr lang="en" sz="1800">
                          <a:solidFill>
                            <a:srgbClr val="00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</a:b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&lt;condition&gt; 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this test is true...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6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the following code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80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the following code if the condition is false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0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f/else</a:t>
            </a:r>
            <a:r>
              <a:rPr lang="en"/>
              <a:t> Syntax</a:t>
            </a:r>
            <a:endParaRPr/>
          </a:p>
        </p:txBody>
      </p:sp>
      <p:sp>
        <p:nvSpPr>
          <p:cNvPr id="599" name="Google Shape;599;p7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600" name="Google Shape;60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4"/>
          <p:cNvSpPr/>
          <p:nvPr/>
        </p:nvSpPr>
        <p:spPr>
          <a:xfrm>
            <a:off x="-12175" y="987550"/>
            <a:ext cx="9168600" cy="187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[ 5 -gt 4 ]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echo "That is correct!"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else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echo "That doesn't make sense!"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02" name="Google Shape;602;p74"/>
          <p:cNvGraphicFramePr/>
          <p:nvPr/>
        </p:nvGraphicFramePr>
        <p:xfrm>
          <a:off x="785888" y="3006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702775"/>
                <a:gridCol w="515905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7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[ 5 -gt 4 ]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will check if 5 is greater than 4.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7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following code if the condition is met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“That is correct!”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Is printed to the screen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1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</a:t>
                      </a:r>
                      <a:endParaRPr sz="17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the following code if the condition is unmet: 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6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echo “This doesn’t make sense!”</a:t>
                      </a:r>
                      <a:r>
                        <a:rPr b="1" lang="en" sz="1600">
                          <a:solidFill>
                            <a:schemeClr val="accent1"/>
                          </a:solidFill>
                          <a:highlight>
                            <a:srgbClr val="000000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b="1" sz="1600">
                        <a:solidFill>
                          <a:schemeClr val="accent1"/>
                        </a:solidFill>
                        <a:highlight>
                          <a:srgbClr val="000000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75"/>
          <p:cNvSpPr txBox="1"/>
          <p:nvPr>
            <p:ph idx="1" type="body"/>
          </p:nvPr>
        </p:nvSpPr>
        <p:spPr>
          <a:xfrm>
            <a:off x="3359025" y="1377600"/>
            <a:ext cx="5707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anyone remember how a </a:t>
            </a:r>
            <a:r>
              <a:rPr b="1" lang="en"/>
              <a:t>string of commands</a:t>
            </a:r>
            <a:r>
              <a:rPr lang="en"/>
              <a:t> </a:t>
            </a:r>
            <a:r>
              <a:rPr lang="en"/>
              <a:t>separated</a:t>
            </a:r>
            <a:r>
              <a:rPr lang="en"/>
              <a:t> by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;</a:t>
            </a:r>
            <a:r>
              <a:rPr lang="en"/>
              <a:t> or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/>
              <a:t> is affected?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/>
              <a:t> Syntax</a:t>
            </a:r>
            <a:endParaRPr/>
          </a:p>
        </p:txBody>
      </p:sp>
      <p:sp>
        <p:nvSpPr>
          <p:cNvPr id="613" name="Google Shape;613;p7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614" name="Google Shape;61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6"/>
          <p:cNvSpPr/>
          <p:nvPr/>
        </p:nvSpPr>
        <p:spPr>
          <a:xfrm>
            <a:off x="-12175" y="1044700"/>
            <a:ext cx="9211500" cy="185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&lt;condition_1&gt; ]</a:t>
            </a: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&amp;&amp;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&lt;condition_2&gt;</a:t>
            </a: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]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&lt;run_this_code&gt;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16" name="Google Shape;616;p76"/>
          <p:cNvGraphicFramePr/>
          <p:nvPr/>
        </p:nvGraphicFramePr>
        <p:xfrm>
          <a:off x="594838" y="31576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728225"/>
                <a:gridCol w="520760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[&lt;test1&gt;]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 if one condition is true</a:t>
                      </a:r>
                      <a:endParaRPr sz="1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&amp;&amp;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[&lt;test2&gt;]</a:t>
                      </a:r>
                      <a:r>
                        <a:rPr lang="en" sz="18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endParaRPr sz="1800">
                        <a:solidFill>
                          <a:srgbClr val="00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 if a second condition is true</a:t>
                      </a:r>
                      <a:endParaRPr sz="17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the following code if both conditions are met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/>
              <a:t> Syntax</a:t>
            </a:r>
            <a:endParaRPr/>
          </a:p>
        </p:txBody>
      </p:sp>
      <p:sp>
        <p:nvSpPr>
          <p:cNvPr id="622" name="Google Shape;622;p7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623" name="Google Shape;62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7"/>
          <p:cNvSpPr/>
          <p:nvPr/>
        </p:nvSpPr>
        <p:spPr>
          <a:xfrm>
            <a:off x="-12175" y="1094225"/>
            <a:ext cx="9168600" cy="166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[ 5 -gt 4 ]</a:t>
            </a: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&amp;&amp;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[ 4 -gt 3 ]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then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echo “That makes sense.”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25" name="Google Shape;625;p77"/>
          <p:cNvSpPr txBox="1"/>
          <p:nvPr/>
        </p:nvSpPr>
        <p:spPr>
          <a:xfrm>
            <a:off x="0" y="2839563"/>
            <a:ext cx="9144000" cy="20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the following two conditions are met: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if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[ 5 -gt 4 ]</a:t>
            </a:r>
            <a:endParaRPr sz="1800">
              <a:solidFill>
                <a:srgbClr val="FFFFFF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rPr>
              <a:t> &amp;&amp; </a:t>
            </a:r>
            <a:r>
              <a:rPr lang="en" sz="1800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rPr>
              <a:t>[4 -gt 3] </a:t>
            </a:r>
            <a:endParaRPr sz="1800">
              <a:solidFill>
                <a:srgbClr val="FFFFFF"/>
              </a:solidFill>
              <a:highlight>
                <a:srgbClr val="0000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r>
              <a:rPr lang="en" sz="1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rgbClr val="00FF00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rgbClr val="FFFFFF"/>
                </a:solidFill>
                <a:highlight>
                  <a:srgbClr val="000000"/>
                </a:highlight>
                <a:latin typeface="Roboto"/>
                <a:ea typeface="Roboto"/>
                <a:cs typeface="Roboto"/>
                <a:sym typeface="Roboto"/>
              </a:rPr>
              <a:t>echo “That makes sense.”</a:t>
            </a:r>
            <a:endParaRPr b="1" sz="1800">
              <a:solidFill>
                <a:srgbClr val="FFFFFF"/>
              </a:solidFill>
              <a:highlight>
                <a:srgbClr val="000000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||</a:t>
            </a:r>
            <a:r>
              <a:rPr lang="en"/>
              <a:t> Syntax</a:t>
            </a:r>
            <a:endParaRPr/>
          </a:p>
        </p:txBody>
      </p:sp>
      <p:sp>
        <p:nvSpPr>
          <p:cNvPr id="631" name="Google Shape;631;p7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632" name="Google Shape;63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78"/>
          <p:cNvSpPr/>
          <p:nvPr/>
        </p:nvSpPr>
        <p:spPr>
          <a:xfrm>
            <a:off x="-12175" y="1120900"/>
            <a:ext cx="9168600" cy="190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&lt;condition1&gt; ] 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||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[ &lt;condition2&gt;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&lt;run_this_code&gt;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else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&lt;run_this_code&gt;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34" name="Google Shape;634;p78"/>
          <p:cNvGraphicFramePr/>
          <p:nvPr/>
        </p:nvGraphicFramePr>
        <p:xfrm>
          <a:off x="666000" y="31653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469100"/>
                <a:gridCol w="5419875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[ &lt;condition1&gt; ]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condition 1 is true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||</a:t>
                      </a: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[&lt;condition 2&gt;]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Or if condition 2 is true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the following code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code if both conditions are false</a:t>
                      </a:r>
                      <a:endParaRPr sz="1800">
                        <a:solidFill>
                          <a:schemeClr val="accent5"/>
                        </a:solidFill>
                        <a:highlight>
                          <a:srgbClr val="2E5E73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7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8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||</a:t>
            </a:r>
            <a:r>
              <a:rPr lang="en"/>
              <a:t> Syntax</a:t>
            </a:r>
            <a:endParaRPr/>
          </a:p>
        </p:txBody>
      </p:sp>
      <p:sp>
        <p:nvSpPr>
          <p:cNvPr id="640" name="Google Shape;640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Scripting</a:t>
            </a:r>
            <a:endParaRPr/>
          </a:p>
        </p:txBody>
      </p:sp>
      <p:pic>
        <p:nvPicPr>
          <p:cNvPr id="641" name="Google Shape;64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9"/>
          <p:cNvSpPr/>
          <p:nvPr/>
        </p:nvSpPr>
        <p:spPr>
          <a:xfrm>
            <a:off x="-12175" y="1067550"/>
            <a:ext cx="9168600" cy="190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[5 -gt 4] 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||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[4 -gt 3 ]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800">
              <a:solidFill>
                <a:srgbClr val="00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echo “That only partially makes sense.”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else</a:t>
            </a:r>
            <a:endParaRPr sz="1800">
              <a:solidFill>
                <a:srgbClr val="FCB91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  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echo “None of this makes sense.”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43" name="Google Shape;643;p79"/>
          <p:cNvGraphicFramePr/>
          <p:nvPr/>
        </p:nvGraphicFramePr>
        <p:xfrm>
          <a:off x="522513" y="3146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1838150"/>
                <a:gridCol w="640250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8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[ 5 -gt 4]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this condition is true...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||</a:t>
                      </a:r>
                      <a:r>
                        <a:rPr lang="en" sz="18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[4 -gt 3]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...or if this test is true...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the following code.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85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</a:t>
                      </a:r>
                      <a:endParaRPr sz="1800">
                        <a:solidFill>
                          <a:srgbClr val="FCB912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Otherwise (if both conditions are false), run the following command.</a:t>
                      </a:r>
                      <a:endParaRPr sz="1600">
                        <a:highlight>
                          <a:srgbClr val="2E5E73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0"/>
          <p:cNvSpPr/>
          <p:nvPr/>
        </p:nvSpPr>
        <p:spPr>
          <a:xfrm>
            <a:off x="-21225" y="-10600"/>
            <a:ext cx="916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8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accent5"/>
                </a:solidFill>
              </a:rPr>
              <a:t>Demo Summary</a:t>
            </a:r>
            <a:endParaRPr>
              <a:solidFill>
                <a:schemeClr val="accent5"/>
              </a:solidFill>
            </a:endParaRPr>
          </a:p>
        </p:txBody>
      </p:sp>
      <p:graphicFrame>
        <p:nvGraphicFramePr>
          <p:cNvPr id="650" name="Google Shape;650;p80"/>
          <p:cNvGraphicFramePr/>
          <p:nvPr/>
        </p:nvGraphicFramePr>
        <p:xfrm>
          <a:off x="273863" y="593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1407400"/>
                <a:gridCol w="4323450"/>
                <a:gridCol w="2865425"/>
              </a:tblGrid>
              <a:tr h="592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if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&lt;condition&gt; ]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 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code </a:t>
                      </a: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</a:t>
                      </a: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the condition</a:t>
                      </a:r>
                      <a:b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 met.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1433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if / else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&lt;condition&gt; ]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 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</a:t>
                      </a:r>
                      <a:endParaRPr sz="1500">
                        <a:solidFill>
                          <a:schemeClr val="accen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code if the condition is met. If condition isn't met, it will run a different command.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9105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&amp;&amp;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&lt;condition1&gt; ] </a:t>
                      </a:r>
                      <a:r>
                        <a:rPr lang="en" sz="1500">
                          <a:solidFill>
                            <a:schemeClr val="accen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&amp;&amp;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&lt;condition2&gt; ]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code if more than one condition is met.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117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||</a:t>
                      </a:r>
                      <a:endParaRPr b="1" sz="1600">
                        <a:solidFill>
                          <a:schemeClr val="lt1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45700" marB="45700" marR="18287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&lt;condition1&gt; ] </a:t>
                      </a:r>
                      <a:r>
                        <a:rPr lang="en" sz="1500">
                          <a:solidFill>
                            <a:schemeClr val="accen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|| 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[ &lt;condition2&gt; ]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else 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&lt;run_this_command&gt;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500"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Runs code if only one of multiple conditions are met. </a:t>
                      </a:r>
                      <a:endParaRPr sz="1600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51" name="Google Shape;651;p8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Conditionals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57" name="Google Shape;65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Google Shape;662;p82"/>
          <p:cNvPicPr preferRelativeResize="0"/>
          <p:nvPr/>
        </p:nvPicPr>
        <p:blipFill rotWithShape="1">
          <a:blip r:embed="rId3">
            <a:alphaModFix/>
          </a:blip>
          <a:srcRect b="0" l="20393" r="20393" t="0"/>
          <a:stretch/>
        </p:blipFill>
        <p:spPr>
          <a:xfrm>
            <a:off x="9298451" y="320800"/>
            <a:ext cx="4572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82"/>
          <p:cNvSpPr txBox="1"/>
          <p:nvPr/>
        </p:nvSpPr>
        <p:spPr>
          <a:xfrm>
            <a:off x="128850" y="1555800"/>
            <a:ext cx="4314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now cover how to design the conditions that are ruled </a:t>
            </a:r>
            <a:r>
              <a:rPr b="1" lang="en" sz="2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true</a:t>
            </a: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" sz="2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false</a:t>
            </a: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endParaRPr i="0" sz="2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4" name="Google Shape;664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0750" y="772300"/>
            <a:ext cx="4396050" cy="3027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8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Values with </a:t>
            </a:r>
            <a:r>
              <a:rPr lang="en"/>
              <a:t>Bash Conditional Expressions</a:t>
            </a:r>
            <a:endParaRPr/>
          </a:p>
        </p:txBody>
      </p:sp>
      <p:pic>
        <p:nvPicPr>
          <p:cNvPr id="671" name="Google Shape;67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2" name="Google Shape;672;p83"/>
          <p:cNvGraphicFramePr/>
          <p:nvPr/>
        </p:nvGraphicFramePr>
        <p:xfrm>
          <a:off x="285088" y="11794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546875"/>
                <a:gridCol w="5051550"/>
              </a:tblGrid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==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This string is equal to another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219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!=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two strings are not equal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-gt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one integer is greater than another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-lt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one integer is less than another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-d /path_to/directory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 for the existence of a directory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54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-f /path_to/files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18287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Checks for the existence of a file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18287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8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Equals 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9" name="Google Shape;67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84"/>
          <p:cNvSpPr/>
          <p:nvPr/>
        </p:nvSpPr>
        <p:spPr>
          <a:xfrm>
            <a:off x="-12300" y="1098050"/>
            <a:ext cx="9168600" cy="206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# If $x is equal to $y, run the echo command.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if [ $x 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$y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echo "X is equal to Y!"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81" name="Google Shape;681;p84"/>
          <p:cNvGraphicFramePr/>
          <p:nvPr/>
        </p:nvGraphicFramePr>
        <p:xfrm>
          <a:off x="184575" y="3422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570550"/>
                <a:gridCol w="613025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$x </a:t>
                      </a:r>
                      <a:r>
                        <a:rPr b="1" lang="en" sz="1600">
                          <a:solidFill>
                            <a:schemeClr val="accen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=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$y ]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the value of the x variable is equal to the value of the y variable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 run the following command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"X is equal to Y!"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echo command that will run if the initial condition is met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8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equals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8" name="Google Shape;68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85"/>
          <p:cNvSpPr/>
          <p:nvPr/>
        </p:nvSpPr>
        <p:spPr>
          <a:xfrm>
            <a:off x="-12175" y="1099350"/>
            <a:ext cx="9168600" cy="210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# If $x is not equal to $y, run the echo command.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if [ $x 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!=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$y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echo "X does not equal Y!"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90" name="Google Shape;690;p85"/>
          <p:cNvGraphicFramePr/>
          <p:nvPr/>
        </p:nvGraphicFramePr>
        <p:xfrm>
          <a:off x="146650" y="3460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2685250"/>
                <a:gridCol w="609365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$x </a:t>
                      </a:r>
                      <a:r>
                        <a:rPr b="1" lang="en" sz="1500">
                          <a:solidFill>
                            <a:schemeClr val="accen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!= </a:t>
                      </a:r>
                      <a:r>
                        <a:rPr lang="en" sz="15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$y ]</a:t>
                      </a:r>
                      <a:endParaRPr sz="15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the value of the x variable is not equal to the value of the y variable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5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 run the following command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0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"X does not equal Y!" </a:t>
                      </a:r>
                      <a:endParaRPr sz="15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</a:t>
                      </a: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echo command that will run if the initial condition is met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5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</a:t>
                      </a:r>
                      <a:endParaRPr sz="15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8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 and Strings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7" name="Google Shape;69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86"/>
          <p:cNvSpPr/>
          <p:nvPr/>
        </p:nvSpPr>
        <p:spPr>
          <a:xfrm>
            <a:off x="-12175" y="1099350"/>
            <a:ext cx="9168600" cy="205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# If str1 is not equal to str2, run the echo command and exit the script.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[ "$str1" 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!=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"$str2" ]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 echo "These strings do not match."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 echo "Exiting this script."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699" name="Google Shape;699;p86"/>
          <p:cNvGraphicFramePr/>
          <p:nvPr/>
        </p:nvGraphicFramePr>
        <p:xfrm>
          <a:off x="248388" y="3231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4449025"/>
                <a:gridCol w="4165150"/>
              </a:tblGrid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"$str1" </a:t>
                      </a:r>
                      <a:r>
                        <a:rPr b="1" lang="en" sz="1800">
                          <a:solidFill>
                            <a:schemeClr val="accen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!=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"$str2" ]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string 1 is not equal to string 2...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then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Then run the following command.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“These strings do not match"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70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echo “Exiting this script.” 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46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Ends the if statement.</a:t>
                      </a:r>
                      <a:endParaRPr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1828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Conditions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8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Greater Than and Less Than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6" name="Google Shape;70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87"/>
          <p:cNvSpPr txBox="1"/>
          <p:nvPr/>
        </p:nvSpPr>
        <p:spPr>
          <a:xfrm>
            <a:off x="969300" y="1082175"/>
            <a:ext cx="7205400" cy="16329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40075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If x is greater than y, run the echo command</a:t>
            </a:r>
            <a:endParaRPr sz="17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$x </a:t>
            </a:r>
            <a:r>
              <a:rPr b="1" lang="en" sz="17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-gt</a:t>
            </a: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$y ]</a:t>
            </a:r>
            <a:endParaRPr sz="17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</a:t>
            </a:r>
            <a:endParaRPr sz="17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"$x is greater than $y".</a:t>
            </a:r>
            <a:endParaRPr sz="17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17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708" name="Google Shape;708;p87"/>
          <p:cNvSpPr txBox="1"/>
          <p:nvPr/>
        </p:nvSpPr>
        <p:spPr>
          <a:xfrm>
            <a:off x="969300" y="2823021"/>
            <a:ext cx="7205400" cy="21096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640075" spcFirstLastPara="1" rIns="91425" wrap="square" tIns="91425">
            <a:noAutofit/>
          </a:bodyPr>
          <a:lstStyle/>
          <a:p>
            <a:pPr indent="0" lvl="0" marL="0" marR="152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Checks if x is less than y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$x </a:t>
            </a:r>
            <a:r>
              <a:rPr b="1" lang="en" sz="1729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-lt</a:t>
            </a: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$y ]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 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"$x is less than $y!"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else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1524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"$x is not less than $y!"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8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729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1729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8"/>
          <p:cNvSpPr txBox="1"/>
          <p:nvPr>
            <p:ph idx="1" type="body"/>
          </p:nvPr>
        </p:nvSpPr>
        <p:spPr>
          <a:xfrm>
            <a:off x="3359025" y="1377600"/>
            <a:ext cx="46827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the difference between an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if</a:t>
            </a:r>
            <a:r>
              <a:rPr lang="en"/>
              <a:t> and an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else</a:t>
            </a:r>
            <a:r>
              <a:rPr lang="en"/>
              <a:t> statement?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9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-d</a:t>
            </a:r>
            <a:r>
              <a:rPr lang="en"/>
              <a:t> checks for directories</a:t>
            </a:r>
            <a:endParaRPr/>
          </a:p>
        </p:txBody>
      </p:sp>
      <p:pic>
        <p:nvPicPr>
          <p:cNvPr id="719" name="Google Shape;719;p8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070" l="0" r="0" t="9062"/>
          <a:stretch/>
        </p:blipFill>
        <p:spPr>
          <a:xfrm>
            <a:off x="9335750" y="1671025"/>
            <a:ext cx="5029199" cy="2742300"/>
          </a:xfrm>
          <a:prstGeom prst="rect">
            <a:avLst/>
          </a:prstGeom>
        </p:spPr>
      </p:pic>
      <p:sp>
        <p:nvSpPr>
          <p:cNvPr id="720" name="Google Shape;720;p8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Files and Directories</a:t>
            </a:r>
            <a:endParaRPr/>
          </a:p>
        </p:txBody>
      </p:sp>
      <p:sp>
        <p:nvSpPr>
          <p:cNvPr id="721" name="Google Shape;721;p89"/>
          <p:cNvSpPr txBox="1"/>
          <p:nvPr>
            <p:ph idx="1" type="subTitle"/>
          </p:nvPr>
        </p:nvSpPr>
        <p:spPr>
          <a:xfrm>
            <a:off x="417250" y="548650"/>
            <a:ext cx="82695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Check for files and directories using the following options:</a:t>
            </a:r>
            <a:endParaRPr/>
          </a:p>
        </p:txBody>
      </p:sp>
      <p:sp>
        <p:nvSpPr>
          <p:cNvPr id="722" name="Google Shape;722;p89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-f</a:t>
            </a:r>
            <a:r>
              <a:rPr lang="en"/>
              <a:t> checks for files</a:t>
            </a:r>
            <a:endParaRPr/>
          </a:p>
        </p:txBody>
      </p:sp>
      <p:pic>
        <p:nvPicPr>
          <p:cNvPr id="723" name="Google Shape;723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3425" y="723100"/>
            <a:ext cx="5368799" cy="3697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0"/>
          <p:cNvSpPr/>
          <p:nvPr/>
        </p:nvSpPr>
        <p:spPr>
          <a:xfrm>
            <a:off x="84875" y="572975"/>
            <a:ext cx="8944800" cy="443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90"/>
          <p:cNvSpPr txBox="1"/>
          <p:nvPr/>
        </p:nvSpPr>
        <p:spPr>
          <a:xfrm>
            <a:off x="-12300" y="686950"/>
            <a:ext cx="4617300" cy="1340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check for the /etc directory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-d /etc ]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The /etc directory exists!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graphicFrame>
        <p:nvGraphicFramePr>
          <p:cNvPr id="730" name="Google Shape;730;p90"/>
          <p:cNvGraphicFramePr/>
          <p:nvPr/>
        </p:nvGraphicFramePr>
        <p:xfrm>
          <a:off x="5032488" y="897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300275"/>
              </a:tblGrid>
              <a:tr h="28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-d /etc ]...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the</a:t>
                      </a:r>
                      <a:r>
                        <a:rPr lang="en" sz="16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600">
                          <a:solidFill>
                            <a:schemeClr val="accent1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/etc</a:t>
                      </a:r>
                      <a:r>
                        <a:rPr lang="en" sz="1600"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directory exists, run the following echo command.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731" name="Google Shape;731;p90"/>
          <p:cNvSpPr txBox="1"/>
          <p:nvPr/>
        </p:nvSpPr>
        <p:spPr>
          <a:xfrm>
            <a:off x="-12300" y="2195750"/>
            <a:ext cx="4617300" cy="1340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# check for my_cool_folder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if [ ! -d /my_cool_folder ]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 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 echo my_cool_folder is not there!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732" name="Google Shape;732;p90"/>
          <p:cNvSpPr txBox="1"/>
          <p:nvPr/>
        </p:nvSpPr>
        <p:spPr>
          <a:xfrm>
            <a:off x="-12300" y="3722225"/>
            <a:ext cx="4617300" cy="13407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# check for my_file.txt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if [ -f /my_file.txt ]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then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 echo my_file.txt is there</a:t>
            </a:r>
            <a:endParaRPr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</a:t>
            </a:r>
            <a:endParaRPr sz="15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graphicFrame>
        <p:nvGraphicFramePr>
          <p:cNvPr id="733" name="Google Shape;733;p90"/>
          <p:cNvGraphicFramePr/>
          <p:nvPr/>
        </p:nvGraphicFramePr>
        <p:xfrm>
          <a:off x="5032488" y="2372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300275"/>
              </a:tblGrid>
              <a:tr h="28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! -d /my_cool_folder ]...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</a:t>
                      </a:r>
                      <a:r>
                        <a:rPr b="1" lang="en" sz="1600">
                          <a:solidFill>
                            <a:srgbClr val="FCB91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/my_cool_folder</a:t>
                      </a:r>
                      <a:r>
                        <a:rPr lang="en" sz="1600">
                          <a:solidFill>
                            <a:srgbClr val="FCB91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does not exist, </a:t>
                      </a:r>
                      <a:b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run the following echo command.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90"/>
          <p:cNvGraphicFramePr/>
          <p:nvPr/>
        </p:nvGraphicFramePr>
        <p:xfrm>
          <a:off x="5032488" y="3804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300275"/>
              </a:tblGrid>
              <a:tr h="28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if [ -f </a:t>
                      </a:r>
                      <a:r>
                        <a:rPr lang="en" sz="1600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/my_file.txt</a:t>
                      </a:r>
                      <a:r>
                        <a:rPr lang="en" sz="1600">
                          <a:solidFill>
                            <a:srgbClr val="FCB912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]...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0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If the file </a:t>
                      </a:r>
                      <a:r>
                        <a:rPr b="1" lang="en" sz="1600">
                          <a:solidFill>
                            <a:srgbClr val="FCB912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/my_file.txt</a:t>
                      </a:r>
                      <a:r>
                        <a:rPr lang="en" sz="1600">
                          <a:solidFill>
                            <a:srgbClr val="FCB91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6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exists, then run the following echo command.</a:t>
                      </a:r>
                      <a:endParaRPr sz="16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1097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735" name="Google Shape;735;p90"/>
          <p:cNvSpPr txBox="1"/>
          <p:nvPr/>
        </p:nvSpPr>
        <p:spPr>
          <a:xfrm>
            <a:off x="770850" y="103950"/>
            <a:ext cx="790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5"/>
                </a:solidFill>
                <a:latin typeface="Roboto Medium"/>
                <a:ea typeface="Roboto Medium"/>
                <a:cs typeface="Roboto Medium"/>
                <a:sym typeface="Roboto Medium"/>
              </a:rPr>
              <a:t>Checking Files and Directories</a:t>
            </a:r>
            <a:endParaRPr b="1" sz="2400">
              <a:solidFill>
                <a:schemeClr val="accent5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736" name="Google Shape;736;p90"/>
          <p:cNvSpPr/>
          <p:nvPr/>
        </p:nvSpPr>
        <p:spPr>
          <a:xfrm>
            <a:off x="143550" y="103950"/>
            <a:ext cx="627300" cy="55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7" name="Google Shape;73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19050"/>
            <a:ext cx="417600" cy="3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</a:t>
            </a:r>
            <a:r>
              <a:rPr b="1" lang="en"/>
              <a:t>built-in variables</a:t>
            </a:r>
            <a:r>
              <a:rPr lang="en"/>
              <a:t> and </a:t>
            </a:r>
            <a:r>
              <a:rPr b="1" lang="en"/>
              <a:t>command expansions</a:t>
            </a:r>
            <a:r>
              <a:rPr lang="en"/>
              <a:t> inside our tests.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2"/>
          <p:cNvSpPr/>
          <p:nvPr/>
        </p:nvSpPr>
        <p:spPr>
          <a:xfrm>
            <a:off x="1492700" y="1594775"/>
            <a:ext cx="1985400" cy="23010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92"/>
          <p:cNvSpPr/>
          <p:nvPr/>
        </p:nvSpPr>
        <p:spPr>
          <a:xfrm>
            <a:off x="3563698" y="1594775"/>
            <a:ext cx="1985400" cy="23010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92"/>
          <p:cNvSpPr/>
          <p:nvPr/>
        </p:nvSpPr>
        <p:spPr>
          <a:xfrm>
            <a:off x="5665900" y="1594775"/>
            <a:ext cx="1985400" cy="2301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92"/>
          <p:cNvSpPr txBox="1"/>
          <p:nvPr/>
        </p:nvSpPr>
        <p:spPr>
          <a:xfrm>
            <a:off x="3747200" y="1594775"/>
            <a:ext cx="16119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UID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92"/>
          <p:cNvSpPr txBox="1"/>
          <p:nvPr/>
        </p:nvSpPr>
        <p:spPr>
          <a:xfrm>
            <a:off x="5824625" y="2074250"/>
            <a:ext cx="16245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 running the current script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92"/>
          <p:cNvSpPr txBox="1"/>
          <p:nvPr/>
        </p:nvSpPr>
        <p:spPr>
          <a:xfrm>
            <a:off x="1676275" y="1594775"/>
            <a:ext cx="1611900" cy="23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Username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9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Variables and Command Expansions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754" name="Google Shape;754;p92"/>
          <p:cNvSpPr txBox="1"/>
          <p:nvPr>
            <p:ph idx="1" type="subTitle"/>
          </p:nvPr>
        </p:nvSpPr>
        <p:spPr>
          <a:xfrm>
            <a:off x="457200" y="548650"/>
            <a:ext cx="7772400" cy="4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will use these variables and command expansions to verify:</a:t>
            </a:r>
            <a:endParaRPr/>
          </a:p>
        </p:txBody>
      </p:sp>
      <p:pic>
        <p:nvPicPr>
          <p:cNvPr id="755" name="Google Shape;75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4625" y="1798925"/>
            <a:ext cx="626300" cy="4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275" y="1749725"/>
            <a:ext cx="500350" cy="5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92"/>
          <p:cNvPicPr preferRelativeResize="0"/>
          <p:nvPr/>
        </p:nvPicPr>
        <p:blipFill rotWithShape="1">
          <a:blip r:embed="rId5">
            <a:alphaModFix/>
          </a:blip>
          <a:srcRect b="39" l="0" r="0" t="39"/>
          <a:stretch/>
        </p:blipFill>
        <p:spPr>
          <a:xfrm>
            <a:off x="3782949" y="1749714"/>
            <a:ext cx="500351" cy="500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9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Variables and Command Expansions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9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Username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4" name="Google Shape;76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93"/>
          <p:cNvSpPr/>
          <p:nvPr/>
        </p:nvSpPr>
        <p:spPr>
          <a:xfrm>
            <a:off x="-12175" y="1070675"/>
            <a:ext cx="9168600" cy="25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3200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if the user who ran this script is not the sysadmin user, run the echo command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$USER != 'sysadmin' ]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 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“You are not the sysadmin!”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exit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6" name="Google Shape;766;p93"/>
          <p:cNvSpPr txBox="1"/>
          <p:nvPr/>
        </p:nvSpPr>
        <p:spPr>
          <a:xfrm>
            <a:off x="-230325" y="4462250"/>
            <a:ext cx="97596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the user who ran this script is not “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sysadmin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,” then run the following echo command.</a:t>
            </a:r>
            <a:endParaRPr sz="1800">
              <a:solidFill>
                <a:schemeClr val="accent5"/>
              </a:solidFill>
              <a:highlight>
                <a:srgbClr val="2E5E73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93"/>
          <p:cNvSpPr/>
          <p:nvPr/>
        </p:nvSpPr>
        <p:spPr>
          <a:xfrm>
            <a:off x="362950" y="1831725"/>
            <a:ext cx="3182700" cy="378900"/>
          </a:xfrm>
          <a:prstGeom prst="rect">
            <a:avLst/>
          </a:prstGeom>
          <a:noFill/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93"/>
          <p:cNvSpPr/>
          <p:nvPr/>
        </p:nvSpPr>
        <p:spPr>
          <a:xfrm>
            <a:off x="254650" y="3958650"/>
            <a:ext cx="3094500" cy="435000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152400" marR="152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$USER != </a:t>
            </a:r>
            <a:r>
              <a:rPr lang="en" sz="16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'sysadmin'</a:t>
            </a:r>
            <a:r>
              <a:rPr lang="en" sz="16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]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9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 In Variables and Command Expansions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9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UID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5" name="Google Shape;77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94"/>
          <p:cNvSpPr/>
          <p:nvPr/>
        </p:nvSpPr>
        <p:spPr>
          <a:xfrm>
            <a:off x="-12175" y="1091550"/>
            <a:ext cx="9168600" cy="225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3200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if the uid of the user who ran this script does not equal 1,000, run the echo command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$UID != 1000 ]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your UID is wrong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exit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20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777" name="Google Shape;777;p94"/>
          <p:cNvSpPr txBox="1"/>
          <p:nvPr/>
        </p:nvSpPr>
        <p:spPr>
          <a:xfrm>
            <a:off x="0" y="4165050"/>
            <a:ext cx="91440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the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UID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of the user who is running this script does not equal 1,000, then run the following echo command.</a:t>
            </a:r>
            <a:endParaRPr sz="1800">
              <a:solidFill>
                <a:schemeClr val="accent5"/>
              </a:solidFill>
              <a:highlight>
                <a:srgbClr val="2E5E73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94"/>
          <p:cNvSpPr/>
          <p:nvPr/>
        </p:nvSpPr>
        <p:spPr>
          <a:xfrm>
            <a:off x="254650" y="3730050"/>
            <a:ext cx="2270700" cy="435000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152400" marR="152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$UID != 1000 ]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9" name="Google Shape;779;p94"/>
          <p:cNvSpPr/>
          <p:nvPr/>
        </p:nvSpPr>
        <p:spPr>
          <a:xfrm>
            <a:off x="356625" y="1726700"/>
            <a:ext cx="2339400" cy="342900"/>
          </a:xfrm>
          <a:prstGeom prst="rect">
            <a:avLst/>
          </a:prstGeom>
          <a:noFill/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 Variables and Command Expansions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9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User Running the Script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6" name="Google Shape;78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95"/>
          <p:cNvSpPr/>
          <p:nvPr/>
        </p:nvSpPr>
        <p:spPr>
          <a:xfrm>
            <a:off x="-12175" y="1124700"/>
            <a:ext cx="9168600" cy="220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320025" spcFirstLastPara="1" rIns="91425" wrap="square" tIns="91425">
            <a:no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# if the sysadmin ran the script, run the echo command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$(whoami) = 'sysadmin']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then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echo 'you are the sysadmin!'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fi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788" name="Google Shape;788;p95"/>
          <p:cNvSpPr txBox="1"/>
          <p:nvPr/>
        </p:nvSpPr>
        <p:spPr>
          <a:xfrm>
            <a:off x="0" y="4165050"/>
            <a:ext cx="91440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If the user “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sysadmin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” ran the script, then run the following echo command.</a:t>
            </a:r>
            <a:endParaRPr sz="1800">
              <a:solidFill>
                <a:schemeClr val="accent5"/>
              </a:solidFill>
              <a:highlight>
                <a:srgbClr val="2E5E73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95"/>
          <p:cNvSpPr/>
          <p:nvPr/>
        </p:nvSpPr>
        <p:spPr>
          <a:xfrm>
            <a:off x="254650" y="3730050"/>
            <a:ext cx="3936600" cy="435000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152400" marR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if [ $(whoami) = 'sysadmin']</a:t>
            </a:r>
            <a:endParaRPr sz="16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</p:txBody>
      </p:sp>
      <p:sp>
        <p:nvSpPr>
          <p:cNvPr id="790" name="Google Shape;790;p95"/>
          <p:cNvSpPr/>
          <p:nvPr/>
        </p:nvSpPr>
        <p:spPr>
          <a:xfrm>
            <a:off x="254650" y="1719075"/>
            <a:ext cx="3634500" cy="365700"/>
          </a:xfrm>
          <a:prstGeom prst="rect">
            <a:avLst/>
          </a:prstGeom>
          <a:noFill/>
          <a:ln cap="flat" cmpd="sng" w="381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9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</a:t>
            </a:r>
            <a:r>
              <a:rPr lang="en"/>
              <a:t>inutes</a:t>
            </a:r>
            <a:endParaRPr/>
          </a:p>
        </p:txBody>
      </p:sp>
      <p:sp>
        <p:nvSpPr>
          <p:cNvPr id="796" name="Google Shape;796;p9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and If Statements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7" name="Google Shape;797;p96"/>
          <p:cNvSpPr txBox="1"/>
          <p:nvPr>
            <p:ph idx="3" type="body"/>
          </p:nvPr>
        </p:nvSpPr>
        <p:spPr>
          <a:xfrm>
            <a:off x="457200" y="1544763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previous class, you created your first Bash script, edited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$PATH </a:t>
            </a:r>
            <a:r>
              <a:rPr lang="en"/>
              <a:t>variables to create custom commands, and added aliases to your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~/.bashrc</a:t>
            </a:r>
            <a:r>
              <a:rPr lang="en"/>
              <a:t>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Now, we will add variables and conditional if statements to our scripts.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9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Lists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&amp; Loops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2" name="Google Shape;81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5325" y="1532275"/>
            <a:ext cx="2276875" cy="156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0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Optimizing our Scripts </a:t>
            </a:r>
            <a:endParaRPr sz="2600"/>
          </a:p>
        </p:txBody>
      </p:sp>
      <p:cxnSp>
        <p:nvCxnSpPr>
          <p:cNvPr id="818" name="Google Shape;818;p100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19" name="Google Shape;81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278" y="786226"/>
            <a:ext cx="6845443" cy="3850538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100"/>
          <p:cNvSpPr txBox="1"/>
          <p:nvPr/>
        </p:nvSpPr>
        <p:spPr>
          <a:xfrm>
            <a:off x="1325800" y="1422325"/>
            <a:ext cx="31308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tools we </a:t>
            </a:r>
            <a:br>
              <a:rPr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are learning simplify and expedite the day-to-day workloads of sysadmins. </a:t>
            </a:r>
            <a:endParaRPr i="0" sz="2200" u="none" cap="none" strike="noStrike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100"/>
          <p:cNvSpPr txBox="1"/>
          <p:nvPr/>
        </p:nvSpPr>
        <p:spPr>
          <a:xfrm>
            <a:off x="4689325" y="1422325"/>
            <a:ext cx="31308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this section, </a:t>
            </a:r>
            <a:b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continue </a:t>
            </a:r>
            <a:b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streamline </a:t>
            </a:r>
            <a:b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scripts by incorporating loops. </a:t>
            </a:r>
            <a:endParaRPr sz="2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101"/>
          <p:cNvPicPr preferRelativeResize="0"/>
          <p:nvPr/>
        </p:nvPicPr>
        <p:blipFill rotWithShape="1">
          <a:blip r:embed="rId3">
            <a:alphaModFix/>
          </a:blip>
          <a:srcRect b="0" l="1356" r="26504" t="0"/>
          <a:stretch/>
        </p:blipFill>
        <p:spPr>
          <a:xfrm flipH="1">
            <a:off x="0" y="0"/>
            <a:ext cx="9144003" cy="5143499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7" name="Google Shape;827;p10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8" name="Google Shape;828;p101"/>
          <p:cNvSpPr txBox="1"/>
          <p:nvPr>
            <p:ph idx="1" type="subTitle"/>
          </p:nvPr>
        </p:nvSpPr>
        <p:spPr>
          <a:xfrm>
            <a:off x="0" y="2334300"/>
            <a:ext cx="3543900" cy="12945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Sysadmins will often complete the same common task over and over and over again. 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02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or</a:t>
            </a:r>
            <a:r>
              <a:rPr lang="en"/>
              <a:t> loops allow us to run a block of code multiple times in a row, without having to repeatedly enter that code.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or</a:t>
            </a:r>
            <a:r>
              <a:rPr lang="en"/>
              <a:t> Loops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0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Code is run against each item in a list of items: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03"/>
          <p:cNvSpPr txBox="1"/>
          <p:nvPr/>
        </p:nvSpPr>
        <p:spPr>
          <a:xfrm>
            <a:off x="75" y="1633500"/>
            <a:ext cx="9144000" cy="253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457200" spcFirstLastPara="1" rIns="91425" wrap="square" tIns="91425">
            <a:noAutofit/>
          </a:bodyPr>
          <a:lstStyle/>
          <a:p>
            <a:pPr indent="0" lvl="0" marL="152400" marR="15240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for</a:t>
            </a: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package in ${packages[@]}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do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if [ ! $(which $package) ]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then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  apt install -y $package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fi</a:t>
            </a:r>
            <a:endParaRPr sz="1800">
              <a:solidFill>
                <a:srgbClr val="FFFFFF"/>
              </a:solidFill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   done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841" name="Google Shape;841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5" y="198449"/>
            <a:ext cx="852051" cy="58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04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or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Loops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0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0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and Loops Syntax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53" name="Google Shape;853;p105"/>
          <p:cNvGraphicFramePr/>
          <p:nvPr/>
        </p:nvGraphicFramePr>
        <p:xfrm>
          <a:off x="427350" y="103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315625"/>
              </a:tblGrid>
              <a:tr h="29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Made lists</a:t>
                      </a:r>
                      <a:endParaRPr sz="1800">
                        <a:solidFill>
                          <a:schemeClr val="dk2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2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my_list=(a b c d e f)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4" name="Google Shape;854;p105"/>
          <p:cNvGraphicFramePr/>
          <p:nvPr/>
        </p:nvGraphicFramePr>
        <p:xfrm>
          <a:off x="427350" y="28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3463650"/>
              </a:tblGrid>
              <a:tr h="30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Accessed the list with commands </a:t>
                      </a:r>
                      <a:endParaRPr sz="1800">
                        <a:solidFill>
                          <a:schemeClr val="accent5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$ echo ${my_list[0]}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a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$ echo ${my_list[4]}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e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$ echo ${my_list[@]}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15240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a b c d e f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5" name="Google Shape;855;p105"/>
          <p:cNvGraphicFramePr/>
          <p:nvPr/>
        </p:nvGraphicFramePr>
        <p:xfrm>
          <a:off x="4285100" y="103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4290175"/>
              </a:tblGrid>
              <a:tr h="26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Created for loops</a:t>
                      </a:r>
                      <a:endParaRPr sz="1800">
                        <a:solidFill>
                          <a:schemeClr val="accent5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for &lt;item&gt; in &lt;list&gt;;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do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  &lt;run_this_command&gt;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  &lt;run_this_command&gt;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done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6" name="Google Shape;856;p105"/>
          <p:cNvGraphicFramePr/>
          <p:nvPr/>
        </p:nvGraphicFramePr>
        <p:xfrm>
          <a:off x="4285100" y="28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{11B18450-3CB6-4380-85C5-84720A3C3953}</a:tableStyleId>
              </a:tblPr>
              <a:tblGrid>
                <a:gridCol w="4290175"/>
              </a:tblGrid>
              <a:tr h="30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Created loops with conditionals </a:t>
                      </a:r>
                      <a:endParaRPr sz="1800">
                        <a:solidFill>
                          <a:schemeClr val="accent5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8500">
                <a:tc>
                  <a:txBody>
                    <a:bodyPr/>
                    <a:lstStyle/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# run an operation on each number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for num in {0..5};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do 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   if [ $num = 1 ] || [ $num = 4 ]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   then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     echo $num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   fi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  <a:p>
                      <a:pPr indent="0" lvl="0" marL="152400" marR="15240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done</a:t>
                      </a:r>
                      <a:endParaRPr sz="16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91425" marB="91425" marR="91425" marL="18287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857" name="Google Shape;857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5" y="198449"/>
            <a:ext cx="852051" cy="58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0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863" name="Google Shape;863;p10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 and Loops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4" name="Google Shape;864;p106"/>
          <p:cNvSpPr txBox="1"/>
          <p:nvPr>
            <p:ph idx="3" type="body"/>
          </p:nvPr>
        </p:nvSpPr>
        <p:spPr>
          <a:xfrm>
            <a:off x="457200" y="1405985"/>
            <a:ext cx="7882200" cy="2437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previous activity, we added variables to our script and used if statements to check various conditions.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Next, we will use loops to automate repetitive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5" name="Google Shape;86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0"/>
          <p:cNvSpPr txBox="1"/>
          <p:nvPr>
            <p:ph type="title"/>
          </p:nvPr>
        </p:nvSpPr>
        <p:spPr>
          <a:xfrm>
            <a:off x="0" y="2628900"/>
            <a:ext cx="9144000" cy="1763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Loops for 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System Administrator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3" name="Google Shape;883;p110"/>
          <p:cNvPicPr preferRelativeResize="0"/>
          <p:nvPr/>
        </p:nvPicPr>
        <p:blipFill rotWithShape="1">
          <a:blip r:embed="rId3">
            <a:alphaModFix/>
          </a:blip>
          <a:srcRect b="0" l="-16908" r="-12558" t="0"/>
          <a:stretch/>
        </p:blipFill>
        <p:spPr>
          <a:xfrm>
            <a:off x="3829262" y="1655134"/>
            <a:ext cx="1485476" cy="973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11"/>
          <p:cNvSpPr txBox="1"/>
          <p:nvPr>
            <p:ph idx="1" type="body"/>
          </p:nvPr>
        </p:nvSpPr>
        <p:spPr>
          <a:xfrm>
            <a:off x="3535125" y="1377600"/>
            <a:ext cx="54951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W</a:t>
            </a:r>
            <a:r>
              <a:rPr lang="en" sz="3300"/>
              <a:t>riting a script might be overkill for the scale of the task, so we can use </a:t>
            </a:r>
            <a:r>
              <a:rPr b="1" lang="en" sz="3300">
                <a:latin typeface="Inconsolata"/>
                <a:ea typeface="Inconsolata"/>
                <a:cs typeface="Inconsolata"/>
                <a:sym typeface="Inconsolata"/>
              </a:rPr>
              <a:t>for</a:t>
            </a:r>
            <a:r>
              <a:rPr lang="en" sz="3300"/>
              <a:t> loops directly on the command line.</a:t>
            </a:r>
            <a:endParaRPr sz="3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12"/>
          <p:cNvSpPr/>
          <p:nvPr/>
        </p:nvSpPr>
        <p:spPr>
          <a:xfrm flipH="1">
            <a:off x="652850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12"/>
          <p:cNvSpPr txBox="1"/>
          <p:nvPr/>
        </p:nvSpPr>
        <p:spPr>
          <a:xfrm>
            <a:off x="652850" y="2074250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5"/>
                </a:solidFill>
              </a:rPr>
              <a:t>List of packages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5" name="Google Shape;895;p112"/>
          <p:cNvGrpSpPr/>
          <p:nvPr/>
        </p:nvGrpSpPr>
        <p:grpSpPr>
          <a:xfrm>
            <a:off x="385756" y="1481528"/>
            <a:ext cx="533372" cy="533480"/>
            <a:chOff x="457200" y="1378813"/>
            <a:chExt cx="695400" cy="695450"/>
          </a:xfrm>
        </p:grpSpPr>
        <p:sp>
          <p:nvSpPr>
            <p:cNvPr id="896" name="Google Shape;896;p11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97" name="Google Shape;897;p11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8" name="Google Shape;898;p112"/>
          <p:cNvGrpSpPr/>
          <p:nvPr/>
        </p:nvGrpSpPr>
        <p:grpSpPr>
          <a:xfrm>
            <a:off x="3157531" y="1481528"/>
            <a:ext cx="533372" cy="533480"/>
            <a:chOff x="457200" y="1378813"/>
            <a:chExt cx="695400" cy="695450"/>
          </a:xfrm>
        </p:grpSpPr>
        <p:sp>
          <p:nvSpPr>
            <p:cNvPr id="899" name="Google Shape;899;p11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0" name="Google Shape;900;p11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901" name="Google Shape;901;p112"/>
          <p:cNvSpPr/>
          <p:nvPr/>
        </p:nvSpPr>
        <p:spPr>
          <a:xfrm flipH="1">
            <a:off x="3424625" y="20742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2"/>
          <p:cNvSpPr txBox="1"/>
          <p:nvPr/>
        </p:nvSpPr>
        <p:spPr>
          <a:xfrm>
            <a:off x="3424625" y="2074254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5"/>
                </a:solidFill>
              </a:rPr>
              <a:t>Results of a find command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03" name="Google Shape;903;p112"/>
          <p:cNvGrpSpPr/>
          <p:nvPr/>
        </p:nvGrpSpPr>
        <p:grpSpPr>
          <a:xfrm>
            <a:off x="6062656" y="1482278"/>
            <a:ext cx="533372" cy="533480"/>
            <a:chOff x="457200" y="1378813"/>
            <a:chExt cx="695400" cy="695450"/>
          </a:xfrm>
        </p:grpSpPr>
        <p:sp>
          <p:nvSpPr>
            <p:cNvPr id="904" name="Google Shape;904;p11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05" name="Google Shape;905;p11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906" name="Google Shape;906;p112"/>
          <p:cNvSpPr/>
          <p:nvPr/>
        </p:nvSpPr>
        <p:spPr>
          <a:xfrm flipH="1">
            <a:off x="6329750" y="20749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2"/>
          <p:cNvSpPr txBox="1"/>
          <p:nvPr/>
        </p:nvSpPr>
        <p:spPr>
          <a:xfrm>
            <a:off x="6329750" y="2074483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5"/>
                </a:solidFill>
              </a:rPr>
              <a:t>List of files, check their permissions, and change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8" name="Google Shape;908;p112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Loops for SysAdmins</a:t>
            </a:r>
            <a:endParaRPr/>
          </a:p>
        </p:txBody>
      </p:sp>
      <p:sp>
        <p:nvSpPr>
          <p:cNvPr id="909" name="Google Shape;909;p11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</a:t>
            </a:r>
            <a:r>
              <a:rPr lang="en"/>
              <a:t>ses of loops that are extremely valuable to cybersecurity professionals:</a:t>
            </a:r>
            <a:endParaRPr/>
          </a:p>
        </p:txBody>
      </p:sp>
      <p:pic>
        <p:nvPicPr>
          <p:cNvPr id="910" name="Google Shape;910;p112"/>
          <p:cNvPicPr preferRelativeResize="0"/>
          <p:nvPr/>
        </p:nvPicPr>
        <p:blipFill rotWithShape="1">
          <a:blip r:embed="rId3">
            <a:alphaModFix/>
          </a:blip>
          <a:srcRect b="7770" l="0" r="0" t="7762"/>
          <a:stretch/>
        </p:blipFill>
        <p:spPr>
          <a:xfrm>
            <a:off x="9655850" y="2614475"/>
            <a:ext cx="1874925" cy="15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7475" y="2908037"/>
            <a:ext cx="2066925" cy="150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3475" y="2949200"/>
            <a:ext cx="1509325" cy="125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825" y="2949211"/>
            <a:ext cx="2371501" cy="1633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3200" y="2905687"/>
            <a:ext cx="2623749" cy="180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1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34500" y="2905702"/>
            <a:ext cx="2623749" cy="1806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13"/>
          <p:cNvSpPr/>
          <p:nvPr/>
        </p:nvSpPr>
        <p:spPr>
          <a:xfrm flipH="1">
            <a:off x="2105588" y="20927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13"/>
          <p:cNvSpPr txBox="1"/>
          <p:nvPr/>
        </p:nvSpPr>
        <p:spPr>
          <a:xfrm>
            <a:off x="2105588" y="2092750"/>
            <a:ext cx="2466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5"/>
                </a:solidFill>
              </a:rPr>
              <a:t>List of files and creat</a:t>
            </a:r>
            <a:r>
              <a:rPr b="1" lang="en" sz="1500">
                <a:solidFill>
                  <a:schemeClr val="accent5"/>
                </a:solidFill>
              </a:rPr>
              <a:t>e</a:t>
            </a:r>
            <a:r>
              <a:rPr b="1" lang="en" sz="1500">
                <a:solidFill>
                  <a:schemeClr val="accent5"/>
                </a:solidFill>
              </a:rPr>
              <a:t> a cryptographic hash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22" name="Google Shape;922;p113"/>
          <p:cNvGrpSpPr/>
          <p:nvPr/>
        </p:nvGrpSpPr>
        <p:grpSpPr>
          <a:xfrm>
            <a:off x="1838494" y="1500028"/>
            <a:ext cx="533372" cy="533480"/>
            <a:chOff x="457200" y="1378813"/>
            <a:chExt cx="695400" cy="695450"/>
          </a:xfrm>
        </p:grpSpPr>
        <p:sp>
          <p:nvSpPr>
            <p:cNvPr id="923" name="Google Shape;923;p11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4" name="Google Shape;924;p11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113"/>
          <p:cNvGrpSpPr/>
          <p:nvPr/>
        </p:nvGrpSpPr>
        <p:grpSpPr>
          <a:xfrm>
            <a:off x="4610269" y="1500028"/>
            <a:ext cx="533372" cy="533480"/>
            <a:chOff x="457200" y="1378813"/>
            <a:chExt cx="695400" cy="695450"/>
          </a:xfrm>
        </p:grpSpPr>
        <p:sp>
          <p:nvSpPr>
            <p:cNvPr id="926" name="Google Shape;926;p11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06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7" name="Google Shape;927;p11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928" name="Google Shape;928;p113"/>
          <p:cNvSpPr/>
          <p:nvPr/>
        </p:nvSpPr>
        <p:spPr>
          <a:xfrm flipH="1">
            <a:off x="4877363" y="20927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13"/>
          <p:cNvSpPr txBox="1"/>
          <p:nvPr/>
        </p:nvSpPr>
        <p:spPr>
          <a:xfrm>
            <a:off x="4877363" y="2092754"/>
            <a:ext cx="2371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accent5"/>
                </a:solidFill>
              </a:rPr>
              <a:t>All</a:t>
            </a:r>
            <a:r>
              <a:rPr b="1" lang="en" sz="1500">
                <a:solidFill>
                  <a:schemeClr val="accent5"/>
                </a:solidFill>
              </a:rPr>
              <a:t> the users on the system and take an action </a:t>
            </a:r>
            <a:endParaRPr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113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Loops for SysAdmins</a:t>
            </a:r>
            <a:endParaRPr/>
          </a:p>
        </p:txBody>
      </p:sp>
      <p:sp>
        <p:nvSpPr>
          <p:cNvPr id="931" name="Google Shape;931;p11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Uses of loops that are extremely valuable to cybersecurity professionals:</a:t>
            </a:r>
            <a:endParaRPr/>
          </a:p>
        </p:txBody>
      </p:sp>
      <p:pic>
        <p:nvPicPr>
          <p:cNvPr id="932" name="Google Shape;932;p113"/>
          <p:cNvPicPr preferRelativeResize="0"/>
          <p:nvPr/>
        </p:nvPicPr>
        <p:blipFill rotWithShape="1">
          <a:blip r:embed="rId3">
            <a:alphaModFix/>
          </a:blip>
          <a:srcRect b="0" l="8983" r="8975" t="0"/>
          <a:stretch/>
        </p:blipFill>
        <p:spPr>
          <a:xfrm>
            <a:off x="9980638" y="2747975"/>
            <a:ext cx="1874925" cy="1583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13"/>
          <p:cNvPicPr preferRelativeResize="0"/>
          <p:nvPr/>
        </p:nvPicPr>
        <p:blipFill rotWithShape="1">
          <a:blip r:embed="rId4">
            <a:alphaModFix/>
          </a:blip>
          <a:srcRect b="9741" l="0" r="0" t="9749"/>
          <a:stretch/>
        </p:blipFill>
        <p:spPr>
          <a:xfrm>
            <a:off x="11066538" y="2092749"/>
            <a:ext cx="2066926" cy="1502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113"/>
          <p:cNvPicPr preferRelativeResize="0"/>
          <p:nvPr/>
        </p:nvPicPr>
        <p:blipFill rotWithShape="1">
          <a:blip r:embed="rId5">
            <a:alphaModFix/>
          </a:blip>
          <a:srcRect b="0" l="7677" r="7669" t="0"/>
          <a:stretch/>
        </p:blipFill>
        <p:spPr>
          <a:xfrm>
            <a:off x="2029400" y="2744423"/>
            <a:ext cx="2797900" cy="2276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7613" y="2967700"/>
            <a:ext cx="2656783" cy="182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14"/>
          <p:cNvSpPr txBox="1"/>
          <p:nvPr>
            <p:ph idx="1" type="body"/>
          </p:nvPr>
        </p:nvSpPr>
        <p:spPr>
          <a:xfrm>
            <a:off x="222825" y="1019525"/>
            <a:ext cx="4349100" cy="337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will use loops to: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through a list of packages and check if certain ones are installed.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users’ home directories for scripts and print a confirmation statement.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through scripts in your scripts folder and change the permissions to execute.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for loop that moves through a group of files and creates a hash of each file.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41" name="Google Shape;941;p114"/>
          <p:cNvPicPr preferRelativeResize="0"/>
          <p:nvPr/>
        </p:nvPicPr>
        <p:blipFill rotWithShape="1">
          <a:blip r:embed="rId3">
            <a:alphaModFix/>
          </a:blip>
          <a:srcRect b="14203" l="0" r="0" t="14203"/>
          <a:stretch/>
        </p:blipFill>
        <p:spPr>
          <a:xfrm>
            <a:off x="9467675" y="-298850"/>
            <a:ext cx="4076750" cy="3584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2" name="Google Shape;942;p114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43" name="Google Shape;943;p114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114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114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46" name="Google Shape;946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1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6223" y="1110199"/>
            <a:ext cx="5090955" cy="3505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minutes</a:t>
            </a:r>
            <a:endParaRPr/>
          </a:p>
        </p:txBody>
      </p:sp>
      <p:sp>
        <p:nvSpPr>
          <p:cNvPr id="957" name="Google Shape;957;p11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for System Administrators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58" name="Google Shape;958;p116"/>
          <p:cNvSpPr txBox="1"/>
          <p:nvPr>
            <p:ph idx="3" type="body"/>
          </p:nvPr>
        </p:nvSpPr>
        <p:spPr>
          <a:xfrm>
            <a:off x="362700" y="1485850"/>
            <a:ext cx="8324100" cy="3177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previous activity, we created for loops. Now, we will use those loops to complete tasks that are useful to a system administrator.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activity, you will add loops to your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sys_info.sh</a:t>
            </a:r>
            <a:r>
              <a:rPr lang="en"/>
              <a:t> script, and run loops directly on the command 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7" y="0"/>
            <a:ext cx="913783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11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3" name="Google Shape;973;p119"/>
          <p:cNvSpPr txBox="1"/>
          <p:nvPr>
            <p:ph type="title"/>
          </p:nvPr>
        </p:nvSpPr>
        <p:spPr>
          <a:xfrm>
            <a:off x="5137253" y="685800"/>
            <a:ext cx="40191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Optional:</a:t>
            </a:r>
            <a:r>
              <a:rPr b="0" lang="en" sz="2600"/>
              <a:t> </a:t>
            </a:r>
            <a:endParaRPr b="0"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00">
                <a:latin typeface="Roboto"/>
                <a:ea typeface="Roboto"/>
                <a:cs typeface="Roboto"/>
                <a:sym typeface="Roboto"/>
              </a:rPr>
              <a:t>Script Along Setup</a:t>
            </a:r>
            <a:r>
              <a:rPr lang="en" sz="2600"/>
              <a:t> </a:t>
            </a:r>
            <a:endParaRPr sz="2600"/>
          </a:p>
        </p:txBody>
      </p:sp>
      <p:sp>
        <p:nvSpPr>
          <p:cNvPr id="974" name="Google Shape;974;p119"/>
          <p:cNvSpPr txBox="1"/>
          <p:nvPr>
            <p:ph idx="1" type="subTitle"/>
          </p:nvPr>
        </p:nvSpPr>
        <p:spPr>
          <a:xfrm>
            <a:off x="5142650" y="1809750"/>
            <a:ext cx="3821400" cy="28074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-193040" lvl="0" marL="3200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</a:pPr>
            <a:r>
              <a:rPr lang="en" sz="1600">
                <a:solidFill>
                  <a:schemeClr val="accent5"/>
                </a:solidFill>
              </a:rPr>
              <a:t>So far, we have used if statements to control the execution flow in a script. </a:t>
            </a:r>
            <a:endParaRPr sz="1600">
              <a:solidFill>
                <a:schemeClr val="accent5"/>
              </a:solidFill>
            </a:endParaRPr>
          </a:p>
          <a:p>
            <a:pPr indent="-1930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●"/>
            </a:pPr>
            <a:r>
              <a:rPr lang="en" sz="1600">
                <a:solidFill>
                  <a:schemeClr val="accent5"/>
                </a:solidFill>
              </a:rPr>
              <a:t>We also used if statements with loops to perform administrative tasks.</a:t>
            </a:r>
            <a:endParaRPr sz="1600">
              <a:solidFill>
                <a:schemeClr val="accent5"/>
              </a:solidFill>
            </a:endParaRPr>
          </a:p>
          <a:p>
            <a:pPr indent="-193040" lvl="0" marL="32004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Clr>
                <a:schemeClr val="accent5"/>
              </a:buClr>
              <a:buSzPts val="1600"/>
              <a:buChar char="●"/>
            </a:pPr>
            <a:r>
              <a:rPr lang="en" sz="1600">
                <a:solidFill>
                  <a:schemeClr val="accent5"/>
                </a:solidFill>
              </a:rPr>
              <a:t>For our final activity, we apply these new skills by going through a completed user setup script.  </a:t>
            </a:r>
            <a:endParaRPr sz="1600">
              <a:solidFill>
                <a:schemeClr val="accent5"/>
              </a:solidFill>
            </a:endParaRPr>
          </a:p>
        </p:txBody>
      </p:sp>
      <p:cxnSp>
        <p:nvCxnSpPr>
          <p:cNvPr id="975" name="Google Shape;975;p119"/>
          <p:cNvCxnSpPr/>
          <p:nvPr/>
        </p:nvCxnSpPr>
        <p:spPr>
          <a:xfrm>
            <a:off x="5485625" y="1718050"/>
            <a:ext cx="3384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20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Linux Scavenger Hunt</a:t>
            </a:r>
            <a:endParaRPr baseline="-25000"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