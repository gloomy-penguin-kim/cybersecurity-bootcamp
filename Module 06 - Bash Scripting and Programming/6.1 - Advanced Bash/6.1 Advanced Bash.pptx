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  <p15:guide id="2" orient="horz" pos="528">
          <p15:clr>
            <a:srgbClr val="747775"/>
          </p15:clr>
        </p15:guide>
        <p15:guide id="3" orient="horz" pos="1222">
          <p15:clr>
            <a:srgbClr val="747775"/>
          </p15:clr>
        </p15:guide>
        <p15:guide id="4" orient="horz" pos="88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AA3803-6FC9-409A-93ED-78DF2A29858E}">
  <a:tblStyle styleId="{74AA3803-6FC9-409A-93ED-78DF2A29858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  <p:guide pos="528" orient="horz"/>
        <p:guide pos="1222" orient="horz"/>
        <p:guide pos="8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f5a4c5faa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f5a4c5faa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5a4c5faa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f5a4c5fa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5a4c5faa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2f5a4c5faa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f5a4c5faa6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f5a4c5faa6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f5a4c5faa6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f5a4c5faa6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5a4c5faa6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f5a4c5faa6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f5a4c5faa6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f5a4c5faa6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f5a4c5faa6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f5a4c5faa6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f5a4c5faa6_0_2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f5a4c5faa6_0_2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f5a4c5faa6_0_3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f5a4c5faa6_0_3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5a4c5faa6_0_3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f5a4c5faa6_0_3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f5a4c5faa6_0_3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f5a4c5faa6_0_3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2f5a4c5faa6_0_3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2f5a4c5faa6_0_3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f5a4c5faa6_0_3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f5a4c5faa6_0_3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f5a4c5faa6_0_3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f5a4c5faa6_0_3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6b54f9d1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f6b54f9d1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f6b54f9d1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f6b54f9d1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6b54f9d13_0_9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2f6b54f9d13_0_9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f6b54f9d13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f6b54f9d13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f6b54f9d13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f6b54f9d13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latin typeface="Roboto"/>
                <a:ea typeface="Roboto"/>
                <a:cs typeface="Roboto"/>
                <a:sym typeface="Roboto"/>
              </a:rPr>
              <a:t>Image source: shutterstock_588305666</a:t>
            </a:r>
            <a:endParaRPr i="1" sz="1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f6b54f9d13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f6b54f9d13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2f6b54f9d13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2f6b54f9d13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f6b54f9d13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2f6b54f9d13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f6b54f9d13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f6b54f9d13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f6b54f9d13_0_1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f6b54f9d13_0_1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f6b54f9d13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f6b54f9d13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f6b54f9d13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f6b54f9d13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shutterstock_1912953484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f6b54f9d13_0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f6b54f9d13_0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f6b54f9d13_0_2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2f6b54f9d13_0_2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f3b1f22086_1_3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f3b1f22086_1_3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f6b54f9d13_0_2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f6b54f9d13_0_2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6b54f9d13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f6b54f9d13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f6b54f9d13_0_2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f6b54f9d13_0_2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f6b54f9d13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f6b54f9d13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f3c77fc7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f3c77fc7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f6b54f9d13_0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f6b54f9d13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f6b54f9d13_0_2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6" name="Google Shape;846;g2f6b54f9d13_0_2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f6b54f9d13_0_2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2f6b54f9d13_0_2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f6b54f9d13_0_2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0" name="Google Shape;860;g2f6b54f9d13_0_2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f6b54f9d13_0_2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f6b54f9d13_0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f6b54f9d13_0_2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f6b54f9d13_0_2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f3c77fc737_0_5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f3c77fc737_0_5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f2ee463b77_0_7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f2ee463b77_0_7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2f2ee463b77_0_7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2f2ee463b77_0_7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2f2ee463b77_0_7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f2ee463b77_0_7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f6b54f9d13_0_2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f6b54f9d13_0_2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f6b54f9d13_0_3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f6b54f9d13_0_3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f303d877e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f303d877e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f303d877e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f303d877e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f303d877e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f303d877e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0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2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8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8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0" name="Google Shape;410;p58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8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58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9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15" name="Google Shape;415;p5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9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Relationship Id="rId4" Type="http://schemas.openxmlformats.org/officeDocument/2006/relationships/image" Target="../media/image4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Bash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22" name="Google Shape;422;p60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23" name="Google Shape;423;p60"/>
          <p:cNvSpPr txBox="1"/>
          <p:nvPr>
            <p:ph idx="2" type="subTitle"/>
          </p:nvPr>
        </p:nvSpPr>
        <p:spPr>
          <a:xfrm>
            <a:off x="4570700" y="36892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6.1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29" name="Google Shape;429;p6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61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31" name="Google Shape;431;p61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32" name="Google Shape;432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33" name="Google Shape;433;p61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34" name="Google Shape;434;p61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61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61"/>
          <p:cNvSpPr/>
          <p:nvPr/>
        </p:nvSpPr>
        <p:spPr>
          <a:xfrm>
            <a:off x="543450" y="264582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1"/>
          <p:cNvSpPr/>
          <p:nvPr/>
        </p:nvSpPr>
        <p:spPr>
          <a:xfrm>
            <a:off x="543450" y="33596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61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61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1"/>
          <p:cNvSpPr/>
          <p:nvPr/>
        </p:nvSpPr>
        <p:spPr>
          <a:xfrm>
            <a:off x="482300" y="263712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1"/>
          <p:cNvSpPr/>
          <p:nvPr/>
        </p:nvSpPr>
        <p:spPr>
          <a:xfrm>
            <a:off x="482300" y="33509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1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Construct compound commands using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file redirects.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1"/>
          <p:cNvSpPr txBox="1"/>
          <p:nvPr/>
        </p:nvSpPr>
        <p:spPr>
          <a:xfrm>
            <a:off x="970350" y="19526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and save alias commands to their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~/.bashrc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file.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1"/>
          <p:cNvSpPr txBox="1"/>
          <p:nvPr/>
        </p:nvSpPr>
        <p:spPr>
          <a:xfrm>
            <a:off x="970350" y="264582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Edit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$PATH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variables to include a custom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~/scripts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directory.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61"/>
          <p:cNvSpPr txBox="1"/>
          <p:nvPr/>
        </p:nvSpPr>
        <p:spPr>
          <a:xfrm>
            <a:off x="970350" y="3359675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simple bash scripts that consist of a list of commands.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Commands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</a:t>
            </a:r>
            <a:r>
              <a:rPr lang="en"/>
              <a:t>compound commands?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/>
          </a:p>
        </p:txBody>
      </p:sp>
      <p:sp>
        <p:nvSpPr>
          <p:cNvPr id="466" name="Google Shape;466;p6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IT Skill</a:t>
            </a:r>
            <a:endParaRPr/>
          </a:p>
        </p:txBody>
      </p:sp>
      <p:sp>
        <p:nvSpPr>
          <p:cNvPr id="467" name="Google Shape;467;p65"/>
          <p:cNvSpPr txBox="1"/>
          <p:nvPr>
            <p:ph idx="2" type="body"/>
          </p:nvPr>
        </p:nvSpPr>
        <p:spPr>
          <a:xfrm>
            <a:off x="459150" y="1249738"/>
            <a:ext cx="2739300" cy="2017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Compound Commands: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Navigating directories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Searching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Writing scripts</a:t>
            </a:r>
            <a:endParaRPr/>
          </a:p>
        </p:txBody>
      </p:sp>
      <p:sp>
        <p:nvSpPr>
          <p:cNvPr id="468" name="Google Shape;468;p65"/>
          <p:cNvSpPr/>
          <p:nvPr/>
        </p:nvSpPr>
        <p:spPr>
          <a:xfrm>
            <a:off x="175" y="3887800"/>
            <a:ext cx="9144000" cy="912600"/>
          </a:xfrm>
          <a:prstGeom prst="roundRect">
            <a:avLst>
              <a:gd fmla="val 0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-457200" lvl="0" marL="147218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Linux is widely used in the security field, these skill apply in </a:t>
            </a: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many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roles.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9" name="Google Shape;4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52" y="3990930"/>
            <a:ext cx="706371" cy="66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91262" y="619150"/>
            <a:ext cx="4416301" cy="30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6"/>
          <p:cNvSpPr txBox="1"/>
          <p:nvPr/>
        </p:nvSpPr>
        <p:spPr>
          <a:xfrm>
            <a:off x="1527350" y="1039700"/>
            <a:ext cx="6013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compound command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the combination of multiple commands, joined together and executed in succession.</a:t>
            </a:r>
            <a:endParaRPr b="0"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/>
          </a:p>
        </p:txBody>
      </p:sp>
      <p:sp>
        <p:nvSpPr>
          <p:cNvPr id="482" name="Google Shape;482;p6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Breakdown</a:t>
            </a:r>
            <a:endParaRPr/>
          </a:p>
        </p:txBody>
      </p:sp>
      <p:pic>
        <p:nvPicPr>
          <p:cNvPr id="483" name="Google Shape;48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67"/>
          <p:cNvSpPr/>
          <p:nvPr/>
        </p:nvSpPr>
        <p:spPr>
          <a:xfrm>
            <a:off x="950" y="10734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file $(find / -iname *.txt 2&gt;/dev/null) &gt; ~/Desktop/text_files ; tail ~/Desktop/text_files</a:t>
            </a:r>
            <a:endParaRPr b="1" sz="15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485" name="Google Shape;485;p67"/>
          <p:cNvGrpSpPr/>
          <p:nvPr/>
        </p:nvGrpSpPr>
        <p:grpSpPr>
          <a:xfrm>
            <a:off x="0" y="1824236"/>
            <a:ext cx="8686828" cy="410645"/>
            <a:chOff x="-3" y="1885788"/>
            <a:chExt cx="8686828" cy="400200"/>
          </a:xfrm>
        </p:grpSpPr>
        <p:cxnSp>
          <p:nvCxnSpPr>
            <p:cNvPr id="486" name="Google Shape;486;p67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487" name="Google Shape;487;p67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88" name="Google Shape;488;p67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67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67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1" name="Google Shape;491;p67"/>
          <p:cNvGrpSpPr/>
          <p:nvPr/>
        </p:nvGrpSpPr>
        <p:grpSpPr>
          <a:xfrm>
            <a:off x="0" y="2375476"/>
            <a:ext cx="8686828" cy="410645"/>
            <a:chOff x="-3" y="2566213"/>
            <a:chExt cx="8686828" cy="400200"/>
          </a:xfrm>
        </p:grpSpPr>
        <p:cxnSp>
          <p:nvCxnSpPr>
            <p:cNvPr id="492" name="Google Shape;492;p67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93" name="Google Shape;493;p67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67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0" y="2926716"/>
            <a:ext cx="8684268" cy="412800"/>
            <a:chOff x="-3" y="3236976"/>
            <a:chExt cx="8684268" cy="402300"/>
          </a:xfrm>
        </p:grpSpPr>
        <p:cxnSp>
          <p:nvCxnSpPr>
            <p:cNvPr id="497" name="Google Shape;497;p67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498" name="Google Shape;498;p67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67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67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01" name="Google Shape;501;p67"/>
          <p:cNvGrpSpPr/>
          <p:nvPr/>
        </p:nvGrpSpPr>
        <p:grpSpPr>
          <a:xfrm>
            <a:off x="0" y="3477185"/>
            <a:ext cx="8686828" cy="410645"/>
            <a:chOff x="-3" y="2566213"/>
            <a:chExt cx="8686828" cy="400200"/>
          </a:xfrm>
        </p:grpSpPr>
        <p:cxnSp>
          <p:nvCxnSpPr>
            <p:cNvPr id="502" name="Google Shape;502;p67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03" name="Google Shape;503;p67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67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67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06" name="Google Shape;506;p67"/>
          <p:cNvSpPr txBox="1"/>
          <p:nvPr/>
        </p:nvSpPr>
        <p:spPr>
          <a:xfrm>
            <a:off x="914402" y="184182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Searches entire system for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07" name="Google Shape;507;p67"/>
          <p:cNvSpPr txBox="1"/>
          <p:nvPr/>
        </p:nvSpPr>
        <p:spPr>
          <a:xfrm>
            <a:off x="914402" y="2392890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Verifies that the files found are text files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67"/>
          <p:cNvSpPr txBox="1"/>
          <p:nvPr/>
        </p:nvSpPr>
        <p:spPr>
          <a:xfrm>
            <a:off x="914402" y="294395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Ignores any errors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67"/>
          <p:cNvSpPr txBox="1"/>
          <p:nvPr/>
        </p:nvSpPr>
        <p:spPr>
          <a:xfrm>
            <a:off x="914402" y="3495021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Creates a list of all found files before saving that list to the desktop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0" name="Google Shape;510;p67"/>
          <p:cNvGrpSpPr/>
          <p:nvPr/>
        </p:nvGrpSpPr>
        <p:grpSpPr>
          <a:xfrm>
            <a:off x="0" y="4025499"/>
            <a:ext cx="8686828" cy="410645"/>
            <a:chOff x="-3" y="1885788"/>
            <a:chExt cx="8686828" cy="400200"/>
          </a:xfrm>
        </p:grpSpPr>
        <p:cxnSp>
          <p:nvCxnSpPr>
            <p:cNvPr id="511" name="Google Shape;511;p67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12" name="Google Shape;512;p67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13" name="Google Shape;513;p67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67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67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6" name="Google Shape;516;p67"/>
          <p:cNvSpPr txBox="1"/>
          <p:nvPr/>
        </p:nvSpPr>
        <p:spPr>
          <a:xfrm>
            <a:off x="914402" y="4043089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Open the file and print the last 10 lines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/>
          </a:p>
        </p:txBody>
      </p:sp>
      <p:sp>
        <p:nvSpPr>
          <p:cNvPr id="522" name="Google Shape;522;p6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Down the Command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3" name="Google Shape;52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68"/>
          <p:cNvSpPr/>
          <p:nvPr/>
        </p:nvSpPr>
        <p:spPr>
          <a:xfrm>
            <a:off x="950" y="13020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program -options arguments</a:t>
            </a:r>
            <a:endParaRPr b="1" sz="1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aphicFrame>
        <p:nvGraphicFramePr>
          <p:cNvPr id="525" name="Google Shape;525;p68"/>
          <p:cNvGraphicFramePr/>
          <p:nvPr/>
        </p:nvGraphicFramePr>
        <p:xfrm>
          <a:off x="457190" y="239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{74AA3803-6FC9-409A-93ED-78DF2A29858E}</a:tableStyleId>
              </a:tblPr>
              <a:tblGrid>
                <a:gridCol w="1802825"/>
                <a:gridCol w="6477800"/>
              </a:tblGrid>
              <a:tr h="73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Binary program that you are running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50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Options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Change the behavior of the program being run in the first part of the command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Arguments</a:t>
                      </a:r>
                      <a:endParaRPr sz="1800" u="none" cap="none" strike="noStrike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Point the command toward something, such as a directory or file that you want the program to act on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/>
          </a:p>
        </p:txBody>
      </p:sp>
      <p:sp>
        <p:nvSpPr>
          <p:cNvPr id="531" name="Google Shape;531;p6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Typical Format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2" name="Google Shape;53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69"/>
          <p:cNvSpPr/>
          <p:nvPr/>
        </p:nvSpPr>
        <p:spPr>
          <a:xfrm>
            <a:off x="950" y="2292600"/>
            <a:ext cx="9144000" cy="629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program -options </a:t>
            </a:r>
            <a:r>
              <a:rPr b="1" lang="en" sz="17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arguments</a:t>
            </a:r>
            <a:r>
              <a:rPr b="1" lang="en" sz="17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| program -options | program -options | program -options</a:t>
            </a:r>
            <a:endParaRPr b="1" sz="18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34" name="Google Shape;534;p69"/>
          <p:cNvSpPr txBox="1"/>
          <p:nvPr/>
        </p:nvSpPr>
        <p:spPr>
          <a:xfrm>
            <a:off x="457200" y="1297125"/>
            <a:ext cx="7535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When chaining commands together, the output of one command becomes the input of the next: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69"/>
          <p:cNvSpPr txBox="1"/>
          <p:nvPr/>
        </p:nvSpPr>
        <p:spPr>
          <a:xfrm>
            <a:off x="457200" y="3202125"/>
            <a:ext cx="86784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Therefore, the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argument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only needed for the first command in the chain.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0"/>
          <p:cNvSpPr txBox="1"/>
          <p:nvPr/>
        </p:nvSpPr>
        <p:spPr>
          <a:xfrm>
            <a:off x="4114800" y="2351725"/>
            <a:ext cx="48597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You have already been </a:t>
            </a:r>
            <a:r>
              <a:rPr b="1"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chaining commands</a:t>
            </a: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together using various techniques like </a:t>
            </a:r>
            <a:r>
              <a:rPr b="1" lang="en" sz="2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" sz="2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&gt;&gt;</a:t>
            </a: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" sz="2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1"/>
          <p:cNvSpPr/>
          <p:nvPr/>
        </p:nvSpPr>
        <p:spPr>
          <a:xfrm>
            <a:off x="-1630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71"/>
          <p:cNvSpPr/>
          <p:nvPr/>
        </p:nvSpPr>
        <p:spPr>
          <a:xfrm>
            <a:off x="-16300" y="1050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71"/>
          <p:cNvSpPr txBox="1"/>
          <p:nvPr>
            <p:ph type="title"/>
          </p:nvPr>
        </p:nvSpPr>
        <p:spPr>
          <a:xfrm>
            <a:off x="233500" y="326175"/>
            <a:ext cx="24654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Let’s Review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48" name="Google Shape;5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71"/>
          <p:cNvCxnSpPr/>
          <p:nvPr/>
        </p:nvCxnSpPr>
        <p:spPr>
          <a:xfrm>
            <a:off x="-40825" y="838000"/>
            <a:ext cx="3573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" name="Google Shape;550;p71"/>
          <p:cNvSpPr/>
          <p:nvPr/>
        </p:nvSpPr>
        <p:spPr>
          <a:xfrm>
            <a:off x="4313975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1" name="Google Shape;551;p71"/>
          <p:cNvSpPr txBox="1"/>
          <p:nvPr>
            <p:ph idx="1" type="body"/>
          </p:nvPr>
        </p:nvSpPr>
        <p:spPr>
          <a:xfrm>
            <a:off x="571500" y="1939925"/>
            <a:ext cx="2628900" cy="939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</a:rPr>
              <a:t>We’ve already chained commands using</a:t>
            </a:r>
            <a:r>
              <a:rPr b="1"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&gt;</a:t>
            </a:r>
            <a:r>
              <a:rPr lang="en" sz="1800">
                <a:solidFill>
                  <a:schemeClr val="lt1"/>
                </a:solidFill>
              </a:rPr>
              <a:t>, </a:t>
            </a:r>
            <a:r>
              <a:rPr b="1"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&gt;&gt;</a:t>
            </a:r>
            <a:r>
              <a:rPr lang="en" sz="1800">
                <a:solidFill>
                  <a:schemeClr val="lt1"/>
                </a:solidFill>
              </a:rPr>
              <a:t>, and </a:t>
            </a:r>
            <a:r>
              <a:rPr b="1" lang="en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 sz="1800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72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2"/>
          <p:cNvSpPr txBox="1"/>
          <p:nvPr>
            <p:ph type="title"/>
          </p:nvPr>
        </p:nvSpPr>
        <p:spPr>
          <a:xfrm>
            <a:off x="7230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Chaining with &gt; and &gt;&gt;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559" name="Google Shape;559;p7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0" name="Google Shape;560;p72"/>
          <p:cNvCxnSpPr/>
          <p:nvPr/>
        </p:nvCxnSpPr>
        <p:spPr>
          <a:xfrm>
            <a:off x="-65325" y="838000"/>
            <a:ext cx="38589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1" name="Google Shape;56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72"/>
          <p:cNvSpPr txBox="1"/>
          <p:nvPr>
            <p:ph idx="1" type="subTitle"/>
          </p:nvPr>
        </p:nvSpPr>
        <p:spPr>
          <a:xfrm>
            <a:off x="124350" y="1025825"/>
            <a:ext cx="4323300" cy="33402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1" lang="en">
                <a:solidFill>
                  <a:schemeClr val="lt1"/>
                </a:solidFill>
                <a:highlight>
                  <a:srgbClr val="000000"/>
                </a:highlight>
                <a:latin typeface="Inconsolata"/>
                <a:ea typeface="Inconsolata"/>
                <a:cs typeface="Inconsolata"/>
                <a:sym typeface="Inconsolata"/>
              </a:rPr>
              <a:t>ls &gt; list.txt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 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205740" lvl="0" marL="32004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</a:t>
            </a:r>
            <a:r>
              <a:rPr lang="en">
                <a:solidFill>
                  <a:schemeClr val="lt1"/>
                </a:solidFill>
              </a:rPr>
              <a:t>akes the output of the ls command and sends it into a new file named `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list.txt</a:t>
            </a:r>
            <a:r>
              <a:rPr lang="en">
                <a:solidFill>
                  <a:schemeClr val="lt1"/>
                </a:solidFill>
              </a:rPr>
              <a:t>`. </a:t>
            </a:r>
            <a:endParaRPr>
              <a:solidFill>
                <a:schemeClr val="lt1"/>
              </a:solidFill>
            </a:endParaRPr>
          </a:p>
          <a:p>
            <a:pPr indent="-205740" lvl="0" marL="320040" rtl="0" algn="l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If the file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list.txt</a:t>
            </a:r>
            <a:r>
              <a:rPr lang="en">
                <a:solidFill>
                  <a:schemeClr val="lt1"/>
                </a:solidFill>
              </a:rPr>
              <a:t> already exists, it is overwritten.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3" name="Google Shape;563;p72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73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73"/>
          <p:cNvSpPr txBox="1"/>
          <p:nvPr>
            <p:ph type="title"/>
          </p:nvPr>
        </p:nvSpPr>
        <p:spPr>
          <a:xfrm>
            <a:off x="7230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Chaining with &gt; and &gt;&gt;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571" name="Google Shape;571;p7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72" name="Google Shape;572;p73"/>
          <p:cNvCxnSpPr/>
          <p:nvPr/>
        </p:nvCxnSpPr>
        <p:spPr>
          <a:xfrm>
            <a:off x="-40825" y="838000"/>
            <a:ext cx="38346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73" name="Google Shape;57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73"/>
          <p:cNvSpPr txBox="1"/>
          <p:nvPr>
            <p:ph idx="1" type="subTitle"/>
          </p:nvPr>
        </p:nvSpPr>
        <p:spPr>
          <a:xfrm>
            <a:off x="104900" y="1025825"/>
            <a:ext cx="4524600" cy="33402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1" lang="en">
                <a:solidFill>
                  <a:schemeClr val="lt1"/>
                </a:solidFill>
                <a:highlight>
                  <a:srgbClr val="000000"/>
                </a:highlight>
                <a:latin typeface="Inconsolata"/>
                <a:ea typeface="Inconsolata"/>
                <a:cs typeface="Inconsolata"/>
                <a:sym typeface="Inconsolata"/>
              </a:rPr>
              <a:t>&gt; list.txt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 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Without a command in front of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r>
              <a:rPr lang="en">
                <a:solidFill>
                  <a:schemeClr val="lt1"/>
                </a:solidFill>
              </a:rPr>
              <a:t>, there is no output to send to the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list.txt</a:t>
            </a:r>
            <a:r>
              <a:rPr lang="en">
                <a:solidFill>
                  <a:schemeClr val="lt1"/>
                </a:solidFill>
              </a:rPr>
              <a:t> file.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However, the file is still written, without output, creating a blank file. If the file `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list.txt</a:t>
            </a:r>
            <a:r>
              <a:rPr lang="en">
                <a:solidFill>
                  <a:schemeClr val="lt1"/>
                </a:solidFill>
              </a:rPr>
              <a:t>` exists, it is overwritten with nothing.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5" name="Google Shape;575;p73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74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Google Shape;582;p74"/>
          <p:cNvSpPr txBox="1"/>
          <p:nvPr>
            <p:ph type="title"/>
          </p:nvPr>
        </p:nvSpPr>
        <p:spPr>
          <a:xfrm>
            <a:off x="7230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Chaining with &gt; and &gt;&gt;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583" name="Google Shape;583;p7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84" name="Google Shape;584;p74"/>
          <p:cNvCxnSpPr/>
          <p:nvPr/>
        </p:nvCxnSpPr>
        <p:spPr>
          <a:xfrm>
            <a:off x="-32650" y="838000"/>
            <a:ext cx="38265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85" name="Google Shape;58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74"/>
          <p:cNvSpPr txBox="1"/>
          <p:nvPr>
            <p:ph idx="1" type="subTitle"/>
          </p:nvPr>
        </p:nvSpPr>
        <p:spPr>
          <a:xfrm>
            <a:off x="104900" y="1025825"/>
            <a:ext cx="4524600" cy="38514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l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s &gt;</a:t>
            </a:r>
            <a:r>
              <a:rPr b="1" lang="en">
                <a:solidFill>
                  <a:schemeClr val="lt1"/>
                </a:solidFill>
                <a:highlight>
                  <a:srgbClr val="000000"/>
                </a:highlight>
                <a:latin typeface="Inconsolata"/>
                <a:ea typeface="Inconsolata"/>
                <a:cs typeface="Inconsolata"/>
                <a:sym typeface="Inconsolata"/>
              </a:rPr>
              <a:t>&gt; list.txt</a:t>
            </a: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 </a:t>
            </a:r>
            <a:br>
              <a:rPr lang="en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&gt;&gt;</a:t>
            </a:r>
            <a:r>
              <a:rPr lang="en">
                <a:solidFill>
                  <a:schemeClr val="lt1"/>
                </a:solidFill>
              </a:rPr>
              <a:t> will append the output of the ls.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If 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list.txt</a:t>
            </a:r>
            <a:r>
              <a:rPr lang="en">
                <a:solidFill>
                  <a:schemeClr val="lt1"/>
                </a:solidFill>
              </a:rPr>
              <a:t> does not exist, it is created.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U</a:t>
            </a:r>
            <a:r>
              <a:rPr lang="en">
                <a:solidFill>
                  <a:schemeClr val="lt1"/>
                </a:solidFill>
              </a:rPr>
              <a:t>sing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&gt;&gt;</a:t>
            </a:r>
            <a:r>
              <a:rPr lang="en">
                <a:solidFill>
                  <a:schemeClr val="lt1"/>
                </a:solidFill>
              </a:rPr>
              <a:t> instead of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r>
              <a:rPr lang="en">
                <a:solidFill>
                  <a:schemeClr val="lt1"/>
                </a:solidFill>
              </a:rPr>
              <a:t> is always safer, unless you want the file to be overwritten.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87" name="Google Shape;587;p74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75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75"/>
          <p:cNvSpPr txBox="1"/>
          <p:nvPr>
            <p:ph type="title"/>
          </p:nvPr>
        </p:nvSpPr>
        <p:spPr>
          <a:xfrm>
            <a:off x="-45805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       Piping with |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595" name="Google Shape;595;p7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6" name="Google Shape;596;p75"/>
          <p:cNvCxnSpPr/>
          <p:nvPr/>
        </p:nvCxnSpPr>
        <p:spPr>
          <a:xfrm>
            <a:off x="-57150" y="838000"/>
            <a:ext cx="38508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7" name="Google Shape;5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5"/>
          <p:cNvSpPr txBox="1"/>
          <p:nvPr>
            <p:ph idx="1" type="subTitle"/>
          </p:nvPr>
        </p:nvSpPr>
        <p:spPr>
          <a:xfrm>
            <a:off x="0" y="1334125"/>
            <a:ext cx="4755900" cy="35430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Pipe (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lang="en">
                <a:solidFill>
                  <a:schemeClr val="lt1"/>
                </a:solidFill>
              </a:rPr>
              <a:t> ) takes the output of one command and sends it to the input of another command.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Typically follows this format: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program -options arguments | program -options | program -options | program -options</a:t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99" name="Google Shape;599;p75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|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/>
          </a:p>
        </p:txBody>
      </p:sp>
      <p:sp>
        <p:nvSpPr>
          <p:cNvPr id="605" name="Google Shape;605;p7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Piping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|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606" name="Google Shape;60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76"/>
          <p:cNvSpPr/>
          <p:nvPr/>
        </p:nvSpPr>
        <p:spPr>
          <a:xfrm>
            <a:off x="950" y="10734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ls -l 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grep '.txt'</a:t>
            </a:r>
            <a:endParaRPr b="1"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608" name="Google Shape;608;p76"/>
          <p:cNvGrpSpPr/>
          <p:nvPr/>
        </p:nvGrpSpPr>
        <p:grpSpPr>
          <a:xfrm>
            <a:off x="0" y="1824236"/>
            <a:ext cx="8686828" cy="410645"/>
            <a:chOff x="-3" y="1885788"/>
            <a:chExt cx="8686828" cy="400200"/>
          </a:xfrm>
        </p:grpSpPr>
        <p:cxnSp>
          <p:nvCxnSpPr>
            <p:cNvPr id="609" name="Google Shape;609;p7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10" name="Google Shape;610;p7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11" name="Google Shape;611;p7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7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7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4" name="Google Shape;614;p76"/>
          <p:cNvGrpSpPr/>
          <p:nvPr/>
        </p:nvGrpSpPr>
        <p:grpSpPr>
          <a:xfrm>
            <a:off x="0" y="2375476"/>
            <a:ext cx="8686828" cy="410645"/>
            <a:chOff x="-3" y="2566213"/>
            <a:chExt cx="8686828" cy="400200"/>
          </a:xfrm>
        </p:grpSpPr>
        <p:cxnSp>
          <p:nvCxnSpPr>
            <p:cNvPr id="615" name="Google Shape;615;p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16" name="Google Shape;616;p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9" name="Google Shape;619;p76"/>
          <p:cNvGrpSpPr/>
          <p:nvPr/>
        </p:nvGrpSpPr>
        <p:grpSpPr>
          <a:xfrm>
            <a:off x="0" y="2926716"/>
            <a:ext cx="8684268" cy="412800"/>
            <a:chOff x="-3" y="3236976"/>
            <a:chExt cx="8684268" cy="402300"/>
          </a:xfrm>
        </p:grpSpPr>
        <p:cxnSp>
          <p:nvCxnSpPr>
            <p:cNvPr id="620" name="Google Shape;620;p7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21" name="Google Shape;621;p7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7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7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24" name="Google Shape;624;p76"/>
          <p:cNvGrpSpPr/>
          <p:nvPr/>
        </p:nvGrpSpPr>
        <p:grpSpPr>
          <a:xfrm>
            <a:off x="0" y="3477185"/>
            <a:ext cx="8686828" cy="410645"/>
            <a:chOff x="-3" y="2566213"/>
            <a:chExt cx="8686828" cy="400200"/>
          </a:xfrm>
        </p:grpSpPr>
        <p:cxnSp>
          <p:nvCxnSpPr>
            <p:cNvPr id="625" name="Google Shape;625;p7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26" name="Google Shape;626;p7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7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7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9" name="Google Shape;629;p76"/>
          <p:cNvSpPr txBox="1"/>
          <p:nvPr/>
        </p:nvSpPr>
        <p:spPr>
          <a:xfrm>
            <a:off x="914402" y="184182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ls -l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creates a list of files.</a:t>
            </a:r>
            <a:endParaRPr b="1" sz="1800">
              <a:solidFill>
                <a:srgbClr val="082D49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30" name="Google Shape;630;p76"/>
          <p:cNvSpPr txBox="1"/>
          <p:nvPr/>
        </p:nvSpPr>
        <p:spPr>
          <a:xfrm>
            <a:off x="914402" y="2392890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|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pipes the list from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ls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into the command that follows.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76"/>
          <p:cNvSpPr txBox="1"/>
          <p:nvPr/>
        </p:nvSpPr>
        <p:spPr>
          <a:xfrm>
            <a:off x="914402" y="294395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searches the files from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ls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for the string that follows.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76"/>
          <p:cNvSpPr txBox="1"/>
          <p:nvPr/>
        </p:nvSpPr>
        <p:spPr>
          <a:xfrm>
            <a:off x="914402" y="3495021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.txt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matches any file that contains .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txt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 the filename.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Piping with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common programs that users will pipe to include: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9" name="Google Shape;63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Google Shape;640;p77"/>
          <p:cNvGraphicFramePr/>
          <p:nvPr/>
        </p:nvGraphicFramePr>
        <p:xfrm>
          <a:off x="431678" y="122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{74AA3803-6FC9-409A-93ED-78DF2A29858E}</a:tableStyleId>
              </a:tblPr>
              <a:tblGrid>
                <a:gridCol w="1802825"/>
                <a:gridCol w="6477800"/>
              </a:tblGrid>
              <a:tr h="7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 head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prints only the first 10 lines of output.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 tail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prints only the last 10 lines of output.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 sort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sorts the output alphabetically.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 sed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searches and replaces parts of the output.</a:t>
                      </a:r>
                      <a:endParaRPr sz="1800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 awk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displays only specified parts of the output.</a:t>
                      </a:r>
                      <a:endParaRPr sz="1800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Piping with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6" name="Google Shape;64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78"/>
          <p:cNvSpPr/>
          <p:nvPr/>
        </p:nvSpPr>
        <p:spPr>
          <a:xfrm>
            <a:off x="950" y="10734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cat /etc/passwd 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|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grep sysadmin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 |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awk -F ':' '{print $6}'</a:t>
            </a:r>
            <a:endParaRPr b="1"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648" name="Google Shape;648;p78"/>
          <p:cNvGrpSpPr/>
          <p:nvPr/>
        </p:nvGrpSpPr>
        <p:grpSpPr>
          <a:xfrm>
            <a:off x="0" y="2052836"/>
            <a:ext cx="8686828" cy="410645"/>
            <a:chOff x="-3" y="1885788"/>
            <a:chExt cx="8686828" cy="400200"/>
          </a:xfrm>
        </p:grpSpPr>
        <p:cxnSp>
          <p:nvCxnSpPr>
            <p:cNvPr id="649" name="Google Shape;649;p78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50" name="Google Shape;650;p78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51" name="Google Shape;651;p78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78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78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4" name="Google Shape;654;p78"/>
          <p:cNvGrpSpPr/>
          <p:nvPr/>
        </p:nvGrpSpPr>
        <p:grpSpPr>
          <a:xfrm>
            <a:off x="0" y="2604076"/>
            <a:ext cx="8686828" cy="410645"/>
            <a:chOff x="-3" y="2566213"/>
            <a:chExt cx="8686828" cy="400200"/>
          </a:xfrm>
        </p:grpSpPr>
        <p:cxnSp>
          <p:nvCxnSpPr>
            <p:cNvPr id="655" name="Google Shape;655;p78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56" name="Google Shape;656;p78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78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78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9" name="Google Shape;659;p78"/>
          <p:cNvGrpSpPr/>
          <p:nvPr/>
        </p:nvGrpSpPr>
        <p:grpSpPr>
          <a:xfrm>
            <a:off x="0" y="3155316"/>
            <a:ext cx="8684268" cy="412800"/>
            <a:chOff x="-3" y="3236976"/>
            <a:chExt cx="8684268" cy="402300"/>
          </a:xfrm>
        </p:grpSpPr>
        <p:cxnSp>
          <p:nvCxnSpPr>
            <p:cNvPr id="660" name="Google Shape;660;p78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61" name="Google Shape;661;p78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78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78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4" name="Google Shape;664;p78"/>
          <p:cNvSpPr txBox="1"/>
          <p:nvPr/>
        </p:nvSpPr>
        <p:spPr>
          <a:xfrm>
            <a:off x="914402" y="207042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cat /etc/passwd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dumps the contents of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/etc/passwd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to output.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78"/>
          <p:cNvSpPr txBox="1"/>
          <p:nvPr/>
        </p:nvSpPr>
        <p:spPr>
          <a:xfrm>
            <a:off x="914402" y="2621490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|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pipes that output into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grep sysadmin,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displaying lines with </a:t>
            </a: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sysadmin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78"/>
          <p:cNvSpPr txBox="1"/>
          <p:nvPr/>
        </p:nvSpPr>
        <p:spPr>
          <a:xfrm>
            <a:off x="914402" y="3172556"/>
            <a:ext cx="7772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|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pipes that output into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awk -F ':' '{print $6}'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printing the 6th field of line.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7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/etc/passwd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7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79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79"/>
          <p:cNvSpPr txBox="1"/>
          <p:nvPr>
            <p:ph type="title"/>
          </p:nvPr>
        </p:nvSpPr>
        <p:spPr>
          <a:xfrm>
            <a:off x="-45805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Combining with </a:t>
            </a:r>
            <a:r>
              <a:rPr lang="en" sz="2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;</a:t>
            </a:r>
            <a:endParaRPr sz="2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7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76" name="Google Shape;676;p79"/>
          <p:cNvCxnSpPr/>
          <p:nvPr/>
        </p:nvCxnSpPr>
        <p:spPr>
          <a:xfrm>
            <a:off x="-16300" y="838000"/>
            <a:ext cx="35466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77" name="Google Shape;67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285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79"/>
          <p:cNvSpPr txBox="1"/>
          <p:nvPr>
            <p:ph idx="1" type="subTitle"/>
          </p:nvPr>
        </p:nvSpPr>
        <p:spPr>
          <a:xfrm>
            <a:off x="0" y="1334125"/>
            <a:ext cx="4755900" cy="35430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Semicolon (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r>
              <a:rPr lang="en">
                <a:solidFill>
                  <a:schemeClr val="lt1"/>
                </a:solidFill>
              </a:rPr>
              <a:t>) is used to run commands back-to-back.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</a:t>
            </a:r>
            <a:r>
              <a:rPr lang="en">
                <a:solidFill>
                  <a:schemeClr val="lt1"/>
                </a:solidFill>
              </a:rPr>
              <a:t>ach command is running on its own. It is not sending its output to the next command.</a:t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rgbClr val="000000"/>
              </a:highlight>
              <a:latin typeface="Inconsolata Medium"/>
              <a:ea typeface="Inconsolata Medium"/>
              <a:cs typeface="Inconsolata Medium"/>
              <a:sym typeface="Inconsolata Medium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79" name="Google Shape;679;p79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80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80"/>
          <p:cNvSpPr txBox="1"/>
          <p:nvPr>
            <p:ph type="title"/>
          </p:nvPr>
        </p:nvSpPr>
        <p:spPr>
          <a:xfrm>
            <a:off x="0" y="3422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Combining with </a:t>
            </a:r>
            <a:r>
              <a:rPr lang="en" sz="2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 sz="2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7" name="Google Shape;687;p80"/>
          <p:cNvSpPr txBox="1"/>
          <p:nvPr>
            <p:ph idx="1" type="subTitle"/>
          </p:nvPr>
        </p:nvSpPr>
        <p:spPr>
          <a:xfrm>
            <a:off x="0" y="1105400"/>
            <a:ext cx="4761900" cy="610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Rather than running this: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8" name="Google Shape;688;p8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89" name="Google Shape;689;p80"/>
          <p:cNvCxnSpPr/>
          <p:nvPr/>
        </p:nvCxnSpPr>
        <p:spPr>
          <a:xfrm>
            <a:off x="-40825" y="990675"/>
            <a:ext cx="89715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80"/>
          <p:cNvSpPr/>
          <p:nvPr/>
        </p:nvSpPr>
        <p:spPr>
          <a:xfrm>
            <a:off x="477175" y="1827925"/>
            <a:ext cx="3431700" cy="21462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FF00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$ mkdir dir</a:t>
            </a:r>
            <a:endParaRPr sz="2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$ cd dir</a:t>
            </a:r>
            <a:endParaRPr sz="2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$ touch file</a:t>
            </a:r>
            <a:endParaRPr sz="2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$ ls -l</a:t>
            </a:r>
            <a:endParaRPr sz="2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-rw-r--r-- 1 user user 0 Sep  4 15:33 file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0"/>
          <p:cNvSpPr/>
          <p:nvPr/>
        </p:nvSpPr>
        <p:spPr>
          <a:xfrm>
            <a:off x="4817775" y="1827925"/>
            <a:ext cx="3973800" cy="21339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$ mkdir dir; cd dir; touch file; ls -l</a:t>
            </a:r>
            <a:b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b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20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-rw-r--r-- 1 user user 0 Sep  4 15:33 file</a:t>
            </a:r>
            <a:endParaRPr sz="20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FF00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0"/>
          <p:cNvSpPr txBox="1"/>
          <p:nvPr>
            <p:ph idx="3" type="body"/>
          </p:nvPr>
        </p:nvSpPr>
        <p:spPr>
          <a:xfrm>
            <a:off x="4817775" y="1193325"/>
            <a:ext cx="4761900" cy="6108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We can use one command: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8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with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;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8" name="Google Shape;69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81"/>
          <p:cNvSpPr/>
          <p:nvPr/>
        </p:nvSpPr>
        <p:spPr>
          <a:xfrm>
            <a:off x="950" y="14544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mkdir dir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cd dor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touch file</a:t>
            </a: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;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ls -l</a:t>
            </a:r>
            <a:endParaRPr b="1"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00" name="Google Shape;700;p8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Issues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01" name="Google Shape;701;p81"/>
          <p:cNvSpPr txBox="1"/>
          <p:nvPr/>
        </p:nvSpPr>
        <p:spPr>
          <a:xfrm>
            <a:off x="231450" y="2135325"/>
            <a:ext cx="88008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command will fail because you are trying to move into the directory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dor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which has not been created.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Commands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touch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will still run.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2"/>
          <p:cNvSpPr txBox="1"/>
          <p:nvPr>
            <p:ph idx="1" type="body"/>
          </p:nvPr>
        </p:nvSpPr>
        <p:spPr>
          <a:xfrm>
            <a:off x="3526950" y="1201050"/>
            <a:ext cx="48333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If a string of commands</a:t>
            </a:r>
            <a:r>
              <a:rPr b="1" lang="en" sz="2500"/>
              <a:t> </a:t>
            </a:r>
            <a:r>
              <a:rPr b="1" lang="en" sz="2500"/>
              <a:t>separated</a:t>
            </a:r>
            <a:r>
              <a:rPr b="1" lang="en" sz="2500"/>
              <a:t> by</a:t>
            </a:r>
            <a:r>
              <a:rPr lang="en" sz="2500"/>
              <a:t> </a:t>
            </a:r>
            <a:r>
              <a:rPr b="1" lang="en" sz="2500">
                <a:latin typeface="Inconsolata"/>
                <a:ea typeface="Inconsolata"/>
                <a:cs typeface="Inconsolata"/>
                <a:sym typeface="Inconsolata"/>
              </a:rPr>
              <a:t>; </a:t>
            </a:r>
            <a:r>
              <a:rPr lang="en" sz="2500"/>
              <a:t>will run each command back-to-back, how does </a:t>
            </a:r>
            <a:r>
              <a:rPr b="1" lang="en" sz="2500"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 sz="2500"/>
              <a:t> </a:t>
            </a:r>
            <a:r>
              <a:rPr b="1" lang="en" sz="2500"/>
              <a:t>affect a chain of commands?</a:t>
            </a:r>
            <a:endParaRPr b="1" sz="2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83"/>
          <p:cNvSpPr/>
          <p:nvPr/>
        </p:nvSpPr>
        <p:spPr>
          <a:xfrm>
            <a:off x="-16300" y="0"/>
            <a:ext cx="4645800" cy="512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83"/>
          <p:cNvSpPr txBox="1"/>
          <p:nvPr>
            <p:ph type="title"/>
          </p:nvPr>
        </p:nvSpPr>
        <p:spPr>
          <a:xfrm>
            <a:off x="-16300" y="190350"/>
            <a:ext cx="49569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FFFFFF"/>
                </a:solidFill>
              </a:rPr>
              <a:t>Combining with </a:t>
            </a:r>
            <a:r>
              <a:rPr lang="en" sz="29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endParaRPr sz="29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14" name="Google Shape;714;p8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15" name="Google Shape;715;p83"/>
          <p:cNvCxnSpPr/>
          <p:nvPr/>
        </p:nvCxnSpPr>
        <p:spPr>
          <a:xfrm>
            <a:off x="-114300" y="838000"/>
            <a:ext cx="39081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6" name="Google Shape;7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94" y="284000"/>
            <a:ext cx="69961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83"/>
          <p:cNvSpPr txBox="1"/>
          <p:nvPr>
            <p:ph idx="1" type="subTitle"/>
          </p:nvPr>
        </p:nvSpPr>
        <p:spPr>
          <a:xfrm>
            <a:off x="0" y="1025825"/>
            <a:ext cx="4323300" cy="33402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highlight>
                  <a:srgbClr val="000000"/>
                </a:highlight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br>
              <a:rPr lang="en">
                <a:solidFill>
                  <a:schemeClr val="lt1"/>
                </a:solidFill>
              </a:rPr>
            </a:br>
            <a:r>
              <a:rPr lang="en">
                <a:solidFill>
                  <a:schemeClr val="lt1"/>
                </a:solidFill>
              </a:rPr>
              <a:t>A better operator to use in the previous case is the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>
                <a:solidFill>
                  <a:schemeClr val="lt1"/>
                </a:solidFill>
              </a:rPr>
              <a:t>.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The </a:t>
            </a:r>
            <a:r>
              <a:rPr b="1" lang="en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>
                <a:solidFill>
                  <a:schemeClr val="lt1"/>
                </a:solidFill>
              </a:rPr>
              <a:t> will run the next command only if the first command was successful.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18" name="Google Shape;718;p83"/>
          <p:cNvSpPr/>
          <p:nvPr/>
        </p:nvSpPr>
        <p:spPr>
          <a:xfrm>
            <a:off x="4434100" y="2107400"/>
            <a:ext cx="3146700" cy="20991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&amp;&amp;</a:t>
            </a:r>
            <a:endParaRPr sz="12000">
              <a:solidFill>
                <a:schemeClr val="l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Combining with &amp;&amp;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84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Better Option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6" name="Google Shape;726;p84"/>
          <p:cNvSpPr txBox="1"/>
          <p:nvPr/>
        </p:nvSpPr>
        <p:spPr>
          <a:xfrm>
            <a:off x="0" y="222585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cd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would only run if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mkdir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was successful.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touch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would only run if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cd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is successful.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ls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would only run if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touch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is successful.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84"/>
          <p:cNvSpPr/>
          <p:nvPr/>
        </p:nvSpPr>
        <p:spPr>
          <a:xfrm>
            <a:off x="0" y="1554775"/>
            <a:ext cx="9144000" cy="5337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mkdir dir 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cd dir 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touch file 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 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ls -l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8" name="Google Shape;728;p84"/>
          <p:cNvSpPr/>
          <p:nvPr/>
        </p:nvSpPr>
        <p:spPr>
          <a:xfrm>
            <a:off x="-12300" y="3325250"/>
            <a:ext cx="9168600" cy="533700"/>
          </a:xfrm>
          <a:prstGeom prst="rect">
            <a:avLst/>
          </a:prstGeom>
          <a:solidFill>
            <a:srgbClr val="1E1E1E"/>
          </a:solidFill>
          <a:ln cap="flat" cmpd="sng" w="9525">
            <a:solidFill>
              <a:srgbClr val="1E1E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mkdir dir 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cd </a:t>
            </a:r>
            <a:r>
              <a:rPr lang="en" sz="18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dor</a:t>
            </a:r>
            <a:r>
              <a:rPr lang="en" sz="1800">
                <a:solidFill>
                  <a:srgbClr val="FCB912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&amp;&amp;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touch file</a:t>
            </a:r>
            <a:r>
              <a:rPr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 &amp;&amp;</a:t>
            </a:r>
            <a:r>
              <a:rPr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ls -l</a:t>
            </a:r>
            <a:endParaRPr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9" name="Google Shape;729;p84"/>
          <p:cNvSpPr txBox="1"/>
          <p:nvPr/>
        </p:nvSpPr>
        <p:spPr>
          <a:xfrm>
            <a:off x="-12300" y="4033150"/>
            <a:ext cx="9144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Only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mkdir dir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cd dor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would run. 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cd dor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fails, so t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ouch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and</a:t>
            </a:r>
            <a:r>
              <a:rPr b="1" lang="en" sz="1800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ls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are ignored.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reviewed the following: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6" name="Google Shape;73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7" name="Google Shape;737;p85"/>
          <p:cNvGraphicFramePr/>
          <p:nvPr/>
        </p:nvGraphicFramePr>
        <p:xfrm>
          <a:off x="431678" y="114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{74AA3803-6FC9-409A-93ED-78DF2A29858E}</a:tableStyleId>
              </a:tblPr>
              <a:tblGrid>
                <a:gridCol w="1397125"/>
                <a:gridCol w="7077775"/>
              </a:tblGrid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&gt;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Creates or writes to existing files with text or output of a command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&gt;&gt;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Appends text or output of a command to a file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|</a:t>
                      </a:r>
                      <a:endParaRPr b="1" sz="1800" u="none" cap="none" strike="noStrike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Pipes the output of one command into another command</a:t>
                      </a:r>
                      <a:endParaRPr sz="1800" u="none" cap="none" strike="noStrike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;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Chains commands together in succession</a:t>
                      </a:r>
                      <a:endParaRPr sz="1800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Inconsolata"/>
                          <a:ea typeface="Inconsolata"/>
                          <a:cs typeface="Inconsolata"/>
                          <a:sym typeface="Inconsolata"/>
                        </a:rPr>
                        <a:t>&amp;&amp;</a:t>
                      </a:r>
                      <a:endParaRPr b="1" sz="1800">
                        <a:solidFill>
                          <a:srgbClr val="FFFFFF"/>
                        </a:solidFill>
                        <a:latin typeface="Inconsolata"/>
                        <a:ea typeface="Inconsolata"/>
                        <a:cs typeface="Inconsolata"/>
                        <a:sym typeface="Inconsolata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2D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r>
                        <a:rPr lang="en" sz="1800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isplays only specified parts of the output</a:t>
                      </a:r>
                      <a:endParaRPr sz="1800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82875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8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743" name="Google Shape;743;p8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Compound Commands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4" name="Google Shape;744;p86"/>
          <p:cNvSpPr txBox="1"/>
          <p:nvPr>
            <p:ph idx="3" type="body"/>
          </p:nvPr>
        </p:nvSpPr>
        <p:spPr>
          <a:xfrm>
            <a:off x="457200" y="1371588"/>
            <a:ext cx="78822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can start combining commands together to save us time when working on the command 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activity, you are working on auditing a new system and would like to simplify your job with automation. You will begin by combining several commands together to make fewer overall commands.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8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Creating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Aliases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9" name="Google Shape;75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90"/>
          <p:cNvPicPr preferRelativeResize="0"/>
          <p:nvPr/>
        </p:nvPicPr>
        <p:blipFill rotWithShape="1">
          <a:blip r:embed="rId3">
            <a:alphaModFix/>
          </a:blip>
          <a:srcRect b="15725" l="-270" r="0" t="0"/>
          <a:stretch/>
        </p:blipFill>
        <p:spPr>
          <a:xfrm>
            <a:off x="-24425" y="0"/>
            <a:ext cx="916859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9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6" name="Google Shape;766;p90"/>
          <p:cNvSpPr txBox="1"/>
          <p:nvPr>
            <p:ph type="title"/>
          </p:nvPr>
        </p:nvSpPr>
        <p:spPr>
          <a:xfrm>
            <a:off x="1762125" y="409575"/>
            <a:ext cx="6734100" cy="14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While compounds are useful, they require a lot </a:t>
            </a:r>
            <a:br>
              <a:rPr b="0" lang="en">
                <a:latin typeface="Roboto"/>
                <a:ea typeface="Roboto"/>
                <a:cs typeface="Roboto"/>
                <a:sym typeface="Roboto"/>
              </a:rPr>
            </a:br>
            <a:r>
              <a:rPr b="0" lang="en">
                <a:latin typeface="Roboto"/>
                <a:ea typeface="Roboto"/>
                <a:cs typeface="Roboto"/>
                <a:sym typeface="Roboto"/>
              </a:rPr>
              <a:t>of typing. We can use</a:t>
            </a:r>
            <a:r>
              <a:rPr b="0" lang="en"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aliases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as custom commands that launch our compound command. 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9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3" name="Google Shape;77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91"/>
          <p:cNvSpPr/>
          <p:nvPr/>
        </p:nvSpPr>
        <p:spPr>
          <a:xfrm>
            <a:off x="950" y="1073400"/>
            <a:ext cx="9144000" cy="54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alias</a:t>
            </a:r>
            <a:r>
              <a:rPr b="1" lang="en" sz="1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lh=“ls -lah”</a:t>
            </a:r>
            <a:endParaRPr b="1" sz="1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775" name="Google Shape;775;p91"/>
          <p:cNvGrpSpPr/>
          <p:nvPr/>
        </p:nvGrpSpPr>
        <p:grpSpPr>
          <a:xfrm>
            <a:off x="0" y="2052836"/>
            <a:ext cx="8686828" cy="410645"/>
            <a:chOff x="-3" y="1885788"/>
            <a:chExt cx="8686828" cy="400200"/>
          </a:xfrm>
        </p:grpSpPr>
        <p:cxnSp>
          <p:nvCxnSpPr>
            <p:cNvPr id="776" name="Google Shape;776;p91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77" name="Google Shape;777;p91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78" name="Google Shape;778;p91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91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91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1" name="Google Shape;781;p91"/>
          <p:cNvGrpSpPr/>
          <p:nvPr/>
        </p:nvGrpSpPr>
        <p:grpSpPr>
          <a:xfrm>
            <a:off x="0" y="2756476"/>
            <a:ext cx="8686828" cy="410645"/>
            <a:chOff x="-3" y="2566213"/>
            <a:chExt cx="8686828" cy="400200"/>
          </a:xfrm>
        </p:grpSpPr>
        <p:cxnSp>
          <p:nvCxnSpPr>
            <p:cNvPr id="782" name="Google Shape;782;p91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83" name="Google Shape;783;p91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91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91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86" name="Google Shape;786;p91"/>
          <p:cNvGrpSpPr/>
          <p:nvPr/>
        </p:nvGrpSpPr>
        <p:grpSpPr>
          <a:xfrm>
            <a:off x="0" y="3460116"/>
            <a:ext cx="8684268" cy="412800"/>
            <a:chOff x="-3" y="3236976"/>
            <a:chExt cx="8684268" cy="402300"/>
          </a:xfrm>
        </p:grpSpPr>
        <p:cxnSp>
          <p:nvCxnSpPr>
            <p:cNvPr id="787" name="Google Shape;787;p91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rgbClr val="2E5E73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788" name="Google Shape;788;p91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91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rgbClr val="F2F2F2"/>
            </a:solidFill>
            <a:ln cap="flat" cmpd="sng" w="76200">
              <a:solidFill>
                <a:srgbClr val="2E5E7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91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91" name="Google Shape;791;p91"/>
          <p:cNvSpPr txBox="1"/>
          <p:nvPr/>
        </p:nvSpPr>
        <p:spPr>
          <a:xfrm>
            <a:off x="914402" y="207042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alias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indicates that we are creating an alias.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91"/>
          <p:cNvSpPr txBox="1"/>
          <p:nvPr/>
        </p:nvSpPr>
        <p:spPr>
          <a:xfrm>
            <a:off x="914402" y="2773890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rPr>
              <a:t>lh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is our custom command for storing commands we want to run.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91"/>
          <p:cNvSpPr txBox="1"/>
          <p:nvPr/>
        </p:nvSpPr>
        <p:spPr>
          <a:xfrm>
            <a:off x="914402" y="3477356"/>
            <a:ext cx="7772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ls -lah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the command that will run when we use our alias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 lh</a:t>
            </a: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9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Breakdown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9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0" name="Google Shape;80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00" y="295250"/>
            <a:ext cx="417600" cy="3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9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Keeping Aliases Across Sessions and Logins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2" name="Google Shape;802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00" y="1195650"/>
            <a:ext cx="4015849" cy="401584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92"/>
          <p:cNvSpPr txBox="1"/>
          <p:nvPr/>
        </p:nvSpPr>
        <p:spPr>
          <a:xfrm>
            <a:off x="3969600" y="1278625"/>
            <a:ext cx="5041800" cy="3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Store consistent aliases in the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.bashrc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file.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Add alias definitions in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.bashrc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for easy access.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source ~/.bashrc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apply changes.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.bashrc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ensures aliases are available in every new terminal session.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4" name="Google Shape;804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50" y="1517425"/>
            <a:ext cx="4015849" cy="2765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5" name="Google Shape;805;p92"/>
          <p:cNvGrpSpPr/>
          <p:nvPr/>
        </p:nvGrpSpPr>
        <p:grpSpPr>
          <a:xfrm>
            <a:off x="9683200" y="4113225"/>
            <a:ext cx="555000" cy="493875"/>
            <a:chOff x="379725" y="2735025"/>
            <a:chExt cx="555000" cy="493875"/>
          </a:xfrm>
        </p:grpSpPr>
        <p:cxnSp>
          <p:nvCxnSpPr>
            <p:cNvPr id="806" name="Google Shape;806;p92"/>
            <p:cNvCxnSpPr/>
            <p:nvPr/>
          </p:nvCxnSpPr>
          <p:spPr>
            <a:xfrm>
              <a:off x="449025" y="2743200"/>
              <a:ext cx="485700" cy="485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7" name="Google Shape;807;p92"/>
            <p:cNvCxnSpPr/>
            <p:nvPr/>
          </p:nvCxnSpPr>
          <p:spPr>
            <a:xfrm flipH="1">
              <a:off x="379725" y="2735025"/>
              <a:ext cx="485700" cy="4857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Aliases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&amp;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.bashrc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94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818" name="Google Shape;818;p9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Aliases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9" name="Google Shape;819;p94"/>
          <p:cNvSpPr txBox="1"/>
          <p:nvPr>
            <p:ph idx="3" type="body"/>
          </p:nvPr>
        </p:nvSpPr>
        <p:spPr>
          <a:xfrm>
            <a:off x="457200" y="1759672"/>
            <a:ext cx="7882200" cy="2437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we will create several aliases and save them to our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~/.bashrc</a:t>
            </a:r>
            <a:r>
              <a:rPr lang="en"/>
              <a:t> file so that they will always be available.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20" name="Google Shape;82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9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Creating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Bash Scripts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8" name="Google Shape;838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9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anyone define what a basic </a:t>
            </a:r>
            <a:r>
              <a:rPr b="1" lang="en"/>
              <a:t>bash script</a:t>
            </a:r>
            <a:r>
              <a:rPr lang="en"/>
              <a:t> is?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00"/>
          <p:cNvSpPr txBox="1"/>
          <p:nvPr/>
        </p:nvSpPr>
        <p:spPr>
          <a:xfrm>
            <a:off x="1739000" y="1039700"/>
            <a:ext cx="60333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bash script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is a file 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containing</a:t>
            </a:r>
            <a:r>
              <a:rPr lang="en" sz="3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 sequence of commands that is executed when the script is run.</a:t>
            </a:r>
            <a:endParaRPr b="0" i="0" sz="34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1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10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2420" r="32420" t="0"/>
          <a:stretch/>
        </p:blipFill>
        <p:spPr>
          <a:xfrm>
            <a:off x="9474325" y="0"/>
            <a:ext cx="3220499" cy="5143500"/>
          </a:xfrm>
          <a:prstGeom prst="rect">
            <a:avLst/>
          </a:prstGeom>
        </p:spPr>
      </p:pic>
      <p:sp>
        <p:nvSpPr>
          <p:cNvPr id="855" name="Google Shape;855;p101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</a:t>
            </a:r>
            <a:r>
              <a:rPr lang="en"/>
              <a:t>n computer programing, a </a:t>
            </a:r>
            <a:r>
              <a:rPr b="1" lang="en"/>
              <a:t>variable</a:t>
            </a:r>
            <a:r>
              <a:rPr lang="en"/>
              <a:t> is a location that stores some kind of </a:t>
            </a:r>
            <a:r>
              <a:rPr lang="en"/>
              <a:t>data.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It’s a “</a:t>
            </a:r>
            <a:r>
              <a:rPr b="1" lang="en"/>
              <a:t>box</a:t>
            </a:r>
            <a:r>
              <a:rPr lang="en"/>
              <a:t>” that holds something so that you can refer to it later.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overwrite its contents with new contents.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01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in Computer Programming</a:t>
            </a:r>
            <a:endParaRPr/>
          </a:p>
        </p:txBody>
      </p:sp>
      <p:pic>
        <p:nvPicPr>
          <p:cNvPr id="857" name="Google Shape;857;p101"/>
          <p:cNvPicPr preferRelativeResize="0"/>
          <p:nvPr/>
        </p:nvPicPr>
        <p:blipFill rotWithShape="1">
          <a:blip r:embed="rId4">
            <a:alphaModFix/>
          </a:blip>
          <a:srcRect b="6367" l="29678" r="29682" t="0"/>
          <a:stretch/>
        </p:blipFill>
        <p:spPr>
          <a:xfrm>
            <a:off x="0" y="0"/>
            <a:ext cx="334947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2" name="Google Shape;862;p102"/>
          <p:cNvGrpSpPr/>
          <p:nvPr/>
        </p:nvGrpSpPr>
        <p:grpSpPr>
          <a:xfrm>
            <a:off x="-3" y="1296817"/>
            <a:ext cx="8686828" cy="400200"/>
            <a:chOff x="-3" y="1885788"/>
            <a:chExt cx="8686828" cy="400200"/>
          </a:xfrm>
        </p:grpSpPr>
        <p:cxnSp>
          <p:nvCxnSpPr>
            <p:cNvPr id="863" name="Google Shape;863;p102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64" name="Google Shape;864;p102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65" name="Google Shape;865;p102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02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02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8" name="Google Shape;868;p102"/>
          <p:cNvGrpSpPr/>
          <p:nvPr/>
        </p:nvGrpSpPr>
        <p:grpSpPr>
          <a:xfrm>
            <a:off x="-3" y="1982559"/>
            <a:ext cx="8686828" cy="400200"/>
            <a:chOff x="-3" y="2566213"/>
            <a:chExt cx="8686828" cy="400200"/>
          </a:xfrm>
        </p:grpSpPr>
        <p:cxnSp>
          <p:nvCxnSpPr>
            <p:cNvPr id="869" name="Google Shape;869;p102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70" name="Google Shape;870;p102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02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02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3" name="Google Shape;873;p102"/>
          <p:cNvGrpSpPr/>
          <p:nvPr/>
        </p:nvGrpSpPr>
        <p:grpSpPr>
          <a:xfrm>
            <a:off x="-3" y="2668301"/>
            <a:ext cx="8684268" cy="402300"/>
            <a:chOff x="-3" y="3236976"/>
            <a:chExt cx="8684268" cy="402300"/>
          </a:xfrm>
        </p:grpSpPr>
        <p:cxnSp>
          <p:nvCxnSpPr>
            <p:cNvPr id="874" name="Google Shape;874;p102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75" name="Google Shape;875;p102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102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102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78" name="Google Shape;878;p102"/>
          <p:cNvGrpSpPr/>
          <p:nvPr/>
        </p:nvGrpSpPr>
        <p:grpSpPr>
          <a:xfrm>
            <a:off x="-3" y="3353222"/>
            <a:ext cx="8686828" cy="400200"/>
            <a:chOff x="-3" y="2566213"/>
            <a:chExt cx="8686828" cy="400200"/>
          </a:xfrm>
        </p:grpSpPr>
        <p:cxnSp>
          <p:nvCxnSpPr>
            <p:cNvPr id="879" name="Google Shape;879;p102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80" name="Google Shape;880;p102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02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02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3" name="Google Shape;883;p102"/>
          <p:cNvSpPr txBox="1"/>
          <p:nvPr>
            <p:ph idx="4294967295" type="body"/>
          </p:nvPr>
        </p:nvSpPr>
        <p:spPr>
          <a:xfrm>
            <a:off x="914400" y="13138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Basic variables</a:t>
            </a:r>
            <a:endParaRPr/>
          </a:p>
        </p:txBody>
      </p:sp>
      <p:sp>
        <p:nvSpPr>
          <p:cNvPr id="884" name="Google Shape;884;p102"/>
          <p:cNvSpPr txBox="1"/>
          <p:nvPr>
            <p:ph idx="4294967295" type="body"/>
          </p:nvPr>
        </p:nvSpPr>
        <p:spPr>
          <a:xfrm>
            <a:off x="914400" y="19993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Built-in variables</a:t>
            </a:r>
            <a:endParaRPr/>
          </a:p>
        </p:txBody>
      </p:sp>
      <p:sp>
        <p:nvSpPr>
          <p:cNvPr id="885" name="Google Shape;885;p102"/>
          <p:cNvSpPr txBox="1"/>
          <p:nvPr>
            <p:ph idx="4294967295" type="body"/>
          </p:nvPr>
        </p:nvSpPr>
        <p:spPr>
          <a:xfrm>
            <a:off x="914400" y="270491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Command expansion</a:t>
            </a:r>
            <a:endParaRPr/>
          </a:p>
        </p:txBody>
      </p:sp>
      <p:sp>
        <p:nvSpPr>
          <p:cNvPr id="886" name="Google Shape;886;p102"/>
          <p:cNvSpPr txBox="1"/>
          <p:nvPr>
            <p:ph idx="4294967295" type="body"/>
          </p:nvPr>
        </p:nvSpPr>
        <p:spPr>
          <a:xfrm>
            <a:off x="914400" y="33704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Variables in scripts</a:t>
            </a:r>
            <a:endParaRPr/>
          </a:p>
        </p:txBody>
      </p:sp>
      <p:sp>
        <p:nvSpPr>
          <p:cNvPr id="887" name="Google Shape;887;p10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Variable Demo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888" name="Google Shape;888;p102"/>
          <p:cNvSpPr txBox="1"/>
          <p:nvPr>
            <p:ph idx="1" type="subTitle"/>
          </p:nvPr>
        </p:nvSpPr>
        <p:spPr>
          <a:xfrm>
            <a:off x="463225" y="548650"/>
            <a:ext cx="8229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the following demo, we will use: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0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Variable Demo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0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903" name="Google Shape;903;p105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Sysadmin Bash Script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04" name="Google Shape;904;p105"/>
          <p:cNvSpPr txBox="1"/>
          <p:nvPr>
            <p:ph idx="3" type="body"/>
          </p:nvPr>
        </p:nvSpPr>
        <p:spPr>
          <a:xfrm>
            <a:off x="362700" y="1537150"/>
            <a:ext cx="8324100" cy="3177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previous activity, you created several aliases and saved them to your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~/.bashrc</a:t>
            </a:r>
            <a:r>
              <a:rPr lang="en"/>
              <a:t> file. You may have noticed that creating long strings of commands can get a bit cumbersome when working on the command line.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activity, you will create a script that completes several system audit steps automatically.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0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Custom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Commands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8" name="Google Shape;918;p108"/>
          <p:cNvPicPr preferRelativeResize="0"/>
          <p:nvPr/>
        </p:nvPicPr>
        <p:blipFill rotWithShape="1">
          <a:blip r:embed="rId3">
            <a:alphaModFix/>
          </a:blip>
          <a:srcRect b="0" l="15563" r="15570" t="0"/>
          <a:stretch/>
        </p:blipFill>
        <p:spPr>
          <a:xfrm>
            <a:off x="3948325" y="1500625"/>
            <a:ext cx="1247351" cy="1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09"/>
          <p:cNvSpPr txBox="1"/>
          <p:nvPr>
            <p:ph idx="1" type="body"/>
          </p:nvPr>
        </p:nvSpPr>
        <p:spPr>
          <a:xfrm>
            <a:off x="5006700" y="1061875"/>
            <a:ext cx="37026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We will create a custom command that runs our script.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</a:pPr>
            <a:r>
              <a:rPr lang="en">
                <a:solidFill>
                  <a:schemeClr val="accent5"/>
                </a:solidFill>
              </a:rPr>
              <a:t>This requires a bit of knowledge of what happens behind the scenes.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1800"/>
              <a:buChar char="●"/>
            </a:pPr>
            <a:r>
              <a:rPr lang="en">
                <a:solidFill>
                  <a:schemeClr val="accent5"/>
                </a:solidFill>
              </a:rPr>
              <a:t>We’ll look at a built-in variable known as the</a:t>
            </a:r>
            <a:r>
              <a:rPr b="1" lang="en">
                <a:solidFill>
                  <a:schemeClr val="accent5"/>
                </a:solidFill>
                <a:latin typeface="Inconsolata"/>
                <a:ea typeface="Inconsolata"/>
                <a:cs typeface="Inconsolata"/>
                <a:sym typeface="Inconsolata"/>
              </a:rPr>
              <a:t> PATH</a:t>
            </a:r>
            <a:r>
              <a:rPr lang="en">
                <a:solidFill>
                  <a:schemeClr val="accent5"/>
                </a:solidFill>
              </a:rPr>
              <a:t> variable.</a:t>
            </a:r>
            <a:endParaRPr>
              <a:solidFill>
                <a:schemeClr val="accent5"/>
              </a:solidFill>
            </a:endParaRPr>
          </a:p>
        </p:txBody>
      </p:sp>
      <p:cxnSp>
        <p:nvCxnSpPr>
          <p:cNvPr id="924" name="Google Shape;924;p109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25" name="Google Shape;925;p109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109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09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928" name="Google Shape;928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00" y="1288250"/>
            <a:ext cx="4239275" cy="291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1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PATH</a:t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111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0 minutes</a:t>
            </a:r>
            <a:endParaRPr/>
          </a:p>
        </p:txBody>
      </p:sp>
      <p:sp>
        <p:nvSpPr>
          <p:cNvPr id="940" name="Google Shape;940;p11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 Commands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941" name="Google Shape;941;p111"/>
          <p:cNvSpPr txBox="1"/>
          <p:nvPr>
            <p:ph idx="3" type="body"/>
          </p:nvPr>
        </p:nvSpPr>
        <p:spPr>
          <a:xfrm>
            <a:off x="436800" y="1503725"/>
            <a:ext cx="7356000" cy="31449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will continue to make our script more complex by adding a few commands from the first exercise.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will save this script to a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scripts</a:t>
            </a:r>
            <a:r>
              <a:rPr lang="en"/>
              <a:t> directory and add that directory to your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$PATH</a:t>
            </a:r>
            <a:r>
              <a:rPr lang="en"/>
              <a:t> so you can call your script directly on the command line.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2" name="Google Shape;942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14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Ifs and Lists </a:t>
            </a:r>
            <a:endParaRPr baseline="-25000"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