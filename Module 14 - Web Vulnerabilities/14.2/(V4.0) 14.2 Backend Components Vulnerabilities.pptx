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y="5143500" cx="9144000"/>
  <p:notesSz cx="6858000" cy="9144000"/>
  <p:embeddedFontLst>
    <p:embeddedFont>
      <p:font typeface="Inconsolata ExtraBold"/>
      <p:bold r:id="rId88"/>
    </p:embeddedFont>
    <p:embeddedFont>
      <p:font typeface="Roboto Black"/>
      <p:bold r:id="rId89"/>
      <p:boldItalic r:id="rId90"/>
    </p:embeddedFont>
    <p:embeddedFont>
      <p:font typeface="Roboto"/>
      <p:regular r:id="rId91"/>
      <p:bold r:id="rId92"/>
      <p:italic r:id="rId93"/>
      <p:boldItalic r:id="rId94"/>
    </p:embeddedFont>
    <p:embeddedFont>
      <p:font typeface="Roboto Medium"/>
      <p:regular r:id="rId95"/>
      <p:bold r:id="rId96"/>
      <p:italic r:id="rId97"/>
      <p:boldItalic r:id="rId98"/>
    </p:embeddedFont>
    <p:embeddedFont>
      <p:font typeface="Inconsolata"/>
      <p:regular r:id="rId99"/>
      <p:bold r:id="rId100"/>
    </p:embeddedFont>
    <p:embeddedFont>
      <p:font typeface="Inconsolata SemiBold"/>
      <p:regular r:id="rId101"/>
      <p:bold r:id="rId102"/>
    </p:embeddedFont>
    <p:embeddedFont>
      <p:font typeface="Roboto Light"/>
      <p:regular r:id="rId103"/>
      <p:bold r:id="rId104"/>
      <p:italic r:id="rId105"/>
      <p:boldItalic r:id="rId106"/>
    </p:embeddedFont>
    <p:embeddedFont>
      <p:font typeface="Inconsolata Medium"/>
      <p:regular r:id="rId107"/>
      <p:bold r:id="rId108"/>
    </p:embeddedFont>
    <p:embeddedFont>
      <p:font typeface="DM Sans"/>
      <p:regular r:id="rId109"/>
      <p:bold r:id="rId110"/>
      <p:italic r:id="rId111"/>
      <p:boldItalic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A04196-913F-418A-BF23-8549AA4576D4}">
  <a:tblStyle styleId="{46A04196-913F-418A-BF23-8549AA4576D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InconsolataMedium-regular.fntdata"/><Relationship Id="rId106" Type="http://schemas.openxmlformats.org/officeDocument/2006/relationships/font" Target="fonts/RobotoLight-boldItalic.fntdata"/><Relationship Id="rId105" Type="http://schemas.openxmlformats.org/officeDocument/2006/relationships/font" Target="fonts/RobotoLight-italic.fntdata"/><Relationship Id="rId104" Type="http://schemas.openxmlformats.org/officeDocument/2006/relationships/font" Target="fonts/RobotoLight-bold.fntdata"/><Relationship Id="rId109" Type="http://schemas.openxmlformats.org/officeDocument/2006/relationships/font" Target="fonts/DMSans-regular.fntdata"/><Relationship Id="rId108" Type="http://schemas.openxmlformats.org/officeDocument/2006/relationships/font" Target="fonts/InconsolataMedium-bold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font" Target="fonts/RobotoLight-regular.fntdata"/><Relationship Id="rId102" Type="http://schemas.openxmlformats.org/officeDocument/2006/relationships/font" Target="fonts/InconsolataSemiBold-bold.fntdata"/><Relationship Id="rId101" Type="http://schemas.openxmlformats.org/officeDocument/2006/relationships/font" Target="fonts/InconsolataSemiBold-regular.fntdata"/><Relationship Id="rId100" Type="http://schemas.openxmlformats.org/officeDocument/2006/relationships/font" Target="fonts/Inconsolata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RobotoMedium-regular.fntdata"/><Relationship Id="rId94" Type="http://schemas.openxmlformats.org/officeDocument/2006/relationships/font" Target="fonts/Roboto-boldItalic.fntdata"/><Relationship Id="rId97" Type="http://schemas.openxmlformats.org/officeDocument/2006/relationships/font" Target="fonts/RobotoMedium-italic.fntdata"/><Relationship Id="rId96" Type="http://schemas.openxmlformats.org/officeDocument/2006/relationships/font" Target="fonts/RobotoMedium-bold.fntdata"/><Relationship Id="rId11" Type="http://schemas.openxmlformats.org/officeDocument/2006/relationships/slide" Target="slides/slide6.xml"/><Relationship Id="rId99" Type="http://schemas.openxmlformats.org/officeDocument/2006/relationships/font" Target="fonts/Inconsolata-regular.fntdata"/><Relationship Id="rId10" Type="http://schemas.openxmlformats.org/officeDocument/2006/relationships/slide" Target="slides/slide5.xml"/><Relationship Id="rId98" Type="http://schemas.openxmlformats.org/officeDocument/2006/relationships/font" Target="fonts/Roboto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font" Target="fonts/Roboto-regular.fntdata"/><Relationship Id="rId90" Type="http://schemas.openxmlformats.org/officeDocument/2006/relationships/font" Target="fonts/RobotoBlack-boldItalic.fntdata"/><Relationship Id="rId93" Type="http://schemas.openxmlformats.org/officeDocument/2006/relationships/font" Target="fonts/Roboto-italic.fntdata"/><Relationship Id="rId92" Type="http://schemas.openxmlformats.org/officeDocument/2006/relationships/font" Target="fonts/Roboto-bold.fntdata"/><Relationship Id="rId15" Type="http://schemas.openxmlformats.org/officeDocument/2006/relationships/slide" Target="slides/slide10.xml"/><Relationship Id="rId110" Type="http://schemas.openxmlformats.org/officeDocument/2006/relationships/font" Target="fonts/DMSans-bold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12" Type="http://schemas.openxmlformats.org/officeDocument/2006/relationships/font" Target="fonts/DMSans-boldItalic.fntdata"/><Relationship Id="rId111" Type="http://schemas.openxmlformats.org/officeDocument/2006/relationships/font" Target="fonts/DMSans-italic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font" Target="fonts/InconsolataExtraBold-bold.fntdata"/><Relationship Id="rId87" Type="http://schemas.openxmlformats.org/officeDocument/2006/relationships/slide" Target="slides/slide82.xml"/><Relationship Id="rId89" Type="http://schemas.openxmlformats.org/officeDocument/2006/relationships/font" Target="fonts/RobotoBlack-bold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0d78dfe679_0_4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0d78dfe679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0d78dfe679_0_4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0d78dfe679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0d78dfe679_0_4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0d78dfe679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5528f87ea7_1_8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25528f87ea7_1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a6586ae0b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a6586ae0b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0d78dfe679_0_5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0d78dfe679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0d78dfe679_0_5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0d78dfe679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0dc32282d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0dc32282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5528f87ea7_1_72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25528f87ea7_1_7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5528f87ea7_1_8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25528f87ea7_1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shutterstock_408907717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5528f87ea7_1_8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25528f87ea7_1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55b07da9b0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255b07da9b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0dc32282d4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g30dc32282d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0fbcae022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g30fbcae02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5528f87ea7_1_83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25528f87ea7_1_8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0dc32282d4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g30dc32282d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shutterstock_1734611708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a6586ae0b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a6586ae0b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5528f87ea7_1_9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g25528f87ea7_1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0dc32282d4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g30dc32282d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0dc32282d4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g30dc32282d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5528f87ea7_1_173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" name="Google Shape;839;g25528f87ea7_1_17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5528f87ea7_1_9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25528f87ea7_1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5528f87ea7_1_9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g25528f87ea7_1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0dc32282d4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g30dc32282d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5528f87ea7_1_239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g25528f87ea7_1_23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0dc32282d4_0_2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g30dc32282d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5528f87ea7_1_93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g25528f87ea7_1_9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0dc32282d4_0_2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g30dc32282d4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5528f87ea7_1_9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g25528f87ea7_1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shutterstock_1744222322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0dc32282d4_0_2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7" name="Google Shape;1027;g30dc32282d4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5528f87ea7_1_9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" name="Google Shape;1033;g25528f87ea7_1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2a6586ae0b8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2a6586ae0b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5528f87ea7_1_226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4" name="Google Shape;1104;g25528f87ea7_1_22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5528f87ea7_1_9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g25528f87ea7_1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5528f87ea7_1_9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9" name="Google Shape;1119;g25528f87ea7_1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55b07da9b0_1_4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4" name="Google Shape;1154;g255b07da9b0_1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0dc32282d4_0_3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1" name="Google Shape;1181;g30dc32282d4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5528f87ea7_1_103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g25528f87ea7_1_10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25528f87ea7_1_9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3" name="Google Shape;1203;g25528f87ea7_1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4" name="Google Shape;12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0dc32282d4_0_3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9" name="Google Shape;1229;g30dc32282d4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5528f87ea7_1_226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7" name="Google Shape;1247;g25528f87ea7_1_22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AdobeStock_102792357 shutterstock_1177007617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55b07da9b0_1_5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5" name="Google Shape;1265;g255b07da9b0_1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5528f87ea7_1_10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5" name="Google Shape;1275;g25528f87ea7_1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255ec8142ad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g255ec8142a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4" name="Google Shape;129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0dc32282d4_0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8" name="Google Shape;1298;g30dc32282d4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5" name="Google Shape;130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SzPts val="1100"/>
              <a:buNone/>
            </a:pPr>
            <a:r>
              <a:rPr b="1" lang="en" sz="1650">
                <a:solidFill>
                  <a:srgbClr val="24292F"/>
                </a:solidFill>
                <a:highlight>
                  <a:srgbClr val="FFFFFF"/>
                </a:highlight>
              </a:rPr>
              <a:t>09. Instructor Review: Local File Inclusion Activity (0:10)</a:t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9" name="Google Shape;130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5528f87ea7_1_113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3" name="Google Shape;1313;g25528f87ea7_1_11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9" name="Google Shape;13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AdobeStock_102792357 shutterstock_1177007617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9" name="Google Shape;132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shutterstock_411816985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5" name="Google Shape;133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shutterstock_1024337071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30dc32282d4_0_4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3" name="Google Shape;1343;g30dc32282d4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9" name="Google Shape;134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shutterstock_2081950246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a6586ae0b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a6586ae0b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0dc32282d4_0_4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5" name="Google Shape;1405;g30dc32282d4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5528f87ea7_1_21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0" name="Google Shape;1420;g25528f87ea7_1_2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25528f87ea7_1_10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5" name="Google Shape;1425;g25528f87ea7_1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25528f87ea7_1_124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2" name="Google Shape;1432;g25528f87ea7_1_12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9" name="Google Shape;143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AdobeStock_102792357 shutterstock_1177007617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255ec8142ad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8" name="Google Shape;1448;g255ec8142a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55ec8142ad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5" name="Google Shape;1465;g255ec8142a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5528f87ea7_1_10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g25528f87ea7_1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0" name="Google Shape;1480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30dc32282d4_0_4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4" name="Google Shape;1484;g30dc32282d4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1" name="Google Shape;1491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solidFill>
                  <a:srgbClr val="24292F"/>
                </a:solidFill>
                <a:highlight>
                  <a:srgbClr val="FFFFFF"/>
                </a:highlight>
              </a:rPr>
              <a:t>12. Instructor Review: Remote File Inclusion Activity (0:10)</a:t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5" name="Google Shape;1495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9" name="Google Shape;1499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2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35823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3592327" y="1823550"/>
            <a:ext cx="566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35824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35837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3583700" y="3314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6" name="Google Shape;106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8" name="Google Shape;178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5" name="Google Shape;185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1" name="Google Shape;191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2" name="Google Shape;212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8" name="Google Shape;218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9" name="Google Shape;24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1" name="Google Shape;251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69" name="Google Shape;269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0" name="Google Shape;27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2" name="Google Shape;272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9" name="Google Shape;279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0" name="Google Shape;28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2" name="Google Shape;282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1" name="Google Shape;301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4" name="Google Shape;304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2" name="Google Shape;322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4">
  <p:cSld name="CUSTOM_24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4" name="Google Shape;33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5" name="Google Shape;33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">
  <p:cSld name="CUSTOM_11_1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/>
          <p:nvPr/>
        </p:nvSpPr>
        <p:spPr>
          <a:xfrm>
            <a:off x="953325" y="2118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0"/>
          <p:cNvSpPr/>
          <p:nvPr/>
        </p:nvSpPr>
        <p:spPr>
          <a:xfrm>
            <a:off x="953325" y="276073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0"/>
          <p:cNvSpPr/>
          <p:nvPr/>
        </p:nvSpPr>
        <p:spPr>
          <a:xfrm>
            <a:off x="953325" y="1476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0"/>
          <p:cNvSpPr/>
          <p:nvPr/>
        </p:nvSpPr>
        <p:spPr>
          <a:xfrm>
            <a:off x="802850" y="144712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82D49"/>
                </a:solidFill>
              </a:rPr>
              <a:t>1</a:t>
            </a:r>
            <a:endParaRPr b="1" i="0" sz="1400" u="none" cap="none" strike="noStrike">
              <a:solidFill>
                <a:srgbClr val="082D49"/>
              </a:solidFill>
            </a:endParaRPr>
          </a:p>
        </p:txBody>
      </p:sp>
      <p:sp>
        <p:nvSpPr>
          <p:cNvPr id="341" name="Google Shape;341;p50"/>
          <p:cNvSpPr/>
          <p:nvPr/>
        </p:nvSpPr>
        <p:spPr>
          <a:xfrm>
            <a:off x="802850" y="20889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82D49"/>
                </a:solidFill>
              </a:rPr>
              <a:t>2</a:t>
            </a:r>
            <a:endParaRPr b="1" i="0" sz="1400" u="none" cap="none" strike="noStrike">
              <a:solidFill>
                <a:srgbClr val="082D49"/>
              </a:solidFill>
            </a:endParaRPr>
          </a:p>
        </p:txBody>
      </p:sp>
      <p:sp>
        <p:nvSpPr>
          <p:cNvPr id="342" name="Google Shape;342;p50"/>
          <p:cNvSpPr/>
          <p:nvPr/>
        </p:nvSpPr>
        <p:spPr>
          <a:xfrm>
            <a:off x="802850" y="27313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82D49"/>
                </a:solidFill>
              </a:rPr>
              <a:t>3</a:t>
            </a:r>
            <a:endParaRPr b="1" i="0" sz="1400" u="none" cap="none" strike="noStrike">
              <a:solidFill>
                <a:srgbClr val="082D49"/>
              </a:solidFill>
            </a:endParaRPr>
          </a:p>
        </p:txBody>
      </p:sp>
      <p:sp>
        <p:nvSpPr>
          <p:cNvPr id="343" name="Google Shape;343;p50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4" name="Google Shape;344;p50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50"/>
          <p:cNvSpPr txBox="1"/>
          <p:nvPr>
            <p:ph idx="1" type="subTitle"/>
          </p:nvPr>
        </p:nvSpPr>
        <p:spPr>
          <a:xfrm>
            <a:off x="1354400" y="1468825"/>
            <a:ext cx="71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50"/>
          <p:cNvSpPr txBox="1"/>
          <p:nvPr>
            <p:ph idx="3" type="subTitle"/>
          </p:nvPr>
        </p:nvSpPr>
        <p:spPr>
          <a:xfrm>
            <a:off x="1354400" y="2111288"/>
            <a:ext cx="71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50"/>
          <p:cNvSpPr txBox="1"/>
          <p:nvPr>
            <p:ph idx="4" type="subTitle"/>
          </p:nvPr>
        </p:nvSpPr>
        <p:spPr>
          <a:xfrm>
            <a:off x="1354400" y="2757075"/>
            <a:ext cx="71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Blank slide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Definition slide">
    <p:bg>
      <p:bgPr>
        <a:solidFill>
          <a:srgbClr val="F2F2F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52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2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3" name="Google Shape;353;p52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2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2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6" name="Google Shape;356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">
  <p:cSld name="Time's Up slide">
    <p:bg>
      <p:bgPr>
        <a:solidFill>
          <a:srgbClr val="F2F2F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type="title"/>
          </p:nvPr>
        </p:nvSpPr>
        <p:spPr>
          <a:xfrm>
            <a:off x="0" y="3514625"/>
            <a:ext cx="9144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9" name="Google Shape;359;p53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53"/>
          <p:cNvSpPr txBox="1"/>
          <p:nvPr/>
        </p:nvSpPr>
        <p:spPr>
          <a:xfrm>
            <a:off x="311700" y="29207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Instructor</a:t>
            </a:r>
            <a:r>
              <a:rPr b="1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b="0" i="0" sz="24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61" name="Google Shape;36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5781" y="1583750"/>
            <a:ext cx="1172338" cy="7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 and body 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6" name="Google Shape;36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1 1 1 1 1">
  <p:cSld name="CUSTOM_10_1_1_1_1_3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5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69" name="Google Shape;369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62650" y="1443625"/>
            <a:ext cx="1345550" cy="105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39744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5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2116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5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8208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39825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5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0162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8208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1 2">
  <p:cSld name="CUSTOM_10_2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6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1" i="0" sz="40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Let’s review</a:t>
            </a:r>
            <a:endParaRPr b="0" i="0" sz="40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79" name="Google Shape;379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75000" y="1536950"/>
            <a:ext cx="1194000" cy="11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7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2" name="Google Shape;382;p57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83" name="Google Shape;383;p57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57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5" name="Google Shape;385;p57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57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7" name="Google Shape;387;p57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1_Custom Layout 6"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8"/>
          <p:cNvSpPr/>
          <p:nvPr/>
        </p:nvSpPr>
        <p:spPr>
          <a:xfrm>
            <a:off x="457160" y="14453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0" name="Google Shape;390;p58"/>
          <p:cNvSpPr/>
          <p:nvPr/>
        </p:nvSpPr>
        <p:spPr>
          <a:xfrm rot="10800000">
            <a:off x="593369" y="18341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8"/>
          <p:cNvSpPr/>
          <p:nvPr/>
        </p:nvSpPr>
        <p:spPr>
          <a:xfrm>
            <a:off x="4876760" y="14453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2" name="Google Shape;392;p58"/>
          <p:cNvSpPr/>
          <p:nvPr/>
        </p:nvSpPr>
        <p:spPr>
          <a:xfrm rot="10800000">
            <a:off x="5012969" y="18341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8"/>
          <p:cNvSpPr txBox="1"/>
          <p:nvPr/>
        </p:nvSpPr>
        <p:spPr>
          <a:xfrm>
            <a:off x="457150" y="14572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4" name="Google Shape;394;p58"/>
          <p:cNvSpPr txBox="1"/>
          <p:nvPr/>
        </p:nvSpPr>
        <p:spPr>
          <a:xfrm>
            <a:off x="4876750" y="14619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5" name="Google Shape;395;p58"/>
          <p:cNvSpPr txBox="1"/>
          <p:nvPr>
            <p:ph type="title"/>
          </p:nvPr>
        </p:nvSpPr>
        <p:spPr>
          <a:xfrm>
            <a:off x="542175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6" name="Google Shape;396;p58"/>
          <p:cNvSpPr txBox="1"/>
          <p:nvPr>
            <p:ph idx="2" type="title"/>
          </p:nvPr>
        </p:nvSpPr>
        <p:spPr>
          <a:xfrm>
            <a:off x="4976200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7" name="Google Shape;397;p58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b="0"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8" name="Google Shape;398;p58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9" name="Google Shape;399;p58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8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 1">
  <p:cSld name="CUSTOM_10_2_2">
    <p:bg>
      <p:bgPr>
        <a:solidFill>
          <a:srgbClr val="F2F2F2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9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9"/>
          <p:cNvSpPr txBox="1"/>
          <p:nvPr/>
        </p:nvSpPr>
        <p:spPr>
          <a:xfrm>
            <a:off x="311700" y="26860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Instructor</a:t>
            </a:r>
            <a:r>
              <a:rPr b="1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b="0" i="0" sz="24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6" name="Google Shape;406;p59"/>
          <p:cNvSpPr txBox="1"/>
          <p:nvPr>
            <p:ph type="title"/>
          </p:nvPr>
        </p:nvSpPr>
        <p:spPr>
          <a:xfrm>
            <a:off x="0" y="3438425"/>
            <a:ext cx="9144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407" name="Google Shape;40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5781" y="1583750"/>
            <a:ext cx="1172338" cy="7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mc:AlternateContent>
    <mc:Choice Requires="p14">
      <p:transition p14:dur="400">
        <p:fade thruBlk="1"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Relationship Id="rId5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50.png"/><Relationship Id="rId6" Type="http://schemas.openxmlformats.org/officeDocument/2006/relationships/image" Target="../media/image38.png"/><Relationship Id="rId7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66.png"/><Relationship Id="rId5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6.png"/><Relationship Id="rId4" Type="http://schemas.openxmlformats.org/officeDocument/2006/relationships/image" Target="../media/image6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wasp.org/www-project-top-ten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wasp.org/www-project-top-ten/2017/Top_10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Relationship Id="rId4" Type="http://schemas.openxmlformats.org/officeDocument/2006/relationships/image" Target="../media/image56.png"/><Relationship Id="rId5" Type="http://schemas.openxmlformats.org/officeDocument/2006/relationships/image" Target="../media/image26.png"/><Relationship Id="rId6" Type="http://schemas.openxmlformats.org/officeDocument/2006/relationships/image" Target="../media/image6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0.png"/><Relationship Id="rId4" Type="http://schemas.openxmlformats.org/officeDocument/2006/relationships/image" Target="../media/image6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7.png"/><Relationship Id="rId4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7.png"/><Relationship Id="rId4" Type="http://schemas.openxmlformats.org/officeDocument/2006/relationships/image" Target="../media/image61.png"/><Relationship Id="rId5" Type="http://schemas.openxmlformats.org/officeDocument/2006/relationships/image" Target="../media/image64.png"/><Relationship Id="rId6" Type="http://schemas.openxmlformats.org/officeDocument/2006/relationships/image" Target="../media/image8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4.png"/><Relationship Id="rId4" Type="http://schemas.openxmlformats.org/officeDocument/2006/relationships/image" Target="../media/image76.png"/><Relationship Id="rId5" Type="http://schemas.openxmlformats.org/officeDocument/2006/relationships/image" Target="../media/image87.png"/><Relationship Id="rId6" Type="http://schemas.openxmlformats.org/officeDocument/2006/relationships/image" Target="../media/image6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79.png"/><Relationship Id="rId6" Type="http://schemas.openxmlformats.org/officeDocument/2006/relationships/image" Target="../media/image72.png"/><Relationship Id="rId7" Type="http://schemas.openxmlformats.org/officeDocument/2006/relationships/image" Target="../media/image7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2.png"/><Relationship Id="rId4" Type="http://schemas.openxmlformats.org/officeDocument/2006/relationships/image" Target="../media/image7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5.png"/><Relationship Id="rId4" Type="http://schemas.openxmlformats.org/officeDocument/2006/relationships/image" Target="../media/image8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9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0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Back-End Component Vulnerabilities</a:t>
            </a:r>
            <a:endParaRPr sz="3600"/>
          </a:p>
        </p:txBody>
      </p:sp>
      <p:sp>
        <p:nvSpPr>
          <p:cNvPr id="413" name="Google Shape;413;p60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414" name="Google Shape;414;p60"/>
          <p:cNvSpPr txBox="1"/>
          <p:nvPr/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Lesson 14.2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Objectives</a:t>
            </a:r>
            <a:endParaRPr/>
          </a:p>
        </p:txBody>
      </p:sp>
      <p:sp>
        <p:nvSpPr>
          <p:cNvPr id="420" name="Google Shape;420;p6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the end of today’s lesson, you will be able to: </a:t>
            </a:r>
            <a:endParaRPr/>
          </a:p>
        </p:txBody>
      </p:sp>
      <p:sp>
        <p:nvSpPr>
          <p:cNvPr id="421" name="Google Shape;421;p61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1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1"/>
          <p:cNvSpPr txBox="1"/>
          <p:nvPr/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Differentiate between front-end and back-end component vulnerabilities.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4" name="Google Shape;42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903" y="258060"/>
            <a:ext cx="459000" cy="4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61"/>
          <p:cNvSpPr/>
          <p:nvPr/>
        </p:nvSpPr>
        <p:spPr>
          <a:xfrm>
            <a:off x="533400" y="1828800"/>
            <a:ext cx="8057100" cy="661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/>
          <p:nvPr/>
        </p:nvSpPr>
        <p:spPr>
          <a:xfrm>
            <a:off x="457200" y="1941450"/>
            <a:ext cx="457200" cy="436500"/>
          </a:xfrm>
          <a:prstGeom prst="ellipse">
            <a:avLst/>
          </a:prstGeom>
          <a:solidFill>
            <a:srgbClr val="FCB912"/>
          </a:solidFill>
          <a:ln cap="flat" cmpd="sng" w="9525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960300" y="1851525"/>
            <a:ext cx="77265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View confidential files with a directory traversal attack by using the dot-dot-slash method.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61"/>
          <p:cNvSpPr/>
          <p:nvPr/>
        </p:nvSpPr>
        <p:spPr>
          <a:xfrm>
            <a:off x="533400" y="2718300"/>
            <a:ext cx="8057100" cy="661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61"/>
          <p:cNvSpPr/>
          <p:nvPr/>
        </p:nvSpPr>
        <p:spPr>
          <a:xfrm>
            <a:off x="457200" y="2830950"/>
            <a:ext cx="457200" cy="436500"/>
          </a:xfrm>
          <a:prstGeom prst="ellipse">
            <a:avLst/>
          </a:prstGeom>
          <a:solidFill>
            <a:srgbClr val="FCB912"/>
          </a:solidFill>
          <a:ln cap="flat" cmpd="sng" w="9525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61"/>
          <p:cNvSpPr txBox="1"/>
          <p:nvPr/>
        </p:nvSpPr>
        <p:spPr>
          <a:xfrm>
            <a:off x="960300" y="2741026"/>
            <a:ext cx="77265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 a web application’s file upload functionality to conduct a local file inclusion attack.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61"/>
          <p:cNvSpPr/>
          <p:nvPr/>
        </p:nvSpPr>
        <p:spPr>
          <a:xfrm>
            <a:off x="533400" y="3610571"/>
            <a:ext cx="8057100" cy="661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61"/>
          <p:cNvSpPr/>
          <p:nvPr/>
        </p:nvSpPr>
        <p:spPr>
          <a:xfrm>
            <a:off x="457200" y="3723221"/>
            <a:ext cx="457200" cy="436500"/>
          </a:xfrm>
          <a:prstGeom prst="ellipse">
            <a:avLst/>
          </a:prstGeom>
          <a:solidFill>
            <a:srgbClr val="FCB912"/>
          </a:solidFill>
          <a:ln cap="flat" cmpd="sng" w="9525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61"/>
          <p:cNvSpPr txBox="1"/>
          <p:nvPr/>
        </p:nvSpPr>
        <p:spPr>
          <a:xfrm>
            <a:off x="960300" y="3633299"/>
            <a:ext cx="77265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Modify a web application’s URL to use a malicious remote script to conduct three different remote file inclusion attacks.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</a:t>
            </a: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Back-End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Component Vulnerabilities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39" name="Google Shape;43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999" y="1534850"/>
            <a:ext cx="1294000" cy="1020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4"/>
          <p:cNvSpPr/>
          <p:nvPr/>
        </p:nvSpPr>
        <p:spPr>
          <a:xfrm>
            <a:off x="237600" y="849900"/>
            <a:ext cx="3443700" cy="3443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64"/>
          <p:cNvSpPr txBox="1"/>
          <p:nvPr/>
        </p:nvSpPr>
        <p:spPr>
          <a:xfrm>
            <a:off x="207825" y="1419150"/>
            <a:ext cx="3503100" cy="23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 vulnerabilities</a:t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 weaknesses that exist</a:t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within the intended purposes</a:t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a web application.</a:t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Malicious actors can exploit</a:t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these web vulnerabilities</a:t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cause unintended consequences.</a:t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5"/>
          <p:cNvSpPr txBox="1"/>
          <p:nvPr/>
        </p:nvSpPr>
        <p:spPr>
          <a:xfrm>
            <a:off x="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OWASP Top 10: Injection</a:t>
            </a:r>
            <a:endParaRPr b="1" i="1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456" name="Google Shape;456;p65"/>
          <p:cNvGrpSpPr/>
          <p:nvPr/>
        </p:nvGrpSpPr>
        <p:grpSpPr>
          <a:xfrm>
            <a:off x="440125" y="1147800"/>
            <a:ext cx="776900" cy="486300"/>
            <a:chOff x="457200" y="1466425"/>
            <a:chExt cx="776900" cy="486300"/>
          </a:xfrm>
        </p:grpSpPr>
        <p:sp>
          <p:nvSpPr>
            <p:cNvPr id="457" name="Google Shape;457;p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AO1</a:t>
              </a:r>
              <a:endParaRPr b="0" i="0" sz="17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8" name="Google Shape;458;p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59" name="Google Shape;459;p65"/>
          <p:cNvSpPr/>
          <p:nvPr/>
        </p:nvSpPr>
        <p:spPr>
          <a:xfrm>
            <a:off x="1335475" y="114780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Broken Access Control</a:t>
            </a:r>
            <a:endParaRPr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0" name="Google Shape;460;p65"/>
          <p:cNvGrpSpPr/>
          <p:nvPr/>
        </p:nvGrpSpPr>
        <p:grpSpPr>
          <a:xfrm>
            <a:off x="4813200" y="1147800"/>
            <a:ext cx="776900" cy="486300"/>
            <a:chOff x="457200" y="1466425"/>
            <a:chExt cx="776900" cy="486300"/>
          </a:xfrm>
        </p:grpSpPr>
        <p:sp>
          <p:nvSpPr>
            <p:cNvPr id="461" name="Google Shape;461;p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AO6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62" name="Google Shape;462;p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63" name="Google Shape;463;p65"/>
          <p:cNvSpPr/>
          <p:nvPr/>
        </p:nvSpPr>
        <p:spPr>
          <a:xfrm>
            <a:off x="5708550" y="1147800"/>
            <a:ext cx="33105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Vulnerable and Outdated Components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65"/>
          <p:cNvSpPr/>
          <p:nvPr/>
        </p:nvSpPr>
        <p:spPr>
          <a:xfrm>
            <a:off x="440125" y="1802650"/>
            <a:ext cx="695400" cy="486300"/>
          </a:xfrm>
          <a:prstGeom prst="roundRect">
            <a:avLst>
              <a:gd fmla="val 16667" name="adj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AO2</a:t>
            </a:r>
            <a:endParaRPr b="0" i="0" sz="30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65" name="Google Shape;465;p65"/>
          <p:cNvSpPr/>
          <p:nvPr/>
        </p:nvSpPr>
        <p:spPr>
          <a:xfrm>
            <a:off x="1335475" y="180265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Cryptographic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6" name="Google Shape;466;p65"/>
          <p:cNvGrpSpPr/>
          <p:nvPr/>
        </p:nvGrpSpPr>
        <p:grpSpPr>
          <a:xfrm>
            <a:off x="4813200" y="1802655"/>
            <a:ext cx="776900" cy="486300"/>
            <a:chOff x="457200" y="1466425"/>
            <a:chExt cx="776900" cy="486300"/>
          </a:xfrm>
        </p:grpSpPr>
        <p:sp>
          <p:nvSpPr>
            <p:cNvPr id="467" name="Google Shape;467;p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AO7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68" name="Google Shape;468;p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69" name="Google Shape;469;p65"/>
          <p:cNvSpPr/>
          <p:nvPr/>
        </p:nvSpPr>
        <p:spPr>
          <a:xfrm>
            <a:off x="5708550" y="180265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Identification and Authentication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0" name="Google Shape;470;p65"/>
          <p:cNvGrpSpPr/>
          <p:nvPr/>
        </p:nvGrpSpPr>
        <p:grpSpPr>
          <a:xfrm>
            <a:off x="440125" y="2457510"/>
            <a:ext cx="776900" cy="486300"/>
            <a:chOff x="457200" y="1466425"/>
            <a:chExt cx="776900" cy="486300"/>
          </a:xfrm>
        </p:grpSpPr>
        <p:sp>
          <p:nvSpPr>
            <p:cNvPr id="471" name="Google Shape;471;p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17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AO3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2" name="Google Shape;472;p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73" name="Google Shape;473;p65"/>
          <p:cNvSpPr/>
          <p:nvPr/>
        </p:nvSpPr>
        <p:spPr>
          <a:xfrm rot="5400000">
            <a:off x="956025" y="1951480"/>
            <a:ext cx="333375" cy="188625"/>
          </a:xfrm>
          <a:prstGeom prst="flowChartExtract">
            <a:avLst/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4" name="Google Shape;474;p65"/>
          <p:cNvSpPr/>
          <p:nvPr/>
        </p:nvSpPr>
        <p:spPr>
          <a:xfrm>
            <a:off x="1335475" y="245751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Injection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5" name="Google Shape;475;p65"/>
          <p:cNvGrpSpPr/>
          <p:nvPr/>
        </p:nvGrpSpPr>
        <p:grpSpPr>
          <a:xfrm>
            <a:off x="4813200" y="2457510"/>
            <a:ext cx="776900" cy="486300"/>
            <a:chOff x="457200" y="1466425"/>
            <a:chExt cx="776900" cy="486300"/>
          </a:xfrm>
        </p:grpSpPr>
        <p:sp>
          <p:nvSpPr>
            <p:cNvPr id="476" name="Google Shape;476;p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AO8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77" name="Google Shape;477;p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78" name="Google Shape;478;p65"/>
          <p:cNvSpPr/>
          <p:nvPr/>
        </p:nvSpPr>
        <p:spPr>
          <a:xfrm>
            <a:off x="5708550" y="245751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Software and Data Integrity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9" name="Google Shape;479;p65"/>
          <p:cNvGrpSpPr/>
          <p:nvPr/>
        </p:nvGrpSpPr>
        <p:grpSpPr>
          <a:xfrm>
            <a:off x="440125" y="3112365"/>
            <a:ext cx="776900" cy="486300"/>
            <a:chOff x="457200" y="1466425"/>
            <a:chExt cx="776900" cy="486300"/>
          </a:xfrm>
        </p:grpSpPr>
        <p:sp>
          <p:nvSpPr>
            <p:cNvPr id="480" name="Google Shape;480;p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81" name="Google Shape;481;p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82" name="Google Shape;482;p65"/>
          <p:cNvSpPr/>
          <p:nvPr/>
        </p:nvSpPr>
        <p:spPr>
          <a:xfrm>
            <a:off x="1335475" y="311236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Insecure Design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83" name="Google Shape;483;p65"/>
          <p:cNvGrpSpPr/>
          <p:nvPr/>
        </p:nvGrpSpPr>
        <p:grpSpPr>
          <a:xfrm>
            <a:off x="440125" y="3767220"/>
            <a:ext cx="776900" cy="486300"/>
            <a:chOff x="457200" y="1466425"/>
            <a:chExt cx="776900" cy="486300"/>
          </a:xfrm>
        </p:grpSpPr>
        <p:sp>
          <p:nvSpPr>
            <p:cNvPr id="484" name="Google Shape;484;p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85" name="Google Shape;485;p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86" name="Google Shape;486;p65"/>
          <p:cNvGrpSpPr/>
          <p:nvPr/>
        </p:nvGrpSpPr>
        <p:grpSpPr>
          <a:xfrm>
            <a:off x="4813200" y="3112365"/>
            <a:ext cx="776900" cy="486300"/>
            <a:chOff x="457200" y="1466425"/>
            <a:chExt cx="776900" cy="486300"/>
          </a:xfrm>
        </p:grpSpPr>
        <p:sp>
          <p:nvSpPr>
            <p:cNvPr id="487" name="Google Shape;487;p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AO9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88" name="Google Shape;488;p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89" name="Google Shape;489;p65"/>
          <p:cNvGrpSpPr/>
          <p:nvPr/>
        </p:nvGrpSpPr>
        <p:grpSpPr>
          <a:xfrm>
            <a:off x="4813200" y="3767220"/>
            <a:ext cx="776900" cy="486300"/>
            <a:chOff x="457200" y="1466425"/>
            <a:chExt cx="776900" cy="486300"/>
          </a:xfrm>
        </p:grpSpPr>
        <p:sp>
          <p:nvSpPr>
            <p:cNvPr id="490" name="Google Shape;490;p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A10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1" name="Google Shape;491;p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92" name="Google Shape;492;p65"/>
          <p:cNvSpPr/>
          <p:nvPr/>
        </p:nvSpPr>
        <p:spPr>
          <a:xfrm>
            <a:off x="1335475" y="376722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Security Misconfiguration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65"/>
          <p:cNvSpPr/>
          <p:nvPr/>
        </p:nvSpPr>
        <p:spPr>
          <a:xfrm>
            <a:off x="5708550" y="311236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Security Logging and Monitoring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65"/>
          <p:cNvSpPr/>
          <p:nvPr/>
        </p:nvSpPr>
        <p:spPr>
          <a:xfrm>
            <a:off x="5708550" y="376722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Server-Side Request Forgery (SSRF)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65"/>
          <p:cNvSpPr/>
          <p:nvPr/>
        </p:nvSpPr>
        <p:spPr>
          <a:xfrm>
            <a:off x="4813200" y="2374250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5"/>
          <p:cNvSpPr/>
          <p:nvPr/>
        </p:nvSpPr>
        <p:spPr>
          <a:xfrm>
            <a:off x="440125" y="1133325"/>
            <a:ext cx="8578800" cy="11556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5"/>
          <p:cNvSpPr/>
          <p:nvPr/>
        </p:nvSpPr>
        <p:spPr>
          <a:xfrm>
            <a:off x="311200" y="3112375"/>
            <a:ext cx="8578800" cy="11556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6"/>
          <p:cNvSpPr txBox="1"/>
          <p:nvPr/>
        </p:nvSpPr>
        <p:spPr>
          <a:xfrm>
            <a:off x="76200" y="512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Recap: Injection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66"/>
          <p:cNvSpPr txBox="1"/>
          <p:nvPr/>
        </p:nvSpPr>
        <p:spPr>
          <a:xfrm>
            <a:off x="76200" y="599775"/>
            <a:ext cx="4332000" cy="22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Injection</a:t>
            </a:r>
            <a:r>
              <a:rPr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a specific type of attack that occurs when an attacker supplies untrusted input to an application.</a:t>
            </a:r>
            <a:endParaRPr i="0" sz="19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0" i="0" lang="en" sz="19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r>
              <a:rPr b="0" i="0" lang="en" sz="19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processed as </a:t>
            </a:r>
            <a:r>
              <a:rPr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art</a:t>
            </a:r>
            <a:endParaRPr i="0" sz="19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a query or command that alters</a:t>
            </a:r>
            <a:endParaRPr i="0" sz="19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intended functionality of </a:t>
            </a:r>
            <a:br>
              <a:rPr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program.</a:t>
            </a:r>
            <a:endParaRPr i="0" sz="19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4" name="Google Shape;50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183650" y="193750"/>
            <a:ext cx="3016650" cy="46175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7"/>
          <p:cNvSpPr/>
          <p:nvPr/>
        </p:nvSpPr>
        <p:spPr>
          <a:xfrm>
            <a:off x="457160" y="1445368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0" name="Google Shape;510;p67"/>
          <p:cNvSpPr/>
          <p:nvPr/>
        </p:nvSpPr>
        <p:spPr>
          <a:xfrm rot="10800000">
            <a:off x="593369" y="1834156"/>
            <a:ext cx="261029" cy="144694"/>
          </a:xfrm>
          <a:prstGeom prst="flowChartExtra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67"/>
          <p:cNvSpPr/>
          <p:nvPr/>
        </p:nvSpPr>
        <p:spPr>
          <a:xfrm>
            <a:off x="4876760" y="14453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2" name="Google Shape;512;p67"/>
          <p:cNvSpPr/>
          <p:nvPr/>
        </p:nvSpPr>
        <p:spPr>
          <a:xfrm rot="10800000">
            <a:off x="5012969" y="18341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465975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Cross-Site Scripting (XSS)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900000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SQL Injection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542175" y="21567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Conducted by an attacker inserting malicious JavaScript into a web application.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Depends on the application modifying the client-side code with a user’s input.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67"/>
          <p:cNvSpPr txBox="1"/>
          <p:nvPr/>
        </p:nvSpPr>
        <p:spPr>
          <a:xfrm>
            <a:off x="4976200" y="2156750"/>
            <a:ext cx="37488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Conducted by an attacker inserting malicious SQL statements into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web application.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Depends on the application running queries against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SQL database.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7" name="Google Shape;51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148" y="1335450"/>
            <a:ext cx="67105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67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Review: Injection Types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67"/>
          <p:cNvSpPr txBox="1"/>
          <p:nvPr/>
        </p:nvSpPr>
        <p:spPr>
          <a:xfrm>
            <a:off x="7620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There are various types of injection depending on the architecture and functionality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the application.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0" name="Google Shape;52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425" y="3870188"/>
            <a:ext cx="989725" cy="69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3274" y="3846499"/>
            <a:ext cx="948333" cy="6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8"/>
          <p:cNvSpPr/>
          <p:nvPr/>
        </p:nvSpPr>
        <p:spPr>
          <a:xfrm>
            <a:off x="457160" y="11405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7" name="Google Shape;527;p68"/>
          <p:cNvSpPr/>
          <p:nvPr/>
        </p:nvSpPr>
        <p:spPr>
          <a:xfrm rot="10800000">
            <a:off x="593369" y="15293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8"/>
          <p:cNvSpPr/>
          <p:nvPr/>
        </p:nvSpPr>
        <p:spPr>
          <a:xfrm>
            <a:off x="4876760" y="11405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9" name="Google Shape;529;p68"/>
          <p:cNvSpPr/>
          <p:nvPr/>
        </p:nvSpPr>
        <p:spPr>
          <a:xfrm rot="10800000">
            <a:off x="5012969" y="15293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457150" y="11524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4876750" y="11571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2" name="Google Shape;532;p68"/>
          <p:cNvSpPr txBox="1"/>
          <p:nvPr/>
        </p:nvSpPr>
        <p:spPr>
          <a:xfrm>
            <a:off x="465975" y="11774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Reflected (</a:t>
            </a: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b="1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on-</a:t>
            </a: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ersistent) XSS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68"/>
          <p:cNvSpPr txBox="1"/>
          <p:nvPr/>
        </p:nvSpPr>
        <p:spPr>
          <a:xfrm>
            <a:off x="4900000" y="11774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Stored (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ersistent) XSS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68"/>
          <p:cNvSpPr txBox="1"/>
          <p:nvPr/>
        </p:nvSpPr>
        <p:spPr>
          <a:xfrm>
            <a:off x="542175" y="16995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Depends on the user input being immediately returned to the user and not stored on the application’s server.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68"/>
          <p:cNvSpPr txBox="1"/>
          <p:nvPr/>
        </p:nvSpPr>
        <p:spPr>
          <a:xfrm>
            <a:off x="4976200" y="16995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Depends on the user input being stored on the application’s server and later retrieved by a user accessing the web application.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6" name="Google Shape;53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138" y="10306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8"/>
          <p:cNvSpPr txBox="1"/>
          <p:nvPr/>
        </p:nvSpPr>
        <p:spPr>
          <a:xfrm>
            <a:off x="7620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Review: Cross-Site Scripting (XSS)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types of XSS include: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8" name="Google Shape;538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8903" y="2835878"/>
            <a:ext cx="713125" cy="679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539" name="Google Shape;539;p68"/>
          <p:cNvSpPr txBox="1"/>
          <p:nvPr/>
        </p:nvSpPr>
        <p:spPr>
          <a:xfrm>
            <a:off x="1825175" y="3615825"/>
            <a:ext cx="12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Website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40" name="Google Shape;540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400" y="3564575"/>
            <a:ext cx="853182" cy="8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48394" y="3564575"/>
            <a:ext cx="853182" cy="8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68"/>
          <p:cNvSpPr txBox="1"/>
          <p:nvPr/>
        </p:nvSpPr>
        <p:spPr>
          <a:xfrm>
            <a:off x="842688" y="4479475"/>
            <a:ext cx="12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Attacker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43" name="Google Shape;543;p68"/>
          <p:cNvSpPr txBox="1"/>
          <p:nvPr/>
        </p:nvSpPr>
        <p:spPr>
          <a:xfrm>
            <a:off x="2774688" y="4479475"/>
            <a:ext cx="12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User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544" name="Google Shape;544;p68"/>
          <p:cNvCxnSpPr/>
          <p:nvPr/>
        </p:nvCxnSpPr>
        <p:spPr>
          <a:xfrm>
            <a:off x="1915950" y="4224450"/>
            <a:ext cx="102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45" name="Google Shape;545;p68"/>
          <p:cNvCxnSpPr/>
          <p:nvPr/>
        </p:nvCxnSpPr>
        <p:spPr>
          <a:xfrm rot="10800000">
            <a:off x="1915950" y="4076425"/>
            <a:ext cx="102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46" name="Google Shape;546;p68"/>
          <p:cNvCxnSpPr/>
          <p:nvPr/>
        </p:nvCxnSpPr>
        <p:spPr>
          <a:xfrm>
            <a:off x="2782135" y="3044075"/>
            <a:ext cx="609300" cy="520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7" name="Google Shape;547;p68"/>
          <p:cNvCxnSpPr/>
          <p:nvPr/>
        </p:nvCxnSpPr>
        <p:spPr>
          <a:xfrm rot="10800000">
            <a:off x="2782135" y="3175775"/>
            <a:ext cx="609300" cy="388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48" name="Google Shape;548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8625" y="2923749"/>
            <a:ext cx="333675" cy="3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2175" y="3564575"/>
            <a:ext cx="853182" cy="8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4169" y="3564575"/>
            <a:ext cx="853182" cy="8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8203" y="2835878"/>
            <a:ext cx="713125" cy="679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552" name="Google Shape;552;p68"/>
          <p:cNvSpPr txBox="1"/>
          <p:nvPr/>
        </p:nvSpPr>
        <p:spPr>
          <a:xfrm>
            <a:off x="6224475" y="3615825"/>
            <a:ext cx="12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Website</a:t>
            </a:r>
            <a:endParaRPr b="0" i="0" sz="12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53" name="Google Shape;553;p68"/>
          <p:cNvSpPr txBox="1"/>
          <p:nvPr/>
        </p:nvSpPr>
        <p:spPr>
          <a:xfrm>
            <a:off x="5258463" y="4479475"/>
            <a:ext cx="12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Attacker</a:t>
            </a:r>
            <a:endParaRPr b="0" i="0" sz="12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54" name="Google Shape;554;p68"/>
          <p:cNvSpPr txBox="1"/>
          <p:nvPr/>
        </p:nvSpPr>
        <p:spPr>
          <a:xfrm>
            <a:off x="7190463" y="4479475"/>
            <a:ext cx="12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User</a:t>
            </a:r>
            <a:endParaRPr b="0" i="0" sz="12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555" name="Google Shape;555;p68"/>
          <p:cNvCxnSpPr>
            <a:stCxn id="549" idx="0"/>
            <a:endCxn id="551" idx="1"/>
          </p:cNvCxnSpPr>
          <p:nvPr/>
        </p:nvCxnSpPr>
        <p:spPr>
          <a:xfrm rot="-5400000">
            <a:off x="5969016" y="3065525"/>
            <a:ext cx="388800" cy="6093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6" name="Google Shape;556;p68"/>
          <p:cNvCxnSpPr>
            <a:endCxn id="550" idx="0"/>
          </p:cNvCxnSpPr>
          <p:nvPr/>
        </p:nvCxnSpPr>
        <p:spPr>
          <a:xfrm>
            <a:off x="7181460" y="3044075"/>
            <a:ext cx="609300" cy="520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7" name="Google Shape;557;p68"/>
          <p:cNvCxnSpPr>
            <a:stCxn id="550" idx="0"/>
            <a:endCxn id="551" idx="3"/>
          </p:cNvCxnSpPr>
          <p:nvPr/>
        </p:nvCxnSpPr>
        <p:spPr>
          <a:xfrm flipH="1" rot="5400000">
            <a:off x="7291710" y="3065525"/>
            <a:ext cx="388800" cy="6093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8" name="Google Shape;558;p68"/>
          <p:cNvCxnSpPr/>
          <p:nvPr/>
        </p:nvCxnSpPr>
        <p:spPr>
          <a:xfrm>
            <a:off x="6331725" y="4224450"/>
            <a:ext cx="102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pic>
        <p:nvPicPr>
          <p:cNvPr id="559" name="Google Shape;559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7925" y="2923749"/>
            <a:ext cx="333675" cy="3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9"/>
          <p:cNvSpPr txBox="1"/>
          <p:nvPr/>
        </p:nvSpPr>
        <p:spPr>
          <a:xfrm>
            <a:off x="76200" y="1274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Review: Input Validation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69"/>
          <p:cNvSpPr txBox="1"/>
          <p:nvPr/>
        </p:nvSpPr>
        <p:spPr>
          <a:xfrm>
            <a:off x="76375" y="576072"/>
            <a:ext cx="88632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Input validation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a method used to validate the data input with a predefined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logic to ensure that the input is what the application is expecting.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66" name="Google Shape;566;p69"/>
          <p:cNvPicPr preferRelativeResize="0"/>
          <p:nvPr/>
        </p:nvPicPr>
        <p:blipFill rotWithShape="1">
          <a:blip r:embed="rId3">
            <a:alphaModFix/>
          </a:blip>
          <a:srcRect b="4636" l="1040" r="7717" t="3543"/>
          <a:stretch/>
        </p:blipFill>
        <p:spPr>
          <a:xfrm>
            <a:off x="1202175" y="1586300"/>
            <a:ext cx="6739651" cy="25950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0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Back-End</a:t>
            </a:r>
            <a:r>
              <a:rPr b="0" i="0" lang="en" sz="3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36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Component Vulnerabilities</a:t>
            </a:r>
            <a:endParaRPr i="0" sz="36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72" name="Google Shape;57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475" y="1533313"/>
            <a:ext cx="1463075" cy="1154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1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Last </a:t>
            </a: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Lesson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71"/>
          <p:cNvSpPr txBox="1"/>
          <p:nvPr/>
        </p:nvSpPr>
        <p:spPr>
          <a:xfrm>
            <a:off x="76200" y="675975"/>
            <a:ext cx="7768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the last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lesson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we covered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JavaScript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cross-site scripting vulnerabilities.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71"/>
          <p:cNvSpPr/>
          <p:nvPr/>
        </p:nvSpPr>
        <p:spPr>
          <a:xfrm flipH="1">
            <a:off x="453450" y="1585350"/>
            <a:ext cx="4899600" cy="1891200"/>
          </a:xfrm>
          <a:prstGeom prst="round2DiagRect">
            <a:avLst>
              <a:gd fmla="val 10475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71"/>
          <p:cNvSpPr txBox="1"/>
          <p:nvPr/>
        </p:nvSpPr>
        <p:spPr>
          <a:xfrm>
            <a:off x="453225" y="1585404"/>
            <a:ext cx="4785000" cy="1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274300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These languages are considered </a:t>
            </a:r>
            <a:r>
              <a:rPr b="1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front-end components</a:t>
            </a: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as they form the part of the </a:t>
            </a:r>
            <a:b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 application that the user interacts with, typically with a browser.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1" name="Google Shape;581;p71"/>
          <p:cNvPicPr preferRelativeResize="0"/>
          <p:nvPr/>
        </p:nvPicPr>
        <p:blipFill rotWithShape="1">
          <a:blip r:embed="rId3">
            <a:alphaModFix/>
          </a:blip>
          <a:srcRect b="0" l="0" r="0" t="14842"/>
          <a:stretch/>
        </p:blipFill>
        <p:spPr>
          <a:xfrm>
            <a:off x="1164888" y="3076574"/>
            <a:ext cx="1802429" cy="153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9892" y="3130714"/>
            <a:ext cx="1426663" cy="1426669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1"/>
          <p:cNvSpPr/>
          <p:nvPr/>
        </p:nvSpPr>
        <p:spPr>
          <a:xfrm flipH="1">
            <a:off x="5581850" y="1585350"/>
            <a:ext cx="3243600" cy="1891200"/>
          </a:xfrm>
          <a:prstGeom prst="round2DiagRect">
            <a:avLst>
              <a:gd fmla="val 1130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71"/>
          <p:cNvSpPr txBox="1"/>
          <p:nvPr/>
        </p:nvSpPr>
        <p:spPr>
          <a:xfrm>
            <a:off x="5581650" y="1585381"/>
            <a:ext cx="3288000" cy="18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Another front-end component is </a:t>
            </a:r>
            <a:r>
              <a:rPr b="1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Cascading Style Sheets (CSS)</a:t>
            </a: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which formats the layout of the HTML.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5" name="Google Shape;585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285" y="3120268"/>
            <a:ext cx="1282738" cy="144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2"/>
          <p:cNvSpPr/>
          <p:nvPr/>
        </p:nvSpPr>
        <p:spPr>
          <a:xfrm>
            <a:off x="4572000" y="1298850"/>
            <a:ext cx="4232100" cy="263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/>
          <p:nvPr/>
        </p:nvSpPr>
        <p:spPr>
          <a:xfrm flipH="1">
            <a:off x="5618475" y="1535625"/>
            <a:ext cx="2841000" cy="2316300"/>
          </a:xfrm>
          <a:prstGeom prst="round2DiagRect">
            <a:avLst>
              <a:gd fmla="val 1130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72"/>
          <p:cNvSpPr txBox="1"/>
          <p:nvPr/>
        </p:nvSpPr>
        <p:spPr>
          <a:xfrm>
            <a:off x="5618475" y="1702275"/>
            <a:ext cx="28410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274300" spcFirstLastPara="1" rIns="1828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Back-end languages include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PHP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Java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800" u="none" cap="none" strike="noStrike">
              <a:solidFill>
                <a:schemeClr val="dk2"/>
              </a:solidFill>
            </a:endParaRPr>
          </a:p>
        </p:txBody>
      </p:sp>
      <p:pic>
        <p:nvPicPr>
          <p:cNvPr id="593" name="Google Shape;59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075" y="2754515"/>
            <a:ext cx="1161754" cy="61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8420" y="2387925"/>
            <a:ext cx="722655" cy="134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72"/>
          <p:cNvSpPr txBox="1"/>
          <p:nvPr>
            <p:ph type="title"/>
          </p:nvPr>
        </p:nvSpPr>
        <p:spPr>
          <a:xfrm>
            <a:off x="0" y="127400"/>
            <a:ext cx="445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2564"/>
              <a:buNone/>
            </a:pPr>
            <a:r>
              <a:rPr lang="en"/>
              <a:t>Today’s Lesson</a:t>
            </a:r>
            <a:endParaRPr/>
          </a:p>
        </p:txBody>
      </p:sp>
      <p:sp>
        <p:nvSpPr>
          <p:cNvPr id="596" name="Google Shape;596;p72"/>
          <p:cNvSpPr txBox="1"/>
          <p:nvPr>
            <p:ph idx="2" type="title"/>
          </p:nvPr>
        </p:nvSpPr>
        <p:spPr>
          <a:xfrm>
            <a:off x="0" y="5120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6"/>
              <a:buFont typeface="Roboto Light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We will focus on vulnerabilities that can exist within back-end components.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These components apply the business logic of how the application works, including: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72"/>
          <p:cNvSpPr txBox="1"/>
          <p:nvPr>
            <p:ph idx="1" type="subTitle"/>
          </p:nvPr>
        </p:nvSpPr>
        <p:spPr>
          <a:xfrm>
            <a:off x="1354400" y="1468825"/>
            <a:ext cx="71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14"/>
              <a:buNone/>
            </a:pPr>
            <a:r>
              <a:rPr lang="en" sz="1700"/>
              <a:t>File structure</a:t>
            </a:r>
            <a:endParaRPr sz="1700"/>
          </a:p>
        </p:txBody>
      </p:sp>
      <p:sp>
        <p:nvSpPr>
          <p:cNvPr id="598" name="Google Shape;598;p72"/>
          <p:cNvSpPr txBox="1"/>
          <p:nvPr>
            <p:ph idx="3" type="subTitle"/>
          </p:nvPr>
        </p:nvSpPr>
        <p:spPr>
          <a:xfrm>
            <a:off x="1354400" y="2111288"/>
            <a:ext cx="71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14"/>
              <a:buNone/>
            </a:pPr>
            <a:r>
              <a:rPr lang="en" sz="1700"/>
              <a:t>Content management</a:t>
            </a:r>
            <a:endParaRPr sz="1700"/>
          </a:p>
        </p:txBody>
      </p:sp>
      <p:sp>
        <p:nvSpPr>
          <p:cNvPr id="599" name="Google Shape;599;p72"/>
          <p:cNvSpPr txBox="1"/>
          <p:nvPr>
            <p:ph idx="4" type="subTitle"/>
          </p:nvPr>
        </p:nvSpPr>
        <p:spPr>
          <a:xfrm>
            <a:off x="1354400" y="2757075"/>
            <a:ext cx="71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14"/>
              <a:buNone/>
            </a:pPr>
            <a:r>
              <a:rPr lang="en" sz="1700"/>
              <a:t>Access control</a:t>
            </a:r>
            <a:endParaRPr sz="1700"/>
          </a:p>
        </p:txBody>
      </p:sp>
      <p:sp>
        <p:nvSpPr>
          <p:cNvPr id="600" name="Google Shape;600;p72"/>
          <p:cNvSpPr/>
          <p:nvPr/>
        </p:nvSpPr>
        <p:spPr>
          <a:xfrm>
            <a:off x="4572000" y="1133310"/>
            <a:ext cx="3980512" cy="3927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73"/>
          <p:cNvSpPr txBox="1"/>
          <p:nvPr>
            <p:ph idx="4294967295" type="subTitle"/>
          </p:nvPr>
        </p:nvSpPr>
        <p:spPr>
          <a:xfrm>
            <a:off x="0" y="675975"/>
            <a:ext cx="3995100" cy="3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Vulnerabilities in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back-end components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could potentially allow a malicious actor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access or display confidential files or documents that exist on an organization’s private server.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4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Vulnerabilities: Intended Purpose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74"/>
          <p:cNvSpPr/>
          <p:nvPr/>
        </p:nvSpPr>
        <p:spPr>
          <a:xfrm>
            <a:off x="411150" y="1771101"/>
            <a:ext cx="8321700" cy="3374100"/>
          </a:xfrm>
          <a:prstGeom prst="round2SameRect">
            <a:avLst>
              <a:gd fmla="val 1865" name="adj1"/>
              <a:gd fmla="val 0" name="adj2"/>
            </a:avLst>
          </a:prstGeom>
          <a:solidFill>
            <a:srgbClr val="FFFFFF"/>
          </a:solidFill>
          <a:ln>
            <a:noFill/>
          </a:ln>
          <a:effectLst>
            <a:outerShdw blurRad="271463" rotWithShape="0" algn="bl">
              <a:srgbClr val="000000">
                <a:alpha val="2352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74"/>
          <p:cNvSpPr/>
          <p:nvPr/>
        </p:nvSpPr>
        <p:spPr>
          <a:xfrm>
            <a:off x="411150" y="1761950"/>
            <a:ext cx="8321700" cy="304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74"/>
          <p:cNvSpPr/>
          <p:nvPr/>
        </p:nvSpPr>
        <p:spPr>
          <a:xfrm>
            <a:off x="512200" y="1833950"/>
            <a:ext cx="160800" cy="1608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74"/>
          <p:cNvSpPr/>
          <p:nvPr/>
        </p:nvSpPr>
        <p:spPr>
          <a:xfrm>
            <a:off x="740525" y="1833950"/>
            <a:ext cx="160800" cy="160800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4"/>
          <p:cNvSpPr/>
          <p:nvPr/>
        </p:nvSpPr>
        <p:spPr>
          <a:xfrm>
            <a:off x="968850" y="1833950"/>
            <a:ext cx="160800" cy="1608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4"/>
          <p:cNvSpPr/>
          <p:nvPr/>
        </p:nvSpPr>
        <p:spPr>
          <a:xfrm>
            <a:off x="411150" y="2042650"/>
            <a:ext cx="8321700" cy="4335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74"/>
          <p:cNvSpPr/>
          <p:nvPr/>
        </p:nvSpPr>
        <p:spPr>
          <a:xfrm>
            <a:off x="1362450" y="1854813"/>
            <a:ext cx="1521000" cy="304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74"/>
          <p:cNvSpPr txBox="1"/>
          <p:nvPr/>
        </p:nvSpPr>
        <p:spPr>
          <a:xfrm>
            <a:off x="1685025" y="1893825"/>
            <a:ext cx="113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Bodg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0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 Store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20" name="Google Shape;620;p74"/>
          <p:cNvGrpSpPr/>
          <p:nvPr/>
        </p:nvGrpSpPr>
        <p:grpSpPr>
          <a:xfrm>
            <a:off x="1362447" y="2172650"/>
            <a:ext cx="7124517" cy="304800"/>
            <a:chOff x="657000" y="1980638"/>
            <a:chExt cx="7830000" cy="304800"/>
          </a:xfrm>
        </p:grpSpPr>
        <p:sp>
          <p:nvSpPr>
            <p:cNvPr id="621" name="Google Shape;621;p74"/>
            <p:cNvSpPr/>
            <p:nvPr/>
          </p:nvSpPr>
          <p:spPr>
            <a:xfrm>
              <a:off x="657000" y="1980638"/>
              <a:ext cx="7830000" cy="304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84CD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      https://www.bodgitstore/products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74"/>
            <p:cNvSpPr/>
            <p:nvPr/>
          </p:nvSpPr>
          <p:spPr>
            <a:xfrm>
              <a:off x="8231925" y="2056698"/>
              <a:ext cx="160611" cy="152788"/>
            </a:xfrm>
            <a:custGeom>
              <a:rect b="b" l="l" r="r" t="t"/>
              <a:pathLst>
                <a:path extrusionOk="0" h="209299" w="220015">
                  <a:moveTo>
                    <a:pt x="110007" y="0"/>
                  </a:moveTo>
                  <a:lnTo>
                    <a:pt x="76017" y="68901"/>
                  </a:lnTo>
                  <a:lnTo>
                    <a:pt x="0" y="79952"/>
                  </a:lnTo>
                  <a:lnTo>
                    <a:pt x="55004" y="133533"/>
                  </a:lnTo>
                  <a:lnTo>
                    <a:pt x="50985" y="157058"/>
                  </a:lnTo>
                  <a:lnTo>
                    <a:pt x="42027" y="209299"/>
                  </a:lnTo>
                  <a:lnTo>
                    <a:pt x="110007" y="173551"/>
                  </a:lnTo>
                  <a:lnTo>
                    <a:pt x="177988" y="209299"/>
                  </a:lnTo>
                  <a:lnTo>
                    <a:pt x="165011" y="133533"/>
                  </a:lnTo>
                  <a:lnTo>
                    <a:pt x="220015" y="79952"/>
                  </a:lnTo>
                  <a:lnTo>
                    <a:pt x="172546" y="73003"/>
                  </a:lnTo>
                  <a:lnTo>
                    <a:pt x="143997" y="68901"/>
                  </a:lnTo>
                  <a:lnTo>
                    <a:pt x="11000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3" name="Google Shape;623;p74"/>
          <p:cNvGrpSpPr/>
          <p:nvPr/>
        </p:nvGrpSpPr>
        <p:grpSpPr>
          <a:xfrm>
            <a:off x="1425500" y="1904975"/>
            <a:ext cx="150775" cy="146900"/>
            <a:chOff x="1221700" y="1503925"/>
            <a:chExt cx="150775" cy="146900"/>
          </a:xfrm>
        </p:grpSpPr>
        <p:sp>
          <p:nvSpPr>
            <p:cNvPr id="624" name="Google Shape;624;p74"/>
            <p:cNvSpPr/>
            <p:nvPr/>
          </p:nvSpPr>
          <p:spPr>
            <a:xfrm>
              <a:off x="1221700" y="1503925"/>
              <a:ext cx="65700" cy="657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74"/>
            <p:cNvSpPr/>
            <p:nvPr/>
          </p:nvSpPr>
          <p:spPr>
            <a:xfrm>
              <a:off x="1306775" y="1503925"/>
              <a:ext cx="65700" cy="657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74"/>
            <p:cNvSpPr/>
            <p:nvPr/>
          </p:nvSpPr>
          <p:spPr>
            <a:xfrm>
              <a:off x="1221700" y="1585125"/>
              <a:ext cx="65700" cy="657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74"/>
            <p:cNvSpPr/>
            <p:nvPr/>
          </p:nvSpPr>
          <p:spPr>
            <a:xfrm>
              <a:off x="1306775" y="1585125"/>
              <a:ext cx="65700" cy="657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8" name="Google Shape;628;p74"/>
          <p:cNvSpPr txBox="1"/>
          <p:nvPr/>
        </p:nvSpPr>
        <p:spPr>
          <a:xfrm>
            <a:off x="673000" y="2583375"/>
            <a:ext cx="7814100" cy="42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27425" lIns="274300" spcFirstLastPara="1" rIns="91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BodgeIt Store</a:t>
            </a:r>
            <a:endParaRPr b="0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74"/>
          <p:cNvSpPr/>
          <p:nvPr/>
        </p:nvSpPr>
        <p:spPr>
          <a:xfrm>
            <a:off x="8009050" y="2659874"/>
            <a:ext cx="325999" cy="277354"/>
          </a:xfrm>
          <a:custGeom>
            <a:rect b="b" l="l" r="r" t="t"/>
            <a:pathLst>
              <a:path extrusionOk="0" h="209324" w="246037">
                <a:moveTo>
                  <a:pt x="106822" y="52438"/>
                </a:moveTo>
                <a:lnTo>
                  <a:pt x="106822" y="85980"/>
                </a:lnTo>
                <a:lnTo>
                  <a:pt x="67467" y="85980"/>
                </a:lnTo>
                <a:lnTo>
                  <a:pt x="57484" y="52438"/>
                </a:lnTo>
                <a:close/>
                <a:moveTo>
                  <a:pt x="160443" y="52438"/>
                </a:moveTo>
                <a:lnTo>
                  <a:pt x="160443" y="85980"/>
                </a:lnTo>
                <a:lnTo>
                  <a:pt x="121279" y="85980"/>
                </a:lnTo>
                <a:lnTo>
                  <a:pt x="121279" y="52438"/>
                </a:lnTo>
                <a:close/>
                <a:moveTo>
                  <a:pt x="227985" y="52438"/>
                </a:moveTo>
                <a:lnTo>
                  <a:pt x="218041" y="85980"/>
                </a:lnTo>
                <a:lnTo>
                  <a:pt x="174938" y="85980"/>
                </a:lnTo>
                <a:lnTo>
                  <a:pt x="174938" y="52438"/>
                </a:lnTo>
                <a:close/>
                <a:moveTo>
                  <a:pt x="106822" y="100475"/>
                </a:moveTo>
                <a:lnTo>
                  <a:pt x="106822" y="133979"/>
                </a:lnTo>
                <a:lnTo>
                  <a:pt x="81771" y="133979"/>
                </a:lnTo>
                <a:lnTo>
                  <a:pt x="71788" y="100475"/>
                </a:lnTo>
                <a:close/>
                <a:moveTo>
                  <a:pt x="160443" y="100475"/>
                </a:moveTo>
                <a:lnTo>
                  <a:pt x="160443" y="133979"/>
                </a:lnTo>
                <a:lnTo>
                  <a:pt x="121279" y="133979"/>
                </a:lnTo>
                <a:lnTo>
                  <a:pt x="121279" y="100475"/>
                </a:lnTo>
                <a:close/>
                <a:moveTo>
                  <a:pt x="213681" y="100475"/>
                </a:moveTo>
                <a:lnTo>
                  <a:pt x="203737" y="133979"/>
                </a:lnTo>
                <a:lnTo>
                  <a:pt x="174938" y="133979"/>
                </a:lnTo>
                <a:lnTo>
                  <a:pt x="174938" y="100475"/>
                </a:lnTo>
                <a:close/>
                <a:moveTo>
                  <a:pt x="100755" y="171919"/>
                </a:moveTo>
                <a:cubicBezTo>
                  <a:pt x="103567" y="171919"/>
                  <a:pt x="106435" y="172960"/>
                  <a:pt x="108772" y="175285"/>
                </a:cubicBezTo>
                <a:cubicBezTo>
                  <a:pt x="115963" y="182513"/>
                  <a:pt x="110876" y="194828"/>
                  <a:pt x="100664" y="194828"/>
                </a:cubicBezTo>
                <a:cubicBezTo>
                  <a:pt x="94354" y="194828"/>
                  <a:pt x="89229" y="189703"/>
                  <a:pt x="89229" y="183393"/>
                </a:cubicBezTo>
                <a:cubicBezTo>
                  <a:pt x="89229" y="176482"/>
                  <a:pt x="94868" y="171919"/>
                  <a:pt x="100755" y="171919"/>
                </a:cubicBezTo>
                <a:close/>
                <a:moveTo>
                  <a:pt x="189053" y="171919"/>
                </a:moveTo>
                <a:cubicBezTo>
                  <a:pt x="191859" y="171919"/>
                  <a:pt x="194719" y="172960"/>
                  <a:pt x="197044" y="175285"/>
                </a:cubicBezTo>
                <a:cubicBezTo>
                  <a:pt x="204272" y="182513"/>
                  <a:pt x="199147" y="194828"/>
                  <a:pt x="188974" y="194828"/>
                </a:cubicBezTo>
                <a:cubicBezTo>
                  <a:pt x="182663" y="194828"/>
                  <a:pt x="177538" y="189703"/>
                  <a:pt x="177538" y="183393"/>
                </a:cubicBezTo>
                <a:cubicBezTo>
                  <a:pt x="177538" y="176482"/>
                  <a:pt x="183178" y="171919"/>
                  <a:pt x="189053" y="171919"/>
                </a:cubicBezTo>
                <a:close/>
                <a:moveTo>
                  <a:pt x="7251" y="0"/>
                </a:moveTo>
                <a:cubicBezTo>
                  <a:pt x="3253" y="0"/>
                  <a:pt x="1" y="3247"/>
                  <a:pt x="1" y="7270"/>
                </a:cubicBezTo>
                <a:cubicBezTo>
                  <a:pt x="1" y="11255"/>
                  <a:pt x="3253" y="14501"/>
                  <a:pt x="7251" y="14501"/>
                </a:cubicBezTo>
                <a:cubicBezTo>
                  <a:pt x="7320" y="14501"/>
                  <a:pt x="7389" y="14500"/>
                  <a:pt x="7459" y="14498"/>
                </a:cubicBezTo>
                <a:lnTo>
                  <a:pt x="31056" y="14498"/>
                </a:lnTo>
                <a:lnTo>
                  <a:pt x="40771" y="47122"/>
                </a:lnTo>
                <a:cubicBezTo>
                  <a:pt x="40771" y="47237"/>
                  <a:pt x="40809" y="47313"/>
                  <a:pt x="40847" y="47428"/>
                </a:cubicBezTo>
                <a:lnTo>
                  <a:pt x="66663" y="134055"/>
                </a:lnTo>
                <a:cubicBezTo>
                  <a:pt x="51442" y="135126"/>
                  <a:pt x="39777" y="148015"/>
                  <a:pt x="40312" y="163275"/>
                </a:cubicBezTo>
                <a:cubicBezTo>
                  <a:pt x="40809" y="178535"/>
                  <a:pt x="53316" y="190621"/>
                  <a:pt x="68576" y="190659"/>
                </a:cubicBezTo>
                <a:lnTo>
                  <a:pt x="75766" y="190659"/>
                </a:lnTo>
                <a:cubicBezTo>
                  <a:pt x="78979" y="201713"/>
                  <a:pt x="89152" y="209324"/>
                  <a:pt x="100664" y="209324"/>
                </a:cubicBezTo>
                <a:cubicBezTo>
                  <a:pt x="112214" y="209324"/>
                  <a:pt x="122350" y="201713"/>
                  <a:pt x="125600" y="190659"/>
                </a:cubicBezTo>
                <a:lnTo>
                  <a:pt x="164076" y="190659"/>
                </a:lnTo>
                <a:cubicBezTo>
                  <a:pt x="167289" y="201713"/>
                  <a:pt x="177424" y="209324"/>
                  <a:pt x="188974" y="209324"/>
                </a:cubicBezTo>
                <a:cubicBezTo>
                  <a:pt x="200524" y="209324"/>
                  <a:pt x="210659" y="201713"/>
                  <a:pt x="213872" y="190659"/>
                </a:cubicBezTo>
                <a:lnTo>
                  <a:pt x="223204" y="190659"/>
                </a:lnTo>
                <a:cubicBezTo>
                  <a:pt x="223251" y="190660"/>
                  <a:pt x="223299" y="190661"/>
                  <a:pt x="223346" y="190661"/>
                </a:cubicBezTo>
                <a:cubicBezTo>
                  <a:pt x="227374" y="190661"/>
                  <a:pt x="230662" y="187438"/>
                  <a:pt x="230662" y="183393"/>
                </a:cubicBezTo>
                <a:cubicBezTo>
                  <a:pt x="230662" y="179348"/>
                  <a:pt x="227374" y="176125"/>
                  <a:pt x="223346" y="176125"/>
                </a:cubicBezTo>
                <a:cubicBezTo>
                  <a:pt x="223299" y="176125"/>
                  <a:pt x="223251" y="176125"/>
                  <a:pt x="223204" y="176126"/>
                </a:cubicBezTo>
                <a:lnTo>
                  <a:pt x="213910" y="176126"/>
                </a:lnTo>
                <a:cubicBezTo>
                  <a:pt x="210659" y="165073"/>
                  <a:pt x="200524" y="157424"/>
                  <a:pt x="188974" y="157424"/>
                </a:cubicBezTo>
                <a:cubicBezTo>
                  <a:pt x="177462" y="157424"/>
                  <a:pt x="167289" y="165073"/>
                  <a:pt x="164076" y="176126"/>
                </a:cubicBezTo>
                <a:lnTo>
                  <a:pt x="125562" y="176126"/>
                </a:lnTo>
                <a:cubicBezTo>
                  <a:pt x="122350" y="165073"/>
                  <a:pt x="112214" y="157424"/>
                  <a:pt x="100664" y="157424"/>
                </a:cubicBezTo>
                <a:cubicBezTo>
                  <a:pt x="89152" y="157424"/>
                  <a:pt x="78979" y="165073"/>
                  <a:pt x="75766" y="176126"/>
                </a:cubicBezTo>
                <a:lnTo>
                  <a:pt x="68576" y="176126"/>
                </a:lnTo>
                <a:cubicBezTo>
                  <a:pt x="61041" y="176011"/>
                  <a:pt x="54998" y="169854"/>
                  <a:pt x="54998" y="162319"/>
                </a:cubicBezTo>
                <a:cubicBezTo>
                  <a:pt x="54998" y="154785"/>
                  <a:pt x="61041" y="148627"/>
                  <a:pt x="68576" y="148512"/>
                </a:cubicBezTo>
                <a:lnTo>
                  <a:pt x="209130" y="148512"/>
                </a:lnTo>
                <a:cubicBezTo>
                  <a:pt x="212304" y="148474"/>
                  <a:pt x="215134" y="146371"/>
                  <a:pt x="216052" y="143311"/>
                </a:cubicBezTo>
                <a:lnTo>
                  <a:pt x="244660" y="47275"/>
                </a:lnTo>
                <a:cubicBezTo>
                  <a:pt x="246037" y="42609"/>
                  <a:pt x="242557" y="37943"/>
                  <a:pt x="237699" y="37943"/>
                </a:cubicBezTo>
                <a:lnTo>
                  <a:pt x="53163" y="37943"/>
                </a:lnTo>
                <a:lnTo>
                  <a:pt x="43410" y="5166"/>
                </a:lnTo>
                <a:cubicBezTo>
                  <a:pt x="42492" y="2107"/>
                  <a:pt x="39662" y="3"/>
                  <a:pt x="36449" y="3"/>
                </a:cubicBezTo>
                <a:lnTo>
                  <a:pt x="7459" y="3"/>
                </a:lnTo>
                <a:cubicBezTo>
                  <a:pt x="7389" y="1"/>
                  <a:pt x="7320" y="0"/>
                  <a:pt x="72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74"/>
          <p:cNvSpPr txBox="1"/>
          <p:nvPr/>
        </p:nvSpPr>
        <p:spPr>
          <a:xfrm>
            <a:off x="6384511" y="2723400"/>
            <a:ext cx="1521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Welcome, Xavier!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31" name="Google Shape;631;p74"/>
          <p:cNvGrpSpPr/>
          <p:nvPr/>
        </p:nvGrpSpPr>
        <p:grpSpPr>
          <a:xfrm>
            <a:off x="673061" y="3080537"/>
            <a:ext cx="7814157" cy="369336"/>
            <a:chOff x="4258925" y="1681075"/>
            <a:chExt cx="3928094" cy="243000"/>
          </a:xfrm>
        </p:grpSpPr>
        <p:sp>
          <p:nvSpPr>
            <p:cNvPr id="632" name="Google Shape;632;p74"/>
            <p:cNvSpPr txBox="1"/>
            <p:nvPr/>
          </p:nvSpPr>
          <p:spPr>
            <a:xfrm>
              <a:off x="4258925" y="1681075"/>
              <a:ext cx="741300" cy="243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About Us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3" name="Google Shape;633;p74"/>
            <p:cNvSpPr txBox="1"/>
            <p:nvPr/>
          </p:nvSpPr>
          <p:spPr>
            <a:xfrm>
              <a:off x="5055623" y="1681075"/>
              <a:ext cx="741300" cy="243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Contact Us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4" name="Google Shape;634;p74"/>
            <p:cNvSpPr txBox="1"/>
            <p:nvPr/>
          </p:nvSpPr>
          <p:spPr>
            <a:xfrm>
              <a:off x="5852322" y="1681075"/>
              <a:ext cx="741300" cy="243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Login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5" name="Google Shape;635;p74"/>
            <p:cNvSpPr txBox="1"/>
            <p:nvPr/>
          </p:nvSpPr>
          <p:spPr>
            <a:xfrm>
              <a:off x="6649020" y="1681075"/>
              <a:ext cx="741300" cy="2430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Products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6" name="Google Shape;636;p74"/>
            <p:cNvSpPr txBox="1"/>
            <p:nvPr/>
          </p:nvSpPr>
          <p:spPr>
            <a:xfrm>
              <a:off x="7445719" y="1681075"/>
              <a:ext cx="741300" cy="243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Search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37" name="Google Shape;637;p74"/>
          <p:cNvSpPr txBox="1"/>
          <p:nvPr/>
        </p:nvSpPr>
        <p:spPr>
          <a:xfrm>
            <a:off x="681600" y="3596800"/>
            <a:ext cx="1638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Doodahs</a:t>
            </a:r>
            <a:endParaRPr b="0" i="0" sz="1400" u="sng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635EA8"/>
                </a:solidFill>
                <a:latin typeface="Roboto"/>
                <a:ea typeface="Roboto"/>
                <a:cs typeface="Roboto"/>
                <a:sym typeface="Roboto"/>
              </a:rPr>
              <a:t>Gizmos</a:t>
            </a:r>
            <a:endParaRPr b="0" i="0" sz="1400" u="sng" cap="none" strike="noStrike">
              <a:solidFill>
                <a:srgbClr val="635EA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635EA8"/>
                </a:solidFill>
                <a:latin typeface="Roboto"/>
                <a:ea typeface="Roboto"/>
                <a:cs typeface="Roboto"/>
                <a:sym typeface="Roboto"/>
              </a:rPr>
              <a:t>Thingamajigs</a:t>
            </a:r>
            <a:endParaRPr b="0" i="0" sz="1400" u="sng" cap="none" strike="noStrike">
              <a:solidFill>
                <a:srgbClr val="635EA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Thingies</a:t>
            </a:r>
            <a:endParaRPr b="0" i="0" sz="1400" u="sng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Whatchamacallits</a:t>
            </a:r>
            <a:endParaRPr b="0" i="0" sz="1400" u="sng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Whatsits</a:t>
            </a:r>
            <a:endParaRPr b="0" i="0" sz="1400" u="sng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635EA8"/>
                </a:solidFill>
                <a:latin typeface="Roboto"/>
                <a:ea typeface="Roboto"/>
                <a:cs typeface="Roboto"/>
                <a:sym typeface="Roboto"/>
              </a:rPr>
              <a:t>Widgets</a:t>
            </a:r>
            <a:endParaRPr b="0" i="0" sz="1400" u="sng" cap="none" strike="noStrike">
              <a:solidFill>
                <a:srgbClr val="635EA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38" name="Google Shape;638;p74"/>
          <p:cNvGraphicFramePr/>
          <p:nvPr/>
        </p:nvGraphicFramePr>
        <p:xfrm>
          <a:off x="2434725" y="3873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{46A04196-913F-418A-BF23-8549AA4576D4}</a:tableStyleId>
              </a:tblPr>
              <a:tblGrid>
                <a:gridCol w="2244575"/>
                <a:gridCol w="2562025"/>
                <a:gridCol w="1245650"/>
              </a:tblGrid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Product</a:t>
                      </a:r>
                      <a:endParaRPr sz="13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Type</a:t>
                      </a:r>
                      <a:endParaRPr sz="13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Price</a:t>
                      </a:r>
                      <a:endParaRPr sz="13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sng" cap="none" strike="noStrike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TGJ CCC</a:t>
                      </a:r>
                      <a:endParaRPr sz="1300" u="sng" cap="none" strike="noStrike"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Thingamajigs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$0.70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sng" cap="none" strike="noStrike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Complex Widget</a:t>
                      </a:r>
                      <a:endParaRPr sz="1300" u="sng" cap="none" strike="noStrike"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Gizmos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</a:t>
                      </a:r>
                      <a:r>
                        <a:rPr b="1" lang="en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b="1" lang="en" sz="13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r>
                        <a:rPr b="1" lang="en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00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sng" cap="none" strike="noStrike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Weird Widget</a:t>
                      </a:r>
                      <a:endParaRPr sz="1300" u="sng" cap="none" strike="noStrike"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Whatchamacallits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</a:t>
                      </a:r>
                      <a:r>
                        <a:rPr b="1" lang="en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b="1" lang="en" sz="13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r>
                        <a:rPr b="1" lang="en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sng" cap="none" strike="noStrike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Whatsit taste like</a:t>
                      </a:r>
                      <a:endParaRPr sz="1300" u="sng" cap="none" strike="noStrike"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Whatsits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$3.96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sng" cap="none" strike="noStrike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Whatnot</a:t>
                      </a:r>
                      <a:endParaRPr sz="1300" u="sng" cap="none" strike="noStrike"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Whatchamacallits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$2.68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sng" cap="none" strike="noStrike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Whatnot</a:t>
                      </a:r>
                      <a:endParaRPr sz="1300" u="sng" cap="none" strike="noStrike"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Whatchamacallits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$2.68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9" name="Google Shape;639;p74"/>
          <p:cNvSpPr txBox="1"/>
          <p:nvPr/>
        </p:nvSpPr>
        <p:spPr>
          <a:xfrm>
            <a:off x="3661200" y="2692650"/>
            <a:ext cx="317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bodge it, so you don’t have to!</a:t>
            </a:r>
            <a:endParaRPr b="0" i="1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74"/>
          <p:cNvSpPr/>
          <p:nvPr/>
        </p:nvSpPr>
        <p:spPr>
          <a:xfrm>
            <a:off x="631225" y="2186463"/>
            <a:ext cx="261900" cy="27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1860000" dist="19050">
              <a:srgbClr val="000000">
                <a:alpha val="2666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&gt;</a:t>
            </a:r>
            <a:endParaRPr b="1" i="0" sz="20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1" name="Google Shape;641;p74"/>
          <p:cNvSpPr/>
          <p:nvPr/>
        </p:nvSpPr>
        <p:spPr>
          <a:xfrm>
            <a:off x="962775" y="2186463"/>
            <a:ext cx="261900" cy="27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1860000" dist="19050">
              <a:srgbClr val="000000">
                <a:alpha val="2666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&lt;</a:t>
            </a:r>
            <a:endParaRPr b="1" i="0" sz="20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2" name="Google Shape;642;p74"/>
          <p:cNvSpPr/>
          <p:nvPr/>
        </p:nvSpPr>
        <p:spPr>
          <a:xfrm>
            <a:off x="8526450" y="1824750"/>
            <a:ext cx="206400" cy="215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3" name="Google Shape;643;p74"/>
          <p:cNvGrpSpPr/>
          <p:nvPr/>
        </p:nvGrpSpPr>
        <p:grpSpPr>
          <a:xfrm>
            <a:off x="1473266" y="2239422"/>
            <a:ext cx="131553" cy="171174"/>
            <a:chOff x="2794425" y="1348025"/>
            <a:chExt cx="1842475" cy="2397400"/>
          </a:xfrm>
        </p:grpSpPr>
        <p:sp>
          <p:nvSpPr>
            <p:cNvPr id="644" name="Google Shape;644;p74"/>
            <p:cNvSpPr/>
            <p:nvPr/>
          </p:nvSpPr>
          <p:spPr>
            <a:xfrm>
              <a:off x="3149600" y="1348025"/>
              <a:ext cx="1132125" cy="1230625"/>
            </a:xfrm>
            <a:custGeom>
              <a:rect b="b" l="l" r="r" t="t"/>
              <a:pathLst>
                <a:path extrusionOk="0" h="49225" w="45285">
                  <a:moveTo>
                    <a:pt x="22642" y="0"/>
                  </a:moveTo>
                  <a:cubicBezTo>
                    <a:pt x="10211" y="0"/>
                    <a:pt x="0" y="10211"/>
                    <a:pt x="0" y="22642"/>
                  </a:cubicBezTo>
                  <a:lnTo>
                    <a:pt x="0" y="44396"/>
                  </a:lnTo>
                  <a:cubicBezTo>
                    <a:pt x="0" y="47615"/>
                    <a:pt x="2442" y="49224"/>
                    <a:pt x="4884" y="49224"/>
                  </a:cubicBezTo>
                  <a:cubicBezTo>
                    <a:pt x="7326" y="49224"/>
                    <a:pt x="9767" y="47615"/>
                    <a:pt x="9767" y="44396"/>
                  </a:cubicBezTo>
                  <a:lnTo>
                    <a:pt x="9767" y="22642"/>
                  </a:lnTo>
                  <a:cubicBezTo>
                    <a:pt x="9767" y="14096"/>
                    <a:pt x="16205" y="9823"/>
                    <a:pt x="22642" y="9823"/>
                  </a:cubicBezTo>
                  <a:cubicBezTo>
                    <a:pt x="29080" y="9823"/>
                    <a:pt x="35517" y="14096"/>
                    <a:pt x="35517" y="22642"/>
                  </a:cubicBezTo>
                  <a:lnTo>
                    <a:pt x="35517" y="44396"/>
                  </a:lnTo>
                  <a:cubicBezTo>
                    <a:pt x="35517" y="47615"/>
                    <a:pt x="37959" y="49224"/>
                    <a:pt x="40401" y="49224"/>
                  </a:cubicBezTo>
                  <a:cubicBezTo>
                    <a:pt x="42843" y="49224"/>
                    <a:pt x="45284" y="47615"/>
                    <a:pt x="45284" y="44396"/>
                  </a:cubicBezTo>
                  <a:lnTo>
                    <a:pt x="45284" y="22642"/>
                  </a:lnTo>
                  <a:cubicBezTo>
                    <a:pt x="45284" y="10211"/>
                    <a:pt x="35073" y="0"/>
                    <a:pt x="22642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74"/>
            <p:cNvSpPr/>
            <p:nvPr/>
          </p:nvSpPr>
          <p:spPr>
            <a:xfrm>
              <a:off x="2794425" y="2291425"/>
              <a:ext cx="1842475" cy="1454000"/>
            </a:xfrm>
            <a:custGeom>
              <a:rect b="b" l="l" r="r" t="t"/>
              <a:pathLst>
                <a:path extrusionOk="0" h="58160" w="73699">
                  <a:moveTo>
                    <a:pt x="9324" y="1"/>
                  </a:moveTo>
                  <a:cubicBezTo>
                    <a:pt x="4218" y="1"/>
                    <a:pt x="0" y="3997"/>
                    <a:pt x="0" y="9324"/>
                  </a:cubicBezTo>
                  <a:lnTo>
                    <a:pt x="0" y="48837"/>
                  </a:lnTo>
                  <a:cubicBezTo>
                    <a:pt x="0" y="53942"/>
                    <a:pt x="4218" y="58160"/>
                    <a:pt x="9324" y="58160"/>
                  </a:cubicBezTo>
                  <a:lnTo>
                    <a:pt x="64375" y="58160"/>
                  </a:lnTo>
                  <a:cubicBezTo>
                    <a:pt x="69481" y="58160"/>
                    <a:pt x="73698" y="53942"/>
                    <a:pt x="73698" y="48837"/>
                  </a:cubicBezTo>
                  <a:lnTo>
                    <a:pt x="73698" y="9324"/>
                  </a:lnTo>
                  <a:cubicBezTo>
                    <a:pt x="73698" y="3997"/>
                    <a:pt x="69481" y="1"/>
                    <a:pt x="64375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4"/>
            <p:cNvSpPr/>
            <p:nvPr/>
          </p:nvSpPr>
          <p:spPr>
            <a:xfrm>
              <a:off x="3449275" y="2702100"/>
              <a:ext cx="532775" cy="634050"/>
            </a:xfrm>
            <a:custGeom>
              <a:rect b="b" l="l" r="r" t="t"/>
              <a:pathLst>
                <a:path extrusionOk="0" h="25362" w="21311">
                  <a:moveTo>
                    <a:pt x="10655" y="1"/>
                  </a:moveTo>
                  <a:cubicBezTo>
                    <a:pt x="2664" y="1"/>
                    <a:pt x="0" y="10656"/>
                    <a:pt x="6882" y="14429"/>
                  </a:cubicBezTo>
                  <a:lnTo>
                    <a:pt x="6882" y="21533"/>
                  </a:lnTo>
                  <a:cubicBezTo>
                    <a:pt x="6882" y="24085"/>
                    <a:pt x="8768" y="25362"/>
                    <a:pt x="10655" y="25362"/>
                  </a:cubicBezTo>
                  <a:cubicBezTo>
                    <a:pt x="12542" y="25362"/>
                    <a:pt x="14429" y="24085"/>
                    <a:pt x="14429" y="21533"/>
                  </a:cubicBezTo>
                  <a:lnTo>
                    <a:pt x="14429" y="14429"/>
                  </a:lnTo>
                  <a:cubicBezTo>
                    <a:pt x="21310" y="10656"/>
                    <a:pt x="18647" y="1"/>
                    <a:pt x="10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74"/>
          <p:cNvSpPr txBox="1"/>
          <p:nvPr/>
        </p:nvSpPr>
        <p:spPr>
          <a:xfrm>
            <a:off x="2434725" y="3596800"/>
            <a:ext cx="163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Our Best Deals</a:t>
            </a:r>
            <a:endParaRPr b="0" i="0" sz="1400" u="sng" cap="none" strike="noStrike">
              <a:solidFill>
                <a:srgbClr val="635EA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74"/>
          <p:cNvSpPr txBox="1"/>
          <p:nvPr/>
        </p:nvSpPr>
        <p:spPr>
          <a:xfrm>
            <a:off x="76200" y="599775"/>
            <a:ext cx="91440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intended purpose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of an application involves a user accessing a webpage and displaying prices of several products at an online store. The query that retrieves the product prices is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applied business logic.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5"/>
          <p:cNvSpPr txBox="1"/>
          <p:nvPr/>
        </p:nvSpPr>
        <p:spPr>
          <a:xfrm>
            <a:off x="76200" y="512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Vulnerabilities: Unintended Consequence</a:t>
            </a:r>
            <a:endParaRPr b="0" i="0" sz="14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4" name="Google Shape;654;p75"/>
          <p:cNvSpPr txBox="1"/>
          <p:nvPr/>
        </p:nvSpPr>
        <p:spPr>
          <a:xfrm>
            <a:off x="76200" y="573024"/>
            <a:ext cx="91440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malicious actor has changed the URL to access confidential files, such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 employee salaries, which are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 intended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 be displayed to users.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75"/>
          <p:cNvSpPr/>
          <p:nvPr/>
        </p:nvSpPr>
        <p:spPr>
          <a:xfrm>
            <a:off x="411150" y="1542501"/>
            <a:ext cx="8321700" cy="3374100"/>
          </a:xfrm>
          <a:prstGeom prst="round2SameRect">
            <a:avLst>
              <a:gd fmla="val 1865" name="adj1"/>
              <a:gd fmla="val 0" name="adj2"/>
            </a:avLst>
          </a:prstGeom>
          <a:solidFill>
            <a:srgbClr val="FFFFFF"/>
          </a:solidFill>
          <a:ln>
            <a:noFill/>
          </a:ln>
          <a:effectLst>
            <a:outerShdw blurRad="271463" rotWithShape="0" algn="bl">
              <a:srgbClr val="000000">
                <a:alpha val="2352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75"/>
          <p:cNvSpPr/>
          <p:nvPr/>
        </p:nvSpPr>
        <p:spPr>
          <a:xfrm>
            <a:off x="411150" y="1533350"/>
            <a:ext cx="8321700" cy="304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75"/>
          <p:cNvSpPr/>
          <p:nvPr/>
        </p:nvSpPr>
        <p:spPr>
          <a:xfrm>
            <a:off x="512200" y="1605350"/>
            <a:ext cx="160800" cy="1608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75"/>
          <p:cNvSpPr/>
          <p:nvPr/>
        </p:nvSpPr>
        <p:spPr>
          <a:xfrm>
            <a:off x="740525" y="1605350"/>
            <a:ext cx="160800" cy="160800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5"/>
          <p:cNvSpPr/>
          <p:nvPr/>
        </p:nvSpPr>
        <p:spPr>
          <a:xfrm>
            <a:off x="968850" y="1605350"/>
            <a:ext cx="160800" cy="1608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75"/>
          <p:cNvSpPr/>
          <p:nvPr/>
        </p:nvSpPr>
        <p:spPr>
          <a:xfrm>
            <a:off x="411150" y="1814050"/>
            <a:ext cx="8321700" cy="4335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75"/>
          <p:cNvSpPr/>
          <p:nvPr/>
        </p:nvSpPr>
        <p:spPr>
          <a:xfrm>
            <a:off x="1362450" y="1626213"/>
            <a:ext cx="1521000" cy="304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75"/>
          <p:cNvSpPr txBox="1"/>
          <p:nvPr/>
        </p:nvSpPr>
        <p:spPr>
          <a:xfrm>
            <a:off x="1685025" y="1665225"/>
            <a:ext cx="113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Bodg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0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 Store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3" name="Google Shape;663;p75"/>
          <p:cNvGrpSpPr/>
          <p:nvPr/>
        </p:nvGrpSpPr>
        <p:grpSpPr>
          <a:xfrm>
            <a:off x="1362447" y="1944050"/>
            <a:ext cx="7124517" cy="304800"/>
            <a:chOff x="657000" y="1980638"/>
            <a:chExt cx="7830000" cy="304800"/>
          </a:xfrm>
        </p:grpSpPr>
        <p:sp>
          <p:nvSpPr>
            <p:cNvPr id="664" name="Google Shape;664;p75"/>
            <p:cNvSpPr/>
            <p:nvPr/>
          </p:nvSpPr>
          <p:spPr>
            <a:xfrm>
              <a:off x="657000" y="1980638"/>
              <a:ext cx="7830000" cy="304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84CD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      https://www.bodgitstore/salary_data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5"/>
            <p:cNvSpPr/>
            <p:nvPr/>
          </p:nvSpPr>
          <p:spPr>
            <a:xfrm>
              <a:off x="8231925" y="2056698"/>
              <a:ext cx="160611" cy="152788"/>
            </a:xfrm>
            <a:custGeom>
              <a:rect b="b" l="l" r="r" t="t"/>
              <a:pathLst>
                <a:path extrusionOk="0" h="209299" w="220015">
                  <a:moveTo>
                    <a:pt x="110007" y="0"/>
                  </a:moveTo>
                  <a:lnTo>
                    <a:pt x="76017" y="68901"/>
                  </a:lnTo>
                  <a:lnTo>
                    <a:pt x="0" y="79952"/>
                  </a:lnTo>
                  <a:lnTo>
                    <a:pt x="55004" y="133533"/>
                  </a:lnTo>
                  <a:lnTo>
                    <a:pt x="50985" y="157058"/>
                  </a:lnTo>
                  <a:lnTo>
                    <a:pt x="42027" y="209299"/>
                  </a:lnTo>
                  <a:lnTo>
                    <a:pt x="110007" y="173551"/>
                  </a:lnTo>
                  <a:lnTo>
                    <a:pt x="177988" y="209299"/>
                  </a:lnTo>
                  <a:lnTo>
                    <a:pt x="165011" y="133533"/>
                  </a:lnTo>
                  <a:lnTo>
                    <a:pt x="220015" y="79952"/>
                  </a:lnTo>
                  <a:lnTo>
                    <a:pt x="172546" y="73003"/>
                  </a:lnTo>
                  <a:lnTo>
                    <a:pt x="143997" y="68901"/>
                  </a:lnTo>
                  <a:lnTo>
                    <a:pt x="11000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6" name="Google Shape;666;p75"/>
          <p:cNvGrpSpPr/>
          <p:nvPr/>
        </p:nvGrpSpPr>
        <p:grpSpPr>
          <a:xfrm>
            <a:off x="1425500" y="1676375"/>
            <a:ext cx="150775" cy="146900"/>
            <a:chOff x="1221700" y="1503925"/>
            <a:chExt cx="150775" cy="146900"/>
          </a:xfrm>
        </p:grpSpPr>
        <p:sp>
          <p:nvSpPr>
            <p:cNvPr id="667" name="Google Shape;667;p75"/>
            <p:cNvSpPr/>
            <p:nvPr/>
          </p:nvSpPr>
          <p:spPr>
            <a:xfrm>
              <a:off x="1221700" y="1503925"/>
              <a:ext cx="65700" cy="657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75"/>
            <p:cNvSpPr/>
            <p:nvPr/>
          </p:nvSpPr>
          <p:spPr>
            <a:xfrm>
              <a:off x="1306775" y="1503925"/>
              <a:ext cx="65700" cy="657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75"/>
            <p:cNvSpPr/>
            <p:nvPr/>
          </p:nvSpPr>
          <p:spPr>
            <a:xfrm>
              <a:off x="1221700" y="1585125"/>
              <a:ext cx="65700" cy="657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75"/>
            <p:cNvSpPr/>
            <p:nvPr/>
          </p:nvSpPr>
          <p:spPr>
            <a:xfrm>
              <a:off x="1306775" y="1585125"/>
              <a:ext cx="65700" cy="657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1" name="Google Shape;671;p75"/>
          <p:cNvSpPr txBox="1"/>
          <p:nvPr/>
        </p:nvSpPr>
        <p:spPr>
          <a:xfrm>
            <a:off x="673000" y="2354775"/>
            <a:ext cx="7814100" cy="42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27425" lIns="274300" spcFirstLastPara="1" rIns="91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BodgeIt Store</a:t>
            </a:r>
            <a:endParaRPr b="0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75"/>
          <p:cNvSpPr/>
          <p:nvPr/>
        </p:nvSpPr>
        <p:spPr>
          <a:xfrm>
            <a:off x="8009050" y="2431274"/>
            <a:ext cx="325999" cy="277354"/>
          </a:xfrm>
          <a:custGeom>
            <a:rect b="b" l="l" r="r" t="t"/>
            <a:pathLst>
              <a:path extrusionOk="0" h="209324" w="246037">
                <a:moveTo>
                  <a:pt x="106822" y="52438"/>
                </a:moveTo>
                <a:lnTo>
                  <a:pt x="106822" y="85980"/>
                </a:lnTo>
                <a:lnTo>
                  <a:pt x="67467" y="85980"/>
                </a:lnTo>
                <a:lnTo>
                  <a:pt x="57484" y="52438"/>
                </a:lnTo>
                <a:close/>
                <a:moveTo>
                  <a:pt x="160443" y="52438"/>
                </a:moveTo>
                <a:lnTo>
                  <a:pt x="160443" y="85980"/>
                </a:lnTo>
                <a:lnTo>
                  <a:pt x="121279" y="85980"/>
                </a:lnTo>
                <a:lnTo>
                  <a:pt x="121279" y="52438"/>
                </a:lnTo>
                <a:close/>
                <a:moveTo>
                  <a:pt x="227985" y="52438"/>
                </a:moveTo>
                <a:lnTo>
                  <a:pt x="218041" y="85980"/>
                </a:lnTo>
                <a:lnTo>
                  <a:pt x="174938" y="85980"/>
                </a:lnTo>
                <a:lnTo>
                  <a:pt x="174938" y="52438"/>
                </a:lnTo>
                <a:close/>
                <a:moveTo>
                  <a:pt x="106822" y="100475"/>
                </a:moveTo>
                <a:lnTo>
                  <a:pt x="106822" y="133979"/>
                </a:lnTo>
                <a:lnTo>
                  <a:pt x="81771" y="133979"/>
                </a:lnTo>
                <a:lnTo>
                  <a:pt x="71788" y="100475"/>
                </a:lnTo>
                <a:close/>
                <a:moveTo>
                  <a:pt x="160443" y="100475"/>
                </a:moveTo>
                <a:lnTo>
                  <a:pt x="160443" y="133979"/>
                </a:lnTo>
                <a:lnTo>
                  <a:pt x="121279" y="133979"/>
                </a:lnTo>
                <a:lnTo>
                  <a:pt x="121279" y="100475"/>
                </a:lnTo>
                <a:close/>
                <a:moveTo>
                  <a:pt x="213681" y="100475"/>
                </a:moveTo>
                <a:lnTo>
                  <a:pt x="203737" y="133979"/>
                </a:lnTo>
                <a:lnTo>
                  <a:pt x="174938" y="133979"/>
                </a:lnTo>
                <a:lnTo>
                  <a:pt x="174938" y="100475"/>
                </a:lnTo>
                <a:close/>
                <a:moveTo>
                  <a:pt x="100755" y="171919"/>
                </a:moveTo>
                <a:cubicBezTo>
                  <a:pt x="103567" y="171919"/>
                  <a:pt x="106435" y="172960"/>
                  <a:pt x="108772" y="175285"/>
                </a:cubicBezTo>
                <a:cubicBezTo>
                  <a:pt x="115963" y="182513"/>
                  <a:pt x="110876" y="194828"/>
                  <a:pt x="100664" y="194828"/>
                </a:cubicBezTo>
                <a:cubicBezTo>
                  <a:pt x="94354" y="194828"/>
                  <a:pt x="89229" y="189703"/>
                  <a:pt x="89229" y="183393"/>
                </a:cubicBezTo>
                <a:cubicBezTo>
                  <a:pt x="89229" y="176482"/>
                  <a:pt x="94868" y="171919"/>
                  <a:pt x="100755" y="171919"/>
                </a:cubicBezTo>
                <a:close/>
                <a:moveTo>
                  <a:pt x="189053" y="171919"/>
                </a:moveTo>
                <a:cubicBezTo>
                  <a:pt x="191859" y="171919"/>
                  <a:pt x="194719" y="172960"/>
                  <a:pt x="197044" y="175285"/>
                </a:cubicBezTo>
                <a:cubicBezTo>
                  <a:pt x="204272" y="182513"/>
                  <a:pt x="199147" y="194828"/>
                  <a:pt x="188974" y="194828"/>
                </a:cubicBezTo>
                <a:cubicBezTo>
                  <a:pt x="182663" y="194828"/>
                  <a:pt x="177538" y="189703"/>
                  <a:pt x="177538" y="183393"/>
                </a:cubicBezTo>
                <a:cubicBezTo>
                  <a:pt x="177538" y="176482"/>
                  <a:pt x="183178" y="171919"/>
                  <a:pt x="189053" y="171919"/>
                </a:cubicBezTo>
                <a:close/>
                <a:moveTo>
                  <a:pt x="7251" y="0"/>
                </a:moveTo>
                <a:cubicBezTo>
                  <a:pt x="3253" y="0"/>
                  <a:pt x="1" y="3247"/>
                  <a:pt x="1" y="7270"/>
                </a:cubicBezTo>
                <a:cubicBezTo>
                  <a:pt x="1" y="11255"/>
                  <a:pt x="3253" y="14501"/>
                  <a:pt x="7251" y="14501"/>
                </a:cubicBezTo>
                <a:cubicBezTo>
                  <a:pt x="7320" y="14501"/>
                  <a:pt x="7389" y="14500"/>
                  <a:pt x="7459" y="14498"/>
                </a:cubicBezTo>
                <a:lnTo>
                  <a:pt x="31056" y="14498"/>
                </a:lnTo>
                <a:lnTo>
                  <a:pt x="40771" y="47122"/>
                </a:lnTo>
                <a:cubicBezTo>
                  <a:pt x="40771" y="47237"/>
                  <a:pt x="40809" y="47313"/>
                  <a:pt x="40847" y="47428"/>
                </a:cubicBezTo>
                <a:lnTo>
                  <a:pt x="66663" y="134055"/>
                </a:lnTo>
                <a:cubicBezTo>
                  <a:pt x="51442" y="135126"/>
                  <a:pt x="39777" y="148015"/>
                  <a:pt x="40312" y="163275"/>
                </a:cubicBezTo>
                <a:cubicBezTo>
                  <a:pt x="40809" y="178535"/>
                  <a:pt x="53316" y="190621"/>
                  <a:pt x="68576" y="190659"/>
                </a:cubicBezTo>
                <a:lnTo>
                  <a:pt x="75766" y="190659"/>
                </a:lnTo>
                <a:cubicBezTo>
                  <a:pt x="78979" y="201713"/>
                  <a:pt x="89152" y="209324"/>
                  <a:pt x="100664" y="209324"/>
                </a:cubicBezTo>
                <a:cubicBezTo>
                  <a:pt x="112214" y="209324"/>
                  <a:pt x="122350" y="201713"/>
                  <a:pt x="125600" y="190659"/>
                </a:cubicBezTo>
                <a:lnTo>
                  <a:pt x="164076" y="190659"/>
                </a:lnTo>
                <a:cubicBezTo>
                  <a:pt x="167289" y="201713"/>
                  <a:pt x="177424" y="209324"/>
                  <a:pt x="188974" y="209324"/>
                </a:cubicBezTo>
                <a:cubicBezTo>
                  <a:pt x="200524" y="209324"/>
                  <a:pt x="210659" y="201713"/>
                  <a:pt x="213872" y="190659"/>
                </a:cubicBezTo>
                <a:lnTo>
                  <a:pt x="223204" y="190659"/>
                </a:lnTo>
                <a:cubicBezTo>
                  <a:pt x="223251" y="190660"/>
                  <a:pt x="223299" y="190661"/>
                  <a:pt x="223346" y="190661"/>
                </a:cubicBezTo>
                <a:cubicBezTo>
                  <a:pt x="227374" y="190661"/>
                  <a:pt x="230662" y="187438"/>
                  <a:pt x="230662" y="183393"/>
                </a:cubicBezTo>
                <a:cubicBezTo>
                  <a:pt x="230662" y="179348"/>
                  <a:pt x="227374" y="176125"/>
                  <a:pt x="223346" y="176125"/>
                </a:cubicBezTo>
                <a:cubicBezTo>
                  <a:pt x="223299" y="176125"/>
                  <a:pt x="223251" y="176125"/>
                  <a:pt x="223204" y="176126"/>
                </a:cubicBezTo>
                <a:lnTo>
                  <a:pt x="213910" y="176126"/>
                </a:lnTo>
                <a:cubicBezTo>
                  <a:pt x="210659" y="165073"/>
                  <a:pt x="200524" y="157424"/>
                  <a:pt x="188974" y="157424"/>
                </a:cubicBezTo>
                <a:cubicBezTo>
                  <a:pt x="177462" y="157424"/>
                  <a:pt x="167289" y="165073"/>
                  <a:pt x="164076" y="176126"/>
                </a:cubicBezTo>
                <a:lnTo>
                  <a:pt x="125562" y="176126"/>
                </a:lnTo>
                <a:cubicBezTo>
                  <a:pt x="122350" y="165073"/>
                  <a:pt x="112214" y="157424"/>
                  <a:pt x="100664" y="157424"/>
                </a:cubicBezTo>
                <a:cubicBezTo>
                  <a:pt x="89152" y="157424"/>
                  <a:pt x="78979" y="165073"/>
                  <a:pt x="75766" y="176126"/>
                </a:cubicBezTo>
                <a:lnTo>
                  <a:pt x="68576" y="176126"/>
                </a:lnTo>
                <a:cubicBezTo>
                  <a:pt x="61041" y="176011"/>
                  <a:pt x="54998" y="169854"/>
                  <a:pt x="54998" y="162319"/>
                </a:cubicBezTo>
                <a:cubicBezTo>
                  <a:pt x="54998" y="154785"/>
                  <a:pt x="61041" y="148627"/>
                  <a:pt x="68576" y="148512"/>
                </a:cubicBezTo>
                <a:lnTo>
                  <a:pt x="209130" y="148512"/>
                </a:lnTo>
                <a:cubicBezTo>
                  <a:pt x="212304" y="148474"/>
                  <a:pt x="215134" y="146371"/>
                  <a:pt x="216052" y="143311"/>
                </a:cubicBezTo>
                <a:lnTo>
                  <a:pt x="244660" y="47275"/>
                </a:lnTo>
                <a:cubicBezTo>
                  <a:pt x="246037" y="42609"/>
                  <a:pt x="242557" y="37943"/>
                  <a:pt x="237699" y="37943"/>
                </a:cubicBezTo>
                <a:lnTo>
                  <a:pt x="53163" y="37943"/>
                </a:lnTo>
                <a:lnTo>
                  <a:pt x="43410" y="5166"/>
                </a:lnTo>
                <a:cubicBezTo>
                  <a:pt x="42492" y="2107"/>
                  <a:pt x="39662" y="3"/>
                  <a:pt x="36449" y="3"/>
                </a:cubicBezTo>
                <a:lnTo>
                  <a:pt x="7459" y="3"/>
                </a:lnTo>
                <a:cubicBezTo>
                  <a:pt x="7389" y="1"/>
                  <a:pt x="7320" y="0"/>
                  <a:pt x="72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75"/>
          <p:cNvSpPr txBox="1"/>
          <p:nvPr/>
        </p:nvSpPr>
        <p:spPr>
          <a:xfrm>
            <a:off x="6384511" y="2494800"/>
            <a:ext cx="1521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Welcome, Xavier!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74" name="Google Shape;674;p75"/>
          <p:cNvGrpSpPr/>
          <p:nvPr/>
        </p:nvGrpSpPr>
        <p:grpSpPr>
          <a:xfrm>
            <a:off x="673061" y="2851937"/>
            <a:ext cx="7814157" cy="369336"/>
            <a:chOff x="4258925" y="1681075"/>
            <a:chExt cx="3928094" cy="243000"/>
          </a:xfrm>
        </p:grpSpPr>
        <p:sp>
          <p:nvSpPr>
            <p:cNvPr id="675" name="Google Shape;675;p75"/>
            <p:cNvSpPr txBox="1"/>
            <p:nvPr/>
          </p:nvSpPr>
          <p:spPr>
            <a:xfrm>
              <a:off x="4258925" y="1681075"/>
              <a:ext cx="741300" cy="243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About Us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6" name="Google Shape;676;p75"/>
            <p:cNvSpPr txBox="1"/>
            <p:nvPr/>
          </p:nvSpPr>
          <p:spPr>
            <a:xfrm>
              <a:off x="5055623" y="1681075"/>
              <a:ext cx="741300" cy="243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Contact Us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7" name="Google Shape;677;p75"/>
            <p:cNvSpPr txBox="1"/>
            <p:nvPr/>
          </p:nvSpPr>
          <p:spPr>
            <a:xfrm>
              <a:off x="5852322" y="1681075"/>
              <a:ext cx="741300" cy="243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Login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8" name="Google Shape;678;p75"/>
            <p:cNvSpPr txBox="1"/>
            <p:nvPr/>
          </p:nvSpPr>
          <p:spPr>
            <a:xfrm>
              <a:off x="6649020" y="1681075"/>
              <a:ext cx="741300" cy="2430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Products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9" name="Google Shape;679;p75"/>
            <p:cNvSpPr txBox="1"/>
            <p:nvPr/>
          </p:nvSpPr>
          <p:spPr>
            <a:xfrm>
              <a:off x="7445719" y="1681075"/>
              <a:ext cx="741300" cy="2430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Search</a:t>
              </a:r>
              <a:endPara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680" name="Google Shape;680;p75"/>
          <p:cNvGraphicFramePr/>
          <p:nvPr/>
        </p:nvGraphicFramePr>
        <p:xfrm>
          <a:off x="2942425" y="3376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{46A04196-913F-418A-BF23-8549AA4576D4}</a:tableStyleId>
              </a:tblPr>
              <a:tblGrid>
                <a:gridCol w="1825325"/>
                <a:gridCol w="1697625"/>
                <a:gridCol w="1257325"/>
              </a:tblGrid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Title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Annual salary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Sally Smith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CEO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$1.2 million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Julie Jones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SVP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$400,000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Tom Roberts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VP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$150,000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Mike Allen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Supv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$80,000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Susan Johnson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Exec Asst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$75,000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D85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1" name="Google Shape;681;p75"/>
          <p:cNvSpPr txBox="1"/>
          <p:nvPr/>
        </p:nvSpPr>
        <p:spPr>
          <a:xfrm>
            <a:off x="3661200" y="2464050"/>
            <a:ext cx="317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bodge it, so you don’t have to!</a:t>
            </a:r>
            <a:endParaRPr b="0" i="1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75"/>
          <p:cNvSpPr/>
          <p:nvPr/>
        </p:nvSpPr>
        <p:spPr>
          <a:xfrm>
            <a:off x="631225" y="1957863"/>
            <a:ext cx="261900" cy="27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1860000" dist="19050">
              <a:srgbClr val="000000">
                <a:alpha val="2666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&gt;</a:t>
            </a:r>
            <a:endParaRPr b="1" i="0" sz="20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3" name="Google Shape;683;p75"/>
          <p:cNvSpPr/>
          <p:nvPr/>
        </p:nvSpPr>
        <p:spPr>
          <a:xfrm>
            <a:off x="962775" y="1957863"/>
            <a:ext cx="261900" cy="27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1860000" dist="19050">
              <a:srgbClr val="000000">
                <a:alpha val="2666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&lt;</a:t>
            </a:r>
            <a:endParaRPr b="1" i="0" sz="20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4" name="Google Shape;684;p75"/>
          <p:cNvSpPr/>
          <p:nvPr/>
        </p:nvSpPr>
        <p:spPr>
          <a:xfrm>
            <a:off x="8526450" y="1824750"/>
            <a:ext cx="206400" cy="215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p75"/>
          <p:cNvGrpSpPr/>
          <p:nvPr/>
        </p:nvGrpSpPr>
        <p:grpSpPr>
          <a:xfrm>
            <a:off x="1473266" y="2010822"/>
            <a:ext cx="131553" cy="171174"/>
            <a:chOff x="2794425" y="1348025"/>
            <a:chExt cx="1842475" cy="2397400"/>
          </a:xfrm>
        </p:grpSpPr>
        <p:sp>
          <p:nvSpPr>
            <p:cNvPr id="686" name="Google Shape;686;p75"/>
            <p:cNvSpPr/>
            <p:nvPr/>
          </p:nvSpPr>
          <p:spPr>
            <a:xfrm>
              <a:off x="3149600" y="1348025"/>
              <a:ext cx="1132125" cy="1230625"/>
            </a:xfrm>
            <a:custGeom>
              <a:rect b="b" l="l" r="r" t="t"/>
              <a:pathLst>
                <a:path extrusionOk="0" h="49225" w="45285">
                  <a:moveTo>
                    <a:pt x="22642" y="0"/>
                  </a:moveTo>
                  <a:cubicBezTo>
                    <a:pt x="10211" y="0"/>
                    <a:pt x="0" y="10211"/>
                    <a:pt x="0" y="22642"/>
                  </a:cubicBezTo>
                  <a:lnTo>
                    <a:pt x="0" y="44396"/>
                  </a:lnTo>
                  <a:cubicBezTo>
                    <a:pt x="0" y="47615"/>
                    <a:pt x="2442" y="49224"/>
                    <a:pt x="4884" y="49224"/>
                  </a:cubicBezTo>
                  <a:cubicBezTo>
                    <a:pt x="7326" y="49224"/>
                    <a:pt x="9767" y="47615"/>
                    <a:pt x="9767" y="44396"/>
                  </a:cubicBezTo>
                  <a:lnTo>
                    <a:pt x="9767" y="22642"/>
                  </a:lnTo>
                  <a:cubicBezTo>
                    <a:pt x="9767" y="14096"/>
                    <a:pt x="16205" y="9823"/>
                    <a:pt x="22642" y="9823"/>
                  </a:cubicBezTo>
                  <a:cubicBezTo>
                    <a:pt x="29080" y="9823"/>
                    <a:pt x="35517" y="14096"/>
                    <a:pt x="35517" y="22642"/>
                  </a:cubicBezTo>
                  <a:lnTo>
                    <a:pt x="35517" y="44396"/>
                  </a:lnTo>
                  <a:cubicBezTo>
                    <a:pt x="35517" y="47615"/>
                    <a:pt x="37959" y="49224"/>
                    <a:pt x="40401" y="49224"/>
                  </a:cubicBezTo>
                  <a:cubicBezTo>
                    <a:pt x="42843" y="49224"/>
                    <a:pt x="45284" y="47615"/>
                    <a:pt x="45284" y="44396"/>
                  </a:cubicBezTo>
                  <a:lnTo>
                    <a:pt x="45284" y="22642"/>
                  </a:lnTo>
                  <a:cubicBezTo>
                    <a:pt x="45284" y="10211"/>
                    <a:pt x="35073" y="0"/>
                    <a:pt x="22642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5"/>
            <p:cNvSpPr/>
            <p:nvPr/>
          </p:nvSpPr>
          <p:spPr>
            <a:xfrm>
              <a:off x="2794425" y="2291425"/>
              <a:ext cx="1842475" cy="1454000"/>
            </a:xfrm>
            <a:custGeom>
              <a:rect b="b" l="l" r="r" t="t"/>
              <a:pathLst>
                <a:path extrusionOk="0" h="58160" w="73699">
                  <a:moveTo>
                    <a:pt x="9324" y="1"/>
                  </a:moveTo>
                  <a:cubicBezTo>
                    <a:pt x="4218" y="1"/>
                    <a:pt x="0" y="3997"/>
                    <a:pt x="0" y="9324"/>
                  </a:cubicBezTo>
                  <a:lnTo>
                    <a:pt x="0" y="48837"/>
                  </a:lnTo>
                  <a:cubicBezTo>
                    <a:pt x="0" y="53942"/>
                    <a:pt x="4218" y="58160"/>
                    <a:pt x="9324" y="58160"/>
                  </a:cubicBezTo>
                  <a:lnTo>
                    <a:pt x="64375" y="58160"/>
                  </a:lnTo>
                  <a:cubicBezTo>
                    <a:pt x="69481" y="58160"/>
                    <a:pt x="73698" y="53942"/>
                    <a:pt x="73698" y="48837"/>
                  </a:cubicBezTo>
                  <a:lnTo>
                    <a:pt x="73698" y="9324"/>
                  </a:lnTo>
                  <a:cubicBezTo>
                    <a:pt x="73698" y="3997"/>
                    <a:pt x="69481" y="1"/>
                    <a:pt x="64375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5"/>
            <p:cNvSpPr/>
            <p:nvPr/>
          </p:nvSpPr>
          <p:spPr>
            <a:xfrm>
              <a:off x="3449275" y="2702100"/>
              <a:ext cx="532775" cy="634050"/>
            </a:xfrm>
            <a:custGeom>
              <a:rect b="b" l="l" r="r" t="t"/>
              <a:pathLst>
                <a:path extrusionOk="0" h="25362" w="21311">
                  <a:moveTo>
                    <a:pt x="10655" y="1"/>
                  </a:moveTo>
                  <a:cubicBezTo>
                    <a:pt x="2664" y="1"/>
                    <a:pt x="0" y="10656"/>
                    <a:pt x="6882" y="14429"/>
                  </a:cubicBezTo>
                  <a:lnTo>
                    <a:pt x="6882" y="21533"/>
                  </a:lnTo>
                  <a:cubicBezTo>
                    <a:pt x="6882" y="24085"/>
                    <a:pt x="8768" y="25362"/>
                    <a:pt x="10655" y="25362"/>
                  </a:cubicBezTo>
                  <a:cubicBezTo>
                    <a:pt x="12542" y="25362"/>
                    <a:pt x="14429" y="24085"/>
                    <a:pt x="14429" y="21533"/>
                  </a:cubicBezTo>
                  <a:lnTo>
                    <a:pt x="14429" y="14429"/>
                  </a:lnTo>
                  <a:cubicBezTo>
                    <a:pt x="21310" y="10656"/>
                    <a:pt x="18647" y="1"/>
                    <a:pt x="10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9" name="Google Shape;689;p75"/>
          <p:cNvSpPr txBox="1"/>
          <p:nvPr/>
        </p:nvSpPr>
        <p:spPr>
          <a:xfrm>
            <a:off x="681574" y="3368200"/>
            <a:ext cx="214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Company 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alaries</a:t>
            </a:r>
            <a:endParaRPr b="0" i="0" sz="18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Confidential</a:t>
            </a:r>
            <a:endParaRPr b="0" i="0" sz="1800" u="none" cap="none" strike="noStrike">
              <a:solidFill>
                <a:srgbClr val="FF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Lesson</a:t>
            </a:r>
            <a:endParaRPr/>
          </a:p>
        </p:txBody>
      </p:sp>
      <p:sp>
        <p:nvSpPr>
          <p:cNvPr id="695" name="Google Shape;695;p76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cover three attacks that exist within back-end component vulnerabilities: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6" name="Google Shape;696;p76"/>
          <p:cNvGrpSpPr/>
          <p:nvPr/>
        </p:nvGrpSpPr>
        <p:grpSpPr>
          <a:xfrm>
            <a:off x="6257774" y="1133250"/>
            <a:ext cx="2429026" cy="3435366"/>
            <a:chOff x="6257774" y="1133250"/>
            <a:chExt cx="2429026" cy="3435366"/>
          </a:xfrm>
        </p:grpSpPr>
        <p:sp>
          <p:nvSpPr>
            <p:cNvPr id="697" name="Google Shape;697;p76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6"/>
            <p:cNvSpPr/>
            <p:nvPr/>
          </p:nvSpPr>
          <p:spPr>
            <a:xfrm>
              <a:off x="6257774" y="1133250"/>
              <a:ext cx="2427300" cy="476700"/>
            </a:xfrm>
            <a:prstGeom prst="roundRect">
              <a:avLst>
                <a:gd fmla="val 13342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Finally</a:t>
              </a:r>
              <a:endParaRPr sz="1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699" name="Google Shape;699;p76"/>
          <p:cNvGrpSpPr/>
          <p:nvPr/>
        </p:nvGrpSpPr>
        <p:grpSpPr>
          <a:xfrm>
            <a:off x="457200" y="1133250"/>
            <a:ext cx="2439025" cy="3434400"/>
            <a:chOff x="457200" y="1133250"/>
            <a:chExt cx="2439025" cy="3434400"/>
          </a:xfrm>
        </p:grpSpPr>
        <p:sp>
          <p:nvSpPr>
            <p:cNvPr id="700" name="Google Shape;700;p76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1" name="Google Shape;701;p76"/>
            <p:cNvSpPr/>
            <p:nvPr/>
          </p:nvSpPr>
          <p:spPr>
            <a:xfrm>
              <a:off x="457200" y="1133250"/>
              <a:ext cx="2438400" cy="476700"/>
            </a:xfrm>
            <a:prstGeom prst="roundRect">
              <a:avLst>
                <a:gd fmla="val 13342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First</a:t>
              </a:r>
              <a:endParaRPr sz="1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702" name="Google Shape;702;p76"/>
          <p:cNvGrpSpPr/>
          <p:nvPr/>
        </p:nvGrpSpPr>
        <p:grpSpPr>
          <a:xfrm>
            <a:off x="3359412" y="1133249"/>
            <a:ext cx="2435176" cy="3434400"/>
            <a:chOff x="3399112" y="1133249"/>
            <a:chExt cx="2435176" cy="3434400"/>
          </a:xfrm>
        </p:grpSpPr>
        <p:sp>
          <p:nvSpPr>
            <p:cNvPr id="703" name="Google Shape;703;p76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4" name="Google Shape;704;p76"/>
            <p:cNvSpPr/>
            <p:nvPr/>
          </p:nvSpPr>
          <p:spPr>
            <a:xfrm>
              <a:off x="3399112" y="1133250"/>
              <a:ext cx="2427300" cy="4767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 Medium"/>
                  <a:ea typeface="Roboto Medium"/>
                  <a:cs typeface="Roboto Medium"/>
                  <a:sym typeface="Roboto Medium"/>
                </a:rPr>
                <a:t>Next</a:t>
              </a:r>
              <a:endParaRPr sz="18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705" name="Google Shape;705;p76"/>
          <p:cNvSpPr txBox="1"/>
          <p:nvPr/>
        </p:nvSpPr>
        <p:spPr>
          <a:xfrm>
            <a:off x="6283550" y="18310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will demonstrate another file inclusion attack, called a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remote file inclusion attack</a:t>
            </a:r>
            <a:r>
              <a:rPr i="0" lang="en" sz="1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</a:t>
            </a:r>
            <a:endParaRPr i="0" sz="14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which an attacker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can reference remote malicious scripts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through the URL.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76"/>
          <p:cNvSpPr txBox="1"/>
          <p:nvPr/>
        </p:nvSpPr>
        <p:spPr>
          <a:xfrm>
            <a:off x="494250" y="18302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will begin by demonstrating how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attacker can use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directory traversal attack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access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organization’s confidential data.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76"/>
          <p:cNvSpPr txBox="1"/>
          <p:nvPr/>
        </p:nvSpPr>
        <p:spPr>
          <a:xfrm>
            <a:off x="3382856" y="18302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will learn how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attacker can use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common web application file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upload functionality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conduct a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local </a:t>
            </a:r>
            <a:b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file inclusion attack</a:t>
            </a: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3" name="Google Shape;713;p77"/>
          <p:cNvSpPr/>
          <p:nvPr/>
        </p:nvSpPr>
        <p:spPr>
          <a:xfrm>
            <a:off x="952550" y="1097075"/>
            <a:ext cx="7239000" cy="2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4" name="Google Shape;714;p77"/>
          <p:cNvGraphicFramePr/>
          <p:nvPr/>
        </p:nvGraphicFramePr>
        <p:xfrm>
          <a:off x="952538" y="92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{46A04196-913F-418A-BF23-8549AA4576D4}</a:tableStyleId>
              </a:tblPr>
              <a:tblGrid>
                <a:gridCol w="7239000"/>
              </a:tblGrid>
              <a:tr h="62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" sz="2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⚠️</a:t>
                      </a: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</a:t>
                      </a: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 </a:t>
                      </a:r>
                      <a:r>
                        <a:rPr lang="en" sz="2300" u="none" cap="none" strike="noStrike">
                          <a:solidFill>
                            <a:schemeClr val="dk2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Important</a:t>
                      </a: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 </a:t>
                      </a: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</a:t>
                      </a:r>
                      <a:r>
                        <a:rPr lang="en" sz="2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⚠️ </a:t>
                      </a:r>
                      <a:endParaRPr sz="2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86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techniques we will learn throughout this unit can be used </a:t>
                      </a:r>
                      <a:br>
                        <a:rPr b="1"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 cause serious damage to an organization’s systems. </a:t>
                      </a:r>
                      <a:endParaRPr b="1"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27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77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E77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This is </a:t>
                      </a:r>
                      <a:r>
                        <a:rPr b="1"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ILLEGAL</a:t>
                      </a: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when done without permission. All of the labs that we provide are safe locations to test the methods and tools taught during the week.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27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77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E77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NEVER</a:t>
                      </a: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apply any of these methods to any web applications that you do not own or do not have clear, written permission to be interacting with.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27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8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n" sz="4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Directory </a:t>
            </a:r>
            <a:r>
              <a:rPr b="1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Traversal</a:t>
            </a:r>
            <a:endParaRPr b="1" i="0" sz="4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0" name="Google Shape;72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475" y="1533313"/>
            <a:ext cx="1463075" cy="1154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9"/>
          <p:cNvSpPr txBox="1"/>
          <p:nvPr>
            <p:ph idx="4294967295" type="subTitle"/>
          </p:nvPr>
        </p:nvSpPr>
        <p:spPr>
          <a:xfrm>
            <a:off x="-1" y="1006273"/>
            <a:ext cx="9526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800" spcFirstLastPara="1" rIns="1828800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b="1" i="0" lang="en" sz="2900" cap="none" strike="noStrike">
                <a:latin typeface="Roboto"/>
                <a:ea typeface="Roboto"/>
                <a:cs typeface="Roboto"/>
                <a:sym typeface="Roboto"/>
              </a:rPr>
              <a:t>Directory traversal</a:t>
            </a:r>
            <a:r>
              <a:rPr b="0" i="0" lang="en" sz="2900" cap="none" strike="noStrike"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i="0" lang="en" sz="2900" cap="none" strike="noStrike"/>
              <a:t>also known </a:t>
            </a:r>
            <a:br>
              <a:rPr i="0" lang="en" sz="2900" cap="none" strike="noStrike"/>
            </a:br>
            <a:r>
              <a:rPr i="0" lang="en" sz="2900" cap="none" strike="noStrike"/>
              <a:t>as path traversal, occurs when </a:t>
            </a:r>
            <a:br>
              <a:rPr i="0" lang="en" sz="2900" cap="none" strike="noStrike"/>
            </a:br>
            <a:r>
              <a:rPr i="0" lang="en" sz="2900" cap="none" strike="noStrike"/>
              <a:t>an attacker accesses files and directories from a web application outside a user’s authorized permissions.</a:t>
            </a:r>
            <a:endParaRPr i="0" sz="2900" cap="none" strike="noStrik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80"/>
          <p:cNvSpPr/>
          <p:nvPr/>
        </p:nvSpPr>
        <p:spPr>
          <a:xfrm>
            <a:off x="0" y="3149425"/>
            <a:ext cx="4282200" cy="135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14630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Directory traversal primarily falls under the OWASP Top 10 risk category </a:t>
            </a:r>
            <a:r>
              <a:rPr b="1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broken access control</a:t>
            </a: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1" name="Google Shape;731;p80"/>
          <p:cNvPicPr preferRelativeResize="0"/>
          <p:nvPr/>
        </p:nvPicPr>
        <p:blipFill rotWithShape="1">
          <a:blip r:embed="rId3">
            <a:alphaModFix/>
          </a:blip>
          <a:srcRect b="19057" l="1686" r="70320" t="4775"/>
          <a:stretch/>
        </p:blipFill>
        <p:spPr>
          <a:xfrm>
            <a:off x="330550" y="3352800"/>
            <a:ext cx="963000" cy="952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2" name="Google Shape;732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2225" y="962275"/>
            <a:ext cx="4587448" cy="3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80"/>
          <p:cNvSpPr txBox="1"/>
          <p:nvPr/>
        </p:nvSpPr>
        <p:spPr>
          <a:xfrm>
            <a:off x="76200" y="512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Directory Traversal 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80"/>
          <p:cNvSpPr txBox="1"/>
          <p:nvPr/>
        </p:nvSpPr>
        <p:spPr>
          <a:xfrm>
            <a:off x="76200" y="599775"/>
            <a:ext cx="4448400" cy="22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Using this attack, a malicious actor could access confidential business documents, source code, or critical system files that exist within an organization’s private server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directly from a web application.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81"/>
          <p:cNvSpPr txBox="1"/>
          <p:nvPr/>
        </p:nvSpPr>
        <p:spPr>
          <a:xfrm>
            <a:off x="76200" y="512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OWASP Top 10: </a:t>
            </a: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Broken Access Control</a:t>
            </a:r>
            <a:endParaRPr b="1" i="1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740" name="Google Shape;740;p81"/>
          <p:cNvGrpSpPr/>
          <p:nvPr/>
        </p:nvGrpSpPr>
        <p:grpSpPr>
          <a:xfrm>
            <a:off x="440125" y="1147800"/>
            <a:ext cx="776900" cy="486300"/>
            <a:chOff x="457200" y="1466425"/>
            <a:chExt cx="776900" cy="486300"/>
          </a:xfrm>
        </p:grpSpPr>
        <p:sp>
          <p:nvSpPr>
            <p:cNvPr id="741" name="Google Shape;741;p8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17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AO1</a:t>
              </a:r>
              <a:endParaRPr b="1" i="0" sz="17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2" name="Google Shape;742;p8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43" name="Google Shape;743;p81"/>
          <p:cNvSpPr/>
          <p:nvPr/>
        </p:nvSpPr>
        <p:spPr>
          <a:xfrm>
            <a:off x="1335475" y="114780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Broken Access Control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44" name="Google Shape;744;p81"/>
          <p:cNvGrpSpPr/>
          <p:nvPr/>
        </p:nvGrpSpPr>
        <p:grpSpPr>
          <a:xfrm>
            <a:off x="4813200" y="1147800"/>
            <a:ext cx="776900" cy="486300"/>
            <a:chOff x="457200" y="1466425"/>
            <a:chExt cx="776900" cy="486300"/>
          </a:xfrm>
        </p:grpSpPr>
        <p:sp>
          <p:nvSpPr>
            <p:cNvPr id="745" name="Google Shape;745;p8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AO6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46" name="Google Shape;746;p8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47" name="Google Shape;747;p81"/>
          <p:cNvSpPr/>
          <p:nvPr/>
        </p:nvSpPr>
        <p:spPr>
          <a:xfrm>
            <a:off x="5708550" y="1147800"/>
            <a:ext cx="33105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Vulnerable and Outdated Components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81"/>
          <p:cNvSpPr/>
          <p:nvPr/>
        </p:nvSpPr>
        <p:spPr>
          <a:xfrm>
            <a:off x="440125" y="1802650"/>
            <a:ext cx="695400" cy="486300"/>
          </a:xfrm>
          <a:prstGeom prst="roundRect">
            <a:avLst>
              <a:gd fmla="val 16667" name="adj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AO2</a:t>
            </a:r>
            <a:endParaRPr b="0" i="0" sz="30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49" name="Google Shape;749;p81"/>
          <p:cNvSpPr/>
          <p:nvPr/>
        </p:nvSpPr>
        <p:spPr>
          <a:xfrm>
            <a:off x="1335475" y="180265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Cryptographic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50" name="Google Shape;750;p81"/>
          <p:cNvGrpSpPr/>
          <p:nvPr/>
        </p:nvGrpSpPr>
        <p:grpSpPr>
          <a:xfrm>
            <a:off x="4813200" y="1802655"/>
            <a:ext cx="776900" cy="486300"/>
            <a:chOff x="457200" y="1466425"/>
            <a:chExt cx="776900" cy="486300"/>
          </a:xfrm>
        </p:grpSpPr>
        <p:sp>
          <p:nvSpPr>
            <p:cNvPr id="751" name="Google Shape;751;p8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AO7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52" name="Google Shape;752;p8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53" name="Google Shape;753;p81"/>
          <p:cNvSpPr/>
          <p:nvPr/>
        </p:nvSpPr>
        <p:spPr>
          <a:xfrm>
            <a:off x="5708550" y="180265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Identification and Authentication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54" name="Google Shape;754;p81"/>
          <p:cNvGrpSpPr/>
          <p:nvPr/>
        </p:nvGrpSpPr>
        <p:grpSpPr>
          <a:xfrm>
            <a:off x="440125" y="2457510"/>
            <a:ext cx="776900" cy="486300"/>
            <a:chOff x="457200" y="1466425"/>
            <a:chExt cx="776900" cy="486300"/>
          </a:xfrm>
        </p:grpSpPr>
        <p:sp>
          <p:nvSpPr>
            <p:cNvPr id="755" name="Google Shape;755;p8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56" name="Google Shape;756;p8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57" name="Google Shape;757;p81"/>
          <p:cNvSpPr/>
          <p:nvPr/>
        </p:nvSpPr>
        <p:spPr>
          <a:xfrm rot="5400000">
            <a:off x="956025" y="1951480"/>
            <a:ext cx="333375" cy="188625"/>
          </a:xfrm>
          <a:prstGeom prst="flowChartExtract">
            <a:avLst/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58" name="Google Shape;758;p81"/>
          <p:cNvSpPr/>
          <p:nvPr/>
        </p:nvSpPr>
        <p:spPr>
          <a:xfrm>
            <a:off x="1335475" y="245751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Injection</a:t>
            </a:r>
            <a:endParaRPr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59" name="Google Shape;759;p81"/>
          <p:cNvGrpSpPr/>
          <p:nvPr/>
        </p:nvGrpSpPr>
        <p:grpSpPr>
          <a:xfrm>
            <a:off x="4813200" y="2457510"/>
            <a:ext cx="776900" cy="486300"/>
            <a:chOff x="457200" y="1466425"/>
            <a:chExt cx="776900" cy="486300"/>
          </a:xfrm>
        </p:grpSpPr>
        <p:sp>
          <p:nvSpPr>
            <p:cNvPr id="760" name="Google Shape;760;p8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AO8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61" name="Google Shape;761;p8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62" name="Google Shape;762;p81"/>
          <p:cNvSpPr/>
          <p:nvPr/>
        </p:nvSpPr>
        <p:spPr>
          <a:xfrm>
            <a:off x="5708550" y="245751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Software and Data Integrity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63" name="Google Shape;763;p81"/>
          <p:cNvGrpSpPr/>
          <p:nvPr/>
        </p:nvGrpSpPr>
        <p:grpSpPr>
          <a:xfrm>
            <a:off x="440125" y="3112365"/>
            <a:ext cx="776900" cy="486300"/>
            <a:chOff x="457200" y="1466425"/>
            <a:chExt cx="776900" cy="486300"/>
          </a:xfrm>
        </p:grpSpPr>
        <p:sp>
          <p:nvSpPr>
            <p:cNvPr id="764" name="Google Shape;764;p8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65" name="Google Shape;765;p8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66" name="Google Shape;766;p81"/>
          <p:cNvSpPr/>
          <p:nvPr/>
        </p:nvSpPr>
        <p:spPr>
          <a:xfrm>
            <a:off x="1335475" y="311236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Insecure Design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67" name="Google Shape;767;p81"/>
          <p:cNvGrpSpPr/>
          <p:nvPr/>
        </p:nvGrpSpPr>
        <p:grpSpPr>
          <a:xfrm>
            <a:off x="440125" y="3767220"/>
            <a:ext cx="776900" cy="486300"/>
            <a:chOff x="457200" y="1466425"/>
            <a:chExt cx="776900" cy="486300"/>
          </a:xfrm>
        </p:grpSpPr>
        <p:sp>
          <p:nvSpPr>
            <p:cNvPr id="768" name="Google Shape;768;p8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69" name="Google Shape;769;p8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70" name="Google Shape;770;p81"/>
          <p:cNvGrpSpPr/>
          <p:nvPr/>
        </p:nvGrpSpPr>
        <p:grpSpPr>
          <a:xfrm>
            <a:off x="4813200" y="3112365"/>
            <a:ext cx="776900" cy="486300"/>
            <a:chOff x="457200" y="1466425"/>
            <a:chExt cx="776900" cy="486300"/>
          </a:xfrm>
        </p:grpSpPr>
        <p:sp>
          <p:nvSpPr>
            <p:cNvPr id="771" name="Google Shape;771;p8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AO9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72" name="Google Shape;772;p8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73" name="Google Shape;773;p81"/>
          <p:cNvGrpSpPr/>
          <p:nvPr/>
        </p:nvGrpSpPr>
        <p:grpSpPr>
          <a:xfrm>
            <a:off x="4813200" y="3767220"/>
            <a:ext cx="776900" cy="486300"/>
            <a:chOff x="457200" y="1466425"/>
            <a:chExt cx="776900" cy="486300"/>
          </a:xfrm>
        </p:grpSpPr>
        <p:sp>
          <p:nvSpPr>
            <p:cNvPr id="774" name="Google Shape;774;p8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A10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75" name="Google Shape;775;p8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76" name="Google Shape;776;p81"/>
          <p:cNvSpPr/>
          <p:nvPr/>
        </p:nvSpPr>
        <p:spPr>
          <a:xfrm>
            <a:off x="1335475" y="376722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Security Misconfiguration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81"/>
          <p:cNvSpPr/>
          <p:nvPr/>
        </p:nvSpPr>
        <p:spPr>
          <a:xfrm>
            <a:off x="5708550" y="311236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Security Logging and Monitoring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81"/>
          <p:cNvSpPr/>
          <p:nvPr/>
        </p:nvSpPr>
        <p:spPr>
          <a:xfrm>
            <a:off x="5708550" y="376722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Server-Side Request Forgery (SSRF)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81"/>
          <p:cNvSpPr/>
          <p:nvPr/>
        </p:nvSpPr>
        <p:spPr>
          <a:xfrm>
            <a:off x="4813200" y="2374250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81"/>
          <p:cNvSpPr/>
          <p:nvPr/>
        </p:nvSpPr>
        <p:spPr>
          <a:xfrm>
            <a:off x="311200" y="3112375"/>
            <a:ext cx="8578800" cy="11556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81"/>
          <p:cNvSpPr/>
          <p:nvPr/>
        </p:nvSpPr>
        <p:spPr>
          <a:xfrm>
            <a:off x="404400" y="2374250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81"/>
          <p:cNvSpPr/>
          <p:nvPr/>
        </p:nvSpPr>
        <p:spPr>
          <a:xfrm>
            <a:off x="4778875" y="1147800"/>
            <a:ext cx="4167600" cy="11556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81"/>
          <p:cNvSpPr/>
          <p:nvPr/>
        </p:nvSpPr>
        <p:spPr>
          <a:xfrm>
            <a:off x="440125" y="1780100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81"/>
          <p:cNvSpPr txBox="1"/>
          <p:nvPr/>
        </p:nvSpPr>
        <p:spPr>
          <a:xfrm>
            <a:off x="404400" y="46972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lang="en" sz="13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owasp.org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9" name="Google Shape;789;p82"/>
          <p:cNvGrpSpPr/>
          <p:nvPr/>
        </p:nvGrpSpPr>
        <p:grpSpPr>
          <a:xfrm>
            <a:off x="474795" y="1336048"/>
            <a:ext cx="2443353" cy="2443353"/>
            <a:chOff x="1190625" y="238125"/>
            <a:chExt cx="5238750" cy="5238750"/>
          </a:xfrm>
        </p:grpSpPr>
        <p:sp>
          <p:nvSpPr>
            <p:cNvPr id="790" name="Google Shape;790;p82"/>
            <p:cNvSpPr/>
            <p:nvPr/>
          </p:nvSpPr>
          <p:spPr>
            <a:xfrm>
              <a:off x="1190625" y="238125"/>
              <a:ext cx="5238750" cy="5238750"/>
            </a:xfrm>
            <a:custGeom>
              <a:rect b="b" l="l" r="r" t="t"/>
              <a:pathLst>
                <a:path extrusionOk="0" h="209550" w="209550">
                  <a:moveTo>
                    <a:pt x="104775" y="0"/>
                  </a:moveTo>
                  <a:lnTo>
                    <a:pt x="99472" y="129"/>
                  </a:lnTo>
                  <a:lnTo>
                    <a:pt x="94039" y="517"/>
                  </a:lnTo>
                  <a:lnTo>
                    <a:pt x="88865" y="1164"/>
                  </a:lnTo>
                  <a:lnTo>
                    <a:pt x="83691" y="2070"/>
                  </a:lnTo>
                  <a:lnTo>
                    <a:pt x="78646" y="3234"/>
                  </a:lnTo>
                  <a:lnTo>
                    <a:pt x="73601" y="4657"/>
                  </a:lnTo>
                  <a:lnTo>
                    <a:pt x="68815" y="6338"/>
                  </a:lnTo>
                  <a:lnTo>
                    <a:pt x="64029" y="8279"/>
                  </a:lnTo>
                  <a:lnTo>
                    <a:pt x="59373" y="10348"/>
                  </a:lnTo>
                  <a:lnTo>
                    <a:pt x="54845" y="12676"/>
                  </a:lnTo>
                  <a:lnTo>
                    <a:pt x="50447" y="15134"/>
                  </a:lnTo>
                  <a:lnTo>
                    <a:pt x="46179" y="17851"/>
                  </a:lnTo>
                  <a:lnTo>
                    <a:pt x="42169" y="20826"/>
                  </a:lnTo>
                  <a:lnTo>
                    <a:pt x="38159" y="23930"/>
                  </a:lnTo>
                  <a:lnTo>
                    <a:pt x="34408" y="27164"/>
                  </a:lnTo>
                  <a:lnTo>
                    <a:pt x="30656" y="30656"/>
                  </a:lnTo>
                  <a:lnTo>
                    <a:pt x="27293" y="34278"/>
                  </a:lnTo>
                  <a:lnTo>
                    <a:pt x="23930" y="38159"/>
                  </a:lnTo>
                  <a:lnTo>
                    <a:pt x="20826" y="42039"/>
                  </a:lnTo>
                  <a:lnTo>
                    <a:pt x="17980" y="46179"/>
                  </a:lnTo>
                  <a:lnTo>
                    <a:pt x="15264" y="50447"/>
                  </a:lnTo>
                  <a:lnTo>
                    <a:pt x="12676" y="54845"/>
                  </a:lnTo>
                  <a:lnTo>
                    <a:pt x="10348" y="59373"/>
                  </a:lnTo>
                  <a:lnTo>
                    <a:pt x="8279" y="64029"/>
                  </a:lnTo>
                  <a:lnTo>
                    <a:pt x="6338" y="68686"/>
                  </a:lnTo>
                  <a:lnTo>
                    <a:pt x="4786" y="73601"/>
                  </a:lnTo>
                  <a:lnTo>
                    <a:pt x="3363" y="78517"/>
                  </a:lnTo>
                  <a:lnTo>
                    <a:pt x="2199" y="83691"/>
                  </a:lnTo>
                  <a:lnTo>
                    <a:pt x="1294" y="88865"/>
                  </a:lnTo>
                  <a:lnTo>
                    <a:pt x="517" y="94039"/>
                  </a:lnTo>
                  <a:lnTo>
                    <a:pt x="129" y="99342"/>
                  </a:lnTo>
                  <a:lnTo>
                    <a:pt x="0" y="104775"/>
                  </a:lnTo>
                  <a:lnTo>
                    <a:pt x="129" y="110208"/>
                  </a:lnTo>
                  <a:lnTo>
                    <a:pt x="517" y="115511"/>
                  </a:lnTo>
                  <a:lnTo>
                    <a:pt x="1294" y="120685"/>
                  </a:lnTo>
                  <a:lnTo>
                    <a:pt x="2199" y="125859"/>
                  </a:lnTo>
                  <a:lnTo>
                    <a:pt x="3363" y="130904"/>
                  </a:lnTo>
                  <a:lnTo>
                    <a:pt x="4786" y="135949"/>
                  </a:lnTo>
                  <a:lnTo>
                    <a:pt x="6338" y="140735"/>
                  </a:lnTo>
                  <a:lnTo>
                    <a:pt x="8279" y="145521"/>
                  </a:lnTo>
                  <a:lnTo>
                    <a:pt x="10348" y="150178"/>
                  </a:lnTo>
                  <a:lnTo>
                    <a:pt x="12676" y="154705"/>
                  </a:lnTo>
                  <a:lnTo>
                    <a:pt x="15264" y="159103"/>
                  </a:lnTo>
                  <a:lnTo>
                    <a:pt x="17980" y="163371"/>
                  </a:lnTo>
                  <a:lnTo>
                    <a:pt x="20826" y="167511"/>
                  </a:lnTo>
                  <a:lnTo>
                    <a:pt x="23930" y="171391"/>
                  </a:lnTo>
                  <a:lnTo>
                    <a:pt x="27293" y="175272"/>
                  </a:lnTo>
                  <a:lnTo>
                    <a:pt x="30656" y="178894"/>
                  </a:lnTo>
                  <a:lnTo>
                    <a:pt x="34408" y="182257"/>
                  </a:lnTo>
                  <a:lnTo>
                    <a:pt x="38159" y="185620"/>
                  </a:lnTo>
                  <a:lnTo>
                    <a:pt x="42169" y="188724"/>
                  </a:lnTo>
                  <a:lnTo>
                    <a:pt x="46179" y="191699"/>
                  </a:lnTo>
                  <a:lnTo>
                    <a:pt x="50447" y="194416"/>
                  </a:lnTo>
                  <a:lnTo>
                    <a:pt x="54845" y="196874"/>
                  </a:lnTo>
                  <a:lnTo>
                    <a:pt x="59373" y="199202"/>
                  </a:lnTo>
                  <a:lnTo>
                    <a:pt x="64029" y="201271"/>
                  </a:lnTo>
                  <a:lnTo>
                    <a:pt x="68815" y="203212"/>
                  </a:lnTo>
                  <a:lnTo>
                    <a:pt x="73601" y="204764"/>
                  </a:lnTo>
                  <a:lnTo>
                    <a:pt x="78646" y="206187"/>
                  </a:lnTo>
                  <a:lnTo>
                    <a:pt x="83691" y="207351"/>
                  </a:lnTo>
                  <a:lnTo>
                    <a:pt x="88865" y="208386"/>
                  </a:lnTo>
                  <a:lnTo>
                    <a:pt x="94039" y="209033"/>
                  </a:lnTo>
                  <a:lnTo>
                    <a:pt x="99472" y="209421"/>
                  </a:lnTo>
                  <a:lnTo>
                    <a:pt x="104775" y="209550"/>
                  </a:lnTo>
                  <a:lnTo>
                    <a:pt x="110208" y="209421"/>
                  </a:lnTo>
                  <a:lnTo>
                    <a:pt x="115511" y="209033"/>
                  </a:lnTo>
                  <a:lnTo>
                    <a:pt x="120815" y="208386"/>
                  </a:lnTo>
                  <a:lnTo>
                    <a:pt x="125859" y="207351"/>
                  </a:lnTo>
                  <a:lnTo>
                    <a:pt x="131033" y="206187"/>
                  </a:lnTo>
                  <a:lnTo>
                    <a:pt x="135949" y="204764"/>
                  </a:lnTo>
                  <a:lnTo>
                    <a:pt x="140864" y="203212"/>
                  </a:lnTo>
                  <a:lnTo>
                    <a:pt x="145650" y="201271"/>
                  </a:lnTo>
                  <a:lnTo>
                    <a:pt x="150178" y="199202"/>
                  </a:lnTo>
                  <a:lnTo>
                    <a:pt x="154705" y="196874"/>
                  </a:lnTo>
                  <a:lnTo>
                    <a:pt x="159103" y="194416"/>
                  </a:lnTo>
                  <a:lnTo>
                    <a:pt x="163371" y="191699"/>
                  </a:lnTo>
                  <a:lnTo>
                    <a:pt x="167511" y="188724"/>
                  </a:lnTo>
                  <a:lnTo>
                    <a:pt x="171391" y="185620"/>
                  </a:lnTo>
                  <a:lnTo>
                    <a:pt x="175272" y="182257"/>
                  </a:lnTo>
                  <a:lnTo>
                    <a:pt x="178894" y="178894"/>
                  </a:lnTo>
                  <a:lnTo>
                    <a:pt x="182386" y="175272"/>
                  </a:lnTo>
                  <a:lnTo>
                    <a:pt x="185620" y="171391"/>
                  </a:lnTo>
                  <a:lnTo>
                    <a:pt x="188724" y="167511"/>
                  </a:lnTo>
                  <a:lnTo>
                    <a:pt x="191699" y="163371"/>
                  </a:lnTo>
                  <a:lnTo>
                    <a:pt x="194416" y="159103"/>
                  </a:lnTo>
                  <a:lnTo>
                    <a:pt x="196874" y="154705"/>
                  </a:lnTo>
                  <a:lnTo>
                    <a:pt x="199202" y="150178"/>
                  </a:lnTo>
                  <a:lnTo>
                    <a:pt x="201401" y="145521"/>
                  </a:lnTo>
                  <a:lnTo>
                    <a:pt x="203212" y="140735"/>
                  </a:lnTo>
                  <a:lnTo>
                    <a:pt x="204893" y="135949"/>
                  </a:lnTo>
                  <a:lnTo>
                    <a:pt x="206316" y="130904"/>
                  </a:lnTo>
                  <a:lnTo>
                    <a:pt x="207480" y="125859"/>
                  </a:lnTo>
                  <a:lnTo>
                    <a:pt x="208386" y="120685"/>
                  </a:lnTo>
                  <a:lnTo>
                    <a:pt x="209033" y="115511"/>
                  </a:lnTo>
                  <a:lnTo>
                    <a:pt x="209421" y="110208"/>
                  </a:lnTo>
                  <a:lnTo>
                    <a:pt x="209550" y="104775"/>
                  </a:lnTo>
                  <a:lnTo>
                    <a:pt x="209421" y="99342"/>
                  </a:lnTo>
                  <a:lnTo>
                    <a:pt x="209033" y="94039"/>
                  </a:lnTo>
                  <a:lnTo>
                    <a:pt x="208386" y="88865"/>
                  </a:lnTo>
                  <a:lnTo>
                    <a:pt x="207480" y="83691"/>
                  </a:lnTo>
                  <a:lnTo>
                    <a:pt x="206316" y="78517"/>
                  </a:lnTo>
                  <a:lnTo>
                    <a:pt x="204893" y="73601"/>
                  </a:lnTo>
                  <a:lnTo>
                    <a:pt x="203212" y="68686"/>
                  </a:lnTo>
                  <a:lnTo>
                    <a:pt x="201401" y="64029"/>
                  </a:lnTo>
                  <a:lnTo>
                    <a:pt x="199202" y="59373"/>
                  </a:lnTo>
                  <a:lnTo>
                    <a:pt x="196874" y="54845"/>
                  </a:lnTo>
                  <a:lnTo>
                    <a:pt x="194416" y="50447"/>
                  </a:lnTo>
                  <a:lnTo>
                    <a:pt x="191699" y="46179"/>
                  </a:lnTo>
                  <a:lnTo>
                    <a:pt x="188724" y="42039"/>
                  </a:lnTo>
                  <a:lnTo>
                    <a:pt x="185620" y="38159"/>
                  </a:lnTo>
                  <a:lnTo>
                    <a:pt x="182386" y="34278"/>
                  </a:lnTo>
                  <a:lnTo>
                    <a:pt x="178894" y="30656"/>
                  </a:lnTo>
                  <a:lnTo>
                    <a:pt x="175272" y="27164"/>
                  </a:lnTo>
                  <a:lnTo>
                    <a:pt x="171391" y="23930"/>
                  </a:lnTo>
                  <a:lnTo>
                    <a:pt x="167511" y="20826"/>
                  </a:lnTo>
                  <a:lnTo>
                    <a:pt x="163371" y="17851"/>
                  </a:lnTo>
                  <a:lnTo>
                    <a:pt x="159103" y="15134"/>
                  </a:lnTo>
                  <a:lnTo>
                    <a:pt x="154705" y="12676"/>
                  </a:lnTo>
                  <a:lnTo>
                    <a:pt x="150178" y="10348"/>
                  </a:lnTo>
                  <a:lnTo>
                    <a:pt x="145650" y="8279"/>
                  </a:lnTo>
                  <a:lnTo>
                    <a:pt x="140864" y="6338"/>
                  </a:lnTo>
                  <a:lnTo>
                    <a:pt x="135949" y="4657"/>
                  </a:lnTo>
                  <a:lnTo>
                    <a:pt x="131033" y="3234"/>
                  </a:lnTo>
                  <a:lnTo>
                    <a:pt x="125859" y="2070"/>
                  </a:lnTo>
                  <a:lnTo>
                    <a:pt x="120815" y="1164"/>
                  </a:lnTo>
                  <a:lnTo>
                    <a:pt x="115511" y="517"/>
                  </a:lnTo>
                  <a:lnTo>
                    <a:pt x="110208" y="129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82"/>
            <p:cNvSpPr/>
            <p:nvPr/>
          </p:nvSpPr>
          <p:spPr>
            <a:xfrm>
              <a:off x="2312750" y="1861475"/>
              <a:ext cx="1432575" cy="1992050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517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82"/>
            <p:cNvSpPr/>
            <p:nvPr/>
          </p:nvSpPr>
          <p:spPr>
            <a:xfrm>
              <a:off x="3877900" y="1861475"/>
              <a:ext cx="1429350" cy="1992050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517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3" name="Google Shape;793;p82"/>
          <p:cNvSpPr txBox="1"/>
          <p:nvPr/>
        </p:nvSpPr>
        <p:spPr>
          <a:xfrm>
            <a:off x="3176550" y="316425"/>
            <a:ext cx="49047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 OWASP, broken access control is explained as follows: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82"/>
          <p:cNvSpPr txBox="1"/>
          <p:nvPr/>
        </p:nvSpPr>
        <p:spPr>
          <a:xfrm>
            <a:off x="3135200" y="1110825"/>
            <a:ext cx="5499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Restrictions on what authenticated </a:t>
            </a:r>
            <a:br>
              <a:rPr i="0" lang="en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users are allowed to do are often not properly enforced. </a:t>
            </a:r>
            <a:endParaRPr i="0" sz="2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i="0" sz="2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Attackers can exploit these flaws to access unauthorized functionality </a:t>
            </a:r>
            <a:br>
              <a:rPr i="0" lang="en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and/or data, such as access other users’ accounts, view sensitive files, modify other users’ data, change access rights, etc.</a:t>
            </a: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i="0" sz="2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82"/>
          <p:cNvSpPr txBox="1"/>
          <p:nvPr/>
        </p:nvSpPr>
        <p:spPr>
          <a:xfrm>
            <a:off x="410225" y="46949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lang="en" sz="13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3"/>
              </a:rPr>
              <a:t>owasp.org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Directory Traversal</a:t>
            </a:r>
            <a:endParaRPr/>
          </a:p>
        </p:txBody>
      </p:sp>
      <p:sp>
        <p:nvSpPr>
          <p:cNvPr id="801" name="Google Shape;801;p83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first need to understand what happens behind the scenes as an application interacts with the file structure of a web application.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cover the following:</a:t>
            </a:r>
            <a:endParaRPr/>
          </a:p>
        </p:txBody>
      </p:sp>
      <p:grpSp>
        <p:nvGrpSpPr>
          <p:cNvPr id="802" name="Google Shape;802;p83"/>
          <p:cNvGrpSpPr/>
          <p:nvPr/>
        </p:nvGrpSpPr>
        <p:grpSpPr>
          <a:xfrm>
            <a:off x="457200" y="2595184"/>
            <a:ext cx="8229750" cy="623711"/>
            <a:chOff x="457200" y="2139175"/>
            <a:chExt cx="8229750" cy="623711"/>
          </a:xfrm>
        </p:grpSpPr>
        <p:grpSp>
          <p:nvGrpSpPr>
            <p:cNvPr id="803" name="Google Shape;803;p83"/>
            <p:cNvGrpSpPr/>
            <p:nvPr/>
          </p:nvGrpSpPr>
          <p:grpSpPr>
            <a:xfrm>
              <a:off x="457200" y="2139175"/>
              <a:ext cx="776889" cy="621300"/>
              <a:chOff x="457200" y="1378813"/>
              <a:chExt cx="776889" cy="621300"/>
            </a:xfrm>
          </p:grpSpPr>
          <p:sp>
            <p:nvSpPr>
              <p:cNvPr id="804" name="Google Shape;804;p83"/>
              <p:cNvSpPr/>
              <p:nvPr/>
            </p:nvSpPr>
            <p:spPr>
              <a:xfrm>
                <a:off x="457200" y="1378813"/>
                <a:ext cx="695400" cy="621300"/>
              </a:xfrm>
              <a:prstGeom prst="roundRect">
                <a:avLst>
                  <a:gd fmla="val 16667" name="adj"/>
                </a:avLst>
              </a:prstGeom>
              <a:solidFill>
                <a:srgbClr val="082D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en" sz="30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02</a:t>
                </a:r>
                <a:endParaRPr b="0" i="0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05" name="Google Shape;805;p83"/>
              <p:cNvSpPr/>
              <p:nvPr/>
            </p:nvSpPr>
            <p:spPr>
              <a:xfrm rot="5400000">
                <a:off x="969614" y="1607625"/>
                <a:ext cx="340325" cy="188625"/>
              </a:xfrm>
              <a:prstGeom prst="flowChartExtract">
                <a:avLst/>
              </a:prstGeom>
              <a:solidFill>
                <a:srgbClr val="082D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806" name="Google Shape;806;p83"/>
            <p:cNvSpPr/>
            <p:nvPr/>
          </p:nvSpPr>
          <p:spPr>
            <a:xfrm>
              <a:off x="1352550" y="2141586"/>
              <a:ext cx="7334400" cy="6213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7" name="Google Shape;807;p83"/>
          <p:cNvGrpSpPr/>
          <p:nvPr/>
        </p:nvGrpSpPr>
        <p:grpSpPr>
          <a:xfrm>
            <a:off x="457200" y="3357539"/>
            <a:ext cx="8229750" cy="621300"/>
            <a:chOff x="457200" y="3060500"/>
            <a:chExt cx="8229750" cy="621300"/>
          </a:xfrm>
        </p:grpSpPr>
        <p:grpSp>
          <p:nvGrpSpPr>
            <p:cNvPr id="808" name="Google Shape;808;p83"/>
            <p:cNvGrpSpPr/>
            <p:nvPr/>
          </p:nvGrpSpPr>
          <p:grpSpPr>
            <a:xfrm>
              <a:off x="457200" y="3060500"/>
              <a:ext cx="776889" cy="621300"/>
              <a:chOff x="457200" y="1378813"/>
              <a:chExt cx="776889" cy="621300"/>
            </a:xfrm>
          </p:grpSpPr>
          <p:sp>
            <p:nvSpPr>
              <p:cNvPr id="809" name="Google Shape;809;p83"/>
              <p:cNvSpPr/>
              <p:nvPr/>
            </p:nvSpPr>
            <p:spPr>
              <a:xfrm>
                <a:off x="457200" y="1378813"/>
                <a:ext cx="695400" cy="621300"/>
              </a:xfrm>
              <a:prstGeom prst="roundRect">
                <a:avLst>
                  <a:gd fmla="val 16667" name="adj"/>
                </a:avLst>
              </a:prstGeom>
              <a:solidFill>
                <a:srgbClr val="1475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en" sz="30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03</a:t>
                </a:r>
                <a:endParaRPr b="0" i="0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10" name="Google Shape;810;p83"/>
              <p:cNvSpPr/>
              <p:nvPr/>
            </p:nvSpPr>
            <p:spPr>
              <a:xfrm rot="5400000">
                <a:off x="969614" y="1607625"/>
                <a:ext cx="340325" cy="188625"/>
              </a:xfrm>
              <a:prstGeom prst="flowChartExtract">
                <a:avLst/>
              </a:prstGeom>
              <a:solidFill>
                <a:srgbClr val="1475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811" name="Google Shape;811;p83"/>
            <p:cNvSpPr/>
            <p:nvPr/>
          </p:nvSpPr>
          <p:spPr>
            <a:xfrm>
              <a:off x="1352550" y="3060500"/>
              <a:ext cx="7334400" cy="6213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2" name="Google Shape;812;p83"/>
          <p:cNvGrpSpPr/>
          <p:nvPr/>
        </p:nvGrpSpPr>
        <p:grpSpPr>
          <a:xfrm>
            <a:off x="457200" y="4107765"/>
            <a:ext cx="8229750" cy="621300"/>
            <a:chOff x="457200" y="3060500"/>
            <a:chExt cx="8229750" cy="621300"/>
          </a:xfrm>
        </p:grpSpPr>
        <p:grpSp>
          <p:nvGrpSpPr>
            <p:cNvPr id="813" name="Google Shape;813;p83"/>
            <p:cNvGrpSpPr/>
            <p:nvPr/>
          </p:nvGrpSpPr>
          <p:grpSpPr>
            <a:xfrm>
              <a:off x="457200" y="3060500"/>
              <a:ext cx="776889" cy="621300"/>
              <a:chOff x="457200" y="1378813"/>
              <a:chExt cx="776889" cy="621300"/>
            </a:xfrm>
          </p:grpSpPr>
          <p:sp>
            <p:nvSpPr>
              <p:cNvPr id="814" name="Google Shape;814;p83"/>
              <p:cNvSpPr/>
              <p:nvPr/>
            </p:nvSpPr>
            <p:spPr>
              <a:xfrm>
                <a:off x="457200" y="1378813"/>
                <a:ext cx="695400" cy="621300"/>
              </a:xfrm>
              <a:prstGeom prst="roundRect">
                <a:avLst>
                  <a:gd fmla="val 16667" name="adj"/>
                </a:avLst>
              </a:prstGeom>
              <a:solidFill>
                <a:srgbClr val="00C7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en" sz="3000" u="none" cap="none" strike="noStrike">
                    <a:solidFill>
                      <a:srgbClr val="082D49"/>
                    </a:solidFill>
                    <a:latin typeface="Roboto"/>
                    <a:ea typeface="Roboto"/>
                    <a:cs typeface="Roboto"/>
                    <a:sym typeface="Roboto"/>
                  </a:rPr>
                  <a:t>04</a:t>
                </a:r>
                <a:endParaRPr b="0" i="0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15" name="Google Shape;815;p83"/>
              <p:cNvSpPr/>
              <p:nvPr/>
            </p:nvSpPr>
            <p:spPr>
              <a:xfrm rot="5400000">
                <a:off x="969614" y="1607625"/>
                <a:ext cx="340325" cy="188625"/>
              </a:xfrm>
              <a:prstGeom prst="flowChartExtract">
                <a:avLst/>
              </a:prstGeom>
              <a:solidFill>
                <a:srgbClr val="00C7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816" name="Google Shape;816;p83"/>
            <p:cNvSpPr/>
            <p:nvPr/>
          </p:nvSpPr>
          <p:spPr>
            <a:xfrm>
              <a:off x="1352550" y="3060500"/>
              <a:ext cx="7334400" cy="6213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7" name="Google Shape;817;p83"/>
          <p:cNvSpPr txBox="1"/>
          <p:nvPr/>
        </p:nvSpPr>
        <p:spPr>
          <a:xfrm>
            <a:off x="1371600" y="2592651"/>
            <a:ext cx="731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83"/>
          <p:cNvSpPr txBox="1"/>
          <p:nvPr/>
        </p:nvSpPr>
        <p:spPr>
          <a:xfrm>
            <a:off x="1371600" y="3350213"/>
            <a:ext cx="731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83"/>
          <p:cNvSpPr txBox="1"/>
          <p:nvPr/>
        </p:nvSpPr>
        <p:spPr>
          <a:xfrm>
            <a:off x="1371600" y="1835088"/>
            <a:ext cx="731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83"/>
          <p:cNvSpPr txBox="1"/>
          <p:nvPr/>
        </p:nvSpPr>
        <p:spPr>
          <a:xfrm>
            <a:off x="1371600" y="4107776"/>
            <a:ext cx="731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21" name="Google Shape;821;p83"/>
          <p:cNvGrpSpPr/>
          <p:nvPr/>
        </p:nvGrpSpPr>
        <p:grpSpPr>
          <a:xfrm>
            <a:off x="457200" y="1830450"/>
            <a:ext cx="8229750" cy="626087"/>
            <a:chOff x="457200" y="1213063"/>
            <a:chExt cx="8229750" cy="626087"/>
          </a:xfrm>
        </p:grpSpPr>
        <p:sp>
          <p:nvSpPr>
            <p:cNvPr id="822" name="Google Shape;822;p83"/>
            <p:cNvSpPr/>
            <p:nvPr/>
          </p:nvSpPr>
          <p:spPr>
            <a:xfrm>
              <a:off x="1352550" y="1213075"/>
              <a:ext cx="7334400" cy="6213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3" name="Google Shape;823;p83"/>
            <p:cNvGrpSpPr/>
            <p:nvPr/>
          </p:nvGrpSpPr>
          <p:grpSpPr>
            <a:xfrm>
              <a:off x="457200" y="1213063"/>
              <a:ext cx="776889" cy="621300"/>
              <a:chOff x="457200" y="1378813"/>
              <a:chExt cx="776889" cy="621300"/>
            </a:xfrm>
          </p:grpSpPr>
          <p:sp>
            <p:nvSpPr>
              <p:cNvPr id="824" name="Google Shape;824;p83"/>
              <p:cNvSpPr/>
              <p:nvPr/>
            </p:nvSpPr>
            <p:spPr>
              <a:xfrm>
                <a:off x="457200" y="1378813"/>
                <a:ext cx="695400" cy="621300"/>
              </a:xfrm>
              <a:prstGeom prst="roundRect">
                <a:avLst>
                  <a:gd fmla="val 16667" name="adj"/>
                </a:avLst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en" sz="3000" u="none" cap="none" strike="noStrike">
                    <a:solidFill>
                      <a:srgbClr val="082D49"/>
                    </a:solidFill>
                    <a:latin typeface="Roboto"/>
                    <a:ea typeface="Roboto"/>
                    <a:cs typeface="Roboto"/>
                    <a:sym typeface="Roboto"/>
                  </a:rPr>
                  <a:t>01</a:t>
                </a:r>
                <a:endParaRPr b="0" i="0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25" name="Google Shape;825;p83"/>
              <p:cNvSpPr/>
              <p:nvPr/>
            </p:nvSpPr>
            <p:spPr>
              <a:xfrm rot="5400000">
                <a:off x="969614" y="1607625"/>
                <a:ext cx="340325" cy="188625"/>
              </a:xfrm>
              <a:prstGeom prst="flowChartExtract">
                <a:avLst/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826" name="Google Shape;826;p83"/>
            <p:cNvSpPr txBox="1"/>
            <p:nvPr/>
          </p:nvSpPr>
          <p:spPr>
            <a:xfrm>
              <a:off x="1352625" y="1217850"/>
              <a:ext cx="7324500" cy="6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27" name="Google Shape;827;p83"/>
          <p:cNvSpPr txBox="1"/>
          <p:nvPr/>
        </p:nvSpPr>
        <p:spPr>
          <a:xfrm>
            <a:off x="1371600" y="1835101"/>
            <a:ext cx="731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83"/>
          <p:cNvSpPr txBox="1"/>
          <p:nvPr/>
        </p:nvSpPr>
        <p:spPr>
          <a:xfrm>
            <a:off x="1371600" y="1842538"/>
            <a:ext cx="731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intended purpose of the web application.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83"/>
          <p:cNvSpPr txBox="1"/>
          <p:nvPr/>
        </p:nvSpPr>
        <p:spPr>
          <a:xfrm>
            <a:off x="1371600" y="2600038"/>
            <a:ext cx="731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How the application accesses files and directories from a web server.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83"/>
          <p:cNvSpPr txBox="1"/>
          <p:nvPr/>
        </p:nvSpPr>
        <p:spPr>
          <a:xfrm>
            <a:off x="1371600" y="3353900"/>
            <a:ext cx="731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modification of the URL to access unintended files.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83"/>
          <p:cNvSpPr txBox="1"/>
          <p:nvPr/>
        </p:nvSpPr>
        <p:spPr>
          <a:xfrm>
            <a:off x="1371600" y="4115038"/>
            <a:ext cx="731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traversal of directories to access additional unintended files with the dot-dot-slash method.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84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Directory traversal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5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Real-World </a:t>
            </a:r>
            <a:r>
              <a:rPr b="1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Challenges</a:t>
            </a:r>
            <a:r>
              <a:rPr i="0" lang="en" sz="4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</a:t>
            </a:r>
            <a:r>
              <a:rPr b="1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4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Impact</a:t>
            </a:r>
            <a:r>
              <a:rPr i="0" lang="en" sz="4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</a:t>
            </a:r>
            <a:r>
              <a:rPr b="0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Mitigations</a:t>
            </a:r>
            <a:endParaRPr b="1" i="0" sz="4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2" name="Google Shape;84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2800" y="1634400"/>
            <a:ext cx="1558400" cy="10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6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48" name="Google Shape;848;p86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86"/>
          <p:cNvSpPr/>
          <p:nvPr/>
        </p:nvSpPr>
        <p:spPr>
          <a:xfrm>
            <a:off x="433910" y="3009353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0" name="Google Shape;850;p86"/>
          <p:cNvSpPr/>
          <p:nvPr/>
        </p:nvSpPr>
        <p:spPr>
          <a:xfrm rot="10800000">
            <a:off x="570119" y="3398141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86"/>
          <p:cNvSpPr txBox="1"/>
          <p:nvPr/>
        </p:nvSpPr>
        <p:spPr>
          <a:xfrm>
            <a:off x="457150" y="13048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2" name="Google Shape;852;p86"/>
          <p:cNvSpPr txBox="1"/>
          <p:nvPr/>
        </p:nvSpPr>
        <p:spPr>
          <a:xfrm>
            <a:off x="433900" y="3025891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3" name="Google Shape;853;p86"/>
          <p:cNvSpPr txBox="1"/>
          <p:nvPr/>
        </p:nvSpPr>
        <p:spPr>
          <a:xfrm>
            <a:off x="465975" y="13298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our demonstration…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86"/>
          <p:cNvSpPr txBox="1"/>
          <p:nvPr/>
        </p:nvSpPr>
        <p:spPr>
          <a:xfrm>
            <a:off x="457150" y="3046198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But in the real world…</a:t>
            </a:r>
            <a:endParaRPr b="0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86"/>
          <p:cNvSpPr txBox="1"/>
          <p:nvPr/>
        </p:nvSpPr>
        <p:spPr>
          <a:xfrm>
            <a:off x="542175" y="18519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were able to preview back-end systems to display the file structures.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86"/>
          <p:cNvSpPr txBox="1"/>
          <p:nvPr/>
        </p:nvSpPr>
        <p:spPr>
          <a:xfrm>
            <a:off x="533350" y="3568325"/>
            <a:ext cx="39432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Application security analysts would likely not have access to the filesystems.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86"/>
          <p:cNvSpPr txBox="1"/>
          <p:nvPr/>
        </p:nvSpPr>
        <p:spPr>
          <a:xfrm>
            <a:off x="76200" y="51200"/>
            <a:ext cx="811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Access to Filesystem Structure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demo illustrated how modifying a URL with the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dot-dot-slash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method can cause unintended results.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86"/>
          <p:cNvSpPr/>
          <p:nvPr/>
        </p:nvSpPr>
        <p:spPr>
          <a:xfrm>
            <a:off x="4533900" y="1573700"/>
            <a:ext cx="4335600" cy="2998200"/>
          </a:xfrm>
          <a:prstGeom prst="roundRect">
            <a:avLst>
              <a:gd fmla="val 2607" name="adj"/>
            </a:avLst>
          </a:prstGeom>
          <a:solidFill>
            <a:srgbClr val="F2F5F9"/>
          </a:solidFill>
          <a:ln cap="flat" cmpd="sng" w="9525">
            <a:solidFill>
              <a:srgbClr val="9E9E9E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86"/>
          <p:cNvSpPr txBox="1"/>
          <p:nvPr/>
        </p:nvSpPr>
        <p:spPr>
          <a:xfrm>
            <a:off x="4868275" y="1743075"/>
            <a:ext cx="3739500" cy="2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example: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b="0" i="0" lang="en" sz="1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0" i="0" lang="en" sz="16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../../../etc/passwd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doesn’t display the contents, we can try to keep adding the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dot-dot-slash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 until the file is displayed: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Inconsolata SemiBold"/>
                <a:ea typeface="Inconsolata SemiBold"/>
                <a:cs typeface="Inconsolata SemiBold"/>
                <a:sym typeface="Inconsolata SemiBold"/>
              </a:rPr>
              <a:t>../../../etc/passwd</a:t>
            </a:r>
            <a:endParaRPr b="0" i="0" sz="1800" u="none" cap="none" strike="noStrike">
              <a:solidFill>
                <a:srgbClr val="FFFFFF"/>
              </a:solidFill>
              <a:highlight>
                <a:schemeClr val="dk1"/>
              </a:highlight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Inconsolata SemiBold"/>
                <a:ea typeface="Inconsolata SemiBold"/>
                <a:cs typeface="Inconsolata SemiBold"/>
                <a:sym typeface="Inconsolata SemiBold"/>
              </a:rPr>
              <a:t>../../../../etc/passwd</a:t>
            </a:r>
            <a:endParaRPr b="0" i="0" sz="1800" u="none" cap="none" strike="noStrike">
              <a:solidFill>
                <a:srgbClr val="FFFFFF"/>
              </a:solidFill>
              <a:highlight>
                <a:schemeClr val="dk1"/>
              </a:highlight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Inconsolata SemiBold"/>
                <a:ea typeface="Inconsolata SemiBold"/>
                <a:cs typeface="Inconsolata SemiBold"/>
                <a:sym typeface="Inconsolata SemiBold"/>
              </a:rPr>
              <a:t>../../../../../etc/passwd</a:t>
            </a:r>
            <a:endParaRPr b="0" i="0" sz="1800" u="none" cap="none" strike="noStrike">
              <a:solidFill>
                <a:srgbClr val="000000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7"/>
          <p:cNvSpPr txBox="1"/>
          <p:nvPr/>
        </p:nvSpPr>
        <p:spPr>
          <a:xfrm>
            <a:off x="76200" y="512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Variety of Confidential Files and Data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87"/>
          <p:cNvSpPr txBox="1"/>
          <p:nvPr/>
        </p:nvSpPr>
        <p:spPr>
          <a:xfrm>
            <a:off x="7620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While the demonstration involved one file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/etc/passwd,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many other system files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 documents might exist that are not intended to be viewed by an attacker, such as: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66" name="Google Shape;866;p87"/>
          <p:cNvGraphicFramePr/>
          <p:nvPr/>
        </p:nvGraphicFramePr>
        <p:xfrm>
          <a:off x="352025" y="1687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{46A04196-913F-418A-BF23-8549AA4576D4}</a:tableStyleId>
              </a:tblPr>
              <a:tblGrid>
                <a:gridCol w="1671750"/>
                <a:gridCol w="6176025"/>
              </a:tblGrid>
              <a:tr h="8844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/etc/group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182875" marL="182875" anchor="ctr">
                    <a:lnL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 view information on groups that exist on the server.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182875" marL="182875" anchor="ctr">
                    <a:lnL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8844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/etc/hosts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182875" marL="182875" anchor="ctr">
                    <a:lnL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 view information on how IPs are mapped to hostnames.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182875" marL="182875" anchor="ctr">
                    <a:lnL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8"/>
          <p:cNvSpPr txBox="1"/>
          <p:nvPr/>
        </p:nvSpPr>
        <p:spPr>
          <a:xfrm>
            <a:off x="76200" y="512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Impact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88"/>
          <p:cNvSpPr txBox="1"/>
          <p:nvPr/>
        </p:nvSpPr>
        <p:spPr>
          <a:xfrm>
            <a:off x="76200" y="523575"/>
            <a:ext cx="8089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impact of directory traversal attacks include allowing malicious actors to do the following: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3" name="Google Shape;873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2" y="1249094"/>
            <a:ext cx="8869675" cy="34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88"/>
          <p:cNvSpPr txBox="1"/>
          <p:nvPr/>
        </p:nvSpPr>
        <p:spPr>
          <a:xfrm>
            <a:off x="382800" y="1683837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View an organization’s confidential data.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88"/>
          <p:cNvSpPr txBox="1"/>
          <p:nvPr/>
        </p:nvSpPr>
        <p:spPr>
          <a:xfrm>
            <a:off x="3285075" y="1683846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View an organization’s system files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determine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other vulnerabilities.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88"/>
          <p:cNvSpPr txBox="1"/>
          <p:nvPr/>
        </p:nvSpPr>
        <p:spPr>
          <a:xfrm>
            <a:off x="6401175" y="1684379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Help an attacker launch other attacks.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89"/>
          <p:cNvSpPr/>
          <p:nvPr/>
        </p:nvSpPr>
        <p:spPr>
          <a:xfrm>
            <a:off x="607675" y="30474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89"/>
          <p:cNvSpPr/>
          <p:nvPr/>
        </p:nvSpPr>
        <p:spPr>
          <a:xfrm>
            <a:off x="607675" y="23614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89"/>
          <p:cNvSpPr/>
          <p:nvPr/>
        </p:nvSpPr>
        <p:spPr>
          <a:xfrm>
            <a:off x="607675" y="16755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89"/>
          <p:cNvSpPr/>
          <p:nvPr/>
        </p:nvSpPr>
        <p:spPr>
          <a:xfrm>
            <a:off x="457200" y="16756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9"/>
          <p:cNvSpPr/>
          <p:nvPr/>
        </p:nvSpPr>
        <p:spPr>
          <a:xfrm>
            <a:off x="457200" y="23615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89"/>
          <p:cNvSpPr/>
          <p:nvPr/>
        </p:nvSpPr>
        <p:spPr>
          <a:xfrm>
            <a:off x="457200" y="30474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89"/>
          <p:cNvSpPr txBox="1"/>
          <p:nvPr/>
        </p:nvSpPr>
        <p:spPr>
          <a:xfrm>
            <a:off x="914400" y="17218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Limiting user input when calling for files from the web application.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89"/>
          <p:cNvSpPr txBox="1"/>
          <p:nvPr/>
        </p:nvSpPr>
        <p:spPr>
          <a:xfrm>
            <a:off x="914400" y="24074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Using </a:t>
            </a: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input validation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to limit the user’s ability to modify the file.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89"/>
          <p:cNvSpPr txBox="1"/>
          <p:nvPr/>
        </p:nvSpPr>
        <p:spPr>
          <a:xfrm>
            <a:off x="914400" y="30929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Running web servers under a special service user account.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89"/>
          <p:cNvSpPr txBox="1"/>
          <p:nvPr/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Mitigation Methods</a:t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89"/>
          <p:cNvSpPr txBox="1"/>
          <p:nvPr/>
        </p:nvSpPr>
        <p:spPr>
          <a:xfrm>
            <a:off x="457200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Because a directory traversal attack is conducted by using the dot-dot-slash method to modify user input like the URL, methods to mitigate this attack include: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6" name="Google Shape;896;p90"/>
          <p:cNvGraphicFramePr/>
          <p:nvPr/>
        </p:nvGraphicFramePr>
        <p:xfrm>
          <a:off x="392625" y="101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{46A04196-913F-418A-BF23-8549AA4576D4}</a:tableStyleId>
              </a:tblPr>
              <a:tblGrid>
                <a:gridCol w="2770650"/>
                <a:gridCol w="5293250"/>
              </a:tblGrid>
              <a:tr h="42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ntended purpose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 original function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web application interacts with its web server to access intended files.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ulnerability and </a:t>
                      </a:r>
                      <a:b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ethod of exploit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 the directory traversal attack, a user can modify the user input using a </a:t>
                      </a:r>
                      <a:r>
                        <a:rPr lang="en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dot-dot-slash</a:t>
                      </a: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method to access unintended files </a:t>
                      </a:r>
                      <a:b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 other directories.</a:t>
                      </a:r>
                      <a:endParaRPr sz="1400" u="none" cap="none" strike="noStrike">
                        <a:solidFill>
                          <a:srgbClr val="0434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74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nintended consequence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 the exploit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Confidential documents or system files can be accessed directly from the web application by a malicious user.</a:t>
                      </a:r>
                      <a:endParaRPr sz="1400" u="none" cap="none" strike="noStrike">
                        <a:solidFill>
                          <a:srgbClr val="0434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itigation of the vulnerability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Mitigation includes applying input validation code logic or limiting user input when calling for system files.</a:t>
                      </a:r>
                      <a:endParaRPr sz="1400" u="none" cap="none" strike="noStrike">
                        <a:solidFill>
                          <a:srgbClr val="0434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74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otential impact of the exploit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impact could include unauthorized parties accessing an organization’s confidential data within its servers. This unauthorized data could be used to launch other attacks.</a:t>
                      </a:r>
                      <a:endParaRPr sz="1400" u="none" cap="none" strike="noStrike">
                        <a:solidFill>
                          <a:srgbClr val="0434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7" name="Google Shape;897;p90"/>
          <p:cNvSpPr txBox="1"/>
          <p:nvPr/>
        </p:nvSpPr>
        <p:spPr>
          <a:xfrm>
            <a:off x="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Directory Traversal Summary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92"/>
          <p:cNvPicPr preferRelativeResize="0"/>
          <p:nvPr/>
        </p:nvPicPr>
        <p:blipFill rotWithShape="1">
          <a:blip r:embed="rId3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92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908" name="Google Shape;908;p9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Directory traversal</a:t>
            </a:r>
            <a:endParaRPr/>
          </a:p>
        </p:txBody>
      </p:sp>
      <p:sp>
        <p:nvSpPr>
          <p:cNvPr id="909" name="Google Shape;909;p92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you’ll continue to play the role of an application </a:t>
            </a:r>
            <a:br>
              <a:rPr lang="en"/>
            </a:br>
            <a:r>
              <a:rPr lang="en"/>
              <a:t>security analyst at Replicants, inspecting the company’s web </a:t>
            </a:r>
            <a:br>
              <a:rPr lang="en"/>
            </a:br>
            <a:r>
              <a:rPr lang="en"/>
              <a:t>application for web vulnerabilities, specifically directory traversal.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96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n" sz="4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Web Application</a:t>
            </a:r>
            <a:r>
              <a:rPr b="0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Back-End Code</a:t>
            </a:r>
            <a:endParaRPr b="1" i="0" sz="4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7" name="Google Shape;92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350" y="1758500"/>
            <a:ext cx="1357300" cy="958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97"/>
          <p:cNvSpPr txBox="1"/>
          <p:nvPr/>
        </p:nvSpPr>
        <p:spPr>
          <a:xfrm>
            <a:off x="76200" y="512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 Application Back-End Code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97"/>
          <p:cNvSpPr txBox="1"/>
          <p:nvPr/>
        </p:nvSpPr>
        <p:spPr>
          <a:xfrm>
            <a:off x="7620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 applications use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back-end components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apply business logic to the application. Back-end components can provide file structure, content management, and access control, and include back-end languages such as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PHP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Java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i="0" sz="18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34" name="Google Shape;93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800" y="2427025"/>
            <a:ext cx="2604650" cy="13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7875" y="1946900"/>
            <a:ext cx="1252776" cy="233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72450" y="1946900"/>
            <a:ext cx="827425" cy="2482226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97"/>
          <p:cNvSpPr/>
          <p:nvPr/>
        </p:nvSpPr>
        <p:spPr>
          <a:xfrm>
            <a:off x="0" y="4406100"/>
            <a:ext cx="9144000" cy="737400"/>
          </a:xfrm>
          <a:prstGeom prst="roundRect">
            <a:avLst>
              <a:gd fmla="val 0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1143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1143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Web application vulnerabilities can exist within back-end components.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8" name="Google Shape;938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802" y="4440300"/>
            <a:ext cx="706371" cy="6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98"/>
          <p:cNvSpPr/>
          <p:nvPr/>
        </p:nvSpPr>
        <p:spPr>
          <a:xfrm>
            <a:off x="7020700" y="1618700"/>
            <a:ext cx="2007300" cy="14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98"/>
          <p:cNvSpPr txBox="1"/>
          <p:nvPr/>
        </p:nvSpPr>
        <p:spPr>
          <a:xfrm>
            <a:off x="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Directory Traversal Has Limited Impact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98"/>
          <p:cNvSpPr txBox="1"/>
          <p:nvPr/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Directory traversal is a back-end component vulnerability in which an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attacker accesses files and directories from a web application outside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user’s authorized permissions.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6" name="Google Shape;946;p98"/>
          <p:cNvCxnSpPr/>
          <p:nvPr/>
        </p:nvCxnSpPr>
        <p:spPr>
          <a:xfrm rot="10800000">
            <a:off x="3555988" y="2637471"/>
            <a:ext cx="0" cy="48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7" name="Google Shape;947;p98"/>
          <p:cNvCxnSpPr/>
          <p:nvPr/>
        </p:nvCxnSpPr>
        <p:spPr>
          <a:xfrm>
            <a:off x="924505" y="3594973"/>
            <a:ext cx="5310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8" name="Google Shape;948;p98"/>
          <p:cNvGrpSpPr/>
          <p:nvPr/>
        </p:nvGrpSpPr>
        <p:grpSpPr>
          <a:xfrm>
            <a:off x="431694" y="1866922"/>
            <a:ext cx="6272566" cy="771472"/>
            <a:chOff x="1136526" y="1698336"/>
            <a:chExt cx="6886875" cy="847027"/>
          </a:xfrm>
        </p:grpSpPr>
        <p:grpSp>
          <p:nvGrpSpPr>
            <p:cNvPr id="949" name="Google Shape;949;p98"/>
            <p:cNvGrpSpPr/>
            <p:nvPr/>
          </p:nvGrpSpPr>
          <p:grpSpPr>
            <a:xfrm>
              <a:off x="1136526" y="1698336"/>
              <a:ext cx="1067025" cy="847027"/>
              <a:chOff x="500000" y="238125"/>
              <a:chExt cx="6570350" cy="5212475"/>
            </a:xfrm>
          </p:grpSpPr>
          <p:sp>
            <p:nvSpPr>
              <p:cNvPr id="950" name="Google Shape;950;p98"/>
              <p:cNvSpPr/>
              <p:nvPr/>
            </p:nvSpPr>
            <p:spPr>
              <a:xfrm>
                <a:off x="727750" y="465875"/>
                <a:ext cx="6114825" cy="1357900"/>
              </a:xfrm>
              <a:custGeom>
                <a:rect b="b" l="l" r="r" t="t"/>
                <a:pathLst>
                  <a:path extrusionOk="0" h="54316" w="244593">
                    <a:moveTo>
                      <a:pt x="1" y="1"/>
                    </a:moveTo>
                    <a:lnTo>
                      <a:pt x="1" y="54316"/>
                    </a:lnTo>
                    <a:lnTo>
                      <a:pt x="244592" y="54316"/>
                    </a:lnTo>
                    <a:lnTo>
                      <a:pt x="244592" y="18106"/>
                    </a:lnTo>
                    <a:lnTo>
                      <a:pt x="90642" y="18106"/>
                    </a:lnTo>
                    <a:lnTo>
                      <a:pt x="72421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98"/>
              <p:cNvSpPr/>
              <p:nvPr/>
            </p:nvSpPr>
            <p:spPr>
              <a:xfrm>
                <a:off x="1180375" y="1143350"/>
                <a:ext cx="5209575" cy="680425"/>
              </a:xfrm>
              <a:custGeom>
                <a:rect b="b" l="l" r="r" t="t"/>
                <a:pathLst>
                  <a:path extrusionOk="0" h="27217" w="208383">
                    <a:moveTo>
                      <a:pt x="1" y="1"/>
                    </a:moveTo>
                    <a:lnTo>
                      <a:pt x="1" y="27217"/>
                    </a:lnTo>
                    <a:lnTo>
                      <a:pt x="208383" y="27217"/>
                    </a:lnTo>
                    <a:lnTo>
                      <a:pt x="2083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98"/>
              <p:cNvSpPr/>
              <p:nvPr/>
            </p:nvSpPr>
            <p:spPr>
              <a:xfrm>
                <a:off x="727750" y="1598900"/>
                <a:ext cx="6114825" cy="3623925"/>
              </a:xfrm>
              <a:custGeom>
                <a:rect b="b" l="l" r="r" t="t"/>
                <a:pathLst>
                  <a:path extrusionOk="0" h="144957" w="244593">
                    <a:moveTo>
                      <a:pt x="90642" y="1"/>
                    </a:moveTo>
                    <a:lnTo>
                      <a:pt x="72421" y="18106"/>
                    </a:lnTo>
                    <a:lnTo>
                      <a:pt x="1" y="18106"/>
                    </a:lnTo>
                    <a:lnTo>
                      <a:pt x="1" y="144957"/>
                    </a:lnTo>
                    <a:lnTo>
                      <a:pt x="244592" y="144957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98"/>
              <p:cNvSpPr/>
              <p:nvPr/>
            </p:nvSpPr>
            <p:spPr>
              <a:xfrm>
                <a:off x="500000" y="1371125"/>
                <a:ext cx="6570350" cy="4079475"/>
              </a:xfrm>
              <a:custGeom>
                <a:rect b="b" l="l" r="r" t="t"/>
                <a:pathLst>
                  <a:path extrusionOk="0" h="163179" w="262814">
                    <a:moveTo>
                      <a:pt x="253702" y="9112"/>
                    </a:moveTo>
                    <a:lnTo>
                      <a:pt x="253702" y="154068"/>
                    </a:lnTo>
                    <a:lnTo>
                      <a:pt x="8994" y="154068"/>
                    </a:lnTo>
                    <a:lnTo>
                      <a:pt x="9111" y="27217"/>
                    </a:lnTo>
                    <a:lnTo>
                      <a:pt x="83399" y="27217"/>
                    </a:lnTo>
                    <a:lnTo>
                      <a:pt x="101621" y="9112"/>
                    </a:lnTo>
                    <a:close/>
                    <a:moveTo>
                      <a:pt x="97767" y="1"/>
                    </a:moveTo>
                    <a:lnTo>
                      <a:pt x="79662" y="18106"/>
                    </a:lnTo>
                    <a:lnTo>
                      <a:pt x="0" y="18106"/>
                    </a:lnTo>
                    <a:lnTo>
                      <a:pt x="0" y="163179"/>
                    </a:lnTo>
                    <a:lnTo>
                      <a:pt x="262813" y="163179"/>
                    </a:lnTo>
                    <a:lnTo>
                      <a:pt x="262813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98"/>
              <p:cNvSpPr/>
              <p:nvPr/>
            </p:nvSpPr>
            <p:spPr>
              <a:xfrm>
                <a:off x="500000" y="238125"/>
                <a:ext cx="6570350" cy="1699550"/>
              </a:xfrm>
              <a:custGeom>
                <a:rect b="b" l="l" r="r" t="t"/>
                <a:pathLst>
                  <a:path extrusionOk="0" h="67982" w="262814">
                    <a:moveTo>
                      <a:pt x="0" y="0"/>
                    </a:moveTo>
                    <a:lnTo>
                      <a:pt x="0" y="67981"/>
                    </a:lnTo>
                    <a:lnTo>
                      <a:pt x="9111" y="67981"/>
                    </a:lnTo>
                    <a:lnTo>
                      <a:pt x="9111" y="9111"/>
                    </a:lnTo>
                    <a:lnTo>
                      <a:pt x="79662" y="9111"/>
                    </a:lnTo>
                    <a:lnTo>
                      <a:pt x="97767" y="27216"/>
                    </a:lnTo>
                    <a:lnTo>
                      <a:pt x="253702" y="27216"/>
                    </a:lnTo>
                    <a:lnTo>
                      <a:pt x="253702" y="49876"/>
                    </a:lnTo>
                    <a:lnTo>
                      <a:pt x="262813" y="49876"/>
                    </a:lnTo>
                    <a:lnTo>
                      <a:pt x="262813" y="18105"/>
                    </a:lnTo>
                    <a:lnTo>
                      <a:pt x="101621" y="18105"/>
                    </a:lnTo>
                    <a:lnTo>
                      <a:pt x="83399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98"/>
              <p:cNvSpPr/>
              <p:nvPr/>
            </p:nvSpPr>
            <p:spPr>
              <a:xfrm>
                <a:off x="727750" y="4770175"/>
                <a:ext cx="6114825" cy="452650"/>
              </a:xfrm>
              <a:custGeom>
                <a:rect b="b" l="l" r="r" t="t"/>
                <a:pathLst>
                  <a:path extrusionOk="0" h="18106" w="244593">
                    <a:moveTo>
                      <a:pt x="1" y="1"/>
                    </a:moveTo>
                    <a:lnTo>
                      <a:pt x="1" y="18106"/>
                    </a:lnTo>
                    <a:lnTo>
                      <a:pt x="244592" y="18106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A28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98"/>
              <p:cNvSpPr/>
              <p:nvPr/>
            </p:nvSpPr>
            <p:spPr>
              <a:xfrm>
                <a:off x="4804275" y="2051525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1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98"/>
              <p:cNvSpPr/>
              <p:nvPr/>
            </p:nvSpPr>
            <p:spPr>
              <a:xfrm>
                <a:off x="4804275" y="2504150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0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98"/>
              <p:cNvSpPr/>
              <p:nvPr/>
            </p:nvSpPr>
            <p:spPr>
              <a:xfrm>
                <a:off x="1180375" y="2504150"/>
                <a:ext cx="224875" cy="224875"/>
              </a:xfrm>
              <a:custGeom>
                <a:rect b="b" l="l" r="r" t="t"/>
                <a:pathLst>
                  <a:path extrusionOk="0" h="8995" w="8995">
                    <a:moveTo>
                      <a:pt x="1" y="0"/>
                    </a:moveTo>
                    <a:lnTo>
                      <a:pt x="1" y="8995"/>
                    </a:lnTo>
                    <a:lnTo>
                      <a:pt x="8995" y="8995"/>
                    </a:lnTo>
                    <a:lnTo>
                      <a:pt x="8995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98"/>
              <p:cNvSpPr/>
              <p:nvPr/>
            </p:nvSpPr>
            <p:spPr>
              <a:xfrm>
                <a:off x="1633000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2" y="8995"/>
                    </a:lnTo>
                    <a:lnTo>
                      <a:pt x="9112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98"/>
              <p:cNvSpPr/>
              <p:nvPr/>
            </p:nvSpPr>
            <p:spPr>
              <a:xfrm>
                <a:off x="2085625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1" y="8995"/>
                    </a:lnTo>
                    <a:lnTo>
                      <a:pt x="9111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1" name="Google Shape;961;p98"/>
            <p:cNvGrpSpPr/>
            <p:nvPr/>
          </p:nvGrpSpPr>
          <p:grpSpPr>
            <a:xfrm>
              <a:off x="2565601" y="1698336"/>
              <a:ext cx="1067025" cy="847027"/>
              <a:chOff x="500000" y="238125"/>
              <a:chExt cx="6570350" cy="5212475"/>
            </a:xfrm>
          </p:grpSpPr>
          <p:sp>
            <p:nvSpPr>
              <p:cNvPr id="962" name="Google Shape;962;p98"/>
              <p:cNvSpPr/>
              <p:nvPr/>
            </p:nvSpPr>
            <p:spPr>
              <a:xfrm>
                <a:off x="727750" y="465875"/>
                <a:ext cx="6114825" cy="1357900"/>
              </a:xfrm>
              <a:custGeom>
                <a:rect b="b" l="l" r="r" t="t"/>
                <a:pathLst>
                  <a:path extrusionOk="0" h="54316" w="244593">
                    <a:moveTo>
                      <a:pt x="1" y="1"/>
                    </a:moveTo>
                    <a:lnTo>
                      <a:pt x="1" y="54316"/>
                    </a:lnTo>
                    <a:lnTo>
                      <a:pt x="244592" y="54316"/>
                    </a:lnTo>
                    <a:lnTo>
                      <a:pt x="244592" y="18106"/>
                    </a:lnTo>
                    <a:lnTo>
                      <a:pt x="90642" y="18106"/>
                    </a:lnTo>
                    <a:lnTo>
                      <a:pt x="72421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98"/>
              <p:cNvSpPr/>
              <p:nvPr/>
            </p:nvSpPr>
            <p:spPr>
              <a:xfrm>
                <a:off x="1180375" y="1143350"/>
                <a:ext cx="5209575" cy="680425"/>
              </a:xfrm>
              <a:custGeom>
                <a:rect b="b" l="l" r="r" t="t"/>
                <a:pathLst>
                  <a:path extrusionOk="0" h="27217" w="208383">
                    <a:moveTo>
                      <a:pt x="1" y="1"/>
                    </a:moveTo>
                    <a:lnTo>
                      <a:pt x="1" y="27217"/>
                    </a:lnTo>
                    <a:lnTo>
                      <a:pt x="208383" y="27217"/>
                    </a:lnTo>
                    <a:lnTo>
                      <a:pt x="2083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98"/>
              <p:cNvSpPr/>
              <p:nvPr/>
            </p:nvSpPr>
            <p:spPr>
              <a:xfrm>
                <a:off x="727750" y="1598900"/>
                <a:ext cx="6114825" cy="3623925"/>
              </a:xfrm>
              <a:custGeom>
                <a:rect b="b" l="l" r="r" t="t"/>
                <a:pathLst>
                  <a:path extrusionOk="0" h="144957" w="244593">
                    <a:moveTo>
                      <a:pt x="90642" y="1"/>
                    </a:moveTo>
                    <a:lnTo>
                      <a:pt x="72421" y="18106"/>
                    </a:lnTo>
                    <a:lnTo>
                      <a:pt x="1" y="18106"/>
                    </a:lnTo>
                    <a:lnTo>
                      <a:pt x="1" y="144957"/>
                    </a:lnTo>
                    <a:lnTo>
                      <a:pt x="244592" y="144957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98"/>
              <p:cNvSpPr/>
              <p:nvPr/>
            </p:nvSpPr>
            <p:spPr>
              <a:xfrm>
                <a:off x="500000" y="1371125"/>
                <a:ext cx="6570350" cy="4079475"/>
              </a:xfrm>
              <a:custGeom>
                <a:rect b="b" l="l" r="r" t="t"/>
                <a:pathLst>
                  <a:path extrusionOk="0" h="163179" w="262814">
                    <a:moveTo>
                      <a:pt x="253702" y="9112"/>
                    </a:moveTo>
                    <a:lnTo>
                      <a:pt x="253702" y="154068"/>
                    </a:lnTo>
                    <a:lnTo>
                      <a:pt x="8994" y="154068"/>
                    </a:lnTo>
                    <a:lnTo>
                      <a:pt x="9111" y="27217"/>
                    </a:lnTo>
                    <a:lnTo>
                      <a:pt x="83399" y="27217"/>
                    </a:lnTo>
                    <a:lnTo>
                      <a:pt x="101621" y="9112"/>
                    </a:lnTo>
                    <a:close/>
                    <a:moveTo>
                      <a:pt x="97767" y="1"/>
                    </a:moveTo>
                    <a:lnTo>
                      <a:pt x="79662" y="18106"/>
                    </a:lnTo>
                    <a:lnTo>
                      <a:pt x="0" y="18106"/>
                    </a:lnTo>
                    <a:lnTo>
                      <a:pt x="0" y="163179"/>
                    </a:lnTo>
                    <a:lnTo>
                      <a:pt x="262813" y="163179"/>
                    </a:lnTo>
                    <a:lnTo>
                      <a:pt x="262813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98"/>
              <p:cNvSpPr/>
              <p:nvPr/>
            </p:nvSpPr>
            <p:spPr>
              <a:xfrm>
                <a:off x="500000" y="238125"/>
                <a:ext cx="6570350" cy="1699550"/>
              </a:xfrm>
              <a:custGeom>
                <a:rect b="b" l="l" r="r" t="t"/>
                <a:pathLst>
                  <a:path extrusionOk="0" h="67982" w="262814">
                    <a:moveTo>
                      <a:pt x="0" y="0"/>
                    </a:moveTo>
                    <a:lnTo>
                      <a:pt x="0" y="67981"/>
                    </a:lnTo>
                    <a:lnTo>
                      <a:pt x="9111" y="67981"/>
                    </a:lnTo>
                    <a:lnTo>
                      <a:pt x="9111" y="9111"/>
                    </a:lnTo>
                    <a:lnTo>
                      <a:pt x="79662" y="9111"/>
                    </a:lnTo>
                    <a:lnTo>
                      <a:pt x="97767" y="27216"/>
                    </a:lnTo>
                    <a:lnTo>
                      <a:pt x="253702" y="27216"/>
                    </a:lnTo>
                    <a:lnTo>
                      <a:pt x="253702" y="49876"/>
                    </a:lnTo>
                    <a:lnTo>
                      <a:pt x="262813" y="49876"/>
                    </a:lnTo>
                    <a:lnTo>
                      <a:pt x="262813" y="18105"/>
                    </a:lnTo>
                    <a:lnTo>
                      <a:pt x="101621" y="18105"/>
                    </a:lnTo>
                    <a:lnTo>
                      <a:pt x="83399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98"/>
              <p:cNvSpPr/>
              <p:nvPr/>
            </p:nvSpPr>
            <p:spPr>
              <a:xfrm>
                <a:off x="727750" y="4770175"/>
                <a:ext cx="6114825" cy="452650"/>
              </a:xfrm>
              <a:custGeom>
                <a:rect b="b" l="l" r="r" t="t"/>
                <a:pathLst>
                  <a:path extrusionOk="0" h="18106" w="244593">
                    <a:moveTo>
                      <a:pt x="1" y="1"/>
                    </a:moveTo>
                    <a:lnTo>
                      <a:pt x="1" y="18106"/>
                    </a:lnTo>
                    <a:lnTo>
                      <a:pt x="244592" y="18106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A28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98"/>
              <p:cNvSpPr/>
              <p:nvPr/>
            </p:nvSpPr>
            <p:spPr>
              <a:xfrm>
                <a:off x="4804275" y="2051525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1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98"/>
              <p:cNvSpPr/>
              <p:nvPr/>
            </p:nvSpPr>
            <p:spPr>
              <a:xfrm>
                <a:off x="4804275" y="2504150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0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98"/>
              <p:cNvSpPr/>
              <p:nvPr/>
            </p:nvSpPr>
            <p:spPr>
              <a:xfrm>
                <a:off x="1180375" y="2504150"/>
                <a:ext cx="224875" cy="224875"/>
              </a:xfrm>
              <a:custGeom>
                <a:rect b="b" l="l" r="r" t="t"/>
                <a:pathLst>
                  <a:path extrusionOk="0" h="8995" w="8995">
                    <a:moveTo>
                      <a:pt x="1" y="0"/>
                    </a:moveTo>
                    <a:lnTo>
                      <a:pt x="1" y="8995"/>
                    </a:lnTo>
                    <a:lnTo>
                      <a:pt x="8995" y="8995"/>
                    </a:lnTo>
                    <a:lnTo>
                      <a:pt x="8995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98"/>
              <p:cNvSpPr/>
              <p:nvPr/>
            </p:nvSpPr>
            <p:spPr>
              <a:xfrm>
                <a:off x="1633000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2" y="8995"/>
                    </a:lnTo>
                    <a:lnTo>
                      <a:pt x="9112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98"/>
              <p:cNvSpPr/>
              <p:nvPr/>
            </p:nvSpPr>
            <p:spPr>
              <a:xfrm>
                <a:off x="2085625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1" y="8995"/>
                    </a:lnTo>
                    <a:lnTo>
                      <a:pt x="9111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3" name="Google Shape;973;p98"/>
            <p:cNvGrpSpPr/>
            <p:nvPr/>
          </p:nvGrpSpPr>
          <p:grpSpPr>
            <a:xfrm>
              <a:off x="4033513" y="1698336"/>
              <a:ext cx="1067025" cy="847027"/>
              <a:chOff x="500000" y="238125"/>
              <a:chExt cx="6570350" cy="5212475"/>
            </a:xfrm>
          </p:grpSpPr>
          <p:sp>
            <p:nvSpPr>
              <p:cNvPr id="974" name="Google Shape;974;p98"/>
              <p:cNvSpPr/>
              <p:nvPr/>
            </p:nvSpPr>
            <p:spPr>
              <a:xfrm>
                <a:off x="727750" y="465875"/>
                <a:ext cx="6114825" cy="1357900"/>
              </a:xfrm>
              <a:custGeom>
                <a:rect b="b" l="l" r="r" t="t"/>
                <a:pathLst>
                  <a:path extrusionOk="0" h="54316" w="244593">
                    <a:moveTo>
                      <a:pt x="1" y="1"/>
                    </a:moveTo>
                    <a:lnTo>
                      <a:pt x="1" y="54316"/>
                    </a:lnTo>
                    <a:lnTo>
                      <a:pt x="244592" y="54316"/>
                    </a:lnTo>
                    <a:lnTo>
                      <a:pt x="244592" y="18106"/>
                    </a:lnTo>
                    <a:lnTo>
                      <a:pt x="90642" y="18106"/>
                    </a:lnTo>
                    <a:lnTo>
                      <a:pt x="72421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98"/>
              <p:cNvSpPr/>
              <p:nvPr/>
            </p:nvSpPr>
            <p:spPr>
              <a:xfrm>
                <a:off x="1180375" y="1143350"/>
                <a:ext cx="5209575" cy="680425"/>
              </a:xfrm>
              <a:custGeom>
                <a:rect b="b" l="l" r="r" t="t"/>
                <a:pathLst>
                  <a:path extrusionOk="0" h="27217" w="208383">
                    <a:moveTo>
                      <a:pt x="1" y="1"/>
                    </a:moveTo>
                    <a:lnTo>
                      <a:pt x="1" y="27217"/>
                    </a:lnTo>
                    <a:lnTo>
                      <a:pt x="208383" y="27217"/>
                    </a:lnTo>
                    <a:lnTo>
                      <a:pt x="2083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98"/>
              <p:cNvSpPr/>
              <p:nvPr/>
            </p:nvSpPr>
            <p:spPr>
              <a:xfrm>
                <a:off x="727750" y="1598900"/>
                <a:ext cx="6114825" cy="3623925"/>
              </a:xfrm>
              <a:custGeom>
                <a:rect b="b" l="l" r="r" t="t"/>
                <a:pathLst>
                  <a:path extrusionOk="0" h="144957" w="244593">
                    <a:moveTo>
                      <a:pt x="90642" y="1"/>
                    </a:moveTo>
                    <a:lnTo>
                      <a:pt x="72421" y="18106"/>
                    </a:lnTo>
                    <a:lnTo>
                      <a:pt x="1" y="18106"/>
                    </a:lnTo>
                    <a:lnTo>
                      <a:pt x="1" y="144957"/>
                    </a:lnTo>
                    <a:lnTo>
                      <a:pt x="244592" y="144957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98"/>
              <p:cNvSpPr/>
              <p:nvPr/>
            </p:nvSpPr>
            <p:spPr>
              <a:xfrm>
                <a:off x="500000" y="1371125"/>
                <a:ext cx="6570350" cy="4079475"/>
              </a:xfrm>
              <a:custGeom>
                <a:rect b="b" l="l" r="r" t="t"/>
                <a:pathLst>
                  <a:path extrusionOk="0" h="163179" w="262814">
                    <a:moveTo>
                      <a:pt x="253702" y="9112"/>
                    </a:moveTo>
                    <a:lnTo>
                      <a:pt x="253702" y="154068"/>
                    </a:lnTo>
                    <a:lnTo>
                      <a:pt x="8994" y="154068"/>
                    </a:lnTo>
                    <a:lnTo>
                      <a:pt x="9111" y="27217"/>
                    </a:lnTo>
                    <a:lnTo>
                      <a:pt x="83399" y="27217"/>
                    </a:lnTo>
                    <a:lnTo>
                      <a:pt x="101621" y="9112"/>
                    </a:lnTo>
                    <a:close/>
                    <a:moveTo>
                      <a:pt x="97767" y="1"/>
                    </a:moveTo>
                    <a:lnTo>
                      <a:pt x="79662" y="18106"/>
                    </a:lnTo>
                    <a:lnTo>
                      <a:pt x="0" y="18106"/>
                    </a:lnTo>
                    <a:lnTo>
                      <a:pt x="0" y="163179"/>
                    </a:lnTo>
                    <a:lnTo>
                      <a:pt x="262813" y="163179"/>
                    </a:lnTo>
                    <a:lnTo>
                      <a:pt x="262813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98"/>
              <p:cNvSpPr/>
              <p:nvPr/>
            </p:nvSpPr>
            <p:spPr>
              <a:xfrm>
                <a:off x="500000" y="238125"/>
                <a:ext cx="6570350" cy="1699550"/>
              </a:xfrm>
              <a:custGeom>
                <a:rect b="b" l="l" r="r" t="t"/>
                <a:pathLst>
                  <a:path extrusionOk="0" h="67982" w="262814">
                    <a:moveTo>
                      <a:pt x="0" y="0"/>
                    </a:moveTo>
                    <a:lnTo>
                      <a:pt x="0" y="67981"/>
                    </a:lnTo>
                    <a:lnTo>
                      <a:pt x="9111" y="67981"/>
                    </a:lnTo>
                    <a:lnTo>
                      <a:pt x="9111" y="9111"/>
                    </a:lnTo>
                    <a:lnTo>
                      <a:pt x="79662" y="9111"/>
                    </a:lnTo>
                    <a:lnTo>
                      <a:pt x="97767" y="27216"/>
                    </a:lnTo>
                    <a:lnTo>
                      <a:pt x="253702" y="27216"/>
                    </a:lnTo>
                    <a:lnTo>
                      <a:pt x="253702" y="49876"/>
                    </a:lnTo>
                    <a:lnTo>
                      <a:pt x="262813" y="49876"/>
                    </a:lnTo>
                    <a:lnTo>
                      <a:pt x="262813" y="18105"/>
                    </a:lnTo>
                    <a:lnTo>
                      <a:pt x="101621" y="18105"/>
                    </a:lnTo>
                    <a:lnTo>
                      <a:pt x="83399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98"/>
              <p:cNvSpPr/>
              <p:nvPr/>
            </p:nvSpPr>
            <p:spPr>
              <a:xfrm>
                <a:off x="727750" y="4770175"/>
                <a:ext cx="6114825" cy="452650"/>
              </a:xfrm>
              <a:custGeom>
                <a:rect b="b" l="l" r="r" t="t"/>
                <a:pathLst>
                  <a:path extrusionOk="0" h="18106" w="244593">
                    <a:moveTo>
                      <a:pt x="1" y="1"/>
                    </a:moveTo>
                    <a:lnTo>
                      <a:pt x="1" y="18106"/>
                    </a:lnTo>
                    <a:lnTo>
                      <a:pt x="244592" y="18106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A28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98"/>
              <p:cNvSpPr/>
              <p:nvPr/>
            </p:nvSpPr>
            <p:spPr>
              <a:xfrm>
                <a:off x="4804275" y="2051525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1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98"/>
              <p:cNvSpPr/>
              <p:nvPr/>
            </p:nvSpPr>
            <p:spPr>
              <a:xfrm>
                <a:off x="4804275" y="2504150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0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98"/>
              <p:cNvSpPr/>
              <p:nvPr/>
            </p:nvSpPr>
            <p:spPr>
              <a:xfrm>
                <a:off x="1180375" y="2504150"/>
                <a:ext cx="224875" cy="224875"/>
              </a:xfrm>
              <a:custGeom>
                <a:rect b="b" l="l" r="r" t="t"/>
                <a:pathLst>
                  <a:path extrusionOk="0" h="8995" w="8995">
                    <a:moveTo>
                      <a:pt x="1" y="0"/>
                    </a:moveTo>
                    <a:lnTo>
                      <a:pt x="1" y="8995"/>
                    </a:lnTo>
                    <a:lnTo>
                      <a:pt x="8995" y="8995"/>
                    </a:lnTo>
                    <a:lnTo>
                      <a:pt x="8995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98"/>
              <p:cNvSpPr/>
              <p:nvPr/>
            </p:nvSpPr>
            <p:spPr>
              <a:xfrm>
                <a:off x="1633000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2" y="8995"/>
                    </a:lnTo>
                    <a:lnTo>
                      <a:pt x="9112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98"/>
              <p:cNvSpPr/>
              <p:nvPr/>
            </p:nvSpPr>
            <p:spPr>
              <a:xfrm>
                <a:off x="2085625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1" y="8995"/>
                    </a:lnTo>
                    <a:lnTo>
                      <a:pt x="9111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5" name="Google Shape;985;p98"/>
            <p:cNvGrpSpPr/>
            <p:nvPr/>
          </p:nvGrpSpPr>
          <p:grpSpPr>
            <a:xfrm>
              <a:off x="5501413" y="1698336"/>
              <a:ext cx="1067025" cy="847027"/>
              <a:chOff x="500000" y="238125"/>
              <a:chExt cx="6570350" cy="5212475"/>
            </a:xfrm>
          </p:grpSpPr>
          <p:sp>
            <p:nvSpPr>
              <p:cNvPr id="986" name="Google Shape;986;p98"/>
              <p:cNvSpPr/>
              <p:nvPr/>
            </p:nvSpPr>
            <p:spPr>
              <a:xfrm>
                <a:off x="727750" y="465875"/>
                <a:ext cx="6114825" cy="1357900"/>
              </a:xfrm>
              <a:custGeom>
                <a:rect b="b" l="l" r="r" t="t"/>
                <a:pathLst>
                  <a:path extrusionOk="0" h="54316" w="244593">
                    <a:moveTo>
                      <a:pt x="1" y="1"/>
                    </a:moveTo>
                    <a:lnTo>
                      <a:pt x="1" y="54316"/>
                    </a:lnTo>
                    <a:lnTo>
                      <a:pt x="244592" y="54316"/>
                    </a:lnTo>
                    <a:lnTo>
                      <a:pt x="244592" y="18106"/>
                    </a:lnTo>
                    <a:lnTo>
                      <a:pt x="90642" y="18106"/>
                    </a:lnTo>
                    <a:lnTo>
                      <a:pt x="72421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98"/>
              <p:cNvSpPr/>
              <p:nvPr/>
            </p:nvSpPr>
            <p:spPr>
              <a:xfrm>
                <a:off x="1180375" y="1143350"/>
                <a:ext cx="5209575" cy="680425"/>
              </a:xfrm>
              <a:custGeom>
                <a:rect b="b" l="l" r="r" t="t"/>
                <a:pathLst>
                  <a:path extrusionOk="0" h="27217" w="208383">
                    <a:moveTo>
                      <a:pt x="1" y="1"/>
                    </a:moveTo>
                    <a:lnTo>
                      <a:pt x="1" y="27217"/>
                    </a:lnTo>
                    <a:lnTo>
                      <a:pt x="208383" y="27217"/>
                    </a:lnTo>
                    <a:lnTo>
                      <a:pt x="2083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98"/>
              <p:cNvSpPr/>
              <p:nvPr/>
            </p:nvSpPr>
            <p:spPr>
              <a:xfrm>
                <a:off x="727750" y="1598900"/>
                <a:ext cx="6114825" cy="3623925"/>
              </a:xfrm>
              <a:custGeom>
                <a:rect b="b" l="l" r="r" t="t"/>
                <a:pathLst>
                  <a:path extrusionOk="0" h="144957" w="244593">
                    <a:moveTo>
                      <a:pt x="90642" y="1"/>
                    </a:moveTo>
                    <a:lnTo>
                      <a:pt x="72421" y="18106"/>
                    </a:lnTo>
                    <a:lnTo>
                      <a:pt x="1" y="18106"/>
                    </a:lnTo>
                    <a:lnTo>
                      <a:pt x="1" y="144957"/>
                    </a:lnTo>
                    <a:lnTo>
                      <a:pt x="244592" y="144957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98"/>
              <p:cNvSpPr/>
              <p:nvPr/>
            </p:nvSpPr>
            <p:spPr>
              <a:xfrm>
                <a:off x="500000" y="1371125"/>
                <a:ext cx="6570350" cy="4079475"/>
              </a:xfrm>
              <a:custGeom>
                <a:rect b="b" l="l" r="r" t="t"/>
                <a:pathLst>
                  <a:path extrusionOk="0" h="163179" w="262814">
                    <a:moveTo>
                      <a:pt x="253702" y="9112"/>
                    </a:moveTo>
                    <a:lnTo>
                      <a:pt x="253702" y="154068"/>
                    </a:lnTo>
                    <a:lnTo>
                      <a:pt x="8994" y="154068"/>
                    </a:lnTo>
                    <a:lnTo>
                      <a:pt x="9111" y="27217"/>
                    </a:lnTo>
                    <a:lnTo>
                      <a:pt x="83399" y="27217"/>
                    </a:lnTo>
                    <a:lnTo>
                      <a:pt x="101621" y="9112"/>
                    </a:lnTo>
                    <a:close/>
                    <a:moveTo>
                      <a:pt x="97767" y="1"/>
                    </a:moveTo>
                    <a:lnTo>
                      <a:pt x="79662" y="18106"/>
                    </a:lnTo>
                    <a:lnTo>
                      <a:pt x="0" y="18106"/>
                    </a:lnTo>
                    <a:lnTo>
                      <a:pt x="0" y="163179"/>
                    </a:lnTo>
                    <a:lnTo>
                      <a:pt x="262813" y="163179"/>
                    </a:lnTo>
                    <a:lnTo>
                      <a:pt x="262813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98"/>
              <p:cNvSpPr/>
              <p:nvPr/>
            </p:nvSpPr>
            <p:spPr>
              <a:xfrm>
                <a:off x="500000" y="238125"/>
                <a:ext cx="6570350" cy="1699550"/>
              </a:xfrm>
              <a:custGeom>
                <a:rect b="b" l="l" r="r" t="t"/>
                <a:pathLst>
                  <a:path extrusionOk="0" h="67982" w="262814">
                    <a:moveTo>
                      <a:pt x="0" y="0"/>
                    </a:moveTo>
                    <a:lnTo>
                      <a:pt x="0" y="67981"/>
                    </a:lnTo>
                    <a:lnTo>
                      <a:pt x="9111" y="67981"/>
                    </a:lnTo>
                    <a:lnTo>
                      <a:pt x="9111" y="9111"/>
                    </a:lnTo>
                    <a:lnTo>
                      <a:pt x="79662" y="9111"/>
                    </a:lnTo>
                    <a:lnTo>
                      <a:pt x="97767" y="27216"/>
                    </a:lnTo>
                    <a:lnTo>
                      <a:pt x="253702" y="27216"/>
                    </a:lnTo>
                    <a:lnTo>
                      <a:pt x="253702" y="49876"/>
                    </a:lnTo>
                    <a:lnTo>
                      <a:pt x="262813" y="49876"/>
                    </a:lnTo>
                    <a:lnTo>
                      <a:pt x="262813" y="18105"/>
                    </a:lnTo>
                    <a:lnTo>
                      <a:pt x="101621" y="18105"/>
                    </a:lnTo>
                    <a:lnTo>
                      <a:pt x="83399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98"/>
              <p:cNvSpPr/>
              <p:nvPr/>
            </p:nvSpPr>
            <p:spPr>
              <a:xfrm>
                <a:off x="727750" y="4770175"/>
                <a:ext cx="6114825" cy="452650"/>
              </a:xfrm>
              <a:custGeom>
                <a:rect b="b" l="l" r="r" t="t"/>
                <a:pathLst>
                  <a:path extrusionOk="0" h="18106" w="244593">
                    <a:moveTo>
                      <a:pt x="1" y="1"/>
                    </a:moveTo>
                    <a:lnTo>
                      <a:pt x="1" y="18106"/>
                    </a:lnTo>
                    <a:lnTo>
                      <a:pt x="244592" y="18106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A28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98"/>
              <p:cNvSpPr/>
              <p:nvPr/>
            </p:nvSpPr>
            <p:spPr>
              <a:xfrm>
                <a:off x="4804275" y="2051525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1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98"/>
              <p:cNvSpPr/>
              <p:nvPr/>
            </p:nvSpPr>
            <p:spPr>
              <a:xfrm>
                <a:off x="4804275" y="2504150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0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98"/>
              <p:cNvSpPr/>
              <p:nvPr/>
            </p:nvSpPr>
            <p:spPr>
              <a:xfrm>
                <a:off x="1180375" y="2504150"/>
                <a:ext cx="224875" cy="224875"/>
              </a:xfrm>
              <a:custGeom>
                <a:rect b="b" l="l" r="r" t="t"/>
                <a:pathLst>
                  <a:path extrusionOk="0" h="8995" w="8995">
                    <a:moveTo>
                      <a:pt x="1" y="0"/>
                    </a:moveTo>
                    <a:lnTo>
                      <a:pt x="1" y="8995"/>
                    </a:lnTo>
                    <a:lnTo>
                      <a:pt x="8995" y="8995"/>
                    </a:lnTo>
                    <a:lnTo>
                      <a:pt x="8995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98"/>
              <p:cNvSpPr/>
              <p:nvPr/>
            </p:nvSpPr>
            <p:spPr>
              <a:xfrm>
                <a:off x="1633000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2" y="8995"/>
                    </a:lnTo>
                    <a:lnTo>
                      <a:pt x="9112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98"/>
              <p:cNvSpPr/>
              <p:nvPr/>
            </p:nvSpPr>
            <p:spPr>
              <a:xfrm>
                <a:off x="2085625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1" y="8995"/>
                    </a:lnTo>
                    <a:lnTo>
                      <a:pt x="9111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7" name="Google Shape;997;p98"/>
            <p:cNvGrpSpPr/>
            <p:nvPr/>
          </p:nvGrpSpPr>
          <p:grpSpPr>
            <a:xfrm>
              <a:off x="6956376" y="1698336"/>
              <a:ext cx="1067025" cy="847027"/>
              <a:chOff x="500000" y="238125"/>
              <a:chExt cx="6570350" cy="5212475"/>
            </a:xfrm>
          </p:grpSpPr>
          <p:sp>
            <p:nvSpPr>
              <p:cNvPr id="998" name="Google Shape;998;p98"/>
              <p:cNvSpPr/>
              <p:nvPr/>
            </p:nvSpPr>
            <p:spPr>
              <a:xfrm>
                <a:off x="727750" y="465875"/>
                <a:ext cx="6114825" cy="1357900"/>
              </a:xfrm>
              <a:custGeom>
                <a:rect b="b" l="l" r="r" t="t"/>
                <a:pathLst>
                  <a:path extrusionOk="0" h="54316" w="244593">
                    <a:moveTo>
                      <a:pt x="1" y="1"/>
                    </a:moveTo>
                    <a:lnTo>
                      <a:pt x="1" y="54316"/>
                    </a:lnTo>
                    <a:lnTo>
                      <a:pt x="244592" y="54316"/>
                    </a:lnTo>
                    <a:lnTo>
                      <a:pt x="244592" y="18106"/>
                    </a:lnTo>
                    <a:lnTo>
                      <a:pt x="90642" y="18106"/>
                    </a:lnTo>
                    <a:lnTo>
                      <a:pt x="72421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98"/>
              <p:cNvSpPr/>
              <p:nvPr/>
            </p:nvSpPr>
            <p:spPr>
              <a:xfrm>
                <a:off x="1180375" y="1143350"/>
                <a:ext cx="5209575" cy="680425"/>
              </a:xfrm>
              <a:custGeom>
                <a:rect b="b" l="l" r="r" t="t"/>
                <a:pathLst>
                  <a:path extrusionOk="0" h="27217" w="208383">
                    <a:moveTo>
                      <a:pt x="1" y="1"/>
                    </a:moveTo>
                    <a:lnTo>
                      <a:pt x="1" y="27217"/>
                    </a:lnTo>
                    <a:lnTo>
                      <a:pt x="208383" y="27217"/>
                    </a:lnTo>
                    <a:lnTo>
                      <a:pt x="2083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98"/>
              <p:cNvSpPr/>
              <p:nvPr/>
            </p:nvSpPr>
            <p:spPr>
              <a:xfrm>
                <a:off x="727750" y="1598900"/>
                <a:ext cx="6114825" cy="3623925"/>
              </a:xfrm>
              <a:custGeom>
                <a:rect b="b" l="l" r="r" t="t"/>
                <a:pathLst>
                  <a:path extrusionOk="0" h="144957" w="244593">
                    <a:moveTo>
                      <a:pt x="90642" y="1"/>
                    </a:moveTo>
                    <a:lnTo>
                      <a:pt x="72421" y="18106"/>
                    </a:lnTo>
                    <a:lnTo>
                      <a:pt x="1" y="18106"/>
                    </a:lnTo>
                    <a:lnTo>
                      <a:pt x="1" y="144957"/>
                    </a:lnTo>
                    <a:lnTo>
                      <a:pt x="244592" y="144957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D9D2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98"/>
              <p:cNvSpPr/>
              <p:nvPr/>
            </p:nvSpPr>
            <p:spPr>
              <a:xfrm>
                <a:off x="500000" y="1371125"/>
                <a:ext cx="6570350" cy="4079475"/>
              </a:xfrm>
              <a:custGeom>
                <a:rect b="b" l="l" r="r" t="t"/>
                <a:pathLst>
                  <a:path extrusionOk="0" h="163179" w="262814">
                    <a:moveTo>
                      <a:pt x="253702" y="9112"/>
                    </a:moveTo>
                    <a:lnTo>
                      <a:pt x="253702" y="154068"/>
                    </a:lnTo>
                    <a:lnTo>
                      <a:pt x="8994" y="154068"/>
                    </a:lnTo>
                    <a:lnTo>
                      <a:pt x="9111" y="27217"/>
                    </a:lnTo>
                    <a:lnTo>
                      <a:pt x="83399" y="27217"/>
                    </a:lnTo>
                    <a:lnTo>
                      <a:pt x="101621" y="9112"/>
                    </a:lnTo>
                    <a:close/>
                    <a:moveTo>
                      <a:pt x="97767" y="1"/>
                    </a:moveTo>
                    <a:lnTo>
                      <a:pt x="79662" y="18106"/>
                    </a:lnTo>
                    <a:lnTo>
                      <a:pt x="0" y="18106"/>
                    </a:lnTo>
                    <a:lnTo>
                      <a:pt x="0" y="163179"/>
                    </a:lnTo>
                    <a:lnTo>
                      <a:pt x="262813" y="163179"/>
                    </a:lnTo>
                    <a:lnTo>
                      <a:pt x="262813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98"/>
              <p:cNvSpPr/>
              <p:nvPr/>
            </p:nvSpPr>
            <p:spPr>
              <a:xfrm>
                <a:off x="500000" y="238125"/>
                <a:ext cx="6570350" cy="1699550"/>
              </a:xfrm>
              <a:custGeom>
                <a:rect b="b" l="l" r="r" t="t"/>
                <a:pathLst>
                  <a:path extrusionOk="0" h="67982" w="262814">
                    <a:moveTo>
                      <a:pt x="0" y="0"/>
                    </a:moveTo>
                    <a:lnTo>
                      <a:pt x="0" y="67981"/>
                    </a:lnTo>
                    <a:lnTo>
                      <a:pt x="9111" y="67981"/>
                    </a:lnTo>
                    <a:lnTo>
                      <a:pt x="9111" y="9111"/>
                    </a:lnTo>
                    <a:lnTo>
                      <a:pt x="79662" y="9111"/>
                    </a:lnTo>
                    <a:lnTo>
                      <a:pt x="97767" y="27216"/>
                    </a:lnTo>
                    <a:lnTo>
                      <a:pt x="253702" y="27216"/>
                    </a:lnTo>
                    <a:lnTo>
                      <a:pt x="253702" y="49876"/>
                    </a:lnTo>
                    <a:lnTo>
                      <a:pt x="262813" y="49876"/>
                    </a:lnTo>
                    <a:lnTo>
                      <a:pt x="262813" y="18105"/>
                    </a:lnTo>
                    <a:lnTo>
                      <a:pt x="101621" y="18105"/>
                    </a:lnTo>
                    <a:lnTo>
                      <a:pt x="83399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98"/>
              <p:cNvSpPr/>
              <p:nvPr/>
            </p:nvSpPr>
            <p:spPr>
              <a:xfrm>
                <a:off x="727750" y="4770175"/>
                <a:ext cx="6114825" cy="452650"/>
              </a:xfrm>
              <a:custGeom>
                <a:rect b="b" l="l" r="r" t="t"/>
                <a:pathLst>
                  <a:path extrusionOk="0" h="18106" w="244593">
                    <a:moveTo>
                      <a:pt x="1" y="1"/>
                    </a:moveTo>
                    <a:lnTo>
                      <a:pt x="1" y="18106"/>
                    </a:lnTo>
                    <a:lnTo>
                      <a:pt x="244592" y="18106"/>
                    </a:lnTo>
                    <a:lnTo>
                      <a:pt x="244592" y="1"/>
                    </a:lnTo>
                    <a:close/>
                  </a:path>
                </a:pathLst>
              </a:custGeom>
              <a:solidFill>
                <a:srgbClr val="A28D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p98"/>
              <p:cNvSpPr/>
              <p:nvPr/>
            </p:nvSpPr>
            <p:spPr>
              <a:xfrm>
                <a:off x="4804275" y="2051525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1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1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98"/>
              <p:cNvSpPr/>
              <p:nvPr/>
            </p:nvSpPr>
            <p:spPr>
              <a:xfrm>
                <a:off x="4804275" y="2504150"/>
                <a:ext cx="1585675" cy="224875"/>
              </a:xfrm>
              <a:custGeom>
                <a:rect b="b" l="l" r="r" t="t"/>
                <a:pathLst>
                  <a:path extrusionOk="0" h="8995" w="63427">
                    <a:moveTo>
                      <a:pt x="1" y="0"/>
                    </a:moveTo>
                    <a:lnTo>
                      <a:pt x="1" y="8995"/>
                    </a:lnTo>
                    <a:lnTo>
                      <a:pt x="63427" y="8995"/>
                    </a:lnTo>
                    <a:lnTo>
                      <a:pt x="63427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98"/>
              <p:cNvSpPr/>
              <p:nvPr/>
            </p:nvSpPr>
            <p:spPr>
              <a:xfrm>
                <a:off x="1180375" y="2504150"/>
                <a:ext cx="224875" cy="224875"/>
              </a:xfrm>
              <a:custGeom>
                <a:rect b="b" l="l" r="r" t="t"/>
                <a:pathLst>
                  <a:path extrusionOk="0" h="8995" w="8995">
                    <a:moveTo>
                      <a:pt x="1" y="0"/>
                    </a:moveTo>
                    <a:lnTo>
                      <a:pt x="1" y="8995"/>
                    </a:lnTo>
                    <a:lnTo>
                      <a:pt x="8995" y="8995"/>
                    </a:lnTo>
                    <a:lnTo>
                      <a:pt x="8995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98"/>
              <p:cNvSpPr/>
              <p:nvPr/>
            </p:nvSpPr>
            <p:spPr>
              <a:xfrm>
                <a:off x="1633000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2" y="8995"/>
                    </a:lnTo>
                    <a:lnTo>
                      <a:pt x="9112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98"/>
              <p:cNvSpPr/>
              <p:nvPr/>
            </p:nvSpPr>
            <p:spPr>
              <a:xfrm>
                <a:off x="2085625" y="2504150"/>
                <a:ext cx="227800" cy="224875"/>
              </a:xfrm>
              <a:custGeom>
                <a:rect b="b" l="l" r="r" t="t"/>
                <a:pathLst>
                  <a:path extrusionOk="0" h="8995" w="9112">
                    <a:moveTo>
                      <a:pt x="1" y="0"/>
                    </a:moveTo>
                    <a:lnTo>
                      <a:pt x="1" y="8995"/>
                    </a:lnTo>
                    <a:lnTo>
                      <a:pt x="9111" y="8995"/>
                    </a:lnTo>
                    <a:lnTo>
                      <a:pt x="9111" y="0"/>
                    </a:lnTo>
                    <a:close/>
                  </a:path>
                </a:pathLst>
              </a:custGeom>
              <a:solidFill>
                <a:srgbClr val="4E52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09" name="Google Shape;1009;p98"/>
          <p:cNvPicPr preferRelativeResize="0"/>
          <p:nvPr/>
        </p:nvPicPr>
        <p:blipFill rotWithShape="1">
          <a:blip r:embed="rId3">
            <a:alphaModFix/>
          </a:blip>
          <a:srcRect b="2481" l="16392" r="18889" t="42348"/>
          <a:stretch/>
        </p:blipFill>
        <p:spPr>
          <a:xfrm>
            <a:off x="245300" y="2046425"/>
            <a:ext cx="6458952" cy="3097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0" name="Google Shape;1010;p98"/>
          <p:cNvCxnSpPr/>
          <p:nvPr/>
        </p:nvCxnSpPr>
        <p:spPr>
          <a:xfrm rot="10800000">
            <a:off x="924505" y="2637673"/>
            <a:ext cx="0" cy="95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1" name="Google Shape;1011;p98"/>
          <p:cNvCxnSpPr/>
          <p:nvPr/>
        </p:nvCxnSpPr>
        <p:spPr>
          <a:xfrm rot="10800000">
            <a:off x="2216657" y="2637673"/>
            <a:ext cx="0" cy="95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2" name="Google Shape;1012;p98"/>
          <p:cNvCxnSpPr/>
          <p:nvPr/>
        </p:nvCxnSpPr>
        <p:spPr>
          <a:xfrm rot="10800000">
            <a:off x="4895320" y="2637673"/>
            <a:ext cx="0" cy="95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3" name="Google Shape;1013;p98"/>
          <p:cNvCxnSpPr/>
          <p:nvPr/>
        </p:nvCxnSpPr>
        <p:spPr>
          <a:xfrm rot="10800000">
            <a:off x="6234651" y="2637673"/>
            <a:ext cx="0" cy="95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4" name="Google Shape;1014;p98"/>
          <p:cNvSpPr/>
          <p:nvPr/>
        </p:nvSpPr>
        <p:spPr>
          <a:xfrm>
            <a:off x="2981675" y="3144125"/>
            <a:ext cx="1195800" cy="771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00FF00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rPr>
              <a:t>&gt;_</a:t>
            </a:r>
            <a:endParaRPr b="0" i="0" sz="3000" u="none" cap="none" strike="noStrike">
              <a:solidFill>
                <a:srgbClr val="00FF00"/>
              </a:solidFill>
              <a:latin typeface="Inconsolata ExtraBold"/>
              <a:ea typeface="Inconsolata ExtraBold"/>
              <a:cs typeface="Inconsolata ExtraBold"/>
              <a:sym typeface="Inconsolata ExtraBold"/>
            </a:endParaRPr>
          </a:p>
        </p:txBody>
      </p:sp>
      <p:sp>
        <p:nvSpPr>
          <p:cNvPr id="1015" name="Google Shape;1015;p98"/>
          <p:cNvSpPr txBox="1"/>
          <p:nvPr/>
        </p:nvSpPr>
        <p:spPr>
          <a:xfrm>
            <a:off x="7011325" y="2046425"/>
            <a:ext cx="2007300" cy="264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1371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While directory traversal is a back-end component vulnerability that can cause significant impact, the direct impact is limited to </a:t>
            </a:r>
            <a:b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attacker viewing unauthorized data.</a:t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6" name="Google Shape;1016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1789" y="1672100"/>
            <a:ext cx="706371" cy="6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oogle Shape;1021;p99"/>
          <p:cNvPicPr preferRelativeResize="0"/>
          <p:nvPr/>
        </p:nvPicPr>
        <p:blipFill rotWithShape="1">
          <a:blip r:embed="rId3">
            <a:alphaModFix/>
          </a:blip>
          <a:srcRect b="10247" l="0" r="0" t="0"/>
          <a:stretch/>
        </p:blipFill>
        <p:spPr>
          <a:xfrm>
            <a:off x="-12125" y="0"/>
            <a:ext cx="91685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9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3" name="Google Shape;1023;p99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1024" name="Google Shape;1024;p99"/>
          <p:cNvSpPr txBox="1"/>
          <p:nvPr>
            <p:ph idx="1" type="subTitle"/>
          </p:nvPr>
        </p:nvSpPr>
        <p:spPr>
          <a:xfrm>
            <a:off x="658300" y="3990675"/>
            <a:ext cx="8485800" cy="876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lt1"/>
                </a:solidFill>
              </a:rPr>
              <a:t>Another type of back-end component vulnerability is called </a:t>
            </a:r>
            <a:r>
              <a:rPr b="1" lang="en" sz="1600">
                <a:solidFill>
                  <a:schemeClr val="accent1"/>
                </a:solidFill>
              </a:rPr>
              <a:t>local file inclusion (LFI)</a:t>
            </a:r>
            <a:r>
              <a:rPr lang="en" sz="1600">
                <a:solidFill>
                  <a:schemeClr val="accent1"/>
                </a:solidFill>
              </a:rPr>
              <a:t>. </a:t>
            </a:r>
            <a:br>
              <a:rPr lang="en" sz="1600">
                <a:solidFill>
                  <a:schemeClr val="lt1"/>
                </a:solidFill>
              </a:rPr>
            </a:br>
            <a:r>
              <a:rPr lang="en" sz="1600">
                <a:solidFill>
                  <a:schemeClr val="lt1"/>
                </a:solidFill>
              </a:rPr>
              <a:t>LFI can let attackers view unauthorized data, impact the modification and deletion </a:t>
            </a:r>
            <a:br>
              <a:rPr lang="en" sz="1600">
                <a:solidFill>
                  <a:schemeClr val="lt1"/>
                </a:solidFill>
              </a:rPr>
            </a:br>
            <a:r>
              <a:rPr lang="en" sz="1600">
                <a:solidFill>
                  <a:schemeClr val="lt1"/>
                </a:solidFill>
              </a:rPr>
              <a:t>of data, and cause system outages.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00"/>
          <p:cNvSpPr txBox="1"/>
          <p:nvPr>
            <p:ph idx="4294967295" type="subTitle"/>
          </p:nvPr>
        </p:nvSpPr>
        <p:spPr>
          <a:xfrm>
            <a:off x="0" y="984200"/>
            <a:ext cx="9526200" cy="3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800" spcFirstLastPara="1" rIns="1828800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b="1" i="0" lang="en" sz="2500" u="none" cap="none" strike="noStrike">
                <a:latin typeface="Roboto"/>
                <a:ea typeface="Roboto"/>
                <a:cs typeface="Roboto"/>
                <a:sym typeface="Roboto"/>
              </a:rPr>
              <a:t>LFI</a:t>
            </a:r>
            <a:r>
              <a:rPr b="0" i="0" lang="en" sz="2500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2500" u="none" cap="none" strike="noStrike"/>
              <a:t>is a web application vulnerability </a:t>
            </a:r>
            <a:br>
              <a:rPr i="0" lang="en" sz="2500" u="none" cap="none" strike="noStrike"/>
            </a:br>
            <a:r>
              <a:rPr i="0" lang="en" sz="2500" u="none" cap="none" strike="noStrike"/>
              <a:t>in which an attacker tricks </a:t>
            </a:r>
            <a:br>
              <a:rPr i="0" lang="en" sz="2500" u="none" cap="none" strike="noStrike"/>
            </a:br>
            <a:r>
              <a:rPr i="0" lang="en" sz="2500" u="none" cap="none" strike="noStrike"/>
              <a:t>the application into running unintended back-end code or scripts that are local </a:t>
            </a:r>
            <a:br>
              <a:rPr i="0" lang="en" sz="2500" u="none" cap="none" strike="noStrike"/>
            </a:br>
            <a:r>
              <a:rPr i="0" lang="en" sz="2500" u="none" cap="none" strike="noStrike"/>
              <a:t>to the application’s filesystem.</a:t>
            </a:r>
            <a:endParaRPr sz="1100"/>
          </a:p>
        </p:txBody>
      </p:sp>
      <p:sp>
        <p:nvSpPr>
          <p:cNvPr id="1030" name="Google Shape;1030;p100"/>
          <p:cNvSpPr txBox="1"/>
          <p:nvPr/>
        </p:nvSpPr>
        <p:spPr>
          <a:xfrm>
            <a:off x="1837050" y="4442074"/>
            <a:ext cx="546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(In other words, the scripts reside on the web application’s server.)</a:t>
            </a:r>
            <a:endParaRPr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01"/>
          <p:cNvSpPr txBox="1"/>
          <p:nvPr/>
        </p:nvSpPr>
        <p:spPr>
          <a:xfrm>
            <a:off x="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LFI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101"/>
          <p:cNvSpPr txBox="1"/>
          <p:nvPr/>
        </p:nvSpPr>
        <p:spPr>
          <a:xfrm>
            <a:off x="0" y="675975"/>
            <a:ext cx="8456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LFI is typically conducted by using a file upload feature to upload malicious scripts into the application’s local filesystem. Common examples of file upload web applications include: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101"/>
          <p:cNvSpPr/>
          <p:nvPr/>
        </p:nvSpPr>
        <p:spPr>
          <a:xfrm>
            <a:off x="4584600" y="1763275"/>
            <a:ext cx="4584600" cy="338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Uploading and viewing images </a:t>
            </a:r>
            <a:br>
              <a:rPr b="0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on a social media website.</a:t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101"/>
          <p:cNvSpPr/>
          <p:nvPr/>
        </p:nvSpPr>
        <p:spPr>
          <a:xfrm>
            <a:off x="0" y="1763275"/>
            <a:ext cx="4584600" cy="3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Uploading your resume for </a:t>
            </a:r>
            <a:br>
              <a:rPr b="0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job listing.</a:t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39" name="Google Shape;1039;p101"/>
          <p:cNvGrpSpPr/>
          <p:nvPr/>
        </p:nvGrpSpPr>
        <p:grpSpPr>
          <a:xfrm>
            <a:off x="1147951" y="2633541"/>
            <a:ext cx="1894495" cy="2309132"/>
            <a:chOff x="1026400" y="2127425"/>
            <a:chExt cx="2197025" cy="2677875"/>
          </a:xfrm>
        </p:grpSpPr>
        <p:pic>
          <p:nvPicPr>
            <p:cNvPr id="1040" name="Google Shape;1040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36575" y="2127425"/>
              <a:ext cx="1886850" cy="24487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41" name="Google Shape;1041;p101"/>
            <p:cNvGrpSpPr/>
            <p:nvPr/>
          </p:nvGrpSpPr>
          <p:grpSpPr>
            <a:xfrm>
              <a:off x="1026400" y="4236200"/>
              <a:ext cx="569100" cy="569100"/>
              <a:chOff x="1026400" y="4236200"/>
              <a:chExt cx="569100" cy="569100"/>
            </a:xfrm>
          </p:grpSpPr>
          <p:sp>
            <p:nvSpPr>
              <p:cNvPr id="1042" name="Google Shape;1042;p101"/>
              <p:cNvSpPr/>
              <p:nvPr/>
            </p:nvSpPr>
            <p:spPr>
              <a:xfrm>
                <a:off x="1026400" y="4236200"/>
                <a:ext cx="569100" cy="569100"/>
              </a:xfrm>
              <a:prstGeom prst="ellipse">
                <a:avLst/>
              </a:prstGeom>
              <a:solidFill>
                <a:srgbClr val="FF99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101"/>
              <p:cNvSpPr/>
              <p:nvPr/>
            </p:nvSpPr>
            <p:spPr>
              <a:xfrm flipH="1" rot="5400000">
                <a:off x="1156814" y="4400324"/>
                <a:ext cx="308281" cy="240839"/>
              </a:xfrm>
              <a:custGeom>
                <a:rect b="b" l="l" r="r" t="t"/>
                <a:pathLst>
                  <a:path extrusionOk="0" h="208971" w="267489">
                    <a:moveTo>
                      <a:pt x="163598" y="0"/>
                    </a:moveTo>
                    <a:cubicBezTo>
                      <a:pt x="158256" y="0"/>
                      <a:pt x="152897" y="2019"/>
                      <a:pt x="148784" y="6031"/>
                    </a:cubicBezTo>
                    <a:cubicBezTo>
                      <a:pt x="140709" y="14107"/>
                      <a:pt x="140507" y="27229"/>
                      <a:pt x="148582" y="35506"/>
                    </a:cubicBezTo>
                    <a:lnTo>
                      <a:pt x="196427" y="83553"/>
                    </a:lnTo>
                    <a:lnTo>
                      <a:pt x="20793" y="83553"/>
                    </a:lnTo>
                    <a:cubicBezTo>
                      <a:pt x="9286" y="83553"/>
                      <a:pt x="0" y="92839"/>
                      <a:pt x="0" y="104346"/>
                    </a:cubicBezTo>
                    <a:cubicBezTo>
                      <a:pt x="0" y="115853"/>
                      <a:pt x="9286" y="125140"/>
                      <a:pt x="20793" y="125140"/>
                    </a:cubicBezTo>
                    <a:lnTo>
                      <a:pt x="196427" y="125140"/>
                    </a:lnTo>
                    <a:lnTo>
                      <a:pt x="148582" y="173187"/>
                    </a:lnTo>
                    <a:cubicBezTo>
                      <a:pt x="140305" y="181262"/>
                      <a:pt x="140103" y="194586"/>
                      <a:pt x="148380" y="202863"/>
                    </a:cubicBezTo>
                    <a:cubicBezTo>
                      <a:pt x="152468" y="206951"/>
                      <a:pt x="157788" y="208971"/>
                      <a:pt x="163097" y="208971"/>
                    </a:cubicBezTo>
                    <a:cubicBezTo>
                      <a:pt x="168538" y="208971"/>
                      <a:pt x="173970" y="206850"/>
                      <a:pt x="178056" y="202661"/>
                    </a:cubicBezTo>
                    <a:lnTo>
                      <a:pt x="261432" y="119285"/>
                    </a:lnTo>
                    <a:cubicBezTo>
                      <a:pt x="262240" y="118276"/>
                      <a:pt x="263047" y="117266"/>
                      <a:pt x="263855" y="116055"/>
                    </a:cubicBezTo>
                    <a:cubicBezTo>
                      <a:pt x="263855" y="116055"/>
                      <a:pt x="263855" y="116055"/>
                      <a:pt x="263855" y="115853"/>
                    </a:cubicBezTo>
                    <a:cubicBezTo>
                      <a:pt x="264662" y="114642"/>
                      <a:pt x="265470" y="113431"/>
                      <a:pt x="266075" y="112220"/>
                    </a:cubicBezTo>
                    <a:cubicBezTo>
                      <a:pt x="266075" y="112018"/>
                      <a:pt x="266075" y="112018"/>
                      <a:pt x="266075" y="111816"/>
                    </a:cubicBezTo>
                    <a:cubicBezTo>
                      <a:pt x="266479" y="110806"/>
                      <a:pt x="266883" y="109595"/>
                      <a:pt x="267085" y="108182"/>
                    </a:cubicBezTo>
                    <a:lnTo>
                      <a:pt x="267085" y="107980"/>
                    </a:lnTo>
                    <a:cubicBezTo>
                      <a:pt x="267488" y="105558"/>
                      <a:pt x="267488" y="102933"/>
                      <a:pt x="267085" y="100511"/>
                    </a:cubicBezTo>
                    <a:lnTo>
                      <a:pt x="267085" y="100309"/>
                    </a:lnTo>
                    <a:cubicBezTo>
                      <a:pt x="266883" y="99097"/>
                      <a:pt x="266479" y="97886"/>
                      <a:pt x="266075" y="96675"/>
                    </a:cubicBezTo>
                    <a:cubicBezTo>
                      <a:pt x="266075" y="96473"/>
                      <a:pt x="266075" y="96473"/>
                      <a:pt x="266075" y="96473"/>
                    </a:cubicBezTo>
                    <a:cubicBezTo>
                      <a:pt x="265470" y="95262"/>
                      <a:pt x="264864" y="94050"/>
                      <a:pt x="264258" y="93041"/>
                    </a:cubicBezTo>
                    <a:cubicBezTo>
                      <a:pt x="264258" y="93041"/>
                      <a:pt x="264258" y="92839"/>
                      <a:pt x="264258" y="92839"/>
                    </a:cubicBezTo>
                    <a:cubicBezTo>
                      <a:pt x="263451" y="91628"/>
                      <a:pt x="262643" y="90619"/>
                      <a:pt x="261634" y="89609"/>
                    </a:cubicBezTo>
                    <a:lnTo>
                      <a:pt x="178460" y="6233"/>
                    </a:lnTo>
                    <a:cubicBezTo>
                      <a:pt x="174398" y="2069"/>
                      <a:pt x="169007" y="0"/>
                      <a:pt x="1635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44" name="Google Shape;1044;p101"/>
          <p:cNvGrpSpPr/>
          <p:nvPr/>
        </p:nvGrpSpPr>
        <p:grpSpPr>
          <a:xfrm>
            <a:off x="5803379" y="2772155"/>
            <a:ext cx="2076246" cy="2170517"/>
            <a:chOff x="5711025" y="2288175"/>
            <a:chExt cx="2407800" cy="2517125"/>
          </a:xfrm>
        </p:grpSpPr>
        <p:sp>
          <p:nvSpPr>
            <p:cNvPr id="1045" name="Google Shape;1045;p101"/>
            <p:cNvSpPr/>
            <p:nvPr/>
          </p:nvSpPr>
          <p:spPr>
            <a:xfrm>
              <a:off x="5897625" y="2325500"/>
              <a:ext cx="2221200" cy="2148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01"/>
            <p:cNvSpPr/>
            <p:nvPr/>
          </p:nvSpPr>
          <p:spPr>
            <a:xfrm>
              <a:off x="5944275" y="2288175"/>
              <a:ext cx="2127300" cy="2127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01"/>
            <p:cNvSpPr/>
            <p:nvPr/>
          </p:nvSpPr>
          <p:spPr>
            <a:xfrm>
              <a:off x="5944275" y="2689275"/>
              <a:ext cx="1518900" cy="1726200"/>
            </a:xfrm>
            <a:prstGeom prst="triangle">
              <a:avLst>
                <a:gd fmla="val 50000" name="adj"/>
              </a:avLst>
            </a:prstGeom>
            <a:solidFill>
              <a:srgbClr val="4FA7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01"/>
            <p:cNvSpPr/>
            <p:nvPr/>
          </p:nvSpPr>
          <p:spPr>
            <a:xfrm>
              <a:off x="7089565" y="3300007"/>
              <a:ext cx="981900" cy="1115400"/>
            </a:xfrm>
            <a:prstGeom prst="triangle">
              <a:avLst>
                <a:gd fmla="val 50000" name="adj"/>
              </a:avLst>
            </a:prstGeom>
            <a:solidFill>
              <a:srgbClr val="4FA7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01"/>
            <p:cNvSpPr/>
            <p:nvPr/>
          </p:nvSpPr>
          <p:spPr>
            <a:xfrm>
              <a:off x="7287775" y="2496575"/>
              <a:ext cx="457200" cy="457200"/>
            </a:xfrm>
            <a:prstGeom prst="ellipse">
              <a:avLst/>
            </a:prstGeom>
            <a:solidFill>
              <a:srgbClr val="FECF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0" name="Google Shape;1050;p101"/>
            <p:cNvGrpSpPr/>
            <p:nvPr/>
          </p:nvGrpSpPr>
          <p:grpSpPr>
            <a:xfrm>
              <a:off x="5711025" y="4236200"/>
              <a:ext cx="569100" cy="569100"/>
              <a:chOff x="1026400" y="4236200"/>
              <a:chExt cx="569100" cy="569100"/>
            </a:xfrm>
          </p:grpSpPr>
          <p:sp>
            <p:nvSpPr>
              <p:cNvPr id="1051" name="Google Shape;1051;p101"/>
              <p:cNvSpPr/>
              <p:nvPr/>
            </p:nvSpPr>
            <p:spPr>
              <a:xfrm>
                <a:off x="1026400" y="4236200"/>
                <a:ext cx="569100" cy="569100"/>
              </a:xfrm>
              <a:prstGeom prst="ellipse">
                <a:avLst/>
              </a:prstGeom>
              <a:solidFill>
                <a:srgbClr val="FF99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101"/>
              <p:cNvSpPr/>
              <p:nvPr/>
            </p:nvSpPr>
            <p:spPr>
              <a:xfrm flipH="1" rot="5400000">
                <a:off x="1156814" y="4400324"/>
                <a:ext cx="308281" cy="240839"/>
              </a:xfrm>
              <a:custGeom>
                <a:rect b="b" l="l" r="r" t="t"/>
                <a:pathLst>
                  <a:path extrusionOk="0" h="208971" w="267489">
                    <a:moveTo>
                      <a:pt x="163598" y="0"/>
                    </a:moveTo>
                    <a:cubicBezTo>
                      <a:pt x="158256" y="0"/>
                      <a:pt x="152897" y="2019"/>
                      <a:pt x="148784" y="6031"/>
                    </a:cubicBezTo>
                    <a:cubicBezTo>
                      <a:pt x="140709" y="14107"/>
                      <a:pt x="140507" y="27229"/>
                      <a:pt x="148582" y="35506"/>
                    </a:cubicBezTo>
                    <a:lnTo>
                      <a:pt x="196427" y="83553"/>
                    </a:lnTo>
                    <a:lnTo>
                      <a:pt x="20793" y="83553"/>
                    </a:lnTo>
                    <a:cubicBezTo>
                      <a:pt x="9286" y="83553"/>
                      <a:pt x="0" y="92839"/>
                      <a:pt x="0" y="104346"/>
                    </a:cubicBezTo>
                    <a:cubicBezTo>
                      <a:pt x="0" y="115853"/>
                      <a:pt x="9286" y="125140"/>
                      <a:pt x="20793" y="125140"/>
                    </a:cubicBezTo>
                    <a:lnTo>
                      <a:pt x="196427" y="125140"/>
                    </a:lnTo>
                    <a:lnTo>
                      <a:pt x="148582" y="173187"/>
                    </a:lnTo>
                    <a:cubicBezTo>
                      <a:pt x="140305" y="181262"/>
                      <a:pt x="140103" y="194586"/>
                      <a:pt x="148380" y="202863"/>
                    </a:cubicBezTo>
                    <a:cubicBezTo>
                      <a:pt x="152468" y="206951"/>
                      <a:pt x="157788" y="208971"/>
                      <a:pt x="163097" y="208971"/>
                    </a:cubicBezTo>
                    <a:cubicBezTo>
                      <a:pt x="168538" y="208971"/>
                      <a:pt x="173970" y="206850"/>
                      <a:pt x="178056" y="202661"/>
                    </a:cubicBezTo>
                    <a:lnTo>
                      <a:pt x="261432" y="119285"/>
                    </a:lnTo>
                    <a:cubicBezTo>
                      <a:pt x="262240" y="118276"/>
                      <a:pt x="263047" y="117266"/>
                      <a:pt x="263855" y="116055"/>
                    </a:cubicBezTo>
                    <a:cubicBezTo>
                      <a:pt x="263855" y="116055"/>
                      <a:pt x="263855" y="116055"/>
                      <a:pt x="263855" y="115853"/>
                    </a:cubicBezTo>
                    <a:cubicBezTo>
                      <a:pt x="264662" y="114642"/>
                      <a:pt x="265470" y="113431"/>
                      <a:pt x="266075" y="112220"/>
                    </a:cubicBezTo>
                    <a:cubicBezTo>
                      <a:pt x="266075" y="112018"/>
                      <a:pt x="266075" y="112018"/>
                      <a:pt x="266075" y="111816"/>
                    </a:cubicBezTo>
                    <a:cubicBezTo>
                      <a:pt x="266479" y="110806"/>
                      <a:pt x="266883" y="109595"/>
                      <a:pt x="267085" y="108182"/>
                    </a:cubicBezTo>
                    <a:lnTo>
                      <a:pt x="267085" y="107980"/>
                    </a:lnTo>
                    <a:cubicBezTo>
                      <a:pt x="267488" y="105558"/>
                      <a:pt x="267488" y="102933"/>
                      <a:pt x="267085" y="100511"/>
                    </a:cubicBezTo>
                    <a:lnTo>
                      <a:pt x="267085" y="100309"/>
                    </a:lnTo>
                    <a:cubicBezTo>
                      <a:pt x="266883" y="99097"/>
                      <a:pt x="266479" y="97886"/>
                      <a:pt x="266075" y="96675"/>
                    </a:cubicBezTo>
                    <a:cubicBezTo>
                      <a:pt x="266075" y="96473"/>
                      <a:pt x="266075" y="96473"/>
                      <a:pt x="266075" y="96473"/>
                    </a:cubicBezTo>
                    <a:cubicBezTo>
                      <a:pt x="265470" y="95262"/>
                      <a:pt x="264864" y="94050"/>
                      <a:pt x="264258" y="93041"/>
                    </a:cubicBezTo>
                    <a:cubicBezTo>
                      <a:pt x="264258" y="93041"/>
                      <a:pt x="264258" y="92839"/>
                      <a:pt x="264258" y="92839"/>
                    </a:cubicBezTo>
                    <a:cubicBezTo>
                      <a:pt x="263451" y="91628"/>
                      <a:pt x="262643" y="90619"/>
                      <a:pt x="261634" y="89609"/>
                    </a:cubicBezTo>
                    <a:lnTo>
                      <a:pt x="178460" y="6233"/>
                    </a:lnTo>
                    <a:cubicBezTo>
                      <a:pt x="174398" y="2069"/>
                      <a:pt x="169007" y="0"/>
                      <a:pt x="1635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02"/>
          <p:cNvSpPr txBox="1"/>
          <p:nvPr/>
        </p:nvSpPr>
        <p:spPr>
          <a:xfrm>
            <a:off x="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pending on how the attack is conducted, LFI could fall under the following three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OWASP Top 10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risks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i="1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058" name="Google Shape;1058;p102"/>
          <p:cNvGrpSpPr/>
          <p:nvPr/>
        </p:nvGrpSpPr>
        <p:grpSpPr>
          <a:xfrm>
            <a:off x="440125" y="1147800"/>
            <a:ext cx="776900" cy="486300"/>
            <a:chOff x="457200" y="1466425"/>
            <a:chExt cx="776900" cy="486300"/>
          </a:xfrm>
        </p:grpSpPr>
        <p:sp>
          <p:nvSpPr>
            <p:cNvPr id="1059" name="Google Shape;1059;p10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17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AO1</a:t>
              </a:r>
              <a:endParaRPr b="1" i="0" sz="17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0" name="Google Shape;1060;p10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61" name="Google Shape;1061;p102"/>
          <p:cNvSpPr/>
          <p:nvPr/>
        </p:nvSpPr>
        <p:spPr>
          <a:xfrm>
            <a:off x="1335475" y="114780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Broken Access Control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62" name="Google Shape;1062;p102"/>
          <p:cNvGrpSpPr/>
          <p:nvPr/>
        </p:nvGrpSpPr>
        <p:grpSpPr>
          <a:xfrm>
            <a:off x="4813200" y="1147800"/>
            <a:ext cx="776900" cy="486300"/>
            <a:chOff x="457200" y="1466425"/>
            <a:chExt cx="776900" cy="486300"/>
          </a:xfrm>
        </p:grpSpPr>
        <p:sp>
          <p:nvSpPr>
            <p:cNvPr id="1063" name="Google Shape;1063;p10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AO6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4" name="Google Shape;1064;p10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65" name="Google Shape;1065;p102"/>
          <p:cNvSpPr/>
          <p:nvPr/>
        </p:nvSpPr>
        <p:spPr>
          <a:xfrm>
            <a:off x="5708550" y="1147800"/>
            <a:ext cx="33105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Vulnerable and Outdated Components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102"/>
          <p:cNvSpPr/>
          <p:nvPr/>
        </p:nvSpPr>
        <p:spPr>
          <a:xfrm>
            <a:off x="440125" y="1802650"/>
            <a:ext cx="695400" cy="486300"/>
          </a:xfrm>
          <a:prstGeom prst="roundRect">
            <a:avLst>
              <a:gd fmla="val 16667" name="adj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AO2</a:t>
            </a:r>
            <a:endParaRPr b="1" i="0" sz="3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102"/>
          <p:cNvSpPr/>
          <p:nvPr/>
        </p:nvSpPr>
        <p:spPr>
          <a:xfrm>
            <a:off x="1335475" y="180265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Cryptographic Failures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68" name="Google Shape;1068;p102"/>
          <p:cNvGrpSpPr/>
          <p:nvPr/>
        </p:nvGrpSpPr>
        <p:grpSpPr>
          <a:xfrm>
            <a:off x="4813200" y="1802655"/>
            <a:ext cx="776900" cy="486300"/>
            <a:chOff x="457200" y="1466425"/>
            <a:chExt cx="776900" cy="486300"/>
          </a:xfrm>
        </p:grpSpPr>
        <p:sp>
          <p:nvSpPr>
            <p:cNvPr id="1069" name="Google Shape;1069;p10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AO7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0" name="Google Shape;1070;p10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71" name="Google Shape;1071;p102"/>
          <p:cNvSpPr/>
          <p:nvPr/>
        </p:nvSpPr>
        <p:spPr>
          <a:xfrm>
            <a:off x="5708550" y="180265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Identification and Authentication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72" name="Google Shape;1072;p102"/>
          <p:cNvGrpSpPr/>
          <p:nvPr/>
        </p:nvGrpSpPr>
        <p:grpSpPr>
          <a:xfrm>
            <a:off x="440125" y="2457510"/>
            <a:ext cx="776900" cy="486300"/>
            <a:chOff x="457200" y="1466425"/>
            <a:chExt cx="776900" cy="486300"/>
          </a:xfrm>
        </p:grpSpPr>
        <p:sp>
          <p:nvSpPr>
            <p:cNvPr id="1073" name="Google Shape;1073;p10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4" name="Google Shape;1074;p10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75" name="Google Shape;1075;p102"/>
          <p:cNvSpPr/>
          <p:nvPr/>
        </p:nvSpPr>
        <p:spPr>
          <a:xfrm rot="5400000">
            <a:off x="956025" y="1951480"/>
            <a:ext cx="333375" cy="188625"/>
          </a:xfrm>
          <a:prstGeom prst="flowChartExtract">
            <a:avLst/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76" name="Google Shape;1076;p102"/>
          <p:cNvSpPr/>
          <p:nvPr/>
        </p:nvSpPr>
        <p:spPr>
          <a:xfrm>
            <a:off x="1335475" y="245751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Injection</a:t>
            </a:r>
            <a:endParaRPr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77" name="Google Shape;1077;p102"/>
          <p:cNvGrpSpPr/>
          <p:nvPr/>
        </p:nvGrpSpPr>
        <p:grpSpPr>
          <a:xfrm>
            <a:off x="4813200" y="2457510"/>
            <a:ext cx="776900" cy="486300"/>
            <a:chOff x="457200" y="1466425"/>
            <a:chExt cx="776900" cy="486300"/>
          </a:xfrm>
        </p:grpSpPr>
        <p:sp>
          <p:nvSpPr>
            <p:cNvPr id="1078" name="Google Shape;1078;p10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AO8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9" name="Google Shape;1079;p10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80" name="Google Shape;1080;p102"/>
          <p:cNvSpPr/>
          <p:nvPr/>
        </p:nvSpPr>
        <p:spPr>
          <a:xfrm>
            <a:off x="5708550" y="245751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Software and Data Integrity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81" name="Google Shape;1081;p102"/>
          <p:cNvGrpSpPr/>
          <p:nvPr/>
        </p:nvGrpSpPr>
        <p:grpSpPr>
          <a:xfrm>
            <a:off x="440125" y="3112365"/>
            <a:ext cx="776900" cy="486300"/>
            <a:chOff x="457200" y="1466425"/>
            <a:chExt cx="776900" cy="486300"/>
          </a:xfrm>
        </p:grpSpPr>
        <p:sp>
          <p:nvSpPr>
            <p:cNvPr id="1082" name="Google Shape;1082;p10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83" name="Google Shape;1083;p10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84" name="Google Shape;1084;p102"/>
          <p:cNvSpPr/>
          <p:nvPr/>
        </p:nvSpPr>
        <p:spPr>
          <a:xfrm>
            <a:off x="1335475" y="311236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Insecure Design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85" name="Google Shape;1085;p102"/>
          <p:cNvGrpSpPr/>
          <p:nvPr/>
        </p:nvGrpSpPr>
        <p:grpSpPr>
          <a:xfrm>
            <a:off x="440125" y="3767220"/>
            <a:ext cx="776900" cy="486300"/>
            <a:chOff x="457200" y="1466425"/>
            <a:chExt cx="776900" cy="486300"/>
          </a:xfrm>
        </p:grpSpPr>
        <p:sp>
          <p:nvSpPr>
            <p:cNvPr id="1086" name="Google Shape;1086;p10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17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AO5</a:t>
              </a:r>
              <a:endPara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7" name="Google Shape;1087;p10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8" name="Google Shape;1088;p102"/>
          <p:cNvGrpSpPr/>
          <p:nvPr/>
        </p:nvGrpSpPr>
        <p:grpSpPr>
          <a:xfrm>
            <a:off x="4813200" y="3112365"/>
            <a:ext cx="776900" cy="486300"/>
            <a:chOff x="457200" y="1466425"/>
            <a:chExt cx="776900" cy="486300"/>
          </a:xfrm>
        </p:grpSpPr>
        <p:sp>
          <p:nvSpPr>
            <p:cNvPr id="1089" name="Google Shape;1089;p10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AO9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90" name="Google Shape;1090;p10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91" name="Google Shape;1091;p102"/>
          <p:cNvGrpSpPr/>
          <p:nvPr/>
        </p:nvGrpSpPr>
        <p:grpSpPr>
          <a:xfrm>
            <a:off x="4813200" y="3767220"/>
            <a:ext cx="776900" cy="486300"/>
            <a:chOff x="457200" y="1466425"/>
            <a:chExt cx="776900" cy="486300"/>
          </a:xfrm>
        </p:grpSpPr>
        <p:sp>
          <p:nvSpPr>
            <p:cNvPr id="1092" name="Google Shape;1092;p10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A10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93" name="Google Shape;1093;p10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94" name="Google Shape;1094;p102"/>
          <p:cNvSpPr/>
          <p:nvPr/>
        </p:nvSpPr>
        <p:spPr>
          <a:xfrm>
            <a:off x="1335475" y="376722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Security Misconfiguration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102"/>
          <p:cNvSpPr/>
          <p:nvPr/>
        </p:nvSpPr>
        <p:spPr>
          <a:xfrm>
            <a:off x="5708550" y="311236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Security Logging and Monitoring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102"/>
          <p:cNvSpPr/>
          <p:nvPr/>
        </p:nvSpPr>
        <p:spPr>
          <a:xfrm>
            <a:off x="5708550" y="376722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Server-Side Request Forgery (SSRF)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102"/>
          <p:cNvSpPr/>
          <p:nvPr/>
        </p:nvSpPr>
        <p:spPr>
          <a:xfrm>
            <a:off x="4813200" y="2374250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02"/>
          <p:cNvSpPr/>
          <p:nvPr/>
        </p:nvSpPr>
        <p:spPr>
          <a:xfrm>
            <a:off x="404400" y="2374250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02"/>
          <p:cNvSpPr/>
          <p:nvPr/>
        </p:nvSpPr>
        <p:spPr>
          <a:xfrm>
            <a:off x="4778875" y="1147800"/>
            <a:ext cx="4167600" cy="11556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102"/>
          <p:cNvSpPr/>
          <p:nvPr/>
        </p:nvSpPr>
        <p:spPr>
          <a:xfrm>
            <a:off x="404400" y="3016813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2"/>
          <p:cNvSpPr/>
          <p:nvPr/>
        </p:nvSpPr>
        <p:spPr>
          <a:xfrm>
            <a:off x="4778875" y="3070760"/>
            <a:ext cx="4167600" cy="12411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03"/>
          <p:cNvSpPr txBox="1"/>
          <p:nvPr/>
        </p:nvSpPr>
        <p:spPr>
          <a:xfrm>
            <a:off x="311700" y="2466600"/>
            <a:ext cx="8520600" cy="1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Before learning how to conduct an LFI exploit, </a:t>
            </a:r>
            <a:endParaRPr b="0" i="0" sz="2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need to review how a web application</a:t>
            </a:r>
            <a:endParaRPr b="0" i="0" sz="2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runs back-end code like PHP.</a:t>
            </a:r>
            <a:endParaRPr b="0" i="0" sz="2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7" name="Google Shape;110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123" y="1355950"/>
            <a:ext cx="1906100" cy="100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04"/>
          <p:cNvSpPr txBox="1"/>
          <p:nvPr/>
        </p:nvSpPr>
        <p:spPr>
          <a:xfrm>
            <a:off x="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PHP 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104"/>
          <p:cNvSpPr txBox="1"/>
          <p:nvPr/>
        </p:nvSpPr>
        <p:spPr>
          <a:xfrm>
            <a:off x="0" y="675975"/>
            <a:ext cx="49974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PHP stands for </a:t>
            </a: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Hypertext Preprocessor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PHP is a server-side language used to develop web applications.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PHP files have a </a:t>
            </a:r>
            <a:r>
              <a:rPr b="0" i="0" lang="en" sz="16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.php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file extension.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4" name="Google Shape;1114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0058" y="0"/>
            <a:ext cx="612623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2375" y="891387"/>
            <a:ext cx="2315570" cy="12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104"/>
          <p:cNvSpPr txBox="1"/>
          <p:nvPr/>
        </p:nvSpPr>
        <p:spPr>
          <a:xfrm>
            <a:off x="0" y="2514775"/>
            <a:ext cx="40887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PHP is often used to do the following:</a:t>
            </a:r>
            <a:endParaRPr b="1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Connect to back-end databases such as MySQL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and work with 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website cookies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05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PHP Example 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105"/>
          <p:cNvSpPr txBox="1"/>
          <p:nvPr/>
        </p:nvSpPr>
        <p:spPr>
          <a:xfrm>
            <a:off x="76200" y="599775"/>
            <a:ext cx="9144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Suppose a user wants to display different types of boats at mycoolboat.com.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different types of boats are stored in a database on MyCoolBoat’s servers.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105"/>
          <p:cNvSpPr/>
          <p:nvPr/>
        </p:nvSpPr>
        <p:spPr>
          <a:xfrm>
            <a:off x="0" y="1473000"/>
            <a:ext cx="9144000" cy="367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105"/>
          <p:cNvSpPr txBox="1"/>
          <p:nvPr/>
        </p:nvSpPr>
        <p:spPr>
          <a:xfrm>
            <a:off x="1129350" y="1818113"/>
            <a:ext cx="1747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 user visits their </a:t>
            </a:r>
            <a:b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favorite boating website: mycoolboat.com.</a:t>
            </a:r>
            <a:endParaRPr b="0" i="0" sz="1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105"/>
          <p:cNvSpPr/>
          <p:nvPr/>
        </p:nvSpPr>
        <p:spPr>
          <a:xfrm>
            <a:off x="3233025" y="2764250"/>
            <a:ext cx="1415400" cy="364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HTTP </a:t>
            </a: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</a:t>
            </a: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equest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126" name="Google Shape;1126;p105"/>
          <p:cNvCxnSpPr/>
          <p:nvPr/>
        </p:nvCxnSpPr>
        <p:spPr>
          <a:xfrm>
            <a:off x="6458251" y="2832183"/>
            <a:ext cx="122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7" name="Google Shape;1127;p105"/>
          <p:cNvCxnSpPr>
            <a:stCxn id="1128" idx="3"/>
            <a:endCxn id="1125" idx="1"/>
          </p:cNvCxnSpPr>
          <p:nvPr/>
        </p:nvCxnSpPr>
        <p:spPr>
          <a:xfrm flipH="1" rot="10800000">
            <a:off x="1587200" y="2946625"/>
            <a:ext cx="1645800" cy="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9" name="Google Shape;1129;p105"/>
          <p:cNvCxnSpPr>
            <a:stCxn id="1125" idx="3"/>
          </p:cNvCxnSpPr>
          <p:nvPr/>
        </p:nvCxnSpPr>
        <p:spPr>
          <a:xfrm>
            <a:off x="4648425" y="2946650"/>
            <a:ext cx="119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0" name="Google Shape;1130;p105"/>
          <p:cNvSpPr txBox="1"/>
          <p:nvPr/>
        </p:nvSpPr>
        <p:spPr>
          <a:xfrm>
            <a:off x="6404275" y="4069688"/>
            <a:ext cx="24654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web server for mycoolboat.com </a:t>
            </a:r>
            <a:r>
              <a:rPr b="1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pre-processes</a:t>
            </a: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the PHP scripts to request the list of boats from MyCoolBoat’s database.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31" name="Google Shape;1131;p105"/>
          <p:cNvSpPr txBox="1"/>
          <p:nvPr/>
        </p:nvSpPr>
        <p:spPr>
          <a:xfrm>
            <a:off x="5660553" y="3735100"/>
            <a:ext cx="797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Web </a:t>
            </a:r>
            <a:r>
              <a:rPr lang="en" sz="11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r>
              <a:rPr b="0" i="0" lang="en" sz="11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erver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105"/>
          <p:cNvSpPr txBox="1"/>
          <p:nvPr/>
        </p:nvSpPr>
        <p:spPr>
          <a:xfrm>
            <a:off x="7278701" y="3641025"/>
            <a:ext cx="1747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MyCoolBoat </a:t>
            </a:r>
            <a:r>
              <a:rPr lang="en" sz="11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</a:t>
            </a:r>
            <a:r>
              <a:rPr b="0" i="0" lang="en" sz="11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atabase</a:t>
            </a:r>
            <a:endParaRPr b="0" i="0" sz="11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133" name="Google Shape;113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9264" y="2165038"/>
            <a:ext cx="748998" cy="157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3288" y="2207213"/>
            <a:ext cx="1078622" cy="14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5" name="Google Shape;1135;p105"/>
          <p:cNvGrpSpPr/>
          <p:nvPr/>
        </p:nvGrpSpPr>
        <p:grpSpPr>
          <a:xfrm>
            <a:off x="438131" y="1813814"/>
            <a:ext cx="533372" cy="533480"/>
            <a:chOff x="457200" y="1378813"/>
            <a:chExt cx="695400" cy="695450"/>
          </a:xfrm>
        </p:grpSpPr>
        <p:sp>
          <p:nvSpPr>
            <p:cNvPr id="1136" name="Google Shape;1136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7" name="Google Shape;1137;p10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8" name="Google Shape;1138;p105"/>
          <p:cNvGrpSpPr/>
          <p:nvPr/>
        </p:nvGrpSpPr>
        <p:grpSpPr>
          <a:xfrm>
            <a:off x="308149" y="2246258"/>
            <a:ext cx="1682699" cy="1636300"/>
            <a:chOff x="308149" y="2166433"/>
            <a:chExt cx="1682699" cy="1636300"/>
          </a:xfrm>
        </p:grpSpPr>
        <p:pic>
          <p:nvPicPr>
            <p:cNvPr id="1139" name="Google Shape;1139;p105"/>
            <p:cNvPicPr preferRelativeResize="0"/>
            <p:nvPr/>
          </p:nvPicPr>
          <p:blipFill rotWithShape="1">
            <a:blip r:embed="rId5">
              <a:alphaModFix/>
            </a:blip>
            <a:srcRect b="0" l="0" r="75974" t="0"/>
            <a:stretch/>
          </p:blipFill>
          <p:spPr>
            <a:xfrm>
              <a:off x="308149" y="2166433"/>
              <a:ext cx="1682699" cy="1636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0" name="Google Shape;1140;p105"/>
            <p:cNvPicPr preferRelativeResize="0"/>
            <p:nvPr/>
          </p:nvPicPr>
          <p:blipFill rotWithShape="1">
            <a:blip r:embed="rId6">
              <a:alphaModFix/>
            </a:blip>
            <a:srcRect b="5650" l="0" r="0" t="0"/>
            <a:stretch/>
          </p:blipFill>
          <p:spPr>
            <a:xfrm>
              <a:off x="531075" y="2537575"/>
              <a:ext cx="1160074" cy="684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8" name="Google Shape;1128;p105"/>
            <p:cNvSpPr txBox="1"/>
            <p:nvPr/>
          </p:nvSpPr>
          <p:spPr>
            <a:xfrm>
              <a:off x="1201700" y="2790600"/>
              <a:ext cx="3855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1A9CFF"/>
                  </a:solidFill>
                  <a:latin typeface="Roboto"/>
                  <a:ea typeface="Roboto"/>
                  <a:cs typeface="Roboto"/>
                  <a:sym typeface="Roboto"/>
                </a:rPr>
                <a:t>My Cool Boat</a:t>
              </a:r>
              <a:endParaRPr b="1" i="0" sz="600" u="none" cap="none" strike="noStrike">
                <a:solidFill>
                  <a:srgbClr val="1A9C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41" name="Google Shape;1141;p105"/>
          <p:cNvSpPr txBox="1"/>
          <p:nvPr/>
        </p:nvSpPr>
        <p:spPr>
          <a:xfrm>
            <a:off x="1129350" y="4069688"/>
            <a:ext cx="35190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While on mycoolboat.com, the user clicks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 </a:t>
            </a: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hopping link to redirect to a </a:t>
            </a:r>
            <a:r>
              <a:rPr b="1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.php</a:t>
            </a: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webpage (mycoolboat.com/shopping.php) where boats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for sale are displayed. </a:t>
            </a:r>
            <a:endParaRPr b="0" i="0" sz="12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42" name="Google Shape;1142;p105"/>
          <p:cNvGrpSpPr/>
          <p:nvPr/>
        </p:nvGrpSpPr>
        <p:grpSpPr>
          <a:xfrm>
            <a:off x="5709281" y="4010737"/>
            <a:ext cx="533372" cy="529564"/>
            <a:chOff x="457200" y="1309767"/>
            <a:chExt cx="695400" cy="690346"/>
          </a:xfrm>
        </p:grpSpPr>
        <p:sp>
          <p:nvSpPr>
            <p:cNvPr id="1143" name="Google Shape;1143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4" name="Google Shape;1144;p105"/>
            <p:cNvSpPr/>
            <p:nvPr/>
          </p:nvSpPr>
          <p:spPr>
            <a:xfrm flipH="1">
              <a:off x="634726" y="1309767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5" name="Google Shape;1145;p105"/>
          <p:cNvGrpSpPr/>
          <p:nvPr/>
        </p:nvGrpSpPr>
        <p:grpSpPr>
          <a:xfrm>
            <a:off x="438131" y="4010737"/>
            <a:ext cx="533372" cy="529564"/>
            <a:chOff x="457200" y="1309767"/>
            <a:chExt cx="695400" cy="690346"/>
          </a:xfrm>
        </p:grpSpPr>
        <p:sp>
          <p:nvSpPr>
            <p:cNvPr id="1146" name="Google Shape;1146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7" name="Google Shape;1147;p105"/>
            <p:cNvSpPr/>
            <p:nvPr/>
          </p:nvSpPr>
          <p:spPr>
            <a:xfrm flipH="1">
              <a:off x="634726" y="1309767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48" name="Google Shape;1148;p105"/>
          <p:cNvSpPr txBox="1"/>
          <p:nvPr/>
        </p:nvSpPr>
        <p:spPr>
          <a:xfrm>
            <a:off x="3889501" y="1818113"/>
            <a:ext cx="16458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An HTTP request is made to the web server.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149" name="Google Shape;1149;p105"/>
          <p:cNvGrpSpPr/>
          <p:nvPr/>
        </p:nvGrpSpPr>
        <p:grpSpPr>
          <a:xfrm>
            <a:off x="3189681" y="1813814"/>
            <a:ext cx="533372" cy="533480"/>
            <a:chOff x="457200" y="1378813"/>
            <a:chExt cx="695400" cy="695450"/>
          </a:xfrm>
        </p:grpSpPr>
        <p:sp>
          <p:nvSpPr>
            <p:cNvPr id="1150" name="Google Shape;1150;p10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1" name="Google Shape;1151;p10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06"/>
          <p:cNvSpPr txBox="1"/>
          <p:nvPr/>
        </p:nvSpPr>
        <p:spPr>
          <a:xfrm>
            <a:off x="76200" y="512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PHP Example 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7" name="Google Shape;1157;p106"/>
          <p:cNvSpPr txBox="1"/>
          <p:nvPr/>
        </p:nvSpPr>
        <p:spPr>
          <a:xfrm>
            <a:off x="76200" y="599775"/>
            <a:ext cx="9144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Suppose a user wants to display different types of boats at mycoolboat.com.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different types of boats are stored in a database on MyCoolBoat’s servers.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8" name="Google Shape;1158;p106"/>
          <p:cNvSpPr/>
          <p:nvPr/>
        </p:nvSpPr>
        <p:spPr>
          <a:xfrm>
            <a:off x="0" y="1473000"/>
            <a:ext cx="9144000" cy="367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106"/>
          <p:cNvSpPr/>
          <p:nvPr/>
        </p:nvSpPr>
        <p:spPr>
          <a:xfrm>
            <a:off x="2909525" y="2990725"/>
            <a:ext cx="1644600" cy="364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HTTP </a:t>
            </a:r>
            <a:r>
              <a:rPr lang="en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</a:t>
            </a:r>
            <a:r>
              <a:rPr b="0" i="0" lang="en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esponse</a:t>
            </a:r>
            <a:endParaRPr b="0" i="0" sz="1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160" name="Google Shape;1160;p106"/>
          <p:cNvCxnSpPr>
            <a:stCxn id="1161" idx="3"/>
            <a:endCxn id="1159" idx="1"/>
          </p:cNvCxnSpPr>
          <p:nvPr/>
        </p:nvCxnSpPr>
        <p:spPr>
          <a:xfrm flipH="1" rot="10800000">
            <a:off x="1691149" y="3172988"/>
            <a:ext cx="1218300" cy="1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62" name="Google Shape;1162;p106"/>
          <p:cNvCxnSpPr>
            <a:stCxn id="1159" idx="3"/>
          </p:cNvCxnSpPr>
          <p:nvPr/>
        </p:nvCxnSpPr>
        <p:spPr>
          <a:xfrm>
            <a:off x="4554125" y="3173125"/>
            <a:ext cx="119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163" name="Google Shape;1163;p106"/>
          <p:cNvSpPr txBox="1"/>
          <p:nvPr/>
        </p:nvSpPr>
        <p:spPr>
          <a:xfrm>
            <a:off x="4572175" y="1686875"/>
            <a:ext cx="3282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database returns the requested data </a:t>
            </a:r>
            <a:b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and the web server sends the processed HTML back to the user with an HTTP response.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164" name="Google Shape;1164;p106"/>
          <p:cNvPicPr preferRelativeResize="0"/>
          <p:nvPr/>
        </p:nvPicPr>
        <p:blipFill rotWithShape="1">
          <a:blip r:embed="rId3">
            <a:alphaModFix/>
          </a:blip>
          <a:srcRect b="0" l="0" r="75974" t="0"/>
          <a:stretch/>
        </p:blipFill>
        <p:spPr>
          <a:xfrm>
            <a:off x="308149" y="2472733"/>
            <a:ext cx="1682699" cy="16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p106"/>
          <p:cNvPicPr preferRelativeResize="0"/>
          <p:nvPr/>
        </p:nvPicPr>
        <p:blipFill rotWithShape="1">
          <a:blip r:embed="rId4">
            <a:alphaModFix/>
          </a:blip>
          <a:srcRect b="0" l="2883" r="2874" t="0"/>
          <a:stretch/>
        </p:blipFill>
        <p:spPr>
          <a:xfrm>
            <a:off x="531075" y="2843875"/>
            <a:ext cx="1160074" cy="68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06"/>
          <p:cNvSpPr txBox="1"/>
          <p:nvPr/>
        </p:nvSpPr>
        <p:spPr>
          <a:xfrm>
            <a:off x="1542650" y="4261425"/>
            <a:ext cx="20022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user’s browser renders the HTML to display the list of boats to the user.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166" name="Google Shape;1166;p106"/>
          <p:cNvGrpSpPr/>
          <p:nvPr/>
        </p:nvGrpSpPr>
        <p:grpSpPr>
          <a:xfrm>
            <a:off x="820156" y="4203587"/>
            <a:ext cx="533372" cy="529564"/>
            <a:chOff x="457200" y="1309767"/>
            <a:chExt cx="695400" cy="690346"/>
          </a:xfrm>
        </p:grpSpPr>
        <p:sp>
          <p:nvSpPr>
            <p:cNvPr id="1167" name="Google Shape;1167;p10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8" name="Google Shape;1168;p106"/>
            <p:cNvSpPr/>
            <p:nvPr/>
          </p:nvSpPr>
          <p:spPr>
            <a:xfrm flipH="1">
              <a:off x="634726" y="1309767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169" name="Google Shape;1169;p106"/>
          <p:cNvGraphicFramePr/>
          <p:nvPr/>
        </p:nvGraphicFramePr>
        <p:xfrm>
          <a:off x="711113" y="3145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{46A04196-913F-418A-BF23-8549AA4576D4}</a:tableStyleId>
              </a:tblPr>
              <a:tblGrid>
                <a:gridCol w="200000"/>
                <a:gridCol w="200000"/>
                <a:gridCol w="200000"/>
                <a:gridCol w="200000"/>
              </a:tblGrid>
              <a:tr h="8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9FF"/>
                    </a:solidFill>
                  </a:tcPr>
                </a:tc>
              </a:tr>
              <a:tr h="8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475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70" name="Google Shape;1170;p106"/>
          <p:cNvSpPr txBox="1"/>
          <p:nvPr/>
        </p:nvSpPr>
        <p:spPr>
          <a:xfrm>
            <a:off x="711125" y="2948525"/>
            <a:ext cx="385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A9CFF"/>
                </a:solidFill>
                <a:latin typeface="Roboto"/>
                <a:ea typeface="Roboto"/>
                <a:cs typeface="Roboto"/>
                <a:sym typeface="Roboto"/>
              </a:rPr>
              <a:t>Boats</a:t>
            </a:r>
            <a:br>
              <a:rPr b="1" i="0" lang="en" sz="600" u="none" cap="none" strike="noStrike">
                <a:solidFill>
                  <a:srgbClr val="1A9C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600" u="none" cap="none" strike="noStrike">
                <a:solidFill>
                  <a:srgbClr val="1A9CFF"/>
                </a:solidFill>
                <a:latin typeface="Roboto"/>
                <a:ea typeface="Roboto"/>
                <a:cs typeface="Roboto"/>
                <a:sym typeface="Roboto"/>
              </a:rPr>
              <a:t>for you</a:t>
            </a:r>
            <a:endParaRPr b="1" i="0" sz="600" u="none" cap="none" strike="noStrike">
              <a:solidFill>
                <a:srgbClr val="1A9C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1" name="Google Shape;1171;p106"/>
          <p:cNvCxnSpPr/>
          <p:nvPr/>
        </p:nvCxnSpPr>
        <p:spPr>
          <a:xfrm>
            <a:off x="6458251" y="3173133"/>
            <a:ext cx="122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2" name="Google Shape;1172;p106"/>
          <p:cNvSpPr txBox="1"/>
          <p:nvPr/>
        </p:nvSpPr>
        <p:spPr>
          <a:xfrm>
            <a:off x="5564168" y="4003500"/>
            <a:ext cx="1039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Web </a:t>
            </a:r>
            <a:r>
              <a:rPr lang="en" sz="11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r>
              <a:rPr b="0" i="0" lang="en" sz="11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erver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06"/>
          <p:cNvSpPr txBox="1"/>
          <p:nvPr/>
        </p:nvSpPr>
        <p:spPr>
          <a:xfrm>
            <a:off x="7655049" y="4003500"/>
            <a:ext cx="99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MyCoolBoat</a:t>
            </a:r>
            <a:endParaRPr b="0" i="0" sz="11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</a:t>
            </a:r>
            <a:r>
              <a:rPr b="0" i="0" lang="en" sz="11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atabase</a:t>
            </a:r>
            <a:endParaRPr b="0" i="0" sz="11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174" name="Google Shape;1174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9264" y="2433425"/>
            <a:ext cx="748998" cy="157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288" y="2475600"/>
            <a:ext cx="1078622" cy="14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6" name="Google Shape;1176;p106"/>
          <p:cNvGrpSpPr/>
          <p:nvPr/>
        </p:nvGrpSpPr>
        <p:grpSpPr>
          <a:xfrm>
            <a:off x="7885919" y="1690489"/>
            <a:ext cx="533372" cy="533480"/>
            <a:chOff x="457200" y="1378813"/>
            <a:chExt cx="695400" cy="695450"/>
          </a:xfrm>
        </p:grpSpPr>
        <p:sp>
          <p:nvSpPr>
            <p:cNvPr id="1177" name="Google Shape;1177;p10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8" name="Google Shape;1178;p106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07"/>
          <p:cNvSpPr/>
          <p:nvPr/>
        </p:nvSpPr>
        <p:spPr>
          <a:xfrm>
            <a:off x="0" y="4228900"/>
            <a:ext cx="9144000" cy="914700"/>
          </a:xfrm>
          <a:prstGeom prst="roundRect">
            <a:avLst>
              <a:gd fmla="val 0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1143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ow we know that PHP is a language that provides back-end functionality 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to a webpage, let’s explore how LFI can use this functionality to cause unintended results.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4" name="Google Shape;1184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802" y="4355186"/>
            <a:ext cx="706371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107"/>
          <p:cNvSpPr txBox="1"/>
          <p:nvPr/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Takeaways</a:t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p107"/>
          <p:cNvSpPr txBox="1"/>
          <p:nvPr/>
        </p:nvSpPr>
        <p:spPr>
          <a:xfrm>
            <a:off x="457200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In the previous example: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87" name="Google Shape;1187;p107"/>
          <p:cNvGrpSpPr/>
          <p:nvPr/>
        </p:nvGrpSpPr>
        <p:grpSpPr>
          <a:xfrm>
            <a:off x="467250" y="1141925"/>
            <a:ext cx="8133300" cy="661800"/>
            <a:chOff x="467250" y="1218125"/>
            <a:chExt cx="8133300" cy="661800"/>
          </a:xfrm>
        </p:grpSpPr>
        <p:sp>
          <p:nvSpPr>
            <p:cNvPr id="1188" name="Google Shape;1188;p107"/>
            <p:cNvSpPr/>
            <p:nvPr/>
          </p:nvSpPr>
          <p:spPr>
            <a:xfrm>
              <a:off x="543450" y="1218125"/>
              <a:ext cx="8057100" cy="6618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9" name="Google Shape;1189;p107"/>
            <p:cNvSpPr/>
            <p:nvPr/>
          </p:nvSpPr>
          <p:spPr>
            <a:xfrm>
              <a:off x="467250" y="1330775"/>
              <a:ext cx="457200" cy="436500"/>
            </a:xfrm>
            <a:prstGeom prst="ellipse">
              <a:avLst/>
            </a:prstGeom>
            <a:solidFill>
              <a:srgbClr val="FCB912"/>
            </a:solidFill>
            <a:ln cap="flat" cmpd="sng" w="9525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0" name="Google Shape;1190;p107"/>
            <p:cNvSpPr txBox="1"/>
            <p:nvPr/>
          </p:nvSpPr>
          <p:spPr>
            <a:xfrm>
              <a:off x="970350" y="1240850"/>
              <a:ext cx="7630200" cy="6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The browser initiated a request to run the PHP script simply by accessing the page.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91" name="Google Shape;1191;p107"/>
          <p:cNvGrpSpPr/>
          <p:nvPr/>
        </p:nvGrpSpPr>
        <p:grpSpPr>
          <a:xfrm>
            <a:off x="467250" y="1925000"/>
            <a:ext cx="8133300" cy="448425"/>
            <a:chOff x="467250" y="1923275"/>
            <a:chExt cx="8133300" cy="448425"/>
          </a:xfrm>
        </p:grpSpPr>
        <p:sp>
          <p:nvSpPr>
            <p:cNvPr id="1192" name="Google Shape;1192;p107"/>
            <p:cNvSpPr/>
            <p:nvPr/>
          </p:nvSpPr>
          <p:spPr>
            <a:xfrm>
              <a:off x="543450" y="19319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3" name="Google Shape;1193;p107"/>
            <p:cNvSpPr/>
            <p:nvPr/>
          </p:nvSpPr>
          <p:spPr>
            <a:xfrm>
              <a:off x="467250" y="1923275"/>
              <a:ext cx="457200" cy="436500"/>
            </a:xfrm>
            <a:prstGeom prst="ellipse">
              <a:avLst/>
            </a:prstGeom>
            <a:solidFill>
              <a:srgbClr val="FCB912"/>
            </a:solidFill>
            <a:ln cap="flat" cmpd="sng" w="9525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4" name="Google Shape;1194;p107"/>
            <p:cNvSpPr txBox="1"/>
            <p:nvPr/>
          </p:nvSpPr>
          <p:spPr>
            <a:xfrm>
              <a:off x="970350" y="19526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The PHP script exists and runs on the back-end server.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08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n" sz="4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Local File</a:t>
            </a:r>
            <a:r>
              <a:rPr b="0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4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Inclusion</a:t>
            </a:r>
            <a:endParaRPr b="1" i="0" sz="4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0" name="Google Shape;1200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475" y="1533313"/>
            <a:ext cx="1463075" cy="1154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09"/>
          <p:cNvSpPr txBox="1"/>
          <p:nvPr/>
        </p:nvSpPr>
        <p:spPr>
          <a:xfrm>
            <a:off x="76200" y="512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LFI Demonstration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109"/>
          <p:cNvSpPr txBox="1"/>
          <p:nvPr/>
        </p:nvSpPr>
        <p:spPr>
          <a:xfrm>
            <a:off x="76200" y="599775"/>
            <a:ext cx="9144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this demonstration, we will: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109"/>
          <p:cNvSpPr/>
          <p:nvPr/>
        </p:nvSpPr>
        <p:spPr>
          <a:xfrm>
            <a:off x="2462425" y="1263838"/>
            <a:ext cx="2098200" cy="34383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09"/>
          <p:cNvSpPr/>
          <p:nvPr/>
        </p:nvSpPr>
        <p:spPr>
          <a:xfrm>
            <a:off x="2957275" y="1839438"/>
            <a:ext cx="1108500" cy="1108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28588" rotWithShape="0" algn="bl" dir="5460000" dist="19050">
              <a:srgbClr val="000000">
                <a:alpha val="5137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109"/>
          <p:cNvSpPr/>
          <p:nvPr/>
        </p:nvSpPr>
        <p:spPr>
          <a:xfrm>
            <a:off x="313675" y="1263838"/>
            <a:ext cx="2098200" cy="34383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109"/>
          <p:cNvSpPr txBox="1"/>
          <p:nvPr/>
        </p:nvSpPr>
        <p:spPr>
          <a:xfrm>
            <a:off x="337225" y="3265600"/>
            <a:ext cx="20511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Illustrate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a web application can use PHP and HTML together.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109"/>
          <p:cNvSpPr txBox="1"/>
          <p:nvPr/>
        </p:nvSpPr>
        <p:spPr>
          <a:xfrm>
            <a:off x="2485975" y="3265600"/>
            <a:ext cx="20511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Show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intended purpose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a 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application’s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file upload functionality.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2" name="Google Shape;1212;p109"/>
          <p:cNvSpPr/>
          <p:nvPr/>
        </p:nvSpPr>
        <p:spPr>
          <a:xfrm>
            <a:off x="4611175" y="1263838"/>
            <a:ext cx="2098200" cy="3438300"/>
          </a:xfrm>
          <a:prstGeom prst="rect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09"/>
          <p:cNvSpPr txBox="1"/>
          <p:nvPr/>
        </p:nvSpPr>
        <p:spPr>
          <a:xfrm>
            <a:off x="4634725" y="3265600"/>
            <a:ext cx="20511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Upload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malicious PHP script.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4" name="Google Shape;1214;p109"/>
          <p:cNvSpPr/>
          <p:nvPr/>
        </p:nvSpPr>
        <p:spPr>
          <a:xfrm>
            <a:off x="6759925" y="1263838"/>
            <a:ext cx="2098200" cy="34383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109"/>
          <p:cNvSpPr txBox="1"/>
          <p:nvPr/>
        </p:nvSpPr>
        <p:spPr>
          <a:xfrm>
            <a:off x="6759925" y="3265600"/>
            <a:ext cx="20511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Run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command-line commands with the malicious PHP script.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6" name="Google Shape;1216;p109"/>
          <p:cNvPicPr preferRelativeResize="0"/>
          <p:nvPr/>
        </p:nvPicPr>
        <p:blipFill rotWithShape="1">
          <a:blip r:embed="rId3">
            <a:alphaModFix/>
          </a:blip>
          <a:srcRect b="0" l="0" r="0" t="14842"/>
          <a:stretch/>
        </p:blipFill>
        <p:spPr>
          <a:xfrm>
            <a:off x="854863" y="2347050"/>
            <a:ext cx="1015825" cy="86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743" y="1638974"/>
            <a:ext cx="1160079" cy="61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3950" y="2086125"/>
            <a:ext cx="615150" cy="6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1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4775" y="1833175"/>
            <a:ext cx="1121050" cy="112105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19050">
              <a:srgbClr val="000000">
                <a:alpha val="49411"/>
              </a:srgbClr>
            </a:outerShdw>
          </a:effectLst>
        </p:spPr>
      </p:pic>
      <p:sp>
        <p:nvSpPr>
          <p:cNvPr id="1220" name="Google Shape;1220;p109"/>
          <p:cNvSpPr/>
          <p:nvPr/>
        </p:nvSpPr>
        <p:spPr>
          <a:xfrm>
            <a:off x="4754875" y="2170198"/>
            <a:ext cx="1810800" cy="44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&lt;script&gt;&lt;/script&gt;</a:t>
            </a:r>
            <a:endParaRPr b="0" i="0" sz="1500" u="none" cap="none" strike="noStrike">
              <a:solidFill>
                <a:schemeClr val="dk2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pic>
        <p:nvPicPr>
          <p:cNvPr id="1221" name="Google Shape;1221;p10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4725" y="1597888"/>
            <a:ext cx="731100" cy="692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10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LFI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11"/>
          <p:cNvSpPr txBox="1"/>
          <p:nvPr/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Demonstration Summary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2" name="Google Shape;1232;p111"/>
          <p:cNvSpPr txBox="1"/>
          <p:nvPr/>
        </p:nvSpPr>
        <p:spPr>
          <a:xfrm>
            <a:off x="457200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ability to successfully upload and run this script indicates that this web application is vulnerable to LFI.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33" name="Google Shape;1233;p111"/>
          <p:cNvGrpSpPr/>
          <p:nvPr/>
        </p:nvGrpSpPr>
        <p:grpSpPr>
          <a:xfrm>
            <a:off x="467250" y="1370525"/>
            <a:ext cx="8133300" cy="661800"/>
            <a:chOff x="467250" y="1218125"/>
            <a:chExt cx="8133300" cy="661800"/>
          </a:xfrm>
        </p:grpSpPr>
        <p:sp>
          <p:nvSpPr>
            <p:cNvPr id="1234" name="Google Shape;1234;p111"/>
            <p:cNvSpPr/>
            <p:nvPr/>
          </p:nvSpPr>
          <p:spPr>
            <a:xfrm>
              <a:off x="543450" y="1218125"/>
              <a:ext cx="8057100" cy="6618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5" name="Google Shape;1235;p111"/>
            <p:cNvSpPr/>
            <p:nvPr/>
          </p:nvSpPr>
          <p:spPr>
            <a:xfrm>
              <a:off x="467250" y="1330775"/>
              <a:ext cx="457200" cy="436500"/>
            </a:xfrm>
            <a:prstGeom prst="ellipse">
              <a:avLst/>
            </a:prstGeom>
            <a:solidFill>
              <a:srgbClr val="FCB912"/>
            </a:solidFill>
            <a:ln cap="flat" cmpd="sng" w="9525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6" name="Google Shape;1236;p111"/>
            <p:cNvSpPr txBox="1"/>
            <p:nvPr/>
          </p:nvSpPr>
          <p:spPr>
            <a:xfrm>
              <a:off x="970350" y="1240850"/>
              <a:ext cx="7630200" cy="6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We were able to include (upload) a file (script) locally, then run that unintended script.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7" name="Google Shape;1237;p111"/>
          <p:cNvGrpSpPr/>
          <p:nvPr/>
        </p:nvGrpSpPr>
        <p:grpSpPr>
          <a:xfrm>
            <a:off x="467250" y="2199000"/>
            <a:ext cx="8133300" cy="661800"/>
            <a:chOff x="467250" y="1218125"/>
            <a:chExt cx="8133300" cy="661800"/>
          </a:xfrm>
        </p:grpSpPr>
        <p:sp>
          <p:nvSpPr>
            <p:cNvPr id="1238" name="Google Shape;1238;p111"/>
            <p:cNvSpPr/>
            <p:nvPr/>
          </p:nvSpPr>
          <p:spPr>
            <a:xfrm>
              <a:off x="543450" y="1218125"/>
              <a:ext cx="8057100" cy="6618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9" name="Google Shape;1239;p111"/>
            <p:cNvSpPr/>
            <p:nvPr/>
          </p:nvSpPr>
          <p:spPr>
            <a:xfrm>
              <a:off x="467250" y="1330775"/>
              <a:ext cx="457200" cy="436500"/>
            </a:xfrm>
            <a:prstGeom prst="ellipse">
              <a:avLst/>
            </a:prstGeom>
            <a:solidFill>
              <a:srgbClr val="FCB912"/>
            </a:solidFill>
            <a:ln cap="flat" cmpd="sng" w="9525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0" name="Google Shape;1240;p111"/>
            <p:cNvSpPr txBox="1"/>
            <p:nvPr/>
          </p:nvSpPr>
          <p:spPr>
            <a:xfrm>
              <a:off x="970350" y="1240850"/>
              <a:ext cx="7630200" cy="6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This web application is also vulnerable to remote code execution (RCE).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41" name="Google Shape;1241;p111"/>
          <p:cNvGrpSpPr/>
          <p:nvPr/>
        </p:nvGrpSpPr>
        <p:grpSpPr>
          <a:xfrm>
            <a:off x="477300" y="3027475"/>
            <a:ext cx="8133300" cy="661800"/>
            <a:chOff x="467250" y="1218125"/>
            <a:chExt cx="8133300" cy="661800"/>
          </a:xfrm>
        </p:grpSpPr>
        <p:sp>
          <p:nvSpPr>
            <p:cNvPr id="1242" name="Google Shape;1242;p111"/>
            <p:cNvSpPr/>
            <p:nvPr/>
          </p:nvSpPr>
          <p:spPr>
            <a:xfrm>
              <a:off x="543450" y="1218125"/>
              <a:ext cx="8057100" cy="6618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3" name="Google Shape;1243;p111"/>
            <p:cNvSpPr/>
            <p:nvPr/>
          </p:nvSpPr>
          <p:spPr>
            <a:xfrm>
              <a:off x="467250" y="1330775"/>
              <a:ext cx="457200" cy="436500"/>
            </a:xfrm>
            <a:prstGeom prst="ellipse">
              <a:avLst/>
            </a:prstGeom>
            <a:solidFill>
              <a:srgbClr val="FCB912"/>
            </a:solidFill>
            <a:ln cap="flat" cmpd="sng" w="9525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4" name="Google Shape;1244;p111"/>
            <p:cNvSpPr txBox="1"/>
            <p:nvPr/>
          </p:nvSpPr>
          <p:spPr>
            <a:xfrm>
              <a:off x="970350" y="1240850"/>
              <a:ext cx="7630200" cy="6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RCE is a type of attack in which a malicious actor can execute arbitrary commands.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12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i="0" lang="en" sz="36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Real-World</a:t>
            </a:r>
            <a:r>
              <a:rPr b="0" i="0" lang="en" sz="3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3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Challenges</a:t>
            </a:r>
            <a:r>
              <a:rPr i="0" lang="en" sz="36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</a:t>
            </a:r>
            <a:endParaRPr i="0" sz="36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Impact</a:t>
            </a:r>
            <a:r>
              <a:rPr i="0" lang="en" sz="36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and</a:t>
            </a:r>
            <a:r>
              <a:rPr b="0" i="0" lang="en" sz="3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3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Mitigations</a:t>
            </a:r>
            <a:endParaRPr b="1" i="0" sz="3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0" name="Google Shape;125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2800" y="1634400"/>
            <a:ext cx="1558400" cy="10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13"/>
          <p:cNvSpPr txBox="1"/>
          <p:nvPr>
            <p:ph type="title"/>
          </p:nvPr>
        </p:nvSpPr>
        <p:spPr>
          <a:xfrm>
            <a:off x="542175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Our 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6" name="Google Shape;1256;p113"/>
          <p:cNvSpPr txBox="1"/>
          <p:nvPr>
            <p:ph idx="2" type="title"/>
          </p:nvPr>
        </p:nvSpPr>
        <p:spPr>
          <a:xfrm>
            <a:off x="4976200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Our Attack Method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7" name="Google Shape;1257;p113"/>
          <p:cNvSpPr txBox="1"/>
          <p:nvPr>
            <p:ph idx="3" type="title"/>
          </p:nvPr>
        </p:nvSpPr>
        <p:spPr>
          <a:xfrm>
            <a:off x="542175" y="21567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Illustrated using one type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malicious script and two command-line commands.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Thousands of malicious scripts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can be uploaded and many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malicious commands can be run.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8" name="Google Shape;1258;p113"/>
          <p:cNvSpPr txBox="1"/>
          <p:nvPr>
            <p:ph idx="4" type="title"/>
          </p:nvPr>
        </p:nvSpPr>
        <p:spPr>
          <a:xfrm>
            <a:off x="4976200" y="21567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Used the PHP language, but this attack can also be accomplished with other languages, such as ASP.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9" name="Google Shape;1259;p113"/>
          <p:cNvSpPr txBox="1"/>
          <p:nvPr>
            <p:ph idx="5"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Real-World Challenges</a:t>
            </a:r>
            <a:endParaRPr/>
          </a:p>
        </p:txBody>
      </p:sp>
      <p:sp>
        <p:nvSpPr>
          <p:cNvPr id="1260" name="Google Shape;1260;p113"/>
          <p:cNvSpPr txBox="1"/>
          <p:nvPr>
            <p:ph idx="6" type="title"/>
          </p:nvPr>
        </p:nvSpPr>
        <p:spPr>
          <a:xfrm>
            <a:off x="762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Injection involves submitting an untrusted input. How applications work with 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 input depends on their design, architecture, and functionality. We’ll focus on: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1" name="Google Shape;1261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1675" y="4187285"/>
            <a:ext cx="1389851" cy="7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7475" y="4019523"/>
            <a:ext cx="2133250" cy="106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14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Impact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114"/>
          <p:cNvSpPr txBox="1"/>
          <p:nvPr/>
        </p:nvSpPr>
        <p:spPr>
          <a:xfrm>
            <a:off x="7620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a malicious actor can upload a malicious script, they can potentially: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9" name="Google Shape;1269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2" y="1249094"/>
            <a:ext cx="8869675" cy="34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114"/>
          <p:cNvSpPr txBox="1"/>
          <p:nvPr/>
        </p:nvSpPr>
        <p:spPr>
          <a:xfrm>
            <a:off x="382800" y="1683837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View confidential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files or data.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1" name="Google Shape;1271;p114"/>
          <p:cNvSpPr txBox="1"/>
          <p:nvPr/>
        </p:nvSpPr>
        <p:spPr>
          <a:xfrm>
            <a:off x="3285075" y="1683846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Modify or delete confidential files 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 data.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2" name="Google Shape;1272;p114"/>
          <p:cNvSpPr txBox="1"/>
          <p:nvPr/>
        </p:nvSpPr>
        <p:spPr>
          <a:xfrm>
            <a:off x="6401175" y="1684379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Modify or delete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critical files to cause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disruptions.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15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Mitigation Methods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115"/>
          <p:cNvSpPr txBox="1"/>
          <p:nvPr/>
        </p:nvSpPr>
        <p:spPr>
          <a:xfrm>
            <a:off x="76200" y="675975"/>
            <a:ext cx="81753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best way to protect from </a:t>
            </a:r>
            <a:b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LFI is to restrict users from </a:t>
            </a:r>
            <a:b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being able to upload files </a:t>
            </a:r>
            <a:b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nto the local filesystem.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115"/>
          <p:cNvSpPr txBox="1"/>
          <p:nvPr/>
        </p:nvSpPr>
        <p:spPr>
          <a:xfrm>
            <a:off x="76200" y="1828800"/>
            <a:ext cx="3308400" cy="3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the application requires file upload functionality,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then the application should use allow listing to ensure that only a specific file type (like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.jpg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 can be uploaded, and not script file types such as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.php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115"/>
          <p:cNvSpPr/>
          <p:nvPr/>
        </p:nvSpPr>
        <p:spPr>
          <a:xfrm>
            <a:off x="3707575" y="1508475"/>
            <a:ext cx="5449200" cy="36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1" name="Google Shape;1281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4705" y="1734290"/>
            <a:ext cx="2560309" cy="3141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115"/>
          <p:cNvSpPr txBox="1"/>
          <p:nvPr/>
        </p:nvSpPr>
        <p:spPr>
          <a:xfrm>
            <a:off x="6805435" y="2485803"/>
            <a:ext cx="8592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php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283" name="Google Shape;1283;p115"/>
          <p:cNvGrpSpPr/>
          <p:nvPr/>
        </p:nvGrpSpPr>
        <p:grpSpPr>
          <a:xfrm>
            <a:off x="3848664" y="1734216"/>
            <a:ext cx="2560190" cy="3141558"/>
            <a:chOff x="4029113" y="1632150"/>
            <a:chExt cx="2519376" cy="3091476"/>
          </a:xfrm>
        </p:grpSpPr>
        <p:pic>
          <p:nvPicPr>
            <p:cNvPr id="1284" name="Google Shape;1284;p1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29113" y="1632150"/>
              <a:ext cx="2519376" cy="3091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15"/>
            <p:cNvSpPr txBox="1"/>
            <p:nvPr/>
          </p:nvSpPr>
          <p:spPr>
            <a:xfrm>
              <a:off x="4516138" y="2371650"/>
              <a:ext cx="845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jpg</a:t>
              </a:r>
              <a:endParaRPr b="0" i="0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" name="Google Shape;1290;p116"/>
          <p:cNvGraphicFramePr/>
          <p:nvPr/>
        </p:nvGraphicFramePr>
        <p:xfrm>
          <a:off x="392625" y="101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{46A04196-913F-418A-BF23-8549AA4576D4}</a:tableStyleId>
              </a:tblPr>
              <a:tblGrid>
                <a:gridCol w="2770650"/>
                <a:gridCol w="5293250"/>
              </a:tblGrid>
              <a:tr h="42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ntended purpose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 original function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Web applications use file upload functionalities to enable a user to upload files into their local filesystem.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ulnerability and </a:t>
                      </a:r>
                      <a:b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ethod of exploit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LFI is a vulnerability in which a malicious user can use the file upload functionality to upload unintended scripts into the web server’s local filesystem.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74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nintended consequence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 the exploit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After the malicious script has been uploaded, a malicious user can run the script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 cause unintended consequences.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itigation of the vulnerability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Limit file upload capabilities or use allow listing to restrict unintended file types.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74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otential impact of the exploit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malicious actor can access or modify confidential data </a:t>
                      </a:r>
                      <a:b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 system files,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 potentially cause system outages.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91" name="Google Shape;1291;p116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LFI Summary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1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1301" name="Google Shape;1301;p11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LFI</a:t>
            </a:r>
            <a:endParaRPr/>
          </a:p>
        </p:txBody>
      </p:sp>
      <p:sp>
        <p:nvSpPr>
          <p:cNvPr id="1302" name="Google Shape;1302;p118"/>
          <p:cNvSpPr txBox="1"/>
          <p:nvPr>
            <p:ph idx="3" type="body"/>
          </p:nvPr>
        </p:nvSpPr>
        <p:spPr>
          <a:xfrm>
            <a:off x="912725" y="1516225"/>
            <a:ext cx="68598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continue in the role of an application security analyst working for bioengineering company Replicants.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you’ll inspect Replicants’ main production website for LFI vulnerabilities. 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2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</a:t>
            </a: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File Inclusion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16" name="Google Shape;1316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475" y="1533313"/>
            <a:ext cx="1463075" cy="1154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22"/>
          <p:cNvSpPr txBox="1"/>
          <p:nvPr>
            <p:ph type="title"/>
          </p:nvPr>
        </p:nvSpPr>
        <p:spPr>
          <a:xfrm>
            <a:off x="542175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Directory Traversal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122"/>
          <p:cNvSpPr txBox="1"/>
          <p:nvPr>
            <p:ph idx="2" type="title"/>
          </p:nvPr>
        </p:nvSpPr>
        <p:spPr>
          <a:xfrm>
            <a:off x="4976200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LFI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122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back-end component vulnerability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which an attacker accesses files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directories from a web application outside a user’s authorized permissions.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4" name="Google Shape;1324;p122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Another back-end component vulnerability in which an attacker tricks the application into running unintended back-end code or scripts that are LOCAL to the application’s filesystem.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LFI depends on allowing a user to use unintended scripts that are LOCAL to the web server.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25" name="Google Shape;1325;p122"/>
          <p:cNvSpPr txBox="1"/>
          <p:nvPr>
            <p:ph idx="5"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Remote File Inclusion</a:t>
            </a:r>
            <a:endParaRPr/>
          </a:p>
        </p:txBody>
      </p:sp>
      <p:sp>
        <p:nvSpPr>
          <p:cNvPr id="1326" name="Google Shape;1326;p122"/>
          <p:cNvSpPr txBox="1"/>
          <p:nvPr>
            <p:ph idx="6" type="title"/>
          </p:nvPr>
        </p:nvSpPr>
        <p:spPr>
          <a:xfrm>
            <a:off x="762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So far we’ve covered: </a:t>
            </a:r>
            <a:endParaRPr sz="18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" name="Google Shape;1331;p123"/>
          <p:cNvPicPr preferRelativeResize="0"/>
          <p:nvPr/>
        </p:nvPicPr>
        <p:blipFill rotWithShape="1">
          <a:blip r:embed="rId3">
            <a:alphaModFix/>
          </a:blip>
          <a:srcRect b="0" l="14059" r="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23"/>
          <p:cNvSpPr txBox="1"/>
          <p:nvPr>
            <p:ph idx="4294967295" type="subTitle"/>
          </p:nvPr>
        </p:nvSpPr>
        <p:spPr>
          <a:xfrm>
            <a:off x="0" y="1295400"/>
            <a:ext cx="47910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2100"/>
              <a:buFont typeface="Roboto Light"/>
              <a:buNone/>
            </a:pPr>
            <a:r>
              <a:rPr b="0" i="0" lang="en" sz="1800" u="none" cap="none" strike="noStrike">
                <a:latin typeface="Roboto"/>
                <a:ea typeface="Roboto"/>
                <a:cs typeface="Roboto"/>
                <a:sym typeface="Roboto"/>
              </a:rPr>
              <a:t>An application preventing malicious users from adding files to their local system </a:t>
            </a:r>
            <a:r>
              <a:rPr b="1" i="0" lang="en" sz="1800" u="none" cap="none" strike="noStrike">
                <a:latin typeface="Roboto"/>
                <a:ea typeface="Roboto"/>
                <a:cs typeface="Roboto"/>
                <a:sym typeface="Roboto"/>
              </a:rPr>
              <a:t>does not guarantee</a:t>
            </a:r>
            <a:r>
              <a:rPr b="0" i="0" lang="en" sz="1800" u="none" cap="none" strike="noStrike">
                <a:latin typeface="Roboto"/>
                <a:ea typeface="Roboto"/>
                <a:cs typeface="Roboto"/>
                <a:sym typeface="Roboto"/>
              </a:rPr>
              <a:t> that it </a:t>
            </a:r>
            <a:endParaRPr b="0" i="0" sz="1800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2100"/>
              <a:buFont typeface="Roboto Light"/>
              <a:buNone/>
            </a:pPr>
            <a:r>
              <a:rPr b="0" i="0" lang="en" sz="1800" u="none" cap="none" strike="noStrike">
                <a:latin typeface="Roboto"/>
                <a:ea typeface="Roboto"/>
                <a:cs typeface="Roboto"/>
                <a:sym typeface="Roboto"/>
              </a:rPr>
              <a:t>is protected from an attacker running unintended back-end code or scripts.</a:t>
            </a:r>
            <a:endParaRPr b="0" i="0" sz="18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124"/>
          <p:cNvPicPr preferRelativeResize="0"/>
          <p:nvPr/>
        </p:nvPicPr>
        <p:blipFill rotWithShape="1">
          <a:blip r:embed="rId3">
            <a:alphaModFix/>
          </a:blip>
          <a:srcRect b="0" l="1390" r="1388" t="0"/>
          <a:stretch/>
        </p:blipFill>
        <p:spPr>
          <a:xfrm>
            <a:off x="-16300" y="0"/>
            <a:ext cx="91685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2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9" name="Google Shape;1339;p124"/>
          <p:cNvSpPr/>
          <p:nvPr/>
        </p:nvSpPr>
        <p:spPr>
          <a:xfrm>
            <a:off x="398475" y="431175"/>
            <a:ext cx="3268800" cy="3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0" name="Google Shape;1340;p124"/>
          <p:cNvSpPr txBox="1"/>
          <p:nvPr/>
        </p:nvSpPr>
        <p:spPr>
          <a:xfrm>
            <a:off x="581025" y="1076325"/>
            <a:ext cx="29148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Another type of </a:t>
            </a:r>
            <a:b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back-end component vulnerability called </a:t>
            </a:r>
            <a:b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remote file inclusion (RFI)</a:t>
            </a: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involves using remote files or scripts to conduct </a:t>
            </a:r>
            <a:b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similar attack.</a:t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25"/>
          <p:cNvSpPr txBox="1"/>
          <p:nvPr>
            <p:ph idx="4294967295" type="subTitle"/>
          </p:nvPr>
        </p:nvSpPr>
        <p:spPr>
          <a:xfrm>
            <a:off x="-1" y="1082473"/>
            <a:ext cx="9526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800" spcFirstLastPara="1" rIns="1828800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b="1" i="0" lang="en" sz="2500" u="none" cap="none" strike="noStrike">
                <a:latin typeface="Roboto"/>
                <a:ea typeface="Roboto"/>
                <a:cs typeface="Roboto"/>
                <a:sym typeface="Roboto"/>
              </a:rPr>
              <a:t>RFI</a:t>
            </a:r>
            <a:r>
              <a:rPr b="0" i="0" lang="en" sz="2500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2500" u="none" cap="none" strike="noStrike"/>
              <a:t>is a web application vulnerability in which an attacker tricks the application into running unintended back-end code </a:t>
            </a:r>
            <a:br>
              <a:rPr i="0" lang="en" sz="2500" u="none" cap="none" strike="noStrike"/>
            </a:br>
            <a:r>
              <a:rPr i="0" lang="en" sz="2500" u="none" cap="none" strike="noStrike"/>
              <a:t>or scripts that are remote to </a:t>
            </a:r>
            <a:br>
              <a:rPr i="0" lang="en" sz="2500" u="none" cap="none" strike="noStrike"/>
            </a:br>
            <a:r>
              <a:rPr i="0" lang="en" sz="2500" u="none" cap="none" strike="noStrike"/>
              <a:t>the application’s filesystem.</a:t>
            </a:r>
            <a:endParaRPr sz="1100"/>
          </a:p>
        </p:txBody>
      </p:sp>
      <p:sp>
        <p:nvSpPr>
          <p:cNvPr id="1346" name="Google Shape;1346;p125"/>
          <p:cNvSpPr txBox="1"/>
          <p:nvPr/>
        </p:nvSpPr>
        <p:spPr>
          <a:xfrm>
            <a:off x="1535700" y="4525900"/>
            <a:ext cx="607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(In other words, the scripts DO NOT reside on the web application’s server.)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26"/>
          <p:cNvPicPr preferRelativeResize="0"/>
          <p:nvPr/>
        </p:nvPicPr>
        <p:blipFill rotWithShape="1">
          <a:blip r:embed="rId3">
            <a:alphaModFix/>
          </a:blip>
          <a:srcRect b="16555" l="0" r="1135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26"/>
          <p:cNvSpPr/>
          <p:nvPr/>
        </p:nvSpPr>
        <p:spPr>
          <a:xfrm>
            <a:off x="4993175" y="968850"/>
            <a:ext cx="3512700" cy="351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126"/>
          <p:cNvSpPr txBox="1"/>
          <p:nvPr/>
        </p:nvSpPr>
        <p:spPr>
          <a:xfrm>
            <a:off x="5244575" y="1735925"/>
            <a:ext cx="30099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RFI is typically conducted by modifying the parameter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a URL to point to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remote script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127"/>
          <p:cNvSpPr txBox="1"/>
          <p:nvPr/>
        </p:nvSpPr>
        <p:spPr>
          <a:xfrm>
            <a:off x="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Depending on how the attack is conducted, RFI could fall under the following three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OWASP Top 10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risks:</a:t>
            </a:r>
            <a:endParaRPr b="0" i="0" sz="1800" u="none" cap="none" strike="noStrike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359" name="Google Shape;1359;p127"/>
          <p:cNvGrpSpPr/>
          <p:nvPr/>
        </p:nvGrpSpPr>
        <p:grpSpPr>
          <a:xfrm>
            <a:off x="440125" y="1147800"/>
            <a:ext cx="776900" cy="486300"/>
            <a:chOff x="457200" y="1466425"/>
            <a:chExt cx="776900" cy="486300"/>
          </a:xfrm>
        </p:grpSpPr>
        <p:sp>
          <p:nvSpPr>
            <p:cNvPr id="1360" name="Google Shape;1360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17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AO1</a:t>
              </a:r>
              <a:endParaRPr b="1" i="0" sz="17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1" name="Google Shape;1361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62" name="Google Shape;1362;p127"/>
          <p:cNvSpPr/>
          <p:nvPr/>
        </p:nvSpPr>
        <p:spPr>
          <a:xfrm>
            <a:off x="1335475" y="114780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Broken Access Control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63" name="Google Shape;1363;p127"/>
          <p:cNvGrpSpPr/>
          <p:nvPr/>
        </p:nvGrpSpPr>
        <p:grpSpPr>
          <a:xfrm>
            <a:off x="4813200" y="1147800"/>
            <a:ext cx="776900" cy="486300"/>
            <a:chOff x="457200" y="1466425"/>
            <a:chExt cx="776900" cy="486300"/>
          </a:xfrm>
        </p:grpSpPr>
        <p:sp>
          <p:nvSpPr>
            <p:cNvPr id="1364" name="Google Shape;1364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AO6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65" name="Google Shape;1365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366" name="Google Shape;1366;p127"/>
          <p:cNvSpPr/>
          <p:nvPr/>
        </p:nvSpPr>
        <p:spPr>
          <a:xfrm>
            <a:off x="5708550" y="1147800"/>
            <a:ext cx="33105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Vulnerable and Outdated Components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127"/>
          <p:cNvSpPr/>
          <p:nvPr/>
        </p:nvSpPr>
        <p:spPr>
          <a:xfrm>
            <a:off x="440125" y="1802650"/>
            <a:ext cx="695400" cy="486300"/>
          </a:xfrm>
          <a:prstGeom prst="roundRect">
            <a:avLst>
              <a:gd fmla="val 16667" name="adj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AO2</a:t>
            </a:r>
            <a:endParaRPr b="1" i="0" sz="3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127"/>
          <p:cNvSpPr/>
          <p:nvPr/>
        </p:nvSpPr>
        <p:spPr>
          <a:xfrm>
            <a:off x="1335475" y="180265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Cryptographic Failures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69" name="Google Shape;1369;p127"/>
          <p:cNvGrpSpPr/>
          <p:nvPr/>
        </p:nvGrpSpPr>
        <p:grpSpPr>
          <a:xfrm>
            <a:off x="4813200" y="1802655"/>
            <a:ext cx="776900" cy="486300"/>
            <a:chOff x="457200" y="1466425"/>
            <a:chExt cx="776900" cy="486300"/>
          </a:xfrm>
        </p:grpSpPr>
        <p:sp>
          <p:nvSpPr>
            <p:cNvPr id="1370" name="Google Shape;1370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AO7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71" name="Google Shape;1371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372" name="Google Shape;1372;p127"/>
          <p:cNvSpPr/>
          <p:nvPr/>
        </p:nvSpPr>
        <p:spPr>
          <a:xfrm>
            <a:off x="5708550" y="180265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Identification and Authentication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73" name="Google Shape;1373;p127"/>
          <p:cNvGrpSpPr/>
          <p:nvPr/>
        </p:nvGrpSpPr>
        <p:grpSpPr>
          <a:xfrm>
            <a:off x="440125" y="2457510"/>
            <a:ext cx="776900" cy="486300"/>
            <a:chOff x="457200" y="1466425"/>
            <a:chExt cx="776900" cy="486300"/>
          </a:xfrm>
        </p:grpSpPr>
        <p:sp>
          <p:nvSpPr>
            <p:cNvPr id="1374" name="Google Shape;1374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75" name="Google Shape;1375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376" name="Google Shape;1376;p127"/>
          <p:cNvSpPr/>
          <p:nvPr/>
        </p:nvSpPr>
        <p:spPr>
          <a:xfrm rot="5400000">
            <a:off x="956025" y="1951480"/>
            <a:ext cx="333375" cy="188625"/>
          </a:xfrm>
          <a:prstGeom prst="flowChartExtract">
            <a:avLst/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77" name="Google Shape;1377;p127"/>
          <p:cNvSpPr/>
          <p:nvPr/>
        </p:nvSpPr>
        <p:spPr>
          <a:xfrm>
            <a:off x="1335475" y="245751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Injection</a:t>
            </a:r>
            <a:endParaRPr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78" name="Google Shape;1378;p127"/>
          <p:cNvGrpSpPr/>
          <p:nvPr/>
        </p:nvGrpSpPr>
        <p:grpSpPr>
          <a:xfrm>
            <a:off x="4813200" y="2457510"/>
            <a:ext cx="776900" cy="486300"/>
            <a:chOff x="457200" y="1466425"/>
            <a:chExt cx="776900" cy="486300"/>
          </a:xfrm>
        </p:grpSpPr>
        <p:sp>
          <p:nvSpPr>
            <p:cNvPr id="1379" name="Google Shape;1379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AO8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80" name="Google Shape;1380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381" name="Google Shape;1381;p127"/>
          <p:cNvSpPr/>
          <p:nvPr/>
        </p:nvSpPr>
        <p:spPr>
          <a:xfrm>
            <a:off x="5708550" y="245751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Software and Data Integrity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82" name="Google Shape;1382;p127"/>
          <p:cNvGrpSpPr/>
          <p:nvPr/>
        </p:nvGrpSpPr>
        <p:grpSpPr>
          <a:xfrm>
            <a:off x="440125" y="3112365"/>
            <a:ext cx="776900" cy="486300"/>
            <a:chOff x="457200" y="1466425"/>
            <a:chExt cx="776900" cy="486300"/>
          </a:xfrm>
        </p:grpSpPr>
        <p:sp>
          <p:nvSpPr>
            <p:cNvPr id="1383" name="Google Shape;1383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84" name="Google Shape;1384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385" name="Google Shape;1385;p127"/>
          <p:cNvSpPr/>
          <p:nvPr/>
        </p:nvSpPr>
        <p:spPr>
          <a:xfrm>
            <a:off x="1335475" y="311236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Insecure Design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86" name="Google Shape;1386;p127"/>
          <p:cNvGrpSpPr/>
          <p:nvPr/>
        </p:nvGrpSpPr>
        <p:grpSpPr>
          <a:xfrm>
            <a:off x="440125" y="3767220"/>
            <a:ext cx="776900" cy="486300"/>
            <a:chOff x="457200" y="1466425"/>
            <a:chExt cx="776900" cy="486300"/>
          </a:xfrm>
        </p:grpSpPr>
        <p:sp>
          <p:nvSpPr>
            <p:cNvPr id="1387" name="Google Shape;1387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17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AO5</a:t>
              </a:r>
              <a:endPara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8" name="Google Shape;1388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9" name="Google Shape;1389;p127"/>
          <p:cNvGrpSpPr/>
          <p:nvPr/>
        </p:nvGrpSpPr>
        <p:grpSpPr>
          <a:xfrm>
            <a:off x="4813200" y="3112365"/>
            <a:ext cx="776900" cy="486300"/>
            <a:chOff x="457200" y="1466425"/>
            <a:chExt cx="776900" cy="486300"/>
          </a:xfrm>
        </p:grpSpPr>
        <p:sp>
          <p:nvSpPr>
            <p:cNvPr id="1390" name="Google Shape;1390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AO9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91" name="Google Shape;1391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392" name="Google Shape;1392;p127"/>
          <p:cNvGrpSpPr/>
          <p:nvPr/>
        </p:nvGrpSpPr>
        <p:grpSpPr>
          <a:xfrm>
            <a:off x="4813200" y="3767220"/>
            <a:ext cx="776900" cy="486300"/>
            <a:chOff x="457200" y="1466425"/>
            <a:chExt cx="776900" cy="486300"/>
          </a:xfrm>
        </p:grpSpPr>
        <p:sp>
          <p:nvSpPr>
            <p:cNvPr id="1393" name="Google Shape;1393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A10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94" name="Google Shape;1394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395" name="Google Shape;1395;p127"/>
          <p:cNvSpPr/>
          <p:nvPr/>
        </p:nvSpPr>
        <p:spPr>
          <a:xfrm>
            <a:off x="1335475" y="376722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Security Misconfiguration</a:t>
            </a:r>
            <a:endParaRPr b="1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6" name="Google Shape;1396;p127"/>
          <p:cNvSpPr/>
          <p:nvPr/>
        </p:nvSpPr>
        <p:spPr>
          <a:xfrm>
            <a:off x="5708550" y="3112365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Security Logging and Monitoring Failures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7" name="Google Shape;1397;p127"/>
          <p:cNvSpPr/>
          <p:nvPr/>
        </p:nvSpPr>
        <p:spPr>
          <a:xfrm>
            <a:off x="5708550" y="3767220"/>
            <a:ext cx="31914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Server-Side Request Forgery (SSRF)</a:t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8" name="Google Shape;1398;p127"/>
          <p:cNvSpPr/>
          <p:nvPr/>
        </p:nvSpPr>
        <p:spPr>
          <a:xfrm>
            <a:off x="4813200" y="2374250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127"/>
          <p:cNvSpPr/>
          <p:nvPr/>
        </p:nvSpPr>
        <p:spPr>
          <a:xfrm>
            <a:off x="404400" y="2374250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127"/>
          <p:cNvSpPr/>
          <p:nvPr/>
        </p:nvSpPr>
        <p:spPr>
          <a:xfrm>
            <a:off x="4778875" y="1147800"/>
            <a:ext cx="4167600" cy="11556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127"/>
          <p:cNvSpPr/>
          <p:nvPr/>
        </p:nvSpPr>
        <p:spPr>
          <a:xfrm>
            <a:off x="404400" y="3016813"/>
            <a:ext cx="4167600" cy="6774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27"/>
          <p:cNvSpPr/>
          <p:nvPr/>
        </p:nvSpPr>
        <p:spPr>
          <a:xfrm>
            <a:off x="4778875" y="3070760"/>
            <a:ext cx="4167600" cy="1241100"/>
          </a:xfrm>
          <a:prstGeom prst="rect">
            <a:avLst/>
          </a:prstGeom>
          <a:solidFill>
            <a:srgbClr val="FFFFFF">
              <a:alpha val="6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2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28"/>
          <p:cNvSpPr/>
          <p:nvPr/>
        </p:nvSpPr>
        <p:spPr>
          <a:xfrm>
            <a:off x="607675" y="27424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128"/>
          <p:cNvSpPr/>
          <p:nvPr/>
        </p:nvSpPr>
        <p:spPr>
          <a:xfrm>
            <a:off x="607675" y="1827975"/>
            <a:ext cx="8079000" cy="743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12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28"/>
          <p:cNvSpPr/>
          <p:nvPr/>
        </p:nvSpPr>
        <p:spPr>
          <a:xfrm>
            <a:off x="457200" y="1971500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128"/>
          <p:cNvSpPr/>
          <p:nvPr/>
        </p:nvSpPr>
        <p:spPr>
          <a:xfrm>
            <a:off x="457200" y="27425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128"/>
          <p:cNvSpPr txBox="1"/>
          <p:nvPr/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Revisit how a web application uses parameters as intended.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4" name="Google Shape;1414;p128"/>
          <p:cNvSpPr txBox="1"/>
          <p:nvPr/>
        </p:nvSpPr>
        <p:spPr>
          <a:xfrm>
            <a:off x="914400" y="1874266"/>
            <a:ext cx="77724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Modify the parameters to point to a remote site to cause unintended consequences.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5" name="Google Shape;1415;p128"/>
          <p:cNvSpPr txBox="1"/>
          <p:nvPr/>
        </p:nvSpPr>
        <p:spPr>
          <a:xfrm>
            <a:off x="914400" y="27884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Modify the URL to run this remote malicious PHP script.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6" name="Google Shape;1416;p128"/>
          <p:cNvSpPr txBox="1"/>
          <p:nvPr/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RFI Demonstration</a:t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7" name="Google Shape;1417;p128"/>
          <p:cNvSpPr txBox="1"/>
          <p:nvPr/>
        </p:nvSpPr>
        <p:spPr>
          <a:xfrm>
            <a:off x="457200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In this demonstration, we will conduct the following three steps: 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29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RFI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130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 Summary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8" name="Google Shape;1428;p130"/>
          <p:cNvSpPr txBox="1"/>
          <p:nvPr/>
        </p:nvSpPr>
        <p:spPr>
          <a:xfrm>
            <a:off x="76200" y="675975"/>
            <a:ext cx="8888400" cy="22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ability to successfully change the parameter of the URL to point to a remote script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then subsequently running this script indicates that this web application is vulnerable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RFI.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ability to arbitrarily execute command-line code with the remote script means this web application is also vulnerable to RCE.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9" name="Google Shape;1429;p130"/>
          <p:cNvSpPr/>
          <p:nvPr/>
        </p:nvSpPr>
        <p:spPr>
          <a:xfrm>
            <a:off x="-12300" y="2806600"/>
            <a:ext cx="9168600" cy="114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rgbClr val="F3F3F3"/>
                </a:solidFill>
                <a:latin typeface="Inconsolata"/>
                <a:ea typeface="Inconsolata"/>
                <a:cs typeface="Inconsolata"/>
                <a:sym typeface="Inconsolata"/>
              </a:rPr>
              <a:t>../../hackable/uploads/image.jpg successfully uploaded!</a:t>
            </a:r>
            <a:endParaRPr b="0" i="0" sz="2400" u="none" cap="none" strike="noStrike">
              <a:solidFill>
                <a:srgbClr val="F3F3F3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31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5" name="Google Shape;1435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2800" y="1634400"/>
            <a:ext cx="1558400" cy="10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3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</a:t>
            </a: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Challenges</a:t>
            </a:r>
            <a:r>
              <a:rPr b="0" lang="en"/>
              <a:t>,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Impact</a:t>
            </a:r>
            <a:r>
              <a:rPr b="0" lang="en"/>
              <a:t>,</a:t>
            </a:r>
            <a:r>
              <a:rPr lang="en"/>
              <a:t> and </a:t>
            </a: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Mitigations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32"/>
          <p:cNvSpPr txBox="1"/>
          <p:nvPr>
            <p:ph type="title"/>
          </p:nvPr>
        </p:nvSpPr>
        <p:spPr>
          <a:xfrm>
            <a:off x="542175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Limitation of the RFI Attack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132"/>
          <p:cNvSpPr txBox="1"/>
          <p:nvPr>
            <p:ph idx="2" type="title"/>
          </p:nvPr>
        </p:nvSpPr>
        <p:spPr>
          <a:xfrm>
            <a:off x="4976200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Variety of Attacks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3" name="Google Shape;1443;p132"/>
          <p:cNvSpPr txBox="1"/>
          <p:nvPr>
            <p:ph idx="3" type="title"/>
          </p:nvPr>
        </p:nvSpPr>
        <p:spPr>
          <a:xfrm>
            <a:off x="461400" y="20043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None/>
            </a:pPr>
            <a: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conduct this attack successfully, the web server must run PHP and also needs to enable a configuration setting to allow external URLs. </a:t>
            </a:r>
            <a:b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Many web servers that run PHP do </a:t>
            </a:r>
            <a:b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 have this configuration enabled.</a:t>
            </a:r>
            <a:endParaRPr sz="1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4" name="Google Shape;1444;p132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demonstration illustrated using one type of malicious script and two command-line commands.</a:t>
            </a:r>
            <a:b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Thousands of malicious scripts can be uploaded and many malicious commands can be run.</a:t>
            </a:r>
            <a:b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attack method used the PHP language, but this attack can also be accomplished with other languages, such as ASP.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5" name="Google Shape;1445;p132"/>
          <p:cNvSpPr txBox="1"/>
          <p:nvPr>
            <p:ph idx="5" type="title"/>
          </p:nvPr>
        </p:nvSpPr>
        <p:spPr>
          <a:xfrm>
            <a:off x="762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Real-World Challenges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33"/>
          <p:cNvSpPr txBox="1"/>
          <p:nvPr/>
        </p:nvSpPr>
        <p:spPr>
          <a:xfrm>
            <a:off x="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Impact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1" name="Google Shape;1451;p133"/>
          <p:cNvSpPr txBox="1"/>
          <p:nvPr/>
        </p:nvSpPr>
        <p:spPr>
          <a:xfrm>
            <a:off x="0" y="512064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a malicious actor can remotely access a malicious script, they can: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2" name="Google Shape;1452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2" y="1249094"/>
            <a:ext cx="8869675" cy="34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33"/>
          <p:cNvSpPr txBox="1"/>
          <p:nvPr/>
        </p:nvSpPr>
        <p:spPr>
          <a:xfrm>
            <a:off x="382800" y="1683837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View confidential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files or data.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4" name="Google Shape;1454;p133"/>
          <p:cNvSpPr txBox="1"/>
          <p:nvPr/>
        </p:nvSpPr>
        <p:spPr>
          <a:xfrm>
            <a:off x="3285075" y="1683846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Modify or delete confidential files 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 data.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5" name="Google Shape;1455;p133"/>
          <p:cNvSpPr txBox="1"/>
          <p:nvPr/>
        </p:nvSpPr>
        <p:spPr>
          <a:xfrm>
            <a:off x="6401175" y="1684379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Modify or delete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critical files to cause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disruptions.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34"/>
          <p:cNvSpPr txBox="1"/>
          <p:nvPr/>
        </p:nvSpPr>
        <p:spPr>
          <a:xfrm>
            <a:off x="76200" y="512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Mitigation Methods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1" name="Google Shape;1461;p134"/>
          <p:cNvSpPr txBox="1"/>
          <p:nvPr/>
        </p:nvSpPr>
        <p:spPr>
          <a:xfrm>
            <a:off x="76200" y="512064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best way to protect from RFI is to avoid passing user-submitted input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your web server. This can be accomplished by using input validation.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2" name="Google Shape;1462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6900" y="1771225"/>
            <a:ext cx="5490181" cy="2557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7" name="Google Shape;1467;p135"/>
          <p:cNvGraphicFramePr/>
          <p:nvPr/>
        </p:nvGraphicFramePr>
        <p:xfrm>
          <a:off x="392625" y="101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{46A04196-913F-418A-BF23-8549AA4576D4}</a:tableStyleId>
              </a:tblPr>
              <a:tblGrid>
                <a:gridCol w="2770650"/>
                <a:gridCol w="5293250"/>
              </a:tblGrid>
              <a:tr h="42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ntended purpose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 the original function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web application can use parameters in its URL to indicate </a:t>
                      </a:r>
                      <a:b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 the back-end server to access a certain resource.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ulnerability and </a:t>
                      </a:r>
                      <a:b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ethod of exploit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RFI is a vulnerability in which a malicious user can modify this parameter so that the back-end server accesses a malicious remote resource, such as a script.</a:t>
                      </a:r>
                      <a:endParaRPr sz="1400" u="none" cap="none" strike="noStrike">
                        <a:solidFill>
                          <a:srgbClr val="0434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74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nintended consequence 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 the exploit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After the malicious remote script has been referenced, </a:t>
                      </a:r>
                      <a:b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malicious user can run the script to cause unintended consequences.</a:t>
                      </a:r>
                      <a:endParaRPr sz="1400" u="none" cap="none" strike="noStrike">
                        <a:solidFill>
                          <a:srgbClr val="0434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itigation of the vulnerability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input validation to avoid malicious submitted input, such </a:t>
                      </a:r>
                      <a:b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 a modified parameter referencing a remote resource.</a:t>
                      </a:r>
                      <a:endParaRPr sz="1400" u="none" cap="none" strike="noStrike">
                        <a:solidFill>
                          <a:srgbClr val="0434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74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otential impact of the exploit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434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malicious actor can view or modify confidential data or system files, or potentially cause system outages.</a:t>
                      </a:r>
                      <a:endParaRPr sz="1400" u="none" cap="none" strike="noStrike">
                        <a:solidFill>
                          <a:srgbClr val="0434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8" name="Google Shape;1468;p135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RFI Summary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36"/>
          <p:cNvSpPr txBox="1"/>
          <p:nvPr/>
        </p:nvSpPr>
        <p:spPr>
          <a:xfrm>
            <a:off x="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 Back-End Components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4" name="Google Shape;1474;p136"/>
          <p:cNvPicPr preferRelativeResize="0"/>
          <p:nvPr/>
        </p:nvPicPr>
        <p:blipFill rotWithShape="1">
          <a:blip r:embed="rId3">
            <a:alphaModFix/>
          </a:blip>
          <a:srcRect b="3417" l="0" r="0" t="0"/>
          <a:stretch/>
        </p:blipFill>
        <p:spPr>
          <a:xfrm>
            <a:off x="1382300" y="1183050"/>
            <a:ext cx="6117898" cy="355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36"/>
          <p:cNvSpPr txBox="1"/>
          <p:nvPr/>
        </p:nvSpPr>
        <p:spPr>
          <a:xfrm>
            <a:off x="1977475" y="2146750"/>
            <a:ext cx="21138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Local file inclusion scripts </a:t>
            </a: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 local to the target server.</a:t>
            </a:r>
            <a:endParaRPr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6" name="Google Shape;1476;p136"/>
          <p:cNvSpPr txBox="1"/>
          <p:nvPr/>
        </p:nvSpPr>
        <p:spPr>
          <a:xfrm>
            <a:off x="4786725" y="2146750"/>
            <a:ext cx="22806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Remote file inclusion scripts</a:t>
            </a:r>
            <a:r>
              <a:rPr b="0" i="0" lang="en" sz="2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 remote to the target server.</a:t>
            </a:r>
            <a:endParaRPr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7" name="Google Shape;1477;p136"/>
          <p:cNvSpPr txBox="1"/>
          <p:nvPr/>
        </p:nvSpPr>
        <p:spPr>
          <a:xfrm>
            <a:off x="0" y="512064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Both of these attacks use back-end components of a web server to run unintended scripts, but they have some differences: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1487" name="Google Shape;1487;p1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RFI</a:t>
            </a:r>
            <a:endParaRPr/>
          </a:p>
        </p:txBody>
      </p:sp>
      <p:sp>
        <p:nvSpPr>
          <p:cNvPr id="1488" name="Google Shape;1488;p138"/>
          <p:cNvSpPr txBox="1"/>
          <p:nvPr>
            <p:ph idx="3" type="body"/>
          </p:nvPr>
        </p:nvSpPr>
        <p:spPr>
          <a:xfrm>
            <a:off x="912725" y="1516225"/>
            <a:ext cx="66897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test Replicants’ main production website for RFI vulnerabilities.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